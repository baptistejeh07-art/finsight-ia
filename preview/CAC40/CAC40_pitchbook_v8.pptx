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514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371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5600"/>
            <a:ext cx="8229600" cy="255600"/>
          </a:xfrm>
          <a:prstGeom prst="rect">
            <a:avLst/>
          </a:prstGeom>
          <a:noFill/>
        </p:spPr>
        <p:txBody>
          <a:bodyPr wrap="square">
            <a:spAutoFit/>
          </a:bodyPr>
          <a:lstStyle/>
          <a:p>
            <a:pPr algn="ctr"/>
            <a:r>
              <a:rPr sz="1000" b="0" i="0">
                <a:solidFill>
                  <a:srgbClr val="8899BB"/>
                </a:solidFill>
              </a:rPr>
              <a:t>FinSight IA</a:t>
            </a:r>
          </a:p>
        </p:txBody>
      </p:sp>
      <p:sp>
        <p:nvSpPr>
          <p:cNvPr id="4" name="Rectangle 3"/>
          <p:cNvSpPr/>
          <p:nvPr/>
        </p:nvSpPr>
        <p:spPr>
          <a:xfrm>
            <a:off x="3978000" y="475200"/>
            <a:ext cx="1188000" cy="1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547200"/>
            <a:ext cx="8229600" cy="291600"/>
          </a:xfrm>
          <a:prstGeom prst="rect">
            <a:avLst/>
          </a:prstGeom>
          <a:noFill/>
        </p:spPr>
        <p:txBody>
          <a:bodyPr wrap="square">
            <a:spAutoFit/>
          </a:bodyPr>
          <a:lstStyle/>
          <a:p>
            <a:pPr algn="ctr"/>
            <a:r>
              <a:rPr sz="1100" b="0" i="0">
                <a:solidFill>
                  <a:srgbClr val="CCDDEE"/>
                </a:solidFill>
              </a:rPr>
              <a:t>Pitchbook  ·  Analyse d'Indice</a:t>
            </a:r>
          </a:p>
        </p:txBody>
      </p:sp>
      <p:sp>
        <p:nvSpPr>
          <p:cNvPr id="6" name="TextBox 5"/>
          <p:cNvSpPr txBox="1"/>
          <p:nvPr/>
        </p:nvSpPr>
        <p:spPr>
          <a:xfrm>
            <a:off x="457200" y="1512000"/>
            <a:ext cx="8229600" cy="576000"/>
          </a:xfrm>
          <a:prstGeom prst="rect">
            <a:avLst/>
          </a:prstGeom>
          <a:noFill/>
        </p:spPr>
        <p:txBody>
          <a:bodyPr wrap="square">
            <a:spAutoFit/>
          </a:bodyPr>
          <a:lstStyle/>
          <a:p>
            <a:pPr algn="ctr"/>
            <a:r>
              <a:rPr sz="3200" b="1" i="0">
                <a:solidFill>
                  <a:srgbClr val="1B3A6B"/>
                </a:solidFill>
              </a:rPr>
              <a:t>CAC 40</a:t>
            </a:r>
          </a:p>
        </p:txBody>
      </p:sp>
      <p:sp>
        <p:nvSpPr>
          <p:cNvPr id="7" name="TextBox 6"/>
          <p:cNvSpPr txBox="1"/>
          <p:nvPr/>
        </p:nvSpPr>
        <p:spPr>
          <a:xfrm>
            <a:off x="457200" y="2124000"/>
            <a:ext cx="8229600" cy="255600"/>
          </a:xfrm>
          <a:prstGeom prst="rect">
            <a:avLst/>
          </a:prstGeom>
          <a:noFill/>
        </p:spPr>
        <p:txBody>
          <a:bodyPr wrap="square">
            <a:spAutoFit/>
          </a:bodyPr>
          <a:lstStyle/>
          <a:p>
            <a:pPr algn="ctr"/>
            <a:r>
              <a:rPr sz="1100" b="0" i="0">
                <a:solidFill>
                  <a:srgbClr val="888888"/>
                </a:solidFill>
              </a:rPr>
              <a:t>CAC40  ·  11 secteurs analysés  ·  40 sociétés couvertes</a:t>
            </a:r>
          </a:p>
        </p:txBody>
      </p:sp>
      <p:sp>
        <p:nvSpPr>
          <p:cNvPr id="8" name="Rectangle 7"/>
          <p:cNvSpPr/>
          <p:nvPr/>
        </p:nvSpPr>
        <p:spPr>
          <a:xfrm>
            <a:off x="457200" y="2448000"/>
            <a:ext cx="8229600" cy="475200"/>
          </a:xfrm>
          <a:prstGeom prst="rect">
            <a:avLst/>
          </a:prstGeom>
          <a:solidFill>
            <a:srgbClr val="FDF3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448000"/>
            <a:ext cx="46800" cy="4752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00" y="2466000"/>
            <a:ext cx="8063999" cy="439200"/>
          </a:xfrm>
          <a:prstGeom prst="rect">
            <a:avLst/>
          </a:prstGeom>
          <a:noFill/>
        </p:spPr>
        <p:txBody>
          <a:bodyPr wrap="square">
            <a:spAutoFit/>
          </a:bodyPr>
          <a:lstStyle/>
          <a:p>
            <a:pPr algn="ctr"/>
            <a:r>
              <a:rPr sz="900" b="1" i="0">
                <a:solidFill>
                  <a:srgbClr val="B06000"/>
                </a:solidFill>
              </a:rPr>
              <a:t>● NEUTRE  ·  Conviction 50 %</a:t>
            </a:r>
          </a:p>
        </p:txBody>
      </p:sp>
      <p:sp>
        <p:nvSpPr>
          <p:cNvPr id="11" name="Rectangle 10"/>
          <p:cNvSpPr/>
          <p:nvPr/>
        </p:nvSpPr>
        <p:spPr>
          <a:xfrm>
            <a:off x="457200" y="3060000"/>
            <a:ext cx="1944000" cy="57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9200" y="3096000"/>
            <a:ext cx="1800000" cy="180000"/>
          </a:xfrm>
          <a:prstGeom prst="rect">
            <a:avLst/>
          </a:prstGeom>
          <a:noFill/>
        </p:spPr>
        <p:txBody>
          <a:bodyPr wrap="square">
            <a:spAutoFit/>
          </a:bodyPr>
          <a:lstStyle/>
          <a:p>
            <a:pPr algn="l"/>
            <a:r>
              <a:rPr sz="750" b="0" i="0">
                <a:solidFill>
                  <a:srgbClr val="555555"/>
                </a:solidFill>
              </a:rPr>
              <a:t>Score médian</a:t>
            </a:r>
          </a:p>
        </p:txBody>
      </p:sp>
      <p:sp>
        <p:nvSpPr>
          <p:cNvPr id="13" name="TextBox 12"/>
          <p:cNvSpPr txBox="1"/>
          <p:nvPr/>
        </p:nvSpPr>
        <p:spPr>
          <a:xfrm>
            <a:off x="529200" y="3258000"/>
            <a:ext cx="1800000" cy="324000"/>
          </a:xfrm>
          <a:prstGeom prst="rect">
            <a:avLst/>
          </a:prstGeom>
          <a:noFill/>
        </p:spPr>
        <p:txBody>
          <a:bodyPr wrap="square">
            <a:spAutoFit/>
          </a:bodyPr>
          <a:lstStyle/>
          <a:p>
            <a:pPr algn="l"/>
            <a:r>
              <a:rPr sz="1300" b="1" i="0">
                <a:solidFill>
                  <a:srgbClr val="1B3A6B"/>
                </a:solidFill>
              </a:rPr>
              <a:t>48/100</a:t>
            </a:r>
          </a:p>
        </p:txBody>
      </p:sp>
      <p:sp>
        <p:nvSpPr>
          <p:cNvPr id="14" name="Rectangle 13"/>
          <p:cNvSpPr/>
          <p:nvPr/>
        </p:nvSpPr>
        <p:spPr>
          <a:xfrm>
            <a:off x="2514600" y="3060000"/>
            <a:ext cx="1944000" cy="57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86600" y="3096000"/>
            <a:ext cx="1800000" cy="180000"/>
          </a:xfrm>
          <a:prstGeom prst="rect">
            <a:avLst/>
          </a:prstGeom>
          <a:noFill/>
        </p:spPr>
        <p:txBody>
          <a:bodyPr wrap="square">
            <a:spAutoFit/>
          </a:bodyPr>
          <a:lstStyle/>
          <a:p>
            <a:pPr algn="l"/>
            <a:r>
              <a:rPr sz="750" b="0" i="0">
                <a:solidFill>
                  <a:srgbClr val="555555"/>
                </a:solidFill>
              </a:rPr>
              <a:t>Surpondérer</a:t>
            </a:r>
          </a:p>
        </p:txBody>
      </p:sp>
      <p:sp>
        <p:nvSpPr>
          <p:cNvPr id="16" name="TextBox 15"/>
          <p:cNvSpPr txBox="1"/>
          <p:nvPr/>
        </p:nvSpPr>
        <p:spPr>
          <a:xfrm>
            <a:off x="2586600" y="3258000"/>
            <a:ext cx="1800000" cy="324000"/>
          </a:xfrm>
          <a:prstGeom prst="rect">
            <a:avLst/>
          </a:prstGeom>
          <a:noFill/>
        </p:spPr>
        <p:txBody>
          <a:bodyPr wrap="square">
            <a:spAutoFit/>
          </a:bodyPr>
          <a:lstStyle/>
          <a:p>
            <a:pPr algn="l"/>
            <a:r>
              <a:rPr sz="1300" b="1" i="0">
                <a:solidFill>
                  <a:srgbClr val="1B3A6B"/>
                </a:solidFill>
              </a:rPr>
              <a:t>2 sect.</a:t>
            </a:r>
          </a:p>
        </p:txBody>
      </p:sp>
      <p:sp>
        <p:nvSpPr>
          <p:cNvPr id="17" name="Rectangle 16"/>
          <p:cNvSpPr/>
          <p:nvPr/>
        </p:nvSpPr>
        <p:spPr>
          <a:xfrm>
            <a:off x="4572000" y="3060000"/>
            <a:ext cx="1944000" cy="57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43999" y="3096000"/>
            <a:ext cx="1800000" cy="180000"/>
          </a:xfrm>
          <a:prstGeom prst="rect">
            <a:avLst/>
          </a:prstGeom>
          <a:noFill/>
        </p:spPr>
        <p:txBody>
          <a:bodyPr wrap="square">
            <a:spAutoFit/>
          </a:bodyPr>
          <a:lstStyle/>
          <a:p>
            <a:pPr algn="l"/>
            <a:r>
              <a:rPr sz="750" b="0" i="0">
                <a:solidFill>
                  <a:srgbClr val="555555"/>
                </a:solidFill>
              </a:rPr>
              <a:t>Neutre</a:t>
            </a:r>
          </a:p>
        </p:txBody>
      </p:sp>
      <p:sp>
        <p:nvSpPr>
          <p:cNvPr id="19" name="TextBox 18"/>
          <p:cNvSpPr txBox="1"/>
          <p:nvPr/>
        </p:nvSpPr>
        <p:spPr>
          <a:xfrm>
            <a:off x="4643999" y="3258000"/>
            <a:ext cx="1800000" cy="324000"/>
          </a:xfrm>
          <a:prstGeom prst="rect">
            <a:avLst/>
          </a:prstGeom>
          <a:noFill/>
        </p:spPr>
        <p:txBody>
          <a:bodyPr wrap="square">
            <a:spAutoFit/>
          </a:bodyPr>
          <a:lstStyle/>
          <a:p>
            <a:pPr algn="l"/>
            <a:r>
              <a:rPr sz="1300" b="1" i="0">
                <a:solidFill>
                  <a:srgbClr val="1B3A6B"/>
                </a:solidFill>
              </a:rPr>
              <a:t>6 sect.</a:t>
            </a:r>
          </a:p>
        </p:txBody>
      </p:sp>
      <p:sp>
        <p:nvSpPr>
          <p:cNvPr id="20" name="Rectangle 19"/>
          <p:cNvSpPr/>
          <p:nvPr/>
        </p:nvSpPr>
        <p:spPr>
          <a:xfrm>
            <a:off x="6629400" y="3060000"/>
            <a:ext cx="1944000" cy="57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01399" y="3096000"/>
            <a:ext cx="1800000" cy="180000"/>
          </a:xfrm>
          <a:prstGeom prst="rect">
            <a:avLst/>
          </a:prstGeom>
          <a:noFill/>
        </p:spPr>
        <p:txBody>
          <a:bodyPr wrap="square">
            <a:spAutoFit/>
          </a:bodyPr>
          <a:lstStyle/>
          <a:p>
            <a:pPr algn="l"/>
            <a:r>
              <a:rPr sz="750" b="0" i="0">
                <a:solidFill>
                  <a:srgbClr val="555555"/>
                </a:solidFill>
              </a:rPr>
              <a:t>Sous-pondérer</a:t>
            </a:r>
          </a:p>
        </p:txBody>
      </p:sp>
      <p:sp>
        <p:nvSpPr>
          <p:cNvPr id="22" name="TextBox 21"/>
          <p:cNvSpPr txBox="1"/>
          <p:nvPr/>
        </p:nvSpPr>
        <p:spPr>
          <a:xfrm>
            <a:off x="6701399" y="3258000"/>
            <a:ext cx="1800000" cy="324000"/>
          </a:xfrm>
          <a:prstGeom prst="rect">
            <a:avLst/>
          </a:prstGeom>
          <a:noFill/>
        </p:spPr>
        <p:txBody>
          <a:bodyPr wrap="square">
            <a:spAutoFit/>
          </a:bodyPr>
          <a:lstStyle/>
          <a:p>
            <a:pPr algn="l"/>
            <a:r>
              <a:rPr sz="1300" b="1" i="0">
                <a:solidFill>
                  <a:srgbClr val="1B3A6B"/>
                </a:solidFill>
              </a:rPr>
              <a:t>3 sect.</a:t>
            </a:r>
          </a:p>
        </p:txBody>
      </p:sp>
      <p:sp>
        <p:nvSpPr>
          <p:cNvPr id="23" name="Rectangle 22"/>
          <p:cNvSpPr/>
          <p:nvPr/>
        </p:nvSpPr>
        <p:spPr>
          <a:xfrm>
            <a:off x="367200" y="42480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7200" y="4338000"/>
            <a:ext cx="4114800" cy="201600"/>
          </a:xfrm>
          <a:prstGeom prst="rect">
            <a:avLst/>
          </a:prstGeom>
          <a:noFill/>
        </p:spPr>
        <p:txBody>
          <a:bodyPr wrap="square">
            <a:spAutoFit/>
          </a:bodyPr>
          <a:lstStyle/>
          <a:p>
            <a:pPr algn="l"/>
            <a:r>
              <a:rPr sz="800" b="0" i="0">
                <a:solidFill>
                  <a:srgbClr val="555555"/>
                </a:solidFill>
              </a:rPr>
              <a:t>Rapport confidentiel</a:t>
            </a:r>
          </a:p>
        </p:txBody>
      </p:sp>
      <p:sp>
        <p:nvSpPr>
          <p:cNvPr id="25" name="TextBox 24"/>
          <p:cNvSpPr txBox="1"/>
          <p:nvPr/>
        </p:nvSpPr>
        <p:spPr>
          <a:xfrm>
            <a:off x="4662000" y="4338000"/>
            <a:ext cx="4114800" cy="201600"/>
          </a:xfrm>
          <a:prstGeom prst="rect">
            <a:avLst/>
          </a:prstGeom>
          <a:noFill/>
        </p:spPr>
        <p:txBody>
          <a:bodyPr wrap="square">
            <a:spAutoFit/>
          </a:bodyPr>
          <a:lstStyle/>
          <a:p>
            <a:pPr algn="r"/>
            <a:r>
              <a:rPr sz="800" b="0" i="0">
                <a:solidFill>
                  <a:srgbClr val="555555"/>
                </a:solidFill>
              </a:rPr>
              <a:t>1 avril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Executive Summary</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CAC 40 (CAC40)  ·  11 secteurs  ·  40 sociétés  ·  Horizon 12 mois</a:t>
            </a:r>
          </a:p>
        </p:txBody>
      </p:sp>
      <p:sp>
        <p:nvSpPr>
          <p:cNvPr id="15" name="Rectangle 14"/>
          <p:cNvSpPr/>
          <p:nvPr/>
        </p:nvSpPr>
        <p:spPr>
          <a:xfrm>
            <a:off x="324000" y="827999"/>
            <a:ext cx="1728000" cy="270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6000" y="846000"/>
            <a:ext cx="1584000" cy="198000"/>
          </a:xfrm>
          <a:prstGeom prst="rect">
            <a:avLst/>
          </a:prstGeom>
          <a:noFill/>
        </p:spPr>
        <p:txBody>
          <a:bodyPr wrap="square">
            <a:spAutoFit/>
          </a:bodyPr>
          <a:lstStyle/>
          <a:p>
            <a:pPr algn="l"/>
            <a:r>
              <a:rPr sz="1000" b="1" i="0">
                <a:solidFill>
                  <a:srgbClr val="FFFFFF"/>
                </a:solidFill>
              </a:rPr>
              <a:t>NEUTRE</a:t>
            </a:r>
          </a:p>
        </p:txBody>
      </p:sp>
      <p:sp>
        <p:nvSpPr>
          <p:cNvPr id="17" name="TextBox 16"/>
          <p:cNvSpPr txBox="1"/>
          <p:nvPr/>
        </p:nvSpPr>
        <p:spPr>
          <a:xfrm>
            <a:off x="324000" y="1134000"/>
            <a:ext cx="8496000" cy="198000"/>
          </a:xfrm>
          <a:prstGeom prst="rect">
            <a:avLst/>
          </a:prstGeom>
          <a:noFill/>
        </p:spPr>
        <p:txBody>
          <a:bodyPr wrap="square">
            <a:spAutoFit/>
          </a:bodyPr>
          <a:lstStyle/>
          <a:p>
            <a:pPr algn="l"/>
            <a:r>
              <a:rPr sz="800" b="0" i="0">
                <a:solidFill>
                  <a:srgbClr val="555555"/>
                </a:solidFill>
              </a:rPr>
              <a:t>Cours : —  ·  YTD : —  ·  P/E Forward : —  ·  ERP : — (—)  ·  Conviction 50 %</a:t>
            </a:r>
          </a:p>
        </p:txBody>
      </p:sp>
      <p:sp>
        <p:nvSpPr>
          <p:cNvPr id="18" name="Rectangle 17"/>
          <p:cNvSpPr/>
          <p:nvPr/>
        </p:nvSpPr>
        <p:spPr>
          <a:xfrm>
            <a:off x="324000" y="1368000"/>
            <a:ext cx="8496000" cy="16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4000" y="1368000"/>
            <a:ext cx="36000" cy="162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6000" y="1378800"/>
            <a:ext cx="8280000" cy="136800"/>
          </a:xfrm>
          <a:prstGeom prst="rect">
            <a:avLst/>
          </a:prstGeom>
          <a:noFill/>
        </p:spPr>
        <p:txBody>
          <a:bodyPr wrap="square">
            <a:spAutoFit/>
          </a:bodyPr>
          <a:lstStyle/>
          <a:p>
            <a:pPr algn="l"/>
            <a:r>
              <a:rPr sz="750" b="0" i="0">
                <a:solidFill>
                  <a:srgbClr val="1B3A6B"/>
                </a:solidFill>
              </a:rPr>
              <a:t>Regime Volatile  ·  VIX 25  ·  Spread +0.7%  ·  Rec. 6M 26%</a:t>
            </a:r>
          </a:p>
        </p:txBody>
      </p:sp>
      <p:sp>
        <p:nvSpPr>
          <p:cNvPr id="21" name="Rectangle 20"/>
          <p:cNvSpPr/>
          <p:nvPr/>
        </p:nvSpPr>
        <p:spPr>
          <a:xfrm>
            <a:off x="324000" y="1584000"/>
            <a:ext cx="8496000" cy="18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6000" y="1602000"/>
            <a:ext cx="8208000" cy="144000"/>
          </a:xfrm>
          <a:prstGeom prst="rect">
            <a:avLst/>
          </a:prstGeom>
          <a:noFill/>
        </p:spPr>
        <p:txBody>
          <a:bodyPr wrap="square">
            <a:spAutoFit/>
          </a:bodyPr>
          <a:lstStyle/>
          <a:p>
            <a:pPr algn="l"/>
            <a:r>
              <a:rPr sz="750" b="1" i="0">
                <a:solidFill>
                  <a:srgbClr val="FFFFFF"/>
                </a:solidFill>
              </a:rPr>
              <a:t>CATALYSEURS MACRO</a:t>
            </a:r>
          </a:p>
        </p:txBody>
      </p:sp>
      <p:sp>
        <p:nvSpPr>
          <p:cNvPr id="23" name="Rectangle 22"/>
          <p:cNvSpPr/>
          <p:nvPr/>
        </p:nvSpPr>
        <p:spPr>
          <a:xfrm>
            <a:off x="324000" y="1818000"/>
            <a:ext cx="28800" cy="32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3999" y="1818000"/>
            <a:ext cx="8028000" cy="162000"/>
          </a:xfrm>
          <a:prstGeom prst="rect">
            <a:avLst/>
          </a:prstGeom>
          <a:noFill/>
        </p:spPr>
        <p:txBody>
          <a:bodyPr wrap="square">
            <a:spAutoFit/>
          </a:bodyPr>
          <a:lstStyle/>
          <a:p>
            <a:pPr algn="l"/>
            <a:r>
              <a:rPr sz="800" b="1" i="0">
                <a:solidFill>
                  <a:srgbClr val="1B3A6B"/>
                </a:solidFill>
              </a:rPr>
              <a:t>Momentum Healthcare</a:t>
            </a:r>
          </a:p>
        </p:txBody>
      </p:sp>
      <p:sp>
        <p:nvSpPr>
          <p:cNvPr id="25" name="TextBox 24"/>
          <p:cNvSpPr txBox="1"/>
          <p:nvPr/>
        </p:nvSpPr>
        <p:spPr>
          <a:xfrm>
            <a:off x="413999" y="1980000"/>
            <a:ext cx="8028000" cy="198000"/>
          </a:xfrm>
          <a:prstGeom prst="rect">
            <a:avLst/>
          </a:prstGeom>
          <a:noFill/>
        </p:spPr>
        <p:txBody>
          <a:bodyPr wrap="square">
            <a:spAutoFit/>
          </a:bodyPr>
          <a:lstStyle/>
          <a:p>
            <a:pPr algn="l"/>
            <a:r>
              <a:rPr sz="750" b="0" i="0">
                <a:solidFill>
                  <a:srgbClr val="555555"/>
                </a:solidFill>
              </a:rPr>
              <a:t>Performance +0.0% sur 52 semaines (score 69/100) — continuation probable si les BPA NTM confirment la tendance.</a:t>
            </a:r>
          </a:p>
        </p:txBody>
      </p:sp>
      <p:sp>
        <p:nvSpPr>
          <p:cNvPr id="26" name="Rectangle 25"/>
          <p:cNvSpPr/>
          <p:nvPr/>
        </p:nvSpPr>
        <p:spPr>
          <a:xfrm>
            <a:off x="324000" y="2160000"/>
            <a:ext cx="28800" cy="32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3999" y="2160000"/>
            <a:ext cx="8028000" cy="162000"/>
          </a:xfrm>
          <a:prstGeom prst="rect">
            <a:avLst/>
          </a:prstGeom>
          <a:noFill/>
        </p:spPr>
        <p:txBody>
          <a:bodyPr wrap="square">
            <a:spAutoFit/>
          </a:bodyPr>
          <a:lstStyle/>
          <a:p>
            <a:pPr algn="l"/>
            <a:r>
              <a:rPr sz="800" b="1" i="0">
                <a:solidFill>
                  <a:srgbClr val="1B3A6B"/>
                </a:solidFill>
              </a:rPr>
              <a:t>Passage en Surponderer</a:t>
            </a:r>
          </a:p>
        </p:txBody>
      </p:sp>
      <p:sp>
        <p:nvSpPr>
          <p:cNvPr id="28" name="TextBox 27"/>
          <p:cNvSpPr txBox="1"/>
          <p:nvPr/>
        </p:nvSpPr>
        <p:spPr>
          <a:xfrm>
            <a:off x="413999" y="2322000"/>
            <a:ext cx="8028000" cy="198000"/>
          </a:xfrm>
          <a:prstGeom prst="rect">
            <a:avLst/>
          </a:prstGeom>
          <a:noFill/>
        </p:spPr>
        <p:txBody>
          <a:bodyPr wrap="square">
            <a:spAutoFit/>
          </a:bodyPr>
          <a:lstStyle/>
          <a:p>
            <a:pPr algn="l"/>
            <a:r>
              <a:rPr sz="750" b="0" i="0">
                <a:solidFill>
                  <a:srgbClr val="555555"/>
                </a:solidFill>
              </a:rPr>
              <a:t>Score a 11 points du seuil Surponderer (60/100). Surprise BPA positive ou confirmation acceleration du cycle suffisante.</a:t>
            </a:r>
          </a:p>
        </p:txBody>
      </p:sp>
      <p:sp>
        <p:nvSpPr>
          <p:cNvPr id="29" name="Rectangle 28"/>
          <p:cNvSpPr/>
          <p:nvPr/>
        </p:nvSpPr>
        <p:spPr>
          <a:xfrm>
            <a:off x="324000" y="2501999"/>
            <a:ext cx="28800" cy="32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3999" y="2501999"/>
            <a:ext cx="8028000" cy="162000"/>
          </a:xfrm>
          <a:prstGeom prst="rect">
            <a:avLst/>
          </a:prstGeom>
          <a:noFill/>
        </p:spPr>
        <p:txBody>
          <a:bodyPr wrap="square">
            <a:spAutoFit/>
          </a:bodyPr>
          <a:lstStyle/>
          <a:p>
            <a:pPr algn="l"/>
            <a:r>
              <a:rPr sz="800" b="1" i="0">
                <a:solidFill>
                  <a:srgbClr val="1B3A6B"/>
                </a:solidFill>
              </a:rPr>
              <a:t>Pivot des banques centrales</a:t>
            </a:r>
          </a:p>
        </p:txBody>
      </p:sp>
      <p:sp>
        <p:nvSpPr>
          <p:cNvPr id="31" name="TextBox 30"/>
          <p:cNvSpPr txBox="1"/>
          <p:nvPr/>
        </p:nvSpPr>
        <p:spPr>
          <a:xfrm>
            <a:off x="413999" y="2664000"/>
            <a:ext cx="8028000" cy="198000"/>
          </a:xfrm>
          <a:prstGeom prst="rect">
            <a:avLst/>
          </a:prstGeom>
          <a:noFill/>
        </p:spPr>
        <p:txBody>
          <a:bodyPr wrap="square">
            <a:spAutoFit/>
          </a:bodyPr>
          <a:lstStyle/>
          <a:p>
            <a:pPr algn="l"/>
            <a:r>
              <a:rPr sz="750" b="0" i="0">
                <a:solidFill>
                  <a:srgbClr val="555555"/>
                </a:solidFill>
              </a:rPr>
              <a:t>Baisse des taux directeurs — re-rating des secteurs croissance et reduction de la pression sur les bilans endettes.</a:t>
            </a:r>
          </a:p>
        </p:txBody>
      </p:sp>
      <p:sp>
        <p:nvSpPr>
          <p:cNvPr id="32" name="Rectangle 31"/>
          <p:cNvSpPr/>
          <p:nvPr/>
        </p:nvSpPr>
        <p:spPr>
          <a:xfrm>
            <a:off x="324000" y="2808000"/>
            <a:ext cx="8496000" cy="19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24000" y="2808000"/>
            <a:ext cx="43200" cy="198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2000" y="2844000"/>
            <a:ext cx="8208000" cy="198000"/>
          </a:xfrm>
          <a:prstGeom prst="rect">
            <a:avLst/>
          </a:prstGeom>
          <a:noFill/>
        </p:spPr>
        <p:txBody>
          <a:bodyPr wrap="square">
            <a:spAutoFit/>
          </a:bodyPr>
          <a:lstStyle/>
          <a:p>
            <a:pPr algn="l"/>
            <a:r>
              <a:rPr sz="800" b="1" i="0">
                <a:solidFill>
                  <a:srgbClr val="1B3A6B"/>
                </a:solidFill>
              </a:rPr>
              <a:t>SYNTHÈSE DU SIGNAL</a:t>
            </a:r>
          </a:p>
        </p:txBody>
      </p:sp>
      <p:sp>
        <p:nvSpPr>
          <p:cNvPr id="35" name="TextBox 34"/>
          <p:cNvSpPr txBox="1"/>
          <p:nvPr/>
        </p:nvSpPr>
        <p:spPr>
          <a:xfrm>
            <a:off x="432000" y="3060000"/>
            <a:ext cx="8208000" cy="1620000"/>
          </a:xfrm>
          <a:prstGeom prst="rect">
            <a:avLst/>
          </a:prstGeom>
          <a:noFill/>
        </p:spPr>
        <p:txBody>
          <a:bodyPr wrap="square">
            <a:spAutoFit/>
          </a:bodyPr>
          <a:lstStyle/>
          <a:p>
            <a:pPr algn="l"/>
            <a:r>
              <a:rPr sz="800" b="0" i="0">
                <a:solidFill>
                  <a:srgbClr val="555555"/>
                </a:solidFill>
              </a:rPr>
              <a:t>Signal global Neutre (conviction 50%). L'analyse sectorielle identifie 2 secteurs Surponderer, 6 Neutres et 3 Sous-ponderer. Horizon d'allocation recommande : 12 mois.</a:t>
            </a:r>
          </a:p>
        </p:txBody>
      </p:sp>
      <p:sp>
        <p:nvSpPr>
          <p:cNvPr id="36" name="Rectangle 35"/>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Sommaire</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CAC 40  ·  CAC40  ·  Structure de l'analyse macro institutionnelle</a:t>
            </a:r>
          </a:p>
        </p:txBody>
      </p:sp>
      <p:sp>
        <p:nvSpPr>
          <p:cNvPr id="15" name="Rectangle 14"/>
          <p:cNvSpPr/>
          <p:nvPr/>
        </p:nvSpPr>
        <p:spPr>
          <a:xfrm>
            <a:off x="324000" y="900000"/>
            <a:ext cx="8496000" cy="86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432000" cy="86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4000" y="1152000"/>
            <a:ext cx="432000" cy="360000"/>
          </a:xfrm>
          <a:prstGeom prst="rect">
            <a:avLst/>
          </a:prstGeom>
          <a:noFill/>
        </p:spPr>
        <p:txBody>
          <a:bodyPr wrap="square">
            <a:spAutoFit/>
          </a:bodyPr>
          <a:lstStyle/>
          <a:p>
            <a:pPr algn="ctr"/>
            <a:r>
              <a:rPr sz="1400" b="1" i="0">
                <a:solidFill>
                  <a:srgbClr val="FFFFFF"/>
                </a:solidFill>
              </a:rPr>
              <a:t>01</a:t>
            </a:r>
          </a:p>
        </p:txBody>
      </p:sp>
      <p:sp>
        <p:nvSpPr>
          <p:cNvPr id="18" name="TextBox 17"/>
          <p:cNvSpPr txBox="1"/>
          <p:nvPr/>
        </p:nvSpPr>
        <p:spPr>
          <a:xfrm>
            <a:off x="827999" y="954000"/>
            <a:ext cx="6660000" cy="270000"/>
          </a:xfrm>
          <a:prstGeom prst="rect">
            <a:avLst/>
          </a:prstGeom>
          <a:noFill/>
        </p:spPr>
        <p:txBody>
          <a:bodyPr wrap="square">
            <a:spAutoFit/>
          </a:bodyPr>
          <a:lstStyle/>
          <a:p>
            <a:pPr algn="l"/>
            <a:r>
              <a:rPr sz="1000" b="1" i="0">
                <a:solidFill>
                  <a:srgbClr val="1B3A6B"/>
                </a:solidFill>
              </a:rPr>
              <a:t>Synthèse Macro &amp; Signal Global</a:t>
            </a:r>
          </a:p>
        </p:txBody>
      </p:sp>
      <p:sp>
        <p:nvSpPr>
          <p:cNvPr id="19" name="TextBox 18"/>
          <p:cNvSpPr txBox="1"/>
          <p:nvPr/>
        </p:nvSpPr>
        <p:spPr>
          <a:xfrm>
            <a:off x="827999" y="1224000"/>
            <a:ext cx="6660000" cy="396000"/>
          </a:xfrm>
          <a:prstGeom prst="rect">
            <a:avLst/>
          </a:prstGeom>
          <a:noFill/>
        </p:spPr>
        <p:txBody>
          <a:bodyPr wrap="square">
            <a:spAutoFit/>
          </a:bodyPr>
          <a:lstStyle/>
          <a:p>
            <a:pPr algn="l"/>
            <a:r>
              <a:rPr sz="800" b="0" i="0">
                <a:solidFill>
                  <a:srgbClr val="555555"/>
                </a:solidFill>
              </a:rPr>
              <a:t>Description indice · P/E Forward · ERP Damodaran · Catalyseurs &amp; risques · Cycle économique</a:t>
            </a:r>
          </a:p>
        </p:txBody>
      </p:sp>
      <p:sp>
        <p:nvSpPr>
          <p:cNvPr id="20" name="TextBox 19"/>
          <p:cNvSpPr txBox="1"/>
          <p:nvPr/>
        </p:nvSpPr>
        <p:spPr>
          <a:xfrm>
            <a:off x="7740000" y="1170000"/>
            <a:ext cx="972000" cy="216000"/>
          </a:xfrm>
          <a:prstGeom prst="rect">
            <a:avLst/>
          </a:prstGeom>
          <a:noFill/>
        </p:spPr>
        <p:txBody>
          <a:bodyPr wrap="square">
            <a:spAutoFit/>
          </a:bodyPr>
          <a:lstStyle/>
          <a:p>
            <a:pPr algn="r"/>
            <a:r>
              <a:rPr sz="900" b="1" i="0">
                <a:solidFill>
                  <a:srgbClr val="1B3A6B"/>
                </a:solidFill>
              </a:rPr>
              <a:t>p. 5-7</a:t>
            </a:r>
          </a:p>
        </p:txBody>
      </p:sp>
      <p:sp>
        <p:nvSpPr>
          <p:cNvPr id="21" name="Rectangle 20"/>
          <p:cNvSpPr/>
          <p:nvPr/>
        </p:nvSpPr>
        <p:spPr>
          <a:xfrm>
            <a:off x="324000" y="1890000"/>
            <a:ext cx="8496000" cy="86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4000" y="1890000"/>
            <a:ext cx="432000" cy="86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2142000"/>
            <a:ext cx="432000" cy="360000"/>
          </a:xfrm>
          <a:prstGeom prst="rect">
            <a:avLst/>
          </a:prstGeom>
          <a:noFill/>
        </p:spPr>
        <p:txBody>
          <a:bodyPr wrap="square">
            <a:spAutoFit/>
          </a:bodyPr>
          <a:lstStyle/>
          <a:p>
            <a:pPr algn="ctr"/>
            <a:r>
              <a:rPr sz="1400" b="1" i="0">
                <a:solidFill>
                  <a:srgbClr val="FFFFFF"/>
                </a:solidFill>
              </a:rPr>
              <a:t>02</a:t>
            </a:r>
          </a:p>
        </p:txBody>
      </p:sp>
      <p:sp>
        <p:nvSpPr>
          <p:cNvPr id="24" name="TextBox 23"/>
          <p:cNvSpPr txBox="1"/>
          <p:nvPr/>
        </p:nvSpPr>
        <p:spPr>
          <a:xfrm>
            <a:off x="827999" y="1944000"/>
            <a:ext cx="6660000" cy="270000"/>
          </a:xfrm>
          <a:prstGeom prst="rect">
            <a:avLst/>
          </a:prstGeom>
          <a:noFill/>
        </p:spPr>
        <p:txBody>
          <a:bodyPr wrap="square">
            <a:spAutoFit/>
          </a:bodyPr>
          <a:lstStyle/>
          <a:p>
            <a:pPr algn="l"/>
            <a:r>
              <a:rPr sz="1000" b="1" i="0">
                <a:solidFill>
                  <a:srgbClr val="1B3A6B"/>
                </a:solidFill>
              </a:rPr>
              <a:t>Cartographie des Secteurs</a:t>
            </a:r>
          </a:p>
        </p:txBody>
      </p:sp>
      <p:sp>
        <p:nvSpPr>
          <p:cNvPr id="25" name="TextBox 24"/>
          <p:cNvSpPr txBox="1"/>
          <p:nvPr/>
        </p:nvSpPr>
        <p:spPr>
          <a:xfrm>
            <a:off x="827999" y="2214000"/>
            <a:ext cx="6660000" cy="396000"/>
          </a:xfrm>
          <a:prstGeom prst="rect">
            <a:avLst/>
          </a:prstGeom>
          <a:noFill/>
        </p:spPr>
        <p:txBody>
          <a:bodyPr wrap="square">
            <a:spAutoFit/>
          </a:bodyPr>
          <a:lstStyle/>
          <a:p>
            <a:pPr algn="l"/>
            <a:r>
              <a:rPr sz="800" b="0" i="0">
                <a:solidFill>
                  <a:srgbClr val="555555"/>
                </a:solidFill>
              </a:rPr>
              <a:t>11 secteurs GICS · Scores FinSight · Scatter EV/EBITDA vs croissance · Décomposition scores</a:t>
            </a:r>
          </a:p>
        </p:txBody>
      </p:sp>
      <p:sp>
        <p:nvSpPr>
          <p:cNvPr id="26" name="TextBox 25"/>
          <p:cNvSpPr txBox="1"/>
          <p:nvPr/>
        </p:nvSpPr>
        <p:spPr>
          <a:xfrm>
            <a:off x="7740000" y="2160000"/>
            <a:ext cx="972000" cy="216000"/>
          </a:xfrm>
          <a:prstGeom prst="rect">
            <a:avLst/>
          </a:prstGeom>
          <a:noFill/>
        </p:spPr>
        <p:txBody>
          <a:bodyPr wrap="square">
            <a:spAutoFit/>
          </a:bodyPr>
          <a:lstStyle/>
          <a:p>
            <a:pPr algn="r"/>
            <a:r>
              <a:rPr sz="900" b="1" i="0">
                <a:solidFill>
                  <a:srgbClr val="1B3A6B"/>
                </a:solidFill>
              </a:rPr>
              <a:t>p. 9-11</a:t>
            </a:r>
          </a:p>
        </p:txBody>
      </p:sp>
      <p:sp>
        <p:nvSpPr>
          <p:cNvPr id="27" name="Rectangle 26"/>
          <p:cNvSpPr/>
          <p:nvPr/>
        </p:nvSpPr>
        <p:spPr>
          <a:xfrm>
            <a:off x="324000" y="2880000"/>
            <a:ext cx="8496000" cy="86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24000" y="2880000"/>
            <a:ext cx="432000" cy="86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4000" y="3131999"/>
            <a:ext cx="432000" cy="360000"/>
          </a:xfrm>
          <a:prstGeom prst="rect">
            <a:avLst/>
          </a:prstGeom>
          <a:noFill/>
        </p:spPr>
        <p:txBody>
          <a:bodyPr wrap="square">
            <a:spAutoFit/>
          </a:bodyPr>
          <a:lstStyle/>
          <a:p>
            <a:pPr algn="ctr"/>
            <a:r>
              <a:rPr sz="1400" b="1" i="0">
                <a:solidFill>
                  <a:srgbClr val="FFFFFF"/>
                </a:solidFill>
              </a:rPr>
              <a:t>03</a:t>
            </a:r>
          </a:p>
        </p:txBody>
      </p:sp>
      <p:sp>
        <p:nvSpPr>
          <p:cNvPr id="30" name="TextBox 29"/>
          <p:cNvSpPr txBox="1"/>
          <p:nvPr/>
        </p:nvSpPr>
        <p:spPr>
          <a:xfrm>
            <a:off x="827999" y="2934000"/>
            <a:ext cx="6660000" cy="270000"/>
          </a:xfrm>
          <a:prstGeom prst="rect">
            <a:avLst/>
          </a:prstGeom>
          <a:noFill/>
        </p:spPr>
        <p:txBody>
          <a:bodyPr wrap="square">
            <a:spAutoFit/>
          </a:bodyPr>
          <a:lstStyle/>
          <a:p>
            <a:pPr algn="l"/>
            <a:r>
              <a:rPr sz="1000" b="1" i="0">
                <a:solidFill>
                  <a:srgbClr val="1B3A6B"/>
                </a:solidFill>
              </a:rPr>
              <a:t>Top 3 Secteurs Recommandés</a:t>
            </a:r>
          </a:p>
        </p:txBody>
      </p:sp>
      <p:sp>
        <p:nvSpPr>
          <p:cNvPr id="31" name="TextBox 30"/>
          <p:cNvSpPr txBox="1"/>
          <p:nvPr/>
        </p:nvSpPr>
        <p:spPr>
          <a:xfrm>
            <a:off x="827999" y="3204000"/>
            <a:ext cx="6660000" cy="396000"/>
          </a:xfrm>
          <a:prstGeom prst="rect">
            <a:avLst/>
          </a:prstGeom>
          <a:noFill/>
        </p:spPr>
        <p:txBody>
          <a:bodyPr wrap="square">
            <a:spAutoFit/>
          </a:bodyPr>
          <a:lstStyle/>
          <a:p>
            <a:pPr algn="l"/>
            <a:r>
              <a:rPr sz="800" b="0" i="0">
                <a:solidFill>
                  <a:srgbClr val="555555"/>
                </a:solidFill>
              </a:rPr>
              <a:t>Synthèse signal · Sociétés représentatives · Distribution valorisations · Zone d'entrée</a:t>
            </a:r>
          </a:p>
        </p:txBody>
      </p:sp>
      <p:sp>
        <p:nvSpPr>
          <p:cNvPr id="32" name="TextBox 31"/>
          <p:cNvSpPr txBox="1"/>
          <p:nvPr/>
        </p:nvSpPr>
        <p:spPr>
          <a:xfrm>
            <a:off x="7740000" y="3150000"/>
            <a:ext cx="972000" cy="216000"/>
          </a:xfrm>
          <a:prstGeom prst="rect">
            <a:avLst/>
          </a:prstGeom>
          <a:noFill/>
        </p:spPr>
        <p:txBody>
          <a:bodyPr wrap="square">
            <a:spAutoFit/>
          </a:bodyPr>
          <a:lstStyle/>
          <a:p>
            <a:pPr algn="r"/>
            <a:r>
              <a:rPr sz="900" b="1" i="0">
                <a:solidFill>
                  <a:srgbClr val="1B3A6B"/>
                </a:solidFill>
              </a:rPr>
              <a:t>p. 13-15</a:t>
            </a:r>
          </a:p>
        </p:txBody>
      </p:sp>
      <p:sp>
        <p:nvSpPr>
          <p:cNvPr id="33" name="Rectangle 32"/>
          <p:cNvSpPr/>
          <p:nvPr/>
        </p:nvSpPr>
        <p:spPr>
          <a:xfrm>
            <a:off x="324000" y="3870000"/>
            <a:ext cx="8496000" cy="86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24000" y="3870000"/>
            <a:ext cx="432000" cy="86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4000" y="4121999"/>
            <a:ext cx="432000" cy="360000"/>
          </a:xfrm>
          <a:prstGeom prst="rect">
            <a:avLst/>
          </a:prstGeom>
          <a:noFill/>
        </p:spPr>
        <p:txBody>
          <a:bodyPr wrap="square">
            <a:spAutoFit/>
          </a:bodyPr>
          <a:lstStyle/>
          <a:p>
            <a:pPr algn="ctr"/>
            <a:r>
              <a:rPr sz="1400" b="1" i="0">
                <a:solidFill>
                  <a:srgbClr val="FFFFFF"/>
                </a:solidFill>
              </a:rPr>
              <a:t>04</a:t>
            </a:r>
          </a:p>
        </p:txBody>
      </p:sp>
      <p:sp>
        <p:nvSpPr>
          <p:cNvPr id="36" name="TextBox 35"/>
          <p:cNvSpPr txBox="1"/>
          <p:nvPr/>
        </p:nvSpPr>
        <p:spPr>
          <a:xfrm>
            <a:off x="827999" y="3924000"/>
            <a:ext cx="6660000" cy="270000"/>
          </a:xfrm>
          <a:prstGeom prst="rect">
            <a:avLst/>
          </a:prstGeom>
          <a:noFill/>
        </p:spPr>
        <p:txBody>
          <a:bodyPr wrap="square">
            <a:spAutoFit/>
          </a:bodyPr>
          <a:lstStyle/>
          <a:p>
            <a:pPr algn="l"/>
            <a:r>
              <a:rPr sz="1000" b="1" i="0">
                <a:solidFill>
                  <a:srgbClr val="1B3A6B"/>
                </a:solidFill>
              </a:rPr>
              <a:t>Risques, Rotation &amp; Sentiment</a:t>
            </a:r>
          </a:p>
        </p:txBody>
      </p:sp>
      <p:sp>
        <p:nvSpPr>
          <p:cNvPr id="37" name="TextBox 36"/>
          <p:cNvSpPr txBox="1"/>
          <p:nvPr/>
        </p:nvSpPr>
        <p:spPr>
          <a:xfrm>
            <a:off x="827999" y="4194000"/>
            <a:ext cx="6660000" cy="396000"/>
          </a:xfrm>
          <a:prstGeom prst="rect">
            <a:avLst/>
          </a:prstGeom>
          <a:noFill/>
        </p:spPr>
        <p:txBody>
          <a:bodyPr wrap="square">
            <a:spAutoFit/>
          </a:bodyPr>
          <a:lstStyle/>
          <a:p>
            <a:pPr algn="l"/>
            <a:r>
              <a:rPr sz="800" b="0" i="0">
                <a:solidFill>
                  <a:srgbClr val="555555"/>
                </a:solidFill>
              </a:rPr>
              <a:t>Scénarios alternatifs · Rotation sectorielle · FinBERT · Performance ETF</a:t>
            </a:r>
          </a:p>
        </p:txBody>
      </p:sp>
      <p:sp>
        <p:nvSpPr>
          <p:cNvPr id="38" name="TextBox 37"/>
          <p:cNvSpPr txBox="1"/>
          <p:nvPr/>
        </p:nvSpPr>
        <p:spPr>
          <a:xfrm>
            <a:off x="7740000" y="4140000"/>
            <a:ext cx="972000" cy="216000"/>
          </a:xfrm>
          <a:prstGeom prst="rect">
            <a:avLst/>
          </a:prstGeom>
          <a:noFill/>
        </p:spPr>
        <p:txBody>
          <a:bodyPr wrap="square">
            <a:spAutoFit/>
          </a:bodyPr>
          <a:lstStyle/>
          <a:p>
            <a:pPr algn="r"/>
            <a:r>
              <a:rPr sz="900" b="1" i="0">
                <a:solidFill>
                  <a:srgbClr val="1B3A6B"/>
                </a:solidFill>
              </a:rPr>
              <a:t>p. 17-20</a:t>
            </a:r>
          </a:p>
        </p:txBody>
      </p:sp>
      <p:sp>
        <p:nvSpPr>
          <p:cNvPr id="39" name="Rectangle 38"/>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01</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Synthèse Macro &amp; Signal Global</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Valorisation top-down · ERP · Cycle économique · Catalyseurs &amp; risques</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Description de l'Indice</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CAC 40 (CAC40)  ·  Caractéristiques structurelles &amp; valorisation macro</a:t>
            </a:r>
          </a:p>
        </p:txBody>
      </p:sp>
      <p:sp>
        <p:nvSpPr>
          <p:cNvPr id="15" name="Rectangle 14"/>
          <p:cNvSpPr/>
          <p:nvPr/>
        </p:nvSpPr>
        <p:spPr>
          <a:xfrm>
            <a:off x="324000" y="827999"/>
            <a:ext cx="43200" cy="255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2000" y="827999"/>
            <a:ext cx="4824000" cy="2556000"/>
          </a:xfrm>
          <a:prstGeom prst="rect">
            <a:avLst/>
          </a:prstGeom>
          <a:noFill/>
        </p:spPr>
        <p:txBody>
          <a:bodyPr wrap="square">
            <a:spAutoFit/>
          </a:bodyPr>
          <a:lstStyle/>
          <a:p>
            <a:pPr algn="l"/>
            <a:r>
              <a:rPr sz="850" b="0" i="0">
                <a:solidFill>
                  <a:srgbClr val="555555"/>
                </a:solidFill>
              </a:rPr>
              <a:t>Le CAC 40 est un indice de reference regroupant 40 societes reparties sur 11 secteurs GICS. L'analyse FinSight couvre la periode glissante 12 mois (LTM) sur la base des donnees yfinance et FMP.
Signal global : Neutre — Conviction 50%.
Score composite moyen : 49/100.
Secteurs leaders : Healthcare, Real Estate, Consumer Defen.</a:t>
            </a:r>
          </a:p>
        </p:txBody>
      </p:sp>
      <p:graphicFrame>
        <p:nvGraphicFramePr>
          <p:cNvPr id="17" name="Table 16"/>
          <p:cNvGraphicFramePr>
            <a:graphicFrameLocks noGrp="1"/>
          </p:cNvGraphicFramePr>
          <p:nvPr/>
        </p:nvGraphicFramePr>
        <p:xfrm>
          <a:off x="5436000" y="827999"/>
          <a:ext cx="3384000" cy="2520000"/>
        </p:xfrm>
        <a:graphic>
          <a:graphicData uri="http://schemas.openxmlformats.org/drawingml/2006/table">
            <a:tbl>
              <a:tblPr firstRow="1" bandRow="1">
                <a:tableStyleId>{5C22544A-7EE6-4342-B048-85BDC9FD1C3A}</a:tableStyleId>
              </a:tblPr>
              <a:tblGrid>
                <a:gridCol w="2256000"/>
                <a:gridCol w="1128000"/>
              </a:tblGrid>
              <a:tr h="280000">
                <a:tc>
                  <a:txBody>
                    <a:bodyPr/>
                    <a:lstStyle/>
                    <a:p>
                      <a:pPr algn="ctr"/>
                      <a:r>
                        <a:rPr sz="800" b="1">
                          <a:solidFill>
                            <a:srgbClr val="FFFFFF"/>
                          </a:solidFill>
                        </a:rPr>
                        <a:t>MÉTRIQUE</a:t>
                      </a:r>
                    </a:p>
                  </a:txBody>
                  <a:tcPr>
                    <a:solidFill>
                      <a:srgbClr val="1B3A6B"/>
                    </a:solidFill>
                  </a:tcPr>
                </a:tc>
                <a:tc>
                  <a:txBody>
                    <a:bodyPr/>
                    <a:lstStyle/>
                    <a:p>
                      <a:pPr algn="ctr"/>
                      <a:r>
                        <a:rPr sz="800" b="1">
                          <a:solidFill>
                            <a:srgbClr val="FFFFFF"/>
                          </a:solidFill>
                        </a:rPr>
                        <a:t>VALEUR</a:t>
                      </a:r>
                    </a:p>
                  </a:txBody>
                  <a:tcPr>
                    <a:solidFill>
                      <a:srgbClr val="1B3A6B"/>
                    </a:solidFill>
                  </a:tcPr>
                </a:tc>
              </a:tr>
              <a:tr h="280000">
                <a:tc>
                  <a:txBody>
                    <a:bodyPr/>
                    <a:lstStyle/>
                    <a:p>
                      <a:pPr algn="ctr"/>
                      <a:r>
                        <a:rPr sz="800" b="0">
                          <a:solidFill>
                            <a:srgbClr val="1A1A1A"/>
                          </a:solidFill>
                        </a:rPr>
                        <a:t>Cours actuel</a:t>
                      </a:r>
                    </a:p>
                  </a:txBody>
                  <a:tcPr>
                    <a:noFill/>
                  </a:tcPr>
                </a:tc>
                <a:tc>
                  <a:txBody>
                    <a:bodyPr/>
                    <a:lstStyle/>
                    <a:p>
                      <a:pPr algn="ctr"/>
                      <a:r>
                        <a:rPr sz="800" b="0">
                          <a:solidFill>
                            <a:srgbClr val="1A1A1A"/>
                          </a:solidFill>
                        </a:rPr>
                        <a:t>—</a:t>
                      </a:r>
                    </a:p>
                  </a:txBody>
                  <a:tcPr>
                    <a:noFill/>
                  </a:tcPr>
                </a:tc>
              </a:tr>
              <a:tr h="280000">
                <a:tc>
                  <a:txBody>
                    <a:bodyPr/>
                    <a:lstStyle/>
                    <a:p>
                      <a:pPr algn="ctr"/>
                      <a:r>
                        <a:rPr sz="800" b="0">
                          <a:solidFill>
                            <a:srgbClr val="1A1A1A"/>
                          </a:solidFill>
                        </a:rPr>
                        <a:t>Variation YTD</a:t>
                      </a:r>
                    </a:p>
                  </a:txBody>
                  <a:tcPr>
                    <a:solidFill>
                      <a:srgbClr val="F5F7FA"/>
                    </a:solidFill>
                  </a:tcPr>
                </a:tc>
                <a:tc>
                  <a:txBody>
                    <a:bodyPr/>
                    <a:lstStyle/>
                    <a:p>
                      <a:pPr algn="ctr"/>
                      <a:r>
                        <a:rPr sz="800" b="0">
                          <a:solidFill>
                            <a:srgbClr val="1A1A1A"/>
                          </a:solidFill>
                        </a:rPr>
                        <a:t>—</a:t>
                      </a:r>
                    </a:p>
                  </a:txBody>
                  <a:tcPr>
                    <a:solidFill>
                      <a:srgbClr val="F5F7FA"/>
                    </a:solidFill>
                  </a:tcPr>
                </a:tc>
              </a:tr>
              <a:tr h="280000">
                <a:tc>
                  <a:txBody>
                    <a:bodyPr/>
                    <a:lstStyle/>
                    <a:p>
                      <a:pPr algn="ctr"/>
                      <a:r>
                        <a:rPr sz="800" b="0">
                          <a:solidFill>
                            <a:srgbClr val="1A1A1A"/>
                          </a:solidFill>
                        </a:rPr>
                        <a:t>P/E Forward</a:t>
                      </a:r>
                    </a:p>
                  </a:txBody>
                  <a:tcPr>
                    <a:noFill/>
                  </a:tcPr>
                </a:tc>
                <a:tc>
                  <a:txBody>
                    <a:bodyPr/>
                    <a:lstStyle/>
                    <a:p>
                      <a:pPr algn="ctr"/>
                      <a:r>
                        <a:rPr sz="800" b="0">
                          <a:solidFill>
                            <a:srgbClr val="1A1A1A"/>
                          </a:solidFill>
                        </a:rPr>
                        <a:t>—</a:t>
                      </a:r>
                    </a:p>
                  </a:txBody>
                  <a:tcPr>
                    <a:noFill/>
                  </a:tcPr>
                </a:tc>
              </a:tr>
              <a:tr h="280000">
                <a:tc>
                  <a:txBody>
                    <a:bodyPr/>
                    <a:lstStyle/>
                    <a:p>
                      <a:pPr algn="ctr"/>
                      <a:r>
                        <a:rPr sz="800" b="0">
                          <a:solidFill>
                            <a:srgbClr val="1A1A1A"/>
                          </a:solidFill>
                        </a:rPr>
                        <a:t>P/E Médiane 10 ans</a:t>
                      </a:r>
                    </a:p>
                  </a:txBody>
                  <a:tcPr>
                    <a:solidFill>
                      <a:srgbClr val="F5F7FA"/>
                    </a:solidFill>
                  </a:tcPr>
                </a:tc>
                <a:tc>
                  <a:txBody>
                    <a:bodyPr/>
                    <a:lstStyle/>
                    <a:p>
                      <a:pPr algn="ctr"/>
                      <a:r>
                        <a:rPr sz="800" b="0">
                          <a:solidFill>
                            <a:srgbClr val="1A1A1A"/>
                          </a:solidFill>
                        </a:rPr>
                        <a:t>15.5</a:t>
                      </a:r>
                    </a:p>
                  </a:txBody>
                  <a:tcPr>
                    <a:solidFill>
                      <a:srgbClr val="F5F7FA"/>
                    </a:solidFill>
                  </a:tcPr>
                </a:tc>
              </a:tr>
              <a:tr h="280000">
                <a:tc>
                  <a:txBody>
                    <a:bodyPr/>
                    <a:lstStyle/>
                    <a:p>
                      <a:pPr algn="ctr"/>
                      <a:r>
                        <a:rPr sz="800" b="0">
                          <a:solidFill>
                            <a:srgbClr val="1A1A1A"/>
                          </a:solidFill>
                        </a:rPr>
                        <a:t>ERP (Damodaran)</a:t>
                      </a:r>
                    </a:p>
                  </a:txBody>
                  <a:tcPr>
                    <a:noFill/>
                  </a:tcPr>
                </a:tc>
                <a:tc>
                  <a:txBody>
                    <a:bodyPr/>
                    <a:lstStyle/>
                    <a:p>
                      <a:pPr algn="ctr"/>
                      <a:r>
                        <a:rPr sz="800" b="0">
                          <a:solidFill>
                            <a:srgbClr val="1A1A1A"/>
                          </a:solidFill>
                        </a:rPr>
                        <a:t>—</a:t>
                      </a:r>
                    </a:p>
                  </a:txBody>
                  <a:tcPr>
                    <a:noFill/>
                  </a:tcPr>
                </a:tc>
              </a:tr>
              <a:tr h="280000">
                <a:tc>
                  <a:txBody>
                    <a:bodyPr/>
                    <a:lstStyle/>
                    <a:p>
                      <a:pPr algn="ctr"/>
                      <a:r>
                        <a:rPr sz="800" b="0">
                          <a:solidFill>
                            <a:srgbClr val="1A1A1A"/>
                          </a:solidFill>
                        </a:rPr>
                        <a:t>Croissance BPA</a:t>
                      </a:r>
                    </a:p>
                  </a:txBody>
                  <a:tcPr>
                    <a:solidFill>
                      <a:srgbClr val="F5F7FA"/>
                    </a:solidFill>
                  </a:tcPr>
                </a:tc>
                <a:tc>
                  <a:txBody>
                    <a:bodyPr/>
                    <a:lstStyle/>
                    <a:p>
                      <a:pPr algn="ctr"/>
                      <a:r>
                        <a:rPr sz="800" b="0">
                          <a:solidFill>
                            <a:srgbClr val="1A1A1A"/>
                          </a:solidFill>
                        </a:rPr>
                        <a:t>—</a:t>
                      </a:r>
                    </a:p>
                  </a:txBody>
                  <a:tcPr>
                    <a:solidFill>
                      <a:srgbClr val="F5F7FA"/>
                    </a:solidFill>
                  </a:tcPr>
                </a:tc>
              </a:tr>
              <a:tr h="280000">
                <a:tc>
                  <a:txBody>
                    <a:bodyPr/>
                    <a:lstStyle/>
                    <a:p>
                      <a:pPr algn="ctr"/>
                      <a:r>
                        <a:rPr sz="800" b="0">
                          <a:solidFill>
                            <a:srgbClr val="1A1A1A"/>
                          </a:solidFill>
                        </a:rPr>
                        <a:t>Secteurs analysés</a:t>
                      </a:r>
                    </a:p>
                  </a:txBody>
                  <a:tcPr>
                    <a:noFill/>
                  </a:tcPr>
                </a:tc>
                <a:tc>
                  <a:txBody>
                    <a:bodyPr/>
                    <a:lstStyle/>
                    <a:p>
                      <a:pPr algn="ctr"/>
                      <a:r>
                        <a:rPr sz="800" b="0">
                          <a:solidFill>
                            <a:srgbClr val="1A1A1A"/>
                          </a:solidFill>
                        </a:rPr>
                        <a:t>11</a:t>
                      </a:r>
                    </a:p>
                  </a:txBody>
                  <a:tcPr>
                    <a:noFill/>
                  </a:tcPr>
                </a:tc>
              </a:tr>
              <a:tr h="280000">
                <a:tc>
                  <a:txBody>
                    <a:bodyPr/>
                    <a:lstStyle/>
                    <a:p>
                      <a:pPr algn="ctr"/>
                      <a:r>
                        <a:rPr sz="800" b="0">
                          <a:solidFill>
                            <a:srgbClr val="1A1A1A"/>
                          </a:solidFill>
                        </a:rPr>
                        <a:t>Sociétés couvertes</a:t>
                      </a:r>
                    </a:p>
                  </a:txBody>
                  <a:tcPr>
                    <a:solidFill>
                      <a:srgbClr val="F5F7FA"/>
                    </a:solidFill>
                  </a:tcPr>
                </a:tc>
                <a:tc>
                  <a:txBody>
                    <a:bodyPr/>
                    <a:lstStyle/>
                    <a:p>
                      <a:pPr algn="ctr"/>
                      <a:r>
                        <a:rPr sz="800" b="0">
                          <a:solidFill>
                            <a:srgbClr val="1A1A1A"/>
                          </a:solidFill>
                        </a:rPr>
                        <a:t>40</a:t>
                      </a:r>
                    </a:p>
                  </a:txBody>
                  <a:tcPr>
                    <a:solidFill>
                      <a:srgbClr val="F5F7FA"/>
                    </a:solidFill>
                  </a:tcPr>
                </a:tc>
              </a:tr>
            </a:tbl>
          </a:graphicData>
        </a:graphic>
      </p:graphicFrame>
      <p:sp>
        <p:nvSpPr>
          <p:cNvPr id="18" name="Rectangle 17"/>
          <p:cNvSpPr/>
          <p:nvPr/>
        </p:nvSpPr>
        <p:spPr>
          <a:xfrm>
            <a:off x="324000" y="3528000"/>
            <a:ext cx="8496000" cy="12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4000" y="3528000"/>
            <a:ext cx="43200" cy="126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2000" y="3582000"/>
            <a:ext cx="8208000" cy="216000"/>
          </a:xfrm>
          <a:prstGeom prst="rect">
            <a:avLst/>
          </a:prstGeom>
          <a:noFill/>
        </p:spPr>
        <p:txBody>
          <a:bodyPr wrap="square">
            <a:spAutoFit/>
          </a:bodyPr>
          <a:lstStyle/>
          <a:p>
            <a:pPr algn="l"/>
            <a:r>
              <a:rPr sz="800" b="1" i="0">
                <a:solidFill>
                  <a:srgbClr val="1B3A6B"/>
                </a:solidFill>
              </a:rPr>
              <a:t>Lecture — Signal global &amp; positionnement sectoriel</a:t>
            </a:r>
          </a:p>
        </p:txBody>
      </p:sp>
      <p:sp>
        <p:nvSpPr>
          <p:cNvPr id="21" name="TextBox 20"/>
          <p:cNvSpPr txBox="1"/>
          <p:nvPr/>
        </p:nvSpPr>
        <p:spPr>
          <a:xfrm>
            <a:off x="432000" y="3816000"/>
            <a:ext cx="8208000" cy="936000"/>
          </a:xfrm>
          <a:prstGeom prst="rect">
            <a:avLst/>
          </a:prstGeom>
          <a:noFill/>
        </p:spPr>
        <p:txBody>
          <a:bodyPr wrap="square">
            <a:spAutoFit/>
          </a:bodyPr>
          <a:lstStyle/>
          <a:p>
            <a:pPr algn="l"/>
            <a:r>
              <a:rPr sz="750" b="0" i="0">
                <a:solidFill>
                  <a:srgbClr val="555555"/>
                </a:solidFill>
              </a:rPr>
              <a:t>Signal global Neutre (conviction 50%). L'analyse sectorielle identifie 2 secteurs Surponderer, 6 Neutres et 3 Sous-ponderer. Horizon d'allocation recommande : 12 mois.</a:t>
            </a:r>
          </a:p>
        </p:txBody>
      </p:sp>
      <p:sp>
        <p:nvSpPr>
          <p:cNvPr id="22" name="Rectangle 21"/>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Valorisation Macro Top-Down</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CAC 40  ·  BPA forward x P/E cible historique  ·  ERP Damodaran  ·  Signaux FRED</a:t>
            </a:r>
          </a:p>
        </p:txBody>
      </p:sp>
      <p:graphicFrame>
        <p:nvGraphicFramePr>
          <p:cNvPr id="15" name="Table 14"/>
          <p:cNvGraphicFramePr>
            <a:graphicFrameLocks noGrp="1"/>
          </p:cNvGraphicFramePr>
          <p:nvPr/>
        </p:nvGraphicFramePr>
        <p:xfrm>
          <a:off x="324000" y="827999"/>
          <a:ext cx="8496000" cy="1800000"/>
        </p:xfrm>
        <a:graphic>
          <a:graphicData uri="http://schemas.openxmlformats.org/drawingml/2006/table">
            <a:tbl>
              <a:tblPr firstRow="1" bandRow="1">
                <a:tableStyleId>{5C22544A-7EE6-4342-B048-85BDC9FD1C3A}</a:tableStyleId>
              </a:tblPr>
              <a:tblGrid>
                <a:gridCol w="1800000"/>
                <a:gridCol w="1080000"/>
                <a:gridCol w="1080000"/>
                <a:gridCol w="4536000"/>
              </a:tblGrid>
              <a:tr h="300000">
                <a:tc>
                  <a:txBody>
                    <a:bodyPr/>
                    <a:lstStyle/>
                    <a:p>
                      <a:pPr algn="ctr"/>
                      <a:r>
                        <a:rPr sz="800" b="1">
                          <a:solidFill>
                            <a:srgbClr val="FFFFFF"/>
                          </a:solidFill>
                        </a:rPr>
                        <a:t>INDICATEUR</a:t>
                      </a:r>
                    </a:p>
                  </a:txBody>
                  <a:tcPr>
                    <a:solidFill>
                      <a:srgbClr val="1B3A6B"/>
                    </a:solidFill>
                  </a:tcPr>
                </a:tc>
                <a:tc>
                  <a:txBody>
                    <a:bodyPr/>
                    <a:lstStyle/>
                    <a:p>
                      <a:pPr algn="ctr"/>
                      <a:r>
                        <a:rPr sz="800" b="1">
                          <a:solidFill>
                            <a:srgbClr val="FFFFFF"/>
                          </a:solidFill>
                        </a:rPr>
                        <a:t>VALEUR</a:t>
                      </a:r>
                    </a:p>
                  </a:txBody>
                  <a:tcPr>
                    <a:solidFill>
                      <a:srgbClr val="1B3A6B"/>
                    </a:solidFill>
                  </a:tcPr>
                </a:tc>
                <a:tc>
                  <a:txBody>
                    <a:bodyPr/>
                    <a:lstStyle/>
                    <a:p>
                      <a:pPr algn="ctr"/>
                      <a:r>
                        <a:rPr sz="800" b="1">
                          <a:solidFill>
                            <a:srgbClr val="FFFFFF"/>
                          </a:solidFill>
                        </a:rPr>
                        <a:t>vs HISTORIQUE</a:t>
                      </a:r>
                    </a:p>
                  </a:txBody>
                  <a:tcPr>
                    <a:solidFill>
                      <a:srgbClr val="1B3A6B"/>
                    </a:solidFill>
                  </a:tcPr>
                </a:tc>
                <a:tc>
                  <a:txBody>
                    <a:bodyPr/>
                    <a:lstStyle/>
                    <a:p>
                      <a:pPr algn="ctr"/>
                      <a:r>
                        <a:rPr sz="800" b="1">
                          <a:solidFill>
                            <a:srgbClr val="FFFFFF"/>
                          </a:solidFill>
                        </a:rPr>
                        <a:t>INTERPRETATION</a:t>
                      </a:r>
                    </a:p>
                  </a:txBody>
                  <a:tcPr>
                    <a:solidFill>
                      <a:srgbClr val="1B3A6B"/>
                    </a:solidFill>
                  </a:tcPr>
                </a:tc>
              </a:tr>
              <a:tr h="300000">
                <a:tc>
                  <a:txBody>
                    <a:bodyPr/>
                    <a:lstStyle/>
                    <a:p>
                      <a:pPr algn="ctr"/>
                      <a:r>
                        <a:rPr sz="800" b="0">
                          <a:solidFill>
                            <a:srgbClr val="1A1A1A"/>
                          </a:solidFill>
                        </a:rPr>
                        <a:t>P/E Forward</a:t>
                      </a:r>
                    </a:p>
                  </a:txBody>
                  <a:tcPr>
                    <a:noFill/>
                  </a:tcPr>
                </a:tc>
                <a:tc>
                  <a:txBody>
                    <a:bodyPr/>
                    <a:lstStyle/>
                    <a:p>
                      <a:pPr algn="ctr"/>
                      <a:r>
                        <a:rPr sz="800" b="0">
                          <a:solidFill>
                            <a:srgbClr val="1A1A1A"/>
                          </a:solidFill>
                        </a:rPr>
                        <a:t>—</a:t>
                      </a:r>
                    </a:p>
                  </a:txBody>
                  <a:tcPr>
                    <a:noFill/>
                  </a:tcPr>
                </a:tc>
                <a:tc>
                  <a:txBody>
                    <a:bodyPr/>
                    <a:lstStyle/>
                    <a:p>
                      <a:pPr algn="ctr"/>
                      <a:r>
                        <a:rPr sz="800" b="0">
                          <a:solidFill>
                            <a:srgbClr val="1A1A1A"/>
                          </a:solidFill>
                        </a:rPr>
                        <a:t>—</a:t>
                      </a:r>
                    </a:p>
                  </a:txBody>
                  <a:tcPr>
                    <a:noFill/>
                  </a:tcPr>
                </a:tc>
                <a:tc>
                  <a:txBody>
                    <a:bodyPr/>
                    <a:lstStyle/>
                    <a:p>
                      <a:pPr algn="ctr"/>
                      <a:r>
                        <a:rPr sz="800" b="0">
                          <a:solidFill>
                            <a:srgbClr val="1A1A1A"/>
                          </a:solidFill>
                        </a:rPr>
                        <a:t>Prime vs mediane 10Y</a:t>
                      </a:r>
                    </a:p>
                  </a:txBody>
                  <a:tcPr>
                    <a:noFill/>
                  </a:tcPr>
                </a:tc>
              </a:tr>
              <a:tr h="300000">
                <a:tc>
                  <a:txBody>
                    <a:bodyPr/>
                    <a:lstStyle/>
                    <a:p>
                      <a:pPr algn="ctr"/>
                      <a:r>
                        <a:rPr sz="800" b="0">
                          <a:solidFill>
                            <a:srgbClr val="1A1A1A"/>
                          </a:solidFill>
                        </a:rPr>
                        <a:t>P/E Mediane 10 ans</a:t>
                      </a:r>
                    </a:p>
                  </a:txBody>
                  <a:tcPr>
                    <a:solidFill>
                      <a:srgbClr val="F5F7FA"/>
                    </a:solidFill>
                  </a:tcPr>
                </a:tc>
                <a:tc>
                  <a:txBody>
                    <a:bodyPr/>
                    <a:lstStyle/>
                    <a:p>
                      <a:pPr algn="ctr"/>
                      <a:r>
                        <a:rPr sz="800" b="0">
                          <a:solidFill>
                            <a:srgbClr val="1A1A1A"/>
                          </a:solidFill>
                        </a:rPr>
                        <a:t>15.5</a:t>
                      </a:r>
                    </a:p>
                  </a:txBody>
                  <a:tcPr>
                    <a:solidFill>
                      <a:srgbClr val="F5F7FA"/>
                    </a:solidFill>
                  </a:tcPr>
                </a:tc>
                <a:tc>
                  <a:txBody>
                    <a:bodyPr/>
                    <a:lstStyle/>
                    <a:p>
                      <a:pPr algn="ctr"/>
                      <a:r>
                        <a:rPr sz="800" b="0">
                          <a:solidFill>
                            <a:srgbClr val="1A1A1A"/>
                          </a:solidFill>
                        </a:rPr>
                        <a:t>Reference</a:t>
                      </a:r>
                    </a:p>
                  </a:txBody>
                  <a:tcPr>
                    <a:solidFill>
                      <a:srgbClr val="F5F7FA"/>
                    </a:solidFill>
                  </a:tcPr>
                </a:tc>
                <a:tc>
                  <a:txBody>
                    <a:bodyPr/>
                    <a:lstStyle/>
                    <a:p>
                      <a:pPr algn="ctr"/>
                      <a:r>
                        <a:rPr sz="800" b="0">
                          <a:solidFill>
                            <a:srgbClr val="1A1A1A"/>
                          </a:solidFill>
                        </a:rPr>
                        <a:t>Niveau historique normalise</a:t>
                      </a:r>
                    </a:p>
                  </a:txBody>
                  <a:tcPr>
                    <a:solidFill>
                      <a:srgbClr val="F5F7FA"/>
                    </a:solidFill>
                  </a:tcPr>
                </a:tc>
              </a:tr>
              <a:tr h="300000">
                <a:tc>
                  <a:txBody>
                    <a:bodyPr/>
                    <a:lstStyle/>
                    <a:p>
                      <a:pPr algn="ctr"/>
                      <a:r>
                        <a:rPr sz="800" b="0">
                          <a:solidFill>
                            <a:srgbClr val="1A1A1A"/>
                          </a:solidFill>
                        </a:rPr>
                        <a:t>ERP (Damodaran)</a:t>
                      </a:r>
                    </a:p>
                  </a:txBody>
                  <a:tcPr>
                    <a:noFill/>
                  </a:tcPr>
                </a:tc>
                <a:tc>
                  <a:txBody>
                    <a:bodyPr/>
                    <a:lstStyle/>
                    <a:p>
                      <a:pPr algn="ctr"/>
                      <a:r>
                        <a:rPr sz="800" b="0">
                          <a:solidFill>
                            <a:srgbClr val="1A1A1A"/>
                          </a:solidFill>
                        </a:rPr>
                        <a:t>—</a:t>
                      </a:r>
                    </a:p>
                  </a:txBody>
                  <a:tcPr>
                    <a:noFill/>
                  </a:tcPr>
                </a:tc>
                <a:tc>
                  <a:txBody>
                    <a:bodyPr/>
                    <a:lstStyle/>
                    <a:p>
                      <a:pPr algn="ctr"/>
                      <a:r>
                        <a:rPr sz="800" b="0">
                          <a:solidFill>
                            <a:srgbClr val="1A1A1A"/>
                          </a:solidFill>
                        </a:rPr>
                        <a:t>Correct</a:t>
                      </a:r>
                    </a:p>
                  </a:txBody>
                  <a:tcPr>
                    <a:noFill/>
                  </a:tcPr>
                </a:tc>
                <a:tc>
                  <a:txBody>
                    <a:bodyPr/>
                    <a:lstStyle/>
                    <a:p>
                      <a:pPr algn="ctr"/>
                      <a:r>
                        <a:rPr sz="800" b="0">
                          <a:solidFill>
                            <a:srgbClr val="1A1A1A"/>
                          </a:solidFill>
                        </a:rPr>
                        <a:t>Rendement excess equites</a:t>
                      </a:r>
                    </a:p>
                  </a:txBody>
                  <a:tcPr>
                    <a:noFill/>
                  </a:tcPr>
                </a:tc>
              </a:tr>
              <a:tr h="300000">
                <a:tc>
                  <a:txBody>
                    <a:bodyPr/>
                    <a:lstStyle/>
                    <a:p>
                      <a:pPr algn="ctr"/>
                      <a:r>
                        <a:rPr sz="800" b="0">
                          <a:solidFill>
                            <a:srgbClr val="1A1A1A"/>
                          </a:solidFill>
                        </a:rPr>
                        <a:t>Croissance BPA</a:t>
                      </a:r>
                    </a:p>
                  </a:txBody>
                  <a:tcPr>
                    <a:solidFill>
                      <a:srgbClr val="F5F7FA"/>
                    </a:solidFill>
                  </a:tcPr>
                </a:tc>
                <a:tc>
                  <a:txBody>
                    <a:bodyPr/>
                    <a:lstStyle/>
                    <a:p>
                      <a:pPr algn="ctr"/>
                      <a:r>
                        <a:rPr sz="800" b="0">
                          <a:solidFill>
                            <a:srgbClr val="1A1A1A"/>
                          </a:solidFill>
                        </a:rPr>
                        <a:t>—</a:t>
                      </a:r>
                    </a:p>
                  </a:txBody>
                  <a:tcPr>
                    <a:solidFill>
                      <a:srgbClr val="F5F7FA"/>
                    </a:solidFill>
                  </a:tcPr>
                </a:tc>
                <a:tc>
                  <a:txBody>
                    <a:bodyPr/>
                    <a:lstStyle/>
                    <a:p>
                      <a:pPr algn="ctr"/>
                      <a:r>
                        <a:rPr sz="800" b="0">
                          <a:solidFill>
                            <a:srgbClr val="1A1A1A"/>
                          </a:solidFill>
                        </a:rPr>
                        <a:t>+</a:t>
                      </a:r>
                    </a:p>
                  </a:txBody>
                  <a:tcPr>
                    <a:solidFill>
                      <a:srgbClr val="FDF3E5"/>
                    </a:solidFill>
                  </a:tcPr>
                </a:tc>
                <a:tc>
                  <a:txBody>
                    <a:bodyPr/>
                    <a:lstStyle/>
                    <a:p>
                      <a:pPr algn="ctr"/>
                      <a:r>
                        <a:rPr sz="800" b="0">
                          <a:solidFill>
                            <a:srgbClr val="1A1A1A"/>
                          </a:solidFill>
                        </a:rPr>
                        <a:t>Consensu analystes 12M</a:t>
                      </a:r>
                    </a:p>
                  </a:txBody>
                  <a:tcPr>
                    <a:solidFill>
                      <a:srgbClr val="F5F7FA"/>
                    </a:solidFill>
                  </a:tcPr>
                </a:tc>
              </a:tr>
              <a:tr h="300000">
                <a:tc>
                  <a:txBody>
                    <a:bodyPr/>
                    <a:lstStyle/>
                    <a:p>
                      <a:pPr algn="ctr"/>
                      <a:r>
                        <a:rPr sz="800" b="0">
                          <a:solidFill>
                            <a:srgbClr val="1A1A1A"/>
                          </a:solidFill>
                        </a:rPr>
                        <a:t>Prime/Decote</a:t>
                      </a:r>
                    </a:p>
                  </a:txBody>
                  <a:tcPr>
                    <a:noFill/>
                  </a:tcPr>
                </a:tc>
                <a:tc>
                  <a:txBody>
                    <a:bodyPr/>
                    <a:lstStyle/>
                    <a:p>
                      <a:pPr algn="ctr"/>
                      <a:r>
                        <a:rPr sz="800" b="0">
                          <a:solidFill>
                            <a:srgbClr val="1A1A1A"/>
                          </a:solidFill>
                        </a:rPr>
                        <a:t>—</a:t>
                      </a:r>
                    </a:p>
                  </a:txBody>
                  <a:tcPr>
                    <a:noFill/>
                  </a:tcPr>
                </a:tc>
                <a:tc>
                  <a:txBody>
                    <a:bodyPr/>
                    <a:lstStyle/>
                    <a:p>
                      <a:pPr algn="ctr"/>
                      <a:r>
                        <a:rPr sz="800" b="0">
                          <a:solidFill>
                            <a:srgbClr val="1A1A1A"/>
                          </a:solidFill>
                        </a:rPr>
                        <a:t>Surevalu si &gt; 20 %</a:t>
                      </a:r>
                    </a:p>
                  </a:txBody>
                  <a:tcPr>
                    <a:noFill/>
                  </a:tcPr>
                </a:tc>
                <a:tc>
                  <a:txBody>
                    <a:bodyPr/>
                    <a:lstStyle/>
                    <a:p>
                      <a:pPr algn="ctr"/>
                      <a:r>
                        <a:rPr sz="800" b="0">
                          <a:solidFill>
                            <a:srgbClr val="1A1A1A"/>
                          </a:solidFill>
                        </a:rPr>
                        <a:t>Signal d alerte valorisation</a:t>
                      </a:r>
                    </a:p>
                  </a:txBody>
                  <a:tcPr>
                    <a:noFill/>
                  </a:tcPr>
                </a:tc>
              </a:tr>
            </a:tbl>
          </a:graphicData>
        </a:graphic>
      </p:graphicFrame>
      <p:sp>
        <p:nvSpPr>
          <p:cNvPr id="16" name="Rectangle 15"/>
          <p:cNvSpPr/>
          <p:nvPr/>
        </p:nvSpPr>
        <p:spPr>
          <a:xfrm>
            <a:off x="324000" y="2880000"/>
            <a:ext cx="8496000" cy="1925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2880000"/>
            <a:ext cx="43200" cy="1925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2000" y="2934000"/>
            <a:ext cx="8208000" cy="216000"/>
          </a:xfrm>
          <a:prstGeom prst="rect">
            <a:avLst/>
          </a:prstGeom>
          <a:noFill/>
        </p:spPr>
        <p:txBody>
          <a:bodyPr wrap="square">
            <a:spAutoFit/>
          </a:bodyPr>
          <a:lstStyle/>
          <a:p>
            <a:pPr algn="l"/>
            <a:r>
              <a:rPr sz="800" b="1" i="0">
                <a:solidFill>
                  <a:srgbClr val="1B3A6B"/>
                </a:solidFill>
              </a:rPr>
              <a:t>Lecture analytique — Valorisation macro</a:t>
            </a:r>
          </a:p>
        </p:txBody>
      </p:sp>
      <p:sp>
        <p:nvSpPr>
          <p:cNvPr id="19" name="TextBox 18"/>
          <p:cNvSpPr txBox="1"/>
          <p:nvPr/>
        </p:nvSpPr>
        <p:spPr>
          <a:xfrm>
            <a:off x="432000" y="3168000"/>
            <a:ext cx="8208000" cy="1601999"/>
          </a:xfrm>
          <a:prstGeom prst="rect">
            <a:avLst/>
          </a:prstGeom>
          <a:noFill/>
        </p:spPr>
        <p:txBody>
          <a:bodyPr wrap="square">
            <a:spAutoFit/>
          </a:bodyPr>
          <a:lstStyle/>
          <a:p>
            <a:pPr algn="l"/>
            <a:r>
              <a:rPr sz="750" b="0" i="0">
                <a:solidFill>
                  <a:srgbClr val="555555"/>
                </a:solidFill>
              </a:rPr>
              <a:t>Le CAC 40 traite a — de P/E Forward, soit — vs la mediane historique 10 ans (15.5x). L'ERP (Damodaran) s'etablit a —, signalant une valorisation correcte — prime de risque adequate pour le niveau de taux actuel. Score composite 49/100 — signal Neutre (conviction 50%).</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Positionnement dans le Cycle Economique</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CAC 40  ·  Phase actuelle : Expansion avancée  ·  Signaux FRED  ·  Modele 4 phases</a:t>
            </a:r>
          </a:p>
        </p:txBody>
      </p:sp>
      <p:sp>
        <p:nvSpPr>
          <p:cNvPr id="15" name="Rectangle 14"/>
          <p:cNvSpPr/>
          <p:nvPr/>
        </p:nvSpPr>
        <p:spPr>
          <a:xfrm>
            <a:off x="324000" y="827999"/>
            <a:ext cx="2951999" cy="234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27999"/>
            <a:ext cx="2951999" cy="251999"/>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846000"/>
            <a:ext cx="2808000" cy="216000"/>
          </a:xfrm>
          <a:prstGeom prst="rect">
            <a:avLst/>
          </a:prstGeom>
          <a:noFill/>
        </p:spPr>
        <p:txBody>
          <a:bodyPr wrap="square">
            <a:spAutoFit/>
          </a:bodyPr>
          <a:lstStyle/>
          <a:p>
            <a:pPr algn="l"/>
            <a:r>
              <a:rPr sz="800" b="1" i="0">
                <a:solidFill>
                  <a:srgbClr val="FFFFFF"/>
                </a:solidFill>
              </a:rPr>
              <a:t>PHASE ACTUELLE</a:t>
            </a:r>
          </a:p>
        </p:txBody>
      </p:sp>
      <p:sp>
        <p:nvSpPr>
          <p:cNvPr id="18" name="TextBox 17"/>
          <p:cNvSpPr txBox="1"/>
          <p:nvPr/>
        </p:nvSpPr>
        <p:spPr>
          <a:xfrm>
            <a:off x="396000" y="1152000"/>
            <a:ext cx="2808000" cy="360000"/>
          </a:xfrm>
          <a:prstGeom prst="rect">
            <a:avLst/>
          </a:prstGeom>
          <a:noFill/>
        </p:spPr>
        <p:txBody>
          <a:bodyPr wrap="square">
            <a:spAutoFit/>
          </a:bodyPr>
          <a:lstStyle/>
          <a:p>
            <a:pPr algn="l"/>
            <a:r>
              <a:rPr sz="1800" b="1" i="0">
                <a:solidFill>
                  <a:srgbClr val="FFFFFF"/>
                </a:solidFill>
              </a:rPr>
              <a:t>Expansion</a:t>
            </a:r>
          </a:p>
        </p:txBody>
      </p:sp>
      <p:sp>
        <p:nvSpPr>
          <p:cNvPr id="19" name="TextBox 18"/>
          <p:cNvSpPr txBox="1"/>
          <p:nvPr/>
        </p:nvSpPr>
        <p:spPr>
          <a:xfrm>
            <a:off x="396000" y="1512000"/>
            <a:ext cx="2808000" cy="306000"/>
          </a:xfrm>
          <a:prstGeom prst="rect">
            <a:avLst/>
          </a:prstGeom>
          <a:noFill/>
        </p:spPr>
        <p:txBody>
          <a:bodyPr wrap="square">
            <a:spAutoFit/>
          </a:bodyPr>
          <a:lstStyle/>
          <a:p>
            <a:pPr algn="l"/>
            <a:r>
              <a:rPr sz="1300" b="0" i="0">
                <a:solidFill>
                  <a:srgbClr val="AAAAAA"/>
                </a:solidFill>
              </a:rPr>
              <a:t>avancée</a:t>
            </a:r>
          </a:p>
        </p:txBody>
      </p:sp>
      <p:sp>
        <p:nvSpPr>
          <p:cNvPr id="20" name="TextBox 19"/>
          <p:cNvSpPr txBox="1"/>
          <p:nvPr/>
        </p:nvSpPr>
        <p:spPr>
          <a:xfrm>
            <a:off x="396000" y="1908000"/>
            <a:ext cx="2808000" cy="720000"/>
          </a:xfrm>
          <a:prstGeom prst="rect">
            <a:avLst/>
          </a:prstGeom>
          <a:noFill/>
        </p:spPr>
        <p:txBody>
          <a:bodyPr wrap="square">
            <a:spAutoFit/>
          </a:bodyPr>
          <a:lstStyle/>
          <a:p>
            <a:pPr algn="l"/>
            <a:r>
              <a:rPr sz="800" b="0" i="0">
                <a:solidFill>
                  <a:srgbClr val="AAAAAA"/>
                </a:solidFill>
              </a:rPr>
              <a:t>PIB positif · Taux restrictifs
Marges sous pression</a:t>
            </a:r>
          </a:p>
        </p:txBody>
      </p:sp>
      <p:sp>
        <p:nvSpPr>
          <p:cNvPr id="21" name="TextBox 20"/>
          <p:cNvSpPr txBox="1"/>
          <p:nvPr/>
        </p:nvSpPr>
        <p:spPr>
          <a:xfrm>
            <a:off x="396000" y="2664000"/>
            <a:ext cx="2808000" cy="468000"/>
          </a:xfrm>
          <a:prstGeom prst="rect">
            <a:avLst/>
          </a:prstGeom>
          <a:noFill/>
        </p:spPr>
        <p:txBody>
          <a:bodyPr wrap="square">
            <a:spAutoFit/>
          </a:bodyPr>
          <a:lstStyle/>
          <a:p>
            <a:pPr algn="l"/>
            <a:r>
              <a:rPr sz="750" b="0" i="0">
                <a:solidFill>
                  <a:srgbClr val="AAAAAA"/>
                </a:solidFill>
              </a:rPr>
              <a:t>Le positionnement de cycle actuel favorise les secteurs a forte visibilite de BPA et resilience des marges.</a:t>
            </a:r>
          </a:p>
        </p:txBody>
      </p:sp>
      <p:graphicFrame>
        <p:nvGraphicFramePr>
          <p:cNvPr id="22" name="Table 21"/>
          <p:cNvGraphicFramePr>
            <a:graphicFrameLocks noGrp="1"/>
          </p:cNvGraphicFramePr>
          <p:nvPr/>
        </p:nvGraphicFramePr>
        <p:xfrm>
          <a:off x="3420000" y="827999"/>
          <a:ext cx="5400000" cy="1871999"/>
        </p:xfrm>
        <a:graphic>
          <a:graphicData uri="http://schemas.openxmlformats.org/drawingml/2006/table">
            <a:tbl>
              <a:tblPr firstRow="1" bandRow="1">
                <a:tableStyleId>{5C22544A-7EE6-4342-B048-85BDC9FD1C3A}</a:tableStyleId>
              </a:tblPr>
              <a:tblGrid>
                <a:gridCol w="1800000"/>
                <a:gridCol w="900000"/>
                <a:gridCol w="2700000"/>
              </a:tblGrid>
              <a:tr h="311999">
                <a:tc>
                  <a:txBody>
                    <a:bodyPr/>
                    <a:lstStyle/>
                    <a:p>
                      <a:pPr algn="ctr"/>
                      <a:r>
                        <a:rPr sz="800" b="1">
                          <a:solidFill>
                            <a:srgbClr val="FFFFFF"/>
                          </a:solidFill>
                        </a:rPr>
                        <a:t>INDICATEUR</a:t>
                      </a:r>
                    </a:p>
                  </a:txBody>
                  <a:tcPr>
                    <a:solidFill>
                      <a:srgbClr val="1B3A6B"/>
                    </a:solidFill>
                  </a:tcPr>
                </a:tc>
                <a:tc>
                  <a:txBody>
                    <a:bodyPr/>
                    <a:lstStyle/>
                    <a:p>
                      <a:pPr algn="ctr"/>
                      <a:r>
                        <a:rPr sz="800" b="1">
                          <a:solidFill>
                            <a:srgbClr val="FFFFFF"/>
                          </a:solidFill>
                        </a:rPr>
                        <a:t>VALEUR</a:t>
                      </a:r>
                    </a:p>
                  </a:txBody>
                  <a:tcPr>
                    <a:solidFill>
                      <a:srgbClr val="1B3A6B"/>
                    </a:solidFill>
                  </a:tcPr>
                </a:tc>
                <a:tc>
                  <a:txBody>
                    <a:bodyPr/>
                    <a:lstStyle/>
                    <a:p>
                      <a:pPr algn="ctr"/>
                      <a:r>
                        <a:rPr sz="800" b="1">
                          <a:solidFill>
                            <a:srgbClr val="FFFFFF"/>
                          </a:solidFill>
                        </a:rPr>
                        <a:t>INTERPRETATION</a:t>
                      </a:r>
                    </a:p>
                  </a:txBody>
                  <a:tcPr>
                    <a:solidFill>
                      <a:srgbClr val="1B3A6B"/>
                    </a:solidFill>
                  </a:tcPr>
                </a:tc>
              </a:tr>
              <a:tr h="311999">
                <a:tc>
                  <a:txBody>
                    <a:bodyPr/>
                    <a:lstStyle/>
                    <a:p>
                      <a:pPr algn="ctr"/>
                      <a:r>
                        <a:rPr sz="800" b="0">
                          <a:solidFill>
                            <a:srgbClr val="1A1A1A"/>
                          </a:solidFill>
                        </a:rPr>
                        <a:t>PMI Composite</a:t>
                      </a:r>
                    </a:p>
                  </a:txBody>
                  <a:tcPr>
                    <a:noFill/>
                  </a:tcPr>
                </a:tc>
                <a:tc>
                  <a:txBody>
                    <a:bodyPr/>
                    <a:lstStyle/>
                    <a:p>
                      <a:pPr algn="ctr"/>
                      <a:r>
                        <a:rPr sz="800" b="0">
                          <a:solidFill>
                            <a:srgbClr val="1A1A1A"/>
                          </a:solidFill>
                        </a:rPr>
                        <a:t>51,2</a:t>
                      </a:r>
                    </a:p>
                  </a:txBody>
                  <a:tcPr>
                    <a:noFill/>
                  </a:tcPr>
                </a:tc>
                <a:tc>
                  <a:txBody>
                    <a:bodyPr/>
                    <a:lstStyle/>
                    <a:p>
                      <a:pPr algn="ctr"/>
                      <a:r>
                        <a:rPr sz="800" b="0">
                          <a:solidFill>
                            <a:srgbClr val="1A1A1A"/>
                          </a:solidFill>
                        </a:rPr>
                        <a:t>Expansion moderee</a:t>
                      </a:r>
                    </a:p>
                  </a:txBody>
                  <a:tcPr>
                    <a:noFill/>
                  </a:tcPr>
                </a:tc>
              </a:tr>
              <a:tr h="311999">
                <a:tc>
                  <a:txBody>
                    <a:bodyPr/>
                    <a:lstStyle/>
                    <a:p>
                      <a:pPr algn="ctr"/>
                      <a:r>
                        <a:rPr sz="800" b="0">
                          <a:solidFill>
                            <a:srgbClr val="1A1A1A"/>
                          </a:solidFill>
                        </a:rPr>
                        <a:t>Courbe 10Y-2Y</a:t>
                      </a:r>
                    </a:p>
                  </a:txBody>
                  <a:tcPr>
                    <a:solidFill>
                      <a:srgbClr val="F5F7FA"/>
                    </a:solidFill>
                  </a:tcPr>
                </a:tc>
                <a:tc>
                  <a:txBody>
                    <a:bodyPr/>
                    <a:lstStyle/>
                    <a:p>
                      <a:pPr algn="ctr"/>
                      <a:r>
                        <a:rPr sz="800" b="0">
                          <a:solidFill>
                            <a:srgbClr val="1A1A1A"/>
                          </a:solidFill>
                        </a:rPr>
                        <a:t>-0,12 %</a:t>
                      </a:r>
                    </a:p>
                  </a:txBody>
                  <a:tcPr>
                    <a:solidFill>
                      <a:srgbClr val="F5F7FA"/>
                    </a:solidFill>
                  </a:tcPr>
                </a:tc>
                <a:tc>
                  <a:txBody>
                    <a:bodyPr/>
                    <a:lstStyle/>
                    <a:p>
                      <a:pPr algn="ctr"/>
                      <a:r>
                        <a:rPr sz="800" b="0">
                          <a:solidFill>
                            <a:srgbClr val="1A1A1A"/>
                          </a:solidFill>
                        </a:rPr>
                        <a:t>Legerement inversee</a:t>
                      </a:r>
                    </a:p>
                  </a:txBody>
                  <a:tcPr>
                    <a:solidFill>
                      <a:srgbClr val="F5F7FA"/>
                    </a:solidFill>
                  </a:tcPr>
                </a:tc>
              </a:tr>
              <a:tr h="311999">
                <a:tc>
                  <a:txBody>
                    <a:bodyPr/>
                    <a:lstStyle/>
                    <a:p>
                      <a:pPr algn="ctr"/>
                      <a:r>
                        <a:rPr sz="800" b="0">
                          <a:solidFill>
                            <a:srgbClr val="1A1A1A"/>
                          </a:solidFill>
                        </a:rPr>
                        <a:t>ISM Manuf.</a:t>
                      </a:r>
                    </a:p>
                  </a:txBody>
                  <a:tcPr>
                    <a:noFill/>
                  </a:tcPr>
                </a:tc>
                <a:tc>
                  <a:txBody>
                    <a:bodyPr/>
                    <a:lstStyle/>
                    <a:p>
                      <a:pPr algn="ctr"/>
                      <a:r>
                        <a:rPr sz="800" b="0">
                          <a:solidFill>
                            <a:srgbClr val="1A1A1A"/>
                          </a:solidFill>
                        </a:rPr>
                        <a:t>49,8</a:t>
                      </a:r>
                    </a:p>
                  </a:txBody>
                  <a:tcPr>
                    <a:noFill/>
                  </a:tcPr>
                </a:tc>
                <a:tc>
                  <a:txBody>
                    <a:bodyPr/>
                    <a:lstStyle/>
                    <a:p>
                      <a:pPr algn="ctr"/>
                      <a:r>
                        <a:rPr sz="800" b="0">
                          <a:solidFill>
                            <a:srgbClr val="1A1A1A"/>
                          </a:solidFill>
                        </a:rPr>
                        <a:t>Sous expansion</a:t>
                      </a:r>
                    </a:p>
                  </a:txBody>
                  <a:tcPr>
                    <a:noFill/>
                  </a:tcPr>
                </a:tc>
              </a:tr>
              <a:tr h="311999">
                <a:tc>
                  <a:txBody>
                    <a:bodyPr/>
                    <a:lstStyle/>
                    <a:p>
                      <a:pPr algn="ctr"/>
                      <a:r>
                        <a:rPr sz="800" b="0">
                          <a:solidFill>
                            <a:srgbClr val="1A1A1A"/>
                          </a:solidFill>
                        </a:rPr>
                        <a:t>Chomage</a:t>
                      </a:r>
                    </a:p>
                  </a:txBody>
                  <a:tcPr>
                    <a:solidFill>
                      <a:srgbClr val="F5F7FA"/>
                    </a:solidFill>
                  </a:tcPr>
                </a:tc>
                <a:tc>
                  <a:txBody>
                    <a:bodyPr/>
                    <a:lstStyle/>
                    <a:p>
                      <a:pPr algn="ctr"/>
                      <a:r>
                        <a:rPr sz="800" b="0">
                          <a:solidFill>
                            <a:srgbClr val="1A1A1A"/>
                          </a:solidFill>
                        </a:rPr>
                        <a:t>3,9 %</a:t>
                      </a:r>
                    </a:p>
                  </a:txBody>
                  <a:tcPr>
                    <a:solidFill>
                      <a:srgbClr val="F5F7FA"/>
                    </a:solidFill>
                  </a:tcPr>
                </a:tc>
                <a:tc>
                  <a:txBody>
                    <a:bodyPr/>
                    <a:lstStyle/>
                    <a:p>
                      <a:pPr algn="ctr"/>
                      <a:r>
                        <a:rPr sz="800" b="0">
                          <a:solidFill>
                            <a:srgbClr val="1A1A1A"/>
                          </a:solidFill>
                        </a:rPr>
                        <a:t>Marche solide</a:t>
                      </a:r>
                    </a:p>
                  </a:txBody>
                  <a:tcPr>
                    <a:solidFill>
                      <a:srgbClr val="F5F7FA"/>
                    </a:solidFill>
                  </a:tcPr>
                </a:tc>
              </a:tr>
              <a:tr h="312004">
                <a:tc>
                  <a:txBody>
                    <a:bodyPr/>
                    <a:lstStyle/>
                    <a:p>
                      <a:pPr algn="ctr"/>
                      <a:r>
                        <a:rPr sz="800" b="0">
                          <a:solidFill>
                            <a:srgbClr val="1A1A1A"/>
                          </a:solidFill>
                        </a:rPr>
                        <a:t>CPI YoY</a:t>
                      </a:r>
                    </a:p>
                  </a:txBody>
                  <a:tcPr>
                    <a:noFill/>
                  </a:tcPr>
                </a:tc>
                <a:tc>
                  <a:txBody>
                    <a:bodyPr/>
                    <a:lstStyle/>
                    <a:p>
                      <a:pPr algn="ctr"/>
                      <a:r>
                        <a:rPr sz="800" b="0">
                          <a:solidFill>
                            <a:srgbClr val="1A1A1A"/>
                          </a:solidFill>
                        </a:rPr>
                        <a:t>3,1 %</a:t>
                      </a:r>
                    </a:p>
                  </a:txBody>
                  <a:tcPr>
                    <a:noFill/>
                  </a:tcPr>
                </a:tc>
                <a:tc>
                  <a:txBody>
                    <a:bodyPr/>
                    <a:lstStyle/>
                    <a:p>
                      <a:pPr algn="ctr"/>
                      <a:r>
                        <a:rPr sz="800" b="0">
                          <a:solidFill>
                            <a:srgbClr val="1A1A1A"/>
                          </a:solidFill>
                        </a:rPr>
                        <a:t>Au-dessus cible</a:t>
                      </a:r>
                    </a:p>
                  </a:txBody>
                  <a:tcPr>
                    <a:noFill/>
                  </a:tcPr>
                </a:tc>
              </a:tr>
            </a:tbl>
          </a:graphicData>
        </a:graphic>
      </p:graphicFrame>
      <p:sp>
        <p:nvSpPr>
          <p:cNvPr id="23" name="Rectangle 22"/>
          <p:cNvSpPr/>
          <p:nvPr/>
        </p:nvSpPr>
        <p:spPr>
          <a:xfrm>
            <a:off x="3420000" y="3348000"/>
            <a:ext cx="5400000" cy="104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420000" y="3348000"/>
            <a:ext cx="36000" cy="104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28000" y="3384000"/>
            <a:ext cx="5220000" cy="216000"/>
          </a:xfrm>
          <a:prstGeom prst="rect">
            <a:avLst/>
          </a:prstGeom>
          <a:noFill/>
        </p:spPr>
        <p:txBody>
          <a:bodyPr wrap="square">
            <a:spAutoFit/>
          </a:bodyPr>
          <a:lstStyle/>
          <a:p>
            <a:pPr algn="l"/>
            <a:r>
              <a:rPr sz="800" b="1" i="0">
                <a:solidFill>
                  <a:srgbClr val="1B3A6B"/>
                </a:solidFill>
              </a:rPr>
              <a:t>Allocation recommandee selon le positionnement de cycle</a:t>
            </a:r>
          </a:p>
        </p:txBody>
      </p:sp>
      <p:sp>
        <p:nvSpPr>
          <p:cNvPr id="26" name="TextBox 25"/>
          <p:cNvSpPr txBox="1"/>
          <p:nvPr/>
        </p:nvSpPr>
        <p:spPr>
          <a:xfrm>
            <a:off x="3528000" y="3600000"/>
            <a:ext cx="5220000" cy="720000"/>
          </a:xfrm>
          <a:prstGeom prst="rect">
            <a:avLst/>
          </a:prstGeom>
          <a:noFill/>
        </p:spPr>
        <p:txBody>
          <a:bodyPr wrap="square">
            <a:spAutoFit/>
          </a:bodyPr>
          <a:lstStyle/>
          <a:p>
            <a:pPr algn="l"/>
            <a:r>
              <a:rPr sz="750" b="0" i="0">
                <a:solidFill>
                  <a:srgbClr val="555555"/>
                </a:solidFill>
              </a:rPr>
              <a:t>Le positionnement de cycle actuel favorise les secteurs a forte visibilite de BPA et resilience des marges. Secteurs recommandes : Healthcare / Real Estate / Consumer Defensive. Score composite :...</a:t>
            </a:r>
          </a:p>
        </p:txBody>
      </p:sp>
      <p:sp>
        <p:nvSpPr>
          <p:cNvPr id="27" name="Rectangle 26"/>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02</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Cartographie des Secteurs</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11 secteurs GICS · Scores · Scatter valorisation · Décomposition</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Cartographie des Secteurs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11 secteurs GICS  ·  40 sociétés  ·  Tri par score FinSight décroissant</a:t>
            </a:r>
          </a:p>
        </p:txBody>
      </p:sp>
      <p:graphicFrame>
        <p:nvGraphicFramePr>
          <p:cNvPr id="15" name="Table 14"/>
          <p:cNvGraphicFramePr>
            <a:graphicFrameLocks noGrp="1"/>
          </p:cNvGraphicFramePr>
          <p:nvPr/>
        </p:nvGraphicFramePr>
        <p:xfrm>
          <a:off x="324000" y="827999"/>
          <a:ext cx="8495994" cy="2700000"/>
        </p:xfrm>
        <a:graphic>
          <a:graphicData uri="http://schemas.openxmlformats.org/drawingml/2006/table">
            <a:tbl>
              <a:tblPr firstRow="1" bandRow="1">
                <a:tableStyleId>{5C22544A-7EE6-4342-B048-85BDC9FD1C3A}</a:tableStyleId>
              </a:tblPr>
              <a:tblGrid>
                <a:gridCol w="492521"/>
                <a:gridCol w="1846956"/>
                <a:gridCol w="615652"/>
                <a:gridCol w="1436521"/>
                <a:gridCol w="1026086"/>
                <a:gridCol w="1026086"/>
                <a:gridCol w="1026086"/>
                <a:gridCol w="1026086"/>
              </a:tblGrid>
              <a:tr h="225000">
                <a:tc>
                  <a:txBody>
                    <a:bodyPr/>
                    <a:lstStyle/>
                    <a:p>
                      <a:pPr algn="ctr"/>
                      <a:r>
                        <a:rPr sz="800" b="1">
                          <a:solidFill>
                            <a:srgbClr val="FFFFFF"/>
                          </a:solidFill>
                        </a:rPr>
                        <a:t>Rg</a:t>
                      </a:r>
                    </a:p>
                  </a:txBody>
                  <a:tcPr>
                    <a:solidFill>
                      <a:srgbClr val="1B3A6B"/>
                    </a:solidFill>
                  </a:tcPr>
                </a:tc>
                <a:tc>
                  <a:txBody>
                    <a:bodyPr/>
                    <a:lstStyle/>
                    <a:p>
                      <a:pPr algn="ctr"/>
                      <a:r>
                        <a:rPr sz="800" b="1">
                          <a:solidFill>
                            <a:srgbClr val="FFFFFF"/>
                          </a:solidFill>
                        </a:rPr>
                        <a:t>Secteur</a:t>
                      </a:r>
                    </a:p>
                  </a:txBody>
                  <a:tcPr>
                    <a:solidFill>
                      <a:srgbClr val="1B3A6B"/>
                    </a:solidFill>
                  </a:tcPr>
                </a:tc>
                <a:tc>
                  <a:txBody>
                    <a:bodyPr/>
                    <a:lstStyle/>
                    <a:p>
                      <a:pPr algn="ctr"/>
                      <a:r>
                        <a:rPr sz="800" b="1">
                          <a:solidFill>
                            <a:srgbClr val="FFFFFF"/>
                          </a:solidFill>
                        </a:rPr>
                        <a:t>Score</a:t>
                      </a:r>
                    </a:p>
                  </a:txBody>
                  <a:tcPr>
                    <a:solidFill>
                      <a:srgbClr val="1B3A6B"/>
                    </a:solidFill>
                  </a:tcPr>
                </a:tc>
                <a:tc>
                  <a:txBody>
                    <a:bodyPr/>
                    <a:lstStyle/>
                    <a:p>
                      <a:pPr algn="ctr"/>
                      <a:r>
                        <a:rPr sz="800" b="1">
                          <a:solidFill>
                            <a:srgbClr val="FFFFFF"/>
                          </a:solidFill>
                        </a:rPr>
                        <a:t>Signal</a:t>
                      </a:r>
                    </a:p>
                  </a:txBody>
                  <a:tcPr>
                    <a:solidFill>
                      <a:srgbClr val="1B3A6B"/>
                    </a:solidFill>
                  </a:tcPr>
                </a:tc>
                <a:tc>
                  <a:txBody>
                    <a:bodyPr/>
                    <a:lstStyle/>
                    <a:p>
                      <a:pPr algn="ctr"/>
                      <a:r>
                        <a:rPr sz="800" b="1">
                          <a:solidFill>
                            <a:srgbClr val="FFFFFF"/>
                          </a:solidFill>
                        </a:rPr>
                        <a:t>EV/EBITDA</a:t>
                      </a:r>
                    </a:p>
                  </a:txBody>
                  <a:tcPr>
                    <a:solidFill>
                      <a:srgbClr val="1B3A6B"/>
                    </a:solidFill>
                  </a:tcPr>
                </a:tc>
                <a:tc>
                  <a:txBody>
                    <a:bodyPr/>
                    <a:lstStyle/>
                    <a:p>
                      <a:pPr algn="ctr"/>
                      <a:r>
                        <a:rPr sz="800" b="1">
                          <a:solidFill>
                            <a:srgbClr val="FFFFFF"/>
                          </a:solidFill>
                        </a:rPr>
                        <a:t>Mg.EBITDA</a:t>
                      </a:r>
                    </a:p>
                  </a:txBody>
                  <a:tcPr>
                    <a:solidFill>
                      <a:srgbClr val="1B3A6B"/>
                    </a:solidFill>
                  </a:tcPr>
                </a:tc>
                <a:tc>
                  <a:txBody>
                    <a:bodyPr/>
                    <a:lstStyle/>
                    <a:p>
                      <a:pPr algn="ctr"/>
                      <a:r>
                        <a:rPr sz="800" b="1">
                          <a:solidFill>
                            <a:srgbClr val="FFFFFF"/>
                          </a:solidFill>
                        </a:rPr>
                        <a:t>Croiss.</a:t>
                      </a:r>
                    </a:p>
                  </a:txBody>
                  <a:tcPr>
                    <a:solidFill>
                      <a:srgbClr val="1B3A6B"/>
                    </a:solidFill>
                  </a:tcPr>
                </a:tc>
                <a:tc>
                  <a:txBody>
                    <a:bodyPr/>
                    <a:lstStyle/>
                    <a:p>
                      <a:pPr algn="ctr"/>
                      <a:r>
                        <a:rPr sz="800" b="1">
                          <a:solidFill>
                            <a:srgbClr val="FFFFFF"/>
                          </a:solidFill>
                        </a:rPr>
                        <a:t>Mom.</a:t>
                      </a:r>
                    </a:p>
                  </a:txBody>
                  <a:tcPr>
                    <a:solidFill>
                      <a:srgbClr val="1B3A6B"/>
                    </a:solidFill>
                  </a:tcPr>
                </a:tc>
              </a:tr>
              <a:tr h="225000">
                <a:tc>
                  <a:txBody>
                    <a:bodyPr/>
                    <a:lstStyle/>
                    <a:p>
                      <a:pPr algn="ctr"/>
                      <a:r>
                        <a:rPr sz="800" b="0">
                          <a:solidFill>
                            <a:srgbClr val="1A1A1A"/>
                          </a:solidFill>
                        </a:rPr>
                        <a:t>1</a:t>
                      </a:r>
                    </a:p>
                  </a:txBody>
                  <a:tcPr>
                    <a:noFill/>
                  </a:tcPr>
                </a:tc>
                <a:tc>
                  <a:txBody>
                    <a:bodyPr/>
                    <a:lstStyle/>
                    <a:p>
                      <a:pPr algn="ctr"/>
                      <a:r>
                        <a:rPr sz="800" b="0">
                          <a:solidFill>
                            <a:srgbClr val="1A1A1A"/>
                          </a:solidFill>
                        </a:rPr>
                        <a:t>Healthcare</a:t>
                      </a:r>
                    </a:p>
                  </a:txBody>
                  <a:tcPr>
                    <a:noFill/>
                  </a:tcPr>
                </a:tc>
                <a:tc>
                  <a:txBody>
                    <a:bodyPr/>
                    <a:lstStyle/>
                    <a:p>
                      <a:pPr algn="ctr"/>
                      <a:r>
                        <a:rPr sz="800" b="0">
                          <a:solidFill>
                            <a:srgbClr val="1A1A1A"/>
                          </a:solidFill>
                        </a:rPr>
                        <a:t>69</a:t>
                      </a:r>
                    </a:p>
                  </a:txBody>
                  <a:tcPr>
                    <a:noFill/>
                  </a:tcPr>
                </a:tc>
                <a:tc>
                  <a:txBody>
                    <a:bodyPr/>
                    <a:lstStyle/>
                    <a:p>
                      <a:pPr algn="ctr"/>
                      <a:r>
                        <a:rPr sz="800" b="0">
                          <a:solidFill>
                            <a:srgbClr val="1A7A4A"/>
                          </a:solidFill>
                        </a:rPr>
                        <a:t>Surpondérer</a:t>
                      </a:r>
                    </a:p>
                  </a:txBody>
                  <a:tcPr>
                    <a:solidFill>
                      <a:srgbClr val="E8F5EE"/>
                    </a:solidFill>
                  </a:tcPr>
                </a:tc>
                <a:tc>
                  <a:txBody>
                    <a:bodyPr/>
                    <a:lstStyle/>
                    <a:p>
                      <a:pPr algn="ctr"/>
                      <a:r>
                        <a:rPr sz="800" b="0">
                          <a:solidFill>
                            <a:srgbClr val="1A1A1A"/>
                          </a:solidFill>
                        </a:rPr>
                        <a:t>—</a:t>
                      </a:r>
                    </a:p>
                  </a:txBody>
                  <a:tcPr>
                    <a:noFill/>
                  </a:tcPr>
                </a:tc>
                <a:tc>
                  <a:txBody>
                    <a:bodyPr/>
                    <a:lstStyle/>
                    <a:p>
                      <a:pPr algn="ctr"/>
                      <a:r>
                        <a:rPr sz="800" b="0">
                          <a:solidFill>
                            <a:srgbClr val="1A1A1A"/>
                          </a:solidFill>
                        </a:rPr>
                        <a:t>23.2%</a:t>
                      </a:r>
                    </a:p>
                  </a:txBody>
                  <a:tcPr>
                    <a:noFill/>
                  </a:tcPr>
                </a:tc>
                <a:tc>
                  <a:txBody>
                    <a:bodyPr/>
                    <a:lstStyle/>
                    <a:p>
                      <a:pPr algn="ctr"/>
                      <a:r>
                        <a:rPr sz="800" b="0">
                          <a:solidFill>
                            <a:srgbClr val="1A1A1A"/>
                          </a:solidFill>
                        </a:rPr>
                        <a:t>+5.5%</a:t>
                      </a:r>
                    </a:p>
                  </a:txBody>
                  <a:tcPr>
                    <a:noFill/>
                  </a:tcPr>
                </a:tc>
                <a:tc>
                  <a:txBody>
                    <a:bodyPr/>
                    <a:lstStyle/>
                    <a:p>
                      <a:pPr algn="ctr"/>
                      <a:r>
                        <a:rPr sz="800" b="0">
                          <a:solidFill>
                            <a:srgbClr val="1A1A1A"/>
                          </a:solidFill>
                        </a:rPr>
                        <a:t>+0.0%</a:t>
                      </a:r>
                    </a:p>
                  </a:txBody>
                  <a:tcPr>
                    <a:noFill/>
                  </a:tcPr>
                </a:tc>
              </a:tr>
              <a:tr h="225000">
                <a:tc>
                  <a:txBody>
                    <a:bodyPr/>
                    <a:lstStyle/>
                    <a:p>
                      <a:pPr algn="ctr"/>
                      <a:r>
                        <a:rPr sz="800" b="0">
                          <a:solidFill>
                            <a:srgbClr val="1A1A1A"/>
                          </a:solidFill>
                        </a:rPr>
                        <a:t>2</a:t>
                      </a:r>
                    </a:p>
                  </a:txBody>
                  <a:tcPr>
                    <a:solidFill>
                      <a:srgbClr val="F5F7FA"/>
                    </a:solidFill>
                  </a:tcPr>
                </a:tc>
                <a:tc>
                  <a:txBody>
                    <a:bodyPr/>
                    <a:lstStyle/>
                    <a:p>
                      <a:pPr algn="ctr"/>
                      <a:r>
                        <a:rPr sz="800" b="0">
                          <a:solidFill>
                            <a:srgbClr val="1A1A1A"/>
                          </a:solidFill>
                        </a:rPr>
                        <a:t>Real Estate</a:t>
                      </a:r>
                    </a:p>
                  </a:txBody>
                  <a:tcPr>
                    <a:solidFill>
                      <a:srgbClr val="F5F7FA"/>
                    </a:solidFill>
                  </a:tcPr>
                </a:tc>
                <a:tc>
                  <a:txBody>
                    <a:bodyPr/>
                    <a:lstStyle/>
                    <a:p>
                      <a:pPr algn="ctr"/>
                      <a:r>
                        <a:rPr sz="800" b="0">
                          <a:solidFill>
                            <a:srgbClr val="1A1A1A"/>
                          </a:solidFill>
                        </a:rPr>
                        <a:t>68</a:t>
                      </a:r>
                    </a:p>
                  </a:txBody>
                  <a:tcPr>
                    <a:solidFill>
                      <a:srgbClr val="F5F7FA"/>
                    </a:solidFill>
                  </a:tcPr>
                </a:tc>
                <a:tc>
                  <a:txBody>
                    <a:bodyPr/>
                    <a:lstStyle/>
                    <a:p>
                      <a:pPr algn="ctr"/>
                      <a:r>
                        <a:rPr sz="800" b="0">
                          <a:solidFill>
                            <a:srgbClr val="1A7A4A"/>
                          </a:solidFill>
                        </a:rPr>
                        <a:t>Surpondérer</a:t>
                      </a:r>
                    </a:p>
                  </a:txBody>
                  <a:tcPr>
                    <a:solidFill>
                      <a:srgbClr val="E8F5EE"/>
                    </a:solidFill>
                  </a:tcPr>
                </a:tc>
                <a:tc>
                  <a:txBody>
                    <a:bodyPr/>
                    <a:lstStyle/>
                    <a:p>
                      <a:pPr algn="ctr"/>
                      <a:r>
                        <a:rPr sz="800" b="0">
                          <a:solidFill>
                            <a:srgbClr val="1A1A1A"/>
                          </a:solidFill>
                        </a:rPr>
                        <a:t>—</a:t>
                      </a:r>
                    </a:p>
                  </a:txBody>
                  <a:tcPr>
                    <a:solidFill>
                      <a:srgbClr val="F5F7FA"/>
                    </a:solidFill>
                  </a:tcPr>
                </a:tc>
                <a:tc>
                  <a:txBody>
                    <a:bodyPr/>
                    <a:lstStyle/>
                    <a:p>
                      <a:pPr algn="ctr"/>
                      <a:r>
                        <a:rPr sz="800" b="0">
                          <a:solidFill>
                            <a:srgbClr val="1A1A1A"/>
                          </a:solidFill>
                        </a:rPr>
                        <a:t>89.1%</a:t>
                      </a:r>
                    </a:p>
                  </a:txBody>
                  <a:tcPr>
                    <a:solidFill>
                      <a:srgbClr val="F5F7FA"/>
                    </a:solidFill>
                  </a:tcPr>
                </a:tc>
                <a:tc>
                  <a:txBody>
                    <a:bodyPr/>
                    <a:lstStyle/>
                    <a:p>
                      <a:pPr algn="ctr"/>
                      <a:r>
                        <a:rPr sz="800" b="0">
                          <a:solidFill>
                            <a:srgbClr val="1A1A1A"/>
                          </a:solidFill>
                        </a:rPr>
                        <a:t>-6.1%</a:t>
                      </a:r>
                    </a:p>
                  </a:txBody>
                  <a:tcPr>
                    <a:solidFill>
                      <a:srgbClr val="F5F7FA"/>
                    </a:solidFill>
                  </a:tcPr>
                </a:tc>
                <a:tc>
                  <a:txBody>
                    <a:bodyPr/>
                    <a:lstStyle/>
                    <a:p>
                      <a:pPr algn="ctr"/>
                      <a:r>
                        <a:rPr sz="800" b="0">
                          <a:solidFill>
                            <a:srgbClr val="1A1A1A"/>
                          </a:solidFill>
                        </a:rPr>
                        <a:t>+0.0%</a:t>
                      </a:r>
                    </a:p>
                  </a:txBody>
                  <a:tcPr>
                    <a:solidFill>
                      <a:srgbClr val="F5F7FA"/>
                    </a:solidFill>
                  </a:tcPr>
                </a:tc>
              </a:tr>
              <a:tr h="225000">
                <a:tc>
                  <a:txBody>
                    <a:bodyPr/>
                    <a:lstStyle/>
                    <a:p>
                      <a:pPr algn="ctr"/>
                      <a:r>
                        <a:rPr sz="800" b="0">
                          <a:solidFill>
                            <a:srgbClr val="1A1A1A"/>
                          </a:solidFill>
                        </a:rPr>
                        <a:t>3</a:t>
                      </a:r>
                    </a:p>
                  </a:txBody>
                  <a:tcPr>
                    <a:noFill/>
                  </a:tcPr>
                </a:tc>
                <a:tc>
                  <a:txBody>
                    <a:bodyPr/>
                    <a:lstStyle/>
                    <a:p>
                      <a:pPr algn="ctr"/>
                      <a:r>
                        <a:rPr sz="800" b="0">
                          <a:solidFill>
                            <a:srgbClr val="1A1A1A"/>
                          </a:solidFill>
                        </a:rPr>
                        <a:t>Consumer Defensive</a:t>
                      </a:r>
                    </a:p>
                  </a:txBody>
                  <a:tcPr>
                    <a:noFill/>
                  </a:tcPr>
                </a:tc>
                <a:tc>
                  <a:txBody>
                    <a:bodyPr/>
                    <a:lstStyle/>
                    <a:p>
                      <a:pPr algn="ctr"/>
                      <a:r>
                        <a:rPr sz="800" b="0">
                          <a:solidFill>
                            <a:srgbClr val="1A1A1A"/>
                          </a:solidFill>
                        </a:rPr>
                        <a:t>56</a:t>
                      </a:r>
                    </a:p>
                  </a:txBody>
                  <a:tcPr>
                    <a:no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a:t>
                      </a:r>
                    </a:p>
                  </a:txBody>
                  <a:tcPr>
                    <a:noFill/>
                  </a:tcPr>
                </a:tc>
                <a:tc>
                  <a:txBody>
                    <a:bodyPr/>
                    <a:lstStyle/>
                    <a:p>
                      <a:pPr algn="ctr"/>
                      <a:r>
                        <a:rPr sz="800" b="0">
                          <a:solidFill>
                            <a:srgbClr val="1A1A1A"/>
                          </a:solidFill>
                        </a:rPr>
                        <a:t>20.2%</a:t>
                      </a:r>
                    </a:p>
                  </a:txBody>
                  <a:tcPr>
                    <a:noFill/>
                  </a:tcPr>
                </a:tc>
                <a:tc>
                  <a:txBody>
                    <a:bodyPr/>
                    <a:lstStyle/>
                    <a:p>
                      <a:pPr algn="ctr"/>
                      <a:r>
                        <a:rPr sz="800" b="0">
                          <a:solidFill>
                            <a:srgbClr val="1A1A1A"/>
                          </a:solidFill>
                        </a:rPr>
                        <a:t>+0.2%</a:t>
                      </a:r>
                    </a:p>
                  </a:txBody>
                  <a:tcPr>
                    <a:noFill/>
                  </a:tcPr>
                </a:tc>
                <a:tc>
                  <a:txBody>
                    <a:bodyPr/>
                    <a:lstStyle/>
                    <a:p>
                      <a:pPr algn="ctr"/>
                      <a:r>
                        <a:rPr sz="800" b="0">
                          <a:solidFill>
                            <a:srgbClr val="1A1A1A"/>
                          </a:solidFill>
                        </a:rPr>
                        <a:t>+0.0%</a:t>
                      </a:r>
                    </a:p>
                  </a:txBody>
                  <a:tcPr>
                    <a:noFill/>
                  </a:tcPr>
                </a:tc>
              </a:tr>
              <a:tr h="225000">
                <a:tc>
                  <a:txBody>
                    <a:bodyPr/>
                    <a:lstStyle/>
                    <a:p>
                      <a:pPr algn="ctr"/>
                      <a:r>
                        <a:rPr sz="800" b="0">
                          <a:solidFill>
                            <a:srgbClr val="1A1A1A"/>
                          </a:solidFill>
                        </a:rPr>
                        <a:t>4</a:t>
                      </a:r>
                    </a:p>
                  </a:txBody>
                  <a:tcPr>
                    <a:solidFill>
                      <a:srgbClr val="F5F7FA"/>
                    </a:solidFill>
                  </a:tcPr>
                </a:tc>
                <a:tc>
                  <a:txBody>
                    <a:bodyPr/>
                    <a:lstStyle/>
                    <a:p>
                      <a:pPr algn="ctr"/>
                      <a:r>
                        <a:rPr sz="800" b="0">
                          <a:solidFill>
                            <a:srgbClr val="1A1A1A"/>
                          </a:solidFill>
                        </a:rPr>
                        <a:t>Financial Services</a:t>
                      </a:r>
                    </a:p>
                  </a:txBody>
                  <a:tcPr>
                    <a:solidFill>
                      <a:srgbClr val="F5F7FA"/>
                    </a:solidFill>
                  </a:tcPr>
                </a:tc>
                <a:tc>
                  <a:txBody>
                    <a:bodyPr/>
                    <a:lstStyle/>
                    <a:p>
                      <a:pPr algn="ctr"/>
                      <a:r>
                        <a:rPr sz="800" b="0">
                          <a:solidFill>
                            <a:srgbClr val="1A1A1A"/>
                          </a:solidFill>
                        </a:rPr>
                        <a:t>55</a:t>
                      </a:r>
                    </a:p>
                  </a:txBody>
                  <a:tcPr>
                    <a:solidFill>
                      <a:srgbClr val="F5F7FA"/>
                    </a:solid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a:t>
                      </a:r>
                    </a:p>
                  </a:txBody>
                  <a:tcPr>
                    <a:solidFill>
                      <a:srgbClr val="F5F7FA"/>
                    </a:solidFill>
                  </a:tcPr>
                </a:tc>
                <a:tc>
                  <a:txBody>
                    <a:bodyPr/>
                    <a:lstStyle/>
                    <a:p>
                      <a:pPr algn="ctr"/>
                      <a:r>
                        <a:rPr sz="800" b="0">
                          <a:solidFill>
                            <a:srgbClr val="1A1A1A"/>
                          </a:solidFill>
                        </a:rPr>
                        <a:t>98.1%</a:t>
                      </a:r>
                    </a:p>
                  </a:txBody>
                  <a:tcPr>
                    <a:solidFill>
                      <a:srgbClr val="F5F7FA"/>
                    </a:solidFill>
                  </a:tcPr>
                </a:tc>
                <a:tc>
                  <a:txBody>
                    <a:bodyPr/>
                    <a:lstStyle/>
                    <a:p>
                      <a:pPr algn="ctr"/>
                      <a:r>
                        <a:rPr sz="800" b="0">
                          <a:solidFill>
                            <a:srgbClr val="1A1A1A"/>
                          </a:solidFill>
                        </a:rPr>
                        <a:t>+4.1%</a:t>
                      </a:r>
                    </a:p>
                  </a:txBody>
                  <a:tcPr>
                    <a:solidFill>
                      <a:srgbClr val="F5F7FA"/>
                    </a:solidFill>
                  </a:tcPr>
                </a:tc>
                <a:tc>
                  <a:txBody>
                    <a:bodyPr/>
                    <a:lstStyle/>
                    <a:p>
                      <a:pPr algn="ctr"/>
                      <a:r>
                        <a:rPr sz="800" b="0">
                          <a:solidFill>
                            <a:srgbClr val="1A1A1A"/>
                          </a:solidFill>
                        </a:rPr>
                        <a:t>+0.0%</a:t>
                      </a:r>
                    </a:p>
                  </a:txBody>
                  <a:tcPr>
                    <a:solidFill>
                      <a:srgbClr val="F5F7FA"/>
                    </a:solidFill>
                  </a:tcPr>
                </a:tc>
              </a:tr>
              <a:tr h="225000">
                <a:tc>
                  <a:txBody>
                    <a:bodyPr/>
                    <a:lstStyle/>
                    <a:p>
                      <a:pPr algn="ctr"/>
                      <a:r>
                        <a:rPr sz="800" b="0">
                          <a:solidFill>
                            <a:srgbClr val="1A1A1A"/>
                          </a:solidFill>
                        </a:rPr>
                        <a:t>5</a:t>
                      </a:r>
                    </a:p>
                  </a:txBody>
                  <a:tcPr>
                    <a:noFill/>
                  </a:tcPr>
                </a:tc>
                <a:tc>
                  <a:txBody>
                    <a:bodyPr/>
                    <a:lstStyle/>
                    <a:p>
                      <a:pPr algn="ctr"/>
                      <a:r>
                        <a:rPr sz="800" b="0">
                          <a:solidFill>
                            <a:srgbClr val="1A1A1A"/>
                          </a:solidFill>
                        </a:rPr>
                        <a:t>Basic Materials</a:t>
                      </a:r>
                    </a:p>
                  </a:txBody>
                  <a:tcPr>
                    <a:noFill/>
                  </a:tcPr>
                </a:tc>
                <a:tc>
                  <a:txBody>
                    <a:bodyPr/>
                    <a:lstStyle/>
                    <a:p>
                      <a:pPr algn="ctr"/>
                      <a:r>
                        <a:rPr sz="800" b="0">
                          <a:solidFill>
                            <a:srgbClr val="1A1A1A"/>
                          </a:solidFill>
                        </a:rPr>
                        <a:t>53</a:t>
                      </a:r>
                    </a:p>
                  </a:txBody>
                  <a:tcPr>
                    <a:no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a:t>
                      </a:r>
                    </a:p>
                  </a:txBody>
                  <a:tcPr>
                    <a:noFill/>
                  </a:tcPr>
                </a:tc>
                <a:tc>
                  <a:txBody>
                    <a:bodyPr/>
                    <a:lstStyle/>
                    <a:p>
                      <a:pPr algn="ctr"/>
                      <a:r>
                        <a:rPr sz="800" b="0">
                          <a:solidFill>
                            <a:srgbClr val="1A1A1A"/>
                          </a:solidFill>
                        </a:rPr>
                        <a:t>19.8%</a:t>
                      </a:r>
                    </a:p>
                  </a:txBody>
                  <a:tcPr>
                    <a:noFill/>
                  </a:tcPr>
                </a:tc>
                <a:tc>
                  <a:txBody>
                    <a:bodyPr/>
                    <a:lstStyle/>
                    <a:p>
                      <a:pPr algn="ctr"/>
                      <a:r>
                        <a:rPr sz="800" b="0">
                          <a:solidFill>
                            <a:srgbClr val="1A1A1A"/>
                          </a:solidFill>
                        </a:rPr>
                        <a:t>-1.1%</a:t>
                      </a:r>
                    </a:p>
                  </a:txBody>
                  <a:tcPr>
                    <a:noFill/>
                  </a:tcPr>
                </a:tc>
                <a:tc>
                  <a:txBody>
                    <a:bodyPr/>
                    <a:lstStyle/>
                    <a:p>
                      <a:pPr algn="ctr"/>
                      <a:r>
                        <a:rPr sz="800" b="0">
                          <a:solidFill>
                            <a:srgbClr val="1A1A1A"/>
                          </a:solidFill>
                        </a:rPr>
                        <a:t>+0.0%</a:t>
                      </a:r>
                    </a:p>
                  </a:txBody>
                  <a:tcPr>
                    <a:noFill/>
                  </a:tcPr>
                </a:tc>
              </a:tr>
              <a:tr h="225000">
                <a:tc>
                  <a:txBody>
                    <a:bodyPr/>
                    <a:lstStyle/>
                    <a:p>
                      <a:pPr algn="ctr"/>
                      <a:r>
                        <a:rPr sz="800" b="0">
                          <a:solidFill>
                            <a:srgbClr val="1A1A1A"/>
                          </a:solidFill>
                        </a:rPr>
                        <a:t>6</a:t>
                      </a:r>
                    </a:p>
                  </a:txBody>
                  <a:tcPr>
                    <a:solidFill>
                      <a:srgbClr val="F5F7FA"/>
                    </a:solidFill>
                  </a:tcPr>
                </a:tc>
                <a:tc>
                  <a:txBody>
                    <a:bodyPr/>
                    <a:lstStyle/>
                    <a:p>
                      <a:pPr algn="ctr"/>
                      <a:r>
                        <a:rPr sz="800" b="0">
                          <a:solidFill>
                            <a:srgbClr val="1A1A1A"/>
                          </a:solidFill>
                        </a:rPr>
                        <a:t>Industrials</a:t>
                      </a:r>
                    </a:p>
                  </a:txBody>
                  <a:tcPr>
                    <a:solidFill>
                      <a:srgbClr val="F5F7FA"/>
                    </a:solidFill>
                  </a:tcPr>
                </a:tc>
                <a:tc>
                  <a:txBody>
                    <a:bodyPr/>
                    <a:lstStyle/>
                    <a:p>
                      <a:pPr algn="ctr"/>
                      <a:r>
                        <a:rPr sz="800" b="0">
                          <a:solidFill>
                            <a:srgbClr val="1A1A1A"/>
                          </a:solidFill>
                        </a:rPr>
                        <a:t>53</a:t>
                      </a:r>
                    </a:p>
                  </a:txBody>
                  <a:tcPr>
                    <a:solidFill>
                      <a:srgbClr val="F5F7FA"/>
                    </a:solid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a:t>
                      </a:r>
                    </a:p>
                  </a:txBody>
                  <a:tcPr>
                    <a:solidFill>
                      <a:srgbClr val="F5F7FA"/>
                    </a:solidFill>
                  </a:tcPr>
                </a:tc>
                <a:tc>
                  <a:txBody>
                    <a:bodyPr/>
                    <a:lstStyle/>
                    <a:p>
                      <a:pPr algn="ctr"/>
                      <a:r>
                        <a:rPr sz="800" b="0">
                          <a:solidFill>
                            <a:srgbClr val="1A1A1A"/>
                          </a:solidFill>
                        </a:rPr>
                        <a:t>16.2%</a:t>
                      </a:r>
                    </a:p>
                  </a:txBody>
                  <a:tcPr>
                    <a:solidFill>
                      <a:srgbClr val="F5F7FA"/>
                    </a:solidFill>
                  </a:tcPr>
                </a:tc>
                <a:tc>
                  <a:txBody>
                    <a:bodyPr/>
                    <a:lstStyle/>
                    <a:p>
                      <a:pPr algn="ctr"/>
                      <a:r>
                        <a:rPr sz="800" b="0">
                          <a:solidFill>
                            <a:srgbClr val="1A1A1A"/>
                          </a:solidFill>
                        </a:rPr>
                        <a:t>+4.9%</a:t>
                      </a:r>
                    </a:p>
                  </a:txBody>
                  <a:tcPr>
                    <a:solidFill>
                      <a:srgbClr val="F5F7FA"/>
                    </a:solidFill>
                  </a:tcPr>
                </a:tc>
                <a:tc>
                  <a:txBody>
                    <a:bodyPr/>
                    <a:lstStyle/>
                    <a:p>
                      <a:pPr algn="ctr"/>
                      <a:r>
                        <a:rPr sz="800" b="0">
                          <a:solidFill>
                            <a:srgbClr val="1A1A1A"/>
                          </a:solidFill>
                        </a:rPr>
                        <a:t>+0.0%</a:t>
                      </a:r>
                    </a:p>
                  </a:txBody>
                  <a:tcPr>
                    <a:solidFill>
                      <a:srgbClr val="F5F7FA"/>
                    </a:solidFill>
                  </a:tcPr>
                </a:tc>
              </a:tr>
              <a:tr h="225000">
                <a:tc>
                  <a:txBody>
                    <a:bodyPr/>
                    <a:lstStyle/>
                    <a:p>
                      <a:pPr algn="ctr"/>
                      <a:r>
                        <a:rPr sz="800" b="0">
                          <a:solidFill>
                            <a:srgbClr val="1A1A1A"/>
                          </a:solidFill>
                        </a:rPr>
                        <a:t>7</a:t>
                      </a:r>
                    </a:p>
                  </a:txBody>
                  <a:tcPr>
                    <a:noFill/>
                  </a:tcPr>
                </a:tc>
                <a:tc>
                  <a:txBody>
                    <a:bodyPr/>
                    <a:lstStyle/>
                    <a:p>
                      <a:pPr algn="ctr"/>
                      <a:r>
                        <a:rPr sz="800" b="0">
                          <a:solidFill>
                            <a:srgbClr val="1A1A1A"/>
                          </a:solidFill>
                        </a:rPr>
                        <a:t>Utilities</a:t>
                      </a:r>
                    </a:p>
                  </a:txBody>
                  <a:tcPr>
                    <a:noFill/>
                  </a:tcPr>
                </a:tc>
                <a:tc>
                  <a:txBody>
                    <a:bodyPr/>
                    <a:lstStyle/>
                    <a:p>
                      <a:pPr algn="ctr"/>
                      <a:r>
                        <a:rPr sz="800" b="0">
                          <a:solidFill>
                            <a:srgbClr val="1A1A1A"/>
                          </a:solidFill>
                        </a:rPr>
                        <a:t>46</a:t>
                      </a:r>
                    </a:p>
                  </a:txBody>
                  <a:tcPr>
                    <a:no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a:t>
                      </a:r>
                    </a:p>
                  </a:txBody>
                  <a:tcPr>
                    <a:noFill/>
                  </a:tcPr>
                </a:tc>
                <a:tc>
                  <a:txBody>
                    <a:bodyPr/>
                    <a:lstStyle/>
                    <a:p>
                      <a:pPr algn="ctr"/>
                      <a:r>
                        <a:rPr sz="800" b="0">
                          <a:solidFill>
                            <a:srgbClr val="1A1A1A"/>
                          </a:solidFill>
                        </a:rPr>
                        <a:t>20.0%</a:t>
                      </a:r>
                    </a:p>
                  </a:txBody>
                  <a:tcPr>
                    <a:noFill/>
                  </a:tcPr>
                </a:tc>
                <a:tc>
                  <a:txBody>
                    <a:bodyPr/>
                    <a:lstStyle/>
                    <a:p>
                      <a:pPr algn="ctr"/>
                      <a:r>
                        <a:rPr sz="800" b="0">
                          <a:solidFill>
                            <a:srgbClr val="1A1A1A"/>
                          </a:solidFill>
                        </a:rPr>
                        <a:t>-2.5%</a:t>
                      </a:r>
                    </a:p>
                  </a:txBody>
                  <a:tcPr>
                    <a:noFill/>
                  </a:tcPr>
                </a:tc>
                <a:tc>
                  <a:txBody>
                    <a:bodyPr/>
                    <a:lstStyle/>
                    <a:p>
                      <a:pPr algn="ctr"/>
                      <a:r>
                        <a:rPr sz="800" b="0">
                          <a:solidFill>
                            <a:srgbClr val="1A1A1A"/>
                          </a:solidFill>
                        </a:rPr>
                        <a:t>+0.0%</a:t>
                      </a:r>
                    </a:p>
                  </a:txBody>
                  <a:tcPr>
                    <a:noFill/>
                  </a:tcPr>
                </a:tc>
              </a:tr>
              <a:tr h="225000">
                <a:tc>
                  <a:txBody>
                    <a:bodyPr/>
                    <a:lstStyle/>
                    <a:p>
                      <a:pPr algn="ctr"/>
                      <a:r>
                        <a:rPr sz="800" b="0">
                          <a:solidFill>
                            <a:srgbClr val="1A1A1A"/>
                          </a:solidFill>
                        </a:rPr>
                        <a:t>8</a:t>
                      </a:r>
                    </a:p>
                  </a:txBody>
                  <a:tcPr>
                    <a:solidFill>
                      <a:srgbClr val="F5F7FA"/>
                    </a:solidFill>
                  </a:tcPr>
                </a:tc>
                <a:tc>
                  <a:txBody>
                    <a:bodyPr/>
                    <a:lstStyle/>
                    <a:p>
                      <a:pPr algn="ctr"/>
                      <a:r>
                        <a:rPr sz="800" b="0">
                          <a:solidFill>
                            <a:srgbClr val="1A1A1A"/>
                          </a:solidFill>
                        </a:rPr>
                        <a:t>Consumer Cyclical</a:t>
                      </a:r>
                    </a:p>
                  </a:txBody>
                  <a:tcPr>
                    <a:solidFill>
                      <a:srgbClr val="F5F7FA"/>
                    </a:solidFill>
                  </a:tcPr>
                </a:tc>
                <a:tc>
                  <a:txBody>
                    <a:bodyPr/>
                    <a:lstStyle/>
                    <a:p>
                      <a:pPr algn="ctr"/>
                      <a:r>
                        <a:rPr sz="800" b="0">
                          <a:solidFill>
                            <a:srgbClr val="1A1A1A"/>
                          </a:solidFill>
                        </a:rPr>
                        <a:t>41</a:t>
                      </a:r>
                    </a:p>
                  </a:txBody>
                  <a:tcPr>
                    <a:solidFill>
                      <a:srgbClr val="F5F7FA"/>
                    </a:solid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a:t>
                      </a:r>
                    </a:p>
                  </a:txBody>
                  <a:tcPr>
                    <a:solidFill>
                      <a:srgbClr val="F5F7FA"/>
                    </a:solidFill>
                  </a:tcPr>
                </a:tc>
                <a:tc>
                  <a:txBody>
                    <a:bodyPr/>
                    <a:lstStyle/>
                    <a:p>
                      <a:pPr algn="ctr"/>
                      <a:r>
                        <a:rPr sz="800" b="0">
                          <a:solidFill>
                            <a:srgbClr val="1A1A1A"/>
                          </a:solidFill>
                        </a:rPr>
                        <a:t>28.5%</a:t>
                      </a:r>
                    </a:p>
                  </a:txBody>
                  <a:tcPr>
                    <a:solidFill>
                      <a:srgbClr val="F5F7FA"/>
                    </a:solidFill>
                  </a:tcPr>
                </a:tc>
                <a:tc>
                  <a:txBody>
                    <a:bodyPr/>
                    <a:lstStyle/>
                    <a:p>
                      <a:pPr algn="ctr"/>
                      <a:r>
                        <a:rPr sz="800" b="0">
                          <a:solidFill>
                            <a:srgbClr val="1A1A1A"/>
                          </a:solidFill>
                        </a:rPr>
                        <a:t>-2.1%</a:t>
                      </a:r>
                    </a:p>
                  </a:txBody>
                  <a:tcPr>
                    <a:solidFill>
                      <a:srgbClr val="F5F7FA"/>
                    </a:solidFill>
                  </a:tcPr>
                </a:tc>
                <a:tc>
                  <a:txBody>
                    <a:bodyPr/>
                    <a:lstStyle/>
                    <a:p>
                      <a:pPr algn="ctr"/>
                      <a:r>
                        <a:rPr sz="800" b="0">
                          <a:solidFill>
                            <a:srgbClr val="1A1A1A"/>
                          </a:solidFill>
                        </a:rPr>
                        <a:t>+0.0%</a:t>
                      </a:r>
                    </a:p>
                  </a:txBody>
                  <a:tcPr>
                    <a:solidFill>
                      <a:srgbClr val="F5F7FA"/>
                    </a:solidFill>
                  </a:tcPr>
                </a:tc>
              </a:tr>
              <a:tr h="225000">
                <a:tc>
                  <a:txBody>
                    <a:bodyPr/>
                    <a:lstStyle/>
                    <a:p>
                      <a:pPr algn="ctr"/>
                      <a:r>
                        <a:rPr sz="800" b="0">
                          <a:solidFill>
                            <a:srgbClr val="1A1A1A"/>
                          </a:solidFill>
                        </a:rPr>
                        <a:t>9</a:t>
                      </a:r>
                    </a:p>
                  </a:txBody>
                  <a:tcPr>
                    <a:noFill/>
                  </a:tcPr>
                </a:tc>
                <a:tc>
                  <a:txBody>
                    <a:bodyPr/>
                    <a:lstStyle/>
                    <a:p>
                      <a:pPr algn="ctr"/>
                      <a:r>
                        <a:rPr sz="800" b="0">
                          <a:solidFill>
                            <a:srgbClr val="1A1A1A"/>
                          </a:solidFill>
                        </a:rPr>
                        <a:t>Comm. Services</a:t>
                      </a:r>
                    </a:p>
                  </a:txBody>
                  <a:tcPr>
                    <a:noFill/>
                  </a:tcPr>
                </a:tc>
                <a:tc>
                  <a:txBody>
                    <a:bodyPr/>
                    <a:lstStyle/>
                    <a:p>
                      <a:pPr algn="ctr"/>
                      <a:r>
                        <a:rPr sz="800" b="0">
                          <a:solidFill>
                            <a:srgbClr val="1A1A1A"/>
                          </a:solidFill>
                        </a:rPr>
                        <a:t>38</a:t>
                      </a:r>
                    </a:p>
                  </a:txBody>
                  <a:tcPr>
                    <a:noFill/>
                  </a:tcPr>
                </a:tc>
                <a:tc>
                  <a:txBody>
                    <a:bodyPr/>
                    <a:lstStyle/>
                    <a:p>
                      <a:pPr algn="ctr"/>
                      <a:r>
                        <a:rPr sz="800" b="0">
                          <a:solidFill>
                            <a:srgbClr val="A82020"/>
                          </a:solidFill>
                        </a:rPr>
                        <a:t>Sous-pondérer</a:t>
                      </a:r>
                    </a:p>
                  </a:txBody>
                  <a:tcPr>
                    <a:solidFill>
                      <a:srgbClr val="FBEBEB"/>
                    </a:solidFill>
                  </a:tcPr>
                </a:tc>
                <a:tc>
                  <a:txBody>
                    <a:bodyPr/>
                    <a:lstStyle/>
                    <a:p>
                      <a:pPr algn="ctr"/>
                      <a:r>
                        <a:rPr sz="800" b="0">
                          <a:solidFill>
                            <a:srgbClr val="1A1A1A"/>
                          </a:solidFill>
                        </a:rPr>
                        <a:t>—</a:t>
                      </a:r>
                    </a:p>
                  </a:txBody>
                  <a:tcPr>
                    <a:noFill/>
                  </a:tcPr>
                </a:tc>
                <a:tc>
                  <a:txBody>
                    <a:bodyPr/>
                    <a:lstStyle/>
                    <a:p>
                      <a:pPr algn="ctr"/>
                      <a:r>
                        <a:rPr sz="800" b="0">
                          <a:solidFill>
                            <a:srgbClr val="1A1A1A"/>
                          </a:solidFill>
                        </a:rPr>
                        <a:t>21.6%</a:t>
                      </a:r>
                    </a:p>
                  </a:txBody>
                  <a:tcPr>
                    <a:noFill/>
                  </a:tcPr>
                </a:tc>
                <a:tc>
                  <a:txBody>
                    <a:bodyPr/>
                    <a:lstStyle/>
                    <a:p>
                      <a:pPr algn="ctr"/>
                      <a:r>
                        <a:rPr sz="800" b="0">
                          <a:solidFill>
                            <a:srgbClr val="1A1A1A"/>
                          </a:solidFill>
                        </a:rPr>
                        <a:t>+3.4%</a:t>
                      </a:r>
                    </a:p>
                  </a:txBody>
                  <a:tcPr>
                    <a:noFill/>
                  </a:tcPr>
                </a:tc>
                <a:tc>
                  <a:txBody>
                    <a:bodyPr/>
                    <a:lstStyle/>
                    <a:p>
                      <a:pPr algn="ctr"/>
                      <a:r>
                        <a:rPr sz="800" b="0">
                          <a:solidFill>
                            <a:srgbClr val="1A1A1A"/>
                          </a:solidFill>
                        </a:rPr>
                        <a:t>+0.0%</a:t>
                      </a:r>
                    </a:p>
                  </a:txBody>
                  <a:tcPr>
                    <a:noFill/>
                  </a:tcPr>
                </a:tc>
              </a:tr>
              <a:tr h="225000">
                <a:tc>
                  <a:txBody>
                    <a:bodyPr/>
                    <a:lstStyle/>
                    <a:p>
                      <a:pPr algn="ctr"/>
                      <a:r>
                        <a:rPr sz="800" b="0">
                          <a:solidFill>
                            <a:srgbClr val="1A1A1A"/>
                          </a:solidFill>
                        </a:rPr>
                        <a:t>10</a:t>
                      </a:r>
                    </a:p>
                  </a:txBody>
                  <a:tcPr>
                    <a:solidFill>
                      <a:srgbClr val="F5F7FA"/>
                    </a:solidFill>
                  </a:tcPr>
                </a:tc>
                <a:tc>
                  <a:txBody>
                    <a:bodyPr/>
                    <a:lstStyle/>
                    <a:p>
                      <a:pPr algn="ctr"/>
                      <a:r>
                        <a:rPr sz="800" b="0">
                          <a:solidFill>
                            <a:srgbClr val="1A1A1A"/>
                          </a:solidFill>
                        </a:rPr>
                        <a:t>Technology</a:t>
                      </a:r>
                    </a:p>
                  </a:txBody>
                  <a:tcPr>
                    <a:solidFill>
                      <a:srgbClr val="F5F7FA"/>
                    </a:solidFill>
                  </a:tcPr>
                </a:tc>
                <a:tc>
                  <a:txBody>
                    <a:bodyPr/>
                    <a:lstStyle/>
                    <a:p>
                      <a:pPr algn="ctr"/>
                      <a:r>
                        <a:rPr sz="800" b="0">
                          <a:solidFill>
                            <a:srgbClr val="1A1A1A"/>
                          </a:solidFill>
                        </a:rPr>
                        <a:t>36</a:t>
                      </a:r>
                    </a:p>
                  </a:txBody>
                  <a:tcPr>
                    <a:solidFill>
                      <a:srgbClr val="F5F7FA"/>
                    </a:solidFill>
                  </a:tcPr>
                </a:tc>
                <a:tc>
                  <a:txBody>
                    <a:bodyPr/>
                    <a:lstStyle/>
                    <a:p>
                      <a:pPr algn="ctr"/>
                      <a:r>
                        <a:rPr sz="800" b="0">
                          <a:solidFill>
                            <a:srgbClr val="A82020"/>
                          </a:solidFill>
                        </a:rPr>
                        <a:t>Sous-pondérer</a:t>
                      </a:r>
                    </a:p>
                  </a:txBody>
                  <a:tcPr>
                    <a:solidFill>
                      <a:srgbClr val="FBEBEB"/>
                    </a:solidFill>
                  </a:tcPr>
                </a:tc>
                <a:tc>
                  <a:txBody>
                    <a:bodyPr/>
                    <a:lstStyle/>
                    <a:p>
                      <a:pPr algn="ctr"/>
                      <a:r>
                        <a:rPr sz="800" b="0">
                          <a:solidFill>
                            <a:srgbClr val="1A1A1A"/>
                          </a:solidFill>
                        </a:rPr>
                        <a:t>—</a:t>
                      </a:r>
                    </a:p>
                  </a:txBody>
                  <a:tcPr>
                    <a:solidFill>
                      <a:srgbClr val="F5F7FA"/>
                    </a:solidFill>
                  </a:tcPr>
                </a:tc>
                <a:tc>
                  <a:txBody>
                    <a:bodyPr/>
                    <a:lstStyle/>
                    <a:p>
                      <a:pPr algn="ctr"/>
                      <a:r>
                        <a:rPr sz="800" b="0">
                          <a:solidFill>
                            <a:srgbClr val="1A1A1A"/>
                          </a:solidFill>
                        </a:rPr>
                        <a:t>25.0%</a:t>
                      </a:r>
                    </a:p>
                  </a:txBody>
                  <a:tcPr>
                    <a:solidFill>
                      <a:srgbClr val="F5F7FA"/>
                    </a:solidFill>
                  </a:tcPr>
                </a:tc>
                <a:tc>
                  <a:txBody>
                    <a:bodyPr/>
                    <a:lstStyle/>
                    <a:p>
                      <a:pPr algn="ctr"/>
                      <a:r>
                        <a:rPr sz="800" b="0">
                          <a:solidFill>
                            <a:srgbClr val="1A1A1A"/>
                          </a:solidFill>
                        </a:rPr>
                        <a:t>-1.4%</a:t>
                      </a:r>
                    </a:p>
                  </a:txBody>
                  <a:tcPr>
                    <a:solidFill>
                      <a:srgbClr val="F5F7FA"/>
                    </a:solidFill>
                  </a:tcPr>
                </a:tc>
                <a:tc>
                  <a:txBody>
                    <a:bodyPr/>
                    <a:lstStyle/>
                    <a:p>
                      <a:pPr algn="ctr"/>
                      <a:r>
                        <a:rPr sz="800" b="0">
                          <a:solidFill>
                            <a:srgbClr val="1A1A1A"/>
                          </a:solidFill>
                        </a:rPr>
                        <a:t>+0.0%</a:t>
                      </a:r>
                    </a:p>
                  </a:txBody>
                  <a:tcPr>
                    <a:solidFill>
                      <a:srgbClr val="F5F7FA"/>
                    </a:solidFill>
                  </a:tcPr>
                </a:tc>
              </a:tr>
              <a:tr h="225000">
                <a:tc>
                  <a:txBody>
                    <a:bodyPr/>
                    <a:lstStyle/>
                    <a:p>
                      <a:pPr algn="ctr"/>
                      <a:r>
                        <a:rPr sz="800" b="0">
                          <a:solidFill>
                            <a:srgbClr val="1A1A1A"/>
                          </a:solidFill>
                        </a:rPr>
                        <a:t>11</a:t>
                      </a:r>
                    </a:p>
                  </a:txBody>
                  <a:tcPr>
                    <a:noFill/>
                  </a:tcPr>
                </a:tc>
                <a:tc>
                  <a:txBody>
                    <a:bodyPr/>
                    <a:lstStyle/>
                    <a:p>
                      <a:pPr algn="ctr"/>
                      <a:r>
                        <a:rPr sz="800" b="0">
                          <a:solidFill>
                            <a:srgbClr val="1A1A1A"/>
                          </a:solidFill>
                        </a:rPr>
                        <a:t>Energy</a:t>
                      </a:r>
                    </a:p>
                  </a:txBody>
                  <a:tcPr>
                    <a:noFill/>
                  </a:tcPr>
                </a:tc>
                <a:tc>
                  <a:txBody>
                    <a:bodyPr/>
                    <a:lstStyle/>
                    <a:p>
                      <a:pPr algn="ctr"/>
                      <a:r>
                        <a:rPr sz="800" b="0">
                          <a:solidFill>
                            <a:srgbClr val="1A1A1A"/>
                          </a:solidFill>
                        </a:rPr>
                        <a:t>14</a:t>
                      </a:r>
                    </a:p>
                  </a:txBody>
                  <a:tcPr>
                    <a:noFill/>
                  </a:tcPr>
                </a:tc>
                <a:tc>
                  <a:txBody>
                    <a:bodyPr/>
                    <a:lstStyle/>
                    <a:p>
                      <a:pPr algn="ctr"/>
                      <a:r>
                        <a:rPr sz="800" b="0">
                          <a:solidFill>
                            <a:srgbClr val="A82020"/>
                          </a:solidFill>
                        </a:rPr>
                        <a:t>Sous-pondérer</a:t>
                      </a:r>
                    </a:p>
                  </a:txBody>
                  <a:tcPr>
                    <a:solidFill>
                      <a:srgbClr val="FBEBEB"/>
                    </a:solidFill>
                  </a:tcPr>
                </a:tc>
                <a:tc>
                  <a:txBody>
                    <a:bodyPr/>
                    <a:lstStyle/>
                    <a:p>
                      <a:pPr algn="ctr"/>
                      <a:r>
                        <a:rPr sz="800" b="0">
                          <a:solidFill>
                            <a:srgbClr val="1A1A1A"/>
                          </a:solidFill>
                        </a:rPr>
                        <a:t>—</a:t>
                      </a:r>
                    </a:p>
                  </a:txBody>
                  <a:tcPr>
                    <a:noFill/>
                  </a:tcPr>
                </a:tc>
                <a:tc>
                  <a:txBody>
                    <a:bodyPr/>
                    <a:lstStyle/>
                    <a:p>
                      <a:pPr algn="ctr"/>
                      <a:r>
                        <a:rPr sz="800" b="0">
                          <a:solidFill>
                            <a:srgbClr val="1A1A1A"/>
                          </a:solidFill>
                        </a:rPr>
                        <a:t>—</a:t>
                      </a:r>
                    </a:p>
                  </a:txBody>
                  <a:tcPr>
                    <a:noFill/>
                  </a:tcPr>
                </a:tc>
                <a:tc>
                  <a:txBody>
                    <a:bodyPr/>
                    <a:lstStyle/>
                    <a:p>
                      <a:pPr algn="ctr"/>
                      <a:r>
                        <a:rPr sz="800" b="0">
                          <a:solidFill>
                            <a:srgbClr val="1A1A1A"/>
                          </a:solidFill>
                        </a:rPr>
                        <a:t>+0.0%</a:t>
                      </a:r>
                    </a:p>
                  </a:txBody>
                  <a:tcPr>
                    <a:noFill/>
                  </a:tcPr>
                </a:tc>
                <a:tc>
                  <a:txBody>
                    <a:bodyPr/>
                    <a:lstStyle/>
                    <a:p>
                      <a:pPr algn="ctr"/>
                      <a:r>
                        <a:rPr sz="800" b="0">
                          <a:solidFill>
                            <a:srgbClr val="1A1A1A"/>
                          </a:solidFill>
                        </a:rPr>
                        <a:t>+0.0%</a:t>
                      </a:r>
                    </a:p>
                  </a:txBody>
                  <a:tcPr>
                    <a:noFill/>
                  </a:tcPr>
                </a:tc>
              </a:tr>
            </a:tbl>
          </a:graphicData>
        </a:graphic>
      </p:graphicFrame>
      <p:sp>
        <p:nvSpPr>
          <p:cNvPr id="16" name="Rectangle 15"/>
          <p:cNvSpPr/>
          <p:nvPr/>
        </p:nvSpPr>
        <p:spPr>
          <a:xfrm>
            <a:off x="324000" y="3744000"/>
            <a:ext cx="8496000" cy="106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744000"/>
            <a:ext cx="43200" cy="106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2000" y="3798000"/>
            <a:ext cx="8208000" cy="216000"/>
          </a:xfrm>
          <a:prstGeom prst="rect">
            <a:avLst/>
          </a:prstGeom>
          <a:noFill/>
        </p:spPr>
        <p:txBody>
          <a:bodyPr wrap="square">
            <a:spAutoFit/>
          </a:bodyPr>
          <a:lstStyle/>
          <a:p>
            <a:pPr algn="l"/>
            <a:r>
              <a:rPr sz="800" b="1" i="0">
                <a:solidFill>
                  <a:srgbClr val="1B3A6B"/>
                </a:solidFill>
              </a:rPr>
              <a:t>Lecture analytique — Ce que la cartographie révèle</a:t>
            </a:r>
          </a:p>
        </p:txBody>
      </p:sp>
      <p:sp>
        <p:nvSpPr>
          <p:cNvPr id="19" name="TextBox 18"/>
          <p:cNvSpPr txBox="1"/>
          <p:nvPr/>
        </p:nvSpPr>
        <p:spPr>
          <a:xfrm>
            <a:off x="432000" y="4032000"/>
            <a:ext cx="8208000" cy="737999"/>
          </a:xfrm>
          <a:prstGeom prst="rect">
            <a:avLst/>
          </a:prstGeom>
          <a:noFill/>
        </p:spPr>
        <p:txBody>
          <a:bodyPr wrap="square">
            <a:spAutoFit/>
          </a:bodyPr>
          <a:lstStyle/>
          <a:p>
            <a:pPr algn="l"/>
            <a:r>
              <a:rPr sz="750" b="0" i="0">
                <a:solidFill>
                  <a:srgbClr val="555555"/>
                </a:solidFill>
              </a:rPr>
              <a:t>2 secteur(s) sur 11 franchissent le seuil Surpondérer (score &gt; 65) : Healthcare · Real Estate. 3 secteur(s) en Sous-pondérer : Communication Services · Technology · Energy. 6 secteur(s) en position Neutre. L'écart entre le secteur leader (Healthcare, score 69/100) et le secteur le plus faible (Energy, score 14/100) est de 55 points — une dispersion élevée qui témoigne d'une bifurcation sectorielle marquée.</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Valorisation vs Croissance BPA</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EV/EBITDA median vs Croissance BPA  ·  4 quadrants  ·  Un point par secteur GICS</a:t>
            </a:r>
          </a:p>
        </p:txBody>
      </p:sp>
      <p:pic>
        <p:nvPicPr>
          <p:cNvPr id="15" name="Picture 14" descr="image.png"/>
          <p:cNvPicPr>
            <a:picLocks noChangeAspect="1"/>
          </p:cNvPicPr>
          <p:nvPr/>
        </p:nvPicPr>
        <p:blipFill>
          <a:blip r:embed="rId2"/>
          <a:stretch>
            <a:fillRect/>
          </a:stretch>
        </p:blipFill>
        <p:spPr>
          <a:xfrm>
            <a:off x="324000" y="827999"/>
            <a:ext cx="5112000" cy="3096000"/>
          </a:xfrm>
          <a:prstGeom prst="rect">
            <a:avLst/>
          </a:prstGeom>
        </p:spPr>
      </p:pic>
      <p:sp>
        <p:nvSpPr>
          <p:cNvPr id="16" name="Rectangle 15"/>
          <p:cNvSpPr/>
          <p:nvPr/>
        </p:nvSpPr>
        <p:spPr>
          <a:xfrm>
            <a:off x="5616000" y="827999"/>
            <a:ext cx="3204000" cy="30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16000" y="827999"/>
            <a:ext cx="43200" cy="309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24000" y="864000"/>
            <a:ext cx="3024000" cy="216000"/>
          </a:xfrm>
          <a:prstGeom prst="rect">
            <a:avLst/>
          </a:prstGeom>
          <a:noFill/>
        </p:spPr>
        <p:txBody>
          <a:bodyPr wrap="square">
            <a:spAutoFit/>
          </a:bodyPr>
          <a:lstStyle/>
          <a:p>
            <a:pPr algn="l"/>
            <a:r>
              <a:rPr sz="850" b="1" i="0">
                <a:solidFill>
                  <a:srgbClr val="1B3A6B"/>
                </a:solidFill>
              </a:rPr>
              <a:t>Lecture du Scatter</a:t>
            </a:r>
          </a:p>
        </p:txBody>
      </p:sp>
      <p:sp>
        <p:nvSpPr>
          <p:cNvPr id="19" name="TextBox 18"/>
          <p:cNvSpPr txBox="1"/>
          <p:nvPr/>
        </p:nvSpPr>
        <p:spPr>
          <a:xfrm>
            <a:off x="5724000" y="1116000"/>
            <a:ext cx="3024000" cy="2772000"/>
          </a:xfrm>
          <a:prstGeom prst="rect">
            <a:avLst/>
          </a:prstGeom>
          <a:noFill/>
        </p:spPr>
        <p:txBody>
          <a:bodyPr wrap="square">
            <a:spAutoFit/>
          </a:bodyPr>
          <a:lstStyle/>
          <a:p>
            <a:pPr algn="l"/>
            <a:r>
              <a:rPr sz="800" b="0" i="0">
                <a:solidFill>
                  <a:srgbClr val="555555"/>
                </a:solidFill>
              </a:rPr>
              <a:t>N/A en quadrant Premium Justifie — valorisation elevee supportee par forte croissance BPA.
Healthcare  ·  Real Estate en zone Opportunite — croissance correcte a valorisation attractive. Meilleur ratio risque/rendement.
Les pointilles representent les medianes sectorielles (EV/EBITDA et BPA growth). Favoriser les secteurs en bas droite (forte croissance, valorisation moderee).</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Décomposition des Scores FinSight</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11 secteurs GICS  ·  Score 0-100  ·  Momentum 40 % · Révisions BPA 30 % · Valorisation 30 %</a:t>
            </a:r>
          </a:p>
        </p:txBody>
      </p:sp>
      <p:graphicFrame>
        <p:nvGraphicFramePr>
          <p:cNvPr id="15" name="Table 14"/>
          <p:cNvGraphicFramePr>
            <a:graphicFrameLocks noGrp="1"/>
          </p:cNvGraphicFramePr>
          <p:nvPr/>
        </p:nvGraphicFramePr>
        <p:xfrm>
          <a:off x="324000" y="827999"/>
          <a:ext cx="8495999" cy="2520000"/>
        </p:xfrm>
        <a:graphic>
          <a:graphicData uri="http://schemas.openxmlformats.org/drawingml/2006/table">
            <a:tbl>
              <a:tblPr firstRow="1" bandRow="1">
                <a:tableStyleId>{5C22544A-7EE6-4342-B048-85BDC9FD1C3A}</a:tableStyleId>
              </a:tblPr>
              <a:tblGrid>
                <a:gridCol w="1820571"/>
                <a:gridCol w="1011428"/>
                <a:gridCol w="1416000"/>
                <a:gridCol w="1416000"/>
                <a:gridCol w="1416000"/>
                <a:gridCol w="1416000"/>
              </a:tblGrid>
              <a:tr h="210000">
                <a:tc>
                  <a:txBody>
                    <a:bodyPr/>
                    <a:lstStyle/>
                    <a:p>
                      <a:pPr algn="ctr"/>
                      <a:r>
                        <a:rPr sz="800" b="1">
                          <a:solidFill>
                            <a:srgbClr val="FFFFFF"/>
                          </a:solidFill>
                        </a:rPr>
                        <a:t>Secteur</a:t>
                      </a:r>
                    </a:p>
                  </a:txBody>
                  <a:tcPr>
                    <a:solidFill>
                      <a:srgbClr val="1B3A6B"/>
                    </a:solidFill>
                  </a:tcPr>
                </a:tc>
                <a:tc>
                  <a:txBody>
                    <a:bodyPr/>
                    <a:lstStyle/>
                    <a:p>
                      <a:pPr algn="ctr"/>
                      <a:r>
                        <a:rPr sz="800" b="1">
                          <a:solidFill>
                            <a:srgbClr val="FFFFFF"/>
                          </a:solidFill>
                        </a:rPr>
                        <a:t>Score Total</a:t>
                      </a:r>
                    </a:p>
                  </a:txBody>
                  <a:tcPr>
                    <a:solidFill>
                      <a:srgbClr val="1B3A6B"/>
                    </a:solidFill>
                  </a:tcPr>
                </a:tc>
                <a:tc>
                  <a:txBody>
                    <a:bodyPr/>
                    <a:lstStyle/>
                    <a:p>
                      <a:pPr algn="ctr"/>
                      <a:r>
                        <a:rPr sz="800" b="1">
                          <a:solidFill>
                            <a:srgbClr val="FFFFFF"/>
                          </a:solidFill>
                        </a:rPr>
                        <a:t>Momentum (40%)</a:t>
                      </a:r>
                    </a:p>
                  </a:txBody>
                  <a:tcPr>
                    <a:solidFill>
                      <a:srgbClr val="1B3A6B"/>
                    </a:solidFill>
                  </a:tcPr>
                </a:tc>
                <a:tc>
                  <a:txBody>
                    <a:bodyPr/>
                    <a:lstStyle/>
                    <a:p>
                      <a:pPr algn="ctr"/>
                      <a:r>
                        <a:rPr sz="800" b="1">
                          <a:solidFill>
                            <a:srgbClr val="FFFFFF"/>
                          </a:solidFill>
                        </a:rPr>
                        <a:t>Révisions (30%)</a:t>
                      </a:r>
                    </a:p>
                  </a:txBody>
                  <a:tcPr>
                    <a:solidFill>
                      <a:srgbClr val="1B3A6B"/>
                    </a:solidFill>
                  </a:tcPr>
                </a:tc>
                <a:tc>
                  <a:txBody>
                    <a:bodyPr/>
                    <a:lstStyle/>
                    <a:p>
                      <a:pPr algn="ctr"/>
                      <a:r>
                        <a:rPr sz="800" b="1">
                          <a:solidFill>
                            <a:srgbClr val="FFFFFF"/>
                          </a:solidFill>
                        </a:rPr>
                        <a:t>Valorisation (30%)</a:t>
                      </a:r>
                    </a:p>
                  </a:txBody>
                  <a:tcPr>
                    <a:solidFill>
                      <a:srgbClr val="1B3A6B"/>
                    </a:solidFill>
                  </a:tcPr>
                </a:tc>
                <a:tc>
                  <a:txBody>
                    <a:bodyPr/>
                    <a:lstStyle/>
                    <a:p>
                      <a:pPr algn="ctr"/>
                      <a:r>
                        <a:rPr sz="800" b="1">
                          <a:solidFill>
                            <a:srgbClr val="FFFFFF"/>
                          </a:solidFill>
                        </a:rPr>
                        <a:t>Signal</a:t>
                      </a:r>
                    </a:p>
                  </a:txBody>
                  <a:tcPr>
                    <a:solidFill>
                      <a:srgbClr val="1B3A6B"/>
                    </a:solidFill>
                  </a:tcPr>
                </a:tc>
              </a:tr>
              <a:tr h="210000">
                <a:tc>
                  <a:txBody>
                    <a:bodyPr/>
                    <a:lstStyle/>
                    <a:p>
                      <a:pPr algn="ctr"/>
                      <a:r>
                        <a:rPr sz="800" b="0">
                          <a:solidFill>
                            <a:srgbClr val="1A1A1A"/>
                          </a:solidFill>
                        </a:rPr>
                        <a:t>Healthcare</a:t>
                      </a:r>
                    </a:p>
                  </a:txBody>
                  <a:tcPr>
                    <a:noFill/>
                  </a:tcPr>
                </a:tc>
                <a:tc>
                  <a:txBody>
                    <a:bodyPr/>
                    <a:lstStyle/>
                    <a:p>
                      <a:pPr algn="ctr"/>
                      <a:r>
                        <a:rPr sz="800" b="0">
                          <a:solidFill>
                            <a:srgbClr val="1A1A1A"/>
                          </a:solidFill>
                        </a:rPr>
                        <a:t>69</a:t>
                      </a:r>
                    </a:p>
                  </a:txBody>
                  <a:tcPr>
                    <a:solidFill>
                      <a:srgbClr val="E8F5EE"/>
                    </a:solidFill>
                  </a:tcPr>
                </a:tc>
                <a:tc>
                  <a:txBody>
                    <a:bodyPr/>
                    <a:lstStyle/>
                    <a:p>
                      <a:pPr algn="ctr"/>
                      <a:r>
                        <a:rPr sz="800" b="0">
                          <a:solidFill>
                            <a:srgbClr val="1A1A1A"/>
                          </a:solidFill>
                        </a:rPr>
                        <a:t>28</a:t>
                      </a:r>
                    </a:p>
                  </a:txBody>
                  <a:tcPr>
                    <a:noFill/>
                  </a:tcPr>
                </a:tc>
                <a:tc>
                  <a:txBody>
                    <a:bodyPr/>
                    <a:lstStyle/>
                    <a:p>
                      <a:pPr algn="ctr"/>
                      <a:r>
                        <a:rPr sz="800" b="0">
                          <a:solidFill>
                            <a:srgbClr val="1A1A1A"/>
                          </a:solidFill>
                        </a:rPr>
                        <a:t>21</a:t>
                      </a:r>
                    </a:p>
                  </a:txBody>
                  <a:tcPr>
                    <a:noFill/>
                  </a:tcPr>
                </a:tc>
                <a:tc>
                  <a:txBody>
                    <a:bodyPr/>
                    <a:lstStyle/>
                    <a:p>
                      <a:pPr algn="ctr"/>
                      <a:r>
                        <a:rPr sz="800" b="0">
                          <a:solidFill>
                            <a:srgbClr val="1A1A1A"/>
                          </a:solidFill>
                        </a:rPr>
                        <a:t>21</a:t>
                      </a:r>
                    </a:p>
                  </a:txBody>
                  <a:tcPr>
                    <a:noFill/>
                  </a:tcPr>
                </a:tc>
                <a:tc>
                  <a:txBody>
                    <a:bodyPr/>
                    <a:lstStyle/>
                    <a:p>
                      <a:pPr algn="ctr"/>
                      <a:r>
                        <a:rPr sz="800" b="0">
                          <a:solidFill>
                            <a:srgbClr val="1A7A4A"/>
                          </a:solidFill>
                        </a:rPr>
                        <a:t>Surpondérer</a:t>
                      </a:r>
                    </a:p>
                  </a:txBody>
                  <a:tcPr>
                    <a:solidFill>
                      <a:srgbClr val="E8F5EE"/>
                    </a:solidFill>
                  </a:tcPr>
                </a:tc>
              </a:tr>
              <a:tr h="210000">
                <a:tc>
                  <a:txBody>
                    <a:bodyPr/>
                    <a:lstStyle/>
                    <a:p>
                      <a:pPr algn="ctr"/>
                      <a:r>
                        <a:rPr sz="800" b="0">
                          <a:solidFill>
                            <a:srgbClr val="1A1A1A"/>
                          </a:solidFill>
                        </a:rPr>
                        <a:t>Real Estate</a:t>
                      </a:r>
                    </a:p>
                  </a:txBody>
                  <a:tcPr>
                    <a:solidFill>
                      <a:srgbClr val="F5F7FA"/>
                    </a:solidFill>
                  </a:tcPr>
                </a:tc>
                <a:tc>
                  <a:txBody>
                    <a:bodyPr/>
                    <a:lstStyle/>
                    <a:p>
                      <a:pPr algn="ctr"/>
                      <a:r>
                        <a:rPr sz="800" b="0">
                          <a:solidFill>
                            <a:srgbClr val="1A1A1A"/>
                          </a:solidFill>
                        </a:rPr>
                        <a:t>68</a:t>
                      </a:r>
                    </a:p>
                  </a:txBody>
                  <a:tcPr>
                    <a:solidFill>
                      <a:srgbClr val="E8F5EE"/>
                    </a:solidFill>
                  </a:tcPr>
                </a:tc>
                <a:tc>
                  <a:txBody>
                    <a:bodyPr/>
                    <a:lstStyle/>
                    <a:p>
                      <a:pPr algn="ctr"/>
                      <a:r>
                        <a:rPr sz="800" b="0">
                          <a:solidFill>
                            <a:srgbClr val="1A1A1A"/>
                          </a:solidFill>
                        </a:rPr>
                        <a:t>27</a:t>
                      </a:r>
                    </a:p>
                  </a:txBody>
                  <a:tcPr>
                    <a:solidFill>
                      <a:srgbClr val="F5F7FA"/>
                    </a:solidFill>
                  </a:tcPr>
                </a:tc>
                <a:tc>
                  <a:txBody>
                    <a:bodyPr/>
                    <a:lstStyle/>
                    <a:p>
                      <a:pPr algn="ctr"/>
                      <a:r>
                        <a:rPr sz="800" b="0">
                          <a:solidFill>
                            <a:srgbClr val="1A1A1A"/>
                          </a:solidFill>
                        </a:rPr>
                        <a:t>20</a:t>
                      </a:r>
                    </a:p>
                  </a:txBody>
                  <a:tcPr>
                    <a:solidFill>
                      <a:srgbClr val="F5F7FA"/>
                    </a:solidFill>
                  </a:tcPr>
                </a:tc>
                <a:tc>
                  <a:txBody>
                    <a:bodyPr/>
                    <a:lstStyle/>
                    <a:p>
                      <a:pPr algn="ctr"/>
                      <a:r>
                        <a:rPr sz="800" b="0">
                          <a:solidFill>
                            <a:srgbClr val="1A1A1A"/>
                          </a:solidFill>
                        </a:rPr>
                        <a:t>20</a:t>
                      </a:r>
                    </a:p>
                  </a:txBody>
                  <a:tcPr>
                    <a:solidFill>
                      <a:srgbClr val="F5F7FA"/>
                    </a:solidFill>
                  </a:tcPr>
                </a:tc>
                <a:tc>
                  <a:txBody>
                    <a:bodyPr/>
                    <a:lstStyle/>
                    <a:p>
                      <a:pPr algn="ctr"/>
                      <a:r>
                        <a:rPr sz="800" b="0">
                          <a:solidFill>
                            <a:srgbClr val="1A7A4A"/>
                          </a:solidFill>
                        </a:rPr>
                        <a:t>Surpondérer</a:t>
                      </a:r>
                    </a:p>
                  </a:txBody>
                  <a:tcPr>
                    <a:solidFill>
                      <a:srgbClr val="E8F5EE"/>
                    </a:solidFill>
                  </a:tcPr>
                </a:tc>
              </a:tr>
              <a:tr h="210000">
                <a:tc>
                  <a:txBody>
                    <a:bodyPr/>
                    <a:lstStyle/>
                    <a:p>
                      <a:pPr algn="ctr"/>
                      <a:r>
                        <a:rPr sz="800" b="0">
                          <a:solidFill>
                            <a:srgbClr val="1A1A1A"/>
                          </a:solidFill>
                        </a:rPr>
                        <a:t>Consumer Defensive</a:t>
                      </a:r>
                    </a:p>
                  </a:txBody>
                  <a:tcPr>
                    <a:noFill/>
                  </a:tcPr>
                </a:tc>
                <a:tc>
                  <a:txBody>
                    <a:bodyPr/>
                    <a:lstStyle/>
                    <a:p>
                      <a:pPr algn="ctr"/>
                      <a:r>
                        <a:rPr sz="800" b="0">
                          <a:solidFill>
                            <a:srgbClr val="1A1A1A"/>
                          </a:solidFill>
                        </a:rPr>
                        <a:t>56</a:t>
                      </a:r>
                    </a:p>
                  </a:txBody>
                  <a:tcPr>
                    <a:solidFill>
                      <a:srgbClr val="FDF3E5"/>
                    </a:solidFill>
                  </a:tcPr>
                </a:tc>
                <a:tc>
                  <a:txBody>
                    <a:bodyPr/>
                    <a:lstStyle/>
                    <a:p>
                      <a:pPr algn="ctr"/>
                      <a:r>
                        <a:rPr sz="800" b="0">
                          <a:solidFill>
                            <a:srgbClr val="1A1A1A"/>
                          </a:solidFill>
                        </a:rPr>
                        <a:t>22</a:t>
                      </a:r>
                    </a:p>
                  </a:txBody>
                  <a:tcPr>
                    <a:noFill/>
                  </a:tcPr>
                </a:tc>
                <a:tc>
                  <a:txBody>
                    <a:bodyPr/>
                    <a:lstStyle/>
                    <a:p>
                      <a:pPr algn="ctr"/>
                      <a:r>
                        <a:rPr sz="800" b="0">
                          <a:solidFill>
                            <a:srgbClr val="1A1A1A"/>
                          </a:solidFill>
                        </a:rPr>
                        <a:t>17</a:t>
                      </a:r>
                    </a:p>
                  </a:txBody>
                  <a:tcPr>
                    <a:noFill/>
                  </a:tcPr>
                </a:tc>
                <a:tc>
                  <a:txBody>
                    <a:bodyPr/>
                    <a:lstStyle/>
                    <a:p>
                      <a:pPr algn="ctr"/>
                      <a:r>
                        <a:rPr sz="800" b="0">
                          <a:solidFill>
                            <a:srgbClr val="1A1A1A"/>
                          </a:solidFill>
                        </a:rPr>
                        <a:t>17</a:t>
                      </a:r>
                    </a:p>
                  </a:txBody>
                  <a:tcPr>
                    <a:noFill/>
                  </a:tcPr>
                </a:tc>
                <a:tc>
                  <a:txBody>
                    <a:bodyPr/>
                    <a:lstStyle/>
                    <a:p>
                      <a:pPr algn="ctr"/>
                      <a:r>
                        <a:rPr sz="800" b="0">
                          <a:solidFill>
                            <a:srgbClr val="B06000"/>
                          </a:solidFill>
                        </a:rPr>
                        <a:t>Neutre</a:t>
                      </a:r>
                    </a:p>
                  </a:txBody>
                  <a:tcPr>
                    <a:solidFill>
                      <a:srgbClr val="FDF3E5"/>
                    </a:solidFill>
                  </a:tcPr>
                </a:tc>
              </a:tr>
              <a:tr h="210000">
                <a:tc>
                  <a:txBody>
                    <a:bodyPr/>
                    <a:lstStyle/>
                    <a:p>
                      <a:pPr algn="ctr"/>
                      <a:r>
                        <a:rPr sz="800" b="0">
                          <a:solidFill>
                            <a:srgbClr val="1A1A1A"/>
                          </a:solidFill>
                        </a:rPr>
                        <a:t>Financial Services</a:t>
                      </a:r>
                    </a:p>
                  </a:txBody>
                  <a:tcPr>
                    <a:solidFill>
                      <a:srgbClr val="F5F7FA"/>
                    </a:solidFill>
                  </a:tcPr>
                </a:tc>
                <a:tc>
                  <a:txBody>
                    <a:bodyPr/>
                    <a:lstStyle/>
                    <a:p>
                      <a:pPr algn="ctr"/>
                      <a:r>
                        <a:rPr sz="800" b="0">
                          <a:solidFill>
                            <a:srgbClr val="1A1A1A"/>
                          </a:solidFill>
                        </a:rPr>
                        <a:t>55</a:t>
                      </a:r>
                    </a:p>
                  </a:txBody>
                  <a:tcPr>
                    <a:solidFill>
                      <a:srgbClr val="FDF3E5"/>
                    </a:solidFill>
                  </a:tcPr>
                </a:tc>
                <a:tc>
                  <a:txBody>
                    <a:bodyPr/>
                    <a:lstStyle/>
                    <a:p>
                      <a:pPr algn="ctr"/>
                      <a:r>
                        <a:rPr sz="800" b="0">
                          <a:solidFill>
                            <a:srgbClr val="1A1A1A"/>
                          </a:solidFill>
                        </a:rPr>
                        <a:t>22</a:t>
                      </a:r>
                    </a:p>
                  </a:txBody>
                  <a:tcPr>
                    <a:solidFill>
                      <a:srgbClr val="F5F7FA"/>
                    </a:solidFill>
                  </a:tcPr>
                </a:tc>
                <a:tc>
                  <a:txBody>
                    <a:bodyPr/>
                    <a:lstStyle/>
                    <a:p>
                      <a:pPr algn="ctr"/>
                      <a:r>
                        <a:rPr sz="800" b="0">
                          <a:solidFill>
                            <a:srgbClr val="1A1A1A"/>
                          </a:solidFill>
                        </a:rPr>
                        <a:t>16</a:t>
                      </a:r>
                    </a:p>
                  </a:txBody>
                  <a:tcPr>
                    <a:solidFill>
                      <a:srgbClr val="F5F7FA"/>
                    </a:solidFill>
                  </a:tcPr>
                </a:tc>
                <a:tc>
                  <a:txBody>
                    <a:bodyPr/>
                    <a:lstStyle/>
                    <a:p>
                      <a:pPr algn="ctr"/>
                      <a:r>
                        <a:rPr sz="800" b="0">
                          <a:solidFill>
                            <a:srgbClr val="1A1A1A"/>
                          </a:solidFill>
                        </a:rPr>
                        <a:t>16</a:t>
                      </a:r>
                    </a:p>
                  </a:txBody>
                  <a:tcPr>
                    <a:solidFill>
                      <a:srgbClr val="F5F7FA"/>
                    </a:solidFill>
                  </a:tcPr>
                </a:tc>
                <a:tc>
                  <a:txBody>
                    <a:bodyPr/>
                    <a:lstStyle/>
                    <a:p>
                      <a:pPr algn="ctr"/>
                      <a:r>
                        <a:rPr sz="800" b="0">
                          <a:solidFill>
                            <a:srgbClr val="B06000"/>
                          </a:solidFill>
                        </a:rPr>
                        <a:t>Neutre</a:t>
                      </a:r>
                    </a:p>
                  </a:txBody>
                  <a:tcPr>
                    <a:solidFill>
                      <a:srgbClr val="FDF3E5"/>
                    </a:solidFill>
                  </a:tcPr>
                </a:tc>
              </a:tr>
              <a:tr h="210000">
                <a:tc>
                  <a:txBody>
                    <a:bodyPr/>
                    <a:lstStyle/>
                    <a:p>
                      <a:pPr algn="ctr"/>
                      <a:r>
                        <a:rPr sz="800" b="0">
                          <a:solidFill>
                            <a:srgbClr val="1A1A1A"/>
                          </a:solidFill>
                        </a:rPr>
                        <a:t>Basic Materials</a:t>
                      </a:r>
                    </a:p>
                  </a:txBody>
                  <a:tcPr>
                    <a:noFill/>
                  </a:tcPr>
                </a:tc>
                <a:tc>
                  <a:txBody>
                    <a:bodyPr/>
                    <a:lstStyle/>
                    <a:p>
                      <a:pPr algn="ctr"/>
                      <a:r>
                        <a:rPr sz="800" b="0">
                          <a:solidFill>
                            <a:srgbClr val="1A1A1A"/>
                          </a:solidFill>
                        </a:rPr>
                        <a:t>53</a:t>
                      </a:r>
                    </a:p>
                  </a:txBody>
                  <a:tcPr>
                    <a:solidFill>
                      <a:srgbClr val="FDF3E5"/>
                    </a:solidFill>
                  </a:tcPr>
                </a:tc>
                <a:tc>
                  <a:txBody>
                    <a:bodyPr/>
                    <a:lstStyle/>
                    <a:p>
                      <a:pPr algn="ctr"/>
                      <a:r>
                        <a:rPr sz="800" b="0">
                          <a:solidFill>
                            <a:srgbClr val="1A1A1A"/>
                          </a:solidFill>
                        </a:rPr>
                        <a:t>21</a:t>
                      </a:r>
                    </a:p>
                  </a:txBody>
                  <a:tcPr>
                    <a:noFill/>
                  </a:tcPr>
                </a:tc>
                <a:tc>
                  <a:txBody>
                    <a:bodyPr/>
                    <a:lstStyle/>
                    <a:p>
                      <a:pPr algn="ctr"/>
                      <a:r>
                        <a:rPr sz="800" b="0">
                          <a:solidFill>
                            <a:srgbClr val="1A1A1A"/>
                          </a:solidFill>
                        </a:rPr>
                        <a:t>16</a:t>
                      </a:r>
                    </a:p>
                  </a:txBody>
                  <a:tcPr>
                    <a:noFill/>
                  </a:tcPr>
                </a:tc>
                <a:tc>
                  <a:txBody>
                    <a:bodyPr/>
                    <a:lstStyle/>
                    <a:p>
                      <a:pPr algn="ctr"/>
                      <a:r>
                        <a:rPr sz="800" b="0">
                          <a:solidFill>
                            <a:srgbClr val="1A1A1A"/>
                          </a:solidFill>
                        </a:rPr>
                        <a:t>16</a:t>
                      </a:r>
                    </a:p>
                  </a:txBody>
                  <a:tcPr>
                    <a:noFill/>
                  </a:tcPr>
                </a:tc>
                <a:tc>
                  <a:txBody>
                    <a:bodyPr/>
                    <a:lstStyle/>
                    <a:p>
                      <a:pPr algn="ctr"/>
                      <a:r>
                        <a:rPr sz="800" b="0">
                          <a:solidFill>
                            <a:srgbClr val="B06000"/>
                          </a:solidFill>
                        </a:rPr>
                        <a:t>Neutre</a:t>
                      </a:r>
                    </a:p>
                  </a:txBody>
                  <a:tcPr>
                    <a:solidFill>
                      <a:srgbClr val="FDF3E5"/>
                    </a:solidFill>
                  </a:tcPr>
                </a:tc>
              </a:tr>
              <a:tr h="210000">
                <a:tc>
                  <a:txBody>
                    <a:bodyPr/>
                    <a:lstStyle/>
                    <a:p>
                      <a:pPr algn="ctr"/>
                      <a:r>
                        <a:rPr sz="800" b="0">
                          <a:solidFill>
                            <a:srgbClr val="1A1A1A"/>
                          </a:solidFill>
                        </a:rPr>
                        <a:t>Industrials</a:t>
                      </a:r>
                    </a:p>
                  </a:txBody>
                  <a:tcPr>
                    <a:solidFill>
                      <a:srgbClr val="F5F7FA"/>
                    </a:solidFill>
                  </a:tcPr>
                </a:tc>
                <a:tc>
                  <a:txBody>
                    <a:bodyPr/>
                    <a:lstStyle/>
                    <a:p>
                      <a:pPr algn="ctr"/>
                      <a:r>
                        <a:rPr sz="800" b="0">
                          <a:solidFill>
                            <a:srgbClr val="1A1A1A"/>
                          </a:solidFill>
                        </a:rPr>
                        <a:t>53</a:t>
                      </a:r>
                    </a:p>
                  </a:txBody>
                  <a:tcPr>
                    <a:solidFill>
                      <a:srgbClr val="FDF3E5"/>
                    </a:solidFill>
                  </a:tcPr>
                </a:tc>
                <a:tc>
                  <a:txBody>
                    <a:bodyPr/>
                    <a:lstStyle/>
                    <a:p>
                      <a:pPr algn="ctr"/>
                      <a:r>
                        <a:rPr sz="800" b="0">
                          <a:solidFill>
                            <a:srgbClr val="1A1A1A"/>
                          </a:solidFill>
                        </a:rPr>
                        <a:t>21</a:t>
                      </a:r>
                    </a:p>
                  </a:txBody>
                  <a:tcPr>
                    <a:solidFill>
                      <a:srgbClr val="F5F7FA"/>
                    </a:solidFill>
                  </a:tcPr>
                </a:tc>
                <a:tc>
                  <a:txBody>
                    <a:bodyPr/>
                    <a:lstStyle/>
                    <a:p>
                      <a:pPr algn="ctr"/>
                      <a:r>
                        <a:rPr sz="800" b="0">
                          <a:solidFill>
                            <a:srgbClr val="1A1A1A"/>
                          </a:solidFill>
                        </a:rPr>
                        <a:t>16</a:t>
                      </a:r>
                    </a:p>
                  </a:txBody>
                  <a:tcPr>
                    <a:solidFill>
                      <a:srgbClr val="F5F7FA"/>
                    </a:solidFill>
                  </a:tcPr>
                </a:tc>
                <a:tc>
                  <a:txBody>
                    <a:bodyPr/>
                    <a:lstStyle/>
                    <a:p>
                      <a:pPr algn="ctr"/>
                      <a:r>
                        <a:rPr sz="800" b="0">
                          <a:solidFill>
                            <a:srgbClr val="1A1A1A"/>
                          </a:solidFill>
                        </a:rPr>
                        <a:t>16</a:t>
                      </a:r>
                    </a:p>
                  </a:txBody>
                  <a:tcPr>
                    <a:solidFill>
                      <a:srgbClr val="F5F7FA"/>
                    </a:solidFill>
                  </a:tcPr>
                </a:tc>
                <a:tc>
                  <a:txBody>
                    <a:bodyPr/>
                    <a:lstStyle/>
                    <a:p>
                      <a:pPr algn="ctr"/>
                      <a:r>
                        <a:rPr sz="800" b="0">
                          <a:solidFill>
                            <a:srgbClr val="B06000"/>
                          </a:solidFill>
                        </a:rPr>
                        <a:t>Neutre</a:t>
                      </a:r>
                    </a:p>
                  </a:txBody>
                  <a:tcPr>
                    <a:solidFill>
                      <a:srgbClr val="FDF3E5"/>
                    </a:solidFill>
                  </a:tcPr>
                </a:tc>
              </a:tr>
              <a:tr h="210000">
                <a:tc>
                  <a:txBody>
                    <a:bodyPr/>
                    <a:lstStyle/>
                    <a:p>
                      <a:pPr algn="ctr"/>
                      <a:r>
                        <a:rPr sz="800" b="0">
                          <a:solidFill>
                            <a:srgbClr val="1A1A1A"/>
                          </a:solidFill>
                        </a:rPr>
                        <a:t>Utilities</a:t>
                      </a:r>
                    </a:p>
                  </a:txBody>
                  <a:tcPr>
                    <a:noFill/>
                  </a:tcPr>
                </a:tc>
                <a:tc>
                  <a:txBody>
                    <a:bodyPr/>
                    <a:lstStyle/>
                    <a:p>
                      <a:pPr algn="ctr"/>
                      <a:r>
                        <a:rPr sz="800" b="0">
                          <a:solidFill>
                            <a:srgbClr val="1A1A1A"/>
                          </a:solidFill>
                        </a:rPr>
                        <a:t>46</a:t>
                      </a:r>
                    </a:p>
                  </a:txBody>
                  <a:tcPr>
                    <a:solidFill>
                      <a:srgbClr val="FDF3E5"/>
                    </a:solidFill>
                  </a:tcPr>
                </a:tc>
                <a:tc>
                  <a:txBody>
                    <a:bodyPr/>
                    <a:lstStyle/>
                    <a:p>
                      <a:pPr algn="ctr"/>
                      <a:r>
                        <a:rPr sz="800" b="0">
                          <a:solidFill>
                            <a:srgbClr val="1A1A1A"/>
                          </a:solidFill>
                        </a:rPr>
                        <a:t>18</a:t>
                      </a:r>
                    </a:p>
                  </a:txBody>
                  <a:tcPr>
                    <a:noFill/>
                  </a:tcPr>
                </a:tc>
                <a:tc>
                  <a:txBody>
                    <a:bodyPr/>
                    <a:lstStyle/>
                    <a:p>
                      <a:pPr algn="ctr"/>
                      <a:r>
                        <a:rPr sz="800" b="0">
                          <a:solidFill>
                            <a:srgbClr val="1A1A1A"/>
                          </a:solidFill>
                        </a:rPr>
                        <a:t>14</a:t>
                      </a:r>
                    </a:p>
                  </a:txBody>
                  <a:tcPr>
                    <a:noFill/>
                  </a:tcPr>
                </a:tc>
                <a:tc>
                  <a:txBody>
                    <a:bodyPr/>
                    <a:lstStyle/>
                    <a:p>
                      <a:pPr algn="ctr"/>
                      <a:r>
                        <a:rPr sz="800" b="0">
                          <a:solidFill>
                            <a:srgbClr val="1A1A1A"/>
                          </a:solidFill>
                        </a:rPr>
                        <a:t>14</a:t>
                      </a:r>
                    </a:p>
                  </a:txBody>
                  <a:tcPr>
                    <a:noFill/>
                  </a:tcPr>
                </a:tc>
                <a:tc>
                  <a:txBody>
                    <a:bodyPr/>
                    <a:lstStyle/>
                    <a:p>
                      <a:pPr algn="ctr"/>
                      <a:r>
                        <a:rPr sz="800" b="0">
                          <a:solidFill>
                            <a:srgbClr val="B06000"/>
                          </a:solidFill>
                        </a:rPr>
                        <a:t>Neutre</a:t>
                      </a:r>
                    </a:p>
                  </a:txBody>
                  <a:tcPr>
                    <a:solidFill>
                      <a:srgbClr val="FDF3E5"/>
                    </a:solidFill>
                  </a:tcPr>
                </a:tc>
              </a:tr>
              <a:tr h="210000">
                <a:tc>
                  <a:txBody>
                    <a:bodyPr/>
                    <a:lstStyle/>
                    <a:p>
                      <a:pPr algn="ctr"/>
                      <a:r>
                        <a:rPr sz="800" b="0">
                          <a:solidFill>
                            <a:srgbClr val="1A1A1A"/>
                          </a:solidFill>
                        </a:rPr>
                        <a:t>Consumer Cyclical</a:t>
                      </a:r>
                    </a:p>
                  </a:txBody>
                  <a:tcPr>
                    <a:solidFill>
                      <a:srgbClr val="F5F7FA"/>
                    </a:solidFill>
                  </a:tcPr>
                </a:tc>
                <a:tc>
                  <a:txBody>
                    <a:bodyPr/>
                    <a:lstStyle/>
                    <a:p>
                      <a:pPr algn="ctr"/>
                      <a:r>
                        <a:rPr sz="800" b="0">
                          <a:solidFill>
                            <a:srgbClr val="1A1A1A"/>
                          </a:solidFill>
                        </a:rPr>
                        <a:t>41</a:t>
                      </a:r>
                    </a:p>
                  </a:txBody>
                  <a:tcPr>
                    <a:solidFill>
                      <a:srgbClr val="FBEBEB"/>
                    </a:solidFill>
                  </a:tcPr>
                </a:tc>
                <a:tc>
                  <a:txBody>
                    <a:bodyPr/>
                    <a:lstStyle/>
                    <a:p>
                      <a:pPr algn="ctr"/>
                      <a:r>
                        <a:rPr sz="800" b="0">
                          <a:solidFill>
                            <a:srgbClr val="1A1A1A"/>
                          </a:solidFill>
                        </a:rPr>
                        <a:t>16</a:t>
                      </a:r>
                    </a:p>
                  </a:txBody>
                  <a:tcPr>
                    <a:solidFill>
                      <a:srgbClr val="F5F7FA"/>
                    </a:solidFill>
                  </a:tcPr>
                </a:tc>
                <a:tc>
                  <a:txBody>
                    <a:bodyPr/>
                    <a:lstStyle/>
                    <a:p>
                      <a:pPr algn="ctr"/>
                      <a:r>
                        <a:rPr sz="800" b="0">
                          <a:solidFill>
                            <a:srgbClr val="1A1A1A"/>
                          </a:solidFill>
                        </a:rPr>
                        <a:t>12</a:t>
                      </a:r>
                    </a:p>
                  </a:txBody>
                  <a:tcPr>
                    <a:solidFill>
                      <a:srgbClr val="F5F7FA"/>
                    </a:solidFill>
                  </a:tcPr>
                </a:tc>
                <a:tc>
                  <a:txBody>
                    <a:bodyPr/>
                    <a:lstStyle/>
                    <a:p>
                      <a:pPr algn="ctr"/>
                      <a:r>
                        <a:rPr sz="800" b="0">
                          <a:solidFill>
                            <a:srgbClr val="1A1A1A"/>
                          </a:solidFill>
                        </a:rPr>
                        <a:t>12</a:t>
                      </a:r>
                    </a:p>
                  </a:txBody>
                  <a:tcPr>
                    <a:solidFill>
                      <a:srgbClr val="F5F7FA"/>
                    </a:solidFill>
                  </a:tcPr>
                </a:tc>
                <a:tc>
                  <a:txBody>
                    <a:bodyPr/>
                    <a:lstStyle/>
                    <a:p>
                      <a:pPr algn="ctr"/>
                      <a:r>
                        <a:rPr sz="800" b="0">
                          <a:solidFill>
                            <a:srgbClr val="B06000"/>
                          </a:solidFill>
                        </a:rPr>
                        <a:t>Neutre</a:t>
                      </a:r>
                    </a:p>
                  </a:txBody>
                  <a:tcPr>
                    <a:solidFill>
                      <a:srgbClr val="FDF3E5"/>
                    </a:solidFill>
                  </a:tcPr>
                </a:tc>
              </a:tr>
              <a:tr h="210000">
                <a:tc>
                  <a:txBody>
                    <a:bodyPr/>
                    <a:lstStyle/>
                    <a:p>
                      <a:pPr algn="ctr"/>
                      <a:r>
                        <a:rPr sz="800" b="0">
                          <a:solidFill>
                            <a:srgbClr val="1A1A1A"/>
                          </a:solidFill>
                        </a:rPr>
                        <a:t>Comm. Services</a:t>
                      </a:r>
                    </a:p>
                  </a:txBody>
                  <a:tcPr>
                    <a:noFill/>
                  </a:tcPr>
                </a:tc>
                <a:tc>
                  <a:txBody>
                    <a:bodyPr/>
                    <a:lstStyle/>
                    <a:p>
                      <a:pPr algn="ctr"/>
                      <a:r>
                        <a:rPr sz="800" b="0">
                          <a:solidFill>
                            <a:srgbClr val="1A1A1A"/>
                          </a:solidFill>
                        </a:rPr>
                        <a:t>38</a:t>
                      </a:r>
                    </a:p>
                  </a:txBody>
                  <a:tcPr>
                    <a:solidFill>
                      <a:srgbClr val="FBEBEB"/>
                    </a:solidFill>
                  </a:tcPr>
                </a:tc>
                <a:tc>
                  <a:txBody>
                    <a:bodyPr/>
                    <a:lstStyle/>
                    <a:p>
                      <a:pPr algn="ctr"/>
                      <a:r>
                        <a:rPr sz="800" b="0">
                          <a:solidFill>
                            <a:srgbClr val="1A1A1A"/>
                          </a:solidFill>
                        </a:rPr>
                        <a:t>15</a:t>
                      </a:r>
                    </a:p>
                  </a:txBody>
                  <a:tcPr>
                    <a:noFill/>
                  </a:tcPr>
                </a:tc>
                <a:tc>
                  <a:txBody>
                    <a:bodyPr/>
                    <a:lstStyle/>
                    <a:p>
                      <a:pPr algn="ctr"/>
                      <a:r>
                        <a:rPr sz="800" b="0">
                          <a:solidFill>
                            <a:srgbClr val="1A1A1A"/>
                          </a:solidFill>
                        </a:rPr>
                        <a:t>11</a:t>
                      </a:r>
                    </a:p>
                  </a:txBody>
                  <a:tcPr>
                    <a:noFill/>
                  </a:tcPr>
                </a:tc>
                <a:tc>
                  <a:txBody>
                    <a:bodyPr/>
                    <a:lstStyle/>
                    <a:p>
                      <a:pPr algn="ctr"/>
                      <a:r>
                        <a:rPr sz="800" b="0">
                          <a:solidFill>
                            <a:srgbClr val="1A1A1A"/>
                          </a:solidFill>
                        </a:rPr>
                        <a:t>11</a:t>
                      </a:r>
                    </a:p>
                  </a:txBody>
                  <a:tcPr>
                    <a:noFill/>
                  </a:tcPr>
                </a:tc>
                <a:tc>
                  <a:txBody>
                    <a:bodyPr/>
                    <a:lstStyle/>
                    <a:p>
                      <a:pPr algn="ctr"/>
                      <a:r>
                        <a:rPr sz="800" b="0">
                          <a:solidFill>
                            <a:srgbClr val="A82020"/>
                          </a:solidFill>
                        </a:rPr>
                        <a:t>Sous-pondérer</a:t>
                      </a:r>
                    </a:p>
                  </a:txBody>
                  <a:tcPr>
                    <a:solidFill>
                      <a:srgbClr val="FBEBEB"/>
                    </a:solidFill>
                  </a:tcPr>
                </a:tc>
              </a:tr>
              <a:tr h="210000">
                <a:tc>
                  <a:txBody>
                    <a:bodyPr/>
                    <a:lstStyle/>
                    <a:p>
                      <a:pPr algn="ctr"/>
                      <a:r>
                        <a:rPr sz="800" b="0">
                          <a:solidFill>
                            <a:srgbClr val="1A1A1A"/>
                          </a:solidFill>
                        </a:rPr>
                        <a:t>Technology</a:t>
                      </a:r>
                    </a:p>
                  </a:txBody>
                  <a:tcPr>
                    <a:solidFill>
                      <a:srgbClr val="F5F7FA"/>
                    </a:solidFill>
                  </a:tcPr>
                </a:tc>
                <a:tc>
                  <a:txBody>
                    <a:bodyPr/>
                    <a:lstStyle/>
                    <a:p>
                      <a:pPr algn="ctr"/>
                      <a:r>
                        <a:rPr sz="800" b="0">
                          <a:solidFill>
                            <a:srgbClr val="1A1A1A"/>
                          </a:solidFill>
                        </a:rPr>
                        <a:t>36</a:t>
                      </a:r>
                    </a:p>
                  </a:txBody>
                  <a:tcPr>
                    <a:solidFill>
                      <a:srgbClr val="FBEBEB"/>
                    </a:solidFill>
                  </a:tcPr>
                </a:tc>
                <a:tc>
                  <a:txBody>
                    <a:bodyPr/>
                    <a:lstStyle/>
                    <a:p>
                      <a:pPr algn="ctr"/>
                      <a:r>
                        <a:rPr sz="800" b="0">
                          <a:solidFill>
                            <a:srgbClr val="1A1A1A"/>
                          </a:solidFill>
                        </a:rPr>
                        <a:t>14</a:t>
                      </a:r>
                    </a:p>
                  </a:txBody>
                  <a:tcPr>
                    <a:solidFill>
                      <a:srgbClr val="F5F7FA"/>
                    </a:solidFill>
                  </a:tcPr>
                </a:tc>
                <a:tc>
                  <a:txBody>
                    <a:bodyPr/>
                    <a:lstStyle/>
                    <a:p>
                      <a:pPr algn="ctr"/>
                      <a:r>
                        <a:rPr sz="800" b="0">
                          <a:solidFill>
                            <a:srgbClr val="1A1A1A"/>
                          </a:solidFill>
                        </a:rPr>
                        <a:t>11</a:t>
                      </a:r>
                    </a:p>
                  </a:txBody>
                  <a:tcPr>
                    <a:solidFill>
                      <a:srgbClr val="F5F7FA"/>
                    </a:solidFill>
                  </a:tcPr>
                </a:tc>
                <a:tc>
                  <a:txBody>
                    <a:bodyPr/>
                    <a:lstStyle/>
                    <a:p>
                      <a:pPr algn="ctr"/>
                      <a:r>
                        <a:rPr sz="800" b="0">
                          <a:solidFill>
                            <a:srgbClr val="1A1A1A"/>
                          </a:solidFill>
                        </a:rPr>
                        <a:t>11</a:t>
                      </a:r>
                    </a:p>
                  </a:txBody>
                  <a:tcPr>
                    <a:solidFill>
                      <a:srgbClr val="F5F7FA"/>
                    </a:solidFill>
                  </a:tcPr>
                </a:tc>
                <a:tc>
                  <a:txBody>
                    <a:bodyPr/>
                    <a:lstStyle/>
                    <a:p>
                      <a:pPr algn="ctr"/>
                      <a:r>
                        <a:rPr sz="800" b="0">
                          <a:solidFill>
                            <a:srgbClr val="A82020"/>
                          </a:solidFill>
                        </a:rPr>
                        <a:t>Sous-pondérer</a:t>
                      </a:r>
                    </a:p>
                  </a:txBody>
                  <a:tcPr>
                    <a:solidFill>
                      <a:srgbClr val="FBEBEB"/>
                    </a:solidFill>
                  </a:tcPr>
                </a:tc>
              </a:tr>
              <a:tr h="210000">
                <a:tc>
                  <a:txBody>
                    <a:bodyPr/>
                    <a:lstStyle/>
                    <a:p>
                      <a:pPr algn="ctr"/>
                      <a:r>
                        <a:rPr sz="800" b="0">
                          <a:solidFill>
                            <a:srgbClr val="1A1A1A"/>
                          </a:solidFill>
                        </a:rPr>
                        <a:t>Energy</a:t>
                      </a:r>
                    </a:p>
                  </a:txBody>
                  <a:tcPr>
                    <a:noFill/>
                  </a:tcPr>
                </a:tc>
                <a:tc>
                  <a:txBody>
                    <a:bodyPr/>
                    <a:lstStyle/>
                    <a:p>
                      <a:pPr algn="ctr"/>
                      <a:r>
                        <a:rPr sz="800" b="0">
                          <a:solidFill>
                            <a:srgbClr val="1A1A1A"/>
                          </a:solidFill>
                        </a:rPr>
                        <a:t>14</a:t>
                      </a:r>
                    </a:p>
                  </a:txBody>
                  <a:tcPr>
                    <a:solidFill>
                      <a:srgbClr val="FBEBEB"/>
                    </a:solidFill>
                  </a:tcPr>
                </a:tc>
                <a:tc>
                  <a:txBody>
                    <a:bodyPr/>
                    <a:lstStyle/>
                    <a:p>
                      <a:pPr algn="ctr"/>
                      <a:r>
                        <a:rPr sz="800" b="0">
                          <a:solidFill>
                            <a:srgbClr val="1A1A1A"/>
                          </a:solidFill>
                        </a:rPr>
                        <a:t>6</a:t>
                      </a:r>
                    </a:p>
                  </a:txBody>
                  <a:tcPr>
                    <a:noFill/>
                  </a:tcPr>
                </a:tc>
                <a:tc>
                  <a:txBody>
                    <a:bodyPr/>
                    <a:lstStyle/>
                    <a:p>
                      <a:pPr algn="ctr"/>
                      <a:r>
                        <a:rPr sz="800" b="0">
                          <a:solidFill>
                            <a:srgbClr val="1A1A1A"/>
                          </a:solidFill>
                        </a:rPr>
                        <a:t>4</a:t>
                      </a:r>
                    </a:p>
                  </a:txBody>
                  <a:tcPr>
                    <a:noFill/>
                  </a:tcPr>
                </a:tc>
                <a:tc>
                  <a:txBody>
                    <a:bodyPr/>
                    <a:lstStyle/>
                    <a:p>
                      <a:pPr algn="ctr"/>
                      <a:r>
                        <a:rPr sz="800" b="0">
                          <a:solidFill>
                            <a:srgbClr val="1A1A1A"/>
                          </a:solidFill>
                        </a:rPr>
                        <a:t>4</a:t>
                      </a:r>
                    </a:p>
                  </a:txBody>
                  <a:tcPr>
                    <a:noFill/>
                  </a:tcPr>
                </a:tc>
                <a:tc>
                  <a:txBody>
                    <a:bodyPr/>
                    <a:lstStyle/>
                    <a:p>
                      <a:pPr algn="ctr"/>
                      <a:r>
                        <a:rPr sz="800" b="0">
                          <a:solidFill>
                            <a:srgbClr val="A82020"/>
                          </a:solidFill>
                        </a:rPr>
                        <a:t>Sous-pondérer</a:t>
                      </a:r>
                    </a:p>
                  </a:txBody>
                  <a:tcPr>
                    <a:solidFill>
                      <a:srgbClr val="FBEBEB"/>
                    </a:solidFill>
                  </a:tcPr>
                </a:tc>
              </a:tr>
            </a:tbl>
          </a:graphicData>
        </a:graphic>
      </p:graphicFrame>
      <p:sp>
        <p:nvSpPr>
          <p:cNvPr id="16" name="TextBox 15"/>
          <p:cNvSpPr txBox="1"/>
          <p:nvPr/>
        </p:nvSpPr>
        <p:spPr>
          <a:xfrm>
            <a:off x="324000" y="3578399"/>
            <a:ext cx="8496000" cy="216000"/>
          </a:xfrm>
          <a:prstGeom prst="rect">
            <a:avLst/>
          </a:prstGeom>
          <a:noFill/>
        </p:spPr>
        <p:txBody>
          <a:bodyPr wrap="square">
            <a:spAutoFit/>
          </a:bodyPr>
          <a:lstStyle/>
          <a:p>
            <a:pPr algn="l"/>
            <a:r>
              <a:rPr sz="700" b="0" i="1">
                <a:solidFill>
                  <a:srgbClr val="AAAAAA"/>
                </a:solidFill>
              </a:rPr>
              <a:t>Lecture : Score &gt;= 65 = vert · 45-64 = neutre · &lt; 45 = rouge · Méthode : composite 40 % momentum + 30 % révisions BPA + 30 % valorisation relative</a:t>
            </a:r>
          </a:p>
        </p:txBody>
      </p:sp>
      <p:sp>
        <p:nvSpPr>
          <p:cNvPr id="17" name="Rectangle 16"/>
          <p:cNvSpPr/>
          <p:nvPr/>
        </p:nvSpPr>
        <p:spPr>
          <a:xfrm>
            <a:off x="324000" y="3780000"/>
            <a:ext cx="8496000" cy="1025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4000" y="3780000"/>
            <a:ext cx="43200" cy="1025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2000" y="3834000"/>
            <a:ext cx="8208000" cy="216000"/>
          </a:xfrm>
          <a:prstGeom prst="rect">
            <a:avLst/>
          </a:prstGeom>
          <a:noFill/>
        </p:spPr>
        <p:txBody>
          <a:bodyPr wrap="square">
            <a:spAutoFit/>
          </a:bodyPr>
          <a:lstStyle/>
          <a:p>
            <a:pPr algn="l"/>
            <a:r>
              <a:rPr sz="800" b="1" i="0">
                <a:solidFill>
                  <a:srgbClr val="1B3A6B"/>
                </a:solidFill>
              </a:rPr>
              <a:t>Analyse des scores — Points saillants</a:t>
            </a:r>
          </a:p>
        </p:txBody>
      </p:sp>
      <p:sp>
        <p:nvSpPr>
          <p:cNvPr id="20" name="TextBox 19"/>
          <p:cNvSpPr txBox="1"/>
          <p:nvPr/>
        </p:nvSpPr>
        <p:spPr>
          <a:xfrm>
            <a:off x="432000" y="4068000"/>
            <a:ext cx="8208000" cy="701999"/>
          </a:xfrm>
          <a:prstGeom prst="rect">
            <a:avLst/>
          </a:prstGeom>
          <a:noFill/>
        </p:spPr>
        <p:txBody>
          <a:bodyPr wrap="square">
            <a:spAutoFit/>
          </a:bodyPr>
          <a:lstStyle/>
          <a:p>
            <a:pPr algn="l"/>
            <a:r>
              <a:rPr sz="750" b="0" i="0">
                <a:solidFill>
                  <a:srgbClr val="555555"/>
                </a:solidFill>
              </a:rPr>
              <a:t>Healthcare domine avec le score le plus élevé. Le momentum (28 pts) constitue le premier signal de confirmation. Les secteurs en vert sur les 3 dimensions offrent le meilleur profil composite. Croiser avec la valorisation relative pour identifier les meilleures opportunités d'entrée.</a:t>
            </a:r>
          </a:p>
        </p:txBody>
      </p:sp>
      <p:sp>
        <p:nvSpPr>
          <p:cNvPr id="21" name="Rectangle 20"/>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03</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Top 3 Secteurs Recommandés</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Synthèse signal · Sociétés représentatives · Zone d'entrée · Distribution</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Top 3 Secteurs — Synthèse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Secteurs Surpondérer  ·  Signal · Score · EV/EBITDA · Sociétés représentatives · Catalyseur · Risque</a:t>
            </a:r>
          </a:p>
        </p:txBody>
      </p:sp>
      <p:sp>
        <p:nvSpPr>
          <p:cNvPr id="15" name="Rectangle 14"/>
          <p:cNvSpPr/>
          <p:nvPr/>
        </p:nvSpPr>
        <p:spPr>
          <a:xfrm>
            <a:off x="324000" y="827999"/>
            <a:ext cx="2700000" cy="39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27999"/>
            <a:ext cx="2700000" cy="28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846000"/>
            <a:ext cx="1800000" cy="251999"/>
          </a:xfrm>
          <a:prstGeom prst="rect">
            <a:avLst/>
          </a:prstGeom>
          <a:noFill/>
        </p:spPr>
        <p:txBody>
          <a:bodyPr wrap="square">
            <a:spAutoFit/>
          </a:bodyPr>
          <a:lstStyle/>
          <a:p>
            <a:pPr algn="l"/>
            <a:r>
              <a:rPr sz="1000" b="1" i="0">
                <a:solidFill>
                  <a:srgbClr val="FFFFFF"/>
                </a:solidFill>
              </a:rPr>
              <a:t>Healthcare</a:t>
            </a:r>
          </a:p>
        </p:txBody>
      </p:sp>
      <p:sp>
        <p:nvSpPr>
          <p:cNvPr id="18" name="Rectangle 17"/>
          <p:cNvSpPr/>
          <p:nvPr/>
        </p:nvSpPr>
        <p:spPr>
          <a:xfrm>
            <a:off x="2304000" y="846000"/>
            <a:ext cx="648000" cy="23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40000" y="864000"/>
            <a:ext cx="612000" cy="198000"/>
          </a:xfrm>
          <a:prstGeom prst="rect">
            <a:avLst/>
          </a:prstGeom>
          <a:noFill/>
        </p:spPr>
        <p:txBody>
          <a:bodyPr wrap="square">
            <a:spAutoFit/>
          </a:bodyPr>
          <a:lstStyle/>
          <a:p>
            <a:pPr algn="ctr"/>
            <a:r>
              <a:rPr sz="750" b="1" i="0">
                <a:solidFill>
                  <a:srgbClr val="FFFFFF"/>
                </a:solidFill>
              </a:rPr>
              <a:t>Surp.</a:t>
            </a:r>
          </a:p>
        </p:txBody>
      </p:sp>
      <p:sp>
        <p:nvSpPr>
          <p:cNvPr id="20" name="TextBox 19"/>
          <p:cNvSpPr txBox="1"/>
          <p:nvPr/>
        </p:nvSpPr>
        <p:spPr>
          <a:xfrm>
            <a:off x="396000" y="1170000"/>
            <a:ext cx="2592000" cy="180000"/>
          </a:xfrm>
          <a:prstGeom prst="rect">
            <a:avLst/>
          </a:prstGeom>
          <a:noFill/>
        </p:spPr>
        <p:txBody>
          <a:bodyPr wrap="square">
            <a:spAutoFit/>
          </a:bodyPr>
          <a:lstStyle/>
          <a:p>
            <a:pPr algn="l"/>
            <a:r>
              <a:rPr sz="750" b="0" i="0">
                <a:solidFill>
                  <a:srgbClr val="1B3A6B"/>
                </a:solidFill>
              </a:rPr>
              <a:t>Score : 69/100  ·  EV/EBITDA : —</a:t>
            </a:r>
          </a:p>
        </p:txBody>
      </p:sp>
      <p:sp>
        <p:nvSpPr>
          <p:cNvPr id="21" name="TextBox 20"/>
          <p:cNvSpPr txBox="1"/>
          <p:nvPr/>
        </p:nvSpPr>
        <p:spPr>
          <a:xfrm>
            <a:off x="396000" y="1386000"/>
            <a:ext cx="2592000" cy="162000"/>
          </a:xfrm>
          <a:prstGeom prst="rect">
            <a:avLst/>
          </a:prstGeom>
          <a:noFill/>
        </p:spPr>
        <p:txBody>
          <a:bodyPr wrap="square">
            <a:spAutoFit/>
          </a:bodyPr>
          <a:lstStyle/>
          <a:p>
            <a:pPr algn="l"/>
            <a:r>
              <a:rPr sz="750" b="1" i="0">
                <a:solidFill>
                  <a:srgbClr val="1B3A6B"/>
                </a:solidFill>
              </a:rPr>
              <a:t>Sociétés représentatives</a:t>
            </a:r>
          </a:p>
        </p:txBody>
      </p:sp>
      <p:sp>
        <p:nvSpPr>
          <p:cNvPr id="22" name="Rectangle 21"/>
          <p:cNvSpPr/>
          <p:nvPr/>
        </p:nvSpPr>
        <p:spPr>
          <a:xfrm>
            <a:off x="396000" y="15840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8000" y="1620000"/>
            <a:ext cx="576000" cy="198000"/>
          </a:xfrm>
          <a:prstGeom prst="rect">
            <a:avLst/>
          </a:prstGeom>
          <a:noFill/>
        </p:spPr>
        <p:txBody>
          <a:bodyPr wrap="square">
            <a:spAutoFit/>
          </a:bodyPr>
          <a:lstStyle/>
          <a:p>
            <a:pPr algn="l"/>
            <a:r>
              <a:rPr sz="800" b="1" i="0">
                <a:solidFill>
                  <a:srgbClr val="1B3A6B"/>
                </a:solidFill>
              </a:rPr>
              <a:t>SAN.PA</a:t>
            </a:r>
          </a:p>
        </p:txBody>
      </p:sp>
      <p:sp>
        <p:nvSpPr>
          <p:cNvPr id="24" name="TextBox 23"/>
          <p:cNvSpPr txBox="1"/>
          <p:nvPr/>
        </p:nvSpPr>
        <p:spPr>
          <a:xfrm>
            <a:off x="1044000" y="1620000"/>
            <a:ext cx="540000" cy="198000"/>
          </a:xfrm>
          <a:prstGeom prst="rect">
            <a:avLst/>
          </a:prstGeom>
          <a:noFill/>
        </p:spPr>
        <p:txBody>
          <a:bodyPr wrap="square">
            <a:spAutoFit/>
          </a:bodyPr>
          <a:lstStyle/>
          <a:p>
            <a:pPr algn="l"/>
            <a:r>
              <a:rPr sz="800" b="0" i="0">
                <a:solidFill>
                  <a:srgbClr val="1A7A4A"/>
                </a:solidFill>
              </a:rPr>
              <a:t>Surp.</a:t>
            </a:r>
          </a:p>
        </p:txBody>
      </p:sp>
      <p:sp>
        <p:nvSpPr>
          <p:cNvPr id="25" name="TextBox 24"/>
          <p:cNvSpPr txBox="1"/>
          <p:nvPr/>
        </p:nvSpPr>
        <p:spPr>
          <a:xfrm>
            <a:off x="1584000" y="1620000"/>
            <a:ext cx="540000" cy="198000"/>
          </a:xfrm>
          <a:prstGeom prst="rect">
            <a:avLst/>
          </a:prstGeom>
          <a:noFill/>
        </p:spPr>
        <p:txBody>
          <a:bodyPr wrap="square">
            <a:spAutoFit/>
          </a:bodyPr>
          <a:lstStyle/>
          <a:p>
            <a:pPr algn="l"/>
            <a:r>
              <a:rPr sz="800" b="0" i="0">
                <a:solidFill>
                  <a:srgbClr val="555555"/>
                </a:solidFill>
              </a:rPr>
              <a:t>—</a:t>
            </a:r>
          </a:p>
        </p:txBody>
      </p:sp>
      <p:sp>
        <p:nvSpPr>
          <p:cNvPr id="26" name="TextBox 25"/>
          <p:cNvSpPr txBox="1"/>
          <p:nvPr/>
        </p:nvSpPr>
        <p:spPr>
          <a:xfrm>
            <a:off x="2124000" y="1620000"/>
            <a:ext cx="540000" cy="198000"/>
          </a:xfrm>
          <a:prstGeom prst="rect">
            <a:avLst/>
          </a:prstGeom>
          <a:noFill/>
        </p:spPr>
        <p:txBody>
          <a:bodyPr wrap="square">
            <a:spAutoFit/>
          </a:bodyPr>
          <a:lstStyle/>
          <a:p>
            <a:pPr algn="l"/>
            <a:r>
              <a:rPr sz="800" b="0" i="0">
                <a:solidFill>
                  <a:srgbClr val="555555"/>
                </a:solidFill>
              </a:rPr>
              <a:t>73</a:t>
            </a:r>
          </a:p>
        </p:txBody>
      </p:sp>
      <p:sp>
        <p:nvSpPr>
          <p:cNvPr id="27" name="Rectangle 26"/>
          <p:cNvSpPr/>
          <p:nvPr/>
        </p:nvSpPr>
        <p:spPr>
          <a:xfrm>
            <a:off x="396000" y="18792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8000" y="1915200"/>
            <a:ext cx="576000" cy="198000"/>
          </a:xfrm>
          <a:prstGeom prst="rect">
            <a:avLst/>
          </a:prstGeom>
          <a:noFill/>
        </p:spPr>
        <p:txBody>
          <a:bodyPr wrap="square">
            <a:spAutoFit/>
          </a:bodyPr>
          <a:lstStyle/>
          <a:p>
            <a:pPr algn="l"/>
            <a:r>
              <a:rPr sz="800" b="1" i="0">
                <a:solidFill>
                  <a:srgbClr val="1B3A6B"/>
                </a:solidFill>
              </a:rPr>
              <a:t>ERF.PA</a:t>
            </a:r>
          </a:p>
        </p:txBody>
      </p:sp>
      <p:sp>
        <p:nvSpPr>
          <p:cNvPr id="29" name="TextBox 28"/>
          <p:cNvSpPr txBox="1"/>
          <p:nvPr/>
        </p:nvSpPr>
        <p:spPr>
          <a:xfrm>
            <a:off x="1044000" y="1915200"/>
            <a:ext cx="540000" cy="198000"/>
          </a:xfrm>
          <a:prstGeom prst="rect">
            <a:avLst/>
          </a:prstGeom>
          <a:noFill/>
        </p:spPr>
        <p:txBody>
          <a:bodyPr wrap="square">
            <a:spAutoFit/>
          </a:bodyPr>
          <a:lstStyle/>
          <a:p>
            <a:pPr algn="l"/>
            <a:r>
              <a:rPr sz="800" b="0" i="0">
                <a:solidFill>
                  <a:srgbClr val="1A7A4A"/>
                </a:solidFill>
              </a:rPr>
              <a:t>Surp.</a:t>
            </a:r>
          </a:p>
        </p:txBody>
      </p:sp>
      <p:sp>
        <p:nvSpPr>
          <p:cNvPr id="30" name="TextBox 29"/>
          <p:cNvSpPr txBox="1"/>
          <p:nvPr/>
        </p:nvSpPr>
        <p:spPr>
          <a:xfrm>
            <a:off x="1584000" y="1915200"/>
            <a:ext cx="540000" cy="198000"/>
          </a:xfrm>
          <a:prstGeom prst="rect">
            <a:avLst/>
          </a:prstGeom>
          <a:noFill/>
        </p:spPr>
        <p:txBody>
          <a:bodyPr wrap="square">
            <a:spAutoFit/>
          </a:bodyPr>
          <a:lstStyle/>
          <a:p>
            <a:pPr algn="l"/>
            <a:r>
              <a:rPr sz="800" b="0" i="0">
                <a:solidFill>
                  <a:srgbClr val="555555"/>
                </a:solidFill>
              </a:rPr>
              <a:t>—</a:t>
            </a:r>
          </a:p>
        </p:txBody>
      </p:sp>
      <p:sp>
        <p:nvSpPr>
          <p:cNvPr id="31" name="TextBox 30"/>
          <p:cNvSpPr txBox="1"/>
          <p:nvPr/>
        </p:nvSpPr>
        <p:spPr>
          <a:xfrm>
            <a:off x="2124000" y="1915200"/>
            <a:ext cx="540000" cy="198000"/>
          </a:xfrm>
          <a:prstGeom prst="rect">
            <a:avLst/>
          </a:prstGeom>
          <a:noFill/>
        </p:spPr>
        <p:txBody>
          <a:bodyPr wrap="square">
            <a:spAutoFit/>
          </a:bodyPr>
          <a:lstStyle/>
          <a:p>
            <a:pPr algn="l"/>
            <a:r>
              <a:rPr sz="800" b="0" i="0">
                <a:solidFill>
                  <a:srgbClr val="555555"/>
                </a:solidFill>
              </a:rPr>
              <a:t>72</a:t>
            </a:r>
          </a:p>
        </p:txBody>
      </p:sp>
      <p:sp>
        <p:nvSpPr>
          <p:cNvPr id="32" name="Rectangle 31"/>
          <p:cNvSpPr/>
          <p:nvPr/>
        </p:nvSpPr>
        <p:spPr>
          <a:xfrm>
            <a:off x="396000" y="21744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8000" y="2210400"/>
            <a:ext cx="576000" cy="198000"/>
          </a:xfrm>
          <a:prstGeom prst="rect">
            <a:avLst/>
          </a:prstGeom>
          <a:noFill/>
        </p:spPr>
        <p:txBody>
          <a:bodyPr wrap="square">
            <a:spAutoFit/>
          </a:bodyPr>
          <a:lstStyle/>
          <a:p>
            <a:pPr algn="l"/>
            <a:r>
              <a:rPr sz="800" b="1" i="0">
                <a:solidFill>
                  <a:srgbClr val="1B3A6B"/>
                </a:solidFill>
              </a:rPr>
              <a:t>EL.PA</a:t>
            </a:r>
          </a:p>
        </p:txBody>
      </p:sp>
      <p:sp>
        <p:nvSpPr>
          <p:cNvPr id="34" name="TextBox 33"/>
          <p:cNvSpPr txBox="1"/>
          <p:nvPr/>
        </p:nvSpPr>
        <p:spPr>
          <a:xfrm>
            <a:off x="1044000" y="2210400"/>
            <a:ext cx="540000" cy="198000"/>
          </a:xfrm>
          <a:prstGeom prst="rect">
            <a:avLst/>
          </a:prstGeom>
          <a:noFill/>
        </p:spPr>
        <p:txBody>
          <a:bodyPr wrap="square">
            <a:spAutoFit/>
          </a:bodyPr>
          <a:lstStyle/>
          <a:p>
            <a:pPr algn="l"/>
            <a:r>
              <a:rPr sz="800" b="0" i="0">
                <a:solidFill>
                  <a:srgbClr val="1A7A4A"/>
                </a:solidFill>
              </a:rPr>
              <a:t>Surp.</a:t>
            </a:r>
          </a:p>
        </p:txBody>
      </p:sp>
      <p:sp>
        <p:nvSpPr>
          <p:cNvPr id="35" name="TextBox 34"/>
          <p:cNvSpPr txBox="1"/>
          <p:nvPr/>
        </p:nvSpPr>
        <p:spPr>
          <a:xfrm>
            <a:off x="1584000" y="2210400"/>
            <a:ext cx="540000" cy="198000"/>
          </a:xfrm>
          <a:prstGeom prst="rect">
            <a:avLst/>
          </a:prstGeom>
          <a:noFill/>
        </p:spPr>
        <p:txBody>
          <a:bodyPr wrap="square">
            <a:spAutoFit/>
          </a:bodyPr>
          <a:lstStyle/>
          <a:p>
            <a:pPr algn="l"/>
            <a:r>
              <a:rPr sz="800" b="0" i="0">
                <a:solidFill>
                  <a:srgbClr val="555555"/>
                </a:solidFill>
              </a:rPr>
              <a:t>—</a:t>
            </a:r>
          </a:p>
        </p:txBody>
      </p:sp>
      <p:sp>
        <p:nvSpPr>
          <p:cNvPr id="36" name="TextBox 35"/>
          <p:cNvSpPr txBox="1"/>
          <p:nvPr/>
        </p:nvSpPr>
        <p:spPr>
          <a:xfrm>
            <a:off x="2124000" y="2210400"/>
            <a:ext cx="540000" cy="198000"/>
          </a:xfrm>
          <a:prstGeom prst="rect">
            <a:avLst/>
          </a:prstGeom>
          <a:noFill/>
        </p:spPr>
        <p:txBody>
          <a:bodyPr wrap="square">
            <a:spAutoFit/>
          </a:bodyPr>
          <a:lstStyle/>
          <a:p>
            <a:pPr algn="l"/>
            <a:r>
              <a:rPr sz="800" b="0" i="0">
                <a:solidFill>
                  <a:srgbClr val="555555"/>
                </a:solidFill>
              </a:rPr>
              <a:t>62</a:t>
            </a:r>
          </a:p>
        </p:txBody>
      </p:sp>
      <p:sp>
        <p:nvSpPr>
          <p:cNvPr id="37" name="TextBox 36"/>
          <p:cNvSpPr txBox="1"/>
          <p:nvPr/>
        </p:nvSpPr>
        <p:spPr>
          <a:xfrm>
            <a:off x="396000" y="2484000"/>
            <a:ext cx="2592000" cy="162000"/>
          </a:xfrm>
          <a:prstGeom prst="rect">
            <a:avLst/>
          </a:prstGeom>
          <a:noFill/>
        </p:spPr>
        <p:txBody>
          <a:bodyPr wrap="square">
            <a:spAutoFit/>
          </a:bodyPr>
          <a:lstStyle/>
          <a:p>
            <a:pPr algn="l"/>
            <a:r>
              <a:rPr sz="750" b="1" i="0">
                <a:solidFill>
                  <a:srgbClr val="1B3A6B"/>
                </a:solidFill>
              </a:rPr>
              <a:t>Catalyseur</a:t>
            </a:r>
          </a:p>
        </p:txBody>
      </p:sp>
      <p:sp>
        <p:nvSpPr>
          <p:cNvPr id="38" name="Rectangle 37"/>
          <p:cNvSpPr/>
          <p:nvPr/>
        </p:nvSpPr>
        <p:spPr>
          <a:xfrm>
            <a:off x="396000" y="2664000"/>
            <a:ext cx="2592000" cy="72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8000" y="2700000"/>
            <a:ext cx="2484000" cy="666000"/>
          </a:xfrm>
          <a:prstGeom prst="rect">
            <a:avLst/>
          </a:prstGeom>
          <a:noFill/>
        </p:spPr>
        <p:txBody>
          <a:bodyPr wrap="square">
            <a:spAutoFit/>
          </a:bodyPr>
          <a:lstStyle/>
          <a:p>
            <a:pPr algn="l"/>
            <a:r>
              <a:rPr sz="750" b="0" i="0">
                <a:solidFill>
                  <a:srgbClr val="555555"/>
                </a:solidFill>
              </a:rPr>
              <a:t>Score 69/100 · momentum +0.0% · EV/EBITDA — · Mg.EBITDA 23.2%</a:t>
            </a:r>
          </a:p>
        </p:txBody>
      </p:sp>
      <p:sp>
        <p:nvSpPr>
          <p:cNvPr id="40" name="TextBox 39"/>
          <p:cNvSpPr txBox="1"/>
          <p:nvPr/>
        </p:nvSpPr>
        <p:spPr>
          <a:xfrm>
            <a:off x="396000" y="3438000"/>
            <a:ext cx="2592000" cy="162000"/>
          </a:xfrm>
          <a:prstGeom prst="rect">
            <a:avLst/>
          </a:prstGeom>
          <a:noFill/>
        </p:spPr>
        <p:txBody>
          <a:bodyPr wrap="square">
            <a:spAutoFit/>
          </a:bodyPr>
          <a:lstStyle/>
          <a:p>
            <a:pPr algn="l"/>
            <a:r>
              <a:rPr sz="750" b="1" i="0">
                <a:solidFill>
                  <a:srgbClr val="1B3A6B"/>
                </a:solidFill>
              </a:rPr>
              <a:t>Risque principal</a:t>
            </a:r>
          </a:p>
        </p:txBody>
      </p:sp>
      <p:sp>
        <p:nvSpPr>
          <p:cNvPr id="41" name="Rectangle 40"/>
          <p:cNvSpPr/>
          <p:nvPr/>
        </p:nvSpPr>
        <p:spPr>
          <a:xfrm>
            <a:off x="396000" y="3618000"/>
            <a:ext cx="2592000" cy="72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68000" y="3654000"/>
            <a:ext cx="2484000" cy="666000"/>
          </a:xfrm>
          <a:prstGeom prst="rect">
            <a:avLst/>
          </a:prstGeom>
          <a:noFill/>
        </p:spPr>
        <p:txBody>
          <a:bodyPr wrap="square">
            <a:spAutoFit/>
          </a:bodyPr>
          <a:lstStyle/>
          <a:p>
            <a:pPr algn="l"/>
            <a:r>
              <a:rPr sz="750" b="0" i="0">
                <a:solidFill>
                  <a:srgbClr val="555555"/>
                </a:solidFill>
              </a:rPr>
              <a:t>Croiss. revenus +5.5% sur LTM — compression multiple si cycle se retourne</a:t>
            </a:r>
          </a:p>
        </p:txBody>
      </p:sp>
      <p:sp>
        <p:nvSpPr>
          <p:cNvPr id="43" name="Rectangle 42"/>
          <p:cNvSpPr/>
          <p:nvPr/>
        </p:nvSpPr>
        <p:spPr>
          <a:xfrm>
            <a:off x="3150000" y="827999"/>
            <a:ext cx="2700000" cy="39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150000" y="827999"/>
            <a:ext cx="2700000" cy="28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21999" y="846000"/>
            <a:ext cx="1800000" cy="251999"/>
          </a:xfrm>
          <a:prstGeom prst="rect">
            <a:avLst/>
          </a:prstGeom>
          <a:noFill/>
        </p:spPr>
        <p:txBody>
          <a:bodyPr wrap="square">
            <a:spAutoFit/>
          </a:bodyPr>
          <a:lstStyle/>
          <a:p>
            <a:pPr algn="l"/>
            <a:r>
              <a:rPr sz="1000" b="1" i="0">
                <a:solidFill>
                  <a:srgbClr val="FFFFFF"/>
                </a:solidFill>
              </a:rPr>
              <a:t>Real Estate</a:t>
            </a:r>
          </a:p>
        </p:txBody>
      </p:sp>
      <p:sp>
        <p:nvSpPr>
          <p:cNvPr id="46" name="Rectangle 45"/>
          <p:cNvSpPr/>
          <p:nvPr/>
        </p:nvSpPr>
        <p:spPr>
          <a:xfrm>
            <a:off x="5130000" y="846000"/>
            <a:ext cx="648000" cy="23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166000" y="864000"/>
            <a:ext cx="612000" cy="198000"/>
          </a:xfrm>
          <a:prstGeom prst="rect">
            <a:avLst/>
          </a:prstGeom>
          <a:noFill/>
        </p:spPr>
        <p:txBody>
          <a:bodyPr wrap="square">
            <a:spAutoFit/>
          </a:bodyPr>
          <a:lstStyle/>
          <a:p>
            <a:pPr algn="ctr"/>
            <a:r>
              <a:rPr sz="750" b="1" i="0">
                <a:solidFill>
                  <a:srgbClr val="FFFFFF"/>
                </a:solidFill>
              </a:rPr>
              <a:t>Surp.</a:t>
            </a:r>
          </a:p>
        </p:txBody>
      </p:sp>
      <p:sp>
        <p:nvSpPr>
          <p:cNvPr id="48" name="TextBox 47"/>
          <p:cNvSpPr txBox="1"/>
          <p:nvPr/>
        </p:nvSpPr>
        <p:spPr>
          <a:xfrm>
            <a:off x="3221999" y="1170000"/>
            <a:ext cx="2592000" cy="180000"/>
          </a:xfrm>
          <a:prstGeom prst="rect">
            <a:avLst/>
          </a:prstGeom>
          <a:noFill/>
        </p:spPr>
        <p:txBody>
          <a:bodyPr wrap="square">
            <a:spAutoFit/>
          </a:bodyPr>
          <a:lstStyle/>
          <a:p>
            <a:pPr algn="l"/>
            <a:r>
              <a:rPr sz="750" b="0" i="0">
                <a:solidFill>
                  <a:srgbClr val="1B3A6B"/>
                </a:solidFill>
              </a:rPr>
              <a:t>Score : 68/100  ·  EV/EBITDA : —</a:t>
            </a:r>
          </a:p>
        </p:txBody>
      </p:sp>
      <p:sp>
        <p:nvSpPr>
          <p:cNvPr id="49" name="TextBox 48"/>
          <p:cNvSpPr txBox="1"/>
          <p:nvPr/>
        </p:nvSpPr>
        <p:spPr>
          <a:xfrm>
            <a:off x="3221999" y="1386000"/>
            <a:ext cx="2592000" cy="162000"/>
          </a:xfrm>
          <a:prstGeom prst="rect">
            <a:avLst/>
          </a:prstGeom>
          <a:noFill/>
        </p:spPr>
        <p:txBody>
          <a:bodyPr wrap="square">
            <a:spAutoFit/>
          </a:bodyPr>
          <a:lstStyle/>
          <a:p>
            <a:pPr algn="l"/>
            <a:r>
              <a:rPr sz="750" b="1" i="0">
                <a:solidFill>
                  <a:srgbClr val="1B3A6B"/>
                </a:solidFill>
              </a:rPr>
              <a:t>Sociétés représentatives</a:t>
            </a:r>
          </a:p>
        </p:txBody>
      </p:sp>
      <p:sp>
        <p:nvSpPr>
          <p:cNvPr id="50" name="Rectangle 49"/>
          <p:cNvSpPr/>
          <p:nvPr/>
        </p:nvSpPr>
        <p:spPr>
          <a:xfrm>
            <a:off x="3221999" y="15840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294000" y="1620000"/>
            <a:ext cx="576000" cy="198000"/>
          </a:xfrm>
          <a:prstGeom prst="rect">
            <a:avLst/>
          </a:prstGeom>
          <a:noFill/>
        </p:spPr>
        <p:txBody>
          <a:bodyPr wrap="square">
            <a:spAutoFit/>
          </a:bodyPr>
          <a:lstStyle/>
          <a:p>
            <a:pPr algn="l"/>
            <a:r>
              <a:rPr sz="800" b="1" i="0">
                <a:solidFill>
                  <a:srgbClr val="1B3A6B"/>
                </a:solidFill>
              </a:rPr>
              <a:t>URW.PA</a:t>
            </a:r>
          </a:p>
        </p:txBody>
      </p:sp>
      <p:sp>
        <p:nvSpPr>
          <p:cNvPr id="52" name="TextBox 51"/>
          <p:cNvSpPr txBox="1"/>
          <p:nvPr/>
        </p:nvSpPr>
        <p:spPr>
          <a:xfrm>
            <a:off x="3870000" y="1620000"/>
            <a:ext cx="540000" cy="198000"/>
          </a:xfrm>
          <a:prstGeom prst="rect">
            <a:avLst/>
          </a:prstGeom>
          <a:noFill/>
        </p:spPr>
        <p:txBody>
          <a:bodyPr wrap="square">
            <a:spAutoFit/>
          </a:bodyPr>
          <a:lstStyle/>
          <a:p>
            <a:pPr algn="l"/>
            <a:r>
              <a:rPr sz="800" b="0" i="0">
                <a:solidFill>
                  <a:srgbClr val="1A7A4A"/>
                </a:solidFill>
              </a:rPr>
              <a:t>Surp.</a:t>
            </a:r>
          </a:p>
        </p:txBody>
      </p:sp>
      <p:sp>
        <p:nvSpPr>
          <p:cNvPr id="53" name="TextBox 52"/>
          <p:cNvSpPr txBox="1"/>
          <p:nvPr/>
        </p:nvSpPr>
        <p:spPr>
          <a:xfrm>
            <a:off x="4410000" y="1620000"/>
            <a:ext cx="540000" cy="198000"/>
          </a:xfrm>
          <a:prstGeom prst="rect">
            <a:avLst/>
          </a:prstGeom>
          <a:noFill/>
        </p:spPr>
        <p:txBody>
          <a:bodyPr wrap="square">
            <a:spAutoFit/>
          </a:bodyPr>
          <a:lstStyle/>
          <a:p>
            <a:pPr algn="l"/>
            <a:r>
              <a:rPr sz="800" b="0" i="0">
                <a:solidFill>
                  <a:srgbClr val="555555"/>
                </a:solidFill>
              </a:rPr>
              <a:t>—</a:t>
            </a:r>
          </a:p>
        </p:txBody>
      </p:sp>
      <p:sp>
        <p:nvSpPr>
          <p:cNvPr id="54" name="TextBox 53"/>
          <p:cNvSpPr txBox="1"/>
          <p:nvPr/>
        </p:nvSpPr>
        <p:spPr>
          <a:xfrm>
            <a:off x="4950000" y="1620000"/>
            <a:ext cx="540000" cy="198000"/>
          </a:xfrm>
          <a:prstGeom prst="rect">
            <a:avLst/>
          </a:prstGeom>
          <a:noFill/>
        </p:spPr>
        <p:txBody>
          <a:bodyPr wrap="square">
            <a:spAutoFit/>
          </a:bodyPr>
          <a:lstStyle/>
          <a:p>
            <a:pPr algn="l"/>
            <a:r>
              <a:rPr sz="800" b="0" i="0">
                <a:solidFill>
                  <a:srgbClr val="555555"/>
                </a:solidFill>
              </a:rPr>
              <a:t>68</a:t>
            </a:r>
          </a:p>
        </p:txBody>
      </p:sp>
      <p:sp>
        <p:nvSpPr>
          <p:cNvPr id="55" name="TextBox 54"/>
          <p:cNvSpPr txBox="1"/>
          <p:nvPr/>
        </p:nvSpPr>
        <p:spPr>
          <a:xfrm>
            <a:off x="3221999" y="2484000"/>
            <a:ext cx="2592000" cy="162000"/>
          </a:xfrm>
          <a:prstGeom prst="rect">
            <a:avLst/>
          </a:prstGeom>
          <a:noFill/>
        </p:spPr>
        <p:txBody>
          <a:bodyPr wrap="square">
            <a:spAutoFit/>
          </a:bodyPr>
          <a:lstStyle/>
          <a:p>
            <a:pPr algn="l"/>
            <a:r>
              <a:rPr sz="750" b="1" i="0">
                <a:solidFill>
                  <a:srgbClr val="1B3A6B"/>
                </a:solidFill>
              </a:rPr>
              <a:t>Catalyseur</a:t>
            </a:r>
          </a:p>
        </p:txBody>
      </p:sp>
      <p:sp>
        <p:nvSpPr>
          <p:cNvPr id="56" name="Rectangle 55"/>
          <p:cNvSpPr/>
          <p:nvPr/>
        </p:nvSpPr>
        <p:spPr>
          <a:xfrm>
            <a:off x="3221999" y="2664000"/>
            <a:ext cx="2592000" cy="72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294000" y="2700000"/>
            <a:ext cx="2484000" cy="666000"/>
          </a:xfrm>
          <a:prstGeom prst="rect">
            <a:avLst/>
          </a:prstGeom>
          <a:noFill/>
        </p:spPr>
        <p:txBody>
          <a:bodyPr wrap="square">
            <a:spAutoFit/>
          </a:bodyPr>
          <a:lstStyle/>
          <a:p>
            <a:pPr algn="l"/>
            <a:r>
              <a:rPr sz="750" b="0" i="0">
                <a:solidFill>
                  <a:srgbClr val="555555"/>
                </a:solidFill>
              </a:rPr>
              <a:t>Score 68/100 · momentum +0.0% · EV/EBITDA — · Mg.EBITDA 89.1%</a:t>
            </a:r>
          </a:p>
        </p:txBody>
      </p:sp>
      <p:sp>
        <p:nvSpPr>
          <p:cNvPr id="58" name="TextBox 57"/>
          <p:cNvSpPr txBox="1"/>
          <p:nvPr/>
        </p:nvSpPr>
        <p:spPr>
          <a:xfrm>
            <a:off x="3221999" y="3438000"/>
            <a:ext cx="2592000" cy="162000"/>
          </a:xfrm>
          <a:prstGeom prst="rect">
            <a:avLst/>
          </a:prstGeom>
          <a:noFill/>
        </p:spPr>
        <p:txBody>
          <a:bodyPr wrap="square">
            <a:spAutoFit/>
          </a:bodyPr>
          <a:lstStyle/>
          <a:p>
            <a:pPr algn="l"/>
            <a:r>
              <a:rPr sz="750" b="1" i="0">
                <a:solidFill>
                  <a:srgbClr val="1B3A6B"/>
                </a:solidFill>
              </a:rPr>
              <a:t>Risque principal</a:t>
            </a:r>
          </a:p>
        </p:txBody>
      </p:sp>
      <p:sp>
        <p:nvSpPr>
          <p:cNvPr id="59" name="Rectangle 58"/>
          <p:cNvSpPr/>
          <p:nvPr/>
        </p:nvSpPr>
        <p:spPr>
          <a:xfrm>
            <a:off x="3221999" y="3618000"/>
            <a:ext cx="2592000" cy="72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294000" y="3654000"/>
            <a:ext cx="2484000" cy="666000"/>
          </a:xfrm>
          <a:prstGeom prst="rect">
            <a:avLst/>
          </a:prstGeom>
          <a:noFill/>
        </p:spPr>
        <p:txBody>
          <a:bodyPr wrap="square">
            <a:spAutoFit/>
          </a:bodyPr>
          <a:lstStyle/>
          <a:p>
            <a:pPr algn="l"/>
            <a:r>
              <a:rPr sz="750" b="0" i="0">
                <a:solidFill>
                  <a:srgbClr val="555555"/>
                </a:solidFill>
              </a:rPr>
              <a:t>Croiss. revenus -6.1% sur LTM — sensibilite taux moderee</a:t>
            </a:r>
          </a:p>
        </p:txBody>
      </p:sp>
      <p:sp>
        <p:nvSpPr>
          <p:cNvPr id="61" name="Rectangle 60"/>
          <p:cNvSpPr/>
          <p:nvPr/>
        </p:nvSpPr>
        <p:spPr>
          <a:xfrm>
            <a:off x="5975999" y="827999"/>
            <a:ext cx="2700000" cy="39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5975999" y="827999"/>
            <a:ext cx="2700000" cy="28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047999" y="846000"/>
            <a:ext cx="1800000" cy="251999"/>
          </a:xfrm>
          <a:prstGeom prst="rect">
            <a:avLst/>
          </a:prstGeom>
          <a:noFill/>
        </p:spPr>
        <p:txBody>
          <a:bodyPr wrap="square">
            <a:spAutoFit/>
          </a:bodyPr>
          <a:lstStyle/>
          <a:p>
            <a:pPr algn="l"/>
            <a:r>
              <a:rPr sz="1000" b="1" i="0">
                <a:solidFill>
                  <a:srgbClr val="FFFFFF"/>
                </a:solidFill>
              </a:rPr>
              <a:t>Consumer Defensive</a:t>
            </a:r>
          </a:p>
        </p:txBody>
      </p:sp>
      <p:sp>
        <p:nvSpPr>
          <p:cNvPr id="64" name="Rectangle 63"/>
          <p:cNvSpPr/>
          <p:nvPr/>
        </p:nvSpPr>
        <p:spPr>
          <a:xfrm>
            <a:off x="7955999" y="846000"/>
            <a:ext cx="648000" cy="234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992000" y="864000"/>
            <a:ext cx="612000" cy="198000"/>
          </a:xfrm>
          <a:prstGeom prst="rect">
            <a:avLst/>
          </a:prstGeom>
          <a:noFill/>
        </p:spPr>
        <p:txBody>
          <a:bodyPr wrap="square">
            <a:spAutoFit/>
          </a:bodyPr>
          <a:lstStyle/>
          <a:p>
            <a:pPr algn="ctr"/>
            <a:r>
              <a:rPr sz="750" b="1" i="0">
                <a:solidFill>
                  <a:srgbClr val="FFFFFF"/>
                </a:solidFill>
              </a:rPr>
              <a:t>Neutre</a:t>
            </a:r>
          </a:p>
        </p:txBody>
      </p:sp>
      <p:sp>
        <p:nvSpPr>
          <p:cNvPr id="66" name="TextBox 65"/>
          <p:cNvSpPr txBox="1"/>
          <p:nvPr/>
        </p:nvSpPr>
        <p:spPr>
          <a:xfrm>
            <a:off x="6047999" y="1170000"/>
            <a:ext cx="2592000" cy="180000"/>
          </a:xfrm>
          <a:prstGeom prst="rect">
            <a:avLst/>
          </a:prstGeom>
          <a:noFill/>
        </p:spPr>
        <p:txBody>
          <a:bodyPr wrap="square">
            <a:spAutoFit/>
          </a:bodyPr>
          <a:lstStyle/>
          <a:p>
            <a:pPr algn="l"/>
            <a:r>
              <a:rPr sz="750" b="0" i="0">
                <a:solidFill>
                  <a:srgbClr val="1B3A6B"/>
                </a:solidFill>
              </a:rPr>
              <a:t>Score : 56/100  ·  EV/EBITDA : —</a:t>
            </a:r>
          </a:p>
        </p:txBody>
      </p:sp>
      <p:sp>
        <p:nvSpPr>
          <p:cNvPr id="67" name="TextBox 66"/>
          <p:cNvSpPr txBox="1"/>
          <p:nvPr/>
        </p:nvSpPr>
        <p:spPr>
          <a:xfrm>
            <a:off x="6047999" y="1386000"/>
            <a:ext cx="2592000" cy="162000"/>
          </a:xfrm>
          <a:prstGeom prst="rect">
            <a:avLst/>
          </a:prstGeom>
          <a:noFill/>
        </p:spPr>
        <p:txBody>
          <a:bodyPr wrap="square">
            <a:spAutoFit/>
          </a:bodyPr>
          <a:lstStyle/>
          <a:p>
            <a:pPr algn="l"/>
            <a:r>
              <a:rPr sz="750" b="1" i="0">
                <a:solidFill>
                  <a:srgbClr val="1B3A6B"/>
                </a:solidFill>
              </a:rPr>
              <a:t>Sociétés représentatives</a:t>
            </a:r>
          </a:p>
        </p:txBody>
      </p:sp>
      <p:sp>
        <p:nvSpPr>
          <p:cNvPr id="68" name="Rectangle 67"/>
          <p:cNvSpPr/>
          <p:nvPr/>
        </p:nvSpPr>
        <p:spPr>
          <a:xfrm>
            <a:off x="6047999" y="15840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119999" y="1620000"/>
            <a:ext cx="576000" cy="198000"/>
          </a:xfrm>
          <a:prstGeom prst="rect">
            <a:avLst/>
          </a:prstGeom>
          <a:noFill/>
        </p:spPr>
        <p:txBody>
          <a:bodyPr wrap="square">
            <a:spAutoFit/>
          </a:bodyPr>
          <a:lstStyle/>
          <a:p>
            <a:pPr algn="l"/>
            <a:r>
              <a:rPr sz="800" b="1" i="0">
                <a:solidFill>
                  <a:srgbClr val="1B3A6B"/>
                </a:solidFill>
              </a:rPr>
              <a:t>OR.PA</a:t>
            </a:r>
          </a:p>
        </p:txBody>
      </p:sp>
      <p:sp>
        <p:nvSpPr>
          <p:cNvPr id="70" name="TextBox 69"/>
          <p:cNvSpPr txBox="1"/>
          <p:nvPr/>
        </p:nvSpPr>
        <p:spPr>
          <a:xfrm>
            <a:off x="6695999" y="1620000"/>
            <a:ext cx="540000" cy="198000"/>
          </a:xfrm>
          <a:prstGeom prst="rect">
            <a:avLst/>
          </a:prstGeom>
          <a:noFill/>
        </p:spPr>
        <p:txBody>
          <a:bodyPr wrap="square">
            <a:spAutoFit/>
          </a:bodyPr>
          <a:lstStyle/>
          <a:p>
            <a:pPr algn="l"/>
            <a:r>
              <a:rPr sz="800" b="0" i="0">
                <a:solidFill>
                  <a:srgbClr val="1A7A4A"/>
                </a:solidFill>
              </a:rPr>
              <a:t>Surp.</a:t>
            </a:r>
          </a:p>
        </p:txBody>
      </p:sp>
      <p:sp>
        <p:nvSpPr>
          <p:cNvPr id="71" name="TextBox 70"/>
          <p:cNvSpPr txBox="1"/>
          <p:nvPr/>
        </p:nvSpPr>
        <p:spPr>
          <a:xfrm>
            <a:off x="7235999" y="1620000"/>
            <a:ext cx="540000" cy="198000"/>
          </a:xfrm>
          <a:prstGeom prst="rect">
            <a:avLst/>
          </a:prstGeom>
          <a:noFill/>
        </p:spPr>
        <p:txBody>
          <a:bodyPr wrap="square">
            <a:spAutoFit/>
          </a:bodyPr>
          <a:lstStyle/>
          <a:p>
            <a:pPr algn="l"/>
            <a:r>
              <a:rPr sz="800" b="0" i="0">
                <a:solidFill>
                  <a:srgbClr val="555555"/>
                </a:solidFill>
              </a:rPr>
              <a:t>—</a:t>
            </a:r>
          </a:p>
        </p:txBody>
      </p:sp>
      <p:sp>
        <p:nvSpPr>
          <p:cNvPr id="72" name="TextBox 71"/>
          <p:cNvSpPr txBox="1"/>
          <p:nvPr/>
        </p:nvSpPr>
        <p:spPr>
          <a:xfrm>
            <a:off x="7775999" y="1620000"/>
            <a:ext cx="540000" cy="198000"/>
          </a:xfrm>
          <a:prstGeom prst="rect">
            <a:avLst/>
          </a:prstGeom>
          <a:noFill/>
        </p:spPr>
        <p:txBody>
          <a:bodyPr wrap="square">
            <a:spAutoFit/>
          </a:bodyPr>
          <a:lstStyle/>
          <a:p>
            <a:pPr algn="l"/>
            <a:r>
              <a:rPr sz="800" b="0" i="0">
                <a:solidFill>
                  <a:srgbClr val="555555"/>
                </a:solidFill>
              </a:rPr>
              <a:t>65</a:t>
            </a:r>
          </a:p>
        </p:txBody>
      </p:sp>
      <p:sp>
        <p:nvSpPr>
          <p:cNvPr id="73" name="Rectangle 72"/>
          <p:cNvSpPr/>
          <p:nvPr/>
        </p:nvSpPr>
        <p:spPr>
          <a:xfrm>
            <a:off x="6047999" y="18792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119999" y="1915200"/>
            <a:ext cx="576000" cy="198000"/>
          </a:xfrm>
          <a:prstGeom prst="rect">
            <a:avLst/>
          </a:prstGeom>
          <a:noFill/>
        </p:spPr>
        <p:txBody>
          <a:bodyPr wrap="square">
            <a:spAutoFit/>
          </a:bodyPr>
          <a:lstStyle/>
          <a:p>
            <a:pPr algn="l"/>
            <a:r>
              <a:rPr sz="800" b="1" i="0">
                <a:solidFill>
                  <a:srgbClr val="1B3A6B"/>
                </a:solidFill>
              </a:rPr>
              <a:t>CA.PA</a:t>
            </a:r>
          </a:p>
        </p:txBody>
      </p:sp>
      <p:sp>
        <p:nvSpPr>
          <p:cNvPr id="75" name="TextBox 74"/>
          <p:cNvSpPr txBox="1"/>
          <p:nvPr/>
        </p:nvSpPr>
        <p:spPr>
          <a:xfrm>
            <a:off x="6695999" y="1915200"/>
            <a:ext cx="540000" cy="198000"/>
          </a:xfrm>
          <a:prstGeom prst="rect">
            <a:avLst/>
          </a:prstGeom>
          <a:noFill/>
        </p:spPr>
        <p:txBody>
          <a:bodyPr wrap="square">
            <a:spAutoFit/>
          </a:bodyPr>
          <a:lstStyle/>
          <a:p>
            <a:pPr algn="l"/>
            <a:r>
              <a:rPr sz="800" b="0" i="0">
                <a:solidFill>
                  <a:srgbClr val="B06000"/>
                </a:solidFill>
              </a:rPr>
              <a:t>Neutre</a:t>
            </a:r>
          </a:p>
        </p:txBody>
      </p:sp>
      <p:sp>
        <p:nvSpPr>
          <p:cNvPr id="76" name="TextBox 75"/>
          <p:cNvSpPr txBox="1"/>
          <p:nvPr/>
        </p:nvSpPr>
        <p:spPr>
          <a:xfrm>
            <a:off x="7235999" y="1915200"/>
            <a:ext cx="540000" cy="198000"/>
          </a:xfrm>
          <a:prstGeom prst="rect">
            <a:avLst/>
          </a:prstGeom>
          <a:noFill/>
        </p:spPr>
        <p:txBody>
          <a:bodyPr wrap="square">
            <a:spAutoFit/>
          </a:bodyPr>
          <a:lstStyle/>
          <a:p>
            <a:pPr algn="l"/>
            <a:r>
              <a:rPr sz="800" b="0" i="0">
                <a:solidFill>
                  <a:srgbClr val="555555"/>
                </a:solidFill>
              </a:rPr>
              <a:t>—</a:t>
            </a:r>
          </a:p>
        </p:txBody>
      </p:sp>
      <p:sp>
        <p:nvSpPr>
          <p:cNvPr id="77" name="TextBox 76"/>
          <p:cNvSpPr txBox="1"/>
          <p:nvPr/>
        </p:nvSpPr>
        <p:spPr>
          <a:xfrm>
            <a:off x="7775999" y="1915200"/>
            <a:ext cx="540000" cy="198000"/>
          </a:xfrm>
          <a:prstGeom prst="rect">
            <a:avLst/>
          </a:prstGeom>
          <a:noFill/>
        </p:spPr>
        <p:txBody>
          <a:bodyPr wrap="square">
            <a:spAutoFit/>
          </a:bodyPr>
          <a:lstStyle/>
          <a:p>
            <a:pPr algn="l"/>
            <a:r>
              <a:rPr sz="800" b="0" i="0">
                <a:solidFill>
                  <a:srgbClr val="555555"/>
                </a:solidFill>
              </a:rPr>
              <a:t>59</a:t>
            </a:r>
          </a:p>
        </p:txBody>
      </p:sp>
      <p:sp>
        <p:nvSpPr>
          <p:cNvPr id="78" name="Rectangle 77"/>
          <p:cNvSpPr/>
          <p:nvPr/>
        </p:nvSpPr>
        <p:spPr>
          <a:xfrm>
            <a:off x="6047999" y="21744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119999" y="2210400"/>
            <a:ext cx="576000" cy="198000"/>
          </a:xfrm>
          <a:prstGeom prst="rect">
            <a:avLst/>
          </a:prstGeom>
          <a:noFill/>
        </p:spPr>
        <p:txBody>
          <a:bodyPr wrap="square">
            <a:spAutoFit/>
          </a:bodyPr>
          <a:lstStyle/>
          <a:p>
            <a:pPr algn="l"/>
            <a:r>
              <a:rPr sz="800" b="1" i="0">
                <a:solidFill>
                  <a:srgbClr val="1B3A6B"/>
                </a:solidFill>
              </a:rPr>
              <a:t>BN.PA</a:t>
            </a:r>
          </a:p>
        </p:txBody>
      </p:sp>
      <p:sp>
        <p:nvSpPr>
          <p:cNvPr id="80" name="TextBox 79"/>
          <p:cNvSpPr txBox="1"/>
          <p:nvPr/>
        </p:nvSpPr>
        <p:spPr>
          <a:xfrm>
            <a:off x="6695999" y="2210400"/>
            <a:ext cx="540000" cy="198000"/>
          </a:xfrm>
          <a:prstGeom prst="rect">
            <a:avLst/>
          </a:prstGeom>
          <a:noFill/>
        </p:spPr>
        <p:txBody>
          <a:bodyPr wrap="square">
            <a:spAutoFit/>
          </a:bodyPr>
          <a:lstStyle/>
          <a:p>
            <a:pPr algn="l"/>
            <a:r>
              <a:rPr sz="800" b="0" i="0">
                <a:solidFill>
                  <a:srgbClr val="B06000"/>
                </a:solidFill>
              </a:rPr>
              <a:t>Neutre</a:t>
            </a:r>
          </a:p>
        </p:txBody>
      </p:sp>
      <p:sp>
        <p:nvSpPr>
          <p:cNvPr id="81" name="TextBox 80"/>
          <p:cNvSpPr txBox="1"/>
          <p:nvPr/>
        </p:nvSpPr>
        <p:spPr>
          <a:xfrm>
            <a:off x="7235999" y="2210400"/>
            <a:ext cx="540000" cy="198000"/>
          </a:xfrm>
          <a:prstGeom prst="rect">
            <a:avLst/>
          </a:prstGeom>
          <a:noFill/>
        </p:spPr>
        <p:txBody>
          <a:bodyPr wrap="square">
            <a:spAutoFit/>
          </a:bodyPr>
          <a:lstStyle/>
          <a:p>
            <a:pPr algn="l"/>
            <a:r>
              <a:rPr sz="800" b="0" i="0">
                <a:solidFill>
                  <a:srgbClr val="555555"/>
                </a:solidFill>
              </a:rPr>
              <a:t>—</a:t>
            </a:r>
          </a:p>
        </p:txBody>
      </p:sp>
      <p:sp>
        <p:nvSpPr>
          <p:cNvPr id="82" name="TextBox 81"/>
          <p:cNvSpPr txBox="1"/>
          <p:nvPr/>
        </p:nvSpPr>
        <p:spPr>
          <a:xfrm>
            <a:off x="7775999" y="2210400"/>
            <a:ext cx="540000" cy="198000"/>
          </a:xfrm>
          <a:prstGeom prst="rect">
            <a:avLst/>
          </a:prstGeom>
          <a:noFill/>
        </p:spPr>
        <p:txBody>
          <a:bodyPr wrap="square">
            <a:spAutoFit/>
          </a:bodyPr>
          <a:lstStyle/>
          <a:p>
            <a:pPr algn="l"/>
            <a:r>
              <a:rPr sz="800" b="0" i="0">
                <a:solidFill>
                  <a:srgbClr val="555555"/>
                </a:solidFill>
              </a:rPr>
              <a:t>51</a:t>
            </a:r>
          </a:p>
        </p:txBody>
      </p:sp>
      <p:sp>
        <p:nvSpPr>
          <p:cNvPr id="83" name="TextBox 82"/>
          <p:cNvSpPr txBox="1"/>
          <p:nvPr/>
        </p:nvSpPr>
        <p:spPr>
          <a:xfrm>
            <a:off x="6047999" y="2484000"/>
            <a:ext cx="2592000" cy="162000"/>
          </a:xfrm>
          <a:prstGeom prst="rect">
            <a:avLst/>
          </a:prstGeom>
          <a:noFill/>
        </p:spPr>
        <p:txBody>
          <a:bodyPr wrap="square">
            <a:spAutoFit/>
          </a:bodyPr>
          <a:lstStyle/>
          <a:p>
            <a:pPr algn="l"/>
            <a:r>
              <a:rPr sz="750" b="1" i="0">
                <a:solidFill>
                  <a:srgbClr val="1B3A6B"/>
                </a:solidFill>
              </a:rPr>
              <a:t>Catalyseur</a:t>
            </a:r>
          </a:p>
        </p:txBody>
      </p:sp>
      <p:sp>
        <p:nvSpPr>
          <p:cNvPr id="84" name="Rectangle 83"/>
          <p:cNvSpPr/>
          <p:nvPr/>
        </p:nvSpPr>
        <p:spPr>
          <a:xfrm>
            <a:off x="6047999" y="2664000"/>
            <a:ext cx="2592000" cy="72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119999" y="2700000"/>
            <a:ext cx="2484000" cy="666000"/>
          </a:xfrm>
          <a:prstGeom prst="rect">
            <a:avLst/>
          </a:prstGeom>
          <a:noFill/>
        </p:spPr>
        <p:txBody>
          <a:bodyPr wrap="square">
            <a:spAutoFit/>
          </a:bodyPr>
          <a:lstStyle/>
          <a:p>
            <a:pPr algn="l"/>
            <a:r>
              <a:rPr sz="750" b="0" i="0">
                <a:solidFill>
                  <a:srgbClr val="555555"/>
                </a:solidFill>
              </a:rPr>
              <a:t>Score 56/100 · momentum +0.0% · EV/EBITDA — · Mg.EBITDA 20.2%</a:t>
            </a:r>
          </a:p>
        </p:txBody>
      </p:sp>
      <p:sp>
        <p:nvSpPr>
          <p:cNvPr id="86" name="TextBox 85"/>
          <p:cNvSpPr txBox="1"/>
          <p:nvPr/>
        </p:nvSpPr>
        <p:spPr>
          <a:xfrm>
            <a:off x="6047999" y="3438000"/>
            <a:ext cx="2592000" cy="162000"/>
          </a:xfrm>
          <a:prstGeom prst="rect">
            <a:avLst/>
          </a:prstGeom>
          <a:noFill/>
        </p:spPr>
        <p:txBody>
          <a:bodyPr wrap="square">
            <a:spAutoFit/>
          </a:bodyPr>
          <a:lstStyle/>
          <a:p>
            <a:pPr algn="l"/>
            <a:r>
              <a:rPr sz="750" b="1" i="0">
                <a:solidFill>
                  <a:srgbClr val="1B3A6B"/>
                </a:solidFill>
              </a:rPr>
              <a:t>Risque principal</a:t>
            </a:r>
          </a:p>
        </p:txBody>
      </p:sp>
      <p:sp>
        <p:nvSpPr>
          <p:cNvPr id="87" name="Rectangle 86"/>
          <p:cNvSpPr/>
          <p:nvPr/>
        </p:nvSpPr>
        <p:spPr>
          <a:xfrm>
            <a:off x="6047999" y="3618000"/>
            <a:ext cx="2592000" cy="72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119999" y="3654000"/>
            <a:ext cx="2484000" cy="666000"/>
          </a:xfrm>
          <a:prstGeom prst="rect">
            <a:avLst/>
          </a:prstGeom>
          <a:noFill/>
        </p:spPr>
        <p:txBody>
          <a:bodyPr wrap="square">
            <a:spAutoFit/>
          </a:bodyPr>
          <a:lstStyle/>
          <a:p>
            <a:pPr algn="l"/>
            <a:r>
              <a:rPr sz="750" b="0" i="0">
                <a:solidFill>
                  <a:srgbClr val="555555"/>
                </a:solidFill>
              </a:rPr>
              <a:t>Croiss. revenus +0.2% sur LTM — compression multiple si cycle se retourne</a:t>
            </a:r>
          </a:p>
        </p:txBody>
      </p:sp>
      <p:sp>
        <p:nvSpPr>
          <p:cNvPr id="89" name="Rectangle 88"/>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Distribution des Valorisations Sectorielles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EV/EBITDA médian par secteur  ·  Vert = Surpondérer · Amber = Neutre · Rouge = Sous-pondérer</a:t>
            </a:r>
          </a:p>
        </p:txBody>
      </p:sp>
      <p:pic>
        <p:nvPicPr>
          <p:cNvPr id="15" name="Picture 14" descr="image.png"/>
          <p:cNvPicPr>
            <a:picLocks noChangeAspect="1"/>
          </p:cNvPicPr>
          <p:nvPr/>
        </p:nvPicPr>
        <p:blipFill>
          <a:blip r:embed="rId2"/>
          <a:stretch>
            <a:fillRect/>
          </a:stretch>
        </p:blipFill>
        <p:spPr>
          <a:xfrm>
            <a:off x="324000" y="827999"/>
            <a:ext cx="5040000" cy="3168000"/>
          </a:xfrm>
          <a:prstGeom prst="rect">
            <a:avLst/>
          </a:prstGeom>
        </p:spPr>
      </p:pic>
      <p:sp>
        <p:nvSpPr>
          <p:cNvPr id="16" name="Rectangle 15"/>
          <p:cNvSpPr/>
          <p:nvPr/>
        </p:nvSpPr>
        <p:spPr>
          <a:xfrm>
            <a:off x="5544000" y="827999"/>
            <a:ext cx="3276000" cy="316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544000" y="827999"/>
            <a:ext cx="43200" cy="316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52000" y="864000"/>
            <a:ext cx="3096000" cy="216000"/>
          </a:xfrm>
          <a:prstGeom prst="rect">
            <a:avLst/>
          </a:prstGeom>
          <a:noFill/>
        </p:spPr>
        <p:txBody>
          <a:bodyPr wrap="square">
            <a:spAutoFit/>
          </a:bodyPr>
          <a:lstStyle/>
          <a:p>
            <a:pPr algn="l"/>
            <a:r>
              <a:rPr sz="850" b="1" i="0">
                <a:solidFill>
                  <a:srgbClr val="1B3A6B"/>
                </a:solidFill>
              </a:rPr>
              <a:t>Lecture de la Distribution</a:t>
            </a:r>
          </a:p>
        </p:txBody>
      </p:sp>
      <p:sp>
        <p:nvSpPr>
          <p:cNvPr id="19" name="TextBox 18"/>
          <p:cNvSpPr txBox="1"/>
          <p:nvPr/>
        </p:nvSpPr>
        <p:spPr>
          <a:xfrm>
            <a:off x="5652000" y="1116000"/>
            <a:ext cx="3096000" cy="2808000"/>
          </a:xfrm>
          <a:prstGeom prst="rect">
            <a:avLst/>
          </a:prstGeom>
          <a:noFill/>
        </p:spPr>
        <p:txBody>
          <a:bodyPr wrap="square">
            <a:spAutoFit/>
          </a:bodyPr>
          <a:lstStyle/>
          <a:p>
            <a:pPr algn="l"/>
            <a:r>
              <a:rPr sz="800" b="0" i="0">
                <a:solidFill>
                  <a:srgbClr val="555555"/>
                </a:solidFill>
              </a:rPr>
              <a:t>Healthcare traite a — — prime de -100 % vs la mediane sectorielle (15.0x). Cette prime est justifiee par une croissance BPA structurellement elevee.
Healthcare offre la valorisation la plus attractive (—) mais le signal Surpondérer reflète les risques specifiques au secteur.
Mediane sectorielle : 15.0x EV/EBITDA — seuil de reference pour evaluer la cherté relative.</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Zone d'Entrée Optimale par Secteur</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P/E actuel vs médiane historique 10 ans  ·  Signal d'entrée Accumuler / Neutre / Alléger</a:t>
            </a:r>
          </a:p>
        </p:txBody>
      </p:sp>
      <p:pic>
        <p:nvPicPr>
          <p:cNvPr id="15" name="Picture 14" descr="image.png"/>
          <p:cNvPicPr>
            <a:picLocks noChangeAspect="1"/>
          </p:cNvPicPr>
          <p:nvPr/>
        </p:nvPicPr>
        <p:blipFill>
          <a:blip r:embed="rId2"/>
          <a:stretch>
            <a:fillRect/>
          </a:stretch>
        </p:blipFill>
        <p:spPr>
          <a:xfrm>
            <a:off x="324000" y="827999"/>
            <a:ext cx="8496000" cy="2592000"/>
          </a:xfrm>
          <a:prstGeom prst="rect">
            <a:avLst/>
          </a:prstGeom>
        </p:spPr>
      </p:pic>
      <p:sp>
        <p:nvSpPr>
          <p:cNvPr id="16" name="Rectangle 15"/>
          <p:cNvSpPr/>
          <p:nvPr/>
        </p:nvSpPr>
        <p:spPr>
          <a:xfrm>
            <a:off x="324000" y="3564000"/>
            <a:ext cx="8496000" cy="124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564000"/>
            <a:ext cx="43200" cy="124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2000" y="3618000"/>
            <a:ext cx="8208000" cy="216000"/>
          </a:xfrm>
          <a:prstGeom prst="rect">
            <a:avLst/>
          </a:prstGeom>
          <a:noFill/>
        </p:spPr>
        <p:txBody>
          <a:bodyPr wrap="square">
            <a:spAutoFit/>
          </a:bodyPr>
          <a:lstStyle/>
          <a:p>
            <a:pPr algn="l"/>
            <a:r>
              <a:rPr sz="800" b="1" i="0">
                <a:solidFill>
                  <a:srgbClr val="1B3A6B"/>
                </a:solidFill>
              </a:rPr>
              <a:t>Lecture — Secteurs en zone d'entrée optimale</a:t>
            </a:r>
          </a:p>
        </p:txBody>
      </p:sp>
      <p:sp>
        <p:nvSpPr>
          <p:cNvPr id="19" name="TextBox 18"/>
          <p:cNvSpPr txBox="1"/>
          <p:nvPr/>
        </p:nvSpPr>
        <p:spPr>
          <a:xfrm>
            <a:off x="432000" y="3852000"/>
            <a:ext cx="8208000" cy="918000"/>
          </a:xfrm>
          <a:prstGeom prst="rect">
            <a:avLst/>
          </a:prstGeom>
          <a:noFill/>
        </p:spPr>
        <p:txBody>
          <a:bodyPr wrap="square">
            <a:spAutoFit/>
          </a:bodyPr>
          <a:lstStyle/>
          <a:p>
            <a:pPr algn="l"/>
            <a:r>
              <a:rPr sz="750" b="0" i="0">
                <a:solidFill>
                  <a:srgbClr val="555555"/>
                </a:solidFill>
              </a:rPr>
              <a:t>Aucun secteur Surpondérer offrent les meilleures zones d'entrée parmi les secteurs recommandés : P/E Forward inférieur ou proche de la médiane historique 10 ans — profil risque/rendement favorable. Les secteurs au-dessus de la médiane (+20 %) méritent une prudence accrue sur le point d'entrée.</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04</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Risques, Rotation &amp; Sentiment</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Scénarios alternatifs · Rotation sectorielle · FinBERT · Performance ETF</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Risques Macro &amp; Scénarios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adversariale  ·  3 scénarios alternatifs  ·  Conditions d'invalidation du signal Neutre</a:t>
            </a:r>
          </a:p>
        </p:txBody>
      </p:sp>
      <p:sp>
        <p:nvSpPr>
          <p:cNvPr id="15" name="Rectangle 14"/>
          <p:cNvSpPr/>
          <p:nvPr/>
        </p:nvSpPr>
        <p:spPr>
          <a:xfrm>
            <a:off x="324000" y="827999"/>
            <a:ext cx="2700000" cy="154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27999"/>
            <a:ext cx="2700000" cy="30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846000"/>
            <a:ext cx="1800000" cy="270000"/>
          </a:xfrm>
          <a:prstGeom prst="rect">
            <a:avLst/>
          </a:prstGeom>
          <a:noFill/>
        </p:spPr>
        <p:txBody>
          <a:bodyPr wrap="square">
            <a:spAutoFit/>
          </a:bodyPr>
          <a:lstStyle/>
          <a:p>
            <a:pPr algn="l"/>
            <a:r>
              <a:rPr sz="900" b="1" i="0">
                <a:solidFill>
                  <a:srgbClr val="FFFFFF"/>
                </a:solidFill>
              </a:rPr>
              <a:t>Bull case</a:t>
            </a:r>
          </a:p>
        </p:txBody>
      </p:sp>
      <p:sp>
        <p:nvSpPr>
          <p:cNvPr id="18" name="TextBox 17"/>
          <p:cNvSpPr txBox="1"/>
          <p:nvPr/>
        </p:nvSpPr>
        <p:spPr>
          <a:xfrm>
            <a:off x="2232000" y="864000"/>
            <a:ext cx="720000" cy="234000"/>
          </a:xfrm>
          <a:prstGeom prst="rect">
            <a:avLst/>
          </a:prstGeom>
          <a:noFill/>
        </p:spPr>
        <p:txBody>
          <a:bodyPr wrap="square">
            <a:spAutoFit/>
          </a:bodyPr>
          <a:lstStyle/>
          <a:p>
            <a:pPr algn="r"/>
            <a:r>
              <a:rPr sz="900" b="1" i="0">
                <a:solidFill>
                  <a:srgbClr val="FFFFFF"/>
                </a:solidFill>
              </a:rPr>
              <a:t>Prob. 25 %</a:t>
            </a:r>
          </a:p>
        </p:txBody>
      </p:sp>
      <p:sp>
        <p:nvSpPr>
          <p:cNvPr id="19" name="TextBox 18"/>
          <p:cNvSpPr txBox="1"/>
          <p:nvPr/>
        </p:nvSpPr>
        <p:spPr>
          <a:xfrm>
            <a:off x="396000" y="1170000"/>
            <a:ext cx="2592000" cy="1152000"/>
          </a:xfrm>
          <a:prstGeom prst="rect">
            <a:avLst/>
          </a:prstGeom>
          <a:noFill/>
        </p:spPr>
        <p:txBody>
          <a:bodyPr wrap="square">
            <a:spAutoFit/>
          </a:bodyPr>
          <a:lstStyle/>
          <a:p>
            <a:pPr algn="l"/>
            <a:r>
              <a:rPr sz="800" b="0" i="0">
                <a:solidFill>
                  <a:srgbClr val="555555"/>
                </a:solidFill>
              </a:rPr>
              <a:t>Score &gt; 60 (11 pts manquants) + surprise BPA Q2 &gt; +5% + CPI &lt; 2,5% sur 2M consecutifs</a:t>
            </a:r>
          </a:p>
        </p:txBody>
      </p:sp>
      <p:sp>
        <p:nvSpPr>
          <p:cNvPr id="20" name="Rectangle 19"/>
          <p:cNvSpPr/>
          <p:nvPr/>
        </p:nvSpPr>
        <p:spPr>
          <a:xfrm>
            <a:off x="3150000" y="827999"/>
            <a:ext cx="2700000" cy="154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150000" y="827999"/>
            <a:ext cx="2700000" cy="306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21999" y="846000"/>
            <a:ext cx="1800000" cy="270000"/>
          </a:xfrm>
          <a:prstGeom prst="rect">
            <a:avLst/>
          </a:prstGeom>
          <a:noFill/>
        </p:spPr>
        <p:txBody>
          <a:bodyPr wrap="square">
            <a:spAutoFit/>
          </a:bodyPr>
          <a:lstStyle/>
          <a:p>
            <a:pPr algn="l"/>
            <a:r>
              <a:rPr sz="900" b="1" i="0">
                <a:solidFill>
                  <a:srgbClr val="FFFFFF"/>
                </a:solidFill>
              </a:rPr>
              <a:t>Bear case</a:t>
            </a:r>
          </a:p>
        </p:txBody>
      </p:sp>
      <p:sp>
        <p:nvSpPr>
          <p:cNvPr id="23" name="TextBox 22"/>
          <p:cNvSpPr txBox="1"/>
          <p:nvPr/>
        </p:nvSpPr>
        <p:spPr>
          <a:xfrm>
            <a:off x="5058000" y="864000"/>
            <a:ext cx="720000" cy="234000"/>
          </a:xfrm>
          <a:prstGeom prst="rect">
            <a:avLst/>
          </a:prstGeom>
          <a:noFill/>
        </p:spPr>
        <p:txBody>
          <a:bodyPr wrap="square">
            <a:spAutoFit/>
          </a:bodyPr>
          <a:lstStyle/>
          <a:p>
            <a:pPr algn="r"/>
            <a:r>
              <a:rPr sz="900" b="1" i="0">
                <a:solidFill>
                  <a:srgbClr val="FFFFFF"/>
                </a:solidFill>
              </a:rPr>
              <a:t>Prob. 20 %</a:t>
            </a:r>
          </a:p>
        </p:txBody>
      </p:sp>
      <p:sp>
        <p:nvSpPr>
          <p:cNvPr id="24" name="TextBox 23"/>
          <p:cNvSpPr txBox="1"/>
          <p:nvPr/>
        </p:nvSpPr>
        <p:spPr>
          <a:xfrm>
            <a:off x="3221999" y="1170000"/>
            <a:ext cx="2592000" cy="1152000"/>
          </a:xfrm>
          <a:prstGeom prst="rect">
            <a:avLst/>
          </a:prstGeom>
          <a:noFill/>
        </p:spPr>
        <p:txBody>
          <a:bodyPr wrap="square">
            <a:spAutoFit/>
          </a:bodyPr>
          <a:lstStyle/>
          <a:p>
            <a:pPr algn="l"/>
            <a:r>
              <a:rPr sz="800" b="0" i="0">
                <a:solidFill>
                  <a:srgbClr val="555555"/>
                </a:solidFill>
              </a:rPr>
              <a:t>Score &lt; 40 (9 pts de marge) via recession technique (2T PIB &lt; 0%) ou choc geopolitique majeur</a:t>
            </a:r>
          </a:p>
        </p:txBody>
      </p:sp>
      <p:sp>
        <p:nvSpPr>
          <p:cNvPr id="25" name="Rectangle 24"/>
          <p:cNvSpPr/>
          <p:nvPr/>
        </p:nvSpPr>
        <p:spPr>
          <a:xfrm>
            <a:off x="5975999" y="827999"/>
            <a:ext cx="2700000" cy="154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75999" y="827999"/>
            <a:ext cx="2700000" cy="306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47999" y="846000"/>
            <a:ext cx="1800000" cy="270000"/>
          </a:xfrm>
          <a:prstGeom prst="rect">
            <a:avLst/>
          </a:prstGeom>
          <a:noFill/>
        </p:spPr>
        <p:txBody>
          <a:bodyPr wrap="square">
            <a:spAutoFit/>
          </a:bodyPr>
          <a:lstStyle/>
          <a:p>
            <a:pPr algn="l"/>
            <a:r>
              <a:rPr sz="900" b="1" i="0">
                <a:solidFill>
                  <a:srgbClr val="FFFFFF"/>
                </a:solidFill>
              </a:rPr>
              <a:t>Stagflation</a:t>
            </a:r>
          </a:p>
        </p:txBody>
      </p:sp>
      <p:sp>
        <p:nvSpPr>
          <p:cNvPr id="28" name="TextBox 27"/>
          <p:cNvSpPr txBox="1"/>
          <p:nvPr/>
        </p:nvSpPr>
        <p:spPr>
          <a:xfrm>
            <a:off x="7883999" y="864000"/>
            <a:ext cx="720000" cy="234000"/>
          </a:xfrm>
          <a:prstGeom prst="rect">
            <a:avLst/>
          </a:prstGeom>
          <a:noFill/>
        </p:spPr>
        <p:txBody>
          <a:bodyPr wrap="square">
            <a:spAutoFit/>
          </a:bodyPr>
          <a:lstStyle/>
          <a:p>
            <a:pPr algn="r"/>
            <a:r>
              <a:rPr sz="900" b="1" i="0">
                <a:solidFill>
                  <a:srgbClr val="FFFFFF"/>
                </a:solidFill>
              </a:rPr>
              <a:t>Prob. 20 %</a:t>
            </a:r>
          </a:p>
        </p:txBody>
      </p:sp>
      <p:sp>
        <p:nvSpPr>
          <p:cNvPr id="29" name="TextBox 28"/>
          <p:cNvSpPr txBox="1"/>
          <p:nvPr/>
        </p:nvSpPr>
        <p:spPr>
          <a:xfrm>
            <a:off x="6047999" y="1170000"/>
            <a:ext cx="2592000" cy="1152000"/>
          </a:xfrm>
          <a:prstGeom prst="rect">
            <a:avLst/>
          </a:prstGeom>
          <a:noFill/>
        </p:spPr>
        <p:txBody>
          <a:bodyPr wrap="square">
            <a:spAutoFit/>
          </a:bodyPr>
          <a:lstStyle/>
          <a:p>
            <a:pPr algn="l"/>
            <a:r>
              <a:rPr sz="800" b="0" i="0">
                <a:solidFill>
                  <a:srgbClr val="555555"/>
                </a:solidFill>
              </a:rPr>
              <a:t>CPI &gt; 3,5% + PIB &lt; 1% — compression multiple 7-15% attendue</a:t>
            </a:r>
          </a:p>
        </p:txBody>
      </p:sp>
      <p:sp>
        <p:nvSpPr>
          <p:cNvPr id="30" name="Rectangle 29"/>
          <p:cNvSpPr/>
          <p:nvPr/>
        </p:nvSpPr>
        <p:spPr>
          <a:xfrm>
            <a:off x="324000" y="2520000"/>
            <a:ext cx="8496000" cy="19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6000" y="2538000"/>
            <a:ext cx="8208000" cy="162000"/>
          </a:xfrm>
          <a:prstGeom prst="rect">
            <a:avLst/>
          </a:prstGeom>
          <a:noFill/>
        </p:spPr>
        <p:txBody>
          <a:bodyPr wrap="square">
            <a:spAutoFit/>
          </a:bodyPr>
          <a:lstStyle/>
          <a:p>
            <a:pPr algn="l"/>
            <a:r>
              <a:rPr sz="800" b="1" i="0">
                <a:solidFill>
                  <a:srgbClr val="FFFFFF"/>
                </a:solidFill>
              </a:rPr>
              <a:t>Conditions d'invalidation du signal NEUTRE</a:t>
            </a:r>
          </a:p>
        </p:txBody>
      </p:sp>
      <p:sp>
        <p:nvSpPr>
          <p:cNvPr id="32" name="Rectangle 31"/>
          <p:cNvSpPr/>
          <p:nvPr/>
        </p:nvSpPr>
        <p:spPr>
          <a:xfrm>
            <a:off x="324000" y="2772000"/>
            <a:ext cx="36000" cy="30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3999" y="2772000"/>
            <a:ext cx="8028000" cy="324000"/>
          </a:xfrm>
          <a:prstGeom prst="rect">
            <a:avLst/>
          </a:prstGeom>
          <a:noFill/>
        </p:spPr>
        <p:txBody>
          <a:bodyPr wrap="square">
            <a:spAutoFit/>
          </a:bodyPr>
          <a:lstStyle/>
          <a:p>
            <a:pPr algn="l"/>
            <a:r>
              <a:rPr sz="850" b="0" i="0">
                <a:solidFill>
                  <a:srgbClr val="555555"/>
                </a:solidFill>
              </a:rPr>
              <a:t>CAC 40 casse le support clé — signal passe Sous-pondérer</a:t>
            </a:r>
          </a:p>
        </p:txBody>
      </p:sp>
      <p:sp>
        <p:nvSpPr>
          <p:cNvPr id="34" name="Rectangle 33"/>
          <p:cNvSpPr/>
          <p:nvPr/>
        </p:nvSpPr>
        <p:spPr>
          <a:xfrm>
            <a:off x="324000" y="3168000"/>
            <a:ext cx="36000" cy="30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3999" y="3168000"/>
            <a:ext cx="8028000" cy="324000"/>
          </a:xfrm>
          <a:prstGeom prst="rect">
            <a:avLst/>
          </a:prstGeom>
          <a:noFill/>
        </p:spPr>
        <p:txBody>
          <a:bodyPr wrap="square">
            <a:spAutoFit/>
          </a:bodyPr>
          <a:lstStyle/>
          <a:p>
            <a:pPr algn="l"/>
            <a:r>
              <a:rPr sz="850" b="0" i="0">
                <a:solidFill>
                  <a:srgbClr val="555555"/>
                </a:solidFill>
              </a:rPr>
              <a:t>Fed pivot dovish confirmé + CPI &lt; 2,5 % — signal passe Surpondérer</a:t>
            </a:r>
          </a:p>
        </p:txBody>
      </p:sp>
      <p:sp>
        <p:nvSpPr>
          <p:cNvPr id="36" name="Rectangle 35"/>
          <p:cNvSpPr/>
          <p:nvPr/>
        </p:nvSpPr>
        <p:spPr>
          <a:xfrm>
            <a:off x="324000" y="3564000"/>
            <a:ext cx="36000" cy="30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13999" y="3564000"/>
            <a:ext cx="8028000" cy="324000"/>
          </a:xfrm>
          <a:prstGeom prst="rect">
            <a:avLst/>
          </a:prstGeom>
          <a:noFill/>
        </p:spPr>
        <p:txBody>
          <a:bodyPr wrap="square">
            <a:spAutoFit/>
          </a:bodyPr>
          <a:lstStyle/>
          <a:p>
            <a:pPr algn="l"/>
            <a:r>
              <a:rPr sz="850" b="0" i="0">
                <a:solidFill>
                  <a:srgbClr val="555555"/>
                </a:solidFill>
              </a:rPr>
              <a:t>Révisions BPA agrégées &lt; -5 % sur 2 trimestres consécutifs</a:t>
            </a:r>
          </a:p>
        </p:txBody>
      </p:sp>
      <p:sp>
        <p:nvSpPr>
          <p:cNvPr id="38" name="Rectangle 37"/>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Rotation Sectorielle &amp; Cycle Économique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CAC 40  ·  Phase actuelle : Expansion avancée  ·  Sensibilités taux/PIB  ·  Signal de rotation</a:t>
            </a:r>
          </a:p>
        </p:txBody>
      </p:sp>
      <p:graphicFrame>
        <p:nvGraphicFramePr>
          <p:cNvPr id="15" name="Table 14"/>
          <p:cNvGraphicFramePr>
            <a:graphicFrameLocks noGrp="1"/>
          </p:cNvGraphicFramePr>
          <p:nvPr/>
        </p:nvGraphicFramePr>
        <p:xfrm>
          <a:off x="324000" y="827999"/>
          <a:ext cx="8495999" cy="2808000"/>
        </p:xfrm>
        <a:graphic>
          <a:graphicData uri="http://schemas.openxmlformats.org/drawingml/2006/table">
            <a:tbl>
              <a:tblPr firstRow="1" bandRow="1">
                <a:tableStyleId>{5C22544A-7EE6-4342-B048-85BDC9FD1C3A}</a:tableStyleId>
              </a:tblPr>
              <a:tblGrid>
                <a:gridCol w="2184685"/>
                <a:gridCol w="1699200"/>
                <a:gridCol w="1456457"/>
                <a:gridCol w="1456457"/>
                <a:gridCol w="1699200"/>
              </a:tblGrid>
              <a:tr h="234000">
                <a:tc>
                  <a:txBody>
                    <a:bodyPr/>
                    <a:lstStyle/>
                    <a:p>
                      <a:pPr algn="ctr"/>
                      <a:r>
                        <a:rPr sz="800" b="1">
                          <a:solidFill>
                            <a:srgbClr val="FFFFFF"/>
                          </a:solidFill>
                        </a:rPr>
                        <a:t>Secteur</a:t>
                      </a:r>
                    </a:p>
                  </a:txBody>
                  <a:tcPr>
                    <a:solidFill>
                      <a:srgbClr val="1B3A6B"/>
                    </a:solidFill>
                  </a:tcPr>
                </a:tc>
                <a:tc>
                  <a:txBody>
                    <a:bodyPr/>
                    <a:lstStyle/>
                    <a:p>
                      <a:pPr algn="ctr"/>
                      <a:r>
                        <a:rPr sz="800" b="1">
                          <a:solidFill>
                            <a:srgbClr val="FFFFFF"/>
                          </a:solidFill>
                        </a:rPr>
                        <a:t>Phase favorisée</a:t>
                      </a:r>
                    </a:p>
                  </a:txBody>
                  <a:tcPr>
                    <a:solidFill>
                      <a:srgbClr val="1B3A6B"/>
                    </a:solidFill>
                  </a:tcPr>
                </a:tc>
                <a:tc>
                  <a:txBody>
                    <a:bodyPr/>
                    <a:lstStyle/>
                    <a:p>
                      <a:pPr algn="ctr"/>
                      <a:r>
                        <a:rPr sz="800" b="1">
                          <a:solidFill>
                            <a:srgbClr val="FFFFFF"/>
                          </a:solidFill>
                        </a:rPr>
                        <a:t>Sens. Taux</a:t>
                      </a:r>
                    </a:p>
                  </a:txBody>
                  <a:tcPr>
                    <a:solidFill>
                      <a:srgbClr val="1B3A6B"/>
                    </a:solidFill>
                  </a:tcPr>
                </a:tc>
                <a:tc>
                  <a:txBody>
                    <a:bodyPr/>
                    <a:lstStyle/>
                    <a:p>
                      <a:pPr algn="ctr"/>
                      <a:r>
                        <a:rPr sz="800" b="1">
                          <a:solidFill>
                            <a:srgbClr val="FFFFFF"/>
                          </a:solidFill>
                        </a:rPr>
                        <a:t>Sens. PIB</a:t>
                      </a:r>
                    </a:p>
                  </a:txBody>
                  <a:tcPr>
                    <a:solidFill>
                      <a:srgbClr val="1B3A6B"/>
                    </a:solidFill>
                  </a:tcPr>
                </a:tc>
                <a:tc>
                  <a:txBody>
                    <a:bodyPr/>
                    <a:lstStyle/>
                    <a:p>
                      <a:pPr algn="ctr"/>
                      <a:r>
                        <a:rPr sz="800" b="1">
                          <a:solidFill>
                            <a:srgbClr val="FFFFFF"/>
                          </a:solidFill>
                        </a:rPr>
                        <a:t>Signal Rotation</a:t>
                      </a:r>
                    </a:p>
                  </a:txBody>
                  <a:tcPr>
                    <a:solidFill>
                      <a:srgbClr val="1B3A6B"/>
                    </a:solidFill>
                  </a:tcPr>
                </a:tc>
              </a:tr>
              <a:tr h="234000">
                <a:tc>
                  <a:txBody>
                    <a:bodyPr/>
                    <a:lstStyle/>
                    <a:p>
                      <a:pPr algn="ctr"/>
                      <a:r>
                        <a:rPr sz="800" b="0">
                          <a:solidFill>
                            <a:srgbClr val="1A1A1A"/>
                          </a:solidFill>
                        </a:rPr>
                        <a:t>Healthcare</a:t>
                      </a:r>
                    </a:p>
                  </a:txBody>
                  <a:tcPr>
                    <a:noFill/>
                  </a:tcPr>
                </a:tc>
                <a:tc>
                  <a:txBody>
                    <a:bodyPr/>
                    <a:lstStyle/>
                    <a:p>
                      <a:pPr algn="ctr"/>
                      <a:r>
                        <a:rPr sz="800" b="0">
                          <a:solidFill>
                            <a:srgbClr val="1A1A1A"/>
                          </a:solidFill>
                        </a:rPr>
                        <a:t>Expansion</a:t>
                      </a:r>
                    </a:p>
                  </a:txBody>
                  <a:tcPr>
                    <a:noFill/>
                  </a:tcPr>
                </a:tc>
                <a:tc>
                  <a:txBody>
                    <a:bodyPr/>
                    <a:lstStyle/>
                    <a:p>
                      <a:pPr algn="ctr"/>
                      <a:r>
                        <a:rPr sz="800" b="0">
                          <a:solidFill>
                            <a:srgbClr val="1A1A1A"/>
                          </a:solidFill>
                        </a:rPr>
                        <a:t>Moderee</a:t>
                      </a:r>
                    </a:p>
                  </a:txBody>
                  <a:tcPr>
                    <a:noFill/>
                  </a:tcPr>
                </a:tc>
                <a:tc>
                  <a:txBody>
                    <a:bodyPr/>
                    <a:lstStyle/>
                    <a:p>
                      <a:pPr algn="ctr"/>
                      <a:r>
                        <a:rPr sz="800" b="0">
                          <a:solidFill>
                            <a:srgbClr val="1A1A1A"/>
                          </a:solidFill>
                        </a:rPr>
                        <a:t>Moderee</a:t>
                      </a:r>
                    </a:p>
                  </a:txBody>
                  <a:tcPr>
                    <a:noFill/>
                  </a:tcPr>
                </a:tc>
                <a:tc>
                  <a:txBody>
                    <a:bodyPr/>
                    <a:lstStyle/>
                    <a:p>
                      <a:pPr algn="ctr"/>
                      <a:r>
                        <a:rPr sz="800" b="0">
                          <a:solidFill>
                            <a:srgbClr val="B06000"/>
                          </a:solidFill>
                        </a:rPr>
                        <a:t>Accumuler</a:t>
                      </a:r>
                    </a:p>
                  </a:txBody>
                  <a:tcPr>
                    <a:solidFill>
                      <a:srgbClr val="FDF3E5"/>
                    </a:solidFill>
                  </a:tcPr>
                </a:tc>
              </a:tr>
              <a:tr h="234000">
                <a:tc>
                  <a:txBody>
                    <a:bodyPr/>
                    <a:lstStyle/>
                    <a:p>
                      <a:pPr algn="ctr"/>
                      <a:r>
                        <a:rPr sz="800" b="0">
                          <a:solidFill>
                            <a:srgbClr val="1A1A1A"/>
                          </a:solidFill>
                        </a:rPr>
                        <a:t>Real Estate</a:t>
                      </a:r>
                    </a:p>
                  </a:txBody>
                  <a:tcPr>
                    <a:solidFill>
                      <a:srgbClr val="F5F7FA"/>
                    </a:solidFill>
                  </a:tcPr>
                </a:tc>
                <a:tc>
                  <a:txBody>
                    <a:bodyPr/>
                    <a:lstStyle/>
                    <a:p>
                      <a:pPr algn="ctr"/>
                      <a:r>
                        <a:rPr sz="800" b="0">
                          <a:solidFill>
                            <a:srgbClr val="1A1A1A"/>
                          </a:solidFill>
                        </a:rPr>
                        <a:t>Reprise</a:t>
                      </a:r>
                    </a:p>
                  </a:txBody>
                  <a:tcPr>
                    <a:solidFill>
                      <a:srgbClr val="F5F7FA"/>
                    </a:solidFill>
                  </a:tcPr>
                </a:tc>
                <a:tc>
                  <a:txBody>
                    <a:bodyPr/>
                    <a:lstStyle/>
                    <a:p>
                      <a:pPr algn="ctr"/>
                      <a:r>
                        <a:rPr sz="800" b="0">
                          <a:solidFill>
                            <a:srgbClr val="1A1A1A"/>
                          </a:solidFill>
                        </a:rPr>
                        <a:t>Elevee</a:t>
                      </a:r>
                    </a:p>
                  </a:txBody>
                  <a:tcPr>
                    <a:solidFill>
                      <a:srgbClr val="F5F7FA"/>
                    </a:solidFill>
                  </a:tcPr>
                </a:tc>
                <a:tc>
                  <a:txBody>
                    <a:bodyPr/>
                    <a:lstStyle/>
                    <a:p>
                      <a:pPr algn="ctr"/>
                      <a:r>
                        <a:rPr sz="800" b="0">
                          <a:solidFill>
                            <a:srgbClr val="1A1A1A"/>
                          </a:solidFill>
                        </a:rPr>
                        <a:t>Moderee</a:t>
                      </a:r>
                    </a:p>
                  </a:txBody>
                  <a:tcPr>
                    <a:solidFill>
                      <a:srgbClr val="F5F7FA"/>
                    </a:solidFill>
                  </a:tcPr>
                </a:tc>
                <a:tc>
                  <a:txBody>
                    <a:bodyPr/>
                    <a:lstStyle/>
                    <a:p>
                      <a:pPr algn="ctr"/>
                      <a:r>
                        <a:rPr sz="800" b="0">
                          <a:solidFill>
                            <a:srgbClr val="B06000"/>
                          </a:solidFill>
                        </a:rPr>
                        <a:t>Accumuler</a:t>
                      </a:r>
                    </a:p>
                  </a:txBody>
                  <a:tcPr>
                    <a:solidFill>
                      <a:srgbClr val="FDF3E5"/>
                    </a:solidFill>
                  </a:tcPr>
                </a:tc>
              </a:tr>
              <a:tr h="234000">
                <a:tc>
                  <a:txBody>
                    <a:bodyPr/>
                    <a:lstStyle/>
                    <a:p>
                      <a:pPr algn="ctr"/>
                      <a:r>
                        <a:rPr sz="800" b="0">
                          <a:solidFill>
                            <a:srgbClr val="1A1A1A"/>
                          </a:solidFill>
                        </a:rPr>
                        <a:t>Consumer Defensive</a:t>
                      </a:r>
                    </a:p>
                  </a:txBody>
                  <a:tcPr>
                    <a:noFill/>
                  </a:tcPr>
                </a:tc>
                <a:tc>
                  <a:txBody>
                    <a:bodyPr/>
                    <a:lstStyle/>
                    <a:p>
                      <a:pPr algn="ctr"/>
                      <a:r>
                        <a:rPr sz="800" b="0">
                          <a:solidFill>
                            <a:srgbClr val="1A1A1A"/>
                          </a:solidFill>
                        </a:rPr>
                        <a:t>Expansion</a:t>
                      </a:r>
                    </a:p>
                  </a:txBody>
                  <a:tcPr>
                    <a:noFill/>
                  </a:tcPr>
                </a:tc>
                <a:tc>
                  <a:txBody>
                    <a:bodyPr/>
                    <a:lstStyle/>
                    <a:p>
                      <a:pPr algn="ctr"/>
                      <a:r>
                        <a:rPr sz="800" b="0">
                          <a:solidFill>
                            <a:srgbClr val="1A1A1A"/>
                          </a:solidFill>
                        </a:rPr>
                        <a:t>Moderee</a:t>
                      </a:r>
                    </a:p>
                  </a:txBody>
                  <a:tcPr>
                    <a:noFill/>
                  </a:tcPr>
                </a:tc>
                <a:tc>
                  <a:txBody>
                    <a:bodyPr/>
                    <a:lstStyle/>
                    <a:p>
                      <a:pPr algn="ctr"/>
                      <a:r>
                        <a:rPr sz="800" b="0">
                          <a:solidFill>
                            <a:srgbClr val="1A1A1A"/>
                          </a:solidFill>
                        </a:rPr>
                        <a:t>Moderee</a:t>
                      </a:r>
                    </a:p>
                  </a:txBody>
                  <a:tcPr>
                    <a:noFill/>
                  </a:tcPr>
                </a:tc>
                <a:tc>
                  <a:txBody>
                    <a:bodyPr/>
                    <a:lstStyle/>
                    <a:p>
                      <a:pPr algn="ctr"/>
                      <a:r>
                        <a:rPr sz="800" b="0">
                          <a:solidFill>
                            <a:srgbClr val="B06000"/>
                          </a:solidFill>
                        </a:rPr>
                        <a:t>Neutre</a:t>
                      </a:r>
                    </a:p>
                  </a:txBody>
                  <a:tcPr>
                    <a:solidFill>
                      <a:srgbClr val="FDF3E5"/>
                    </a:solidFill>
                  </a:tcPr>
                </a:tc>
              </a:tr>
              <a:tr h="234000">
                <a:tc>
                  <a:txBody>
                    <a:bodyPr/>
                    <a:lstStyle/>
                    <a:p>
                      <a:pPr algn="ctr"/>
                      <a:r>
                        <a:rPr sz="800" b="0">
                          <a:solidFill>
                            <a:srgbClr val="1A1A1A"/>
                          </a:solidFill>
                        </a:rPr>
                        <a:t>Financial Services</a:t>
                      </a:r>
                    </a:p>
                  </a:txBody>
                  <a:tcPr>
                    <a:solidFill>
                      <a:srgbClr val="F5F7FA"/>
                    </a:solidFill>
                  </a:tcPr>
                </a:tc>
                <a:tc>
                  <a:txBody>
                    <a:bodyPr/>
                    <a:lstStyle/>
                    <a:p>
                      <a:pPr algn="ctr"/>
                      <a:r>
                        <a:rPr sz="800" b="0">
                          <a:solidFill>
                            <a:srgbClr val="1A1A1A"/>
                          </a:solidFill>
                        </a:rPr>
                        <a:t>Expansion</a:t>
                      </a:r>
                    </a:p>
                  </a:txBody>
                  <a:tcPr>
                    <a:solidFill>
                      <a:srgbClr val="F5F7FA"/>
                    </a:solidFill>
                  </a:tcPr>
                </a:tc>
                <a:tc>
                  <a:txBody>
                    <a:bodyPr/>
                    <a:lstStyle/>
                    <a:p>
                      <a:pPr algn="ctr"/>
                      <a:r>
                        <a:rPr sz="800" b="0">
                          <a:solidFill>
                            <a:srgbClr val="1A1A1A"/>
                          </a:solidFill>
                        </a:rPr>
                        <a:t>Moderee</a:t>
                      </a:r>
                    </a:p>
                  </a:txBody>
                  <a:tcPr>
                    <a:solidFill>
                      <a:srgbClr val="F5F7FA"/>
                    </a:solidFill>
                  </a:tcPr>
                </a:tc>
                <a:tc>
                  <a:txBody>
                    <a:bodyPr/>
                    <a:lstStyle/>
                    <a:p>
                      <a:pPr algn="ctr"/>
                      <a:r>
                        <a:rPr sz="800" b="0">
                          <a:solidFill>
                            <a:srgbClr val="1A1A1A"/>
                          </a:solidFill>
                        </a:rPr>
                        <a:t>Moderee</a:t>
                      </a:r>
                    </a:p>
                  </a:txBody>
                  <a:tcPr>
                    <a:solidFill>
                      <a:srgbClr val="F5F7FA"/>
                    </a:solidFill>
                  </a:tcPr>
                </a:tc>
                <a:tc>
                  <a:txBody>
                    <a:bodyPr/>
                    <a:lstStyle/>
                    <a:p>
                      <a:pPr algn="ctr"/>
                      <a:r>
                        <a:rPr sz="800" b="0">
                          <a:solidFill>
                            <a:srgbClr val="B06000"/>
                          </a:solidFill>
                        </a:rPr>
                        <a:t>Neutre</a:t>
                      </a:r>
                    </a:p>
                  </a:txBody>
                  <a:tcPr>
                    <a:solidFill>
                      <a:srgbClr val="FDF3E5"/>
                    </a:solidFill>
                  </a:tcPr>
                </a:tc>
              </a:tr>
              <a:tr h="234000">
                <a:tc>
                  <a:txBody>
                    <a:bodyPr/>
                    <a:lstStyle/>
                    <a:p>
                      <a:pPr algn="ctr"/>
                      <a:r>
                        <a:rPr sz="800" b="0">
                          <a:solidFill>
                            <a:srgbClr val="1A1A1A"/>
                          </a:solidFill>
                        </a:rPr>
                        <a:t>Basic Materials</a:t>
                      </a:r>
                    </a:p>
                  </a:txBody>
                  <a:tcPr>
                    <a:noFill/>
                  </a:tcPr>
                </a:tc>
                <a:tc>
                  <a:txBody>
                    <a:bodyPr/>
                    <a:lstStyle/>
                    <a:p>
                      <a:pPr algn="ctr"/>
                      <a:r>
                        <a:rPr sz="800" b="0">
                          <a:solidFill>
                            <a:srgbClr val="1A1A1A"/>
                          </a:solidFill>
                        </a:rPr>
                        <a:t>Expansion</a:t>
                      </a:r>
                    </a:p>
                  </a:txBody>
                  <a:tcPr>
                    <a:noFill/>
                  </a:tcPr>
                </a:tc>
                <a:tc>
                  <a:txBody>
                    <a:bodyPr/>
                    <a:lstStyle/>
                    <a:p>
                      <a:pPr algn="ctr"/>
                      <a:r>
                        <a:rPr sz="800" b="0">
                          <a:solidFill>
                            <a:srgbClr val="1A1A1A"/>
                          </a:solidFill>
                        </a:rPr>
                        <a:t>Moderee</a:t>
                      </a:r>
                    </a:p>
                  </a:txBody>
                  <a:tcPr>
                    <a:noFill/>
                  </a:tcPr>
                </a:tc>
                <a:tc>
                  <a:txBody>
                    <a:bodyPr/>
                    <a:lstStyle/>
                    <a:p>
                      <a:pPr algn="ctr"/>
                      <a:r>
                        <a:rPr sz="800" b="0">
                          <a:solidFill>
                            <a:srgbClr val="1A1A1A"/>
                          </a:solidFill>
                        </a:rPr>
                        <a:t>Moderee</a:t>
                      </a:r>
                    </a:p>
                  </a:txBody>
                  <a:tcPr>
                    <a:noFill/>
                  </a:tcPr>
                </a:tc>
                <a:tc>
                  <a:txBody>
                    <a:bodyPr/>
                    <a:lstStyle/>
                    <a:p>
                      <a:pPr algn="ctr"/>
                      <a:r>
                        <a:rPr sz="800" b="0">
                          <a:solidFill>
                            <a:srgbClr val="B06000"/>
                          </a:solidFill>
                        </a:rPr>
                        <a:t>Neutre</a:t>
                      </a:r>
                    </a:p>
                  </a:txBody>
                  <a:tcPr>
                    <a:solidFill>
                      <a:srgbClr val="FDF3E5"/>
                    </a:solidFill>
                  </a:tcPr>
                </a:tc>
              </a:tr>
              <a:tr h="234000">
                <a:tc>
                  <a:txBody>
                    <a:bodyPr/>
                    <a:lstStyle/>
                    <a:p>
                      <a:pPr algn="ctr"/>
                      <a:r>
                        <a:rPr sz="800" b="0">
                          <a:solidFill>
                            <a:srgbClr val="1A1A1A"/>
                          </a:solidFill>
                        </a:rPr>
                        <a:t>Industrials</a:t>
                      </a:r>
                    </a:p>
                  </a:txBody>
                  <a:tcPr>
                    <a:solidFill>
                      <a:srgbClr val="F5F7FA"/>
                    </a:solidFill>
                  </a:tcPr>
                </a:tc>
                <a:tc>
                  <a:txBody>
                    <a:bodyPr/>
                    <a:lstStyle/>
                    <a:p>
                      <a:pPr algn="ctr"/>
                      <a:r>
                        <a:rPr sz="800" b="0">
                          <a:solidFill>
                            <a:srgbClr val="1A1A1A"/>
                          </a:solidFill>
                        </a:rPr>
                        <a:t>Expansion</a:t>
                      </a:r>
                    </a:p>
                  </a:txBody>
                  <a:tcPr>
                    <a:solidFill>
                      <a:srgbClr val="F5F7FA"/>
                    </a:solidFill>
                  </a:tcPr>
                </a:tc>
                <a:tc>
                  <a:txBody>
                    <a:bodyPr/>
                    <a:lstStyle/>
                    <a:p>
                      <a:pPr algn="ctr"/>
                      <a:r>
                        <a:rPr sz="800" b="0">
                          <a:solidFill>
                            <a:srgbClr val="1A1A1A"/>
                          </a:solidFill>
                        </a:rPr>
                        <a:t>Faible</a:t>
                      </a:r>
                    </a:p>
                  </a:txBody>
                  <a:tcPr>
                    <a:solidFill>
                      <a:srgbClr val="F5F7FA"/>
                    </a:solidFill>
                  </a:tcPr>
                </a:tc>
                <a:tc>
                  <a:txBody>
                    <a:bodyPr/>
                    <a:lstStyle/>
                    <a:p>
                      <a:pPr algn="ctr"/>
                      <a:r>
                        <a:rPr sz="800" b="0">
                          <a:solidFill>
                            <a:srgbClr val="1A1A1A"/>
                          </a:solidFill>
                        </a:rPr>
                        <a:t>Elevee</a:t>
                      </a:r>
                    </a:p>
                  </a:txBody>
                  <a:tcPr>
                    <a:solidFill>
                      <a:srgbClr val="F5F7FA"/>
                    </a:solidFill>
                  </a:tcPr>
                </a:tc>
                <a:tc>
                  <a:txBody>
                    <a:bodyPr/>
                    <a:lstStyle/>
                    <a:p>
                      <a:pPr algn="ctr"/>
                      <a:r>
                        <a:rPr sz="800" b="0">
                          <a:solidFill>
                            <a:srgbClr val="B06000"/>
                          </a:solidFill>
                        </a:rPr>
                        <a:t>Neutre</a:t>
                      </a:r>
                    </a:p>
                  </a:txBody>
                  <a:tcPr>
                    <a:solidFill>
                      <a:srgbClr val="FDF3E5"/>
                    </a:solidFill>
                  </a:tcPr>
                </a:tc>
              </a:tr>
              <a:tr h="234000">
                <a:tc>
                  <a:txBody>
                    <a:bodyPr/>
                    <a:lstStyle/>
                    <a:p>
                      <a:pPr algn="ctr"/>
                      <a:r>
                        <a:rPr sz="800" b="0">
                          <a:solidFill>
                            <a:srgbClr val="1A1A1A"/>
                          </a:solidFill>
                        </a:rPr>
                        <a:t>Utilities</a:t>
                      </a:r>
                    </a:p>
                  </a:txBody>
                  <a:tcPr>
                    <a:noFill/>
                  </a:tcPr>
                </a:tc>
                <a:tc>
                  <a:txBody>
                    <a:bodyPr/>
                    <a:lstStyle/>
                    <a:p>
                      <a:pPr algn="ctr"/>
                      <a:r>
                        <a:rPr sz="800" b="0">
                          <a:solidFill>
                            <a:srgbClr val="1A1A1A"/>
                          </a:solidFill>
                        </a:rPr>
                        <a:t>Recession</a:t>
                      </a:r>
                    </a:p>
                  </a:txBody>
                  <a:tcPr>
                    <a:noFill/>
                  </a:tcPr>
                </a:tc>
                <a:tc>
                  <a:txBody>
                    <a:bodyPr/>
                    <a:lstStyle/>
                    <a:p>
                      <a:pPr algn="ctr"/>
                      <a:r>
                        <a:rPr sz="800" b="0">
                          <a:solidFill>
                            <a:srgbClr val="1A1A1A"/>
                          </a:solidFill>
                        </a:rPr>
                        <a:t>Elevee</a:t>
                      </a:r>
                    </a:p>
                  </a:txBody>
                  <a:tcPr>
                    <a:noFill/>
                  </a:tcPr>
                </a:tc>
                <a:tc>
                  <a:txBody>
                    <a:bodyPr/>
                    <a:lstStyle/>
                    <a:p>
                      <a:pPr algn="ctr"/>
                      <a:r>
                        <a:rPr sz="800" b="0">
                          <a:solidFill>
                            <a:srgbClr val="1A1A1A"/>
                          </a:solidFill>
                        </a:rPr>
                        <a:t>Faible</a:t>
                      </a:r>
                    </a:p>
                  </a:txBody>
                  <a:tcPr>
                    <a:noFill/>
                  </a:tcPr>
                </a:tc>
                <a:tc>
                  <a:txBody>
                    <a:bodyPr/>
                    <a:lstStyle/>
                    <a:p>
                      <a:pPr algn="ctr"/>
                      <a:r>
                        <a:rPr sz="800" b="0">
                          <a:solidFill>
                            <a:srgbClr val="B06000"/>
                          </a:solidFill>
                        </a:rPr>
                        <a:t>Neutre</a:t>
                      </a:r>
                    </a:p>
                  </a:txBody>
                  <a:tcPr>
                    <a:solidFill>
                      <a:srgbClr val="FDF3E5"/>
                    </a:solidFill>
                  </a:tcPr>
                </a:tc>
              </a:tr>
              <a:tr h="234000">
                <a:tc>
                  <a:txBody>
                    <a:bodyPr/>
                    <a:lstStyle/>
                    <a:p>
                      <a:pPr algn="ctr"/>
                      <a:r>
                        <a:rPr sz="800" b="0">
                          <a:solidFill>
                            <a:srgbClr val="1A1A1A"/>
                          </a:solidFill>
                        </a:rPr>
                        <a:t>Consumer Cyclical</a:t>
                      </a:r>
                    </a:p>
                  </a:txBody>
                  <a:tcPr>
                    <a:solidFill>
                      <a:srgbClr val="F5F7FA"/>
                    </a:solidFill>
                  </a:tcPr>
                </a:tc>
                <a:tc>
                  <a:txBody>
                    <a:bodyPr/>
                    <a:lstStyle/>
                    <a:p>
                      <a:pPr algn="ctr"/>
                      <a:r>
                        <a:rPr sz="800" b="0">
                          <a:solidFill>
                            <a:srgbClr val="1A1A1A"/>
                          </a:solidFill>
                        </a:rPr>
                        <a:t>Expansion</a:t>
                      </a:r>
                    </a:p>
                  </a:txBody>
                  <a:tcPr>
                    <a:solidFill>
                      <a:srgbClr val="F5F7FA"/>
                    </a:solidFill>
                  </a:tcPr>
                </a:tc>
                <a:tc>
                  <a:txBody>
                    <a:bodyPr/>
                    <a:lstStyle/>
                    <a:p>
                      <a:pPr algn="ctr"/>
                      <a:r>
                        <a:rPr sz="800" b="0">
                          <a:solidFill>
                            <a:srgbClr val="1A1A1A"/>
                          </a:solidFill>
                        </a:rPr>
                        <a:t>Moderee</a:t>
                      </a:r>
                    </a:p>
                  </a:txBody>
                  <a:tcPr>
                    <a:solidFill>
                      <a:srgbClr val="F5F7FA"/>
                    </a:solidFill>
                  </a:tcPr>
                </a:tc>
                <a:tc>
                  <a:txBody>
                    <a:bodyPr/>
                    <a:lstStyle/>
                    <a:p>
                      <a:pPr algn="ctr"/>
                      <a:r>
                        <a:rPr sz="800" b="0">
                          <a:solidFill>
                            <a:srgbClr val="1A1A1A"/>
                          </a:solidFill>
                        </a:rPr>
                        <a:t>Moderee</a:t>
                      </a:r>
                    </a:p>
                  </a:txBody>
                  <a:tcPr>
                    <a:solidFill>
                      <a:srgbClr val="F5F7FA"/>
                    </a:solidFill>
                  </a:tcPr>
                </a:tc>
                <a:tc>
                  <a:txBody>
                    <a:bodyPr/>
                    <a:lstStyle/>
                    <a:p>
                      <a:pPr algn="ctr"/>
                      <a:r>
                        <a:rPr sz="800" b="0">
                          <a:solidFill>
                            <a:srgbClr val="B06000"/>
                          </a:solidFill>
                        </a:rPr>
                        <a:t>Neutre</a:t>
                      </a:r>
                    </a:p>
                  </a:txBody>
                  <a:tcPr>
                    <a:solidFill>
                      <a:srgbClr val="FDF3E5"/>
                    </a:solidFill>
                  </a:tcPr>
                </a:tc>
              </a:tr>
              <a:tr h="234000">
                <a:tc>
                  <a:txBody>
                    <a:bodyPr/>
                    <a:lstStyle/>
                    <a:p>
                      <a:pPr algn="ctr"/>
                      <a:r>
                        <a:rPr sz="800" b="0">
                          <a:solidFill>
                            <a:srgbClr val="1A1A1A"/>
                          </a:solidFill>
                        </a:rPr>
                        <a:t>Comm. Services</a:t>
                      </a:r>
                    </a:p>
                  </a:txBody>
                  <a:tcPr>
                    <a:noFill/>
                  </a:tcPr>
                </a:tc>
                <a:tc>
                  <a:txBody>
                    <a:bodyPr/>
                    <a:lstStyle/>
                    <a:p>
                      <a:pPr algn="ctr"/>
                      <a:r>
                        <a:rPr sz="800" b="0">
                          <a:solidFill>
                            <a:srgbClr val="1A1A1A"/>
                          </a:solidFill>
                        </a:rPr>
                        <a:t>Expansion</a:t>
                      </a:r>
                    </a:p>
                  </a:txBody>
                  <a:tcPr>
                    <a:noFill/>
                  </a:tcPr>
                </a:tc>
                <a:tc>
                  <a:txBody>
                    <a:bodyPr/>
                    <a:lstStyle/>
                    <a:p>
                      <a:pPr algn="ctr"/>
                      <a:r>
                        <a:rPr sz="800" b="0">
                          <a:solidFill>
                            <a:srgbClr val="1A1A1A"/>
                          </a:solidFill>
                        </a:rPr>
                        <a:t>Moderee</a:t>
                      </a:r>
                    </a:p>
                  </a:txBody>
                  <a:tcPr>
                    <a:noFill/>
                  </a:tcPr>
                </a:tc>
                <a:tc>
                  <a:txBody>
                    <a:bodyPr/>
                    <a:lstStyle/>
                    <a:p>
                      <a:pPr algn="ctr"/>
                      <a:r>
                        <a:rPr sz="800" b="0">
                          <a:solidFill>
                            <a:srgbClr val="1A1A1A"/>
                          </a:solidFill>
                        </a:rPr>
                        <a:t>Moderee</a:t>
                      </a:r>
                    </a:p>
                  </a:txBody>
                  <a:tcPr>
                    <a:noFill/>
                  </a:tcPr>
                </a:tc>
                <a:tc>
                  <a:txBody>
                    <a:bodyPr/>
                    <a:lstStyle/>
                    <a:p>
                      <a:pPr algn="ctr"/>
                      <a:r>
                        <a:rPr sz="800" b="0">
                          <a:solidFill>
                            <a:srgbClr val="B06000"/>
                          </a:solidFill>
                        </a:rPr>
                        <a:t>Alléger</a:t>
                      </a:r>
                    </a:p>
                  </a:txBody>
                  <a:tcPr>
                    <a:solidFill>
                      <a:srgbClr val="FDF3E5"/>
                    </a:solidFill>
                  </a:tcPr>
                </a:tc>
              </a:tr>
              <a:tr h="234000">
                <a:tc>
                  <a:txBody>
                    <a:bodyPr/>
                    <a:lstStyle/>
                    <a:p>
                      <a:pPr algn="ctr"/>
                      <a:r>
                        <a:rPr sz="800" b="0">
                          <a:solidFill>
                            <a:srgbClr val="1A1A1A"/>
                          </a:solidFill>
                        </a:rPr>
                        <a:t>Technology</a:t>
                      </a:r>
                    </a:p>
                  </a:txBody>
                  <a:tcPr>
                    <a:solidFill>
                      <a:srgbClr val="F5F7FA"/>
                    </a:solidFill>
                  </a:tcPr>
                </a:tc>
                <a:tc>
                  <a:txBody>
                    <a:bodyPr/>
                    <a:lstStyle/>
                    <a:p>
                      <a:pPr algn="ctr"/>
                      <a:r>
                        <a:rPr sz="800" b="0">
                          <a:solidFill>
                            <a:srgbClr val="1A1A1A"/>
                          </a:solidFill>
                        </a:rPr>
                        <a:t>Expansion</a:t>
                      </a:r>
                    </a:p>
                  </a:txBody>
                  <a:tcPr>
                    <a:solidFill>
                      <a:srgbClr val="F5F7FA"/>
                    </a:solidFill>
                  </a:tcPr>
                </a:tc>
                <a:tc>
                  <a:txBody>
                    <a:bodyPr/>
                    <a:lstStyle/>
                    <a:p>
                      <a:pPr algn="ctr"/>
                      <a:r>
                        <a:rPr sz="800" b="0">
                          <a:solidFill>
                            <a:srgbClr val="1A1A1A"/>
                          </a:solidFill>
                        </a:rPr>
                        <a:t>Faible</a:t>
                      </a:r>
                    </a:p>
                  </a:txBody>
                  <a:tcPr>
                    <a:solidFill>
                      <a:srgbClr val="F5F7FA"/>
                    </a:solidFill>
                  </a:tcPr>
                </a:tc>
                <a:tc>
                  <a:txBody>
                    <a:bodyPr/>
                    <a:lstStyle/>
                    <a:p>
                      <a:pPr algn="ctr"/>
                      <a:r>
                        <a:rPr sz="800" b="0">
                          <a:solidFill>
                            <a:srgbClr val="1A1A1A"/>
                          </a:solidFill>
                        </a:rPr>
                        <a:t>Elevee</a:t>
                      </a:r>
                    </a:p>
                  </a:txBody>
                  <a:tcPr>
                    <a:solidFill>
                      <a:srgbClr val="F5F7FA"/>
                    </a:solidFill>
                  </a:tcPr>
                </a:tc>
                <a:tc>
                  <a:txBody>
                    <a:bodyPr/>
                    <a:lstStyle/>
                    <a:p>
                      <a:pPr algn="ctr"/>
                      <a:r>
                        <a:rPr sz="800" b="0">
                          <a:solidFill>
                            <a:srgbClr val="B06000"/>
                          </a:solidFill>
                        </a:rPr>
                        <a:t>Alléger</a:t>
                      </a:r>
                    </a:p>
                  </a:txBody>
                  <a:tcPr>
                    <a:solidFill>
                      <a:srgbClr val="FDF3E5"/>
                    </a:solidFill>
                  </a:tcPr>
                </a:tc>
              </a:tr>
              <a:tr h="234000">
                <a:tc>
                  <a:txBody>
                    <a:bodyPr/>
                    <a:lstStyle/>
                    <a:p>
                      <a:pPr algn="ctr"/>
                      <a:r>
                        <a:rPr sz="800" b="0">
                          <a:solidFill>
                            <a:srgbClr val="1A1A1A"/>
                          </a:solidFill>
                        </a:rPr>
                        <a:t>Energy</a:t>
                      </a:r>
                    </a:p>
                  </a:txBody>
                  <a:tcPr>
                    <a:noFill/>
                  </a:tcPr>
                </a:tc>
                <a:tc>
                  <a:txBody>
                    <a:bodyPr/>
                    <a:lstStyle/>
                    <a:p>
                      <a:pPr algn="ctr"/>
                      <a:r>
                        <a:rPr sz="800" b="0">
                          <a:solidFill>
                            <a:srgbClr val="1A1A1A"/>
                          </a:solidFill>
                        </a:rPr>
                        <a:t>Expansion</a:t>
                      </a:r>
                    </a:p>
                  </a:txBody>
                  <a:tcPr>
                    <a:noFill/>
                  </a:tcPr>
                </a:tc>
                <a:tc>
                  <a:txBody>
                    <a:bodyPr/>
                    <a:lstStyle/>
                    <a:p>
                      <a:pPr algn="ctr"/>
                      <a:r>
                        <a:rPr sz="800" b="0">
                          <a:solidFill>
                            <a:srgbClr val="1A1A1A"/>
                          </a:solidFill>
                        </a:rPr>
                        <a:t>Faible</a:t>
                      </a:r>
                    </a:p>
                  </a:txBody>
                  <a:tcPr>
                    <a:noFill/>
                  </a:tcPr>
                </a:tc>
                <a:tc>
                  <a:txBody>
                    <a:bodyPr/>
                    <a:lstStyle/>
                    <a:p>
                      <a:pPr algn="ctr"/>
                      <a:r>
                        <a:rPr sz="800" b="0">
                          <a:solidFill>
                            <a:srgbClr val="1A1A1A"/>
                          </a:solidFill>
                        </a:rPr>
                        <a:t>Moderee</a:t>
                      </a:r>
                    </a:p>
                  </a:txBody>
                  <a:tcPr>
                    <a:noFill/>
                  </a:tcPr>
                </a:tc>
                <a:tc>
                  <a:txBody>
                    <a:bodyPr/>
                    <a:lstStyle/>
                    <a:p>
                      <a:pPr algn="ctr"/>
                      <a:r>
                        <a:rPr sz="800" b="0">
                          <a:solidFill>
                            <a:srgbClr val="B06000"/>
                          </a:solidFill>
                        </a:rPr>
                        <a:t>Alléger</a:t>
                      </a:r>
                    </a:p>
                  </a:txBody>
                  <a:tcPr>
                    <a:solidFill>
                      <a:srgbClr val="FDF3E5"/>
                    </a:solidFill>
                  </a:tcPr>
                </a:tc>
              </a:tr>
            </a:tbl>
          </a:graphicData>
        </a:graphic>
      </p:graphicFrame>
      <p:sp>
        <p:nvSpPr>
          <p:cNvPr id="16" name="Rectangle 15"/>
          <p:cNvSpPr/>
          <p:nvPr/>
        </p:nvSpPr>
        <p:spPr>
          <a:xfrm>
            <a:off x="324000" y="3744000"/>
            <a:ext cx="8496000" cy="106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744000"/>
            <a:ext cx="43200" cy="106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2000" y="3798000"/>
            <a:ext cx="8208000" cy="216000"/>
          </a:xfrm>
          <a:prstGeom prst="rect">
            <a:avLst/>
          </a:prstGeom>
          <a:noFill/>
        </p:spPr>
        <p:txBody>
          <a:bodyPr wrap="square">
            <a:spAutoFit/>
          </a:bodyPr>
          <a:lstStyle/>
          <a:p>
            <a:pPr algn="l"/>
            <a:r>
              <a:rPr sz="800" b="1" i="0">
                <a:solidFill>
                  <a:srgbClr val="1B3A6B"/>
                </a:solidFill>
              </a:rPr>
              <a:t>Positionnement de cycle — Synthèse et catalyseur de rotation</a:t>
            </a:r>
          </a:p>
        </p:txBody>
      </p:sp>
      <p:sp>
        <p:nvSpPr>
          <p:cNvPr id="19" name="TextBox 18"/>
          <p:cNvSpPr txBox="1"/>
          <p:nvPr/>
        </p:nvSpPr>
        <p:spPr>
          <a:xfrm>
            <a:off x="432000" y="4032000"/>
            <a:ext cx="8208000" cy="737999"/>
          </a:xfrm>
          <a:prstGeom prst="rect">
            <a:avLst/>
          </a:prstGeom>
          <a:noFill/>
        </p:spPr>
        <p:txBody>
          <a:bodyPr wrap="square">
            <a:spAutoFit/>
          </a:bodyPr>
          <a:lstStyle/>
          <a:p>
            <a:pPr algn="l"/>
            <a:r>
              <a:rPr sz="750" b="0" i="0">
                <a:solidFill>
                  <a:srgbClr val="555555"/>
                </a:solidFill>
              </a:rPr>
              <a:t>L'analyse du cycle economique actuel oriente le positionnement vers les secteurs a forte visibilite de BPA et resilience des marges. La sensibilite aux taux reste le principal facteur de differentiation. Favoriser Healthcare / Real Estate dans un contexte de croissance moderee.</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Sentiment FinBERT Agrégé</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sémantique FinBERT  ·  400 articles  ·  7 jours glissants  ·  11 secteurs</a:t>
            </a:r>
          </a:p>
        </p:txBody>
      </p:sp>
      <p:sp>
        <p:nvSpPr>
          <p:cNvPr id="15" name="Rectangle 14"/>
          <p:cNvSpPr/>
          <p:nvPr/>
        </p:nvSpPr>
        <p:spPr>
          <a:xfrm>
            <a:off x="324000" y="827999"/>
            <a:ext cx="2088000" cy="12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27999"/>
            <a:ext cx="43200" cy="126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2000" y="900000"/>
            <a:ext cx="1908000" cy="576000"/>
          </a:xfrm>
          <a:prstGeom prst="rect">
            <a:avLst/>
          </a:prstGeom>
          <a:noFill/>
        </p:spPr>
        <p:txBody>
          <a:bodyPr wrap="square">
            <a:spAutoFit/>
          </a:bodyPr>
          <a:lstStyle/>
          <a:p>
            <a:pPr algn="l"/>
            <a:r>
              <a:rPr sz="3200" b="1" i="0">
                <a:solidFill>
                  <a:srgbClr val="B06000"/>
                </a:solidFill>
              </a:rPr>
              <a:t>~0.00</a:t>
            </a:r>
          </a:p>
        </p:txBody>
      </p:sp>
      <p:sp>
        <p:nvSpPr>
          <p:cNvPr id="18" name="TextBox 17"/>
          <p:cNvSpPr txBox="1"/>
          <p:nvPr/>
        </p:nvSpPr>
        <p:spPr>
          <a:xfrm>
            <a:off x="432000" y="1458000"/>
            <a:ext cx="1908000" cy="198000"/>
          </a:xfrm>
          <a:prstGeom prst="rect">
            <a:avLst/>
          </a:prstGeom>
          <a:noFill/>
        </p:spPr>
        <p:txBody>
          <a:bodyPr wrap="square">
            <a:spAutoFit/>
          </a:bodyPr>
          <a:lstStyle/>
          <a:p>
            <a:pPr algn="l"/>
            <a:r>
              <a:rPr sz="800" b="0" i="0">
                <a:solidFill>
                  <a:srgbClr val="555555"/>
                </a:solidFill>
              </a:rPr>
              <a:t>Score agrégé FinBERT</a:t>
            </a:r>
          </a:p>
        </p:txBody>
      </p:sp>
      <p:sp>
        <p:nvSpPr>
          <p:cNvPr id="19" name="TextBox 18"/>
          <p:cNvSpPr txBox="1"/>
          <p:nvPr/>
        </p:nvSpPr>
        <p:spPr>
          <a:xfrm>
            <a:off x="432000" y="1638000"/>
            <a:ext cx="1908000" cy="180000"/>
          </a:xfrm>
          <a:prstGeom prst="rect">
            <a:avLst/>
          </a:prstGeom>
          <a:noFill/>
        </p:spPr>
        <p:txBody>
          <a:bodyPr wrap="square">
            <a:spAutoFit/>
          </a:bodyPr>
          <a:lstStyle/>
          <a:p>
            <a:pPr algn="l"/>
            <a:r>
              <a:rPr sz="850" b="1" i="0">
                <a:solidFill>
                  <a:srgbClr val="B06000"/>
                </a:solidFill>
              </a:rPr>
              <a:t>Neutre</a:t>
            </a:r>
          </a:p>
        </p:txBody>
      </p:sp>
      <p:sp>
        <p:nvSpPr>
          <p:cNvPr id="20" name="Rectangle 19"/>
          <p:cNvSpPr/>
          <p:nvPr/>
        </p:nvSpPr>
        <p:spPr>
          <a:xfrm>
            <a:off x="2592000" y="827999"/>
            <a:ext cx="2808000" cy="3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92000" y="827999"/>
            <a:ext cx="1123200" cy="36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664000" y="845999"/>
            <a:ext cx="1080000" cy="162000"/>
          </a:xfrm>
          <a:prstGeom prst="rect">
            <a:avLst/>
          </a:prstGeom>
          <a:noFill/>
        </p:spPr>
        <p:txBody>
          <a:bodyPr wrap="square">
            <a:spAutoFit/>
          </a:bodyPr>
          <a:lstStyle/>
          <a:p>
            <a:pPr algn="l"/>
            <a:r>
              <a:rPr sz="850" b="1" i="0">
                <a:solidFill>
                  <a:srgbClr val="FFFFFF"/>
                </a:solidFill>
              </a:rPr>
              <a:t>Positif</a:t>
            </a:r>
          </a:p>
        </p:txBody>
      </p:sp>
      <p:sp>
        <p:nvSpPr>
          <p:cNvPr id="23" name="TextBox 22"/>
          <p:cNvSpPr txBox="1"/>
          <p:nvPr/>
        </p:nvSpPr>
        <p:spPr>
          <a:xfrm>
            <a:off x="2664000" y="1007999"/>
            <a:ext cx="2520000" cy="162000"/>
          </a:xfrm>
          <a:prstGeom prst="rect">
            <a:avLst/>
          </a:prstGeom>
          <a:noFill/>
        </p:spPr>
        <p:txBody>
          <a:bodyPr wrap="square">
            <a:spAutoFit/>
          </a:bodyPr>
          <a:lstStyle/>
          <a:p>
            <a:pPr algn="l"/>
            <a:r>
              <a:rPr sz="800" b="0" i="0">
                <a:solidFill>
                  <a:srgbClr val="FFFFFF"/>
                </a:solidFill>
              </a:rPr>
              <a:t>16 articles (40 %)</a:t>
            </a:r>
          </a:p>
        </p:txBody>
      </p:sp>
      <p:sp>
        <p:nvSpPr>
          <p:cNvPr id="24" name="Rectangle 23"/>
          <p:cNvSpPr/>
          <p:nvPr/>
        </p:nvSpPr>
        <p:spPr>
          <a:xfrm>
            <a:off x="2592000" y="1242000"/>
            <a:ext cx="2808000" cy="3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592000" y="1242000"/>
            <a:ext cx="1263600" cy="360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664000" y="1259999"/>
            <a:ext cx="1080000" cy="162000"/>
          </a:xfrm>
          <a:prstGeom prst="rect">
            <a:avLst/>
          </a:prstGeom>
          <a:noFill/>
        </p:spPr>
        <p:txBody>
          <a:bodyPr wrap="square">
            <a:spAutoFit/>
          </a:bodyPr>
          <a:lstStyle/>
          <a:p>
            <a:pPr algn="l"/>
            <a:r>
              <a:rPr sz="850" b="1" i="0">
                <a:solidFill>
                  <a:srgbClr val="FFFFFF"/>
                </a:solidFill>
              </a:rPr>
              <a:t>Neutre</a:t>
            </a:r>
          </a:p>
        </p:txBody>
      </p:sp>
      <p:sp>
        <p:nvSpPr>
          <p:cNvPr id="27" name="TextBox 26"/>
          <p:cNvSpPr txBox="1"/>
          <p:nvPr/>
        </p:nvSpPr>
        <p:spPr>
          <a:xfrm>
            <a:off x="2664000" y="1422000"/>
            <a:ext cx="2520000" cy="162000"/>
          </a:xfrm>
          <a:prstGeom prst="rect">
            <a:avLst/>
          </a:prstGeom>
          <a:noFill/>
        </p:spPr>
        <p:txBody>
          <a:bodyPr wrap="square">
            <a:spAutoFit/>
          </a:bodyPr>
          <a:lstStyle/>
          <a:p>
            <a:pPr algn="l"/>
            <a:r>
              <a:rPr sz="800" b="0" i="0">
                <a:solidFill>
                  <a:srgbClr val="FFFFFF"/>
                </a:solidFill>
              </a:rPr>
              <a:t>18 articles (45 %)</a:t>
            </a:r>
          </a:p>
        </p:txBody>
      </p:sp>
      <p:sp>
        <p:nvSpPr>
          <p:cNvPr id="28" name="Rectangle 27"/>
          <p:cNvSpPr/>
          <p:nvPr/>
        </p:nvSpPr>
        <p:spPr>
          <a:xfrm>
            <a:off x="2592000" y="1655999"/>
            <a:ext cx="2808000" cy="3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000" y="1655999"/>
            <a:ext cx="421200" cy="36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664000" y="1673999"/>
            <a:ext cx="1080000" cy="162000"/>
          </a:xfrm>
          <a:prstGeom prst="rect">
            <a:avLst/>
          </a:prstGeom>
          <a:noFill/>
        </p:spPr>
        <p:txBody>
          <a:bodyPr wrap="square">
            <a:spAutoFit/>
          </a:bodyPr>
          <a:lstStyle/>
          <a:p>
            <a:pPr algn="l"/>
            <a:r>
              <a:rPr sz="850" b="1" i="0">
                <a:solidFill>
                  <a:srgbClr val="1A1A1A"/>
                </a:solidFill>
              </a:rPr>
              <a:t>Négatif</a:t>
            </a:r>
          </a:p>
        </p:txBody>
      </p:sp>
      <p:sp>
        <p:nvSpPr>
          <p:cNvPr id="31" name="TextBox 30"/>
          <p:cNvSpPr txBox="1"/>
          <p:nvPr/>
        </p:nvSpPr>
        <p:spPr>
          <a:xfrm>
            <a:off x="2664000" y="1835999"/>
            <a:ext cx="2520000" cy="162000"/>
          </a:xfrm>
          <a:prstGeom prst="rect">
            <a:avLst/>
          </a:prstGeom>
          <a:noFill/>
        </p:spPr>
        <p:txBody>
          <a:bodyPr wrap="square">
            <a:spAutoFit/>
          </a:bodyPr>
          <a:lstStyle/>
          <a:p>
            <a:pPr algn="l"/>
            <a:r>
              <a:rPr sz="800" b="0" i="0">
                <a:solidFill>
                  <a:srgbClr val="1A1A1A"/>
                </a:solidFill>
              </a:rPr>
              <a:t>6 articles (15 %)</a:t>
            </a:r>
          </a:p>
        </p:txBody>
      </p:sp>
      <p:sp>
        <p:nvSpPr>
          <p:cNvPr id="32" name="TextBox 31"/>
          <p:cNvSpPr txBox="1"/>
          <p:nvPr/>
        </p:nvSpPr>
        <p:spPr>
          <a:xfrm>
            <a:off x="5580000" y="827999"/>
            <a:ext cx="3168000" cy="180000"/>
          </a:xfrm>
          <a:prstGeom prst="rect">
            <a:avLst/>
          </a:prstGeom>
          <a:noFill/>
        </p:spPr>
        <p:txBody>
          <a:bodyPr wrap="square">
            <a:spAutoFit/>
          </a:bodyPr>
          <a:lstStyle/>
          <a:p>
            <a:pPr algn="l"/>
            <a:r>
              <a:rPr sz="850" b="1" i="0">
                <a:solidFill>
                  <a:srgbClr val="1B3A6B"/>
                </a:solidFill>
              </a:rPr>
              <a:t>Thèmes dominants</a:t>
            </a:r>
          </a:p>
        </p:txBody>
      </p:sp>
      <p:sp>
        <p:nvSpPr>
          <p:cNvPr id="33" name="Rectangle 32"/>
          <p:cNvSpPr/>
          <p:nvPr/>
        </p:nvSpPr>
        <p:spPr>
          <a:xfrm>
            <a:off x="5580000" y="1044000"/>
            <a:ext cx="3168000" cy="45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52000" y="1062000"/>
            <a:ext cx="3024000" cy="413999"/>
          </a:xfrm>
          <a:prstGeom prst="rect">
            <a:avLst/>
          </a:prstGeom>
          <a:noFill/>
        </p:spPr>
        <p:txBody>
          <a:bodyPr wrap="square">
            <a:spAutoFit/>
          </a:bodyPr>
          <a:lstStyle/>
          <a:p>
            <a:pPr algn="l"/>
            <a:r>
              <a:rPr sz="800" b="0" i="0">
                <a:solidFill>
                  <a:srgbClr val="555555"/>
                </a:solidFill>
              </a:rPr>
              <a:t>+ Healthcare  ·  Real Estate</a:t>
            </a:r>
          </a:p>
        </p:txBody>
      </p:sp>
      <p:sp>
        <p:nvSpPr>
          <p:cNvPr id="35" name="Rectangle 34"/>
          <p:cNvSpPr/>
          <p:nvPr/>
        </p:nvSpPr>
        <p:spPr>
          <a:xfrm>
            <a:off x="5580000" y="1530000"/>
            <a:ext cx="3168000" cy="45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52000" y="1548000"/>
            <a:ext cx="3024000" cy="413999"/>
          </a:xfrm>
          <a:prstGeom prst="rect">
            <a:avLst/>
          </a:prstGeom>
          <a:noFill/>
        </p:spPr>
        <p:txBody>
          <a:bodyPr wrap="square">
            <a:spAutoFit/>
          </a:bodyPr>
          <a:lstStyle/>
          <a:p>
            <a:pPr algn="l"/>
            <a:r>
              <a:rPr sz="800" b="0" i="0">
                <a:solidFill>
                  <a:srgbClr val="555555"/>
                </a:solidFill>
              </a:rPr>
              <a:t>- Communication Services  ·  Technology</a:t>
            </a:r>
          </a:p>
        </p:txBody>
      </p:sp>
      <p:sp>
        <p:nvSpPr>
          <p:cNvPr id="37" name="TextBox 36"/>
          <p:cNvSpPr txBox="1"/>
          <p:nvPr/>
        </p:nvSpPr>
        <p:spPr>
          <a:xfrm>
            <a:off x="324000" y="2124000"/>
            <a:ext cx="8496000" cy="198000"/>
          </a:xfrm>
          <a:prstGeom prst="rect">
            <a:avLst/>
          </a:prstGeom>
          <a:noFill/>
        </p:spPr>
        <p:txBody>
          <a:bodyPr wrap="square">
            <a:spAutoFit/>
          </a:bodyPr>
          <a:lstStyle/>
          <a:p>
            <a:pPr algn="l"/>
            <a:r>
              <a:rPr sz="800" b="1" i="0">
                <a:solidFill>
                  <a:srgbClr val="1B3A6B"/>
                </a:solidFill>
              </a:rPr>
              <a:t>Distribution sentiment par secteur</a:t>
            </a:r>
          </a:p>
        </p:txBody>
      </p:sp>
      <p:pic>
        <p:nvPicPr>
          <p:cNvPr id="38" name="Picture 37" descr="image.png"/>
          <p:cNvPicPr>
            <a:picLocks noChangeAspect="1"/>
          </p:cNvPicPr>
          <p:nvPr/>
        </p:nvPicPr>
        <p:blipFill>
          <a:blip r:embed="rId2"/>
          <a:stretch>
            <a:fillRect/>
          </a:stretch>
        </p:blipFill>
        <p:spPr>
          <a:xfrm>
            <a:off x="324000" y="2340000"/>
            <a:ext cx="8496000" cy="2520000"/>
          </a:xfrm>
          <a:prstGeom prst="rect">
            <a:avLst/>
          </a:prstGeom>
        </p:spPr>
      </p:pic>
      <p:sp>
        <p:nvSpPr>
          <p:cNvPr id="39" name="Rectangle 38"/>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Performance des ETF Sectoriels — 52 Semaines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1A1A1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CAC 40  ·  ETF sectoriels SPDR/iShares  ·  Indexe a 100 au debut de la periode  ·  Donnees yfinance</a:t>
            </a:r>
          </a:p>
        </p:txBody>
      </p:sp>
      <p:sp>
        <p:nvSpPr>
          <p:cNvPr id="15" name="TextBox 14"/>
          <p:cNvSpPr txBox="1"/>
          <p:nvPr/>
        </p:nvSpPr>
        <p:spPr>
          <a:xfrm>
            <a:off x="324000" y="756000"/>
            <a:ext cx="8496000" cy="198000"/>
          </a:xfrm>
          <a:prstGeom prst="rect">
            <a:avLst/>
          </a:prstGeom>
          <a:noFill/>
        </p:spPr>
        <p:txBody>
          <a:bodyPr wrap="square">
            <a:spAutoFit/>
          </a:bodyPr>
          <a:lstStyle/>
          <a:p>
            <a:pPr algn="l"/>
            <a:r>
              <a:rPr sz="850" b="1" i="0">
                <a:solidFill>
                  <a:srgbClr val="1B3A6B"/>
                </a:solidFill>
              </a:rPr>
              <a:t>Scores sectoriels FinSight — synthese allocataire</a:t>
            </a:r>
          </a:p>
        </p:txBody>
      </p:sp>
      <p:graphicFrame>
        <p:nvGraphicFramePr>
          <p:cNvPr id="16" name="Table 15"/>
          <p:cNvGraphicFramePr>
            <a:graphicFrameLocks noGrp="1"/>
          </p:cNvGraphicFramePr>
          <p:nvPr/>
        </p:nvGraphicFramePr>
        <p:xfrm>
          <a:off x="324000" y="990000"/>
          <a:ext cx="8495995" cy="3042000"/>
        </p:xfrm>
        <a:graphic>
          <a:graphicData uri="http://schemas.openxmlformats.org/drawingml/2006/table">
            <a:tbl>
              <a:tblPr firstRow="1" bandRow="1">
                <a:tableStyleId>{5C22544A-7EE6-4342-B048-85BDC9FD1C3A}</a:tableStyleId>
              </a:tblPr>
              <a:tblGrid>
                <a:gridCol w="545197"/>
                <a:gridCol w="2271657"/>
                <a:gridCol w="681497"/>
                <a:gridCol w="1590160"/>
                <a:gridCol w="1135828"/>
                <a:gridCol w="1135828"/>
                <a:gridCol w="1135828"/>
              </a:tblGrid>
              <a:tr h="253500">
                <a:tc>
                  <a:txBody>
                    <a:bodyPr/>
                    <a:lstStyle/>
                    <a:p>
                      <a:pPr algn="ctr"/>
                      <a:r>
                        <a:rPr sz="800" b="1">
                          <a:solidFill>
                            <a:srgbClr val="FFFFFF"/>
                          </a:solidFill>
                        </a:rPr>
                        <a:t>Rang</a:t>
                      </a:r>
                    </a:p>
                  </a:txBody>
                  <a:tcPr>
                    <a:solidFill>
                      <a:srgbClr val="1B3A6B"/>
                    </a:solidFill>
                  </a:tcPr>
                </a:tc>
                <a:tc>
                  <a:txBody>
                    <a:bodyPr/>
                    <a:lstStyle/>
                    <a:p>
                      <a:pPr algn="ctr"/>
                      <a:r>
                        <a:rPr sz="800" b="1">
                          <a:solidFill>
                            <a:srgbClr val="FFFFFF"/>
                          </a:solidFill>
                        </a:rPr>
                        <a:t>Secteur</a:t>
                      </a:r>
                    </a:p>
                  </a:txBody>
                  <a:tcPr>
                    <a:solidFill>
                      <a:srgbClr val="1B3A6B"/>
                    </a:solidFill>
                  </a:tcPr>
                </a:tc>
                <a:tc>
                  <a:txBody>
                    <a:bodyPr/>
                    <a:lstStyle/>
                    <a:p>
                      <a:pPr algn="ctr"/>
                      <a:r>
                        <a:rPr sz="800" b="1">
                          <a:solidFill>
                            <a:srgbClr val="FFFFFF"/>
                          </a:solidFill>
                        </a:rPr>
                        <a:t>Score</a:t>
                      </a:r>
                    </a:p>
                  </a:txBody>
                  <a:tcPr>
                    <a:solidFill>
                      <a:srgbClr val="1B3A6B"/>
                    </a:solidFill>
                  </a:tcPr>
                </a:tc>
                <a:tc>
                  <a:txBody>
                    <a:bodyPr/>
                    <a:lstStyle/>
                    <a:p>
                      <a:pPr algn="ctr"/>
                      <a:r>
                        <a:rPr sz="800" b="1">
                          <a:solidFill>
                            <a:srgbClr val="FFFFFF"/>
                          </a:solidFill>
                        </a:rPr>
                        <a:t>Signal</a:t>
                      </a:r>
                    </a:p>
                  </a:txBody>
                  <a:tcPr>
                    <a:solidFill>
                      <a:srgbClr val="1B3A6B"/>
                    </a:solidFill>
                  </a:tcPr>
                </a:tc>
                <a:tc>
                  <a:txBody>
                    <a:bodyPr/>
                    <a:lstStyle/>
                    <a:p>
                      <a:pPr algn="ctr"/>
                      <a:r>
                        <a:rPr sz="800" b="1">
                          <a:solidFill>
                            <a:srgbClr val="FFFFFF"/>
                          </a:solidFill>
                        </a:rPr>
                        <a:t>EV/EBITDA</a:t>
                      </a:r>
                    </a:p>
                  </a:txBody>
                  <a:tcPr>
                    <a:solidFill>
                      <a:srgbClr val="1B3A6B"/>
                    </a:solidFill>
                  </a:tcPr>
                </a:tc>
                <a:tc>
                  <a:txBody>
                    <a:bodyPr/>
                    <a:lstStyle/>
                    <a:p>
                      <a:pPr algn="ctr"/>
                      <a:r>
                        <a:rPr sz="800" b="1">
                          <a:solidFill>
                            <a:srgbClr val="FFFFFF"/>
                          </a:solidFill>
                        </a:rPr>
                        <a:t>Mg.EBITDA</a:t>
                      </a:r>
                    </a:p>
                  </a:txBody>
                  <a:tcPr>
                    <a:solidFill>
                      <a:srgbClr val="1B3A6B"/>
                    </a:solidFill>
                  </a:tcPr>
                </a:tc>
                <a:tc>
                  <a:txBody>
                    <a:bodyPr/>
                    <a:lstStyle/>
                    <a:p>
                      <a:pPr algn="ctr"/>
                      <a:r>
                        <a:rPr sz="800" b="1">
                          <a:solidFill>
                            <a:srgbClr val="FFFFFF"/>
                          </a:solidFill>
                        </a:rPr>
                        <a:t>Croiss.</a:t>
                      </a:r>
                    </a:p>
                  </a:txBody>
                  <a:tcPr>
                    <a:solidFill>
                      <a:srgbClr val="1B3A6B"/>
                    </a:solidFill>
                  </a:tcPr>
                </a:tc>
              </a:tr>
              <a:tr h="253500">
                <a:tc>
                  <a:txBody>
                    <a:bodyPr/>
                    <a:lstStyle/>
                    <a:p>
                      <a:pPr algn="ctr"/>
                      <a:r>
                        <a:rPr sz="800" b="0">
                          <a:solidFill>
                            <a:srgbClr val="1A1A1A"/>
                          </a:solidFill>
                        </a:rPr>
                        <a:t>1</a:t>
                      </a:r>
                    </a:p>
                  </a:txBody>
                  <a:tcPr>
                    <a:noFill/>
                  </a:tcPr>
                </a:tc>
                <a:tc>
                  <a:txBody>
                    <a:bodyPr/>
                    <a:lstStyle/>
                    <a:p>
                      <a:pPr algn="ctr"/>
                      <a:r>
                        <a:rPr sz="800" b="0">
                          <a:solidFill>
                            <a:srgbClr val="1A1A1A"/>
                          </a:solidFill>
                        </a:rPr>
                        <a:t>Healthcare</a:t>
                      </a:r>
                    </a:p>
                  </a:txBody>
                  <a:tcPr>
                    <a:noFill/>
                  </a:tcPr>
                </a:tc>
                <a:tc>
                  <a:txBody>
                    <a:bodyPr/>
                    <a:lstStyle/>
                    <a:p>
                      <a:pPr algn="ctr"/>
                      <a:r>
                        <a:rPr sz="800" b="0">
                          <a:solidFill>
                            <a:srgbClr val="1A1A1A"/>
                          </a:solidFill>
                        </a:rPr>
                        <a:t>69</a:t>
                      </a:r>
                    </a:p>
                  </a:txBody>
                  <a:tcPr>
                    <a:noFill/>
                  </a:tcPr>
                </a:tc>
                <a:tc>
                  <a:txBody>
                    <a:bodyPr/>
                    <a:lstStyle/>
                    <a:p>
                      <a:pPr algn="ctr"/>
                      <a:r>
                        <a:rPr sz="800" b="0">
                          <a:solidFill>
                            <a:srgbClr val="1A7A4A"/>
                          </a:solidFill>
                        </a:rPr>
                        <a:t>Surpondérer</a:t>
                      </a:r>
                    </a:p>
                  </a:txBody>
                  <a:tcPr>
                    <a:solidFill>
                      <a:srgbClr val="E8F5EE"/>
                    </a:solidFill>
                  </a:tcPr>
                </a:tc>
                <a:tc>
                  <a:txBody>
                    <a:bodyPr/>
                    <a:lstStyle/>
                    <a:p>
                      <a:pPr algn="ctr"/>
                      <a:r>
                        <a:rPr sz="800" b="0">
                          <a:solidFill>
                            <a:srgbClr val="1A1A1A"/>
                          </a:solidFill>
                        </a:rPr>
                        <a:t>—</a:t>
                      </a:r>
                    </a:p>
                  </a:txBody>
                  <a:tcPr>
                    <a:noFill/>
                  </a:tcPr>
                </a:tc>
                <a:tc>
                  <a:txBody>
                    <a:bodyPr/>
                    <a:lstStyle/>
                    <a:p>
                      <a:pPr algn="ctr"/>
                      <a:r>
                        <a:rPr sz="800" b="0">
                          <a:solidFill>
                            <a:srgbClr val="1A1A1A"/>
                          </a:solidFill>
                        </a:rPr>
                        <a:t>23.2%</a:t>
                      </a:r>
                    </a:p>
                  </a:txBody>
                  <a:tcPr>
                    <a:noFill/>
                  </a:tcPr>
                </a:tc>
                <a:tc>
                  <a:txBody>
                    <a:bodyPr/>
                    <a:lstStyle/>
                    <a:p>
                      <a:pPr algn="ctr"/>
                      <a:r>
                        <a:rPr sz="800" b="0">
                          <a:solidFill>
                            <a:srgbClr val="1A1A1A"/>
                          </a:solidFill>
                        </a:rPr>
                        <a:t>+5.5%</a:t>
                      </a:r>
                    </a:p>
                  </a:txBody>
                  <a:tcPr>
                    <a:noFill/>
                  </a:tcPr>
                </a:tc>
              </a:tr>
              <a:tr h="253500">
                <a:tc>
                  <a:txBody>
                    <a:bodyPr/>
                    <a:lstStyle/>
                    <a:p>
                      <a:pPr algn="ctr"/>
                      <a:r>
                        <a:rPr sz="800" b="0">
                          <a:solidFill>
                            <a:srgbClr val="1A1A1A"/>
                          </a:solidFill>
                        </a:rPr>
                        <a:t>2</a:t>
                      </a:r>
                    </a:p>
                  </a:txBody>
                  <a:tcPr>
                    <a:solidFill>
                      <a:srgbClr val="F5F7FA"/>
                    </a:solidFill>
                  </a:tcPr>
                </a:tc>
                <a:tc>
                  <a:txBody>
                    <a:bodyPr/>
                    <a:lstStyle/>
                    <a:p>
                      <a:pPr algn="ctr"/>
                      <a:r>
                        <a:rPr sz="800" b="0">
                          <a:solidFill>
                            <a:srgbClr val="1A1A1A"/>
                          </a:solidFill>
                        </a:rPr>
                        <a:t>Real Estate</a:t>
                      </a:r>
                    </a:p>
                  </a:txBody>
                  <a:tcPr>
                    <a:solidFill>
                      <a:srgbClr val="F5F7FA"/>
                    </a:solidFill>
                  </a:tcPr>
                </a:tc>
                <a:tc>
                  <a:txBody>
                    <a:bodyPr/>
                    <a:lstStyle/>
                    <a:p>
                      <a:pPr algn="ctr"/>
                      <a:r>
                        <a:rPr sz="800" b="0">
                          <a:solidFill>
                            <a:srgbClr val="1A1A1A"/>
                          </a:solidFill>
                        </a:rPr>
                        <a:t>68</a:t>
                      </a:r>
                    </a:p>
                  </a:txBody>
                  <a:tcPr>
                    <a:solidFill>
                      <a:srgbClr val="F5F7FA"/>
                    </a:solidFill>
                  </a:tcPr>
                </a:tc>
                <a:tc>
                  <a:txBody>
                    <a:bodyPr/>
                    <a:lstStyle/>
                    <a:p>
                      <a:pPr algn="ctr"/>
                      <a:r>
                        <a:rPr sz="800" b="0">
                          <a:solidFill>
                            <a:srgbClr val="1A7A4A"/>
                          </a:solidFill>
                        </a:rPr>
                        <a:t>Surpondérer</a:t>
                      </a:r>
                    </a:p>
                  </a:txBody>
                  <a:tcPr>
                    <a:solidFill>
                      <a:srgbClr val="E8F5EE"/>
                    </a:solidFill>
                  </a:tcPr>
                </a:tc>
                <a:tc>
                  <a:txBody>
                    <a:bodyPr/>
                    <a:lstStyle/>
                    <a:p>
                      <a:pPr algn="ctr"/>
                      <a:r>
                        <a:rPr sz="800" b="0">
                          <a:solidFill>
                            <a:srgbClr val="1A1A1A"/>
                          </a:solidFill>
                        </a:rPr>
                        <a:t>—</a:t>
                      </a:r>
                    </a:p>
                  </a:txBody>
                  <a:tcPr>
                    <a:solidFill>
                      <a:srgbClr val="F5F7FA"/>
                    </a:solidFill>
                  </a:tcPr>
                </a:tc>
                <a:tc>
                  <a:txBody>
                    <a:bodyPr/>
                    <a:lstStyle/>
                    <a:p>
                      <a:pPr algn="ctr"/>
                      <a:r>
                        <a:rPr sz="800" b="0">
                          <a:solidFill>
                            <a:srgbClr val="1A1A1A"/>
                          </a:solidFill>
                        </a:rPr>
                        <a:t>89.1%</a:t>
                      </a:r>
                    </a:p>
                  </a:txBody>
                  <a:tcPr>
                    <a:solidFill>
                      <a:srgbClr val="F5F7FA"/>
                    </a:solidFill>
                  </a:tcPr>
                </a:tc>
                <a:tc>
                  <a:txBody>
                    <a:bodyPr/>
                    <a:lstStyle/>
                    <a:p>
                      <a:pPr algn="ctr"/>
                      <a:r>
                        <a:rPr sz="800" b="0">
                          <a:solidFill>
                            <a:srgbClr val="1A1A1A"/>
                          </a:solidFill>
                        </a:rPr>
                        <a:t>-6.1%</a:t>
                      </a:r>
                    </a:p>
                  </a:txBody>
                  <a:tcPr>
                    <a:solidFill>
                      <a:srgbClr val="F5F7FA"/>
                    </a:solidFill>
                  </a:tcPr>
                </a:tc>
              </a:tr>
              <a:tr h="253500">
                <a:tc>
                  <a:txBody>
                    <a:bodyPr/>
                    <a:lstStyle/>
                    <a:p>
                      <a:pPr algn="ctr"/>
                      <a:r>
                        <a:rPr sz="800" b="0">
                          <a:solidFill>
                            <a:srgbClr val="1A1A1A"/>
                          </a:solidFill>
                        </a:rPr>
                        <a:t>3</a:t>
                      </a:r>
                    </a:p>
                  </a:txBody>
                  <a:tcPr>
                    <a:noFill/>
                  </a:tcPr>
                </a:tc>
                <a:tc>
                  <a:txBody>
                    <a:bodyPr/>
                    <a:lstStyle/>
                    <a:p>
                      <a:pPr algn="ctr"/>
                      <a:r>
                        <a:rPr sz="800" b="0">
                          <a:solidFill>
                            <a:srgbClr val="1A1A1A"/>
                          </a:solidFill>
                        </a:rPr>
                        <a:t>Consumer Defensive</a:t>
                      </a:r>
                    </a:p>
                  </a:txBody>
                  <a:tcPr>
                    <a:noFill/>
                  </a:tcPr>
                </a:tc>
                <a:tc>
                  <a:txBody>
                    <a:bodyPr/>
                    <a:lstStyle/>
                    <a:p>
                      <a:pPr algn="ctr"/>
                      <a:r>
                        <a:rPr sz="800" b="0">
                          <a:solidFill>
                            <a:srgbClr val="1A1A1A"/>
                          </a:solidFill>
                        </a:rPr>
                        <a:t>56</a:t>
                      </a:r>
                    </a:p>
                  </a:txBody>
                  <a:tcPr>
                    <a:no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a:t>
                      </a:r>
                    </a:p>
                  </a:txBody>
                  <a:tcPr>
                    <a:noFill/>
                  </a:tcPr>
                </a:tc>
                <a:tc>
                  <a:txBody>
                    <a:bodyPr/>
                    <a:lstStyle/>
                    <a:p>
                      <a:pPr algn="ctr"/>
                      <a:r>
                        <a:rPr sz="800" b="0">
                          <a:solidFill>
                            <a:srgbClr val="1A1A1A"/>
                          </a:solidFill>
                        </a:rPr>
                        <a:t>20.2%</a:t>
                      </a:r>
                    </a:p>
                  </a:txBody>
                  <a:tcPr>
                    <a:noFill/>
                  </a:tcPr>
                </a:tc>
                <a:tc>
                  <a:txBody>
                    <a:bodyPr/>
                    <a:lstStyle/>
                    <a:p>
                      <a:pPr algn="ctr"/>
                      <a:r>
                        <a:rPr sz="800" b="0">
                          <a:solidFill>
                            <a:srgbClr val="1A1A1A"/>
                          </a:solidFill>
                        </a:rPr>
                        <a:t>+0.2%</a:t>
                      </a:r>
                    </a:p>
                  </a:txBody>
                  <a:tcPr>
                    <a:noFill/>
                  </a:tcPr>
                </a:tc>
              </a:tr>
              <a:tr h="253500">
                <a:tc>
                  <a:txBody>
                    <a:bodyPr/>
                    <a:lstStyle/>
                    <a:p>
                      <a:pPr algn="ctr"/>
                      <a:r>
                        <a:rPr sz="800" b="0">
                          <a:solidFill>
                            <a:srgbClr val="1A1A1A"/>
                          </a:solidFill>
                        </a:rPr>
                        <a:t>4</a:t>
                      </a:r>
                    </a:p>
                  </a:txBody>
                  <a:tcPr>
                    <a:solidFill>
                      <a:srgbClr val="F5F7FA"/>
                    </a:solidFill>
                  </a:tcPr>
                </a:tc>
                <a:tc>
                  <a:txBody>
                    <a:bodyPr/>
                    <a:lstStyle/>
                    <a:p>
                      <a:pPr algn="ctr"/>
                      <a:r>
                        <a:rPr sz="800" b="0">
                          <a:solidFill>
                            <a:srgbClr val="1A1A1A"/>
                          </a:solidFill>
                        </a:rPr>
                        <a:t>Financial Services</a:t>
                      </a:r>
                    </a:p>
                  </a:txBody>
                  <a:tcPr>
                    <a:solidFill>
                      <a:srgbClr val="F5F7FA"/>
                    </a:solidFill>
                  </a:tcPr>
                </a:tc>
                <a:tc>
                  <a:txBody>
                    <a:bodyPr/>
                    <a:lstStyle/>
                    <a:p>
                      <a:pPr algn="ctr"/>
                      <a:r>
                        <a:rPr sz="800" b="0">
                          <a:solidFill>
                            <a:srgbClr val="1A1A1A"/>
                          </a:solidFill>
                        </a:rPr>
                        <a:t>55</a:t>
                      </a:r>
                    </a:p>
                  </a:txBody>
                  <a:tcPr>
                    <a:solidFill>
                      <a:srgbClr val="F5F7FA"/>
                    </a:solid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a:t>
                      </a:r>
                    </a:p>
                  </a:txBody>
                  <a:tcPr>
                    <a:solidFill>
                      <a:srgbClr val="F5F7FA"/>
                    </a:solidFill>
                  </a:tcPr>
                </a:tc>
                <a:tc>
                  <a:txBody>
                    <a:bodyPr/>
                    <a:lstStyle/>
                    <a:p>
                      <a:pPr algn="ctr"/>
                      <a:r>
                        <a:rPr sz="800" b="0">
                          <a:solidFill>
                            <a:srgbClr val="1A1A1A"/>
                          </a:solidFill>
                        </a:rPr>
                        <a:t>98.1%</a:t>
                      </a:r>
                    </a:p>
                  </a:txBody>
                  <a:tcPr>
                    <a:solidFill>
                      <a:srgbClr val="F5F7FA"/>
                    </a:solidFill>
                  </a:tcPr>
                </a:tc>
                <a:tc>
                  <a:txBody>
                    <a:bodyPr/>
                    <a:lstStyle/>
                    <a:p>
                      <a:pPr algn="ctr"/>
                      <a:r>
                        <a:rPr sz="800" b="0">
                          <a:solidFill>
                            <a:srgbClr val="1A1A1A"/>
                          </a:solidFill>
                        </a:rPr>
                        <a:t>+4.1%</a:t>
                      </a:r>
                    </a:p>
                  </a:txBody>
                  <a:tcPr>
                    <a:solidFill>
                      <a:srgbClr val="F5F7FA"/>
                    </a:solidFill>
                  </a:tcPr>
                </a:tc>
              </a:tr>
              <a:tr h="253500">
                <a:tc>
                  <a:txBody>
                    <a:bodyPr/>
                    <a:lstStyle/>
                    <a:p>
                      <a:pPr algn="ctr"/>
                      <a:r>
                        <a:rPr sz="800" b="0">
                          <a:solidFill>
                            <a:srgbClr val="1A1A1A"/>
                          </a:solidFill>
                        </a:rPr>
                        <a:t>5</a:t>
                      </a:r>
                    </a:p>
                  </a:txBody>
                  <a:tcPr>
                    <a:noFill/>
                  </a:tcPr>
                </a:tc>
                <a:tc>
                  <a:txBody>
                    <a:bodyPr/>
                    <a:lstStyle/>
                    <a:p>
                      <a:pPr algn="ctr"/>
                      <a:r>
                        <a:rPr sz="800" b="0">
                          <a:solidFill>
                            <a:srgbClr val="1A1A1A"/>
                          </a:solidFill>
                        </a:rPr>
                        <a:t>Basic Materials</a:t>
                      </a:r>
                    </a:p>
                  </a:txBody>
                  <a:tcPr>
                    <a:noFill/>
                  </a:tcPr>
                </a:tc>
                <a:tc>
                  <a:txBody>
                    <a:bodyPr/>
                    <a:lstStyle/>
                    <a:p>
                      <a:pPr algn="ctr"/>
                      <a:r>
                        <a:rPr sz="800" b="0">
                          <a:solidFill>
                            <a:srgbClr val="1A1A1A"/>
                          </a:solidFill>
                        </a:rPr>
                        <a:t>53</a:t>
                      </a:r>
                    </a:p>
                  </a:txBody>
                  <a:tcPr>
                    <a:no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a:t>
                      </a:r>
                    </a:p>
                  </a:txBody>
                  <a:tcPr>
                    <a:noFill/>
                  </a:tcPr>
                </a:tc>
                <a:tc>
                  <a:txBody>
                    <a:bodyPr/>
                    <a:lstStyle/>
                    <a:p>
                      <a:pPr algn="ctr"/>
                      <a:r>
                        <a:rPr sz="800" b="0">
                          <a:solidFill>
                            <a:srgbClr val="1A1A1A"/>
                          </a:solidFill>
                        </a:rPr>
                        <a:t>19.8%</a:t>
                      </a:r>
                    </a:p>
                  </a:txBody>
                  <a:tcPr>
                    <a:noFill/>
                  </a:tcPr>
                </a:tc>
                <a:tc>
                  <a:txBody>
                    <a:bodyPr/>
                    <a:lstStyle/>
                    <a:p>
                      <a:pPr algn="ctr"/>
                      <a:r>
                        <a:rPr sz="800" b="0">
                          <a:solidFill>
                            <a:srgbClr val="1A1A1A"/>
                          </a:solidFill>
                        </a:rPr>
                        <a:t>-1.1%</a:t>
                      </a:r>
                    </a:p>
                  </a:txBody>
                  <a:tcPr>
                    <a:noFill/>
                  </a:tcPr>
                </a:tc>
              </a:tr>
              <a:tr h="253500">
                <a:tc>
                  <a:txBody>
                    <a:bodyPr/>
                    <a:lstStyle/>
                    <a:p>
                      <a:pPr algn="ctr"/>
                      <a:r>
                        <a:rPr sz="800" b="0">
                          <a:solidFill>
                            <a:srgbClr val="1A1A1A"/>
                          </a:solidFill>
                        </a:rPr>
                        <a:t>6</a:t>
                      </a:r>
                    </a:p>
                  </a:txBody>
                  <a:tcPr>
                    <a:solidFill>
                      <a:srgbClr val="F5F7FA"/>
                    </a:solidFill>
                  </a:tcPr>
                </a:tc>
                <a:tc>
                  <a:txBody>
                    <a:bodyPr/>
                    <a:lstStyle/>
                    <a:p>
                      <a:pPr algn="ctr"/>
                      <a:r>
                        <a:rPr sz="800" b="0">
                          <a:solidFill>
                            <a:srgbClr val="1A1A1A"/>
                          </a:solidFill>
                        </a:rPr>
                        <a:t>Industrials</a:t>
                      </a:r>
                    </a:p>
                  </a:txBody>
                  <a:tcPr>
                    <a:solidFill>
                      <a:srgbClr val="F5F7FA"/>
                    </a:solidFill>
                  </a:tcPr>
                </a:tc>
                <a:tc>
                  <a:txBody>
                    <a:bodyPr/>
                    <a:lstStyle/>
                    <a:p>
                      <a:pPr algn="ctr"/>
                      <a:r>
                        <a:rPr sz="800" b="0">
                          <a:solidFill>
                            <a:srgbClr val="1A1A1A"/>
                          </a:solidFill>
                        </a:rPr>
                        <a:t>53</a:t>
                      </a:r>
                    </a:p>
                  </a:txBody>
                  <a:tcPr>
                    <a:solidFill>
                      <a:srgbClr val="F5F7FA"/>
                    </a:solid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a:t>
                      </a:r>
                    </a:p>
                  </a:txBody>
                  <a:tcPr>
                    <a:solidFill>
                      <a:srgbClr val="F5F7FA"/>
                    </a:solidFill>
                  </a:tcPr>
                </a:tc>
                <a:tc>
                  <a:txBody>
                    <a:bodyPr/>
                    <a:lstStyle/>
                    <a:p>
                      <a:pPr algn="ctr"/>
                      <a:r>
                        <a:rPr sz="800" b="0">
                          <a:solidFill>
                            <a:srgbClr val="1A1A1A"/>
                          </a:solidFill>
                        </a:rPr>
                        <a:t>16.2%</a:t>
                      </a:r>
                    </a:p>
                  </a:txBody>
                  <a:tcPr>
                    <a:solidFill>
                      <a:srgbClr val="F5F7FA"/>
                    </a:solidFill>
                  </a:tcPr>
                </a:tc>
                <a:tc>
                  <a:txBody>
                    <a:bodyPr/>
                    <a:lstStyle/>
                    <a:p>
                      <a:pPr algn="ctr"/>
                      <a:r>
                        <a:rPr sz="800" b="0">
                          <a:solidFill>
                            <a:srgbClr val="1A1A1A"/>
                          </a:solidFill>
                        </a:rPr>
                        <a:t>+4.9%</a:t>
                      </a:r>
                    </a:p>
                  </a:txBody>
                  <a:tcPr>
                    <a:solidFill>
                      <a:srgbClr val="F5F7FA"/>
                    </a:solidFill>
                  </a:tcPr>
                </a:tc>
              </a:tr>
              <a:tr h="253500">
                <a:tc>
                  <a:txBody>
                    <a:bodyPr/>
                    <a:lstStyle/>
                    <a:p>
                      <a:pPr algn="ctr"/>
                      <a:r>
                        <a:rPr sz="800" b="0">
                          <a:solidFill>
                            <a:srgbClr val="1A1A1A"/>
                          </a:solidFill>
                        </a:rPr>
                        <a:t>7</a:t>
                      </a:r>
                    </a:p>
                  </a:txBody>
                  <a:tcPr>
                    <a:noFill/>
                  </a:tcPr>
                </a:tc>
                <a:tc>
                  <a:txBody>
                    <a:bodyPr/>
                    <a:lstStyle/>
                    <a:p>
                      <a:pPr algn="ctr"/>
                      <a:r>
                        <a:rPr sz="800" b="0">
                          <a:solidFill>
                            <a:srgbClr val="1A1A1A"/>
                          </a:solidFill>
                        </a:rPr>
                        <a:t>Utilities</a:t>
                      </a:r>
                    </a:p>
                  </a:txBody>
                  <a:tcPr>
                    <a:noFill/>
                  </a:tcPr>
                </a:tc>
                <a:tc>
                  <a:txBody>
                    <a:bodyPr/>
                    <a:lstStyle/>
                    <a:p>
                      <a:pPr algn="ctr"/>
                      <a:r>
                        <a:rPr sz="800" b="0">
                          <a:solidFill>
                            <a:srgbClr val="1A1A1A"/>
                          </a:solidFill>
                        </a:rPr>
                        <a:t>46</a:t>
                      </a:r>
                    </a:p>
                  </a:txBody>
                  <a:tcPr>
                    <a:no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a:t>
                      </a:r>
                    </a:p>
                  </a:txBody>
                  <a:tcPr>
                    <a:noFill/>
                  </a:tcPr>
                </a:tc>
                <a:tc>
                  <a:txBody>
                    <a:bodyPr/>
                    <a:lstStyle/>
                    <a:p>
                      <a:pPr algn="ctr"/>
                      <a:r>
                        <a:rPr sz="800" b="0">
                          <a:solidFill>
                            <a:srgbClr val="1A1A1A"/>
                          </a:solidFill>
                        </a:rPr>
                        <a:t>20.0%</a:t>
                      </a:r>
                    </a:p>
                  </a:txBody>
                  <a:tcPr>
                    <a:noFill/>
                  </a:tcPr>
                </a:tc>
                <a:tc>
                  <a:txBody>
                    <a:bodyPr/>
                    <a:lstStyle/>
                    <a:p>
                      <a:pPr algn="ctr"/>
                      <a:r>
                        <a:rPr sz="800" b="0">
                          <a:solidFill>
                            <a:srgbClr val="1A1A1A"/>
                          </a:solidFill>
                        </a:rPr>
                        <a:t>-2.5%</a:t>
                      </a:r>
                    </a:p>
                  </a:txBody>
                  <a:tcPr>
                    <a:noFill/>
                  </a:tcPr>
                </a:tc>
              </a:tr>
              <a:tr h="253500">
                <a:tc>
                  <a:txBody>
                    <a:bodyPr/>
                    <a:lstStyle/>
                    <a:p>
                      <a:pPr algn="ctr"/>
                      <a:r>
                        <a:rPr sz="800" b="0">
                          <a:solidFill>
                            <a:srgbClr val="1A1A1A"/>
                          </a:solidFill>
                        </a:rPr>
                        <a:t>8</a:t>
                      </a:r>
                    </a:p>
                  </a:txBody>
                  <a:tcPr>
                    <a:solidFill>
                      <a:srgbClr val="F5F7FA"/>
                    </a:solidFill>
                  </a:tcPr>
                </a:tc>
                <a:tc>
                  <a:txBody>
                    <a:bodyPr/>
                    <a:lstStyle/>
                    <a:p>
                      <a:pPr algn="ctr"/>
                      <a:r>
                        <a:rPr sz="800" b="0">
                          <a:solidFill>
                            <a:srgbClr val="1A1A1A"/>
                          </a:solidFill>
                        </a:rPr>
                        <a:t>Consumer Cyclical</a:t>
                      </a:r>
                    </a:p>
                  </a:txBody>
                  <a:tcPr>
                    <a:solidFill>
                      <a:srgbClr val="F5F7FA"/>
                    </a:solidFill>
                  </a:tcPr>
                </a:tc>
                <a:tc>
                  <a:txBody>
                    <a:bodyPr/>
                    <a:lstStyle/>
                    <a:p>
                      <a:pPr algn="ctr"/>
                      <a:r>
                        <a:rPr sz="800" b="0">
                          <a:solidFill>
                            <a:srgbClr val="1A1A1A"/>
                          </a:solidFill>
                        </a:rPr>
                        <a:t>41</a:t>
                      </a:r>
                    </a:p>
                  </a:txBody>
                  <a:tcPr>
                    <a:solidFill>
                      <a:srgbClr val="F5F7FA"/>
                    </a:solid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a:t>
                      </a:r>
                    </a:p>
                  </a:txBody>
                  <a:tcPr>
                    <a:solidFill>
                      <a:srgbClr val="F5F7FA"/>
                    </a:solidFill>
                  </a:tcPr>
                </a:tc>
                <a:tc>
                  <a:txBody>
                    <a:bodyPr/>
                    <a:lstStyle/>
                    <a:p>
                      <a:pPr algn="ctr"/>
                      <a:r>
                        <a:rPr sz="800" b="0">
                          <a:solidFill>
                            <a:srgbClr val="1A1A1A"/>
                          </a:solidFill>
                        </a:rPr>
                        <a:t>28.5%</a:t>
                      </a:r>
                    </a:p>
                  </a:txBody>
                  <a:tcPr>
                    <a:solidFill>
                      <a:srgbClr val="F5F7FA"/>
                    </a:solidFill>
                  </a:tcPr>
                </a:tc>
                <a:tc>
                  <a:txBody>
                    <a:bodyPr/>
                    <a:lstStyle/>
                    <a:p>
                      <a:pPr algn="ctr"/>
                      <a:r>
                        <a:rPr sz="800" b="0">
                          <a:solidFill>
                            <a:srgbClr val="1A1A1A"/>
                          </a:solidFill>
                        </a:rPr>
                        <a:t>-2.1%</a:t>
                      </a:r>
                    </a:p>
                  </a:txBody>
                  <a:tcPr>
                    <a:solidFill>
                      <a:srgbClr val="F5F7FA"/>
                    </a:solidFill>
                  </a:tcPr>
                </a:tc>
              </a:tr>
              <a:tr h="253500">
                <a:tc>
                  <a:txBody>
                    <a:bodyPr/>
                    <a:lstStyle/>
                    <a:p>
                      <a:pPr algn="ctr"/>
                      <a:r>
                        <a:rPr sz="800" b="0">
                          <a:solidFill>
                            <a:srgbClr val="1A1A1A"/>
                          </a:solidFill>
                        </a:rPr>
                        <a:t>9</a:t>
                      </a:r>
                    </a:p>
                  </a:txBody>
                  <a:tcPr>
                    <a:noFill/>
                  </a:tcPr>
                </a:tc>
                <a:tc>
                  <a:txBody>
                    <a:bodyPr/>
                    <a:lstStyle/>
                    <a:p>
                      <a:pPr algn="ctr"/>
                      <a:r>
                        <a:rPr sz="800" b="0">
                          <a:solidFill>
                            <a:srgbClr val="1A1A1A"/>
                          </a:solidFill>
                        </a:rPr>
                        <a:t>Comm. Services</a:t>
                      </a:r>
                    </a:p>
                  </a:txBody>
                  <a:tcPr>
                    <a:noFill/>
                  </a:tcPr>
                </a:tc>
                <a:tc>
                  <a:txBody>
                    <a:bodyPr/>
                    <a:lstStyle/>
                    <a:p>
                      <a:pPr algn="ctr"/>
                      <a:r>
                        <a:rPr sz="800" b="0">
                          <a:solidFill>
                            <a:srgbClr val="1A1A1A"/>
                          </a:solidFill>
                        </a:rPr>
                        <a:t>38</a:t>
                      </a:r>
                    </a:p>
                  </a:txBody>
                  <a:tcPr>
                    <a:noFill/>
                  </a:tcPr>
                </a:tc>
                <a:tc>
                  <a:txBody>
                    <a:bodyPr/>
                    <a:lstStyle/>
                    <a:p>
                      <a:pPr algn="ctr"/>
                      <a:r>
                        <a:rPr sz="800" b="0">
                          <a:solidFill>
                            <a:srgbClr val="A82020"/>
                          </a:solidFill>
                        </a:rPr>
                        <a:t>Sous-pondérer</a:t>
                      </a:r>
                    </a:p>
                  </a:txBody>
                  <a:tcPr>
                    <a:solidFill>
                      <a:srgbClr val="FBEBEB"/>
                    </a:solidFill>
                  </a:tcPr>
                </a:tc>
                <a:tc>
                  <a:txBody>
                    <a:bodyPr/>
                    <a:lstStyle/>
                    <a:p>
                      <a:pPr algn="ctr"/>
                      <a:r>
                        <a:rPr sz="800" b="0">
                          <a:solidFill>
                            <a:srgbClr val="1A1A1A"/>
                          </a:solidFill>
                        </a:rPr>
                        <a:t>—</a:t>
                      </a:r>
                    </a:p>
                  </a:txBody>
                  <a:tcPr>
                    <a:noFill/>
                  </a:tcPr>
                </a:tc>
                <a:tc>
                  <a:txBody>
                    <a:bodyPr/>
                    <a:lstStyle/>
                    <a:p>
                      <a:pPr algn="ctr"/>
                      <a:r>
                        <a:rPr sz="800" b="0">
                          <a:solidFill>
                            <a:srgbClr val="1A1A1A"/>
                          </a:solidFill>
                        </a:rPr>
                        <a:t>21.6%</a:t>
                      </a:r>
                    </a:p>
                  </a:txBody>
                  <a:tcPr>
                    <a:noFill/>
                  </a:tcPr>
                </a:tc>
                <a:tc>
                  <a:txBody>
                    <a:bodyPr/>
                    <a:lstStyle/>
                    <a:p>
                      <a:pPr algn="ctr"/>
                      <a:r>
                        <a:rPr sz="800" b="0">
                          <a:solidFill>
                            <a:srgbClr val="1A1A1A"/>
                          </a:solidFill>
                        </a:rPr>
                        <a:t>+3.4%</a:t>
                      </a:r>
                    </a:p>
                  </a:txBody>
                  <a:tcPr>
                    <a:noFill/>
                  </a:tcPr>
                </a:tc>
              </a:tr>
              <a:tr h="253500">
                <a:tc>
                  <a:txBody>
                    <a:bodyPr/>
                    <a:lstStyle/>
                    <a:p>
                      <a:pPr algn="ctr"/>
                      <a:r>
                        <a:rPr sz="800" b="0">
                          <a:solidFill>
                            <a:srgbClr val="1A1A1A"/>
                          </a:solidFill>
                        </a:rPr>
                        <a:t>10</a:t>
                      </a:r>
                    </a:p>
                  </a:txBody>
                  <a:tcPr>
                    <a:solidFill>
                      <a:srgbClr val="F5F7FA"/>
                    </a:solidFill>
                  </a:tcPr>
                </a:tc>
                <a:tc>
                  <a:txBody>
                    <a:bodyPr/>
                    <a:lstStyle/>
                    <a:p>
                      <a:pPr algn="ctr"/>
                      <a:r>
                        <a:rPr sz="800" b="0">
                          <a:solidFill>
                            <a:srgbClr val="1A1A1A"/>
                          </a:solidFill>
                        </a:rPr>
                        <a:t>Technology</a:t>
                      </a:r>
                    </a:p>
                  </a:txBody>
                  <a:tcPr>
                    <a:solidFill>
                      <a:srgbClr val="F5F7FA"/>
                    </a:solidFill>
                  </a:tcPr>
                </a:tc>
                <a:tc>
                  <a:txBody>
                    <a:bodyPr/>
                    <a:lstStyle/>
                    <a:p>
                      <a:pPr algn="ctr"/>
                      <a:r>
                        <a:rPr sz="800" b="0">
                          <a:solidFill>
                            <a:srgbClr val="1A1A1A"/>
                          </a:solidFill>
                        </a:rPr>
                        <a:t>36</a:t>
                      </a:r>
                    </a:p>
                  </a:txBody>
                  <a:tcPr>
                    <a:solidFill>
                      <a:srgbClr val="F5F7FA"/>
                    </a:solidFill>
                  </a:tcPr>
                </a:tc>
                <a:tc>
                  <a:txBody>
                    <a:bodyPr/>
                    <a:lstStyle/>
                    <a:p>
                      <a:pPr algn="ctr"/>
                      <a:r>
                        <a:rPr sz="800" b="0">
                          <a:solidFill>
                            <a:srgbClr val="A82020"/>
                          </a:solidFill>
                        </a:rPr>
                        <a:t>Sous-pondérer</a:t>
                      </a:r>
                    </a:p>
                  </a:txBody>
                  <a:tcPr>
                    <a:solidFill>
                      <a:srgbClr val="FBEBEB"/>
                    </a:solidFill>
                  </a:tcPr>
                </a:tc>
                <a:tc>
                  <a:txBody>
                    <a:bodyPr/>
                    <a:lstStyle/>
                    <a:p>
                      <a:pPr algn="ctr"/>
                      <a:r>
                        <a:rPr sz="800" b="0">
                          <a:solidFill>
                            <a:srgbClr val="1A1A1A"/>
                          </a:solidFill>
                        </a:rPr>
                        <a:t>—</a:t>
                      </a:r>
                    </a:p>
                  </a:txBody>
                  <a:tcPr>
                    <a:solidFill>
                      <a:srgbClr val="F5F7FA"/>
                    </a:solidFill>
                  </a:tcPr>
                </a:tc>
                <a:tc>
                  <a:txBody>
                    <a:bodyPr/>
                    <a:lstStyle/>
                    <a:p>
                      <a:pPr algn="ctr"/>
                      <a:r>
                        <a:rPr sz="800" b="0">
                          <a:solidFill>
                            <a:srgbClr val="1A1A1A"/>
                          </a:solidFill>
                        </a:rPr>
                        <a:t>25.0%</a:t>
                      </a:r>
                    </a:p>
                  </a:txBody>
                  <a:tcPr>
                    <a:solidFill>
                      <a:srgbClr val="F5F7FA"/>
                    </a:solidFill>
                  </a:tcPr>
                </a:tc>
                <a:tc>
                  <a:txBody>
                    <a:bodyPr/>
                    <a:lstStyle/>
                    <a:p>
                      <a:pPr algn="ctr"/>
                      <a:r>
                        <a:rPr sz="800" b="0">
                          <a:solidFill>
                            <a:srgbClr val="1A1A1A"/>
                          </a:solidFill>
                        </a:rPr>
                        <a:t>-1.4%</a:t>
                      </a:r>
                    </a:p>
                  </a:txBody>
                  <a:tcPr>
                    <a:solidFill>
                      <a:srgbClr val="F5F7FA"/>
                    </a:solidFill>
                  </a:tcPr>
                </a:tc>
              </a:tr>
              <a:tr h="253500">
                <a:tc>
                  <a:txBody>
                    <a:bodyPr/>
                    <a:lstStyle/>
                    <a:p>
                      <a:pPr algn="ctr"/>
                      <a:r>
                        <a:rPr sz="800" b="0">
                          <a:solidFill>
                            <a:srgbClr val="1A1A1A"/>
                          </a:solidFill>
                        </a:rPr>
                        <a:t>11</a:t>
                      </a:r>
                    </a:p>
                  </a:txBody>
                  <a:tcPr>
                    <a:noFill/>
                  </a:tcPr>
                </a:tc>
                <a:tc>
                  <a:txBody>
                    <a:bodyPr/>
                    <a:lstStyle/>
                    <a:p>
                      <a:pPr algn="ctr"/>
                      <a:r>
                        <a:rPr sz="800" b="0">
                          <a:solidFill>
                            <a:srgbClr val="1A1A1A"/>
                          </a:solidFill>
                        </a:rPr>
                        <a:t>Energy</a:t>
                      </a:r>
                    </a:p>
                  </a:txBody>
                  <a:tcPr>
                    <a:noFill/>
                  </a:tcPr>
                </a:tc>
                <a:tc>
                  <a:txBody>
                    <a:bodyPr/>
                    <a:lstStyle/>
                    <a:p>
                      <a:pPr algn="ctr"/>
                      <a:r>
                        <a:rPr sz="800" b="0">
                          <a:solidFill>
                            <a:srgbClr val="1A1A1A"/>
                          </a:solidFill>
                        </a:rPr>
                        <a:t>14</a:t>
                      </a:r>
                    </a:p>
                  </a:txBody>
                  <a:tcPr>
                    <a:noFill/>
                  </a:tcPr>
                </a:tc>
                <a:tc>
                  <a:txBody>
                    <a:bodyPr/>
                    <a:lstStyle/>
                    <a:p>
                      <a:pPr algn="ctr"/>
                      <a:r>
                        <a:rPr sz="800" b="0">
                          <a:solidFill>
                            <a:srgbClr val="A82020"/>
                          </a:solidFill>
                        </a:rPr>
                        <a:t>Sous-pondérer</a:t>
                      </a:r>
                    </a:p>
                  </a:txBody>
                  <a:tcPr>
                    <a:solidFill>
                      <a:srgbClr val="FBEBEB"/>
                    </a:solidFill>
                  </a:tcPr>
                </a:tc>
                <a:tc>
                  <a:txBody>
                    <a:bodyPr/>
                    <a:lstStyle/>
                    <a:p>
                      <a:pPr algn="ctr"/>
                      <a:r>
                        <a:rPr sz="800" b="0">
                          <a:solidFill>
                            <a:srgbClr val="1A1A1A"/>
                          </a:solidFill>
                        </a:rPr>
                        <a:t>—</a:t>
                      </a:r>
                    </a:p>
                  </a:txBody>
                  <a:tcPr>
                    <a:noFill/>
                  </a:tcPr>
                </a:tc>
                <a:tc>
                  <a:txBody>
                    <a:bodyPr/>
                    <a:lstStyle/>
                    <a:p>
                      <a:pPr algn="ctr"/>
                      <a:r>
                        <a:rPr sz="800" b="0">
                          <a:solidFill>
                            <a:srgbClr val="1A1A1A"/>
                          </a:solidFill>
                        </a:rPr>
                        <a:t>—</a:t>
                      </a:r>
                    </a:p>
                  </a:txBody>
                  <a:tcPr>
                    <a:noFill/>
                  </a:tcPr>
                </a:tc>
                <a:tc>
                  <a:txBody>
                    <a:bodyPr/>
                    <a:lstStyle/>
                    <a:p>
                      <a:pPr algn="ctr"/>
                      <a:r>
                        <a:rPr sz="800" b="0">
                          <a:solidFill>
                            <a:srgbClr val="1A1A1A"/>
                          </a:solidFill>
                        </a:rPr>
                        <a:t>+0.0%</a:t>
                      </a:r>
                    </a:p>
                  </a:txBody>
                  <a:tcPr>
                    <a:noFill/>
                  </a:tcPr>
                </a:tc>
              </a:tr>
            </a:tbl>
          </a:graphicData>
        </a:graphic>
      </p:graphicFrame>
      <p:sp>
        <p:nvSpPr>
          <p:cNvPr id="17" name="Rectangle 16"/>
          <p:cNvSpPr/>
          <p:nvPr/>
        </p:nvSpPr>
        <p:spPr>
          <a:xfrm>
            <a:off x="324000" y="4248000"/>
            <a:ext cx="8496000" cy="54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4000" y="4248000"/>
            <a:ext cx="43200" cy="540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2000" y="4284000"/>
            <a:ext cx="8208000" cy="180000"/>
          </a:xfrm>
          <a:prstGeom prst="rect">
            <a:avLst/>
          </a:prstGeom>
          <a:noFill/>
        </p:spPr>
        <p:txBody>
          <a:bodyPr wrap="square">
            <a:spAutoFit/>
          </a:bodyPr>
          <a:lstStyle/>
          <a:p>
            <a:pPr algn="l"/>
            <a:r>
              <a:rPr sz="800" b="1" i="0">
                <a:solidFill>
                  <a:srgbClr val="555555"/>
                </a:solidFill>
              </a:rPr>
              <a:t>Note — ETF sectoriels SPDR non disponibles pour cet indice</a:t>
            </a:r>
          </a:p>
        </p:txBody>
      </p:sp>
      <p:sp>
        <p:nvSpPr>
          <p:cNvPr id="20" name="TextBox 19"/>
          <p:cNvSpPr txBox="1"/>
          <p:nvPr/>
        </p:nvSpPr>
        <p:spPr>
          <a:xfrm>
            <a:off x="432000" y="4482000"/>
            <a:ext cx="8208000" cy="288000"/>
          </a:xfrm>
          <a:prstGeom prst="rect">
            <a:avLst/>
          </a:prstGeom>
          <a:noFill/>
        </p:spPr>
        <p:txBody>
          <a:bodyPr wrap="square">
            <a:spAutoFit/>
          </a:bodyPr>
          <a:lstStyle/>
          <a:p>
            <a:pPr algn="l"/>
            <a:r>
              <a:rPr sz="750" b="0" i="0">
                <a:solidFill>
                  <a:srgbClr val="555555"/>
                </a:solidFill>
              </a:rPr>
              <a:t>Les ETF sectoriels SPDR sont references sur le marche US (S&amp;P 500). Pour les indices europeens (CAC 40, DAX, FTSE), les equivalents iShares / Amundi ne sont pas encore integres dans le pipeline. Le tableau ci-dessus presente le classement sectoriel FinSight en substitution.</a:t>
            </a:r>
          </a:p>
        </p:txBody>
      </p:sp>
      <p:sp>
        <p:nvSpPr>
          <p:cNvPr id="21" name="Rectangle 20"/>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