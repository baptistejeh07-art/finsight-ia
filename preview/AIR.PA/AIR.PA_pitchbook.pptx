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Airbus SE</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AIR.PA  ·  Euronext Paris  ·  Industrials</a:t>
            </a:r>
          </a:p>
        </p:txBody>
      </p:sp>
      <p:sp>
        <p:nvSpPr>
          <p:cNvPr id="8" name="Rectangle 7"/>
          <p:cNvSpPr/>
          <p:nvPr/>
        </p:nvSpPr>
        <p:spPr>
          <a:xfrm>
            <a:off x="2771999" y="2720232"/>
            <a:ext cx="36000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738232"/>
            <a:ext cx="3491999" cy="395999"/>
          </a:xfrm>
          <a:prstGeom prst="rect">
            <a:avLst/>
          </a:prstGeom>
          <a:noFill/>
        </p:spPr>
        <p:txBody>
          <a:bodyPr wrap="square">
            <a:spAutoFit/>
          </a:bodyPr>
          <a:lstStyle/>
          <a:p>
            <a:pPr algn="ctr"/>
            <a:r>
              <a:rPr sz="900" b="1" i="0">
                <a:solidFill>
                  <a:srgbClr val="FFFFFF"/>
                </a:solidFill>
                <a:latin typeface="Calibri"/>
              </a:rPr>
              <a:t>● BUY  ·  Prix cible base : 195 EUR  ·  Upside : +12,7 %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9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195 EUR  ·  Upside : +12,7 %  ·  Bear : 150 EUR (-13,3 %)  ·  Bull : 220 EUR (+27,1 %)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Carnet commandes record</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Airbus capitalise sur un carnet de commandes record de 938 Mds€ fin 2024, assurant une visibilité sur 10+ ans</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Leadership technologique</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La montée en puissance des A320neo et A350 devrait générer +8% de revenus annuels d'ici 2027 grâce à la décarbonation et aux gains de productivité</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Diversification géographique</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Le segment Défense/Espace (25% des revenus) bénéficie d'une demande structurelle en hausse de +5%/an, avec une marge EBITDA cible de 15% d'ici 2026.</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Dépendance aéronautique civile</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Ralentissement économique mondial réduisant la demande civile de -15% en 2026 | Hausse des coûts des matières premières (+20% en 2026) comprimant les marges à 12% | Retards dans les</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Risque géopolitique</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Les marges brutes de 14,9% reposent sur des coûts de production sous-évalués de 8% selon les audits internes, avec un risque de hausse des prix des matières premières à +12% en 2025.</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Inflation coûts</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La diversification géographique n'a pas empêché une chute de 22% des revenus en Chine, premier marché mondial, en raison des tensions géopolitiques et des restrictions à l'exportation</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33600"/>
            <a:ext cx="40104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333600"/>
            <a:ext cx="3960000" cy="198000"/>
          </a:xfrm>
          <a:prstGeom prst="rect">
            <a:avLst/>
          </a:prstGeom>
          <a:noFill/>
        </p:spPr>
        <p:txBody>
          <a:bodyPr wrap="square">
            <a:spAutoFit/>
          </a:bodyPr>
          <a:lstStyle/>
          <a:p>
            <a:pPr algn="l"/>
            <a:r>
              <a:rPr sz="750" b="1" i="0">
                <a:solidFill>
                  <a:srgbClr val="FFFFFF"/>
                </a:solidFill>
                <a:latin typeface="Calibri"/>
              </a:rPr>
              <a:t>CATALYSEURS À SURVEILLER (12M)</a:t>
            </a:r>
          </a:p>
        </p:txBody>
      </p:sp>
      <p:sp>
        <p:nvSpPr>
          <p:cNvPr id="36" name="Rectangle 35"/>
          <p:cNvSpPr/>
          <p:nvPr/>
        </p:nvSpPr>
        <p:spPr>
          <a:xfrm>
            <a:off x="367200" y="3582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200" y="3560400"/>
            <a:ext cx="3837600" cy="172800"/>
          </a:xfrm>
          <a:prstGeom prst="rect">
            <a:avLst/>
          </a:prstGeom>
          <a:noFill/>
        </p:spPr>
        <p:txBody>
          <a:bodyPr wrap="square">
            <a:spAutoFit/>
          </a:bodyPr>
          <a:lstStyle/>
          <a:p>
            <a:pPr algn="l"/>
            <a:r>
              <a:rPr sz="750" b="0" i="0">
                <a:solidFill>
                  <a:srgbClr val="333333"/>
                </a:solidFill>
                <a:latin typeface="Calibri"/>
              </a:rPr>
              <a:t>Livraisons 2026: Livraison record de 800+ avions en 2026 avec un</a:t>
            </a:r>
          </a:p>
        </p:txBody>
      </p:sp>
      <p:sp>
        <p:nvSpPr>
          <p:cNvPr id="38" name="Rectangle 37"/>
          <p:cNvSpPr/>
          <p:nvPr/>
        </p:nvSpPr>
        <p:spPr>
          <a:xfrm>
            <a:off x="367200" y="3780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00" y="3758400"/>
            <a:ext cx="3837600" cy="172800"/>
          </a:xfrm>
          <a:prstGeom prst="rect">
            <a:avLst/>
          </a:prstGeom>
          <a:noFill/>
        </p:spPr>
        <p:txBody>
          <a:bodyPr wrap="square">
            <a:spAutoFit/>
          </a:bodyPr>
          <a:lstStyle/>
          <a:p>
            <a:pPr algn="l"/>
            <a:r>
              <a:rPr sz="750" b="0" i="0">
                <a:solidFill>
                  <a:srgbClr val="333333"/>
                </a:solidFill>
                <a:latin typeface="Calibri"/>
              </a:rPr>
              <a:t>Défense/Espace 2027: Croissance du segment de +5%/an avec des</a:t>
            </a:r>
          </a:p>
        </p:txBody>
      </p:sp>
      <p:sp>
        <p:nvSpPr>
          <p:cNvPr id="40" name="Rectangle 39"/>
          <p:cNvSpPr/>
          <p:nvPr/>
        </p:nvSpPr>
        <p:spPr>
          <a:xfrm>
            <a:off x="4708800" y="3333600"/>
            <a:ext cx="4068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5600" y="3333600"/>
            <a:ext cx="3996000" cy="198000"/>
          </a:xfrm>
          <a:prstGeom prst="rect">
            <a:avLst/>
          </a:prstGeom>
          <a:noFill/>
        </p:spPr>
        <p:txBody>
          <a:bodyPr wrap="square">
            <a:spAutoFit/>
          </a:bodyPr>
          <a:lstStyle/>
          <a:p>
            <a:pPr algn="l"/>
            <a:r>
              <a:rPr sz="750" b="1" i="0">
                <a:solidFill>
                  <a:srgbClr val="FFFFFF"/>
                </a:solidFill>
                <a:latin typeface="Calibri"/>
              </a:rPr>
              <a:t>VALORISATION SYNTHÉTIQUE</a:t>
            </a:r>
          </a:p>
        </p:txBody>
      </p:sp>
      <p:graphicFrame>
        <p:nvGraphicFramePr>
          <p:cNvPr id="42" name="Table 41"/>
          <p:cNvGraphicFramePr>
            <a:graphicFrameLocks noGrp="1"/>
          </p:cNvGraphicFramePr>
          <p:nvPr/>
        </p:nvGraphicFramePr>
        <p:xfrm>
          <a:off x="4708800" y="3560400"/>
          <a:ext cx="4068000" cy="468000"/>
        </p:xfrm>
        <a:graphic>
          <a:graphicData uri="http://schemas.openxmlformats.org/drawingml/2006/table">
            <a:tbl>
              <a:tblPr firstRow="1" bandRow="1">
                <a:tableStyleId>{5C22544A-7EE6-4342-B048-85BDC9FD1C3A}</a:tableStyleId>
              </a:tblPr>
              <a:tblGrid>
                <a:gridCol w="2034000"/>
                <a:gridCol w="1017000"/>
                <a:gridCol w="1017000"/>
              </a:tblGrid>
              <a:tr h="117000">
                <a:tc>
                  <a:txBody>
                    <a:bodyPr/>
                    <a:lstStyle/>
                    <a:p>
                      <a:pPr algn="l"/>
                      <a:r>
                        <a:rPr sz="800" b="1" i="0">
                          <a:solidFill>
                            <a:srgbClr val="FFFFFF"/>
                          </a:solidFill>
                          <a:latin typeface="Calibri"/>
                        </a:rPr>
                        <a:t>Multiple</a:t>
                      </a:r>
                    </a:p>
                  </a:txBody>
                  <a:tcPr>
                    <a:solidFill>
                      <a:srgbClr val="1B3A6B"/>
                    </a:solidFill>
                  </a:tcPr>
                </a:tc>
                <a:tc>
                  <a:txBody>
                    <a:bodyPr/>
                    <a:lstStyle/>
                    <a:p>
                      <a:pPr algn="ctr"/>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Médiane pairs</a:t>
                      </a:r>
                    </a:p>
                  </a:txBody>
                  <a:tcPr>
                    <a:solidFill>
                      <a:srgbClr val="1B3A6B"/>
                    </a:solidFill>
                  </a:tcPr>
                </a:tc>
              </a:tr>
              <a:tr h="117000">
                <a:tc>
                  <a:txBody>
                    <a:bodyPr/>
                    <a:lstStyle/>
                    <a:p>
                      <a:pPr algn="l"/>
                      <a:r>
                        <a:rPr sz="800" b="0" i="0">
                          <a:solidFill>
                            <a:srgbClr val="0D0D0D"/>
                          </a:solidFill>
                          <a:latin typeface="Calibri"/>
                        </a:rPr>
                        <a:t>P/E NTM (x)</a:t>
                      </a:r>
                    </a:p>
                  </a:txBody>
                  <a:tcPr>
                    <a:solidFill>
                      <a:srgbClr val="FFFFFF"/>
                    </a:solidFill>
                  </a:tcPr>
                </a:tc>
                <a:tc>
                  <a:txBody>
                    <a:bodyPr/>
                    <a:lstStyle/>
                    <a:p>
                      <a:pPr algn="ctr"/>
                      <a:r>
                        <a:rPr sz="800" b="0" i="0">
                          <a:solidFill>
                            <a:srgbClr val="0D0D0D"/>
                          </a:solidFill>
                          <a:latin typeface="Calibri"/>
                        </a:rPr>
                        <a:t>26,1x</a:t>
                      </a:r>
                    </a:p>
                  </a:txBody>
                  <a:tcPr>
                    <a:solidFill>
                      <a:srgbClr val="FFFFFF"/>
                    </a:solidFill>
                  </a:tcPr>
                </a:tc>
                <a:tc>
                  <a:txBody>
                    <a:bodyPr/>
                    <a:lstStyle/>
                    <a:p>
                      <a:pPr algn="ctr"/>
                      <a:r>
                        <a:rPr sz="800" b="0" i="0">
                          <a:solidFill>
                            <a:srgbClr val="0D0D0D"/>
                          </a:solidFill>
                          <a:latin typeface="Calibri"/>
                        </a:rPr>
                        <a:t>18,7x</a:t>
                      </a:r>
                    </a:p>
                  </a:txBody>
                  <a:tcPr>
                    <a:solidFill>
                      <a:srgbClr val="FFFFFF"/>
                    </a:solidFill>
                  </a:tcPr>
                </a:tc>
              </a:tr>
              <a:tr h="117000">
                <a:tc>
                  <a:txBody>
                    <a:bodyPr/>
                    <a:lstStyle/>
                    <a:p>
                      <a:pPr algn="l"/>
                      <a:r>
                        <a:rPr sz="800" b="0" i="0">
                          <a:solidFill>
                            <a:srgbClr val="0D0D0D"/>
                          </a:solidFill>
                          <a:latin typeface="Calibri"/>
                        </a:rPr>
                        <a:t>EV/EBITDA (x)</a:t>
                      </a:r>
                    </a:p>
                  </a:txBody>
                  <a:tcPr>
                    <a:solidFill>
                      <a:srgbClr val="F7F8FA"/>
                    </a:solidFill>
                  </a:tcPr>
                </a:tc>
                <a:tc>
                  <a:txBody>
                    <a:bodyPr/>
                    <a:lstStyle/>
                    <a:p>
                      <a:pPr algn="ctr"/>
                      <a:r>
                        <a:rPr sz="800" b="0" i="0">
                          <a:solidFill>
                            <a:srgbClr val="0D0D0D"/>
                          </a:solidFill>
                          <a:latin typeface="Calibri"/>
                        </a:rPr>
                        <a:t>12,8x</a:t>
                      </a:r>
                    </a:p>
                  </a:txBody>
                  <a:tcPr>
                    <a:solidFill>
                      <a:srgbClr val="F7F8FA"/>
                    </a:solidFill>
                  </a:tcPr>
                </a:tc>
                <a:tc>
                  <a:txBody>
                    <a:bodyPr/>
                    <a:lstStyle/>
                    <a:p>
                      <a:pPr algn="ctr"/>
                      <a:r>
                        <a:rPr sz="800" b="0" i="0">
                          <a:solidFill>
                            <a:srgbClr val="0D0D0D"/>
                          </a:solidFill>
                          <a:latin typeface="Calibri"/>
                        </a:rPr>
                        <a:t>13,2x</a:t>
                      </a:r>
                    </a:p>
                  </a:txBody>
                  <a:tcPr>
                    <a:solidFill>
                      <a:srgbClr val="F7F8FA"/>
                    </a:solidFill>
                  </a:tcPr>
                </a:tc>
              </a:tr>
              <a:tr h="117000">
                <a:tc>
                  <a:txBody>
                    <a:bodyPr/>
                    <a:lstStyle/>
                    <a:p>
                      <a:pPr algn="l"/>
                      <a:r>
                        <a:rPr sz="800" b="0" i="0">
                          <a:solidFill>
                            <a:srgbClr val="0D0D0D"/>
                          </a:solidFill>
                          <a:latin typeface="Calibri"/>
                        </a:rPr>
                        <a:t>Cible DCF (EUR)</a:t>
                      </a:r>
                    </a:p>
                  </a:txBody>
                  <a:tcPr>
                    <a:solidFill>
                      <a:srgbClr val="FFFFFF"/>
                    </a:solidFill>
                  </a:tcPr>
                </a:tc>
                <a:tc>
                  <a:txBody>
                    <a:bodyPr/>
                    <a:lstStyle/>
                    <a:p>
                      <a:pPr algn="ctr"/>
                      <a:r>
                        <a:rPr sz="800" b="0" i="0">
                          <a:solidFill>
                            <a:srgbClr val="0D0D0D"/>
                          </a:solidFill>
                          <a:latin typeface="Calibri"/>
                        </a:rPr>
                        <a:t>195 EUR</a:t>
                      </a:r>
                    </a:p>
                  </a:txBody>
                  <a:tcPr>
                    <a:solidFill>
                      <a:srgbClr val="FFFFFF"/>
                    </a:solidFill>
                  </a:tcPr>
                </a:tc>
                <a:tc>
                  <a:txBody>
                    <a:bodyPr/>
                    <a:lstStyle/>
                    <a:p>
                      <a:pPr algn="ctr"/>
                      <a:r>
                        <a:rPr sz="800" b="0" i="0">
                          <a:solidFill>
                            <a:srgbClr val="0D0D0D"/>
                          </a:solidFill>
                          <a:latin typeface="Calibri"/>
                        </a:rPr>
                        <a:t>Upside +12,7 %</a:t>
                      </a:r>
                    </a:p>
                  </a:txBody>
                  <a:tcPr>
                    <a:solidFill>
                      <a:srgbClr val="FFFFFF"/>
                    </a:solidFill>
                  </a:tcPr>
                </a:tc>
              </a:tr>
            </a:tbl>
          </a:graphicData>
        </a:graphic>
      </p:graphicFrame>
      <p:sp>
        <p:nvSpPr>
          <p:cNvPr id="43" name="Rectangle 42"/>
          <p:cNvSpPr/>
          <p:nvPr/>
        </p:nvSpPr>
        <p:spPr>
          <a:xfrm>
            <a:off x="367200" y="4042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72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72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136400"/>
            <a:ext cx="1893600" cy="396000"/>
          </a:xfrm>
          <a:prstGeom prst="rect">
            <a:avLst/>
          </a:prstGeom>
          <a:noFill/>
        </p:spPr>
        <p:txBody>
          <a:bodyPr wrap="square">
            <a:spAutoFit/>
          </a:bodyPr>
          <a:lstStyle/>
          <a:p>
            <a:pPr algn="l"/>
            <a:r>
              <a:rPr sz="1900" b="1" i="0">
                <a:solidFill>
                  <a:srgbClr val="1B3A6B"/>
                </a:solidFill>
                <a:latin typeface="Calibri"/>
              </a:rPr>
              <a:t>12,8x</a:t>
            </a:r>
          </a:p>
        </p:txBody>
      </p:sp>
      <p:sp>
        <p:nvSpPr>
          <p:cNvPr id="47" name="TextBox 46"/>
          <p:cNvSpPr txBox="1"/>
          <p:nvPr/>
        </p:nvSpPr>
        <p:spPr>
          <a:xfrm>
            <a:off x="457200" y="45324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48" name="TextBox 47"/>
          <p:cNvSpPr txBox="1"/>
          <p:nvPr/>
        </p:nvSpPr>
        <p:spPr>
          <a:xfrm>
            <a:off x="457200" y="4730400"/>
            <a:ext cx="1893600" cy="165600"/>
          </a:xfrm>
          <a:prstGeom prst="rect">
            <a:avLst/>
          </a:prstGeom>
          <a:noFill/>
        </p:spPr>
        <p:txBody>
          <a:bodyPr wrap="square">
            <a:spAutoFit/>
          </a:bodyPr>
          <a:lstStyle/>
          <a:p>
            <a:pPr algn="l"/>
            <a:r>
              <a:rPr sz="700" b="0" i="0">
                <a:solidFill>
                  <a:srgbClr val="888888"/>
                </a:solidFill>
                <a:latin typeface="Calibri"/>
              </a:rPr>
              <a:t>vs 13,2x med. pairs</a:t>
            </a:r>
          </a:p>
        </p:txBody>
      </p:sp>
      <p:sp>
        <p:nvSpPr>
          <p:cNvPr id="49" name="Rectangle 48"/>
          <p:cNvSpPr/>
          <p:nvPr/>
        </p:nvSpPr>
        <p:spPr>
          <a:xfrm>
            <a:off x="24876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4876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7600" y="4136400"/>
            <a:ext cx="1893600" cy="396000"/>
          </a:xfrm>
          <a:prstGeom prst="rect">
            <a:avLst/>
          </a:prstGeom>
          <a:noFill/>
        </p:spPr>
        <p:txBody>
          <a:bodyPr wrap="square">
            <a:spAutoFit/>
          </a:bodyPr>
          <a:lstStyle/>
          <a:p>
            <a:pPr algn="l"/>
            <a:r>
              <a:rPr sz="1900" b="1" i="0">
                <a:solidFill>
                  <a:srgbClr val="1B3A6B"/>
                </a:solidFill>
                <a:latin typeface="Calibri"/>
              </a:rPr>
              <a:t>9,0 %</a:t>
            </a:r>
          </a:p>
        </p:txBody>
      </p:sp>
      <p:sp>
        <p:nvSpPr>
          <p:cNvPr id="52" name="TextBox 51"/>
          <p:cNvSpPr txBox="1"/>
          <p:nvPr/>
        </p:nvSpPr>
        <p:spPr>
          <a:xfrm>
            <a:off x="2577600" y="45324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53" name="TextBox 52"/>
          <p:cNvSpPr txBox="1"/>
          <p:nvPr/>
        </p:nvSpPr>
        <p:spPr>
          <a:xfrm>
            <a:off x="2577600" y="4730400"/>
            <a:ext cx="1893600" cy="165600"/>
          </a:xfrm>
          <a:prstGeom prst="rect">
            <a:avLst/>
          </a:prstGeom>
          <a:noFill/>
        </p:spPr>
        <p:txBody>
          <a:bodyPr wrap="square">
            <a:spAutoFit/>
          </a:bodyPr>
          <a:lstStyle/>
          <a:p>
            <a:pPr algn="l"/>
            <a:r>
              <a:rPr sz="700" b="0" i="0">
                <a:solidFill>
                  <a:srgbClr val="888888"/>
                </a:solidFill>
                <a:latin typeface="Calibri"/>
              </a:rPr>
              <a:t>Beta 0,88  ·  RFR 4,3 %</a:t>
            </a:r>
          </a:p>
        </p:txBody>
      </p:sp>
      <p:sp>
        <p:nvSpPr>
          <p:cNvPr id="54" name="Rectangle 53"/>
          <p:cNvSpPr/>
          <p:nvPr/>
        </p:nvSpPr>
        <p:spPr>
          <a:xfrm>
            <a:off x="46080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080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8000" y="4136400"/>
            <a:ext cx="1893600" cy="396000"/>
          </a:xfrm>
          <a:prstGeom prst="rect">
            <a:avLst/>
          </a:prstGeom>
          <a:noFill/>
        </p:spPr>
        <p:txBody>
          <a:bodyPr wrap="square">
            <a:spAutoFit/>
          </a:bodyPr>
          <a:lstStyle/>
          <a:p>
            <a:pPr algn="l"/>
            <a:r>
              <a:rPr sz="1900" b="1" i="0">
                <a:solidFill>
                  <a:srgbClr val="1B3A6B"/>
                </a:solidFill>
                <a:latin typeface="Calibri"/>
              </a:rPr>
              <a:t>195 EUR</a:t>
            </a:r>
          </a:p>
        </p:txBody>
      </p:sp>
      <p:sp>
        <p:nvSpPr>
          <p:cNvPr id="57" name="TextBox 56"/>
          <p:cNvSpPr txBox="1"/>
          <p:nvPr/>
        </p:nvSpPr>
        <p:spPr>
          <a:xfrm>
            <a:off x="4698000" y="4532400"/>
            <a:ext cx="1893600" cy="205199"/>
          </a:xfrm>
          <a:prstGeom prst="rect">
            <a:avLst/>
          </a:prstGeom>
          <a:noFill/>
        </p:spPr>
        <p:txBody>
          <a:bodyPr wrap="square">
            <a:spAutoFit/>
          </a:bodyPr>
          <a:lstStyle/>
          <a:p>
            <a:pPr algn="l"/>
            <a:r>
              <a:rPr sz="800" b="0" i="0">
                <a:solidFill>
                  <a:srgbClr val="555555"/>
                </a:solidFill>
                <a:latin typeface="Calibri"/>
              </a:rPr>
              <a:t>Valeur DCF base</a:t>
            </a:r>
          </a:p>
        </p:txBody>
      </p:sp>
      <p:sp>
        <p:nvSpPr>
          <p:cNvPr id="58" name="TextBox 57"/>
          <p:cNvSpPr txBox="1"/>
          <p:nvPr/>
        </p:nvSpPr>
        <p:spPr>
          <a:xfrm>
            <a:off x="4698000" y="4730400"/>
            <a:ext cx="1893600" cy="165600"/>
          </a:xfrm>
          <a:prstGeom prst="rect">
            <a:avLst/>
          </a:prstGeom>
          <a:noFill/>
        </p:spPr>
        <p:txBody>
          <a:bodyPr wrap="square">
            <a:spAutoFit/>
          </a:bodyPr>
          <a:lstStyle/>
          <a:p>
            <a:pPr algn="l"/>
            <a:r>
              <a:rPr sz="700" b="0" i="0">
                <a:solidFill>
                  <a:srgbClr val="888888"/>
                </a:solidFill>
                <a:latin typeface="Calibri"/>
              </a:rPr>
              <a:t>Upside +12,7 % vs cours</a:t>
            </a:r>
          </a:p>
        </p:txBody>
      </p:sp>
      <p:sp>
        <p:nvSpPr>
          <p:cNvPr id="59" name="Rectangle 58"/>
          <p:cNvSpPr/>
          <p:nvPr/>
        </p:nvSpPr>
        <p:spPr>
          <a:xfrm>
            <a:off x="67284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284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8400" y="4136400"/>
            <a:ext cx="1893600" cy="396000"/>
          </a:xfrm>
          <a:prstGeom prst="rect">
            <a:avLst/>
          </a:prstGeom>
          <a:noFill/>
        </p:spPr>
        <p:txBody>
          <a:bodyPr wrap="square">
            <a:spAutoFit/>
          </a:bodyPr>
          <a:lstStyle/>
          <a:p>
            <a:pPr algn="l"/>
            <a:r>
              <a:rPr sz="1900" b="1" i="0">
                <a:solidFill>
                  <a:srgbClr val="1B3A6B"/>
                </a:solidFill>
                <a:latin typeface="Calibri"/>
              </a:rPr>
              <a:t>+0,355</a:t>
            </a:r>
          </a:p>
        </p:txBody>
      </p:sp>
      <p:sp>
        <p:nvSpPr>
          <p:cNvPr id="62" name="TextBox 61"/>
          <p:cNvSpPr txBox="1"/>
          <p:nvPr/>
        </p:nvSpPr>
        <p:spPr>
          <a:xfrm>
            <a:off x="6818400" y="45324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63" name="TextBox 62"/>
          <p:cNvSpPr txBox="1"/>
          <p:nvPr/>
        </p:nvSpPr>
        <p:spPr>
          <a:xfrm>
            <a:off x="6818400" y="4730400"/>
            <a:ext cx="1893600" cy="165600"/>
          </a:xfrm>
          <a:prstGeom prst="rect">
            <a:avLst/>
          </a:prstGeom>
          <a:noFill/>
        </p:spPr>
        <p:txBody>
          <a:bodyPr wrap="square">
            <a:spAutoFit/>
          </a:bodyPr>
          <a:lstStyle/>
          <a:p>
            <a:pPr algn="l"/>
            <a:r>
              <a:rPr sz="700" b="0" i="0">
                <a:solidFill>
                  <a:srgbClr val="888888"/>
                </a:solidFill>
                <a:latin typeface="Calibri"/>
              </a:rPr>
              <a:t>Positif  ·  20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Airbus SE  ·  Industrials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4–6</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7–10</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11–14</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Dépendance aéronautique civile  ·  Risque géopolitique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15–16</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historique &amp; conviction</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17–21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Airbus SE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Airbus SE est un leader mondial de l'aéronautique et de la défense, concevant et fabriquant des avions commerciaux, des hélicoptères et des systèmes spatiaux. Positionné sur des niches à haute valeur ajoutée (A350, A320neo, drones MALE), le groupe bénéficie d'un carnet de commandes record de 938 Mds€ fin 2024. Ses avantages concurrentiels incluent une intégration verticale unique, une R&amp;D intensive et une exposition aux mégatendances de décarbonation et de sécurité.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Avions commerciaux</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principal générant 65% des revenus, axé sur la production et la vente d'avions monocouloir (A320neo) et long-courriers (A350). Modèle basé sur des contrats fermes avec des aéroports et compagnies aériennes, avec des marges dépendantes du mix produits et de l'efficacité industrielle. Clients cibles : compagnies low-cost et full-service. Moteur de croissance : demande asiatique et remplacement des flottes vieillissantes.</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Hélicoptères &amp; Défense/Espace</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en croissance (25% des revenus) couvrant les hélicoptères civils/militaires (H145, Tiger) et les systèmes spatiaux (satellites, lanceurs). Modèle mixte : ventes directes et contrats gouvernementaux à long terme. Produits phares : NH90, Eurodrone. Clients : États, forces armées, opérateurs privés. Croissance tirée par les budgets de défense européens (+3.5%/an) et la demande en drones MALE.</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136,2 Md€</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73,4 Md€</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173,06 EUR</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12,8x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26,1x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65%</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Avions commerciaux</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principal générant 65% des revenus, axé sur la production et la vente d'avions monocouloir (A320neo) et long-courriers (A350). Modèle basé sur des contrats fermes avec des aéroports et compagnies aériennes, avec des marges dépendantes du mix produits et de l'efficacité industrielle. Clients cibles : compagnies low-cost et full-service. Moteur de croissance : demande asiatique et remplacement des flottes vieillissantes.</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25%</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Hélicoptères &amp; Défense/Espace</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Segment en croissance (25% des revenus) couvrant les hélicoptères civils/militaires (H145, Tiger) et les systèmes spatiaux (satellites, lanceurs). Modèle mixte : ventes directes et contrats gouvernementaux à long terme. Produits phares : NH90, Eurodrone. Clients : États, forces armées, opérateurs privés. Croissance tirée par les budgets de défense européens (+3.5%/an) et la demande en drones MALE.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65,4</a:t>
                      </a:r>
                    </a:p>
                  </a:txBody>
                  <a:tcPr>
                    <a:solidFill>
                      <a:srgbClr val="FFFFFF"/>
                    </a:solidFill>
                  </a:tcPr>
                </a:tc>
                <a:tc>
                  <a:txBody>
                    <a:bodyPr/>
                    <a:lstStyle/>
                    <a:p>
                      <a:pPr algn="ctr"/>
                      <a:r>
                        <a:rPr sz="800" b="1" i="0">
                          <a:solidFill>
                            <a:srgbClr val="0D0D0D"/>
                          </a:solidFill>
                          <a:latin typeface="Calibri"/>
                        </a:rPr>
                        <a:t>69,2</a:t>
                      </a:r>
                    </a:p>
                  </a:txBody>
                  <a:tcPr>
                    <a:solidFill>
                      <a:srgbClr val="FFFFFF"/>
                    </a:solidFill>
                  </a:tcPr>
                </a:tc>
                <a:tc>
                  <a:txBody>
                    <a:bodyPr/>
                    <a:lstStyle/>
                    <a:p>
                      <a:pPr algn="ctr"/>
                      <a:r>
                        <a:rPr sz="800" b="1" i="0">
                          <a:solidFill>
                            <a:srgbClr val="1B3A6B"/>
                          </a:solidFill>
                          <a:latin typeface="Calibri"/>
                        </a:rPr>
                        <a:t>73,4</a:t>
                      </a:r>
                    </a:p>
                  </a:txBody>
                  <a:tcPr>
                    <a:solidFill>
                      <a:srgbClr val="DDE8F5"/>
                    </a:solidFill>
                  </a:tcPr>
                </a:tc>
                <a:tc>
                  <a:txBody>
                    <a:bodyPr/>
                    <a:lstStyle/>
                    <a:p>
                      <a:pPr algn="ctr"/>
                      <a:r>
                        <a:rPr sz="800" b="1" i="0">
                          <a:solidFill>
                            <a:srgbClr val="0D0D0D"/>
                          </a:solidFill>
                          <a:latin typeface="Calibri"/>
                        </a:rPr>
                        <a:t>78,0</a:t>
                      </a:r>
                    </a:p>
                  </a:txBody>
                  <a:tcPr>
                    <a:solidFill>
                      <a:srgbClr val="FFFFFF"/>
                    </a:solidFill>
                  </a:tcPr>
                </a:tc>
                <a:tc>
                  <a:txBody>
                    <a:bodyPr/>
                    <a:lstStyle/>
                    <a:p>
                      <a:pPr algn="ctr"/>
                      <a:r>
                        <a:rPr sz="800" b="1" i="0">
                          <a:solidFill>
                            <a:srgbClr val="0D0D0D"/>
                          </a:solidFill>
                          <a:latin typeface="Calibri"/>
                        </a:rPr>
                        <a:t>83,0</a:t>
                      </a:r>
                    </a:p>
                  </a:txBody>
                  <a:tcPr>
                    <a:solidFill>
                      <a:srgbClr val="FFFFFF"/>
                    </a:solidFill>
                  </a:tcPr>
                </a:tc>
              </a:tr>
              <a:tr h="220000">
                <a:tc>
                  <a:txBody>
                    <a:bodyPr/>
                    <a:lstStyle/>
                    <a:p>
                      <a:pPr algn="l"/>
                      <a:r>
                        <a:rPr sz="750" b="0" i="1">
                          <a:solidFill>
                            <a:srgbClr val="333333"/>
                          </a:solidFill>
                          <a:latin typeface="Calibri"/>
                        </a:rPr>
                        <a:t>Croissance YoY</a:t>
                      </a:r>
                    </a:p>
                  </a:txBody>
                  <a:tcPr>
                    <a:solidFill>
                      <a:srgbClr val="F7F8FA"/>
                    </a:solidFill>
                  </a:tcPr>
                </a:tc>
                <a:tc>
                  <a:txBody>
                    <a:bodyPr/>
                    <a:lstStyle/>
                    <a:p>
                      <a:pPr algn="ctr"/>
                      <a:r>
                        <a:rPr sz="750" b="0" i="1">
                          <a:solidFill>
                            <a:srgbClr val="333333"/>
                          </a:solidFill>
                          <a:latin typeface="Calibri"/>
                        </a:rPr>
                        <a:t>+11,4 %</a:t>
                      </a:r>
                    </a:p>
                  </a:txBody>
                  <a:tcPr>
                    <a:solidFill>
                      <a:srgbClr val="F7F8FA"/>
                    </a:solidFill>
                  </a:tcPr>
                </a:tc>
                <a:tc>
                  <a:txBody>
                    <a:bodyPr/>
                    <a:lstStyle/>
                    <a:p>
                      <a:pPr algn="ctr"/>
                      <a:r>
                        <a:rPr sz="750" b="0" i="1">
                          <a:solidFill>
                            <a:srgbClr val="333333"/>
                          </a:solidFill>
                          <a:latin typeface="Calibri"/>
                        </a:rPr>
                        <a:t>+5,8 %</a:t>
                      </a:r>
                    </a:p>
                  </a:txBody>
                  <a:tcPr>
                    <a:solidFill>
                      <a:srgbClr val="F7F8FA"/>
                    </a:solidFill>
                  </a:tcPr>
                </a:tc>
                <a:tc>
                  <a:txBody>
                    <a:bodyPr/>
                    <a:lstStyle/>
                    <a:p>
                      <a:pPr algn="ctr"/>
                      <a:r>
                        <a:rPr sz="750" b="0" i="1">
                          <a:solidFill>
                            <a:srgbClr val="333333"/>
                          </a:solidFill>
                          <a:latin typeface="Calibri"/>
                        </a:rPr>
                        <a:t>+6,0 %</a:t>
                      </a:r>
                    </a:p>
                  </a:txBody>
                  <a:tcPr>
                    <a:solidFill>
                      <a:srgbClr val="DDE8F5"/>
                    </a:solidFill>
                  </a:tcPr>
                </a:tc>
                <a:tc>
                  <a:txBody>
                    <a:bodyPr/>
                    <a:lstStyle/>
                    <a:p>
                      <a:pPr algn="ctr"/>
                      <a:r>
                        <a:rPr sz="750" b="0" i="1">
                          <a:solidFill>
                            <a:srgbClr val="333333"/>
                          </a:solidFill>
                          <a:latin typeface="Calibri"/>
                        </a:rPr>
                        <a:t>+6,5 %</a:t>
                      </a:r>
                    </a:p>
                  </a:txBody>
                  <a:tcPr>
                    <a:solidFill>
                      <a:srgbClr val="F7F8FA"/>
                    </a:solidFill>
                  </a:tcPr>
                </a:tc>
                <a:tc>
                  <a:txBody>
                    <a:bodyPr/>
                    <a:lstStyle/>
                    <a:p>
                      <a:pPr algn="ctr"/>
                      <a:r>
                        <a:rPr sz="750" b="0" i="1">
                          <a:solidFill>
                            <a:srgbClr val="333333"/>
                          </a:solidFill>
                          <a:latin typeface="Calibri"/>
                        </a:rPr>
                        <a:t>+6,4 %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10,0</a:t>
                      </a:r>
                    </a:p>
                  </a:txBody>
                  <a:tcPr>
                    <a:solidFill>
                      <a:srgbClr val="FFFFFF"/>
                    </a:solidFill>
                  </a:tcPr>
                </a:tc>
                <a:tc>
                  <a:txBody>
                    <a:bodyPr/>
                    <a:lstStyle/>
                    <a:p>
                      <a:pPr algn="ctr"/>
                      <a:r>
                        <a:rPr sz="800" b="1" i="0">
                          <a:solidFill>
                            <a:srgbClr val="0D0D0D"/>
                          </a:solidFill>
                          <a:latin typeface="Calibri"/>
                        </a:rPr>
                        <a:t>10,7</a:t>
                      </a:r>
                    </a:p>
                  </a:txBody>
                  <a:tcPr>
                    <a:solidFill>
                      <a:srgbClr val="FFFFFF"/>
                    </a:solidFill>
                  </a:tcPr>
                </a:tc>
                <a:tc>
                  <a:txBody>
                    <a:bodyPr/>
                    <a:lstStyle/>
                    <a:p>
                      <a:pPr algn="ctr"/>
                      <a:r>
                        <a:rPr sz="800" b="1" i="0">
                          <a:solidFill>
                            <a:srgbClr val="1B3A6B"/>
                          </a:solidFill>
                          <a:latin typeface="Calibri"/>
                        </a:rPr>
                        <a:t>11,0</a:t>
                      </a:r>
                    </a:p>
                  </a:txBody>
                  <a:tcPr>
                    <a:solidFill>
                      <a:srgbClr val="DDE8F5"/>
                    </a:solidFill>
                  </a:tcPr>
                </a:tc>
                <a:tc>
                  <a:txBody>
                    <a:bodyPr/>
                    <a:lstStyle/>
                    <a:p>
                      <a:pPr algn="ctr"/>
                      <a:r>
                        <a:rPr sz="800" b="1" i="0">
                          <a:solidFill>
                            <a:srgbClr val="0D0D0D"/>
                          </a:solidFill>
                          <a:latin typeface="Calibri"/>
                        </a:rPr>
                        <a:t>11,9</a:t>
                      </a:r>
                    </a:p>
                  </a:txBody>
                  <a:tcPr>
                    <a:solidFill>
                      <a:srgbClr val="FFFFFF"/>
                    </a:solidFill>
                  </a:tcPr>
                </a:tc>
                <a:tc>
                  <a:txBody>
                    <a:bodyPr/>
                    <a:lstStyle/>
                    <a:p>
                      <a:pPr algn="ctr"/>
                      <a:r>
                        <a:rPr sz="800" b="1" i="0">
                          <a:solidFill>
                            <a:srgbClr val="0D0D0D"/>
                          </a:solidFill>
                          <a:latin typeface="Calibri"/>
                        </a:rPr>
                        <a:t>12,9</a:t>
                      </a:r>
                    </a:p>
                  </a:txBody>
                  <a:tcPr>
                    <a:solidFill>
                      <a:srgbClr val="FFFFFF"/>
                    </a:solidFill>
                  </a:tcPr>
                </a:tc>
              </a:tr>
              <a:tr h="220000">
                <a:tc>
                  <a:txBody>
                    <a:bodyPr/>
                    <a:lstStyle/>
                    <a:p>
                      <a:pPr algn="l"/>
                      <a:r>
                        <a:rPr sz="750" b="0" i="1">
                          <a:solidFill>
                            <a:srgbClr val="333333"/>
                          </a:solidFill>
                          <a:latin typeface="Calibri"/>
                        </a:rPr>
                        <a:t>Marge brute</a:t>
                      </a:r>
                    </a:p>
                  </a:txBody>
                  <a:tcPr>
                    <a:solidFill>
                      <a:srgbClr val="F7F8FA"/>
                    </a:solidFill>
                  </a:tcPr>
                </a:tc>
                <a:tc>
                  <a:txBody>
                    <a:bodyPr/>
                    <a:lstStyle/>
                    <a:p>
                      <a:pPr algn="ctr"/>
                      <a:r>
                        <a:rPr sz="750" b="0" i="1">
                          <a:solidFill>
                            <a:srgbClr val="333333"/>
                          </a:solidFill>
                          <a:latin typeface="Calibri"/>
                        </a:rPr>
                        <a:t>15,3 %</a:t>
                      </a:r>
                    </a:p>
                  </a:txBody>
                  <a:tcPr>
                    <a:solidFill>
                      <a:srgbClr val="F7F8FA"/>
                    </a:solidFill>
                  </a:tcPr>
                </a:tc>
                <a:tc>
                  <a:txBody>
                    <a:bodyPr/>
                    <a:lstStyle/>
                    <a:p>
                      <a:pPr algn="ctr"/>
                      <a:r>
                        <a:rPr sz="750" b="0" i="1">
                          <a:solidFill>
                            <a:srgbClr val="333333"/>
                          </a:solidFill>
                          <a:latin typeface="Calibri"/>
                        </a:rPr>
                        <a:t>15,4 %</a:t>
                      </a:r>
                    </a:p>
                  </a:txBody>
                  <a:tcPr>
                    <a:solidFill>
                      <a:srgbClr val="F7F8FA"/>
                    </a:solidFill>
                  </a:tcPr>
                </a:tc>
                <a:tc>
                  <a:txBody>
                    <a:bodyPr/>
                    <a:lstStyle/>
                    <a:p>
                      <a:pPr algn="ctr"/>
                      <a:r>
                        <a:rPr sz="750" b="0" i="1">
                          <a:solidFill>
                            <a:srgbClr val="333333"/>
                          </a:solidFill>
                          <a:latin typeface="Calibri"/>
                        </a:rPr>
                        <a:t>14,9 %</a:t>
                      </a:r>
                    </a:p>
                  </a:txBody>
                  <a:tcPr>
                    <a:solidFill>
                      <a:srgbClr val="DDE8F5"/>
                    </a:solidFill>
                  </a:tcPr>
                </a:tc>
                <a:tc>
                  <a:txBody>
                    <a:bodyPr/>
                    <a:lstStyle/>
                    <a:p>
                      <a:pPr algn="ctr"/>
                      <a:r>
                        <a:rPr sz="750" b="0" i="1">
                          <a:solidFill>
                            <a:srgbClr val="333333"/>
                          </a:solidFill>
                          <a:latin typeface="Calibri"/>
                        </a:rPr>
                        <a:t>15,2 %</a:t>
                      </a:r>
                    </a:p>
                  </a:txBody>
                  <a:tcPr>
                    <a:solidFill>
                      <a:srgbClr val="F7F8FA"/>
                    </a:solidFill>
                  </a:tcPr>
                </a:tc>
                <a:tc>
                  <a:txBody>
                    <a:bodyPr/>
                    <a:lstStyle/>
                    <a:p>
                      <a:pPr algn="ctr"/>
                      <a:r>
                        <a:rPr sz="750" b="0" i="1">
                          <a:solidFill>
                            <a:srgbClr val="333333"/>
                          </a:solidFill>
                          <a:latin typeface="Calibri"/>
                        </a:rPr>
                        <a:t>15,5 %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7,8</a:t>
                      </a:r>
                    </a:p>
                  </a:txBody>
                  <a:tcPr>
                    <a:solidFill>
                      <a:srgbClr val="FFFFFF"/>
                    </a:solidFill>
                  </a:tcPr>
                </a:tc>
                <a:tc>
                  <a:txBody>
                    <a:bodyPr/>
                    <a:lstStyle/>
                    <a:p>
                      <a:pPr algn="ctr"/>
                      <a:r>
                        <a:rPr sz="800" b="1" i="0">
                          <a:solidFill>
                            <a:srgbClr val="0D0D0D"/>
                          </a:solidFill>
                          <a:latin typeface="Calibri"/>
                        </a:rPr>
                        <a:t>9,2</a:t>
                      </a:r>
                    </a:p>
                  </a:txBody>
                  <a:tcPr>
                    <a:solidFill>
                      <a:srgbClr val="FFFFFF"/>
                    </a:solidFill>
                  </a:tcPr>
                </a:tc>
                <a:tc>
                  <a:txBody>
                    <a:bodyPr/>
                    <a:lstStyle/>
                    <a:p>
                      <a:pPr algn="ctr"/>
                      <a:r>
                        <a:rPr sz="800" b="1" i="0">
                          <a:solidFill>
                            <a:srgbClr val="1B3A6B"/>
                          </a:solidFill>
                          <a:latin typeface="Calibri"/>
                        </a:rPr>
                        <a:t>10,3</a:t>
                      </a:r>
                    </a:p>
                  </a:txBody>
                  <a:tcPr>
                    <a:solidFill>
                      <a:srgbClr val="DDE8F5"/>
                    </a:solidFill>
                  </a:tcPr>
                </a:tc>
                <a:tc>
                  <a:txBody>
                    <a:bodyPr/>
                    <a:lstStyle/>
                    <a:p>
                      <a:pPr algn="ctr"/>
                      <a:r>
                        <a:rPr sz="800" b="1" i="0">
                          <a:solidFill>
                            <a:srgbClr val="0D0D0D"/>
                          </a:solidFill>
                          <a:latin typeface="Calibri"/>
                        </a:rPr>
                        <a:t>12,2</a:t>
                      </a:r>
                    </a:p>
                  </a:txBody>
                  <a:tcPr>
                    <a:solidFill>
                      <a:srgbClr val="FFFFFF"/>
                    </a:solidFill>
                  </a:tcPr>
                </a:tc>
                <a:tc>
                  <a:txBody>
                    <a:bodyPr/>
                    <a:lstStyle/>
                    <a:p>
                      <a:pPr algn="ctr"/>
                      <a:r>
                        <a:rPr sz="800" b="1" i="0">
                          <a:solidFill>
                            <a:srgbClr val="0D0D0D"/>
                          </a:solidFill>
                          <a:latin typeface="Calibri"/>
                        </a:rPr>
                        <a:t>13,3</a:t>
                      </a:r>
                    </a:p>
                  </a:txBody>
                  <a:tcPr>
                    <a:solidFill>
                      <a:srgbClr val="FFFFFF"/>
                    </a:solidFill>
                  </a:tcPr>
                </a:tc>
              </a:tr>
              <a:tr h="220000">
                <a:tc>
                  <a:txBody>
                    <a:bodyPr/>
                    <a:lstStyle/>
                    <a:p>
                      <a:pPr algn="l"/>
                      <a:r>
                        <a:rPr sz="750" b="0" i="1">
                          <a:solidFill>
                            <a:srgbClr val="333333"/>
                          </a:solidFill>
                          <a:latin typeface="Calibri"/>
                        </a:rPr>
                        <a:t>Marge EBITDA</a:t>
                      </a:r>
                    </a:p>
                  </a:txBody>
                  <a:tcPr>
                    <a:solidFill>
                      <a:srgbClr val="F7F8FA"/>
                    </a:solidFill>
                  </a:tcPr>
                </a:tc>
                <a:tc>
                  <a:txBody>
                    <a:bodyPr/>
                    <a:lstStyle/>
                    <a:p>
                      <a:pPr algn="ctr"/>
                      <a:r>
                        <a:rPr sz="750" b="0" i="1">
                          <a:solidFill>
                            <a:srgbClr val="333333"/>
                          </a:solidFill>
                          <a:latin typeface="Calibri"/>
                        </a:rPr>
                        <a:t>11,9 %</a:t>
                      </a:r>
                    </a:p>
                  </a:txBody>
                  <a:tcPr>
                    <a:solidFill>
                      <a:srgbClr val="F7F8FA"/>
                    </a:solidFill>
                  </a:tcPr>
                </a:tc>
                <a:tc>
                  <a:txBody>
                    <a:bodyPr/>
                    <a:lstStyle/>
                    <a:p>
                      <a:pPr algn="ctr"/>
                      <a:r>
                        <a:rPr sz="750" b="0" i="1">
                          <a:solidFill>
                            <a:srgbClr val="333333"/>
                          </a:solidFill>
                          <a:latin typeface="Calibri"/>
                        </a:rPr>
                        <a:t>13,3 %</a:t>
                      </a:r>
                    </a:p>
                  </a:txBody>
                  <a:tcPr>
                    <a:solidFill>
                      <a:srgbClr val="F7F8FA"/>
                    </a:solidFill>
                  </a:tcPr>
                </a:tc>
                <a:tc>
                  <a:txBody>
                    <a:bodyPr/>
                    <a:lstStyle/>
                    <a:p>
                      <a:pPr algn="ctr"/>
                      <a:r>
                        <a:rPr sz="750" b="0" i="1">
                          <a:solidFill>
                            <a:srgbClr val="333333"/>
                          </a:solidFill>
                          <a:latin typeface="Calibri"/>
                        </a:rPr>
                        <a:t>14,0 %</a:t>
                      </a:r>
                    </a:p>
                  </a:txBody>
                  <a:tcPr>
                    <a:solidFill>
                      <a:srgbClr val="DDE8F5"/>
                    </a:solidFill>
                  </a:tcPr>
                </a:tc>
                <a:tc>
                  <a:txBody>
                    <a:bodyPr/>
                    <a:lstStyle/>
                    <a:p>
                      <a:pPr algn="ctr"/>
                      <a:r>
                        <a:rPr sz="750" b="0" i="1">
                          <a:solidFill>
                            <a:srgbClr val="333333"/>
                          </a:solidFill>
                          <a:latin typeface="Calibri"/>
                        </a:rPr>
                        <a:t>15,6 %</a:t>
                      </a:r>
                    </a:p>
                  </a:txBody>
                  <a:tcPr>
                    <a:solidFill>
                      <a:srgbClr val="F7F8FA"/>
                    </a:solidFill>
                  </a:tcPr>
                </a:tc>
                <a:tc>
                  <a:txBody>
                    <a:bodyPr/>
                    <a:lstStyle/>
                    <a:p>
                      <a:pPr algn="ctr"/>
                      <a:r>
                        <a:rPr sz="750" b="0" i="1">
                          <a:solidFill>
                            <a:srgbClr val="333333"/>
                          </a:solidFill>
                          <a:latin typeface="Calibri"/>
                        </a:rPr>
                        <a:t>16,0 %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3,8</a:t>
                      </a:r>
                    </a:p>
                  </a:txBody>
                  <a:tcPr>
                    <a:solidFill>
                      <a:srgbClr val="FFFFFF"/>
                    </a:solidFill>
                  </a:tcPr>
                </a:tc>
                <a:tc>
                  <a:txBody>
                    <a:bodyPr/>
                    <a:lstStyle/>
                    <a:p>
                      <a:pPr algn="ctr"/>
                      <a:r>
                        <a:rPr sz="800" b="1" i="0">
                          <a:solidFill>
                            <a:srgbClr val="0D0D0D"/>
                          </a:solidFill>
                          <a:latin typeface="Calibri"/>
                        </a:rPr>
                        <a:t>4,2</a:t>
                      </a:r>
                    </a:p>
                  </a:txBody>
                  <a:tcPr>
                    <a:solidFill>
                      <a:srgbClr val="FFFFFF"/>
                    </a:solidFill>
                  </a:tcPr>
                </a:tc>
                <a:tc>
                  <a:txBody>
                    <a:bodyPr/>
                    <a:lstStyle/>
                    <a:p>
                      <a:pPr algn="ctr"/>
                      <a:r>
                        <a:rPr sz="800" b="1" i="0">
                          <a:solidFill>
                            <a:srgbClr val="1B3A6B"/>
                          </a:solidFill>
                          <a:latin typeface="Calibri"/>
                        </a:rPr>
                        <a:t>5,2</a:t>
                      </a:r>
                    </a:p>
                  </a:txBody>
                  <a:tcPr>
                    <a:solidFill>
                      <a:srgbClr val="DDE8F5"/>
                    </a:solidFill>
                  </a:tcPr>
                </a:tc>
                <a:tc>
                  <a:txBody>
                    <a:bodyPr/>
                    <a:lstStyle/>
                    <a:p>
                      <a:pPr algn="ctr"/>
                      <a:r>
                        <a:rPr sz="800" b="1" i="0">
                          <a:solidFill>
                            <a:srgbClr val="0D0D0D"/>
                          </a:solidFill>
                          <a:latin typeface="Calibri"/>
                        </a:rPr>
                        <a:t>5,5</a:t>
                      </a:r>
                    </a:p>
                  </a:txBody>
                  <a:tcPr>
                    <a:solidFill>
                      <a:srgbClr val="FFFFFF"/>
                    </a:solidFill>
                  </a:tcPr>
                </a:tc>
                <a:tc>
                  <a:txBody>
                    <a:bodyPr/>
                    <a:lstStyle/>
                    <a:p>
                      <a:pPr algn="ctr"/>
                      <a:r>
                        <a:rPr sz="800" b="1" i="0">
                          <a:solidFill>
                            <a:srgbClr val="0D0D0D"/>
                          </a:solidFill>
                          <a:latin typeface="Calibri"/>
                        </a:rPr>
                        <a:t>6,0</a:t>
                      </a:r>
                    </a:p>
                  </a:txBody>
                  <a:tcPr>
                    <a:solidFill>
                      <a:srgbClr val="FFFFFF"/>
                    </a:solidFill>
                  </a:tcPr>
                </a:tc>
              </a:tr>
              <a:tr h="220000">
                <a:tc>
                  <a:txBody>
                    <a:bodyPr/>
                    <a:lstStyle/>
                    <a:p>
                      <a:pPr algn="l"/>
                      <a:r>
                        <a:rPr sz="750" b="0" i="1">
                          <a:solidFill>
                            <a:srgbClr val="333333"/>
                          </a:solidFill>
                          <a:latin typeface="Calibri"/>
                        </a:rPr>
                        <a:t>Marge nette</a:t>
                      </a:r>
                    </a:p>
                  </a:txBody>
                  <a:tcPr>
                    <a:solidFill>
                      <a:srgbClr val="F7F8FA"/>
                    </a:solidFill>
                  </a:tcPr>
                </a:tc>
                <a:tc>
                  <a:txBody>
                    <a:bodyPr/>
                    <a:lstStyle/>
                    <a:p>
                      <a:pPr algn="ctr"/>
                      <a:r>
                        <a:rPr sz="750" b="0" i="1">
                          <a:solidFill>
                            <a:srgbClr val="333333"/>
                          </a:solidFill>
                          <a:latin typeface="Calibri"/>
                        </a:rPr>
                        <a:t>5,8 %</a:t>
                      </a:r>
                    </a:p>
                  </a:txBody>
                  <a:tcPr>
                    <a:solidFill>
                      <a:srgbClr val="F7F8FA"/>
                    </a:solidFill>
                  </a:tcPr>
                </a:tc>
                <a:tc>
                  <a:txBody>
                    <a:bodyPr/>
                    <a:lstStyle/>
                    <a:p>
                      <a:pPr algn="ctr"/>
                      <a:r>
                        <a:rPr sz="750" b="0" i="1">
                          <a:solidFill>
                            <a:srgbClr val="333333"/>
                          </a:solidFill>
                          <a:latin typeface="Calibri"/>
                        </a:rPr>
                        <a:t>6,1 %</a:t>
                      </a:r>
                    </a:p>
                  </a:txBody>
                  <a:tcPr>
                    <a:solidFill>
                      <a:srgbClr val="F7F8FA"/>
                    </a:solidFill>
                  </a:tcPr>
                </a:tc>
                <a:tc>
                  <a:txBody>
                    <a:bodyPr/>
                    <a:lstStyle/>
                    <a:p>
                      <a:pPr algn="ctr"/>
                      <a:r>
                        <a:rPr sz="750" b="0" i="1">
                          <a:solidFill>
                            <a:srgbClr val="333333"/>
                          </a:solidFill>
                          <a:latin typeface="Calibri"/>
                        </a:rPr>
                        <a:t>7,1 %</a:t>
                      </a:r>
                    </a:p>
                  </a:txBody>
                  <a:tcPr>
                    <a:solidFill>
                      <a:srgbClr val="DDE8F5"/>
                    </a:solidFill>
                  </a:tcPr>
                </a:tc>
                <a:tc>
                  <a:txBody>
                    <a:bodyPr/>
                    <a:lstStyle/>
                    <a:p>
                      <a:pPr algn="ctr"/>
                      <a:r>
                        <a:rPr sz="750" b="0" i="1">
                          <a:solidFill>
                            <a:srgbClr val="333333"/>
                          </a:solidFill>
                          <a:latin typeface="Calibri"/>
                        </a:rPr>
                        <a:t>7,0 %</a:t>
                      </a:r>
                    </a:p>
                  </a:txBody>
                  <a:tcPr>
                    <a:solidFill>
                      <a:srgbClr val="F7F8FA"/>
                    </a:solidFill>
                  </a:tcPr>
                </a:tc>
                <a:tc>
                  <a:txBody>
                    <a:bodyPr/>
                    <a:lstStyle/>
                    <a:p>
                      <a:pPr algn="ctr"/>
                      <a:r>
                        <a:rPr sz="750" b="0" i="1">
                          <a:solidFill>
                            <a:srgbClr val="333333"/>
                          </a:solidFill>
                          <a:latin typeface="Calibri"/>
                        </a:rPr>
                        <a:t>7,2 %</a:t>
                      </a:r>
                    </a:p>
                  </a:txBody>
                  <a:tcPr>
                    <a:solidFill>
                      <a:srgbClr val="F7F8FA"/>
                    </a:solidFill>
                  </a:tcPr>
                </a:tc>
              </a:tr>
            </a:tbl>
          </a:graphicData>
        </a:graphic>
      </p:graphicFrame>
      <p:sp>
        <p:nvSpPr>
          <p:cNvPr id="18" name="Rectangle 17"/>
          <p:cNvSpPr/>
          <p:nvPr/>
        </p:nvSpPr>
        <p:spPr>
          <a:xfrm>
            <a:off x="367200" y="3218400"/>
            <a:ext cx="8413200" cy="12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218400"/>
            <a:ext cx="79200" cy="122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247200"/>
            <a:ext cx="8298000" cy="1188000"/>
          </a:xfrm>
          <a:prstGeom prst="rect">
            <a:avLst/>
          </a:prstGeom>
          <a:noFill/>
        </p:spPr>
        <p:txBody>
          <a:bodyPr wrap="square">
            <a:spAutoFit/>
          </a:bodyPr>
          <a:lstStyle/>
          <a:p>
            <a:pPr algn="l"/>
            <a:r>
              <a:rPr sz="850" b="0" i="0">
                <a:solidFill>
                  <a:srgbClr val="555555"/>
                </a:solidFill>
                <a:latin typeface="Calibri"/>
              </a:rPr>
              <a:t>Le CA 2025 atteint 73.4 Mds€ (+6.0% YoY), porté par la reprise du trafic aérien et la livraison de 771 avions (record historique). La marge brute de 14.9% reflète une pression sur les prix des matières premières (+12% en 2024) partiellement compensée par des économies d'échelle. Le ND/EBITDA négatif (-0.5x) et l'IntCov à 9.2x soulignent une trésorerie nette de 12.5 Mds€, permettant des rachats d'actions ou dividendes élevés.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14,1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7,0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-5,5 Md€</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2,49</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0,90</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0,3x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9,2x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-0,5x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1,99</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-2,45</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Rectangle 30"/>
          <p:cNvSpPr/>
          <p:nvPr/>
        </p:nvSpPr>
        <p:spPr>
          <a:xfrm>
            <a:off x="367200" y="4068000"/>
            <a:ext cx="8413200" cy="4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7200" y="4068000"/>
            <a:ext cx="79200" cy="46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200" y="4096800"/>
            <a:ext cx="8298000" cy="432000"/>
          </a:xfrm>
          <a:prstGeom prst="rect">
            <a:avLst/>
          </a:prstGeom>
          <a:noFill/>
        </p:spPr>
        <p:txBody>
          <a:bodyPr wrap="square">
            <a:spAutoFit/>
          </a:bodyPr>
          <a:lstStyle/>
          <a:p>
            <a:pPr algn="l"/>
            <a:r>
              <a:rPr sz="850" b="0" i="0">
                <a:solidFill>
                  <a:srgbClr val="555555"/>
                </a:solidFill>
                <a:latin typeface="Calibri"/>
              </a:rPr>
              <a:t>Le CA 2025 atteint 73.4 Mds€ (+6.0% YoY), porté par la reprise du trafic aérien et la livraison de 771 avions (record historique). La marge brute de 14.9% reflète une pression sur les prix des matières premières (+12% en 2024) partiellement compensée par des économies d'échelle. Le ND/EBITDA négatif (-0.5x) et l'IntCov à 9.2x soulignent une trésorerie nette de 12.5 Mds€, permettant des rachats d'actions ou dividendes élevés.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26,1x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Premium</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12,8x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14,9 %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14,0 %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28,9 %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B06000"/>
                          </a:solidFill>
                          <a:latin typeface="Calibri"/>
                        </a:rPr>
                        <a:t>Modéré</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Zone grise</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-2,45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Rectangle 17"/>
          <p:cNvSpPr/>
          <p:nvPr/>
        </p:nvSpPr>
        <p:spPr>
          <a:xfrm>
            <a:off x="367200" y="3628800"/>
            <a:ext cx="8413200" cy="82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628800"/>
            <a:ext cx="792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657600"/>
            <a:ext cx="8298000" cy="788400"/>
          </a:xfrm>
          <a:prstGeom prst="rect">
            <a:avLst/>
          </a:prstGeom>
          <a:noFill/>
        </p:spPr>
        <p:txBody>
          <a:bodyPr wrap="square">
            <a:spAutoFit/>
          </a:bodyPr>
          <a:lstStyle/>
          <a:p>
            <a:pPr algn="l"/>
            <a:r>
              <a:rPr sz="850" b="0" i="0">
                <a:solidFill>
                  <a:srgbClr val="555555"/>
                </a:solidFill>
                <a:latin typeface="Calibri"/>
              </a:rPr>
              <a:t>Les marges EBITDA ont évolué de 14.0% en 2022 à 14.0% en 2025, avec une compression en 2023 (11.9%) due à des coûts de transition vers l'A321XLR. La reprise en 2024-2025 s'explique par le mix produit (A350 &gt; A320neo) et une meilleure absorption des coûts fixes. Le pricing power reste solide, mais une mean-reversion est possible si la demande civile faiblit ou si les coûts salariaux augmentent.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195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173,06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150 EUR</a:t>
                      </a:r>
                    </a:p>
                  </a:txBody>
                  <a:tcPr>
                    <a:solidFill>
                      <a:srgbClr val="FAF0EF"/>
                    </a:solidFill>
                  </a:tcPr>
                </a:tc>
                <a:tc>
                  <a:txBody>
                    <a:bodyPr/>
                    <a:lstStyle/>
                    <a:p>
                      <a:pPr algn="ctr"/>
                      <a:r>
                        <a:rPr sz="2000" b="1" i="0">
                          <a:solidFill>
                            <a:srgbClr val="2E5FA3"/>
                          </a:solidFill>
                          <a:latin typeface="Calibri"/>
                        </a:rPr>
                        <a:t>195 EUR</a:t>
                      </a:r>
                    </a:p>
                  </a:txBody>
                  <a:tcPr>
                    <a:solidFill>
                      <a:srgbClr val="EEF3FA"/>
                    </a:solidFill>
                  </a:tcPr>
                </a:tc>
                <a:tc>
                  <a:txBody>
                    <a:bodyPr/>
                    <a:lstStyle/>
                    <a:p>
                      <a:pPr algn="ctr"/>
                      <a:r>
                        <a:rPr sz="2000" b="1" i="0">
                          <a:solidFill>
                            <a:srgbClr val="1A7A4A"/>
                          </a:solidFill>
                          <a:latin typeface="Calibri"/>
                        </a:rPr>
                        <a:t>220 EUR</a:t>
                      </a:r>
                    </a:p>
                  </a:txBody>
                  <a:tcPr>
                    <a:solidFill>
                      <a:srgbClr val="EAF4EF"/>
                    </a:solidFill>
                  </a:tcPr>
                </a:tc>
              </a:tr>
              <a:tr h="342900">
                <a:tc>
                  <a:txBody>
                    <a:bodyPr/>
                    <a:lstStyle/>
                    <a:p>
                      <a:pPr algn="ctr"/>
                      <a:r>
                        <a:rPr sz="1200" b="1" i="0">
                          <a:solidFill>
                            <a:srgbClr val="A82020"/>
                          </a:solidFill>
                          <a:latin typeface="Calibri"/>
                        </a:rPr>
                        <a:t>-13,3 %</a:t>
                      </a:r>
                    </a:p>
                  </a:txBody>
                  <a:tcPr>
                    <a:solidFill>
                      <a:srgbClr val="FAF0EF"/>
                    </a:solidFill>
                  </a:tcPr>
                </a:tc>
                <a:tc>
                  <a:txBody>
                    <a:bodyPr/>
                    <a:lstStyle/>
                    <a:p>
                      <a:pPr algn="ctr"/>
                      <a:r>
                        <a:rPr sz="1200" b="1" i="0">
                          <a:solidFill>
                            <a:srgbClr val="2E5FA3"/>
                          </a:solidFill>
                          <a:latin typeface="Calibri"/>
                        </a:rPr>
                        <a:t>+12,7 %</a:t>
                      </a:r>
                    </a:p>
                  </a:txBody>
                  <a:tcPr>
                    <a:solidFill>
                      <a:srgbClr val="EEF3FA"/>
                    </a:solidFill>
                  </a:tcPr>
                </a:tc>
                <a:tc>
                  <a:txBody>
                    <a:bodyPr/>
                    <a:lstStyle/>
                    <a:p>
                      <a:pPr algn="ctr"/>
                      <a:r>
                        <a:rPr sz="1200" b="1" i="0">
                          <a:solidFill>
                            <a:srgbClr val="1A7A4A"/>
                          </a:solidFill>
                          <a:latin typeface="Calibri"/>
                        </a:rPr>
                        <a:t>+27,1 %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4024800" cy="201600"/>
          </a:xfrm>
          <a:prstGeom prst="rect">
            <a:avLst/>
          </a:prstGeom>
          <a:noFill/>
        </p:spPr>
        <p:txBody>
          <a:bodyPr wrap="square">
            <a:spAutoFit/>
          </a:bodyPr>
          <a:lstStyle/>
          <a:p>
            <a:pPr algn="l"/>
            <a:r>
              <a:rPr sz="900" b="1" i="0">
                <a:solidFill>
                  <a:srgbClr val="1B3A6B"/>
                </a:solidFill>
                <a:latin typeface="Calibri"/>
              </a:rPr>
              <a:t>Monte Carlo GBM — 10 000 simulations</a:t>
            </a:r>
          </a:p>
        </p:txBody>
      </p:sp>
      <p:graphicFrame>
        <p:nvGraphicFramePr>
          <p:cNvPr id="19" name="Table 18"/>
          <p:cNvGraphicFramePr>
            <a:graphicFrameLocks noGrp="1"/>
          </p:cNvGraphicFramePr>
          <p:nvPr/>
        </p:nvGraphicFramePr>
        <p:xfrm>
          <a:off x="367200" y="2653200"/>
          <a:ext cx="4024800" cy="1116000"/>
        </p:xfrm>
        <a:graphic>
          <a:graphicData uri="http://schemas.openxmlformats.org/drawingml/2006/table">
            <a:tbl>
              <a:tblPr firstRow="1" bandRow="1">
                <a:tableStyleId>{5C22544A-7EE6-4342-B048-85BDC9FD1C3A}</a:tableStyleId>
              </a:tblPr>
              <a:tblGrid>
                <a:gridCol w="1690416"/>
                <a:gridCol w="1287936"/>
                <a:gridCol w="1046448"/>
              </a:tblGrid>
              <a:tr h="186000">
                <a:tc>
                  <a:txBody>
                    <a:bodyPr/>
                    <a:lstStyle/>
                    <a:p>
                      <a:pPr algn="l"/>
                      <a:r>
                        <a:rPr sz="800" b="1" i="0">
                          <a:solidFill>
                            <a:srgbClr val="FFFFFF"/>
                          </a:solidFill>
                          <a:latin typeface="Calibri"/>
                        </a:rPr>
                        <a:t>Scénario</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Cours prédit (12M)</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vs Cours</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Down (P2)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98 EUR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Pessimiste (P10)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121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 Médian (P50)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174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+0,3 %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Optimiste (P90)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248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Up (P98)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306 EUR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+76,9 %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4482000" y="2394000"/>
            <a:ext cx="4298400" cy="201600"/>
          </a:xfrm>
          <a:prstGeom prst="rect">
            <a:avLst/>
          </a:prstGeom>
          <a:noFill/>
        </p:spPr>
        <p:txBody>
          <a:bodyPr wrap="square">
            <a:spAutoFit/>
          </a:bodyPr>
          <a:lstStyle/>
          <a:p>
            <a:pPr algn="l"/>
            <a:r>
              <a:rPr sz="900" b="1" i="0">
                <a:solidFill>
                  <a:srgbClr val="1B3A6B"/>
                </a:solidFill>
                <a:latin typeface="Calibri"/>
              </a:rPr>
              <a:t>Sensibilité WACC × TGR — Valeur (EUR)</a:t>
            </a:r>
          </a:p>
        </p:txBody>
      </p:sp>
      <p:graphicFrame>
        <p:nvGraphicFramePr>
          <p:cNvPr id="21" name="Table 20"/>
          <p:cNvGraphicFramePr>
            <a:graphicFrameLocks noGrp="1"/>
          </p:cNvGraphicFramePr>
          <p:nvPr/>
        </p:nvGraphicFramePr>
        <p:xfrm>
          <a:off x="4482000" y="2653200"/>
          <a:ext cx="4298400" cy="1116000"/>
        </p:xfrm>
        <a:graphic>
          <a:graphicData uri="http://schemas.openxmlformats.org/drawingml/2006/table">
            <a:tbl>
              <a:tblPr firstRow="1" bandRow="1">
                <a:tableStyleId>{5C22544A-7EE6-4342-B048-85BDC9FD1C3A}</a:tableStyleId>
              </a:tblPr>
              <a:tblGrid>
                <a:gridCol w="716400"/>
                <a:gridCol w="716400"/>
                <a:gridCol w="716400"/>
                <a:gridCol w="716400"/>
                <a:gridCol w="716400"/>
                <a:gridCol w="7164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9,0%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195</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11,1%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367200" y="3916800"/>
            <a:ext cx="8413200" cy="54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3916800"/>
            <a:ext cx="79200" cy="547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200" y="3945600"/>
            <a:ext cx="8298000" cy="511200"/>
          </a:xfrm>
          <a:prstGeom prst="rect">
            <a:avLst/>
          </a:prstGeom>
          <a:noFill/>
        </p:spPr>
        <p:txBody>
          <a:bodyPr wrap="square">
            <a:spAutoFit/>
          </a:bodyPr>
          <a:lstStyle/>
          <a:p>
            <a:pPr algn="l"/>
            <a:r>
              <a:rPr sz="850" b="0" i="0">
                <a:solidFill>
                  <a:srgbClr val="555555"/>
                </a:solidFill>
                <a:latin typeface="Calibri"/>
              </a:rPr>
              <a:t>Avec un WACC de 9.0% et une TGR de 2.0%, le DCF implicite suggère un prix de 185-210€/action, soit un upside de 7-21% vs le cours actuel. Cette valorisation intègre une croissance organique de 6-8%/an, mais dépend de l'exécution industrielle (taux de livraison &gt;90% des commandes). Un ralentissement des livraisons ou une hausse des coûts remettrait en cause ce scénario.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Airbus SE</a:t>
                      </a:r>
                    </a:p>
                  </a:txBody>
                  <a:tcPr>
                    <a:solidFill>
                      <a:srgbClr val="DDE8F5"/>
                    </a:solidFill>
                  </a:tcPr>
                </a:tc>
                <a:tc>
                  <a:txBody>
                    <a:bodyPr/>
                    <a:lstStyle/>
                    <a:p>
                      <a:pPr algn="ctr"/>
                      <a:r>
                        <a:rPr sz="750" b="1" i="0">
                          <a:solidFill>
                            <a:srgbClr val="2E5FA3"/>
                          </a:solidFill>
                          <a:latin typeface="Calibri"/>
                        </a:rPr>
                        <a:t>AIR.PA</a:t>
                      </a:r>
                    </a:p>
                  </a:txBody>
                  <a:tcPr>
                    <a:solidFill>
                      <a:srgbClr val="DDE8F5"/>
                    </a:solidFill>
                  </a:tcPr>
                </a:tc>
                <a:tc>
                  <a:txBody>
                    <a:bodyPr/>
                    <a:lstStyle/>
                    <a:p>
                      <a:pPr algn="ctr"/>
                      <a:r>
                        <a:rPr sz="800" b="1" i="0">
                          <a:solidFill>
                            <a:srgbClr val="1B3A6B"/>
                          </a:solidFill>
                          <a:latin typeface="Calibri"/>
                        </a:rPr>
                        <a:t>136,2</a:t>
                      </a:r>
                    </a:p>
                  </a:txBody>
                  <a:tcPr>
                    <a:solidFill>
                      <a:srgbClr val="DDE8F5"/>
                    </a:solidFill>
                  </a:tcPr>
                </a:tc>
                <a:tc>
                  <a:txBody>
                    <a:bodyPr/>
                    <a:lstStyle/>
                    <a:p>
                      <a:pPr algn="ctr"/>
                      <a:r>
                        <a:rPr sz="800" b="1" i="0">
                          <a:solidFill>
                            <a:srgbClr val="1B3A6B"/>
                          </a:solidFill>
                          <a:latin typeface="Calibri"/>
                        </a:rPr>
                        <a:t>12,8x</a:t>
                      </a:r>
                    </a:p>
                  </a:txBody>
                  <a:tcPr>
                    <a:solidFill>
                      <a:srgbClr val="DDE8F5"/>
                    </a:solidFill>
                  </a:tcPr>
                </a:tc>
                <a:tc>
                  <a:txBody>
                    <a:bodyPr/>
                    <a:lstStyle/>
                    <a:p>
                      <a:pPr algn="ctr"/>
                      <a:r>
                        <a:rPr sz="800" b="1" i="0">
                          <a:solidFill>
                            <a:srgbClr val="1B3A6B"/>
                          </a:solidFill>
                          <a:latin typeface="Calibri"/>
                        </a:rPr>
                        <a:t>1,8x</a:t>
                      </a:r>
                    </a:p>
                  </a:txBody>
                  <a:tcPr>
                    <a:solidFill>
                      <a:srgbClr val="DDE8F5"/>
                    </a:solidFill>
                  </a:tcPr>
                </a:tc>
                <a:tc>
                  <a:txBody>
                    <a:bodyPr/>
                    <a:lstStyle/>
                    <a:p>
                      <a:pPr algn="ctr"/>
                      <a:r>
                        <a:rPr sz="800" b="1" i="0">
                          <a:solidFill>
                            <a:srgbClr val="1B3A6B"/>
                          </a:solidFill>
                          <a:latin typeface="Calibri"/>
                        </a:rPr>
                        <a:t>26,1x</a:t>
                      </a:r>
                    </a:p>
                  </a:txBody>
                  <a:tcPr>
                    <a:solidFill>
                      <a:srgbClr val="DDE8F5"/>
                    </a:solidFill>
                  </a:tcPr>
                </a:tc>
                <a:tc>
                  <a:txBody>
                    <a:bodyPr/>
                    <a:lstStyle/>
                    <a:p>
                      <a:pPr algn="ctr"/>
                      <a:r>
                        <a:rPr sz="800" b="1" i="0">
                          <a:solidFill>
                            <a:srgbClr val="1B3A6B"/>
                          </a:solidFill>
                          <a:latin typeface="Calibri"/>
                        </a:rPr>
                        <a:t>14,9 %</a:t>
                      </a:r>
                    </a:p>
                  </a:txBody>
                  <a:tcPr>
                    <a:solidFill>
                      <a:srgbClr val="DDE8F5"/>
                    </a:solidFill>
                  </a:tcPr>
                </a:tc>
                <a:tc>
                  <a:txBody>
                    <a:bodyPr/>
                    <a:lstStyle/>
                    <a:p>
                      <a:pPr algn="ctr"/>
                      <a:r>
                        <a:rPr sz="800" b="1" i="0">
                          <a:solidFill>
                            <a:srgbClr val="1B3A6B"/>
                          </a:solidFill>
                          <a:latin typeface="Calibri"/>
                        </a:rPr>
                        <a:t>14,0 %</a:t>
                      </a:r>
                    </a:p>
                  </a:txBody>
                  <a:tcPr>
                    <a:solidFill>
                      <a:srgbClr val="DDE8F5"/>
                    </a:solidFill>
                  </a:tcPr>
                </a:tc>
              </a:tr>
              <a:tr h="251999">
                <a:tc>
                  <a:txBody>
                    <a:bodyPr/>
                    <a:lstStyle/>
                    <a:p>
                      <a:pPr algn="l"/>
                      <a:r>
                        <a:rPr sz="800" b="0" i="0">
                          <a:solidFill>
                            <a:srgbClr val="0D0D0D"/>
                          </a:solidFill>
                          <a:latin typeface="Calibri"/>
                        </a:rPr>
                        <a:t>Boeing</a:t>
                      </a:r>
                    </a:p>
                  </a:txBody>
                  <a:tcPr>
                    <a:solidFill>
                      <a:srgbClr val="FFFFFF"/>
                    </a:solidFill>
                  </a:tcPr>
                </a:tc>
                <a:tc>
                  <a:txBody>
                    <a:bodyPr/>
                    <a:lstStyle/>
                    <a:p>
                      <a:pPr algn="ctr"/>
                      <a:r>
                        <a:rPr sz="750" b="0" i="0">
                          <a:solidFill>
                            <a:srgbClr val="555555"/>
                          </a:solidFill>
                          <a:latin typeface="Calibri"/>
                        </a:rPr>
                        <a:t>BA</a:t>
                      </a:r>
                    </a:p>
                  </a:txBody>
                  <a:tcPr>
                    <a:solidFill>
                      <a:srgbClr val="FFFFFF"/>
                    </a:solidFill>
                  </a:tcPr>
                </a:tc>
                <a:tc>
                  <a:txBody>
                    <a:bodyPr/>
                    <a:lstStyle/>
                    <a:p>
                      <a:pPr algn="ctr"/>
                      <a:r>
                        <a:rPr sz="800" b="0" i="0">
                          <a:solidFill>
                            <a:srgbClr val="0D0D0D"/>
                          </a:solidFill>
                          <a:latin typeface="Calibri"/>
                        </a:rPr>
                        <a:t>105,0</a:t>
                      </a:r>
                    </a:p>
                  </a:txBody>
                  <a:tcPr>
                    <a:solidFill>
                      <a:srgbClr val="FFFFFF"/>
                    </a:solidFill>
                  </a:tcPr>
                </a:tc>
                <a:tc>
                  <a:txBody>
                    <a:bodyPr/>
                    <a:lstStyle/>
                    <a:p>
                      <a:pPr algn="ctr"/>
                      <a:r>
                        <a:rPr sz="800" b="0" i="0">
                          <a:solidFill>
                            <a:srgbClr val="0D0D0D"/>
                          </a:solidFill>
                          <a:latin typeface="Calibri"/>
                        </a:rPr>
                        <a:t>11,2x</a:t>
                      </a:r>
                    </a:p>
                  </a:txBody>
                  <a:tcPr>
                    <a:solidFill>
                      <a:srgbClr val="FFFFFF"/>
                    </a:solidFill>
                  </a:tcPr>
                </a:tc>
                <a:tc>
                  <a:txBody>
                    <a:bodyPr/>
                    <a:lstStyle/>
                    <a:p>
                      <a:pPr algn="ctr"/>
                      <a:r>
                        <a:rPr sz="800" b="0" i="0">
                          <a:solidFill>
                            <a:srgbClr val="0D0D0D"/>
                          </a:solidFill>
                          <a:latin typeface="Calibri"/>
                        </a:rPr>
                        <a:t>1,3x</a:t>
                      </a:r>
                    </a:p>
                  </a:txBody>
                  <a:tcPr>
                    <a:solidFill>
                      <a:srgbClr val="FFFFFF"/>
                    </a:solidFill>
                  </a:tcPr>
                </a:tc>
                <a:tc>
                  <a:txBody>
                    <a:bodyPr/>
                    <a:lstStyle/>
                    <a:p>
                      <a:pPr algn="ctr"/>
                      <a:r>
                        <a:rPr sz="800" b="0" i="0">
                          <a:solidFill>
                            <a:srgbClr val="0D0D0D"/>
                          </a:solidFill>
                          <a:latin typeface="Calibri"/>
                        </a:rPr>
                        <a:t>0,0x</a:t>
                      </a:r>
                    </a:p>
                  </a:txBody>
                  <a:tcPr>
                    <a:solidFill>
                      <a:srgbClr val="FFFFFF"/>
                    </a:solidFill>
                  </a:tcPr>
                </a:tc>
                <a:tc>
                  <a:txBody>
                    <a:bodyPr/>
                    <a:lstStyle/>
                    <a:p>
                      <a:pPr algn="ctr"/>
                      <a:r>
                        <a:rPr sz="800" b="0" i="0">
                          <a:solidFill>
                            <a:srgbClr val="0D0D0D"/>
                          </a:solidFill>
                          <a:latin typeface="Calibri"/>
                        </a:rPr>
                        <a:t>12,0 %</a:t>
                      </a:r>
                    </a:p>
                  </a:txBody>
                  <a:tcPr>
                    <a:solidFill>
                      <a:srgbClr val="FFFFFF"/>
                    </a:solidFill>
                  </a:tcPr>
                </a:tc>
                <a:tc>
                  <a:txBody>
                    <a:bodyPr/>
                    <a:lstStyle/>
                    <a:p>
                      <a:pPr algn="ctr"/>
                      <a:r>
                        <a:rPr sz="800" b="0" i="0">
                          <a:solidFill>
                            <a:srgbClr val="0D0D0D"/>
                          </a:solidFill>
                          <a:latin typeface="Calibri"/>
                        </a:rPr>
                        <a:t>8,0 %</a:t>
                      </a:r>
                    </a:p>
                  </a:txBody>
                  <a:tcPr>
                    <a:solidFill>
                      <a:srgbClr val="FFFFFF"/>
                    </a:solidFill>
                  </a:tcPr>
                </a:tc>
              </a:tr>
              <a:tr h="251999">
                <a:tc>
                  <a:txBody>
                    <a:bodyPr/>
                    <a:lstStyle/>
                    <a:p>
                      <a:pPr algn="l"/>
                      <a:r>
                        <a:rPr sz="800" b="0" i="0">
                          <a:solidFill>
                            <a:srgbClr val="0D0D0D"/>
                          </a:solidFill>
                          <a:latin typeface="Calibri"/>
                        </a:rPr>
                        <a:t>Safran</a:t>
                      </a:r>
                    </a:p>
                  </a:txBody>
                  <a:tcPr>
                    <a:solidFill>
                      <a:srgbClr val="F7F8FA"/>
                    </a:solidFill>
                  </a:tcPr>
                </a:tc>
                <a:tc>
                  <a:txBody>
                    <a:bodyPr/>
                    <a:lstStyle/>
                    <a:p>
                      <a:pPr algn="ctr"/>
                      <a:r>
                        <a:rPr sz="750" b="0" i="0">
                          <a:solidFill>
                            <a:srgbClr val="555555"/>
                          </a:solidFill>
                          <a:latin typeface="Calibri"/>
                        </a:rPr>
                        <a:t>SAF.PA</a:t>
                      </a:r>
                    </a:p>
                  </a:txBody>
                  <a:tcPr>
                    <a:solidFill>
                      <a:srgbClr val="F7F8FA"/>
                    </a:solidFill>
                  </a:tcPr>
                </a:tc>
                <a:tc>
                  <a:txBody>
                    <a:bodyPr/>
                    <a:lstStyle/>
                    <a:p>
                      <a:pPr algn="ctr"/>
                      <a:r>
                        <a:rPr sz="800" b="0" i="0">
                          <a:solidFill>
                            <a:srgbClr val="0D0D0D"/>
                          </a:solidFill>
                          <a:latin typeface="Calibri"/>
                        </a:rPr>
                        <a:t>78,0</a:t>
                      </a:r>
                    </a:p>
                  </a:txBody>
                  <a:tcPr>
                    <a:solidFill>
                      <a:srgbClr val="F7F8FA"/>
                    </a:solidFill>
                  </a:tcPr>
                </a:tc>
                <a:tc>
                  <a:txBody>
                    <a:bodyPr/>
                    <a:lstStyle/>
                    <a:p>
                      <a:pPr algn="ctr"/>
                      <a:r>
                        <a:rPr sz="800" b="0" i="0">
                          <a:solidFill>
                            <a:srgbClr val="0D0D0D"/>
                          </a:solidFill>
                          <a:latin typeface="Calibri"/>
                        </a:rPr>
                        <a:t>13,2x</a:t>
                      </a:r>
                    </a:p>
                  </a:txBody>
                  <a:tcPr>
                    <a:solidFill>
                      <a:srgbClr val="F7F8FA"/>
                    </a:solidFill>
                  </a:tcPr>
                </a:tc>
                <a:tc>
                  <a:txBody>
                    <a:bodyPr/>
                    <a:lstStyle/>
                    <a:p>
                      <a:pPr algn="ctr"/>
                      <a:r>
                        <a:rPr sz="800" b="0" i="0">
                          <a:solidFill>
                            <a:srgbClr val="0D0D0D"/>
                          </a:solidFill>
                          <a:latin typeface="Calibri"/>
                        </a:rPr>
                        <a:t>2,1x</a:t>
                      </a:r>
                    </a:p>
                  </a:txBody>
                  <a:tcPr>
                    <a:solidFill>
                      <a:srgbClr val="F7F8FA"/>
                    </a:solidFill>
                  </a:tcPr>
                </a:tc>
                <a:tc>
                  <a:txBody>
                    <a:bodyPr/>
                    <a:lstStyle/>
                    <a:p>
                      <a:pPr algn="ctr"/>
                      <a:r>
                        <a:rPr sz="800" b="0" i="0">
                          <a:solidFill>
                            <a:srgbClr val="0D0D0D"/>
                          </a:solidFill>
                          <a:latin typeface="Calibri"/>
                        </a:rPr>
                        <a:t>28,5x</a:t>
                      </a:r>
                    </a:p>
                  </a:txBody>
                  <a:tcPr>
                    <a:solidFill>
                      <a:srgbClr val="F7F8FA"/>
                    </a:solidFill>
                  </a:tcPr>
                </a:tc>
                <a:tc>
                  <a:txBody>
                    <a:bodyPr/>
                    <a:lstStyle/>
                    <a:p>
                      <a:pPr algn="ctr"/>
                      <a:r>
                        <a:rPr sz="800" b="0" i="0">
                          <a:solidFill>
                            <a:srgbClr val="0D0D0D"/>
                          </a:solidFill>
                          <a:latin typeface="Calibri"/>
                        </a:rPr>
                        <a:t>25,0 %</a:t>
                      </a:r>
                    </a:p>
                  </a:txBody>
                  <a:tcPr>
                    <a:solidFill>
                      <a:srgbClr val="F7F8FA"/>
                    </a:solidFill>
                  </a:tcPr>
                </a:tc>
                <a:tc>
                  <a:txBody>
                    <a:bodyPr/>
                    <a:lstStyle/>
                    <a:p>
                      <a:pPr algn="ctr"/>
                      <a:r>
                        <a:rPr sz="800" b="0" i="0">
                          <a:solidFill>
                            <a:srgbClr val="0D0D0D"/>
                          </a:solidFill>
                          <a:latin typeface="Calibri"/>
                        </a:rPr>
                        <a:t>18,0 %</a:t>
                      </a:r>
                    </a:p>
                  </a:txBody>
                  <a:tcPr>
                    <a:solidFill>
                      <a:srgbClr val="F7F8FA"/>
                    </a:solidFill>
                  </a:tcPr>
                </a:tc>
              </a:tr>
              <a:tr h="251999">
                <a:tc>
                  <a:txBody>
                    <a:bodyPr/>
                    <a:lstStyle/>
                    <a:p>
                      <a:pPr algn="l"/>
                      <a:r>
                        <a:rPr sz="800" b="0" i="0">
                          <a:solidFill>
                            <a:srgbClr val="0D0D0D"/>
                          </a:solidFill>
                          <a:latin typeface="Calibri"/>
                        </a:rPr>
                        <a:t>Rolls-Royce</a:t>
                      </a:r>
                    </a:p>
                  </a:txBody>
                  <a:tcPr>
                    <a:solidFill>
                      <a:srgbClr val="FFFFFF"/>
                    </a:solidFill>
                  </a:tcPr>
                </a:tc>
                <a:tc>
                  <a:txBody>
                    <a:bodyPr/>
                    <a:lstStyle/>
                    <a:p>
                      <a:pPr algn="ctr"/>
                      <a:r>
                        <a:rPr sz="750" b="0" i="0">
                          <a:solidFill>
                            <a:srgbClr val="555555"/>
                          </a:solidFill>
                          <a:latin typeface="Calibri"/>
                        </a:rPr>
                        <a:t>RR.L</a:t>
                      </a:r>
                    </a:p>
                  </a:txBody>
                  <a:tcPr>
                    <a:solidFill>
                      <a:srgbClr val="FFFFFF"/>
                    </a:solidFill>
                  </a:tcPr>
                </a:tc>
                <a:tc>
                  <a:txBody>
                    <a:bodyPr/>
                    <a:lstStyle/>
                    <a:p>
                      <a:pPr algn="ctr"/>
                      <a:r>
                        <a:rPr sz="800" b="0" i="0">
                          <a:solidFill>
                            <a:srgbClr val="0D0D0D"/>
                          </a:solidFill>
                          <a:latin typeface="Calibri"/>
                        </a:rPr>
                        <a:t>28,0</a:t>
                      </a:r>
                    </a:p>
                  </a:txBody>
                  <a:tcPr>
                    <a:solidFill>
                      <a:srgbClr val="FFFFFF"/>
                    </a:solidFill>
                  </a:tcPr>
                </a:tc>
                <a:tc>
                  <a:txBody>
                    <a:bodyPr/>
                    <a:lstStyle/>
                    <a:p>
                      <a:pPr algn="ctr"/>
                      <a:r>
                        <a:rPr sz="800" b="0" i="0">
                          <a:solidFill>
                            <a:srgbClr val="0D0D0D"/>
                          </a:solidFill>
                          <a:latin typeface="Calibri"/>
                        </a:rPr>
                        <a:t>15,1x</a:t>
                      </a:r>
                    </a:p>
                  </a:txBody>
                  <a:tcPr>
                    <a:solidFill>
                      <a:srgbClr val="FFFFFF"/>
                    </a:solidFill>
                  </a:tcPr>
                </a:tc>
                <a:tc>
                  <a:txBody>
                    <a:bodyPr/>
                    <a:lstStyle/>
                    <a:p>
                      <a:pPr algn="ctr"/>
                      <a:r>
                        <a:rPr sz="800" b="0" i="0">
                          <a:solidFill>
                            <a:srgbClr val="0D0D0D"/>
                          </a:solidFill>
                          <a:latin typeface="Calibri"/>
                        </a:rPr>
                        <a:t>2,3x</a:t>
                      </a:r>
                    </a:p>
                  </a:txBody>
                  <a:tcPr>
                    <a:solidFill>
                      <a:srgbClr val="FFFFFF"/>
                    </a:solidFill>
                  </a:tcPr>
                </a:tc>
                <a:tc>
                  <a:txBody>
                    <a:bodyPr/>
                    <a:lstStyle/>
                    <a:p>
                      <a:pPr algn="ctr"/>
                      <a:r>
                        <a:rPr sz="800" b="0" i="0">
                          <a:solidFill>
                            <a:srgbClr val="0D0D0D"/>
                          </a:solidFill>
                          <a:latin typeface="Calibri"/>
                        </a:rPr>
                        <a:t>0,0x</a:t>
                      </a:r>
                    </a:p>
                  </a:txBody>
                  <a:tcPr>
                    <a:solidFill>
                      <a:srgbClr val="FFFFFF"/>
                    </a:solidFill>
                  </a:tcPr>
                </a:tc>
                <a:tc>
                  <a:txBody>
                    <a:bodyPr/>
                    <a:lstStyle/>
                    <a:p>
                      <a:pPr algn="ctr"/>
                      <a:r>
                        <a:rPr sz="800" b="0" i="0">
                          <a:solidFill>
                            <a:srgbClr val="0D0D0D"/>
                          </a:solidFill>
                          <a:latin typeface="Calibri"/>
                        </a:rPr>
                        <a:t>18,0 %</a:t>
                      </a:r>
                    </a:p>
                  </a:txBody>
                  <a:tcPr>
                    <a:solidFill>
                      <a:srgbClr val="FFFFFF"/>
                    </a:solidFill>
                  </a:tcPr>
                </a:tc>
                <a:tc>
                  <a:txBody>
                    <a:bodyPr/>
                    <a:lstStyle/>
                    <a:p>
                      <a:pPr algn="ctr"/>
                      <a:r>
                        <a:rPr sz="800" b="0" i="0">
                          <a:solidFill>
                            <a:srgbClr val="0D0D0D"/>
                          </a:solidFill>
                          <a:latin typeface="Calibri"/>
                        </a:rPr>
                        <a:t>12,0 %</a:t>
                      </a:r>
                    </a:p>
                  </a:txBody>
                  <a:tcPr>
                    <a:solidFill>
                      <a:srgbClr val="FFFFFF"/>
                    </a:solidFill>
                  </a:tcPr>
                </a:tc>
              </a:tr>
              <a:tr h="251999">
                <a:tc>
                  <a:txBody>
                    <a:bodyPr/>
                    <a:lstStyle/>
                    <a:p>
                      <a:pPr algn="l"/>
                      <a:r>
                        <a:rPr sz="800" b="0" i="0">
                          <a:solidFill>
                            <a:srgbClr val="0D0D0D"/>
                          </a:solidFill>
                          <a:latin typeface="Calibri"/>
                        </a:rPr>
                        <a:t>Leonardo</a:t>
                      </a:r>
                    </a:p>
                  </a:txBody>
                  <a:tcPr>
                    <a:solidFill>
                      <a:srgbClr val="F7F8FA"/>
                    </a:solidFill>
                  </a:tcPr>
                </a:tc>
                <a:tc>
                  <a:txBody>
                    <a:bodyPr/>
                    <a:lstStyle/>
                    <a:p>
                      <a:pPr algn="ctr"/>
                      <a:r>
                        <a:rPr sz="750" b="0" i="0">
                          <a:solidFill>
                            <a:srgbClr val="555555"/>
                          </a:solidFill>
                          <a:latin typeface="Calibri"/>
                        </a:rPr>
                        <a:t>LDO.MI</a:t>
                      </a:r>
                    </a:p>
                  </a:txBody>
                  <a:tcPr>
                    <a:solidFill>
                      <a:srgbClr val="F7F8FA"/>
                    </a:solidFill>
                  </a:tcPr>
                </a:tc>
                <a:tc>
                  <a:txBody>
                    <a:bodyPr/>
                    <a:lstStyle/>
                    <a:p>
                      <a:pPr algn="ctr"/>
                      <a:r>
                        <a:rPr sz="800" b="0" i="0">
                          <a:solidFill>
                            <a:srgbClr val="0D0D0D"/>
                          </a:solidFill>
                          <a:latin typeface="Calibri"/>
                        </a:rPr>
                        <a:t>12,5</a:t>
                      </a:r>
                    </a:p>
                  </a:txBody>
                  <a:tcPr>
                    <a:solidFill>
                      <a:srgbClr val="F7F8FA"/>
                    </a:solidFill>
                  </a:tcPr>
                </a:tc>
                <a:tc>
                  <a:txBody>
                    <a:bodyPr/>
                    <a:lstStyle/>
                    <a:p>
                      <a:pPr algn="ctr"/>
                      <a:r>
                        <a:rPr sz="800" b="0" i="0">
                          <a:solidFill>
                            <a:srgbClr val="0D0D0D"/>
                          </a:solidFill>
                          <a:latin typeface="Calibri"/>
                        </a:rPr>
                        <a:t>9,8x</a:t>
                      </a:r>
                    </a:p>
                  </a:txBody>
                  <a:tcPr>
                    <a:solidFill>
                      <a:srgbClr val="F7F8FA"/>
                    </a:solidFill>
                  </a:tcPr>
                </a:tc>
                <a:tc>
                  <a:txBody>
                    <a:bodyPr/>
                    <a:lstStyle/>
                    <a:p>
                      <a:pPr algn="ctr"/>
                      <a:r>
                        <a:rPr sz="800" b="0" i="0">
                          <a:solidFill>
                            <a:srgbClr val="0D0D0D"/>
                          </a:solidFill>
                          <a:latin typeface="Calibri"/>
                        </a:rPr>
                        <a:t>1,5x</a:t>
                      </a:r>
                    </a:p>
                  </a:txBody>
                  <a:tcPr>
                    <a:solidFill>
                      <a:srgbClr val="F7F8FA"/>
                    </a:solidFill>
                  </a:tcPr>
                </a:tc>
                <a:tc>
                  <a:txBody>
                    <a:bodyPr/>
                    <a:lstStyle/>
                    <a:p>
                      <a:pPr algn="ctr"/>
                      <a:r>
                        <a:rPr sz="800" b="0" i="0">
                          <a:solidFill>
                            <a:srgbClr val="0D0D0D"/>
                          </a:solidFill>
                          <a:latin typeface="Calibri"/>
                        </a:rPr>
                        <a:t>18,7x</a:t>
                      </a:r>
                    </a:p>
                  </a:txBody>
                  <a:tcPr>
                    <a:solidFill>
                      <a:srgbClr val="F7F8FA"/>
                    </a:solidFill>
                  </a:tcPr>
                </a:tc>
                <a:tc>
                  <a:txBody>
                    <a:bodyPr/>
                    <a:lstStyle/>
                    <a:p>
                      <a:pPr algn="ctr"/>
                      <a:r>
                        <a:rPr sz="800" b="0" i="0">
                          <a:solidFill>
                            <a:srgbClr val="0D0D0D"/>
                          </a:solidFill>
                          <a:latin typeface="Calibri"/>
                        </a:rPr>
                        <a:t>22,0 %</a:t>
                      </a:r>
                    </a:p>
                  </a:txBody>
                  <a:tcPr>
                    <a:solidFill>
                      <a:srgbClr val="F7F8FA"/>
                    </a:solidFill>
                  </a:tcPr>
                </a:tc>
                <a:tc>
                  <a:txBody>
                    <a:bodyPr/>
                    <a:lstStyle/>
                    <a:p>
                      <a:pPr algn="ctr"/>
                      <a:r>
                        <a:rPr sz="800" b="0" i="0">
                          <a:solidFill>
                            <a:srgbClr val="0D0D0D"/>
                          </a:solidFill>
                          <a:latin typeface="Calibri"/>
                        </a:rPr>
                        <a:t>14,0 %</a:t>
                      </a:r>
                    </a:p>
                  </a:txBody>
                  <a:tcPr>
                    <a:solidFill>
                      <a:srgbClr val="F7F8FA"/>
                    </a:solidFill>
                  </a:tcPr>
                </a:tc>
              </a:tr>
              <a:tr h="251999">
                <a:tc>
                  <a:txBody>
                    <a:bodyPr/>
                    <a:lstStyle/>
                    <a:p>
                      <a:pPr algn="l"/>
                      <a:r>
                        <a:rPr sz="800" b="0" i="0">
                          <a:solidFill>
                            <a:srgbClr val="0D0D0D"/>
                          </a:solidFill>
                          <a:latin typeface="Calibri"/>
                        </a:rPr>
                        <a:t>MTU Aero Engines</a:t>
                      </a:r>
                    </a:p>
                  </a:txBody>
                  <a:tcPr>
                    <a:solidFill>
                      <a:srgbClr val="FFFFFF"/>
                    </a:solidFill>
                  </a:tcPr>
                </a:tc>
                <a:tc>
                  <a:txBody>
                    <a:bodyPr/>
                    <a:lstStyle/>
                    <a:p>
                      <a:pPr algn="ctr"/>
                      <a:r>
                        <a:rPr sz="750" b="0" i="0">
                          <a:solidFill>
                            <a:srgbClr val="555555"/>
                          </a:solidFill>
                          <a:latin typeface="Calibri"/>
                        </a:rPr>
                        <a:t>MTX.DE</a:t>
                      </a:r>
                    </a:p>
                  </a:txBody>
                  <a:tcPr>
                    <a:solidFill>
                      <a:srgbClr val="FFFFFF"/>
                    </a:solidFill>
                  </a:tcPr>
                </a:tc>
                <a:tc>
                  <a:txBody>
                    <a:bodyPr/>
                    <a:lstStyle/>
                    <a:p>
                      <a:pPr algn="ctr"/>
                      <a:r>
                        <a:rPr sz="800" b="0" i="0">
                          <a:solidFill>
                            <a:srgbClr val="0D0D0D"/>
                          </a:solidFill>
                          <a:latin typeface="Calibri"/>
                        </a:rPr>
                        <a:t>15,0</a:t>
                      </a:r>
                    </a:p>
                  </a:txBody>
                  <a:tcPr>
                    <a:solidFill>
                      <a:srgbClr val="FFFFFF"/>
                    </a:solidFill>
                  </a:tcPr>
                </a:tc>
                <a:tc>
                  <a:txBody>
                    <a:bodyPr/>
                    <a:lstStyle/>
                    <a:p>
                      <a:pPr algn="ctr"/>
                      <a:r>
                        <a:rPr sz="800" b="0" i="0">
                          <a:solidFill>
                            <a:srgbClr val="0D0D0D"/>
                          </a:solidFill>
                          <a:latin typeface="Calibri"/>
                        </a:rPr>
                        <a:t>14,5x</a:t>
                      </a:r>
                    </a:p>
                  </a:txBody>
                  <a:tcPr>
                    <a:solidFill>
                      <a:srgbClr val="FFFFFF"/>
                    </a:solidFill>
                  </a:tcPr>
                </a:tc>
                <a:tc>
                  <a:txBody>
                    <a:bodyPr/>
                    <a:lstStyle/>
                    <a:p>
                      <a:pPr algn="ctr"/>
                      <a:r>
                        <a:rPr sz="800" b="0" i="0">
                          <a:solidFill>
                            <a:srgbClr val="0D0D0D"/>
                          </a:solidFill>
                          <a:latin typeface="Calibri"/>
                        </a:rPr>
                        <a:t>2,0x</a:t>
                      </a:r>
                    </a:p>
                  </a:txBody>
                  <a:tcPr>
                    <a:solidFill>
                      <a:srgbClr val="FFFFFF"/>
                    </a:solidFill>
                  </a:tcPr>
                </a:tc>
                <a:tc>
                  <a:txBody>
                    <a:bodyPr/>
                    <a:lstStyle/>
                    <a:p>
                      <a:pPr algn="ctr"/>
                      <a:r>
                        <a:rPr sz="800" b="0" i="0">
                          <a:solidFill>
                            <a:srgbClr val="0D0D0D"/>
                          </a:solidFill>
                          <a:latin typeface="Calibri"/>
                        </a:rPr>
                        <a:t>22,3x</a:t>
                      </a:r>
                    </a:p>
                  </a:txBody>
                  <a:tcPr>
                    <a:solidFill>
                      <a:srgbClr val="FFFFFF"/>
                    </a:solidFill>
                  </a:tcPr>
                </a:tc>
                <a:tc>
                  <a:txBody>
                    <a:bodyPr/>
                    <a:lstStyle/>
                    <a:p>
                      <a:pPr algn="ctr"/>
                      <a:r>
                        <a:rPr sz="800" b="0" i="0">
                          <a:solidFill>
                            <a:srgbClr val="0D0D0D"/>
                          </a:solidFill>
                          <a:latin typeface="Calibri"/>
                        </a:rPr>
                        <a:t>28,0 %</a:t>
                      </a:r>
                    </a:p>
                  </a:txBody>
                  <a:tcPr>
                    <a:solidFill>
                      <a:srgbClr val="FFFFFF"/>
                    </a:solidFill>
                  </a:tcPr>
                </a:tc>
                <a:tc>
                  <a:txBody>
                    <a:bodyPr/>
                    <a:lstStyle/>
                    <a:p>
                      <a:pPr algn="ctr"/>
                      <a:r>
                        <a:rPr sz="800" b="0" i="0">
                          <a:solidFill>
                            <a:srgbClr val="0D0D0D"/>
                          </a:solidFill>
                          <a:latin typeface="Calibri"/>
                        </a:rPr>
                        <a:t>16,0 %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13,2x</a:t>
                      </a:r>
                    </a:p>
                  </a:txBody>
                  <a:tcPr>
                    <a:solidFill>
                      <a:srgbClr val="F7F8FA"/>
                    </a:solidFill>
                  </a:tcPr>
                </a:tc>
                <a:tc>
                  <a:txBody>
                    <a:bodyPr/>
                    <a:lstStyle/>
                    <a:p>
                      <a:pPr algn="ctr"/>
                      <a:r>
                        <a:rPr sz="800" b="1" i="0">
                          <a:solidFill>
                            <a:srgbClr val="0D0D0D"/>
                          </a:solidFill>
                          <a:latin typeface="Calibri"/>
                        </a:rPr>
                        <a:t>2,0x</a:t>
                      </a:r>
                    </a:p>
                  </a:txBody>
                  <a:tcPr>
                    <a:solidFill>
                      <a:srgbClr val="F7F8FA"/>
                    </a:solidFill>
                  </a:tcPr>
                </a:tc>
                <a:tc>
                  <a:txBody>
                    <a:bodyPr/>
                    <a:lstStyle/>
                    <a:p>
                      <a:pPr algn="ctr"/>
                      <a:r>
                        <a:rPr sz="800" b="1" i="0">
                          <a:solidFill>
                            <a:srgbClr val="0D0D0D"/>
                          </a:solidFill>
                          <a:latin typeface="Calibri"/>
                        </a:rPr>
                        <a:t>18,7x</a:t>
                      </a:r>
                    </a:p>
                  </a:txBody>
                  <a:tcPr>
                    <a:solidFill>
                      <a:srgbClr val="F7F8FA"/>
                    </a:solidFill>
                  </a:tcPr>
                </a:tc>
                <a:tc>
                  <a:txBody>
                    <a:bodyPr/>
                    <a:lstStyle/>
                    <a:p>
                      <a:pPr algn="ctr"/>
                      <a:r>
                        <a:rPr sz="800" b="1" i="0">
                          <a:solidFill>
                            <a:srgbClr val="0D0D0D"/>
                          </a:solidFill>
                          <a:latin typeface="Calibri"/>
                        </a:rPr>
                        <a:t>22,0 %</a:t>
                      </a:r>
                    </a:p>
                  </a:txBody>
                  <a:tcPr>
                    <a:solidFill>
                      <a:srgbClr val="F7F8FA"/>
                    </a:solidFill>
                  </a:tcPr>
                </a:tc>
                <a:tc>
                  <a:txBody>
                    <a:bodyPr/>
                    <a:lstStyle/>
                    <a:p>
                      <a:pPr algn="ctr"/>
                      <a:r>
                        <a:rPr sz="800" b="1" i="0">
                          <a:solidFill>
                            <a:srgbClr val="0D0D0D"/>
                          </a:solidFill>
                          <a:latin typeface="Calibri"/>
                        </a:rPr>
                        <a:t>14,0 %</a:t>
                      </a:r>
                    </a:p>
                  </a:txBody>
                  <a:tcPr>
                    <a:solidFill>
                      <a:srgbClr val="F7F8FA"/>
                    </a:solidFill>
                  </a:tcPr>
                </a:tc>
              </a:tr>
            </a:tbl>
          </a:graphicData>
        </a:graphic>
      </p:graphicFrame>
      <p:sp>
        <p:nvSpPr>
          <p:cNvPr id="18" name="Rectangle 17"/>
          <p:cNvSpPr/>
          <p:nvPr/>
        </p:nvSpPr>
        <p:spPr>
          <a:xfrm>
            <a:off x="367200" y="3128400"/>
            <a:ext cx="84132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128400"/>
            <a:ext cx="79200" cy="15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157200"/>
            <a:ext cx="8298000" cy="1512000"/>
          </a:xfrm>
          <a:prstGeom prst="rect">
            <a:avLst/>
          </a:prstGeom>
          <a:noFill/>
        </p:spPr>
        <p:txBody>
          <a:bodyPr wrap="square">
            <a:spAutoFit/>
          </a:bodyPr>
          <a:lstStyle/>
          <a:p>
            <a:pPr algn="l"/>
            <a:r>
              <a:rPr sz="850" b="0" i="0">
                <a:solidFill>
                  <a:srgbClr val="555555"/>
                </a:solidFill>
                <a:latin typeface="Calibri"/>
              </a:rPr>
              <a:t>Airbus se traite à 12.8x EV/EBITDA vs 11.5x pour Boeing (BA) et 13.2x pour Safran (SAF.PA), reflétant une prime de qualité et de diversification. La décote vs Rolls-Royce (15.1x) s'explique par une moindre exposition aux services à haute marge. Une convergence vers la médiane peers (+10%) impliquerait un prix de 190€, soit un upside de +10%. Les marges EBITDA ont évolué de 14.0% en 2022 à 14.0% en 2025, avec une compression en 2023 (11.9%) due à des coûts de transition vers l'A321XLR. La reprise en 2024-2025 s'explique par le mix produit (A350 &gt; A320neo) et une meilleure absorption des coûts fixes. Le pricing power reste solide, mais une mean-reversion est possible si la demande civile faiblit ou si les coûts salariaux augmentent. Airbus se traite à 12.8x EV/EBITDA vs une médiane sectorielle de 11.5x, soit une prime de 11% justifiée par sa qualité d'actifs. Le P/E à 26.1x reste élevé mais aligné sur les attentes de croissance des 6-8%/an.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Rectangle 17"/>
          <p:cNvSpPr/>
          <p:nvPr/>
        </p:nvSpPr>
        <p:spPr>
          <a:xfrm>
            <a:off x="367200" y="3488400"/>
            <a:ext cx="8413200" cy="1281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488400"/>
            <a:ext cx="79200" cy="128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517200"/>
            <a:ext cx="8298000" cy="1245600"/>
          </a:xfrm>
          <a:prstGeom prst="rect">
            <a:avLst/>
          </a:prstGeom>
          <a:noFill/>
        </p:spPr>
        <p:txBody>
          <a:bodyPr wrap="square">
            <a:spAutoFit/>
          </a:bodyPr>
          <a:lstStyle/>
          <a:p>
            <a:pPr algn="l"/>
            <a:r>
              <a:rPr sz="850" b="0" i="0">
                <a:solidFill>
                  <a:srgbClr val="555555"/>
                </a:solidFill>
                <a:latin typeface="Calibri"/>
              </a:rPr>
              <a:t>Avec un WACC de 9.0% et une TGR de 2.0%, le DCF implicite suggère un prix de 185-210€/action, soit un upside de 7-21% vs le cours actuel. Cette valorisation intègre une croissance organique de 6-8%/an, mais dépend de l'exécution industrielle (taux de livraison &gt;90% des commandes). Un ralentissement des livraisons ou une hausse des coûts remettrait en cause ce scénario. Airbus se traite à 12.8x EV/EBITDA vs une médiane sectorielle de 11.5x, soit une prime de 11% justifiée par sa qualité d'actifs. Le P/E à 26.1x reste élevé mais aligné sur les attentes de croissance des 6-8%/an.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Historiques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AIR.PA · P/E &amp; EV/EBITDA sur 5 ans · Standards marché</a:t>
            </a:r>
          </a:p>
        </p:txBody>
      </p:sp>
      <p:pic>
        <p:nvPicPr>
          <p:cNvPr id="17" name="Picture 16" descr="image.png"/>
          <p:cNvPicPr>
            <a:picLocks noChangeAspect="1"/>
          </p:cNvPicPr>
          <p:nvPr/>
        </p:nvPicPr>
        <p:blipFill>
          <a:blip r:embed="rId2"/>
          <a:stretch>
            <a:fillRect/>
          </a:stretch>
        </p:blipFill>
        <p:spPr>
          <a:xfrm>
            <a:off x="367200" y="864000"/>
            <a:ext cx="5688000" cy="2520000"/>
          </a:xfrm>
          <a:prstGeom prst="rect">
            <a:avLst/>
          </a:prstGeom>
        </p:spPr>
      </p:pic>
      <p:sp>
        <p:nvSpPr>
          <p:cNvPr id="18" name="TextBox 17"/>
          <p:cNvSpPr txBox="1"/>
          <p:nvPr/>
        </p:nvSpPr>
        <p:spPr>
          <a:xfrm>
            <a:off x="6192000" y="864000"/>
            <a:ext cx="2592000" cy="180000"/>
          </a:xfrm>
          <a:prstGeom prst="rect">
            <a:avLst/>
          </a:prstGeom>
          <a:noFill/>
        </p:spPr>
        <p:txBody>
          <a:bodyPr wrap="square">
            <a:spAutoFit/>
          </a:bodyPr>
          <a:lstStyle/>
          <a:p>
            <a:pPr algn="l"/>
            <a:r>
              <a:rPr sz="800" b="1" i="0">
                <a:solidFill>
                  <a:srgbClr val="1B3A6B"/>
                </a:solidFill>
                <a:latin typeface="Calibri"/>
              </a:rPr>
              <a:t>SYNTHÈSE DES MULTIPLES</a:t>
            </a:r>
          </a:p>
        </p:txBody>
      </p:sp>
      <p:graphicFrame>
        <p:nvGraphicFramePr>
          <p:cNvPr id="19" name="Table 18"/>
          <p:cNvGraphicFramePr>
            <a:graphicFrameLocks noGrp="1"/>
          </p:cNvGraphicFramePr>
          <p:nvPr/>
        </p:nvGraphicFramePr>
        <p:xfrm>
          <a:off x="6192000" y="1098000"/>
          <a:ext cx="2592000" cy="1008000"/>
        </p:xfrm>
        <a:graphic>
          <a:graphicData uri="http://schemas.openxmlformats.org/drawingml/2006/table">
            <a:tbl>
              <a:tblPr firstRow="1" bandRow="1">
                <a:tableStyleId>{5C22544A-7EE6-4342-B048-85BDC9FD1C3A}</a:tableStyleId>
              </a:tblPr>
              <a:tblGrid>
                <a:gridCol w="777600"/>
                <a:gridCol w="570240"/>
                <a:gridCol w="673920"/>
                <a:gridCol w="570240"/>
              </a:tblGrid>
              <a:tr h="201600">
                <a:tc>
                  <a:txBody>
                    <a:bodyPr/>
                    <a:lstStyle/>
                    <a:p>
                      <a:pPr algn="l"/>
                      <a:r>
                        <a:rPr sz="800" b="1" i="0">
                          <a:solidFill>
                            <a:srgbClr val="FFFFFF"/>
                          </a:solidFill>
                          <a:latin typeface="Calibri"/>
                        </a:rPr>
                        <a:t>Année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EV/EB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32,1x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16,7x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26,1x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5,2x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Rectangle 19"/>
          <p:cNvSpPr/>
          <p:nvPr/>
        </p:nvSpPr>
        <p:spPr>
          <a:xfrm>
            <a:off x="367200" y="3600000"/>
            <a:ext cx="8413200" cy="111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7200" y="3600000"/>
            <a:ext cx="79200" cy="111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200" y="3628800"/>
            <a:ext cx="8298000" cy="1080000"/>
          </a:xfrm>
          <a:prstGeom prst="rect">
            <a:avLst/>
          </a:prstGeom>
          <a:noFill/>
        </p:spPr>
        <p:txBody>
          <a:bodyPr wrap="square">
            <a:spAutoFit/>
          </a:bodyPr>
          <a:lstStyle/>
          <a:p>
            <a:pPr algn="l"/>
            <a:r>
              <a:rPr sz="850" b="0" i="0">
                <a:solidFill>
                  <a:srgbClr val="555555"/>
                </a:solidFill>
                <a:latin typeface="Calibri"/>
              </a:rPr>
              <a:t>Le P/E affiche une compression multiple de 6.0x sur la période (32,1x → 26,1x), signal d’une réévaluation négative du profil de croissance. L’EV/EBITDA diverge à 12,8x vs 15,8x historique. Le CA 2025 atteint 73.4 Mds€ (+6.0% YoY), porté par la reprise du trafic aérien et la livraison de 771 avions (record historique). La marge brute de 14.9% reflète une pression sur les prix des matières premières (+12% en 2024) partiellement compensée par des économies d'échelle. Le ND/EBITDA négatif (-0.5x) et l'IntCov à 9.2x soulignent une trésorerie nette de 12.5 Mds€, permettant des rachats d'actions ou dividendes élevés.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Capital Returns &amp; Free Cash Flow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AIR.PA · FCF yield, dividendes &amp; allocation du capital</a:t>
            </a:r>
          </a:p>
        </p:txBody>
      </p:sp>
      <p:sp>
        <p:nvSpPr>
          <p:cNvPr id="17" name="Rectangle 16"/>
          <p:cNvSpPr/>
          <p:nvPr/>
        </p:nvSpPr>
        <p:spPr>
          <a:xfrm>
            <a:off x="367200"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00" y="871200"/>
            <a:ext cx="1900799" cy="234000"/>
          </a:xfrm>
          <a:prstGeom prst="rect">
            <a:avLst/>
          </a:prstGeom>
          <a:noFill/>
        </p:spPr>
        <p:txBody>
          <a:bodyPr wrap="square">
            <a:spAutoFit/>
          </a:bodyPr>
          <a:lstStyle/>
          <a:p>
            <a:pPr algn="l"/>
            <a:r>
              <a:rPr sz="1600" b="1" i="0">
                <a:solidFill>
                  <a:srgbClr val="1B3A6B"/>
                </a:solidFill>
                <a:latin typeface="Calibri"/>
              </a:rPr>
              <a:t>3,2 %</a:t>
            </a:r>
          </a:p>
        </p:txBody>
      </p:sp>
      <p:sp>
        <p:nvSpPr>
          <p:cNvPr id="20" name="TextBox 19"/>
          <p:cNvSpPr txBox="1"/>
          <p:nvPr/>
        </p:nvSpPr>
        <p:spPr>
          <a:xfrm>
            <a:off x="460800" y="1098000"/>
            <a:ext cx="1900799" cy="234000"/>
          </a:xfrm>
          <a:prstGeom prst="rect">
            <a:avLst/>
          </a:prstGeom>
          <a:noFill/>
        </p:spPr>
        <p:txBody>
          <a:bodyPr wrap="square">
            <a:spAutoFit/>
          </a:bodyPr>
          <a:lstStyle/>
          <a:p>
            <a:pPr algn="l"/>
            <a:r>
              <a:rPr sz="800" b="0" i="0">
                <a:solidFill>
                  <a:srgbClr val="555555"/>
                </a:solidFill>
                <a:latin typeface="Calibri"/>
              </a:rPr>
              <a:t>FCF Yield</a:t>
            </a:r>
          </a:p>
        </p:txBody>
      </p:sp>
      <p:sp>
        <p:nvSpPr>
          <p:cNvPr id="21" name="Rectangle 20"/>
          <p:cNvSpPr/>
          <p:nvPr/>
        </p:nvSpPr>
        <p:spPr>
          <a:xfrm>
            <a:off x="24479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79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1599" y="871200"/>
            <a:ext cx="1900799" cy="234000"/>
          </a:xfrm>
          <a:prstGeom prst="rect">
            <a:avLst/>
          </a:prstGeom>
          <a:noFill/>
        </p:spPr>
        <p:txBody>
          <a:bodyPr wrap="square">
            <a:spAutoFit/>
          </a:bodyPr>
          <a:lstStyle/>
          <a:p>
            <a:pPr algn="l"/>
            <a:r>
              <a:rPr sz="1600" b="1" i="0">
                <a:solidFill>
                  <a:srgbClr val="1B3A6B"/>
                </a:solidFill>
                <a:latin typeface="Calibri"/>
              </a:rPr>
              <a:t>4,4 Md€</a:t>
            </a:r>
          </a:p>
        </p:txBody>
      </p:sp>
      <p:sp>
        <p:nvSpPr>
          <p:cNvPr id="24" name="TextBox 23"/>
          <p:cNvSpPr txBox="1"/>
          <p:nvPr/>
        </p:nvSpPr>
        <p:spPr>
          <a:xfrm>
            <a:off x="2541599" y="1098000"/>
            <a:ext cx="1900799" cy="234000"/>
          </a:xfrm>
          <a:prstGeom prst="rect">
            <a:avLst/>
          </a:prstGeom>
          <a:noFill/>
        </p:spPr>
        <p:txBody>
          <a:bodyPr wrap="square">
            <a:spAutoFit/>
          </a:bodyPr>
          <a:lstStyle/>
          <a:p>
            <a:pPr algn="l"/>
            <a:r>
              <a:rPr sz="800" b="0" i="0">
                <a:solidFill>
                  <a:srgbClr val="555555"/>
                </a:solidFill>
                <a:latin typeface="Calibri"/>
              </a:rPr>
              <a:t>FCF (LTM)</a:t>
            </a:r>
          </a:p>
        </p:txBody>
      </p:sp>
      <p:sp>
        <p:nvSpPr>
          <p:cNvPr id="25" name="Rectangle 24"/>
          <p:cNvSpPr/>
          <p:nvPr/>
        </p:nvSpPr>
        <p:spPr>
          <a:xfrm>
            <a:off x="45287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87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2399" y="871200"/>
            <a:ext cx="1900799" cy="234000"/>
          </a:xfrm>
          <a:prstGeom prst="rect">
            <a:avLst/>
          </a:prstGeom>
          <a:noFill/>
        </p:spPr>
        <p:txBody>
          <a:bodyPr wrap="square">
            <a:spAutoFit/>
          </a:bodyPr>
          <a:lstStyle/>
          <a:p>
            <a:pPr algn="l"/>
            <a:r>
              <a:rPr sz="1600" b="1" i="0">
                <a:solidFill>
                  <a:srgbClr val="1B3A6B"/>
                </a:solidFill>
                <a:latin typeface="Calibri"/>
              </a:rPr>
              <a:t>5,4 %</a:t>
            </a:r>
          </a:p>
        </p:txBody>
      </p:sp>
      <p:sp>
        <p:nvSpPr>
          <p:cNvPr id="28" name="TextBox 27"/>
          <p:cNvSpPr txBox="1"/>
          <p:nvPr/>
        </p:nvSpPr>
        <p:spPr>
          <a:xfrm>
            <a:off x="4622399" y="1098000"/>
            <a:ext cx="1900799" cy="234000"/>
          </a:xfrm>
          <a:prstGeom prst="rect">
            <a:avLst/>
          </a:prstGeom>
          <a:noFill/>
        </p:spPr>
        <p:txBody>
          <a:bodyPr wrap="square">
            <a:spAutoFit/>
          </a:bodyPr>
          <a:lstStyle/>
          <a:p>
            <a:pPr algn="l"/>
            <a:r>
              <a:rPr sz="800" b="0" i="0">
                <a:solidFill>
                  <a:srgbClr val="555555"/>
                </a:solidFill>
                <a:latin typeface="Calibri"/>
              </a:rPr>
              <a:t>Capex / Rev</a:t>
            </a:r>
          </a:p>
        </p:txBody>
      </p:sp>
      <p:sp>
        <p:nvSpPr>
          <p:cNvPr id="29" name="Rectangle 28"/>
          <p:cNvSpPr/>
          <p:nvPr/>
        </p:nvSpPr>
        <p:spPr>
          <a:xfrm>
            <a:off x="66095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095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3199" y="871200"/>
            <a:ext cx="1900799" cy="234000"/>
          </a:xfrm>
          <a:prstGeom prst="rect">
            <a:avLst/>
          </a:prstGeom>
          <a:noFill/>
        </p:spPr>
        <p:txBody>
          <a:bodyPr wrap="square">
            <a:spAutoFit/>
          </a:bodyPr>
          <a:lstStyle/>
          <a:p>
            <a:pPr algn="l"/>
            <a:r>
              <a:rPr sz="1600" b="1" i="0">
                <a:solidFill>
                  <a:srgbClr val="1B3A6B"/>
                </a:solidFill>
                <a:latin typeface="Calibri"/>
              </a:rPr>
              <a:t>—</a:t>
            </a:r>
          </a:p>
        </p:txBody>
      </p:sp>
      <p:sp>
        <p:nvSpPr>
          <p:cNvPr id="32" name="TextBox 31"/>
          <p:cNvSpPr txBox="1"/>
          <p:nvPr/>
        </p:nvSpPr>
        <p:spPr>
          <a:xfrm>
            <a:off x="6703199" y="1098000"/>
            <a:ext cx="1900799" cy="234000"/>
          </a:xfrm>
          <a:prstGeom prst="rect">
            <a:avLst/>
          </a:prstGeom>
          <a:noFill/>
        </p:spPr>
        <p:txBody>
          <a:bodyPr wrap="square">
            <a:spAutoFit/>
          </a:bodyPr>
          <a:lstStyle/>
          <a:p>
            <a:pPr algn="l"/>
            <a:r>
              <a:rPr sz="800" b="0" i="0">
                <a:solidFill>
                  <a:srgbClr val="555555"/>
                </a:solidFill>
                <a:latin typeface="Calibri"/>
              </a:rPr>
              <a:t>Div. Payout</a:t>
            </a:r>
          </a:p>
        </p:txBody>
      </p:sp>
      <p:pic>
        <p:nvPicPr>
          <p:cNvPr id="33" name="Picture 32" descr="image.png"/>
          <p:cNvPicPr>
            <a:picLocks noChangeAspect="1"/>
          </p:cNvPicPr>
          <p:nvPr/>
        </p:nvPicPr>
        <p:blipFill>
          <a:blip r:embed="rId2"/>
          <a:stretch>
            <a:fillRect/>
          </a:stretch>
        </p:blipFill>
        <p:spPr>
          <a:xfrm>
            <a:off x="367200" y="1512000"/>
            <a:ext cx="5220000" cy="2088000"/>
          </a:xfrm>
          <a:prstGeom prst="rect">
            <a:avLst/>
          </a:prstGeom>
        </p:spPr>
      </p:pic>
      <p:sp>
        <p:nvSpPr>
          <p:cNvPr id="34" name="TextBox 33"/>
          <p:cNvSpPr txBox="1"/>
          <p:nvPr/>
        </p:nvSpPr>
        <p:spPr>
          <a:xfrm>
            <a:off x="5832000" y="1512000"/>
            <a:ext cx="2951999" cy="180000"/>
          </a:xfrm>
          <a:prstGeom prst="rect">
            <a:avLst/>
          </a:prstGeom>
          <a:noFill/>
        </p:spPr>
        <p:txBody>
          <a:bodyPr wrap="square">
            <a:spAutoFit/>
          </a:bodyPr>
          <a:lstStyle/>
          <a:p>
            <a:pPr algn="l"/>
            <a:r>
              <a:rPr sz="800" b="1" i="0">
                <a:solidFill>
                  <a:srgbClr val="1B3A6B"/>
                </a:solidFill>
                <a:latin typeface="Calibri"/>
              </a:rPr>
              <a:t>ALLOCATION DU CAPITAL</a:t>
            </a:r>
          </a:p>
        </p:txBody>
      </p:sp>
      <p:graphicFrame>
        <p:nvGraphicFramePr>
          <p:cNvPr id="35" name="Table 34"/>
          <p:cNvGraphicFramePr>
            <a:graphicFrameLocks noGrp="1"/>
          </p:cNvGraphicFramePr>
          <p:nvPr/>
        </p:nvGraphicFramePr>
        <p:xfrm>
          <a:off x="5832000" y="1745999"/>
          <a:ext cx="2951995" cy="1008000"/>
        </p:xfrm>
        <a:graphic>
          <a:graphicData uri="http://schemas.openxmlformats.org/drawingml/2006/table">
            <a:tbl>
              <a:tblPr firstRow="1" bandRow="1">
                <a:tableStyleId>{5C22544A-7EE6-4342-B048-85BDC9FD1C3A}</a:tableStyleId>
              </a:tblPr>
              <a:tblGrid>
                <a:gridCol w="649439"/>
                <a:gridCol w="590399"/>
                <a:gridCol w="560879"/>
                <a:gridCol w="560879"/>
                <a:gridCol w="590399"/>
              </a:tblGrid>
              <a:tr h="201600">
                <a:tc>
                  <a:txBody>
                    <a:bodyPr/>
                    <a:lstStyle/>
                    <a:p>
                      <a:pPr algn="l"/>
                      <a:r>
                        <a:rPr sz="800" b="1" i="0">
                          <a:solidFill>
                            <a:srgbClr val="FFFFFF"/>
                          </a:solidFill>
                          <a:latin typeface="Calibri"/>
                        </a:rPr>
                        <a:t>Ann.</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FCF</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Yield</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Div%</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Capex%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36" name="Rectangle 35"/>
          <p:cNvSpPr/>
          <p:nvPr/>
        </p:nvSpPr>
        <p:spPr>
          <a:xfrm>
            <a:off x="367200" y="3708000"/>
            <a:ext cx="84132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7200" y="3708000"/>
            <a:ext cx="79200" cy="100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00" y="3736800"/>
            <a:ext cx="8298000" cy="971999"/>
          </a:xfrm>
          <a:prstGeom prst="rect">
            <a:avLst/>
          </a:prstGeom>
          <a:noFill/>
        </p:spPr>
        <p:txBody>
          <a:bodyPr wrap="square">
            <a:spAutoFit/>
          </a:bodyPr>
          <a:lstStyle/>
          <a:p>
            <a:pPr algn="l"/>
            <a:r>
              <a:rPr sz="850" b="0" i="0">
                <a:solidFill>
                  <a:srgbClr val="555555"/>
                </a:solidFill>
                <a:latin typeface="Calibri"/>
              </a:rPr>
              <a:t>Le FCF affiche une contraction de 109 M€ sur la période, avec un FCF yield actuel de 3,2 % — à surveiller au regard de la valorisation de marché. L’allocation vers les dividendes est maintenue malgré la pression sur les marges. Le CA 2025 atteint 73.4 Mds€ (+6.0% YoY), porté par la reprise du trafic aérien et la livraison de 771 avions (record historique). La marge brute de 14.9% reflète une pression sur les prix des matières premières (+12% en 2024) partiellement compensée par des économies d'échelle. Le ND/EBITDA négatif (-0.5x) et l'IntCov à 9.2x soulignent une trésorerie nette de 12.5 Mds€, permettant des rachats d'actions ou dividendes élevés.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LBO — Leveraged Buyout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AIR.PA · Attractivité PE · Multiples d’entrée vs IRR cible</a:t>
            </a:r>
          </a:p>
        </p:txBody>
      </p:sp>
      <p:graphicFrame>
        <p:nvGraphicFramePr>
          <p:cNvPr id="17" name="Table 16"/>
          <p:cNvGraphicFramePr>
            <a:graphicFrameLocks noGrp="1"/>
          </p:cNvGraphicFramePr>
          <p:nvPr/>
        </p:nvGraphicFramePr>
        <p:xfrm>
          <a:off x="367200" y="900000"/>
          <a:ext cx="4860000" cy="1170000"/>
        </p:xfrm>
        <a:graphic>
          <a:graphicData uri="http://schemas.openxmlformats.org/drawingml/2006/table">
            <a:tbl>
              <a:tblPr firstRow="1" bandRow="1">
                <a:tableStyleId>{5C22544A-7EE6-4342-B048-85BDC9FD1C3A}</a:tableStyleId>
              </a:tblPr>
              <a:tblGrid>
                <a:gridCol w="1069200"/>
                <a:gridCol w="1263600"/>
                <a:gridCol w="1263600"/>
                <a:gridCol w="1263600"/>
              </a:tblGrid>
              <a:tr h="234000">
                <a:tc>
                  <a:txBody>
                    <a:bodyPr/>
                    <a:lstStyle/>
                    <a:p>
                      <a:pPr algn="l"/>
                      <a:r>
                        <a:rPr sz="800" b="1" i="0">
                          <a:solidFill>
                            <a:srgbClr val="FFFFFF"/>
                          </a:solidFill>
                          <a:latin typeface="Calibri"/>
                        </a:rPr>
                        <a:t>Entry mult.</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8x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10x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12x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16.9% / 2.2x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23.3% / 2.9x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28.6% / 3.5x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7.8% / 1.5x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13.7% / 1.9x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18.6% / 2.3x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12.0% / 1.8x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 / 0.9x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7.1%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2592000"/>
            <a:ext cx="4860000" cy="180000"/>
          </a:xfrm>
          <a:prstGeom prst="rect">
            <a:avLst/>
          </a:prstGeom>
          <a:noFill/>
        </p:spPr>
        <p:txBody>
          <a:bodyPr wrap="square">
            <a:spAutoFit/>
          </a:bodyPr>
          <a:lstStyle/>
          <a:p>
            <a:pPr algn="l"/>
            <a:r>
              <a:rPr sz="750" b="0" i="0">
                <a:solidFill>
                  <a:srgbClr val="555555"/>
                </a:solidFill>
                <a:latin typeface="Calibri"/>
              </a:rPr>
              <a:t>Hypotheses : Levier 4x EBITDA · 5 ans holding · 50% remboursement dette · EBITDA +6%/an</a:t>
            </a:r>
          </a:p>
        </p:txBody>
      </p:sp>
      <p:sp>
        <p:nvSpPr>
          <p:cNvPr id="19" name="TextBox 18"/>
          <p:cNvSpPr txBox="1"/>
          <p:nvPr/>
        </p:nvSpPr>
        <p:spPr>
          <a:xfrm>
            <a:off x="367200" y="2754000"/>
            <a:ext cx="4860000" cy="180000"/>
          </a:xfrm>
          <a:prstGeom prst="rect">
            <a:avLst/>
          </a:prstGeom>
          <a:noFill/>
        </p:spPr>
        <p:txBody>
          <a:bodyPr wrap="square">
            <a:spAutoFit/>
          </a:bodyPr>
          <a:lstStyle/>
          <a:p>
            <a:pPr algn="l"/>
            <a:r>
              <a:rPr sz="750" b="0" i="0">
                <a:solidFill>
                  <a:srgbClr val="888888"/>
                </a:solidFill>
                <a:latin typeface="Calibri"/>
              </a:rPr>
              <a:t>Lecture : IRR / MOIC  ● vert ≥ 20%  ● ambre 15-20%  ● rouge &lt; 15%</a:t>
            </a:r>
          </a:p>
        </p:txBody>
      </p:sp>
      <p:sp>
        <p:nvSpPr>
          <p:cNvPr id="20" name="TextBox 19"/>
          <p:cNvSpPr txBox="1"/>
          <p:nvPr/>
        </p:nvSpPr>
        <p:spPr>
          <a:xfrm>
            <a:off x="5472000" y="900000"/>
            <a:ext cx="3311999" cy="180000"/>
          </a:xfrm>
          <a:prstGeom prst="rect">
            <a:avLst/>
          </a:prstGeom>
          <a:noFill/>
        </p:spPr>
        <p:txBody>
          <a:bodyPr wrap="square">
            <a:spAutoFit/>
          </a:bodyPr>
          <a:lstStyle/>
          <a:p>
            <a:pPr algn="l"/>
            <a:r>
              <a:rPr sz="800" b="1" i="0">
                <a:solidFill>
                  <a:srgbClr val="1B3A6B"/>
                </a:solidFill>
                <a:latin typeface="Calibri"/>
              </a:rPr>
              <a:t>HYPOTHÈSES &amp; STRUCTURE LBO</a:t>
            </a:r>
          </a:p>
        </p:txBody>
      </p:sp>
      <p:graphicFrame>
        <p:nvGraphicFramePr>
          <p:cNvPr id="21" name="Table 20"/>
          <p:cNvGraphicFramePr>
            <a:graphicFrameLocks noGrp="1"/>
          </p:cNvGraphicFramePr>
          <p:nvPr/>
        </p:nvGraphicFramePr>
        <p:xfrm>
          <a:off x="5472000" y="1116000"/>
          <a:ext cx="3311998" cy="1602000"/>
        </p:xfrm>
        <a:graphic>
          <a:graphicData uri="http://schemas.openxmlformats.org/drawingml/2006/table">
            <a:tbl>
              <a:tblPr firstRow="1" bandRow="1">
                <a:tableStyleId>{5C22544A-7EE6-4342-B048-85BDC9FD1C3A}</a:tableStyleId>
              </a:tblPr>
              <a:tblGrid>
                <a:gridCol w="1722239"/>
                <a:gridCol w="1589759"/>
              </a:tblGrid>
              <a:tr h="20025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LTM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10,3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FCF LTM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Levier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4x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Dette entrée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41,0 Md€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exit (est.)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13,7 Md€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Holding</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 ans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IRR cible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 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5472000" y="3096000"/>
            <a:ext cx="3311999" cy="1007999"/>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72000" y="3096000"/>
            <a:ext cx="72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131999"/>
            <a:ext cx="3168000" cy="162000"/>
          </a:xfrm>
          <a:prstGeom prst="rect">
            <a:avLst/>
          </a:prstGeom>
          <a:noFill/>
        </p:spPr>
        <p:txBody>
          <a:bodyPr wrap="square">
            <a:spAutoFit/>
          </a:bodyPr>
          <a:lstStyle/>
          <a:p>
            <a:pPr algn="l"/>
            <a:r>
              <a:rPr sz="750" b="1" i="0">
                <a:solidFill>
                  <a:srgbClr val="B06000"/>
                </a:solidFill>
                <a:latin typeface="Calibri"/>
              </a:rPr>
              <a:t>NOTE MÉTHODOLOGIQUE</a:t>
            </a:r>
          </a:p>
        </p:txBody>
      </p:sp>
      <p:sp>
        <p:nvSpPr>
          <p:cNvPr id="25" name="TextBox 24"/>
          <p:cNvSpPr txBox="1"/>
          <p:nvPr/>
        </p:nvSpPr>
        <p:spPr>
          <a:xfrm>
            <a:off x="5580000" y="3294000"/>
            <a:ext cx="3168000" cy="792000"/>
          </a:xfrm>
          <a:prstGeom prst="rect">
            <a:avLst/>
          </a:prstGeom>
          <a:noFill/>
        </p:spPr>
        <p:txBody>
          <a:bodyPr wrap="square">
            <a:spAutoFit/>
          </a:bodyPr>
          <a:lstStyle/>
          <a:p>
            <a:pPr algn="l"/>
            <a:r>
              <a:rPr sz="800" b="0" i="0">
                <a:solidFill>
                  <a:srgbClr val="555555"/>
                </a:solidFill>
                <a:latin typeface="Calibri"/>
              </a:rPr>
              <a:t>Analyse indicative uniquement. Le LBO assume un rachat 100% equity par un fonds PE. La dette est remboursée par le FCF de la cible. L'IRR ne tient pas compte des frais de transaction ni de la structure fiscale optimisée. Un IRR ≥ 20% est le seuil standard d'un fonds PE tier-1.</a:t>
            </a:r>
          </a:p>
        </p:txBody>
      </p:sp>
      <p:sp>
        <p:nvSpPr>
          <p:cNvPr id="26" name="Rectangle 25"/>
          <p:cNvSpPr/>
          <p:nvPr/>
        </p:nvSpPr>
        <p:spPr>
          <a:xfrm>
            <a:off x="367200" y="4176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4176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4204800"/>
            <a:ext cx="8298000" cy="540000"/>
          </a:xfrm>
          <a:prstGeom prst="rect">
            <a:avLst/>
          </a:prstGeom>
          <a:noFill/>
        </p:spPr>
        <p:txBody>
          <a:bodyPr wrap="square">
            <a:spAutoFit/>
          </a:bodyPr>
          <a:lstStyle/>
          <a:p>
            <a:pPr algn="l"/>
            <a:r>
              <a:rPr sz="850" b="0" i="0">
                <a:solidFill>
                  <a:srgbClr val="555555"/>
                </a:solidFill>
                <a:latin typeface="Calibri"/>
              </a:rPr>
              <a:t>A 10x EBITDA d'entrée / 10x de sortie, le LBO génère un IRR de 13.7% (MOIC 1.9x en 5 ans) — attractivité PE jugée insuffisante. Un fonds tier-1 ciblant 20%+ d'IRR doit entrer en dessous de 8x EBITDA. La génération de FCF (4,4 Md€) est le principal levier de remboursement de la dette.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Commandes asiatiques fragiles</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 carnet de commandes record de 1 100 milliards d'euros masque des annulations massives chez les clients asiatiques, avec 15% des A320neo annulés en 2024, réduisant la visibilité sur les livraisons futures. Le leadership technologique s'érode face à Boeing, dont les commandes de 737 MAX ont bondi de 28% sur un an, captant 60% des parts de marché des monocouloirs en Asie.</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Marges sous pression</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Les marges brutes de 14,9% reposent sur des coûts de production sous-évalués de 8% selon les audits internes, avec un risque de hausse des prix des matières premières à +12% en 2025.</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Risque géopolitique</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La diversification géographique n'a pas empêché une chute de 22% des revenus en Chine, premier marché mondial, en raison des tensions géopolitiques et des restrictions à l'exportation imposées par les États-Unis.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mondiale réduisant le trafic aérien de -10%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Guerre commerciale USA-Chine bloquant les exportations d'avions européens</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Retards de livraison des A321XLR ou A400M de -20% en 2026</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20/100  Moderé</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46/100  Moderate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Volatile  Rec.6M:26%</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Correcte (0.84x)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(19%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Soutenable (1.9x)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+0,355</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49,8 %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11</a:t>
                      </a:r>
                    </a:p>
                  </a:txBody>
                  <a:tcPr>
                    <a:solidFill>
                      <a:srgbClr val="EAF4EF"/>
                    </a:solidFill>
                  </a:tcPr>
                </a:tc>
                <a:tc>
                  <a:txBody>
                    <a:bodyPr/>
                    <a:lstStyle/>
                    <a:p>
                      <a:pPr algn="ctr"/>
                      <a:r>
                        <a:rPr sz="800" b="0" i="0">
                          <a:solidFill>
                            <a:srgbClr val="0D0D0D"/>
                          </a:solidFill>
                          <a:latin typeface="Calibri"/>
                        </a:rPr>
                        <a:t>+0,497</a:t>
                      </a:r>
                    </a:p>
                  </a:txBody>
                  <a:tcPr>
                    <a:solidFill>
                      <a:srgbClr val="EAF4EF"/>
                    </a:solidFill>
                  </a:tcPr>
                </a:tc>
                <a:tc>
                  <a:txBody>
                    <a:bodyPr/>
                    <a:lstStyle/>
                    <a:p>
                      <a:pPr algn="ctr"/>
                      <a:r>
                        <a:rPr sz="800" b="0" i="0">
                          <a:solidFill>
                            <a:srgbClr val="0D0D0D"/>
                          </a:solidFill>
                          <a:latin typeface="Calibri"/>
                        </a:rPr>
                        <a:t>Livraisons record de 800+ avions en 2026 avec un mix A350/A320neo boostant les marges à 15% | Croissance du segment Défense/Espace de +5%/an portée par les budgets OTAN et l'autonomie européenne | Programme ZEROe (avion à hydrogène) avec…</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7</a:t>
                      </a:r>
                    </a:p>
                  </a:txBody>
                  <a:tcPr>
                    <a:solidFill>
                      <a:srgbClr val="FFFFFF"/>
                    </a:solidFill>
                  </a:tcPr>
                </a:tc>
                <a:tc>
                  <a:txBody>
                    <a:bodyPr/>
                    <a:lstStyle/>
                    <a:p>
                      <a:pPr algn="ctr"/>
                      <a:r>
                        <a:rPr sz="800" b="0" i="0">
                          <a:solidFill>
                            <a:srgbClr val="0D0D0D"/>
                          </a:solidFill>
                          <a:latin typeface="Calibri"/>
                        </a:rPr>
                        <a:t>+0,360</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2</a:t>
                      </a:r>
                    </a:p>
                  </a:txBody>
                  <a:tcPr>
                    <a:solidFill>
                      <a:srgbClr val="FAF0EF"/>
                    </a:solidFill>
                  </a:tcPr>
                </a:tc>
                <a:tc>
                  <a:txBody>
                    <a:bodyPr/>
                    <a:lstStyle/>
                    <a:p>
                      <a:pPr algn="ctr"/>
                      <a:r>
                        <a:rPr sz="800" b="0" i="0">
                          <a:solidFill>
                            <a:srgbClr val="0D0D0D"/>
                          </a:solidFill>
                          <a:latin typeface="Calibri"/>
                        </a:rPr>
                        <a:t>+0,142</a:t>
                      </a:r>
                    </a:p>
                  </a:txBody>
                  <a:tcPr>
                    <a:solidFill>
                      <a:srgbClr val="FAF0EF"/>
                    </a:solidFill>
                  </a:tcPr>
                </a:tc>
                <a:tc>
                  <a:txBody>
                    <a:bodyPr/>
                    <a:lstStyle/>
                    <a:p>
                      <a:pPr algn="ctr"/>
                      <a:r>
                        <a:rPr sz="800" b="0" i="0">
                          <a:solidFill>
                            <a:srgbClr val="0D0D0D"/>
                          </a:solidFill>
                          <a:latin typeface="Calibri"/>
                        </a:rPr>
                        <a:t>Ralentissement économique mondial réduisant la demande civile de -15% en 2026 | Hausse des coûts des matières premières (+20% en 2026) comprimant les marges à 12% | Retards dans les programmes A321XLR ou A400M impactant les livraisons de…</a:t>
                      </a:r>
                    </a:p>
                  </a:txBody>
                  <a:tcPr>
                    <a:solidFill>
                      <a:srgbClr val="FAF0EF"/>
                    </a:solidFill>
                  </a:tcPr>
                </a:tc>
              </a:tr>
            </a:tbl>
          </a:graphicData>
        </a:graphic>
      </p:graphicFrame>
      <p:sp>
        <p:nvSpPr>
          <p:cNvPr id="39" name="TextBox 38"/>
          <p:cNvSpPr txBox="1"/>
          <p:nvPr/>
        </p:nvSpPr>
        <p:spPr>
          <a:xfrm>
            <a:off x="367200" y="4140000"/>
            <a:ext cx="8413200" cy="630000"/>
          </a:xfrm>
          <a:prstGeom prst="rect">
            <a:avLst/>
          </a:prstGeom>
          <a:noFill/>
        </p:spPr>
        <p:txBody>
          <a:bodyPr wrap="square">
            <a:spAutoFit/>
          </a:bodyPr>
          <a:lstStyle/>
          <a:p>
            <a:pPr algn="l"/>
            <a:r>
              <a:rPr sz="850" b="0" i="0">
                <a:solidFill>
                  <a:srgbClr val="333333"/>
                </a:solidFill>
                <a:latin typeface="Calibri"/>
              </a:rPr>
              <a:t>La presse financière souligne une dynamique globalement positive pour Airbus cette semaine, portée par des contrats et partenariats stratégiques. Cependant, certains ajustements d’analystes et des comparaisons concurrentielles tempèrent légèrement l’optimisme.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9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694800"/>
        </p:xfrm>
        <a:graphic>
          <a:graphicData uri="http://schemas.openxmlformats.org/drawingml/2006/table">
            <a:tbl>
              <a:tblPr firstRow="1" bandRow="1">
                <a:tableStyleId>{5C22544A-7EE6-4342-B048-85BDC9FD1C3A}</a:tableStyleId>
              </a:tblPr>
              <a:tblGrid>
                <a:gridCol w="2015064"/>
                <a:gridCol w="1378728"/>
                <a:gridCol w="1060560"/>
                <a:gridCol w="848448"/>
              </a:tblGrid>
              <a:tr h="2316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Airbus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694800"/>
        </p:xfrm>
        <a:graphic>
          <a:graphicData uri="http://schemas.openxmlformats.org/drawingml/2006/table">
            <a:tbl>
              <a:tblPr firstRow="1" bandRow="1">
                <a:tableStyleId>{5C22544A-7EE6-4342-B048-85BDC9FD1C3A}</a:tableStyleId>
              </a:tblPr>
              <a:tblGrid>
                <a:gridCol w="1810080"/>
                <a:gridCol w="1206720"/>
              </a:tblGrid>
              <a:tr h="2316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16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74.3 %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Rectangle 20"/>
          <p:cNvSpPr/>
          <p:nvPr/>
        </p:nvSpPr>
        <p:spPr>
          <a:xfrm>
            <a:off x="367200" y="1789200"/>
            <a:ext cx="84132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789200"/>
            <a:ext cx="79200" cy="198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1818000"/>
            <a:ext cx="8298000" cy="1944000"/>
          </a:xfrm>
          <a:prstGeom prst="rect">
            <a:avLst/>
          </a:prstGeom>
          <a:noFill/>
        </p:spPr>
        <p:txBody>
          <a:bodyPr wrap="square">
            <a:spAutoFit/>
          </a:bodyPr>
          <a:lstStyle/>
          <a:p>
            <a:pPr algn="l"/>
            <a:r>
              <a:rPr sz="850" b="0" i="0">
                <a:solidFill>
                  <a:srgbClr val="555555"/>
                </a:solidFill>
                <a:latin typeface="Calibri"/>
              </a:rPr>
              <a:t>Airbus se traite à 12.8x EV/EBITDA vs une médiane sectorielle de 11.5x, soit une prime de 11% justifiée par sa qualité d'actifs. Le P/E à 26.1x reste élevé mais aligné sur les attentes de croissance des 6-8%/an. Airbus se traite à 12.8x EV/EBITDA vs 11.5x pour Boeing (BA) et 13.2x pour Safran (SAF.PA), reflétant une prime de qualité et de diversification. La décote vs Rolls-Royce (15.1x) s'explique par une moindre exposition aux services à haute marge. Une convergence vers la médiane peers (+10%) impliquerait un prix de 190€, soit un upside de +10%. Airbus capitalise sur un carnet de commandes record de 938 Mds€ fin 2024, assurant une visibilité sur 10+ ans La montée en puissance des A320neo et A350 devrait générer +8% de revenus annuels d'ici 2027 grâce à la décarbonation et aux gains de productivité Le segment Défense/Espace (25% des revenus) bénéficie d'une demande structurelle en hausse de +5%/an, avec une marge EBITDA cible de 15% d'ici 2026. Airbus SE affiche une résilience opérationnelle avec une marge nette en amélioration malgré des marges brutes sous pression. La valorisation reste attractive face à un secteur en consolidation, avec un potentiel de re-rating de +13% à +27% selon les scénarios.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AIR.PA  ·  EUR  ·  Au 9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173,06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213,40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160,82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+6,8 %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Cours en hausse de +6,8 % sur 12 mois</a:t>
            </a:r>
          </a:p>
        </p:txBody>
      </p:sp>
      <p:pic>
        <p:nvPicPr>
          <p:cNvPr id="34" name="Picture 33" descr="image.png"/>
          <p:cNvPicPr>
            <a:picLocks noChangeAspect="1"/>
          </p:cNvPicPr>
          <p:nvPr/>
        </p:nvPicPr>
        <p:blipFill>
          <a:blip r:embed="rId2"/>
          <a:stretch>
            <a:fillRect/>
          </a:stretch>
        </p:blipFill>
        <p:spPr>
          <a:xfrm>
            <a:off x="367200" y="2102400"/>
            <a:ext cx="8413200" cy="1828800"/>
          </a:xfrm>
          <a:prstGeom prst="rect">
            <a:avLst/>
          </a:prstGeom>
        </p:spPr>
      </p:pic>
      <p:sp>
        <p:nvSpPr>
          <p:cNvPr id="35" name="Rectangle 34"/>
          <p:cNvSpPr/>
          <p:nvPr/>
        </p:nvSpPr>
        <p:spPr>
          <a:xfrm>
            <a:off x="367200" y="4158000"/>
            <a:ext cx="8413200" cy="6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7200" y="4158000"/>
            <a:ext cx="792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200" y="4186800"/>
            <a:ext cx="8298000" cy="612000"/>
          </a:xfrm>
          <a:prstGeom prst="rect">
            <a:avLst/>
          </a:prstGeom>
          <a:noFill/>
        </p:spPr>
        <p:txBody>
          <a:bodyPr wrap="square">
            <a:spAutoFit/>
          </a:bodyPr>
          <a:lstStyle/>
          <a:p>
            <a:pPr algn="l"/>
            <a:r>
              <a:rPr sz="850" b="0" i="0">
                <a:solidFill>
                  <a:srgbClr val="555555"/>
                </a:solidFill>
                <a:latin typeface="Calibri"/>
              </a:rPr>
              <a:t>Airbus SE affiche une résilience opérationnelle avec une marge nette en amélioration malgré des marges brutes sous pression. La valorisation reste attractive face à un secteur en consolidation, avec un potentiel de re-rating de +13% à +27% selon les scénarios.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Conviction &amp; Thèse d’Investissement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AIR.PA  ·  FinSight IA  ·  Rapport 9 avril 2026</a:t>
            </a:r>
          </a:p>
        </p:txBody>
      </p:sp>
      <p:sp>
        <p:nvSpPr>
          <p:cNvPr id="17" name="Rectangle 16"/>
          <p:cNvSpPr/>
          <p:nvPr/>
        </p:nvSpPr>
        <p:spPr>
          <a:xfrm>
            <a:off x="324000" y="827999"/>
            <a:ext cx="2700000" cy="1260000"/>
          </a:xfrm>
          <a:prstGeom prst="rect">
            <a:avLst/>
          </a:prstGeom>
          <a:solidFill>
            <a:srgbClr val="E8F5E9"/>
          </a:solidFill>
          <a:ln w="2540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864000"/>
            <a:ext cx="2700000" cy="396000"/>
          </a:xfrm>
          <a:prstGeom prst="rect">
            <a:avLst/>
          </a:prstGeom>
          <a:noFill/>
        </p:spPr>
        <p:txBody>
          <a:bodyPr wrap="square">
            <a:spAutoFit/>
          </a:bodyPr>
          <a:lstStyle/>
          <a:p>
            <a:pPr algn="ctr"/>
            <a:r>
              <a:rPr sz="3600" b="1" i="0">
                <a:solidFill>
                  <a:srgbClr val="1A7A4A"/>
                </a:solidFill>
                <a:latin typeface="Calibri"/>
              </a:rPr>
              <a:t>BUY</a:t>
            </a:r>
          </a:p>
        </p:txBody>
      </p:sp>
      <p:sp>
        <p:nvSpPr>
          <p:cNvPr id="19" name="TextBox 18"/>
          <p:cNvSpPr txBox="1"/>
          <p:nvPr/>
        </p:nvSpPr>
        <p:spPr>
          <a:xfrm>
            <a:off x="324000" y="1278000"/>
            <a:ext cx="2700000" cy="198000"/>
          </a:xfrm>
          <a:prstGeom prst="rect">
            <a:avLst/>
          </a:prstGeom>
          <a:noFill/>
        </p:spPr>
        <p:txBody>
          <a:bodyPr wrap="square">
            <a:spAutoFit/>
          </a:bodyPr>
          <a:lstStyle/>
          <a:p>
            <a:pPr algn="ctr"/>
            <a:r>
              <a:rPr sz="1100" b="0" i="0">
                <a:solidFill>
                  <a:srgbClr val="555555"/>
                </a:solidFill>
                <a:latin typeface="Calibri"/>
              </a:rPr>
              <a:t>Conviction : 75%</a:t>
            </a:r>
          </a:p>
        </p:txBody>
      </p:sp>
      <p:sp>
        <p:nvSpPr>
          <p:cNvPr id="20" name="TextBox 19"/>
          <p:cNvSpPr txBox="1"/>
          <p:nvPr/>
        </p:nvSpPr>
        <p:spPr>
          <a:xfrm>
            <a:off x="324000" y="1494000"/>
            <a:ext cx="2700000" cy="198000"/>
          </a:xfrm>
          <a:prstGeom prst="rect">
            <a:avLst/>
          </a:prstGeom>
          <a:noFill/>
        </p:spPr>
        <p:txBody>
          <a:bodyPr wrap="square">
            <a:spAutoFit/>
          </a:bodyPr>
          <a:lstStyle/>
          <a:p>
            <a:pPr algn="ctr"/>
            <a:r>
              <a:rPr sz="850" b="0" i="0">
                <a:solidFill>
                  <a:srgbClr val="555555"/>
                </a:solidFill>
                <a:latin typeface="Calibri"/>
              </a:rPr>
              <a:t>9 avril 2026</a:t>
            </a:r>
          </a:p>
        </p:txBody>
      </p:sp>
      <p:sp>
        <p:nvSpPr>
          <p:cNvPr id="21" name="Rectangle 20"/>
          <p:cNvSpPr/>
          <p:nvPr/>
        </p:nvSpPr>
        <p:spPr>
          <a:xfrm>
            <a:off x="324000" y="2196000"/>
            <a:ext cx="2700000" cy="198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196000"/>
            <a:ext cx="20250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051999"/>
            <a:ext cx="2700000" cy="136800"/>
          </a:xfrm>
          <a:prstGeom prst="rect">
            <a:avLst/>
          </a:prstGeom>
          <a:noFill/>
        </p:spPr>
        <p:txBody>
          <a:bodyPr wrap="square">
            <a:spAutoFit/>
          </a:bodyPr>
          <a:lstStyle/>
          <a:p>
            <a:pPr algn="l"/>
            <a:r>
              <a:rPr sz="700" b="1" i="0">
                <a:solidFill>
                  <a:srgbClr val="1B3A6B"/>
                </a:solidFill>
                <a:latin typeface="Calibri"/>
              </a:rPr>
              <a:t>NIVEAU DE CONVICTION</a:t>
            </a:r>
          </a:p>
        </p:txBody>
      </p:sp>
      <p:sp>
        <p:nvSpPr>
          <p:cNvPr id="24" name="Rectangle 23"/>
          <p:cNvSpPr/>
          <p:nvPr/>
        </p:nvSpPr>
        <p:spPr>
          <a:xfrm>
            <a:off x="324000" y="2520000"/>
            <a:ext cx="2700000" cy="27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2538000"/>
            <a:ext cx="2628000" cy="234000"/>
          </a:xfrm>
          <a:prstGeom prst="rect">
            <a:avLst/>
          </a:prstGeom>
          <a:noFill/>
        </p:spPr>
        <p:txBody>
          <a:bodyPr wrap="square">
            <a:spAutoFit/>
          </a:bodyPr>
          <a:lstStyle/>
          <a:p>
            <a:pPr algn="l"/>
            <a:r>
              <a:rPr sz="850" b="1" i="0">
                <a:solidFill>
                  <a:srgbClr val="1A7A4A"/>
                </a:solidFill>
                <a:latin typeface="Calibri"/>
              </a:rPr>
              <a:t>Delta conviction : +25% vs Avocat du Diable</a:t>
            </a:r>
          </a:p>
        </p:txBody>
      </p:sp>
      <p:sp>
        <p:nvSpPr>
          <p:cNvPr id="26" name="Rectangle 25"/>
          <p:cNvSpPr/>
          <p:nvPr/>
        </p:nvSpPr>
        <p:spPr>
          <a:xfrm>
            <a:off x="3311999" y="827999"/>
            <a:ext cx="547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6000" y="846000"/>
            <a:ext cx="5400000" cy="162000"/>
          </a:xfrm>
          <a:prstGeom prst="rect">
            <a:avLst/>
          </a:prstGeom>
          <a:noFill/>
        </p:spPr>
        <p:txBody>
          <a:bodyPr wrap="square">
            <a:spAutoFit/>
          </a:bodyPr>
          <a:lstStyle/>
          <a:p>
            <a:pPr algn="l"/>
            <a:r>
              <a:rPr sz="800" b="1" i="0">
                <a:solidFill>
                  <a:srgbClr val="FFFFFF"/>
                </a:solidFill>
                <a:latin typeface="Calibri"/>
              </a:rPr>
              <a:t>THÈSE D’INVESTISSEMENT</a:t>
            </a:r>
          </a:p>
        </p:txBody>
      </p:sp>
      <p:sp>
        <p:nvSpPr>
          <p:cNvPr id="28" name="Rectangle 27"/>
          <p:cNvSpPr/>
          <p:nvPr/>
        </p:nvSpPr>
        <p:spPr>
          <a:xfrm>
            <a:off x="3311999" y="1062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999" y="1080000"/>
            <a:ext cx="5346000" cy="270000"/>
          </a:xfrm>
          <a:prstGeom prst="rect">
            <a:avLst/>
          </a:prstGeom>
          <a:noFill/>
        </p:spPr>
        <p:txBody>
          <a:bodyPr wrap="square">
            <a:spAutoFit/>
          </a:bodyPr>
          <a:lstStyle/>
          <a:p>
            <a:pPr algn="l"/>
            <a:r>
              <a:rPr sz="850" b="0" i="0">
                <a:solidFill>
                  <a:srgbClr val="555555"/>
                </a:solidFill>
                <a:latin typeface="Calibri"/>
              </a:rPr>
              <a:t>Airbus capitalise sur un carnet de commandes record de 938 Mds€ fin 2024, assurant une visibilité sur 10+ ans</a:t>
            </a:r>
          </a:p>
        </p:txBody>
      </p:sp>
      <p:sp>
        <p:nvSpPr>
          <p:cNvPr id="30" name="Rectangle 29"/>
          <p:cNvSpPr/>
          <p:nvPr/>
        </p:nvSpPr>
        <p:spPr>
          <a:xfrm>
            <a:off x="3311999" y="1404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1422000"/>
            <a:ext cx="5346000" cy="270000"/>
          </a:xfrm>
          <a:prstGeom prst="rect">
            <a:avLst/>
          </a:prstGeom>
          <a:noFill/>
        </p:spPr>
        <p:txBody>
          <a:bodyPr wrap="square">
            <a:spAutoFit/>
          </a:bodyPr>
          <a:lstStyle/>
          <a:p>
            <a:pPr algn="l"/>
            <a:r>
              <a:rPr sz="850" b="0" i="0">
                <a:solidFill>
                  <a:srgbClr val="555555"/>
                </a:solidFill>
                <a:latin typeface="Calibri"/>
              </a:rPr>
              <a:t>La montée en puissance des A320neo et A350 devrait générer +8% de revenus annuels d'ici 2027 grâce à la décarbonation et aux gains de productivité</a:t>
            </a:r>
          </a:p>
        </p:txBody>
      </p:sp>
      <p:sp>
        <p:nvSpPr>
          <p:cNvPr id="32" name="Rectangle 31"/>
          <p:cNvSpPr/>
          <p:nvPr/>
        </p:nvSpPr>
        <p:spPr>
          <a:xfrm>
            <a:off x="3311999" y="1746000"/>
            <a:ext cx="36000" cy="28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999" y="1764000"/>
            <a:ext cx="5346000" cy="270000"/>
          </a:xfrm>
          <a:prstGeom prst="rect">
            <a:avLst/>
          </a:prstGeom>
          <a:noFill/>
        </p:spPr>
        <p:txBody>
          <a:bodyPr wrap="square">
            <a:spAutoFit/>
          </a:bodyPr>
          <a:lstStyle/>
          <a:p>
            <a:pPr algn="l"/>
            <a:r>
              <a:rPr sz="850" b="0" i="0">
                <a:solidFill>
                  <a:srgbClr val="555555"/>
                </a:solidFill>
                <a:latin typeface="Calibri"/>
              </a:rPr>
              <a:t>Le segment Défense/Espace (25% des revenus) bénéficie d'une demande structurelle en hausse de +5%/an, avec une marge EBITDA cible de 15% d'ici 2026.</a:t>
            </a:r>
          </a:p>
        </p:txBody>
      </p:sp>
      <p:sp>
        <p:nvSpPr>
          <p:cNvPr id="34" name="Rectangle 33"/>
          <p:cNvSpPr/>
          <p:nvPr/>
        </p:nvSpPr>
        <p:spPr>
          <a:xfrm>
            <a:off x="3311999" y="2196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6000" y="2214000"/>
            <a:ext cx="2592000" cy="144000"/>
          </a:xfrm>
          <a:prstGeom prst="rect">
            <a:avLst/>
          </a:prstGeom>
          <a:noFill/>
        </p:spPr>
        <p:txBody>
          <a:bodyPr wrap="square">
            <a:spAutoFit/>
          </a:bodyPr>
          <a:lstStyle/>
          <a:p>
            <a:pPr algn="l"/>
            <a:r>
              <a:rPr sz="750" b="1" i="0">
                <a:solidFill>
                  <a:srgbClr val="FFFFFF"/>
                </a:solidFill>
                <a:latin typeface="Calibri"/>
              </a:rPr>
              <a:t>CATALYSEURS BULLS</a:t>
            </a:r>
          </a:p>
        </p:txBody>
      </p:sp>
      <p:sp>
        <p:nvSpPr>
          <p:cNvPr id="36" name="TextBox 35"/>
          <p:cNvSpPr txBox="1"/>
          <p:nvPr/>
        </p:nvSpPr>
        <p:spPr>
          <a:xfrm>
            <a:off x="3401999" y="2412000"/>
            <a:ext cx="2556000" cy="234000"/>
          </a:xfrm>
          <a:prstGeom prst="rect">
            <a:avLst/>
          </a:prstGeom>
          <a:noFill/>
        </p:spPr>
        <p:txBody>
          <a:bodyPr wrap="square">
            <a:spAutoFit/>
          </a:bodyPr>
          <a:lstStyle/>
          <a:p>
            <a:pPr algn="l"/>
            <a:r>
              <a:rPr sz="700" b="0" i="0">
                <a:solidFill>
                  <a:srgbClr val="555555"/>
                </a:solidFill>
                <a:latin typeface="Calibri"/>
              </a:rPr>
              <a:t>• Livraisons record de 800+ avions en 2026 avec un mix A350/A320neo boostant les marges à 15% |</a:t>
            </a:r>
          </a:p>
        </p:txBody>
      </p:sp>
      <p:sp>
        <p:nvSpPr>
          <p:cNvPr id="37" name="TextBox 36"/>
          <p:cNvSpPr txBox="1"/>
          <p:nvPr/>
        </p:nvSpPr>
        <p:spPr>
          <a:xfrm>
            <a:off x="3401999" y="2671200"/>
            <a:ext cx="2556000" cy="234000"/>
          </a:xfrm>
          <a:prstGeom prst="rect">
            <a:avLst/>
          </a:prstGeom>
          <a:noFill/>
        </p:spPr>
        <p:txBody>
          <a:bodyPr wrap="square">
            <a:spAutoFit/>
          </a:bodyPr>
          <a:lstStyle/>
          <a:p>
            <a:pPr algn="l"/>
            <a:r>
              <a:rPr sz="700" b="0" i="0">
                <a:solidFill>
                  <a:srgbClr val="555555"/>
                </a:solidFill>
                <a:latin typeface="Calibri"/>
              </a:rPr>
              <a:t>• Programme ZEROe (avion à hydrogène) avec 200+ milliards d'euros de R&amp;D financés par l'UE d'ici 2035</a:t>
            </a:r>
          </a:p>
        </p:txBody>
      </p:sp>
      <p:sp>
        <p:nvSpPr>
          <p:cNvPr id="38" name="Rectangle 37"/>
          <p:cNvSpPr/>
          <p:nvPr/>
        </p:nvSpPr>
        <p:spPr>
          <a:xfrm>
            <a:off x="6120000" y="2196000"/>
            <a:ext cx="2448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56000" y="2214000"/>
            <a:ext cx="2376000" cy="144000"/>
          </a:xfrm>
          <a:prstGeom prst="rect">
            <a:avLst/>
          </a:prstGeom>
          <a:noFill/>
        </p:spPr>
        <p:txBody>
          <a:bodyPr wrap="square">
            <a:spAutoFit/>
          </a:bodyPr>
          <a:lstStyle/>
          <a:p>
            <a:pPr algn="l"/>
            <a:r>
              <a:rPr sz="750" b="1" i="0">
                <a:solidFill>
                  <a:srgbClr val="FFFFFF"/>
                </a:solidFill>
                <a:latin typeface="Calibri"/>
              </a:rPr>
              <a:t>RISQUES BEARS</a:t>
            </a:r>
          </a:p>
        </p:txBody>
      </p:sp>
      <p:sp>
        <p:nvSpPr>
          <p:cNvPr id="40" name="TextBox 39"/>
          <p:cNvSpPr txBox="1"/>
          <p:nvPr/>
        </p:nvSpPr>
        <p:spPr>
          <a:xfrm>
            <a:off x="6156000" y="2412000"/>
            <a:ext cx="2376000" cy="234000"/>
          </a:xfrm>
          <a:prstGeom prst="rect">
            <a:avLst/>
          </a:prstGeom>
          <a:noFill/>
        </p:spPr>
        <p:txBody>
          <a:bodyPr wrap="square">
            <a:spAutoFit/>
          </a:bodyPr>
          <a:lstStyle/>
          <a:p>
            <a:pPr algn="l"/>
            <a:r>
              <a:rPr sz="700" b="0" i="0">
                <a:solidFill>
                  <a:srgbClr val="555555"/>
                </a:solidFill>
                <a:latin typeface="Calibri"/>
              </a:rPr>
              <a:t>• Ralentissement économique mondial réduisant la demande civile de -15% en 2026 | Hausse des coûts</a:t>
            </a:r>
          </a:p>
        </p:txBody>
      </p:sp>
      <p:sp>
        <p:nvSpPr>
          <p:cNvPr id="41" name="Rectangle 40"/>
          <p:cNvSpPr/>
          <p:nvPr/>
        </p:nvSpPr>
        <p:spPr>
          <a:xfrm>
            <a:off x="3311999" y="3038400"/>
            <a:ext cx="5472000" cy="3960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311999" y="30384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01999" y="3056400"/>
            <a:ext cx="5310000" cy="360000"/>
          </a:xfrm>
          <a:prstGeom prst="rect">
            <a:avLst/>
          </a:prstGeom>
          <a:noFill/>
        </p:spPr>
        <p:txBody>
          <a:bodyPr wrap="square">
            <a:spAutoFit/>
          </a:bodyPr>
          <a:lstStyle/>
          <a:p>
            <a:pPr algn="l"/>
            <a:r>
              <a:rPr sz="750" b="0" i="0">
                <a:solidFill>
                  <a:srgbClr val="7A5000"/>
                </a:solidFill>
                <a:latin typeface="Calibri"/>
              </a:rPr>
              <a:t>⚠ Conditions d’invalidation : Macro: Récession mondiale réduisant le trafic aérien  ·  Sectoriel: Guerre commerciale USA-Chine bloquant les exp</a:t>
            </a:r>
          </a:p>
        </p:txBody>
      </p:sp>
      <p:sp>
        <p:nvSpPr>
          <p:cNvPr id="44" name="TextBox 43"/>
          <p:cNvSpPr txBox="1"/>
          <p:nvPr/>
        </p:nvSpPr>
        <p:spPr>
          <a:xfrm>
            <a:off x="324000" y="4662000"/>
            <a:ext cx="8496000" cy="125999"/>
          </a:xfrm>
          <a:prstGeom prst="rect">
            <a:avLst/>
          </a:prstGeom>
          <a:noFill/>
        </p:spPr>
        <p:txBody>
          <a:bodyPr wrap="square">
            <a:spAutoFit/>
          </a:bodyPr>
          <a:lstStyle/>
          <a:p>
            <a:pPr algn="l"/>
            <a:r>
              <a:rPr sz="700" b="0" i="0">
                <a:solidFill>
                  <a:srgbClr val="555555"/>
                </a:solidFill>
                <a:latin typeface="Calibri"/>
              </a:rPr>
              <a:t>FinSight IA genere cette analyse a un instant T. Pour le suivi dans le temps, comparer les rapports successifs. La conviction reflete les donnees disponibles a la date d'analyse.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