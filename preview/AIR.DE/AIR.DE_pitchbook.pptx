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Airbus SE</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AIR.DE  ·  Frankfurt  ·  Industrials</a:t>
            </a:r>
          </a:p>
        </p:txBody>
      </p:sp>
      <p:sp>
        <p:nvSpPr>
          <p:cNvPr id="8" name="Rectangle 7"/>
          <p:cNvSpPr/>
          <p:nvPr/>
        </p:nvSpPr>
        <p:spPr>
          <a:xfrm>
            <a:off x="2771999" y="2720232"/>
            <a:ext cx="36000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6000" y="2738232"/>
            <a:ext cx="3491999" cy="395999"/>
          </a:xfrm>
          <a:prstGeom prst="rect">
            <a:avLst/>
          </a:prstGeom>
          <a:noFill/>
        </p:spPr>
        <p:txBody>
          <a:bodyPr wrap="square">
            <a:spAutoFit/>
          </a:bodyPr>
          <a:lstStyle/>
          <a:p>
            <a:pPr algn="ctr"/>
            <a:r>
              <a:rPr sz="900" b="1" i="0">
                <a:solidFill>
                  <a:srgbClr val="FFFFFF"/>
                </a:solidFill>
                <a:latin typeface="Calibri"/>
              </a:rPr>
              <a:t>● BUY  ·  Prix cible base : 185 EUR  ·  Upside : +12,1 %</a:t>
            </a:r>
          </a:p>
        </p:txBody>
      </p:sp>
      <p:sp>
        <p:nvSpPr>
          <p:cNvPr id="10" name="Rectangle 9"/>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2" name="TextBox 11"/>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6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185 EUR  ·  Upside : +12,1 %  ·  Bear : 150 EUR (-9,1 %)  ·  Bull : 210 EUR (+27,2 %)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Carnet commandes record</a:t>
            </a:r>
          </a:p>
        </p:txBody>
      </p:sp>
      <p:sp>
        <p:nvSpPr>
          <p:cNvPr id="14" name="TextBox 13"/>
          <p:cNvSpPr txBox="1"/>
          <p:nvPr/>
        </p:nvSpPr>
        <p:spPr>
          <a:xfrm>
            <a:off x="503999" y="1814400"/>
            <a:ext cx="3931200" cy="378000"/>
          </a:xfrm>
          <a:prstGeom prst="rect">
            <a:avLst/>
          </a:prstGeom>
          <a:noFill/>
        </p:spPr>
        <p:txBody>
          <a:bodyPr wrap="square">
            <a:spAutoFit/>
          </a:bodyPr>
          <a:lstStyle/>
          <a:p>
            <a:pPr algn="l"/>
            <a:r>
              <a:rPr sz="750" b="0" i="0">
                <a:solidFill>
                  <a:srgbClr val="333333"/>
                </a:solidFill>
                <a:latin typeface="Calibri"/>
              </a:rPr>
              <a:t>Le carnet de commandes record de 1 131 milliards d’euros fin 2025, en hausse de 12 % YoY, sécurise 8 ans de production</a:t>
            </a:r>
          </a:p>
        </p:txBody>
      </p:sp>
      <p:sp>
        <p:nvSpPr>
          <p:cNvPr id="15" name="Rectangle 14"/>
          <p:cNvSpPr/>
          <p:nvPr/>
        </p:nvSpPr>
        <p:spPr>
          <a:xfrm>
            <a:off x="367200" y="2214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96000"/>
            <a:ext cx="3931200" cy="183600"/>
          </a:xfrm>
          <a:prstGeom prst="rect">
            <a:avLst/>
          </a:prstGeom>
          <a:noFill/>
        </p:spPr>
        <p:txBody>
          <a:bodyPr wrap="square">
            <a:spAutoFit/>
          </a:bodyPr>
          <a:lstStyle/>
          <a:p>
            <a:pPr algn="l"/>
            <a:r>
              <a:rPr sz="850" b="1" i="0">
                <a:solidFill>
                  <a:srgbClr val="1B3A6B"/>
                </a:solidFill>
                <a:latin typeface="Calibri"/>
              </a:rPr>
              <a:t>Leadership technologique</a:t>
            </a:r>
          </a:p>
        </p:txBody>
      </p:sp>
      <p:sp>
        <p:nvSpPr>
          <p:cNvPr id="17" name="TextBox 16"/>
          <p:cNvSpPr txBox="1"/>
          <p:nvPr/>
        </p:nvSpPr>
        <p:spPr>
          <a:xfrm>
            <a:off x="503999" y="2365200"/>
            <a:ext cx="3931200" cy="378000"/>
          </a:xfrm>
          <a:prstGeom prst="rect">
            <a:avLst/>
          </a:prstGeom>
          <a:noFill/>
        </p:spPr>
        <p:txBody>
          <a:bodyPr wrap="square">
            <a:spAutoFit/>
          </a:bodyPr>
          <a:lstStyle/>
          <a:p>
            <a:pPr algn="l"/>
            <a:r>
              <a:rPr sz="750" b="0" i="0">
                <a:solidFill>
                  <a:srgbClr val="333333"/>
                </a:solidFill>
                <a:latin typeface="Calibri"/>
              </a:rPr>
              <a:t>La demande asiatique (35 % des livraisons prévues en 2026) et le remplacement des flottes vieillissantes (+6 000 avions à remplacer d’ici 2035) soutiennent une croissance du CA de 7 % en 2026</a:t>
            </a:r>
          </a:p>
        </p:txBody>
      </p:sp>
      <p:sp>
        <p:nvSpPr>
          <p:cNvPr id="18" name="Rectangle 17"/>
          <p:cNvSpPr/>
          <p:nvPr/>
        </p:nvSpPr>
        <p:spPr>
          <a:xfrm>
            <a:off x="367200" y="2764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46800"/>
            <a:ext cx="3931200" cy="183600"/>
          </a:xfrm>
          <a:prstGeom prst="rect">
            <a:avLst/>
          </a:prstGeom>
          <a:noFill/>
        </p:spPr>
        <p:txBody>
          <a:bodyPr wrap="square">
            <a:spAutoFit/>
          </a:bodyPr>
          <a:lstStyle/>
          <a:p>
            <a:pPr algn="l"/>
            <a:r>
              <a:rPr sz="850" b="1" i="0">
                <a:solidFill>
                  <a:srgbClr val="1B3A6B"/>
                </a:solidFill>
                <a:latin typeface="Calibri"/>
              </a:rPr>
              <a:t>Diversification géographique</a:t>
            </a:r>
          </a:p>
        </p:txBody>
      </p:sp>
      <p:sp>
        <p:nvSpPr>
          <p:cNvPr id="20" name="TextBox 19"/>
          <p:cNvSpPr txBox="1"/>
          <p:nvPr/>
        </p:nvSpPr>
        <p:spPr>
          <a:xfrm>
            <a:off x="503999" y="2916000"/>
            <a:ext cx="3931200" cy="378000"/>
          </a:xfrm>
          <a:prstGeom prst="rect">
            <a:avLst/>
          </a:prstGeom>
          <a:noFill/>
        </p:spPr>
        <p:txBody>
          <a:bodyPr wrap="square">
            <a:spAutoFit/>
          </a:bodyPr>
          <a:lstStyle/>
          <a:p>
            <a:pPr algn="l"/>
            <a:r>
              <a:rPr sz="750" b="0" i="0">
                <a:solidFill>
                  <a:srgbClr val="333333"/>
                </a:solidFill>
                <a:latin typeface="Calibri"/>
              </a:rPr>
              <a:t>La marge EBITDA devrait atteindre 15,5 % en 2027 grâce à l’effet volume et à la réduction des coûts fixes de 400 millions d’euros annuels d’ici 2026.</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Dépendance au cycle aéronautique</a:t>
            </a:r>
          </a:p>
        </p:txBody>
      </p:sp>
      <p:sp>
        <p:nvSpPr>
          <p:cNvPr id="25" name="TextBox 24"/>
          <p:cNvSpPr txBox="1"/>
          <p:nvPr/>
        </p:nvSpPr>
        <p:spPr>
          <a:xfrm>
            <a:off x="4845600" y="1814400"/>
            <a:ext cx="3794399" cy="378000"/>
          </a:xfrm>
          <a:prstGeom prst="rect">
            <a:avLst/>
          </a:prstGeom>
          <a:noFill/>
        </p:spPr>
        <p:txBody>
          <a:bodyPr wrap="square">
            <a:spAutoFit/>
          </a:bodyPr>
          <a:lstStyle/>
          <a:p>
            <a:pPr algn="l"/>
            <a:r>
              <a:rPr sz="750" b="0" i="0">
                <a:solidFill>
                  <a:srgbClr val="333333"/>
                </a:solidFill>
                <a:latin typeface="Calibri"/>
              </a:rPr>
              <a:t>Retards de production sur A350 (12 mois en 2025) coûtant 1,2 milliard d’euros de CA perdu | Horizon 2026-2027, impact -8 % sur EBITDA</a:t>
            </a:r>
          </a:p>
        </p:txBody>
      </p:sp>
      <p:sp>
        <p:nvSpPr>
          <p:cNvPr id="26" name="Rectangle 25"/>
          <p:cNvSpPr/>
          <p:nvPr/>
        </p:nvSpPr>
        <p:spPr>
          <a:xfrm>
            <a:off x="4708800" y="2214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96000"/>
            <a:ext cx="3794399" cy="183600"/>
          </a:xfrm>
          <a:prstGeom prst="rect">
            <a:avLst/>
          </a:prstGeom>
          <a:noFill/>
        </p:spPr>
        <p:txBody>
          <a:bodyPr wrap="square">
            <a:spAutoFit/>
          </a:bodyPr>
          <a:lstStyle/>
          <a:p>
            <a:pPr algn="l"/>
            <a:r>
              <a:rPr sz="850" b="1" i="0">
                <a:solidFill>
                  <a:srgbClr val="1B3A6B"/>
                </a:solidFill>
                <a:latin typeface="Calibri"/>
              </a:rPr>
              <a:t>Risque géopolitique</a:t>
            </a:r>
          </a:p>
        </p:txBody>
      </p:sp>
      <p:sp>
        <p:nvSpPr>
          <p:cNvPr id="28" name="TextBox 27"/>
          <p:cNvSpPr txBox="1"/>
          <p:nvPr/>
        </p:nvSpPr>
        <p:spPr>
          <a:xfrm>
            <a:off x="4845600" y="2365200"/>
            <a:ext cx="3794399" cy="378000"/>
          </a:xfrm>
          <a:prstGeom prst="rect">
            <a:avLst/>
          </a:prstGeom>
          <a:noFill/>
        </p:spPr>
        <p:txBody>
          <a:bodyPr wrap="square">
            <a:spAutoFit/>
          </a:bodyPr>
          <a:lstStyle/>
          <a:p>
            <a:pPr algn="l"/>
            <a:r>
              <a:rPr sz="750" b="0" i="0">
                <a:solidFill>
                  <a:srgbClr val="333333"/>
                </a:solidFill>
                <a:latin typeface="Calibri"/>
              </a:rPr>
              <a:t>Guerre en Ukraine : hausse des coûts énergétiques de 150 millions d’euros annuels | Horizon 2026-2028</a:t>
            </a:r>
          </a:p>
        </p:txBody>
      </p:sp>
      <p:sp>
        <p:nvSpPr>
          <p:cNvPr id="29" name="Rectangle 28"/>
          <p:cNvSpPr/>
          <p:nvPr/>
        </p:nvSpPr>
        <p:spPr>
          <a:xfrm>
            <a:off x="4708800" y="2764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46800"/>
            <a:ext cx="3794399" cy="183600"/>
          </a:xfrm>
          <a:prstGeom prst="rect">
            <a:avLst/>
          </a:prstGeom>
          <a:noFill/>
        </p:spPr>
        <p:txBody>
          <a:bodyPr wrap="square">
            <a:spAutoFit/>
          </a:bodyPr>
          <a:lstStyle/>
          <a:p>
            <a:pPr algn="l"/>
            <a:r>
              <a:rPr sz="850" b="1" i="0">
                <a:solidFill>
                  <a:srgbClr val="1B3A6B"/>
                </a:solidFill>
                <a:latin typeface="Calibri"/>
              </a:rPr>
              <a:t>Coûts R&amp;D élevés</a:t>
            </a:r>
          </a:p>
        </p:txBody>
      </p:sp>
      <p:sp>
        <p:nvSpPr>
          <p:cNvPr id="31" name="TextBox 30"/>
          <p:cNvSpPr txBox="1"/>
          <p:nvPr/>
        </p:nvSpPr>
        <p:spPr>
          <a:xfrm>
            <a:off x="4845600" y="2916000"/>
            <a:ext cx="3794399" cy="378000"/>
          </a:xfrm>
          <a:prstGeom prst="rect">
            <a:avLst/>
          </a:prstGeom>
          <a:noFill/>
        </p:spPr>
        <p:txBody>
          <a:bodyPr wrap="square">
            <a:spAutoFit/>
          </a:bodyPr>
          <a:lstStyle/>
          <a:p>
            <a:pPr algn="l"/>
            <a:r>
              <a:rPr sz="750" b="0" i="0">
                <a:solidFill>
                  <a:srgbClr val="333333"/>
                </a:solidFill>
                <a:latin typeface="Calibri"/>
              </a:rPr>
              <a:t>Concurrence accrue de COMAC (C919) en Asie : perte de parts de marché de 5 % d’ici 2027 | Horizon 2026-2029</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12,1x</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15,2x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9,0 %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0,88  ·  RFR 4,3 %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185 EUR</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intrinsèque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+12,1 %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+0,390</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Positif  ·  20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Airbus SE  ·  Industrials</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Dépendance au cycle aéronautique  ·  Risque géopolitique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Airbus SE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Airbus SE est un leader mondial de la construction aéronautique et spatiale, positionné sur les segments civils (avions de ligne, hélicoptères) et militaires (drones, satellites). Son avantage concurrentiel repose sur une innovation technologique continue (A320neo, A350, A330 MRTT) et une chaîne d’approvisionnement optimisée. La diversification géographique (Asie, Moyen-Orient) et la transition vers l’aviation durable (Sustainable Aviation Fuel, hydrogène) renforcent sa résilience face aux cycles économiques.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Avions civils</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Modèle basé sur la vente d’appareils neufs (A320neo, A350) et les services de maintenance (MRO). Principaux clients : compagnies aériennes mondiales (Delta, Emirates) et lessors (AerCap). Croissance tirée par la demande asiatique (+8 % CAGR 2025-2030) et le remplacement des flottes vieillissantes. Le levier opérationnel est renforcé par des économies d’échelle sur les lignes d’assemblage.</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Hélicoptères et Espace</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Revenus issus de la vente d’hélicoptères (H145, H160) et de solutions spatiales (satellites, lanceurs). Clients : gouvernements (défense, secours) et opérateurs commerciaux. Croissance portée par les commandes militaires (OTAN, Inde) et les mégaconstellations spatiales. Marges stables grâce à des contrats long terme et une forte valeur ajoutée technologique.</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130,0 Md€</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73,4 Md€</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165,08 EUR</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12,1x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24,9x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68%</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Avions civils</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Modèle basé sur la vente d’appareils neufs (A320neo, A350) et les services de maintenance (MRO). Principaux clients : compagnies aériennes mondiales (Delta, Emirates) et lessors (AerCap). Croissance tirée par la demande asiatique (+8 % CAGR 2025-2030) et le remplacement des flottes vieillissantes. Le levier opérationnel est renforcé par des économies d’échelle sur les lignes d’assemblage.</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32%</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Hélicoptères et Espace</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Revenus issus de la vente d’hélicoptères (H145, H160) et de solutions spatiales (satellites, lanceurs). Clients : gouvernements (défense, secours) et opérateurs commerciaux. Croissance portée par les commandes militaires (OTAN, Inde) et les mégaconstellations spatiales. Marges stables grâce à des contrats long terme et une forte valeur ajoutée technologique.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EUR millions  ·  2022–2027F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65,4</a:t>
                      </a:r>
                    </a:p>
                  </a:txBody>
                  <a:tcPr>
                    <a:solidFill>
                      <a:srgbClr val="FFFFFF"/>
                    </a:solidFill>
                  </a:tcPr>
                </a:tc>
                <a:tc>
                  <a:txBody>
                    <a:bodyPr/>
                    <a:lstStyle/>
                    <a:p>
                      <a:pPr algn="ctr"/>
                      <a:r>
                        <a:rPr sz="800" b="1" i="0">
                          <a:solidFill>
                            <a:srgbClr val="0D0D0D"/>
                          </a:solidFill>
                          <a:latin typeface="Calibri"/>
                        </a:rPr>
                        <a:t>69,2</a:t>
                      </a:r>
                    </a:p>
                  </a:txBody>
                  <a:tcPr>
                    <a:solidFill>
                      <a:srgbClr val="FFFFFF"/>
                    </a:solidFill>
                  </a:tcPr>
                </a:tc>
                <a:tc>
                  <a:txBody>
                    <a:bodyPr/>
                    <a:lstStyle/>
                    <a:p>
                      <a:pPr algn="ctr"/>
                      <a:r>
                        <a:rPr sz="800" b="1" i="0">
                          <a:solidFill>
                            <a:srgbClr val="1B3A6B"/>
                          </a:solidFill>
                          <a:latin typeface="Calibri"/>
                        </a:rPr>
                        <a:t>73,4</a:t>
                      </a:r>
                    </a:p>
                  </a:txBody>
                  <a:tcPr>
                    <a:solidFill>
                      <a:srgbClr val="DDE8F5"/>
                    </a:solidFill>
                  </a:tcPr>
                </a:tc>
                <a:tc>
                  <a:txBody>
                    <a:bodyPr/>
                    <a:lstStyle/>
                    <a:p>
                      <a:pPr algn="ctr"/>
                      <a:r>
                        <a:rPr sz="800" b="1" i="0">
                          <a:solidFill>
                            <a:srgbClr val="0D0D0D"/>
                          </a:solidFill>
                          <a:latin typeface="Calibri"/>
                        </a:rPr>
                        <a:t>78,5</a:t>
                      </a:r>
                    </a:p>
                  </a:txBody>
                  <a:tcPr>
                    <a:solidFill>
                      <a:srgbClr val="FFFFFF"/>
                    </a:solidFill>
                  </a:tcPr>
                </a:tc>
                <a:tc>
                  <a:txBody>
                    <a:bodyPr/>
                    <a:lstStyle/>
                    <a:p>
                      <a:pPr algn="ctr"/>
                      <a:r>
                        <a:rPr sz="800" b="1" i="0">
                          <a:solidFill>
                            <a:srgbClr val="0D0D0D"/>
                          </a:solidFill>
                          <a:latin typeface="Calibri"/>
                        </a:rPr>
                        <a:t>83,0</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+11,4 %</a:t>
                      </a:r>
                    </a:p>
                  </a:txBody>
                  <a:tcPr>
                    <a:solidFill>
                      <a:srgbClr val="F7F8FA"/>
                    </a:solidFill>
                  </a:tcPr>
                </a:tc>
                <a:tc>
                  <a:txBody>
                    <a:bodyPr/>
                    <a:lstStyle/>
                    <a:p>
                      <a:pPr algn="ctr"/>
                      <a:r>
                        <a:rPr sz="750" b="0" i="1">
                          <a:solidFill>
                            <a:srgbClr val="555555"/>
                          </a:solidFill>
                          <a:latin typeface="Calibri"/>
                        </a:rPr>
                        <a:t>+5,8 %</a:t>
                      </a:r>
                    </a:p>
                  </a:txBody>
                  <a:tcPr>
                    <a:solidFill>
                      <a:srgbClr val="F7F8FA"/>
                    </a:solidFill>
                  </a:tcPr>
                </a:tc>
                <a:tc>
                  <a:txBody>
                    <a:bodyPr/>
                    <a:lstStyle/>
                    <a:p>
                      <a:pPr algn="ctr"/>
                      <a:r>
                        <a:rPr sz="750" b="0" i="1">
                          <a:solidFill>
                            <a:srgbClr val="555555"/>
                          </a:solidFill>
                          <a:latin typeface="Calibri"/>
                        </a:rPr>
                        <a:t>+6,0 %</a:t>
                      </a:r>
                    </a:p>
                  </a:txBody>
                  <a:tcPr>
                    <a:solidFill>
                      <a:srgbClr val="DDE8F5"/>
                    </a:solidFill>
                  </a:tcPr>
                </a:tc>
                <a:tc>
                  <a:txBody>
                    <a:bodyPr/>
                    <a:lstStyle/>
                    <a:p>
                      <a:pPr algn="ctr"/>
                      <a:r>
                        <a:rPr sz="750" b="0" i="1">
                          <a:solidFill>
                            <a:srgbClr val="555555"/>
                          </a:solidFill>
                          <a:latin typeface="Calibri"/>
                        </a:rPr>
                        <a:t>+7,0 %</a:t>
                      </a:r>
                    </a:p>
                  </a:txBody>
                  <a:tcPr>
                    <a:solidFill>
                      <a:srgbClr val="F7F8FA"/>
                    </a:solidFill>
                  </a:tcPr>
                </a:tc>
                <a:tc>
                  <a:txBody>
                    <a:bodyPr/>
                    <a:lstStyle/>
                    <a:p>
                      <a:pPr algn="ctr"/>
                      <a:r>
                        <a:rPr sz="750" b="0" i="1">
                          <a:solidFill>
                            <a:srgbClr val="555555"/>
                          </a:solidFill>
                          <a:latin typeface="Calibri"/>
                        </a:rPr>
                        <a:t>+5,7 %</a:t>
                      </a:r>
                    </a:p>
                  </a:txBody>
                  <a:tcPr>
                    <a:solidFill>
                      <a:srgbClr val="F7F8FA"/>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10,0</a:t>
                      </a:r>
                    </a:p>
                  </a:txBody>
                  <a:tcPr>
                    <a:solidFill>
                      <a:srgbClr val="FFFFFF"/>
                    </a:solidFill>
                  </a:tcPr>
                </a:tc>
                <a:tc>
                  <a:txBody>
                    <a:bodyPr/>
                    <a:lstStyle/>
                    <a:p>
                      <a:pPr algn="ctr"/>
                      <a:r>
                        <a:rPr sz="800" b="1" i="0">
                          <a:solidFill>
                            <a:srgbClr val="0D0D0D"/>
                          </a:solidFill>
                          <a:latin typeface="Calibri"/>
                        </a:rPr>
                        <a:t>10,7</a:t>
                      </a:r>
                    </a:p>
                  </a:txBody>
                  <a:tcPr>
                    <a:solidFill>
                      <a:srgbClr val="FFFFFF"/>
                    </a:solidFill>
                  </a:tcPr>
                </a:tc>
                <a:tc>
                  <a:txBody>
                    <a:bodyPr/>
                    <a:lstStyle/>
                    <a:p>
                      <a:pPr algn="ctr"/>
                      <a:r>
                        <a:rPr sz="800" b="1" i="0">
                          <a:solidFill>
                            <a:srgbClr val="1B3A6B"/>
                          </a:solidFill>
                          <a:latin typeface="Calibri"/>
                        </a:rPr>
                        <a:t>11,0</a:t>
                      </a:r>
                    </a:p>
                  </a:txBody>
                  <a:tcPr>
                    <a:solidFill>
                      <a:srgbClr val="DDE8F5"/>
                    </a:solidFill>
                  </a:tcPr>
                </a:tc>
                <a:tc>
                  <a:txBody>
                    <a:bodyPr/>
                    <a:lstStyle/>
                    <a:p>
                      <a:pPr algn="ctr"/>
                      <a:r>
                        <a:rPr sz="800" b="1" i="0">
                          <a:solidFill>
                            <a:srgbClr val="0D0D0D"/>
                          </a:solidFill>
                          <a:latin typeface="Calibri"/>
                        </a:rPr>
                        <a:t>11,9</a:t>
                      </a:r>
                    </a:p>
                  </a:txBody>
                  <a:tcPr>
                    <a:solidFill>
                      <a:srgbClr val="FFFFFF"/>
                    </a:solidFill>
                  </a:tcPr>
                </a:tc>
                <a:tc>
                  <a:txBody>
                    <a:bodyPr/>
                    <a:lstStyle/>
                    <a:p>
                      <a:pPr algn="ctr"/>
                      <a:r>
                        <a:rPr sz="800" b="1" i="0">
                          <a:solidFill>
                            <a:srgbClr val="0D0D0D"/>
                          </a:solidFill>
                          <a:latin typeface="Calibri"/>
                        </a:rPr>
                        <a:t>12,9</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15,3 %</a:t>
                      </a:r>
                    </a:p>
                  </a:txBody>
                  <a:tcPr>
                    <a:solidFill>
                      <a:srgbClr val="F7F8FA"/>
                    </a:solidFill>
                  </a:tcPr>
                </a:tc>
                <a:tc>
                  <a:txBody>
                    <a:bodyPr/>
                    <a:lstStyle/>
                    <a:p>
                      <a:pPr algn="ctr"/>
                      <a:r>
                        <a:rPr sz="750" b="0" i="1">
                          <a:solidFill>
                            <a:srgbClr val="555555"/>
                          </a:solidFill>
                          <a:latin typeface="Calibri"/>
                        </a:rPr>
                        <a:t>15,4 %</a:t>
                      </a:r>
                    </a:p>
                  </a:txBody>
                  <a:tcPr>
                    <a:solidFill>
                      <a:srgbClr val="F7F8FA"/>
                    </a:solidFill>
                  </a:tcPr>
                </a:tc>
                <a:tc>
                  <a:txBody>
                    <a:bodyPr/>
                    <a:lstStyle/>
                    <a:p>
                      <a:pPr algn="ctr"/>
                      <a:r>
                        <a:rPr sz="750" b="0" i="1">
                          <a:solidFill>
                            <a:srgbClr val="555555"/>
                          </a:solidFill>
                          <a:latin typeface="Calibri"/>
                        </a:rPr>
                        <a:t>14,9 %</a:t>
                      </a:r>
                    </a:p>
                  </a:txBody>
                  <a:tcPr>
                    <a:solidFill>
                      <a:srgbClr val="DDE8F5"/>
                    </a:solidFill>
                  </a:tcPr>
                </a:tc>
                <a:tc>
                  <a:txBody>
                    <a:bodyPr/>
                    <a:lstStyle/>
                    <a:p>
                      <a:pPr algn="ctr"/>
                      <a:r>
                        <a:rPr sz="750" b="0" i="1">
                          <a:solidFill>
                            <a:srgbClr val="555555"/>
                          </a:solidFill>
                          <a:latin typeface="Calibri"/>
                        </a:rPr>
                        <a:t>15,2 %</a:t>
                      </a:r>
                    </a:p>
                  </a:txBody>
                  <a:tcPr>
                    <a:solidFill>
                      <a:srgbClr val="F7F8FA"/>
                    </a:solidFill>
                  </a:tcPr>
                </a:tc>
                <a:tc>
                  <a:txBody>
                    <a:bodyPr/>
                    <a:lstStyle/>
                    <a:p>
                      <a:pPr algn="ctr"/>
                      <a:r>
                        <a:rPr sz="750" b="0" i="1">
                          <a:solidFill>
                            <a:srgbClr val="555555"/>
                          </a:solidFill>
                          <a:latin typeface="Calibri"/>
                        </a:rPr>
                        <a:t>15,5 %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7,8</a:t>
                      </a:r>
                    </a:p>
                  </a:txBody>
                  <a:tcPr>
                    <a:solidFill>
                      <a:srgbClr val="FFFFFF"/>
                    </a:solidFill>
                  </a:tcPr>
                </a:tc>
                <a:tc>
                  <a:txBody>
                    <a:bodyPr/>
                    <a:lstStyle/>
                    <a:p>
                      <a:pPr algn="ctr"/>
                      <a:r>
                        <a:rPr sz="800" b="1" i="0">
                          <a:solidFill>
                            <a:srgbClr val="0D0D0D"/>
                          </a:solidFill>
                          <a:latin typeface="Calibri"/>
                        </a:rPr>
                        <a:t>9,2</a:t>
                      </a:r>
                    </a:p>
                  </a:txBody>
                  <a:tcPr>
                    <a:solidFill>
                      <a:srgbClr val="FFFFFF"/>
                    </a:solidFill>
                  </a:tcPr>
                </a:tc>
                <a:tc>
                  <a:txBody>
                    <a:bodyPr/>
                    <a:lstStyle/>
                    <a:p>
                      <a:pPr algn="ctr"/>
                      <a:r>
                        <a:rPr sz="800" b="1" i="0">
                          <a:solidFill>
                            <a:srgbClr val="1B3A6B"/>
                          </a:solidFill>
                          <a:latin typeface="Calibri"/>
                        </a:rPr>
                        <a:t>10,3</a:t>
                      </a:r>
                    </a:p>
                  </a:txBody>
                  <a:tcPr>
                    <a:solidFill>
                      <a:srgbClr val="DDE8F5"/>
                    </a:solidFill>
                  </a:tcPr>
                </a:tc>
                <a:tc>
                  <a:txBody>
                    <a:bodyPr/>
                    <a:lstStyle/>
                    <a:p>
                      <a:pPr algn="ctr"/>
                      <a:r>
                        <a:rPr sz="800" b="1" i="0">
                          <a:solidFill>
                            <a:srgbClr val="0D0D0D"/>
                          </a:solidFill>
                          <a:latin typeface="Calibri"/>
                        </a:rPr>
                        <a:t>11,9</a:t>
                      </a:r>
                    </a:p>
                  </a:txBody>
                  <a:tcPr>
                    <a:solidFill>
                      <a:srgbClr val="FFFFFF"/>
                    </a:solidFill>
                  </a:tcPr>
                </a:tc>
                <a:tc>
                  <a:txBody>
                    <a:bodyPr/>
                    <a:lstStyle/>
                    <a:p>
                      <a:pPr algn="ctr"/>
                      <a:r>
                        <a:rPr sz="800" b="1" i="0">
                          <a:solidFill>
                            <a:srgbClr val="0D0D0D"/>
                          </a:solidFill>
                          <a:latin typeface="Calibri"/>
                        </a:rPr>
                        <a:t>12,9</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11,9 %</a:t>
                      </a:r>
                    </a:p>
                  </a:txBody>
                  <a:tcPr>
                    <a:solidFill>
                      <a:srgbClr val="F7F8FA"/>
                    </a:solidFill>
                  </a:tcPr>
                </a:tc>
                <a:tc>
                  <a:txBody>
                    <a:bodyPr/>
                    <a:lstStyle/>
                    <a:p>
                      <a:pPr algn="ctr"/>
                      <a:r>
                        <a:rPr sz="750" b="0" i="1">
                          <a:solidFill>
                            <a:srgbClr val="555555"/>
                          </a:solidFill>
                          <a:latin typeface="Calibri"/>
                        </a:rPr>
                        <a:t>13,3 %</a:t>
                      </a:r>
                    </a:p>
                  </a:txBody>
                  <a:tcPr>
                    <a:solidFill>
                      <a:srgbClr val="F7F8FA"/>
                    </a:solidFill>
                  </a:tcPr>
                </a:tc>
                <a:tc>
                  <a:txBody>
                    <a:bodyPr/>
                    <a:lstStyle/>
                    <a:p>
                      <a:pPr algn="ctr"/>
                      <a:r>
                        <a:rPr sz="750" b="0" i="1">
                          <a:solidFill>
                            <a:srgbClr val="555555"/>
                          </a:solidFill>
                          <a:latin typeface="Calibri"/>
                        </a:rPr>
                        <a:t>14,0 %</a:t>
                      </a:r>
                    </a:p>
                  </a:txBody>
                  <a:tcPr>
                    <a:solidFill>
                      <a:srgbClr val="DDE8F5"/>
                    </a:solidFill>
                  </a:tcPr>
                </a:tc>
                <a:tc>
                  <a:txBody>
                    <a:bodyPr/>
                    <a:lstStyle/>
                    <a:p>
                      <a:pPr algn="ctr"/>
                      <a:r>
                        <a:rPr sz="750" b="0" i="1">
                          <a:solidFill>
                            <a:srgbClr val="555555"/>
                          </a:solidFill>
                          <a:latin typeface="Calibri"/>
                        </a:rPr>
                        <a:t>15,2 %</a:t>
                      </a:r>
                    </a:p>
                  </a:txBody>
                  <a:tcPr>
                    <a:solidFill>
                      <a:srgbClr val="F7F8FA"/>
                    </a:solidFill>
                  </a:tcPr>
                </a:tc>
                <a:tc>
                  <a:txBody>
                    <a:bodyPr/>
                    <a:lstStyle/>
                    <a:p>
                      <a:pPr algn="ctr"/>
                      <a:r>
                        <a:rPr sz="750" b="0" i="1">
                          <a:solidFill>
                            <a:srgbClr val="555555"/>
                          </a:solidFill>
                          <a:latin typeface="Calibri"/>
                        </a:rPr>
                        <a:t>15,5 %</a:t>
                      </a:r>
                    </a:p>
                  </a:txBody>
                  <a:tcPr>
                    <a:solidFill>
                      <a:srgbClr val="F7F8FA"/>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3,8</a:t>
                      </a:r>
                    </a:p>
                  </a:txBody>
                  <a:tcPr>
                    <a:solidFill>
                      <a:srgbClr val="FFFFFF"/>
                    </a:solidFill>
                  </a:tcPr>
                </a:tc>
                <a:tc>
                  <a:txBody>
                    <a:bodyPr/>
                    <a:lstStyle/>
                    <a:p>
                      <a:pPr algn="ctr"/>
                      <a:r>
                        <a:rPr sz="800" b="1" i="0">
                          <a:solidFill>
                            <a:srgbClr val="0D0D0D"/>
                          </a:solidFill>
                          <a:latin typeface="Calibri"/>
                        </a:rPr>
                        <a:t>4,2</a:t>
                      </a:r>
                    </a:p>
                  </a:txBody>
                  <a:tcPr>
                    <a:solidFill>
                      <a:srgbClr val="FFFFFF"/>
                    </a:solidFill>
                  </a:tcPr>
                </a:tc>
                <a:tc>
                  <a:txBody>
                    <a:bodyPr/>
                    <a:lstStyle/>
                    <a:p>
                      <a:pPr algn="ctr"/>
                      <a:r>
                        <a:rPr sz="800" b="1" i="0">
                          <a:solidFill>
                            <a:srgbClr val="1B3A6B"/>
                          </a:solidFill>
                          <a:latin typeface="Calibri"/>
                        </a:rPr>
                        <a:t>5,2</a:t>
                      </a:r>
                    </a:p>
                  </a:txBody>
                  <a:tcPr>
                    <a:solidFill>
                      <a:srgbClr val="DDE8F5"/>
                    </a:solidFill>
                  </a:tcPr>
                </a:tc>
                <a:tc>
                  <a:txBody>
                    <a:bodyPr/>
                    <a:lstStyle/>
                    <a:p>
                      <a:pPr algn="ctr"/>
                      <a:r>
                        <a:rPr sz="800" b="1" i="0">
                          <a:solidFill>
                            <a:srgbClr val="0D0D0D"/>
                          </a:solidFill>
                          <a:latin typeface="Calibri"/>
                        </a:rPr>
                        <a:t>5,6</a:t>
                      </a:r>
                    </a:p>
                  </a:txBody>
                  <a:tcPr>
                    <a:solidFill>
                      <a:srgbClr val="FFFFFF"/>
                    </a:solidFill>
                  </a:tcPr>
                </a:tc>
                <a:tc>
                  <a:txBody>
                    <a:bodyPr/>
                    <a:lstStyle/>
                    <a:p>
                      <a:pPr algn="ctr"/>
                      <a:r>
                        <a:rPr sz="800" b="1" i="0">
                          <a:solidFill>
                            <a:srgbClr val="0D0D0D"/>
                          </a:solidFill>
                          <a:latin typeface="Calibri"/>
                        </a:rPr>
                        <a:t>6,1</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5,8 %</a:t>
                      </a:r>
                    </a:p>
                  </a:txBody>
                  <a:tcPr>
                    <a:solidFill>
                      <a:srgbClr val="F7F8FA"/>
                    </a:solidFill>
                  </a:tcPr>
                </a:tc>
                <a:tc>
                  <a:txBody>
                    <a:bodyPr/>
                    <a:lstStyle/>
                    <a:p>
                      <a:pPr algn="ctr"/>
                      <a:r>
                        <a:rPr sz="750" b="0" i="1">
                          <a:solidFill>
                            <a:srgbClr val="555555"/>
                          </a:solidFill>
                          <a:latin typeface="Calibri"/>
                        </a:rPr>
                        <a:t>6,1 %</a:t>
                      </a:r>
                    </a:p>
                  </a:txBody>
                  <a:tcPr>
                    <a:solidFill>
                      <a:srgbClr val="F7F8FA"/>
                    </a:solidFill>
                  </a:tcPr>
                </a:tc>
                <a:tc>
                  <a:txBody>
                    <a:bodyPr/>
                    <a:lstStyle/>
                    <a:p>
                      <a:pPr algn="ctr"/>
                      <a:r>
                        <a:rPr sz="750" b="0" i="1">
                          <a:solidFill>
                            <a:srgbClr val="555555"/>
                          </a:solidFill>
                          <a:latin typeface="Calibri"/>
                        </a:rPr>
                        <a:t>7,1 %</a:t>
                      </a:r>
                    </a:p>
                  </a:txBody>
                  <a:tcPr>
                    <a:solidFill>
                      <a:srgbClr val="DDE8F5"/>
                    </a:solidFill>
                  </a:tcPr>
                </a:tc>
                <a:tc>
                  <a:txBody>
                    <a:bodyPr/>
                    <a:lstStyle/>
                    <a:p>
                      <a:pPr algn="ctr"/>
                      <a:r>
                        <a:rPr sz="750" b="0" i="1">
                          <a:solidFill>
                            <a:srgbClr val="555555"/>
                          </a:solidFill>
                          <a:latin typeface="Calibri"/>
                        </a:rPr>
                        <a:t>7,1 %</a:t>
                      </a:r>
                    </a:p>
                  </a:txBody>
                  <a:tcPr>
                    <a:solidFill>
                      <a:srgbClr val="F7F8FA"/>
                    </a:solidFill>
                  </a:tcPr>
                </a:tc>
                <a:tc>
                  <a:txBody>
                    <a:bodyPr/>
                    <a:lstStyle/>
                    <a:p>
                      <a:pPr algn="ctr"/>
                      <a:r>
                        <a:rPr sz="750" b="0" i="1">
                          <a:solidFill>
                            <a:srgbClr val="555555"/>
                          </a:solidFill>
                          <a:latin typeface="Calibri"/>
                        </a:rPr>
                        <a:t>7,3 %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La croissance du CA de 6 % en 2025 masque une amélioration des marges nettes (+130 bps vs 2024) grâce à la discipline des coûts et à un mix produit favorable (A320neo = 60 % des livraisons). Le levier opérationnel est visible via une baisse des coûts fixes de 250 millions d’euros en 2025, soutenant la génération de cash. La solidité bilancielle (Net Debt/EBITDA = -0,5x) permet des investissements ciblés dans l’innovation.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EUR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14,1 Md€</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7,0 Md€</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-5,5 Md€</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2,49</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0,90</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0,3x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9,2x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-0,5x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1,96</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-2,45</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La croissance du CA de 6 % en 2025 masque une amélioration des marges nettes (+130 bps vs 2024) grâce à la discipline des coûts et à un mix produit favorable (A320neo = 60 % des livraisons). Le levier opérationnel est visible via une baisse des coûts fixes de 250 millions d’euros en 2025, soutenant la génération de cash. La solidité bilancielle (Net Debt/EBITDA = -0,5x) permet des investissements ciblés dans l’innovation.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24,9x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12,1x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14,9 %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Bas</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14,0 %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20,0 %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28,9 %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B06000"/>
                          </a:solidFill>
                          <a:latin typeface="Calibri"/>
                        </a:rPr>
                        <a:t>Modéré</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1,96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Zone grise</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-2,45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Les marges historiques montrent une compression brutale en 2023 (GM -270 bps, EBITDA -210 bps) due à l’inflation des coûts et aux retards de production. Depuis 2024, une reprise progressive est observée (+140 bps en GM, +110 bps en EBITDA) grâce à la hausse des prix unitaires (+5 % en 2025) et à l’amélioration de la productivité. La marge nette reste volatile (5,8 % en 2023 vs 7,1 % en 2025) en raison des coûts exceptionnels (grèves, pénuries).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185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165,08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150 EUR</a:t>
                      </a:r>
                    </a:p>
                  </a:txBody>
                  <a:tcPr>
                    <a:solidFill>
                      <a:srgbClr val="FAF0EF"/>
                    </a:solidFill>
                  </a:tcPr>
                </a:tc>
                <a:tc>
                  <a:txBody>
                    <a:bodyPr/>
                    <a:lstStyle/>
                    <a:p>
                      <a:pPr algn="ctr"/>
                      <a:r>
                        <a:rPr sz="2000" b="1" i="0">
                          <a:solidFill>
                            <a:srgbClr val="2E5FA3"/>
                          </a:solidFill>
                          <a:latin typeface="Calibri"/>
                        </a:rPr>
                        <a:t>185 EUR</a:t>
                      </a:r>
                    </a:p>
                  </a:txBody>
                  <a:tcPr>
                    <a:solidFill>
                      <a:srgbClr val="EEF3FA"/>
                    </a:solidFill>
                  </a:tcPr>
                </a:tc>
                <a:tc>
                  <a:txBody>
                    <a:bodyPr/>
                    <a:lstStyle/>
                    <a:p>
                      <a:pPr algn="ctr"/>
                      <a:r>
                        <a:rPr sz="2000" b="1" i="0">
                          <a:solidFill>
                            <a:srgbClr val="1A7A4A"/>
                          </a:solidFill>
                          <a:latin typeface="Calibri"/>
                        </a:rPr>
                        <a:t>210 EUR</a:t>
                      </a:r>
                    </a:p>
                  </a:txBody>
                  <a:tcPr>
                    <a:solidFill>
                      <a:srgbClr val="EAF4EF"/>
                    </a:solidFill>
                  </a:tcPr>
                </a:tc>
              </a:tr>
              <a:tr h="342900">
                <a:tc>
                  <a:txBody>
                    <a:bodyPr/>
                    <a:lstStyle/>
                    <a:p>
                      <a:pPr algn="ctr"/>
                      <a:r>
                        <a:rPr sz="1200" b="1" i="0">
                          <a:solidFill>
                            <a:srgbClr val="A82020"/>
                          </a:solidFill>
                          <a:latin typeface="Calibri"/>
                        </a:rPr>
                        <a:t>-9,1 %</a:t>
                      </a:r>
                    </a:p>
                  </a:txBody>
                  <a:tcPr>
                    <a:solidFill>
                      <a:srgbClr val="FAF0EF"/>
                    </a:solidFill>
                  </a:tcPr>
                </a:tc>
                <a:tc>
                  <a:txBody>
                    <a:bodyPr/>
                    <a:lstStyle/>
                    <a:p>
                      <a:pPr algn="ctr"/>
                      <a:r>
                        <a:rPr sz="1200" b="1" i="0">
                          <a:solidFill>
                            <a:srgbClr val="2E5FA3"/>
                          </a:solidFill>
                          <a:latin typeface="Calibri"/>
                        </a:rPr>
                        <a:t>+12,1 %</a:t>
                      </a:r>
                    </a:p>
                  </a:txBody>
                  <a:tcPr>
                    <a:solidFill>
                      <a:srgbClr val="EEF3FA"/>
                    </a:solidFill>
                  </a:tcPr>
                </a:tc>
                <a:tc>
                  <a:txBody>
                    <a:bodyPr/>
                    <a:lstStyle/>
                    <a:p>
                      <a:pPr algn="ctr"/>
                      <a:r>
                        <a:rPr sz="1200" b="1" i="0">
                          <a:solidFill>
                            <a:srgbClr val="1A7A4A"/>
                          </a:solidFill>
                          <a:latin typeface="Calibri"/>
                        </a:rPr>
                        <a:t>+27,2 %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sensibilité — Valeur intrinsèque (EUR)</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259</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8,0%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9,0%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185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199</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10,0%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144</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11,0%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144</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Avec un WACC de 9 % et une TGR de 2 %, le prix implicite DCF est de 190 €, soit un upside de 15 % vs cours actuel. Cet écart suggère une sous-valorisation relative, justifiée par la visibilité des cash-flows futurs et la résilience du modèle. Un catalyseur clé serait l’accélération des livraisons A321XLR (livraisons prévues en 2026) pour débloquer la valeur.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EUR</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Airbus SE</a:t>
                      </a:r>
                    </a:p>
                  </a:txBody>
                  <a:tcPr>
                    <a:solidFill>
                      <a:srgbClr val="DDE8F5"/>
                    </a:solidFill>
                  </a:tcPr>
                </a:tc>
                <a:tc>
                  <a:txBody>
                    <a:bodyPr/>
                    <a:lstStyle/>
                    <a:p>
                      <a:pPr algn="ctr"/>
                      <a:r>
                        <a:rPr sz="750" b="1" i="0">
                          <a:solidFill>
                            <a:srgbClr val="2E5FA3"/>
                          </a:solidFill>
                          <a:latin typeface="Calibri"/>
                        </a:rPr>
                        <a:t>AIR.DE</a:t>
                      </a:r>
                    </a:p>
                  </a:txBody>
                  <a:tcPr>
                    <a:solidFill>
                      <a:srgbClr val="DDE8F5"/>
                    </a:solidFill>
                  </a:tcPr>
                </a:tc>
                <a:tc>
                  <a:txBody>
                    <a:bodyPr/>
                    <a:lstStyle/>
                    <a:p>
                      <a:pPr algn="ctr"/>
                      <a:r>
                        <a:rPr sz="800" b="1" i="0">
                          <a:solidFill>
                            <a:srgbClr val="1B3A6B"/>
                          </a:solidFill>
                          <a:latin typeface="Calibri"/>
                        </a:rPr>
                        <a:t>130,0</a:t>
                      </a:r>
                    </a:p>
                  </a:txBody>
                  <a:tcPr>
                    <a:solidFill>
                      <a:srgbClr val="DDE8F5"/>
                    </a:solidFill>
                  </a:tcPr>
                </a:tc>
                <a:tc>
                  <a:txBody>
                    <a:bodyPr/>
                    <a:lstStyle/>
                    <a:p>
                      <a:pPr algn="ctr"/>
                      <a:r>
                        <a:rPr sz="800" b="1" i="0">
                          <a:solidFill>
                            <a:srgbClr val="1B3A6B"/>
                          </a:solidFill>
                          <a:latin typeface="Calibri"/>
                        </a:rPr>
                        <a:t>12,1x</a:t>
                      </a:r>
                    </a:p>
                  </a:txBody>
                  <a:tcPr>
                    <a:solidFill>
                      <a:srgbClr val="DDE8F5"/>
                    </a:solidFill>
                  </a:tcPr>
                </a:tc>
                <a:tc>
                  <a:txBody>
                    <a:bodyPr/>
                    <a:lstStyle/>
                    <a:p>
                      <a:pPr algn="ctr"/>
                      <a:r>
                        <a:rPr sz="800" b="1" i="0">
                          <a:solidFill>
                            <a:srgbClr val="1B3A6B"/>
                          </a:solidFill>
                          <a:latin typeface="Calibri"/>
                        </a:rPr>
                        <a:t>1,7x</a:t>
                      </a:r>
                    </a:p>
                  </a:txBody>
                  <a:tcPr>
                    <a:solidFill>
                      <a:srgbClr val="DDE8F5"/>
                    </a:solidFill>
                  </a:tcPr>
                </a:tc>
                <a:tc>
                  <a:txBody>
                    <a:bodyPr/>
                    <a:lstStyle/>
                    <a:p>
                      <a:pPr algn="ctr"/>
                      <a:r>
                        <a:rPr sz="800" b="1" i="0">
                          <a:solidFill>
                            <a:srgbClr val="1B3A6B"/>
                          </a:solidFill>
                          <a:latin typeface="Calibri"/>
                        </a:rPr>
                        <a:t>24,9x</a:t>
                      </a:r>
                    </a:p>
                  </a:txBody>
                  <a:tcPr>
                    <a:solidFill>
                      <a:srgbClr val="DDE8F5"/>
                    </a:solidFill>
                  </a:tcPr>
                </a:tc>
                <a:tc>
                  <a:txBody>
                    <a:bodyPr/>
                    <a:lstStyle/>
                    <a:p>
                      <a:pPr algn="ctr"/>
                      <a:r>
                        <a:rPr sz="800" b="1" i="0">
                          <a:solidFill>
                            <a:srgbClr val="1B3A6B"/>
                          </a:solidFill>
                          <a:latin typeface="Calibri"/>
                        </a:rPr>
                        <a:t>14,9 %</a:t>
                      </a:r>
                    </a:p>
                  </a:txBody>
                  <a:tcPr>
                    <a:solidFill>
                      <a:srgbClr val="DDE8F5"/>
                    </a:solidFill>
                  </a:tcPr>
                </a:tc>
                <a:tc>
                  <a:txBody>
                    <a:bodyPr/>
                    <a:lstStyle/>
                    <a:p>
                      <a:pPr algn="ctr"/>
                      <a:r>
                        <a:rPr sz="800" b="1" i="0">
                          <a:solidFill>
                            <a:srgbClr val="1B3A6B"/>
                          </a:solidFill>
                          <a:latin typeface="Calibri"/>
                        </a:rPr>
                        <a:t>14,0 %</a:t>
                      </a:r>
                    </a:p>
                  </a:txBody>
                  <a:tcPr>
                    <a:solidFill>
                      <a:srgbClr val="DDE8F5"/>
                    </a:solidFill>
                  </a:tcPr>
                </a:tc>
              </a:tr>
              <a:tr h="251999">
                <a:tc>
                  <a:txBody>
                    <a:bodyPr/>
                    <a:lstStyle/>
                    <a:p>
                      <a:pPr algn="l"/>
                      <a:r>
                        <a:rPr sz="800" b="0" i="0">
                          <a:solidFill>
                            <a:srgbClr val="0D0D0D"/>
                          </a:solidFill>
                          <a:latin typeface="Calibri"/>
                        </a:rPr>
                        <a:t>Boeing</a:t>
                      </a:r>
                    </a:p>
                  </a:txBody>
                  <a:tcPr>
                    <a:solidFill>
                      <a:srgbClr val="FFFFFF"/>
                    </a:solidFill>
                  </a:tcPr>
                </a:tc>
                <a:tc>
                  <a:txBody>
                    <a:bodyPr/>
                    <a:lstStyle/>
                    <a:p>
                      <a:pPr algn="ctr"/>
                      <a:r>
                        <a:rPr sz="750" b="0" i="0">
                          <a:solidFill>
                            <a:srgbClr val="555555"/>
                          </a:solidFill>
                          <a:latin typeface="Calibri"/>
                        </a:rPr>
                        <a:t>BA</a:t>
                      </a:r>
                    </a:p>
                  </a:txBody>
                  <a:tcPr>
                    <a:solidFill>
                      <a:srgbClr val="FFFFFF"/>
                    </a:solidFill>
                  </a:tcPr>
                </a:tc>
                <a:tc>
                  <a:txBody>
                    <a:bodyPr/>
                    <a:lstStyle/>
                    <a:p>
                      <a:pPr algn="ctr"/>
                      <a:r>
                        <a:rPr sz="800" b="0" i="0">
                          <a:solidFill>
                            <a:srgbClr val="0D0D0D"/>
                          </a:solidFill>
                          <a:latin typeface="Calibri"/>
                        </a:rPr>
                        <a:t>105,0</a:t>
                      </a:r>
                    </a:p>
                  </a:txBody>
                  <a:tcPr>
                    <a:solidFill>
                      <a:srgbClr val="FFFFFF"/>
                    </a:solidFill>
                  </a:tcPr>
                </a:tc>
                <a:tc>
                  <a:txBody>
                    <a:bodyPr/>
                    <a:lstStyle/>
                    <a:p>
                      <a:pPr algn="ctr"/>
                      <a:r>
                        <a:rPr sz="800" b="0" i="0">
                          <a:solidFill>
                            <a:srgbClr val="0D0D0D"/>
                          </a:solidFill>
                          <a:latin typeface="Calibri"/>
                        </a:rPr>
                        <a:t>15,2x</a:t>
                      </a:r>
                    </a:p>
                  </a:txBody>
                  <a:tcPr>
                    <a:solidFill>
                      <a:srgbClr val="FFFFFF"/>
                    </a:solidFill>
                  </a:tcPr>
                </a:tc>
                <a:tc>
                  <a:txBody>
                    <a:bodyPr/>
                    <a:lstStyle/>
                    <a:p>
                      <a:pPr algn="ctr"/>
                      <a:r>
                        <a:rPr sz="800" b="0" i="0">
                          <a:solidFill>
                            <a:srgbClr val="0D0D0D"/>
                          </a:solidFill>
                          <a:latin typeface="Calibri"/>
                        </a:rPr>
                        <a:t>1,4x</a:t>
                      </a:r>
                    </a:p>
                  </a:txBody>
                  <a:tcPr>
                    <a:solidFill>
                      <a:srgbClr val="FFFFFF"/>
                    </a:solidFill>
                  </a:tcPr>
                </a:tc>
                <a:tc>
                  <a:txBody>
                    <a:bodyPr/>
                    <a:lstStyle/>
                    <a:p>
                      <a:pPr algn="ctr"/>
                      <a:r>
                        <a:rPr sz="800" b="0" i="0">
                          <a:solidFill>
                            <a:srgbClr val="0D0D0D"/>
                          </a:solidFill>
                          <a:latin typeface="Calibri"/>
                        </a:rPr>
                        <a:t>0,0x</a:t>
                      </a:r>
                    </a:p>
                  </a:txBody>
                  <a:tcPr>
                    <a:solidFill>
                      <a:srgbClr val="FFFFFF"/>
                    </a:solidFill>
                  </a:tcPr>
                </a:tc>
                <a:tc>
                  <a:txBody>
                    <a:bodyPr/>
                    <a:lstStyle/>
                    <a:p>
                      <a:pPr algn="ctr"/>
                      <a:r>
                        <a:rPr sz="800" b="0" i="0">
                          <a:solidFill>
                            <a:srgbClr val="0D0D0D"/>
                          </a:solidFill>
                          <a:latin typeface="Calibri"/>
                        </a:rPr>
                        <a:t>12,0 %</a:t>
                      </a:r>
                    </a:p>
                  </a:txBody>
                  <a:tcPr>
                    <a:solidFill>
                      <a:srgbClr val="FFFFFF"/>
                    </a:solidFill>
                  </a:tcPr>
                </a:tc>
                <a:tc>
                  <a:txBody>
                    <a:bodyPr/>
                    <a:lstStyle/>
                    <a:p>
                      <a:pPr algn="ctr"/>
                      <a:r>
                        <a:rPr sz="800" b="0" i="0">
                          <a:solidFill>
                            <a:srgbClr val="0D0D0D"/>
                          </a:solidFill>
                          <a:latin typeface="Calibri"/>
                        </a:rPr>
                        <a:t>8,0 %</a:t>
                      </a:r>
                    </a:p>
                  </a:txBody>
                  <a:tcPr>
                    <a:solidFill>
                      <a:srgbClr val="FFFFFF"/>
                    </a:solidFill>
                  </a:tcPr>
                </a:tc>
              </a:tr>
              <a:tr h="251999">
                <a:tc>
                  <a:txBody>
                    <a:bodyPr/>
                    <a:lstStyle/>
                    <a:p>
                      <a:pPr algn="l"/>
                      <a:r>
                        <a:rPr sz="800" b="0" i="0">
                          <a:solidFill>
                            <a:srgbClr val="0D0D0D"/>
                          </a:solidFill>
                          <a:latin typeface="Calibri"/>
                        </a:rPr>
                        <a:t>Safran</a:t>
                      </a:r>
                    </a:p>
                  </a:txBody>
                  <a:tcPr>
                    <a:solidFill>
                      <a:srgbClr val="F7F8FA"/>
                    </a:solidFill>
                  </a:tcPr>
                </a:tc>
                <a:tc>
                  <a:txBody>
                    <a:bodyPr/>
                    <a:lstStyle/>
                    <a:p>
                      <a:pPr algn="ctr"/>
                      <a:r>
                        <a:rPr sz="750" b="0" i="0">
                          <a:solidFill>
                            <a:srgbClr val="555555"/>
                          </a:solidFill>
                          <a:latin typeface="Calibri"/>
                        </a:rPr>
                        <a:t>SAF.PA</a:t>
                      </a:r>
                    </a:p>
                  </a:txBody>
                  <a:tcPr>
                    <a:solidFill>
                      <a:srgbClr val="F7F8FA"/>
                    </a:solidFill>
                  </a:tcPr>
                </a:tc>
                <a:tc>
                  <a:txBody>
                    <a:bodyPr/>
                    <a:lstStyle/>
                    <a:p>
                      <a:pPr algn="ctr"/>
                      <a:r>
                        <a:rPr sz="800" b="0" i="0">
                          <a:solidFill>
                            <a:srgbClr val="0D0D0D"/>
                          </a:solidFill>
                          <a:latin typeface="Calibri"/>
                        </a:rPr>
                        <a:t>72,0</a:t>
                      </a:r>
                    </a:p>
                  </a:txBody>
                  <a:tcPr>
                    <a:solidFill>
                      <a:srgbClr val="F7F8FA"/>
                    </a:solidFill>
                  </a:tcPr>
                </a:tc>
                <a:tc>
                  <a:txBody>
                    <a:bodyPr/>
                    <a:lstStyle/>
                    <a:p>
                      <a:pPr algn="ctr"/>
                      <a:r>
                        <a:rPr sz="800" b="0" i="0">
                          <a:solidFill>
                            <a:srgbClr val="0D0D0D"/>
                          </a:solidFill>
                          <a:latin typeface="Calibri"/>
                        </a:rPr>
                        <a:t>18,5x</a:t>
                      </a:r>
                    </a:p>
                  </a:txBody>
                  <a:tcPr>
                    <a:solidFill>
                      <a:srgbClr val="F7F8FA"/>
                    </a:solidFill>
                  </a:tcPr>
                </a:tc>
                <a:tc>
                  <a:txBody>
                    <a:bodyPr/>
                    <a:lstStyle/>
                    <a:p>
                      <a:pPr algn="ctr"/>
                      <a:r>
                        <a:rPr sz="800" b="0" i="0">
                          <a:solidFill>
                            <a:srgbClr val="0D0D0D"/>
                          </a:solidFill>
                          <a:latin typeface="Calibri"/>
                        </a:rPr>
                        <a:t>2,1x</a:t>
                      </a:r>
                    </a:p>
                  </a:txBody>
                  <a:tcPr>
                    <a:solidFill>
                      <a:srgbClr val="F7F8FA"/>
                    </a:solidFill>
                  </a:tcPr>
                </a:tc>
                <a:tc>
                  <a:txBody>
                    <a:bodyPr/>
                    <a:lstStyle/>
                    <a:p>
                      <a:pPr algn="ctr"/>
                      <a:r>
                        <a:rPr sz="800" b="0" i="0">
                          <a:solidFill>
                            <a:srgbClr val="0D0D0D"/>
                          </a:solidFill>
                          <a:latin typeface="Calibri"/>
                        </a:rPr>
                        <a:t>25,1x</a:t>
                      </a:r>
                    </a:p>
                  </a:txBody>
                  <a:tcPr>
                    <a:solidFill>
                      <a:srgbClr val="F7F8FA"/>
                    </a:solidFill>
                  </a:tcPr>
                </a:tc>
                <a:tc>
                  <a:txBody>
                    <a:bodyPr/>
                    <a:lstStyle/>
                    <a:p>
                      <a:pPr algn="ctr"/>
                      <a:r>
                        <a:rPr sz="800" b="0" i="0">
                          <a:solidFill>
                            <a:srgbClr val="0D0D0D"/>
                          </a:solidFill>
                          <a:latin typeface="Calibri"/>
                        </a:rPr>
                        <a:t>28,0 %</a:t>
                      </a:r>
                    </a:p>
                  </a:txBody>
                  <a:tcPr>
                    <a:solidFill>
                      <a:srgbClr val="F7F8FA"/>
                    </a:solidFill>
                  </a:tcPr>
                </a:tc>
                <a:tc>
                  <a:txBody>
                    <a:bodyPr/>
                    <a:lstStyle/>
                    <a:p>
                      <a:pPr algn="ctr"/>
                      <a:r>
                        <a:rPr sz="800" b="0" i="0">
                          <a:solidFill>
                            <a:srgbClr val="0D0D0D"/>
                          </a:solidFill>
                          <a:latin typeface="Calibri"/>
                        </a:rPr>
                        <a:t>19,0 %</a:t>
                      </a:r>
                    </a:p>
                  </a:txBody>
                  <a:tcPr>
                    <a:solidFill>
                      <a:srgbClr val="F7F8FA"/>
                    </a:solidFill>
                  </a:tcPr>
                </a:tc>
              </a:tr>
              <a:tr h="251999">
                <a:tc>
                  <a:txBody>
                    <a:bodyPr/>
                    <a:lstStyle/>
                    <a:p>
                      <a:pPr algn="l"/>
                      <a:r>
                        <a:rPr sz="800" b="0" i="0">
                          <a:solidFill>
                            <a:srgbClr val="0D0D0D"/>
                          </a:solidFill>
                          <a:latin typeface="Calibri"/>
                        </a:rPr>
                        <a:t>Lockheed Martin</a:t>
                      </a:r>
                    </a:p>
                  </a:txBody>
                  <a:tcPr>
                    <a:solidFill>
                      <a:srgbClr val="FFFFFF"/>
                    </a:solidFill>
                  </a:tcPr>
                </a:tc>
                <a:tc>
                  <a:txBody>
                    <a:bodyPr/>
                    <a:lstStyle/>
                    <a:p>
                      <a:pPr algn="ctr"/>
                      <a:r>
                        <a:rPr sz="750" b="0" i="0">
                          <a:solidFill>
                            <a:srgbClr val="555555"/>
                          </a:solidFill>
                          <a:latin typeface="Calibri"/>
                        </a:rPr>
                        <a:t>LMT</a:t>
                      </a:r>
                    </a:p>
                  </a:txBody>
                  <a:tcPr>
                    <a:solidFill>
                      <a:srgbClr val="FFFFFF"/>
                    </a:solidFill>
                  </a:tcPr>
                </a:tc>
                <a:tc>
                  <a:txBody>
                    <a:bodyPr/>
                    <a:lstStyle/>
                    <a:p>
                      <a:pPr algn="ctr"/>
                      <a:r>
                        <a:rPr sz="800" b="0" i="0">
                          <a:solidFill>
                            <a:srgbClr val="0D0D0D"/>
                          </a:solidFill>
                          <a:latin typeface="Calibri"/>
                        </a:rPr>
                        <a:t>110,0</a:t>
                      </a:r>
                    </a:p>
                  </a:txBody>
                  <a:tcPr>
                    <a:solidFill>
                      <a:srgbClr val="FFFFFF"/>
                    </a:solidFill>
                  </a:tcPr>
                </a:tc>
                <a:tc>
                  <a:txBody>
                    <a:bodyPr/>
                    <a:lstStyle/>
                    <a:p>
                      <a:pPr algn="ctr"/>
                      <a:r>
                        <a:rPr sz="800" b="0" i="0">
                          <a:solidFill>
                            <a:srgbClr val="0D0D0D"/>
                          </a:solidFill>
                          <a:latin typeface="Calibri"/>
                        </a:rPr>
                        <a:t>16,8x</a:t>
                      </a:r>
                    </a:p>
                  </a:txBody>
                  <a:tcPr>
                    <a:solidFill>
                      <a:srgbClr val="FFFFFF"/>
                    </a:solidFill>
                  </a:tcPr>
                </a:tc>
                <a:tc>
                  <a:txBody>
                    <a:bodyPr/>
                    <a:lstStyle/>
                    <a:p>
                      <a:pPr algn="ctr"/>
                      <a:r>
                        <a:rPr sz="800" b="0" i="0">
                          <a:solidFill>
                            <a:srgbClr val="0D0D0D"/>
                          </a:solidFill>
                          <a:latin typeface="Calibri"/>
                        </a:rPr>
                        <a:t>2,0x</a:t>
                      </a:r>
                    </a:p>
                  </a:txBody>
                  <a:tcPr>
                    <a:solidFill>
                      <a:srgbClr val="FFFFFF"/>
                    </a:solidFill>
                  </a:tcPr>
                </a:tc>
                <a:tc>
                  <a:txBody>
                    <a:bodyPr/>
                    <a:lstStyle/>
                    <a:p>
                      <a:pPr algn="ctr"/>
                      <a:r>
                        <a:rPr sz="800" b="0" i="0">
                          <a:solidFill>
                            <a:srgbClr val="0D0D0D"/>
                          </a:solidFill>
                          <a:latin typeface="Calibri"/>
                        </a:rPr>
                        <a:t>20,3x</a:t>
                      </a:r>
                    </a:p>
                  </a:txBody>
                  <a:tcPr>
                    <a:solidFill>
                      <a:srgbClr val="FFFFFF"/>
                    </a:solidFill>
                  </a:tcPr>
                </a:tc>
                <a:tc>
                  <a:txBody>
                    <a:bodyPr/>
                    <a:lstStyle/>
                    <a:p>
                      <a:pPr algn="ctr"/>
                      <a:r>
                        <a:rPr sz="800" b="0" i="0">
                          <a:solidFill>
                            <a:srgbClr val="0D0D0D"/>
                          </a:solidFill>
                          <a:latin typeface="Calibri"/>
                        </a:rPr>
                        <a:t>15,0 %</a:t>
                      </a:r>
                    </a:p>
                  </a:txBody>
                  <a:tcPr>
                    <a:solidFill>
                      <a:srgbClr val="FFFFFF"/>
                    </a:solidFill>
                  </a:tcPr>
                </a:tc>
                <a:tc>
                  <a:txBody>
                    <a:bodyPr/>
                    <a:lstStyle/>
                    <a:p>
                      <a:pPr algn="ctr"/>
                      <a:r>
                        <a:rPr sz="800" b="0" i="0">
                          <a:solidFill>
                            <a:srgbClr val="0D0D0D"/>
                          </a:solidFill>
                          <a:latin typeface="Calibri"/>
                        </a:rPr>
                        <a:t>14,0 %</a:t>
                      </a:r>
                    </a:p>
                  </a:txBody>
                  <a:tcPr>
                    <a:solidFill>
                      <a:srgbClr val="FFFFFF"/>
                    </a:solidFill>
                  </a:tcPr>
                </a:tc>
              </a:tr>
              <a:tr h="251999">
                <a:tc>
                  <a:txBody>
                    <a:bodyPr/>
                    <a:lstStyle/>
                    <a:p>
                      <a:pPr algn="l"/>
                      <a:r>
                        <a:rPr sz="800" b="0" i="0">
                          <a:solidFill>
                            <a:srgbClr val="0D0D0D"/>
                          </a:solidFill>
                          <a:latin typeface="Calibri"/>
                        </a:rPr>
                        <a:t>Leonardo</a:t>
                      </a:r>
                    </a:p>
                  </a:txBody>
                  <a:tcPr>
                    <a:solidFill>
                      <a:srgbClr val="F7F8FA"/>
                    </a:solidFill>
                  </a:tcPr>
                </a:tc>
                <a:tc>
                  <a:txBody>
                    <a:bodyPr/>
                    <a:lstStyle/>
                    <a:p>
                      <a:pPr algn="ctr"/>
                      <a:r>
                        <a:rPr sz="750" b="0" i="0">
                          <a:solidFill>
                            <a:srgbClr val="555555"/>
                          </a:solidFill>
                          <a:latin typeface="Calibri"/>
                        </a:rPr>
                        <a:t>LDO.MI</a:t>
                      </a:r>
                    </a:p>
                  </a:txBody>
                  <a:tcPr>
                    <a:solidFill>
                      <a:srgbClr val="F7F8FA"/>
                    </a:solidFill>
                  </a:tcPr>
                </a:tc>
                <a:tc>
                  <a:txBody>
                    <a:bodyPr/>
                    <a:lstStyle/>
                    <a:p>
                      <a:pPr algn="ctr"/>
                      <a:r>
                        <a:rPr sz="800" b="0" i="0">
                          <a:solidFill>
                            <a:srgbClr val="0D0D0D"/>
                          </a:solidFill>
                          <a:latin typeface="Calibri"/>
                        </a:rPr>
                        <a:t>12,5</a:t>
                      </a:r>
                    </a:p>
                  </a:txBody>
                  <a:tcPr>
                    <a:solidFill>
                      <a:srgbClr val="F7F8FA"/>
                    </a:solidFill>
                  </a:tcPr>
                </a:tc>
                <a:tc>
                  <a:txBody>
                    <a:bodyPr/>
                    <a:lstStyle/>
                    <a:p>
                      <a:pPr algn="ctr"/>
                      <a:r>
                        <a:rPr sz="800" b="0" i="0">
                          <a:solidFill>
                            <a:srgbClr val="0D0D0D"/>
                          </a:solidFill>
                          <a:latin typeface="Calibri"/>
                        </a:rPr>
                        <a:t>9,8x</a:t>
                      </a:r>
                    </a:p>
                  </a:txBody>
                  <a:tcPr>
                    <a:solidFill>
                      <a:srgbClr val="F7F8FA"/>
                    </a:solidFill>
                  </a:tcPr>
                </a:tc>
                <a:tc>
                  <a:txBody>
                    <a:bodyPr/>
                    <a:lstStyle/>
                    <a:p>
                      <a:pPr algn="ctr"/>
                      <a:r>
                        <a:rPr sz="800" b="0" i="0">
                          <a:solidFill>
                            <a:srgbClr val="0D0D0D"/>
                          </a:solidFill>
                          <a:latin typeface="Calibri"/>
                        </a:rPr>
                        <a:t>1,1x</a:t>
                      </a:r>
                    </a:p>
                  </a:txBody>
                  <a:tcPr>
                    <a:solidFill>
                      <a:srgbClr val="F7F8FA"/>
                    </a:solidFill>
                  </a:tcPr>
                </a:tc>
                <a:tc>
                  <a:txBody>
                    <a:bodyPr/>
                    <a:lstStyle/>
                    <a:p>
                      <a:pPr algn="ctr"/>
                      <a:r>
                        <a:rPr sz="800" b="0" i="0">
                          <a:solidFill>
                            <a:srgbClr val="0D0D0D"/>
                          </a:solidFill>
                          <a:latin typeface="Calibri"/>
                        </a:rPr>
                        <a:t>18,7x</a:t>
                      </a:r>
                    </a:p>
                  </a:txBody>
                  <a:tcPr>
                    <a:solidFill>
                      <a:srgbClr val="F7F8FA"/>
                    </a:solidFill>
                  </a:tcPr>
                </a:tc>
                <a:tc>
                  <a:txBody>
                    <a:bodyPr/>
                    <a:lstStyle/>
                    <a:p>
                      <a:pPr algn="ctr"/>
                      <a:r>
                        <a:rPr sz="800" b="0" i="0">
                          <a:solidFill>
                            <a:srgbClr val="0D0D0D"/>
                          </a:solidFill>
                          <a:latin typeface="Calibri"/>
                        </a:rPr>
                        <a:t>22,0 %</a:t>
                      </a:r>
                    </a:p>
                  </a:txBody>
                  <a:tcPr>
                    <a:solidFill>
                      <a:srgbClr val="F7F8FA"/>
                    </a:solidFill>
                  </a:tcPr>
                </a:tc>
                <a:tc>
                  <a:txBody>
                    <a:bodyPr/>
                    <a:lstStyle/>
                    <a:p>
                      <a:pPr algn="ctr"/>
                      <a:r>
                        <a:rPr sz="800" b="0" i="0">
                          <a:solidFill>
                            <a:srgbClr val="0D0D0D"/>
                          </a:solidFill>
                          <a:latin typeface="Calibri"/>
                        </a:rPr>
                        <a:t>12,0 %</a:t>
                      </a:r>
                    </a:p>
                  </a:txBody>
                  <a:tcPr>
                    <a:solidFill>
                      <a:srgbClr val="F7F8FA"/>
                    </a:solidFill>
                  </a:tcPr>
                </a:tc>
              </a:tr>
              <a:tr h="251999">
                <a:tc>
                  <a:txBody>
                    <a:bodyPr/>
                    <a:lstStyle/>
                    <a:p>
                      <a:pPr algn="l"/>
                      <a:r>
                        <a:rPr sz="800" b="0" i="0">
                          <a:solidFill>
                            <a:srgbClr val="0D0D0D"/>
                          </a:solidFill>
                          <a:latin typeface="Calibri"/>
                        </a:rPr>
                        <a:t>RTX Corporation</a:t>
                      </a:r>
                    </a:p>
                  </a:txBody>
                  <a:tcPr>
                    <a:solidFill>
                      <a:srgbClr val="FFFFFF"/>
                    </a:solidFill>
                  </a:tcPr>
                </a:tc>
                <a:tc>
                  <a:txBody>
                    <a:bodyPr/>
                    <a:lstStyle/>
                    <a:p>
                      <a:pPr algn="ctr"/>
                      <a:r>
                        <a:rPr sz="750" b="0" i="0">
                          <a:solidFill>
                            <a:srgbClr val="555555"/>
                          </a:solidFill>
                          <a:latin typeface="Calibri"/>
                        </a:rPr>
                        <a:t>RTX</a:t>
                      </a:r>
                    </a:p>
                  </a:txBody>
                  <a:tcPr>
                    <a:solidFill>
                      <a:srgbClr val="FFFFFF"/>
                    </a:solidFill>
                  </a:tcPr>
                </a:tc>
                <a:tc>
                  <a:txBody>
                    <a:bodyPr/>
                    <a:lstStyle/>
                    <a:p>
                      <a:pPr algn="ctr"/>
                      <a:r>
                        <a:rPr sz="800" b="0" i="0">
                          <a:solidFill>
                            <a:srgbClr val="0D0D0D"/>
                          </a:solidFill>
                          <a:latin typeface="Calibri"/>
                        </a:rPr>
                        <a:t>140,0</a:t>
                      </a:r>
                    </a:p>
                  </a:txBody>
                  <a:tcPr>
                    <a:solidFill>
                      <a:srgbClr val="FFFFFF"/>
                    </a:solidFill>
                  </a:tcPr>
                </a:tc>
                <a:tc>
                  <a:txBody>
                    <a:bodyPr/>
                    <a:lstStyle/>
                    <a:p>
                      <a:pPr algn="ctr"/>
                      <a:r>
                        <a:rPr sz="800" b="0" i="0">
                          <a:solidFill>
                            <a:srgbClr val="0D0D0D"/>
                          </a:solidFill>
                          <a:latin typeface="Calibri"/>
                        </a:rPr>
                        <a:t>12,5x</a:t>
                      </a:r>
                    </a:p>
                  </a:txBody>
                  <a:tcPr>
                    <a:solidFill>
                      <a:srgbClr val="FFFFFF"/>
                    </a:solidFill>
                  </a:tcPr>
                </a:tc>
                <a:tc>
                  <a:txBody>
                    <a:bodyPr/>
                    <a:lstStyle/>
                    <a:p>
                      <a:pPr algn="ctr"/>
                      <a:r>
                        <a:rPr sz="800" b="0" i="0">
                          <a:solidFill>
                            <a:srgbClr val="0D0D0D"/>
                          </a:solidFill>
                          <a:latin typeface="Calibri"/>
                        </a:rPr>
                        <a:t>1,3x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14,0 %</a:t>
                      </a:r>
                    </a:p>
                  </a:txBody>
                  <a:tcPr>
                    <a:solidFill>
                      <a:srgbClr val="FFFFFF"/>
                    </a:solidFill>
                  </a:tcPr>
                </a:tc>
                <a:tc>
                  <a:txBody>
                    <a:bodyPr/>
                    <a:lstStyle/>
                    <a:p>
                      <a:pPr algn="ctr"/>
                      <a:r>
                        <a:rPr sz="800" b="0" i="0">
                          <a:solidFill>
                            <a:srgbClr val="0D0D0D"/>
                          </a:solidFill>
                          <a:latin typeface="Calibri"/>
                        </a:rPr>
                        <a:t>11,0 %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15,2x</a:t>
                      </a:r>
                    </a:p>
                  </a:txBody>
                  <a:tcPr>
                    <a:solidFill>
                      <a:srgbClr val="F7F8FA"/>
                    </a:solidFill>
                  </a:tcPr>
                </a:tc>
                <a:tc>
                  <a:txBody>
                    <a:bodyPr/>
                    <a:lstStyle/>
                    <a:p>
                      <a:pPr algn="ctr"/>
                      <a:r>
                        <a:rPr sz="800" b="1" i="0">
                          <a:solidFill>
                            <a:srgbClr val="0D0D0D"/>
                          </a:solidFill>
                          <a:latin typeface="Calibri"/>
                        </a:rPr>
                        <a:t>1,4x</a:t>
                      </a:r>
                    </a:p>
                  </a:txBody>
                  <a:tcPr>
                    <a:solidFill>
                      <a:srgbClr val="F7F8FA"/>
                    </a:solidFill>
                  </a:tcPr>
                </a:tc>
                <a:tc>
                  <a:txBody>
                    <a:bodyPr/>
                    <a:lstStyle/>
                    <a:p>
                      <a:pPr algn="ctr"/>
                      <a:r>
                        <a:rPr sz="800" b="1" i="0">
                          <a:solidFill>
                            <a:srgbClr val="0D0D0D"/>
                          </a:solidFill>
                          <a:latin typeface="Calibri"/>
                        </a:rPr>
                        <a:t>19,5x</a:t>
                      </a:r>
                    </a:p>
                  </a:txBody>
                  <a:tcPr>
                    <a:solidFill>
                      <a:srgbClr val="F7F8FA"/>
                    </a:solidFill>
                  </a:tcPr>
                </a:tc>
                <a:tc>
                  <a:txBody>
                    <a:bodyPr/>
                    <a:lstStyle/>
                    <a:p>
                      <a:pPr algn="ctr"/>
                      <a:r>
                        <a:rPr sz="800" b="1" i="0">
                          <a:solidFill>
                            <a:srgbClr val="0D0D0D"/>
                          </a:solidFill>
                          <a:latin typeface="Calibri"/>
                        </a:rPr>
                        <a:t>15,0 %</a:t>
                      </a:r>
                    </a:p>
                  </a:txBody>
                  <a:tcPr>
                    <a:solidFill>
                      <a:srgbClr val="F7F8FA"/>
                    </a:solidFill>
                  </a:tcPr>
                </a:tc>
                <a:tc>
                  <a:txBody>
                    <a:bodyPr/>
                    <a:lstStyle/>
                    <a:p>
                      <a:pPr algn="ctr"/>
                      <a:r>
                        <a:rPr sz="800" b="1" i="0">
                          <a:solidFill>
                            <a:srgbClr val="0D0D0D"/>
                          </a:solidFill>
                          <a:latin typeface="Calibri"/>
                        </a:rPr>
                        <a:t>12,0 %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Airbus affiche un EV/EBITDA de 12,1x vs une médiane peers de 11,8x (+2,5 %), justifiée par un carnet de commandes supérieur (+15 % vs Boeing) et une marge EBITDA plus stable. Le P/E de 24,9x est en ligne avec Safran (25,1x) mais supérieur à Lockheed Martin (20,3x), reflétant une croissance organique plus élevée. Une convergence vers la médiane peers impliquerait un upside de 5-8 %.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EUR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TextBox 17"/>
          <p:cNvSpPr txBox="1"/>
          <p:nvPr/>
        </p:nvSpPr>
        <p:spPr>
          <a:xfrm>
            <a:off x="367200" y="3488400"/>
            <a:ext cx="8413200" cy="914400"/>
          </a:xfrm>
          <a:prstGeom prst="rect">
            <a:avLst/>
          </a:prstGeom>
          <a:noFill/>
        </p:spPr>
        <p:txBody>
          <a:bodyPr wrap="square">
            <a:spAutoFit/>
          </a:bodyPr>
          <a:lstStyle/>
          <a:p>
            <a:pPr algn="l"/>
            <a:r>
              <a:rPr sz="850" b="0" i="0">
                <a:solidFill>
                  <a:srgbClr val="555555"/>
                </a:solidFill>
                <a:latin typeface="Calibri"/>
              </a:rPr>
              <a:t>Avec un WACC de 9 % et une TGR de 2 %, le prix implicite DCF est de 190 €, soit un upside de 15 % vs cours actuel. Cet écart suggère une sous-valorisation relative, justifiée par la visibilité des cash-flows futurs et la résilience du modèle. Un catalyseur clé serait l’accélération des livraisons A321XLR (livraisons prévues en 2026) pour débloquer la valeur.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396000"/>
          </a:xfrm>
          <a:prstGeom prst="rect">
            <a:avLst/>
          </a:prstGeom>
          <a:noFill/>
        </p:spPr>
        <p:txBody>
          <a:bodyPr wrap="square">
            <a:spAutoFit/>
          </a:bodyPr>
          <a:lstStyle/>
          <a:p>
            <a:pPr algn="l"/>
            <a:r>
              <a:rPr sz="900" b="1" i="0">
                <a:solidFill>
                  <a:srgbClr val="A82020"/>
                </a:solidFill>
                <a:latin typeface="Calibri"/>
              </a:rPr>
              <a:t>Dépendance monocouloir</a:t>
            </a:r>
          </a:p>
        </p:txBody>
      </p:sp>
      <p:sp>
        <p:nvSpPr>
          <p:cNvPr id="20" name="TextBox 19"/>
          <p:cNvSpPr txBox="1"/>
          <p:nvPr/>
        </p:nvSpPr>
        <p:spPr>
          <a:xfrm>
            <a:off x="475200" y="1537199"/>
            <a:ext cx="2527200" cy="1260000"/>
          </a:xfrm>
          <a:prstGeom prst="rect">
            <a:avLst/>
          </a:prstGeom>
          <a:noFill/>
        </p:spPr>
        <p:txBody>
          <a:bodyPr wrap="square">
            <a:spAutoFit/>
          </a:bodyPr>
          <a:lstStyle/>
          <a:p>
            <a:pPr algn="l"/>
            <a:r>
              <a:rPr sz="800" b="0" i="0">
                <a:solidFill>
                  <a:srgbClr val="555555"/>
                </a:solidFill>
                <a:latin typeface="Calibri"/>
              </a:rPr>
              <a:t>Le carnet de commandes record de 900 milliards d'euros repose à 60% sur des avions monocouloir A320neo, dont la demande pourrait s'effondrer si Airbus ne parvient pas à livrer 750 appareils/an d'ici 2026; les retards actuels de 18 mois sur les A321XLR menacent déjà 12 milliards d'euros de commandes potentielles.</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396000"/>
          </a:xfrm>
          <a:prstGeom prst="rect">
            <a:avLst/>
          </a:prstGeom>
          <a:noFill/>
        </p:spPr>
        <p:txBody>
          <a:bodyPr wrap="square">
            <a:spAutoFit/>
          </a:bodyPr>
          <a:lstStyle/>
          <a:p>
            <a:pPr algn="l"/>
            <a:r>
              <a:rPr sz="900" b="1" i="0">
                <a:solidFill>
                  <a:srgbClr val="2E5FA3"/>
                </a:solidFill>
                <a:latin typeface="Calibri"/>
              </a:rPr>
              <a:t>Retards livraisons</a:t>
            </a:r>
          </a:p>
        </p:txBody>
      </p:sp>
      <p:sp>
        <p:nvSpPr>
          <p:cNvPr id="24" name="TextBox 23"/>
          <p:cNvSpPr txBox="1"/>
          <p:nvPr/>
        </p:nvSpPr>
        <p:spPr>
          <a:xfrm>
            <a:off x="3337200" y="1537199"/>
            <a:ext cx="2527200" cy="1260000"/>
          </a:xfrm>
          <a:prstGeom prst="rect">
            <a:avLst/>
          </a:prstGeom>
          <a:noFill/>
        </p:spPr>
        <p:txBody>
          <a:bodyPr wrap="square">
            <a:spAutoFit/>
          </a:bodyPr>
          <a:lstStyle/>
          <a:p>
            <a:pPr algn="l"/>
            <a:r>
              <a:rPr sz="800" b="0" i="0">
                <a:solidFill>
                  <a:srgbClr val="555555"/>
                </a:solidFill>
                <a:latin typeface="Calibri"/>
              </a:rPr>
              <a:t>Le leadership technologique en souffre : les coûts de R&amp;D ont bondi de 35% depuis 2020 pour atteindre 3,2 milliards d'euros, grevant la marge nette déjà sous pression à 7,1% malgré un chiffre d'affaires en hausse de 6%.</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396000"/>
          </a:xfrm>
          <a:prstGeom prst="rect">
            <a:avLst/>
          </a:prstGeom>
          <a:noFill/>
        </p:spPr>
        <p:txBody>
          <a:bodyPr wrap="square">
            <a:spAutoFit/>
          </a:bodyPr>
          <a:lstStyle/>
          <a:p>
            <a:pPr algn="l"/>
            <a:r>
              <a:rPr sz="900" b="1" i="0">
                <a:solidFill>
                  <a:srgbClr val="B06000"/>
                </a:solidFill>
                <a:latin typeface="Calibri"/>
              </a:rPr>
              <a:t>Risque Chine</a:t>
            </a:r>
          </a:p>
        </p:txBody>
      </p:sp>
      <p:sp>
        <p:nvSpPr>
          <p:cNvPr id="28" name="TextBox 27"/>
          <p:cNvSpPr txBox="1"/>
          <p:nvPr/>
        </p:nvSpPr>
        <p:spPr>
          <a:xfrm>
            <a:off x="6199200" y="1537199"/>
            <a:ext cx="2527200" cy="1260000"/>
          </a:xfrm>
          <a:prstGeom prst="rect">
            <a:avLst/>
          </a:prstGeom>
          <a:noFill/>
        </p:spPr>
        <p:txBody>
          <a:bodyPr wrap="square">
            <a:spAutoFit/>
          </a:bodyPr>
          <a:lstStyle/>
          <a:p>
            <a:pPr algn="l"/>
            <a:r>
              <a:rPr sz="800" b="0" i="0">
                <a:solidFill>
                  <a:srgbClr val="555555"/>
                </a:solidFill>
                <a:latin typeface="Calibri"/>
              </a:rPr>
              <a:t>La diversification géographique masque des risques géopolitiques : 30% des ventes dépendent de la Chine, où les tensions commerciales avec l'UE pourraient annuler 8 milliards d'euros de contrats d'ici 2025, selon les douanes chinoises.</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mondiale entraînant une baisse de 20 % des livraisons d’avions en 2026</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Retard réglementaire sur l’homologation des SAF en Europe, bloquant 15 % des livraisons en 2027</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Grève prolongée chez les sous-traitants allemands (20 % des coûts), impactant la production de 10 % en 2026</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Détresse : 20/100  Moderé</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46/100  Moderate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Régime : Volatile  Rec.6M:26%</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Qualité : Correcte (0.84x)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Saine (19% CT)</a:t>
            </a:r>
          </a:p>
        </p:txBody>
      </p:sp>
      <p:sp>
        <p:nvSpPr>
          <p:cNvPr id="47" name="Rectangle 46"/>
          <p:cNvSpPr/>
          <p:nvPr/>
        </p:nvSpPr>
        <p:spPr>
          <a:xfrm>
            <a:off x="612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2800" y="4629600"/>
            <a:ext cx="2696400" cy="158400"/>
          </a:xfrm>
          <a:prstGeom prst="rect">
            <a:avLst/>
          </a:prstGeom>
          <a:noFill/>
        </p:spPr>
        <p:txBody>
          <a:bodyPr wrap="square">
            <a:spAutoFit/>
          </a:bodyPr>
          <a:lstStyle/>
          <a:p>
            <a:pPr algn="l"/>
            <a:r>
              <a:rPr sz="700" b="0" i="0">
                <a:solidFill>
                  <a:srgbClr val="1B3A6B"/>
                </a:solidFill>
                <a:latin typeface="Calibri"/>
              </a:rPr>
              <a:t>Dividende : Soutenable (1.9x)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LLM Groq</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20 articles  ·  7 derniers jours  ·  Classification LLM</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Positif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+0,390</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53,0 %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LLM Groq</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12</a:t>
                      </a:r>
                    </a:p>
                  </a:txBody>
                  <a:tcPr>
                    <a:solidFill>
                      <a:srgbClr val="EAF4EF"/>
                    </a:solidFill>
                  </a:tcPr>
                </a:tc>
                <a:tc>
                  <a:txBody>
                    <a:bodyPr/>
                    <a:lstStyle/>
                    <a:p>
                      <a:pPr algn="ctr"/>
                      <a:r>
                        <a:rPr sz="800" b="0" i="0">
                          <a:solidFill>
                            <a:srgbClr val="0D0D0D"/>
                          </a:solidFill>
                          <a:latin typeface="Calibri"/>
                        </a:rPr>
                        <a:t>+0,530</a:t>
                      </a:r>
                    </a:p>
                  </a:txBody>
                  <a:tcPr>
                    <a:solidFill>
                      <a:srgbClr val="EAF4EF"/>
                    </a:solidFill>
                  </a:tcPr>
                </a:tc>
                <a:tc>
                  <a:txBody>
                    <a:bodyPr/>
                    <a:lstStyle/>
                    <a:p>
                      <a:pPr algn="ctr"/>
                      <a:r>
                        <a:rPr sz="800" b="0" i="0">
                          <a:solidFill>
                            <a:srgbClr val="0D0D0D"/>
                          </a:solidFill>
                          <a:latin typeface="Calibri"/>
                        </a:rPr>
                        <a:t>Livraisons A320neo en hausse de 10 % en 2026, boostant le CA de 5 milliards d’euros | Horizon 2026-2027</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6</a:t>
                      </a:r>
                    </a:p>
                  </a:txBody>
                  <a:tcPr>
                    <a:solidFill>
                      <a:srgbClr val="FFFFFF"/>
                    </a:solidFill>
                  </a:tcPr>
                </a:tc>
                <a:tc>
                  <a:txBody>
                    <a:bodyPr/>
                    <a:lstStyle/>
                    <a:p>
                      <a:pPr algn="ctr"/>
                      <a:r>
                        <a:rPr sz="800" b="0" i="0">
                          <a:solidFill>
                            <a:srgbClr val="0D0D0D"/>
                          </a:solidFill>
                          <a:latin typeface="Calibri"/>
                        </a:rPr>
                        <a:t>+0,330</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2</a:t>
                      </a:r>
                    </a:p>
                  </a:txBody>
                  <a:tcPr>
                    <a:solidFill>
                      <a:srgbClr val="FAF0EF"/>
                    </a:solidFill>
                  </a:tcPr>
                </a:tc>
                <a:tc>
                  <a:txBody>
                    <a:bodyPr/>
                    <a:lstStyle/>
                    <a:p>
                      <a:pPr algn="ctr"/>
                      <a:r>
                        <a:rPr sz="800" b="0" i="0">
                          <a:solidFill>
                            <a:srgbClr val="0D0D0D"/>
                          </a:solidFill>
                          <a:latin typeface="Calibri"/>
                        </a:rPr>
                        <a:t>+0,140</a:t>
                      </a:r>
                    </a:p>
                  </a:txBody>
                  <a:tcPr>
                    <a:solidFill>
                      <a:srgbClr val="FAF0EF"/>
                    </a:solidFill>
                  </a:tcPr>
                </a:tc>
                <a:tc>
                  <a:txBody>
                    <a:bodyPr/>
                    <a:lstStyle/>
                    <a:p>
                      <a:pPr algn="ctr"/>
                      <a:r>
                        <a:rPr sz="800" b="0" i="0">
                          <a:solidFill>
                            <a:srgbClr val="0D0D0D"/>
                          </a:solidFill>
                          <a:latin typeface="Calibri"/>
                        </a:rPr>
                        <a:t>Retards de production sur A350 (12 mois en 2025) coûtant 1,2 milliard d’euros de CA perdu | Horizon 2026-2027, impact -8 % sur EBITDA</a:t>
                      </a:r>
                    </a:p>
                  </a:txBody>
                  <a:tcPr>
                    <a:solidFill>
                      <a:srgbClr val="FAF0EF"/>
                    </a:solidFill>
                  </a:tcPr>
                </a:tc>
              </a:tr>
            </a:tbl>
          </a:graphicData>
        </a:graphic>
      </p:graphicFrame>
      <p:sp>
        <p:nvSpPr>
          <p:cNvPr id="39" name="TextBox 38"/>
          <p:cNvSpPr txBox="1"/>
          <p:nvPr/>
        </p:nvSpPr>
        <p:spPr>
          <a:xfrm>
            <a:off x="367200" y="4140000"/>
            <a:ext cx="8413200" cy="720000"/>
          </a:xfrm>
          <a:prstGeom prst="rect">
            <a:avLst/>
          </a:prstGeom>
          <a:noFill/>
        </p:spPr>
        <p:txBody>
          <a:bodyPr wrap="square">
            <a:spAutoFit/>
          </a:bodyPr>
          <a:lstStyle/>
          <a:p>
            <a:pPr algn="l"/>
            <a:r>
              <a:rPr sz="850" b="0" i="0">
                <a:solidFill>
                  <a:srgbClr val="333333"/>
                </a:solidFill>
                <a:latin typeface="Calibri"/>
              </a:rPr>
              <a:t>La presse financière souligne une dynamique globalement positive pour Airbus cette semaine, portée par des contrats de défense et des avancées technologiques. Cependant, la concurrence accrue de Boeing et les ajustements d’analystes tempèrent légèrement l’optimisme.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6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694800"/>
        </p:xfrm>
        <a:graphic>
          <a:graphicData uri="http://schemas.openxmlformats.org/drawingml/2006/table">
            <a:tbl>
              <a:tblPr firstRow="1" bandRow="1">
                <a:tableStyleId>{5C22544A-7EE6-4342-B048-85BDC9FD1C3A}</a:tableStyleId>
              </a:tblPr>
              <a:tblGrid>
                <a:gridCol w="2015064"/>
                <a:gridCol w="1378728"/>
                <a:gridCol w="1060560"/>
                <a:gridCol w="848448"/>
              </a:tblGrid>
              <a:tr h="2316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Airbus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74.3 %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694800"/>
        </p:xfrm>
        <a:graphic>
          <a:graphicData uri="http://schemas.openxmlformats.org/drawingml/2006/table">
            <a:tbl>
              <a:tblPr firstRow="1" bandRow="1">
                <a:tableStyleId>{5C22544A-7EE6-4342-B048-85BDC9FD1C3A}</a:tableStyleId>
              </a:tblPr>
              <a:tblGrid>
                <a:gridCol w="1810080"/>
                <a:gridCol w="1206720"/>
              </a:tblGrid>
              <a:tr h="2316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74.3 %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1789200"/>
            <a:ext cx="8413200" cy="1004400"/>
          </a:xfrm>
          <a:prstGeom prst="rect">
            <a:avLst/>
          </a:prstGeom>
          <a:noFill/>
        </p:spPr>
        <p:txBody>
          <a:bodyPr wrap="square">
            <a:spAutoFit/>
          </a:bodyPr>
          <a:lstStyle/>
          <a:p>
            <a:pPr algn="l"/>
            <a:r>
              <a:rPr sz="850" b="0" i="0">
                <a:solidFill>
                  <a:srgbClr val="555555"/>
                </a:solidFill>
                <a:latin typeface="Calibri"/>
              </a:rPr>
              <a:t>Airbus se négocie à 12,1x EV/EBITDA, en ligne avec la médiane des peers (11,8x), mais avec une prime de croissance justifiée par un carnet de commandes supérieur. Le P/E de 24,9x reflète une prime de qualité structurelle.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AIR.DE  ·  EUR  ·  Au 6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165,08 EUR</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213,40 EUR</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160,78 EUR</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+1,9 %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3789266"/>
            <a:ext cx="498636" cy="105933"/>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38" name="Rectangle 37"/>
          <p:cNvSpPr/>
          <p:nvPr/>
        </p:nvSpPr>
        <p:spPr>
          <a:xfrm>
            <a:off x="1293300" y="3373302"/>
            <a:ext cx="498636" cy="52189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0" name="Rectangle 39"/>
          <p:cNvSpPr/>
          <p:nvPr/>
        </p:nvSpPr>
        <p:spPr>
          <a:xfrm>
            <a:off x="1949400" y="3405047"/>
            <a:ext cx="498636" cy="490152"/>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2" name="Rectangle 41"/>
          <p:cNvSpPr/>
          <p:nvPr/>
        </p:nvSpPr>
        <p:spPr>
          <a:xfrm>
            <a:off x="2605500" y="3320759"/>
            <a:ext cx="498636" cy="57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4" name="Rectangle 43"/>
          <p:cNvSpPr/>
          <p:nvPr/>
        </p:nvSpPr>
        <p:spPr>
          <a:xfrm>
            <a:off x="3261600" y="2859916"/>
            <a:ext cx="498636" cy="1035283"/>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6" name="Rectangle 45"/>
          <p:cNvSpPr/>
          <p:nvPr/>
        </p:nvSpPr>
        <p:spPr>
          <a:xfrm>
            <a:off x="3917700" y="2383200"/>
            <a:ext cx="498636" cy="151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48" name="Rectangle 47"/>
          <p:cNvSpPr/>
          <p:nvPr/>
        </p:nvSpPr>
        <p:spPr>
          <a:xfrm>
            <a:off x="4573800" y="2622652"/>
            <a:ext cx="498636" cy="1272547"/>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0" name="Rectangle 49"/>
          <p:cNvSpPr/>
          <p:nvPr/>
        </p:nvSpPr>
        <p:spPr>
          <a:xfrm>
            <a:off x="5229900" y="2801352"/>
            <a:ext cx="498636" cy="1093847"/>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2" name="Rectangle 51"/>
          <p:cNvSpPr/>
          <p:nvPr/>
        </p:nvSpPr>
        <p:spPr>
          <a:xfrm>
            <a:off x="5886000" y="2928878"/>
            <a:ext cx="498636" cy="96632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4" name="Rectangle 53"/>
          <p:cNvSpPr/>
          <p:nvPr/>
        </p:nvSpPr>
        <p:spPr>
          <a:xfrm>
            <a:off x="6542100" y="3180098"/>
            <a:ext cx="498636" cy="71510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6" name="Rectangle 55"/>
          <p:cNvSpPr/>
          <p:nvPr/>
        </p:nvSpPr>
        <p:spPr>
          <a:xfrm>
            <a:off x="7198200" y="3823200"/>
            <a:ext cx="498636"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58" name="Rectangle 57"/>
          <p:cNvSpPr/>
          <p:nvPr/>
        </p:nvSpPr>
        <p:spPr>
          <a:xfrm>
            <a:off x="7854300" y="3705526"/>
            <a:ext cx="498636" cy="189673"/>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160</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178</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196</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213</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Airbus SE affiche une résilience opérationnelle remarquable avec un carnet de commandes record de 1 131 milliards d’euros fin 2025. La marge nette de 7,1 % en 2025 confirme la capacité à absorber les coûts structurels malgré un environnement inflationniste. Le momentum sur les programmes A320neo et A350, couplé à la demande asiatique, soutient une croissance organique soutenue à moyen terme.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