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DAX40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^GSPC  ·  11 secteurs analysés  ·  503 sociétés couvertes</a:t>
            </a:r>
          </a:p>
        </p:txBody>
      </p:sp>
      <p:sp>
        <p:nvSpPr>
          <p:cNvPr id="8" name="Rectangle 7"/>
          <p:cNvSpPr/>
          <p:nvPr/>
        </p:nvSpPr>
        <p:spPr>
          <a:xfrm>
            <a:off x="457200" y="2448000"/>
            <a:ext cx="8229600" cy="4752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B06000"/>
                </a:solidFill>
              </a:rPr>
              <a:t>● NEUTRE  ·  Conviction 27 %</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52/100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3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6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2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3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(^GSPC)  ·  11 secteurs  ·  503 sociétés  ·  Horizon 12 mois</a:t>
            </a:r>
          </a:p>
        </p:txBody>
      </p:sp>
      <p:sp>
        <p:nvSpPr>
          <p:cNvPr id="15" name="Rectangle 14"/>
          <p:cNvSpPr/>
          <p:nvPr/>
        </p:nvSpPr>
        <p:spPr>
          <a:xfrm>
            <a:off x="324000" y="827999"/>
            <a:ext cx="1728000" cy="27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NEUTRE</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5 210  ·  YTD : +4.8%  ·  P/E Forward : 21.5x  ·  ERP : 4.2%  ·  Conviction 27 %</a:t>
            </a:r>
          </a:p>
        </p:txBody>
      </p:sp>
      <p:sp>
        <p:nvSpPr>
          <p:cNvPr id="18" name="Rectangle 17"/>
          <p:cNvSpPr/>
          <p:nvPr/>
        </p:nvSpPr>
        <p:spPr>
          <a:xfrm>
            <a:off x="324000" y="1368000"/>
            <a:ext cx="882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828000" cy="162000"/>
          </a:xfrm>
          <a:prstGeom prst="rect">
            <a:avLst/>
          </a:prstGeom>
          <a:noFill/>
        </p:spPr>
        <p:txBody>
          <a:bodyPr wrap="square" anchor="ctr">
            <a:spAutoFit/>
          </a:bodyPr>
          <a:lstStyle/>
          <a:p>
            <a:pPr algn="ctr"/>
            <a:r>
              <a:rPr sz="750" b="1" i="0">
                <a:solidFill>
                  <a:srgbClr val="FFFFFF"/>
                </a:solidFill>
              </a:rPr>
              <a:t>Regime Volatile</a:t>
            </a:r>
          </a:p>
        </p:txBody>
      </p:sp>
      <p:sp>
        <p:nvSpPr>
          <p:cNvPr id="20" name="Rectangle 19"/>
          <p:cNvSpPr/>
          <p:nvPr/>
        </p:nvSpPr>
        <p:spPr>
          <a:xfrm>
            <a:off x="126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96000" y="1368000"/>
            <a:ext cx="738000" cy="162000"/>
          </a:xfrm>
          <a:prstGeom prst="rect">
            <a:avLst/>
          </a:prstGeom>
          <a:noFill/>
        </p:spPr>
        <p:txBody>
          <a:bodyPr wrap="square" anchor="ctr">
            <a:spAutoFit/>
          </a:bodyPr>
          <a:lstStyle/>
          <a:p>
            <a:pPr algn="ctr"/>
            <a:r>
              <a:rPr sz="750" b="0" i="0">
                <a:solidFill>
                  <a:srgbClr val="1B3A6B"/>
                </a:solidFill>
              </a:rPr>
              <a:t>VIX 24</a:t>
            </a:r>
          </a:p>
        </p:txBody>
      </p:sp>
      <p:sp>
        <p:nvSpPr>
          <p:cNvPr id="22" name="Rectangle 21"/>
          <p:cNvSpPr/>
          <p:nvPr/>
        </p:nvSpPr>
        <p:spPr>
          <a:xfrm>
            <a:off x="2106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4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95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7999" y="1368000"/>
            <a:ext cx="738000" cy="162000"/>
          </a:xfrm>
          <a:prstGeom prst="rect">
            <a:avLst/>
          </a:prstGeom>
          <a:noFill/>
        </p:spPr>
        <p:txBody>
          <a:bodyPr wrap="square" anchor="ctr">
            <a:spAutoFit/>
          </a:bodyPr>
          <a:lstStyle/>
          <a:p>
            <a:pPr algn="ctr"/>
            <a:r>
              <a:rPr sz="750" b="0" i="0">
                <a:solidFill>
                  <a:srgbClr val="1B3A6B"/>
                </a:solidFill>
              </a:rPr>
              <a:t>Rec. 6M 26%</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Cycle IA</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Desinflation</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DAX40 est Neutre avec une conviction de 27% (sur la base des 11 secteurs analyses). 3 secteurs ressortent Surponderer — Technology, Health Care et Financials — portes respectivement par le cycle IA, le pricing power defensif et les spreads de credit eleves. 6 secteurs sont Neutre en raison d'une visibilite limitee sur les BPA dans un contexte de taux restrictifs. 2 secteurs (Real Estate, Utilities) sont Sous-ponderer sous pression directe de la politique monetaire.  Le DAX40 affiche un cours de 5 210 (YTD : +4.8%). P/E Forward 21.5x vs mediane historique 10 ans 18.2x — valorisation en ligne avec l'historique. ERP Damodaran 4.2%. Score composite moyen : —/100 —...</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DAX40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5 210</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+4.8%</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21.5x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Neutre (score composite —/100). P/E Forward 21.5x vs mediane historique 18.2x — valorisation proche des normes historiques. ERP Damodaran : 4.2%. Secteurs a Surponderer : Technology  ·  Health Care  ·  Financials. Secteurs a Sous-ponderer : Real Estate  ·  Utilities. 6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21.5x</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 demeurent restrictifs. Le secteur Technologie (P/E 28.5x vs mediane 22x) concentre la prime de valorisation.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 Indicators OCDE en legere hausse. Cette configuration favorise les secteurs avec forte visibilite BPA et moindre sensibilite aux taux : Technology, Health Care, Financials. Les secteurs defensifs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Technology</a:t>
                      </a:r>
                    </a:p>
                  </a:txBody>
                  <a:tcPr>
                    <a:noFill/>
                  </a:tcPr>
                </a:tc>
                <a:tc>
                  <a:txBody>
                    <a:bodyPr/>
                    <a:lstStyle/>
                    <a:p>
                      <a:pPr algn="ctr"/>
                      <a:r>
                        <a:rPr sz="800" b="0">
                          <a:solidFill>
                            <a:srgbClr val="1A1A1A"/>
                          </a:solidFill>
                        </a:rPr>
                        <a:t>72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28.4%</a:t>
                      </a:r>
                    </a:p>
                  </a:txBody>
                  <a:tcPr>
                    <a:noFill/>
                  </a:tcPr>
                </a:tc>
                <a:tc>
                  <a:txBody>
                    <a:bodyPr/>
                    <a:lstStyle/>
                    <a:p>
                      <a:pPr algn="ctr"/>
                      <a:r>
                        <a:rPr sz="800" b="0">
                          <a:solidFill>
                            <a:srgbClr val="1A1A1A"/>
                          </a:solidFill>
                        </a:rPr>
                        <a:t>+14.2%</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22.1%</a:t>
                      </a:r>
                    </a:p>
                  </a:txBody>
                  <a:tcPr>
                    <a:solidFill>
                      <a:srgbClr val="F5F7FA"/>
                    </a:solidFill>
                  </a:tcPr>
                </a:tc>
                <a:tc>
                  <a:txBody>
                    <a:bodyPr/>
                    <a:lstStyle/>
                    <a:p>
                      <a:pPr algn="ctr"/>
                      <a:r>
                        <a:rPr sz="800" b="0">
                          <a:solidFill>
                            <a:srgbClr val="1A1A1A"/>
                          </a:solidFill>
                        </a:rPr>
                        <a:t>+9.8%</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62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31.2%</a:t>
                      </a:r>
                    </a:p>
                  </a:txBody>
                  <a:tcPr>
                    <a:noFill/>
                  </a:tcPr>
                </a:tc>
                <a:tc>
                  <a:txBody>
                    <a:bodyPr/>
                    <a:lstStyle/>
                    <a:p>
                      <a:pPr algn="ctr"/>
                      <a:r>
                        <a:rPr sz="800" b="0">
                          <a:solidFill>
                            <a:srgbClr val="1A1A1A"/>
                          </a:solidFill>
                        </a:rPr>
                        <a:t>+11.4%</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58</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24.6%</a:t>
                      </a:r>
                    </a:p>
                  </a:txBody>
                  <a:tcPr>
                    <a:solidFill>
                      <a:srgbClr val="F5F7FA"/>
                    </a:solidFill>
                  </a:tcPr>
                </a:tc>
                <a:tc>
                  <a:txBody>
                    <a:bodyPr/>
                    <a:lstStyle/>
                    <a:p>
                      <a:pPr algn="ctr"/>
                      <a:r>
                        <a:rPr sz="800" b="0">
                          <a:solidFill>
                            <a:srgbClr val="1A1A1A"/>
                          </a:solidFill>
                        </a:rPr>
                        <a:t>+10.1%</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14.8%</a:t>
                      </a:r>
                    </a:p>
                  </a:txBody>
                  <a:tcPr>
                    <a:noFill/>
                  </a:tcPr>
                </a:tc>
                <a:tc>
                  <a:txBody>
                    <a:bodyPr/>
                    <a:lstStyle/>
                    <a:p>
                      <a:pPr algn="ctr"/>
                      <a:r>
                        <a:rPr sz="800" b="0">
                          <a:solidFill>
                            <a:srgbClr val="1A1A1A"/>
                          </a:solidFill>
                        </a:rPr>
                        <a:t>+8.2%</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53</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16.2%</a:t>
                      </a:r>
                    </a:p>
                  </a:txBody>
                  <a:tcPr>
                    <a:solidFill>
                      <a:srgbClr val="F5F7FA"/>
                    </a:solidFill>
                  </a:tcPr>
                </a:tc>
                <a:tc>
                  <a:txBody>
                    <a:bodyPr/>
                    <a:lstStyle/>
                    <a:p>
                      <a:pPr algn="ctr"/>
                      <a:r>
                        <a:rPr sz="800" b="0">
                          <a:solidFill>
                            <a:srgbClr val="1A1A1A"/>
                          </a:solidFill>
                        </a:rPr>
                        <a:t>+6.8%</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48</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18.4%</a:t>
                      </a:r>
                    </a:p>
                  </a:txBody>
                  <a:tcPr>
                    <a:noFill/>
                  </a:tcPr>
                </a:tc>
                <a:tc>
                  <a:txBody>
                    <a:bodyPr/>
                    <a:lstStyle/>
                    <a:p>
                      <a:pPr algn="ctr"/>
                      <a:r>
                        <a:rPr sz="800" b="0">
                          <a:solidFill>
                            <a:srgbClr val="1A1A1A"/>
                          </a:solidFill>
                        </a:rPr>
                        <a:t>+3.2%</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46</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20.4%</a:t>
                      </a:r>
                    </a:p>
                  </a:txBody>
                  <a:tcPr>
                    <a:solidFill>
                      <a:srgbClr val="F5F7FA"/>
                    </a:solidFill>
                  </a:tcPr>
                </a:tc>
                <a:tc>
                  <a:txBody>
                    <a:bodyPr/>
                    <a:lstStyle/>
                    <a:p>
                      <a:pPr algn="ctr"/>
                      <a:r>
                        <a:rPr sz="800" b="0">
                          <a:solidFill>
                            <a:srgbClr val="1A1A1A"/>
                          </a:solidFill>
                        </a:rPr>
                        <a:t>+4.8%</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44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28.8%</a:t>
                      </a:r>
                    </a:p>
                  </a:txBody>
                  <a:tcPr>
                    <a:no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38</a:t>
                      </a:r>
                    </a:p>
                  </a:txBody>
                  <a:tcPr>
                    <a:solidFill>
                      <a:srgbClr val="F5F7FA"/>
                    </a:solid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48.2%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32.4%</a:t>
                      </a:r>
                    </a:p>
                  </a:txBody>
                  <a:tcPr>
                    <a:noFill/>
                  </a:tcPr>
                </a:tc>
                <a:tc>
                  <a:txBody>
                    <a:bodyPr/>
                    <a:lstStyle/>
                    <a:p>
                      <a:pPr algn="ctr"/>
                      <a:r>
                        <a:rPr sz="800" b="0">
                          <a:solidFill>
                            <a:srgbClr val="1A1A1A"/>
                          </a:solidFill>
                        </a:rPr>
                        <a:t>+2.8%</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bl>
          </a:graphicData>
        </a:graphic>
      </p:graphicFrame>
      <p:sp>
        <p:nvSpPr>
          <p:cNvPr id="16" name="Rectangle 15"/>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3 secteur(s) sur 11 franchissent le seuil Surpondérer (score &gt; 65) : Technology · Health Care · Financials. 2 secteur(s) en Sous-pondérer : Real Estate · Utilities. 6 secteur(s) en position Neutre. L'écart entre le secteur leader (Technology, score 72/100) et le secteur le plus faible (Utilities, score 36/100) est de 36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Technology en quadrant Premium Justifie — valorisation elevee supportee par forte croissance BPA.
Health Care  ·  Financials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Technology</a:t>
                      </a:r>
                    </a:p>
                  </a:txBody>
                  <a:tcPr>
                    <a:no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65</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62</a:t>
                      </a:r>
                    </a:p>
                  </a:txBody>
                  <a:tcPr>
                    <a:solidFill>
                      <a:srgbClr val="FDF3E5"/>
                    </a:solid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58</a:t>
                      </a:r>
                    </a:p>
                  </a:txBody>
                  <a:tcPr>
                    <a:solidFill>
                      <a:srgbClr val="FDF3E5"/>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48</a:t>
                      </a:r>
                    </a:p>
                  </a:txBody>
                  <a:tcPr>
                    <a:solidFill>
                      <a:srgbClr val="FDF3E5"/>
                    </a:solid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46</a:t>
                      </a:r>
                    </a:p>
                  </a:txBody>
                  <a:tcPr>
                    <a:solidFill>
                      <a:srgbClr val="FDF3E5"/>
                    </a:solidFill>
                  </a:tcPr>
                </a:tc>
                <a:tc>
                  <a:txBody>
                    <a:bodyPr/>
                    <a:lstStyle/>
                    <a:p>
                      <a:pPr algn="ctr"/>
                      <a:r>
                        <a:rPr sz="800" b="0">
                          <a:solidFill>
                            <a:srgbClr val="1A1A1A"/>
                          </a:solidFill>
                        </a:rPr>
                        <a:t>18</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44</a:t>
                      </a:r>
                    </a:p>
                  </a:txBody>
                  <a:tcPr>
                    <a:solidFill>
                      <a:srgbClr val="FBEBEB"/>
                    </a:solid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38</a:t>
                      </a:r>
                    </a:p>
                  </a:txBody>
                  <a:tcPr>
                    <a:solidFill>
                      <a:srgbClr val="FBEBEB"/>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A82020"/>
                          </a:solidFill>
                        </a:rPr>
                        <a:t>Sous-pondérer</a:t>
                      </a:r>
                    </a:p>
                  </a:txBody>
                  <a:tcPr>
                    <a:solidFill>
                      <a:srgbClr val="FBEBEB"/>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36</a:t>
                      </a:r>
                    </a:p>
                  </a:txBody>
                  <a:tcPr>
                    <a:solidFill>
                      <a:srgbClr val="FBEBEB"/>
                    </a:solid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A82020"/>
                          </a:solidFill>
                        </a:rPr>
                        <a:t>Sous-pondérer</a:t>
                      </a:r>
                    </a:p>
                  </a:txBody>
                  <a:tcPr>
                    <a:solidFill>
                      <a:srgbClr val="FBEBEB"/>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Technology domine avec le score le plus élevé. Le momentum (29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72/100  ·  EV/EBITDA : 24.8x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684000" cy="198000"/>
          </a:xfrm>
          <a:prstGeom prst="rect">
            <a:avLst/>
          </a:prstGeom>
          <a:noFill/>
        </p:spPr>
        <p:txBody>
          <a:bodyPr wrap="square">
            <a:spAutoFit/>
          </a:bodyPr>
          <a:lstStyle/>
          <a:p>
            <a:pPr algn="l"/>
            <a:r>
              <a:rPr sz="800" b="1" i="0">
                <a:solidFill>
                  <a:srgbClr val="1B3A6B"/>
                </a:solidFill>
              </a:rPr>
              <a:t>AAPL</a:t>
            </a:r>
          </a:p>
        </p:txBody>
      </p:sp>
      <p:sp>
        <p:nvSpPr>
          <p:cNvPr id="24" name="TextBox 23"/>
          <p:cNvSpPr txBox="1"/>
          <p:nvPr/>
        </p:nvSpPr>
        <p:spPr>
          <a:xfrm>
            <a:off x="1152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692000" y="1620000"/>
            <a:ext cx="540000" cy="198000"/>
          </a:xfrm>
          <a:prstGeom prst="rect">
            <a:avLst/>
          </a:prstGeom>
          <a:noFill/>
        </p:spPr>
        <p:txBody>
          <a:bodyPr wrap="square">
            <a:spAutoFit/>
          </a:bodyPr>
          <a:lstStyle/>
          <a:p>
            <a:pPr algn="l"/>
            <a:r>
              <a:rPr sz="800" b="0" i="0">
                <a:solidFill>
                  <a:srgbClr val="555555"/>
                </a:solidFill>
              </a:rPr>
              <a:t>22.4x</a:t>
            </a:r>
          </a:p>
        </p:txBody>
      </p:sp>
      <p:sp>
        <p:nvSpPr>
          <p:cNvPr id="26" name="TextBox 25"/>
          <p:cNvSpPr txBox="1"/>
          <p:nvPr/>
        </p:nvSpPr>
        <p:spPr>
          <a:xfrm>
            <a:off x="2232000" y="1620000"/>
            <a:ext cx="540000" cy="198000"/>
          </a:xfrm>
          <a:prstGeom prst="rect">
            <a:avLst/>
          </a:prstGeom>
          <a:noFill/>
        </p:spPr>
        <p:txBody>
          <a:bodyPr wrap="square">
            <a:spAutoFit/>
          </a:bodyPr>
          <a:lstStyle/>
          <a:p>
            <a:pPr algn="l"/>
            <a:r>
              <a:rPr sz="800" b="0" i="0">
                <a:solidFill>
                  <a:srgbClr val="555555"/>
                </a:solidFill>
              </a:rPr>
              <a:t>78</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684000" cy="198000"/>
          </a:xfrm>
          <a:prstGeom prst="rect">
            <a:avLst/>
          </a:prstGeom>
          <a:noFill/>
        </p:spPr>
        <p:txBody>
          <a:bodyPr wrap="square">
            <a:spAutoFit/>
          </a:bodyPr>
          <a:lstStyle/>
          <a:p>
            <a:pPr algn="l"/>
            <a:r>
              <a:rPr sz="800" b="1" i="0">
                <a:solidFill>
                  <a:srgbClr val="1B3A6B"/>
                </a:solidFill>
              </a:rPr>
              <a:t>MSFT</a:t>
            </a:r>
          </a:p>
        </p:txBody>
      </p:sp>
      <p:sp>
        <p:nvSpPr>
          <p:cNvPr id="29" name="TextBox 28"/>
          <p:cNvSpPr txBox="1"/>
          <p:nvPr/>
        </p:nvSpPr>
        <p:spPr>
          <a:xfrm>
            <a:off x="1152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692000" y="1915200"/>
            <a:ext cx="540000" cy="198000"/>
          </a:xfrm>
          <a:prstGeom prst="rect">
            <a:avLst/>
          </a:prstGeom>
          <a:noFill/>
        </p:spPr>
        <p:txBody>
          <a:bodyPr wrap="square">
            <a:spAutoFit/>
          </a:bodyPr>
          <a:lstStyle/>
          <a:p>
            <a:pPr algn="l"/>
            <a:r>
              <a:rPr sz="800" b="0" i="0">
                <a:solidFill>
                  <a:srgbClr val="555555"/>
                </a:solidFill>
              </a:rPr>
              <a:t>28.6x</a:t>
            </a:r>
          </a:p>
        </p:txBody>
      </p:sp>
      <p:sp>
        <p:nvSpPr>
          <p:cNvPr id="31" name="TextBox 30"/>
          <p:cNvSpPr txBox="1"/>
          <p:nvPr/>
        </p:nvSpPr>
        <p:spPr>
          <a:xfrm>
            <a:off x="2232000" y="1915200"/>
            <a:ext cx="540000" cy="198000"/>
          </a:xfrm>
          <a:prstGeom prst="rect">
            <a:avLst/>
          </a:prstGeom>
          <a:noFill/>
        </p:spPr>
        <p:txBody>
          <a:bodyPr wrap="square">
            <a:spAutoFit/>
          </a:bodyPr>
          <a:lstStyle/>
          <a:p>
            <a:pPr algn="l"/>
            <a:r>
              <a:rPr sz="800" b="0" i="0">
                <a:solidFill>
                  <a:srgbClr val="555555"/>
                </a:solidFill>
              </a:rPr>
              <a:t>75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684000" cy="198000"/>
          </a:xfrm>
          <a:prstGeom prst="rect">
            <a:avLst/>
          </a:prstGeom>
          <a:noFill/>
        </p:spPr>
        <p:txBody>
          <a:bodyPr wrap="square">
            <a:spAutoFit/>
          </a:bodyPr>
          <a:lstStyle/>
          <a:p>
            <a:pPr algn="l"/>
            <a:r>
              <a:rPr sz="800" b="1" i="0">
                <a:solidFill>
                  <a:srgbClr val="1B3A6B"/>
                </a:solidFill>
              </a:rPr>
              <a:t>NVDA</a:t>
            </a:r>
          </a:p>
        </p:txBody>
      </p:sp>
      <p:sp>
        <p:nvSpPr>
          <p:cNvPr id="34" name="TextBox 33"/>
          <p:cNvSpPr txBox="1"/>
          <p:nvPr/>
        </p:nvSpPr>
        <p:spPr>
          <a:xfrm>
            <a:off x="1152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692000" y="2210400"/>
            <a:ext cx="540000" cy="198000"/>
          </a:xfrm>
          <a:prstGeom prst="rect">
            <a:avLst/>
          </a:prstGeom>
          <a:noFill/>
        </p:spPr>
        <p:txBody>
          <a:bodyPr wrap="square">
            <a:spAutoFit/>
          </a:bodyPr>
          <a:lstStyle/>
          <a:p>
            <a:pPr algn="l"/>
            <a:r>
              <a:rPr sz="800" b="0" i="0">
                <a:solidFill>
                  <a:srgbClr val="555555"/>
                </a:solidFill>
              </a:rPr>
              <a:t>42.8x</a:t>
            </a:r>
          </a:p>
        </p:txBody>
      </p:sp>
      <p:sp>
        <p:nvSpPr>
          <p:cNvPr id="36" name="TextBox 35"/>
          <p:cNvSpPr txBox="1"/>
          <p:nvPr/>
        </p:nvSpPr>
        <p:spPr>
          <a:xfrm>
            <a:off x="2232000" y="2210400"/>
            <a:ext cx="540000" cy="198000"/>
          </a:xfrm>
          <a:prstGeom prst="rect">
            <a:avLst/>
          </a:prstGeom>
          <a:noFill/>
        </p:spPr>
        <p:txBody>
          <a:bodyPr wrap="square">
            <a:spAutoFit/>
          </a:bodyPr>
          <a:lstStyle/>
          <a:p>
            <a:pPr algn="l"/>
            <a:r>
              <a:rPr sz="800" b="0" i="0">
                <a:solidFill>
                  <a:srgbClr val="555555"/>
                </a:solidFill>
              </a:rPr>
              <a:t>82</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Cycle IA — CAPEX hyperscalers +35% YoY, monetisation acceleree</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Valorisations tendues si taux LT restent eleves</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Health Care</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65/100  ·  EV/EBITDA : 14.2x</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684000" cy="198000"/>
          </a:xfrm>
          <a:prstGeom prst="rect">
            <a:avLst/>
          </a:prstGeom>
          <a:noFill/>
        </p:spPr>
        <p:txBody>
          <a:bodyPr wrap="square">
            <a:spAutoFit/>
          </a:bodyPr>
          <a:lstStyle/>
          <a:p>
            <a:pPr algn="l"/>
            <a:r>
              <a:rPr sz="800" b="1" i="0">
                <a:solidFill>
                  <a:srgbClr val="1B3A6B"/>
                </a:solidFill>
              </a:rPr>
              <a:t>UNH</a:t>
            </a:r>
          </a:p>
        </p:txBody>
      </p:sp>
      <p:sp>
        <p:nvSpPr>
          <p:cNvPr id="52" name="TextBox 51"/>
          <p:cNvSpPr txBox="1"/>
          <p:nvPr/>
        </p:nvSpPr>
        <p:spPr>
          <a:xfrm>
            <a:off x="3978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518000" y="1620000"/>
            <a:ext cx="540000" cy="198000"/>
          </a:xfrm>
          <a:prstGeom prst="rect">
            <a:avLst/>
          </a:prstGeom>
          <a:noFill/>
        </p:spPr>
        <p:txBody>
          <a:bodyPr wrap="square">
            <a:spAutoFit/>
          </a:bodyPr>
          <a:lstStyle/>
          <a:p>
            <a:pPr algn="l"/>
            <a:r>
              <a:rPr sz="800" b="0" i="0">
                <a:solidFill>
                  <a:srgbClr val="555555"/>
                </a:solidFill>
              </a:rPr>
              <a:t>10.8x</a:t>
            </a:r>
          </a:p>
        </p:txBody>
      </p:sp>
      <p:sp>
        <p:nvSpPr>
          <p:cNvPr id="54" name="TextBox 53"/>
          <p:cNvSpPr txBox="1"/>
          <p:nvPr/>
        </p:nvSpPr>
        <p:spPr>
          <a:xfrm>
            <a:off x="5058000" y="1620000"/>
            <a:ext cx="540000" cy="198000"/>
          </a:xfrm>
          <a:prstGeom prst="rect">
            <a:avLst/>
          </a:prstGeom>
          <a:noFill/>
        </p:spPr>
        <p:txBody>
          <a:bodyPr wrap="square">
            <a:spAutoFit/>
          </a:bodyPr>
          <a:lstStyle/>
          <a:p>
            <a:pPr algn="l"/>
            <a:r>
              <a:rPr sz="800" b="0" i="0">
                <a:solidFill>
                  <a:srgbClr val="555555"/>
                </a:solidFill>
              </a:rPr>
              <a:t>72</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684000" cy="198000"/>
          </a:xfrm>
          <a:prstGeom prst="rect">
            <a:avLst/>
          </a:prstGeom>
          <a:noFill/>
        </p:spPr>
        <p:txBody>
          <a:bodyPr wrap="square">
            <a:spAutoFit/>
          </a:bodyPr>
          <a:lstStyle/>
          <a:p>
            <a:pPr algn="l"/>
            <a:r>
              <a:rPr sz="800" b="1" i="0">
                <a:solidFill>
                  <a:srgbClr val="1B3A6B"/>
                </a:solidFill>
              </a:rPr>
              <a:t>LLY</a:t>
            </a:r>
          </a:p>
        </p:txBody>
      </p:sp>
      <p:sp>
        <p:nvSpPr>
          <p:cNvPr id="57" name="TextBox 56"/>
          <p:cNvSpPr txBox="1"/>
          <p:nvPr/>
        </p:nvSpPr>
        <p:spPr>
          <a:xfrm>
            <a:off x="3978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518000" y="1915200"/>
            <a:ext cx="540000" cy="198000"/>
          </a:xfrm>
          <a:prstGeom prst="rect">
            <a:avLst/>
          </a:prstGeom>
          <a:noFill/>
        </p:spPr>
        <p:txBody>
          <a:bodyPr wrap="square">
            <a:spAutoFit/>
          </a:bodyPr>
          <a:lstStyle/>
          <a:p>
            <a:pPr algn="l"/>
            <a:r>
              <a:rPr sz="800" b="0" i="0">
                <a:solidFill>
                  <a:srgbClr val="555555"/>
                </a:solidFill>
              </a:rPr>
              <a:t>28.4x</a:t>
            </a:r>
          </a:p>
        </p:txBody>
      </p:sp>
      <p:sp>
        <p:nvSpPr>
          <p:cNvPr id="59" name="TextBox 58"/>
          <p:cNvSpPr txBox="1"/>
          <p:nvPr/>
        </p:nvSpPr>
        <p:spPr>
          <a:xfrm>
            <a:off x="5058000" y="1915200"/>
            <a:ext cx="540000" cy="198000"/>
          </a:xfrm>
          <a:prstGeom prst="rect">
            <a:avLst/>
          </a:prstGeom>
          <a:noFill/>
        </p:spPr>
        <p:txBody>
          <a:bodyPr wrap="square">
            <a:spAutoFit/>
          </a:bodyPr>
          <a:lstStyle/>
          <a:p>
            <a:pPr algn="l"/>
            <a:r>
              <a:rPr sz="800" b="0" i="0">
                <a:solidFill>
                  <a:srgbClr val="555555"/>
                </a:solidFill>
              </a:rPr>
              <a:t>80</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684000" cy="198000"/>
          </a:xfrm>
          <a:prstGeom prst="rect">
            <a:avLst/>
          </a:prstGeom>
          <a:noFill/>
        </p:spPr>
        <p:txBody>
          <a:bodyPr wrap="square">
            <a:spAutoFit/>
          </a:bodyPr>
          <a:lstStyle/>
          <a:p>
            <a:pPr algn="l"/>
            <a:r>
              <a:rPr sz="800" b="1" i="0">
                <a:solidFill>
                  <a:srgbClr val="1B3A6B"/>
                </a:solidFill>
              </a:rPr>
              <a:t>JNJ</a:t>
            </a:r>
          </a:p>
        </p:txBody>
      </p:sp>
      <p:sp>
        <p:nvSpPr>
          <p:cNvPr id="62" name="TextBox 61"/>
          <p:cNvSpPr txBox="1"/>
          <p:nvPr/>
        </p:nvSpPr>
        <p:spPr>
          <a:xfrm>
            <a:off x="3978000" y="2210400"/>
            <a:ext cx="540000" cy="198000"/>
          </a:xfrm>
          <a:prstGeom prst="rect">
            <a:avLst/>
          </a:prstGeom>
          <a:noFill/>
        </p:spPr>
        <p:txBody>
          <a:bodyPr wrap="square">
            <a:spAutoFit/>
          </a:bodyPr>
          <a:lstStyle/>
          <a:p>
            <a:pPr algn="l"/>
            <a:r>
              <a:rPr sz="800" b="0" i="0">
                <a:solidFill>
                  <a:srgbClr val="B06000"/>
                </a:solidFill>
              </a:rPr>
              <a:t>Neutre</a:t>
            </a:r>
          </a:p>
        </p:txBody>
      </p:sp>
      <p:sp>
        <p:nvSpPr>
          <p:cNvPr id="63" name="TextBox 62"/>
          <p:cNvSpPr txBox="1"/>
          <p:nvPr/>
        </p:nvSpPr>
        <p:spPr>
          <a:xfrm>
            <a:off x="4518000" y="2210400"/>
            <a:ext cx="540000" cy="198000"/>
          </a:xfrm>
          <a:prstGeom prst="rect">
            <a:avLst/>
          </a:prstGeom>
          <a:noFill/>
        </p:spPr>
        <p:txBody>
          <a:bodyPr wrap="square">
            <a:spAutoFit/>
          </a:bodyPr>
          <a:lstStyle/>
          <a:p>
            <a:pPr algn="l"/>
            <a:r>
              <a:rPr sz="800" b="0" i="0">
                <a:solidFill>
                  <a:srgbClr val="555555"/>
                </a:solidFill>
              </a:rPr>
              <a:t>12.6x</a:t>
            </a:r>
          </a:p>
        </p:txBody>
      </p:sp>
      <p:sp>
        <p:nvSpPr>
          <p:cNvPr id="64" name="TextBox 63"/>
          <p:cNvSpPr txBox="1"/>
          <p:nvPr/>
        </p:nvSpPr>
        <p:spPr>
          <a:xfrm>
            <a:off x="5058000" y="2210400"/>
            <a:ext cx="540000" cy="198000"/>
          </a:xfrm>
          <a:prstGeom prst="rect">
            <a:avLst/>
          </a:prstGeom>
          <a:noFill/>
        </p:spPr>
        <p:txBody>
          <a:bodyPr wrap="square">
            <a:spAutoFit/>
          </a:bodyPr>
          <a:lstStyle/>
          <a:p>
            <a:pPr algn="l"/>
            <a:r>
              <a:rPr sz="800" b="0" i="0">
                <a:solidFill>
                  <a:srgbClr val="555555"/>
                </a:solidFill>
              </a:rPr>
              <a:t>62</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Pipeline FDA robuste, pricing power defensif intact</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reglementaire US — pression politique sur prix medicaments</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Financials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62/100  ·  EV/EBITDA : 9.8x</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684000" cy="198000"/>
          </a:xfrm>
          <a:prstGeom prst="rect">
            <a:avLst/>
          </a:prstGeom>
          <a:noFill/>
        </p:spPr>
        <p:txBody>
          <a:bodyPr wrap="square">
            <a:spAutoFit/>
          </a:bodyPr>
          <a:lstStyle/>
          <a:p>
            <a:pPr algn="l"/>
            <a:r>
              <a:rPr sz="800" b="1" i="0">
                <a:solidFill>
                  <a:srgbClr val="1B3A6B"/>
                </a:solidFill>
              </a:rPr>
              <a:t>JPM</a:t>
            </a:r>
          </a:p>
        </p:txBody>
      </p:sp>
      <p:sp>
        <p:nvSpPr>
          <p:cNvPr id="80" name="TextBox 79"/>
          <p:cNvSpPr txBox="1"/>
          <p:nvPr/>
        </p:nvSpPr>
        <p:spPr>
          <a:xfrm>
            <a:off x="6803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343999" y="1620000"/>
            <a:ext cx="540000" cy="198000"/>
          </a:xfrm>
          <a:prstGeom prst="rect">
            <a:avLst/>
          </a:prstGeom>
          <a:noFill/>
        </p:spPr>
        <p:txBody>
          <a:bodyPr wrap="square">
            <a:spAutoFit/>
          </a:bodyPr>
          <a:lstStyle/>
          <a:p>
            <a:pPr algn="l"/>
            <a:r>
              <a:rPr sz="800" b="0" i="0">
                <a:solidFill>
                  <a:srgbClr val="555555"/>
                </a:solidFill>
              </a:rPr>
              <a:t>8.4x</a:t>
            </a:r>
          </a:p>
        </p:txBody>
      </p:sp>
      <p:sp>
        <p:nvSpPr>
          <p:cNvPr id="82" name="TextBox 81"/>
          <p:cNvSpPr txBox="1"/>
          <p:nvPr/>
        </p:nvSpPr>
        <p:spPr>
          <a:xfrm>
            <a:off x="7883999" y="1620000"/>
            <a:ext cx="540000" cy="198000"/>
          </a:xfrm>
          <a:prstGeom prst="rect">
            <a:avLst/>
          </a:prstGeom>
          <a:noFill/>
        </p:spPr>
        <p:txBody>
          <a:bodyPr wrap="square">
            <a:spAutoFit/>
          </a:bodyPr>
          <a:lstStyle/>
          <a:p>
            <a:pPr algn="l"/>
            <a:r>
              <a:rPr sz="800" b="0" i="0">
                <a:solidFill>
                  <a:srgbClr val="555555"/>
                </a:solidFill>
              </a:rPr>
              <a:t>70</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684000" cy="198000"/>
          </a:xfrm>
          <a:prstGeom prst="rect">
            <a:avLst/>
          </a:prstGeom>
          <a:noFill/>
        </p:spPr>
        <p:txBody>
          <a:bodyPr wrap="square">
            <a:spAutoFit/>
          </a:bodyPr>
          <a:lstStyle/>
          <a:p>
            <a:pPr algn="l"/>
            <a:r>
              <a:rPr sz="800" b="1" i="0">
                <a:solidFill>
                  <a:srgbClr val="1B3A6B"/>
                </a:solidFill>
              </a:rPr>
              <a:t>BLK</a:t>
            </a:r>
          </a:p>
        </p:txBody>
      </p:sp>
      <p:sp>
        <p:nvSpPr>
          <p:cNvPr id="85" name="TextBox 84"/>
          <p:cNvSpPr txBox="1"/>
          <p:nvPr/>
        </p:nvSpPr>
        <p:spPr>
          <a:xfrm>
            <a:off x="6803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343999" y="1915200"/>
            <a:ext cx="540000" cy="198000"/>
          </a:xfrm>
          <a:prstGeom prst="rect">
            <a:avLst/>
          </a:prstGeom>
          <a:noFill/>
        </p:spPr>
        <p:txBody>
          <a:bodyPr wrap="square">
            <a:spAutoFit/>
          </a:bodyPr>
          <a:lstStyle/>
          <a:p>
            <a:pPr algn="l"/>
            <a:r>
              <a:rPr sz="800" b="0" i="0">
                <a:solidFill>
                  <a:srgbClr val="555555"/>
                </a:solidFill>
              </a:rPr>
              <a:t>14.2x</a:t>
            </a:r>
          </a:p>
        </p:txBody>
      </p:sp>
      <p:sp>
        <p:nvSpPr>
          <p:cNvPr id="87" name="TextBox 86"/>
          <p:cNvSpPr txBox="1"/>
          <p:nvPr/>
        </p:nvSpPr>
        <p:spPr>
          <a:xfrm>
            <a:off x="7883999" y="1915200"/>
            <a:ext cx="540000" cy="198000"/>
          </a:xfrm>
          <a:prstGeom prst="rect">
            <a:avLst/>
          </a:prstGeom>
          <a:noFill/>
        </p:spPr>
        <p:txBody>
          <a:bodyPr wrap="square">
            <a:spAutoFit/>
          </a:bodyPr>
          <a:lstStyle/>
          <a:p>
            <a:pPr algn="l"/>
            <a:r>
              <a:rPr sz="800" b="0" i="0">
                <a:solidFill>
                  <a:srgbClr val="555555"/>
                </a:solidFill>
              </a:rPr>
              <a:t>68</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684000" cy="198000"/>
          </a:xfrm>
          <a:prstGeom prst="rect">
            <a:avLst/>
          </a:prstGeom>
          <a:noFill/>
        </p:spPr>
        <p:txBody>
          <a:bodyPr wrap="square">
            <a:spAutoFit/>
          </a:bodyPr>
          <a:lstStyle/>
          <a:p>
            <a:pPr algn="l"/>
            <a:r>
              <a:rPr sz="800" b="1" i="0">
                <a:solidFill>
                  <a:srgbClr val="1B3A6B"/>
                </a:solidFill>
              </a:rPr>
              <a:t>GS</a:t>
            </a:r>
          </a:p>
        </p:txBody>
      </p:sp>
      <p:sp>
        <p:nvSpPr>
          <p:cNvPr id="90" name="TextBox 89"/>
          <p:cNvSpPr txBox="1"/>
          <p:nvPr/>
        </p:nvSpPr>
        <p:spPr>
          <a:xfrm>
            <a:off x="6803999" y="2210400"/>
            <a:ext cx="540000" cy="198000"/>
          </a:xfrm>
          <a:prstGeom prst="rect">
            <a:avLst/>
          </a:prstGeom>
          <a:noFill/>
        </p:spPr>
        <p:txBody>
          <a:bodyPr wrap="square">
            <a:spAutoFit/>
          </a:bodyPr>
          <a:lstStyle/>
          <a:p>
            <a:pPr algn="l"/>
            <a:r>
              <a:rPr sz="800" b="0" i="0">
                <a:solidFill>
                  <a:srgbClr val="B06000"/>
                </a:solidFill>
              </a:rPr>
              <a:t>Neutre</a:t>
            </a:r>
          </a:p>
        </p:txBody>
      </p:sp>
      <p:sp>
        <p:nvSpPr>
          <p:cNvPr id="91" name="TextBox 90"/>
          <p:cNvSpPr txBox="1"/>
          <p:nvPr/>
        </p:nvSpPr>
        <p:spPr>
          <a:xfrm>
            <a:off x="7343999" y="2210400"/>
            <a:ext cx="540000" cy="198000"/>
          </a:xfrm>
          <a:prstGeom prst="rect">
            <a:avLst/>
          </a:prstGeom>
          <a:noFill/>
        </p:spPr>
        <p:txBody>
          <a:bodyPr wrap="square">
            <a:spAutoFit/>
          </a:bodyPr>
          <a:lstStyle/>
          <a:p>
            <a:pPr algn="l"/>
            <a:r>
              <a:rPr sz="800" b="0" i="0">
                <a:solidFill>
                  <a:srgbClr val="555555"/>
                </a:solidFill>
              </a:rPr>
              <a:t>9.8x</a:t>
            </a:r>
          </a:p>
        </p:txBody>
      </p:sp>
      <p:sp>
        <p:nvSpPr>
          <p:cNvPr id="92" name="TextBox 91"/>
          <p:cNvSpPr txBox="1"/>
          <p:nvPr/>
        </p:nvSpPr>
        <p:spPr>
          <a:xfrm>
            <a:off x="7883999" y="2210400"/>
            <a:ext cx="540000" cy="198000"/>
          </a:xfrm>
          <a:prstGeom prst="rect">
            <a:avLst/>
          </a:prstGeom>
          <a:noFill/>
        </p:spPr>
        <p:txBody>
          <a:bodyPr wrap="square">
            <a:spAutoFit/>
          </a:bodyPr>
          <a:lstStyle/>
          <a:p>
            <a:pPr algn="l"/>
            <a:r>
              <a:rPr sz="800" b="0" i="0">
                <a:solidFill>
                  <a:srgbClr val="555555"/>
                </a:solidFill>
              </a:rPr>
              <a:t>60</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Spreads de credit solides, NIM eleves, buybacks soutenus</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Stress immobilier commercial — CRE loans sous surveillance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sp>
        <p:nvSpPr>
          <p:cNvPr id="15" name="Rectangle 14"/>
          <p:cNvSpPr/>
          <p:nvPr/>
        </p:nvSpPr>
        <p:spPr>
          <a:xfrm>
            <a:off x="324000" y="9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8280000" cy="251999"/>
          </a:xfrm>
          <a:prstGeom prst="rect">
            <a:avLst/>
          </a:prstGeom>
          <a:noFill/>
        </p:spPr>
        <p:txBody>
          <a:bodyPr wrap="square">
            <a:spAutoFit/>
          </a:bodyPr>
          <a:lstStyle/>
          <a:p>
            <a:pPr algn="l"/>
            <a:r>
              <a:rPr sz="1100" b="1" i="0">
                <a:solidFill>
                  <a:srgbClr val="1B3A6B"/>
                </a:solidFill>
              </a:rPr>
              <a:t>Optimisation non disponible pour cet indice</a:t>
            </a:r>
          </a:p>
        </p:txBody>
      </p:sp>
      <p:sp>
        <p:nvSpPr>
          <p:cNvPr id="18" name="TextBox 17"/>
          <p:cNvSpPr txBox="1"/>
          <p:nvPr/>
        </p:nvSpPr>
        <p:spPr>
          <a:xfrm>
            <a:off x="432000" y="1224000"/>
            <a:ext cx="8280000" cy="1188000"/>
          </a:xfrm>
          <a:prstGeom prst="rect">
            <a:avLst/>
          </a:prstGeom>
          <a:noFill/>
        </p:spPr>
        <p:txBody>
          <a:bodyPr wrap="square">
            <a:spAutoFit/>
          </a:bodyPr>
          <a:lstStyle/>
          <a:p>
            <a:pPr algn="l"/>
            <a:r>
              <a:rPr sz="900" b="0" i="0">
                <a:solidFill>
                  <a:srgbClr val="555555"/>
                </a:solidFill>
              </a:rPr>
              <a:t>L'optimisation de portefeuille Markowitz repose sur les ETF SPDR sectoriels (XLK, XLV, XLF...) qui ne couvrent que le marche US (S&amp;P 500). Pour les indices europeens (CAC 40, DAX, Euro Stoxx), les proxies sectoriels equivalents ne sont pas disponibles via yfinance. L'optimisation est donc calculee uniquement lors d'une analyse S&amp;P 500.</a:t>
            </a:r>
          </a:p>
        </p:txBody>
      </p:sp>
      <p:sp>
        <p:nvSpPr>
          <p:cNvPr id="19" name="Rectangle 18"/>
          <p:cNvSpPr/>
          <p:nvPr/>
        </p:nvSpPr>
        <p:spPr>
          <a:xfrm>
            <a:off x="324000" y="2700000"/>
            <a:ext cx="8496000" cy="21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2718000"/>
            <a:ext cx="8280000" cy="180000"/>
          </a:xfrm>
          <a:prstGeom prst="rect">
            <a:avLst/>
          </a:prstGeom>
          <a:noFill/>
        </p:spPr>
        <p:txBody>
          <a:bodyPr wrap="square">
            <a:spAutoFit/>
          </a:bodyPr>
          <a:lstStyle/>
          <a:p>
            <a:pPr algn="l"/>
            <a:r>
              <a:rPr sz="800" b="1" i="0">
                <a:solidFill>
                  <a:srgbClr val="FFFFFF"/>
                </a:solidFill>
              </a:rPr>
              <a:t>POSITIONNEMENT SECTORIEL RECOMMANDE (sans optimisation quantitative)</a:t>
            </a:r>
          </a:p>
        </p:txBody>
      </p:sp>
      <p:sp>
        <p:nvSpPr>
          <p:cNvPr id="21" name="Rectangle 20"/>
          <p:cNvSpPr/>
          <p:nvPr/>
        </p:nvSpPr>
        <p:spPr>
          <a:xfrm>
            <a:off x="324000" y="2934000"/>
            <a:ext cx="4104000" cy="14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934000"/>
            <a:ext cx="36000" cy="14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6000" y="2951999"/>
            <a:ext cx="3924000" cy="162000"/>
          </a:xfrm>
          <a:prstGeom prst="rect">
            <a:avLst/>
          </a:prstGeom>
          <a:noFill/>
        </p:spPr>
        <p:txBody>
          <a:bodyPr wrap="square">
            <a:spAutoFit/>
          </a:bodyPr>
          <a:lstStyle/>
          <a:p>
            <a:pPr algn="l"/>
            <a:r>
              <a:rPr sz="750" b="1" i="0">
                <a:solidFill>
                  <a:srgbClr val="1A7A4A"/>
                </a:solidFill>
              </a:rPr>
              <a:t>SURPONDERER</a:t>
            </a:r>
          </a:p>
        </p:txBody>
      </p:sp>
      <p:sp>
        <p:nvSpPr>
          <p:cNvPr id="24" name="TextBox 23"/>
          <p:cNvSpPr txBox="1"/>
          <p:nvPr/>
        </p:nvSpPr>
        <p:spPr>
          <a:xfrm>
            <a:off x="432000" y="3131999"/>
            <a:ext cx="3888000" cy="234000"/>
          </a:xfrm>
          <a:prstGeom prst="rect">
            <a:avLst/>
          </a:prstGeom>
          <a:noFill/>
        </p:spPr>
        <p:txBody>
          <a:bodyPr wrap="square">
            <a:spAutoFit/>
          </a:bodyPr>
          <a:lstStyle/>
          <a:p>
            <a:pPr algn="l"/>
            <a:r>
              <a:rPr sz="800" b="0" i="0">
                <a:solidFill>
                  <a:srgbClr val="555555"/>
                </a:solidFill>
              </a:rPr>
              <a:t>• Technology — score 72/100</a:t>
            </a:r>
          </a:p>
        </p:txBody>
      </p:sp>
      <p:sp>
        <p:nvSpPr>
          <p:cNvPr id="25" name="TextBox 24"/>
          <p:cNvSpPr txBox="1"/>
          <p:nvPr/>
        </p:nvSpPr>
        <p:spPr>
          <a:xfrm>
            <a:off x="432000" y="3401999"/>
            <a:ext cx="3888000" cy="234000"/>
          </a:xfrm>
          <a:prstGeom prst="rect">
            <a:avLst/>
          </a:prstGeom>
          <a:noFill/>
        </p:spPr>
        <p:txBody>
          <a:bodyPr wrap="square">
            <a:spAutoFit/>
          </a:bodyPr>
          <a:lstStyle/>
          <a:p>
            <a:pPr algn="l"/>
            <a:r>
              <a:rPr sz="800" b="0" i="0">
                <a:solidFill>
                  <a:srgbClr val="555555"/>
                </a:solidFill>
              </a:rPr>
              <a:t>• Health Care — score 65/100</a:t>
            </a:r>
          </a:p>
        </p:txBody>
      </p:sp>
      <p:sp>
        <p:nvSpPr>
          <p:cNvPr id="26" name="TextBox 25"/>
          <p:cNvSpPr txBox="1"/>
          <p:nvPr/>
        </p:nvSpPr>
        <p:spPr>
          <a:xfrm>
            <a:off x="432000" y="3671999"/>
            <a:ext cx="3888000" cy="234000"/>
          </a:xfrm>
          <a:prstGeom prst="rect">
            <a:avLst/>
          </a:prstGeom>
          <a:noFill/>
        </p:spPr>
        <p:txBody>
          <a:bodyPr wrap="square">
            <a:spAutoFit/>
          </a:bodyPr>
          <a:lstStyle/>
          <a:p>
            <a:pPr algn="l"/>
            <a:r>
              <a:rPr sz="800" b="0" i="0">
                <a:solidFill>
                  <a:srgbClr val="555555"/>
                </a:solidFill>
              </a:rPr>
              <a:t>• Financials — score 62/100</a:t>
            </a:r>
          </a:p>
        </p:txBody>
      </p:sp>
      <p:sp>
        <p:nvSpPr>
          <p:cNvPr id="27" name="Rectangle 26"/>
          <p:cNvSpPr/>
          <p:nvPr/>
        </p:nvSpPr>
        <p:spPr>
          <a:xfrm>
            <a:off x="4716000" y="2934000"/>
            <a:ext cx="4104000" cy="14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716000" y="2934000"/>
            <a:ext cx="36000" cy="14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88000" y="2951999"/>
            <a:ext cx="3924000" cy="162000"/>
          </a:xfrm>
          <a:prstGeom prst="rect">
            <a:avLst/>
          </a:prstGeom>
          <a:noFill/>
        </p:spPr>
        <p:txBody>
          <a:bodyPr wrap="square">
            <a:spAutoFit/>
          </a:bodyPr>
          <a:lstStyle/>
          <a:p>
            <a:pPr algn="l"/>
            <a:r>
              <a:rPr sz="750" b="1" i="0">
                <a:solidFill>
                  <a:srgbClr val="A82020"/>
                </a:solidFill>
              </a:rPr>
              <a:t>SOUS-PONDERER</a:t>
            </a:r>
          </a:p>
        </p:txBody>
      </p:sp>
      <p:sp>
        <p:nvSpPr>
          <p:cNvPr id="30" name="TextBox 29"/>
          <p:cNvSpPr txBox="1"/>
          <p:nvPr/>
        </p:nvSpPr>
        <p:spPr>
          <a:xfrm>
            <a:off x="4824000" y="3131999"/>
            <a:ext cx="3888000" cy="234000"/>
          </a:xfrm>
          <a:prstGeom prst="rect">
            <a:avLst/>
          </a:prstGeom>
          <a:noFill/>
        </p:spPr>
        <p:txBody>
          <a:bodyPr wrap="square">
            <a:spAutoFit/>
          </a:bodyPr>
          <a:lstStyle/>
          <a:p>
            <a:pPr algn="l"/>
            <a:r>
              <a:rPr sz="800" b="0" i="0">
                <a:solidFill>
                  <a:srgbClr val="555555"/>
                </a:solidFill>
              </a:rPr>
              <a:t>• Real Estate — score 38/100</a:t>
            </a:r>
          </a:p>
        </p:txBody>
      </p:sp>
      <p:sp>
        <p:nvSpPr>
          <p:cNvPr id="31" name="TextBox 30"/>
          <p:cNvSpPr txBox="1"/>
          <p:nvPr/>
        </p:nvSpPr>
        <p:spPr>
          <a:xfrm>
            <a:off x="4824000" y="3401999"/>
            <a:ext cx="3888000" cy="234000"/>
          </a:xfrm>
          <a:prstGeom prst="rect">
            <a:avLst/>
          </a:prstGeom>
          <a:noFill/>
        </p:spPr>
        <p:txBody>
          <a:bodyPr wrap="square">
            <a:spAutoFit/>
          </a:bodyPr>
          <a:lstStyle/>
          <a:p>
            <a:pPr algn="l"/>
            <a:r>
              <a:rPr sz="800" b="0" i="0">
                <a:solidFill>
                  <a:srgbClr val="555555"/>
                </a:solidFill>
              </a:rPr>
              <a:t>• Utilities — score 36/100</a:t>
            </a:r>
          </a:p>
        </p:txBody>
      </p:sp>
      <p:sp>
        <p:nvSpPr>
          <p:cNvPr id="32" name="Rectangle 3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d'entree Accumuler / Neutre / Alleger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d'entree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mediane 10 ans : 18.2x
PE Forward indice : 21.5x
Zone d'entree favorable (PE &lt; mediane) :
Financials
Zone de prudence (PE &gt; mediane +15 %) :
Technology
Methodologie : le PE Forward estime est ancre sur le PE global de l'indice ajuste du score sectoriel (+/- ecart). Les secteurs a gauche de la ligne pointillee (mediane 10 ans) offrent un meilleur point d'entree. Un ecart &gt; +20 % vs la mediane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Neutre</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NEUTRE</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DAX40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11 secteurs  ·  Signal composite</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composite secteurs</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620000" cy="162000"/>
          </a:xfrm>
          <a:prstGeom prst="rect">
            <a:avLst/>
          </a:prstGeom>
          <a:noFill/>
        </p:spPr>
        <p:txBody>
          <a:bodyPr wrap="square">
            <a:spAutoFit/>
          </a:bodyPr>
          <a:lstStyle/>
          <a:p>
            <a:pPr algn="l"/>
            <a:r>
              <a:rPr sz="850" b="1" i="0">
                <a:solidFill>
                  <a:srgbClr val="FFFFFF"/>
                </a:solidFill>
              </a:rPr>
              <a:t>Surpondérer</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secteurs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62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secteurs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620000" cy="162000"/>
          </a:xfrm>
          <a:prstGeom prst="rect">
            <a:avLst/>
          </a:prstGeom>
          <a:noFill/>
        </p:spPr>
        <p:txBody>
          <a:bodyPr wrap="square">
            <a:spAutoFit/>
          </a:bodyPr>
          <a:lstStyle/>
          <a:p>
            <a:pPr algn="l"/>
            <a:r>
              <a:rPr sz="850" b="1" i="0">
                <a:solidFill>
                  <a:srgbClr val="1A1A1A"/>
                </a:solidFill>
              </a:rPr>
              <a:t>Sous-pondérer</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secteurs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Secteurs leaders / retardataires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Surpondérer :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Sous-pondérer :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Score composite par secteur (dérivé du score quantitatif)</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ETF sectoriels SPDR/iShares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XLK  —  Technology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+18.4 %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XLF  —  Financials</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+12.1 %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XLC  —  Comm. Services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+9.2 %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+8.4 %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XLY  —  Consumer Disc.</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+6.8 %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+5.4 %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XLP  —  Consumer Staples</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+2.1 %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XLB  —  Materials</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+1.8 %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XLK (Technology) domine avec +18.4 % — confirmation du signal Surpondérer soutenu par la monétisation IA. XLU (Utilities) sous-performe (-5.4 %) en ligne avec le signal Sous-pondérer.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