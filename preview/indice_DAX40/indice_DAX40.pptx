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27 %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52/100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3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6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11 secteurs  ·  503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5 210  ·  YTD : +4.8%  ·  P/E Forward : 21.5x  ·  ERP : 4.2%  ·  Conviction 27 %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828000" cy="162000"/>
          </a:xfrm>
          <a:prstGeom prst="rect">
            <a:avLst/>
          </a:prstGeom>
          <a:noFill/>
        </p:spPr>
        <p:txBody>
          <a:bodyPr wrap="square" anchor="ctr">
            <a:spAutoFit/>
          </a:bodyPr>
          <a:lstStyle/>
          <a:p>
            <a:pPr algn="ctr"/>
            <a:r>
              <a:rPr sz="750" b="1" i="0">
                <a:solidFill>
                  <a:srgbClr val="FFFFFF"/>
                </a:solidFill>
              </a:rPr>
              <a:t>Régime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68000"/>
            <a:ext cx="738000" cy="162000"/>
          </a:xfrm>
          <a:prstGeom prst="rect">
            <a:avLst/>
          </a:prstGeom>
          <a:noFill/>
        </p:spPr>
        <p:txBody>
          <a:bodyPr wrap="square" anchor="ctr">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68000"/>
            <a:ext cx="738000" cy="162000"/>
          </a:xfrm>
          <a:prstGeom prst="rect">
            <a:avLst/>
          </a:prstGeom>
          <a:noFill/>
        </p:spPr>
        <p:txBody>
          <a:bodyPr wrap="square" anchor="ctr">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DAX40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 secteurs (Real Estate, Utilities) sont Sous-ponderer sous pression directe de la politique monetaire.  Le DAX40 affiche un cours de 5 210 (YTD : +4.8%). P/E Forward 21.5x vs médiane historique 10 ans 18.2x — valorisation en ligne avec l'historique. ERP Damodaran 4.2%. Score composite moyen : —/100 —...</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DAX40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21.5x vs médiane historique 18.2x — valorisation proche des normes historiques. ERP Damodaran : 4.2%. Secteurs a Surponderer : Technology  ·  Health Care  ·  Financials. Secteurs a Sous-ponderer : Real Estate  ·  Utilities.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3 secteur(s) sur 11 franchissent le seuil Surpondérer (score &gt; 65) : Technology · Health Care · Financials. 2 secteur(s) en Sous-pondérer : Real Estate · Utilities. 6 secteur(s) en position Neutre. L'écart entre le secteur leader (Technology, score 72/100) et le secteur le plus faible (Utilities, score 36/100)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684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152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92000"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232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684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152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692000"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232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684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3978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518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5058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684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3978000" y="2210400"/>
            <a:ext cx="540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518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5058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684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803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343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883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684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803999" y="2210400"/>
            <a:ext cx="540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343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883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Technology — score 72/100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Health Care — score 65/100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Financials — score 62/100</a:t>
            </a:r>
          </a:p>
        </p:txBody>
      </p:sp>
      <p:sp>
        <p:nvSpPr>
          <p:cNvPr id="27" name="Rectangle 26"/>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0" name="TextBox 29"/>
          <p:cNvSpPr txBox="1"/>
          <p:nvPr/>
        </p:nvSpPr>
        <p:spPr>
          <a:xfrm>
            <a:off x="4824000" y="3131999"/>
            <a:ext cx="3888000" cy="234000"/>
          </a:xfrm>
          <a:prstGeom prst="rect">
            <a:avLst/>
          </a:prstGeom>
          <a:noFill/>
        </p:spPr>
        <p:txBody>
          <a:bodyPr wrap="square">
            <a:spAutoFit/>
          </a:bodyPr>
          <a:lstStyle/>
          <a:p>
            <a:pPr algn="l"/>
            <a:r>
              <a:rPr sz="800" b="0" i="0">
                <a:solidFill>
                  <a:srgbClr val="555555"/>
                </a:solidFill>
              </a:rPr>
              <a:t>• Real Estate — score 38/100</a:t>
            </a:r>
          </a:p>
        </p:txBody>
      </p:sp>
      <p:sp>
        <p:nvSpPr>
          <p:cNvPr id="31" name="TextBox 30"/>
          <p:cNvSpPr txBox="1"/>
          <p:nvPr/>
        </p:nvSpPr>
        <p:spPr>
          <a:xfrm>
            <a:off x="4824000" y="3401999"/>
            <a:ext cx="3888000" cy="234000"/>
          </a:xfrm>
          <a:prstGeom prst="rect">
            <a:avLst/>
          </a:prstGeom>
          <a:noFill/>
        </p:spPr>
        <p:txBody>
          <a:bodyPr wrap="square">
            <a:spAutoFit/>
          </a:bodyPr>
          <a:lstStyle/>
          <a:p>
            <a:pPr algn="l"/>
            <a:r>
              <a:rPr sz="800" b="0" i="0">
                <a:solidFill>
                  <a:srgbClr val="555555"/>
                </a:solidFill>
              </a:rPr>
              <a:t>• Utilities — score 36/100</a:t>
            </a:r>
          </a:p>
        </p:txBody>
      </p:sp>
      <p:sp>
        <p:nvSpPr>
          <p:cNvPr id="32" name="Rectangle 3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21.5x
Zone d'entrée favorable (PE &lt; mediane) :
Financials
Zone de prudence (PE &gt; mediane +15 %) :
Technology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