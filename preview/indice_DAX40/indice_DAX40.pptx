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rPr>
              <a:t>Pitchbook  ·  Analyse d'Indice</a:t>
            </a:r>
          </a:p>
        </p:txBody>
      </p:sp>
      <p:sp>
        <p:nvSpPr>
          <p:cNvPr id="6" name="TextBox 5"/>
          <p:cNvSpPr txBox="1"/>
          <p:nvPr/>
        </p:nvSpPr>
        <p:spPr>
          <a:xfrm>
            <a:off x="457200" y="1512000"/>
            <a:ext cx="8229600" cy="576000"/>
          </a:xfrm>
          <a:prstGeom prst="rect">
            <a:avLst/>
          </a:prstGeom>
          <a:noFill/>
        </p:spPr>
        <p:txBody>
          <a:bodyPr wrap="square">
            <a:spAutoFit/>
          </a:bodyPr>
          <a:lstStyle/>
          <a:p>
            <a:pPr algn="ctr"/>
            <a:r>
              <a:rPr sz="3200" b="1" i="0">
                <a:solidFill>
                  <a:srgbClr val="1B3A6B"/>
                </a:solidFill>
              </a:rPr>
              <a:t>DAX40</a:t>
            </a:r>
          </a:p>
        </p:txBody>
      </p:sp>
      <p:sp>
        <p:nvSpPr>
          <p:cNvPr id="7" name="TextBox 6"/>
          <p:cNvSpPr txBox="1"/>
          <p:nvPr/>
        </p:nvSpPr>
        <p:spPr>
          <a:xfrm>
            <a:off x="457200" y="2124000"/>
            <a:ext cx="8229600" cy="255600"/>
          </a:xfrm>
          <a:prstGeom prst="rect">
            <a:avLst/>
          </a:prstGeom>
          <a:noFill/>
        </p:spPr>
        <p:txBody>
          <a:bodyPr wrap="square">
            <a:spAutoFit/>
          </a:bodyPr>
          <a:lstStyle/>
          <a:p>
            <a:pPr algn="ctr"/>
            <a:r>
              <a:rPr sz="1100" b="0" i="0">
                <a:solidFill>
                  <a:srgbClr val="888888"/>
                </a:solidFill>
              </a:rPr>
              <a:t>^GSPC  ·  11 secteurs analysés  ·  503 sociétés couvertes</a:t>
            </a:r>
          </a:p>
        </p:txBody>
      </p:sp>
      <p:sp>
        <p:nvSpPr>
          <p:cNvPr id="8" name="Rectangle 7"/>
          <p:cNvSpPr/>
          <p:nvPr/>
        </p:nvSpPr>
        <p:spPr>
          <a:xfrm>
            <a:off x="457200" y="2448000"/>
            <a:ext cx="8229600" cy="475200"/>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48000"/>
            <a:ext cx="46800" cy="4752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2466000"/>
            <a:ext cx="8063999" cy="439200"/>
          </a:xfrm>
          <a:prstGeom prst="rect">
            <a:avLst/>
          </a:prstGeom>
          <a:noFill/>
        </p:spPr>
        <p:txBody>
          <a:bodyPr wrap="square">
            <a:spAutoFit/>
          </a:bodyPr>
          <a:lstStyle/>
          <a:p>
            <a:pPr algn="ctr"/>
            <a:r>
              <a:rPr sz="900" b="1" i="0">
                <a:solidFill>
                  <a:srgbClr val="B06000"/>
                </a:solidFill>
              </a:rPr>
              <a:t>● NEUTRE  ·  Conviction 27 %</a:t>
            </a:r>
          </a:p>
        </p:txBody>
      </p:sp>
      <p:sp>
        <p:nvSpPr>
          <p:cNvPr id="11" name="Rectangle 10"/>
          <p:cNvSpPr/>
          <p:nvPr/>
        </p:nvSpPr>
        <p:spPr>
          <a:xfrm>
            <a:off x="4572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9200" y="3096000"/>
            <a:ext cx="1800000" cy="180000"/>
          </a:xfrm>
          <a:prstGeom prst="rect">
            <a:avLst/>
          </a:prstGeom>
          <a:noFill/>
        </p:spPr>
        <p:txBody>
          <a:bodyPr wrap="square">
            <a:spAutoFit/>
          </a:bodyPr>
          <a:lstStyle/>
          <a:p>
            <a:pPr algn="l"/>
            <a:r>
              <a:rPr sz="750" b="0" i="0">
                <a:solidFill>
                  <a:srgbClr val="555555"/>
                </a:solidFill>
              </a:rPr>
              <a:t>Score médian</a:t>
            </a:r>
          </a:p>
        </p:txBody>
      </p:sp>
      <p:sp>
        <p:nvSpPr>
          <p:cNvPr id="13" name="TextBox 12"/>
          <p:cNvSpPr txBox="1"/>
          <p:nvPr/>
        </p:nvSpPr>
        <p:spPr>
          <a:xfrm>
            <a:off x="529200" y="3258000"/>
            <a:ext cx="1800000" cy="324000"/>
          </a:xfrm>
          <a:prstGeom prst="rect">
            <a:avLst/>
          </a:prstGeom>
          <a:noFill/>
        </p:spPr>
        <p:txBody>
          <a:bodyPr wrap="square">
            <a:spAutoFit/>
          </a:bodyPr>
          <a:lstStyle/>
          <a:p>
            <a:pPr algn="l"/>
            <a:r>
              <a:rPr sz="1300" b="1" i="0">
                <a:solidFill>
                  <a:srgbClr val="1B3A6B"/>
                </a:solidFill>
              </a:rPr>
              <a:t>52/100</a:t>
            </a:r>
          </a:p>
        </p:txBody>
      </p:sp>
      <p:sp>
        <p:nvSpPr>
          <p:cNvPr id="14" name="Rectangle 13"/>
          <p:cNvSpPr/>
          <p:nvPr/>
        </p:nvSpPr>
        <p:spPr>
          <a:xfrm>
            <a:off x="25146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86600" y="3096000"/>
            <a:ext cx="1800000" cy="180000"/>
          </a:xfrm>
          <a:prstGeom prst="rect">
            <a:avLst/>
          </a:prstGeom>
          <a:noFill/>
        </p:spPr>
        <p:txBody>
          <a:bodyPr wrap="square">
            <a:spAutoFit/>
          </a:bodyPr>
          <a:lstStyle/>
          <a:p>
            <a:pPr algn="l"/>
            <a:r>
              <a:rPr sz="750" b="0" i="0">
                <a:solidFill>
                  <a:srgbClr val="555555"/>
                </a:solidFill>
              </a:rPr>
              <a:t>Surpondérer</a:t>
            </a:r>
          </a:p>
        </p:txBody>
      </p:sp>
      <p:sp>
        <p:nvSpPr>
          <p:cNvPr id="16" name="TextBox 15"/>
          <p:cNvSpPr txBox="1"/>
          <p:nvPr/>
        </p:nvSpPr>
        <p:spPr>
          <a:xfrm>
            <a:off x="2586600" y="3258000"/>
            <a:ext cx="1800000" cy="324000"/>
          </a:xfrm>
          <a:prstGeom prst="rect">
            <a:avLst/>
          </a:prstGeom>
          <a:noFill/>
        </p:spPr>
        <p:txBody>
          <a:bodyPr wrap="square">
            <a:spAutoFit/>
          </a:bodyPr>
          <a:lstStyle/>
          <a:p>
            <a:pPr algn="l"/>
            <a:r>
              <a:rPr sz="1300" b="1" i="0">
                <a:solidFill>
                  <a:srgbClr val="1B3A6B"/>
                </a:solidFill>
              </a:rPr>
              <a:t>3 sect.</a:t>
            </a:r>
          </a:p>
        </p:txBody>
      </p:sp>
      <p:sp>
        <p:nvSpPr>
          <p:cNvPr id="17" name="Rectangle 16"/>
          <p:cNvSpPr/>
          <p:nvPr/>
        </p:nvSpPr>
        <p:spPr>
          <a:xfrm>
            <a:off x="45720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3999" y="3096000"/>
            <a:ext cx="1800000" cy="180000"/>
          </a:xfrm>
          <a:prstGeom prst="rect">
            <a:avLst/>
          </a:prstGeom>
          <a:noFill/>
        </p:spPr>
        <p:txBody>
          <a:bodyPr wrap="square">
            <a:spAutoFit/>
          </a:bodyPr>
          <a:lstStyle/>
          <a:p>
            <a:pPr algn="l"/>
            <a:r>
              <a:rPr sz="750" b="0" i="0">
                <a:solidFill>
                  <a:srgbClr val="555555"/>
                </a:solidFill>
              </a:rPr>
              <a:t>Neutre</a:t>
            </a:r>
          </a:p>
        </p:txBody>
      </p:sp>
      <p:sp>
        <p:nvSpPr>
          <p:cNvPr id="19" name="TextBox 18"/>
          <p:cNvSpPr txBox="1"/>
          <p:nvPr/>
        </p:nvSpPr>
        <p:spPr>
          <a:xfrm>
            <a:off x="4643999" y="3258000"/>
            <a:ext cx="1800000" cy="324000"/>
          </a:xfrm>
          <a:prstGeom prst="rect">
            <a:avLst/>
          </a:prstGeom>
          <a:noFill/>
        </p:spPr>
        <p:txBody>
          <a:bodyPr wrap="square">
            <a:spAutoFit/>
          </a:bodyPr>
          <a:lstStyle/>
          <a:p>
            <a:pPr algn="l"/>
            <a:r>
              <a:rPr sz="1300" b="1" i="0">
                <a:solidFill>
                  <a:srgbClr val="1B3A6B"/>
                </a:solidFill>
              </a:rPr>
              <a:t>6 sect.</a:t>
            </a:r>
          </a:p>
        </p:txBody>
      </p:sp>
      <p:sp>
        <p:nvSpPr>
          <p:cNvPr id="20" name="Rectangle 19"/>
          <p:cNvSpPr/>
          <p:nvPr/>
        </p:nvSpPr>
        <p:spPr>
          <a:xfrm>
            <a:off x="66294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01399" y="3096000"/>
            <a:ext cx="1800000" cy="180000"/>
          </a:xfrm>
          <a:prstGeom prst="rect">
            <a:avLst/>
          </a:prstGeom>
          <a:noFill/>
        </p:spPr>
        <p:txBody>
          <a:bodyPr wrap="square">
            <a:spAutoFit/>
          </a:bodyPr>
          <a:lstStyle/>
          <a:p>
            <a:pPr algn="l"/>
            <a:r>
              <a:rPr sz="750" b="0" i="0">
                <a:solidFill>
                  <a:srgbClr val="555555"/>
                </a:solidFill>
              </a:rPr>
              <a:t>Sous-pondérer</a:t>
            </a:r>
          </a:p>
        </p:txBody>
      </p:sp>
      <p:sp>
        <p:nvSpPr>
          <p:cNvPr id="22" name="TextBox 21"/>
          <p:cNvSpPr txBox="1"/>
          <p:nvPr/>
        </p:nvSpPr>
        <p:spPr>
          <a:xfrm>
            <a:off x="6701399" y="3258000"/>
            <a:ext cx="1800000" cy="324000"/>
          </a:xfrm>
          <a:prstGeom prst="rect">
            <a:avLst/>
          </a:prstGeom>
          <a:noFill/>
        </p:spPr>
        <p:txBody>
          <a:bodyPr wrap="square">
            <a:spAutoFit/>
          </a:bodyPr>
          <a:lstStyle/>
          <a:p>
            <a:pPr algn="l"/>
            <a:r>
              <a:rPr sz="1300" b="1" i="0">
                <a:solidFill>
                  <a:srgbClr val="1B3A6B"/>
                </a:solidFill>
              </a:rPr>
              <a:t>2 sect.</a:t>
            </a:r>
          </a:p>
        </p:txBody>
      </p:sp>
      <p:sp>
        <p:nvSpPr>
          <p:cNvPr id="23" name="Rectangle 22"/>
          <p:cNvSpPr/>
          <p:nvPr/>
        </p:nvSpPr>
        <p:spPr>
          <a:xfrm>
            <a:off x="367200" y="4248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7200" y="4338000"/>
            <a:ext cx="4114800" cy="201600"/>
          </a:xfrm>
          <a:prstGeom prst="rect">
            <a:avLst/>
          </a:prstGeom>
          <a:noFill/>
        </p:spPr>
        <p:txBody>
          <a:bodyPr wrap="square">
            <a:spAutoFit/>
          </a:bodyPr>
          <a:lstStyle/>
          <a:p>
            <a:pPr algn="l"/>
            <a:r>
              <a:rPr sz="800" b="0" i="0">
                <a:solidFill>
                  <a:srgbClr val="555555"/>
                </a:solidFill>
              </a:rPr>
              <a:t>Rapport confidentiel</a:t>
            </a:r>
          </a:p>
        </p:txBody>
      </p:sp>
      <p:sp>
        <p:nvSpPr>
          <p:cNvPr id="25" name="TextBox 24"/>
          <p:cNvSpPr txBox="1"/>
          <p:nvPr/>
        </p:nvSpPr>
        <p:spPr>
          <a:xfrm>
            <a:off x="4662000" y="4338000"/>
            <a:ext cx="4114800" cy="201600"/>
          </a:xfrm>
          <a:prstGeom prst="rect">
            <a:avLst/>
          </a:prstGeom>
          <a:noFill/>
        </p:spPr>
        <p:txBody>
          <a:bodyPr wrap="square">
            <a:spAutoFit/>
          </a:bodyPr>
          <a:lstStyle/>
          <a:p>
            <a:pPr algn="r"/>
            <a:r>
              <a:rPr sz="800" b="0" i="0">
                <a:solidFill>
                  <a:srgbClr val="555555"/>
                </a:solidFill>
              </a:rPr>
              <a:t>3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DAX40 (^GSPC)  ·  11 secteurs  ·  503 sociétés  ·  Horizon 12 mois</a:t>
            </a:r>
          </a:p>
        </p:txBody>
      </p:sp>
      <p:sp>
        <p:nvSpPr>
          <p:cNvPr id="15" name="Rectangle 14"/>
          <p:cNvSpPr/>
          <p:nvPr/>
        </p:nvSpPr>
        <p:spPr>
          <a:xfrm>
            <a:off x="324000" y="827999"/>
            <a:ext cx="1728000" cy="27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6000" y="846000"/>
            <a:ext cx="1584000" cy="198000"/>
          </a:xfrm>
          <a:prstGeom prst="rect">
            <a:avLst/>
          </a:prstGeom>
          <a:noFill/>
        </p:spPr>
        <p:txBody>
          <a:bodyPr wrap="square">
            <a:spAutoFit/>
          </a:bodyPr>
          <a:lstStyle/>
          <a:p>
            <a:pPr algn="l"/>
            <a:r>
              <a:rPr sz="1000" b="1" i="0">
                <a:solidFill>
                  <a:srgbClr val="FFFFFF"/>
                </a:solidFill>
              </a:rPr>
              <a:t>NEUTRE</a:t>
            </a:r>
          </a:p>
        </p:txBody>
      </p:sp>
      <p:sp>
        <p:nvSpPr>
          <p:cNvPr id="17" name="TextBox 16"/>
          <p:cNvSpPr txBox="1"/>
          <p:nvPr/>
        </p:nvSpPr>
        <p:spPr>
          <a:xfrm>
            <a:off x="324000" y="1134000"/>
            <a:ext cx="8496000" cy="198000"/>
          </a:xfrm>
          <a:prstGeom prst="rect">
            <a:avLst/>
          </a:prstGeom>
          <a:noFill/>
        </p:spPr>
        <p:txBody>
          <a:bodyPr wrap="square">
            <a:spAutoFit/>
          </a:bodyPr>
          <a:lstStyle/>
          <a:p>
            <a:pPr algn="l"/>
            <a:r>
              <a:rPr sz="800" b="0" i="0">
                <a:solidFill>
                  <a:srgbClr val="555555"/>
                </a:solidFill>
              </a:rPr>
              <a:t>Cours : 5 210  ·  YTD : +4.8%  ·  P/E Forward : 21.5x  ·  ERP : 4.2%  ·  Conviction 27 %</a:t>
            </a:r>
          </a:p>
        </p:txBody>
      </p:sp>
      <p:sp>
        <p:nvSpPr>
          <p:cNvPr id="18" name="Rectangle 17"/>
          <p:cNvSpPr/>
          <p:nvPr/>
        </p:nvSpPr>
        <p:spPr>
          <a:xfrm>
            <a:off x="324000" y="1368000"/>
            <a:ext cx="882000" cy="16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0000" y="1368000"/>
            <a:ext cx="828000" cy="162000"/>
          </a:xfrm>
          <a:prstGeom prst="rect">
            <a:avLst/>
          </a:prstGeom>
          <a:noFill/>
        </p:spPr>
        <p:txBody>
          <a:bodyPr wrap="square" anchor="ctr">
            <a:spAutoFit/>
          </a:bodyPr>
          <a:lstStyle/>
          <a:p>
            <a:pPr algn="ctr"/>
            <a:r>
              <a:rPr sz="750" b="1" i="0">
                <a:solidFill>
                  <a:srgbClr val="FFFFFF"/>
                </a:solidFill>
              </a:rPr>
              <a:t>Régime Volatile</a:t>
            </a:r>
          </a:p>
        </p:txBody>
      </p:sp>
      <p:sp>
        <p:nvSpPr>
          <p:cNvPr id="20" name="Rectangle 19"/>
          <p:cNvSpPr/>
          <p:nvPr/>
        </p:nvSpPr>
        <p:spPr>
          <a:xfrm>
            <a:off x="1260000" y="1368000"/>
            <a:ext cx="792000" cy="16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96000" y="1368000"/>
            <a:ext cx="738000" cy="162000"/>
          </a:xfrm>
          <a:prstGeom prst="rect">
            <a:avLst/>
          </a:prstGeom>
          <a:noFill/>
        </p:spPr>
        <p:txBody>
          <a:bodyPr wrap="square" anchor="ctr">
            <a:spAutoFit/>
          </a:bodyPr>
          <a:lstStyle/>
          <a:p>
            <a:pPr algn="ctr"/>
            <a:r>
              <a:rPr sz="750" b="0" i="0">
                <a:solidFill>
                  <a:srgbClr val="1B3A6B"/>
                </a:solidFill>
              </a:rPr>
              <a:t>VIX 24</a:t>
            </a:r>
          </a:p>
        </p:txBody>
      </p:sp>
      <p:sp>
        <p:nvSpPr>
          <p:cNvPr id="22" name="Rectangle 21"/>
          <p:cNvSpPr/>
          <p:nvPr/>
        </p:nvSpPr>
        <p:spPr>
          <a:xfrm>
            <a:off x="2106000" y="1368000"/>
            <a:ext cx="792000" cy="16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41999" y="1368000"/>
            <a:ext cx="738000" cy="162000"/>
          </a:xfrm>
          <a:prstGeom prst="rect">
            <a:avLst/>
          </a:prstGeom>
          <a:noFill/>
        </p:spPr>
        <p:txBody>
          <a:bodyPr wrap="square" anchor="ctr">
            <a:spAutoFit/>
          </a:bodyPr>
          <a:lstStyle/>
          <a:p>
            <a:pPr algn="ctr"/>
            <a:r>
              <a:rPr sz="750" b="0" i="0">
                <a:solidFill>
                  <a:srgbClr val="1B3A6B"/>
                </a:solidFill>
              </a:rPr>
              <a:t>Spread +0.7%</a:t>
            </a:r>
          </a:p>
        </p:txBody>
      </p:sp>
      <p:sp>
        <p:nvSpPr>
          <p:cNvPr id="24" name="Rectangle 23"/>
          <p:cNvSpPr/>
          <p:nvPr/>
        </p:nvSpPr>
        <p:spPr>
          <a:xfrm>
            <a:off x="2951999" y="1368000"/>
            <a:ext cx="792000" cy="16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87999" y="1368000"/>
            <a:ext cx="738000" cy="162000"/>
          </a:xfrm>
          <a:prstGeom prst="rect">
            <a:avLst/>
          </a:prstGeom>
          <a:noFill/>
        </p:spPr>
        <p:txBody>
          <a:bodyPr wrap="square" anchor="ctr">
            <a:spAutoFit/>
          </a:bodyPr>
          <a:lstStyle/>
          <a:p>
            <a:pPr algn="ctr"/>
            <a:r>
              <a:rPr sz="750" b="0" i="0">
                <a:solidFill>
                  <a:srgbClr val="1B3A6B"/>
                </a:solidFill>
              </a:rPr>
              <a:t>Rec. 6M 26%</a:t>
            </a:r>
          </a:p>
        </p:txBody>
      </p:sp>
      <p:sp>
        <p:nvSpPr>
          <p:cNvPr id="26" name="Rectangle 25"/>
          <p:cNvSpPr/>
          <p:nvPr/>
        </p:nvSpPr>
        <p:spPr>
          <a:xfrm>
            <a:off x="324000" y="1584000"/>
            <a:ext cx="8496000" cy="1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6000" y="1602000"/>
            <a:ext cx="8208000" cy="144000"/>
          </a:xfrm>
          <a:prstGeom prst="rect">
            <a:avLst/>
          </a:prstGeom>
          <a:noFill/>
        </p:spPr>
        <p:txBody>
          <a:bodyPr wrap="square">
            <a:spAutoFit/>
          </a:bodyPr>
          <a:lstStyle/>
          <a:p>
            <a:pPr algn="l"/>
            <a:r>
              <a:rPr sz="750" b="1" i="0">
                <a:solidFill>
                  <a:srgbClr val="FFFFFF"/>
                </a:solidFill>
              </a:rPr>
              <a:t>CATALYSEURS MACRO</a:t>
            </a:r>
          </a:p>
        </p:txBody>
      </p:sp>
      <p:sp>
        <p:nvSpPr>
          <p:cNvPr id="28" name="Rectangle 27"/>
          <p:cNvSpPr/>
          <p:nvPr/>
        </p:nvSpPr>
        <p:spPr>
          <a:xfrm>
            <a:off x="324000" y="1818000"/>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3999" y="1818000"/>
            <a:ext cx="8028000" cy="162000"/>
          </a:xfrm>
          <a:prstGeom prst="rect">
            <a:avLst/>
          </a:prstGeom>
          <a:noFill/>
        </p:spPr>
        <p:txBody>
          <a:bodyPr wrap="square">
            <a:spAutoFit/>
          </a:bodyPr>
          <a:lstStyle/>
          <a:p>
            <a:pPr algn="l"/>
            <a:r>
              <a:rPr sz="800" b="1" i="0">
                <a:solidFill>
                  <a:srgbClr val="1B3A6B"/>
                </a:solidFill>
              </a:rPr>
              <a:t>Cycle IA</a:t>
            </a:r>
          </a:p>
        </p:txBody>
      </p:sp>
      <p:sp>
        <p:nvSpPr>
          <p:cNvPr id="30" name="TextBox 29"/>
          <p:cNvSpPr txBox="1"/>
          <p:nvPr/>
        </p:nvSpPr>
        <p:spPr>
          <a:xfrm>
            <a:off x="413999" y="1980000"/>
            <a:ext cx="8028000" cy="198000"/>
          </a:xfrm>
          <a:prstGeom prst="rect">
            <a:avLst/>
          </a:prstGeom>
          <a:noFill/>
        </p:spPr>
        <p:txBody>
          <a:bodyPr wrap="square">
            <a:spAutoFit/>
          </a:bodyPr>
          <a:lstStyle/>
          <a:p>
            <a:pPr algn="l"/>
            <a:r>
              <a:rPr sz="750" b="0" i="0">
                <a:solidFill>
                  <a:srgbClr val="555555"/>
                </a:solidFill>
              </a:rPr>
              <a:t>CAPEX hyperscalers +35% YoY — monetisation acceleree services cloud et semi</a:t>
            </a:r>
          </a:p>
        </p:txBody>
      </p:sp>
      <p:sp>
        <p:nvSpPr>
          <p:cNvPr id="31" name="Rectangle 30"/>
          <p:cNvSpPr/>
          <p:nvPr/>
        </p:nvSpPr>
        <p:spPr>
          <a:xfrm>
            <a:off x="324000" y="2160000"/>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3999" y="2160000"/>
            <a:ext cx="8028000" cy="162000"/>
          </a:xfrm>
          <a:prstGeom prst="rect">
            <a:avLst/>
          </a:prstGeom>
          <a:noFill/>
        </p:spPr>
        <p:txBody>
          <a:bodyPr wrap="square">
            <a:spAutoFit/>
          </a:bodyPr>
          <a:lstStyle/>
          <a:p>
            <a:pPr algn="l"/>
            <a:r>
              <a:rPr sz="800" b="1" i="0">
                <a:solidFill>
                  <a:srgbClr val="1B3A6B"/>
                </a:solidFill>
              </a:rPr>
              <a:t>Desinflation</a:t>
            </a:r>
          </a:p>
        </p:txBody>
      </p:sp>
      <p:sp>
        <p:nvSpPr>
          <p:cNvPr id="33" name="TextBox 32"/>
          <p:cNvSpPr txBox="1"/>
          <p:nvPr/>
        </p:nvSpPr>
        <p:spPr>
          <a:xfrm>
            <a:off x="413999" y="2322000"/>
            <a:ext cx="8028000" cy="198000"/>
          </a:xfrm>
          <a:prstGeom prst="rect">
            <a:avLst/>
          </a:prstGeom>
          <a:noFill/>
        </p:spPr>
        <p:txBody>
          <a:bodyPr wrap="square">
            <a:spAutoFit/>
          </a:bodyPr>
          <a:lstStyle/>
          <a:p>
            <a:pPr algn="l"/>
            <a:r>
              <a:rPr sz="750" b="0" i="0">
                <a:solidFill>
                  <a:srgbClr val="555555"/>
                </a:solidFill>
              </a:rPr>
              <a:t>PCE Core convergence vers 2.5% d ici fin 2026 — Fed pivot dovish attendu</a:t>
            </a:r>
          </a:p>
        </p:txBody>
      </p:sp>
      <p:sp>
        <p:nvSpPr>
          <p:cNvPr id="34" name="Rectangle 33"/>
          <p:cNvSpPr/>
          <p:nvPr/>
        </p:nvSpPr>
        <p:spPr>
          <a:xfrm>
            <a:off x="324000" y="2501999"/>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3999" y="2501999"/>
            <a:ext cx="8028000" cy="162000"/>
          </a:xfrm>
          <a:prstGeom prst="rect">
            <a:avLst/>
          </a:prstGeom>
          <a:noFill/>
        </p:spPr>
        <p:txBody>
          <a:bodyPr wrap="square">
            <a:spAutoFit/>
          </a:bodyPr>
          <a:lstStyle/>
          <a:p>
            <a:pPr algn="l"/>
            <a:r>
              <a:rPr sz="800" b="1" i="0">
                <a:solidFill>
                  <a:srgbClr val="1B3A6B"/>
                </a:solidFill>
              </a:rPr>
              <a:t>Resilience margins</a:t>
            </a:r>
          </a:p>
        </p:txBody>
      </p:sp>
      <p:sp>
        <p:nvSpPr>
          <p:cNvPr id="36" name="TextBox 35"/>
          <p:cNvSpPr txBox="1"/>
          <p:nvPr/>
        </p:nvSpPr>
        <p:spPr>
          <a:xfrm>
            <a:off x="413999" y="2664000"/>
            <a:ext cx="8028000" cy="198000"/>
          </a:xfrm>
          <a:prstGeom prst="rect">
            <a:avLst/>
          </a:prstGeom>
          <a:noFill/>
        </p:spPr>
        <p:txBody>
          <a:bodyPr wrap="square">
            <a:spAutoFit/>
          </a:bodyPr>
          <a:lstStyle/>
          <a:p>
            <a:pPr algn="l"/>
            <a:r>
              <a:rPr sz="750" b="0" i="0">
                <a:solidFill>
                  <a:srgbClr val="555555"/>
                </a:solidFill>
              </a:rPr>
              <a:t>Marges nettes S&amp;P 500 a 12.4% vs 11.8% consensus — revision haussiere BPA</a:t>
            </a:r>
          </a:p>
        </p:txBody>
      </p:sp>
      <p:sp>
        <p:nvSpPr>
          <p:cNvPr id="37" name="Rectangle 36"/>
          <p:cNvSpPr/>
          <p:nvPr/>
        </p:nvSpPr>
        <p:spPr>
          <a:xfrm>
            <a:off x="324000" y="2988000"/>
            <a:ext cx="8496000" cy="18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24000" y="2988000"/>
            <a:ext cx="43200" cy="180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2000" y="3024000"/>
            <a:ext cx="8208000" cy="180000"/>
          </a:xfrm>
          <a:prstGeom prst="rect">
            <a:avLst/>
          </a:prstGeom>
          <a:noFill/>
        </p:spPr>
        <p:txBody>
          <a:bodyPr wrap="square">
            <a:spAutoFit/>
          </a:bodyPr>
          <a:lstStyle/>
          <a:p>
            <a:pPr algn="l"/>
            <a:r>
              <a:rPr sz="800" b="1" i="0">
                <a:solidFill>
                  <a:srgbClr val="1B3A6B"/>
                </a:solidFill>
              </a:rPr>
              <a:t>SYNTHESE DU SIGNAL</a:t>
            </a:r>
          </a:p>
        </p:txBody>
      </p:sp>
      <p:sp>
        <p:nvSpPr>
          <p:cNvPr id="40" name="TextBox 39"/>
          <p:cNvSpPr txBox="1"/>
          <p:nvPr/>
        </p:nvSpPr>
        <p:spPr>
          <a:xfrm>
            <a:off x="432000" y="3240000"/>
            <a:ext cx="8208000" cy="1512000"/>
          </a:xfrm>
          <a:prstGeom prst="rect">
            <a:avLst/>
          </a:prstGeom>
          <a:noFill/>
        </p:spPr>
        <p:txBody>
          <a:bodyPr wrap="square">
            <a:spAutoFit/>
          </a:bodyPr>
          <a:lstStyle/>
          <a:p>
            <a:pPr algn="l"/>
            <a:r>
              <a:rPr sz="800" b="0" i="0">
                <a:solidFill>
                  <a:srgbClr val="555555"/>
                </a:solidFill>
              </a:rPr>
              <a:t>Le signal global sur le DAX40 est Neutre avec une conviction de 27% (sur la base des 11 secteurs analyses). 3 secteurs ressortent Surpondérer — Technology, Health Care et Financials — portes respectivement par le cycle IA, le pricing power defensif et les spreads de credit eleves. 6 secteurs sont Neutre en raison d'une visibilite limitee sur les BPA dans un contexte de taux restrictifs. 2 secteurs (Real Estate, Utilities) sont Sous-ponderer sous pression directe de la politique monetaire.  Le DAX40 affiche un cours de 5 210 (YTD : +4.8%). P/E Forward 21.5x vs médiane historique 10 ans 18.2x — valorisation en ligne avec l'historique. ERP Damodaran 4.2%. Score composite moyen : —/100 —...</a:t>
            </a:r>
          </a:p>
        </p:txBody>
      </p:sp>
      <p:sp>
        <p:nvSpPr>
          <p:cNvPr id="41" name="Rectangle 4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DAX40  ·  ^GSPC  ·  Structure de l'analyse macro institutionnelle</a:t>
            </a:r>
          </a:p>
        </p:txBody>
      </p:sp>
      <p:sp>
        <p:nvSpPr>
          <p:cNvPr id="15" name="Rectangle 14"/>
          <p:cNvSpPr/>
          <p:nvPr/>
        </p:nvSpPr>
        <p:spPr>
          <a:xfrm>
            <a:off x="324000" y="90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152000"/>
            <a:ext cx="432000" cy="360000"/>
          </a:xfrm>
          <a:prstGeom prst="rect">
            <a:avLst/>
          </a:prstGeom>
          <a:noFill/>
        </p:spPr>
        <p:txBody>
          <a:bodyPr wrap="square">
            <a:spAutoFit/>
          </a:bodyPr>
          <a:lstStyle/>
          <a:p>
            <a:pPr algn="ctr"/>
            <a:r>
              <a:rPr sz="1400" b="1" i="0">
                <a:solidFill>
                  <a:srgbClr val="FFFFFF"/>
                </a:solidFill>
              </a:rPr>
              <a:t>01</a:t>
            </a:r>
          </a:p>
        </p:txBody>
      </p:sp>
      <p:sp>
        <p:nvSpPr>
          <p:cNvPr id="18" name="TextBox 17"/>
          <p:cNvSpPr txBox="1"/>
          <p:nvPr/>
        </p:nvSpPr>
        <p:spPr>
          <a:xfrm>
            <a:off x="827999" y="954000"/>
            <a:ext cx="6660000" cy="270000"/>
          </a:xfrm>
          <a:prstGeom prst="rect">
            <a:avLst/>
          </a:prstGeom>
          <a:noFill/>
        </p:spPr>
        <p:txBody>
          <a:bodyPr wrap="square">
            <a:spAutoFit/>
          </a:bodyPr>
          <a:lstStyle/>
          <a:p>
            <a:pPr algn="l"/>
            <a:r>
              <a:rPr sz="1000" b="1" i="0">
                <a:solidFill>
                  <a:srgbClr val="1B3A6B"/>
                </a:solidFill>
              </a:rPr>
              <a:t>Synthèse Macro &amp; Signal Global</a:t>
            </a:r>
          </a:p>
        </p:txBody>
      </p:sp>
      <p:sp>
        <p:nvSpPr>
          <p:cNvPr id="19" name="TextBox 18"/>
          <p:cNvSpPr txBox="1"/>
          <p:nvPr/>
        </p:nvSpPr>
        <p:spPr>
          <a:xfrm>
            <a:off x="827999" y="1224000"/>
            <a:ext cx="6660000" cy="396000"/>
          </a:xfrm>
          <a:prstGeom prst="rect">
            <a:avLst/>
          </a:prstGeom>
          <a:noFill/>
        </p:spPr>
        <p:txBody>
          <a:bodyPr wrap="square">
            <a:spAutoFit/>
          </a:bodyPr>
          <a:lstStyle/>
          <a:p>
            <a:pPr algn="l"/>
            <a:r>
              <a:rPr sz="800" b="0" i="0">
                <a:solidFill>
                  <a:srgbClr val="555555"/>
                </a:solidFill>
              </a:rPr>
              <a:t>Description indice · P/E Forward · ERP Damodaran · Catalyseurs &amp; risques · Cycle économique</a:t>
            </a:r>
          </a:p>
        </p:txBody>
      </p:sp>
      <p:sp>
        <p:nvSpPr>
          <p:cNvPr id="20" name="TextBox 19"/>
          <p:cNvSpPr txBox="1"/>
          <p:nvPr/>
        </p:nvSpPr>
        <p:spPr>
          <a:xfrm>
            <a:off x="7740000" y="1170000"/>
            <a:ext cx="972000" cy="216000"/>
          </a:xfrm>
          <a:prstGeom prst="rect">
            <a:avLst/>
          </a:prstGeom>
          <a:noFill/>
        </p:spPr>
        <p:txBody>
          <a:bodyPr wrap="square">
            <a:spAutoFit/>
          </a:bodyPr>
          <a:lstStyle/>
          <a:p>
            <a:pPr algn="r"/>
            <a:r>
              <a:rPr sz="900" b="1" i="0">
                <a:solidFill>
                  <a:srgbClr val="1B3A6B"/>
                </a:solidFill>
              </a:rPr>
              <a:t>p. 5-7</a:t>
            </a:r>
          </a:p>
        </p:txBody>
      </p:sp>
      <p:sp>
        <p:nvSpPr>
          <p:cNvPr id="21" name="Rectangle 20"/>
          <p:cNvSpPr/>
          <p:nvPr/>
        </p:nvSpPr>
        <p:spPr>
          <a:xfrm>
            <a:off x="324000" y="189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9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2142000"/>
            <a:ext cx="432000" cy="360000"/>
          </a:xfrm>
          <a:prstGeom prst="rect">
            <a:avLst/>
          </a:prstGeom>
          <a:noFill/>
        </p:spPr>
        <p:txBody>
          <a:bodyPr wrap="square">
            <a:spAutoFit/>
          </a:bodyPr>
          <a:lstStyle/>
          <a:p>
            <a:pPr algn="ctr"/>
            <a:r>
              <a:rPr sz="1400" b="1" i="0">
                <a:solidFill>
                  <a:srgbClr val="FFFFFF"/>
                </a:solidFill>
              </a:rPr>
              <a:t>02</a:t>
            </a:r>
          </a:p>
        </p:txBody>
      </p:sp>
      <p:sp>
        <p:nvSpPr>
          <p:cNvPr id="24" name="TextBox 23"/>
          <p:cNvSpPr txBox="1"/>
          <p:nvPr/>
        </p:nvSpPr>
        <p:spPr>
          <a:xfrm>
            <a:off x="827999" y="1944000"/>
            <a:ext cx="6660000" cy="270000"/>
          </a:xfrm>
          <a:prstGeom prst="rect">
            <a:avLst/>
          </a:prstGeom>
          <a:noFill/>
        </p:spPr>
        <p:txBody>
          <a:bodyPr wrap="square">
            <a:spAutoFit/>
          </a:bodyPr>
          <a:lstStyle/>
          <a:p>
            <a:pPr algn="l"/>
            <a:r>
              <a:rPr sz="1000" b="1" i="0">
                <a:solidFill>
                  <a:srgbClr val="1B3A6B"/>
                </a:solidFill>
              </a:rPr>
              <a:t>Cartographie des Secteurs</a:t>
            </a:r>
          </a:p>
        </p:txBody>
      </p:sp>
      <p:sp>
        <p:nvSpPr>
          <p:cNvPr id="25" name="TextBox 24"/>
          <p:cNvSpPr txBox="1"/>
          <p:nvPr/>
        </p:nvSpPr>
        <p:spPr>
          <a:xfrm>
            <a:off x="827999" y="2214000"/>
            <a:ext cx="6660000" cy="396000"/>
          </a:xfrm>
          <a:prstGeom prst="rect">
            <a:avLst/>
          </a:prstGeom>
          <a:noFill/>
        </p:spPr>
        <p:txBody>
          <a:bodyPr wrap="square">
            <a:spAutoFit/>
          </a:bodyPr>
          <a:lstStyle/>
          <a:p>
            <a:pPr algn="l"/>
            <a:r>
              <a:rPr sz="800" b="0" i="0">
                <a:solidFill>
                  <a:srgbClr val="555555"/>
                </a:solidFill>
              </a:rPr>
              <a:t>11 secteurs GICS · Scores FinSight · Scatter EV/EBITDA vs croissance · Décomposition scores</a:t>
            </a:r>
          </a:p>
        </p:txBody>
      </p:sp>
      <p:sp>
        <p:nvSpPr>
          <p:cNvPr id="26" name="TextBox 25"/>
          <p:cNvSpPr txBox="1"/>
          <p:nvPr/>
        </p:nvSpPr>
        <p:spPr>
          <a:xfrm>
            <a:off x="7740000" y="2160000"/>
            <a:ext cx="972000" cy="216000"/>
          </a:xfrm>
          <a:prstGeom prst="rect">
            <a:avLst/>
          </a:prstGeom>
          <a:noFill/>
        </p:spPr>
        <p:txBody>
          <a:bodyPr wrap="square">
            <a:spAutoFit/>
          </a:bodyPr>
          <a:lstStyle/>
          <a:p>
            <a:pPr algn="r"/>
            <a:r>
              <a:rPr sz="900" b="1" i="0">
                <a:solidFill>
                  <a:srgbClr val="1B3A6B"/>
                </a:solidFill>
              </a:rPr>
              <a:t>p. 9-11</a:t>
            </a:r>
          </a:p>
        </p:txBody>
      </p:sp>
      <p:sp>
        <p:nvSpPr>
          <p:cNvPr id="27" name="Rectangle 26"/>
          <p:cNvSpPr/>
          <p:nvPr/>
        </p:nvSpPr>
        <p:spPr>
          <a:xfrm>
            <a:off x="324000" y="288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8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3131999"/>
            <a:ext cx="432000" cy="360000"/>
          </a:xfrm>
          <a:prstGeom prst="rect">
            <a:avLst/>
          </a:prstGeom>
          <a:noFill/>
        </p:spPr>
        <p:txBody>
          <a:bodyPr wrap="square">
            <a:spAutoFit/>
          </a:bodyPr>
          <a:lstStyle/>
          <a:p>
            <a:pPr algn="ctr"/>
            <a:r>
              <a:rPr sz="1400" b="1" i="0">
                <a:solidFill>
                  <a:srgbClr val="FFFFFF"/>
                </a:solidFill>
              </a:rPr>
              <a:t>03</a:t>
            </a:r>
          </a:p>
        </p:txBody>
      </p:sp>
      <p:sp>
        <p:nvSpPr>
          <p:cNvPr id="30" name="TextBox 29"/>
          <p:cNvSpPr txBox="1"/>
          <p:nvPr/>
        </p:nvSpPr>
        <p:spPr>
          <a:xfrm>
            <a:off x="827999" y="2934000"/>
            <a:ext cx="6660000" cy="270000"/>
          </a:xfrm>
          <a:prstGeom prst="rect">
            <a:avLst/>
          </a:prstGeom>
          <a:noFill/>
        </p:spPr>
        <p:txBody>
          <a:bodyPr wrap="square">
            <a:spAutoFit/>
          </a:bodyPr>
          <a:lstStyle/>
          <a:p>
            <a:pPr algn="l"/>
            <a:r>
              <a:rPr sz="1000" b="1" i="0">
                <a:solidFill>
                  <a:srgbClr val="1B3A6B"/>
                </a:solidFill>
              </a:rPr>
              <a:t>Top 3 Secteurs Recommandés</a:t>
            </a:r>
          </a:p>
        </p:txBody>
      </p:sp>
      <p:sp>
        <p:nvSpPr>
          <p:cNvPr id="31" name="TextBox 30"/>
          <p:cNvSpPr txBox="1"/>
          <p:nvPr/>
        </p:nvSpPr>
        <p:spPr>
          <a:xfrm>
            <a:off x="827999" y="3204000"/>
            <a:ext cx="6660000" cy="396000"/>
          </a:xfrm>
          <a:prstGeom prst="rect">
            <a:avLst/>
          </a:prstGeom>
          <a:noFill/>
        </p:spPr>
        <p:txBody>
          <a:bodyPr wrap="square">
            <a:spAutoFit/>
          </a:bodyPr>
          <a:lstStyle/>
          <a:p>
            <a:pPr algn="l"/>
            <a:r>
              <a:rPr sz="800" b="0" i="0">
                <a:solidFill>
                  <a:srgbClr val="555555"/>
                </a:solidFill>
              </a:rPr>
              <a:t>Synthèse signal · Sociétés représentatives · Distribution valorisations · Zone d'entrée</a:t>
            </a:r>
          </a:p>
        </p:txBody>
      </p:sp>
      <p:sp>
        <p:nvSpPr>
          <p:cNvPr id="32" name="TextBox 31"/>
          <p:cNvSpPr txBox="1"/>
          <p:nvPr/>
        </p:nvSpPr>
        <p:spPr>
          <a:xfrm>
            <a:off x="7740000" y="3150000"/>
            <a:ext cx="972000" cy="216000"/>
          </a:xfrm>
          <a:prstGeom prst="rect">
            <a:avLst/>
          </a:prstGeom>
          <a:noFill/>
        </p:spPr>
        <p:txBody>
          <a:bodyPr wrap="square">
            <a:spAutoFit/>
          </a:bodyPr>
          <a:lstStyle/>
          <a:p>
            <a:pPr algn="r"/>
            <a:r>
              <a:rPr sz="900" b="1" i="0">
                <a:solidFill>
                  <a:srgbClr val="1B3A6B"/>
                </a:solidFill>
              </a:rPr>
              <a:t>p. 13-15</a:t>
            </a:r>
          </a:p>
        </p:txBody>
      </p:sp>
      <p:sp>
        <p:nvSpPr>
          <p:cNvPr id="33" name="Rectangle 32"/>
          <p:cNvSpPr/>
          <p:nvPr/>
        </p:nvSpPr>
        <p:spPr>
          <a:xfrm>
            <a:off x="324000" y="387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87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4121999"/>
            <a:ext cx="432000" cy="360000"/>
          </a:xfrm>
          <a:prstGeom prst="rect">
            <a:avLst/>
          </a:prstGeom>
          <a:noFill/>
        </p:spPr>
        <p:txBody>
          <a:bodyPr wrap="square">
            <a:spAutoFit/>
          </a:bodyPr>
          <a:lstStyle/>
          <a:p>
            <a:pPr algn="ctr"/>
            <a:r>
              <a:rPr sz="1400" b="1" i="0">
                <a:solidFill>
                  <a:srgbClr val="FFFFFF"/>
                </a:solidFill>
              </a:rPr>
              <a:t>04</a:t>
            </a:r>
          </a:p>
        </p:txBody>
      </p:sp>
      <p:sp>
        <p:nvSpPr>
          <p:cNvPr id="36" name="TextBox 35"/>
          <p:cNvSpPr txBox="1"/>
          <p:nvPr/>
        </p:nvSpPr>
        <p:spPr>
          <a:xfrm>
            <a:off x="827999" y="3924000"/>
            <a:ext cx="6660000" cy="270000"/>
          </a:xfrm>
          <a:prstGeom prst="rect">
            <a:avLst/>
          </a:prstGeom>
          <a:noFill/>
        </p:spPr>
        <p:txBody>
          <a:bodyPr wrap="square">
            <a:spAutoFit/>
          </a:bodyPr>
          <a:lstStyle/>
          <a:p>
            <a:pPr algn="l"/>
            <a:r>
              <a:rPr sz="1000" b="1" i="0">
                <a:solidFill>
                  <a:srgbClr val="1B3A6B"/>
                </a:solidFill>
              </a:rPr>
              <a:t>Risques, Rotation &amp; Sentiment</a:t>
            </a:r>
          </a:p>
        </p:txBody>
      </p:sp>
      <p:sp>
        <p:nvSpPr>
          <p:cNvPr id="37" name="TextBox 36"/>
          <p:cNvSpPr txBox="1"/>
          <p:nvPr/>
        </p:nvSpPr>
        <p:spPr>
          <a:xfrm>
            <a:off x="827999" y="4194000"/>
            <a:ext cx="6660000" cy="396000"/>
          </a:xfrm>
          <a:prstGeom prst="rect">
            <a:avLst/>
          </a:prstGeom>
          <a:noFill/>
        </p:spPr>
        <p:txBody>
          <a:bodyPr wrap="square">
            <a:spAutoFit/>
          </a:bodyPr>
          <a:lstStyle/>
          <a:p>
            <a:pPr algn="l"/>
            <a:r>
              <a:rPr sz="800" b="0" i="0">
                <a:solidFill>
                  <a:srgbClr val="555555"/>
                </a:solidFill>
              </a:rPr>
              <a:t>Scénarios alternatifs · Rotation sectorielle · FinBERT · Performance ETF</a:t>
            </a:r>
          </a:p>
        </p:txBody>
      </p:sp>
      <p:sp>
        <p:nvSpPr>
          <p:cNvPr id="38" name="TextBox 37"/>
          <p:cNvSpPr txBox="1"/>
          <p:nvPr/>
        </p:nvSpPr>
        <p:spPr>
          <a:xfrm>
            <a:off x="7740000" y="4140000"/>
            <a:ext cx="972000" cy="216000"/>
          </a:xfrm>
          <a:prstGeom prst="rect">
            <a:avLst/>
          </a:prstGeom>
          <a:noFill/>
        </p:spPr>
        <p:txBody>
          <a:bodyPr wrap="square">
            <a:spAutoFit/>
          </a:bodyPr>
          <a:lstStyle/>
          <a:p>
            <a:pPr algn="r"/>
            <a:r>
              <a:rPr sz="900" b="1" i="0">
                <a:solidFill>
                  <a:srgbClr val="1B3A6B"/>
                </a:solidFill>
              </a:rPr>
              <a:t>p. 17-20</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Synthèse Macro &amp; Signal Global</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Valorisation top-down · ERP · Cycle économique · Catalyseurs &amp; risques</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Description de l'Indice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DAX40 (^GSPC)  ·  Caractéristiques structurelles &amp; valorisation macro</a:t>
            </a:r>
          </a:p>
        </p:txBody>
      </p:sp>
      <p:sp>
        <p:nvSpPr>
          <p:cNvPr id="15" name="Rectangle 14"/>
          <p:cNvSpPr/>
          <p:nvPr/>
        </p:nvSpPr>
        <p:spPr>
          <a:xfrm>
            <a:off x="324000" y="827999"/>
            <a:ext cx="43200" cy="255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2000" y="827999"/>
            <a:ext cx="4824000" cy="2556000"/>
          </a:xfrm>
          <a:prstGeom prst="rect">
            <a:avLst/>
          </a:prstGeom>
          <a:noFill/>
        </p:spPr>
        <p:txBody>
          <a:bodyPr wrap="square">
            <a:spAutoFit/>
          </a:bodyPr>
          <a:lstStyle/>
          <a:p>
            <a:pPr algn="l"/>
            <a:r>
              <a:rPr sz="850" b="0" i="0">
                <a:solidFill>
                  <a:srgbClr val="555555"/>
                </a:solidFill>
              </a:rPr>
              <a:t>Le DAX40 regroupe les 503 plus grandes capitalisations boursieres domestiques, pondérees par leur capitalisation flottante. Cet indice constitue la reference mondiale pour les allocataires d'actifs institutionnels, avec une capitalisation totale de pres de 40 000 milliards de dollars. La composition GICS couvre 11 secteurs, le secteur Technologie dominant avec pres de 32% de l'indice.</a:t>
            </a:r>
          </a:p>
        </p:txBody>
      </p:sp>
      <p:graphicFrame>
        <p:nvGraphicFramePr>
          <p:cNvPr id="17" name="Table 16"/>
          <p:cNvGraphicFramePr>
            <a:graphicFrameLocks noGrp="1"/>
          </p:cNvGraphicFramePr>
          <p:nvPr/>
        </p:nvGraphicFramePr>
        <p:xfrm>
          <a:off x="5436000" y="827999"/>
          <a:ext cx="3384000" cy="2520000"/>
        </p:xfrm>
        <a:graphic>
          <a:graphicData uri="http://schemas.openxmlformats.org/drawingml/2006/table">
            <a:tbl>
              <a:tblPr firstRow="1" bandRow="1">
                <a:tableStyleId>{5C22544A-7EE6-4342-B048-85BDC9FD1C3A}</a:tableStyleId>
              </a:tblPr>
              <a:tblGrid>
                <a:gridCol w="2256000"/>
                <a:gridCol w="1128000"/>
              </a:tblGrid>
              <a:tr h="280000">
                <a:tc>
                  <a:txBody>
                    <a:bodyPr/>
                    <a:lstStyle/>
                    <a:p>
                      <a:pPr algn="ctr"/>
                      <a:r>
                        <a:rPr sz="800" b="1">
                          <a:solidFill>
                            <a:srgbClr val="FFFFFF"/>
                          </a:solidFill>
                        </a:rPr>
                        <a:t>MÉTRIQUE</a:t>
                      </a:r>
                    </a:p>
                  </a:txBody>
                  <a:tcPr>
                    <a:solidFill>
                      <a:srgbClr val="1B3A6B"/>
                    </a:solidFill>
                  </a:tcPr>
                </a:tc>
                <a:tc>
                  <a:txBody>
                    <a:bodyPr/>
                    <a:lstStyle/>
                    <a:p>
                      <a:pPr algn="ctr"/>
                      <a:r>
                        <a:rPr sz="800" b="1">
                          <a:solidFill>
                            <a:srgbClr val="FFFFFF"/>
                          </a:solidFill>
                        </a:rPr>
                        <a:t>VALEUR</a:t>
                      </a:r>
                    </a:p>
                  </a:txBody>
                  <a:tcPr>
                    <a:solidFill>
                      <a:srgbClr val="1B3A6B"/>
                    </a:solidFill>
                  </a:tcPr>
                </a:tc>
              </a:tr>
              <a:tr h="280000">
                <a:tc>
                  <a:txBody>
                    <a:bodyPr/>
                    <a:lstStyle/>
                    <a:p>
                      <a:pPr algn="ctr"/>
                      <a:r>
                        <a:rPr sz="800" b="0">
                          <a:solidFill>
                            <a:srgbClr val="1A1A1A"/>
                          </a:solidFill>
                        </a:rPr>
                        <a:t>Cours actuel</a:t>
                      </a:r>
                    </a:p>
                  </a:txBody>
                  <a:tcPr>
                    <a:noFill/>
                  </a:tcPr>
                </a:tc>
                <a:tc>
                  <a:txBody>
                    <a:bodyPr/>
                    <a:lstStyle/>
                    <a:p>
                      <a:pPr algn="ctr"/>
                      <a:r>
                        <a:rPr sz="800" b="0">
                          <a:solidFill>
                            <a:srgbClr val="1A1A1A"/>
                          </a:solidFill>
                        </a:rPr>
                        <a:t>5 210</a:t>
                      </a:r>
                    </a:p>
                  </a:txBody>
                  <a:tcPr>
                    <a:noFill/>
                  </a:tcPr>
                </a:tc>
              </a:tr>
              <a:tr h="280000">
                <a:tc>
                  <a:txBody>
                    <a:bodyPr/>
                    <a:lstStyle/>
                    <a:p>
                      <a:pPr algn="ctr"/>
                      <a:r>
                        <a:rPr sz="800" b="0">
                          <a:solidFill>
                            <a:srgbClr val="1A1A1A"/>
                          </a:solidFill>
                        </a:rPr>
                        <a:t>Variation YTD</a:t>
                      </a:r>
                    </a:p>
                  </a:txBody>
                  <a:tcPr>
                    <a:solidFill>
                      <a:srgbClr val="F5F7FA"/>
                    </a:solidFill>
                  </a:tcPr>
                </a:tc>
                <a:tc>
                  <a:txBody>
                    <a:bodyPr/>
                    <a:lstStyle/>
                    <a:p>
                      <a:pPr algn="ctr"/>
                      <a:r>
                        <a:rPr sz="800" b="0">
                          <a:solidFill>
                            <a:srgbClr val="1A1A1A"/>
                          </a:solidFill>
                        </a:rPr>
                        <a:t>+4.8%</a:t>
                      </a:r>
                    </a:p>
                  </a:txBody>
                  <a:tcPr>
                    <a:solidFill>
                      <a:srgbClr val="F5F7FA"/>
                    </a:solidFill>
                  </a:tcPr>
                </a:tc>
              </a:tr>
              <a:tr h="280000">
                <a:tc>
                  <a:txBody>
                    <a:bodyPr/>
                    <a:lstStyle/>
                    <a:p>
                      <a:pPr algn="ctr"/>
                      <a:r>
                        <a:rPr sz="800" b="0">
                          <a:solidFill>
                            <a:srgbClr val="1A1A1A"/>
                          </a:solidFill>
                        </a:rPr>
                        <a:t>P/E Forward</a:t>
                      </a:r>
                    </a:p>
                  </a:txBody>
                  <a:tcPr>
                    <a:noFill/>
                  </a:tcPr>
                </a:tc>
                <a:tc>
                  <a:txBody>
                    <a:bodyPr/>
                    <a:lstStyle/>
                    <a:p>
                      <a:pPr algn="ctr"/>
                      <a:r>
                        <a:rPr sz="800" b="0">
                          <a:solidFill>
                            <a:srgbClr val="1A1A1A"/>
                          </a:solidFill>
                        </a:rPr>
                        <a:t>21.5x</a:t>
                      </a:r>
                    </a:p>
                  </a:txBody>
                  <a:tcPr>
                    <a:noFill/>
                  </a:tcPr>
                </a:tc>
              </a:tr>
              <a:tr h="280000">
                <a:tc>
                  <a:txBody>
                    <a:bodyPr/>
                    <a:lstStyle/>
                    <a:p>
                      <a:pPr algn="ctr"/>
                      <a:r>
                        <a:rPr sz="800" b="0">
                          <a:solidFill>
                            <a:srgbClr val="1A1A1A"/>
                          </a:solidFill>
                        </a:rPr>
                        <a:t>P/E Médiane 10 ans</a:t>
                      </a:r>
                    </a:p>
                  </a:txBody>
                  <a:tcPr>
                    <a:solidFill>
                      <a:srgbClr val="F5F7FA"/>
                    </a:solidFill>
                  </a:tcPr>
                </a:tc>
                <a:tc>
                  <a:txBody>
                    <a:bodyPr/>
                    <a:lstStyle/>
                    <a:p>
                      <a:pPr algn="ctr"/>
                      <a:r>
                        <a:rPr sz="800" b="0">
                          <a:solidFill>
                            <a:srgbClr val="1A1A1A"/>
                          </a:solidFill>
                        </a:rPr>
                        <a:t>18.2x</a:t>
                      </a:r>
                    </a:p>
                  </a:txBody>
                  <a:tcPr>
                    <a:solidFill>
                      <a:srgbClr val="F5F7FA"/>
                    </a:solidFill>
                  </a:tcPr>
                </a:tc>
              </a:tr>
              <a:tr h="280000">
                <a:tc>
                  <a:txBody>
                    <a:bodyPr/>
                    <a:lstStyle/>
                    <a:p>
                      <a:pPr algn="ctr"/>
                      <a:r>
                        <a:rPr sz="800" b="0">
                          <a:solidFill>
                            <a:srgbClr val="1A1A1A"/>
                          </a:solidFill>
                        </a:rPr>
                        <a:t>ERP (Damodaran)</a:t>
                      </a:r>
                    </a:p>
                  </a:txBody>
                  <a:tcPr>
                    <a:noFill/>
                  </a:tcPr>
                </a:tc>
                <a:tc>
                  <a:txBody>
                    <a:bodyPr/>
                    <a:lstStyle/>
                    <a:p>
                      <a:pPr algn="ctr"/>
                      <a:r>
                        <a:rPr sz="800" b="0">
                          <a:solidFill>
                            <a:srgbClr val="1A1A1A"/>
                          </a:solidFill>
                        </a:rPr>
                        <a:t>4.2%</a:t>
                      </a:r>
                    </a:p>
                  </a:txBody>
                  <a:tcPr>
                    <a:noFill/>
                  </a:tcPr>
                </a:tc>
              </a:tr>
              <a:tr h="280000">
                <a:tc>
                  <a:txBody>
                    <a:bodyPr/>
                    <a:lstStyle/>
                    <a:p>
                      <a:pPr algn="ctr"/>
                      <a:r>
                        <a:rPr sz="800" b="0">
                          <a:solidFill>
                            <a:srgbClr val="1A1A1A"/>
                          </a:solidFill>
                        </a:rPr>
                        <a:t>Croissance BPA</a:t>
                      </a:r>
                    </a:p>
                  </a:txBody>
                  <a:tcPr>
                    <a:solidFill>
                      <a:srgbClr val="F5F7FA"/>
                    </a:solidFill>
                  </a:tcPr>
                </a:tc>
                <a:tc>
                  <a:txBody>
                    <a:bodyPr/>
                    <a:lstStyle/>
                    <a:p>
                      <a:pPr algn="ctr"/>
                      <a:r>
                        <a:rPr sz="800" b="0">
                          <a:solidFill>
                            <a:srgbClr val="1A1A1A"/>
                          </a:solidFill>
                        </a:rPr>
                        <a:t>+8.5%</a:t>
                      </a:r>
                    </a:p>
                  </a:txBody>
                  <a:tcPr>
                    <a:solidFill>
                      <a:srgbClr val="F5F7FA"/>
                    </a:solidFill>
                  </a:tcPr>
                </a:tc>
              </a:tr>
              <a:tr h="280000">
                <a:tc>
                  <a:txBody>
                    <a:bodyPr/>
                    <a:lstStyle/>
                    <a:p>
                      <a:pPr algn="ctr"/>
                      <a:r>
                        <a:rPr sz="800" b="0">
                          <a:solidFill>
                            <a:srgbClr val="1A1A1A"/>
                          </a:solidFill>
                        </a:rPr>
                        <a:t>Secteurs analysés</a:t>
                      </a:r>
                    </a:p>
                  </a:txBody>
                  <a:tcPr>
                    <a:noFill/>
                  </a:tcPr>
                </a:tc>
                <a:tc>
                  <a:txBody>
                    <a:bodyPr/>
                    <a:lstStyle/>
                    <a:p>
                      <a:pPr algn="ctr"/>
                      <a:r>
                        <a:rPr sz="800" b="0">
                          <a:solidFill>
                            <a:srgbClr val="1A1A1A"/>
                          </a:solidFill>
                        </a:rPr>
                        <a:t>11</a:t>
                      </a:r>
                    </a:p>
                  </a:txBody>
                  <a:tcPr>
                    <a:noFill/>
                  </a:tcPr>
                </a:tc>
              </a:tr>
              <a:tr h="280000">
                <a:tc>
                  <a:txBody>
                    <a:bodyPr/>
                    <a:lstStyle/>
                    <a:p>
                      <a:pPr algn="ctr"/>
                      <a:r>
                        <a:rPr sz="800" b="0">
                          <a:solidFill>
                            <a:srgbClr val="1A1A1A"/>
                          </a:solidFill>
                        </a:rPr>
                        <a:t>Sociétés couvertes</a:t>
                      </a:r>
                    </a:p>
                  </a:txBody>
                  <a:tcPr>
                    <a:solidFill>
                      <a:srgbClr val="F5F7FA"/>
                    </a:solidFill>
                  </a:tcPr>
                </a:tc>
                <a:tc>
                  <a:txBody>
                    <a:bodyPr/>
                    <a:lstStyle/>
                    <a:p>
                      <a:pPr algn="ctr"/>
                      <a:r>
                        <a:rPr sz="800" b="0">
                          <a:solidFill>
                            <a:srgbClr val="1A1A1A"/>
                          </a:solidFill>
                        </a:rPr>
                        <a:t>503</a:t>
                      </a:r>
                    </a:p>
                  </a:txBody>
                  <a:tcPr>
                    <a:solidFill>
                      <a:srgbClr val="F5F7FA"/>
                    </a:solidFill>
                  </a:tcPr>
                </a:tc>
              </a:tr>
            </a:tbl>
          </a:graphicData>
        </a:graphic>
      </p:graphicFrame>
      <p:sp>
        <p:nvSpPr>
          <p:cNvPr id="18" name="Rectangle 17"/>
          <p:cNvSpPr/>
          <p:nvPr/>
        </p:nvSpPr>
        <p:spPr>
          <a:xfrm>
            <a:off x="324000" y="3528000"/>
            <a:ext cx="8496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000" y="3528000"/>
            <a:ext cx="432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2000" y="3582000"/>
            <a:ext cx="8208000" cy="216000"/>
          </a:xfrm>
          <a:prstGeom prst="rect">
            <a:avLst/>
          </a:prstGeom>
          <a:noFill/>
        </p:spPr>
        <p:txBody>
          <a:bodyPr wrap="square">
            <a:spAutoFit/>
          </a:bodyPr>
          <a:lstStyle/>
          <a:p>
            <a:pPr algn="l"/>
            <a:r>
              <a:rPr sz="800" b="1" i="0">
                <a:solidFill>
                  <a:srgbClr val="1B3A6B"/>
                </a:solidFill>
              </a:rPr>
              <a:t>Lecture — Signal global &amp; positionnement sectoriel</a:t>
            </a:r>
          </a:p>
        </p:txBody>
      </p:sp>
      <p:sp>
        <p:nvSpPr>
          <p:cNvPr id="21" name="TextBox 20"/>
          <p:cNvSpPr txBox="1"/>
          <p:nvPr/>
        </p:nvSpPr>
        <p:spPr>
          <a:xfrm>
            <a:off x="432000" y="3816000"/>
            <a:ext cx="8208000" cy="936000"/>
          </a:xfrm>
          <a:prstGeom prst="rect">
            <a:avLst/>
          </a:prstGeom>
          <a:noFill/>
        </p:spPr>
        <p:txBody>
          <a:bodyPr wrap="square">
            <a:spAutoFit/>
          </a:bodyPr>
          <a:lstStyle/>
          <a:p>
            <a:pPr algn="l"/>
            <a:r>
              <a:rPr sz="750" b="0" i="0">
                <a:solidFill>
                  <a:srgbClr val="555555"/>
                </a:solidFill>
              </a:rPr>
              <a:t>Signal global : Neutre (score composite —/100). P/E Forward 21.5x vs médiane historique 18.2x — valorisation proche des normes historiques. ERP Damodaran : 4.2%. Secteurs a Surponderer : Technology  ·  Health Care  ·  Financials. Secteurs a Sous-ponderer : Real Estate  ·  Utilities. 6 secteur(s) en position Neutre. Horizon d'allocation recommande : 12 mois.</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Macro Top-Down</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DAX40  ·  BPA forward x P/E cible historique  ·  ERP Damodaran  ·  Signaux FRED</a:t>
            </a:r>
          </a:p>
        </p:txBody>
      </p:sp>
      <p:graphicFrame>
        <p:nvGraphicFramePr>
          <p:cNvPr id="15" name="Table 14"/>
          <p:cNvGraphicFramePr>
            <a:graphicFrameLocks noGrp="1"/>
          </p:cNvGraphicFramePr>
          <p:nvPr/>
        </p:nvGraphicFramePr>
        <p:xfrm>
          <a:off x="324000" y="827999"/>
          <a:ext cx="8496000" cy="1800000"/>
        </p:xfrm>
        <a:graphic>
          <a:graphicData uri="http://schemas.openxmlformats.org/drawingml/2006/table">
            <a:tbl>
              <a:tblPr firstRow="1" bandRow="1">
                <a:tableStyleId>{5C22544A-7EE6-4342-B048-85BDC9FD1C3A}</a:tableStyleId>
              </a:tblPr>
              <a:tblGrid>
                <a:gridCol w="1800000"/>
                <a:gridCol w="1080000"/>
                <a:gridCol w="1080000"/>
                <a:gridCol w="4536000"/>
              </a:tblGrid>
              <a:tr h="300000">
                <a:tc>
                  <a:txBody>
                    <a:bodyPr/>
                    <a:lstStyle/>
                    <a:p>
                      <a:pPr algn="ctr"/>
                      <a:r>
                        <a:rPr sz="800" b="1">
                          <a:solidFill>
                            <a:srgbClr val="FFFFFF"/>
                          </a:solidFill>
                        </a:rPr>
                        <a:t>INDICATEUR</a:t>
                      </a:r>
                    </a:p>
                  </a:txBody>
                  <a:tcPr>
                    <a:solidFill>
                      <a:srgbClr val="1B3A6B"/>
                    </a:solidFill>
                  </a:tcPr>
                </a:tc>
                <a:tc>
                  <a:txBody>
                    <a:bodyPr/>
                    <a:lstStyle/>
                    <a:p>
                      <a:pPr algn="ctr"/>
                      <a:r>
                        <a:rPr sz="800" b="1">
                          <a:solidFill>
                            <a:srgbClr val="FFFFFF"/>
                          </a:solidFill>
                        </a:rPr>
                        <a:t>VALEUR</a:t>
                      </a:r>
                    </a:p>
                  </a:txBody>
                  <a:tcPr>
                    <a:solidFill>
                      <a:srgbClr val="1B3A6B"/>
                    </a:solidFill>
                  </a:tcPr>
                </a:tc>
                <a:tc>
                  <a:txBody>
                    <a:bodyPr/>
                    <a:lstStyle/>
                    <a:p>
                      <a:pPr algn="ctr"/>
                      <a:r>
                        <a:rPr sz="800" b="1">
                          <a:solidFill>
                            <a:srgbClr val="FFFFFF"/>
                          </a:solidFill>
                        </a:rPr>
                        <a:t>vs HISTORIQUE</a:t>
                      </a:r>
                    </a:p>
                  </a:txBody>
                  <a:tcPr>
                    <a:solidFill>
                      <a:srgbClr val="1B3A6B"/>
                    </a:solidFill>
                  </a:tcPr>
                </a:tc>
                <a:tc>
                  <a:txBody>
                    <a:bodyPr/>
                    <a:lstStyle/>
                    <a:p>
                      <a:pPr algn="ctr"/>
                      <a:r>
                        <a:rPr sz="800" b="1">
                          <a:solidFill>
                            <a:srgbClr val="FFFFFF"/>
                          </a:solidFill>
                        </a:rPr>
                        <a:t>INTERPRETATION</a:t>
                      </a:r>
                    </a:p>
                  </a:txBody>
                  <a:tcPr>
                    <a:solidFill>
                      <a:srgbClr val="1B3A6B"/>
                    </a:solidFill>
                  </a:tcPr>
                </a:tc>
              </a:tr>
              <a:tr h="300000">
                <a:tc>
                  <a:txBody>
                    <a:bodyPr/>
                    <a:lstStyle/>
                    <a:p>
                      <a:pPr algn="ctr"/>
                      <a:r>
                        <a:rPr sz="800" b="0">
                          <a:solidFill>
                            <a:srgbClr val="1A1A1A"/>
                          </a:solidFill>
                        </a:rPr>
                        <a:t>P/E Forward</a:t>
                      </a:r>
                    </a:p>
                  </a:txBody>
                  <a:tcPr>
                    <a:noFill/>
                  </a:tcPr>
                </a:tc>
                <a:tc>
                  <a:txBody>
                    <a:bodyPr/>
                    <a:lstStyle/>
                    <a:p>
                      <a:pPr algn="ctr"/>
                      <a:r>
                        <a:rPr sz="800" b="0">
                          <a:solidFill>
                            <a:srgbClr val="1A1A1A"/>
                          </a:solidFill>
                        </a:rPr>
                        <a:t>21.5x</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Prime vs mediane 10Y</a:t>
                      </a:r>
                    </a:p>
                  </a:txBody>
                  <a:tcPr>
                    <a:noFill/>
                  </a:tcPr>
                </a:tc>
              </a:tr>
              <a:tr h="300000">
                <a:tc>
                  <a:txBody>
                    <a:bodyPr/>
                    <a:lstStyle/>
                    <a:p>
                      <a:pPr algn="ctr"/>
                      <a:r>
                        <a:rPr sz="800" b="0">
                          <a:solidFill>
                            <a:srgbClr val="1A1A1A"/>
                          </a:solidFill>
                        </a:rPr>
                        <a:t>P/E Médiane 10 ans</a:t>
                      </a:r>
                    </a:p>
                  </a:txBody>
                  <a:tcPr>
                    <a:solidFill>
                      <a:srgbClr val="F5F7FA"/>
                    </a:solidFill>
                  </a:tcPr>
                </a:tc>
                <a:tc>
                  <a:txBody>
                    <a:bodyPr/>
                    <a:lstStyle/>
                    <a:p>
                      <a:pPr algn="ctr"/>
                      <a:r>
                        <a:rPr sz="800" b="0">
                          <a:solidFill>
                            <a:srgbClr val="1A1A1A"/>
                          </a:solidFill>
                        </a:rPr>
                        <a:t>18.2x</a:t>
                      </a:r>
                    </a:p>
                  </a:txBody>
                  <a:tcPr>
                    <a:solidFill>
                      <a:srgbClr val="F5F7FA"/>
                    </a:solidFill>
                  </a:tcPr>
                </a:tc>
                <a:tc>
                  <a:txBody>
                    <a:bodyPr/>
                    <a:lstStyle/>
                    <a:p>
                      <a:pPr algn="ctr"/>
                      <a:r>
                        <a:rPr sz="800" b="0">
                          <a:solidFill>
                            <a:srgbClr val="1A1A1A"/>
                          </a:solidFill>
                        </a:rPr>
                        <a:t>Reference</a:t>
                      </a:r>
                    </a:p>
                  </a:txBody>
                  <a:tcPr>
                    <a:solidFill>
                      <a:srgbClr val="F5F7FA"/>
                    </a:solidFill>
                  </a:tcPr>
                </a:tc>
                <a:tc>
                  <a:txBody>
                    <a:bodyPr/>
                    <a:lstStyle/>
                    <a:p>
                      <a:pPr algn="ctr"/>
                      <a:r>
                        <a:rPr sz="800" b="0">
                          <a:solidFill>
                            <a:srgbClr val="1A1A1A"/>
                          </a:solidFill>
                        </a:rPr>
                        <a:t>Niveau historique normalise</a:t>
                      </a:r>
                    </a:p>
                  </a:txBody>
                  <a:tcPr>
                    <a:solidFill>
                      <a:srgbClr val="F5F7FA"/>
                    </a:solidFill>
                  </a:tcPr>
                </a:tc>
              </a:tr>
              <a:tr h="300000">
                <a:tc>
                  <a:txBody>
                    <a:bodyPr/>
                    <a:lstStyle/>
                    <a:p>
                      <a:pPr algn="ctr"/>
                      <a:r>
                        <a:rPr sz="800" b="0">
                          <a:solidFill>
                            <a:srgbClr val="1A1A1A"/>
                          </a:solidFill>
                        </a:rPr>
                        <a:t>ERP (Damodaran)</a:t>
                      </a:r>
                    </a:p>
                  </a:txBody>
                  <a:tcPr>
                    <a:noFill/>
                  </a:tcPr>
                </a:tc>
                <a:tc>
                  <a:txBody>
                    <a:bodyPr/>
                    <a:lstStyle/>
                    <a:p>
                      <a:pPr algn="ctr"/>
                      <a:r>
                        <a:rPr sz="800" b="0">
                          <a:solidFill>
                            <a:srgbClr val="1A1A1A"/>
                          </a:solidFill>
                        </a:rPr>
                        <a:t>4.2%</a:t>
                      </a:r>
                    </a:p>
                  </a:txBody>
                  <a:tcPr>
                    <a:noFill/>
                  </a:tcPr>
                </a:tc>
                <a:tc>
                  <a:txBody>
                    <a:bodyPr/>
                    <a:lstStyle/>
                    <a:p>
                      <a:pPr algn="ctr"/>
                      <a:r>
                        <a:rPr sz="800" b="0">
                          <a:solidFill>
                            <a:srgbClr val="1A1A1A"/>
                          </a:solidFill>
                        </a:rPr>
                        <a:t>Correct</a:t>
                      </a:r>
                    </a:p>
                  </a:txBody>
                  <a:tcPr>
                    <a:noFill/>
                  </a:tcPr>
                </a:tc>
                <a:tc>
                  <a:txBody>
                    <a:bodyPr/>
                    <a:lstStyle/>
                    <a:p>
                      <a:pPr algn="ctr"/>
                      <a:r>
                        <a:rPr sz="800" b="0">
                          <a:solidFill>
                            <a:srgbClr val="1A1A1A"/>
                          </a:solidFill>
                        </a:rPr>
                        <a:t>Rendement excess equites</a:t>
                      </a:r>
                    </a:p>
                  </a:txBody>
                  <a:tcPr>
                    <a:noFill/>
                  </a:tcPr>
                </a:tc>
              </a:tr>
              <a:tr h="300000">
                <a:tc>
                  <a:txBody>
                    <a:bodyPr/>
                    <a:lstStyle/>
                    <a:p>
                      <a:pPr algn="ctr"/>
                      <a:r>
                        <a:rPr sz="800" b="0">
                          <a:solidFill>
                            <a:srgbClr val="1A1A1A"/>
                          </a:solidFill>
                        </a:rPr>
                        <a:t>Croissance BPA</a:t>
                      </a:r>
                    </a:p>
                  </a:txBody>
                  <a:tcPr>
                    <a:solidFill>
                      <a:srgbClr val="F5F7FA"/>
                    </a:solidFill>
                  </a:tcPr>
                </a:tc>
                <a:tc>
                  <a:txBody>
                    <a:bodyPr/>
                    <a:lstStyle/>
                    <a:p>
                      <a:pPr algn="ctr"/>
                      <a:r>
                        <a:rPr sz="800" b="0">
                          <a:solidFill>
                            <a:srgbClr val="1A1A1A"/>
                          </a:solidFill>
                        </a:rPr>
                        <a:t>+8.5%</a:t>
                      </a:r>
                    </a:p>
                  </a:txBody>
                  <a:tcPr>
                    <a:solidFill>
                      <a:srgbClr val="F5F7FA"/>
                    </a:solidFill>
                  </a:tcPr>
                </a:tc>
                <a:tc>
                  <a:txBody>
                    <a:bodyPr/>
                    <a:lstStyle/>
                    <a:p>
                      <a:pPr algn="ctr"/>
                      <a:r>
                        <a:rPr sz="800" b="0">
                          <a:solidFill>
                            <a:srgbClr val="1A1A1A"/>
                          </a:solidFill>
                        </a:rPr>
                        <a:t>+</a:t>
                      </a:r>
                    </a:p>
                  </a:txBody>
                  <a:tcPr>
                    <a:solidFill>
                      <a:srgbClr val="FDF3E5"/>
                    </a:solidFill>
                  </a:tcPr>
                </a:tc>
                <a:tc>
                  <a:txBody>
                    <a:bodyPr/>
                    <a:lstStyle/>
                    <a:p>
                      <a:pPr algn="ctr"/>
                      <a:r>
                        <a:rPr sz="800" b="0">
                          <a:solidFill>
                            <a:srgbClr val="1A1A1A"/>
                          </a:solidFill>
                        </a:rPr>
                        <a:t>Consensu analystes 12M</a:t>
                      </a:r>
                    </a:p>
                  </a:txBody>
                  <a:tcPr>
                    <a:solidFill>
                      <a:srgbClr val="F5F7FA"/>
                    </a:solidFill>
                  </a:tcPr>
                </a:tc>
              </a:tr>
              <a:tr h="300000">
                <a:tc>
                  <a:txBody>
                    <a:bodyPr/>
                    <a:lstStyle/>
                    <a:p>
                      <a:pPr algn="ctr"/>
                      <a:r>
                        <a:rPr sz="800" b="0">
                          <a:solidFill>
                            <a:srgbClr val="1A1A1A"/>
                          </a:solidFill>
                        </a:rPr>
                        <a:t>Prime/Decote</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Surevalu si &gt; 20 %</a:t>
                      </a:r>
                    </a:p>
                  </a:txBody>
                  <a:tcPr>
                    <a:noFill/>
                  </a:tcPr>
                </a:tc>
                <a:tc>
                  <a:txBody>
                    <a:bodyPr/>
                    <a:lstStyle/>
                    <a:p>
                      <a:pPr algn="ctr"/>
                      <a:r>
                        <a:rPr sz="800" b="0">
                          <a:solidFill>
                            <a:srgbClr val="1A1A1A"/>
                          </a:solidFill>
                        </a:rPr>
                        <a:t>Signal d alerte valorisation</a:t>
                      </a:r>
                    </a:p>
                  </a:txBody>
                  <a:tcPr>
                    <a:noFill/>
                  </a:tcPr>
                </a:tc>
              </a:tr>
            </a:tbl>
          </a:graphicData>
        </a:graphic>
      </p:graphicFrame>
      <p:sp>
        <p:nvSpPr>
          <p:cNvPr id="16" name="Rectangle 15"/>
          <p:cNvSpPr/>
          <p:nvPr/>
        </p:nvSpPr>
        <p:spPr>
          <a:xfrm>
            <a:off x="324000" y="2808000"/>
            <a:ext cx="8496000" cy="199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808000"/>
            <a:ext cx="43200" cy="19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2862000"/>
            <a:ext cx="8208000" cy="216000"/>
          </a:xfrm>
          <a:prstGeom prst="rect">
            <a:avLst/>
          </a:prstGeom>
          <a:noFill/>
        </p:spPr>
        <p:txBody>
          <a:bodyPr wrap="square">
            <a:spAutoFit/>
          </a:bodyPr>
          <a:lstStyle/>
          <a:p>
            <a:pPr algn="l"/>
            <a:r>
              <a:rPr sz="800" b="1" i="0">
                <a:solidFill>
                  <a:srgbClr val="1B3A6B"/>
                </a:solidFill>
              </a:rPr>
              <a:t>Lecture analytique — Valorisation macro</a:t>
            </a:r>
          </a:p>
        </p:txBody>
      </p:sp>
      <p:sp>
        <p:nvSpPr>
          <p:cNvPr id="19" name="TextBox 18"/>
          <p:cNvSpPr txBox="1"/>
          <p:nvPr/>
        </p:nvSpPr>
        <p:spPr>
          <a:xfrm>
            <a:off x="432000" y="3096000"/>
            <a:ext cx="8208000" cy="1673999"/>
          </a:xfrm>
          <a:prstGeom prst="rect">
            <a:avLst/>
          </a:prstGeom>
          <a:noFill/>
        </p:spPr>
        <p:txBody>
          <a:bodyPr wrap="square">
            <a:spAutoFit/>
          </a:bodyPr>
          <a:lstStyle/>
          <a:p>
            <a:pPr algn="l"/>
            <a:r>
              <a:rPr sz="750" b="0" i="0">
                <a:solidFill>
                  <a:srgbClr val="555555"/>
                </a:solidFill>
              </a:rPr>
              <a:t>Le P/E Forward a 21.5x s'inscrit en prime de 18% par rapport a la mediane 10 ans (18.2x), justifie en partie par la monetisation de l'IA et la qualite superieure des marges. L'ERP ressort a 4.2% — niveau attractif mais contraint par le 10Y US a 4.3%. La compression de multiple reste le principal risque si les taux LT demeurent restrictifs. Le secteur Technologie (P/E 28.5x vs médiane 22x) concentre la prime de valorisation.</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 Économique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DAX40  ·  Phase actuelle : Expansion avancée  ·  Signaux FRED  ·  Modèle 4 phases</a:t>
            </a:r>
          </a:p>
        </p:txBody>
      </p:sp>
      <p:sp>
        <p:nvSpPr>
          <p:cNvPr id="15" name="Rectangle 14"/>
          <p:cNvSpPr/>
          <p:nvPr/>
        </p:nvSpPr>
        <p:spPr>
          <a:xfrm>
            <a:off x="324000" y="827999"/>
            <a:ext cx="2951999" cy="234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951999" cy="251999"/>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2808000" cy="216000"/>
          </a:xfrm>
          <a:prstGeom prst="rect">
            <a:avLst/>
          </a:prstGeom>
          <a:noFill/>
        </p:spPr>
        <p:txBody>
          <a:bodyPr wrap="square">
            <a:spAutoFit/>
          </a:bodyPr>
          <a:lstStyle/>
          <a:p>
            <a:pPr algn="l"/>
            <a:r>
              <a:rPr sz="800" b="1" i="0">
                <a:solidFill>
                  <a:srgbClr val="FFFFFF"/>
                </a:solidFill>
              </a:rPr>
              <a:t>PHASE ACTUELLE</a:t>
            </a:r>
          </a:p>
        </p:txBody>
      </p:sp>
      <p:sp>
        <p:nvSpPr>
          <p:cNvPr id="18" name="TextBox 17"/>
          <p:cNvSpPr txBox="1"/>
          <p:nvPr/>
        </p:nvSpPr>
        <p:spPr>
          <a:xfrm>
            <a:off x="396000" y="1152000"/>
            <a:ext cx="2808000" cy="360000"/>
          </a:xfrm>
          <a:prstGeom prst="rect">
            <a:avLst/>
          </a:prstGeom>
          <a:noFill/>
        </p:spPr>
        <p:txBody>
          <a:bodyPr wrap="square">
            <a:spAutoFit/>
          </a:bodyPr>
          <a:lstStyle/>
          <a:p>
            <a:pPr algn="l"/>
            <a:r>
              <a:rPr sz="1800" b="1" i="0">
                <a:solidFill>
                  <a:srgbClr val="FFFFFF"/>
                </a:solidFill>
              </a:rPr>
              <a:t>Expansion</a:t>
            </a:r>
          </a:p>
        </p:txBody>
      </p:sp>
      <p:sp>
        <p:nvSpPr>
          <p:cNvPr id="19" name="TextBox 18"/>
          <p:cNvSpPr txBox="1"/>
          <p:nvPr/>
        </p:nvSpPr>
        <p:spPr>
          <a:xfrm>
            <a:off x="396000" y="1512000"/>
            <a:ext cx="2808000" cy="306000"/>
          </a:xfrm>
          <a:prstGeom prst="rect">
            <a:avLst/>
          </a:prstGeom>
          <a:noFill/>
        </p:spPr>
        <p:txBody>
          <a:bodyPr wrap="square">
            <a:spAutoFit/>
          </a:bodyPr>
          <a:lstStyle/>
          <a:p>
            <a:pPr algn="l"/>
            <a:r>
              <a:rPr sz="1300" b="0" i="0">
                <a:solidFill>
                  <a:srgbClr val="AAAAAA"/>
                </a:solidFill>
              </a:rPr>
              <a:t>avancée</a:t>
            </a:r>
          </a:p>
        </p:txBody>
      </p:sp>
      <p:sp>
        <p:nvSpPr>
          <p:cNvPr id="20" name="TextBox 19"/>
          <p:cNvSpPr txBox="1"/>
          <p:nvPr/>
        </p:nvSpPr>
        <p:spPr>
          <a:xfrm>
            <a:off x="396000" y="1908000"/>
            <a:ext cx="2808000" cy="720000"/>
          </a:xfrm>
          <a:prstGeom prst="rect">
            <a:avLst/>
          </a:prstGeom>
          <a:noFill/>
        </p:spPr>
        <p:txBody>
          <a:bodyPr wrap="square">
            <a:spAutoFit/>
          </a:bodyPr>
          <a:lstStyle/>
          <a:p>
            <a:pPr algn="l"/>
            <a:r>
              <a:rPr sz="800" b="0" i="0">
                <a:solidFill>
                  <a:srgbClr val="AAAAAA"/>
                </a:solidFill>
              </a:rPr>
              <a:t>Milieu-fin de cycle — ISM proche 50, courbe taux normalisée</a:t>
            </a:r>
          </a:p>
        </p:txBody>
      </p:sp>
      <p:sp>
        <p:nvSpPr>
          <p:cNvPr id="21" name="TextBox 20"/>
          <p:cNvSpPr txBox="1"/>
          <p:nvPr/>
        </p:nvSpPr>
        <p:spPr>
          <a:xfrm>
            <a:off x="396000" y="2664000"/>
            <a:ext cx="2808000" cy="468000"/>
          </a:xfrm>
          <a:prstGeom prst="rect">
            <a:avLst/>
          </a:prstGeom>
          <a:noFill/>
        </p:spPr>
        <p:txBody>
          <a:bodyPr wrap="square">
            <a:spAutoFit/>
          </a:bodyPr>
          <a:lstStyle/>
          <a:p>
            <a:pPr algn="l"/>
            <a:r>
              <a:rPr sz="750" b="0" i="0">
                <a:solidFill>
                  <a:srgbClr val="AAAAAA"/>
                </a:solidFill>
              </a:rPr>
              <a:t>L'analyse des indicateurs avancées positionne le cycle en phase d'expansion avancée : ISM Manufacturier autour du seuil...</a:t>
            </a:r>
          </a:p>
        </p:txBody>
      </p:sp>
      <p:graphicFrame>
        <p:nvGraphicFramePr>
          <p:cNvPr id="22" name="Table 21"/>
          <p:cNvGraphicFramePr>
            <a:graphicFrameLocks noGrp="1"/>
          </p:cNvGraphicFramePr>
          <p:nvPr/>
        </p:nvGraphicFramePr>
        <p:xfrm>
          <a:off x="3420000" y="827999"/>
          <a:ext cx="5400000" cy="1871999"/>
        </p:xfrm>
        <a:graphic>
          <a:graphicData uri="http://schemas.openxmlformats.org/drawingml/2006/table">
            <a:tbl>
              <a:tblPr firstRow="1" bandRow="1">
                <a:tableStyleId>{5C22544A-7EE6-4342-B048-85BDC9FD1C3A}</a:tableStyleId>
              </a:tblPr>
              <a:tblGrid>
                <a:gridCol w="1800000"/>
                <a:gridCol w="900000"/>
                <a:gridCol w="2700000"/>
              </a:tblGrid>
              <a:tr h="311999">
                <a:tc>
                  <a:txBody>
                    <a:bodyPr/>
                    <a:lstStyle/>
                    <a:p>
                      <a:pPr algn="ctr"/>
                      <a:r>
                        <a:rPr sz="800" b="1">
                          <a:solidFill>
                            <a:srgbClr val="FFFFFF"/>
                          </a:solidFill>
                        </a:rPr>
                        <a:t>INDICATEUR</a:t>
                      </a:r>
                    </a:p>
                  </a:txBody>
                  <a:tcPr>
                    <a:solidFill>
                      <a:srgbClr val="1B3A6B"/>
                    </a:solidFill>
                  </a:tcPr>
                </a:tc>
                <a:tc>
                  <a:txBody>
                    <a:bodyPr/>
                    <a:lstStyle/>
                    <a:p>
                      <a:pPr algn="ctr"/>
                      <a:r>
                        <a:rPr sz="800" b="1">
                          <a:solidFill>
                            <a:srgbClr val="FFFFFF"/>
                          </a:solidFill>
                        </a:rPr>
                        <a:t>VALEUR</a:t>
                      </a:r>
                    </a:p>
                  </a:txBody>
                  <a:tcPr>
                    <a:solidFill>
                      <a:srgbClr val="1B3A6B"/>
                    </a:solidFill>
                  </a:tcPr>
                </a:tc>
                <a:tc>
                  <a:txBody>
                    <a:bodyPr/>
                    <a:lstStyle/>
                    <a:p>
                      <a:pPr algn="ctr"/>
                      <a:r>
                        <a:rPr sz="800" b="1">
                          <a:solidFill>
                            <a:srgbClr val="FFFFFF"/>
                          </a:solidFill>
                        </a:rPr>
                        <a:t>INTERPRETATION</a:t>
                      </a:r>
                    </a:p>
                  </a:txBody>
                  <a:tcPr>
                    <a:solidFill>
                      <a:srgbClr val="1B3A6B"/>
                    </a:solidFill>
                  </a:tcPr>
                </a:tc>
              </a:tr>
              <a:tr h="311999">
                <a:tc>
                  <a:txBody>
                    <a:bodyPr/>
                    <a:lstStyle/>
                    <a:p>
                      <a:pPr algn="ctr"/>
                      <a:r>
                        <a:rPr sz="800" b="0">
                          <a:solidFill>
                            <a:srgbClr val="1A1A1A"/>
                          </a:solidFill>
                        </a:rPr>
                        <a:t>PMI Composite</a:t>
                      </a:r>
                    </a:p>
                  </a:txBody>
                  <a:tcPr>
                    <a:noFill/>
                  </a:tcPr>
                </a:tc>
                <a:tc>
                  <a:txBody>
                    <a:bodyPr/>
                    <a:lstStyle/>
                    <a:p>
                      <a:pPr algn="ctr"/>
                      <a:r>
                        <a:rPr sz="800" b="0">
                          <a:solidFill>
                            <a:srgbClr val="1A1A1A"/>
                          </a:solidFill>
                        </a:rPr>
                        <a:t>51,2</a:t>
                      </a:r>
                    </a:p>
                  </a:txBody>
                  <a:tcPr>
                    <a:noFill/>
                  </a:tcPr>
                </a:tc>
                <a:tc>
                  <a:txBody>
                    <a:bodyPr/>
                    <a:lstStyle/>
                    <a:p>
                      <a:pPr algn="ctr"/>
                      <a:r>
                        <a:rPr sz="800" b="0">
                          <a:solidFill>
                            <a:srgbClr val="1A1A1A"/>
                          </a:solidFill>
                        </a:rPr>
                        <a:t>Expansion modérée</a:t>
                      </a:r>
                    </a:p>
                  </a:txBody>
                  <a:tcPr>
                    <a:noFill/>
                  </a:tcPr>
                </a:tc>
              </a:tr>
              <a:tr h="311999">
                <a:tc>
                  <a:txBody>
                    <a:bodyPr/>
                    <a:lstStyle/>
                    <a:p>
                      <a:pPr algn="ctr"/>
                      <a:r>
                        <a:rPr sz="800" b="0">
                          <a:solidFill>
                            <a:srgbClr val="1A1A1A"/>
                          </a:solidFill>
                        </a:rPr>
                        <a:t>Courbe 10Y-2Y</a:t>
                      </a:r>
                    </a:p>
                  </a:txBody>
                  <a:tcPr>
                    <a:solidFill>
                      <a:srgbClr val="F5F7FA"/>
                    </a:solidFill>
                  </a:tcPr>
                </a:tc>
                <a:tc>
                  <a:txBody>
                    <a:bodyPr/>
                    <a:lstStyle/>
                    <a:p>
                      <a:pPr algn="ctr"/>
                      <a:r>
                        <a:rPr sz="800" b="0">
                          <a:solidFill>
                            <a:srgbClr val="1A1A1A"/>
                          </a:solidFill>
                        </a:rPr>
                        <a:t>-0,12 %</a:t>
                      </a:r>
                    </a:p>
                  </a:txBody>
                  <a:tcPr>
                    <a:solidFill>
                      <a:srgbClr val="F5F7FA"/>
                    </a:solidFill>
                  </a:tcPr>
                </a:tc>
                <a:tc>
                  <a:txBody>
                    <a:bodyPr/>
                    <a:lstStyle/>
                    <a:p>
                      <a:pPr algn="ctr"/>
                      <a:r>
                        <a:rPr sz="800" b="0">
                          <a:solidFill>
                            <a:srgbClr val="1A1A1A"/>
                          </a:solidFill>
                        </a:rPr>
                        <a:t>Légèrement inversée</a:t>
                      </a:r>
                    </a:p>
                  </a:txBody>
                  <a:tcPr>
                    <a:solidFill>
                      <a:srgbClr val="F5F7FA"/>
                    </a:solidFill>
                  </a:tcPr>
                </a:tc>
              </a:tr>
              <a:tr h="311999">
                <a:tc>
                  <a:txBody>
                    <a:bodyPr/>
                    <a:lstStyle/>
                    <a:p>
                      <a:pPr algn="ctr"/>
                      <a:r>
                        <a:rPr sz="800" b="0">
                          <a:solidFill>
                            <a:srgbClr val="1A1A1A"/>
                          </a:solidFill>
                        </a:rPr>
                        <a:t>ISM Manuf.</a:t>
                      </a:r>
                    </a:p>
                  </a:txBody>
                  <a:tcPr>
                    <a:noFill/>
                  </a:tcPr>
                </a:tc>
                <a:tc>
                  <a:txBody>
                    <a:bodyPr/>
                    <a:lstStyle/>
                    <a:p>
                      <a:pPr algn="ctr"/>
                      <a:r>
                        <a:rPr sz="800" b="0">
                          <a:solidFill>
                            <a:srgbClr val="1A1A1A"/>
                          </a:solidFill>
                        </a:rPr>
                        <a:t>49,8</a:t>
                      </a:r>
                    </a:p>
                  </a:txBody>
                  <a:tcPr>
                    <a:noFill/>
                  </a:tcPr>
                </a:tc>
                <a:tc>
                  <a:txBody>
                    <a:bodyPr/>
                    <a:lstStyle/>
                    <a:p>
                      <a:pPr algn="ctr"/>
                      <a:r>
                        <a:rPr sz="800" b="0">
                          <a:solidFill>
                            <a:srgbClr val="1A1A1A"/>
                          </a:solidFill>
                        </a:rPr>
                        <a:t>Sous expansion</a:t>
                      </a:r>
                    </a:p>
                  </a:txBody>
                  <a:tcPr>
                    <a:noFill/>
                  </a:tcPr>
                </a:tc>
              </a:tr>
              <a:tr h="311999">
                <a:tc>
                  <a:txBody>
                    <a:bodyPr/>
                    <a:lstStyle/>
                    <a:p>
                      <a:pPr algn="ctr"/>
                      <a:r>
                        <a:rPr sz="800" b="0">
                          <a:solidFill>
                            <a:srgbClr val="1A1A1A"/>
                          </a:solidFill>
                        </a:rPr>
                        <a:t>Chomage</a:t>
                      </a:r>
                    </a:p>
                  </a:txBody>
                  <a:tcPr>
                    <a:solidFill>
                      <a:srgbClr val="F5F7FA"/>
                    </a:solidFill>
                  </a:tcPr>
                </a:tc>
                <a:tc>
                  <a:txBody>
                    <a:bodyPr/>
                    <a:lstStyle/>
                    <a:p>
                      <a:pPr algn="ctr"/>
                      <a:r>
                        <a:rPr sz="800" b="0">
                          <a:solidFill>
                            <a:srgbClr val="1A1A1A"/>
                          </a:solidFill>
                        </a:rPr>
                        <a:t>3,9 %</a:t>
                      </a:r>
                    </a:p>
                  </a:txBody>
                  <a:tcPr>
                    <a:solidFill>
                      <a:srgbClr val="F5F7FA"/>
                    </a:solidFill>
                  </a:tcPr>
                </a:tc>
                <a:tc>
                  <a:txBody>
                    <a:bodyPr/>
                    <a:lstStyle/>
                    <a:p>
                      <a:pPr algn="ctr"/>
                      <a:r>
                        <a:rPr sz="800" b="0">
                          <a:solidFill>
                            <a:srgbClr val="1A1A1A"/>
                          </a:solidFill>
                        </a:rPr>
                        <a:t>Marché solide</a:t>
                      </a:r>
                    </a:p>
                  </a:txBody>
                  <a:tcPr>
                    <a:solidFill>
                      <a:srgbClr val="F5F7FA"/>
                    </a:solidFill>
                  </a:tcPr>
                </a:tc>
              </a:tr>
              <a:tr h="312004">
                <a:tc>
                  <a:txBody>
                    <a:bodyPr/>
                    <a:lstStyle/>
                    <a:p>
                      <a:pPr algn="ctr"/>
                      <a:r>
                        <a:rPr sz="800" b="0">
                          <a:solidFill>
                            <a:srgbClr val="1A1A1A"/>
                          </a:solidFill>
                        </a:rPr>
                        <a:t>CPI YoY</a:t>
                      </a:r>
                    </a:p>
                  </a:txBody>
                  <a:tcPr>
                    <a:noFill/>
                  </a:tcPr>
                </a:tc>
                <a:tc>
                  <a:txBody>
                    <a:bodyPr/>
                    <a:lstStyle/>
                    <a:p>
                      <a:pPr algn="ctr"/>
                      <a:r>
                        <a:rPr sz="800" b="0">
                          <a:solidFill>
                            <a:srgbClr val="1A1A1A"/>
                          </a:solidFill>
                        </a:rPr>
                        <a:t>3,1 %</a:t>
                      </a:r>
                    </a:p>
                  </a:txBody>
                  <a:tcPr>
                    <a:noFill/>
                  </a:tcPr>
                </a:tc>
                <a:tc>
                  <a:txBody>
                    <a:bodyPr/>
                    <a:lstStyle/>
                    <a:p>
                      <a:pPr algn="ctr"/>
                      <a:r>
                        <a:rPr sz="800" b="0">
                          <a:solidFill>
                            <a:srgbClr val="1A1A1A"/>
                          </a:solidFill>
                        </a:rPr>
                        <a:t>Au-dessus cible</a:t>
                      </a:r>
                    </a:p>
                  </a:txBody>
                  <a:tcPr>
                    <a:noFill/>
                  </a:tcPr>
                </a:tc>
              </a:tr>
            </a:tbl>
          </a:graphicData>
        </a:graphic>
      </p:graphicFrame>
      <p:sp>
        <p:nvSpPr>
          <p:cNvPr id="23" name="Rectangle 22"/>
          <p:cNvSpPr/>
          <p:nvPr/>
        </p:nvSpPr>
        <p:spPr>
          <a:xfrm>
            <a:off x="3420000" y="3348000"/>
            <a:ext cx="5400000" cy="104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20000" y="3348000"/>
            <a:ext cx="36000" cy="104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28000" y="3384000"/>
            <a:ext cx="5220000" cy="216000"/>
          </a:xfrm>
          <a:prstGeom prst="rect">
            <a:avLst/>
          </a:prstGeom>
          <a:noFill/>
        </p:spPr>
        <p:txBody>
          <a:bodyPr wrap="square">
            <a:spAutoFit/>
          </a:bodyPr>
          <a:lstStyle/>
          <a:p>
            <a:pPr algn="l"/>
            <a:r>
              <a:rPr sz="800" b="1" i="0">
                <a:solidFill>
                  <a:srgbClr val="1B3A6B"/>
                </a:solidFill>
              </a:rPr>
              <a:t>Allocation recommandée selon le positionnement de cycle</a:t>
            </a:r>
          </a:p>
        </p:txBody>
      </p:sp>
      <p:sp>
        <p:nvSpPr>
          <p:cNvPr id="26" name="TextBox 25"/>
          <p:cNvSpPr txBox="1"/>
          <p:nvPr/>
        </p:nvSpPr>
        <p:spPr>
          <a:xfrm>
            <a:off x="3528000" y="3600000"/>
            <a:ext cx="5220000" cy="720000"/>
          </a:xfrm>
          <a:prstGeom prst="rect">
            <a:avLst/>
          </a:prstGeom>
          <a:noFill/>
        </p:spPr>
        <p:txBody>
          <a:bodyPr wrap="square">
            <a:spAutoFit/>
          </a:bodyPr>
          <a:lstStyle/>
          <a:p>
            <a:pPr algn="l"/>
            <a:r>
              <a:rPr sz="750" b="0" i="0">
                <a:solidFill>
                  <a:srgbClr val="555555"/>
                </a:solidFill>
              </a:rPr>
              <a:t>L'analyse des indicateurs avancées positionne le cycle en phase d'expansion avancée : ISM Manufacturier autour du seuil 50 (49.8), courbe des taux partiellement normalisée (10Y-2Y +0.2%), Leading Indicators OCDE en légère hausse. Cette configuration favorise les secteurs avec forte visibilité BPA et moindre sensibilité aux taux : Technology, Health Care, Financials. Les secteurs défensifs (Consumer Staples,...</a:t>
            </a:r>
          </a:p>
        </p:txBody>
      </p:sp>
      <p:sp>
        <p:nvSpPr>
          <p:cNvPr id="27" name="Rectangle 2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Secteurs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11 secteurs GICS · Scores · Scatter valorisation · Décomposition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Secteurs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11 secteurs GICS  ·  503 sociétés  ·  Tri par score FinSight décroissant</a:t>
            </a:r>
          </a:p>
        </p:txBody>
      </p:sp>
      <p:graphicFrame>
        <p:nvGraphicFramePr>
          <p:cNvPr id="15" name="Table 14"/>
          <p:cNvGraphicFramePr>
            <a:graphicFrameLocks noGrp="1"/>
          </p:cNvGraphicFramePr>
          <p:nvPr/>
        </p:nvGraphicFramePr>
        <p:xfrm>
          <a:off x="324000" y="827999"/>
          <a:ext cx="8495998" cy="2700000"/>
        </p:xfrm>
        <a:graphic>
          <a:graphicData uri="http://schemas.openxmlformats.org/drawingml/2006/table">
            <a:tbl>
              <a:tblPr firstRow="1" bandRow="1">
                <a:tableStyleId>{5C22544A-7EE6-4342-B048-85BDC9FD1C3A}</a:tableStyleId>
              </a:tblPr>
              <a:tblGrid>
                <a:gridCol w="420594"/>
                <a:gridCol w="1892673"/>
                <a:gridCol w="630891"/>
                <a:gridCol w="1345900"/>
                <a:gridCol w="1051485"/>
                <a:gridCol w="1051485"/>
                <a:gridCol w="1051485"/>
                <a:gridCol w="1051485"/>
              </a:tblGrid>
              <a:tr h="225000">
                <a:tc>
                  <a:txBody>
                    <a:bodyPr/>
                    <a:lstStyle/>
                    <a:p>
                      <a:pPr algn="ctr"/>
                      <a:r>
                        <a:rPr sz="800" b="1">
                          <a:solidFill>
                            <a:srgbClr val="FFFFFF"/>
                          </a:solidFill>
                        </a:rPr>
                        <a:t>Rg</a:t>
                      </a:r>
                    </a:p>
                  </a:txBody>
                  <a:tcPr>
                    <a:solidFill>
                      <a:srgbClr val="1B3A6B"/>
                    </a:solidFill>
                  </a:tcPr>
                </a:tc>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Score</a:t>
                      </a:r>
                    </a:p>
                  </a:txBody>
                  <a:tcPr>
                    <a:solidFill>
                      <a:srgbClr val="1B3A6B"/>
                    </a:solidFill>
                  </a:tcPr>
                </a:tc>
                <a:tc>
                  <a:txBody>
                    <a:bodyPr/>
                    <a:lstStyle/>
                    <a:p>
                      <a:pPr algn="ctr"/>
                      <a:r>
                        <a:rPr sz="800" b="1">
                          <a:solidFill>
                            <a:srgbClr val="FFFFFF"/>
                          </a:solidFill>
                        </a:rPr>
                        <a:t>Signal</a:t>
                      </a:r>
                    </a:p>
                  </a:txBody>
                  <a:tcPr>
                    <a:solidFill>
                      <a:srgbClr val="1B3A6B"/>
                    </a:solidFill>
                  </a:tcPr>
                </a:tc>
                <a:tc>
                  <a:txBody>
                    <a:bodyPr/>
                    <a:lstStyle/>
                    <a:p>
                      <a:pPr algn="ctr"/>
                      <a:r>
                        <a:rPr sz="800" b="1">
                          <a:solidFill>
                            <a:srgbClr val="FFFFFF"/>
                          </a:solidFill>
                        </a:rPr>
                        <a:t>Mg.EBITDA</a:t>
                      </a:r>
                    </a:p>
                  </a:txBody>
                  <a:tcPr>
                    <a:solidFill>
                      <a:srgbClr val="1B3A6B"/>
                    </a:solidFill>
                  </a:tcPr>
                </a:tc>
                <a:tc>
                  <a:txBody>
                    <a:bodyPr/>
                    <a:lstStyle/>
                    <a:p>
                      <a:pPr algn="ctr"/>
                      <a:r>
                        <a:rPr sz="800" b="1">
                          <a:solidFill>
                            <a:srgbClr val="FFFFFF"/>
                          </a:solidFill>
                        </a:rPr>
                        <a:t>Croiss.</a:t>
                      </a:r>
                    </a:p>
                  </a:txBody>
                  <a:tcPr>
                    <a:solidFill>
                      <a:srgbClr val="1B3A6B"/>
                    </a:solidFill>
                  </a:tcPr>
                </a:tc>
                <a:tc>
                  <a:txBody>
                    <a:bodyPr/>
                    <a:lstStyle/>
                    <a:p>
                      <a:pPr algn="ctr"/>
                      <a:r>
                        <a:rPr sz="800" b="1">
                          <a:solidFill>
                            <a:srgbClr val="FFFFFF"/>
                          </a:solidFill>
                        </a:rPr>
                        <a:t>P/Book</a:t>
                      </a:r>
                    </a:p>
                  </a:txBody>
                  <a:tcPr>
                    <a:solidFill>
                      <a:srgbClr val="1B3A6B"/>
                    </a:solidFill>
                  </a:tcPr>
                </a:tc>
                <a:tc>
                  <a:txBody>
                    <a:bodyPr/>
                    <a:lstStyle/>
                    <a:p>
                      <a:pPr algn="ctr"/>
                      <a:r>
                        <a:rPr sz="800" b="1">
                          <a:solidFill>
                            <a:srgbClr val="FFFFFF"/>
                          </a:solidFill>
                        </a:rPr>
                        <a:t>Div.Yield</a:t>
                      </a:r>
                    </a:p>
                  </a:txBody>
                  <a:tcPr>
                    <a:solidFill>
                      <a:srgbClr val="1B3A6B"/>
                    </a:solidFill>
                  </a:tcPr>
                </a:tc>
              </a:tr>
              <a:tr h="225000">
                <a:tc>
                  <a:txBody>
                    <a:bodyPr/>
                    <a:lstStyle/>
                    <a:p>
                      <a:pPr algn="ctr"/>
                      <a:r>
                        <a:rPr sz="800" b="0">
                          <a:solidFill>
                            <a:srgbClr val="1A1A1A"/>
                          </a:solidFill>
                        </a:rPr>
                        <a:t>1</a:t>
                      </a:r>
                    </a:p>
                  </a:txBody>
                  <a:tcPr>
                    <a:noFill/>
                  </a:tcPr>
                </a:tc>
                <a:tc>
                  <a:txBody>
                    <a:bodyPr/>
                    <a:lstStyle/>
                    <a:p>
                      <a:pPr algn="ctr"/>
                      <a:r>
                        <a:rPr sz="800" b="0">
                          <a:solidFill>
                            <a:srgbClr val="1A1A1A"/>
                          </a:solidFill>
                        </a:rPr>
                        <a:t>Technology</a:t>
                      </a:r>
                    </a:p>
                  </a:txBody>
                  <a:tcPr>
                    <a:noFill/>
                  </a:tcPr>
                </a:tc>
                <a:tc>
                  <a:txBody>
                    <a:bodyPr/>
                    <a:lstStyle/>
                    <a:p>
                      <a:pPr algn="ctr"/>
                      <a:r>
                        <a:rPr sz="800" b="0">
                          <a:solidFill>
                            <a:srgbClr val="1A1A1A"/>
                          </a:solidFill>
                        </a:rPr>
                        <a:t>72</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28.4%</a:t>
                      </a:r>
                    </a:p>
                  </a:txBody>
                  <a:tcPr>
                    <a:noFill/>
                  </a:tcPr>
                </a:tc>
                <a:tc>
                  <a:txBody>
                    <a:bodyPr/>
                    <a:lstStyle/>
                    <a:p>
                      <a:pPr algn="ctr"/>
                      <a:r>
                        <a:rPr sz="800" b="0">
                          <a:solidFill>
                            <a:srgbClr val="1A1A1A"/>
                          </a:solidFill>
                        </a:rPr>
                        <a:t>+14.2%</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a:t>
                      </a:r>
                    </a:p>
                  </a:txBody>
                  <a:tcPr>
                    <a:noFill/>
                  </a:tcPr>
                </a:tc>
              </a:tr>
              <a:tr h="225000">
                <a:tc>
                  <a:txBody>
                    <a:bodyPr/>
                    <a:lstStyle/>
                    <a:p>
                      <a:pPr algn="ctr"/>
                      <a:r>
                        <a:rPr sz="800" b="0">
                          <a:solidFill>
                            <a:srgbClr val="1A1A1A"/>
                          </a:solidFill>
                        </a:rPr>
                        <a:t>2</a:t>
                      </a:r>
                    </a:p>
                  </a:txBody>
                  <a:tcPr>
                    <a:solidFill>
                      <a:srgbClr val="F5F7FA"/>
                    </a:solidFill>
                  </a:tcPr>
                </a:tc>
                <a:tc>
                  <a:txBody>
                    <a:bodyPr/>
                    <a:lstStyle/>
                    <a:p>
                      <a:pPr algn="ctr"/>
                      <a:r>
                        <a:rPr sz="800" b="0">
                          <a:solidFill>
                            <a:srgbClr val="1A1A1A"/>
                          </a:solidFill>
                        </a:rPr>
                        <a:t>Health Care</a:t>
                      </a:r>
                    </a:p>
                  </a:txBody>
                  <a:tcPr>
                    <a:solidFill>
                      <a:srgbClr val="F5F7FA"/>
                    </a:solidFill>
                  </a:tcPr>
                </a:tc>
                <a:tc>
                  <a:txBody>
                    <a:bodyPr/>
                    <a:lstStyle/>
                    <a:p>
                      <a:pPr algn="ctr"/>
                      <a:r>
                        <a:rPr sz="800" b="0">
                          <a:solidFill>
                            <a:srgbClr val="1A1A1A"/>
                          </a:solidFill>
                        </a:rPr>
                        <a:t>65</a:t>
                      </a:r>
                    </a:p>
                  </a:txBody>
                  <a:tcPr>
                    <a:solidFill>
                      <a:srgbClr val="F5F7FA"/>
                    </a:solid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22.1%</a:t>
                      </a:r>
                    </a:p>
                  </a:txBody>
                  <a:tcPr>
                    <a:solidFill>
                      <a:srgbClr val="F5F7FA"/>
                    </a:solidFill>
                  </a:tcPr>
                </a:tc>
                <a:tc>
                  <a:txBody>
                    <a:bodyPr/>
                    <a:lstStyle/>
                    <a:p>
                      <a:pPr algn="ctr"/>
                      <a:r>
                        <a:rPr sz="800" b="0">
                          <a:solidFill>
                            <a:srgbClr val="1A1A1A"/>
                          </a:solidFill>
                        </a:rPr>
                        <a:t>+9.8%</a:t>
                      </a:r>
                    </a:p>
                  </a:txBody>
                  <a:tcPr>
                    <a:solidFill>
                      <a:srgbClr val="F5F7FA"/>
                    </a:solidFill>
                  </a:tcPr>
                </a:tc>
                <a:tc>
                  <a:txBody>
                    <a:bodyPr/>
                    <a:lstStyle/>
                    <a:p>
                      <a:pPr algn="ctr"/>
                      <a:r>
                        <a:rPr sz="800" b="0">
                          <a:solidFill>
                            <a:srgbClr val="1A1A1A"/>
                          </a:solidFill>
                        </a:rPr>
                        <a:t>—</a:t>
                      </a:r>
                    </a:p>
                  </a:txBody>
                  <a:tcPr>
                    <a:solidFill>
                      <a:srgbClr val="F5F7FA"/>
                    </a:solidFill>
                  </a:tcPr>
                </a:tc>
                <a:tc>
                  <a:txBody>
                    <a:bodyPr/>
                    <a:lstStyle/>
                    <a:p>
                      <a:pPr algn="ctr"/>
                      <a:r>
                        <a:rPr sz="800" b="0">
                          <a:solidFill>
                            <a:srgbClr val="1A1A1A"/>
                          </a:solidFill>
                        </a:rPr>
                        <a:t>—</a:t>
                      </a:r>
                    </a:p>
                  </a:txBody>
                  <a:tcPr>
                    <a:solidFill>
                      <a:srgbClr val="F5F7FA"/>
                    </a:solidFill>
                  </a:tcPr>
                </a:tc>
              </a:tr>
              <a:tr h="225000">
                <a:tc>
                  <a:txBody>
                    <a:bodyPr/>
                    <a:lstStyle/>
                    <a:p>
                      <a:pPr algn="ctr"/>
                      <a:r>
                        <a:rPr sz="800" b="0">
                          <a:solidFill>
                            <a:srgbClr val="1A1A1A"/>
                          </a:solidFill>
                        </a:rPr>
                        <a:t>3</a:t>
                      </a:r>
                    </a:p>
                  </a:txBody>
                  <a:tcPr>
                    <a:noFill/>
                  </a:tcPr>
                </a:tc>
                <a:tc>
                  <a:txBody>
                    <a:bodyPr/>
                    <a:lstStyle/>
                    <a:p>
                      <a:pPr algn="ctr"/>
                      <a:r>
                        <a:rPr sz="800" b="0">
                          <a:solidFill>
                            <a:srgbClr val="1A1A1A"/>
                          </a:solidFill>
                        </a:rPr>
                        <a:t>Financials</a:t>
                      </a:r>
                    </a:p>
                  </a:txBody>
                  <a:tcPr>
                    <a:noFill/>
                  </a:tcPr>
                </a:tc>
                <a:tc>
                  <a:txBody>
                    <a:bodyPr/>
                    <a:lstStyle/>
                    <a:p>
                      <a:pPr algn="ctr"/>
                      <a:r>
                        <a:rPr sz="800" b="0">
                          <a:solidFill>
                            <a:srgbClr val="1A1A1A"/>
                          </a:solidFill>
                        </a:rPr>
                        <a:t>62</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31.2%</a:t>
                      </a:r>
                    </a:p>
                  </a:txBody>
                  <a:tcPr>
                    <a:noFill/>
                  </a:tcPr>
                </a:tc>
                <a:tc>
                  <a:txBody>
                    <a:bodyPr/>
                    <a:lstStyle/>
                    <a:p>
                      <a:pPr algn="ctr"/>
                      <a:r>
                        <a:rPr sz="800" b="0">
                          <a:solidFill>
                            <a:srgbClr val="1A1A1A"/>
                          </a:solidFill>
                        </a:rPr>
                        <a:t>+11.4%</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a:t>
                      </a:r>
                    </a:p>
                  </a:txBody>
                  <a:tcPr>
                    <a:noFill/>
                  </a:tcPr>
                </a:tc>
              </a:tr>
              <a:tr h="225000">
                <a:tc>
                  <a:txBody>
                    <a:bodyPr/>
                    <a:lstStyle/>
                    <a:p>
                      <a:pPr algn="ctr"/>
                      <a:r>
                        <a:rPr sz="800" b="0">
                          <a:solidFill>
                            <a:srgbClr val="1A1A1A"/>
                          </a:solidFill>
                        </a:rPr>
                        <a:t>4</a:t>
                      </a:r>
                    </a:p>
                  </a:txBody>
                  <a:tcPr>
                    <a:solidFill>
                      <a:srgbClr val="F5F7FA"/>
                    </a:solidFill>
                  </a:tcPr>
                </a:tc>
                <a:tc>
                  <a:txBody>
                    <a:bodyPr/>
                    <a:lstStyle/>
                    <a:p>
                      <a:pPr algn="ctr"/>
                      <a:r>
                        <a:rPr sz="800" b="0">
                          <a:solidFill>
                            <a:srgbClr val="1A1A1A"/>
                          </a:solidFill>
                        </a:rPr>
                        <a:t>Comm. Services</a:t>
                      </a:r>
                    </a:p>
                  </a:txBody>
                  <a:tcPr>
                    <a:solidFill>
                      <a:srgbClr val="F5F7FA"/>
                    </a:solidFill>
                  </a:tcPr>
                </a:tc>
                <a:tc>
                  <a:txBody>
                    <a:bodyPr/>
                    <a:lstStyle/>
                    <a:p>
                      <a:pPr algn="ctr"/>
                      <a:r>
                        <a:rPr sz="800" b="0">
                          <a:solidFill>
                            <a:srgbClr val="1A1A1A"/>
                          </a:solidFill>
                        </a:rPr>
                        <a:t>58</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24.6%</a:t>
                      </a:r>
                    </a:p>
                  </a:txBody>
                  <a:tcPr>
                    <a:solidFill>
                      <a:srgbClr val="F5F7FA"/>
                    </a:solidFill>
                  </a:tcPr>
                </a:tc>
                <a:tc>
                  <a:txBody>
                    <a:bodyPr/>
                    <a:lstStyle/>
                    <a:p>
                      <a:pPr algn="ctr"/>
                      <a:r>
                        <a:rPr sz="800" b="0">
                          <a:solidFill>
                            <a:srgbClr val="1A1A1A"/>
                          </a:solidFill>
                        </a:rPr>
                        <a:t>+10.1%</a:t>
                      </a:r>
                    </a:p>
                  </a:txBody>
                  <a:tcPr>
                    <a:solidFill>
                      <a:srgbClr val="F5F7FA"/>
                    </a:solidFill>
                  </a:tcPr>
                </a:tc>
                <a:tc>
                  <a:txBody>
                    <a:bodyPr/>
                    <a:lstStyle/>
                    <a:p>
                      <a:pPr algn="ctr"/>
                      <a:r>
                        <a:rPr sz="800" b="0">
                          <a:solidFill>
                            <a:srgbClr val="1A1A1A"/>
                          </a:solidFill>
                        </a:rPr>
                        <a:t>—</a:t>
                      </a:r>
                    </a:p>
                  </a:txBody>
                  <a:tcPr>
                    <a:solidFill>
                      <a:srgbClr val="F5F7FA"/>
                    </a:solidFill>
                  </a:tcPr>
                </a:tc>
                <a:tc>
                  <a:txBody>
                    <a:bodyPr/>
                    <a:lstStyle/>
                    <a:p>
                      <a:pPr algn="ctr"/>
                      <a:r>
                        <a:rPr sz="800" b="0">
                          <a:solidFill>
                            <a:srgbClr val="1A1A1A"/>
                          </a:solidFill>
                        </a:rPr>
                        <a:t>—</a:t>
                      </a:r>
                    </a:p>
                  </a:txBody>
                  <a:tcPr>
                    <a:solidFill>
                      <a:srgbClr val="F5F7FA"/>
                    </a:solidFill>
                  </a:tcPr>
                </a:tc>
              </a:tr>
              <a:tr h="225000">
                <a:tc>
                  <a:txBody>
                    <a:bodyPr/>
                    <a:lstStyle/>
                    <a:p>
                      <a:pPr algn="ctr"/>
                      <a:r>
                        <a:rPr sz="800" b="0">
                          <a:solidFill>
                            <a:srgbClr val="1A1A1A"/>
                          </a:solidFill>
                        </a:rPr>
                        <a:t>5</a:t>
                      </a:r>
                    </a:p>
                  </a:txBody>
                  <a:tcPr>
                    <a:noFill/>
                  </a:tcPr>
                </a:tc>
                <a:tc>
                  <a:txBody>
                    <a:bodyPr/>
                    <a:lstStyle/>
                    <a:p>
                      <a:pPr algn="ctr"/>
                      <a:r>
                        <a:rPr sz="800" b="0">
                          <a:solidFill>
                            <a:srgbClr val="1A1A1A"/>
                          </a:solidFill>
                        </a:rPr>
                        <a:t>Cons. Discret.</a:t>
                      </a:r>
                    </a:p>
                  </a:txBody>
                  <a:tcPr>
                    <a:noFill/>
                  </a:tcPr>
                </a:tc>
                <a:tc>
                  <a:txBody>
                    <a:bodyPr/>
                    <a:lstStyle/>
                    <a:p>
                      <a:pPr algn="ctr"/>
                      <a:r>
                        <a:rPr sz="800" b="0">
                          <a:solidFill>
                            <a:srgbClr val="1A1A1A"/>
                          </a:solidFill>
                        </a:rPr>
                        <a:t>55</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14.8%</a:t>
                      </a:r>
                    </a:p>
                  </a:txBody>
                  <a:tcPr>
                    <a:noFill/>
                  </a:tcPr>
                </a:tc>
                <a:tc>
                  <a:txBody>
                    <a:bodyPr/>
                    <a:lstStyle/>
                    <a:p>
                      <a:pPr algn="ctr"/>
                      <a:r>
                        <a:rPr sz="800" b="0">
                          <a:solidFill>
                            <a:srgbClr val="1A1A1A"/>
                          </a:solidFill>
                        </a:rPr>
                        <a:t>+8.2%</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a:t>
                      </a:r>
                    </a:p>
                  </a:txBody>
                  <a:tcPr>
                    <a:noFill/>
                  </a:tcPr>
                </a:tc>
              </a:tr>
              <a:tr h="225000">
                <a:tc>
                  <a:txBody>
                    <a:bodyPr/>
                    <a:lstStyle/>
                    <a:p>
                      <a:pPr algn="ctr"/>
                      <a:r>
                        <a:rPr sz="800" b="0">
                          <a:solidFill>
                            <a:srgbClr val="1A1A1A"/>
                          </a:solidFill>
                        </a:rPr>
                        <a:t>6</a:t>
                      </a:r>
                    </a:p>
                  </a:txBody>
                  <a:tcPr>
                    <a:solidFill>
                      <a:srgbClr val="F5F7FA"/>
                    </a:solidFill>
                  </a:tcPr>
                </a:tc>
                <a:tc>
                  <a:txBody>
                    <a:bodyPr/>
                    <a:lstStyle/>
                    <a:p>
                      <a:pPr algn="ctr"/>
                      <a:r>
                        <a:rPr sz="800" b="0">
                          <a:solidFill>
                            <a:srgbClr val="1A1A1A"/>
                          </a:solidFill>
                        </a:rPr>
                        <a:t>Industrials</a:t>
                      </a:r>
                    </a:p>
                  </a:txBody>
                  <a:tcPr>
                    <a:solidFill>
                      <a:srgbClr val="F5F7FA"/>
                    </a:solidFill>
                  </a:tcPr>
                </a:tc>
                <a:tc>
                  <a:txBody>
                    <a:bodyPr/>
                    <a:lstStyle/>
                    <a:p>
                      <a:pPr algn="ctr"/>
                      <a:r>
                        <a:rPr sz="800" b="0">
                          <a:solidFill>
                            <a:srgbClr val="1A1A1A"/>
                          </a:solidFill>
                        </a:rPr>
                        <a:t>53</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16.2%</a:t>
                      </a:r>
                    </a:p>
                  </a:txBody>
                  <a:tcPr>
                    <a:solidFill>
                      <a:srgbClr val="F5F7FA"/>
                    </a:solidFill>
                  </a:tcPr>
                </a:tc>
                <a:tc>
                  <a:txBody>
                    <a:bodyPr/>
                    <a:lstStyle/>
                    <a:p>
                      <a:pPr algn="ctr"/>
                      <a:r>
                        <a:rPr sz="800" b="0">
                          <a:solidFill>
                            <a:srgbClr val="1A1A1A"/>
                          </a:solidFill>
                        </a:rPr>
                        <a:t>+6.8%</a:t>
                      </a:r>
                    </a:p>
                  </a:txBody>
                  <a:tcPr>
                    <a:solidFill>
                      <a:srgbClr val="F5F7FA"/>
                    </a:solidFill>
                  </a:tcPr>
                </a:tc>
                <a:tc>
                  <a:txBody>
                    <a:bodyPr/>
                    <a:lstStyle/>
                    <a:p>
                      <a:pPr algn="ctr"/>
                      <a:r>
                        <a:rPr sz="800" b="0">
                          <a:solidFill>
                            <a:srgbClr val="1A1A1A"/>
                          </a:solidFill>
                        </a:rPr>
                        <a:t>—</a:t>
                      </a:r>
                    </a:p>
                  </a:txBody>
                  <a:tcPr>
                    <a:solidFill>
                      <a:srgbClr val="F5F7FA"/>
                    </a:solidFill>
                  </a:tcPr>
                </a:tc>
                <a:tc>
                  <a:txBody>
                    <a:bodyPr/>
                    <a:lstStyle/>
                    <a:p>
                      <a:pPr algn="ctr"/>
                      <a:r>
                        <a:rPr sz="800" b="0">
                          <a:solidFill>
                            <a:srgbClr val="1A1A1A"/>
                          </a:solidFill>
                        </a:rPr>
                        <a:t>—</a:t>
                      </a:r>
                    </a:p>
                  </a:txBody>
                  <a:tcPr>
                    <a:solidFill>
                      <a:srgbClr val="F5F7FA"/>
                    </a:solidFill>
                  </a:tcPr>
                </a:tc>
              </a:tr>
              <a:tr h="225000">
                <a:tc>
                  <a:txBody>
                    <a:bodyPr/>
                    <a:lstStyle/>
                    <a:p>
                      <a:pPr algn="ctr"/>
                      <a:r>
                        <a:rPr sz="800" b="0">
                          <a:solidFill>
                            <a:srgbClr val="1A1A1A"/>
                          </a:solidFill>
                        </a:rPr>
                        <a:t>7</a:t>
                      </a:r>
                    </a:p>
                  </a:txBody>
                  <a:tcPr>
                    <a:noFill/>
                  </a:tcPr>
                </a:tc>
                <a:tc>
                  <a:txBody>
                    <a:bodyPr/>
                    <a:lstStyle/>
                    <a:p>
                      <a:pPr algn="ctr"/>
                      <a:r>
                        <a:rPr sz="800" b="0">
                          <a:solidFill>
                            <a:srgbClr val="1A1A1A"/>
                          </a:solidFill>
                        </a:rPr>
                        <a:t>Cons. Staples</a:t>
                      </a:r>
                    </a:p>
                  </a:txBody>
                  <a:tcPr>
                    <a:noFill/>
                  </a:tcPr>
                </a:tc>
                <a:tc>
                  <a:txBody>
                    <a:bodyPr/>
                    <a:lstStyle/>
                    <a:p>
                      <a:pPr algn="ctr"/>
                      <a:r>
                        <a:rPr sz="800" b="0">
                          <a:solidFill>
                            <a:srgbClr val="1A1A1A"/>
                          </a:solidFill>
                        </a:rPr>
                        <a:t>48</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18.4%</a:t>
                      </a:r>
                    </a:p>
                  </a:txBody>
                  <a:tcPr>
                    <a:noFill/>
                  </a:tcPr>
                </a:tc>
                <a:tc>
                  <a:txBody>
                    <a:bodyPr/>
                    <a:lstStyle/>
                    <a:p>
                      <a:pPr algn="ctr"/>
                      <a:r>
                        <a:rPr sz="800" b="0">
                          <a:solidFill>
                            <a:srgbClr val="1A1A1A"/>
                          </a:solidFill>
                        </a:rPr>
                        <a:t>+3.2%</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a:t>
                      </a:r>
                    </a:p>
                  </a:txBody>
                  <a:tcPr>
                    <a:noFill/>
                  </a:tcPr>
                </a:tc>
              </a:tr>
              <a:tr h="225000">
                <a:tc>
                  <a:txBody>
                    <a:bodyPr/>
                    <a:lstStyle/>
                    <a:p>
                      <a:pPr algn="ctr"/>
                      <a:r>
                        <a:rPr sz="800" b="0">
                          <a:solidFill>
                            <a:srgbClr val="1A1A1A"/>
                          </a:solidFill>
                        </a:rPr>
                        <a:t>8</a:t>
                      </a:r>
                    </a:p>
                  </a:txBody>
                  <a:tcPr>
                    <a:solidFill>
                      <a:srgbClr val="F5F7FA"/>
                    </a:solidFill>
                  </a:tcPr>
                </a:tc>
                <a:tc>
                  <a:txBody>
                    <a:bodyPr/>
                    <a:lstStyle/>
                    <a:p>
                      <a:pPr algn="ctr"/>
                      <a:r>
                        <a:rPr sz="800" b="0">
                          <a:solidFill>
                            <a:srgbClr val="1A1A1A"/>
                          </a:solidFill>
                        </a:rPr>
                        <a:t>Materials</a:t>
                      </a:r>
                    </a:p>
                  </a:txBody>
                  <a:tcPr>
                    <a:solidFill>
                      <a:srgbClr val="F5F7FA"/>
                    </a:solidFill>
                  </a:tcPr>
                </a:tc>
                <a:tc>
                  <a:txBody>
                    <a:bodyPr/>
                    <a:lstStyle/>
                    <a:p>
                      <a:pPr algn="ctr"/>
                      <a:r>
                        <a:rPr sz="800" b="0">
                          <a:solidFill>
                            <a:srgbClr val="1A1A1A"/>
                          </a:solidFill>
                        </a:rPr>
                        <a:t>46</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20.4%</a:t>
                      </a:r>
                    </a:p>
                  </a:txBody>
                  <a:tcPr>
                    <a:solidFill>
                      <a:srgbClr val="F5F7FA"/>
                    </a:solidFill>
                  </a:tcPr>
                </a:tc>
                <a:tc>
                  <a:txBody>
                    <a:bodyPr/>
                    <a:lstStyle/>
                    <a:p>
                      <a:pPr algn="ctr"/>
                      <a:r>
                        <a:rPr sz="800" b="0">
                          <a:solidFill>
                            <a:srgbClr val="1A1A1A"/>
                          </a:solidFill>
                        </a:rPr>
                        <a:t>+4.8%</a:t>
                      </a:r>
                    </a:p>
                  </a:txBody>
                  <a:tcPr>
                    <a:solidFill>
                      <a:srgbClr val="F5F7FA"/>
                    </a:solidFill>
                  </a:tcPr>
                </a:tc>
                <a:tc>
                  <a:txBody>
                    <a:bodyPr/>
                    <a:lstStyle/>
                    <a:p>
                      <a:pPr algn="ctr"/>
                      <a:r>
                        <a:rPr sz="800" b="0">
                          <a:solidFill>
                            <a:srgbClr val="1A1A1A"/>
                          </a:solidFill>
                        </a:rPr>
                        <a:t>—</a:t>
                      </a:r>
                    </a:p>
                  </a:txBody>
                  <a:tcPr>
                    <a:solidFill>
                      <a:srgbClr val="F5F7FA"/>
                    </a:solidFill>
                  </a:tcPr>
                </a:tc>
                <a:tc>
                  <a:txBody>
                    <a:bodyPr/>
                    <a:lstStyle/>
                    <a:p>
                      <a:pPr algn="ctr"/>
                      <a:r>
                        <a:rPr sz="800" b="0">
                          <a:solidFill>
                            <a:srgbClr val="1A1A1A"/>
                          </a:solidFill>
                        </a:rPr>
                        <a:t>—</a:t>
                      </a:r>
                    </a:p>
                  </a:txBody>
                  <a:tcPr>
                    <a:solidFill>
                      <a:srgbClr val="F5F7FA"/>
                    </a:solidFill>
                  </a:tcPr>
                </a:tc>
              </a:tr>
              <a:tr h="225000">
                <a:tc>
                  <a:txBody>
                    <a:bodyPr/>
                    <a:lstStyle/>
                    <a:p>
                      <a:pPr algn="ctr"/>
                      <a:r>
                        <a:rPr sz="800" b="0">
                          <a:solidFill>
                            <a:srgbClr val="1A1A1A"/>
                          </a:solidFill>
                        </a:rPr>
                        <a:t>9</a:t>
                      </a:r>
                    </a:p>
                  </a:txBody>
                  <a:tcPr>
                    <a:noFill/>
                  </a:tcPr>
                </a:tc>
                <a:tc>
                  <a:txBody>
                    <a:bodyPr/>
                    <a:lstStyle/>
                    <a:p>
                      <a:pPr algn="ctr"/>
                      <a:r>
                        <a:rPr sz="800" b="0">
                          <a:solidFill>
                            <a:srgbClr val="1A1A1A"/>
                          </a:solidFill>
                        </a:rPr>
                        <a:t>Energy</a:t>
                      </a:r>
                    </a:p>
                  </a:txBody>
                  <a:tcPr>
                    <a:noFill/>
                  </a:tcPr>
                </a:tc>
                <a:tc>
                  <a:txBody>
                    <a:bodyPr/>
                    <a:lstStyle/>
                    <a:p>
                      <a:pPr algn="ctr"/>
                      <a:r>
                        <a:rPr sz="800" b="0">
                          <a:solidFill>
                            <a:srgbClr val="1A1A1A"/>
                          </a:solidFill>
                        </a:rPr>
                        <a:t>44</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28.8%</a:t>
                      </a:r>
                    </a:p>
                  </a:txBody>
                  <a:tcPr>
                    <a:noFill/>
                  </a:tcPr>
                </a:tc>
                <a:tc>
                  <a:txBody>
                    <a:bodyPr/>
                    <a:lstStyle/>
                    <a:p>
                      <a:pPr algn="ctr"/>
                      <a:r>
                        <a:rPr sz="800" b="0">
                          <a:solidFill>
                            <a:srgbClr val="1A1A1A"/>
                          </a:solidFill>
                        </a:rPr>
                        <a:t>-2.4%</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a:t>
                      </a:r>
                    </a:p>
                  </a:txBody>
                  <a:tcPr>
                    <a:noFill/>
                  </a:tcPr>
                </a:tc>
              </a:tr>
              <a:tr h="225000">
                <a:tc>
                  <a:txBody>
                    <a:bodyPr/>
                    <a:lstStyle/>
                    <a:p>
                      <a:pPr algn="ctr"/>
                      <a:r>
                        <a:rPr sz="800" b="0">
                          <a:solidFill>
                            <a:srgbClr val="1A1A1A"/>
                          </a:solidFill>
                        </a:rPr>
                        <a:t>10</a:t>
                      </a:r>
                    </a:p>
                  </a:txBody>
                  <a:tcPr>
                    <a:solidFill>
                      <a:srgbClr val="F5F7FA"/>
                    </a:solidFill>
                  </a:tcPr>
                </a:tc>
                <a:tc>
                  <a:txBody>
                    <a:bodyPr/>
                    <a:lstStyle/>
                    <a:p>
                      <a:pPr algn="ctr"/>
                      <a:r>
                        <a:rPr sz="800" b="0">
                          <a:solidFill>
                            <a:srgbClr val="1A1A1A"/>
                          </a:solidFill>
                        </a:rPr>
                        <a:t>Real Estate</a:t>
                      </a:r>
                    </a:p>
                  </a:txBody>
                  <a:tcPr>
                    <a:solidFill>
                      <a:srgbClr val="F5F7FA"/>
                    </a:solidFill>
                  </a:tcPr>
                </a:tc>
                <a:tc>
                  <a:txBody>
                    <a:bodyPr/>
                    <a:lstStyle/>
                    <a:p>
                      <a:pPr algn="ctr"/>
                      <a:r>
                        <a:rPr sz="800" b="0">
                          <a:solidFill>
                            <a:srgbClr val="1A1A1A"/>
                          </a:solidFill>
                        </a:rPr>
                        <a:t>38</a:t>
                      </a:r>
                    </a:p>
                  </a:txBody>
                  <a:tcPr>
                    <a:solidFill>
                      <a:srgbClr val="F5F7FA"/>
                    </a:solidFill>
                  </a:tcPr>
                </a:tc>
                <a:tc>
                  <a:txBody>
                    <a:bodyPr/>
                    <a:lstStyle/>
                    <a:p>
                      <a:pPr algn="ctr"/>
                      <a:r>
                        <a:rPr sz="800" b="0">
                          <a:solidFill>
                            <a:srgbClr val="A82020"/>
                          </a:solidFill>
                        </a:rPr>
                        <a:t>Sous-pondérer</a:t>
                      </a:r>
                    </a:p>
                  </a:txBody>
                  <a:tcPr>
                    <a:solidFill>
                      <a:srgbClr val="FBEBEB"/>
                    </a:solidFill>
                  </a:tcPr>
                </a:tc>
                <a:tc>
                  <a:txBody>
                    <a:bodyPr/>
                    <a:lstStyle/>
                    <a:p>
                      <a:pPr algn="ctr"/>
                      <a:r>
                        <a:rPr sz="800" b="0">
                          <a:solidFill>
                            <a:srgbClr val="1A1A1A"/>
                          </a:solidFill>
                        </a:rPr>
                        <a:t>48.2%</a:t>
                      </a:r>
                    </a:p>
                  </a:txBody>
                  <a:tcPr>
                    <a:solidFill>
                      <a:srgbClr val="F5F7FA"/>
                    </a:solidFill>
                  </a:tcPr>
                </a:tc>
                <a:tc>
                  <a:txBody>
                    <a:bodyPr/>
                    <a:lstStyle/>
                    <a:p>
                      <a:pPr algn="ctr"/>
                      <a:r>
                        <a:rPr sz="800" b="0">
                          <a:solidFill>
                            <a:srgbClr val="1A1A1A"/>
                          </a:solidFill>
                        </a:rPr>
                        <a:t>+1.2%</a:t>
                      </a:r>
                    </a:p>
                  </a:txBody>
                  <a:tcPr>
                    <a:solidFill>
                      <a:srgbClr val="F5F7FA"/>
                    </a:solidFill>
                  </a:tcPr>
                </a:tc>
                <a:tc>
                  <a:txBody>
                    <a:bodyPr/>
                    <a:lstStyle/>
                    <a:p>
                      <a:pPr algn="ctr"/>
                      <a:r>
                        <a:rPr sz="800" b="0">
                          <a:solidFill>
                            <a:srgbClr val="1A1A1A"/>
                          </a:solidFill>
                        </a:rPr>
                        <a:t>—</a:t>
                      </a:r>
                    </a:p>
                  </a:txBody>
                  <a:tcPr>
                    <a:solidFill>
                      <a:srgbClr val="F5F7FA"/>
                    </a:solidFill>
                  </a:tcPr>
                </a:tc>
                <a:tc>
                  <a:txBody>
                    <a:bodyPr/>
                    <a:lstStyle/>
                    <a:p>
                      <a:pPr algn="ctr"/>
                      <a:r>
                        <a:rPr sz="800" b="0">
                          <a:solidFill>
                            <a:srgbClr val="1A1A1A"/>
                          </a:solidFill>
                        </a:rPr>
                        <a:t>—</a:t>
                      </a:r>
                    </a:p>
                  </a:txBody>
                  <a:tcPr>
                    <a:solidFill>
                      <a:srgbClr val="F5F7FA"/>
                    </a:solidFill>
                  </a:tcPr>
                </a:tc>
              </a:tr>
              <a:tr h="225000">
                <a:tc>
                  <a:txBody>
                    <a:bodyPr/>
                    <a:lstStyle/>
                    <a:p>
                      <a:pPr algn="ctr"/>
                      <a:r>
                        <a:rPr sz="800" b="0">
                          <a:solidFill>
                            <a:srgbClr val="1A1A1A"/>
                          </a:solidFill>
                        </a:rPr>
                        <a:t>11</a:t>
                      </a:r>
                    </a:p>
                  </a:txBody>
                  <a:tcPr>
                    <a:noFill/>
                  </a:tcPr>
                </a:tc>
                <a:tc>
                  <a:txBody>
                    <a:bodyPr/>
                    <a:lstStyle/>
                    <a:p>
                      <a:pPr algn="ctr"/>
                      <a:r>
                        <a:rPr sz="800" b="0">
                          <a:solidFill>
                            <a:srgbClr val="1A1A1A"/>
                          </a:solidFill>
                        </a:rPr>
                        <a:t>Utilities</a:t>
                      </a:r>
                    </a:p>
                  </a:txBody>
                  <a:tcPr>
                    <a:noFill/>
                  </a:tcPr>
                </a:tc>
                <a:tc>
                  <a:txBody>
                    <a:bodyPr/>
                    <a:lstStyle/>
                    <a:p>
                      <a:pPr algn="ctr"/>
                      <a:r>
                        <a:rPr sz="800" b="0">
                          <a:solidFill>
                            <a:srgbClr val="1A1A1A"/>
                          </a:solidFill>
                        </a:rPr>
                        <a:t>36</a:t>
                      </a:r>
                    </a:p>
                  </a:txBody>
                  <a:tcPr>
                    <a:noFill/>
                  </a:tcPr>
                </a:tc>
                <a:tc>
                  <a:txBody>
                    <a:bodyPr/>
                    <a:lstStyle/>
                    <a:p>
                      <a:pPr algn="ctr"/>
                      <a:r>
                        <a:rPr sz="800" b="0">
                          <a:solidFill>
                            <a:srgbClr val="A82020"/>
                          </a:solidFill>
                        </a:rPr>
                        <a:t>Sous-pondérer</a:t>
                      </a:r>
                    </a:p>
                  </a:txBody>
                  <a:tcPr>
                    <a:solidFill>
                      <a:srgbClr val="FBEBEB"/>
                    </a:solidFill>
                  </a:tcPr>
                </a:tc>
                <a:tc>
                  <a:txBody>
                    <a:bodyPr/>
                    <a:lstStyle/>
                    <a:p>
                      <a:pPr algn="ctr"/>
                      <a:r>
                        <a:rPr sz="800" b="0">
                          <a:solidFill>
                            <a:srgbClr val="1A1A1A"/>
                          </a:solidFill>
                        </a:rPr>
                        <a:t>32.4%</a:t>
                      </a:r>
                    </a:p>
                  </a:txBody>
                  <a:tcPr>
                    <a:noFill/>
                  </a:tcPr>
                </a:tc>
                <a:tc>
                  <a:txBody>
                    <a:bodyPr/>
                    <a:lstStyle/>
                    <a:p>
                      <a:pPr algn="ctr"/>
                      <a:r>
                        <a:rPr sz="800" b="0">
                          <a:solidFill>
                            <a:srgbClr val="1A1A1A"/>
                          </a:solidFill>
                        </a:rPr>
                        <a:t>+2.8%</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a:t>
                      </a:r>
                    </a:p>
                  </a:txBody>
                  <a:tcPr>
                    <a:noFill/>
                  </a:tcPr>
                </a:tc>
              </a:tr>
            </a:tbl>
          </a:graphicData>
        </a:graphic>
      </p:graphicFrame>
      <p:sp>
        <p:nvSpPr>
          <p:cNvPr id="16" name="Rectangle 15"/>
          <p:cNvSpPr/>
          <p:nvPr/>
        </p:nvSpPr>
        <p:spPr>
          <a:xfrm>
            <a:off x="324000" y="3780000"/>
            <a:ext cx="8496000" cy="1025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780000"/>
            <a:ext cx="43200" cy="1025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834000"/>
            <a:ext cx="8208000" cy="216000"/>
          </a:xfrm>
          <a:prstGeom prst="rect">
            <a:avLst/>
          </a:prstGeom>
          <a:noFill/>
        </p:spPr>
        <p:txBody>
          <a:bodyPr wrap="square">
            <a:spAutoFit/>
          </a:bodyPr>
          <a:lstStyle/>
          <a:p>
            <a:pPr algn="l"/>
            <a:r>
              <a:rPr sz="800" b="1" i="0">
                <a:solidFill>
                  <a:srgbClr val="1B3A6B"/>
                </a:solidFill>
              </a:rPr>
              <a:t>Lecture analytique — Ce que la cartographie révèle</a:t>
            </a:r>
          </a:p>
        </p:txBody>
      </p:sp>
      <p:sp>
        <p:nvSpPr>
          <p:cNvPr id="19" name="TextBox 18"/>
          <p:cNvSpPr txBox="1"/>
          <p:nvPr/>
        </p:nvSpPr>
        <p:spPr>
          <a:xfrm>
            <a:off x="432000" y="4068000"/>
            <a:ext cx="8208000" cy="701999"/>
          </a:xfrm>
          <a:prstGeom prst="rect">
            <a:avLst/>
          </a:prstGeom>
          <a:noFill/>
        </p:spPr>
        <p:txBody>
          <a:bodyPr wrap="square">
            <a:spAutoFit/>
          </a:bodyPr>
          <a:lstStyle/>
          <a:p>
            <a:pPr algn="l"/>
            <a:r>
              <a:rPr sz="750" b="0" i="0">
                <a:solidFill>
                  <a:srgbClr val="555555"/>
                </a:solidFill>
              </a:rPr>
              <a:t>3 secteur(s) sur 11 franchissent le seuil Surpondérer (score &gt; 65) : Technology · Health Care · Financials. 2 secteur(s) en Sous-pondérer : Real Estate · Utilities. 6 secteur(s) en position Neutre. L'écart entre le secteur leader (Technology, score 72/100) et le secteur le plus faible (Utilities, score 36/100) est de 36 points — une dispersion élevée qui témoigne d'une bifurcation sectorielle marquée.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vs Croissance BPA (EV/EBITDA vs Croissance BPA)</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median vs Croissance BPA  ·  4 quadrants  ·  Un point par secteur GICS</a:t>
            </a:r>
          </a:p>
        </p:txBody>
      </p:sp>
      <p:pic>
        <p:nvPicPr>
          <p:cNvPr id="15" name="Picture 14" descr="image.png"/>
          <p:cNvPicPr>
            <a:picLocks noChangeAspect="1"/>
          </p:cNvPicPr>
          <p:nvPr/>
        </p:nvPicPr>
        <p:blipFill>
          <a:blip r:embed="rId2"/>
          <a:stretch>
            <a:fillRect/>
          </a:stretch>
        </p:blipFill>
        <p:spPr>
          <a:xfrm>
            <a:off x="324000" y="827999"/>
            <a:ext cx="5112000" cy="3096000"/>
          </a:xfrm>
          <a:prstGeom prst="rect">
            <a:avLst/>
          </a:prstGeom>
        </p:spPr>
      </p:pic>
      <p:sp>
        <p:nvSpPr>
          <p:cNvPr id="16" name="Rectangle 15"/>
          <p:cNvSpPr/>
          <p:nvPr/>
        </p:nvSpPr>
        <p:spPr>
          <a:xfrm>
            <a:off x="5616000" y="827999"/>
            <a:ext cx="3204000" cy="30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16000" y="827999"/>
            <a:ext cx="43200" cy="309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24000" y="864000"/>
            <a:ext cx="3024000" cy="216000"/>
          </a:xfrm>
          <a:prstGeom prst="rect">
            <a:avLst/>
          </a:prstGeom>
          <a:noFill/>
        </p:spPr>
        <p:txBody>
          <a:bodyPr wrap="square">
            <a:spAutoFit/>
          </a:bodyPr>
          <a:lstStyle/>
          <a:p>
            <a:pPr algn="l"/>
            <a:r>
              <a:rPr sz="850" b="1" i="0">
                <a:solidFill>
                  <a:srgbClr val="1B3A6B"/>
                </a:solidFill>
              </a:rPr>
              <a:t>Lecture du Scatter</a:t>
            </a:r>
          </a:p>
        </p:txBody>
      </p:sp>
      <p:sp>
        <p:nvSpPr>
          <p:cNvPr id="19" name="TextBox 18"/>
          <p:cNvSpPr txBox="1"/>
          <p:nvPr/>
        </p:nvSpPr>
        <p:spPr>
          <a:xfrm>
            <a:off x="5724000" y="1116000"/>
            <a:ext cx="3024000" cy="2772000"/>
          </a:xfrm>
          <a:prstGeom prst="rect">
            <a:avLst/>
          </a:prstGeom>
          <a:noFill/>
        </p:spPr>
        <p:txBody>
          <a:bodyPr wrap="square">
            <a:spAutoFit/>
          </a:bodyPr>
          <a:lstStyle/>
          <a:p>
            <a:pPr algn="l"/>
            <a:r>
              <a:rPr sz="800" b="0" i="0">
                <a:solidFill>
                  <a:srgbClr val="555555"/>
                </a:solidFill>
              </a:rPr>
              <a:t>Technology en quadrant Premium Justifie — valorisation elevee supportee par forte croissance BPA.
Health Care  ·  Financials : valorisation attractive — croissance correcte, meilleur ratio risque/rendement.
Les pointilles representent les medianes sectorielles (EV/EBITDA et BPA growth). Favoriser les secteurs en bas droite (forte croissance, valorisation moderee).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Décomposition des Scores FinSight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11 secteurs GICS  ·  Score 0-100  ·  Momentum 40 % · Révisions BPA 30 % · Valorisation 30 %</a:t>
            </a:r>
          </a:p>
        </p:txBody>
      </p:sp>
      <p:graphicFrame>
        <p:nvGraphicFramePr>
          <p:cNvPr id="15" name="Table 14"/>
          <p:cNvGraphicFramePr>
            <a:graphicFrameLocks noGrp="1"/>
          </p:cNvGraphicFramePr>
          <p:nvPr/>
        </p:nvGraphicFramePr>
        <p:xfrm>
          <a:off x="324000" y="827999"/>
          <a:ext cx="8495999" cy="2520000"/>
        </p:xfrm>
        <a:graphic>
          <a:graphicData uri="http://schemas.openxmlformats.org/drawingml/2006/table">
            <a:tbl>
              <a:tblPr firstRow="1" bandRow="1">
                <a:tableStyleId>{5C22544A-7EE6-4342-B048-85BDC9FD1C3A}</a:tableStyleId>
              </a:tblPr>
              <a:tblGrid>
                <a:gridCol w="1820571"/>
                <a:gridCol w="1011428"/>
                <a:gridCol w="1416000"/>
                <a:gridCol w="1416000"/>
                <a:gridCol w="1416000"/>
                <a:gridCol w="1416000"/>
              </a:tblGrid>
              <a:tr h="210000">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Score Total</a:t>
                      </a:r>
                    </a:p>
                  </a:txBody>
                  <a:tcPr>
                    <a:solidFill>
                      <a:srgbClr val="1B3A6B"/>
                    </a:solidFill>
                  </a:tcPr>
                </a:tc>
                <a:tc>
                  <a:txBody>
                    <a:bodyPr/>
                    <a:lstStyle/>
                    <a:p>
                      <a:pPr algn="ctr"/>
                      <a:r>
                        <a:rPr sz="800" b="1">
                          <a:solidFill>
                            <a:srgbClr val="FFFFFF"/>
                          </a:solidFill>
                        </a:rPr>
                        <a:t>Momentum (40%)</a:t>
                      </a:r>
                    </a:p>
                  </a:txBody>
                  <a:tcPr>
                    <a:solidFill>
                      <a:srgbClr val="1B3A6B"/>
                    </a:solidFill>
                  </a:tcPr>
                </a:tc>
                <a:tc>
                  <a:txBody>
                    <a:bodyPr/>
                    <a:lstStyle/>
                    <a:p>
                      <a:pPr algn="ctr"/>
                      <a:r>
                        <a:rPr sz="800" b="1">
                          <a:solidFill>
                            <a:srgbClr val="FFFFFF"/>
                          </a:solidFill>
                        </a:rPr>
                        <a:t>Révisions (30%)</a:t>
                      </a:r>
                    </a:p>
                  </a:txBody>
                  <a:tcPr>
                    <a:solidFill>
                      <a:srgbClr val="1B3A6B"/>
                    </a:solidFill>
                  </a:tcPr>
                </a:tc>
                <a:tc>
                  <a:txBody>
                    <a:bodyPr/>
                    <a:lstStyle/>
                    <a:p>
                      <a:pPr algn="ctr"/>
                      <a:r>
                        <a:rPr sz="800" b="1">
                          <a:solidFill>
                            <a:srgbClr val="FFFFFF"/>
                          </a:solidFill>
                        </a:rPr>
                        <a:t>Valorisation (30%)</a:t>
                      </a:r>
                    </a:p>
                  </a:txBody>
                  <a:tcPr>
                    <a:solidFill>
                      <a:srgbClr val="1B3A6B"/>
                    </a:solidFill>
                  </a:tcPr>
                </a:tc>
                <a:tc>
                  <a:txBody>
                    <a:bodyPr/>
                    <a:lstStyle/>
                    <a:p>
                      <a:pPr algn="ctr"/>
                      <a:r>
                        <a:rPr sz="800" b="1">
                          <a:solidFill>
                            <a:srgbClr val="FFFFFF"/>
                          </a:solidFill>
                        </a:rPr>
                        <a:t>Signal</a:t>
                      </a:r>
                    </a:p>
                  </a:txBody>
                  <a:tcPr>
                    <a:solidFill>
                      <a:srgbClr val="1B3A6B"/>
                    </a:solidFill>
                  </a:tcPr>
                </a:tc>
              </a:tr>
              <a:tr h="210000">
                <a:tc>
                  <a:txBody>
                    <a:bodyPr/>
                    <a:lstStyle/>
                    <a:p>
                      <a:pPr algn="ctr"/>
                      <a:r>
                        <a:rPr sz="800" b="0">
                          <a:solidFill>
                            <a:srgbClr val="1A1A1A"/>
                          </a:solidFill>
                        </a:rPr>
                        <a:t>Technology</a:t>
                      </a:r>
                    </a:p>
                  </a:txBody>
                  <a:tcPr>
                    <a:noFill/>
                  </a:tcPr>
                </a:tc>
                <a:tc>
                  <a:txBody>
                    <a:bodyPr/>
                    <a:lstStyle/>
                    <a:p>
                      <a:pPr algn="ctr"/>
                      <a:r>
                        <a:rPr sz="800" b="0">
                          <a:solidFill>
                            <a:srgbClr val="1A1A1A"/>
                          </a:solidFill>
                        </a:rPr>
                        <a:t>72</a:t>
                      </a:r>
                    </a:p>
                  </a:txBody>
                  <a:tcPr>
                    <a:solidFill>
                      <a:srgbClr val="E8F5EE"/>
                    </a:solidFill>
                  </a:tcPr>
                </a:tc>
                <a:tc>
                  <a:txBody>
                    <a:bodyPr/>
                    <a:lstStyle/>
                    <a:p>
                      <a:pPr algn="ctr"/>
                      <a:r>
                        <a:rPr sz="800" b="0">
                          <a:solidFill>
                            <a:srgbClr val="1A1A1A"/>
                          </a:solidFill>
                        </a:rPr>
                        <a:t>29</a:t>
                      </a:r>
                    </a:p>
                  </a:txBody>
                  <a:tcPr>
                    <a:noFill/>
                  </a:tcPr>
                </a:tc>
                <a:tc>
                  <a:txBody>
                    <a:bodyPr/>
                    <a:lstStyle/>
                    <a:p>
                      <a:pPr algn="ctr"/>
                      <a:r>
                        <a:rPr sz="800" b="0">
                          <a:solidFill>
                            <a:srgbClr val="1A1A1A"/>
                          </a:solidFill>
                        </a:rPr>
                        <a:t>22</a:t>
                      </a:r>
                    </a:p>
                  </a:txBody>
                  <a:tcPr>
                    <a:noFill/>
                  </a:tcPr>
                </a:tc>
                <a:tc>
                  <a:txBody>
                    <a:bodyPr/>
                    <a:lstStyle/>
                    <a:p>
                      <a:pPr algn="ctr"/>
                      <a:r>
                        <a:rPr sz="800" b="0">
                          <a:solidFill>
                            <a:srgbClr val="1A1A1A"/>
                          </a:solidFill>
                        </a:rPr>
                        <a:t>22</a:t>
                      </a:r>
                    </a:p>
                  </a:txBody>
                  <a:tcPr>
                    <a:noFill/>
                  </a:tcPr>
                </a:tc>
                <a:tc>
                  <a:txBody>
                    <a:bodyPr/>
                    <a:lstStyle/>
                    <a:p>
                      <a:pPr algn="ctr"/>
                      <a:r>
                        <a:rPr sz="800" b="0">
                          <a:solidFill>
                            <a:srgbClr val="1A7A4A"/>
                          </a:solidFill>
                        </a:rPr>
                        <a:t>Surpondérer</a:t>
                      </a:r>
                    </a:p>
                  </a:txBody>
                  <a:tcPr>
                    <a:solidFill>
                      <a:srgbClr val="E8F5EE"/>
                    </a:solidFill>
                  </a:tcPr>
                </a:tc>
              </a:tr>
              <a:tr h="210000">
                <a:tc>
                  <a:txBody>
                    <a:bodyPr/>
                    <a:lstStyle/>
                    <a:p>
                      <a:pPr algn="ctr"/>
                      <a:r>
                        <a:rPr sz="800" b="0">
                          <a:solidFill>
                            <a:srgbClr val="1A1A1A"/>
                          </a:solidFill>
                        </a:rPr>
                        <a:t>Health Care</a:t>
                      </a:r>
                    </a:p>
                  </a:txBody>
                  <a:tcPr>
                    <a:solidFill>
                      <a:srgbClr val="F5F7FA"/>
                    </a:solidFill>
                  </a:tcPr>
                </a:tc>
                <a:tc>
                  <a:txBody>
                    <a:bodyPr/>
                    <a:lstStyle/>
                    <a:p>
                      <a:pPr algn="ctr"/>
                      <a:r>
                        <a:rPr sz="800" b="0">
                          <a:solidFill>
                            <a:srgbClr val="1A1A1A"/>
                          </a:solidFill>
                        </a:rPr>
                        <a:t>65</a:t>
                      </a:r>
                    </a:p>
                  </a:txBody>
                  <a:tcPr>
                    <a:solidFill>
                      <a:srgbClr val="E8F5EE"/>
                    </a:solidFill>
                  </a:tcPr>
                </a:tc>
                <a:tc>
                  <a:txBody>
                    <a:bodyPr/>
                    <a:lstStyle/>
                    <a:p>
                      <a:pPr algn="ctr"/>
                      <a:r>
                        <a:rPr sz="800" b="0">
                          <a:solidFill>
                            <a:srgbClr val="1A1A1A"/>
                          </a:solidFill>
                        </a:rPr>
                        <a:t>26</a:t>
                      </a:r>
                    </a:p>
                  </a:txBody>
                  <a:tcPr>
                    <a:solidFill>
                      <a:srgbClr val="F5F7FA"/>
                    </a:solidFill>
                  </a:tcPr>
                </a:tc>
                <a:tc>
                  <a:txBody>
                    <a:bodyPr/>
                    <a:lstStyle/>
                    <a:p>
                      <a:pPr algn="ctr"/>
                      <a:r>
                        <a:rPr sz="800" b="0">
                          <a:solidFill>
                            <a:srgbClr val="1A1A1A"/>
                          </a:solidFill>
                        </a:rPr>
                        <a:t>20</a:t>
                      </a:r>
                    </a:p>
                  </a:txBody>
                  <a:tcPr>
                    <a:solidFill>
                      <a:srgbClr val="F5F7FA"/>
                    </a:solidFill>
                  </a:tcPr>
                </a:tc>
                <a:tc>
                  <a:txBody>
                    <a:bodyPr/>
                    <a:lstStyle/>
                    <a:p>
                      <a:pPr algn="ctr"/>
                      <a:r>
                        <a:rPr sz="800" b="0">
                          <a:solidFill>
                            <a:srgbClr val="1A1A1A"/>
                          </a:solidFill>
                        </a:rPr>
                        <a:t>20</a:t>
                      </a:r>
                    </a:p>
                  </a:txBody>
                  <a:tcPr>
                    <a:solidFill>
                      <a:srgbClr val="F5F7FA"/>
                    </a:solidFill>
                  </a:tcPr>
                </a:tc>
                <a:tc>
                  <a:txBody>
                    <a:bodyPr/>
                    <a:lstStyle/>
                    <a:p>
                      <a:pPr algn="ctr"/>
                      <a:r>
                        <a:rPr sz="800" b="0">
                          <a:solidFill>
                            <a:srgbClr val="1A7A4A"/>
                          </a:solidFill>
                        </a:rPr>
                        <a:t>Surpondérer</a:t>
                      </a:r>
                    </a:p>
                  </a:txBody>
                  <a:tcPr>
                    <a:solidFill>
                      <a:srgbClr val="E8F5EE"/>
                    </a:solidFill>
                  </a:tcPr>
                </a:tc>
              </a:tr>
              <a:tr h="210000">
                <a:tc>
                  <a:txBody>
                    <a:bodyPr/>
                    <a:lstStyle/>
                    <a:p>
                      <a:pPr algn="ctr"/>
                      <a:r>
                        <a:rPr sz="800" b="0">
                          <a:solidFill>
                            <a:srgbClr val="1A1A1A"/>
                          </a:solidFill>
                        </a:rPr>
                        <a:t>Financials</a:t>
                      </a:r>
                    </a:p>
                  </a:txBody>
                  <a:tcPr>
                    <a:noFill/>
                  </a:tcPr>
                </a:tc>
                <a:tc>
                  <a:txBody>
                    <a:bodyPr/>
                    <a:lstStyle/>
                    <a:p>
                      <a:pPr algn="ctr"/>
                      <a:r>
                        <a:rPr sz="800" b="0">
                          <a:solidFill>
                            <a:srgbClr val="1A1A1A"/>
                          </a:solidFill>
                        </a:rPr>
                        <a:t>62</a:t>
                      </a:r>
                    </a:p>
                  </a:txBody>
                  <a:tcPr>
                    <a:solidFill>
                      <a:srgbClr val="FDF3E5"/>
                    </a:solidFill>
                  </a:tcPr>
                </a:tc>
                <a:tc>
                  <a:txBody>
                    <a:bodyPr/>
                    <a:lstStyle/>
                    <a:p>
                      <a:pPr algn="ctr"/>
                      <a:r>
                        <a:rPr sz="800" b="0">
                          <a:solidFill>
                            <a:srgbClr val="1A1A1A"/>
                          </a:solidFill>
                        </a:rPr>
                        <a:t>25</a:t>
                      </a:r>
                    </a:p>
                  </a:txBody>
                  <a:tcPr>
                    <a:noFill/>
                  </a:tcPr>
                </a:tc>
                <a:tc>
                  <a:txBody>
                    <a:bodyPr/>
                    <a:lstStyle/>
                    <a:p>
                      <a:pPr algn="ctr"/>
                      <a:r>
                        <a:rPr sz="800" b="0">
                          <a:solidFill>
                            <a:srgbClr val="1A1A1A"/>
                          </a:solidFill>
                        </a:rPr>
                        <a:t>19</a:t>
                      </a:r>
                    </a:p>
                  </a:txBody>
                  <a:tcPr>
                    <a:noFill/>
                  </a:tcPr>
                </a:tc>
                <a:tc>
                  <a:txBody>
                    <a:bodyPr/>
                    <a:lstStyle/>
                    <a:p>
                      <a:pPr algn="ctr"/>
                      <a:r>
                        <a:rPr sz="800" b="0">
                          <a:solidFill>
                            <a:srgbClr val="1A1A1A"/>
                          </a:solidFill>
                        </a:rPr>
                        <a:t>19</a:t>
                      </a:r>
                    </a:p>
                  </a:txBody>
                  <a:tcPr>
                    <a:noFill/>
                  </a:tcPr>
                </a:tc>
                <a:tc>
                  <a:txBody>
                    <a:bodyPr/>
                    <a:lstStyle/>
                    <a:p>
                      <a:pPr algn="ctr"/>
                      <a:r>
                        <a:rPr sz="800" b="0">
                          <a:solidFill>
                            <a:srgbClr val="1A7A4A"/>
                          </a:solidFill>
                        </a:rPr>
                        <a:t>Surpondérer</a:t>
                      </a:r>
                    </a:p>
                  </a:txBody>
                  <a:tcPr>
                    <a:solidFill>
                      <a:srgbClr val="E8F5EE"/>
                    </a:solidFill>
                  </a:tcPr>
                </a:tc>
              </a:tr>
              <a:tr h="210000">
                <a:tc>
                  <a:txBody>
                    <a:bodyPr/>
                    <a:lstStyle/>
                    <a:p>
                      <a:pPr algn="ctr"/>
                      <a:r>
                        <a:rPr sz="800" b="0">
                          <a:solidFill>
                            <a:srgbClr val="1A1A1A"/>
                          </a:solidFill>
                        </a:rPr>
                        <a:t>Comm. Services</a:t>
                      </a:r>
                    </a:p>
                  </a:txBody>
                  <a:tcPr>
                    <a:solidFill>
                      <a:srgbClr val="F5F7FA"/>
                    </a:solidFill>
                  </a:tcPr>
                </a:tc>
                <a:tc>
                  <a:txBody>
                    <a:bodyPr/>
                    <a:lstStyle/>
                    <a:p>
                      <a:pPr algn="ctr"/>
                      <a:r>
                        <a:rPr sz="800" b="0">
                          <a:solidFill>
                            <a:srgbClr val="1A1A1A"/>
                          </a:solidFill>
                        </a:rPr>
                        <a:t>58</a:t>
                      </a:r>
                    </a:p>
                  </a:txBody>
                  <a:tcPr>
                    <a:solidFill>
                      <a:srgbClr val="FDF3E5"/>
                    </a:solidFill>
                  </a:tcPr>
                </a:tc>
                <a:tc>
                  <a:txBody>
                    <a:bodyPr/>
                    <a:lstStyle/>
                    <a:p>
                      <a:pPr algn="ctr"/>
                      <a:r>
                        <a:rPr sz="800" b="0">
                          <a:solidFill>
                            <a:srgbClr val="1A1A1A"/>
                          </a:solidFill>
                        </a:rPr>
                        <a:t>23</a:t>
                      </a:r>
                    </a:p>
                  </a:txBody>
                  <a:tcPr>
                    <a:solidFill>
                      <a:srgbClr val="F5F7FA"/>
                    </a:solidFill>
                  </a:tcPr>
                </a:tc>
                <a:tc>
                  <a:txBody>
                    <a:bodyPr/>
                    <a:lstStyle/>
                    <a:p>
                      <a:pPr algn="ctr"/>
                      <a:r>
                        <a:rPr sz="800" b="0">
                          <a:solidFill>
                            <a:srgbClr val="1A1A1A"/>
                          </a:solidFill>
                        </a:rPr>
                        <a:t>17</a:t>
                      </a:r>
                    </a:p>
                  </a:txBody>
                  <a:tcPr>
                    <a:solidFill>
                      <a:srgbClr val="F5F7FA"/>
                    </a:solidFill>
                  </a:tcPr>
                </a:tc>
                <a:tc>
                  <a:txBody>
                    <a:bodyPr/>
                    <a:lstStyle/>
                    <a:p>
                      <a:pPr algn="ctr"/>
                      <a:r>
                        <a:rPr sz="800" b="0">
                          <a:solidFill>
                            <a:srgbClr val="1A1A1A"/>
                          </a:solidFill>
                        </a:rPr>
                        <a:t>17</a:t>
                      </a:r>
                    </a:p>
                  </a:txBody>
                  <a:tcPr>
                    <a:solidFill>
                      <a:srgbClr val="F5F7FA"/>
                    </a:solid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Cons. Discret.</a:t>
                      </a:r>
                    </a:p>
                  </a:txBody>
                  <a:tcPr>
                    <a:noFill/>
                  </a:tcPr>
                </a:tc>
                <a:tc>
                  <a:txBody>
                    <a:bodyPr/>
                    <a:lstStyle/>
                    <a:p>
                      <a:pPr algn="ctr"/>
                      <a:r>
                        <a:rPr sz="800" b="0">
                          <a:solidFill>
                            <a:srgbClr val="1A1A1A"/>
                          </a:solidFill>
                        </a:rPr>
                        <a:t>55</a:t>
                      </a:r>
                    </a:p>
                  </a:txBody>
                  <a:tcPr>
                    <a:solidFill>
                      <a:srgbClr val="FDF3E5"/>
                    </a:solidFill>
                  </a:tcPr>
                </a:tc>
                <a:tc>
                  <a:txBody>
                    <a:bodyPr/>
                    <a:lstStyle/>
                    <a:p>
                      <a:pPr algn="ctr"/>
                      <a:r>
                        <a:rPr sz="800" b="0">
                          <a:solidFill>
                            <a:srgbClr val="1A1A1A"/>
                          </a:solidFill>
                        </a:rPr>
                        <a:t>22</a:t>
                      </a:r>
                    </a:p>
                  </a:txBody>
                  <a:tcPr>
                    <a:noFill/>
                  </a:tcPr>
                </a:tc>
                <a:tc>
                  <a:txBody>
                    <a:bodyPr/>
                    <a:lstStyle/>
                    <a:p>
                      <a:pPr algn="ctr"/>
                      <a:r>
                        <a:rPr sz="800" b="0">
                          <a:solidFill>
                            <a:srgbClr val="1A1A1A"/>
                          </a:solidFill>
                        </a:rPr>
                        <a:t>16</a:t>
                      </a:r>
                    </a:p>
                  </a:txBody>
                  <a:tcPr>
                    <a:noFill/>
                  </a:tcPr>
                </a:tc>
                <a:tc>
                  <a:txBody>
                    <a:bodyPr/>
                    <a:lstStyle/>
                    <a:p>
                      <a:pPr algn="ctr"/>
                      <a:r>
                        <a:rPr sz="800" b="0">
                          <a:solidFill>
                            <a:srgbClr val="1A1A1A"/>
                          </a:solidFill>
                        </a:rPr>
                        <a:t>16</a:t>
                      </a:r>
                    </a:p>
                  </a:txBody>
                  <a:tcPr>
                    <a:no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Industrials</a:t>
                      </a:r>
                    </a:p>
                  </a:txBody>
                  <a:tcPr>
                    <a:solidFill>
                      <a:srgbClr val="F5F7FA"/>
                    </a:solidFill>
                  </a:tcPr>
                </a:tc>
                <a:tc>
                  <a:txBody>
                    <a:bodyPr/>
                    <a:lstStyle/>
                    <a:p>
                      <a:pPr algn="ctr"/>
                      <a:r>
                        <a:rPr sz="800" b="0">
                          <a:solidFill>
                            <a:srgbClr val="1A1A1A"/>
                          </a:solidFill>
                        </a:rPr>
                        <a:t>53</a:t>
                      </a:r>
                    </a:p>
                  </a:txBody>
                  <a:tcPr>
                    <a:solidFill>
                      <a:srgbClr val="FDF3E5"/>
                    </a:solidFill>
                  </a:tcPr>
                </a:tc>
                <a:tc>
                  <a:txBody>
                    <a:bodyPr/>
                    <a:lstStyle/>
                    <a:p>
                      <a:pPr algn="ctr"/>
                      <a:r>
                        <a:rPr sz="800" b="0">
                          <a:solidFill>
                            <a:srgbClr val="1A1A1A"/>
                          </a:solidFill>
                        </a:rPr>
                        <a:t>21</a:t>
                      </a:r>
                    </a:p>
                  </a:txBody>
                  <a:tcPr>
                    <a:solidFill>
                      <a:srgbClr val="F5F7FA"/>
                    </a:solidFill>
                  </a:tcPr>
                </a:tc>
                <a:tc>
                  <a:txBody>
                    <a:bodyPr/>
                    <a:lstStyle/>
                    <a:p>
                      <a:pPr algn="ctr"/>
                      <a:r>
                        <a:rPr sz="800" b="0">
                          <a:solidFill>
                            <a:srgbClr val="1A1A1A"/>
                          </a:solidFill>
                        </a:rPr>
                        <a:t>16</a:t>
                      </a:r>
                    </a:p>
                  </a:txBody>
                  <a:tcPr>
                    <a:solidFill>
                      <a:srgbClr val="F5F7FA"/>
                    </a:solidFill>
                  </a:tcPr>
                </a:tc>
                <a:tc>
                  <a:txBody>
                    <a:bodyPr/>
                    <a:lstStyle/>
                    <a:p>
                      <a:pPr algn="ctr"/>
                      <a:r>
                        <a:rPr sz="800" b="0">
                          <a:solidFill>
                            <a:srgbClr val="1A1A1A"/>
                          </a:solidFill>
                        </a:rPr>
                        <a:t>16</a:t>
                      </a:r>
                    </a:p>
                  </a:txBody>
                  <a:tcPr>
                    <a:solidFill>
                      <a:srgbClr val="F5F7FA"/>
                    </a:solid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Cons. Staples</a:t>
                      </a:r>
                    </a:p>
                  </a:txBody>
                  <a:tcPr>
                    <a:noFill/>
                  </a:tcPr>
                </a:tc>
                <a:tc>
                  <a:txBody>
                    <a:bodyPr/>
                    <a:lstStyle/>
                    <a:p>
                      <a:pPr algn="ctr"/>
                      <a:r>
                        <a:rPr sz="800" b="0">
                          <a:solidFill>
                            <a:srgbClr val="1A1A1A"/>
                          </a:solidFill>
                        </a:rPr>
                        <a:t>48</a:t>
                      </a:r>
                    </a:p>
                  </a:txBody>
                  <a:tcPr>
                    <a:solidFill>
                      <a:srgbClr val="FDF3E5"/>
                    </a:solidFill>
                  </a:tcPr>
                </a:tc>
                <a:tc>
                  <a:txBody>
                    <a:bodyPr/>
                    <a:lstStyle/>
                    <a:p>
                      <a:pPr algn="ctr"/>
                      <a:r>
                        <a:rPr sz="800" b="0">
                          <a:solidFill>
                            <a:srgbClr val="1A1A1A"/>
                          </a:solidFill>
                        </a:rPr>
                        <a:t>19</a:t>
                      </a:r>
                    </a:p>
                  </a:txBody>
                  <a:tcPr>
                    <a:noFill/>
                  </a:tcPr>
                </a:tc>
                <a:tc>
                  <a:txBody>
                    <a:bodyPr/>
                    <a:lstStyle/>
                    <a:p>
                      <a:pPr algn="ctr"/>
                      <a:r>
                        <a:rPr sz="800" b="0">
                          <a:solidFill>
                            <a:srgbClr val="1A1A1A"/>
                          </a:solidFill>
                        </a:rPr>
                        <a:t>14</a:t>
                      </a:r>
                    </a:p>
                  </a:txBody>
                  <a:tcPr>
                    <a:noFill/>
                  </a:tcPr>
                </a:tc>
                <a:tc>
                  <a:txBody>
                    <a:bodyPr/>
                    <a:lstStyle/>
                    <a:p>
                      <a:pPr algn="ctr"/>
                      <a:r>
                        <a:rPr sz="800" b="0">
                          <a:solidFill>
                            <a:srgbClr val="1A1A1A"/>
                          </a:solidFill>
                        </a:rPr>
                        <a:t>14</a:t>
                      </a:r>
                    </a:p>
                  </a:txBody>
                  <a:tcPr>
                    <a:no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Materials</a:t>
                      </a:r>
                    </a:p>
                  </a:txBody>
                  <a:tcPr>
                    <a:solidFill>
                      <a:srgbClr val="F5F7FA"/>
                    </a:solidFill>
                  </a:tcPr>
                </a:tc>
                <a:tc>
                  <a:txBody>
                    <a:bodyPr/>
                    <a:lstStyle/>
                    <a:p>
                      <a:pPr algn="ctr"/>
                      <a:r>
                        <a:rPr sz="800" b="0">
                          <a:solidFill>
                            <a:srgbClr val="1A1A1A"/>
                          </a:solidFill>
                        </a:rPr>
                        <a:t>46</a:t>
                      </a:r>
                    </a:p>
                  </a:txBody>
                  <a:tcPr>
                    <a:solidFill>
                      <a:srgbClr val="FDF3E5"/>
                    </a:solidFill>
                  </a:tcPr>
                </a:tc>
                <a:tc>
                  <a:txBody>
                    <a:bodyPr/>
                    <a:lstStyle/>
                    <a:p>
                      <a:pPr algn="ctr"/>
                      <a:r>
                        <a:rPr sz="800" b="0">
                          <a:solidFill>
                            <a:srgbClr val="1A1A1A"/>
                          </a:solidFill>
                        </a:rPr>
                        <a:t>18</a:t>
                      </a:r>
                    </a:p>
                  </a:txBody>
                  <a:tcPr>
                    <a:solidFill>
                      <a:srgbClr val="F5F7FA"/>
                    </a:solidFill>
                  </a:tcPr>
                </a:tc>
                <a:tc>
                  <a:txBody>
                    <a:bodyPr/>
                    <a:lstStyle/>
                    <a:p>
                      <a:pPr algn="ctr"/>
                      <a:r>
                        <a:rPr sz="800" b="0">
                          <a:solidFill>
                            <a:srgbClr val="1A1A1A"/>
                          </a:solidFill>
                        </a:rPr>
                        <a:t>14</a:t>
                      </a:r>
                    </a:p>
                  </a:txBody>
                  <a:tcPr>
                    <a:solidFill>
                      <a:srgbClr val="F5F7FA"/>
                    </a:solidFill>
                  </a:tcPr>
                </a:tc>
                <a:tc>
                  <a:txBody>
                    <a:bodyPr/>
                    <a:lstStyle/>
                    <a:p>
                      <a:pPr algn="ctr"/>
                      <a:r>
                        <a:rPr sz="800" b="0">
                          <a:solidFill>
                            <a:srgbClr val="1A1A1A"/>
                          </a:solidFill>
                        </a:rPr>
                        <a:t>14</a:t>
                      </a:r>
                    </a:p>
                  </a:txBody>
                  <a:tcPr>
                    <a:solidFill>
                      <a:srgbClr val="F5F7FA"/>
                    </a:solid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Energy</a:t>
                      </a:r>
                    </a:p>
                  </a:txBody>
                  <a:tcPr>
                    <a:noFill/>
                  </a:tcPr>
                </a:tc>
                <a:tc>
                  <a:txBody>
                    <a:bodyPr/>
                    <a:lstStyle/>
                    <a:p>
                      <a:pPr algn="ctr"/>
                      <a:r>
                        <a:rPr sz="800" b="0">
                          <a:solidFill>
                            <a:srgbClr val="1A1A1A"/>
                          </a:solidFill>
                        </a:rPr>
                        <a:t>44</a:t>
                      </a:r>
                    </a:p>
                  </a:txBody>
                  <a:tcPr>
                    <a:solidFill>
                      <a:srgbClr val="FBEBEB"/>
                    </a:solidFill>
                  </a:tcPr>
                </a:tc>
                <a:tc>
                  <a:txBody>
                    <a:bodyPr/>
                    <a:lstStyle/>
                    <a:p>
                      <a:pPr algn="ctr"/>
                      <a:r>
                        <a:rPr sz="800" b="0">
                          <a:solidFill>
                            <a:srgbClr val="1A1A1A"/>
                          </a:solidFill>
                        </a:rPr>
                        <a:t>18</a:t>
                      </a:r>
                    </a:p>
                  </a:txBody>
                  <a:tcPr>
                    <a:noFill/>
                  </a:tcPr>
                </a:tc>
                <a:tc>
                  <a:txBody>
                    <a:bodyPr/>
                    <a:lstStyle/>
                    <a:p>
                      <a:pPr algn="ctr"/>
                      <a:r>
                        <a:rPr sz="800" b="0">
                          <a:solidFill>
                            <a:srgbClr val="1A1A1A"/>
                          </a:solidFill>
                        </a:rPr>
                        <a:t>13</a:t>
                      </a:r>
                    </a:p>
                  </a:txBody>
                  <a:tcPr>
                    <a:noFill/>
                  </a:tcPr>
                </a:tc>
                <a:tc>
                  <a:txBody>
                    <a:bodyPr/>
                    <a:lstStyle/>
                    <a:p>
                      <a:pPr algn="ctr"/>
                      <a:r>
                        <a:rPr sz="800" b="0">
                          <a:solidFill>
                            <a:srgbClr val="1A1A1A"/>
                          </a:solidFill>
                        </a:rPr>
                        <a:t>13</a:t>
                      </a:r>
                    </a:p>
                  </a:txBody>
                  <a:tcPr>
                    <a:no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Real Estate</a:t>
                      </a:r>
                    </a:p>
                  </a:txBody>
                  <a:tcPr>
                    <a:solidFill>
                      <a:srgbClr val="F5F7FA"/>
                    </a:solidFill>
                  </a:tcPr>
                </a:tc>
                <a:tc>
                  <a:txBody>
                    <a:bodyPr/>
                    <a:lstStyle/>
                    <a:p>
                      <a:pPr algn="ctr"/>
                      <a:r>
                        <a:rPr sz="800" b="0">
                          <a:solidFill>
                            <a:srgbClr val="1A1A1A"/>
                          </a:solidFill>
                        </a:rPr>
                        <a:t>38</a:t>
                      </a:r>
                    </a:p>
                  </a:txBody>
                  <a:tcPr>
                    <a:solidFill>
                      <a:srgbClr val="FBEBEB"/>
                    </a:solidFill>
                  </a:tcPr>
                </a:tc>
                <a:tc>
                  <a:txBody>
                    <a:bodyPr/>
                    <a:lstStyle/>
                    <a:p>
                      <a:pPr algn="ctr"/>
                      <a:r>
                        <a:rPr sz="800" b="0">
                          <a:solidFill>
                            <a:srgbClr val="1A1A1A"/>
                          </a:solidFill>
                        </a:rPr>
                        <a:t>15</a:t>
                      </a:r>
                    </a:p>
                  </a:txBody>
                  <a:tcPr>
                    <a:solidFill>
                      <a:srgbClr val="F5F7FA"/>
                    </a:solidFill>
                  </a:tcPr>
                </a:tc>
                <a:tc>
                  <a:txBody>
                    <a:bodyPr/>
                    <a:lstStyle/>
                    <a:p>
                      <a:pPr algn="ctr"/>
                      <a:r>
                        <a:rPr sz="800" b="0">
                          <a:solidFill>
                            <a:srgbClr val="1A1A1A"/>
                          </a:solidFill>
                        </a:rPr>
                        <a:t>11</a:t>
                      </a:r>
                    </a:p>
                  </a:txBody>
                  <a:tcPr>
                    <a:solidFill>
                      <a:srgbClr val="F5F7FA"/>
                    </a:solidFill>
                  </a:tcPr>
                </a:tc>
                <a:tc>
                  <a:txBody>
                    <a:bodyPr/>
                    <a:lstStyle/>
                    <a:p>
                      <a:pPr algn="ctr"/>
                      <a:r>
                        <a:rPr sz="800" b="0">
                          <a:solidFill>
                            <a:srgbClr val="1A1A1A"/>
                          </a:solidFill>
                        </a:rPr>
                        <a:t>11</a:t>
                      </a:r>
                    </a:p>
                  </a:txBody>
                  <a:tcPr>
                    <a:solidFill>
                      <a:srgbClr val="F5F7FA"/>
                    </a:solidFill>
                  </a:tcPr>
                </a:tc>
                <a:tc>
                  <a:txBody>
                    <a:bodyPr/>
                    <a:lstStyle/>
                    <a:p>
                      <a:pPr algn="ctr"/>
                      <a:r>
                        <a:rPr sz="800" b="0">
                          <a:solidFill>
                            <a:srgbClr val="A82020"/>
                          </a:solidFill>
                        </a:rPr>
                        <a:t>Sous-pondérer</a:t>
                      </a:r>
                    </a:p>
                  </a:txBody>
                  <a:tcPr>
                    <a:solidFill>
                      <a:srgbClr val="FBEBEB"/>
                    </a:solidFill>
                  </a:tcPr>
                </a:tc>
              </a:tr>
              <a:tr h="210000">
                <a:tc>
                  <a:txBody>
                    <a:bodyPr/>
                    <a:lstStyle/>
                    <a:p>
                      <a:pPr algn="ctr"/>
                      <a:r>
                        <a:rPr sz="800" b="0">
                          <a:solidFill>
                            <a:srgbClr val="1A1A1A"/>
                          </a:solidFill>
                        </a:rPr>
                        <a:t>Utilities</a:t>
                      </a:r>
                    </a:p>
                  </a:txBody>
                  <a:tcPr>
                    <a:noFill/>
                  </a:tcPr>
                </a:tc>
                <a:tc>
                  <a:txBody>
                    <a:bodyPr/>
                    <a:lstStyle/>
                    <a:p>
                      <a:pPr algn="ctr"/>
                      <a:r>
                        <a:rPr sz="800" b="0">
                          <a:solidFill>
                            <a:srgbClr val="1A1A1A"/>
                          </a:solidFill>
                        </a:rPr>
                        <a:t>36</a:t>
                      </a:r>
                    </a:p>
                  </a:txBody>
                  <a:tcPr>
                    <a:solidFill>
                      <a:srgbClr val="FBEBEB"/>
                    </a:solidFill>
                  </a:tcPr>
                </a:tc>
                <a:tc>
                  <a:txBody>
                    <a:bodyPr/>
                    <a:lstStyle/>
                    <a:p>
                      <a:pPr algn="ctr"/>
                      <a:r>
                        <a:rPr sz="800" b="0">
                          <a:solidFill>
                            <a:srgbClr val="1A1A1A"/>
                          </a:solidFill>
                        </a:rPr>
                        <a:t>14</a:t>
                      </a:r>
                    </a:p>
                  </a:txBody>
                  <a:tcPr>
                    <a:noFill/>
                  </a:tcPr>
                </a:tc>
                <a:tc>
                  <a:txBody>
                    <a:bodyPr/>
                    <a:lstStyle/>
                    <a:p>
                      <a:pPr algn="ctr"/>
                      <a:r>
                        <a:rPr sz="800" b="0">
                          <a:solidFill>
                            <a:srgbClr val="1A1A1A"/>
                          </a:solidFill>
                        </a:rPr>
                        <a:t>11</a:t>
                      </a:r>
                    </a:p>
                  </a:txBody>
                  <a:tcPr>
                    <a:noFill/>
                  </a:tcPr>
                </a:tc>
                <a:tc>
                  <a:txBody>
                    <a:bodyPr/>
                    <a:lstStyle/>
                    <a:p>
                      <a:pPr algn="ctr"/>
                      <a:r>
                        <a:rPr sz="800" b="0">
                          <a:solidFill>
                            <a:srgbClr val="1A1A1A"/>
                          </a:solidFill>
                        </a:rPr>
                        <a:t>11</a:t>
                      </a:r>
                    </a:p>
                  </a:txBody>
                  <a:tcPr>
                    <a:noFill/>
                  </a:tcPr>
                </a:tc>
                <a:tc>
                  <a:txBody>
                    <a:bodyPr/>
                    <a:lstStyle/>
                    <a:p>
                      <a:pPr algn="ctr"/>
                      <a:r>
                        <a:rPr sz="800" b="0">
                          <a:solidFill>
                            <a:srgbClr val="A82020"/>
                          </a:solidFill>
                        </a:rPr>
                        <a:t>Sous-pondérer</a:t>
                      </a:r>
                    </a:p>
                  </a:txBody>
                  <a:tcPr>
                    <a:solidFill>
                      <a:srgbClr val="FBEBEB"/>
                    </a:solidFill>
                  </a:tcPr>
                </a:tc>
              </a:tr>
            </a:tbl>
          </a:graphicData>
        </a:graphic>
      </p:graphicFrame>
      <p:sp>
        <p:nvSpPr>
          <p:cNvPr id="16" name="TextBox 15"/>
          <p:cNvSpPr txBox="1"/>
          <p:nvPr/>
        </p:nvSpPr>
        <p:spPr>
          <a:xfrm>
            <a:off x="324000" y="3578399"/>
            <a:ext cx="8496000" cy="216000"/>
          </a:xfrm>
          <a:prstGeom prst="rect">
            <a:avLst/>
          </a:prstGeom>
          <a:noFill/>
        </p:spPr>
        <p:txBody>
          <a:bodyPr wrap="square">
            <a:spAutoFit/>
          </a:bodyPr>
          <a:lstStyle/>
          <a:p>
            <a:pPr algn="l"/>
            <a:r>
              <a:rPr sz="700" b="0" i="1">
                <a:solidFill>
                  <a:srgbClr val="AAAAAA"/>
                </a:solidFill>
              </a:rPr>
              <a:t>Lecture : Score &gt;= 65 = vert · 45-64 = neutre · &lt; 45 = rouge · Méthode : composite 40 % momentum + 30 % révisions BPA + 30 % valorisation relative</a:t>
            </a:r>
          </a:p>
        </p:txBody>
      </p:sp>
      <p:sp>
        <p:nvSpPr>
          <p:cNvPr id="17" name="Rectangle 16"/>
          <p:cNvSpPr/>
          <p:nvPr/>
        </p:nvSpPr>
        <p:spPr>
          <a:xfrm>
            <a:off x="324000" y="3780000"/>
            <a:ext cx="8496000" cy="1025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4000" y="3780000"/>
            <a:ext cx="43200" cy="1025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000" y="3834000"/>
            <a:ext cx="8208000" cy="216000"/>
          </a:xfrm>
          <a:prstGeom prst="rect">
            <a:avLst/>
          </a:prstGeom>
          <a:noFill/>
        </p:spPr>
        <p:txBody>
          <a:bodyPr wrap="square">
            <a:spAutoFit/>
          </a:bodyPr>
          <a:lstStyle/>
          <a:p>
            <a:pPr algn="l"/>
            <a:r>
              <a:rPr sz="800" b="1" i="0">
                <a:solidFill>
                  <a:srgbClr val="1B3A6B"/>
                </a:solidFill>
              </a:rPr>
              <a:t>Analyse des scores — Points saillants</a:t>
            </a:r>
          </a:p>
        </p:txBody>
      </p:sp>
      <p:sp>
        <p:nvSpPr>
          <p:cNvPr id="20" name="TextBox 19"/>
          <p:cNvSpPr txBox="1"/>
          <p:nvPr/>
        </p:nvSpPr>
        <p:spPr>
          <a:xfrm>
            <a:off x="432000" y="4068000"/>
            <a:ext cx="8208000" cy="701999"/>
          </a:xfrm>
          <a:prstGeom prst="rect">
            <a:avLst/>
          </a:prstGeom>
          <a:noFill/>
        </p:spPr>
        <p:txBody>
          <a:bodyPr wrap="square">
            <a:spAutoFit/>
          </a:bodyPr>
          <a:lstStyle/>
          <a:p>
            <a:pPr algn="l"/>
            <a:r>
              <a:rPr sz="750" b="0" i="0">
                <a:solidFill>
                  <a:srgbClr val="555555"/>
                </a:solidFill>
              </a:rPr>
              <a:t>Technology domine avec le score le plus élevé. Le momentum (29 pts) constitue le premier signal de confirmation. Les secteurs en vert sur les 3 dimensions offrent le meilleur profil composite. Croiser avec la valorisation relative pour identifier les meilleures opportunités d'entrée.</a:t>
            </a:r>
          </a:p>
        </p:txBody>
      </p:sp>
      <p:sp>
        <p:nvSpPr>
          <p:cNvPr id="21" name="Rectangle 2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Secteurs Recommandés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Synthèse signal · Sociétés représentatives · Zone d'entrée · Allocation Markowitz</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Secteurs — Synthèse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Secteurs Surpondérer  ·  Signal · Score · EV/EBITDA · Sociétés représentatives · Catalyseur · Risque</a:t>
            </a:r>
          </a:p>
        </p:txBody>
      </p:sp>
      <p:sp>
        <p:nvSpPr>
          <p:cNvPr id="15" name="Rectangle 14"/>
          <p:cNvSpPr/>
          <p:nvPr/>
        </p:nvSpPr>
        <p:spPr>
          <a:xfrm>
            <a:off x="324000"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1800000" cy="251999"/>
          </a:xfrm>
          <a:prstGeom prst="rect">
            <a:avLst/>
          </a:prstGeom>
          <a:noFill/>
        </p:spPr>
        <p:txBody>
          <a:bodyPr wrap="square">
            <a:spAutoFit/>
          </a:bodyPr>
          <a:lstStyle/>
          <a:p>
            <a:pPr algn="l"/>
            <a:r>
              <a:rPr sz="1000" b="1" i="0">
                <a:solidFill>
                  <a:srgbClr val="FFFFFF"/>
                </a:solidFill>
              </a:rPr>
              <a:t>Technology</a:t>
            </a:r>
          </a:p>
        </p:txBody>
      </p:sp>
      <p:sp>
        <p:nvSpPr>
          <p:cNvPr id="18" name="Rectangle 17"/>
          <p:cNvSpPr/>
          <p:nvPr/>
        </p:nvSpPr>
        <p:spPr>
          <a:xfrm>
            <a:off x="2304000"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40000" y="864000"/>
            <a:ext cx="612000" cy="198000"/>
          </a:xfrm>
          <a:prstGeom prst="rect">
            <a:avLst/>
          </a:prstGeom>
          <a:noFill/>
        </p:spPr>
        <p:txBody>
          <a:bodyPr wrap="square">
            <a:spAutoFit/>
          </a:bodyPr>
          <a:lstStyle/>
          <a:p>
            <a:pPr algn="ctr"/>
            <a:r>
              <a:rPr sz="750" b="1" i="0">
                <a:solidFill>
                  <a:srgbClr val="FFFFFF"/>
                </a:solidFill>
              </a:rPr>
              <a:t>Surp.</a:t>
            </a:r>
          </a:p>
        </p:txBody>
      </p:sp>
      <p:sp>
        <p:nvSpPr>
          <p:cNvPr id="20" name="TextBox 19"/>
          <p:cNvSpPr txBox="1"/>
          <p:nvPr/>
        </p:nvSpPr>
        <p:spPr>
          <a:xfrm>
            <a:off x="396000" y="1170000"/>
            <a:ext cx="2592000" cy="180000"/>
          </a:xfrm>
          <a:prstGeom prst="rect">
            <a:avLst/>
          </a:prstGeom>
          <a:noFill/>
        </p:spPr>
        <p:txBody>
          <a:bodyPr wrap="square">
            <a:spAutoFit/>
          </a:bodyPr>
          <a:lstStyle/>
          <a:p>
            <a:pPr algn="l"/>
            <a:r>
              <a:rPr sz="750" b="0" i="0">
                <a:solidFill>
                  <a:srgbClr val="1B3A6B"/>
                </a:solidFill>
              </a:rPr>
              <a:t>Score : 72/100  ·  EV/EBITDA : 24.8x</a:t>
            </a:r>
          </a:p>
        </p:txBody>
      </p:sp>
      <p:sp>
        <p:nvSpPr>
          <p:cNvPr id="21" name="TextBox 20"/>
          <p:cNvSpPr txBox="1"/>
          <p:nvPr/>
        </p:nvSpPr>
        <p:spPr>
          <a:xfrm>
            <a:off x="396000"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22" name="Rectangle 21"/>
          <p:cNvSpPr/>
          <p:nvPr/>
        </p:nvSpPr>
        <p:spPr>
          <a:xfrm>
            <a:off x="396000"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20000"/>
            <a:ext cx="684000" cy="198000"/>
          </a:xfrm>
          <a:prstGeom prst="rect">
            <a:avLst/>
          </a:prstGeom>
          <a:noFill/>
        </p:spPr>
        <p:txBody>
          <a:bodyPr wrap="square">
            <a:spAutoFit/>
          </a:bodyPr>
          <a:lstStyle/>
          <a:p>
            <a:pPr algn="l"/>
            <a:r>
              <a:rPr sz="800" b="1" i="0">
                <a:solidFill>
                  <a:srgbClr val="1B3A6B"/>
                </a:solidFill>
              </a:rPr>
              <a:t>AAPL</a:t>
            </a:r>
          </a:p>
        </p:txBody>
      </p:sp>
      <p:sp>
        <p:nvSpPr>
          <p:cNvPr id="24" name="TextBox 23"/>
          <p:cNvSpPr txBox="1"/>
          <p:nvPr/>
        </p:nvSpPr>
        <p:spPr>
          <a:xfrm>
            <a:off x="1152000" y="1620000"/>
            <a:ext cx="540000" cy="198000"/>
          </a:xfrm>
          <a:prstGeom prst="rect">
            <a:avLst/>
          </a:prstGeom>
          <a:noFill/>
        </p:spPr>
        <p:txBody>
          <a:bodyPr wrap="square">
            <a:spAutoFit/>
          </a:bodyPr>
          <a:lstStyle/>
          <a:p>
            <a:pPr algn="l"/>
            <a:r>
              <a:rPr sz="800" b="0" i="0">
                <a:solidFill>
                  <a:srgbClr val="1A7A4A"/>
                </a:solidFill>
              </a:rPr>
              <a:t>Surp.</a:t>
            </a:r>
          </a:p>
        </p:txBody>
      </p:sp>
      <p:sp>
        <p:nvSpPr>
          <p:cNvPr id="25" name="TextBox 24"/>
          <p:cNvSpPr txBox="1"/>
          <p:nvPr/>
        </p:nvSpPr>
        <p:spPr>
          <a:xfrm>
            <a:off x="1692000" y="1620000"/>
            <a:ext cx="540000" cy="198000"/>
          </a:xfrm>
          <a:prstGeom prst="rect">
            <a:avLst/>
          </a:prstGeom>
          <a:noFill/>
        </p:spPr>
        <p:txBody>
          <a:bodyPr wrap="square">
            <a:spAutoFit/>
          </a:bodyPr>
          <a:lstStyle/>
          <a:p>
            <a:pPr algn="l"/>
            <a:r>
              <a:rPr sz="800" b="0" i="0">
                <a:solidFill>
                  <a:srgbClr val="555555"/>
                </a:solidFill>
              </a:rPr>
              <a:t>22.4x</a:t>
            </a:r>
          </a:p>
        </p:txBody>
      </p:sp>
      <p:sp>
        <p:nvSpPr>
          <p:cNvPr id="26" name="TextBox 25"/>
          <p:cNvSpPr txBox="1"/>
          <p:nvPr/>
        </p:nvSpPr>
        <p:spPr>
          <a:xfrm>
            <a:off x="2232000" y="1620000"/>
            <a:ext cx="540000" cy="198000"/>
          </a:xfrm>
          <a:prstGeom prst="rect">
            <a:avLst/>
          </a:prstGeom>
          <a:noFill/>
        </p:spPr>
        <p:txBody>
          <a:bodyPr wrap="square">
            <a:spAutoFit/>
          </a:bodyPr>
          <a:lstStyle/>
          <a:p>
            <a:pPr algn="l"/>
            <a:r>
              <a:rPr sz="800" b="0" i="0">
                <a:solidFill>
                  <a:srgbClr val="555555"/>
                </a:solidFill>
              </a:rPr>
              <a:t>78</a:t>
            </a:r>
          </a:p>
        </p:txBody>
      </p:sp>
      <p:sp>
        <p:nvSpPr>
          <p:cNvPr id="27" name="Rectangle 26"/>
          <p:cNvSpPr/>
          <p:nvPr/>
        </p:nvSpPr>
        <p:spPr>
          <a:xfrm>
            <a:off x="396000" y="18792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8000" y="1915200"/>
            <a:ext cx="684000" cy="198000"/>
          </a:xfrm>
          <a:prstGeom prst="rect">
            <a:avLst/>
          </a:prstGeom>
          <a:noFill/>
        </p:spPr>
        <p:txBody>
          <a:bodyPr wrap="square">
            <a:spAutoFit/>
          </a:bodyPr>
          <a:lstStyle/>
          <a:p>
            <a:pPr algn="l"/>
            <a:r>
              <a:rPr sz="800" b="1" i="0">
                <a:solidFill>
                  <a:srgbClr val="1B3A6B"/>
                </a:solidFill>
              </a:rPr>
              <a:t>MSFT</a:t>
            </a:r>
          </a:p>
        </p:txBody>
      </p:sp>
      <p:sp>
        <p:nvSpPr>
          <p:cNvPr id="29" name="TextBox 28"/>
          <p:cNvSpPr txBox="1"/>
          <p:nvPr/>
        </p:nvSpPr>
        <p:spPr>
          <a:xfrm>
            <a:off x="1152000" y="1915200"/>
            <a:ext cx="540000" cy="198000"/>
          </a:xfrm>
          <a:prstGeom prst="rect">
            <a:avLst/>
          </a:prstGeom>
          <a:noFill/>
        </p:spPr>
        <p:txBody>
          <a:bodyPr wrap="square">
            <a:spAutoFit/>
          </a:bodyPr>
          <a:lstStyle/>
          <a:p>
            <a:pPr algn="l"/>
            <a:r>
              <a:rPr sz="800" b="0" i="0">
                <a:solidFill>
                  <a:srgbClr val="1A7A4A"/>
                </a:solidFill>
              </a:rPr>
              <a:t>Surp.</a:t>
            </a:r>
          </a:p>
        </p:txBody>
      </p:sp>
      <p:sp>
        <p:nvSpPr>
          <p:cNvPr id="30" name="TextBox 29"/>
          <p:cNvSpPr txBox="1"/>
          <p:nvPr/>
        </p:nvSpPr>
        <p:spPr>
          <a:xfrm>
            <a:off x="1692000" y="1915200"/>
            <a:ext cx="540000" cy="198000"/>
          </a:xfrm>
          <a:prstGeom prst="rect">
            <a:avLst/>
          </a:prstGeom>
          <a:noFill/>
        </p:spPr>
        <p:txBody>
          <a:bodyPr wrap="square">
            <a:spAutoFit/>
          </a:bodyPr>
          <a:lstStyle/>
          <a:p>
            <a:pPr algn="l"/>
            <a:r>
              <a:rPr sz="800" b="0" i="0">
                <a:solidFill>
                  <a:srgbClr val="555555"/>
                </a:solidFill>
              </a:rPr>
              <a:t>28.6x</a:t>
            </a:r>
          </a:p>
        </p:txBody>
      </p:sp>
      <p:sp>
        <p:nvSpPr>
          <p:cNvPr id="31" name="TextBox 30"/>
          <p:cNvSpPr txBox="1"/>
          <p:nvPr/>
        </p:nvSpPr>
        <p:spPr>
          <a:xfrm>
            <a:off x="2232000" y="1915200"/>
            <a:ext cx="540000" cy="198000"/>
          </a:xfrm>
          <a:prstGeom prst="rect">
            <a:avLst/>
          </a:prstGeom>
          <a:noFill/>
        </p:spPr>
        <p:txBody>
          <a:bodyPr wrap="square">
            <a:spAutoFit/>
          </a:bodyPr>
          <a:lstStyle/>
          <a:p>
            <a:pPr algn="l"/>
            <a:r>
              <a:rPr sz="800" b="0" i="0">
                <a:solidFill>
                  <a:srgbClr val="555555"/>
                </a:solidFill>
              </a:rPr>
              <a:t>75</a:t>
            </a:r>
          </a:p>
        </p:txBody>
      </p:sp>
      <p:sp>
        <p:nvSpPr>
          <p:cNvPr id="32" name="Rectangle 31"/>
          <p:cNvSpPr/>
          <p:nvPr/>
        </p:nvSpPr>
        <p:spPr>
          <a:xfrm>
            <a:off x="396000" y="21744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8000" y="2210400"/>
            <a:ext cx="684000" cy="198000"/>
          </a:xfrm>
          <a:prstGeom prst="rect">
            <a:avLst/>
          </a:prstGeom>
          <a:noFill/>
        </p:spPr>
        <p:txBody>
          <a:bodyPr wrap="square">
            <a:spAutoFit/>
          </a:bodyPr>
          <a:lstStyle/>
          <a:p>
            <a:pPr algn="l"/>
            <a:r>
              <a:rPr sz="800" b="1" i="0">
                <a:solidFill>
                  <a:srgbClr val="1B3A6B"/>
                </a:solidFill>
              </a:rPr>
              <a:t>NVDA</a:t>
            </a:r>
          </a:p>
        </p:txBody>
      </p:sp>
      <p:sp>
        <p:nvSpPr>
          <p:cNvPr id="34" name="TextBox 33"/>
          <p:cNvSpPr txBox="1"/>
          <p:nvPr/>
        </p:nvSpPr>
        <p:spPr>
          <a:xfrm>
            <a:off x="1152000" y="2210400"/>
            <a:ext cx="540000" cy="198000"/>
          </a:xfrm>
          <a:prstGeom prst="rect">
            <a:avLst/>
          </a:prstGeom>
          <a:noFill/>
        </p:spPr>
        <p:txBody>
          <a:bodyPr wrap="square">
            <a:spAutoFit/>
          </a:bodyPr>
          <a:lstStyle/>
          <a:p>
            <a:pPr algn="l"/>
            <a:r>
              <a:rPr sz="800" b="0" i="0">
                <a:solidFill>
                  <a:srgbClr val="1A7A4A"/>
                </a:solidFill>
              </a:rPr>
              <a:t>Surp.</a:t>
            </a:r>
          </a:p>
        </p:txBody>
      </p:sp>
      <p:sp>
        <p:nvSpPr>
          <p:cNvPr id="35" name="TextBox 34"/>
          <p:cNvSpPr txBox="1"/>
          <p:nvPr/>
        </p:nvSpPr>
        <p:spPr>
          <a:xfrm>
            <a:off x="1692000" y="2210400"/>
            <a:ext cx="540000" cy="198000"/>
          </a:xfrm>
          <a:prstGeom prst="rect">
            <a:avLst/>
          </a:prstGeom>
          <a:noFill/>
        </p:spPr>
        <p:txBody>
          <a:bodyPr wrap="square">
            <a:spAutoFit/>
          </a:bodyPr>
          <a:lstStyle/>
          <a:p>
            <a:pPr algn="l"/>
            <a:r>
              <a:rPr sz="800" b="0" i="0">
                <a:solidFill>
                  <a:srgbClr val="555555"/>
                </a:solidFill>
              </a:rPr>
              <a:t>42.8x</a:t>
            </a:r>
          </a:p>
        </p:txBody>
      </p:sp>
      <p:sp>
        <p:nvSpPr>
          <p:cNvPr id="36" name="TextBox 35"/>
          <p:cNvSpPr txBox="1"/>
          <p:nvPr/>
        </p:nvSpPr>
        <p:spPr>
          <a:xfrm>
            <a:off x="2232000" y="2210400"/>
            <a:ext cx="540000" cy="198000"/>
          </a:xfrm>
          <a:prstGeom prst="rect">
            <a:avLst/>
          </a:prstGeom>
          <a:noFill/>
        </p:spPr>
        <p:txBody>
          <a:bodyPr wrap="square">
            <a:spAutoFit/>
          </a:bodyPr>
          <a:lstStyle/>
          <a:p>
            <a:pPr algn="l"/>
            <a:r>
              <a:rPr sz="800" b="0" i="0">
                <a:solidFill>
                  <a:srgbClr val="555555"/>
                </a:solidFill>
              </a:rPr>
              <a:t>82</a:t>
            </a:r>
          </a:p>
        </p:txBody>
      </p:sp>
      <p:sp>
        <p:nvSpPr>
          <p:cNvPr id="37" name="TextBox 36"/>
          <p:cNvSpPr txBox="1"/>
          <p:nvPr/>
        </p:nvSpPr>
        <p:spPr>
          <a:xfrm>
            <a:off x="396000"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38" name="Rectangle 37"/>
          <p:cNvSpPr/>
          <p:nvPr/>
        </p:nvSpPr>
        <p:spPr>
          <a:xfrm>
            <a:off x="396000"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8000" y="2700000"/>
            <a:ext cx="2484000" cy="666000"/>
          </a:xfrm>
          <a:prstGeom prst="rect">
            <a:avLst/>
          </a:prstGeom>
          <a:noFill/>
        </p:spPr>
        <p:txBody>
          <a:bodyPr wrap="square">
            <a:spAutoFit/>
          </a:bodyPr>
          <a:lstStyle/>
          <a:p>
            <a:pPr algn="l"/>
            <a:r>
              <a:rPr sz="750" b="0" i="0">
                <a:solidFill>
                  <a:srgbClr val="555555"/>
                </a:solidFill>
              </a:rPr>
              <a:t>Cycle IA — CAPEX hyperscalers +35% YoY, monetisation acceleree</a:t>
            </a:r>
          </a:p>
        </p:txBody>
      </p:sp>
      <p:sp>
        <p:nvSpPr>
          <p:cNvPr id="40" name="TextBox 39"/>
          <p:cNvSpPr txBox="1"/>
          <p:nvPr/>
        </p:nvSpPr>
        <p:spPr>
          <a:xfrm>
            <a:off x="396000"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41" name="Rectangle 40"/>
          <p:cNvSpPr/>
          <p:nvPr/>
        </p:nvSpPr>
        <p:spPr>
          <a:xfrm>
            <a:off x="396000"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8000" y="3654000"/>
            <a:ext cx="2484000" cy="666000"/>
          </a:xfrm>
          <a:prstGeom prst="rect">
            <a:avLst/>
          </a:prstGeom>
          <a:noFill/>
        </p:spPr>
        <p:txBody>
          <a:bodyPr wrap="square">
            <a:spAutoFit/>
          </a:bodyPr>
          <a:lstStyle/>
          <a:p>
            <a:pPr algn="l"/>
            <a:r>
              <a:rPr sz="750" b="0" i="0">
                <a:solidFill>
                  <a:srgbClr val="555555"/>
                </a:solidFill>
              </a:rPr>
              <a:t>Valorisations tendues si taux LT restent eleves</a:t>
            </a:r>
          </a:p>
        </p:txBody>
      </p:sp>
      <p:sp>
        <p:nvSpPr>
          <p:cNvPr id="43" name="Rectangle 42"/>
          <p:cNvSpPr/>
          <p:nvPr/>
        </p:nvSpPr>
        <p:spPr>
          <a:xfrm>
            <a:off x="3150000"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150000"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21999" y="846000"/>
            <a:ext cx="1800000" cy="251999"/>
          </a:xfrm>
          <a:prstGeom prst="rect">
            <a:avLst/>
          </a:prstGeom>
          <a:noFill/>
        </p:spPr>
        <p:txBody>
          <a:bodyPr wrap="square">
            <a:spAutoFit/>
          </a:bodyPr>
          <a:lstStyle/>
          <a:p>
            <a:pPr algn="l"/>
            <a:r>
              <a:rPr sz="1000" b="1" i="0">
                <a:solidFill>
                  <a:srgbClr val="FFFFFF"/>
                </a:solidFill>
              </a:rPr>
              <a:t>Health Care</a:t>
            </a:r>
          </a:p>
        </p:txBody>
      </p:sp>
      <p:sp>
        <p:nvSpPr>
          <p:cNvPr id="46" name="Rectangle 45"/>
          <p:cNvSpPr/>
          <p:nvPr/>
        </p:nvSpPr>
        <p:spPr>
          <a:xfrm>
            <a:off x="5130000"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66000" y="864000"/>
            <a:ext cx="612000" cy="198000"/>
          </a:xfrm>
          <a:prstGeom prst="rect">
            <a:avLst/>
          </a:prstGeom>
          <a:noFill/>
        </p:spPr>
        <p:txBody>
          <a:bodyPr wrap="square">
            <a:spAutoFit/>
          </a:bodyPr>
          <a:lstStyle/>
          <a:p>
            <a:pPr algn="ctr"/>
            <a:r>
              <a:rPr sz="750" b="1" i="0">
                <a:solidFill>
                  <a:srgbClr val="FFFFFF"/>
                </a:solidFill>
              </a:rPr>
              <a:t>Surp.</a:t>
            </a:r>
          </a:p>
        </p:txBody>
      </p:sp>
      <p:sp>
        <p:nvSpPr>
          <p:cNvPr id="48" name="TextBox 47"/>
          <p:cNvSpPr txBox="1"/>
          <p:nvPr/>
        </p:nvSpPr>
        <p:spPr>
          <a:xfrm>
            <a:off x="3221999" y="1170000"/>
            <a:ext cx="2592000" cy="180000"/>
          </a:xfrm>
          <a:prstGeom prst="rect">
            <a:avLst/>
          </a:prstGeom>
          <a:noFill/>
        </p:spPr>
        <p:txBody>
          <a:bodyPr wrap="square">
            <a:spAutoFit/>
          </a:bodyPr>
          <a:lstStyle/>
          <a:p>
            <a:pPr algn="l"/>
            <a:r>
              <a:rPr sz="750" b="0" i="0">
                <a:solidFill>
                  <a:srgbClr val="1B3A6B"/>
                </a:solidFill>
              </a:rPr>
              <a:t>Score : 65/100  ·  EV/EBITDA : 14.2x</a:t>
            </a:r>
          </a:p>
        </p:txBody>
      </p:sp>
      <p:sp>
        <p:nvSpPr>
          <p:cNvPr id="49" name="TextBox 48"/>
          <p:cNvSpPr txBox="1"/>
          <p:nvPr/>
        </p:nvSpPr>
        <p:spPr>
          <a:xfrm>
            <a:off x="3221999"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50" name="Rectangle 49"/>
          <p:cNvSpPr/>
          <p:nvPr/>
        </p:nvSpPr>
        <p:spPr>
          <a:xfrm>
            <a:off x="3221999"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94000" y="1620000"/>
            <a:ext cx="684000" cy="198000"/>
          </a:xfrm>
          <a:prstGeom prst="rect">
            <a:avLst/>
          </a:prstGeom>
          <a:noFill/>
        </p:spPr>
        <p:txBody>
          <a:bodyPr wrap="square">
            <a:spAutoFit/>
          </a:bodyPr>
          <a:lstStyle/>
          <a:p>
            <a:pPr algn="l"/>
            <a:r>
              <a:rPr sz="800" b="1" i="0">
                <a:solidFill>
                  <a:srgbClr val="1B3A6B"/>
                </a:solidFill>
              </a:rPr>
              <a:t>UNH</a:t>
            </a:r>
          </a:p>
        </p:txBody>
      </p:sp>
      <p:sp>
        <p:nvSpPr>
          <p:cNvPr id="52" name="TextBox 51"/>
          <p:cNvSpPr txBox="1"/>
          <p:nvPr/>
        </p:nvSpPr>
        <p:spPr>
          <a:xfrm>
            <a:off x="3978000" y="1620000"/>
            <a:ext cx="540000" cy="198000"/>
          </a:xfrm>
          <a:prstGeom prst="rect">
            <a:avLst/>
          </a:prstGeom>
          <a:noFill/>
        </p:spPr>
        <p:txBody>
          <a:bodyPr wrap="square">
            <a:spAutoFit/>
          </a:bodyPr>
          <a:lstStyle/>
          <a:p>
            <a:pPr algn="l"/>
            <a:r>
              <a:rPr sz="800" b="0" i="0">
                <a:solidFill>
                  <a:srgbClr val="1A7A4A"/>
                </a:solidFill>
              </a:rPr>
              <a:t>Surp.</a:t>
            </a:r>
          </a:p>
        </p:txBody>
      </p:sp>
      <p:sp>
        <p:nvSpPr>
          <p:cNvPr id="53" name="TextBox 52"/>
          <p:cNvSpPr txBox="1"/>
          <p:nvPr/>
        </p:nvSpPr>
        <p:spPr>
          <a:xfrm>
            <a:off x="4518000" y="1620000"/>
            <a:ext cx="540000" cy="198000"/>
          </a:xfrm>
          <a:prstGeom prst="rect">
            <a:avLst/>
          </a:prstGeom>
          <a:noFill/>
        </p:spPr>
        <p:txBody>
          <a:bodyPr wrap="square">
            <a:spAutoFit/>
          </a:bodyPr>
          <a:lstStyle/>
          <a:p>
            <a:pPr algn="l"/>
            <a:r>
              <a:rPr sz="800" b="0" i="0">
                <a:solidFill>
                  <a:srgbClr val="555555"/>
                </a:solidFill>
              </a:rPr>
              <a:t>10.8x</a:t>
            </a:r>
          </a:p>
        </p:txBody>
      </p:sp>
      <p:sp>
        <p:nvSpPr>
          <p:cNvPr id="54" name="TextBox 53"/>
          <p:cNvSpPr txBox="1"/>
          <p:nvPr/>
        </p:nvSpPr>
        <p:spPr>
          <a:xfrm>
            <a:off x="5058000" y="1620000"/>
            <a:ext cx="540000" cy="198000"/>
          </a:xfrm>
          <a:prstGeom prst="rect">
            <a:avLst/>
          </a:prstGeom>
          <a:noFill/>
        </p:spPr>
        <p:txBody>
          <a:bodyPr wrap="square">
            <a:spAutoFit/>
          </a:bodyPr>
          <a:lstStyle/>
          <a:p>
            <a:pPr algn="l"/>
            <a:r>
              <a:rPr sz="800" b="0" i="0">
                <a:solidFill>
                  <a:srgbClr val="555555"/>
                </a:solidFill>
              </a:rPr>
              <a:t>72</a:t>
            </a:r>
          </a:p>
        </p:txBody>
      </p:sp>
      <p:sp>
        <p:nvSpPr>
          <p:cNvPr id="55" name="Rectangle 54"/>
          <p:cNvSpPr/>
          <p:nvPr/>
        </p:nvSpPr>
        <p:spPr>
          <a:xfrm>
            <a:off x="3221999" y="18792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294000" y="1915200"/>
            <a:ext cx="684000" cy="198000"/>
          </a:xfrm>
          <a:prstGeom prst="rect">
            <a:avLst/>
          </a:prstGeom>
          <a:noFill/>
        </p:spPr>
        <p:txBody>
          <a:bodyPr wrap="square">
            <a:spAutoFit/>
          </a:bodyPr>
          <a:lstStyle/>
          <a:p>
            <a:pPr algn="l"/>
            <a:r>
              <a:rPr sz="800" b="1" i="0">
                <a:solidFill>
                  <a:srgbClr val="1B3A6B"/>
                </a:solidFill>
              </a:rPr>
              <a:t>LLY</a:t>
            </a:r>
          </a:p>
        </p:txBody>
      </p:sp>
      <p:sp>
        <p:nvSpPr>
          <p:cNvPr id="57" name="TextBox 56"/>
          <p:cNvSpPr txBox="1"/>
          <p:nvPr/>
        </p:nvSpPr>
        <p:spPr>
          <a:xfrm>
            <a:off x="3978000" y="1915200"/>
            <a:ext cx="540000" cy="198000"/>
          </a:xfrm>
          <a:prstGeom prst="rect">
            <a:avLst/>
          </a:prstGeom>
          <a:noFill/>
        </p:spPr>
        <p:txBody>
          <a:bodyPr wrap="square">
            <a:spAutoFit/>
          </a:bodyPr>
          <a:lstStyle/>
          <a:p>
            <a:pPr algn="l"/>
            <a:r>
              <a:rPr sz="800" b="0" i="0">
                <a:solidFill>
                  <a:srgbClr val="1A7A4A"/>
                </a:solidFill>
              </a:rPr>
              <a:t>Surp.</a:t>
            </a:r>
          </a:p>
        </p:txBody>
      </p:sp>
      <p:sp>
        <p:nvSpPr>
          <p:cNvPr id="58" name="TextBox 57"/>
          <p:cNvSpPr txBox="1"/>
          <p:nvPr/>
        </p:nvSpPr>
        <p:spPr>
          <a:xfrm>
            <a:off x="4518000" y="1915200"/>
            <a:ext cx="540000" cy="198000"/>
          </a:xfrm>
          <a:prstGeom prst="rect">
            <a:avLst/>
          </a:prstGeom>
          <a:noFill/>
        </p:spPr>
        <p:txBody>
          <a:bodyPr wrap="square">
            <a:spAutoFit/>
          </a:bodyPr>
          <a:lstStyle/>
          <a:p>
            <a:pPr algn="l"/>
            <a:r>
              <a:rPr sz="800" b="0" i="0">
                <a:solidFill>
                  <a:srgbClr val="555555"/>
                </a:solidFill>
              </a:rPr>
              <a:t>28.4x</a:t>
            </a:r>
          </a:p>
        </p:txBody>
      </p:sp>
      <p:sp>
        <p:nvSpPr>
          <p:cNvPr id="59" name="TextBox 58"/>
          <p:cNvSpPr txBox="1"/>
          <p:nvPr/>
        </p:nvSpPr>
        <p:spPr>
          <a:xfrm>
            <a:off x="5058000" y="1915200"/>
            <a:ext cx="540000" cy="198000"/>
          </a:xfrm>
          <a:prstGeom prst="rect">
            <a:avLst/>
          </a:prstGeom>
          <a:noFill/>
        </p:spPr>
        <p:txBody>
          <a:bodyPr wrap="square">
            <a:spAutoFit/>
          </a:bodyPr>
          <a:lstStyle/>
          <a:p>
            <a:pPr algn="l"/>
            <a:r>
              <a:rPr sz="800" b="0" i="0">
                <a:solidFill>
                  <a:srgbClr val="555555"/>
                </a:solidFill>
              </a:rPr>
              <a:t>80</a:t>
            </a:r>
          </a:p>
        </p:txBody>
      </p:sp>
      <p:sp>
        <p:nvSpPr>
          <p:cNvPr id="60" name="Rectangle 59"/>
          <p:cNvSpPr/>
          <p:nvPr/>
        </p:nvSpPr>
        <p:spPr>
          <a:xfrm>
            <a:off x="3221999" y="21744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294000" y="2210400"/>
            <a:ext cx="684000" cy="198000"/>
          </a:xfrm>
          <a:prstGeom prst="rect">
            <a:avLst/>
          </a:prstGeom>
          <a:noFill/>
        </p:spPr>
        <p:txBody>
          <a:bodyPr wrap="square">
            <a:spAutoFit/>
          </a:bodyPr>
          <a:lstStyle/>
          <a:p>
            <a:pPr algn="l"/>
            <a:r>
              <a:rPr sz="800" b="1" i="0">
                <a:solidFill>
                  <a:srgbClr val="1B3A6B"/>
                </a:solidFill>
              </a:rPr>
              <a:t>JNJ</a:t>
            </a:r>
          </a:p>
        </p:txBody>
      </p:sp>
      <p:sp>
        <p:nvSpPr>
          <p:cNvPr id="62" name="TextBox 61"/>
          <p:cNvSpPr txBox="1"/>
          <p:nvPr/>
        </p:nvSpPr>
        <p:spPr>
          <a:xfrm>
            <a:off x="3978000" y="2210400"/>
            <a:ext cx="540000" cy="198000"/>
          </a:xfrm>
          <a:prstGeom prst="rect">
            <a:avLst/>
          </a:prstGeom>
          <a:noFill/>
        </p:spPr>
        <p:txBody>
          <a:bodyPr wrap="square">
            <a:spAutoFit/>
          </a:bodyPr>
          <a:lstStyle/>
          <a:p>
            <a:pPr algn="l"/>
            <a:r>
              <a:rPr sz="800" b="0" i="0">
                <a:solidFill>
                  <a:srgbClr val="B06000"/>
                </a:solidFill>
              </a:rPr>
              <a:t>Neutre</a:t>
            </a:r>
          </a:p>
        </p:txBody>
      </p:sp>
      <p:sp>
        <p:nvSpPr>
          <p:cNvPr id="63" name="TextBox 62"/>
          <p:cNvSpPr txBox="1"/>
          <p:nvPr/>
        </p:nvSpPr>
        <p:spPr>
          <a:xfrm>
            <a:off x="4518000" y="2210400"/>
            <a:ext cx="540000" cy="198000"/>
          </a:xfrm>
          <a:prstGeom prst="rect">
            <a:avLst/>
          </a:prstGeom>
          <a:noFill/>
        </p:spPr>
        <p:txBody>
          <a:bodyPr wrap="square">
            <a:spAutoFit/>
          </a:bodyPr>
          <a:lstStyle/>
          <a:p>
            <a:pPr algn="l"/>
            <a:r>
              <a:rPr sz="800" b="0" i="0">
                <a:solidFill>
                  <a:srgbClr val="555555"/>
                </a:solidFill>
              </a:rPr>
              <a:t>12.6x</a:t>
            </a:r>
          </a:p>
        </p:txBody>
      </p:sp>
      <p:sp>
        <p:nvSpPr>
          <p:cNvPr id="64" name="TextBox 63"/>
          <p:cNvSpPr txBox="1"/>
          <p:nvPr/>
        </p:nvSpPr>
        <p:spPr>
          <a:xfrm>
            <a:off x="5058000" y="2210400"/>
            <a:ext cx="540000" cy="198000"/>
          </a:xfrm>
          <a:prstGeom prst="rect">
            <a:avLst/>
          </a:prstGeom>
          <a:noFill/>
        </p:spPr>
        <p:txBody>
          <a:bodyPr wrap="square">
            <a:spAutoFit/>
          </a:bodyPr>
          <a:lstStyle/>
          <a:p>
            <a:pPr algn="l"/>
            <a:r>
              <a:rPr sz="800" b="0" i="0">
                <a:solidFill>
                  <a:srgbClr val="555555"/>
                </a:solidFill>
              </a:rPr>
              <a:t>62</a:t>
            </a:r>
          </a:p>
        </p:txBody>
      </p:sp>
      <p:sp>
        <p:nvSpPr>
          <p:cNvPr id="65" name="TextBox 64"/>
          <p:cNvSpPr txBox="1"/>
          <p:nvPr/>
        </p:nvSpPr>
        <p:spPr>
          <a:xfrm>
            <a:off x="3221999"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66" name="Rectangle 65"/>
          <p:cNvSpPr/>
          <p:nvPr/>
        </p:nvSpPr>
        <p:spPr>
          <a:xfrm>
            <a:off x="3221999"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294000" y="2700000"/>
            <a:ext cx="2484000" cy="666000"/>
          </a:xfrm>
          <a:prstGeom prst="rect">
            <a:avLst/>
          </a:prstGeom>
          <a:noFill/>
        </p:spPr>
        <p:txBody>
          <a:bodyPr wrap="square">
            <a:spAutoFit/>
          </a:bodyPr>
          <a:lstStyle/>
          <a:p>
            <a:pPr algn="l"/>
            <a:r>
              <a:rPr sz="750" b="0" i="0">
                <a:solidFill>
                  <a:srgbClr val="555555"/>
                </a:solidFill>
              </a:rPr>
              <a:t>Pipeline FDA robuste, pricing power defensif intact</a:t>
            </a:r>
          </a:p>
        </p:txBody>
      </p:sp>
      <p:sp>
        <p:nvSpPr>
          <p:cNvPr id="68" name="TextBox 67"/>
          <p:cNvSpPr txBox="1"/>
          <p:nvPr/>
        </p:nvSpPr>
        <p:spPr>
          <a:xfrm>
            <a:off x="3221999"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69" name="Rectangle 68"/>
          <p:cNvSpPr/>
          <p:nvPr/>
        </p:nvSpPr>
        <p:spPr>
          <a:xfrm>
            <a:off x="3221999"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294000" y="3654000"/>
            <a:ext cx="2484000" cy="666000"/>
          </a:xfrm>
          <a:prstGeom prst="rect">
            <a:avLst/>
          </a:prstGeom>
          <a:noFill/>
        </p:spPr>
        <p:txBody>
          <a:bodyPr wrap="square">
            <a:spAutoFit/>
          </a:bodyPr>
          <a:lstStyle/>
          <a:p>
            <a:pPr algn="l"/>
            <a:r>
              <a:rPr sz="750" b="0" i="0">
                <a:solidFill>
                  <a:srgbClr val="555555"/>
                </a:solidFill>
              </a:rPr>
              <a:t>Risque reglementaire US — pression politique sur prix medicaments</a:t>
            </a:r>
          </a:p>
        </p:txBody>
      </p:sp>
      <p:sp>
        <p:nvSpPr>
          <p:cNvPr id="71" name="Rectangle 70"/>
          <p:cNvSpPr/>
          <p:nvPr/>
        </p:nvSpPr>
        <p:spPr>
          <a:xfrm>
            <a:off x="5975999"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975999"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047999" y="846000"/>
            <a:ext cx="1800000" cy="251999"/>
          </a:xfrm>
          <a:prstGeom prst="rect">
            <a:avLst/>
          </a:prstGeom>
          <a:noFill/>
        </p:spPr>
        <p:txBody>
          <a:bodyPr wrap="square">
            <a:spAutoFit/>
          </a:bodyPr>
          <a:lstStyle/>
          <a:p>
            <a:pPr algn="l"/>
            <a:r>
              <a:rPr sz="1000" b="1" i="0">
                <a:solidFill>
                  <a:srgbClr val="FFFFFF"/>
                </a:solidFill>
              </a:rPr>
              <a:t>Financials</a:t>
            </a:r>
          </a:p>
        </p:txBody>
      </p:sp>
      <p:sp>
        <p:nvSpPr>
          <p:cNvPr id="74" name="Rectangle 73"/>
          <p:cNvSpPr/>
          <p:nvPr/>
        </p:nvSpPr>
        <p:spPr>
          <a:xfrm>
            <a:off x="7955999"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992000" y="864000"/>
            <a:ext cx="612000" cy="198000"/>
          </a:xfrm>
          <a:prstGeom prst="rect">
            <a:avLst/>
          </a:prstGeom>
          <a:noFill/>
        </p:spPr>
        <p:txBody>
          <a:bodyPr wrap="square">
            <a:spAutoFit/>
          </a:bodyPr>
          <a:lstStyle/>
          <a:p>
            <a:pPr algn="ctr"/>
            <a:r>
              <a:rPr sz="750" b="1" i="0">
                <a:solidFill>
                  <a:srgbClr val="FFFFFF"/>
                </a:solidFill>
              </a:rPr>
              <a:t>Surp.</a:t>
            </a:r>
          </a:p>
        </p:txBody>
      </p:sp>
      <p:sp>
        <p:nvSpPr>
          <p:cNvPr id="76" name="TextBox 75"/>
          <p:cNvSpPr txBox="1"/>
          <p:nvPr/>
        </p:nvSpPr>
        <p:spPr>
          <a:xfrm>
            <a:off x="6047999" y="1170000"/>
            <a:ext cx="2592000" cy="180000"/>
          </a:xfrm>
          <a:prstGeom prst="rect">
            <a:avLst/>
          </a:prstGeom>
          <a:noFill/>
        </p:spPr>
        <p:txBody>
          <a:bodyPr wrap="square">
            <a:spAutoFit/>
          </a:bodyPr>
          <a:lstStyle/>
          <a:p>
            <a:pPr algn="l"/>
            <a:r>
              <a:rPr sz="750" b="0" i="0">
                <a:solidFill>
                  <a:srgbClr val="1B3A6B"/>
                </a:solidFill>
              </a:rPr>
              <a:t>Score : 62/100  ·  EV/EBITDA : 9.8x</a:t>
            </a:r>
          </a:p>
        </p:txBody>
      </p:sp>
      <p:sp>
        <p:nvSpPr>
          <p:cNvPr id="77" name="TextBox 76"/>
          <p:cNvSpPr txBox="1"/>
          <p:nvPr/>
        </p:nvSpPr>
        <p:spPr>
          <a:xfrm>
            <a:off x="6047999"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78" name="Rectangle 77"/>
          <p:cNvSpPr/>
          <p:nvPr/>
        </p:nvSpPr>
        <p:spPr>
          <a:xfrm>
            <a:off x="6047999"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119999" y="1620000"/>
            <a:ext cx="684000" cy="198000"/>
          </a:xfrm>
          <a:prstGeom prst="rect">
            <a:avLst/>
          </a:prstGeom>
          <a:noFill/>
        </p:spPr>
        <p:txBody>
          <a:bodyPr wrap="square">
            <a:spAutoFit/>
          </a:bodyPr>
          <a:lstStyle/>
          <a:p>
            <a:pPr algn="l"/>
            <a:r>
              <a:rPr sz="800" b="1" i="0">
                <a:solidFill>
                  <a:srgbClr val="1B3A6B"/>
                </a:solidFill>
              </a:rPr>
              <a:t>JPM</a:t>
            </a:r>
          </a:p>
        </p:txBody>
      </p:sp>
      <p:sp>
        <p:nvSpPr>
          <p:cNvPr id="80" name="TextBox 79"/>
          <p:cNvSpPr txBox="1"/>
          <p:nvPr/>
        </p:nvSpPr>
        <p:spPr>
          <a:xfrm>
            <a:off x="6803999" y="1620000"/>
            <a:ext cx="540000" cy="198000"/>
          </a:xfrm>
          <a:prstGeom prst="rect">
            <a:avLst/>
          </a:prstGeom>
          <a:noFill/>
        </p:spPr>
        <p:txBody>
          <a:bodyPr wrap="square">
            <a:spAutoFit/>
          </a:bodyPr>
          <a:lstStyle/>
          <a:p>
            <a:pPr algn="l"/>
            <a:r>
              <a:rPr sz="800" b="0" i="0">
                <a:solidFill>
                  <a:srgbClr val="1A7A4A"/>
                </a:solidFill>
              </a:rPr>
              <a:t>Surp.</a:t>
            </a:r>
          </a:p>
        </p:txBody>
      </p:sp>
      <p:sp>
        <p:nvSpPr>
          <p:cNvPr id="81" name="TextBox 80"/>
          <p:cNvSpPr txBox="1"/>
          <p:nvPr/>
        </p:nvSpPr>
        <p:spPr>
          <a:xfrm>
            <a:off x="7343999" y="1620000"/>
            <a:ext cx="540000" cy="198000"/>
          </a:xfrm>
          <a:prstGeom prst="rect">
            <a:avLst/>
          </a:prstGeom>
          <a:noFill/>
        </p:spPr>
        <p:txBody>
          <a:bodyPr wrap="square">
            <a:spAutoFit/>
          </a:bodyPr>
          <a:lstStyle/>
          <a:p>
            <a:pPr algn="l"/>
            <a:r>
              <a:rPr sz="800" b="0" i="0">
                <a:solidFill>
                  <a:srgbClr val="555555"/>
                </a:solidFill>
              </a:rPr>
              <a:t>8.4x</a:t>
            </a:r>
          </a:p>
        </p:txBody>
      </p:sp>
      <p:sp>
        <p:nvSpPr>
          <p:cNvPr id="82" name="TextBox 81"/>
          <p:cNvSpPr txBox="1"/>
          <p:nvPr/>
        </p:nvSpPr>
        <p:spPr>
          <a:xfrm>
            <a:off x="7883999" y="1620000"/>
            <a:ext cx="540000" cy="198000"/>
          </a:xfrm>
          <a:prstGeom prst="rect">
            <a:avLst/>
          </a:prstGeom>
          <a:noFill/>
        </p:spPr>
        <p:txBody>
          <a:bodyPr wrap="square">
            <a:spAutoFit/>
          </a:bodyPr>
          <a:lstStyle/>
          <a:p>
            <a:pPr algn="l"/>
            <a:r>
              <a:rPr sz="800" b="0" i="0">
                <a:solidFill>
                  <a:srgbClr val="555555"/>
                </a:solidFill>
              </a:rPr>
              <a:t>70</a:t>
            </a:r>
          </a:p>
        </p:txBody>
      </p:sp>
      <p:sp>
        <p:nvSpPr>
          <p:cNvPr id="83" name="Rectangle 82"/>
          <p:cNvSpPr/>
          <p:nvPr/>
        </p:nvSpPr>
        <p:spPr>
          <a:xfrm>
            <a:off x="6047999" y="18792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119999" y="1915200"/>
            <a:ext cx="684000" cy="198000"/>
          </a:xfrm>
          <a:prstGeom prst="rect">
            <a:avLst/>
          </a:prstGeom>
          <a:noFill/>
        </p:spPr>
        <p:txBody>
          <a:bodyPr wrap="square">
            <a:spAutoFit/>
          </a:bodyPr>
          <a:lstStyle/>
          <a:p>
            <a:pPr algn="l"/>
            <a:r>
              <a:rPr sz="800" b="1" i="0">
                <a:solidFill>
                  <a:srgbClr val="1B3A6B"/>
                </a:solidFill>
              </a:rPr>
              <a:t>BLK</a:t>
            </a:r>
          </a:p>
        </p:txBody>
      </p:sp>
      <p:sp>
        <p:nvSpPr>
          <p:cNvPr id="85" name="TextBox 84"/>
          <p:cNvSpPr txBox="1"/>
          <p:nvPr/>
        </p:nvSpPr>
        <p:spPr>
          <a:xfrm>
            <a:off x="6803999" y="1915200"/>
            <a:ext cx="540000" cy="198000"/>
          </a:xfrm>
          <a:prstGeom prst="rect">
            <a:avLst/>
          </a:prstGeom>
          <a:noFill/>
        </p:spPr>
        <p:txBody>
          <a:bodyPr wrap="square">
            <a:spAutoFit/>
          </a:bodyPr>
          <a:lstStyle/>
          <a:p>
            <a:pPr algn="l"/>
            <a:r>
              <a:rPr sz="800" b="0" i="0">
                <a:solidFill>
                  <a:srgbClr val="1A7A4A"/>
                </a:solidFill>
              </a:rPr>
              <a:t>Surp.</a:t>
            </a:r>
          </a:p>
        </p:txBody>
      </p:sp>
      <p:sp>
        <p:nvSpPr>
          <p:cNvPr id="86" name="TextBox 85"/>
          <p:cNvSpPr txBox="1"/>
          <p:nvPr/>
        </p:nvSpPr>
        <p:spPr>
          <a:xfrm>
            <a:off x="7343999" y="1915200"/>
            <a:ext cx="540000" cy="198000"/>
          </a:xfrm>
          <a:prstGeom prst="rect">
            <a:avLst/>
          </a:prstGeom>
          <a:noFill/>
        </p:spPr>
        <p:txBody>
          <a:bodyPr wrap="square">
            <a:spAutoFit/>
          </a:bodyPr>
          <a:lstStyle/>
          <a:p>
            <a:pPr algn="l"/>
            <a:r>
              <a:rPr sz="800" b="0" i="0">
                <a:solidFill>
                  <a:srgbClr val="555555"/>
                </a:solidFill>
              </a:rPr>
              <a:t>14.2x</a:t>
            </a:r>
          </a:p>
        </p:txBody>
      </p:sp>
      <p:sp>
        <p:nvSpPr>
          <p:cNvPr id="87" name="TextBox 86"/>
          <p:cNvSpPr txBox="1"/>
          <p:nvPr/>
        </p:nvSpPr>
        <p:spPr>
          <a:xfrm>
            <a:off x="7883999" y="1915200"/>
            <a:ext cx="540000" cy="198000"/>
          </a:xfrm>
          <a:prstGeom prst="rect">
            <a:avLst/>
          </a:prstGeom>
          <a:noFill/>
        </p:spPr>
        <p:txBody>
          <a:bodyPr wrap="square">
            <a:spAutoFit/>
          </a:bodyPr>
          <a:lstStyle/>
          <a:p>
            <a:pPr algn="l"/>
            <a:r>
              <a:rPr sz="800" b="0" i="0">
                <a:solidFill>
                  <a:srgbClr val="555555"/>
                </a:solidFill>
              </a:rPr>
              <a:t>68</a:t>
            </a:r>
          </a:p>
        </p:txBody>
      </p:sp>
      <p:sp>
        <p:nvSpPr>
          <p:cNvPr id="88" name="Rectangle 87"/>
          <p:cNvSpPr/>
          <p:nvPr/>
        </p:nvSpPr>
        <p:spPr>
          <a:xfrm>
            <a:off x="6047999" y="21744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119999" y="2210400"/>
            <a:ext cx="684000" cy="198000"/>
          </a:xfrm>
          <a:prstGeom prst="rect">
            <a:avLst/>
          </a:prstGeom>
          <a:noFill/>
        </p:spPr>
        <p:txBody>
          <a:bodyPr wrap="square">
            <a:spAutoFit/>
          </a:bodyPr>
          <a:lstStyle/>
          <a:p>
            <a:pPr algn="l"/>
            <a:r>
              <a:rPr sz="800" b="1" i="0">
                <a:solidFill>
                  <a:srgbClr val="1B3A6B"/>
                </a:solidFill>
              </a:rPr>
              <a:t>GS</a:t>
            </a:r>
          </a:p>
        </p:txBody>
      </p:sp>
      <p:sp>
        <p:nvSpPr>
          <p:cNvPr id="90" name="TextBox 89"/>
          <p:cNvSpPr txBox="1"/>
          <p:nvPr/>
        </p:nvSpPr>
        <p:spPr>
          <a:xfrm>
            <a:off x="6803999" y="2210400"/>
            <a:ext cx="540000" cy="198000"/>
          </a:xfrm>
          <a:prstGeom prst="rect">
            <a:avLst/>
          </a:prstGeom>
          <a:noFill/>
        </p:spPr>
        <p:txBody>
          <a:bodyPr wrap="square">
            <a:spAutoFit/>
          </a:bodyPr>
          <a:lstStyle/>
          <a:p>
            <a:pPr algn="l"/>
            <a:r>
              <a:rPr sz="800" b="0" i="0">
                <a:solidFill>
                  <a:srgbClr val="B06000"/>
                </a:solidFill>
              </a:rPr>
              <a:t>Neutre</a:t>
            </a:r>
          </a:p>
        </p:txBody>
      </p:sp>
      <p:sp>
        <p:nvSpPr>
          <p:cNvPr id="91" name="TextBox 90"/>
          <p:cNvSpPr txBox="1"/>
          <p:nvPr/>
        </p:nvSpPr>
        <p:spPr>
          <a:xfrm>
            <a:off x="7343999" y="2210400"/>
            <a:ext cx="540000" cy="198000"/>
          </a:xfrm>
          <a:prstGeom prst="rect">
            <a:avLst/>
          </a:prstGeom>
          <a:noFill/>
        </p:spPr>
        <p:txBody>
          <a:bodyPr wrap="square">
            <a:spAutoFit/>
          </a:bodyPr>
          <a:lstStyle/>
          <a:p>
            <a:pPr algn="l"/>
            <a:r>
              <a:rPr sz="800" b="0" i="0">
                <a:solidFill>
                  <a:srgbClr val="555555"/>
                </a:solidFill>
              </a:rPr>
              <a:t>9.8x</a:t>
            </a:r>
          </a:p>
        </p:txBody>
      </p:sp>
      <p:sp>
        <p:nvSpPr>
          <p:cNvPr id="92" name="TextBox 91"/>
          <p:cNvSpPr txBox="1"/>
          <p:nvPr/>
        </p:nvSpPr>
        <p:spPr>
          <a:xfrm>
            <a:off x="7883999" y="2210400"/>
            <a:ext cx="540000" cy="198000"/>
          </a:xfrm>
          <a:prstGeom prst="rect">
            <a:avLst/>
          </a:prstGeom>
          <a:noFill/>
        </p:spPr>
        <p:txBody>
          <a:bodyPr wrap="square">
            <a:spAutoFit/>
          </a:bodyPr>
          <a:lstStyle/>
          <a:p>
            <a:pPr algn="l"/>
            <a:r>
              <a:rPr sz="800" b="0" i="0">
                <a:solidFill>
                  <a:srgbClr val="555555"/>
                </a:solidFill>
              </a:rPr>
              <a:t>60</a:t>
            </a:r>
          </a:p>
        </p:txBody>
      </p:sp>
      <p:sp>
        <p:nvSpPr>
          <p:cNvPr id="93" name="TextBox 92"/>
          <p:cNvSpPr txBox="1"/>
          <p:nvPr/>
        </p:nvSpPr>
        <p:spPr>
          <a:xfrm>
            <a:off x="6047999"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94" name="Rectangle 93"/>
          <p:cNvSpPr/>
          <p:nvPr/>
        </p:nvSpPr>
        <p:spPr>
          <a:xfrm>
            <a:off x="6047999"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119999" y="2700000"/>
            <a:ext cx="2484000" cy="666000"/>
          </a:xfrm>
          <a:prstGeom prst="rect">
            <a:avLst/>
          </a:prstGeom>
          <a:noFill/>
        </p:spPr>
        <p:txBody>
          <a:bodyPr wrap="square">
            <a:spAutoFit/>
          </a:bodyPr>
          <a:lstStyle/>
          <a:p>
            <a:pPr algn="l"/>
            <a:r>
              <a:rPr sz="750" b="0" i="0">
                <a:solidFill>
                  <a:srgbClr val="555555"/>
                </a:solidFill>
              </a:rPr>
              <a:t>Spreads de credit solides, NIM eleves, buybacks soutenus</a:t>
            </a:r>
          </a:p>
        </p:txBody>
      </p:sp>
      <p:sp>
        <p:nvSpPr>
          <p:cNvPr id="96" name="TextBox 95"/>
          <p:cNvSpPr txBox="1"/>
          <p:nvPr/>
        </p:nvSpPr>
        <p:spPr>
          <a:xfrm>
            <a:off x="6047999"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97" name="Rectangle 96"/>
          <p:cNvSpPr/>
          <p:nvPr/>
        </p:nvSpPr>
        <p:spPr>
          <a:xfrm>
            <a:off x="6047999"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119999" y="3654000"/>
            <a:ext cx="2484000" cy="666000"/>
          </a:xfrm>
          <a:prstGeom prst="rect">
            <a:avLst/>
          </a:prstGeom>
          <a:noFill/>
        </p:spPr>
        <p:txBody>
          <a:bodyPr wrap="square">
            <a:spAutoFit/>
          </a:bodyPr>
          <a:lstStyle/>
          <a:p>
            <a:pPr algn="l"/>
            <a:r>
              <a:rPr sz="750" b="0" i="0">
                <a:solidFill>
                  <a:srgbClr val="555555"/>
                </a:solidFill>
              </a:rPr>
              <a:t>Stress immobilier commercial — CRE loans sous surveillance</a:t>
            </a:r>
          </a:p>
        </p:txBody>
      </p:sp>
      <p:sp>
        <p:nvSpPr>
          <p:cNvPr id="99" name="Rectangle 9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Allocation Optimale — Markowitz</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Min-Variance · Tangency (Max Sharpe) · Equal Risk Contribution  ·  ETF SPDR sectoriels 52S</a:t>
            </a:r>
          </a:p>
        </p:txBody>
      </p:sp>
      <p:sp>
        <p:nvSpPr>
          <p:cNvPr id="15" name="Rectangle 14"/>
          <p:cNvSpPr/>
          <p:nvPr/>
        </p:nvSpPr>
        <p:spPr>
          <a:xfrm>
            <a:off x="324000" y="900000"/>
            <a:ext cx="8496000" cy="16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43200" cy="162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36000"/>
            <a:ext cx="8280000" cy="251999"/>
          </a:xfrm>
          <a:prstGeom prst="rect">
            <a:avLst/>
          </a:prstGeom>
          <a:noFill/>
        </p:spPr>
        <p:txBody>
          <a:bodyPr wrap="square">
            <a:spAutoFit/>
          </a:bodyPr>
          <a:lstStyle/>
          <a:p>
            <a:pPr algn="l"/>
            <a:r>
              <a:rPr sz="1100" b="1" i="0">
                <a:solidFill>
                  <a:srgbClr val="1B3A6B"/>
                </a:solidFill>
              </a:rPr>
              <a:t>Optimisation non disponible pour cet indice</a:t>
            </a:r>
          </a:p>
        </p:txBody>
      </p:sp>
      <p:sp>
        <p:nvSpPr>
          <p:cNvPr id="18" name="TextBox 17"/>
          <p:cNvSpPr txBox="1"/>
          <p:nvPr/>
        </p:nvSpPr>
        <p:spPr>
          <a:xfrm>
            <a:off x="432000" y="1224000"/>
            <a:ext cx="8280000" cy="1188000"/>
          </a:xfrm>
          <a:prstGeom prst="rect">
            <a:avLst/>
          </a:prstGeom>
          <a:noFill/>
        </p:spPr>
        <p:txBody>
          <a:bodyPr wrap="square">
            <a:spAutoFit/>
          </a:bodyPr>
          <a:lstStyle/>
          <a:p>
            <a:pPr algn="l"/>
            <a:r>
              <a:rPr sz="900" b="0" i="0">
                <a:solidFill>
                  <a:srgbClr val="555555"/>
                </a:solidFill>
              </a:rPr>
              <a:t>L'optimisation de portefeuille Markowitz repose sur les ETF SPDR sectoriels (XLK, XLV, XLF...) qui ne couvrent que le marche US (S&amp;P 500). Pour les indices europeens (CAC 40, DAX, Euro Stoxx), les proxies sectoriels equivalents ne sont pas disponibles via yfinance. L'optimisation est donc calculee uniquement lors d'une analyse S&amp;P 500.</a:t>
            </a:r>
          </a:p>
        </p:txBody>
      </p:sp>
      <p:sp>
        <p:nvSpPr>
          <p:cNvPr id="19" name="Rectangle 18"/>
          <p:cNvSpPr/>
          <p:nvPr/>
        </p:nvSpPr>
        <p:spPr>
          <a:xfrm>
            <a:off x="324000" y="2700000"/>
            <a:ext cx="8496000" cy="21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6000" y="2718000"/>
            <a:ext cx="8280000" cy="180000"/>
          </a:xfrm>
          <a:prstGeom prst="rect">
            <a:avLst/>
          </a:prstGeom>
          <a:noFill/>
        </p:spPr>
        <p:txBody>
          <a:bodyPr wrap="square">
            <a:spAutoFit/>
          </a:bodyPr>
          <a:lstStyle/>
          <a:p>
            <a:pPr algn="l"/>
            <a:r>
              <a:rPr sz="800" b="1" i="0">
                <a:solidFill>
                  <a:srgbClr val="FFFFFF"/>
                </a:solidFill>
              </a:rPr>
              <a:t>POSITIONNEMENT SECTORIEL RECOMMANDE (sans optimisation quantitative)</a:t>
            </a:r>
          </a:p>
        </p:txBody>
      </p:sp>
      <p:sp>
        <p:nvSpPr>
          <p:cNvPr id="21" name="Rectangle 20"/>
          <p:cNvSpPr/>
          <p:nvPr/>
        </p:nvSpPr>
        <p:spPr>
          <a:xfrm>
            <a:off x="324000" y="2934000"/>
            <a:ext cx="4104000" cy="14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2934000"/>
            <a:ext cx="36000" cy="14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6000" y="2951999"/>
            <a:ext cx="3924000" cy="162000"/>
          </a:xfrm>
          <a:prstGeom prst="rect">
            <a:avLst/>
          </a:prstGeom>
          <a:noFill/>
        </p:spPr>
        <p:txBody>
          <a:bodyPr wrap="square">
            <a:spAutoFit/>
          </a:bodyPr>
          <a:lstStyle/>
          <a:p>
            <a:pPr algn="l"/>
            <a:r>
              <a:rPr sz="750" b="1" i="0">
                <a:solidFill>
                  <a:srgbClr val="1A7A4A"/>
                </a:solidFill>
              </a:rPr>
              <a:t>SURPONDERER</a:t>
            </a:r>
          </a:p>
        </p:txBody>
      </p:sp>
      <p:sp>
        <p:nvSpPr>
          <p:cNvPr id="24" name="TextBox 23"/>
          <p:cNvSpPr txBox="1"/>
          <p:nvPr/>
        </p:nvSpPr>
        <p:spPr>
          <a:xfrm>
            <a:off x="432000" y="3131999"/>
            <a:ext cx="3888000" cy="234000"/>
          </a:xfrm>
          <a:prstGeom prst="rect">
            <a:avLst/>
          </a:prstGeom>
          <a:noFill/>
        </p:spPr>
        <p:txBody>
          <a:bodyPr wrap="square">
            <a:spAutoFit/>
          </a:bodyPr>
          <a:lstStyle/>
          <a:p>
            <a:pPr algn="l"/>
            <a:r>
              <a:rPr sz="800" b="0" i="0">
                <a:solidFill>
                  <a:srgbClr val="555555"/>
                </a:solidFill>
              </a:rPr>
              <a:t>• Technology — score 72/100</a:t>
            </a:r>
          </a:p>
        </p:txBody>
      </p:sp>
      <p:sp>
        <p:nvSpPr>
          <p:cNvPr id="25" name="TextBox 24"/>
          <p:cNvSpPr txBox="1"/>
          <p:nvPr/>
        </p:nvSpPr>
        <p:spPr>
          <a:xfrm>
            <a:off x="432000" y="3401999"/>
            <a:ext cx="3888000" cy="234000"/>
          </a:xfrm>
          <a:prstGeom prst="rect">
            <a:avLst/>
          </a:prstGeom>
          <a:noFill/>
        </p:spPr>
        <p:txBody>
          <a:bodyPr wrap="square">
            <a:spAutoFit/>
          </a:bodyPr>
          <a:lstStyle/>
          <a:p>
            <a:pPr algn="l"/>
            <a:r>
              <a:rPr sz="800" b="0" i="0">
                <a:solidFill>
                  <a:srgbClr val="555555"/>
                </a:solidFill>
              </a:rPr>
              <a:t>• Health Care — score 65/100</a:t>
            </a:r>
          </a:p>
        </p:txBody>
      </p:sp>
      <p:sp>
        <p:nvSpPr>
          <p:cNvPr id="26" name="TextBox 25"/>
          <p:cNvSpPr txBox="1"/>
          <p:nvPr/>
        </p:nvSpPr>
        <p:spPr>
          <a:xfrm>
            <a:off x="432000" y="3671999"/>
            <a:ext cx="3888000" cy="234000"/>
          </a:xfrm>
          <a:prstGeom prst="rect">
            <a:avLst/>
          </a:prstGeom>
          <a:noFill/>
        </p:spPr>
        <p:txBody>
          <a:bodyPr wrap="square">
            <a:spAutoFit/>
          </a:bodyPr>
          <a:lstStyle/>
          <a:p>
            <a:pPr algn="l"/>
            <a:r>
              <a:rPr sz="800" b="0" i="0">
                <a:solidFill>
                  <a:srgbClr val="555555"/>
                </a:solidFill>
              </a:rPr>
              <a:t>• Financials — score 62/100</a:t>
            </a:r>
          </a:p>
        </p:txBody>
      </p:sp>
      <p:sp>
        <p:nvSpPr>
          <p:cNvPr id="27" name="Rectangle 26"/>
          <p:cNvSpPr/>
          <p:nvPr/>
        </p:nvSpPr>
        <p:spPr>
          <a:xfrm>
            <a:off x="4716000" y="2934000"/>
            <a:ext cx="4104000" cy="14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716000" y="2934000"/>
            <a:ext cx="36000" cy="14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88000" y="2951999"/>
            <a:ext cx="3924000" cy="162000"/>
          </a:xfrm>
          <a:prstGeom prst="rect">
            <a:avLst/>
          </a:prstGeom>
          <a:noFill/>
        </p:spPr>
        <p:txBody>
          <a:bodyPr wrap="square">
            <a:spAutoFit/>
          </a:bodyPr>
          <a:lstStyle/>
          <a:p>
            <a:pPr algn="l"/>
            <a:r>
              <a:rPr sz="750" b="1" i="0">
                <a:solidFill>
                  <a:srgbClr val="A82020"/>
                </a:solidFill>
              </a:rPr>
              <a:t>SOUS-PONDERER</a:t>
            </a:r>
          </a:p>
        </p:txBody>
      </p:sp>
      <p:sp>
        <p:nvSpPr>
          <p:cNvPr id="30" name="TextBox 29"/>
          <p:cNvSpPr txBox="1"/>
          <p:nvPr/>
        </p:nvSpPr>
        <p:spPr>
          <a:xfrm>
            <a:off x="4824000" y="3131999"/>
            <a:ext cx="3888000" cy="234000"/>
          </a:xfrm>
          <a:prstGeom prst="rect">
            <a:avLst/>
          </a:prstGeom>
          <a:noFill/>
        </p:spPr>
        <p:txBody>
          <a:bodyPr wrap="square">
            <a:spAutoFit/>
          </a:bodyPr>
          <a:lstStyle/>
          <a:p>
            <a:pPr algn="l"/>
            <a:r>
              <a:rPr sz="800" b="0" i="0">
                <a:solidFill>
                  <a:srgbClr val="555555"/>
                </a:solidFill>
              </a:rPr>
              <a:t>• Real Estate — score 38/100</a:t>
            </a:r>
          </a:p>
        </p:txBody>
      </p:sp>
      <p:sp>
        <p:nvSpPr>
          <p:cNvPr id="31" name="TextBox 30"/>
          <p:cNvSpPr txBox="1"/>
          <p:nvPr/>
        </p:nvSpPr>
        <p:spPr>
          <a:xfrm>
            <a:off x="4824000" y="3401999"/>
            <a:ext cx="3888000" cy="234000"/>
          </a:xfrm>
          <a:prstGeom prst="rect">
            <a:avLst/>
          </a:prstGeom>
          <a:noFill/>
        </p:spPr>
        <p:txBody>
          <a:bodyPr wrap="square">
            <a:spAutoFit/>
          </a:bodyPr>
          <a:lstStyle/>
          <a:p>
            <a:pPr algn="l"/>
            <a:r>
              <a:rPr sz="800" b="0" i="0">
                <a:solidFill>
                  <a:srgbClr val="555555"/>
                </a:solidFill>
              </a:rPr>
              <a:t>• Utilities — score 36/100</a:t>
            </a:r>
          </a:p>
        </p:txBody>
      </p:sp>
      <p:sp>
        <p:nvSpPr>
          <p:cNvPr id="32" name="Rectangle 3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d'Entrée Optimale par Secteur</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P/E actuel vs médiane historique 10 ans  ·  Signal d'entree Accumuler / Neutre / Alleger</a:t>
            </a:r>
          </a:p>
        </p:txBody>
      </p:sp>
      <p:pic>
        <p:nvPicPr>
          <p:cNvPr id="15" name="Picture 14" descr="image.png"/>
          <p:cNvPicPr>
            <a:picLocks noChangeAspect="1"/>
          </p:cNvPicPr>
          <p:nvPr/>
        </p:nvPicPr>
        <p:blipFill>
          <a:blip r:embed="rId2"/>
          <a:stretch>
            <a:fillRect/>
          </a:stretch>
        </p:blipFill>
        <p:spPr>
          <a:xfrm>
            <a:off x="324000" y="827999"/>
            <a:ext cx="5400000" cy="3780000"/>
          </a:xfrm>
          <a:prstGeom prst="rect">
            <a:avLst/>
          </a:prstGeom>
        </p:spPr>
      </p:pic>
      <p:sp>
        <p:nvSpPr>
          <p:cNvPr id="16" name="Rectangle 15"/>
          <p:cNvSpPr/>
          <p:nvPr/>
        </p:nvSpPr>
        <p:spPr>
          <a:xfrm>
            <a:off x="5868000" y="827999"/>
            <a:ext cx="2916000" cy="37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68000" y="827999"/>
            <a:ext cx="43200" cy="37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76000" y="864000"/>
            <a:ext cx="2736000" cy="216000"/>
          </a:xfrm>
          <a:prstGeom prst="rect">
            <a:avLst/>
          </a:prstGeom>
          <a:noFill/>
        </p:spPr>
        <p:txBody>
          <a:bodyPr wrap="square">
            <a:spAutoFit/>
          </a:bodyPr>
          <a:lstStyle/>
          <a:p>
            <a:pPr algn="l"/>
            <a:r>
              <a:rPr sz="850" b="1" i="0">
                <a:solidFill>
                  <a:srgbClr val="1B3A6B"/>
                </a:solidFill>
              </a:rPr>
              <a:t>Lecture — Zone d'entrée</a:t>
            </a:r>
          </a:p>
        </p:txBody>
      </p:sp>
      <p:sp>
        <p:nvSpPr>
          <p:cNvPr id="19" name="TextBox 18"/>
          <p:cNvSpPr txBox="1"/>
          <p:nvPr/>
        </p:nvSpPr>
        <p:spPr>
          <a:xfrm>
            <a:off x="5976000" y="1116000"/>
            <a:ext cx="2736000" cy="3420000"/>
          </a:xfrm>
          <a:prstGeom prst="rect">
            <a:avLst/>
          </a:prstGeom>
          <a:noFill/>
        </p:spPr>
        <p:txBody>
          <a:bodyPr wrap="square">
            <a:spAutoFit/>
          </a:bodyPr>
          <a:lstStyle/>
          <a:p>
            <a:pPr algn="l"/>
            <a:r>
              <a:rPr sz="750" b="0" i="0">
                <a:solidFill>
                  <a:srgbClr val="555555"/>
                </a:solidFill>
              </a:rPr>
              <a:t>PE mediane 10 ans : 18.2x
PE Forward indice : 21.5x
Zone d'entrée favorable (PE &lt; mediane) :
Financials
Zone de prudence (PE &gt; mediane +15 %) :
Technology
Methodologie : le PE Forward estime est ancre sur le PE global de l'indice ajuste du score sectoriel (+/- ecart). Les secteurs a gauche de la ligne pointillee (mediane 10 ans) offrent un meilleur point d'entree. Un ecart &gt; +20 % vs la mediane justifie une prudence accrue sur le timing.</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Rotation &amp; Sentiment</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Scénarios alternatifs · Rotation sectorielle · FinBERT · Performance ETF</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Macro &amp; Scénarios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adversariale  ·  3 scénarios alternatifs  ·  Conditions d'invalidation du signal Neutre</a:t>
            </a:r>
          </a:p>
        </p:txBody>
      </p:sp>
      <p:sp>
        <p:nvSpPr>
          <p:cNvPr id="15" name="Rectangle 14"/>
          <p:cNvSpPr/>
          <p:nvPr/>
        </p:nvSpPr>
        <p:spPr>
          <a:xfrm>
            <a:off x="324000"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700000" cy="30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1800000" cy="270000"/>
          </a:xfrm>
          <a:prstGeom prst="rect">
            <a:avLst/>
          </a:prstGeom>
          <a:noFill/>
        </p:spPr>
        <p:txBody>
          <a:bodyPr wrap="square">
            <a:spAutoFit/>
          </a:bodyPr>
          <a:lstStyle/>
          <a:p>
            <a:pPr algn="l"/>
            <a:r>
              <a:rPr sz="900" b="1" i="0">
                <a:solidFill>
                  <a:srgbClr val="FFFFFF"/>
                </a:solidFill>
              </a:rPr>
              <a:t>Récession technique</a:t>
            </a:r>
          </a:p>
        </p:txBody>
      </p:sp>
      <p:sp>
        <p:nvSpPr>
          <p:cNvPr id="18" name="TextBox 17"/>
          <p:cNvSpPr txBox="1"/>
          <p:nvPr/>
        </p:nvSpPr>
        <p:spPr>
          <a:xfrm>
            <a:off x="2232000" y="864000"/>
            <a:ext cx="720000" cy="234000"/>
          </a:xfrm>
          <a:prstGeom prst="rect">
            <a:avLst/>
          </a:prstGeom>
          <a:noFill/>
        </p:spPr>
        <p:txBody>
          <a:bodyPr wrap="square">
            <a:spAutoFit/>
          </a:bodyPr>
          <a:lstStyle/>
          <a:p>
            <a:pPr algn="r"/>
            <a:r>
              <a:rPr sz="900" b="1" i="0">
                <a:solidFill>
                  <a:srgbClr val="FFFFFF"/>
                </a:solidFill>
              </a:rPr>
              <a:t>Prob. 18 %</a:t>
            </a:r>
          </a:p>
        </p:txBody>
      </p:sp>
      <p:sp>
        <p:nvSpPr>
          <p:cNvPr id="19" name="TextBox 18"/>
          <p:cNvSpPr txBox="1"/>
          <p:nvPr/>
        </p:nvSpPr>
        <p:spPr>
          <a:xfrm>
            <a:off x="396000" y="1170000"/>
            <a:ext cx="2592000" cy="1152000"/>
          </a:xfrm>
          <a:prstGeom prst="rect">
            <a:avLst/>
          </a:prstGeom>
          <a:noFill/>
        </p:spPr>
        <p:txBody>
          <a:bodyPr wrap="square">
            <a:spAutoFit/>
          </a:bodyPr>
          <a:lstStyle/>
          <a:p>
            <a:pPr algn="l"/>
            <a:r>
              <a:rPr sz="800" b="0" i="0">
                <a:solidFill>
                  <a:srgbClr val="555555"/>
                </a:solidFill>
              </a:rPr>
              <a:t>Deux trimestres PIB &lt; 0 % — révision BPA -15/-20 %. Signal passerait Sous-pondérer.</a:t>
            </a:r>
          </a:p>
        </p:txBody>
      </p:sp>
      <p:sp>
        <p:nvSpPr>
          <p:cNvPr id="20" name="Rectangle 19"/>
          <p:cNvSpPr/>
          <p:nvPr/>
        </p:nvSpPr>
        <p:spPr>
          <a:xfrm>
            <a:off x="3150000"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150000" y="827999"/>
            <a:ext cx="2700000" cy="30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1999" y="846000"/>
            <a:ext cx="1800000" cy="270000"/>
          </a:xfrm>
          <a:prstGeom prst="rect">
            <a:avLst/>
          </a:prstGeom>
          <a:noFill/>
        </p:spPr>
        <p:txBody>
          <a:bodyPr wrap="square">
            <a:spAutoFit/>
          </a:bodyPr>
          <a:lstStyle/>
          <a:p>
            <a:pPr algn="l"/>
            <a:r>
              <a:rPr sz="900" b="1" i="0">
                <a:solidFill>
                  <a:srgbClr val="FFFFFF"/>
                </a:solidFill>
              </a:rPr>
              <a:t>Resserrement Fed prolongé</a:t>
            </a:r>
          </a:p>
        </p:txBody>
      </p:sp>
      <p:sp>
        <p:nvSpPr>
          <p:cNvPr id="23" name="TextBox 22"/>
          <p:cNvSpPr txBox="1"/>
          <p:nvPr/>
        </p:nvSpPr>
        <p:spPr>
          <a:xfrm>
            <a:off x="5058000" y="864000"/>
            <a:ext cx="720000" cy="234000"/>
          </a:xfrm>
          <a:prstGeom prst="rect">
            <a:avLst/>
          </a:prstGeom>
          <a:noFill/>
        </p:spPr>
        <p:txBody>
          <a:bodyPr wrap="square">
            <a:spAutoFit/>
          </a:bodyPr>
          <a:lstStyle/>
          <a:p>
            <a:pPr algn="r"/>
            <a:r>
              <a:rPr sz="900" b="1" i="0">
                <a:solidFill>
                  <a:srgbClr val="FFFFFF"/>
                </a:solidFill>
              </a:rPr>
              <a:t>Prob. 35 %</a:t>
            </a:r>
          </a:p>
        </p:txBody>
      </p:sp>
      <p:sp>
        <p:nvSpPr>
          <p:cNvPr id="24" name="TextBox 23"/>
          <p:cNvSpPr txBox="1"/>
          <p:nvPr/>
        </p:nvSpPr>
        <p:spPr>
          <a:xfrm>
            <a:off x="3221999" y="1170000"/>
            <a:ext cx="2592000" cy="1152000"/>
          </a:xfrm>
          <a:prstGeom prst="rect">
            <a:avLst/>
          </a:prstGeom>
          <a:noFill/>
        </p:spPr>
        <p:txBody>
          <a:bodyPr wrap="square">
            <a:spAutoFit/>
          </a:bodyPr>
          <a:lstStyle/>
          <a:p>
            <a:pPr algn="l"/>
            <a:r>
              <a:rPr sz="800" b="0" i="0">
                <a:solidFill>
                  <a:srgbClr val="555555"/>
                </a:solidFill>
              </a:rPr>
              <a:t>Fed Funds &gt; 4,5 % jusqu'en 2027 — compression multiples growth et rotation sectorielle.</a:t>
            </a:r>
          </a:p>
        </p:txBody>
      </p:sp>
      <p:sp>
        <p:nvSpPr>
          <p:cNvPr id="25" name="Rectangle 24"/>
          <p:cNvSpPr/>
          <p:nvPr/>
        </p:nvSpPr>
        <p:spPr>
          <a:xfrm>
            <a:off x="5975999"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75999" y="827999"/>
            <a:ext cx="2700000" cy="30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47999" y="846000"/>
            <a:ext cx="1800000" cy="270000"/>
          </a:xfrm>
          <a:prstGeom prst="rect">
            <a:avLst/>
          </a:prstGeom>
          <a:noFill/>
        </p:spPr>
        <p:txBody>
          <a:bodyPr wrap="square">
            <a:spAutoFit/>
          </a:bodyPr>
          <a:lstStyle/>
          <a:p>
            <a:pPr algn="l"/>
            <a:r>
              <a:rPr sz="900" b="1" i="0">
                <a:solidFill>
                  <a:srgbClr val="FFFFFF"/>
                </a:solidFill>
              </a:rPr>
              <a:t>Choc géopolitique</a:t>
            </a:r>
          </a:p>
        </p:txBody>
      </p:sp>
      <p:sp>
        <p:nvSpPr>
          <p:cNvPr id="28" name="TextBox 27"/>
          <p:cNvSpPr txBox="1"/>
          <p:nvPr/>
        </p:nvSpPr>
        <p:spPr>
          <a:xfrm>
            <a:off x="7883999" y="864000"/>
            <a:ext cx="720000" cy="234000"/>
          </a:xfrm>
          <a:prstGeom prst="rect">
            <a:avLst/>
          </a:prstGeom>
          <a:noFill/>
        </p:spPr>
        <p:txBody>
          <a:bodyPr wrap="square">
            <a:spAutoFit/>
          </a:bodyPr>
          <a:lstStyle/>
          <a:p>
            <a:pPr algn="r"/>
            <a:r>
              <a:rPr sz="900" b="1" i="0">
                <a:solidFill>
                  <a:srgbClr val="FFFFFF"/>
                </a:solidFill>
              </a:rPr>
              <a:t>Prob. 20 %</a:t>
            </a:r>
          </a:p>
        </p:txBody>
      </p:sp>
      <p:sp>
        <p:nvSpPr>
          <p:cNvPr id="29" name="TextBox 28"/>
          <p:cNvSpPr txBox="1"/>
          <p:nvPr/>
        </p:nvSpPr>
        <p:spPr>
          <a:xfrm>
            <a:off x="6047999" y="1170000"/>
            <a:ext cx="2592000" cy="1152000"/>
          </a:xfrm>
          <a:prstGeom prst="rect">
            <a:avLst/>
          </a:prstGeom>
          <a:noFill/>
        </p:spPr>
        <p:txBody>
          <a:bodyPr wrap="square">
            <a:spAutoFit/>
          </a:bodyPr>
          <a:lstStyle/>
          <a:p>
            <a:pPr algn="l"/>
            <a:r>
              <a:rPr sz="800" b="0" i="0">
                <a:solidFill>
                  <a:srgbClr val="555555"/>
                </a:solidFill>
              </a:rPr>
              <a:t>Escalade géopolitique — spike VIX &gt; 35, rotation défensive vers Consumer Staples et Health Care.</a:t>
            </a:r>
          </a:p>
        </p:txBody>
      </p:sp>
      <p:sp>
        <p:nvSpPr>
          <p:cNvPr id="30" name="Rectangle 29"/>
          <p:cNvSpPr/>
          <p:nvPr/>
        </p:nvSpPr>
        <p:spPr>
          <a:xfrm>
            <a:off x="324000" y="2520000"/>
            <a:ext cx="8496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6000" y="2538000"/>
            <a:ext cx="8208000" cy="162000"/>
          </a:xfrm>
          <a:prstGeom prst="rect">
            <a:avLst/>
          </a:prstGeom>
          <a:noFill/>
        </p:spPr>
        <p:txBody>
          <a:bodyPr wrap="square">
            <a:spAutoFit/>
          </a:bodyPr>
          <a:lstStyle/>
          <a:p>
            <a:pPr algn="l"/>
            <a:r>
              <a:rPr sz="800" b="1" i="0">
                <a:solidFill>
                  <a:srgbClr val="FFFFFF"/>
                </a:solidFill>
              </a:rPr>
              <a:t>Conditions d'invalidation du signal NEUTRE</a:t>
            </a:r>
          </a:p>
        </p:txBody>
      </p:sp>
      <p:sp>
        <p:nvSpPr>
          <p:cNvPr id="32" name="Rectangle 31"/>
          <p:cNvSpPr/>
          <p:nvPr/>
        </p:nvSpPr>
        <p:spPr>
          <a:xfrm>
            <a:off x="324000" y="2772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3999" y="2772000"/>
            <a:ext cx="8028000" cy="324000"/>
          </a:xfrm>
          <a:prstGeom prst="rect">
            <a:avLst/>
          </a:prstGeom>
          <a:noFill/>
        </p:spPr>
        <p:txBody>
          <a:bodyPr wrap="square">
            <a:spAutoFit/>
          </a:bodyPr>
          <a:lstStyle/>
          <a:p>
            <a:pPr algn="l"/>
            <a:r>
              <a:rPr sz="850" b="0" i="0">
                <a:solidFill>
                  <a:srgbClr val="555555"/>
                </a:solidFill>
              </a:rPr>
              <a:t>DAX40 casse le support 4 800 pts — signal bascule Sous-ponderer</a:t>
            </a:r>
          </a:p>
        </p:txBody>
      </p:sp>
      <p:sp>
        <p:nvSpPr>
          <p:cNvPr id="34" name="Rectangle 33"/>
          <p:cNvSpPr/>
          <p:nvPr/>
        </p:nvSpPr>
        <p:spPr>
          <a:xfrm>
            <a:off x="324000" y="3168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3999" y="3168000"/>
            <a:ext cx="8028000" cy="324000"/>
          </a:xfrm>
          <a:prstGeom prst="rect">
            <a:avLst/>
          </a:prstGeom>
          <a:noFill/>
        </p:spPr>
        <p:txBody>
          <a:bodyPr wrap="square">
            <a:spAutoFit/>
          </a:bodyPr>
          <a:lstStyle/>
          <a:p>
            <a:pPr algn="l"/>
            <a:r>
              <a:rPr sz="850" b="0" i="0">
                <a:solidFill>
                  <a:srgbClr val="555555"/>
                </a:solidFill>
              </a:rPr>
              <a:t>Fed hike inattendu post-CPI &gt; 3.5% — derating massif growth</a:t>
            </a:r>
          </a:p>
        </p:txBody>
      </p:sp>
      <p:sp>
        <p:nvSpPr>
          <p:cNvPr id="36" name="Rectangle 35"/>
          <p:cNvSpPr/>
          <p:nvPr/>
        </p:nvSpPr>
        <p:spPr>
          <a:xfrm>
            <a:off x="324000" y="3564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3999" y="3564000"/>
            <a:ext cx="8028000" cy="324000"/>
          </a:xfrm>
          <a:prstGeom prst="rect">
            <a:avLst/>
          </a:prstGeom>
          <a:noFill/>
        </p:spPr>
        <p:txBody>
          <a:bodyPr wrap="square">
            <a:spAutoFit/>
          </a:bodyPr>
          <a:lstStyle/>
          <a:p>
            <a:pPr algn="l"/>
            <a:r>
              <a:rPr sz="850" b="0" i="0">
                <a:solidFill>
                  <a:srgbClr val="555555"/>
                </a:solidFill>
              </a:rPr>
              <a:t>Revisions BPA agragees &lt; -5% sur 2 trimestres consecutifs</a:t>
            </a:r>
          </a:p>
        </p:txBody>
      </p:sp>
      <p:sp>
        <p:nvSpPr>
          <p:cNvPr id="38" name="Rectangle 37"/>
          <p:cNvSpPr/>
          <p:nvPr/>
        </p:nvSpPr>
        <p:spPr>
          <a:xfrm>
            <a:off x="324000" y="3960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3999" y="3960000"/>
            <a:ext cx="8028000" cy="324000"/>
          </a:xfrm>
          <a:prstGeom prst="rect">
            <a:avLst/>
          </a:prstGeom>
          <a:noFill/>
        </p:spPr>
        <p:txBody>
          <a:bodyPr wrap="square">
            <a:spAutoFit/>
          </a:bodyPr>
          <a:lstStyle/>
          <a:p>
            <a:pPr algn="l"/>
            <a:r>
              <a:rPr sz="850" b="0" i="0">
                <a:solidFill>
                  <a:srgbClr val="555555"/>
                </a:solidFill>
              </a:rPr>
              <a:t>VIX &gt; 35 sur plus de 10 seances consecutives</a:t>
            </a:r>
          </a:p>
        </p:txBody>
      </p:sp>
      <p:sp>
        <p:nvSpPr>
          <p:cNvPr id="40" name="Rectangle 3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Rotation Sectorielle &amp; Cycle Économique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DAX40  ·  Phase actuelle : Expansion avancée  ·  Sensibilités taux/PIB  ·  Signal de rotation</a:t>
            </a:r>
          </a:p>
        </p:txBody>
      </p:sp>
      <p:graphicFrame>
        <p:nvGraphicFramePr>
          <p:cNvPr id="15" name="Table 14"/>
          <p:cNvGraphicFramePr>
            <a:graphicFrameLocks noGrp="1"/>
          </p:cNvGraphicFramePr>
          <p:nvPr/>
        </p:nvGraphicFramePr>
        <p:xfrm>
          <a:off x="324000" y="827999"/>
          <a:ext cx="8495999" cy="2808000"/>
        </p:xfrm>
        <a:graphic>
          <a:graphicData uri="http://schemas.openxmlformats.org/drawingml/2006/table">
            <a:tbl>
              <a:tblPr firstRow="1" bandRow="1">
                <a:tableStyleId>{5C22544A-7EE6-4342-B048-85BDC9FD1C3A}</a:tableStyleId>
              </a:tblPr>
              <a:tblGrid>
                <a:gridCol w="2184685"/>
                <a:gridCol w="1699200"/>
                <a:gridCol w="1456457"/>
                <a:gridCol w="1456457"/>
                <a:gridCol w="1699200"/>
              </a:tblGrid>
              <a:tr h="234000">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Phase favorisée</a:t>
                      </a:r>
                    </a:p>
                  </a:txBody>
                  <a:tcPr>
                    <a:solidFill>
                      <a:srgbClr val="1B3A6B"/>
                    </a:solidFill>
                  </a:tcPr>
                </a:tc>
                <a:tc>
                  <a:txBody>
                    <a:bodyPr/>
                    <a:lstStyle/>
                    <a:p>
                      <a:pPr algn="ctr"/>
                      <a:r>
                        <a:rPr sz="800" b="1">
                          <a:solidFill>
                            <a:srgbClr val="FFFFFF"/>
                          </a:solidFill>
                        </a:rPr>
                        <a:t>Sens. Taux</a:t>
                      </a:r>
                    </a:p>
                  </a:txBody>
                  <a:tcPr>
                    <a:solidFill>
                      <a:srgbClr val="1B3A6B"/>
                    </a:solidFill>
                  </a:tcPr>
                </a:tc>
                <a:tc>
                  <a:txBody>
                    <a:bodyPr/>
                    <a:lstStyle/>
                    <a:p>
                      <a:pPr algn="ctr"/>
                      <a:r>
                        <a:rPr sz="800" b="1">
                          <a:solidFill>
                            <a:srgbClr val="FFFFFF"/>
                          </a:solidFill>
                        </a:rPr>
                        <a:t>Sens. PIB</a:t>
                      </a:r>
                    </a:p>
                  </a:txBody>
                  <a:tcPr>
                    <a:solidFill>
                      <a:srgbClr val="1B3A6B"/>
                    </a:solidFill>
                  </a:tcPr>
                </a:tc>
                <a:tc>
                  <a:txBody>
                    <a:bodyPr/>
                    <a:lstStyle/>
                    <a:p>
                      <a:pPr algn="ctr"/>
                      <a:r>
                        <a:rPr sz="800" b="1">
                          <a:solidFill>
                            <a:srgbClr val="FFFFFF"/>
                          </a:solidFill>
                        </a:rPr>
                        <a:t>Signal Rotation</a:t>
                      </a:r>
                    </a:p>
                  </a:txBody>
                  <a:tcPr>
                    <a:solidFill>
                      <a:srgbClr val="1B3A6B"/>
                    </a:solidFill>
                  </a:tcPr>
                </a:tc>
              </a:tr>
              <a:tr h="234000">
                <a:tc>
                  <a:txBody>
                    <a:bodyPr/>
                    <a:lstStyle/>
                    <a:p>
                      <a:pPr algn="ctr"/>
                      <a:r>
                        <a:rPr sz="800" b="0">
                          <a:solidFill>
                            <a:srgbClr val="1A1A1A"/>
                          </a:solidFill>
                        </a:rPr>
                        <a:t>Technology</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Health Care</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Faible</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Financials</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Positive</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Comm. Services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Cons. Discret.</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Industrials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Cons. Staples</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Materials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Energy</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B06000"/>
                          </a:solidFill>
                        </a:rPr>
                        <a:t>Alleger</a:t>
                      </a:r>
                    </a:p>
                  </a:txBody>
                  <a:tcPr>
                    <a:solidFill>
                      <a:srgbClr val="FDF3E5"/>
                    </a:solidFill>
                  </a:tcPr>
                </a:tc>
              </a:tr>
              <a:tr h="234000">
                <a:tc>
                  <a:txBody>
                    <a:bodyPr/>
                    <a:lstStyle/>
                    <a:p>
                      <a:pPr algn="ctr"/>
                      <a:r>
                        <a:rPr sz="800" b="0">
                          <a:solidFill>
                            <a:srgbClr val="1A1A1A"/>
                          </a:solidFill>
                        </a:rPr>
                        <a:t>Real Estate</a:t>
                      </a:r>
                    </a:p>
                  </a:txBody>
                  <a:tcPr>
                    <a:solidFill>
                      <a:srgbClr val="F5F7FA"/>
                    </a:solidFill>
                  </a:tcPr>
                </a:tc>
                <a:tc>
                  <a:txBody>
                    <a:bodyPr/>
                    <a:lstStyle/>
                    <a:p>
                      <a:pPr algn="ctr"/>
                      <a:r>
                        <a:rPr sz="800" b="0">
                          <a:solidFill>
                            <a:srgbClr val="1A1A1A"/>
                          </a:solidFill>
                        </a:rPr>
                        <a:t>Ralentissement</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B06000"/>
                          </a:solidFill>
                        </a:rPr>
                        <a:t>Alleger</a:t>
                      </a:r>
                    </a:p>
                  </a:txBody>
                  <a:tcPr>
                    <a:solidFill>
                      <a:srgbClr val="FDF3E5"/>
                    </a:solidFill>
                  </a:tcPr>
                </a:tc>
              </a:tr>
              <a:tr h="234000">
                <a:tc>
                  <a:txBody>
                    <a:bodyPr/>
                    <a:lstStyle/>
                    <a:p>
                      <a:pPr algn="ctr"/>
                      <a:r>
                        <a:rPr sz="800" b="0">
                          <a:solidFill>
                            <a:srgbClr val="1A1A1A"/>
                          </a:solidFill>
                        </a:rPr>
                        <a:t>Utilities</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B06000"/>
                          </a:solidFill>
                        </a:rPr>
                        <a:t>Alleger</a:t>
                      </a:r>
                    </a:p>
                  </a:txBody>
                  <a:tcPr>
                    <a:solidFill>
                      <a:srgbClr val="FDF3E5"/>
                    </a:solidFill>
                  </a:tcPr>
                </a:tc>
              </a:tr>
            </a:tbl>
          </a:graphicData>
        </a:graphic>
      </p:graphicFrame>
      <p:sp>
        <p:nvSpPr>
          <p:cNvPr id="16" name="Rectangle 15"/>
          <p:cNvSpPr/>
          <p:nvPr/>
        </p:nvSpPr>
        <p:spPr>
          <a:xfrm>
            <a:off x="324000" y="3744000"/>
            <a:ext cx="8496000" cy="106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744000"/>
            <a:ext cx="43200" cy="106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798000"/>
            <a:ext cx="8208000" cy="216000"/>
          </a:xfrm>
          <a:prstGeom prst="rect">
            <a:avLst/>
          </a:prstGeom>
          <a:noFill/>
        </p:spPr>
        <p:txBody>
          <a:bodyPr wrap="square">
            <a:spAutoFit/>
          </a:bodyPr>
          <a:lstStyle/>
          <a:p>
            <a:pPr algn="l"/>
            <a:r>
              <a:rPr sz="800" b="1" i="0">
                <a:solidFill>
                  <a:srgbClr val="1B3A6B"/>
                </a:solidFill>
              </a:rPr>
              <a:t>Positionnement de cycle — Synthèse et catalyseur de rotation</a:t>
            </a:r>
          </a:p>
        </p:txBody>
      </p:sp>
      <p:sp>
        <p:nvSpPr>
          <p:cNvPr id="19" name="TextBox 18"/>
          <p:cNvSpPr txBox="1"/>
          <p:nvPr/>
        </p:nvSpPr>
        <p:spPr>
          <a:xfrm>
            <a:off x="432000" y="4032000"/>
            <a:ext cx="8208000" cy="737999"/>
          </a:xfrm>
          <a:prstGeom prst="rect">
            <a:avLst/>
          </a:prstGeom>
          <a:noFill/>
        </p:spPr>
        <p:txBody>
          <a:bodyPr wrap="square">
            <a:spAutoFit/>
          </a:bodyPr>
          <a:lstStyle/>
          <a:p>
            <a:pPr algn="l"/>
            <a:r>
              <a:rPr sz="750" b="0" i="0">
                <a:solidFill>
                  <a:srgbClr val="555555"/>
                </a:solidFill>
              </a:rPr>
              <a:t>La rotation sectorielle recommandee s'appuie sur le modele cycle 4-phases FinSight. En phase d'expansion avancée, le signal Accumuler se concentre sur les secteurs a forte croissance BPA et pricing power : Technology (IA), Health Care (FDA pipeline), Financials (NIM). Le signal Alleger cible Real Estate (pression taux directe) et Utilities...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Sectoriel Composite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Score proxy dérivé des scores sectoriels  ·  11 secteurs  ·  Signal composite</a:t>
            </a:r>
          </a:p>
        </p:txBody>
      </p:sp>
      <p:sp>
        <p:nvSpPr>
          <p:cNvPr id="15" name="Rectangle 14"/>
          <p:cNvSpPr/>
          <p:nvPr/>
        </p:nvSpPr>
        <p:spPr>
          <a:xfrm>
            <a:off x="324000" y="827999"/>
            <a:ext cx="2088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432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00000"/>
            <a:ext cx="1908000" cy="576000"/>
          </a:xfrm>
          <a:prstGeom prst="rect">
            <a:avLst/>
          </a:prstGeom>
          <a:noFill/>
        </p:spPr>
        <p:txBody>
          <a:bodyPr wrap="square">
            <a:spAutoFit/>
          </a:bodyPr>
          <a:lstStyle/>
          <a:p>
            <a:pPr algn="l"/>
            <a:r>
              <a:rPr sz="3200" b="1" i="0">
                <a:solidFill>
                  <a:srgbClr val="1A7A4A"/>
                </a:solidFill>
              </a:rPr>
              <a:t>+0.06</a:t>
            </a:r>
          </a:p>
        </p:txBody>
      </p:sp>
      <p:sp>
        <p:nvSpPr>
          <p:cNvPr id="18" name="TextBox 17"/>
          <p:cNvSpPr txBox="1"/>
          <p:nvPr/>
        </p:nvSpPr>
        <p:spPr>
          <a:xfrm>
            <a:off x="432000" y="1458000"/>
            <a:ext cx="1908000" cy="198000"/>
          </a:xfrm>
          <a:prstGeom prst="rect">
            <a:avLst/>
          </a:prstGeom>
          <a:noFill/>
        </p:spPr>
        <p:txBody>
          <a:bodyPr wrap="square">
            <a:spAutoFit/>
          </a:bodyPr>
          <a:lstStyle/>
          <a:p>
            <a:pPr algn="l"/>
            <a:r>
              <a:rPr sz="800" b="0" i="0">
                <a:solidFill>
                  <a:srgbClr val="555555"/>
                </a:solidFill>
              </a:rPr>
              <a:t>Score composite secteurs</a:t>
            </a:r>
          </a:p>
        </p:txBody>
      </p:sp>
      <p:sp>
        <p:nvSpPr>
          <p:cNvPr id="19" name="TextBox 18"/>
          <p:cNvSpPr txBox="1"/>
          <p:nvPr/>
        </p:nvSpPr>
        <p:spPr>
          <a:xfrm>
            <a:off x="432000" y="1638000"/>
            <a:ext cx="1908000" cy="180000"/>
          </a:xfrm>
          <a:prstGeom prst="rect">
            <a:avLst/>
          </a:prstGeom>
          <a:noFill/>
        </p:spPr>
        <p:txBody>
          <a:bodyPr wrap="square">
            <a:spAutoFit/>
          </a:bodyPr>
          <a:lstStyle/>
          <a:p>
            <a:pPr algn="l"/>
            <a:r>
              <a:rPr sz="850" b="1" i="0">
                <a:solidFill>
                  <a:srgbClr val="1A7A4A"/>
                </a:solidFill>
              </a:rPr>
              <a:t>Neutre</a:t>
            </a:r>
          </a:p>
        </p:txBody>
      </p:sp>
      <p:sp>
        <p:nvSpPr>
          <p:cNvPr id="20" name="Rectangle 19"/>
          <p:cNvSpPr/>
          <p:nvPr/>
        </p:nvSpPr>
        <p:spPr>
          <a:xfrm>
            <a:off x="2592000" y="827999"/>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92000" y="827999"/>
            <a:ext cx="1235520" cy="36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64000" y="845999"/>
            <a:ext cx="1620000" cy="162000"/>
          </a:xfrm>
          <a:prstGeom prst="rect">
            <a:avLst/>
          </a:prstGeom>
          <a:noFill/>
        </p:spPr>
        <p:txBody>
          <a:bodyPr wrap="square">
            <a:spAutoFit/>
          </a:bodyPr>
          <a:lstStyle/>
          <a:p>
            <a:pPr algn="l"/>
            <a:r>
              <a:rPr sz="850" b="1" i="0">
                <a:solidFill>
                  <a:srgbClr val="FFFFFF"/>
                </a:solidFill>
              </a:rPr>
              <a:t>Surpondérer</a:t>
            </a:r>
          </a:p>
        </p:txBody>
      </p:sp>
      <p:sp>
        <p:nvSpPr>
          <p:cNvPr id="23" name="TextBox 22"/>
          <p:cNvSpPr txBox="1"/>
          <p:nvPr/>
        </p:nvSpPr>
        <p:spPr>
          <a:xfrm>
            <a:off x="2664000" y="1007999"/>
            <a:ext cx="2520000" cy="162000"/>
          </a:xfrm>
          <a:prstGeom prst="rect">
            <a:avLst/>
          </a:prstGeom>
          <a:noFill/>
        </p:spPr>
        <p:txBody>
          <a:bodyPr wrap="square">
            <a:spAutoFit/>
          </a:bodyPr>
          <a:lstStyle/>
          <a:p>
            <a:pPr algn="l"/>
            <a:r>
              <a:rPr sz="800" b="0" i="0">
                <a:solidFill>
                  <a:srgbClr val="FFFFFF"/>
                </a:solidFill>
              </a:rPr>
              <a:t>15 secteurs (44 %)</a:t>
            </a:r>
          </a:p>
        </p:txBody>
      </p:sp>
      <p:sp>
        <p:nvSpPr>
          <p:cNvPr id="24" name="Rectangle 23"/>
          <p:cNvSpPr/>
          <p:nvPr/>
        </p:nvSpPr>
        <p:spPr>
          <a:xfrm>
            <a:off x="2592000" y="1242000"/>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92000" y="1242000"/>
            <a:ext cx="982800" cy="36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64000" y="1259999"/>
            <a:ext cx="1620000" cy="162000"/>
          </a:xfrm>
          <a:prstGeom prst="rect">
            <a:avLst/>
          </a:prstGeom>
          <a:noFill/>
        </p:spPr>
        <p:txBody>
          <a:bodyPr wrap="square">
            <a:spAutoFit/>
          </a:bodyPr>
          <a:lstStyle/>
          <a:p>
            <a:pPr algn="l"/>
            <a:r>
              <a:rPr sz="850" b="1" i="0">
                <a:solidFill>
                  <a:srgbClr val="FFFFFF"/>
                </a:solidFill>
              </a:rPr>
              <a:t>Neutre</a:t>
            </a:r>
          </a:p>
        </p:txBody>
      </p:sp>
      <p:sp>
        <p:nvSpPr>
          <p:cNvPr id="27" name="TextBox 26"/>
          <p:cNvSpPr txBox="1"/>
          <p:nvPr/>
        </p:nvSpPr>
        <p:spPr>
          <a:xfrm>
            <a:off x="2664000" y="1422000"/>
            <a:ext cx="2520000" cy="162000"/>
          </a:xfrm>
          <a:prstGeom prst="rect">
            <a:avLst/>
          </a:prstGeom>
          <a:noFill/>
        </p:spPr>
        <p:txBody>
          <a:bodyPr wrap="square">
            <a:spAutoFit/>
          </a:bodyPr>
          <a:lstStyle/>
          <a:p>
            <a:pPr algn="l"/>
            <a:r>
              <a:rPr sz="800" b="0" i="0">
                <a:solidFill>
                  <a:srgbClr val="FFFFFF"/>
                </a:solidFill>
              </a:rPr>
              <a:t>12 secteurs (35 %)</a:t>
            </a:r>
          </a:p>
        </p:txBody>
      </p:sp>
      <p:sp>
        <p:nvSpPr>
          <p:cNvPr id="28" name="Rectangle 27"/>
          <p:cNvSpPr/>
          <p:nvPr/>
        </p:nvSpPr>
        <p:spPr>
          <a:xfrm>
            <a:off x="2592000" y="1655999"/>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000" y="1655999"/>
            <a:ext cx="589680" cy="36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64000" y="1673999"/>
            <a:ext cx="1620000" cy="162000"/>
          </a:xfrm>
          <a:prstGeom prst="rect">
            <a:avLst/>
          </a:prstGeom>
          <a:noFill/>
        </p:spPr>
        <p:txBody>
          <a:bodyPr wrap="square">
            <a:spAutoFit/>
          </a:bodyPr>
          <a:lstStyle/>
          <a:p>
            <a:pPr algn="l"/>
            <a:r>
              <a:rPr sz="850" b="1" i="0">
                <a:solidFill>
                  <a:srgbClr val="1A1A1A"/>
                </a:solidFill>
              </a:rPr>
              <a:t>Sous-pondérer</a:t>
            </a:r>
          </a:p>
        </p:txBody>
      </p:sp>
      <p:sp>
        <p:nvSpPr>
          <p:cNvPr id="31" name="TextBox 30"/>
          <p:cNvSpPr txBox="1"/>
          <p:nvPr/>
        </p:nvSpPr>
        <p:spPr>
          <a:xfrm>
            <a:off x="2664000" y="1835999"/>
            <a:ext cx="2520000" cy="162000"/>
          </a:xfrm>
          <a:prstGeom prst="rect">
            <a:avLst/>
          </a:prstGeom>
          <a:noFill/>
        </p:spPr>
        <p:txBody>
          <a:bodyPr wrap="square">
            <a:spAutoFit/>
          </a:bodyPr>
          <a:lstStyle/>
          <a:p>
            <a:pPr algn="l"/>
            <a:r>
              <a:rPr sz="800" b="0" i="0">
                <a:solidFill>
                  <a:srgbClr val="1A1A1A"/>
                </a:solidFill>
              </a:rPr>
              <a:t>7 secteurs (21 %)</a:t>
            </a:r>
          </a:p>
        </p:txBody>
      </p:sp>
      <p:sp>
        <p:nvSpPr>
          <p:cNvPr id="32" name="TextBox 31"/>
          <p:cNvSpPr txBox="1"/>
          <p:nvPr/>
        </p:nvSpPr>
        <p:spPr>
          <a:xfrm>
            <a:off x="5580000" y="827999"/>
            <a:ext cx="3168000" cy="180000"/>
          </a:xfrm>
          <a:prstGeom prst="rect">
            <a:avLst/>
          </a:prstGeom>
          <a:noFill/>
        </p:spPr>
        <p:txBody>
          <a:bodyPr wrap="square">
            <a:spAutoFit/>
          </a:bodyPr>
          <a:lstStyle/>
          <a:p>
            <a:pPr algn="l"/>
            <a:r>
              <a:rPr sz="850" b="1" i="0">
                <a:solidFill>
                  <a:srgbClr val="1B3A6B"/>
                </a:solidFill>
              </a:rPr>
              <a:t>Secteurs leaders / retardataires</a:t>
            </a:r>
          </a:p>
        </p:txBody>
      </p:sp>
      <p:sp>
        <p:nvSpPr>
          <p:cNvPr id="33" name="Rectangle 32"/>
          <p:cNvSpPr/>
          <p:nvPr/>
        </p:nvSpPr>
        <p:spPr>
          <a:xfrm>
            <a:off x="5580000" y="1044000"/>
            <a:ext cx="3168000" cy="45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52000" y="1062000"/>
            <a:ext cx="3024000" cy="413999"/>
          </a:xfrm>
          <a:prstGeom prst="rect">
            <a:avLst/>
          </a:prstGeom>
          <a:noFill/>
        </p:spPr>
        <p:txBody>
          <a:bodyPr wrap="square">
            <a:spAutoFit/>
          </a:bodyPr>
          <a:lstStyle/>
          <a:p>
            <a:pPr algn="l"/>
            <a:r>
              <a:rPr sz="800" b="0" i="0">
                <a:solidFill>
                  <a:srgbClr val="555555"/>
                </a:solidFill>
              </a:rPr>
              <a:t>Surpondérer : Resultats T4  ·  Cycle IA  ·  Innovation semi</a:t>
            </a:r>
          </a:p>
        </p:txBody>
      </p:sp>
      <p:sp>
        <p:nvSpPr>
          <p:cNvPr id="35" name="Rectangle 34"/>
          <p:cNvSpPr/>
          <p:nvPr/>
        </p:nvSpPr>
        <p:spPr>
          <a:xfrm>
            <a:off x="5580000" y="1530000"/>
            <a:ext cx="3168000" cy="45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52000" y="1548000"/>
            <a:ext cx="3024000" cy="413999"/>
          </a:xfrm>
          <a:prstGeom prst="rect">
            <a:avLst/>
          </a:prstGeom>
          <a:noFill/>
        </p:spPr>
        <p:txBody>
          <a:bodyPr wrap="square">
            <a:spAutoFit/>
          </a:bodyPr>
          <a:lstStyle/>
          <a:p>
            <a:pPr algn="l"/>
            <a:r>
              <a:rPr sz="800" b="0" i="0">
                <a:solidFill>
                  <a:srgbClr val="555555"/>
                </a:solidFill>
              </a:rPr>
              <a:t>Sous-pondérer : Regulation  ·  Taux LT  ·  CRE</a:t>
            </a:r>
          </a:p>
        </p:txBody>
      </p:sp>
      <p:sp>
        <p:nvSpPr>
          <p:cNvPr id="37" name="TextBox 36"/>
          <p:cNvSpPr txBox="1"/>
          <p:nvPr/>
        </p:nvSpPr>
        <p:spPr>
          <a:xfrm>
            <a:off x="324000" y="2124000"/>
            <a:ext cx="8496000" cy="198000"/>
          </a:xfrm>
          <a:prstGeom prst="rect">
            <a:avLst/>
          </a:prstGeom>
          <a:noFill/>
        </p:spPr>
        <p:txBody>
          <a:bodyPr wrap="square">
            <a:spAutoFit/>
          </a:bodyPr>
          <a:lstStyle/>
          <a:p>
            <a:pPr algn="l"/>
            <a:r>
              <a:rPr sz="800" b="1" i="0">
                <a:solidFill>
                  <a:srgbClr val="1B3A6B"/>
                </a:solidFill>
              </a:rPr>
              <a:t>Score composite par secteur (dérivé du score quantitatif)</a:t>
            </a:r>
          </a:p>
        </p:txBody>
      </p:sp>
      <p:pic>
        <p:nvPicPr>
          <p:cNvPr id="38" name="Picture 37" descr="image.png"/>
          <p:cNvPicPr>
            <a:picLocks noChangeAspect="1"/>
          </p:cNvPicPr>
          <p:nvPr/>
        </p:nvPicPr>
        <p:blipFill>
          <a:blip r:embed="rId2"/>
          <a:stretch>
            <a:fillRect/>
          </a:stretch>
        </p:blipFill>
        <p:spPr>
          <a:xfrm>
            <a:off x="324000" y="2340000"/>
            <a:ext cx="8496000" cy="2520000"/>
          </a:xfrm>
          <a:prstGeom prst="rect">
            <a:avLst/>
          </a:prstGeom>
        </p:spPr>
      </p:pic>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Performance des ETF Sectoriels —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1A1A1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DAX40  ·  ETF sectoriels SPDR/iShares  ·  Indexe a 100 au debut de la periode  ·  Donnees yfinance</a:t>
            </a:r>
          </a:p>
        </p:txBody>
      </p:sp>
      <p:pic>
        <p:nvPicPr>
          <p:cNvPr id="15" name="Picture 14" descr="image.png"/>
          <p:cNvPicPr>
            <a:picLocks noChangeAspect="1"/>
          </p:cNvPicPr>
          <p:nvPr/>
        </p:nvPicPr>
        <p:blipFill>
          <a:blip r:embed="rId2"/>
          <a:stretch>
            <a:fillRect/>
          </a:stretch>
        </p:blipFill>
        <p:spPr>
          <a:xfrm>
            <a:off x="324000" y="827999"/>
            <a:ext cx="5400000" cy="3996000"/>
          </a:xfrm>
          <a:prstGeom prst="rect">
            <a:avLst/>
          </a:prstGeom>
        </p:spPr>
      </p:pic>
      <p:sp>
        <p:nvSpPr>
          <p:cNvPr id="16" name="Rectangle 15"/>
          <p:cNvSpPr/>
          <p:nvPr/>
        </p:nvSpPr>
        <p:spPr>
          <a:xfrm>
            <a:off x="5903999" y="827999"/>
            <a:ext cx="2916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03999" y="827999"/>
            <a:ext cx="2916000" cy="23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76000" y="846000"/>
            <a:ext cx="2808000" cy="198000"/>
          </a:xfrm>
          <a:prstGeom prst="rect">
            <a:avLst/>
          </a:prstGeom>
          <a:noFill/>
        </p:spPr>
        <p:txBody>
          <a:bodyPr wrap="square">
            <a:spAutoFit/>
          </a:bodyPr>
          <a:lstStyle/>
          <a:p>
            <a:pPr algn="l"/>
            <a:r>
              <a:rPr sz="800" b="1" i="0">
                <a:solidFill>
                  <a:srgbClr val="FFFFFF"/>
                </a:solidFill>
              </a:rPr>
              <a:t>Legende ETF SPDR</a:t>
            </a:r>
          </a:p>
        </p:txBody>
      </p:sp>
      <p:sp>
        <p:nvSpPr>
          <p:cNvPr id="19" name="Rectangle 18"/>
          <p:cNvSpPr/>
          <p:nvPr/>
        </p:nvSpPr>
        <p:spPr>
          <a:xfrm>
            <a:off x="5940000" y="1188000"/>
            <a:ext cx="180000" cy="125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2000" y="1134000"/>
            <a:ext cx="2556000" cy="198000"/>
          </a:xfrm>
          <a:prstGeom prst="rect">
            <a:avLst/>
          </a:prstGeom>
          <a:noFill/>
        </p:spPr>
        <p:txBody>
          <a:bodyPr wrap="square">
            <a:spAutoFit/>
          </a:bodyPr>
          <a:lstStyle/>
          <a:p>
            <a:pPr algn="l"/>
            <a:r>
              <a:rPr sz="750" b="1" i="0">
                <a:solidFill>
                  <a:srgbClr val="1B3A6B"/>
                </a:solidFill>
              </a:rPr>
              <a:t>XLK  —  Technology</a:t>
            </a:r>
          </a:p>
        </p:txBody>
      </p:sp>
      <p:sp>
        <p:nvSpPr>
          <p:cNvPr id="21" name="TextBox 20"/>
          <p:cNvSpPr txBox="1"/>
          <p:nvPr/>
        </p:nvSpPr>
        <p:spPr>
          <a:xfrm>
            <a:off x="6192000" y="1332000"/>
            <a:ext cx="2556000" cy="198000"/>
          </a:xfrm>
          <a:prstGeom prst="rect">
            <a:avLst/>
          </a:prstGeom>
          <a:noFill/>
        </p:spPr>
        <p:txBody>
          <a:bodyPr wrap="square">
            <a:spAutoFit/>
          </a:bodyPr>
          <a:lstStyle/>
          <a:p>
            <a:pPr algn="l"/>
            <a:r>
              <a:rPr sz="800" b="1" i="0">
                <a:solidFill>
                  <a:srgbClr val="1A7A4A"/>
                </a:solidFill>
              </a:rPr>
              <a:t>+18.4 %</a:t>
            </a:r>
          </a:p>
        </p:txBody>
      </p:sp>
      <p:sp>
        <p:nvSpPr>
          <p:cNvPr id="22" name="Rectangle 21"/>
          <p:cNvSpPr/>
          <p:nvPr/>
        </p:nvSpPr>
        <p:spPr>
          <a:xfrm>
            <a:off x="5940000" y="1620000"/>
            <a:ext cx="180000" cy="125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92000" y="1565999"/>
            <a:ext cx="2556000" cy="198000"/>
          </a:xfrm>
          <a:prstGeom prst="rect">
            <a:avLst/>
          </a:prstGeom>
          <a:noFill/>
        </p:spPr>
        <p:txBody>
          <a:bodyPr wrap="square">
            <a:spAutoFit/>
          </a:bodyPr>
          <a:lstStyle/>
          <a:p>
            <a:pPr algn="l"/>
            <a:r>
              <a:rPr sz="750" b="1" i="0">
                <a:solidFill>
                  <a:srgbClr val="1B3A6B"/>
                </a:solidFill>
              </a:rPr>
              <a:t>XLF  —  Financials</a:t>
            </a:r>
          </a:p>
        </p:txBody>
      </p:sp>
      <p:sp>
        <p:nvSpPr>
          <p:cNvPr id="24" name="TextBox 23"/>
          <p:cNvSpPr txBox="1"/>
          <p:nvPr/>
        </p:nvSpPr>
        <p:spPr>
          <a:xfrm>
            <a:off x="6192000" y="1763999"/>
            <a:ext cx="2556000" cy="198000"/>
          </a:xfrm>
          <a:prstGeom prst="rect">
            <a:avLst/>
          </a:prstGeom>
          <a:noFill/>
        </p:spPr>
        <p:txBody>
          <a:bodyPr wrap="square">
            <a:spAutoFit/>
          </a:bodyPr>
          <a:lstStyle/>
          <a:p>
            <a:pPr algn="l"/>
            <a:r>
              <a:rPr sz="800" b="1" i="0">
                <a:solidFill>
                  <a:srgbClr val="1A7A4A"/>
                </a:solidFill>
              </a:rPr>
              <a:t>+12.1 %</a:t>
            </a:r>
          </a:p>
        </p:txBody>
      </p:sp>
      <p:sp>
        <p:nvSpPr>
          <p:cNvPr id="25" name="Rectangle 24"/>
          <p:cNvSpPr/>
          <p:nvPr/>
        </p:nvSpPr>
        <p:spPr>
          <a:xfrm>
            <a:off x="5940000" y="2052000"/>
            <a:ext cx="180000" cy="125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92000" y="1998000"/>
            <a:ext cx="2556000" cy="198000"/>
          </a:xfrm>
          <a:prstGeom prst="rect">
            <a:avLst/>
          </a:prstGeom>
          <a:noFill/>
        </p:spPr>
        <p:txBody>
          <a:bodyPr wrap="square">
            <a:spAutoFit/>
          </a:bodyPr>
          <a:lstStyle/>
          <a:p>
            <a:pPr algn="l"/>
            <a:r>
              <a:rPr sz="750" b="1" i="0">
                <a:solidFill>
                  <a:srgbClr val="1B3A6B"/>
                </a:solidFill>
              </a:rPr>
              <a:t>XLC  —  Comm. Services</a:t>
            </a:r>
          </a:p>
        </p:txBody>
      </p:sp>
      <p:sp>
        <p:nvSpPr>
          <p:cNvPr id="27" name="TextBox 26"/>
          <p:cNvSpPr txBox="1"/>
          <p:nvPr/>
        </p:nvSpPr>
        <p:spPr>
          <a:xfrm>
            <a:off x="6192000" y="2196000"/>
            <a:ext cx="2556000" cy="198000"/>
          </a:xfrm>
          <a:prstGeom prst="rect">
            <a:avLst/>
          </a:prstGeom>
          <a:noFill/>
        </p:spPr>
        <p:txBody>
          <a:bodyPr wrap="square">
            <a:spAutoFit/>
          </a:bodyPr>
          <a:lstStyle/>
          <a:p>
            <a:pPr algn="l"/>
            <a:r>
              <a:rPr sz="800" b="1" i="0">
                <a:solidFill>
                  <a:srgbClr val="1A7A4A"/>
                </a:solidFill>
              </a:rPr>
              <a:t>+9.2 %</a:t>
            </a:r>
          </a:p>
        </p:txBody>
      </p:sp>
      <p:sp>
        <p:nvSpPr>
          <p:cNvPr id="28" name="Rectangle 27"/>
          <p:cNvSpPr/>
          <p:nvPr/>
        </p:nvSpPr>
        <p:spPr>
          <a:xfrm>
            <a:off x="5940000" y="2484000"/>
            <a:ext cx="180000" cy="125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92000" y="2430000"/>
            <a:ext cx="2556000" cy="198000"/>
          </a:xfrm>
          <a:prstGeom prst="rect">
            <a:avLst/>
          </a:prstGeom>
          <a:noFill/>
        </p:spPr>
        <p:txBody>
          <a:bodyPr wrap="square">
            <a:spAutoFit/>
          </a:bodyPr>
          <a:lstStyle/>
          <a:p>
            <a:pPr algn="l"/>
            <a:r>
              <a:rPr sz="750" b="1" i="0">
                <a:solidFill>
                  <a:srgbClr val="1B3A6B"/>
                </a:solidFill>
              </a:rPr>
              <a:t>XLV  —  Health Care</a:t>
            </a:r>
          </a:p>
        </p:txBody>
      </p:sp>
      <p:sp>
        <p:nvSpPr>
          <p:cNvPr id="30" name="TextBox 29"/>
          <p:cNvSpPr txBox="1"/>
          <p:nvPr/>
        </p:nvSpPr>
        <p:spPr>
          <a:xfrm>
            <a:off x="6192000" y="2628000"/>
            <a:ext cx="2556000" cy="198000"/>
          </a:xfrm>
          <a:prstGeom prst="rect">
            <a:avLst/>
          </a:prstGeom>
          <a:noFill/>
        </p:spPr>
        <p:txBody>
          <a:bodyPr wrap="square">
            <a:spAutoFit/>
          </a:bodyPr>
          <a:lstStyle/>
          <a:p>
            <a:pPr algn="l"/>
            <a:r>
              <a:rPr sz="800" b="1" i="0">
                <a:solidFill>
                  <a:srgbClr val="1A7A4A"/>
                </a:solidFill>
              </a:rPr>
              <a:t>+8.4 %</a:t>
            </a:r>
          </a:p>
        </p:txBody>
      </p:sp>
      <p:sp>
        <p:nvSpPr>
          <p:cNvPr id="31" name="Rectangle 30"/>
          <p:cNvSpPr/>
          <p:nvPr/>
        </p:nvSpPr>
        <p:spPr>
          <a:xfrm>
            <a:off x="5940000" y="2916000"/>
            <a:ext cx="180000" cy="125999"/>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92000" y="2861999"/>
            <a:ext cx="2556000" cy="198000"/>
          </a:xfrm>
          <a:prstGeom prst="rect">
            <a:avLst/>
          </a:prstGeom>
          <a:noFill/>
        </p:spPr>
        <p:txBody>
          <a:bodyPr wrap="square">
            <a:spAutoFit/>
          </a:bodyPr>
          <a:lstStyle/>
          <a:p>
            <a:pPr algn="l"/>
            <a:r>
              <a:rPr sz="750" b="1" i="0">
                <a:solidFill>
                  <a:srgbClr val="1B3A6B"/>
                </a:solidFill>
              </a:rPr>
              <a:t>XLY  —  Consumer Disc.</a:t>
            </a:r>
          </a:p>
        </p:txBody>
      </p:sp>
      <p:sp>
        <p:nvSpPr>
          <p:cNvPr id="33" name="TextBox 32"/>
          <p:cNvSpPr txBox="1"/>
          <p:nvPr/>
        </p:nvSpPr>
        <p:spPr>
          <a:xfrm>
            <a:off x="6192000" y="3060000"/>
            <a:ext cx="2556000" cy="198000"/>
          </a:xfrm>
          <a:prstGeom prst="rect">
            <a:avLst/>
          </a:prstGeom>
          <a:noFill/>
        </p:spPr>
        <p:txBody>
          <a:bodyPr wrap="square">
            <a:spAutoFit/>
          </a:bodyPr>
          <a:lstStyle/>
          <a:p>
            <a:pPr algn="l"/>
            <a:r>
              <a:rPr sz="800" b="1" i="0">
                <a:solidFill>
                  <a:srgbClr val="1A7A4A"/>
                </a:solidFill>
              </a:rPr>
              <a:t>+6.8 %</a:t>
            </a:r>
          </a:p>
        </p:txBody>
      </p:sp>
      <p:sp>
        <p:nvSpPr>
          <p:cNvPr id="34" name="Rectangle 33"/>
          <p:cNvSpPr/>
          <p:nvPr/>
        </p:nvSpPr>
        <p:spPr>
          <a:xfrm>
            <a:off x="5940000" y="3348000"/>
            <a:ext cx="180000" cy="125999"/>
          </a:xfrm>
          <a:prstGeom prst="rect">
            <a:avLst/>
          </a:prstGeom>
          <a:solidFill>
            <a:srgbClr val="6B3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92000" y="3294000"/>
            <a:ext cx="2556000" cy="198000"/>
          </a:xfrm>
          <a:prstGeom prst="rect">
            <a:avLst/>
          </a:prstGeom>
          <a:noFill/>
        </p:spPr>
        <p:txBody>
          <a:bodyPr wrap="square">
            <a:spAutoFit/>
          </a:bodyPr>
          <a:lstStyle/>
          <a:p>
            <a:pPr algn="l"/>
            <a:r>
              <a:rPr sz="750" b="1" i="0">
                <a:solidFill>
                  <a:srgbClr val="1B3A6B"/>
                </a:solidFill>
              </a:rPr>
              <a:t>XLI  —  Industrials</a:t>
            </a:r>
          </a:p>
        </p:txBody>
      </p:sp>
      <p:sp>
        <p:nvSpPr>
          <p:cNvPr id="36" name="TextBox 35"/>
          <p:cNvSpPr txBox="1"/>
          <p:nvPr/>
        </p:nvSpPr>
        <p:spPr>
          <a:xfrm>
            <a:off x="6192000" y="3492000"/>
            <a:ext cx="2556000" cy="198000"/>
          </a:xfrm>
          <a:prstGeom prst="rect">
            <a:avLst/>
          </a:prstGeom>
          <a:noFill/>
        </p:spPr>
        <p:txBody>
          <a:bodyPr wrap="square">
            <a:spAutoFit/>
          </a:bodyPr>
          <a:lstStyle/>
          <a:p>
            <a:pPr algn="l"/>
            <a:r>
              <a:rPr sz="800" b="1" i="0">
                <a:solidFill>
                  <a:srgbClr val="1A7A4A"/>
                </a:solidFill>
              </a:rPr>
              <a:t>+5.4 %</a:t>
            </a:r>
          </a:p>
        </p:txBody>
      </p:sp>
      <p:sp>
        <p:nvSpPr>
          <p:cNvPr id="37" name="Rectangle 36"/>
          <p:cNvSpPr/>
          <p:nvPr/>
        </p:nvSpPr>
        <p:spPr>
          <a:xfrm>
            <a:off x="5940000" y="3780000"/>
            <a:ext cx="180000" cy="125999"/>
          </a:xfrm>
          <a:prstGeom prst="rect">
            <a:avLst/>
          </a:prstGeom>
          <a:solidFill>
            <a:srgbClr val="3A6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92000" y="3726000"/>
            <a:ext cx="2556000" cy="198000"/>
          </a:xfrm>
          <a:prstGeom prst="rect">
            <a:avLst/>
          </a:prstGeom>
          <a:noFill/>
        </p:spPr>
        <p:txBody>
          <a:bodyPr wrap="square">
            <a:spAutoFit/>
          </a:bodyPr>
          <a:lstStyle/>
          <a:p>
            <a:pPr algn="l"/>
            <a:r>
              <a:rPr sz="750" b="1" i="0">
                <a:solidFill>
                  <a:srgbClr val="1B3A6B"/>
                </a:solidFill>
              </a:rPr>
              <a:t>XLP  —  Consumer Staples</a:t>
            </a:r>
          </a:p>
        </p:txBody>
      </p:sp>
      <p:sp>
        <p:nvSpPr>
          <p:cNvPr id="39" name="TextBox 38"/>
          <p:cNvSpPr txBox="1"/>
          <p:nvPr/>
        </p:nvSpPr>
        <p:spPr>
          <a:xfrm>
            <a:off x="6192000" y="3924000"/>
            <a:ext cx="2556000" cy="198000"/>
          </a:xfrm>
          <a:prstGeom prst="rect">
            <a:avLst/>
          </a:prstGeom>
          <a:noFill/>
        </p:spPr>
        <p:txBody>
          <a:bodyPr wrap="square">
            <a:spAutoFit/>
          </a:bodyPr>
          <a:lstStyle/>
          <a:p>
            <a:pPr algn="l"/>
            <a:r>
              <a:rPr sz="800" b="1" i="0">
                <a:solidFill>
                  <a:srgbClr val="1A7A4A"/>
                </a:solidFill>
              </a:rPr>
              <a:t>+2.1 %</a:t>
            </a:r>
          </a:p>
        </p:txBody>
      </p:sp>
      <p:sp>
        <p:nvSpPr>
          <p:cNvPr id="40" name="Rectangle 39"/>
          <p:cNvSpPr/>
          <p:nvPr/>
        </p:nvSpPr>
        <p:spPr>
          <a:xfrm>
            <a:off x="5940000" y="4212000"/>
            <a:ext cx="180000" cy="125999"/>
          </a:xfrm>
          <a:prstGeom prst="rect">
            <a:avLst/>
          </a:prstGeom>
          <a:solidFill>
            <a:srgbClr val="6B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92000" y="4158000"/>
            <a:ext cx="2556000" cy="198000"/>
          </a:xfrm>
          <a:prstGeom prst="rect">
            <a:avLst/>
          </a:prstGeom>
          <a:noFill/>
        </p:spPr>
        <p:txBody>
          <a:bodyPr wrap="square">
            <a:spAutoFit/>
          </a:bodyPr>
          <a:lstStyle/>
          <a:p>
            <a:pPr algn="l"/>
            <a:r>
              <a:rPr sz="750" b="1" i="0">
                <a:solidFill>
                  <a:srgbClr val="1B3A6B"/>
                </a:solidFill>
              </a:rPr>
              <a:t>XLB  —  Materials</a:t>
            </a:r>
          </a:p>
        </p:txBody>
      </p:sp>
      <p:sp>
        <p:nvSpPr>
          <p:cNvPr id="42" name="TextBox 41"/>
          <p:cNvSpPr txBox="1"/>
          <p:nvPr/>
        </p:nvSpPr>
        <p:spPr>
          <a:xfrm>
            <a:off x="6192000" y="4356000"/>
            <a:ext cx="2556000" cy="198000"/>
          </a:xfrm>
          <a:prstGeom prst="rect">
            <a:avLst/>
          </a:prstGeom>
          <a:noFill/>
        </p:spPr>
        <p:txBody>
          <a:bodyPr wrap="square">
            <a:spAutoFit/>
          </a:bodyPr>
          <a:lstStyle/>
          <a:p>
            <a:pPr algn="l"/>
            <a:r>
              <a:rPr sz="800" b="1" i="0">
                <a:solidFill>
                  <a:srgbClr val="1A7A4A"/>
                </a:solidFill>
              </a:rPr>
              <a:t>+1.8 %</a:t>
            </a:r>
          </a:p>
        </p:txBody>
      </p:sp>
      <p:sp>
        <p:nvSpPr>
          <p:cNvPr id="43" name="Rectangle 42"/>
          <p:cNvSpPr/>
          <p:nvPr/>
        </p:nvSpPr>
        <p:spPr>
          <a:xfrm>
            <a:off x="5903999" y="3960000"/>
            <a:ext cx="2916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76000" y="3996000"/>
            <a:ext cx="2808000" cy="180000"/>
          </a:xfrm>
          <a:prstGeom prst="rect">
            <a:avLst/>
          </a:prstGeom>
          <a:noFill/>
        </p:spPr>
        <p:txBody>
          <a:bodyPr wrap="square">
            <a:spAutoFit/>
          </a:bodyPr>
          <a:lstStyle/>
          <a:p>
            <a:pPr algn="l"/>
            <a:r>
              <a:rPr sz="750" b="1" i="0">
                <a:solidFill>
                  <a:srgbClr val="1B3A6B"/>
                </a:solidFill>
              </a:rPr>
              <a:t>Lecture du graphique</a:t>
            </a:r>
          </a:p>
        </p:txBody>
      </p:sp>
      <p:sp>
        <p:nvSpPr>
          <p:cNvPr id="45" name="TextBox 44"/>
          <p:cNvSpPr txBox="1"/>
          <p:nvPr/>
        </p:nvSpPr>
        <p:spPr>
          <a:xfrm>
            <a:off x="5976000" y="4194000"/>
            <a:ext cx="2808000" cy="612000"/>
          </a:xfrm>
          <a:prstGeom prst="rect">
            <a:avLst/>
          </a:prstGeom>
          <a:noFill/>
        </p:spPr>
        <p:txBody>
          <a:bodyPr wrap="square">
            <a:spAutoFit/>
          </a:bodyPr>
          <a:lstStyle/>
          <a:p>
            <a:pPr algn="l"/>
            <a:r>
              <a:rPr sz="700" b="0" i="0">
                <a:solidFill>
                  <a:srgbClr val="555555"/>
                </a:solidFill>
              </a:rPr>
              <a:t>XLK (Technology) domine avec +18.4 % — confirmation du signal Surpondérer soutenu par la monétisation IA. XLU (Utilities) sous-performe (-5.4 %) en ligne avec le signal Sous-pondérer.</a:t>
            </a:r>
          </a:p>
        </p:txBody>
      </p:sp>
      <p:sp>
        <p:nvSpPr>
          <p:cNvPr id="46" name="Rectangle 4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