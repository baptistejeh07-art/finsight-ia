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Lst>
  <p:sldSz cx="9144000" cy="514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rPr>
              <a:t>Pitchbook  ·  Analyse d'Indice</a:t>
            </a:r>
          </a:p>
        </p:txBody>
      </p:sp>
      <p:sp>
        <p:nvSpPr>
          <p:cNvPr id="6" name="TextBox 5"/>
          <p:cNvSpPr txBox="1"/>
          <p:nvPr/>
        </p:nvSpPr>
        <p:spPr>
          <a:xfrm>
            <a:off x="457200" y="1512000"/>
            <a:ext cx="8229600" cy="576000"/>
          </a:xfrm>
          <a:prstGeom prst="rect">
            <a:avLst/>
          </a:prstGeom>
          <a:noFill/>
        </p:spPr>
        <p:txBody>
          <a:bodyPr wrap="square">
            <a:spAutoFit/>
          </a:bodyPr>
          <a:lstStyle/>
          <a:p>
            <a:pPr algn="ctr"/>
            <a:r>
              <a:rPr sz="3200" b="1" i="0">
                <a:solidFill>
                  <a:srgbClr val="1B3A6B"/>
                </a:solidFill>
              </a:rPr>
              <a:t>DAX40</a:t>
            </a:r>
          </a:p>
        </p:txBody>
      </p:sp>
      <p:sp>
        <p:nvSpPr>
          <p:cNvPr id="7" name="TextBox 6"/>
          <p:cNvSpPr txBox="1"/>
          <p:nvPr/>
        </p:nvSpPr>
        <p:spPr>
          <a:xfrm>
            <a:off x="457200" y="2124000"/>
            <a:ext cx="8229600" cy="255600"/>
          </a:xfrm>
          <a:prstGeom prst="rect">
            <a:avLst/>
          </a:prstGeom>
          <a:noFill/>
        </p:spPr>
        <p:txBody>
          <a:bodyPr wrap="square">
            <a:spAutoFit/>
          </a:bodyPr>
          <a:lstStyle/>
          <a:p>
            <a:pPr algn="ctr"/>
            <a:r>
              <a:rPr sz="1100" b="0" i="0">
                <a:solidFill>
                  <a:srgbClr val="888888"/>
                </a:solidFill>
              </a:rPr>
              <a:t>^GSPC  ·  11 secteurs analysés  ·  503 sociétés couvertes</a:t>
            </a:r>
          </a:p>
        </p:txBody>
      </p:sp>
      <p:sp>
        <p:nvSpPr>
          <p:cNvPr id="8" name="Rectangle 7"/>
          <p:cNvSpPr/>
          <p:nvPr/>
        </p:nvSpPr>
        <p:spPr>
          <a:xfrm>
            <a:off x="457200" y="2448000"/>
            <a:ext cx="8229600" cy="475200"/>
          </a:xfrm>
          <a:prstGeom prst="rect">
            <a:avLst/>
          </a:prstGeom>
          <a:solidFill>
            <a:srgbClr val="FDF3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48000"/>
            <a:ext cx="46800" cy="475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00" y="2466000"/>
            <a:ext cx="8063999" cy="439200"/>
          </a:xfrm>
          <a:prstGeom prst="rect">
            <a:avLst/>
          </a:prstGeom>
          <a:noFill/>
        </p:spPr>
        <p:txBody>
          <a:bodyPr wrap="square">
            <a:spAutoFit/>
          </a:bodyPr>
          <a:lstStyle/>
          <a:p>
            <a:pPr algn="ctr"/>
            <a:r>
              <a:rPr sz="900" b="1" i="0">
                <a:solidFill>
                  <a:srgbClr val="B06000"/>
                </a:solidFill>
              </a:rPr>
              <a:t>● NEUTRE  ·  Conviction 27 %</a:t>
            </a:r>
          </a:p>
        </p:txBody>
      </p:sp>
      <p:sp>
        <p:nvSpPr>
          <p:cNvPr id="11" name="Rectangle 10"/>
          <p:cNvSpPr/>
          <p:nvPr/>
        </p:nvSpPr>
        <p:spPr>
          <a:xfrm>
            <a:off x="4572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9200" y="3096000"/>
            <a:ext cx="1800000" cy="180000"/>
          </a:xfrm>
          <a:prstGeom prst="rect">
            <a:avLst/>
          </a:prstGeom>
          <a:noFill/>
        </p:spPr>
        <p:txBody>
          <a:bodyPr wrap="square">
            <a:spAutoFit/>
          </a:bodyPr>
          <a:lstStyle/>
          <a:p>
            <a:pPr algn="l"/>
            <a:r>
              <a:rPr sz="750" b="0" i="0">
                <a:solidFill>
                  <a:srgbClr val="555555"/>
                </a:solidFill>
              </a:rPr>
              <a:t>Score médian</a:t>
            </a:r>
          </a:p>
        </p:txBody>
      </p:sp>
      <p:sp>
        <p:nvSpPr>
          <p:cNvPr id="13" name="TextBox 12"/>
          <p:cNvSpPr txBox="1"/>
          <p:nvPr/>
        </p:nvSpPr>
        <p:spPr>
          <a:xfrm>
            <a:off x="529200" y="3258000"/>
            <a:ext cx="1800000" cy="324000"/>
          </a:xfrm>
          <a:prstGeom prst="rect">
            <a:avLst/>
          </a:prstGeom>
          <a:noFill/>
        </p:spPr>
        <p:txBody>
          <a:bodyPr wrap="square">
            <a:spAutoFit/>
          </a:bodyPr>
          <a:lstStyle/>
          <a:p>
            <a:pPr algn="l"/>
            <a:r>
              <a:rPr sz="1300" b="1" i="0">
                <a:solidFill>
                  <a:srgbClr val="1B3A6B"/>
                </a:solidFill>
              </a:rPr>
              <a:t>52/100</a:t>
            </a:r>
          </a:p>
        </p:txBody>
      </p:sp>
      <p:sp>
        <p:nvSpPr>
          <p:cNvPr id="14" name="Rectangle 13"/>
          <p:cNvSpPr/>
          <p:nvPr/>
        </p:nvSpPr>
        <p:spPr>
          <a:xfrm>
            <a:off x="25146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586600" y="3096000"/>
            <a:ext cx="1800000" cy="180000"/>
          </a:xfrm>
          <a:prstGeom prst="rect">
            <a:avLst/>
          </a:prstGeom>
          <a:noFill/>
        </p:spPr>
        <p:txBody>
          <a:bodyPr wrap="square">
            <a:spAutoFit/>
          </a:bodyPr>
          <a:lstStyle/>
          <a:p>
            <a:pPr algn="l"/>
            <a:r>
              <a:rPr sz="750" b="0" i="0">
                <a:solidFill>
                  <a:srgbClr val="555555"/>
                </a:solidFill>
              </a:rPr>
              <a:t>Surpondérer</a:t>
            </a:r>
          </a:p>
        </p:txBody>
      </p:sp>
      <p:sp>
        <p:nvSpPr>
          <p:cNvPr id="16" name="TextBox 15"/>
          <p:cNvSpPr txBox="1"/>
          <p:nvPr/>
        </p:nvSpPr>
        <p:spPr>
          <a:xfrm>
            <a:off x="2586600" y="3258000"/>
            <a:ext cx="1800000" cy="324000"/>
          </a:xfrm>
          <a:prstGeom prst="rect">
            <a:avLst/>
          </a:prstGeom>
          <a:noFill/>
        </p:spPr>
        <p:txBody>
          <a:bodyPr wrap="square">
            <a:spAutoFit/>
          </a:bodyPr>
          <a:lstStyle/>
          <a:p>
            <a:pPr algn="l"/>
            <a:r>
              <a:rPr sz="1300" b="1" i="0">
                <a:solidFill>
                  <a:srgbClr val="1B3A6B"/>
                </a:solidFill>
              </a:rPr>
              <a:t>3 sect.</a:t>
            </a:r>
          </a:p>
        </p:txBody>
      </p:sp>
      <p:sp>
        <p:nvSpPr>
          <p:cNvPr id="17" name="Rectangle 16"/>
          <p:cNvSpPr/>
          <p:nvPr/>
        </p:nvSpPr>
        <p:spPr>
          <a:xfrm>
            <a:off x="45720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999" y="3096000"/>
            <a:ext cx="1800000" cy="180000"/>
          </a:xfrm>
          <a:prstGeom prst="rect">
            <a:avLst/>
          </a:prstGeom>
          <a:noFill/>
        </p:spPr>
        <p:txBody>
          <a:bodyPr wrap="square">
            <a:spAutoFit/>
          </a:bodyPr>
          <a:lstStyle/>
          <a:p>
            <a:pPr algn="l"/>
            <a:r>
              <a:rPr sz="750" b="0" i="0">
                <a:solidFill>
                  <a:srgbClr val="555555"/>
                </a:solidFill>
              </a:rPr>
              <a:t>Neutre</a:t>
            </a:r>
          </a:p>
        </p:txBody>
      </p:sp>
      <p:sp>
        <p:nvSpPr>
          <p:cNvPr id="19" name="TextBox 18"/>
          <p:cNvSpPr txBox="1"/>
          <p:nvPr/>
        </p:nvSpPr>
        <p:spPr>
          <a:xfrm>
            <a:off x="4643999" y="3258000"/>
            <a:ext cx="1800000" cy="324000"/>
          </a:xfrm>
          <a:prstGeom prst="rect">
            <a:avLst/>
          </a:prstGeom>
          <a:noFill/>
        </p:spPr>
        <p:txBody>
          <a:bodyPr wrap="square">
            <a:spAutoFit/>
          </a:bodyPr>
          <a:lstStyle/>
          <a:p>
            <a:pPr algn="l"/>
            <a:r>
              <a:rPr sz="1300" b="1" i="0">
                <a:solidFill>
                  <a:srgbClr val="1B3A6B"/>
                </a:solidFill>
              </a:rPr>
              <a:t>6 sect.</a:t>
            </a:r>
          </a:p>
        </p:txBody>
      </p:sp>
      <p:sp>
        <p:nvSpPr>
          <p:cNvPr id="20" name="Rectangle 19"/>
          <p:cNvSpPr/>
          <p:nvPr/>
        </p:nvSpPr>
        <p:spPr>
          <a:xfrm>
            <a:off x="6629400" y="3060000"/>
            <a:ext cx="19440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01399" y="3096000"/>
            <a:ext cx="1800000" cy="180000"/>
          </a:xfrm>
          <a:prstGeom prst="rect">
            <a:avLst/>
          </a:prstGeom>
          <a:noFill/>
        </p:spPr>
        <p:txBody>
          <a:bodyPr wrap="square">
            <a:spAutoFit/>
          </a:bodyPr>
          <a:lstStyle/>
          <a:p>
            <a:pPr algn="l"/>
            <a:r>
              <a:rPr sz="750" b="0" i="0">
                <a:solidFill>
                  <a:srgbClr val="555555"/>
                </a:solidFill>
              </a:rPr>
              <a:t>Sous-pondérer</a:t>
            </a:r>
          </a:p>
        </p:txBody>
      </p:sp>
      <p:sp>
        <p:nvSpPr>
          <p:cNvPr id="22" name="TextBox 21"/>
          <p:cNvSpPr txBox="1"/>
          <p:nvPr/>
        </p:nvSpPr>
        <p:spPr>
          <a:xfrm>
            <a:off x="6701399" y="3258000"/>
            <a:ext cx="1800000" cy="324000"/>
          </a:xfrm>
          <a:prstGeom prst="rect">
            <a:avLst/>
          </a:prstGeom>
          <a:noFill/>
        </p:spPr>
        <p:txBody>
          <a:bodyPr wrap="square">
            <a:spAutoFit/>
          </a:bodyPr>
          <a:lstStyle/>
          <a:p>
            <a:pPr algn="l"/>
            <a:r>
              <a:rPr sz="1300" b="1" i="0">
                <a:solidFill>
                  <a:srgbClr val="1B3A6B"/>
                </a:solidFill>
              </a:rPr>
              <a:t>2 sect.</a:t>
            </a:r>
          </a:p>
        </p:txBody>
      </p:sp>
      <p:sp>
        <p:nvSpPr>
          <p:cNvPr id="23" name="Rectangle 22"/>
          <p:cNvSpPr/>
          <p:nvPr/>
        </p:nvSpPr>
        <p:spPr>
          <a:xfrm>
            <a:off x="367200" y="4248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67200" y="4338000"/>
            <a:ext cx="4114800" cy="201600"/>
          </a:xfrm>
          <a:prstGeom prst="rect">
            <a:avLst/>
          </a:prstGeom>
          <a:noFill/>
        </p:spPr>
        <p:txBody>
          <a:bodyPr wrap="square">
            <a:spAutoFit/>
          </a:bodyPr>
          <a:lstStyle/>
          <a:p>
            <a:pPr algn="l"/>
            <a:r>
              <a:rPr sz="800" b="0" i="0">
                <a:solidFill>
                  <a:srgbClr val="555555"/>
                </a:solidFill>
              </a:rPr>
              <a:t>Rapport confidentiel</a:t>
            </a:r>
          </a:p>
        </p:txBody>
      </p:sp>
      <p:sp>
        <p:nvSpPr>
          <p:cNvPr id="25" name="TextBox 24"/>
          <p:cNvSpPr txBox="1"/>
          <p:nvPr/>
        </p:nvSpPr>
        <p:spPr>
          <a:xfrm>
            <a:off x="4662000" y="4338000"/>
            <a:ext cx="4114800" cy="201600"/>
          </a:xfrm>
          <a:prstGeom prst="rect">
            <a:avLst/>
          </a:prstGeom>
          <a:noFill/>
        </p:spPr>
        <p:txBody>
          <a:bodyPr wrap="square">
            <a:spAutoFit/>
          </a:bodyPr>
          <a:lstStyle/>
          <a:p>
            <a:pPr algn="r"/>
            <a:r>
              <a:rPr sz="800" b="0" i="0">
                <a:solidFill>
                  <a:srgbClr val="555555"/>
                </a:solidFill>
              </a:rPr>
              <a:t>3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Executive Summary</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(^GSPC)  ·  11 secteurs  ·  503 sociétés  ·  Horizon 12 mois</a:t>
            </a:r>
          </a:p>
        </p:txBody>
      </p:sp>
      <p:sp>
        <p:nvSpPr>
          <p:cNvPr id="15" name="Rectangle 14"/>
          <p:cNvSpPr/>
          <p:nvPr/>
        </p:nvSpPr>
        <p:spPr>
          <a:xfrm>
            <a:off x="324000" y="827999"/>
            <a:ext cx="1728000" cy="27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6000" y="846000"/>
            <a:ext cx="1584000" cy="198000"/>
          </a:xfrm>
          <a:prstGeom prst="rect">
            <a:avLst/>
          </a:prstGeom>
          <a:noFill/>
        </p:spPr>
        <p:txBody>
          <a:bodyPr wrap="square">
            <a:spAutoFit/>
          </a:bodyPr>
          <a:lstStyle/>
          <a:p>
            <a:pPr algn="l"/>
            <a:r>
              <a:rPr sz="1000" b="1" i="0">
                <a:solidFill>
                  <a:srgbClr val="FFFFFF"/>
                </a:solidFill>
              </a:rPr>
              <a:t>NEUTRE</a:t>
            </a:r>
          </a:p>
        </p:txBody>
      </p:sp>
      <p:sp>
        <p:nvSpPr>
          <p:cNvPr id="17" name="TextBox 16"/>
          <p:cNvSpPr txBox="1"/>
          <p:nvPr/>
        </p:nvSpPr>
        <p:spPr>
          <a:xfrm>
            <a:off x="324000" y="1134000"/>
            <a:ext cx="8496000" cy="198000"/>
          </a:xfrm>
          <a:prstGeom prst="rect">
            <a:avLst/>
          </a:prstGeom>
          <a:noFill/>
        </p:spPr>
        <p:txBody>
          <a:bodyPr wrap="square">
            <a:spAutoFit/>
          </a:bodyPr>
          <a:lstStyle/>
          <a:p>
            <a:pPr algn="l"/>
            <a:r>
              <a:rPr sz="800" b="0" i="0">
                <a:solidFill>
                  <a:srgbClr val="555555"/>
                </a:solidFill>
              </a:rPr>
              <a:t>Cours : 5 210  ·  YTD : +4.8%  ·  P/E Forward : 21.5x  ·  ERP : 4.2%  ·  Conviction 27 %</a:t>
            </a:r>
          </a:p>
        </p:txBody>
      </p:sp>
      <p:sp>
        <p:nvSpPr>
          <p:cNvPr id="18" name="Rectangle 17"/>
          <p:cNvSpPr/>
          <p:nvPr/>
        </p:nvSpPr>
        <p:spPr>
          <a:xfrm>
            <a:off x="324000" y="1368000"/>
            <a:ext cx="882000" cy="16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0000" y="1368000"/>
            <a:ext cx="828000" cy="162000"/>
          </a:xfrm>
          <a:prstGeom prst="rect">
            <a:avLst/>
          </a:prstGeom>
          <a:noFill/>
        </p:spPr>
        <p:txBody>
          <a:bodyPr wrap="square" anchor="ctr">
            <a:spAutoFit/>
          </a:bodyPr>
          <a:lstStyle/>
          <a:p>
            <a:pPr algn="ctr"/>
            <a:r>
              <a:rPr sz="750" b="1" i="0">
                <a:solidFill>
                  <a:srgbClr val="FFFFFF"/>
                </a:solidFill>
              </a:rPr>
              <a:t>Regime Volatile</a:t>
            </a:r>
          </a:p>
        </p:txBody>
      </p:sp>
      <p:sp>
        <p:nvSpPr>
          <p:cNvPr id="20" name="Rectangle 19"/>
          <p:cNvSpPr/>
          <p:nvPr/>
        </p:nvSpPr>
        <p:spPr>
          <a:xfrm>
            <a:off x="1260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296000" y="1368000"/>
            <a:ext cx="738000" cy="162000"/>
          </a:xfrm>
          <a:prstGeom prst="rect">
            <a:avLst/>
          </a:prstGeom>
          <a:noFill/>
        </p:spPr>
        <p:txBody>
          <a:bodyPr wrap="square" anchor="ctr">
            <a:spAutoFit/>
          </a:bodyPr>
          <a:lstStyle/>
          <a:p>
            <a:pPr algn="ctr"/>
            <a:r>
              <a:rPr sz="750" b="0" i="0">
                <a:solidFill>
                  <a:srgbClr val="1B3A6B"/>
                </a:solidFill>
              </a:rPr>
              <a:t>VIX 24</a:t>
            </a:r>
          </a:p>
        </p:txBody>
      </p:sp>
      <p:sp>
        <p:nvSpPr>
          <p:cNvPr id="22" name="Rectangle 21"/>
          <p:cNvSpPr/>
          <p:nvPr/>
        </p:nvSpPr>
        <p:spPr>
          <a:xfrm>
            <a:off x="2106000"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41999" y="1368000"/>
            <a:ext cx="738000" cy="162000"/>
          </a:xfrm>
          <a:prstGeom prst="rect">
            <a:avLst/>
          </a:prstGeom>
          <a:noFill/>
        </p:spPr>
        <p:txBody>
          <a:bodyPr wrap="square" anchor="ctr">
            <a:spAutoFit/>
          </a:bodyPr>
          <a:lstStyle/>
          <a:p>
            <a:pPr algn="ctr"/>
            <a:r>
              <a:rPr sz="750" b="0" i="0">
                <a:solidFill>
                  <a:srgbClr val="1B3A6B"/>
                </a:solidFill>
              </a:rPr>
              <a:t>Spread +0.7%</a:t>
            </a:r>
          </a:p>
        </p:txBody>
      </p:sp>
      <p:sp>
        <p:nvSpPr>
          <p:cNvPr id="24" name="Rectangle 23"/>
          <p:cNvSpPr/>
          <p:nvPr/>
        </p:nvSpPr>
        <p:spPr>
          <a:xfrm>
            <a:off x="2951999" y="1368000"/>
            <a:ext cx="792000" cy="162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87999" y="1368000"/>
            <a:ext cx="738000" cy="162000"/>
          </a:xfrm>
          <a:prstGeom prst="rect">
            <a:avLst/>
          </a:prstGeom>
          <a:noFill/>
        </p:spPr>
        <p:txBody>
          <a:bodyPr wrap="square" anchor="ctr">
            <a:spAutoFit/>
          </a:bodyPr>
          <a:lstStyle/>
          <a:p>
            <a:pPr algn="ctr"/>
            <a:r>
              <a:rPr sz="750" b="0" i="0">
                <a:solidFill>
                  <a:srgbClr val="1B3A6B"/>
                </a:solidFill>
              </a:rPr>
              <a:t>Rec. 6M 26%</a:t>
            </a:r>
          </a:p>
        </p:txBody>
      </p:sp>
      <p:sp>
        <p:nvSpPr>
          <p:cNvPr id="26" name="Rectangle 25"/>
          <p:cNvSpPr/>
          <p:nvPr/>
        </p:nvSpPr>
        <p:spPr>
          <a:xfrm>
            <a:off x="324000" y="1584000"/>
            <a:ext cx="84960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96000" y="1602000"/>
            <a:ext cx="8208000" cy="144000"/>
          </a:xfrm>
          <a:prstGeom prst="rect">
            <a:avLst/>
          </a:prstGeom>
          <a:noFill/>
        </p:spPr>
        <p:txBody>
          <a:bodyPr wrap="square">
            <a:spAutoFit/>
          </a:bodyPr>
          <a:lstStyle/>
          <a:p>
            <a:pPr algn="l"/>
            <a:r>
              <a:rPr sz="750" b="1" i="0">
                <a:solidFill>
                  <a:srgbClr val="FFFFFF"/>
                </a:solidFill>
              </a:rPr>
              <a:t>CATALYSEURS MACRO</a:t>
            </a:r>
          </a:p>
        </p:txBody>
      </p:sp>
      <p:sp>
        <p:nvSpPr>
          <p:cNvPr id="28" name="Rectangle 27"/>
          <p:cNvSpPr/>
          <p:nvPr/>
        </p:nvSpPr>
        <p:spPr>
          <a:xfrm>
            <a:off x="324000" y="1818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3999" y="1818000"/>
            <a:ext cx="8028000" cy="162000"/>
          </a:xfrm>
          <a:prstGeom prst="rect">
            <a:avLst/>
          </a:prstGeom>
          <a:noFill/>
        </p:spPr>
        <p:txBody>
          <a:bodyPr wrap="square">
            <a:spAutoFit/>
          </a:bodyPr>
          <a:lstStyle/>
          <a:p>
            <a:pPr algn="l"/>
            <a:r>
              <a:rPr sz="800" b="1" i="0">
                <a:solidFill>
                  <a:srgbClr val="1B3A6B"/>
                </a:solidFill>
              </a:rPr>
              <a:t>Cycle IA</a:t>
            </a:r>
          </a:p>
        </p:txBody>
      </p:sp>
      <p:sp>
        <p:nvSpPr>
          <p:cNvPr id="30" name="TextBox 29"/>
          <p:cNvSpPr txBox="1"/>
          <p:nvPr/>
        </p:nvSpPr>
        <p:spPr>
          <a:xfrm>
            <a:off x="413999" y="1980000"/>
            <a:ext cx="8028000" cy="198000"/>
          </a:xfrm>
          <a:prstGeom prst="rect">
            <a:avLst/>
          </a:prstGeom>
          <a:noFill/>
        </p:spPr>
        <p:txBody>
          <a:bodyPr wrap="square">
            <a:spAutoFit/>
          </a:bodyPr>
          <a:lstStyle/>
          <a:p>
            <a:pPr algn="l"/>
            <a:r>
              <a:rPr sz="750" b="0" i="0">
                <a:solidFill>
                  <a:srgbClr val="555555"/>
                </a:solidFill>
              </a:rPr>
              <a:t>CAPEX hyperscalers +35% YoY — monetisation acceleree services cloud et semi</a:t>
            </a:r>
          </a:p>
        </p:txBody>
      </p:sp>
      <p:sp>
        <p:nvSpPr>
          <p:cNvPr id="31" name="Rectangle 30"/>
          <p:cNvSpPr/>
          <p:nvPr/>
        </p:nvSpPr>
        <p:spPr>
          <a:xfrm>
            <a:off x="324000" y="2160000"/>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3999" y="2160000"/>
            <a:ext cx="8028000" cy="162000"/>
          </a:xfrm>
          <a:prstGeom prst="rect">
            <a:avLst/>
          </a:prstGeom>
          <a:noFill/>
        </p:spPr>
        <p:txBody>
          <a:bodyPr wrap="square">
            <a:spAutoFit/>
          </a:bodyPr>
          <a:lstStyle/>
          <a:p>
            <a:pPr algn="l"/>
            <a:r>
              <a:rPr sz="800" b="1" i="0">
                <a:solidFill>
                  <a:srgbClr val="1B3A6B"/>
                </a:solidFill>
              </a:rPr>
              <a:t>Desinflation</a:t>
            </a:r>
          </a:p>
        </p:txBody>
      </p:sp>
      <p:sp>
        <p:nvSpPr>
          <p:cNvPr id="33" name="TextBox 32"/>
          <p:cNvSpPr txBox="1"/>
          <p:nvPr/>
        </p:nvSpPr>
        <p:spPr>
          <a:xfrm>
            <a:off x="413999" y="2322000"/>
            <a:ext cx="8028000" cy="198000"/>
          </a:xfrm>
          <a:prstGeom prst="rect">
            <a:avLst/>
          </a:prstGeom>
          <a:noFill/>
        </p:spPr>
        <p:txBody>
          <a:bodyPr wrap="square">
            <a:spAutoFit/>
          </a:bodyPr>
          <a:lstStyle/>
          <a:p>
            <a:pPr algn="l"/>
            <a:r>
              <a:rPr sz="750" b="0" i="0">
                <a:solidFill>
                  <a:srgbClr val="555555"/>
                </a:solidFill>
              </a:rPr>
              <a:t>PCE Core convergence vers 2.5% d ici fin 2026 — Fed pivot dovish attendu</a:t>
            </a:r>
          </a:p>
        </p:txBody>
      </p:sp>
      <p:sp>
        <p:nvSpPr>
          <p:cNvPr id="34" name="Rectangle 33"/>
          <p:cNvSpPr/>
          <p:nvPr/>
        </p:nvSpPr>
        <p:spPr>
          <a:xfrm>
            <a:off x="324000" y="2501999"/>
            <a:ext cx="28800" cy="32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2501999"/>
            <a:ext cx="8028000" cy="162000"/>
          </a:xfrm>
          <a:prstGeom prst="rect">
            <a:avLst/>
          </a:prstGeom>
          <a:noFill/>
        </p:spPr>
        <p:txBody>
          <a:bodyPr wrap="square">
            <a:spAutoFit/>
          </a:bodyPr>
          <a:lstStyle/>
          <a:p>
            <a:pPr algn="l"/>
            <a:r>
              <a:rPr sz="800" b="1" i="0">
                <a:solidFill>
                  <a:srgbClr val="1B3A6B"/>
                </a:solidFill>
              </a:rPr>
              <a:t>Resilience margins</a:t>
            </a:r>
          </a:p>
        </p:txBody>
      </p:sp>
      <p:sp>
        <p:nvSpPr>
          <p:cNvPr id="36" name="TextBox 35"/>
          <p:cNvSpPr txBox="1"/>
          <p:nvPr/>
        </p:nvSpPr>
        <p:spPr>
          <a:xfrm>
            <a:off x="413999" y="2664000"/>
            <a:ext cx="8028000" cy="198000"/>
          </a:xfrm>
          <a:prstGeom prst="rect">
            <a:avLst/>
          </a:prstGeom>
          <a:noFill/>
        </p:spPr>
        <p:txBody>
          <a:bodyPr wrap="square">
            <a:spAutoFit/>
          </a:bodyPr>
          <a:lstStyle/>
          <a:p>
            <a:pPr algn="l"/>
            <a:r>
              <a:rPr sz="750" b="0" i="0">
                <a:solidFill>
                  <a:srgbClr val="555555"/>
                </a:solidFill>
              </a:rPr>
              <a:t>Marges nettes S&amp;P 500 a 12.4% vs 11.8% consensus — revision haussiere BPA</a:t>
            </a:r>
          </a:p>
        </p:txBody>
      </p:sp>
      <p:sp>
        <p:nvSpPr>
          <p:cNvPr id="37" name="Rectangle 36"/>
          <p:cNvSpPr/>
          <p:nvPr/>
        </p:nvSpPr>
        <p:spPr>
          <a:xfrm>
            <a:off x="324000" y="2988000"/>
            <a:ext cx="8496000" cy="180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324000" y="2988000"/>
            <a:ext cx="43200" cy="180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2000" y="3024000"/>
            <a:ext cx="8208000" cy="180000"/>
          </a:xfrm>
          <a:prstGeom prst="rect">
            <a:avLst/>
          </a:prstGeom>
          <a:noFill/>
        </p:spPr>
        <p:txBody>
          <a:bodyPr wrap="square">
            <a:spAutoFit/>
          </a:bodyPr>
          <a:lstStyle/>
          <a:p>
            <a:pPr algn="l"/>
            <a:r>
              <a:rPr sz="800" b="1" i="0">
                <a:solidFill>
                  <a:srgbClr val="1B3A6B"/>
                </a:solidFill>
              </a:rPr>
              <a:t>SYNTHESE DU SIGNAL</a:t>
            </a:r>
          </a:p>
        </p:txBody>
      </p:sp>
      <p:sp>
        <p:nvSpPr>
          <p:cNvPr id="40" name="TextBox 39"/>
          <p:cNvSpPr txBox="1"/>
          <p:nvPr/>
        </p:nvSpPr>
        <p:spPr>
          <a:xfrm>
            <a:off x="432000" y="3240000"/>
            <a:ext cx="8208000" cy="1512000"/>
          </a:xfrm>
          <a:prstGeom prst="rect">
            <a:avLst/>
          </a:prstGeom>
          <a:noFill/>
        </p:spPr>
        <p:txBody>
          <a:bodyPr wrap="square">
            <a:spAutoFit/>
          </a:bodyPr>
          <a:lstStyle/>
          <a:p>
            <a:pPr algn="l"/>
            <a:r>
              <a:rPr sz="800" b="0" i="0">
                <a:solidFill>
                  <a:srgbClr val="555555"/>
                </a:solidFill>
              </a:rPr>
              <a:t>Le signal global sur le DAX40 est Neutre avec une conviction de 27% (sur la base des 11 secteurs analyses). 3 secteurs ressortent Surponderer — Technology, Health Care et Financials — portes respectivement par le cycle IA, le pricing power defensif et les spreads de credit eleves. 6 secteurs sont Neutre en raison d'une visibilite limitee sur les BPA dans un contexte de taux restrictifs. 2 secteurs (Real Estate, Utilities) sont Sous-ponderer sous pression directe de la politique monetaire.  Le DAX40 affiche un cours de 5 210 (YTD : +4.8%). P/E Forward 21.5x vs mediane historique 10 ans 18.2x — valorisation en ligne avec l'historique. ERP Damodaran 4.2%. Score composite moyen : —/100 —...</a:t>
            </a:r>
          </a:p>
        </p:txBody>
      </p:sp>
      <p:sp>
        <p:nvSpPr>
          <p:cNvPr id="41" name="Rectangle 4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Sommaire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^GSPC  ·  Structure de l'analyse macro institutionnelle</a:t>
            </a:r>
          </a:p>
        </p:txBody>
      </p:sp>
      <p:sp>
        <p:nvSpPr>
          <p:cNvPr id="15" name="Rectangle 14"/>
          <p:cNvSpPr/>
          <p:nvPr/>
        </p:nvSpPr>
        <p:spPr>
          <a:xfrm>
            <a:off x="324000" y="90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4000" y="1152000"/>
            <a:ext cx="432000" cy="360000"/>
          </a:xfrm>
          <a:prstGeom prst="rect">
            <a:avLst/>
          </a:prstGeom>
          <a:noFill/>
        </p:spPr>
        <p:txBody>
          <a:bodyPr wrap="square">
            <a:spAutoFit/>
          </a:bodyPr>
          <a:lstStyle/>
          <a:p>
            <a:pPr algn="ctr"/>
            <a:r>
              <a:rPr sz="1400" b="1" i="0">
                <a:solidFill>
                  <a:srgbClr val="FFFFFF"/>
                </a:solidFill>
              </a:rPr>
              <a:t>01</a:t>
            </a:r>
          </a:p>
        </p:txBody>
      </p:sp>
      <p:sp>
        <p:nvSpPr>
          <p:cNvPr id="18" name="TextBox 17"/>
          <p:cNvSpPr txBox="1"/>
          <p:nvPr/>
        </p:nvSpPr>
        <p:spPr>
          <a:xfrm>
            <a:off x="827999" y="954000"/>
            <a:ext cx="6660000" cy="270000"/>
          </a:xfrm>
          <a:prstGeom prst="rect">
            <a:avLst/>
          </a:prstGeom>
          <a:noFill/>
        </p:spPr>
        <p:txBody>
          <a:bodyPr wrap="square">
            <a:spAutoFit/>
          </a:bodyPr>
          <a:lstStyle/>
          <a:p>
            <a:pPr algn="l"/>
            <a:r>
              <a:rPr sz="1000" b="1" i="0">
                <a:solidFill>
                  <a:srgbClr val="1B3A6B"/>
                </a:solidFill>
              </a:rPr>
              <a:t>Synthèse Macro &amp; Signal Global</a:t>
            </a:r>
          </a:p>
        </p:txBody>
      </p:sp>
      <p:sp>
        <p:nvSpPr>
          <p:cNvPr id="19" name="TextBox 18"/>
          <p:cNvSpPr txBox="1"/>
          <p:nvPr/>
        </p:nvSpPr>
        <p:spPr>
          <a:xfrm>
            <a:off x="827999" y="1224000"/>
            <a:ext cx="6660000" cy="396000"/>
          </a:xfrm>
          <a:prstGeom prst="rect">
            <a:avLst/>
          </a:prstGeom>
          <a:noFill/>
        </p:spPr>
        <p:txBody>
          <a:bodyPr wrap="square">
            <a:spAutoFit/>
          </a:bodyPr>
          <a:lstStyle/>
          <a:p>
            <a:pPr algn="l"/>
            <a:r>
              <a:rPr sz="800" b="0" i="0">
                <a:solidFill>
                  <a:srgbClr val="555555"/>
                </a:solidFill>
              </a:rPr>
              <a:t>Description indice · P/E Forward · ERP Damodaran · Catalyseurs &amp; risques · Cycle économique</a:t>
            </a:r>
          </a:p>
        </p:txBody>
      </p:sp>
      <p:sp>
        <p:nvSpPr>
          <p:cNvPr id="20" name="TextBox 19"/>
          <p:cNvSpPr txBox="1"/>
          <p:nvPr/>
        </p:nvSpPr>
        <p:spPr>
          <a:xfrm>
            <a:off x="7740000" y="1170000"/>
            <a:ext cx="972000" cy="216000"/>
          </a:xfrm>
          <a:prstGeom prst="rect">
            <a:avLst/>
          </a:prstGeom>
          <a:noFill/>
        </p:spPr>
        <p:txBody>
          <a:bodyPr wrap="square">
            <a:spAutoFit/>
          </a:bodyPr>
          <a:lstStyle/>
          <a:p>
            <a:pPr algn="r"/>
            <a:r>
              <a:rPr sz="900" b="1" i="0">
                <a:solidFill>
                  <a:srgbClr val="1B3A6B"/>
                </a:solidFill>
              </a:rPr>
              <a:t>p. 5-7</a:t>
            </a:r>
          </a:p>
        </p:txBody>
      </p:sp>
      <p:sp>
        <p:nvSpPr>
          <p:cNvPr id="21" name="Rectangle 20"/>
          <p:cNvSpPr/>
          <p:nvPr/>
        </p:nvSpPr>
        <p:spPr>
          <a:xfrm>
            <a:off x="324000" y="189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189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142000"/>
            <a:ext cx="432000" cy="360000"/>
          </a:xfrm>
          <a:prstGeom prst="rect">
            <a:avLst/>
          </a:prstGeom>
          <a:noFill/>
        </p:spPr>
        <p:txBody>
          <a:bodyPr wrap="square">
            <a:spAutoFit/>
          </a:bodyPr>
          <a:lstStyle/>
          <a:p>
            <a:pPr algn="ctr"/>
            <a:r>
              <a:rPr sz="1400" b="1" i="0">
                <a:solidFill>
                  <a:srgbClr val="FFFFFF"/>
                </a:solidFill>
              </a:rPr>
              <a:t>02</a:t>
            </a:r>
          </a:p>
        </p:txBody>
      </p:sp>
      <p:sp>
        <p:nvSpPr>
          <p:cNvPr id="24" name="TextBox 23"/>
          <p:cNvSpPr txBox="1"/>
          <p:nvPr/>
        </p:nvSpPr>
        <p:spPr>
          <a:xfrm>
            <a:off x="827999" y="1944000"/>
            <a:ext cx="6660000" cy="270000"/>
          </a:xfrm>
          <a:prstGeom prst="rect">
            <a:avLst/>
          </a:prstGeom>
          <a:noFill/>
        </p:spPr>
        <p:txBody>
          <a:bodyPr wrap="square">
            <a:spAutoFit/>
          </a:bodyPr>
          <a:lstStyle/>
          <a:p>
            <a:pPr algn="l"/>
            <a:r>
              <a:rPr sz="1000" b="1" i="0">
                <a:solidFill>
                  <a:srgbClr val="1B3A6B"/>
                </a:solidFill>
              </a:rPr>
              <a:t>Cartographie des Secteurs</a:t>
            </a:r>
          </a:p>
        </p:txBody>
      </p:sp>
      <p:sp>
        <p:nvSpPr>
          <p:cNvPr id="25" name="TextBox 24"/>
          <p:cNvSpPr txBox="1"/>
          <p:nvPr/>
        </p:nvSpPr>
        <p:spPr>
          <a:xfrm>
            <a:off x="827999" y="2214000"/>
            <a:ext cx="6660000" cy="396000"/>
          </a:xfrm>
          <a:prstGeom prst="rect">
            <a:avLst/>
          </a:prstGeom>
          <a:noFill/>
        </p:spPr>
        <p:txBody>
          <a:bodyPr wrap="square">
            <a:spAutoFit/>
          </a:bodyPr>
          <a:lstStyle/>
          <a:p>
            <a:pPr algn="l"/>
            <a:r>
              <a:rPr sz="800" b="0" i="0">
                <a:solidFill>
                  <a:srgbClr val="555555"/>
                </a:solidFill>
              </a:rPr>
              <a:t>11 secteurs GICS · Scores FinSight · Scatter EV/EBITDA vs croissance · Décomposition scores</a:t>
            </a:r>
          </a:p>
        </p:txBody>
      </p:sp>
      <p:sp>
        <p:nvSpPr>
          <p:cNvPr id="26" name="TextBox 25"/>
          <p:cNvSpPr txBox="1"/>
          <p:nvPr/>
        </p:nvSpPr>
        <p:spPr>
          <a:xfrm>
            <a:off x="7740000" y="2160000"/>
            <a:ext cx="972000" cy="216000"/>
          </a:xfrm>
          <a:prstGeom prst="rect">
            <a:avLst/>
          </a:prstGeom>
          <a:noFill/>
        </p:spPr>
        <p:txBody>
          <a:bodyPr wrap="square">
            <a:spAutoFit/>
          </a:bodyPr>
          <a:lstStyle/>
          <a:p>
            <a:pPr algn="r"/>
            <a:r>
              <a:rPr sz="900" b="1" i="0">
                <a:solidFill>
                  <a:srgbClr val="1B3A6B"/>
                </a:solidFill>
              </a:rPr>
              <a:t>p. 9-11</a:t>
            </a:r>
          </a:p>
        </p:txBody>
      </p:sp>
      <p:sp>
        <p:nvSpPr>
          <p:cNvPr id="27" name="Rectangle 26"/>
          <p:cNvSpPr/>
          <p:nvPr/>
        </p:nvSpPr>
        <p:spPr>
          <a:xfrm>
            <a:off x="324000" y="288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24000" y="288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4000" y="3131999"/>
            <a:ext cx="432000" cy="360000"/>
          </a:xfrm>
          <a:prstGeom prst="rect">
            <a:avLst/>
          </a:prstGeom>
          <a:noFill/>
        </p:spPr>
        <p:txBody>
          <a:bodyPr wrap="square">
            <a:spAutoFit/>
          </a:bodyPr>
          <a:lstStyle/>
          <a:p>
            <a:pPr algn="ctr"/>
            <a:r>
              <a:rPr sz="1400" b="1" i="0">
                <a:solidFill>
                  <a:srgbClr val="FFFFFF"/>
                </a:solidFill>
              </a:rPr>
              <a:t>03</a:t>
            </a:r>
          </a:p>
        </p:txBody>
      </p:sp>
      <p:sp>
        <p:nvSpPr>
          <p:cNvPr id="30" name="TextBox 29"/>
          <p:cNvSpPr txBox="1"/>
          <p:nvPr/>
        </p:nvSpPr>
        <p:spPr>
          <a:xfrm>
            <a:off x="827999" y="2934000"/>
            <a:ext cx="6660000" cy="270000"/>
          </a:xfrm>
          <a:prstGeom prst="rect">
            <a:avLst/>
          </a:prstGeom>
          <a:noFill/>
        </p:spPr>
        <p:txBody>
          <a:bodyPr wrap="square">
            <a:spAutoFit/>
          </a:bodyPr>
          <a:lstStyle/>
          <a:p>
            <a:pPr algn="l"/>
            <a:r>
              <a:rPr sz="1000" b="1" i="0">
                <a:solidFill>
                  <a:srgbClr val="1B3A6B"/>
                </a:solidFill>
              </a:rPr>
              <a:t>Top 3 Secteurs Recommandés</a:t>
            </a:r>
          </a:p>
        </p:txBody>
      </p:sp>
      <p:sp>
        <p:nvSpPr>
          <p:cNvPr id="31" name="TextBox 30"/>
          <p:cNvSpPr txBox="1"/>
          <p:nvPr/>
        </p:nvSpPr>
        <p:spPr>
          <a:xfrm>
            <a:off x="827999" y="3204000"/>
            <a:ext cx="6660000" cy="396000"/>
          </a:xfrm>
          <a:prstGeom prst="rect">
            <a:avLst/>
          </a:prstGeom>
          <a:noFill/>
        </p:spPr>
        <p:txBody>
          <a:bodyPr wrap="square">
            <a:spAutoFit/>
          </a:bodyPr>
          <a:lstStyle/>
          <a:p>
            <a:pPr algn="l"/>
            <a:r>
              <a:rPr sz="800" b="0" i="0">
                <a:solidFill>
                  <a:srgbClr val="555555"/>
                </a:solidFill>
              </a:rPr>
              <a:t>Synthèse signal · Sociétés représentatives · Distribution valorisations · Zone d'entrée</a:t>
            </a:r>
          </a:p>
        </p:txBody>
      </p:sp>
      <p:sp>
        <p:nvSpPr>
          <p:cNvPr id="32" name="TextBox 31"/>
          <p:cNvSpPr txBox="1"/>
          <p:nvPr/>
        </p:nvSpPr>
        <p:spPr>
          <a:xfrm>
            <a:off x="7740000" y="3150000"/>
            <a:ext cx="972000" cy="216000"/>
          </a:xfrm>
          <a:prstGeom prst="rect">
            <a:avLst/>
          </a:prstGeom>
          <a:noFill/>
        </p:spPr>
        <p:txBody>
          <a:bodyPr wrap="square">
            <a:spAutoFit/>
          </a:bodyPr>
          <a:lstStyle/>
          <a:p>
            <a:pPr algn="r"/>
            <a:r>
              <a:rPr sz="900" b="1" i="0">
                <a:solidFill>
                  <a:srgbClr val="1B3A6B"/>
                </a:solidFill>
              </a:rPr>
              <a:t>p. 13-15</a:t>
            </a:r>
          </a:p>
        </p:txBody>
      </p:sp>
      <p:sp>
        <p:nvSpPr>
          <p:cNvPr id="33" name="Rectangle 32"/>
          <p:cNvSpPr/>
          <p:nvPr/>
        </p:nvSpPr>
        <p:spPr>
          <a:xfrm>
            <a:off x="324000" y="3870000"/>
            <a:ext cx="8496000" cy="86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24000" y="3870000"/>
            <a:ext cx="432000" cy="86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24000" y="4121999"/>
            <a:ext cx="432000" cy="360000"/>
          </a:xfrm>
          <a:prstGeom prst="rect">
            <a:avLst/>
          </a:prstGeom>
          <a:noFill/>
        </p:spPr>
        <p:txBody>
          <a:bodyPr wrap="square">
            <a:spAutoFit/>
          </a:bodyPr>
          <a:lstStyle/>
          <a:p>
            <a:pPr algn="ctr"/>
            <a:r>
              <a:rPr sz="1400" b="1" i="0">
                <a:solidFill>
                  <a:srgbClr val="FFFFFF"/>
                </a:solidFill>
              </a:rPr>
              <a:t>04</a:t>
            </a:r>
          </a:p>
        </p:txBody>
      </p:sp>
      <p:sp>
        <p:nvSpPr>
          <p:cNvPr id="36" name="TextBox 35"/>
          <p:cNvSpPr txBox="1"/>
          <p:nvPr/>
        </p:nvSpPr>
        <p:spPr>
          <a:xfrm>
            <a:off x="827999" y="3924000"/>
            <a:ext cx="6660000" cy="270000"/>
          </a:xfrm>
          <a:prstGeom prst="rect">
            <a:avLst/>
          </a:prstGeom>
          <a:noFill/>
        </p:spPr>
        <p:txBody>
          <a:bodyPr wrap="square">
            <a:spAutoFit/>
          </a:bodyPr>
          <a:lstStyle/>
          <a:p>
            <a:pPr algn="l"/>
            <a:r>
              <a:rPr sz="1000" b="1" i="0">
                <a:solidFill>
                  <a:srgbClr val="1B3A6B"/>
                </a:solidFill>
              </a:rPr>
              <a:t>Risques, Rotation &amp; Sentiment</a:t>
            </a:r>
          </a:p>
        </p:txBody>
      </p:sp>
      <p:sp>
        <p:nvSpPr>
          <p:cNvPr id="37" name="TextBox 36"/>
          <p:cNvSpPr txBox="1"/>
          <p:nvPr/>
        </p:nvSpPr>
        <p:spPr>
          <a:xfrm>
            <a:off x="827999" y="4194000"/>
            <a:ext cx="6660000" cy="396000"/>
          </a:xfrm>
          <a:prstGeom prst="rect">
            <a:avLst/>
          </a:prstGeom>
          <a:noFill/>
        </p:spPr>
        <p:txBody>
          <a:bodyPr wrap="square">
            <a:spAutoFit/>
          </a:bodyPr>
          <a:lstStyle/>
          <a:p>
            <a:pPr algn="l"/>
            <a:r>
              <a:rPr sz="800" b="0" i="0">
                <a:solidFill>
                  <a:srgbClr val="555555"/>
                </a:solidFill>
              </a:rPr>
              <a:t>Scénarios alternatifs · Rotation sectorielle · FinBERT · Performance ETF</a:t>
            </a:r>
          </a:p>
        </p:txBody>
      </p:sp>
      <p:sp>
        <p:nvSpPr>
          <p:cNvPr id="38" name="TextBox 37"/>
          <p:cNvSpPr txBox="1"/>
          <p:nvPr/>
        </p:nvSpPr>
        <p:spPr>
          <a:xfrm>
            <a:off x="7740000" y="4140000"/>
            <a:ext cx="972000" cy="216000"/>
          </a:xfrm>
          <a:prstGeom prst="rect">
            <a:avLst/>
          </a:prstGeom>
          <a:noFill/>
        </p:spPr>
        <p:txBody>
          <a:bodyPr wrap="square">
            <a:spAutoFit/>
          </a:bodyPr>
          <a:lstStyle/>
          <a:p>
            <a:pPr algn="r"/>
            <a:r>
              <a:rPr sz="900" b="1" i="0">
                <a:solidFill>
                  <a:srgbClr val="1B3A6B"/>
                </a:solidFill>
              </a:rPr>
              <a:t>p. 17-20</a:t>
            </a:r>
          </a:p>
        </p:txBody>
      </p:sp>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01</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Synthèse Macro &amp; Signal Global</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Valorisation top-down · ERP · Cycle économique · Catalyseurs &amp; risques</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Description de l'Indice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(^GSPC)  ·  Caractéristiques structurelles &amp; valorisation macro</a:t>
            </a:r>
          </a:p>
        </p:txBody>
      </p:sp>
      <p:sp>
        <p:nvSpPr>
          <p:cNvPr id="15" name="Rectangle 14"/>
          <p:cNvSpPr/>
          <p:nvPr/>
        </p:nvSpPr>
        <p:spPr>
          <a:xfrm>
            <a:off x="324000" y="827999"/>
            <a:ext cx="43200" cy="255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000" y="827999"/>
            <a:ext cx="4824000" cy="2556000"/>
          </a:xfrm>
          <a:prstGeom prst="rect">
            <a:avLst/>
          </a:prstGeom>
          <a:noFill/>
        </p:spPr>
        <p:txBody>
          <a:bodyPr wrap="square">
            <a:spAutoFit/>
          </a:bodyPr>
          <a:lstStyle/>
          <a:p>
            <a:pPr algn="l"/>
            <a:r>
              <a:rPr sz="850" b="0" i="0">
                <a:solidFill>
                  <a:srgbClr val="555555"/>
                </a:solidFill>
              </a:rPr>
              <a:t>Le DAX40 regroupe les 503 plus grandes capitalisations boursieres domestiques, pondérees par leur capitalisation flottante. Cet indice constitue la reference mondiale pour les allocataires d'actifs institutionnels, avec une capitalisation totale de pres de 40 000 milliards de dollars. La composition GICS couvre 11 secteurs, le secteur Technologie dominant avec pres de 32% de l'indice.</a:t>
            </a:r>
          </a:p>
        </p:txBody>
      </p:sp>
      <p:graphicFrame>
        <p:nvGraphicFramePr>
          <p:cNvPr id="17" name="Table 16"/>
          <p:cNvGraphicFramePr>
            <a:graphicFrameLocks noGrp="1"/>
          </p:cNvGraphicFramePr>
          <p:nvPr/>
        </p:nvGraphicFramePr>
        <p:xfrm>
          <a:off x="5436000" y="827999"/>
          <a:ext cx="3384000" cy="2520000"/>
        </p:xfrm>
        <a:graphic>
          <a:graphicData uri="http://schemas.openxmlformats.org/drawingml/2006/table">
            <a:tbl>
              <a:tblPr firstRow="1" bandRow="1">
                <a:tableStyleId>{5C22544A-7EE6-4342-B048-85BDC9FD1C3A}</a:tableStyleId>
              </a:tblPr>
              <a:tblGrid>
                <a:gridCol w="2256000"/>
                <a:gridCol w="1128000"/>
              </a:tblGrid>
              <a:tr h="280000">
                <a:tc>
                  <a:txBody>
                    <a:bodyPr/>
                    <a:lstStyle/>
                    <a:p>
                      <a:pPr algn="ctr"/>
                      <a:r>
                        <a:rPr sz="800" b="1">
                          <a:solidFill>
                            <a:srgbClr val="FFFFFF"/>
                          </a:solidFill>
                        </a:rPr>
                        <a:t>MÉTRIQUE</a:t>
                      </a:r>
                    </a:p>
                  </a:txBody>
                  <a:tcPr>
                    <a:solidFill>
                      <a:srgbClr val="1B3A6B"/>
                    </a:solidFill>
                  </a:tcPr>
                </a:tc>
                <a:tc>
                  <a:txBody>
                    <a:bodyPr/>
                    <a:lstStyle/>
                    <a:p>
                      <a:pPr algn="ctr"/>
                      <a:r>
                        <a:rPr sz="800" b="1">
                          <a:solidFill>
                            <a:srgbClr val="FFFFFF"/>
                          </a:solidFill>
                        </a:rPr>
                        <a:t>VALEUR</a:t>
                      </a:r>
                    </a:p>
                  </a:txBody>
                  <a:tcPr>
                    <a:solidFill>
                      <a:srgbClr val="1B3A6B"/>
                    </a:solidFill>
                  </a:tcPr>
                </a:tc>
              </a:tr>
              <a:tr h="280000">
                <a:tc>
                  <a:txBody>
                    <a:bodyPr/>
                    <a:lstStyle/>
                    <a:p>
                      <a:pPr algn="ctr"/>
                      <a:r>
                        <a:rPr sz="800" b="0">
                          <a:solidFill>
                            <a:srgbClr val="1A1A1A"/>
                          </a:solidFill>
                        </a:rPr>
                        <a:t>Cours actuel</a:t>
                      </a:r>
                    </a:p>
                  </a:txBody>
                  <a:tcPr>
                    <a:noFill/>
                  </a:tcPr>
                </a:tc>
                <a:tc>
                  <a:txBody>
                    <a:bodyPr/>
                    <a:lstStyle/>
                    <a:p>
                      <a:pPr algn="ctr"/>
                      <a:r>
                        <a:rPr sz="800" b="0">
                          <a:solidFill>
                            <a:srgbClr val="1A1A1A"/>
                          </a:solidFill>
                        </a:rPr>
                        <a:t>5 210</a:t>
                      </a:r>
                    </a:p>
                  </a:txBody>
                  <a:tcPr>
                    <a:noFill/>
                  </a:tcPr>
                </a:tc>
              </a:tr>
              <a:tr h="280000">
                <a:tc>
                  <a:txBody>
                    <a:bodyPr/>
                    <a:lstStyle/>
                    <a:p>
                      <a:pPr algn="ctr"/>
                      <a:r>
                        <a:rPr sz="800" b="0">
                          <a:solidFill>
                            <a:srgbClr val="1A1A1A"/>
                          </a:solidFill>
                        </a:rPr>
                        <a:t>Variation YTD</a:t>
                      </a:r>
                    </a:p>
                  </a:txBody>
                  <a:tcPr>
                    <a:solidFill>
                      <a:srgbClr val="F5F7FA"/>
                    </a:solidFill>
                  </a:tcPr>
                </a:tc>
                <a:tc>
                  <a:txBody>
                    <a:bodyPr/>
                    <a:lstStyle/>
                    <a:p>
                      <a:pPr algn="ctr"/>
                      <a:r>
                        <a:rPr sz="800" b="0">
                          <a:solidFill>
                            <a:srgbClr val="1A1A1A"/>
                          </a:solidFill>
                        </a:rPr>
                        <a:t>+4.8%</a:t>
                      </a:r>
                    </a:p>
                  </a:txBody>
                  <a:tcPr>
                    <a:solidFill>
                      <a:srgbClr val="F5F7FA"/>
                    </a:solidFill>
                  </a:tcPr>
                </a:tc>
              </a:tr>
              <a:tr h="280000">
                <a:tc>
                  <a:txBody>
                    <a:bodyPr/>
                    <a:lstStyle/>
                    <a:p>
                      <a:pPr algn="ctr"/>
                      <a:r>
                        <a:rPr sz="800" b="0">
                          <a:solidFill>
                            <a:srgbClr val="1A1A1A"/>
                          </a:solidFill>
                        </a:rPr>
                        <a:t>P/E Forward</a:t>
                      </a:r>
                    </a:p>
                  </a:txBody>
                  <a:tcPr>
                    <a:noFill/>
                  </a:tcPr>
                </a:tc>
                <a:tc>
                  <a:txBody>
                    <a:bodyPr/>
                    <a:lstStyle/>
                    <a:p>
                      <a:pPr algn="ctr"/>
                      <a:r>
                        <a:rPr sz="800" b="0">
                          <a:solidFill>
                            <a:srgbClr val="1A1A1A"/>
                          </a:solidFill>
                        </a:rPr>
                        <a:t>21.5x</a:t>
                      </a:r>
                    </a:p>
                  </a:txBody>
                  <a:tcPr>
                    <a:noFill/>
                  </a:tcPr>
                </a:tc>
              </a:tr>
              <a:tr h="280000">
                <a:tc>
                  <a:txBody>
                    <a:bodyPr/>
                    <a:lstStyle/>
                    <a:p>
                      <a:pPr algn="ctr"/>
                      <a:r>
                        <a:rPr sz="800" b="0">
                          <a:solidFill>
                            <a:srgbClr val="1A1A1A"/>
                          </a:solidFill>
                        </a:rPr>
                        <a:t>P/E Médiane 10 ans</a:t>
                      </a:r>
                    </a:p>
                  </a:txBody>
                  <a:tcPr>
                    <a:solidFill>
                      <a:srgbClr val="F5F7FA"/>
                    </a:solidFill>
                  </a:tcPr>
                </a:tc>
                <a:tc>
                  <a:txBody>
                    <a:bodyPr/>
                    <a:lstStyle/>
                    <a:p>
                      <a:pPr algn="ctr"/>
                      <a:r>
                        <a:rPr sz="800" b="0">
                          <a:solidFill>
                            <a:srgbClr val="1A1A1A"/>
                          </a:solidFill>
                        </a:rPr>
                        <a:t>18.2x</a:t>
                      </a:r>
                    </a:p>
                  </a:txBody>
                  <a:tcPr>
                    <a:solidFill>
                      <a:srgbClr val="F5F7FA"/>
                    </a:solidFill>
                  </a:tcPr>
                </a:tc>
              </a:tr>
              <a:tr h="28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r>
              <a:tr h="28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r>
              <a:tr h="280000">
                <a:tc>
                  <a:txBody>
                    <a:bodyPr/>
                    <a:lstStyle/>
                    <a:p>
                      <a:pPr algn="ctr"/>
                      <a:r>
                        <a:rPr sz="800" b="0">
                          <a:solidFill>
                            <a:srgbClr val="1A1A1A"/>
                          </a:solidFill>
                        </a:rPr>
                        <a:t>Secteurs analysés</a:t>
                      </a:r>
                    </a:p>
                  </a:txBody>
                  <a:tcPr>
                    <a:noFill/>
                  </a:tcPr>
                </a:tc>
                <a:tc>
                  <a:txBody>
                    <a:bodyPr/>
                    <a:lstStyle/>
                    <a:p>
                      <a:pPr algn="ctr"/>
                      <a:r>
                        <a:rPr sz="800" b="0">
                          <a:solidFill>
                            <a:srgbClr val="1A1A1A"/>
                          </a:solidFill>
                        </a:rPr>
                        <a:t>11</a:t>
                      </a:r>
                    </a:p>
                  </a:txBody>
                  <a:tcPr>
                    <a:noFill/>
                  </a:tcPr>
                </a:tc>
              </a:tr>
              <a:tr h="280000">
                <a:tc>
                  <a:txBody>
                    <a:bodyPr/>
                    <a:lstStyle/>
                    <a:p>
                      <a:pPr algn="ctr"/>
                      <a:r>
                        <a:rPr sz="800" b="0">
                          <a:solidFill>
                            <a:srgbClr val="1A1A1A"/>
                          </a:solidFill>
                        </a:rPr>
                        <a:t>Sociétés couvertes</a:t>
                      </a:r>
                    </a:p>
                  </a:txBody>
                  <a:tcPr>
                    <a:solidFill>
                      <a:srgbClr val="F5F7FA"/>
                    </a:solidFill>
                  </a:tcPr>
                </a:tc>
                <a:tc>
                  <a:txBody>
                    <a:bodyPr/>
                    <a:lstStyle/>
                    <a:p>
                      <a:pPr algn="ctr"/>
                      <a:r>
                        <a:rPr sz="800" b="0">
                          <a:solidFill>
                            <a:srgbClr val="1A1A1A"/>
                          </a:solidFill>
                        </a:rPr>
                        <a:t>503</a:t>
                      </a:r>
                    </a:p>
                  </a:txBody>
                  <a:tcPr>
                    <a:solidFill>
                      <a:srgbClr val="F5F7FA"/>
                    </a:solidFill>
                  </a:tcPr>
                </a:tc>
              </a:tr>
            </a:tbl>
          </a:graphicData>
        </a:graphic>
      </p:graphicFrame>
      <p:sp>
        <p:nvSpPr>
          <p:cNvPr id="18" name="Rectangle 17"/>
          <p:cNvSpPr/>
          <p:nvPr/>
        </p:nvSpPr>
        <p:spPr>
          <a:xfrm>
            <a:off x="324000" y="3528000"/>
            <a:ext cx="8496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24000" y="3528000"/>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2000" y="3582000"/>
            <a:ext cx="8208000" cy="216000"/>
          </a:xfrm>
          <a:prstGeom prst="rect">
            <a:avLst/>
          </a:prstGeom>
          <a:noFill/>
        </p:spPr>
        <p:txBody>
          <a:bodyPr wrap="square">
            <a:spAutoFit/>
          </a:bodyPr>
          <a:lstStyle/>
          <a:p>
            <a:pPr algn="l"/>
            <a:r>
              <a:rPr sz="800" b="1" i="0">
                <a:solidFill>
                  <a:srgbClr val="1B3A6B"/>
                </a:solidFill>
              </a:rPr>
              <a:t>Lecture — Signal global &amp; positionnement sectoriel</a:t>
            </a:r>
          </a:p>
        </p:txBody>
      </p:sp>
      <p:sp>
        <p:nvSpPr>
          <p:cNvPr id="21" name="TextBox 20"/>
          <p:cNvSpPr txBox="1"/>
          <p:nvPr/>
        </p:nvSpPr>
        <p:spPr>
          <a:xfrm>
            <a:off x="432000" y="3816000"/>
            <a:ext cx="8208000" cy="936000"/>
          </a:xfrm>
          <a:prstGeom prst="rect">
            <a:avLst/>
          </a:prstGeom>
          <a:noFill/>
        </p:spPr>
        <p:txBody>
          <a:bodyPr wrap="square">
            <a:spAutoFit/>
          </a:bodyPr>
          <a:lstStyle/>
          <a:p>
            <a:pPr algn="l"/>
            <a:r>
              <a:rPr sz="750" b="0" i="0">
                <a:solidFill>
                  <a:srgbClr val="555555"/>
                </a:solidFill>
              </a:rPr>
              <a:t>Signal global : Neutre (score composite —/100). P/E Forward 21.5x vs mediane historique 18.2x — valorisation proche des normes historiques. ERP Damodaran : 4.2%. Secteurs a Surponderer : Technology  ·  Health Care  ·  Financials. Secteurs a Sous-ponderer : Real Estate  ·  Utilities. 6 secteur(s) en position Neutre. Horizon d'allocation recommande : 12 mois.</a:t>
            </a:r>
          </a:p>
        </p:txBody>
      </p:sp>
      <p:sp>
        <p:nvSpPr>
          <p:cNvPr id="22" name="Rectangle 2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Macro Top-Down</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BPA forward x P/E cible historique  ·  ERP Damodaran  ·  Signaux FRED</a:t>
            </a:r>
          </a:p>
        </p:txBody>
      </p:sp>
      <p:graphicFrame>
        <p:nvGraphicFramePr>
          <p:cNvPr id="15" name="Table 14"/>
          <p:cNvGraphicFramePr>
            <a:graphicFrameLocks noGrp="1"/>
          </p:cNvGraphicFramePr>
          <p:nvPr/>
        </p:nvGraphicFramePr>
        <p:xfrm>
          <a:off x="324000" y="827999"/>
          <a:ext cx="8496000" cy="1800000"/>
        </p:xfrm>
        <a:graphic>
          <a:graphicData uri="http://schemas.openxmlformats.org/drawingml/2006/table">
            <a:tbl>
              <a:tblPr firstRow="1" bandRow="1">
                <a:tableStyleId>{5C22544A-7EE6-4342-B048-85BDC9FD1C3A}</a:tableStyleId>
              </a:tblPr>
              <a:tblGrid>
                <a:gridCol w="1800000"/>
                <a:gridCol w="1080000"/>
                <a:gridCol w="1080000"/>
                <a:gridCol w="4536000"/>
              </a:tblGrid>
              <a:tr h="300000">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vs HISTORIQUE</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00000">
                <a:tc>
                  <a:txBody>
                    <a:bodyPr/>
                    <a:lstStyle/>
                    <a:p>
                      <a:pPr algn="ctr"/>
                      <a:r>
                        <a:rPr sz="800" b="0">
                          <a:solidFill>
                            <a:srgbClr val="1A1A1A"/>
                          </a:solidFill>
                        </a:rPr>
                        <a:t>P/E Forward</a:t>
                      </a:r>
                    </a:p>
                  </a:txBody>
                  <a:tcPr>
                    <a:noFill/>
                  </a:tcPr>
                </a:tc>
                <a:tc>
                  <a:txBody>
                    <a:bodyPr/>
                    <a:lstStyle/>
                    <a:p>
                      <a:pPr algn="ctr"/>
                      <a:r>
                        <a:rPr sz="800" b="0">
                          <a:solidFill>
                            <a:srgbClr val="1A1A1A"/>
                          </a:solidFill>
                        </a:rPr>
                        <a:t>21.5x</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Prime vs mediane 10Y</a:t>
                      </a:r>
                    </a:p>
                  </a:txBody>
                  <a:tcPr>
                    <a:noFill/>
                  </a:tcPr>
                </a:tc>
              </a:tr>
              <a:tr h="300000">
                <a:tc>
                  <a:txBody>
                    <a:bodyPr/>
                    <a:lstStyle/>
                    <a:p>
                      <a:pPr algn="ctr"/>
                      <a:r>
                        <a:rPr sz="800" b="0">
                          <a:solidFill>
                            <a:srgbClr val="1A1A1A"/>
                          </a:solidFill>
                        </a:rPr>
                        <a:t>P/E Mediane 10 ans</a:t>
                      </a:r>
                    </a:p>
                  </a:txBody>
                  <a:tcPr>
                    <a:solidFill>
                      <a:srgbClr val="F5F7FA"/>
                    </a:solidFill>
                  </a:tcPr>
                </a:tc>
                <a:tc>
                  <a:txBody>
                    <a:bodyPr/>
                    <a:lstStyle/>
                    <a:p>
                      <a:pPr algn="ctr"/>
                      <a:r>
                        <a:rPr sz="800" b="0">
                          <a:solidFill>
                            <a:srgbClr val="1A1A1A"/>
                          </a:solidFill>
                        </a:rPr>
                        <a:t>18.2x</a:t>
                      </a:r>
                    </a:p>
                  </a:txBody>
                  <a:tcPr>
                    <a:solidFill>
                      <a:srgbClr val="F5F7FA"/>
                    </a:solidFill>
                  </a:tcPr>
                </a:tc>
                <a:tc>
                  <a:txBody>
                    <a:bodyPr/>
                    <a:lstStyle/>
                    <a:p>
                      <a:pPr algn="ctr"/>
                      <a:r>
                        <a:rPr sz="800" b="0">
                          <a:solidFill>
                            <a:srgbClr val="1A1A1A"/>
                          </a:solidFill>
                        </a:rPr>
                        <a:t>Reference</a:t>
                      </a:r>
                    </a:p>
                  </a:txBody>
                  <a:tcPr>
                    <a:solidFill>
                      <a:srgbClr val="F5F7FA"/>
                    </a:solidFill>
                  </a:tcPr>
                </a:tc>
                <a:tc>
                  <a:txBody>
                    <a:bodyPr/>
                    <a:lstStyle/>
                    <a:p>
                      <a:pPr algn="ctr"/>
                      <a:r>
                        <a:rPr sz="800" b="0">
                          <a:solidFill>
                            <a:srgbClr val="1A1A1A"/>
                          </a:solidFill>
                        </a:rPr>
                        <a:t>Niveau historique normalise</a:t>
                      </a:r>
                    </a:p>
                  </a:txBody>
                  <a:tcPr>
                    <a:solidFill>
                      <a:srgbClr val="F5F7FA"/>
                    </a:solidFill>
                  </a:tcPr>
                </a:tc>
              </a:tr>
              <a:tr h="300000">
                <a:tc>
                  <a:txBody>
                    <a:bodyPr/>
                    <a:lstStyle/>
                    <a:p>
                      <a:pPr algn="ctr"/>
                      <a:r>
                        <a:rPr sz="800" b="0">
                          <a:solidFill>
                            <a:srgbClr val="1A1A1A"/>
                          </a:solidFill>
                        </a:rPr>
                        <a:t>ERP (Damodaran)</a:t>
                      </a:r>
                    </a:p>
                  </a:txBody>
                  <a:tcPr>
                    <a:noFill/>
                  </a:tcPr>
                </a:tc>
                <a:tc>
                  <a:txBody>
                    <a:bodyPr/>
                    <a:lstStyle/>
                    <a:p>
                      <a:pPr algn="ctr"/>
                      <a:r>
                        <a:rPr sz="800" b="0">
                          <a:solidFill>
                            <a:srgbClr val="1A1A1A"/>
                          </a:solidFill>
                        </a:rPr>
                        <a:t>4.2%</a:t>
                      </a:r>
                    </a:p>
                  </a:txBody>
                  <a:tcPr>
                    <a:noFill/>
                  </a:tcPr>
                </a:tc>
                <a:tc>
                  <a:txBody>
                    <a:bodyPr/>
                    <a:lstStyle/>
                    <a:p>
                      <a:pPr algn="ctr"/>
                      <a:r>
                        <a:rPr sz="800" b="0">
                          <a:solidFill>
                            <a:srgbClr val="1A1A1A"/>
                          </a:solidFill>
                        </a:rPr>
                        <a:t>Correct</a:t>
                      </a:r>
                    </a:p>
                  </a:txBody>
                  <a:tcPr>
                    <a:noFill/>
                  </a:tcPr>
                </a:tc>
                <a:tc>
                  <a:txBody>
                    <a:bodyPr/>
                    <a:lstStyle/>
                    <a:p>
                      <a:pPr algn="ctr"/>
                      <a:r>
                        <a:rPr sz="800" b="0">
                          <a:solidFill>
                            <a:srgbClr val="1A1A1A"/>
                          </a:solidFill>
                        </a:rPr>
                        <a:t>Rendement excess equites</a:t>
                      </a:r>
                    </a:p>
                  </a:txBody>
                  <a:tcPr>
                    <a:noFill/>
                  </a:tcPr>
                </a:tc>
              </a:tr>
              <a:tr h="300000">
                <a:tc>
                  <a:txBody>
                    <a:bodyPr/>
                    <a:lstStyle/>
                    <a:p>
                      <a:pPr algn="ctr"/>
                      <a:r>
                        <a:rPr sz="800" b="0">
                          <a:solidFill>
                            <a:srgbClr val="1A1A1A"/>
                          </a:solidFill>
                        </a:rPr>
                        <a:t>Croissance BPA</a:t>
                      </a:r>
                    </a:p>
                  </a:txBody>
                  <a:tcPr>
                    <a:solidFill>
                      <a:srgbClr val="F5F7FA"/>
                    </a:solidFill>
                  </a:tcPr>
                </a:tc>
                <a:tc>
                  <a:txBody>
                    <a:bodyPr/>
                    <a:lstStyle/>
                    <a:p>
                      <a:pPr algn="ctr"/>
                      <a:r>
                        <a:rPr sz="800" b="0">
                          <a:solidFill>
                            <a:srgbClr val="1A1A1A"/>
                          </a:solidFill>
                        </a:rPr>
                        <a:t>+8.5%</a:t>
                      </a:r>
                    </a:p>
                  </a:txBody>
                  <a:tcPr>
                    <a:solidFill>
                      <a:srgbClr val="F5F7FA"/>
                    </a:solidFill>
                  </a:tcPr>
                </a:tc>
                <a:tc>
                  <a:txBody>
                    <a:bodyPr/>
                    <a:lstStyle/>
                    <a:p>
                      <a:pPr algn="ctr"/>
                      <a:r>
                        <a:rPr sz="800" b="0">
                          <a:solidFill>
                            <a:srgbClr val="1A1A1A"/>
                          </a:solidFill>
                        </a:rPr>
                        <a:t>+</a:t>
                      </a:r>
                    </a:p>
                  </a:txBody>
                  <a:tcPr>
                    <a:solidFill>
                      <a:srgbClr val="FDF3E5"/>
                    </a:solidFill>
                  </a:tcPr>
                </a:tc>
                <a:tc>
                  <a:txBody>
                    <a:bodyPr/>
                    <a:lstStyle/>
                    <a:p>
                      <a:pPr algn="ctr"/>
                      <a:r>
                        <a:rPr sz="800" b="0">
                          <a:solidFill>
                            <a:srgbClr val="1A1A1A"/>
                          </a:solidFill>
                        </a:rPr>
                        <a:t>Consensu analystes 12M</a:t>
                      </a:r>
                    </a:p>
                  </a:txBody>
                  <a:tcPr>
                    <a:solidFill>
                      <a:srgbClr val="F5F7FA"/>
                    </a:solidFill>
                  </a:tcPr>
                </a:tc>
              </a:tr>
              <a:tr h="300000">
                <a:tc>
                  <a:txBody>
                    <a:bodyPr/>
                    <a:lstStyle/>
                    <a:p>
                      <a:pPr algn="ctr"/>
                      <a:r>
                        <a:rPr sz="800" b="0">
                          <a:solidFill>
                            <a:srgbClr val="1A1A1A"/>
                          </a:solidFill>
                        </a:rPr>
                        <a:t>Prime/Decote</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Surevalu si &gt; 20 %</a:t>
                      </a:r>
                    </a:p>
                  </a:txBody>
                  <a:tcPr>
                    <a:noFill/>
                  </a:tcPr>
                </a:tc>
                <a:tc>
                  <a:txBody>
                    <a:bodyPr/>
                    <a:lstStyle/>
                    <a:p>
                      <a:pPr algn="ctr"/>
                      <a:r>
                        <a:rPr sz="800" b="0">
                          <a:solidFill>
                            <a:srgbClr val="1A1A1A"/>
                          </a:solidFill>
                        </a:rPr>
                        <a:t>Signal d alerte valorisation</a:t>
                      </a:r>
                    </a:p>
                  </a:txBody>
                  <a:tcPr>
                    <a:noFill/>
                  </a:tcPr>
                </a:tc>
              </a:tr>
            </a:tbl>
          </a:graphicData>
        </a:graphic>
      </p:graphicFrame>
      <p:sp>
        <p:nvSpPr>
          <p:cNvPr id="16" name="Rectangle 15"/>
          <p:cNvSpPr/>
          <p:nvPr/>
        </p:nvSpPr>
        <p:spPr>
          <a:xfrm>
            <a:off x="324000" y="2808000"/>
            <a:ext cx="8496000" cy="199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2808000"/>
            <a:ext cx="43200" cy="19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2862000"/>
            <a:ext cx="8208000" cy="216000"/>
          </a:xfrm>
          <a:prstGeom prst="rect">
            <a:avLst/>
          </a:prstGeom>
          <a:noFill/>
        </p:spPr>
        <p:txBody>
          <a:bodyPr wrap="square">
            <a:spAutoFit/>
          </a:bodyPr>
          <a:lstStyle/>
          <a:p>
            <a:pPr algn="l"/>
            <a:r>
              <a:rPr sz="800" b="1" i="0">
                <a:solidFill>
                  <a:srgbClr val="1B3A6B"/>
                </a:solidFill>
              </a:rPr>
              <a:t>Lecture analytique — Valorisation macro</a:t>
            </a:r>
          </a:p>
        </p:txBody>
      </p:sp>
      <p:sp>
        <p:nvSpPr>
          <p:cNvPr id="19" name="TextBox 18"/>
          <p:cNvSpPr txBox="1"/>
          <p:nvPr/>
        </p:nvSpPr>
        <p:spPr>
          <a:xfrm>
            <a:off x="432000" y="3096000"/>
            <a:ext cx="8208000" cy="1673999"/>
          </a:xfrm>
          <a:prstGeom prst="rect">
            <a:avLst/>
          </a:prstGeom>
          <a:noFill/>
        </p:spPr>
        <p:txBody>
          <a:bodyPr wrap="square">
            <a:spAutoFit/>
          </a:bodyPr>
          <a:lstStyle/>
          <a:p>
            <a:pPr algn="l"/>
            <a:r>
              <a:rPr sz="750" b="0" i="0">
                <a:solidFill>
                  <a:srgbClr val="555555"/>
                </a:solidFill>
              </a:rPr>
              <a:t>Le P/E Forward a 21.5x s'inscrit en prime de 18% par rapport a la mediane 10 ans (18.2x), justifie en partie par la monetisation de l'IA et la qualite superieure des marges. L'ERP ressort a 4.2% — niveau attractif mais contraint par le 10Y US a 4.3%. La compression de multiple reste le principal risque si les taux LT demeurent restrictifs. Le secteur Technologie (P/E 28.5x vs mediane 22x) concentre la prime de valorisation.</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Positionnement dans le Cycle Economique</a:t>
            </a:r>
          </a:p>
        </p:txBody>
      </p:sp>
      <p:sp>
        <p:nvSpPr>
          <p:cNvPr id="4" name="Rectangle 3"/>
          <p:cNvSpPr/>
          <p:nvPr/>
        </p:nvSpPr>
        <p:spPr>
          <a:xfrm>
            <a:off x="7848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1A1A1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Phase actuelle : Expansion avancee  ·  Signaux FRED  ·  Modele 4 phases</a:t>
            </a:r>
          </a:p>
        </p:txBody>
      </p:sp>
      <p:sp>
        <p:nvSpPr>
          <p:cNvPr id="15" name="Rectangle 14"/>
          <p:cNvSpPr/>
          <p:nvPr/>
        </p:nvSpPr>
        <p:spPr>
          <a:xfrm>
            <a:off x="324000" y="827999"/>
            <a:ext cx="2951999" cy="234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951999" cy="251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2808000" cy="216000"/>
          </a:xfrm>
          <a:prstGeom prst="rect">
            <a:avLst/>
          </a:prstGeom>
          <a:noFill/>
        </p:spPr>
        <p:txBody>
          <a:bodyPr wrap="square">
            <a:spAutoFit/>
          </a:bodyPr>
          <a:lstStyle/>
          <a:p>
            <a:pPr algn="l"/>
            <a:r>
              <a:rPr sz="800" b="1" i="0">
                <a:solidFill>
                  <a:srgbClr val="FFFFFF"/>
                </a:solidFill>
              </a:rPr>
              <a:t>PHASE ACTUELLE</a:t>
            </a:r>
          </a:p>
        </p:txBody>
      </p:sp>
      <p:sp>
        <p:nvSpPr>
          <p:cNvPr id="18" name="TextBox 17"/>
          <p:cNvSpPr txBox="1"/>
          <p:nvPr/>
        </p:nvSpPr>
        <p:spPr>
          <a:xfrm>
            <a:off x="396000" y="1152000"/>
            <a:ext cx="2808000" cy="360000"/>
          </a:xfrm>
          <a:prstGeom prst="rect">
            <a:avLst/>
          </a:prstGeom>
          <a:noFill/>
        </p:spPr>
        <p:txBody>
          <a:bodyPr wrap="square">
            <a:spAutoFit/>
          </a:bodyPr>
          <a:lstStyle/>
          <a:p>
            <a:pPr algn="l"/>
            <a:r>
              <a:rPr sz="1800" b="1" i="0">
                <a:solidFill>
                  <a:srgbClr val="FFFFFF"/>
                </a:solidFill>
              </a:rPr>
              <a:t>Expansion</a:t>
            </a:r>
          </a:p>
        </p:txBody>
      </p:sp>
      <p:sp>
        <p:nvSpPr>
          <p:cNvPr id="19" name="TextBox 18"/>
          <p:cNvSpPr txBox="1"/>
          <p:nvPr/>
        </p:nvSpPr>
        <p:spPr>
          <a:xfrm>
            <a:off x="396000" y="1512000"/>
            <a:ext cx="2808000" cy="306000"/>
          </a:xfrm>
          <a:prstGeom prst="rect">
            <a:avLst/>
          </a:prstGeom>
          <a:noFill/>
        </p:spPr>
        <p:txBody>
          <a:bodyPr wrap="square">
            <a:spAutoFit/>
          </a:bodyPr>
          <a:lstStyle/>
          <a:p>
            <a:pPr algn="l"/>
            <a:r>
              <a:rPr sz="1300" b="0" i="0">
                <a:solidFill>
                  <a:srgbClr val="AAAAAA"/>
                </a:solidFill>
              </a:rPr>
              <a:t>avancee</a:t>
            </a:r>
          </a:p>
        </p:txBody>
      </p:sp>
      <p:sp>
        <p:nvSpPr>
          <p:cNvPr id="20" name="TextBox 19"/>
          <p:cNvSpPr txBox="1"/>
          <p:nvPr/>
        </p:nvSpPr>
        <p:spPr>
          <a:xfrm>
            <a:off x="396000" y="1908000"/>
            <a:ext cx="2808000" cy="720000"/>
          </a:xfrm>
          <a:prstGeom prst="rect">
            <a:avLst/>
          </a:prstGeom>
          <a:noFill/>
        </p:spPr>
        <p:txBody>
          <a:bodyPr wrap="square">
            <a:spAutoFit/>
          </a:bodyPr>
          <a:lstStyle/>
          <a:p>
            <a:pPr algn="l"/>
            <a:r>
              <a:rPr sz="800" b="0" i="0">
                <a:solidFill>
                  <a:srgbClr val="AAAAAA"/>
                </a:solidFill>
              </a:rPr>
              <a:t>Milieu-fin de cycle — ISM proche 50, courbe taux normalisee</a:t>
            </a:r>
          </a:p>
        </p:txBody>
      </p:sp>
      <p:sp>
        <p:nvSpPr>
          <p:cNvPr id="21" name="TextBox 20"/>
          <p:cNvSpPr txBox="1"/>
          <p:nvPr/>
        </p:nvSpPr>
        <p:spPr>
          <a:xfrm>
            <a:off x="396000" y="2664000"/>
            <a:ext cx="2808000" cy="468000"/>
          </a:xfrm>
          <a:prstGeom prst="rect">
            <a:avLst/>
          </a:prstGeom>
          <a:noFill/>
        </p:spPr>
        <p:txBody>
          <a:bodyPr wrap="square">
            <a:spAutoFit/>
          </a:bodyPr>
          <a:lstStyle/>
          <a:p>
            <a:pPr algn="l"/>
            <a:r>
              <a:rPr sz="750" b="0" i="0">
                <a:solidFill>
                  <a:srgbClr val="AAAAAA"/>
                </a:solidFill>
              </a:rPr>
              <a:t>L'analyse des indicateurs avancees positionne le cycle en phase d'expansion avancee : ISM Manufacturier autour du seuil...</a:t>
            </a:r>
          </a:p>
        </p:txBody>
      </p:sp>
      <p:graphicFrame>
        <p:nvGraphicFramePr>
          <p:cNvPr id="22" name="Table 21"/>
          <p:cNvGraphicFramePr>
            <a:graphicFrameLocks noGrp="1"/>
          </p:cNvGraphicFramePr>
          <p:nvPr/>
        </p:nvGraphicFramePr>
        <p:xfrm>
          <a:off x="3420000" y="827999"/>
          <a:ext cx="5400000" cy="1871999"/>
        </p:xfrm>
        <a:graphic>
          <a:graphicData uri="http://schemas.openxmlformats.org/drawingml/2006/table">
            <a:tbl>
              <a:tblPr firstRow="1" bandRow="1">
                <a:tableStyleId>{5C22544A-7EE6-4342-B048-85BDC9FD1C3A}</a:tableStyleId>
              </a:tblPr>
              <a:tblGrid>
                <a:gridCol w="1800000"/>
                <a:gridCol w="900000"/>
                <a:gridCol w="2700000"/>
              </a:tblGrid>
              <a:tr h="311999">
                <a:tc>
                  <a:txBody>
                    <a:bodyPr/>
                    <a:lstStyle/>
                    <a:p>
                      <a:pPr algn="ctr"/>
                      <a:r>
                        <a:rPr sz="800" b="1">
                          <a:solidFill>
                            <a:srgbClr val="FFFFFF"/>
                          </a:solidFill>
                        </a:rPr>
                        <a:t>INDICATEUR</a:t>
                      </a:r>
                    </a:p>
                  </a:txBody>
                  <a:tcPr>
                    <a:solidFill>
                      <a:srgbClr val="1B3A6B"/>
                    </a:solidFill>
                  </a:tcPr>
                </a:tc>
                <a:tc>
                  <a:txBody>
                    <a:bodyPr/>
                    <a:lstStyle/>
                    <a:p>
                      <a:pPr algn="ctr"/>
                      <a:r>
                        <a:rPr sz="800" b="1">
                          <a:solidFill>
                            <a:srgbClr val="FFFFFF"/>
                          </a:solidFill>
                        </a:rPr>
                        <a:t>VALEUR</a:t>
                      </a:r>
                    </a:p>
                  </a:txBody>
                  <a:tcPr>
                    <a:solidFill>
                      <a:srgbClr val="1B3A6B"/>
                    </a:solidFill>
                  </a:tcPr>
                </a:tc>
                <a:tc>
                  <a:txBody>
                    <a:bodyPr/>
                    <a:lstStyle/>
                    <a:p>
                      <a:pPr algn="ctr"/>
                      <a:r>
                        <a:rPr sz="800" b="1">
                          <a:solidFill>
                            <a:srgbClr val="FFFFFF"/>
                          </a:solidFill>
                        </a:rPr>
                        <a:t>INTERPRETATION</a:t>
                      </a:r>
                    </a:p>
                  </a:txBody>
                  <a:tcPr>
                    <a:solidFill>
                      <a:srgbClr val="1B3A6B"/>
                    </a:solidFill>
                  </a:tcPr>
                </a:tc>
              </a:tr>
              <a:tr h="311999">
                <a:tc>
                  <a:txBody>
                    <a:bodyPr/>
                    <a:lstStyle/>
                    <a:p>
                      <a:pPr algn="ctr"/>
                      <a:r>
                        <a:rPr sz="800" b="0">
                          <a:solidFill>
                            <a:srgbClr val="1A1A1A"/>
                          </a:solidFill>
                        </a:rPr>
                        <a:t>PMI Composite</a:t>
                      </a:r>
                    </a:p>
                  </a:txBody>
                  <a:tcPr>
                    <a:noFill/>
                  </a:tcPr>
                </a:tc>
                <a:tc>
                  <a:txBody>
                    <a:bodyPr/>
                    <a:lstStyle/>
                    <a:p>
                      <a:pPr algn="ctr"/>
                      <a:r>
                        <a:rPr sz="800" b="0">
                          <a:solidFill>
                            <a:srgbClr val="1A1A1A"/>
                          </a:solidFill>
                        </a:rPr>
                        <a:t>51,2</a:t>
                      </a:r>
                    </a:p>
                  </a:txBody>
                  <a:tcPr>
                    <a:noFill/>
                  </a:tcPr>
                </a:tc>
                <a:tc>
                  <a:txBody>
                    <a:bodyPr/>
                    <a:lstStyle/>
                    <a:p>
                      <a:pPr algn="ctr"/>
                      <a:r>
                        <a:rPr sz="800" b="0">
                          <a:solidFill>
                            <a:srgbClr val="1A1A1A"/>
                          </a:solidFill>
                        </a:rPr>
                        <a:t>Expansion moderee</a:t>
                      </a:r>
                    </a:p>
                  </a:txBody>
                  <a:tcPr>
                    <a:noFill/>
                  </a:tcPr>
                </a:tc>
              </a:tr>
              <a:tr h="311999">
                <a:tc>
                  <a:txBody>
                    <a:bodyPr/>
                    <a:lstStyle/>
                    <a:p>
                      <a:pPr algn="ctr"/>
                      <a:r>
                        <a:rPr sz="800" b="0">
                          <a:solidFill>
                            <a:srgbClr val="1A1A1A"/>
                          </a:solidFill>
                        </a:rPr>
                        <a:t>Courbe 10Y-2Y</a:t>
                      </a:r>
                    </a:p>
                  </a:txBody>
                  <a:tcPr>
                    <a:solidFill>
                      <a:srgbClr val="F5F7FA"/>
                    </a:solidFill>
                  </a:tcPr>
                </a:tc>
                <a:tc>
                  <a:txBody>
                    <a:bodyPr/>
                    <a:lstStyle/>
                    <a:p>
                      <a:pPr algn="ctr"/>
                      <a:r>
                        <a:rPr sz="800" b="0">
                          <a:solidFill>
                            <a:srgbClr val="1A1A1A"/>
                          </a:solidFill>
                        </a:rPr>
                        <a:t>-0,12 %</a:t>
                      </a:r>
                    </a:p>
                  </a:txBody>
                  <a:tcPr>
                    <a:solidFill>
                      <a:srgbClr val="F5F7FA"/>
                    </a:solidFill>
                  </a:tcPr>
                </a:tc>
                <a:tc>
                  <a:txBody>
                    <a:bodyPr/>
                    <a:lstStyle/>
                    <a:p>
                      <a:pPr algn="ctr"/>
                      <a:r>
                        <a:rPr sz="800" b="0">
                          <a:solidFill>
                            <a:srgbClr val="1A1A1A"/>
                          </a:solidFill>
                        </a:rPr>
                        <a:t>Legerement inversee</a:t>
                      </a:r>
                    </a:p>
                  </a:txBody>
                  <a:tcPr>
                    <a:solidFill>
                      <a:srgbClr val="F5F7FA"/>
                    </a:solidFill>
                  </a:tcPr>
                </a:tc>
              </a:tr>
              <a:tr h="311999">
                <a:tc>
                  <a:txBody>
                    <a:bodyPr/>
                    <a:lstStyle/>
                    <a:p>
                      <a:pPr algn="ctr"/>
                      <a:r>
                        <a:rPr sz="800" b="0">
                          <a:solidFill>
                            <a:srgbClr val="1A1A1A"/>
                          </a:solidFill>
                        </a:rPr>
                        <a:t>ISM Manuf.</a:t>
                      </a:r>
                    </a:p>
                  </a:txBody>
                  <a:tcPr>
                    <a:noFill/>
                  </a:tcPr>
                </a:tc>
                <a:tc>
                  <a:txBody>
                    <a:bodyPr/>
                    <a:lstStyle/>
                    <a:p>
                      <a:pPr algn="ctr"/>
                      <a:r>
                        <a:rPr sz="800" b="0">
                          <a:solidFill>
                            <a:srgbClr val="1A1A1A"/>
                          </a:solidFill>
                        </a:rPr>
                        <a:t>49,8</a:t>
                      </a:r>
                    </a:p>
                  </a:txBody>
                  <a:tcPr>
                    <a:noFill/>
                  </a:tcPr>
                </a:tc>
                <a:tc>
                  <a:txBody>
                    <a:bodyPr/>
                    <a:lstStyle/>
                    <a:p>
                      <a:pPr algn="ctr"/>
                      <a:r>
                        <a:rPr sz="800" b="0">
                          <a:solidFill>
                            <a:srgbClr val="1A1A1A"/>
                          </a:solidFill>
                        </a:rPr>
                        <a:t>Sous expansion</a:t>
                      </a:r>
                    </a:p>
                  </a:txBody>
                  <a:tcPr>
                    <a:noFill/>
                  </a:tcPr>
                </a:tc>
              </a:tr>
              <a:tr h="311999">
                <a:tc>
                  <a:txBody>
                    <a:bodyPr/>
                    <a:lstStyle/>
                    <a:p>
                      <a:pPr algn="ctr"/>
                      <a:r>
                        <a:rPr sz="800" b="0">
                          <a:solidFill>
                            <a:srgbClr val="1A1A1A"/>
                          </a:solidFill>
                        </a:rPr>
                        <a:t>Chomage</a:t>
                      </a:r>
                    </a:p>
                  </a:txBody>
                  <a:tcPr>
                    <a:solidFill>
                      <a:srgbClr val="F5F7FA"/>
                    </a:solidFill>
                  </a:tcPr>
                </a:tc>
                <a:tc>
                  <a:txBody>
                    <a:bodyPr/>
                    <a:lstStyle/>
                    <a:p>
                      <a:pPr algn="ctr"/>
                      <a:r>
                        <a:rPr sz="800" b="0">
                          <a:solidFill>
                            <a:srgbClr val="1A1A1A"/>
                          </a:solidFill>
                        </a:rPr>
                        <a:t>3,9 %</a:t>
                      </a:r>
                    </a:p>
                  </a:txBody>
                  <a:tcPr>
                    <a:solidFill>
                      <a:srgbClr val="F5F7FA"/>
                    </a:solidFill>
                  </a:tcPr>
                </a:tc>
                <a:tc>
                  <a:txBody>
                    <a:bodyPr/>
                    <a:lstStyle/>
                    <a:p>
                      <a:pPr algn="ctr"/>
                      <a:r>
                        <a:rPr sz="800" b="0">
                          <a:solidFill>
                            <a:srgbClr val="1A1A1A"/>
                          </a:solidFill>
                        </a:rPr>
                        <a:t>Marche solide</a:t>
                      </a:r>
                    </a:p>
                  </a:txBody>
                  <a:tcPr>
                    <a:solidFill>
                      <a:srgbClr val="F5F7FA"/>
                    </a:solidFill>
                  </a:tcPr>
                </a:tc>
              </a:tr>
              <a:tr h="312004">
                <a:tc>
                  <a:txBody>
                    <a:bodyPr/>
                    <a:lstStyle/>
                    <a:p>
                      <a:pPr algn="ctr"/>
                      <a:r>
                        <a:rPr sz="800" b="0">
                          <a:solidFill>
                            <a:srgbClr val="1A1A1A"/>
                          </a:solidFill>
                        </a:rPr>
                        <a:t>CPI YoY</a:t>
                      </a:r>
                    </a:p>
                  </a:txBody>
                  <a:tcPr>
                    <a:noFill/>
                  </a:tcPr>
                </a:tc>
                <a:tc>
                  <a:txBody>
                    <a:bodyPr/>
                    <a:lstStyle/>
                    <a:p>
                      <a:pPr algn="ctr"/>
                      <a:r>
                        <a:rPr sz="800" b="0">
                          <a:solidFill>
                            <a:srgbClr val="1A1A1A"/>
                          </a:solidFill>
                        </a:rPr>
                        <a:t>3,1 %</a:t>
                      </a:r>
                    </a:p>
                  </a:txBody>
                  <a:tcPr>
                    <a:noFill/>
                  </a:tcPr>
                </a:tc>
                <a:tc>
                  <a:txBody>
                    <a:bodyPr/>
                    <a:lstStyle/>
                    <a:p>
                      <a:pPr algn="ctr"/>
                      <a:r>
                        <a:rPr sz="800" b="0">
                          <a:solidFill>
                            <a:srgbClr val="1A1A1A"/>
                          </a:solidFill>
                        </a:rPr>
                        <a:t>Au-dessus cible</a:t>
                      </a:r>
                    </a:p>
                  </a:txBody>
                  <a:tcPr>
                    <a:noFill/>
                  </a:tcPr>
                </a:tc>
              </a:tr>
            </a:tbl>
          </a:graphicData>
        </a:graphic>
      </p:graphicFrame>
      <p:sp>
        <p:nvSpPr>
          <p:cNvPr id="23" name="Rectangle 22"/>
          <p:cNvSpPr/>
          <p:nvPr/>
        </p:nvSpPr>
        <p:spPr>
          <a:xfrm>
            <a:off x="3420000" y="3348000"/>
            <a:ext cx="5400000" cy="104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3420000" y="3348000"/>
            <a:ext cx="36000" cy="104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528000" y="3384000"/>
            <a:ext cx="5220000" cy="216000"/>
          </a:xfrm>
          <a:prstGeom prst="rect">
            <a:avLst/>
          </a:prstGeom>
          <a:noFill/>
        </p:spPr>
        <p:txBody>
          <a:bodyPr wrap="square">
            <a:spAutoFit/>
          </a:bodyPr>
          <a:lstStyle/>
          <a:p>
            <a:pPr algn="l"/>
            <a:r>
              <a:rPr sz="800" b="1" i="0">
                <a:solidFill>
                  <a:srgbClr val="1B3A6B"/>
                </a:solidFill>
              </a:rPr>
              <a:t>Allocation recommandee selon le positionnement de cycle</a:t>
            </a:r>
          </a:p>
        </p:txBody>
      </p:sp>
      <p:sp>
        <p:nvSpPr>
          <p:cNvPr id="26" name="TextBox 25"/>
          <p:cNvSpPr txBox="1"/>
          <p:nvPr/>
        </p:nvSpPr>
        <p:spPr>
          <a:xfrm>
            <a:off x="3528000" y="3600000"/>
            <a:ext cx="5220000" cy="720000"/>
          </a:xfrm>
          <a:prstGeom prst="rect">
            <a:avLst/>
          </a:prstGeom>
          <a:noFill/>
        </p:spPr>
        <p:txBody>
          <a:bodyPr wrap="square">
            <a:spAutoFit/>
          </a:bodyPr>
          <a:lstStyle/>
          <a:p>
            <a:pPr algn="l"/>
            <a:r>
              <a:rPr sz="750" b="0" i="0">
                <a:solidFill>
                  <a:srgbClr val="555555"/>
                </a:solidFill>
              </a:rPr>
              <a:t>L'analyse des indicateurs avancees positionne le cycle en phase d'expansion avancee : ISM Manufacturier autour du seuil 50 (49.8), courbe des taux partiellement normalisee (10Y-2Y +0.2%), Leading Indicators OCDE en legere hausse. Cette configuration favorise les secteurs avec forte visibilite BPA et moindre sensibilite aux taux : Technology, Health Care, Financials. Les secteurs defensifs (Consumer Staples,...</a:t>
            </a:r>
          </a:p>
        </p:txBody>
      </p:sp>
      <p:sp>
        <p:nvSpPr>
          <p:cNvPr id="27" name="Rectangle 26"/>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02</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Cartographie des Secteurs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11 secteurs GICS · Scores · Scatter valorisation · Décomposition</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Cartographie des Secteurs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503 sociétés  ·  Tri par score FinSight décroissant</a:t>
            </a:r>
          </a:p>
        </p:txBody>
      </p:sp>
      <p:graphicFrame>
        <p:nvGraphicFramePr>
          <p:cNvPr id="15" name="Table 14"/>
          <p:cNvGraphicFramePr>
            <a:graphicFrameLocks noGrp="1"/>
          </p:cNvGraphicFramePr>
          <p:nvPr/>
        </p:nvGraphicFramePr>
        <p:xfrm>
          <a:off x="324000" y="827999"/>
          <a:ext cx="8495998" cy="2700000"/>
        </p:xfrm>
        <a:graphic>
          <a:graphicData uri="http://schemas.openxmlformats.org/drawingml/2006/table">
            <a:tbl>
              <a:tblPr firstRow="1" bandRow="1">
                <a:tableStyleId>{5C22544A-7EE6-4342-B048-85BDC9FD1C3A}</a:tableStyleId>
              </a:tblPr>
              <a:tblGrid>
                <a:gridCol w="420594"/>
                <a:gridCol w="1892673"/>
                <a:gridCol w="630891"/>
                <a:gridCol w="1345900"/>
                <a:gridCol w="1051485"/>
                <a:gridCol w="1051485"/>
                <a:gridCol w="1051485"/>
                <a:gridCol w="1051485"/>
              </a:tblGrid>
              <a:tr h="225000">
                <a:tc>
                  <a:txBody>
                    <a:bodyPr/>
                    <a:lstStyle/>
                    <a:p>
                      <a:pPr algn="ctr"/>
                      <a:r>
                        <a:rPr sz="800" b="1">
                          <a:solidFill>
                            <a:srgbClr val="FFFFFF"/>
                          </a:solidFill>
                        </a:rPr>
                        <a:t>Rg</a:t>
                      </a:r>
                    </a:p>
                  </a:txBody>
                  <a:tcPr>
                    <a:solidFill>
                      <a:srgbClr val="1B3A6B"/>
                    </a:solidFill>
                  </a:tcPr>
                </a:tc>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a:t>
                      </a:r>
                    </a:p>
                  </a:txBody>
                  <a:tcPr>
                    <a:solidFill>
                      <a:srgbClr val="1B3A6B"/>
                    </a:solidFill>
                  </a:tcPr>
                </a:tc>
                <a:tc>
                  <a:txBody>
                    <a:bodyPr/>
                    <a:lstStyle/>
                    <a:p>
                      <a:pPr algn="ctr"/>
                      <a:r>
                        <a:rPr sz="800" b="1">
                          <a:solidFill>
                            <a:srgbClr val="FFFFFF"/>
                          </a:solidFill>
                        </a:rPr>
                        <a:t>Signal</a:t>
                      </a:r>
                    </a:p>
                  </a:txBody>
                  <a:tcPr>
                    <a:solidFill>
                      <a:srgbClr val="1B3A6B"/>
                    </a:solidFill>
                  </a:tcPr>
                </a:tc>
                <a:tc>
                  <a:txBody>
                    <a:bodyPr/>
                    <a:lstStyle/>
                    <a:p>
                      <a:pPr algn="ctr"/>
                      <a:r>
                        <a:rPr sz="800" b="1">
                          <a:solidFill>
                            <a:srgbClr val="FFFFFF"/>
                          </a:solidFill>
                        </a:rPr>
                        <a:t>Mg.EBITDA</a:t>
                      </a:r>
                    </a:p>
                  </a:txBody>
                  <a:tcPr>
                    <a:solidFill>
                      <a:srgbClr val="1B3A6B"/>
                    </a:solidFill>
                  </a:tcPr>
                </a:tc>
                <a:tc>
                  <a:txBody>
                    <a:bodyPr/>
                    <a:lstStyle/>
                    <a:p>
                      <a:pPr algn="ctr"/>
                      <a:r>
                        <a:rPr sz="800" b="1">
                          <a:solidFill>
                            <a:srgbClr val="FFFFFF"/>
                          </a:solidFill>
                        </a:rPr>
                        <a:t>Croiss.</a:t>
                      </a:r>
                    </a:p>
                  </a:txBody>
                  <a:tcPr>
                    <a:solidFill>
                      <a:srgbClr val="1B3A6B"/>
                    </a:solidFill>
                  </a:tcPr>
                </a:tc>
                <a:tc>
                  <a:txBody>
                    <a:bodyPr/>
                    <a:lstStyle/>
                    <a:p>
                      <a:pPr algn="ctr"/>
                      <a:r>
                        <a:rPr sz="800" b="1">
                          <a:solidFill>
                            <a:srgbClr val="FFFFFF"/>
                          </a:solidFill>
                        </a:rPr>
                        <a:t>P/Book</a:t>
                      </a:r>
                    </a:p>
                  </a:txBody>
                  <a:tcPr>
                    <a:solidFill>
                      <a:srgbClr val="1B3A6B"/>
                    </a:solidFill>
                  </a:tcPr>
                </a:tc>
                <a:tc>
                  <a:txBody>
                    <a:bodyPr/>
                    <a:lstStyle/>
                    <a:p>
                      <a:pPr algn="ctr"/>
                      <a:r>
                        <a:rPr sz="800" b="1">
                          <a:solidFill>
                            <a:srgbClr val="FFFFFF"/>
                          </a:solidFill>
                        </a:rPr>
                        <a:t>Div.Yield</a:t>
                      </a:r>
                    </a:p>
                  </a:txBody>
                  <a:tcPr>
                    <a:solidFill>
                      <a:srgbClr val="1B3A6B"/>
                    </a:solidFill>
                  </a:tcPr>
                </a:tc>
              </a:tr>
              <a:tr h="225000">
                <a:tc>
                  <a:txBody>
                    <a:bodyPr/>
                    <a:lstStyle/>
                    <a:p>
                      <a:pPr algn="ctr"/>
                      <a:r>
                        <a:rPr sz="800" b="0">
                          <a:solidFill>
                            <a:srgbClr val="1A1A1A"/>
                          </a:solidFill>
                        </a:rPr>
                        <a:t>1</a:t>
                      </a:r>
                    </a:p>
                  </a:txBody>
                  <a:tcPr>
                    <a:noFill/>
                  </a:tcPr>
                </a:tc>
                <a:tc>
                  <a:txBody>
                    <a:bodyPr/>
                    <a:lstStyle/>
                    <a:p>
                      <a:pPr algn="ctr"/>
                      <a:r>
                        <a:rPr sz="800" b="0">
                          <a:solidFill>
                            <a:srgbClr val="1A1A1A"/>
                          </a:solidFill>
                        </a:rPr>
                        <a:t>Technology</a:t>
                      </a:r>
                    </a:p>
                  </a:txBody>
                  <a:tcPr>
                    <a:noFill/>
                  </a:tcPr>
                </a:tc>
                <a:tc>
                  <a:txBody>
                    <a:bodyPr/>
                    <a:lstStyle/>
                    <a:p>
                      <a:pPr algn="ctr"/>
                      <a:r>
                        <a:rPr sz="800" b="0">
                          <a:solidFill>
                            <a:srgbClr val="1A1A1A"/>
                          </a:solidFill>
                        </a:rPr>
                        <a:t>72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28.4%</a:t>
                      </a:r>
                    </a:p>
                  </a:txBody>
                  <a:tcPr>
                    <a:noFill/>
                  </a:tcPr>
                </a:tc>
                <a:tc>
                  <a:txBody>
                    <a:bodyPr/>
                    <a:lstStyle/>
                    <a:p>
                      <a:pPr algn="ctr"/>
                      <a:r>
                        <a:rPr sz="800" b="0">
                          <a:solidFill>
                            <a:srgbClr val="1A1A1A"/>
                          </a:solidFill>
                        </a:rPr>
                        <a:t>+14.2%</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2</a:t>
                      </a:r>
                    </a:p>
                  </a:txBody>
                  <a:tcPr>
                    <a:solidFill>
                      <a:srgbClr val="F5F7FA"/>
                    </a:solidFill>
                  </a:tcPr>
                </a:tc>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65</a:t>
                      </a:r>
                    </a:p>
                  </a:txBody>
                  <a:tcPr>
                    <a:solidFill>
                      <a:srgbClr val="F5F7FA"/>
                    </a:solid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22.1%</a:t>
                      </a:r>
                    </a:p>
                  </a:txBody>
                  <a:tcPr>
                    <a:solidFill>
                      <a:srgbClr val="F5F7FA"/>
                    </a:solidFill>
                  </a:tcPr>
                </a:tc>
                <a:tc>
                  <a:txBody>
                    <a:bodyPr/>
                    <a:lstStyle/>
                    <a:p>
                      <a:pPr algn="ctr"/>
                      <a:r>
                        <a:rPr sz="800" b="0">
                          <a:solidFill>
                            <a:srgbClr val="1A1A1A"/>
                          </a:solidFill>
                        </a:rPr>
                        <a:t>+9.8%</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3</a:t>
                      </a:r>
                    </a:p>
                  </a:txBody>
                  <a:tcPr>
                    <a:noFill/>
                  </a:tcPr>
                </a:tc>
                <a:tc>
                  <a:txBody>
                    <a:bodyPr/>
                    <a:lstStyle/>
                    <a:p>
                      <a:pPr algn="ctr"/>
                      <a:r>
                        <a:rPr sz="800" b="0">
                          <a:solidFill>
                            <a:srgbClr val="1A1A1A"/>
                          </a:solidFill>
                        </a:rPr>
                        <a:t>Financials</a:t>
                      </a:r>
                    </a:p>
                  </a:txBody>
                  <a:tcPr>
                    <a:noFill/>
                  </a:tcPr>
                </a:tc>
                <a:tc>
                  <a:txBody>
                    <a:bodyPr/>
                    <a:lstStyle/>
                    <a:p>
                      <a:pPr algn="ctr"/>
                      <a:r>
                        <a:rPr sz="800" b="0">
                          <a:solidFill>
                            <a:srgbClr val="1A1A1A"/>
                          </a:solidFill>
                        </a:rPr>
                        <a:t>62</a:t>
                      </a:r>
                    </a:p>
                  </a:txBody>
                  <a:tcPr>
                    <a:noFill/>
                  </a:tcPr>
                </a:tc>
                <a:tc>
                  <a:txBody>
                    <a:bodyPr/>
                    <a:lstStyle/>
                    <a:p>
                      <a:pPr algn="ctr"/>
                      <a:r>
                        <a:rPr sz="800" b="0">
                          <a:solidFill>
                            <a:srgbClr val="1A7A4A"/>
                          </a:solidFill>
                        </a:rPr>
                        <a:t>Surpondérer</a:t>
                      </a:r>
                    </a:p>
                  </a:txBody>
                  <a:tcPr>
                    <a:solidFill>
                      <a:srgbClr val="E8F5EE"/>
                    </a:solidFill>
                  </a:tcPr>
                </a:tc>
                <a:tc>
                  <a:txBody>
                    <a:bodyPr/>
                    <a:lstStyle/>
                    <a:p>
                      <a:pPr algn="ctr"/>
                      <a:r>
                        <a:rPr sz="800" b="0">
                          <a:solidFill>
                            <a:srgbClr val="1A1A1A"/>
                          </a:solidFill>
                        </a:rPr>
                        <a:t>31.2%</a:t>
                      </a:r>
                    </a:p>
                  </a:txBody>
                  <a:tcPr>
                    <a:noFill/>
                  </a:tcPr>
                </a:tc>
                <a:tc>
                  <a:txBody>
                    <a:bodyPr/>
                    <a:lstStyle/>
                    <a:p>
                      <a:pPr algn="ctr"/>
                      <a:r>
                        <a:rPr sz="800" b="0">
                          <a:solidFill>
                            <a:srgbClr val="1A1A1A"/>
                          </a:solidFill>
                        </a:rPr>
                        <a:t>+11.4%</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4</a:t>
                      </a:r>
                    </a:p>
                  </a:txBody>
                  <a:tcPr>
                    <a:solidFill>
                      <a:srgbClr val="F5F7FA"/>
                    </a:solidFill>
                  </a:tcPr>
                </a:tc>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58</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24.6%</a:t>
                      </a:r>
                    </a:p>
                  </a:txBody>
                  <a:tcPr>
                    <a:solidFill>
                      <a:srgbClr val="F5F7FA"/>
                    </a:solidFill>
                  </a:tcPr>
                </a:tc>
                <a:tc>
                  <a:txBody>
                    <a:bodyPr/>
                    <a:lstStyle/>
                    <a:p>
                      <a:pPr algn="ctr"/>
                      <a:r>
                        <a:rPr sz="800" b="0">
                          <a:solidFill>
                            <a:srgbClr val="1A1A1A"/>
                          </a:solidFill>
                        </a:rPr>
                        <a:t>+10.1%</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5</a:t>
                      </a:r>
                    </a:p>
                  </a:txBody>
                  <a:tcPr>
                    <a:noFill/>
                  </a:tcPr>
                </a:tc>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14.8%</a:t>
                      </a:r>
                    </a:p>
                  </a:txBody>
                  <a:tcPr>
                    <a:noFill/>
                  </a:tcPr>
                </a:tc>
                <a:tc>
                  <a:txBody>
                    <a:bodyPr/>
                    <a:lstStyle/>
                    <a:p>
                      <a:pPr algn="ctr"/>
                      <a:r>
                        <a:rPr sz="800" b="0">
                          <a:solidFill>
                            <a:srgbClr val="1A1A1A"/>
                          </a:solidFill>
                        </a:rPr>
                        <a:t>+8.2%</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6</a:t>
                      </a:r>
                    </a:p>
                  </a:txBody>
                  <a:tcPr>
                    <a:solidFill>
                      <a:srgbClr val="F5F7FA"/>
                    </a:solidFill>
                  </a:tcPr>
                </a:tc>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53</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16.2%</a:t>
                      </a:r>
                    </a:p>
                  </a:txBody>
                  <a:tcPr>
                    <a:solidFill>
                      <a:srgbClr val="F5F7FA"/>
                    </a:solidFill>
                  </a:tcPr>
                </a:tc>
                <a:tc>
                  <a:txBody>
                    <a:bodyPr/>
                    <a:lstStyle/>
                    <a:p>
                      <a:pPr algn="ctr"/>
                      <a:r>
                        <a:rPr sz="800" b="0">
                          <a:solidFill>
                            <a:srgbClr val="1A1A1A"/>
                          </a:solidFill>
                        </a:rPr>
                        <a:t>+6.8%</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7</a:t>
                      </a:r>
                    </a:p>
                  </a:txBody>
                  <a:tcPr>
                    <a:noFill/>
                  </a:tcPr>
                </a:tc>
                <a:tc>
                  <a:txBody>
                    <a:bodyPr/>
                    <a:lstStyle/>
                    <a:p>
                      <a:pPr algn="ctr"/>
                      <a:r>
                        <a:rPr sz="800" b="0">
                          <a:solidFill>
                            <a:srgbClr val="1A1A1A"/>
                          </a:solidFill>
                        </a:rPr>
                        <a:t>Cons. Staples</a:t>
                      </a:r>
                    </a:p>
                  </a:txBody>
                  <a:tcPr>
                    <a:noFill/>
                  </a:tcPr>
                </a:tc>
                <a:tc>
                  <a:txBody>
                    <a:bodyPr/>
                    <a:lstStyle/>
                    <a:p>
                      <a:pPr algn="ctr"/>
                      <a:r>
                        <a:rPr sz="800" b="0">
                          <a:solidFill>
                            <a:srgbClr val="1A1A1A"/>
                          </a:solidFill>
                        </a:rPr>
                        <a:t>48</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18.4%</a:t>
                      </a:r>
                    </a:p>
                  </a:txBody>
                  <a:tcPr>
                    <a:noFill/>
                  </a:tcPr>
                </a:tc>
                <a:tc>
                  <a:txBody>
                    <a:bodyPr/>
                    <a:lstStyle/>
                    <a:p>
                      <a:pPr algn="ctr"/>
                      <a:r>
                        <a:rPr sz="800" b="0">
                          <a:solidFill>
                            <a:srgbClr val="1A1A1A"/>
                          </a:solidFill>
                        </a:rPr>
                        <a:t>+3.2%</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8</a:t>
                      </a:r>
                    </a:p>
                  </a:txBody>
                  <a:tcPr>
                    <a:solidFill>
                      <a:srgbClr val="F5F7FA"/>
                    </a:solidFill>
                  </a:tcPr>
                </a:tc>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46</a:t>
                      </a:r>
                    </a:p>
                  </a:txBody>
                  <a:tcPr>
                    <a:solidFill>
                      <a:srgbClr val="F5F7FA"/>
                    </a:solid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20.4%</a:t>
                      </a:r>
                    </a:p>
                  </a:txBody>
                  <a:tcPr>
                    <a:solidFill>
                      <a:srgbClr val="F5F7FA"/>
                    </a:solidFill>
                  </a:tcPr>
                </a:tc>
                <a:tc>
                  <a:txBody>
                    <a:bodyPr/>
                    <a:lstStyle/>
                    <a:p>
                      <a:pPr algn="ctr"/>
                      <a:r>
                        <a:rPr sz="800" b="0">
                          <a:solidFill>
                            <a:srgbClr val="1A1A1A"/>
                          </a:solidFill>
                        </a:rPr>
                        <a:t>+4.8%</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9</a:t>
                      </a:r>
                    </a:p>
                  </a:txBody>
                  <a:tcPr>
                    <a:noFill/>
                  </a:tcPr>
                </a:tc>
                <a:tc>
                  <a:txBody>
                    <a:bodyPr/>
                    <a:lstStyle/>
                    <a:p>
                      <a:pPr algn="ctr"/>
                      <a:r>
                        <a:rPr sz="800" b="0">
                          <a:solidFill>
                            <a:srgbClr val="1A1A1A"/>
                          </a:solidFill>
                        </a:rPr>
                        <a:t>Energy</a:t>
                      </a:r>
                    </a:p>
                  </a:txBody>
                  <a:tcPr>
                    <a:noFill/>
                  </a:tcPr>
                </a:tc>
                <a:tc>
                  <a:txBody>
                    <a:bodyPr/>
                    <a:lstStyle/>
                    <a:p>
                      <a:pPr algn="ctr"/>
                      <a:r>
                        <a:rPr sz="800" b="0">
                          <a:solidFill>
                            <a:srgbClr val="1A1A1A"/>
                          </a:solidFill>
                        </a:rPr>
                        <a:t>44</a:t>
                      </a:r>
                    </a:p>
                  </a:txBody>
                  <a:tcPr>
                    <a:noFill/>
                  </a:tcPr>
                </a:tc>
                <a:tc>
                  <a:txBody>
                    <a:bodyPr/>
                    <a:lstStyle/>
                    <a:p>
                      <a:pPr algn="ctr"/>
                      <a:r>
                        <a:rPr sz="800" b="0">
                          <a:solidFill>
                            <a:srgbClr val="B06000"/>
                          </a:solidFill>
                        </a:rPr>
                        <a:t>Neutre</a:t>
                      </a:r>
                    </a:p>
                  </a:txBody>
                  <a:tcPr>
                    <a:solidFill>
                      <a:srgbClr val="FDF3E5"/>
                    </a:solidFill>
                  </a:tcPr>
                </a:tc>
                <a:tc>
                  <a:txBody>
                    <a:bodyPr/>
                    <a:lstStyle/>
                    <a:p>
                      <a:pPr algn="ctr"/>
                      <a:r>
                        <a:rPr sz="800" b="0">
                          <a:solidFill>
                            <a:srgbClr val="1A1A1A"/>
                          </a:solidFill>
                        </a:rPr>
                        <a:t>28.8%</a:t>
                      </a:r>
                    </a:p>
                  </a:txBody>
                  <a:tcPr>
                    <a:noFill/>
                  </a:tcPr>
                </a:tc>
                <a:tc>
                  <a:txBody>
                    <a:bodyPr/>
                    <a:lstStyle/>
                    <a:p>
                      <a:pPr algn="ctr"/>
                      <a:r>
                        <a:rPr sz="800" b="0">
                          <a:solidFill>
                            <a:srgbClr val="1A1A1A"/>
                          </a:solidFill>
                        </a:rPr>
                        <a:t>-2.4%</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r h="225000">
                <a:tc>
                  <a:txBody>
                    <a:bodyPr/>
                    <a:lstStyle/>
                    <a:p>
                      <a:pPr algn="ctr"/>
                      <a:r>
                        <a:rPr sz="800" b="0">
                          <a:solidFill>
                            <a:srgbClr val="1A1A1A"/>
                          </a:solidFill>
                        </a:rPr>
                        <a:t>10</a:t>
                      </a:r>
                    </a:p>
                  </a:txBody>
                  <a:tcPr>
                    <a:solidFill>
                      <a:srgbClr val="F5F7FA"/>
                    </a:solidFill>
                  </a:tcPr>
                </a:tc>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38</a:t>
                      </a:r>
                    </a:p>
                  </a:txBody>
                  <a:tcPr>
                    <a:solidFill>
                      <a:srgbClr val="F5F7FA"/>
                    </a:solid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48.2%</a:t>
                      </a:r>
                    </a:p>
                  </a:txBody>
                  <a:tcPr>
                    <a:solidFill>
                      <a:srgbClr val="F5F7FA"/>
                    </a:solidFill>
                  </a:tcPr>
                </a:tc>
                <a:tc>
                  <a:txBody>
                    <a:bodyPr/>
                    <a:lstStyle/>
                    <a:p>
                      <a:pPr algn="ctr"/>
                      <a:r>
                        <a:rPr sz="800" b="0">
                          <a:solidFill>
                            <a:srgbClr val="1A1A1A"/>
                          </a:solidFill>
                        </a:rPr>
                        <a:t>+1.2%</a:t>
                      </a:r>
                    </a:p>
                  </a:txBody>
                  <a:tcPr>
                    <a:solidFill>
                      <a:srgbClr val="F5F7FA"/>
                    </a:solidFill>
                  </a:tcPr>
                </a:tc>
                <a:tc>
                  <a:txBody>
                    <a:bodyPr/>
                    <a:lstStyle/>
                    <a:p>
                      <a:pPr algn="ctr"/>
                      <a:r>
                        <a:rPr sz="800" b="0">
                          <a:solidFill>
                            <a:srgbClr val="1A1A1A"/>
                          </a:solidFill>
                        </a:rPr>
                        <a:t>—</a:t>
                      </a:r>
                    </a:p>
                  </a:txBody>
                  <a:tcPr>
                    <a:solidFill>
                      <a:srgbClr val="F5F7FA"/>
                    </a:solidFill>
                  </a:tcPr>
                </a:tc>
                <a:tc>
                  <a:txBody>
                    <a:bodyPr/>
                    <a:lstStyle/>
                    <a:p>
                      <a:pPr algn="ctr"/>
                      <a:r>
                        <a:rPr sz="800" b="0">
                          <a:solidFill>
                            <a:srgbClr val="1A1A1A"/>
                          </a:solidFill>
                        </a:rPr>
                        <a:t>—</a:t>
                      </a:r>
                    </a:p>
                  </a:txBody>
                  <a:tcPr>
                    <a:solidFill>
                      <a:srgbClr val="F5F7FA"/>
                    </a:solidFill>
                  </a:tcPr>
                </a:tc>
              </a:tr>
              <a:tr h="225000">
                <a:tc>
                  <a:txBody>
                    <a:bodyPr/>
                    <a:lstStyle/>
                    <a:p>
                      <a:pPr algn="ctr"/>
                      <a:r>
                        <a:rPr sz="800" b="0">
                          <a:solidFill>
                            <a:srgbClr val="1A1A1A"/>
                          </a:solidFill>
                        </a:rPr>
                        <a:t>11</a:t>
                      </a:r>
                    </a:p>
                  </a:txBody>
                  <a:tcPr>
                    <a:noFill/>
                  </a:tcPr>
                </a:tc>
                <a:tc>
                  <a:txBody>
                    <a:bodyPr/>
                    <a:lstStyle/>
                    <a:p>
                      <a:pPr algn="ctr"/>
                      <a:r>
                        <a:rPr sz="800" b="0">
                          <a:solidFill>
                            <a:srgbClr val="1A1A1A"/>
                          </a:solidFill>
                        </a:rPr>
                        <a:t>Utilities</a:t>
                      </a:r>
                    </a:p>
                  </a:txBody>
                  <a:tcPr>
                    <a:noFill/>
                  </a:tcPr>
                </a:tc>
                <a:tc>
                  <a:txBody>
                    <a:bodyPr/>
                    <a:lstStyle/>
                    <a:p>
                      <a:pPr algn="ctr"/>
                      <a:r>
                        <a:rPr sz="800" b="0">
                          <a:solidFill>
                            <a:srgbClr val="1A1A1A"/>
                          </a:solidFill>
                        </a:rPr>
                        <a:t>36</a:t>
                      </a:r>
                    </a:p>
                  </a:txBody>
                  <a:tcPr>
                    <a:noFill/>
                  </a:tcPr>
                </a:tc>
                <a:tc>
                  <a:txBody>
                    <a:bodyPr/>
                    <a:lstStyle/>
                    <a:p>
                      <a:pPr algn="ctr"/>
                      <a:r>
                        <a:rPr sz="800" b="0">
                          <a:solidFill>
                            <a:srgbClr val="A82020"/>
                          </a:solidFill>
                        </a:rPr>
                        <a:t>Sous-pondérer</a:t>
                      </a:r>
                    </a:p>
                  </a:txBody>
                  <a:tcPr>
                    <a:solidFill>
                      <a:srgbClr val="FBEBEB"/>
                    </a:solidFill>
                  </a:tcPr>
                </a:tc>
                <a:tc>
                  <a:txBody>
                    <a:bodyPr/>
                    <a:lstStyle/>
                    <a:p>
                      <a:pPr algn="ctr"/>
                      <a:r>
                        <a:rPr sz="800" b="0">
                          <a:solidFill>
                            <a:srgbClr val="1A1A1A"/>
                          </a:solidFill>
                        </a:rPr>
                        <a:t>32.4%</a:t>
                      </a:r>
                    </a:p>
                  </a:txBody>
                  <a:tcPr>
                    <a:noFill/>
                  </a:tcPr>
                </a:tc>
                <a:tc>
                  <a:txBody>
                    <a:bodyPr/>
                    <a:lstStyle/>
                    <a:p>
                      <a:pPr algn="ctr"/>
                      <a:r>
                        <a:rPr sz="800" b="0">
                          <a:solidFill>
                            <a:srgbClr val="1A1A1A"/>
                          </a:solidFill>
                        </a:rPr>
                        <a:t>+2.8%</a:t>
                      </a:r>
                    </a:p>
                  </a:txBody>
                  <a:tcPr>
                    <a:noFill/>
                  </a:tcPr>
                </a:tc>
                <a:tc>
                  <a:txBody>
                    <a:bodyPr/>
                    <a:lstStyle/>
                    <a:p>
                      <a:pPr algn="ctr"/>
                      <a:r>
                        <a:rPr sz="800" b="0">
                          <a:solidFill>
                            <a:srgbClr val="1A1A1A"/>
                          </a:solidFill>
                        </a:rPr>
                        <a:t>—</a:t>
                      </a:r>
                    </a:p>
                  </a:txBody>
                  <a:tcPr>
                    <a:noFill/>
                  </a:tcPr>
                </a:tc>
                <a:tc>
                  <a:txBody>
                    <a:bodyPr/>
                    <a:lstStyle/>
                    <a:p>
                      <a:pPr algn="ctr"/>
                      <a:r>
                        <a:rPr sz="800" b="0">
                          <a:solidFill>
                            <a:srgbClr val="1A1A1A"/>
                          </a:solidFill>
                        </a:rPr>
                        <a:t>—</a:t>
                      </a:r>
                    </a:p>
                  </a:txBody>
                  <a:tcPr>
                    <a:noFill/>
                  </a:tcPr>
                </a:tc>
              </a:tr>
            </a:tbl>
          </a:graphicData>
        </a:graphic>
      </p:graphicFrame>
      <p:sp>
        <p:nvSpPr>
          <p:cNvPr id="16" name="Rectangle 15"/>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Lecture analytique — Ce que la cartographie révèle</a:t>
            </a:r>
          </a:p>
        </p:txBody>
      </p:sp>
      <p:sp>
        <p:nvSpPr>
          <p:cNvPr id="19" name="TextBox 18"/>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3 secteur(s) sur 11 franchissent le seuil Surpondérer (score &gt; 65) : Technology · Health Care · Financials. 2 secteur(s) en Sous-pondérer : Real Estate · Utilities. 6 secteur(s) en position Neutre. L'écart entre le secteur leader (Technology, score 72/100) et le secteur le plus faible (Utilities, score 36/100) est de 36 points — une dispersion élevée qui témoigne d'une bifurcation sectorielle marquée.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Valorisation vs Croissance BPA (EV/EBITDA vs Croissance BPA)</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EV/EBITDA median vs Croissance BPA  ·  4 quadrants  ·  Un point par secteur GICS</a:t>
            </a:r>
          </a:p>
        </p:txBody>
      </p:sp>
      <p:pic>
        <p:nvPicPr>
          <p:cNvPr id="15" name="Picture 14" descr="image.png"/>
          <p:cNvPicPr>
            <a:picLocks noChangeAspect="1"/>
          </p:cNvPicPr>
          <p:nvPr/>
        </p:nvPicPr>
        <p:blipFill>
          <a:blip r:embed="rId2"/>
          <a:stretch>
            <a:fillRect/>
          </a:stretch>
        </p:blipFill>
        <p:spPr>
          <a:xfrm>
            <a:off x="324000" y="827999"/>
            <a:ext cx="5112000" cy="3096000"/>
          </a:xfrm>
          <a:prstGeom prst="rect">
            <a:avLst/>
          </a:prstGeom>
        </p:spPr>
      </p:pic>
      <p:sp>
        <p:nvSpPr>
          <p:cNvPr id="16" name="Rectangle 15"/>
          <p:cNvSpPr/>
          <p:nvPr/>
        </p:nvSpPr>
        <p:spPr>
          <a:xfrm>
            <a:off x="5616000" y="827999"/>
            <a:ext cx="3204000" cy="30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616000" y="827999"/>
            <a:ext cx="43200" cy="309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24000" y="864000"/>
            <a:ext cx="3024000" cy="216000"/>
          </a:xfrm>
          <a:prstGeom prst="rect">
            <a:avLst/>
          </a:prstGeom>
          <a:noFill/>
        </p:spPr>
        <p:txBody>
          <a:bodyPr wrap="square">
            <a:spAutoFit/>
          </a:bodyPr>
          <a:lstStyle/>
          <a:p>
            <a:pPr algn="l"/>
            <a:r>
              <a:rPr sz="850" b="1" i="0">
                <a:solidFill>
                  <a:srgbClr val="1B3A6B"/>
                </a:solidFill>
              </a:rPr>
              <a:t>Lecture du Scatter</a:t>
            </a:r>
          </a:p>
        </p:txBody>
      </p:sp>
      <p:sp>
        <p:nvSpPr>
          <p:cNvPr id="19" name="TextBox 18"/>
          <p:cNvSpPr txBox="1"/>
          <p:nvPr/>
        </p:nvSpPr>
        <p:spPr>
          <a:xfrm>
            <a:off x="5724000" y="1116000"/>
            <a:ext cx="3024000" cy="2772000"/>
          </a:xfrm>
          <a:prstGeom prst="rect">
            <a:avLst/>
          </a:prstGeom>
          <a:noFill/>
        </p:spPr>
        <p:txBody>
          <a:bodyPr wrap="square">
            <a:spAutoFit/>
          </a:bodyPr>
          <a:lstStyle/>
          <a:p>
            <a:pPr algn="l"/>
            <a:r>
              <a:rPr sz="800" b="0" i="0">
                <a:solidFill>
                  <a:srgbClr val="555555"/>
                </a:solidFill>
              </a:rPr>
              <a:t>Technology en quadrant Premium Justifie — valorisation elevee supportee par forte croissance BPA.
Health Care  ·  Financials : valorisation attractive — croissance correcte, meilleur ratio risque/rendement.
Les pointilles representent les medianes sectorielles (EV/EBITDA et BPA growth). Favoriser les secteurs en bas droite (forte croissance, valorisation moderee).</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Décomposition des Scores FinSight</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1A1A1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11 secteurs GICS  ·  Score 0-100  ·  Momentum 40 % · Révisions BPA 30 % · Valorisation 30 %</a:t>
            </a:r>
          </a:p>
        </p:txBody>
      </p:sp>
      <p:graphicFrame>
        <p:nvGraphicFramePr>
          <p:cNvPr id="15" name="Table 14"/>
          <p:cNvGraphicFramePr>
            <a:graphicFrameLocks noGrp="1"/>
          </p:cNvGraphicFramePr>
          <p:nvPr/>
        </p:nvGraphicFramePr>
        <p:xfrm>
          <a:off x="324000" y="827999"/>
          <a:ext cx="8495999" cy="2520000"/>
        </p:xfrm>
        <a:graphic>
          <a:graphicData uri="http://schemas.openxmlformats.org/drawingml/2006/table">
            <a:tbl>
              <a:tblPr firstRow="1" bandRow="1">
                <a:tableStyleId>{5C22544A-7EE6-4342-B048-85BDC9FD1C3A}</a:tableStyleId>
              </a:tblPr>
              <a:tblGrid>
                <a:gridCol w="1820571"/>
                <a:gridCol w="1011428"/>
                <a:gridCol w="1416000"/>
                <a:gridCol w="1416000"/>
                <a:gridCol w="1416000"/>
                <a:gridCol w="1416000"/>
              </a:tblGrid>
              <a:tr h="210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Score Total</a:t>
                      </a:r>
                    </a:p>
                  </a:txBody>
                  <a:tcPr>
                    <a:solidFill>
                      <a:srgbClr val="1B3A6B"/>
                    </a:solidFill>
                  </a:tcPr>
                </a:tc>
                <a:tc>
                  <a:txBody>
                    <a:bodyPr/>
                    <a:lstStyle/>
                    <a:p>
                      <a:pPr algn="ctr"/>
                      <a:r>
                        <a:rPr sz="800" b="1">
                          <a:solidFill>
                            <a:srgbClr val="FFFFFF"/>
                          </a:solidFill>
                        </a:rPr>
                        <a:t>Momentum (40%)</a:t>
                      </a:r>
                    </a:p>
                  </a:txBody>
                  <a:tcPr>
                    <a:solidFill>
                      <a:srgbClr val="1B3A6B"/>
                    </a:solidFill>
                  </a:tcPr>
                </a:tc>
                <a:tc>
                  <a:txBody>
                    <a:bodyPr/>
                    <a:lstStyle/>
                    <a:p>
                      <a:pPr algn="ctr"/>
                      <a:r>
                        <a:rPr sz="800" b="1">
                          <a:solidFill>
                            <a:srgbClr val="FFFFFF"/>
                          </a:solidFill>
                        </a:rPr>
                        <a:t>Révisions (30%)</a:t>
                      </a:r>
                    </a:p>
                  </a:txBody>
                  <a:tcPr>
                    <a:solidFill>
                      <a:srgbClr val="1B3A6B"/>
                    </a:solidFill>
                  </a:tcPr>
                </a:tc>
                <a:tc>
                  <a:txBody>
                    <a:bodyPr/>
                    <a:lstStyle/>
                    <a:p>
                      <a:pPr algn="ctr"/>
                      <a:r>
                        <a:rPr sz="800" b="1">
                          <a:solidFill>
                            <a:srgbClr val="FFFFFF"/>
                          </a:solidFill>
                        </a:rPr>
                        <a:t>Valorisation (30%)</a:t>
                      </a:r>
                    </a:p>
                  </a:txBody>
                  <a:tcPr>
                    <a:solidFill>
                      <a:srgbClr val="1B3A6B"/>
                    </a:solidFill>
                  </a:tcPr>
                </a:tc>
                <a:tc>
                  <a:txBody>
                    <a:bodyPr/>
                    <a:lstStyle/>
                    <a:p>
                      <a:pPr algn="ctr"/>
                      <a:r>
                        <a:rPr sz="800" b="1">
                          <a:solidFill>
                            <a:srgbClr val="FFFFFF"/>
                          </a:solidFill>
                        </a:rPr>
                        <a:t>Signal</a:t>
                      </a:r>
                    </a:p>
                  </a:txBody>
                  <a:tcPr>
                    <a:solidFill>
                      <a:srgbClr val="1B3A6B"/>
                    </a:solidFill>
                  </a:tcPr>
                </a:tc>
              </a:tr>
              <a:tr h="210000">
                <a:tc>
                  <a:txBody>
                    <a:bodyPr/>
                    <a:lstStyle/>
                    <a:p>
                      <a:pPr algn="ctr"/>
                      <a:r>
                        <a:rPr sz="800" b="0">
                          <a:solidFill>
                            <a:srgbClr val="1A1A1A"/>
                          </a:solidFill>
                        </a:rPr>
                        <a:t>Technology</a:t>
                      </a:r>
                    </a:p>
                  </a:txBody>
                  <a:tcPr>
                    <a:noFill/>
                  </a:tcPr>
                </a:tc>
                <a:tc>
                  <a:txBody>
                    <a:bodyPr/>
                    <a:lstStyle/>
                    <a:p>
                      <a:pPr algn="ctr"/>
                      <a:r>
                        <a:rPr sz="800" b="0">
                          <a:solidFill>
                            <a:srgbClr val="1A1A1A"/>
                          </a:solidFill>
                        </a:rPr>
                        <a:t>72</a:t>
                      </a:r>
                    </a:p>
                  </a:txBody>
                  <a:tcPr>
                    <a:solidFill>
                      <a:srgbClr val="E8F5EE"/>
                    </a:solidFill>
                  </a:tcPr>
                </a:tc>
                <a:tc>
                  <a:txBody>
                    <a:bodyPr/>
                    <a:lstStyle/>
                    <a:p>
                      <a:pPr algn="ctr"/>
                      <a:r>
                        <a:rPr sz="800" b="0">
                          <a:solidFill>
                            <a:srgbClr val="1A1A1A"/>
                          </a:solidFill>
                        </a:rPr>
                        <a:t>29</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22</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65</a:t>
                      </a:r>
                    </a:p>
                  </a:txBody>
                  <a:tcPr>
                    <a:solidFill>
                      <a:srgbClr val="E8F5EE"/>
                    </a:solidFill>
                  </a:tcPr>
                </a:tc>
                <a:tc>
                  <a:txBody>
                    <a:bodyPr/>
                    <a:lstStyle/>
                    <a:p>
                      <a:pPr algn="ctr"/>
                      <a:r>
                        <a:rPr sz="800" b="0">
                          <a:solidFill>
                            <a:srgbClr val="1A1A1A"/>
                          </a:solidFill>
                        </a:rPr>
                        <a:t>26</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1A1A"/>
                          </a:solidFill>
                        </a:rPr>
                        <a:t>20</a:t>
                      </a:r>
                    </a:p>
                  </a:txBody>
                  <a:tcPr>
                    <a:solidFill>
                      <a:srgbClr val="F5F7FA"/>
                    </a:solid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Financials</a:t>
                      </a:r>
                    </a:p>
                  </a:txBody>
                  <a:tcPr>
                    <a:noFill/>
                  </a:tcPr>
                </a:tc>
                <a:tc>
                  <a:txBody>
                    <a:bodyPr/>
                    <a:lstStyle/>
                    <a:p>
                      <a:pPr algn="ctr"/>
                      <a:r>
                        <a:rPr sz="800" b="0">
                          <a:solidFill>
                            <a:srgbClr val="1A1A1A"/>
                          </a:solidFill>
                        </a:rPr>
                        <a:t>62</a:t>
                      </a:r>
                    </a:p>
                  </a:txBody>
                  <a:tcPr>
                    <a:solidFill>
                      <a:srgbClr val="FDF3E5"/>
                    </a:solidFill>
                  </a:tcPr>
                </a:tc>
                <a:tc>
                  <a:txBody>
                    <a:bodyPr/>
                    <a:lstStyle/>
                    <a:p>
                      <a:pPr algn="ctr"/>
                      <a:r>
                        <a:rPr sz="800" b="0">
                          <a:solidFill>
                            <a:srgbClr val="1A1A1A"/>
                          </a:solidFill>
                        </a:rPr>
                        <a:t>25</a:t>
                      </a:r>
                    </a:p>
                  </a:txBody>
                  <a:tcPr>
                    <a:no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19</a:t>
                      </a:r>
                    </a:p>
                  </a:txBody>
                  <a:tcPr>
                    <a:noFill/>
                  </a:tcPr>
                </a:tc>
                <a:tc>
                  <a:txBody>
                    <a:bodyPr/>
                    <a:lstStyle/>
                    <a:p>
                      <a:pPr algn="ctr"/>
                      <a:r>
                        <a:rPr sz="800" b="0">
                          <a:solidFill>
                            <a:srgbClr val="1A7A4A"/>
                          </a:solidFill>
                        </a:rPr>
                        <a:t>Surpondérer</a:t>
                      </a:r>
                    </a:p>
                  </a:txBody>
                  <a:tcPr>
                    <a:solidFill>
                      <a:srgbClr val="E8F5EE"/>
                    </a:solidFill>
                  </a:tcPr>
                </a:tc>
              </a:tr>
              <a:tr h="210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58</a:t>
                      </a:r>
                    </a:p>
                  </a:txBody>
                  <a:tcPr>
                    <a:solidFill>
                      <a:srgbClr val="FDF3E5"/>
                    </a:solidFill>
                  </a:tcPr>
                </a:tc>
                <a:tc>
                  <a:txBody>
                    <a:bodyPr/>
                    <a:lstStyle/>
                    <a:p>
                      <a:pPr algn="ctr"/>
                      <a:r>
                        <a:rPr sz="800" b="0">
                          <a:solidFill>
                            <a:srgbClr val="1A1A1A"/>
                          </a:solidFill>
                        </a:rPr>
                        <a:t>23</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1A1A1A"/>
                          </a:solidFill>
                        </a:rPr>
                        <a:t>17</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Discret.</a:t>
                      </a:r>
                    </a:p>
                  </a:txBody>
                  <a:tcPr>
                    <a:noFill/>
                  </a:tcPr>
                </a:tc>
                <a:tc>
                  <a:txBody>
                    <a:bodyPr/>
                    <a:lstStyle/>
                    <a:p>
                      <a:pPr algn="ctr"/>
                      <a:r>
                        <a:rPr sz="800" b="0">
                          <a:solidFill>
                            <a:srgbClr val="1A1A1A"/>
                          </a:solidFill>
                        </a:rPr>
                        <a:t>55</a:t>
                      </a:r>
                    </a:p>
                  </a:txBody>
                  <a:tcPr>
                    <a:solidFill>
                      <a:srgbClr val="FDF3E5"/>
                    </a:solidFill>
                  </a:tcPr>
                </a:tc>
                <a:tc>
                  <a:txBody>
                    <a:bodyPr/>
                    <a:lstStyle/>
                    <a:p>
                      <a:pPr algn="ctr"/>
                      <a:r>
                        <a:rPr sz="800" b="0">
                          <a:solidFill>
                            <a:srgbClr val="1A1A1A"/>
                          </a:solidFill>
                        </a:rPr>
                        <a:t>22</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1A1A1A"/>
                          </a:solidFill>
                        </a:rPr>
                        <a:t>16</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53</a:t>
                      </a:r>
                    </a:p>
                  </a:txBody>
                  <a:tcPr>
                    <a:solidFill>
                      <a:srgbClr val="FDF3E5"/>
                    </a:solidFill>
                  </a:tcPr>
                </a:tc>
                <a:tc>
                  <a:txBody>
                    <a:bodyPr/>
                    <a:lstStyle/>
                    <a:p>
                      <a:pPr algn="ctr"/>
                      <a:r>
                        <a:rPr sz="800" b="0">
                          <a:solidFill>
                            <a:srgbClr val="1A1A1A"/>
                          </a:solidFill>
                        </a:rPr>
                        <a:t>21</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1A1A1A"/>
                          </a:solidFill>
                        </a:rPr>
                        <a:t>16</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Cons. Staples</a:t>
                      </a:r>
                    </a:p>
                  </a:txBody>
                  <a:tcPr>
                    <a:noFill/>
                  </a:tcPr>
                </a:tc>
                <a:tc>
                  <a:txBody>
                    <a:bodyPr/>
                    <a:lstStyle/>
                    <a:p>
                      <a:pPr algn="ctr"/>
                      <a:r>
                        <a:rPr sz="800" b="0">
                          <a:solidFill>
                            <a:srgbClr val="1A1A1A"/>
                          </a:solidFill>
                        </a:rPr>
                        <a:t>48</a:t>
                      </a:r>
                    </a:p>
                  </a:txBody>
                  <a:tcPr>
                    <a:solidFill>
                      <a:srgbClr val="FDF3E5"/>
                    </a:solidFill>
                  </a:tcPr>
                </a:tc>
                <a:tc>
                  <a:txBody>
                    <a:bodyPr/>
                    <a:lstStyle/>
                    <a:p>
                      <a:pPr algn="ctr"/>
                      <a:r>
                        <a:rPr sz="800" b="0">
                          <a:solidFill>
                            <a:srgbClr val="1A1A1A"/>
                          </a:solidFill>
                        </a:rPr>
                        <a:t>19</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14</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46</a:t>
                      </a:r>
                    </a:p>
                  </a:txBody>
                  <a:tcPr>
                    <a:solidFill>
                      <a:srgbClr val="FDF3E5"/>
                    </a:solidFill>
                  </a:tcPr>
                </a:tc>
                <a:tc>
                  <a:txBody>
                    <a:bodyPr/>
                    <a:lstStyle/>
                    <a:p>
                      <a:pPr algn="ctr"/>
                      <a:r>
                        <a:rPr sz="800" b="0">
                          <a:solidFill>
                            <a:srgbClr val="1A1A1A"/>
                          </a:solidFill>
                        </a:rPr>
                        <a:t>18</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1A1A1A"/>
                          </a:solidFill>
                        </a:rPr>
                        <a:t>14</a:t>
                      </a:r>
                    </a:p>
                  </a:txBody>
                  <a:tcPr>
                    <a:solidFill>
                      <a:srgbClr val="F5F7FA"/>
                    </a:solid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Energy</a:t>
                      </a:r>
                    </a:p>
                  </a:txBody>
                  <a:tcPr>
                    <a:noFill/>
                  </a:tcPr>
                </a:tc>
                <a:tc>
                  <a:txBody>
                    <a:bodyPr/>
                    <a:lstStyle/>
                    <a:p>
                      <a:pPr algn="ctr"/>
                      <a:r>
                        <a:rPr sz="800" b="0">
                          <a:solidFill>
                            <a:srgbClr val="1A1A1A"/>
                          </a:solidFill>
                        </a:rPr>
                        <a:t>44</a:t>
                      </a:r>
                    </a:p>
                  </a:txBody>
                  <a:tcPr>
                    <a:solidFill>
                      <a:srgbClr val="FBEBEB"/>
                    </a:solidFill>
                  </a:tcPr>
                </a:tc>
                <a:tc>
                  <a:txBody>
                    <a:bodyPr/>
                    <a:lstStyle/>
                    <a:p>
                      <a:pPr algn="ctr"/>
                      <a:r>
                        <a:rPr sz="800" b="0">
                          <a:solidFill>
                            <a:srgbClr val="1A1A1A"/>
                          </a:solidFill>
                        </a:rPr>
                        <a:t>18</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1A1A1A"/>
                          </a:solidFill>
                        </a:rPr>
                        <a:t>13</a:t>
                      </a:r>
                    </a:p>
                  </a:txBody>
                  <a:tcPr>
                    <a:noFill/>
                  </a:tcPr>
                </a:tc>
                <a:tc>
                  <a:txBody>
                    <a:bodyPr/>
                    <a:lstStyle/>
                    <a:p>
                      <a:pPr algn="ctr"/>
                      <a:r>
                        <a:rPr sz="800" b="0">
                          <a:solidFill>
                            <a:srgbClr val="B06000"/>
                          </a:solidFill>
                        </a:rPr>
                        <a:t>Neutre</a:t>
                      </a:r>
                    </a:p>
                  </a:txBody>
                  <a:tcPr>
                    <a:solidFill>
                      <a:srgbClr val="FDF3E5"/>
                    </a:solidFill>
                  </a:tcPr>
                </a:tc>
              </a:tr>
              <a:tr h="210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38</a:t>
                      </a:r>
                    </a:p>
                  </a:txBody>
                  <a:tcPr>
                    <a:solidFill>
                      <a:srgbClr val="FBEBEB"/>
                    </a:solidFill>
                  </a:tcPr>
                </a:tc>
                <a:tc>
                  <a:txBody>
                    <a:bodyPr/>
                    <a:lstStyle/>
                    <a:p>
                      <a:pPr algn="ctr"/>
                      <a:r>
                        <a:rPr sz="800" b="0">
                          <a:solidFill>
                            <a:srgbClr val="1A1A1A"/>
                          </a:solidFill>
                        </a:rPr>
                        <a:t>15</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1A1A1A"/>
                          </a:solidFill>
                        </a:rPr>
                        <a:t>11</a:t>
                      </a:r>
                    </a:p>
                  </a:txBody>
                  <a:tcPr>
                    <a:solidFill>
                      <a:srgbClr val="F5F7FA"/>
                    </a:solidFill>
                  </a:tcPr>
                </a:tc>
                <a:tc>
                  <a:txBody>
                    <a:bodyPr/>
                    <a:lstStyle/>
                    <a:p>
                      <a:pPr algn="ctr"/>
                      <a:r>
                        <a:rPr sz="800" b="0">
                          <a:solidFill>
                            <a:srgbClr val="A82020"/>
                          </a:solidFill>
                        </a:rPr>
                        <a:t>Sous-pondérer</a:t>
                      </a:r>
                    </a:p>
                  </a:txBody>
                  <a:tcPr>
                    <a:solidFill>
                      <a:srgbClr val="FBEBEB"/>
                    </a:solidFill>
                  </a:tcPr>
                </a:tc>
              </a:tr>
              <a:tr h="210000">
                <a:tc>
                  <a:txBody>
                    <a:bodyPr/>
                    <a:lstStyle/>
                    <a:p>
                      <a:pPr algn="ctr"/>
                      <a:r>
                        <a:rPr sz="800" b="0">
                          <a:solidFill>
                            <a:srgbClr val="1A1A1A"/>
                          </a:solidFill>
                        </a:rPr>
                        <a:t>Utilities</a:t>
                      </a:r>
                    </a:p>
                  </a:txBody>
                  <a:tcPr>
                    <a:noFill/>
                  </a:tcPr>
                </a:tc>
                <a:tc>
                  <a:txBody>
                    <a:bodyPr/>
                    <a:lstStyle/>
                    <a:p>
                      <a:pPr algn="ctr"/>
                      <a:r>
                        <a:rPr sz="800" b="0">
                          <a:solidFill>
                            <a:srgbClr val="1A1A1A"/>
                          </a:solidFill>
                        </a:rPr>
                        <a:t>36</a:t>
                      </a:r>
                    </a:p>
                  </a:txBody>
                  <a:tcPr>
                    <a:solidFill>
                      <a:srgbClr val="FBEBEB"/>
                    </a:solidFill>
                  </a:tcPr>
                </a:tc>
                <a:tc>
                  <a:txBody>
                    <a:bodyPr/>
                    <a:lstStyle/>
                    <a:p>
                      <a:pPr algn="ctr"/>
                      <a:r>
                        <a:rPr sz="800" b="0">
                          <a:solidFill>
                            <a:srgbClr val="1A1A1A"/>
                          </a:solidFill>
                        </a:rPr>
                        <a:t>14</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1A1A1A"/>
                          </a:solidFill>
                        </a:rPr>
                        <a:t>11</a:t>
                      </a:r>
                    </a:p>
                  </a:txBody>
                  <a:tcPr>
                    <a:noFill/>
                  </a:tcPr>
                </a:tc>
                <a:tc>
                  <a:txBody>
                    <a:bodyPr/>
                    <a:lstStyle/>
                    <a:p>
                      <a:pPr algn="ctr"/>
                      <a:r>
                        <a:rPr sz="800" b="0">
                          <a:solidFill>
                            <a:srgbClr val="A82020"/>
                          </a:solidFill>
                        </a:rPr>
                        <a:t>Sous-pondérer</a:t>
                      </a:r>
                    </a:p>
                  </a:txBody>
                  <a:tcPr>
                    <a:solidFill>
                      <a:srgbClr val="FBEBEB"/>
                    </a:solidFill>
                  </a:tcPr>
                </a:tc>
              </a:tr>
            </a:tbl>
          </a:graphicData>
        </a:graphic>
      </p:graphicFrame>
      <p:sp>
        <p:nvSpPr>
          <p:cNvPr id="16" name="TextBox 15"/>
          <p:cNvSpPr txBox="1"/>
          <p:nvPr/>
        </p:nvSpPr>
        <p:spPr>
          <a:xfrm>
            <a:off x="324000" y="3578399"/>
            <a:ext cx="8496000" cy="216000"/>
          </a:xfrm>
          <a:prstGeom prst="rect">
            <a:avLst/>
          </a:prstGeom>
          <a:noFill/>
        </p:spPr>
        <p:txBody>
          <a:bodyPr wrap="square">
            <a:spAutoFit/>
          </a:bodyPr>
          <a:lstStyle/>
          <a:p>
            <a:pPr algn="l"/>
            <a:r>
              <a:rPr sz="700" b="0" i="1">
                <a:solidFill>
                  <a:srgbClr val="AAAAAA"/>
                </a:solidFill>
              </a:rPr>
              <a:t>Lecture : Score &gt;= 65 = vert · 45-64 = neutre · &lt; 45 = rouge · Méthode : composite 40 % momentum + 30 % révisions BPA + 30 % valorisation relative</a:t>
            </a:r>
          </a:p>
        </p:txBody>
      </p:sp>
      <p:sp>
        <p:nvSpPr>
          <p:cNvPr id="17" name="Rectangle 16"/>
          <p:cNvSpPr/>
          <p:nvPr/>
        </p:nvSpPr>
        <p:spPr>
          <a:xfrm>
            <a:off x="324000" y="3780000"/>
            <a:ext cx="8496000" cy="102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24000" y="3780000"/>
            <a:ext cx="43200" cy="10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000" y="3834000"/>
            <a:ext cx="8208000" cy="216000"/>
          </a:xfrm>
          <a:prstGeom prst="rect">
            <a:avLst/>
          </a:prstGeom>
          <a:noFill/>
        </p:spPr>
        <p:txBody>
          <a:bodyPr wrap="square">
            <a:spAutoFit/>
          </a:bodyPr>
          <a:lstStyle/>
          <a:p>
            <a:pPr algn="l"/>
            <a:r>
              <a:rPr sz="800" b="1" i="0">
                <a:solidFill>
                  <a:srgbClr val="1B3A6B"/>
                </a:solidFill>
              </a:rPr>
              <a:t>Analyse des scores — Points saillants</a:t>
            </a:r>
          </a:p>
        </p:txBody>
      </p:sp>
      <p:sp>
        <p:nvSpPr>
          <p:cNvPr id="20" name="TextBox 19"/>
          <p:cNvSpPr txBox="1"/>
          <p:nvPr/>
        </p:nvSpPr>
        <p:spPr>
          <a:xfrm>
            <a:off x="432000" y="4068000"/>
            <a:ext cx="8208000" cy="701999"/>
          </a:xfrm>
          <a:prstGeom prst="rect">
            <a:avLst/>
          </a:prstGeom>
          <a:noFill/>
        </p:spPr>
        <p:txBody>
          <a:bodyPr wrap="square">
            <a:spAutoFit/>
          </a:bodyPr>
          <a:lstStyle/>
          <a:p>
            <a:pPr algn="l"/>
            <a:r>
              <a:rPr sz="750" b="0" i="0">
                <a:solidFill>
                  <a:srgbClr val="555555"/>
                </a:solidFill>
              </a:rPr>
              <a:t>Technology domine avec le score le plus élevé. Le momentum (29 pts) constitue le premier signal de confirmation. Les secteurs en vert sur les 3 dimensions offrent le meilleur profil composite. Croiser avec la valorisation relative pour identifier les meilleures opportunités d'entrée.</a:t>
            </a:r>
          </a:p>
        </p:txBody>
      </p:sp>
      <p:sp>
        <p:nvSpPr>
          <p:cNvPr id="21" name="Rectangle 20"/>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03</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Top 3 Secteurs Recommandés</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Synthèse signal · Sociétés représentatives · Zone d'entrée · Allocation Markowitz</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Top 3 Secteurs — Synthèse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Secteurs Surpondérer  ·  Signal · Score · EV/EBITDA · Sociétés représentatives · Catalyseur · Risque</a:t>
            </a:r>
          </a:p>
        </p:txBody>
      </p:sp>
      <p:sp>
        <p:nvSpPr>
          <p:cNvPr id="15" name="Rectangle 14"/>
          <p:cNvSpPr/>
          <p:nvPr/>
        </p:nvSpPr>
        <p:spPr>
          <a:xfrm>
            <a:off x="324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51999"/>
          </a:xfrm>
          <a:prstGeom prst="rect">
            <a:avLst/>
          </a:prstGeom>
          <a:noFill/>
        </p:spPr>
        <p:txBody>
          <a:bodyPr wrap="square">
            <a:spAutoFit/>
          </a:bodyPr>
          <a:lstStyle/>
          <a:p>
            <a:pPr algn="l"/>
            <a:r>
              <a:rPr sz="1000" b="1" i="0">
                <a:solidFill>
                  <a:srgbClr val="FFFFFF"/>
                </a:solidFill>
              </a:rPr>
              <a:t>Technology</a:t>
            </a:r>
          </a:p>
        </p:txBody>
      </p:sp>
      <p:sp>
        <p:nvSpPr>
          <p:cNvPr id="18" name="Rectangle 17"/>
          <p:cNvSpPr/>
          <p:nvPr/>
        </p:nvSpPr>
        <p:spPr>
          <a:xfrm>
            <a:off x="2304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340000" y="864000"/>
            <a:ext cx="612000" cy="198000"/>
          </a:xfrm>
          <a:prstGeom prst="rect">
            <a:avLst/>
          </a:prstGeom>
          <a:noFill/>
        </p:spPr>
        <p:txBody>
          <a:bodyPr wrap="square">
            <a:spAutoFit/>
          </a:bodyPr>
          <a:lstStyle/>
          <a:p>
            <a:pPr algn="ctr"/>
            <a:r>
              <a:rPr sz="750" b="1" i="0">
                <a:solidFill>
                  <a:srgbClr val="FFFFFF"/>
                </a:solidFill>
              </a:rPr>
              <a:t>Surp.</a:t>
            </a:r>
          </a:p>
        </p:txBody>
      </p:sp>
      <p:sp>
        <p:nvSpPr>
          <p:cNvPr id="20" name="TextBox 19"/>
          <p:cNvSpPr txBox="1"/>
          <p:nvPr/>
        </p:nvSpPr>
        <p:spPr>
          <a:xfrm>
            <a:off x="396000" y="1170000"/>
            <a:ext cx="2592000" cy="180000"/>
          </a:xfrm>
          <a:prstGeom prst="rect">
            <a:avLst/>
          </a:prstGeom>
          <a:noFill/>
        </p:spPr>
        <p:txBody>
          <a:bodyPr wrap="square">
            <a:spAutoFit/>
          </a:bodyPr>
          <a:lstStyle/>
          <a:p>
            <a:pPr algn="l"/>
            <a:r>
              <a:rPr sz="750" b="0" i="0">
                <a:solidFill>
                  <a:srgbClr val="1B3A6B"/>
                </a:solidFill>
              </a:rPr>
              <a:t>Score : 72/100  ·  EV/EBITDA : 24.8x</a:t>
            </a:r>
          </a:p>
        </p:txBody>
      </p:sp>
      <p:sp>
        <p:nvSpPr>
          <p:cNvPr id="21" name="TextBox 20"/>
          <p:cNvSpPr txBox="1"/>
          <p:nvPr/>
        </p:nvSpPr>
        <p:spPr>
          <a:xfrm>
            <a:off x="396000"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22" name="Rectangle 21"/>
          <p:cNvSpPr/>
          <p:nvPr/>
        </p:nvSpPr>
        <p:spPr>
          <a:xfrm>
            <a:off x="396000"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8000" y="1620000"/>
            <a:ext cx="720000" cy="198000"/>
          </a:xfrm>
          <a:prstGeom prst="rect">
            <a:avLst/>
          </a:prstGeom>
          <a:noFill/>
        </p:spPr>
        <p:txBody>
          <a:bodyPr wrap="square">
            <a:spAutoFit/>
          </a:bodyPr>
          <a:lstStyle/>
          <a:p>
            <a:pPr algn="l"/>
            <a:r>
              <a:rPr sz="800" b="1" i="0">
                <a:solidFill>
                  <a:srgbClr val="1B3A6B"/>
                </a:solidFill>
              </a:rPr>
              <a:t>AAPL</a:t>
            </a:r>
          </a:p>
        </p:txBody>
      </p:sp>
      <p:sp>
        <p:nvSpPr>
          <p:cNvPr id="24" name="TextBox 23"/>
          <p:cNvSpPr txBox="1"/>
          <p:nvPr/>
        </p:nvSpPr>
        <p:spPr>
          <a:xfrm>
            <a:off x="1188000" y="1620000"/>
            <a:ext cx="468000" cy="198000"/>
          </a:xfrm>
          <a:prstGeom prst="rect">
            <a:avLst/>
          </a:prstGeom>
          <a:noFill/>
        </p:spPr>
        <p:txBody>
          <a:bodyPr wrap="square">
            <a:spAutoFit/>
          </a:bodyPr>
          <a:lstStyle/>
          <a:p>
            <a:pPr algn="l"/>
            <a:r>
              <a:rPr sz="800" b="0" i="0">
                <a:solidFill>
                  <a:srgbClr val="1A7A4A"/>
                </a:solidFill>
              </a:rPr>
              <a:t>Surp.</a:t>
            </a:r>
          </a:p>
        </p:txBody>
      </p:sp>
      <p:sp>
        <p:nvSpPr>
          <p:cNvPr id="25" name="TextBox 24"/>
          <p:cNvSpPr txBox="1"/>
          <p:nvPr/>
        </p:nvSpPr>
        <p:spPr>
          <a:xfrm>
            <a:off x="1655999" y="1620000"/>
            <a:ext cx="540000" cy="198000"/>
          </a:xfrm>
          <a:prstGeom prst="rect">
            <a:avLst/>
          </a:prstGeom>
          <a:noFill/>
        </p:spPr>
        <p:txBody>
          <a:bodyPr wrap="square">
            <a:spAutoFit/>
          </a:bodyPr>
          <a:lstStyle/>
          <a:p>
            <a:pPr algn="l"/>
            <a:r>
              <a:rPr sz="800" b="0" i="0">
                <a:solidFill>
                  <a:srgbClr val="555555"/>
                </a:solidFill>
              </a:rPr>
              <a:t>22.4x</a:t>
            </a:r>
          </a:p>
        </p:txBody>
      </p:sp>
      <p:sp>
        <p:nvSpPr>
          <p:cNvPr id="26" name="TextBox 25"/>
          <p:cNvSpPr txBox="1"/>
          <p:nvPr/>
        </p:nvSpPr>
        <p:spPr>
          <a:xfrm>
            <a:off x="2196000" y="1620000"/>
            <a:ext cx="540000" cy="198000"/>
          </a:xfrm>
          <a:prstGeom prst="rect">
            <a:avLst/>
          </a:prstGeom>
          <a:noFill/>
        </p:spPr>
        <p:txBody>
          <a:bodyPr wrap="square">
            <a:spAutoFit/>
          </a:bodyPr>
          <a:lstStyle/>
          <a:p>
            <a:pPr algn="l"/>
            <a:r>
              <a:rPr sz="800" b="0" i="0">
                <a:solidFill>
                  <a:srgbClr val="555555"/>
                </a:solidFill>
              </a:rPr>
              <a:t>78</a:t>
            </a:r>
          </a:p>
        </p:txBody>
      </p:sp>
      <p:sp>
        <p:nvSpPr>
          <p:cNvPr id="27" name="Rectangle 26"/>
          <p:cNvSpPr/>
          <p:nvPr/>
        </p:nvSpPr>
        <p:spPr>
          <a:xfrm>
            <a:off x="396000"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8000" y="1915200"/>
            <a:ext cx="720000" cy="198000"/>
          </a:xfrm>
          <a:prstGeom prst="rect">
            <a:avLst/>
          </a:prstGeom>
          <a:noFill/>
        </p:spPr>
        <p:txBody>
          <a:bodyPr wrap="square">
            <a:spAutoFit/>
          </a:bodyPr>
          <a:lstStyle/>
          <a:p>
            <a:pPr algn="l"/>
            <a:r>
              <a:rPr sz="800" b="1" i="0">
                <a:solidFill>
                  <a:srgbClr val="1B3A6B"/>
                </a:solidFill>
              </a:rPr>
              <a:t>MSFT</a:t>
            </a:r>
          </a:p>
        </p:txBody>
      </p:sp>
      <p:sp>
        <p:nvSpPr>
          <p:cNvPr id="29" name="TextBox 28"/>
          <p:cNvSpPr txBox="1"/>
          <p:nvPr/>
        </p:nvSpPr>
        <p:spPr>
          <a:xfrm>
            <a:off x="1188000" y="1915200"/>
            <a:ext cx="468000" cy="198000"/>
          </a:xfrm>
          <a:prstGeom prst="rect">
            <a:avLst/>
          </a:prstGeom>
          <a:noFill/>
        </p:spPr>
        <p:txBody>
          <a:bodyPr wrap="square">
            <a:spAutoFit/>
          </a:bodyPr>
          <a:lstStyle/>
          <a:p>
            <a:pPr algn="l"/>
            <a:r>
              <a:rPr sz="800" b="0" i="0">
                <a:solidFill>
                  <a:srgbClr val="1A7A4A"/>
                </a:solidFill>
              </a:rPr>
              <a:t>Surp.</a:t>
            </a:r>
          </a:p>
        </p:txBody>
      </p:sp>
      <p:sp>
        <p:nvSpPr>
          <p:cNvPr id="30" name="TextBox 29"/>
          <p:cNvSpPr txBox="1"/>
          <p:nvPr/>
        </p:nvSpPr>
        <p:spPr>
          <a:xfrm>
            <a:off x="1655999" y="1915200"/>
            <a:ext cx="540000" cy="198000"/>
          </a:xfrm>
          <a:prstGeom prst="rect">
            <a:avLst/>
          </a:prstGeom>
          <a:noFill/>
        </p:spPr>
        <p:txBody>
          <a:bodyPr wrap="square">
            <a:spAutoFit/>
          </a:bodyPr>
          <a:lstStyle/>
          <a:p>
            <a:pPr algn="l"/>
            <a:r>
              <a:rPr sz="800" b="0" i="0">
                <a:solidFill>
                  <a:srgbClr val="555555"/>
                </a:solidFill>
              </a:rPr>
              <a:t>28.6x</a:t>
            </a:r>
          </a:p>
        </p:txBody>
      </p:sp>
      <p:sp>
        <p:nvSpPr>
          <p:cNvPr id="31" name="TextBox 30"/>
          <p:cNvSpPr txBox="1"/>
          <p:nvPr/>
        </p:nvSpPr>
        <p:spPr>
          <a:xfrm>
            <a:off x="2196000" y="1915200"/>
            <a:ext cx="540000" cy="198000"/>
          </a:xfrm>
          <a:prstGeom prst="rect">
            <a:avLst/>
          </a:prstGeom>
          <a:noFill/>
        </p:spPr>
        <p:txBody>
          <a:bodyPr wrap="square">
            <a:spAutoFit/>
          </a:bodyPr>
          <a:lstStyle/>
          <a:p>
            <a:pPr algn="l"/>
            <a:r>
              <a:rPr sz="800" b="0" i="0">
                <a:solidFill>
                  <a:srgbClr val="555555"/>
                </a:solidFill>
              </a:rPr>
              <a:t>75</a:t>
            </a:r>
          </a:p>
        </p:txBody>
      </p:sp>
      <p:sp>
        <p:nvSpPr>
          <p:cNvPr id="32" name="Rectangle 31"/>
          <p:cNvSpPr/>
          <p:nvPr/>
        </p:nvSpPr>
        <p:spPr>
          <a:xfrm>
            <a:off x="396000"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8000" y="2210400"/>
            <a:ext cx="720000" cy="198000"/>
          </a:xfrm>
          <a:prstGeom prst="rect">
            <a:avLst/>
          </a:prstGeom>
          <a:noFill/>
        </p:spPr>
        <p:txBody>
          <a:bodyPr wrap="square">
            <a:spAutoFit/>
          </a:bodyPr>
          <a:lstStyle/>
          <a:p>
            <a:pPr algn="l"/>
            <a:r>
              <a:rPr sz="800" b="1" i="0">
                <a:solidFill>
                  <a:srgbClr val="1B3A6B"/>
                </a:solidFill>
              </a:rPr>
              <a:t>NVDA</a:t>
            </a:r>
          </a:p>
        </p:txBody>
      </p:sp>
      <p:sp>
        <p:nvSpPr>
          <p:cNvPr id="34" name="TextBox 33"/>
          <p:cNvSpPr txBox="1"/>
          <p:nvPr/>
        </p:nvSpPr>
        <p:spPr>
          <a:xfrm>
            <a:off x="1188000" y="2210400"/>
            <a:ext cx="468000" cy="198000"/>
          </a:xfrm>
          <a:prstGeom prst="rect">
            <a:avLst/>
          </a:prstGeom>
          <a:noFill/>
        </p:spPr>
        <p:txBody>
          <a:bodyPr wrap="square">
            <a:spAutoFit/>
          </a:bodyPr>
          <a:lstStyle/>
          <a:p>
            <a:pPr algn="l"/>
            <a:r>
              <a:rPr sz="800" b="0" i="0">
                <a:solidFill>
                  <a:srgbClr val="1A7A4A"/>
                </a:solidFill>
              </a:rPr>
              <a:t>Surp.</a:t>
            </a:r>
          </a:p>
        </p:txBody>
      </p:sp>
      <p:sp>
        <p:nvSpPr>
          <p:cNvPr id="35" name="TextBox 34"/>
          <p:cNvSpPr txBox="1"/>
          <p:nvPr/>
        </p:nvSpPr>
        <p:spPr>
          <a:xfrm>
            <a:off x="1655999" y="2210400"/>
            <a:ext cx="540000" cy="198000"/>
          </a:xfrm>
          <a:prstGeom prst="rect">
            <a:avLst/>
          </a:prstGeom>
          <a:noFill/>
        </p:spPr>
        <p:txBody>
          <a:bodyPr wrap="square">
            <a:spAutoFit/>
          </a:bodyPr>
          <a:lstStyle/>
          <a:p>
            <a:pPr algn="l"/>
            <a:r>
              <a:rPr sz="800" b="0" i="0">
                <a:solidFill>
                  <a:srgbClr val="555555"/>
                </a:solidFill>
              </a:rPr>
              <a:t>42.8x</a:t>
            </a:r>
          </a:p>
        </p:txBody>
      </p:sp>
      <p:sp>
        <p:nvSpPr>
          <p:cNvPr id="36" name="TextBox 35"/>
          <p:cNvSpPr txBox="1"/>
          <p:nvPr/>
        </p:nvSpPr>
        <p:spPr>
          <a:xfrm>
            <a:off x="2196000" y="2210400"/>
            <a:ext cx="540000" cy="198000"/>
          </a:xfrm>
          <a:prstGeom prst="rect">
            <a:avLst/>
          </a:prstGeom>
          <a:noFill/>
        </p:spPr>
        <p:txBody>
          <a:bodyPr wrap="square">
            <a:spAutoFit/>
          </a:bodyPr>
          <a:lstStyle/>
          <a:p>
            <a:pPr algn="l"/>
            <a:r>
              <a:rPr sz="800" b="0" i="0">
                <a:solidFill>
                  <a:srgbClr val="555555"/>
                </a:solidFill>
              </a:rPr>
              <a:t>82</a:t>
            </a:r>
          </a:p>
        </p:txBody>
      </p:sp>
      <p:sp>
        <p:nvSpPr>
          <p:cNvPr id="37" name="TextBox 36"/>
          <p:cNvSpPr txBox="1"/>
          <p:nvPr/>
        </p:nvSpPr>
        <p:spPr>
          <a:xfrm>
            <a:off x="396000"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38" name="Rectangle 37"/>
          <p:cNvSpPr/>
          <p:nvPr/>
        </p:nvSpPr>
        <p:spPr>
          <a:xfrm>
            <a:off x="396000"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8000" y="2700000"/>
            <a:ext cx="2484000" cy="666000"/>
          </a:xfrm>
          <a:prstGeom prst="rect">
            <a:avLst/>
          </a:prstGeom>
          <a:noFill/>
        </p:spPr>
        <p:txBody>
          <a:bodyPr wrap="square">
            <a:spAutoFit/>
          </a:bodyPr>
          <a:lstStyle/>
          <a:p>
            <a:pPr algn="l"/>
            <a:r>
              <a:rPr sz="750" b="0" i="0">
                <a:solidFill>
                  <a:srgbClr val="555555"/>
                </a:solidFill>
              </a:rPr>
              <a:t>Cycle IA — CAPEX hyperscalers +35% YoY, monetisation acceleree</a:t>
            </a:r>
          </a:p>
        </p:txBody>
      </p:sp>
      <p:sp>
        <p:nvSpPr>
          <p:cNvPr id="40" name="TextBox 39"/>
          <p:cNvSpPr txBox="1"/>
          <p:nvPr/>
        </p:nvSpPr>
        <p:spPr>
          <a:xfrm>
            <a:off x="396000"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41" name="Rectangle 40"/>
          <p:cNvSpPr/>
          <p:nvPr/>
        </p:nvSpPr>
        <p:spPr>
          <a:xfrm>
            <a:off x="396000"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68000" y="3654000"/>
            <a:ext cx="2484000" cy="666000"/>
          </a:xfrm>
          <a:prstGeom prst="rect">
            <a:avLst/>
          </a:prstGeom>
          <a:noFill/>
        </p:spPr>
        <p:txBody>
          <a:bodyPr wrap="square">
            <a:spAutoFit/>
          </a:bodyPr>
          <a:lstStyle/>
          <a:p>
            <a:pPr algn="l"/>
            <a:r>
              <a:rPr sz="750" b="0" i="0">
                <a:solidFill>
                  <a:srgbClr val="555555"/>
                </a:solidFill>
              </a:rPr>
              <a:t>Valorisations tendues si taux LT restent eleves</a:t>
            </a:r>
          </a:p>
        </p:txBody>
      </p:sp>
      <p:sp>
        <p:nvSpPr>
          <p:cNvPr id="43" name="Rectangle 42"/>
          <p:cNvSpPr/>
          <p:nvPr/>
        </p:nvSpPr>
        <p:spPr>
          <a:xfrm>
            <a:off x="3150000"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150000"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221999" y="846000"/>
            <a:ext cx="1800000" cy="251999"/>
          </a:xfrm>
          <a:prstGeom prst="rect">
            <a:avLst/>
          </a:prstGeom>
          <a:noFill/>
        </p:spPr>
        <p:txBody>
          <a:bodyPr wrap="square">
            <a:spAutoFit/>
          </a:bodyPr>
          <a:lstStyle/>
          <a:p>
            <a:pPr algn="l"/>
            <a:r>
              <a:rPr sz="1000" b="1" i="0">
                <a:solidFill>
                  <a:srgbClr val="FFFFFF"/>
                </a:solidFill>
              </a:rPr>
              <a:t>Health Care</a:t>
            </a:r>
          </a:p>
        </p:txBody>
      </p:sp>
      <p:sp>
        <p:nvSpPr>
          <p:cNvPr id="46" name="Rectangle 45"/>
          <p:cNvSpPr/>
          <p:nvPr/>
        </p:nvSpPr>
        <p:spPr>
          <a:xfrm>
            <a:off x="5130000"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5166000" y="864000"/>
            <a:ext cx="612000" cy="198000"/>
          </a:xfrm>
          <a:prstGeom prst="rect">
            <a:avLst/>
          </a:prstGeom>
          <a:noFill/>
        </p:spPr>
        <p:txBody>
          <a:bodyPr wrap="square">
            <a:spAutoFit/>
          </a:bodyPr>
          <a:lstStyle/>
          <a:p>
            <a:pPr algn="ctr"/>
            <a:r>
              <a:rPr sz="750" b="1" i="0">
                <a:solidFill>
                  <a:srgbClr val="FFFFFF"/>
                </a:solidFill>
              </a:rPr>
              <a:t>Surp.</a:t>
            </a:r>
          </a:p>
        </p:txBody>
      </p:sp>
      <p:sp>
        <p:nvSpPr>
          <p:cNvPr id="48" name="TextBox 47"/>
          <p:cNvSpPr txBox="1"/>
          <p:nvPr/>
        </p:nvSpPr>
        <p:spPr>
          <a:xfrm>
            <a:off x="3221999" y="1170000"/>
            <a:ext cx="2592000" cy="180000"/>
          </a:xfrm>
          <a:prstGeom prst="rect">
            <a:avLst/>
          </a:prstGeom>
          <a:noFill/>
        </p:spPr>
        <p:txBody>
          <a:bodyPr wrap="square">
            <a:spAutoFit/>
          </a:bodyPr>
          <a:lstStyle/>
          <a:p>
            <a:pPr algn="l"/>
            <a:r>
              <a:rPr sz="750" b="0" i="0">
                <a:solidFill>
                  <a:srgbClr val="1B3A6B"/>
                </a:solidFill>
              </a:rPr>
              <a:t>Score : 65/100  ·  EV/EBITDA : 14.2x</a:t>
            </a:r>
          </a:p>
        </p:txBody>
      </p:sp>
      <p:sp>
        <p:nvSpPr>
          <p:cNvPr id="49" name="TextBox 48"/>
          <p:cNvSpPr txBox="1"/>
          <p:nvPr/>
        </p:nvSpPr>
        <p:spPr>
          <a:xfrm>
            <a:off x="3221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50" name="Rectangle 49"/>
          <p:cNvSpPr/>
          <p:nvPr/>
        </p:nvSpPr>
        <p:spPr>
          <a:xfrm>
            <a:off x="3221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294000" y="1620000"/>
            <a:ext cx="720000" cy="198000"/>
          </a:xfrm>
          <a:prstGeom prst="rect">
            <a:avLst/>
          </a:prstGeom>
          <a:noFill/>
        </p:spPr>
        <p:txBody>
          <a:bodyPr wrap="square">
            <a:spAutoFit/>
          </a:bodyPr>
          <a:lstStyle/>
          <a:p>
            <a:pPr algn="l"/>
            <a:r>
              <a:rPr sz="800" b="1" i="0">
                <a:solidFill>
                  <a:srgbClr val="1B3A6B"/>
                </a:solidFill>
              </a:rPr>
              <a:t>UNH</a:t>
            </a:r>
          </a:p>
        </p:txBody>
      </p:sp>
      <p:sp>
        <p:nvSpPr>
          <p:cNvPr id="52" name="TextBox 51"/>
          <p:cNvSpPr txBox="1"/>
          <p:nvPr/>
        </p:nvSpPr>
        <p:spPr>
          <a:xfrm>
            <a:off x="4014000" y="1620000"/>
            <a:ext cx="468000" cy="198000"/>
          </a:xfrm>
          <a:prstGeom prst="rect">
            <a:avLst/>
          </a:prstGeom>
          <a:noFill/>
        </p:spPr>
        <p:txBody>
          <a:bodyPr wrap="square">
            <a:spAutoFit/>
          </a:bodyPr>
          <a:lstStyle/>
          <a:p>
            <a:pPr algn="l"/>
            <a:r>
              <a:rPr sz="800" b="0" i="0">
                <a:solidFill>
                  <a:srgbClr val="1A7A4A"/>
                </a:solidFill>
              </a:rPr>
              <a:t>Surp.</a:t>
            </a:r>
          </a:p>
        </p:txBody>
      </p:sp>
      <p:sp>
        <p:nvSpPr>
          <p:cNvPr id="53" name="TextBox 52"/>
          <p:cNvSpPr txBox="1"/>
          <p:nvPr/>
        </p:nvSpPr>
        <p:spPr>
          <a:xfrm>
            <a:off x="4482000" y="1620000"/>
            <a:ext cx="540000" cy="198000"/>
          </a:xfrm>
          <a:prstGeom prst="rect">
            <a:avLst/>
          </a:prstGeom>
          <a:noFill/>
        </p:spPr>
        <p:txBody>
          <a:bodyPr wrap="square">
            <a:spAutoFit/>
          </a:bodyPr>
          <a:lstStyle/>
          <a:p>
            <a:pPr algn="l"/>
            <a:r>
              <a:rPr sz="800" b="0" i="0">
                <a:solidFill>
                  <a:srgbClr val="555555"/>
                </a:solidFill>
              </a:rPr>
              <a:t>10.8x</a:t>
            </a:r>
          </a:p>
        </p:txBody>
      </p:sp>
      <p:sp>
        <p:nvSpPr>
          <p:cNvPr id="54" name="TextBox 53"/>
          <p:cNvSpPr txBox="1"/>
          <p:nvPr/>
        </p:nvSpPr>
        <p:spPr>
          <a:xfrm>
            <a:off x="5022000" y="1620000"/>
            <a:ext cx="540000" cy="198000"/>
          </a:xfrm>
          <a:prstGeom prst="rect">
            <a:avLst/>
          </a:prstGeom>
          <a:noFill/>
        </p:spPr>
        <p:txBody>
          <a:bodyPr wrap="square">
            <a:spAutoFit/>
          </a:bodyPr>
          <a:lstStyle/>
          <a:p>
            <a:pPr algn="l"/>
            <a:r>
              <a:rPr sz="800" b="0" i="0">
                <a:solidFill>
                  <a:srgbClr val="555555"/>
                </a:solidFill>
              </a:rPr>
              <a:t>72</a:t>
            </a:r>
          </a:p>
        </p:txBody>
      </p:sp>
      <p:sp>
        <p:nvSpPr>
          <p:cNvPr id="55" name="Rectangle 54"/>
          <p:cNvSpPr/>
          <p:nvPr/>
        </p:nvSpPr>
        <p:spPr>
          <a:xfrm>
            <a:off x="3221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3294000" y="1915200"/>
            <a:ext cx="720000" cy="198000"/>
          </a:xfrm>
          <a:prstGeom prst="rect">
            <a:avLst/>
          </a:prstGeom>
          <a:noFill/>
        </p:spPr>
        <p:txBody>
          <a:bodyPr wrap="square">
            <a:spAutoFit/>
          </a:bodyPr>
          <a:lstStyle/>
          <a:p>
            <a:pPr algn="l"/>
            <a:r>
              <a:rPr sz="800" b="1" i="0">
                <a:solidFill>
                  <a:srgbClr val="1B3A6B"/>
                </a:solidFill>
              </a:rPr>
              <a:t>LLY</a:t>
            </a:r>
          </a:p>
        </p:txBody>
      </p:sp>
      <p:sp>
        <p:nvSpPr>
          <p:cNvPr id="57" name="TextBox 56"/>
          <p:cNvSpPr txBox="1"/>
          <p:nvPr/>
        </p:nvSpPr>
        <p:spPr>
          <a:xfrm>
            <a:off x="4014000" y="1915200"/>
            <a:ext cx="468000" cy="198000"/>
          </a:xfrm>
          <a:prstGeom prst="rect">
            <a:avLst/>
          </a:prstGeom>
          <a:noFill/>
        </p:spPr>
        <p:txBody>
          <a:bodyPr wrap="square">
            <a:spAutoFit/>
          </a:bodyPr>
          <a:lstStyle/>
          <a:p>
            <a:pPr algn="l"/>
            <a:r>
              <a:rPr sz="800" b="0" i="0">
                <a:solidFill>
                  <a:srgbClr val="1A7A4A"/>
                </a:solidFill>
              </a:rPr>
              <a:t>Surp.</a:t>
            </a:r>
          </a:p>
        </p:txBody>
      </p:sp>
      <p:sp>
        <p:nvSpPr>
          <p:cNvPr id="58" name="TextBox 57"/>
          <p:cNvSpPr txBox="1"/>
          <p:nvPr/>
        </p:nvSpPr>
        <p:spPr>
          <a:xfrm>
            <a:off x="4482000" y="1915200"/>
            <a:ext cx="540000" cy="198000"/>
          </a:xfrm>
          <a:prstGeom prst="rect">
            <a:avLst/>
          </a:prstGeom>
          <a:noFill/>
        </p:spPr>
        <p:txBody>
          <a:bodyPr wrap="square">
            <a:spAutoFit/>
          </a:bodyPr>
          <a:lstStyle/>
          <a:p>
            <a:pPr algn="l"/>
            <a:r>
              <a:rPr sz="800" b="0" i="0">
                <a:solidFill>
                  <a:srgbClr val="555555"/>
                </a:solidFill>
              </a:rPr>
              <a:t>28.4x</a:t>
            </a:r>
          </a:p>
        </p:txBody>
      </p:sp>
      <p:sp>
        <p:nvSpPr>
          <p:cNvPr id="59" name="TextBox 58"/>
          <p:cNvSpPr txBox="1"/>
          <p:nvPr/>
        </p:nvSpPr>
        <p:spPr>
          <a:xfrm>
            <a:off x="5022000" y="1915200"/>
            <a:ext cx="540000" cy="198000"/>
          </a:xfrm>
          <a:prstGeom prst="rect">
            <a:avLst/>
          </a:prstGeom>
          <a:noFill/>
        </p:spPr>
        <p:txBody>
          <a:bodyPr wrap="square">
            <a:spAutoFit/>
          </a:bodyPr>
          <a:lstStyle/>
          <a:p>
            <a:pPr algn="l"/>
            <a:r>
              <a:rPr sz="800" b="0" i="0">
                <a:solidFill>
                  <a:srgbClr val="555555"/>
                </a:solidFill>
              </a:rPr>
              <a:t>80</a:t>
            </a:r>
          </a:p>
        </p:txBody>
      </p:sp>
      <p:sp>
        <p:nvSpPr>
          <p:cNvPr id="60" name="Rectangle 59"/>
          <p:cNvSpPr/>
          <p:nvPr/>
        </p:nvSpPr>
        <p:spPr>
          <a:xfrm>
            <a:off x="3221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3294000" y="2210400"/>
            <a:ext cx="720000" cy="198000"/>
          </a:xfrm>
          <a:prstGeom prst="rect">
            <a:avLst/>
          </a:prstGeom>
          <a:noFill/>
        </p:spPr>
        <p:txBody>
          <a:bodyPr wrap="square">
            <a:spAutoFit/>
          </a:bodyPr>
          <a:lstStyle/>
          <a:p>
            <a:pPr algn="l"/>
            <a:r>
              <a:rPr sz="800" b="1" i="0">
                <a:solidFill>
                  <a:srgbClr val="1B3A6B"/>
                </a:solidFill>
              </a:rPr>
              <a:t>JNJ</a:t>
            </a:r>
          </a:p>
        </p:txBody>
      </p:sp>
      <p:sp>
        <p:nvSpPr>
          <p:cNvPr id="62" name="TextBox 61"/>
          <p:cNvSpPr txBox="1"/>
          <p:nvPr/>
        </p:nvSpPr>
        <p:spPr>
          <a:xfrm>
            <a:off x="4014000" y="2210400"/>
            <a:ext cx="468000" cy="198000"/>
          </a:xfrm>
          <a:prstGeom prst="rect">
            <a:avLst/>
          </a:prstGeom>
          <a:noFill/>
        </p:spPr>
        <p:txBody>
          <a:bodyPr wrap="square">
            <a:spAutoFit/>
          </a:bodyPr>
          <a:lstStyle/>
          <a:p>
            <a:pPr algn="l"/>
            <a:r>
              <a:rPr sz="800" b="0" i="0">
                <a:solidFill>
                  <a:srgbClr val="B06000"/>
                </a:solidFill>
              </a:rPr>
              <a:t>Neutre</a:t>
            </a:r>
          </a:p>
        </p:txBody>
      </p:sp>
      <p:sp>
        <p:nvSpPr>
          <p:cNvPr id="63" name="TextBox 62"/>
          <p:cNvSpPr txBox="1"/>
          <p:nvPr/>
        </p:nvSpPr>
        <p:spPr>
          <a:xfrm>
            <a:off x="4482000" y="2210400"/>
            <a:ext cx="540000" cy="198000"/>
          </a:xfrm>
          <a:prstGeom prst="rect">
            <a:avLst/>
          </a:prstGeom>
          <a:noFill/>
        </p:spPr>
        <p:txBody>
          <a:bodyPr wrap="square">
            <a:spAutoFit/>
          </a:bodyPr>
          <a:lstStyle/>
          <a:p>
            <a:pPr algn="l"/>
            <a:r>
              <a:rPr sz="800" b="0" i="0">
                <a:solidFill>
                  <a:srgbClr val="555555"/>
                </a:solidFill>
              </a:rPr>
              <a:t>12.6x</a:t>
            </a:r>
          </a:p>
        </p:txBody>
      </p:sp>
      <p:sp>
        <p:nvSpPr>
          <p:cNvPr id="64" name="TextBox 63"/>
          <p:cNvSpPr txBox="1"/>
          <p:nvPr/>
        </p:nvSpPr>
        <p:spPr>
          <a:xfrm>
            <a:off x="5022000" y="2210400"/>
            <a:ext cx="540000" cy="198000"/>
          </a:xfrm>
          <a:prstGeom prst="rect">
            <a:avLst/>
          </a:prstGeom>
          <a:noFill/>
        </p:spPr>
        <p:txBody>
          <a:bodyPr wrap="square">
            <a:spAutoFit/>
          </a:bodyPr>
          <a:lstStyle/>
          <a:p>
            <a:pPr algn="l"/>
            <a:r>
              <a:rPr sz="800" b="0" i="0">
                <a:solidFill>
                  <a:srgbClr val="555555"/>
                </a:solidFill>
              </a:rPr>
              <a:t>62</a:t>
            </a:r>
          </a:p>
        </p:txBody>
      </p:sp>
      <p:sp>
        <p:nvSpPr>
          <p:cNvPr id="65" name="TextBox 64"/>
          <p:cNvSpPr txBox="1"/>
          <p:nvPr/>
        </p:nvSpPr>
        <p:spPr>
          <a:xfrm>
            <a:off x="3221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66" name="Rectangle 65"/>
          <p:cNvSpPr/>
          <p:nvPr/>
        </p:nvSpPr>
        <p:spPr>
          <a:xfrm>
            <a:off x="3221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3294000" y="2700000"/>
            <a:ext cx="2484000" cy="666000"/>
          </a:xfrm>
          <a:prstGeom prst="rect">
            <a:avLst/>
          </a:prstGeom>
          <a:noFill/>
        </p:spPr>
        <p:txBody>
          <a:bodyPr wrap="square">
            <a:spAutoFit/>
          </a:bodyPr>
          <a:lstStyle/>
          <a:p>
            <a:pPr algn="l"/>
            <a:r>
              <a:rPr sz="750" b="0" i="0">
                <a:solidFill>
                  <a:srgbClr val="555555"/>
                </a:solidFill>
              </a:rPr>
              <a:t>Pipeline FDA robuste, pricing power defensif intact</a:t>
            </a:r>
          </a:p>
        </p:txBody>
      </p:sp>
      <p:sp>
        <p:nvSpPr>
          <p:cNvPr id="68" name="TextBox 67"/>
          <p:cNvSpPr txBox="1"/>
          <p:nvPr/>
        </p:nvSpPr>
        <p:spPr>
          <a:xfrm>
            <a:off x="3221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69" name="Rectangle 68"/>
          <p:cNvSpPr/>
          <p:nvPr/>
        </p:nvSpPr>
        <p:spPr>
          <a:xfrm>
            <a:off x="3221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3294000" y="3654000"/>
            <a:ext cx="2484000" cy="666000"/>
          </a:xfrm>
          <a:prstGeom prst="rect">
            <a:avLst/>
          </a:prstGeom>
          <a:noFill/>
        </p:spPr>
        <p:txBody>
          <a:bodyPr wrap="square">
            <a:spAutoFit/>
          </a:bodyPr>
          <a:lstStyle/>
          <a:p>
            <a:pPr algn="l"/>
            <a:r>
              <a:rPr sz="750" b="0" i="0">
                <a:solidFill>
                  <a:srgbClr val="555555"/>
                </a:solidFill>
              </a:rPr>
              <a:t>Risque reglementaire US — pression politique sur prix medicaments</a:t>
            </a:r>
          </a:p>
        </p:txBody>
      </p:sp>
      <p:sp>
        <p:nvSpPr>
          <p:cNvPr id="71" name="Rectangle 70"/>
          <p:cNvSpPr/>
          <p:nvPr/>
        </p:nvSpPr>
        <p:spPr>
          <a:xfrm>
            <a:off x="5975999" y="827999"/>
            <a:ext cx="2700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Rectangle 71"/>
          <p:cNvSpPr/>
          <p:nvPr/>
        </p:nvSpPr>
        <p:spPr>
          <a:xfrm>
            <a:off x="5975999" y="827999"/>
            <a:ext cx="2700000" cy="28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6047999" y="846000"/>
            <a:ext cx="1800000" cy="251999"/>
          </a:xfrm>
          <a:prstGeom prst="rect">
            <a:avLst/>
          </a:prstGeom>
          <a:noFill/>
        </p:spPr>
        <p:txBody>
          <a:bodyPr wrap="square">
            <a:spAutoFit/>
          </a:bodyPr>
          <a:lstStyle/>
          <a:p>
            <a:pPr algn="l"/>
            <a:r>
              <a:rPr sz="1000" b="1" i="0">
                <a:solidFill>
                  <a:srgbClr val="FFFFFF"/>
                </a:solidFill>
              </a:rPr>
              <a:t>Financials</a:t>
            </a:r>
          </a:p>
        </p:txBody>
      </p:sp>
      <p:sp>
        <p:nvSpPr>
          <p:cNvPr id="74" name="Rectangle 73"/>
          <p:cNvSpPr/>
          <p:nvPr/>
        </p:nvSpPr>
        <p:spPr>
          <a:xfrm>
            <a:off x="7955999" y="846000"/>
            <a:ext cx="6480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7992000" y="864000"/>
            <a:ext cx="612000" cy="198000"/>
          </a:xfrm>
          <a:prstGeom prst="rect">
            <a:avLst/>
          </a:prstGeom>
          <a:noFill/>
        </p:spPr>
        <p:txBody>
          <a:bodyPr wrap="square">
            <a:spAutoFit/>
          </a:bodyPr>
          <a:lstStyle/>
          <a:p>
            <a:pPr algn="ctr"/>
            <a:r>
              <a:rPr sz="750" b="1" i="0">
                <a:solidFill>
                  <a:srgbClr val="FFFFFF"/>
                </a:solidFill>
              </a:rPr>
              <a:t>Surp.</a:t>
            </a:r>
          </a:p>
        </p:txBody>
      </p:sp>
      <p:sp>
        <p:nvSpPr>
          <p:cNvPr id="76" name="TextBox 75"/>
          <p:cNvSpPr txBox="1"/>
          <p:nvPr/>
        </p:nvSpPr>
        <p:spPr>
          <a:xfrm>
            <a:off x="6047999" y="1170000"/>
            <a:ext cx="2592000" cy="180000"/>
          </a:xfrm>
          <a:prstGeom prst="rect">
            <a:avLst/>
          </a:prstGeom>
          <a:noFill/>
        </p:spPr>
        <p:txBody>
          <a:bodyPr wrap="square">
            <a:spAutoFit/>
          </a:bodyPr>
          <a:lstStyle/>
          <a:p>
            <a:pPr algn="l"/>
            <a:r>
              <a:rPr sz="750" b="0" i="0">
                <a:solidFill>
                  <a:srgbClr val="1B3A6B"/>
                </a:solidFill>
              </a:rPr>
              <a:t>Score : 62/100  ·  EV/EBITDA : 9.8x</a:t>
            </a:r>
          </a:p>
        </p:txBody>
      </p:sp>
      <p:sp>
        <p:nvSpPr>
          <p:cNvPr id="77" name="TextBox 76"/>
          <p:cNvSpPr txBox="1"/>
          <p:nvPr/>
        </p:nvSpPr>
        <p:spPr>
          <a:xfrm>
            <a:off x="6047999" y="1386000"/>
            <a:ext cx="2592000" cy="162000"/>
          </a:xfrm>
          <a:prstGeom prst="rect">
            <a:avLst/>
          </a:prstGeom>
          <a:noFill/>
        </p:spPr>
        <p:txBody>
          <a:bodyPr wrap="square">
            <a:spAutoFit/>
          </a:bodyPr>
          <a:lstStyle/>
          <a:p>
            <a:pPr algn="l"/>
            <a:r>
              <a:rPr sz="750" b="1" i="0">
                <a:solidFill>
                  <a:srgbClr val="1B3A6B"/>
                </a:solidFill>
              </a:rPr>
              <a:t>Sociétés représentatives</a:t>
            </a:r>
          </a:p>
        </p:txBody>
      </p:sp>
      <p:sp>
        <p:nvSpPr>
          <p:cNvPr id="78" name="Rectangle 77"/>
          <p:cNvSpPr/>
          <p:nvPr/>
        </p:nvSpPr>
        <p:spPr>
          <a:xfrm>
            <a:off x="6047999" y="15840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6119999" y="1620000"/>
            <a:ext cx="720000" cy="198000"/>
          </a:xfrm>
          <a:prstGeom prst="rect">
            <a:avLst/>
          </a:prstGeom>
          <a:noFill/>
        </p:spPr>
        <p:txBody>
          <a:bodyPr wrap="square">
            <a:spAutoFit/>
          </a:bodyPr>
          <a:lstStyle/>
          <a:p>
            <a:pPr algn="l"/>
            <a:r>
              <a:rPr sz="800" b="1" i="0">
                <a:solidFill>
                  <a:srgbClr val="1B3A6B"/>
                </a:solidFill>
              </a:rPr>
              <a:t>JPM</a:t>
            </a:r>
          </a:p>
        </p:txBody>
      </p:sp>
      <p:sp>
        <p:nvSpPr>
          <p:cNvPr id="80" name="TextBox 79"/>
          <p:cNvSpPr txBox="1"/>
          <p:nvPr/>
        </p:nvSpPr>
        <p:spPr>
          <a:xfrm>
            <a:off x="6839999" y="1620000"/>
            <a:ext cx="468000" cy="198000"/>
          </a:xfrm>
          <a:prstGeom prst="rect">
            <a:avLst/>
          </a:prstGeom>
          <a:noFill/>
        </p:spPr>
        <p:txBody>
          <a:bodyPr wrap="square">
            <a:spAutoFit/>
          </a:bodyPr>
          <a:lstStyle/>
          <a:p>
            <a:pPr algn="l"/>
            <a:r>
              <a:rPr sz="800" b="0" i="0">
                <a:solidFill>
                  <a:srgbClr val="1A7A4A"/>
                </a:solidFill>
              </a:rPr>
              <a:t>Surp.</a:t>
            </a:r>
          </a:p>
        </p:txBody>
      </p:sp>
      <p:sp>
        <p:nvSpPr>
          <p:cNvPr id="81" name="TextBox 80"/>
          <p:cNvSpPr txBox="1"/>
          <p:nvPr/>
        </p:nvSpPr>
        <p:spPr>
          <a:xfrm>
            <a:off x="7307999" y="1620000"/>
            <a:ext cx="540000" cy="198000"/>
          </a:xfrm>
          <a:prstGeom prst="rect">
            <a:avLst/>
          </a:prstGeom>
          <a:noFill/>
        </p:spPr>
        <p:txBody>
          <a:bodyPr wrap="square">
            <a:spAutoFit/>
          </a:bodyPr>
          <a:lstStyle/>
          <a:p>
            <a:pPr algn="l"/>
            <a:r>
              <a:rPr sz="800" b="0" i="0">
                <a:solidFill>
                  <a:srgbClr val="555555"/>
                </a:solidFill>
              </a:rPr>
              <a:t>8.4x</a:t>
            </a:r>
          </a:p>
        </p:txBody>
      </p:sp>
      <p:sp>
        <p:nvSpPr>
          <p:cNvPr id="82" name="TextBox 81"/>
          <p:cNvSpPr txBox="1"/>
          <p:nvPr/>
        </p:nvSpPr>
        <p:spPr>
          <a:xfrm>
            <a:off x="7847999" y="1620000"/>
            <a:ext cx="540000" cy="198000"/>
          </a:xfrm>
          <a:prstGeom prst="rect">
            <a:avLst/>
          </a:prstGeom>
          <a:noFill/>
        </p:spPr>
        <p:txBody>
          <a:bodyPr wrap="square">
            <a:spAutoFit/>
          </a:bodyPr>
          <a:lstStyle/>
          <a:p>
            <a:pPr algn="l"/>
            <a:r>
              <a:rPr sz="800" b="0" i="0">
                <a:solidFill>
                  <a:srgbClr val="555555"/>
                </a:solidFill>
              </a:rPr>
              <a:t>70</a:t>
            </a:r>
          </a:p>
        </p:txBody>
      </p:sp>
      <p:sp>
        <p:nvSpPr>
          <p:cNvPr id="83" name="Rectangle 82"/>
          <p:cNvSpPr/>
          <p:nvPr/>
        </p:nvSpPr>
        <p:spPr>
          <a:xfrm>
            <a:off x="6047999" y="18792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19999" y="1915200"/>
            <a:ext cx="720000" cy="198000"/>
          </a:xfrm>
          <a:prstGeom prst="rect">
            <a:avLst/>
          </a:prstGeom>
          <a:noFill/>
        </p:spPr>
        <p:txBody>
          <a:bodyPr wrap="square">
            <a:spAutoFit/>
          </a:bodyPr>
          <a:lstStyle/>
          <a:p>
            <a:pPr algn="l"/>
            <a:r>
              <a:rPr sz="800" b="1" i="0">
                <a:solidFill>
                  <a:srgbClr val="1B3A6B"/>
                </a:solidFill>
              </a:rPr>
              <a:t>BLK</a:t>
            </a:r>
          </a:p>
        </p:txBody>
      </p:sp>
      <p:sp>
        <p:nvSpPr>
          <p:cNvPr id="85" name="TextBox 84"/>
          <p:cNvSpPr txBox="1"/>
          <p:nvPr/>
        </p:nvSpPr>
        <p:spPr>
          <a:xfrm>
            <a:off x="6839999" y="1915200"/>
            <a:ext cx="468000" cy="198000"/>
          </a:xfrm>
          <a:prstGeom prst="rect">
            <a:avLst/>
          </a:prstGeom>
          <a:noFill/>
        </p:spPr>
        <p:txBody>
          <a:bodyPr wrap="square">
            <a:spAutoFit/>
          </a:bodyPr>
          <a:lstStyle/>
          <a:p>
            <a:pPr algn="l"/>
            <a:r>
              <a:rPr sz="800" b="0" i="0">
                <a:solidFill>
                  <a:srgbClr val="1A7A4A"/>
                </a:solidFill>
              </a:rPr>
              <a:t>Surp.</a:t>
            </a:r>
          </a:p>
        </p:txBody>
      </p:sp>
      <p:sp>
        <p:nvSpPr>
          <p:cNvPr id="86" name="TextBox 85"/>
          <p:cNvSpPr txBox="1"/>
          <p:nvPr/>
        </p:nvSpPr>
        <p:spPr>
          <a:xfrm>
            <a:off x="7307999" y="1915200"/>
            <a:ext cx="540000" cy="198000"/>
          </a:xfrm>
          <a:prstGeom prst="rect">
            <a:avLst/>
          </a:prstGeom>
          <a:noFill/>
        </p:spPr>
        <p:txBody>
          <a:bodyPr wrap="square">
            <a:spAutoFit/>
          </a:bodyPr>
          <a:lstStyle/>
          <a:p>
            <a:pPr algn="l"/>
            <a:r>
              <a:rPr sz="800" b="0" i="0">
                <a:solidFill>
                  <a:srgbClr val="555555"/>
                </a:solidFill>
              </a:rPr>
              <a:t>14.2x</a:t>
            </a:r>
          </a:p>
        </p:txBody>
      </p:sp>
      <p:sp>
        <p:nvSpPr>
          <p:cNvPr id="87" name="TextBox 86"/>
          <p:cNvSpPr txBox="1"/>
          <p:nvPr/>
        </p:nvSpPr>
        <p:spPr>
          <a:xfrm>
            <a:off x="7847999" y="1915200"/>
            <a:ext cx="540000" cy="198000"/>
          </a:xfrm>
          <a:prstGeom prst="rect">
            <a:avLst/>
          </a:prstGeom>
          <a:noFill/>
        </p:spPr>
        <p:txBody>
          <a:bodyPr wrap="square">
            <a:spAutoFit/>
          </a:bodyPr>
          <a:lstStyle/>
          <a:p>
            <a:pPr algn="l"/>
            <a:r>
              <a:rPr sz="800" b="0" i="0">
                <a:solidFill>
                  <a:srgbClr val="555555"/>
                </a:solidFill>
              </a:rPr>
              <a:t>68</a:t>
            </a:r>
          </a:p>
        </p:txBody>
      </p:sp>
      <p:sp>
        <p:nvSpPr>
          <p:cNvPr id="88" name="Rectangle 87"/>
          <p:cNvSpPr/>
          <p:nvPr/>
        </p:nvSpPr>
        <p:spPr>
          <a:xfrm>
            <a:off x="6047999" y="2174400"/>
            <a:ext cx="2592000" cy="259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6119999" y="2210400"/>
            <a:ext cx="720000" cy="198000"/>
          </a:xfrm>
          <a:prstGeom prst="rect">
            <a:avLst/>
          </a:prstGeom>
          <a:noFill/>
        </p:spPr>
        <p:txBody>
          <a:bodyPr wrap="square">
            <a:spAutoFit/>
          </a:bodyPr>
          <a:lstStyle/>
          <a:p>
            <a:pPr algn="l"/>
            <a:r>
              <a:rPr sz="800" b="1" i="0">
                <a:solidFill>
                  <a:srgbClr val="1B3A6B"/>
                </a:solidFill>
              </a:rPr>
              <a:t>GS</a:t>
            </a:r>
          </a:p>
        </p:txBody>
      </p:sp>
      <p:sp>
        <p:nvSpPr>
          <p:cNvPr id="90" name="TextBox 89"/>
          <p:cNvSpPr txBox="1"/>
          <p:nvPr/>
        </p:nvSpPr>
        <p:spPr>
          <a:xfrm>
            <a:off x="6839999" y="2210400"/>
            <a:ext cx="468000" cy="198000"/>
          </a:xfrm>
          <a:prstGeom prst="rect">
            <a:avLst/>
          </a:prstGeom>
          <a:noFill/>
        </p:spPr>
        <p:txBody>
          <a:bodyPr wrap="square">
            <a:spAutoFit/>
          </a:bodyPr>
          <a:lstStyle/>
          <a:p>
            <a:pPr algn="l"/>
            <a:r>
              <a:rPr sz="800" b="0" i="0">
                <a:solidFill>
                  <a:srgbClr val="B06000"/>
                </a:solidFill>
              </a:rPr>
              <a:t>Neutre</a:t>
            </a:r>
          </a:p>
        </p:txBody>
      </p:sp>
      <p:sp>
        <p:nvSpPr>
          <p:cNvPr id="91" name="TextBox 90"/>
          <p:cNvSpPr txBox="1"/>
          <p:nvPr/>
        </p:nvSpPr>
        <p:spPr>
          <a:xfrm>
            <a:off x="7307999" y="2210400"/>
            <a:ext cx="540000" cy="198000"/>
          </a:xfrm>
          <a:prstGeom prst="rect">
            <a:avLst/>
          </a:prstGeom>
          <a:noFill/>
        </p:spPr>
        <p:txBody>
          <a:bodyPr wrap="square">
            <a:spAutoFit/>
          </a:bodyPr>
          <a:lstStyle/>
          <a:p>
            <a:pPr algn="l"/>
            <a:r>
              <a:rPr sz="800" b="0" i="0">
                <a:solidFill>
                  <a:srgbClr val="555555"/>
                </a:solidFill>
              </a:rPr>
              <a:t>9.8x</a:t>
            </a:r>
          </a:p>
        </p:txBody>
      </p:sp>
      <p:sp>
        <p:nvSpPr>
          <p:cNvPr id="92" name="TextBox 91"/>
          <p:cNvSpPr txBox="1"/>
          <p:nvPr/>
        </p:nvSpPr>
        <p:spPr>
          <a:xfrm>
            <a:off x="7847999" y="2210400"/>
            <a:ext cx="540000" cy="198000"/>
          </a:xfrm>
          <a:prstGeom prst="rect">
            <a:avLst/>
          </a:prstGeom>
          <a:noFill/>
        </p:spPr>
        <p:txBody>
          <a:bodyPr wrap="square">
            <a:spAutoFit/>
          </a:bodyPr>
          <a:lstStyle/>
          <a:p>
            <a:pPr algn="l"/>
            <a:r>
              <a:rPr sz="800" b="0" i="0">
                <a:solidFill>
                  <a:srgbClr val="555555"/>
                </a:solidFill>
              </a:rPr>
              <a:t>60</a:t>
            </a:r>
          </a:p>
        </p:txBody>
      </p:sp>
      <p:sp>
        <p:nvSpPr>
          <p:cNvPr id="93" name="TextBox 92"/>
          <p:cNvSpPr txBox="1"/>
          <p:nvPr/>
        </p:nvSpPr>
        <p:spPr>
          <a:xfrm>
            <a:off x="6047999" y="2484000"/>
            <a:ext cx="2592000" cy="162000"/>
          </a:xfrm>
          <a:prstGeom prst="rect">
            <a:avLst/>
          </a:prstGeom>
          <a:noFill/>
        </p:spPr>
        <p:txBody>
          <a:bodyPr wrap="square">
            <a:spAutoFit/>
          </a:bodyPr>
          <a:lstStyle/>
          <a:p>
            <a:pPr algn="l"/>
            <a:r>
              <a:rPr sz="750" b="1" i="0">
                <a:solidFill>
                  <a:srgbClr val="1B3A6B"/>
                </a:solidFill>
              </a:rPr>
              <a:t>Catalyseur</a:t>
            </a:r>
          </a:p>
        </p:txBody>
      </p:sp>
      <p:sp>
        <p:nvSpPr>
          <p:cNvPr id="94" name="Rectangle 93"/>
          <p:cNvSpPr/>
          <p:nvPr/>
        </p:nvSpPr>
        <p:spPr>
          <a:xfrm>
            <a:off x="6047999" y="2664000"/>
            <a:ext cx="2592000" cy="72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6119999" y="2700000"/>
            <a:ext cx="2484000" cy="666000"/>
          </a:xfrm>
          <a:prstGeom prst="rect">
            <a:avLst/>
          </a:prstGeom>
          <a:noFill/>
        </p:spPr>
        <p:txBody>
          <a:bodyPr wrap="square">
            <a:spAutoFit/>
          </a:bodyPr>
          <a:lstStyle/>
          <a:p>
            <a:pPr algn="l"/>
            <a:r>
              <a:rPr sz="750" b="0" i="0">
                <a:solidFill>
                  <a:srgbClr val="555555"/>
                </a:solidFill>
              </a:rPr>
              <a:t>Spreads de credit solides, NIM eleves, buybacks soutenus</a:t>
            </a:r>
          </a:p>
        </p:txBody>
      </p:sp>
      <p:sp>
        <p:nvSpPr>
          <p:cNvPr id="96" name="TextBox 95"/>
          <p:cNvSpPr txBox="1"/>
          <p:nvPr/>
        </p:nvSpPr>
        <p:spPr>
          <a:xfrm>
            <a:off x="6047999" y="3438000"/>
            <a:ext cx="2592000" cy="162000"/>
          </a:xfrm>
          <a:prstGeom prst="rect">
            <a:avLst/>
          </a:prstGeom>
          <a:noFill/>
        </p:spPr>
        <p:txBody>
          <a:bodyPr wrap="square">
            <a:spAutoFit/>
          </a:bodyPr>
          <a:lstStyle/>
          <a:p>
            <a:pPr algn="l"/>
            <a:r>
              <a:rPr sz="750" b="1" i="0">
                <a:solidFill>
                  <a:srgbClr val="1B3A6B"/>
                </a:solidFill>
              </a:rPr>
              <a:t>Risque principal</a:t>
            </a:r>
          </a:p>
        </p:txBody>
      </p:sp>
      <p:sp>
        <p:nvSpPr>
          <p:cNvPr id="97" name="Rectangle 96"/>
          <p:cNvSpPr/>
          <p:nvPr/>
        </p:nvSpPr>
        <p:spPr>
          <a:xfrm>
            <a:off x="6047999" y="3618000"/>
            <a:ext cx="2592000" cy="72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19999" y="3654000"/>
            <a:ext cx="2484000" cy="666000"/>
          </a:xfrm>
          <a:prstGeom prst="rect">
            <a:avLst/>
          </a:prstGeom>
          <a:noFill/>
        </p:spPr>
        <p:txBody>
          <a:bodyPr wrap="square">
            <a:spAutoFit/>
          </a:bodyPr>
          <a:lstStyle/>
          <a:p>
            <a:pPr algn="l"/>
            <a:r>
              <a:rPr sz="750" b="0" i="0">
                <a:solidFill>
                  <a:srgbClr val="555555"/>
                </a:solidFill>
              </a:rPr>
              <a:t>Stress immobilier commercial — CRE loans sous surveillance</a:t>
            </a:r>
          </a:p>
        </p:txBody>
      </p:sp>
      <p:sp>
        <p:nvSpPr>
          <p:cNvPr id="99" name="Rectangle 9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Allocation Optimale — Markowitz</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Min-Variance · Tangency (Max Sharpe) · Equal Risk Contribution  ·  ETF SPDR sectoriels 52S</a:t>
            </a:r>
          </a:p>
        </p:txBody>
      </p:sp>
      <p:sp>
        <p:nvSpPr>
          <p:cNvPr id="15" name="Rectangle 14"/>
          <p:cNvSpPr/>
          <p:nvPr/>
        </p:nvSpPr>
        <p:spPr>
          <a:xfrm>
            <a:off x="324000" y="900000"/>
            <a:ext cx="8496000" cy="162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900000"/>
            <a:ext cx="43200" cy="162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36000"/>
            <a:ext cx="8280000" cy="251999"/>
          </a:xfrm>
          <a:prstGeom prst="rect">
            <a:avLst/>
          </a:prstGeom>
          <a:noFill/>
        </p:spPr>
        <p:txBody>
          <a:bodyPr wrap="square">
            <a:spAutoFit/>
          </a:bodyPr>
          <a:lstStyle/>
          <a:p>
            <a:pPr algn="l"/>
            <a:r>
              <a:rPr sz="1100" b="1" i="0">
                <a:solidFill>
                  <a:srgbClr val="1B3A6B"/>
                </a:solidFill>
              </a:rPr>
              <a:t>Optimisation non disponible pour cet indice</a:t>
            </a:r>
          </a:p>
        </p:txBody>
      </p:sp>
      <p:sp>
        <p:nvSpPr>
          <p:cNvPr id="18" name="TextBox 17"/>
          <p:cNvSpPr txBox="1"/>
          <p:nvPr/>
        </p:nvSpPr>
        <p:spPr>
          <a:xfrm>
            <a:off x="432000" y="1224000"/>
            <a:ext cx="8280000" cy="1188000"/>
          </a:xfrm>
          <a:prstGeom prst="rect">
            <a:avLst/>
          </a:prstGeom>
          <a:noFill/>
        </p:spPr>
        <p:txBody>
          <a:bodyPr wrap="square">
            <a:spAutoFit/>
          </a:bodyPr>
          <a:lstStyle/>
          <a:p>
            <a:pPr algn="l"/>
            <a:r>
              <a:rPr sz="900" b="0" i="0">
                <a:solidFill>
                  <a:srgbClr val="555555"/>
                </a:solidFill>
              </a:rPr>
              <a:t>L'optimisation de portefeuille Markowitz repose sur les ETF SPDR sectoriels (XLK, XLV, XLF...) qui ne couvrent que le marche US (S&amp;P 500). Pour les indices europeens (CAC 40, DAX, Euro Stoxx), les proxies sectoriels equivalents ne sont pas disponibles via yfinance. L'optimisation est donc calculee uniquement lors d'une analyse S&amp;P 500.</a:t>
            </a:r>
          </a:p>
        </p:txBody>
      </p:sp>
      <p:sp>
        <p:nvSpPr>
          <p:cNvPr id="19" name="Rectangle 18"/>
          <p:cNvSpPr/>
          <p:nvPr/>
        </p:nvSpPr>
        <p:spPr>
          <a:xfrm>
            <a:off x="324000" y="2700000"/>
            <a:ext cx="8496000" cy="216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96000" y="2718000"/>
            <a:ext cx="8280000" cy="180000"/>
          </a:xfrm>
          <a:prstGeom prst="rect">
            <a:avLst/>
          </a:prstGeom>
          <a:noFill/>
        </p:spPr>
        <p:txBody>
          <a:bodyPr wrap="square">
            <a:spAutoFit/>
          </a:bodyPr>
          <a:lstStyle/>
          <a:p>
            <a:pPr algn="l"/>
            <a:r>
              <a:rPr sz="800" b="1" i="0">
                <a:solidFill>
                  <a:srgbClr val="FFFFFF"/>
                </a:solidFill>
              </a:rPr>
              <a:t>POSITIONNEMENT SECTORIEL RECOMMANDE (sans optimisation quantitative)</a:t>
            </a:r>
          </a:p>
        </p:txBody>
      </p:sp>
      <p:sp>
        <p:nvSpPr>
          <p:cNvPr id="21" name="Rectangle 20"/>
          <p:cNvSpPr/>
          <p:nvPr/>
        </p:nvSpPr>
        <p:spPr>
          <a:xfrm>
            <a:off x="324000" y="2934000"/>
            <a:ext cx="4104000" cy="144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934000"/>
            <a:ext cx="36000" cy="144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6000" y="2951999"/>
            <a:ext cx="3924000" cy="162000"/>
          </a:xfrm>
          <a:prstGeom prst="rect">
            <a:avLst/>
          </a:prstGeom>
          <a:noFill/>
        </p:spPr>
        <p:txBody>
          <a:bodyPr wrap="square">
            <a:spAutoFit/>
          </a:bodyPr>
          <a:lstStyle/>
          <a:p>
            <a:pPr algn="l"/>
            <a:r>
              <a:rPr sz="750" b="1" i="0">
                <a:solidFill>
                  <a:srgbClr val="1A7A4A"/>
                </a:solidFill>
              </a:rPr>
              <a:t>SURPONDERER</a:t>
            </a:r>
          </a:p>
        </p:txBody>
      </p:sp>
      <p:sp>
        <p:nvSpPr>
          <p:cNvPr id="24" name="TextBox 23"/>
          <p:cNvSpPr txBox="1"/>
          <p:nvPr/>
        </p:nvSpPr>
        <p:spPr>
          <a:xfrm>
            <a:off x="432000" y="3131999"/>
            <a:ext cx="3888000" cy="234000"/>
          </a:xfrm>
          <a:prstGeom prst="rect">
            <a:avLst/>
          </a:prstGeom>
          <a:noFill/>
        </p:spPr>
        <p:txBody>
          <a:bodyPr wrap="square">
            <a:spAutoFit/>
          </a:bodyPr>
          <a:lstStyle/>
          <a:p>
            <a:pPr algn="l"/>
            <a:r>
              <a:rPr sz="800" b="0" i="0">
                <a:solidFill>
                  <a:srgbClr val="555555"/>
                </a:solidFill>
              </a:rPr>
              <a:t>• Technology — score 72/100</a:t>
            </a:r>
          </a:p>
        </p:txBody>
      </p:sp>
      <p:sp>
        <p:nvSpPr>
          <p:cNvPr id="25" name="TextBox 24"/>
          <p:cNvSpPr txBox="1"/>
          <p:nvPr/>
        </p:nvSpPr>
        <p:spPr>
          <a:xfrm>
            <a:off x="432000" y="3401999"/>
            <a:ext cx="3888000" cy="234000"/>
          </a:xfrm>
          <a:prstGeom prst="rect">
            <a:avLst/>
          </a:prstGeom>
          <a:noFill/>
        </p:spPr>
        <p:txBody>
          <a:bodyPr wrap="square">
            <a:spAutoFit/>
          </a:bodyPr>
          <a:lstStyle/>
          <a:p>
            <a:pPr algn="l"/>
            <a:r>
              <a:rPr sz="800" b="0" i="0">
                <a:solidFill>
                  <a:srgbClr val="555555"/>
                </a:solidFill>
              </a:rPr>
              <a:t>• Health Care — score 65/100</a:t>
            </a:r>
          </a:p>
        </p:txBody>
      </p:sp>
      <p:sp>
        <p:nvSpPr>
          <p:cNvPr id="26" name="TextBox 25"/>
          <p:cNvSpPr txBox="1"/>
          <p:nvPr/>
        </p:nvSpPr>
        <p:spPr>
          <a:xfrm>
            <a:off x="432000" y="3671999"/>
            <a:ext cx="3888000" cy="234000"/>
          </a:xfrm>
          <a:prstGeom prst="rect">
            <a:avLst/>
          </a:prstGeom>
          <a:noFill/>
        </p:spPr>
        <p:txBody>
          <a:bodyPr wrap="square">
            <a:spAutoFit/>
          </a:bodyPr>
          <a:lstStyle/>
          <a:p>
            <a:pPr algn="l"/>
            <a:r>
              <a:rPr sz="800" b="0" i="0">
                <a:solidFill>
                  <a:srgbClr val="555555"/>
                </a:solidFill>
              </a:rPr>
              <a:t>• Financials — score 62/100</a:t>
            </a:r>
          </a:p>
        </p:txBody>
      </p:sp>
      <p:sp>
        <p:nvSpPr>
          <p:cNvPr id="27" name="Rectangle 26"/>
          <p:cNvSpPr/>
          <p:nvPr/>
        </p:nvSpPr>
        <p:spPr>
          <a:xfrm>
            <a:off x="4716000" y="2934000"/>
            <a:ext cx="4104000" cy="144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716000" y="2934000"/>
            <a:ext cx="36000" cy="144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88000" y="2951999"/>
            <a:ext cx="3924000" cy="162000"/>
          </a:xfrm>
          <a:prstGeom prst="rect">
            <a:avLst/>
          </a:prstGeom>
          <a:noFill/>
        </p:spPr>
        <p:txBody>
          <a:bodyPr wrap="square">
            <a:spAutoFit/>
          </a:bodyPr>
          <a:lstStyle/>
          <a:p>
            <a:pPr algn="l"/>
            <a:r>
              <a:rPr sz="750" b="1" i="0">
                <a:solidFill>
                  <a:srgbClr val="A82020"/>
                </a:solidFill>
              </a:rPr>
              <a:t>SOUS-PONDERER</a:t>
            </a:r>
          </a:p>
        </p:txBody>
      </p:sp>
      <p:sp>
        <p:nvSpPr>
          <p:cNvPr id="30" name="TextBox 29"/>
          <p:cNvSpPr txBox="1"/>
          <p:nvPr/>
        </p:nvSpPr>
        <p:spPr>
          <a:xfrm>
            <a:off x="4824000" y="3131999"/>
            <a:ext cx="3888000" cy="234000"/>
          </a:xfrm>
          <a:prstGeom prst="rect">
            <a:avLst/>
          </a:prstGeom>
          <a:noFill/>
        </p:spPr>
        <p:txBody>
          <a:bodyPr wrap="square">
            <a:spAutoFit/>
          </a:bodyPr>
          <a:lstStyle/>
          <a:p>
            <a:pPr algn="l"/>
            <a:r>
              <a:rPr sz="800" b="0" i="0">
                <a:solidFill>
                  <a:srgbClr val="555555"/>
                </a:solidFill>
              </a:rPr>
              <a:t>• Real Estate — score 38/100</a:t>
            </a:r>
          </a:p>
        </p:txBody>
      </p:sp>
      <p:sp>
        <p:nvSpPr>
          <p:cNvPr id="31" name="TextBox 30"/>
          <p:cNvSpPr txBox="1"/>
          <p:nvPr/>
        </p:nvSpPr>
        <p:spPr>
          <a:xfrm>
            <a:off x="4824000" y="3401999"/>
            <a:ext cx="3888000" cy="234000"/>
          </a:xfrm>
          <a:prstGeom prst="rect">
            <a:avLst/>
          </a:prstGeom>
          <a:noFill/>
        </p:spPr>
        <p:txBody>
          <a:bodyPr wrap="square">
            <a:spAutoFit/>
          </a:bodyPr>
          <a:lstStyle/>
          <a:p>
            <a:pPr algn="l"/>
            <a:r>
              <a:rPr sz="800" b="0" i="0">
                <a:solidFill>
                  <a:srgbClr val="555555"/>
                </a:solidFill>
              </a:rPr>
              <a:t>• Utilities — score 36/100</a:t>
            </a:r>
          </a:p>
        </p:txBody>
      </p:sp>
      <p:sp>
        <p:nvSpPr>
          <p:cNvPr id="32" name="Rectangle 31"/>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Zone d'Entree Optimale par Secteur</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1A1A1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P/E actuel vs mediane historique 10 ans  ·  Signal d'entree Accumuler / Neutre / Alleger</a:t>
            </a:r>
          </a:p>
        </p:txBody>
      </p:sp>
      <p:pic>
        <p:nvPicPr>
          <p:cNvPr id="15" name="Picture 14" descr="image.png"/>
          <p:cNvPicPr>
            <a:picLocks noChangeAspect="1"/>
          </p:cNvPicPr>
          <p:nvPr/>
        </p:nvPicPr>
        <p:blipFill>
          <a:blip r:embed="rId2"/>
          <a:stretch>
            <a:fillRect/>
          </a:stretch>
        </p:blipFill>
        <p:spPr>
          <a:xfrm>
            <a:off x="324000" y="827999"/>
            <a:ext cx="5400000" cy="3780000"/>
          </a:xfrm>
          <a:prstGeom prst="rect">
            <a:avLst/>
          </a:prstGeom>
        </p:spPr>
      </p:pic>
      <p:sp>
        <p:nvSpPr>
          <p:cNvPr id="16" name="Rectangle 15"/>
          <p:cNvSpPr/>
          <p:nvPr/>
        </p:nvSpPr>
        <p:spPr>
          <a:xfrm>
            <a:off x="5868000" y="827999"/>
            <a:ext cx="2916000" cy="37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868000" y="827999"/>
            <a:ext cx="43200" cy="37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64000"/>
            <a:ext cx="2736000" cy="216000"/>
          </a:xfrm>
          <a:prstGeom prst="rect">
            <a:avLst/>
          </a:prstGeom>
          <a:noFill/>
        </p:spPr>
        <p:txBody>
          <a:bodyPr wrap="square">
            <a:spAutoFit/>
          </a:bodyPr>
          <a:lstStyle/>
          <a:p>
            <a:pPr algn="l"/>
            <a:r>
              <a:rPr sz="850" b="1" i="0">
                <a:solidFill>
                  <a:srgbClr val="1B3A6B"/>
                </a:solidFill>
              </a:rPr>
              <a:t>Lecture — Zone d'entree</a:t>
            </a:r>
          </a:p>
        </p:txBody>
      </p:sp>
      <p:sp>
        <p:nvSpPr>
          <p:cNvPr id="19" name="TextBox 18"/>
          <p:cNvSpPr txBox="1"/>
          <p:nvPr/>
        </p:nvSpPr>
        <p:spPr>
          <a:xfrm>
            <a:off x="5976000" y="1116000"/>
            <a:ext cx="2736000" cy="3420000"/>
          </a:xfrm>
          <a:prstGeom prst="rect">
            <a:avLst/>
          </a:prstGeom>
          <a:noFill/>
        </p:spPr>
        <p:txBody>
          <a:bodyPr wrap="square">
            <a:spAutoFit/>
          </a:bodyPr>
          <a:lstStyle/>
          <a:p>
            <a:pPr algn="l"/>
            <a:r>
              <a:rPr sz="750" b="0" i="0">
                <a:solidFill>
                  <a:srgbClr val="555555"/>
                </a:solidFill>
              </a:rPr>
              <a:t>PE mediane 10 ans : 18.2x
PE Forward indice : 21.5x
Zone d'entree favorable (PE &lt; mediane) :
Financials
Zone de prudence (PE &gt; mediane +15 %) :
Technology
Methodologie : le PE Forward estime est ancre sur le PE global de l'indice ajuste du score sectoriel (+/- ecart). Les secteurs a gauche de la ligne pointillee (mediane 10 ans) offrent un meilleur point d'entree. Un ecart &gt; +20 % vs la mediane justifie une prudence accrue sur le timing.</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0000" y="1260000"/>
            <a:ext cx="2880000" cy="1620000"/>
          </a:xfrm>
          <a:prstGeom prst="rect">
            <a:avLst/>
          </a:prstGeom>
          <a:noFill/>
        </p:spPr>
        <p:txBody>
          <a:bodyPr wrap="square">
            <a:spAutoFit/>
          </a:bodyPr>
          <a:lstStyle/>
          <a:p>
            <a:pPr algn="l"/>
            <a:r>
              <a:rPr sz="7200" b="1" i="0">
                <a:solidFill>
                  <a:srgbClr val="2A5298"/>
                </a:solidFill>
              </a:rPr>
              <a:t>04</a:t>
            </a:r>
          </a:p>
        </p:txBody>
      </p:sp>
      <p:sp>
        <p:nvSpPr>
          <p:cNvPr id="4" name="TextBox 3"/>
          <p:cNvSpPr txBox="1"/>
          <p:nvPr/>
        </p:nvSpPr>
        <p:spPr>
          <a:xfrm>
            <a:off x="360000" y="2520000"/>
            <a:ext cx="8280000" cy="720000"/>
          </a:xfrm>
          <a:prstGeom prst="rect">
            <a:avLst/>
          </a:prstGeom>
          <a:noFill/>
        </p:spPr>
        <p:txBody>
          <a:bodyPr wrap="square">
            <a:spAutoFit/>
          </a:bodyPr>
          <a:lstStyle/>
          <a:p>
            <a:pPr algn="l"/>
            <a:r>
              <a:rPr sz="2800" b="1" i="0">
                <a:solidFill>
                  <a:srgbClr val="FFFFFF"/>
                </a:solidFill>
              </a:rPr>
              <a:t>Risques, Rotation &amp; Sentiment</a:t>
            </a:r>
          </a:p>
        </p:txBody>
      </p:sp>
      <p:sp>
        <p:nvSpPr>
          <p:cNvPr id="5" name="Rectangle 4"/>
          <p:cNvSpPr/>
          <p:nvPr/>
        </p:nvSpPr>
        <p:spPr>
          <a:xfrm>
            <a:off x="360000" y="3276000"/>
            <a:ext cx="5400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60000" y="3384000"/>
            <a:ext cx="8243999" cy="288000"/>
          </a:xfrm>
          <a:prstGeom prst="rect">
            <a:avLst/>
          </a:prstGeom>
          <a:noFill/>
        </p:spPr>
        <p:txBody>
          <a:bodyPr wrap="square">
            <a:spAutoFit/>
          </a:bodyPr>
          <a:lstStyle/>
          <a:p>
            <a:pPr algn="l"/>
            <a:r>
              <a:rPr sz="1100" b="0" i="0">
                <a:solidFill>
                  <a:srgbClr val="AAAAAA"/>
                </a:solidFill>
              </a:rPr>
              <a:t>Scénarios alternatifs · Rotation sectorielle · FinBERT · Performance ETF</a:t>
            </a:r>
          </a:p>
        </p:txBody>
      </p:sp>
      <p:sp>
        <p:nvSpPr>
          <p:cNvPr id="7" name="TextBox 6"/>
          <p:cNvSpPr txBox="1"/>
          <p:nvPr/>
        </p:nvSpPr>
        <p:spPr>
          <a:xfrm>
            <a:off x="324000" y="4950000"/>
            <a:ext cx="8496000" cy="144000"/>
          </a:xfrm>
          <a:prstGeom prst="rect">
            <a:avLst/>
          </a:prstGeom>
          <a:noFill/>
        </p:spPr>
        <p:txBody>
          <a:bodyPr wrap="square">
            <a:spAutoFit/>
          </a:bodyPr>
          <a:lstStyle/>
          <a:p>
            <a:pPr algn="l"/>
            <a:r>
              <a:rPr sz="700" b="0" i="0">
                <a:solidFill>
                  <a:srgbClr val="AAAAAA"/>
                </a:solidFill>
              </a:rPr>
              <a:t>FinSight IA  ·  Usage confidentiel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Risques Macro &amp; Scénarios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Analyse adversariale  ·  3 scénarios alternatifs  ·  Conditions d'invalidation du signal Neutre</a:t>
            </a:r>
          </a:p>
        </p:txBody>
      </p:sp>
      <p:sp>
        <p:nvSpPr>
          <p:cNvPr id="15" name="Rectangle 14"/>
          <p:cNvSpPr/>
          <p:nvPr/>
        </p:nvSpPr>
        <p:spPr>
          <a:xfrm>
            <a:off x="324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6000" y="846000"/>
            <a:ext cx="1800000" cy="270000"/>
          </a:xfrm>
          <a:prstGeom prst="rect">
            <a:avLst/>
          </a:prstGeom>
          <a:noFill/>
        </p:spPr>
        <p:txBody>
          <a:bodyPr wrap="square">
            <a:spAutoFit/>
          </a:bodyPr>
          <a:lstStyle/>
          <a:p>
            <a:pPr algn="l"/>
            <a:r>
              <a:rPr sz="900" b="1" i="0">
                <a:solidFill>
                  <a:srgbClr val="FFFFFF"/>
                </a:solidFill>
              </a:rPr>
              <a:t>Récession technique</a:t>
            </a:r>
          </a:p>
        </p:txBody>
      </p:sp>
      <p:sp>
        <p:nvSpPr>
          <p:cNvPr id="18" name="TextBox 17"/>
          <p:cNvSpPr txBox="1"/>
          <p:nvPr/>
        </p:nvSpPr>
        <p:spPr>
          <a:xfrm>
            <a:off x="2232000" y="864000"/>
            <a:ext cx="720000" cy="234000"/>
          </a:xfrm>
          <a:prstGeom prst="rect">
            <a:avLst/>
          </a:prstGeom>
          <a:noFill/>
        </p:spPr>
        <p:txBody>
          <a:bodyPr wrap="square">
            <a:spAutoFit/>
          </a:bodyPr>
          <a:lstStyle/>
          <a:p>
            <a:pPr algn="r"/>
            <a:r>
              <a:rPr sz="900" b="1" i="0">
                <a:solidFill>
                  <a:srgbClr val="FFFFFF"/>
                </a:solidFill>
              </a:rPr>
              <a:t>Prob. 18 %</a:t>
            </a:r>
          </a:p>
        </p:txBody>
      </p:sp>
      <p:sp>
        <p:nvSpPr>
          <p:cNvPr id="19" name="TextBox 18"/>
          <p:cNvSpPr txBox="1"/>
          <p:nvPr/>
        </p:nvSpPr>
        <p:spPr>
          <a:xfrm>
            <a:off x="396000" y="1170000"/>
            <a:ext cx="2592000" cy="1152000"/>
          </a:xfrm>
          <a:prstGeom prst="rect">
            <a:avLst/>
          </a:prstGeom>
          <a:noFill/>
        </p:spPr>
        <p:txBody>
          <a:bodyPr wrap="square">
            <a:spAutoFit/>
          </a:bodyPr>
          <a:lstStyle/>
          <a:p>
            <a:pPr algn="l"/>
            <a:r>
              <a:rPr sz="800" b="0" i="0">
                <a:solidFill>
                  <a:srgbClr val="555555"/>
                </a:solidFill>
              </a:rPr>
              <a:t>Deux trimestres PIB &lt; 0 % — révision BPA -15/-20 %. Signal passerait Sous-pondérer.</a:t>
            </a:r>
          </a:p>
        </p:txBody>
      </p:sp>
      <p:sp>
        <p:nvSpPr>
          <p:cNvPr id="20" name="Rectangle 19"/>
          <p:cNvSpPr/>
          <p:nvPr/>
        </p:nvSpPr>
        <p:spPr>
          <a:xfrm>
            <a:off x="3150000"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150000" y="827999"/>
            <a:ext cx="2700000" cy="306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21999" y="846000"/>
            <a:ext cx="1800000" cy="270000"/>
          </a:xfrm>
          <a:prstGeom prst="rect">
            <a:avLst/>
          </a:prstGeom>
          <a:noFill/>
        </p:spPr>
        <p:txBody>
          <a:bodyPr wrap="square">
            <a:spAutoFit/>
          </a:bodyPr>
          <a:lstStyle/>
          <a:p>
            <a:pPr algn="l"/>
            <a:r>
              <a:rPr sz="900" b="1" i="0">
                <a:solidFill>
                  <a:srgbClr val="FFFFFF"/>
                </a:solidFill>
              </a:rPr>
              <a:t>Resserrement Fed prolongé</a:t>
            </a:r>
          </a:p>
        </p:txBody>
      </p:sp>
      <p:sp>
        <p:nvSpPr>
          <p:cNvPr id="23" name="TextBox 22"/>
          <p:cNvSpPr txBox="1"/>
          <p:nvPr/>
        </p:nvSpPr>
        <p:spPr>
          <a:xfrm>
            <a:off x="5058000" y="864000"/>
            <a:ext cx="720000" cy="234000"/>
          </a:xfrm>
          <a:prstGeom prst="rect">
            <a:avLst/>
          </a:prstGeom>
          <a:noFill/>
        </p:spPr>
        <p:txBody>
          <a:bodyPr wrap="square">
            <a:spAutoFit/>
          </a:bodyPr>
          <a:lstStyle/>
          <a:p>
            <a:pPr algn="r"/>
            <a:r>
              <a:rPr sz="900" b="1" i="0">
                <a:solidFill>
                  <a:srgbClr val="FFFFFF"/>
                </a:solidFill>
              </a:rPr>
              <a:t>Prob. 35 %</a:t>
            </a:r>
          </a:p>
        </p:txBody>
      </p:sp>
      <p:sp>
        <p:nvSpPr>
          <p:cNvPr id="24" name="TextBox 23"/>
          <p:cNvSpPr txBox="1"/>
          <p:nvPr/>
        </p:nvSpPr>
        <p:spPr>
          <a:xfrm>
            <a:off x="3221999" y="1170000"/>
            <a:ext cx="2592000" cy="1152000"/>
          </a:xfrm>
          <a:prstGeom prst="rect">
            <a:avLst/>
          </a:prstGeom>
          <a:noFill/>
        </p:spPr>
        <p:txBody>
          <a:bodyPr wrap="square">
            <a:spAutoFit/>
          </a:bodyPr>
          <a:lstStyle/>
          <a:p>
            <a:pPr algn="l"/>
            <a:r>
              <a:rPr sz="800" b="0" i="0">
                <a:solidFill>
                  <a:srgbClr val="555555"/>
                </a:solidFill>
              </a:rPr>
              <a:t>Fed Funds &gt; 4,5 % jusqu'en 2027 — compression multiples growth et rotation sectorielle.</a:t>
            </a:r>
          </a:p>
        </p:txBody>
      </p:sp>
      <p:sp>
        <p:nvSpPr>
          <p:cNvPr id="25" name="Rectangle 24"/>
          <p:cNvSpPr/>
          <p:nvPr/>
        </p:nvSpPr>
        <p:spPr>
          <a:xfrm>
            <a:off x="5975999" y="827999"/>
            <a:ext cx="27000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975999" y="827999"/>
            <a:ext cx="2700000" cy="306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047999" y="846000"/>
            <a:ext cx="1800000" cy="270000"/>
          </a:xfrm>
          <a:prstGeom prst="rect">
            <a:avLst/>
          </a:prstGeom>
          <a:noFill/>
        </p:spPr>
        <p:txBody>
          <a:bodyPr wrap="square">
            <a:spAutoFit/>
          </a:bodyPr>
          <a:lstStyle/>
          <a:p>
            <a:pPr algn="l"/>
            <a:r>
              <a:rPr sz="900" b="1" i="0">
                <a:solidFill>
                  <a:srgbClr val="FFFFFF"/>
                </a:solidFill>
              </a:rPr>
              <a:t>Choc géopolitique</a:t>
            </a:r>
          </a:p>
        </p:txBody>
      </p:sp>
      <p:sp>
        <p:nvSpPr>
          <p:cNvPr id="28" name="TextBox 27"/>
          <p:cNvSpPr txBox="1"/>
          <p:nvPr/>
        </p:nvSpPr>
        <p:spPr>
          <a:xfrm>
            <a:off x="7883999" y="864000"/>
            <a:ext cx="720000" cy="234000"/>
          </a:xfrm>
          <a:prstGeom prst="rect">
            <a:avLst/>
          </a:prstGeom>
          <a:noFill/>
        </p:spPr>
        <p:txBody>
          <a:bodyPr wrap="square">
            <a:spAutoFit/>
          </a:bodyPr>
          <a:lstStyle/>
          <a:p>
            <a:pPr algn="r"/>
            <a:r>
              <a:rPr sz="900" b="1" i="0">
                <a:solidFill>
                  <a:srgbClr val="FFFFFF"/>
                </a:solidFill>
              </a:rPr>
              <a:t>Prob. 20 %</a:t>
            </a:r>
          </a:p>
        </p:txBody>
      </p:sp>
      <p:sp>
        <p:nvSpPr>
          <p:cNvPr id="29" name="TextBox 28"/>
          <p:cNvSpPr txBox="1"/>
          <p:nvPr/>
        </p:nvSpPr>
        <p:spPr>
          <a:xfrm>
            <a:off x="6047999" y="1170000"/>
            <a:ext cx="2592000" cy="1152000"/>
          </a:xfrm>
          <a:prstGeom prst="rect">
            <a:avLst/>
          </a:prstGeom>
          <a:noFill/>
        </p:spPr>
        <p:txBody>
          <a:bodyPr wrap="square">
            <a:spAutoFit/>
          </a:bodyPr>
          <a:lstStyle/>
          <a:p>
            <a:pPr algn="l"/>
            <a:r>
              <a:rPr sz="800" b="0" i="0">
                <a:solidFill>
                  <a:srgbClr val="555555"/>
                </a:solidFill>
              </a:rPr>
              <a:t>Escalade géopolitique — spike VIX &gt; 35, rotation défensive vers Consumer Staples et Health Care.</a:t>
            </a:r>
          </a:p>
        </p:txBody>
      </p:sp>
      <p:sp>
        <p:nvSpPr>
          <p:cNvPr id="30" name="Rectangle 29"/>
          <p:cNvSpPr/>
          <p:nvPr/>
        </p:nvSpPr>
        <p:spPr>
          <a:xfrm>
            <a:off x="324000" y="2520000"/>
            <a:ext cx="8496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96000" y="2538000"/>
            <a:ext cx="8208000" cy="162000"/>
          </a:xfrm>
          <a:prstGeom prst="rect">
            <a:avLst/>
          </a:prstGeom>
          <a:noFill/>
        </p:spPr>
        <p:txBody>
          <a:bodyPr wrap="square">
            <a:spAutoFit/>
          </a:bodyPr>
          <a:lstStyle/>
          <a:p>
            <a:pPr algn="l"/>
            <a:r>
              <a:rPr sz="800" b="1" i="0">
                <a:solidFill>
                  <a:srgbClr val="FFFFFF"/>
                </a:solidFill>
              </a:rPr>
              <a:t>Conditions d'invalidation du signal NEUTRE</a:t>
            </a:r>
          </a:p>
        </p:txBody>
      </p:sp>
      <p:sp>
        <p:nvSpPr>
          <p:cNvPr id="32" name="Rectangle 31"/>
          <p:cNvSpPr/>
          <p:nvPr/>
        </p:nvSpPr>
        <p:spPr>
          <a:xfrm>
            <a:off x="324000" y="2772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3999" y="2772000"/>
            <a:ext cx="8028000" cy="324000"/>
          </a:xfrm>
          <a:prstGeom prst="rect">
            <a:avLst/>
          </a:prstGeom>
          <a:noFill/>
        </p:spPr>
        <p:txBody>
          <a:bodyPr wrap="square">
            <a:spAutoFit/>
          </a:bodyPr>
          <a:lstStyle/>
          <a:p>
            <a:pPr algn="l"/>
            <a:r>
              <a:rPr sz="850" b="0" i="0">
                <a:solidFill>
                  <a:srgbClr val="555555"/>
                </a:solidFill>
              </a:rPr>
              <a:t>DAX40 casse le support 4 800 pts — signal bascule Sous-ponderer</a:t>
            </a:r>
          </a:p>
        </p:txBody>
      </p:sp>
      <p:sp>
        <p:nvSpPr>
          <p:cNvPr id="34" name="Rectangle 33"/>
          <p:cNvSpPr/>
          <p:nvPr/>
        </p:nvSpPr>
        <p:spPr>
          <a:xfrm>
            <a:off x="324000" y="3168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168000"/>
            <a:ext cx="8028000" cy="324000"/>
          </a:xfrm>
          <a:prstGeom prst="rect">
            <a:avLst/>
          </a:prstGeom>
          <a:noFill/>
        </p:spPr>
        <p:txBody>
          <a:bodyPr wrap="square">
            <a:spAutoFit/>
          </a:bodyPr>
          <a:lstStyle/>
          <a:p>
            <a:pPr algn="l"/>
            <a:r>
              <a:rPr sz="850" b="0" i="0">
                <a:solidFill>
                  <a:srgbClr val="555555"/>
                </a:solidFill>
              </a:rPr>
              <a:t>Fed hike inattendu post-CPI &gt; 3.5% — derating massif growth</a:t>
            </a:r>
          </a:p>
        </p:txBody>
      </p:sp>
      <p:sp>
        <p:nvSpPr>
          <p:cNvPr id="36" name="Rectangle 35"/>
          <p:cNvSpPr/>
          <p:nvPr/>
        </p:nvSpPr>
        <p:spPr>
          <a:xfrm>
            <a:off x="324000" y="3564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3999" y="3564000"/>
            <a:ext cx="8028000" cy="324000"/>
          </a:xfrm>
          <a:prstGeom prst="rect">
            <a:avLst/>
          </a:prstGeom>
          <a:noFill/>
        </p:spPr>
        <p:txBody>
          <a:bodyPr wrap="square">
            <a:spAutoFit/>
          </a:bodyPr>
          <a:lstStyle/>
          <a:p>
            <a:pPr algn="l"/>
            <a:r>
              <a:rPr sz="850" b="0" i="0">
                <a:solidFill>
                  <a:srgbClr val="555555"/>
                </a:solidFill>
              </a:rPr>
              <a:t>Revisions BPA agragees &lt; -5% sur 2 trimestres consecutifs</a:t>
            </a:r>
          </a:p>
        </p:txBody>
      </p:sp>
      <p:sp>
        <p:nvSpPr>
          <p:cNvPr id="38" name="Rectangle 37"/>
          <p:cNvSpPr/>
          <p:nvPr/>
        </p:nvSpPr>
        <p:spPr>
          <a:xfrm>
            <a:off x="324000" y="3960000"/>
            <a:ext cx="36000" cy="30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13999" y="3960000"/>
            <a:ext cx="8028000" cy="324000"/>
          </a:xfrm>
          <a:prstGeom prst="rect">
            <a:avLst/>
          </a:prstGeom>
          <a:noFill/>
        </p:spPr>
        <p:txBody>
          <a:bodyPr wrap="square">
            <a:spAutoFit/>
          </a:bodyPr>
          <a:lstStyle/>
          <a:p>
            <a:pPr algn="l"/>
            <a:r>
              <a:rPr sz="850" b="0" i="0">
                <a:solidFill>
                  <a:srgbClr val="555555"/>
                </a:solidFill>
              </a:rPr>
              <a:t>VIX &gt; 35 sur plus de 10 seances consecutives</a:t>
            </a:r>
          </a:p>
        </p:txBody>
      </p:sp>
      <p:sp>
        <p:nvSpPr>
          <p:cNvPr id="40" name="Rectangle 3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Rotation Sectorielle &amp; Cycle Économique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Phase actuelle : Expansion avancee  ·  Sensibilités taux/PIB  ·  Signal de rotation</a:t>
            </a:r>
          </a:p>
        </p:txBody>
      </p:sp>
      <p:graphicFrame>
        <p:nvGraphicFramePr>
          <p:cNvPr id="15" name="Table 14"/>
          <p:cNvGraphicFramePr>
            <a:graphicFrameLocks noGrp="1"/>
          </p:cNvGraphicFramePr>
          <p:nvPr/>
        </p:nvGraphicFramePr>
        <p:xfrm>
          <a:off x="324000" y="827999"/>
          <a:ext cx="8495999" cy="2808000"/>
        </p:xfrm>
        <a:graphic>
          <a:graphicData uri="http://schemas.openxmlformats.org/drawingml/2006/table">
            <a:tbl>
              <a:tblPr firstRow="1" bandRow="1">
                <a:tableStyleId>{5C22544A-7EE6-4342-B048-85BDC9FD1C3A}</a:tableStyleId>
              </a:tblPr>
              <a:tblGrid>
                <a:gridCol w="2184685"/>
                <a:gridCol w="1699200"/>
                <a:gridCol w="1456457"/>
                <a:gridCol w="1456457"/>
                <a:gridCol w="1699200"/>
              </a:tblGrid>
              <a:tr h="234000">
                <a:tc>
                  <a:txBody>
                    <a:bodyPr/>
                    <a:lstStyle/>
                    <a:p>
                      <a:pPr algn="ctr"/>
                      <a:r>
                        <a:rPr sz="800" b="1">
                          <a:solidFill>
                            <a:srgbClr val="FFFFFF"/>
                          </a:solidFill>
                        </a:rPr>
                        <a:t>Secteur</a:t>
                      </a:r>
                    </a:p>
                  </a:txBody>
                  <a:tcPr>
                    <a:solidFill>
                      <a:srgbClr val="1B3A6B"/>
                    </a:solidFill>
                  </a:tcPr>
                </a:tc>
                <a:tc>
                  <a:txBody>
                    <a:bodyPr/>
                    <a:lstStyle/>
                    <a:p>
                      <a:pPr algn="ctr"/>
                      <a:r>
                        <a:rPr sz="800" b="1">
                          <a:solidFill>
                            <a:srgbClr val="FFFFFF"/>
                          </a:solidFill>
                        </a:rPr>
                        <a:t>Phase favorisée</a:t>
                      </a:r>
                    </a:p>
                  </a:txBody>
                  <a:tcPr>
                    <a:solidFill>
                      <a:srgbClr val="1B3A6B"/>
                    </a:solidFill>
                  </a:tcPr>
                </a:tc>
                <a:tc>
                  <a:txBody>
                    <a:bodyPr/>
                    <a:lstStyle/>
                    <a:p>
                      <a:pPr algn="ctr"/>
                      <a:r>
                        <a:rPr sz="800" b="1">
                          <a:solidFill>
                            <a:srgbClr val="FFFFFF"/>
                          </a:solidFill>
                        </a:rPr>
                        <a:t>Sens. Taux</a:t>
                      </a:r>
                    </a:p>
                  </a:txBody>
                  <a:tcPr>
                    <a:solidFill>
                      <a:srgbClr val="1B3A6B"/>
                    </a:solidFill>
                  </a:tcPr>
                </a:tc>
                <a:tc>
                  <a:txBody>
                    <a:bodyPr/>
                    <a:lstStyle/>
                    <a:p>
                      <a:pPr algn="ctr"/>
                      <a:r>
                        <a:rPr sz="800" b="1">
                          <a:solidFill>
                            <a:srgbClr val="FFFFFF"/>
                          </a:solidFill>
                        </a:rPr>
                        <a:t>Sens. PIB</a:t>
                      </a:r>
                    </a:p>
                  </a:txBody>
                  <a:tcPr>
                    <a:solidFill>
                      <a:srgbClr val="1B3A6B"/>
                    </a:solidFill>
                  </a:tcPr>
                </a:tc>
                <a:tc>
                  <a:txBody>
                    <a:bodyPr/>
                    <a:lstStyle/>
                    <a:p>
                      <a:pPr algn="ctr"/>
                      <a:r>
                        <a:rPr sz="800" b="1">
                          <a:solidFill>
                            <a:srgbClr val="FFFFFF"/>
                          </a:solidFill>
                        </a:rPr>
                        <a:t>Signal Rotation</a:t>
                      </a:r>
                    </a:p>
                  </a:txBody>
                  <a:tcPr>
                    <a:solidFill>
                      <a:srgbClr val="1B3A6B"/>
                    </a:solidFill>
                  </a:tcPr>
                </a:tc>
              </a:tr>
              <a:tr h="234000">
                <a:tc>
                  <a:txBody>
                    <a:bodyPr/>
                    <a:lstStyle/>
                    <a:p>
                      <a:pPr algn="ctr"/>
                      <a:r>
                        <a:rPr sz="800" b="0">
                          <a:solidFill>
                            <a:srgbClr val="1A1A1A"/>
                          </a:solidFill>
                        </a:rPr>
                        <a:t>Technology</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Health Care</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Faible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Financials</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Positive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Accumuler</a:t>
                      </a:r>
                    </a:p>
                  </a:txBody>
                  <a:tcPr>
                    <a:solidFill>
                      <a:srgbClr val="FDF3E5"/>
                    </a:solidFill>
                  </a:tcPr>
                </a:tc>
              </a:tr>
              <a:tr h="234000">
                <a:tc>
                  <a:txBody>
                    <a:bodyPr/>
                    <a:lstStyle/>
                    <a:p>
                      <a:pPr algn="ctr"/>
                      <a:r>
                        <a:rPr sz="800" b="0">
                          <a:solidFill>
                            <a:srgbClr val="1A1A1A"/>
                          </a:solidFill>
                        </a:rPr>
                        <a:t>Comm. Services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Discret.</a:t>
                      </a:r>
                    </a:p>
                  </a:txBody>
                  <a:tcPr>
                    <a:noFill/>
                  </a:tcPr>
                </a:tc>
                <a:tc>
                  <a:txBody>
                    <a:bodyPr/>
                    <a:lstStyle/>
                    <a:p>
                      <a:pPr algn="ctr"/>
                      <a:r>
                        <a:rPr sz="800" b="0">
                          <a:solidFill>
                            <a:srgbClr val="1A1A1A"/>
                          </a:solidFill>
                        </a:rPr>
                        <a:t>Expansion</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Industrials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Cons. Staples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Materials</a:t>
                      </a:r>
                    </a:p>
                  </a:txBody>
                  <a:tcPr>
                    <a:solidFill>
                      <a:srgbClr val="F5F7FA"/>
                    </a:solidFill>
                  </a:tcPr>
                </a:tc>
                <a:tc>
                  <a:txBody>
                    <a:bodyPr/>
                    <a:lstStyle/>
                    <a:p>
                      <a:pPr algn="ctr"/>
                      <a:r>
                        <a:rPr sz="800" b="0">
                          <a:solidFill>
                            <a:srgbClr val="1A1A1A"/>
                          </a:solidFill>
                        </a:rPr>
                        <a:t>Expansion</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B06000"/>
                          </a:solidFill>
                        </a:rPr>
                        <a:t>Neutre</a:t>
                      </a:r>
                    </a:p>
                  </a:txBody>
                  <a:tcPr>
                    <a:solidFill>
                      <a:srgbClr val="FDF3E5"/>
                    </a:solidFill>
                  </a:tcPr>
                </a:tc>
              </a:tr>
              <a:tr h="234000">
                <a:tc>
                  <a:txBody>
                    <a:bodyPr/>
                    <a:lstStyle/>
                    <a:p>
                      <a:pPr algn="ctr"/>
                      <a:r>
                        <a:rPr sz="800" b="0">
                          <a:solidFill>
                            <a:srgbClr val="1A1A1A"/>
                          </a:solidFill>
                        </a:rPr>
                        <a:t>Energy</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1A1A1A"/>
                          </a:solidFill>
                        </a:rPr>
                        <a:t>Moderee</a:t>
                      </a:r>
                    </a:p>
                  </a:txBody>
                  <a:tcPr>
                    <a:no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Real Estate</a:t>
                      </a:r>
                    </a:p>
                  </a:txBody>
                  <a:tcPr>
                    <a:solidFill>
                      <a:srgbClr val="F5F7FA"/>
                    </a:solidFill>
                  </a:tcPr>
                </a:tc>
                <a:tc>
                  <a:txBody>
                    <a:bodyPr/>
                    <a:lstStyle/>
                    <a:p>
                      <a:pPr algn="ctr"/>
                      <a:r>
                        <a:rPr sz="800" b="0">
                          <a:solidFill>
                            <a:srgbClr val="1A1A1A"/>
                          </a:solidFill>
                        </a:rPr>
                        <a:t>Ralentissement</a:t>
                      </a:r>
                    </a:p>
                  </a:txBody>
                  <a:tcPr>
                    <a:solidFill>
                      <a:srgbClr val="F5F7FA"/>
                    </a:solidFill>
                  </a:tcPr>
                </a:tc>
                <a:tc>
                  <a:txBody>
                    <a:bodyPr/>
                    <a:lstStyle/>
                    <a:p>
                      <a:pPr algn="ctr"/>
                      <a:r>
                        <a:rPr sz="800" b="0">
                          <a:solidFill>
                            <a:srgbClr val="1A1A1A"/>
                          </a:solidFill>
                        </a:rPr>
                        <a:t>Elevee</a:t>
                      </a:r>
                    </a:p>
                  </a:txBody>
                  <a:tcPr>
                    <a:solidFill>
                      <a:srgbClr val="F5F7FA"/>
                    </a:solidFill>
                  </a:tcPr>
                </a:tc>
                <a:tc>
                  <a:txBody>
                    <a:bodyPr/>
                    <a:lstStyle/>
                    <a:p>
                      <a:pPr algn="ctr"/>
                      <a:r>
                        <a:rPr sz="800" b="0">
                          <a:solidFill>
                            <a:srgbClr val="1A1A1A"/>
                          </a:solidFill>
                        </a:rPr>
                        <a:t>Moderee</a:t>
                      </a:r>
                    </a:p>
                  </a:txBody>
                  <a:tcPr>
                    <a:solidFill>
                      <a:srgbClr val="F5F7FA"/>
                    </a:solidFill>
                  </a:tcPr>
                </a:tc>
                <a:tc>
                  <a:txBody>
                    <a:bodyPr/>
                    <a:lstStyle/>
                    <a:p>
                      <a:pPr algn="ctr"/>
                      <a:r>
                        <a:rPr sz="800" b="0">
                          <a:solidFill>
                            <a:srgbClr val="B06000"/>
                          </a:solidFill>
                        </a:rPr>
                        <a:t>Alleger</a:t>
                      </a:r>
                    </a:p>
                  </a:txBody>
                  <a:tcPr>
                    <a:solidFill>
                      <a:srgbClr val="FDF3E5"/>
                    </a:solidFill>
                  </a:tcPr>
                </a:tc>
              </a:tr>
              <a:tr h="234000">
                <a:tc>
                  <a:txBody>
                    <a:bodyPr/>
                    <a:lstStyle/>
                    <a:p>
                      <a:pPr algn="ctr"/>
                      <a:r>
                        <a:rPr sz="800" b="0">
                          <a:solidFill>
                            <a:srgbClr val="1A1A1A"/>
                          </a:solidFill>
                        </a:rPr>
                        <a:t>Utilities</a:t>
                      </a:r>
                    </a:p>
                  </a:txBody>
                  <a:tcPr>
                    <a:noFill/>
                  </a:tcPr>
                </a:tc>
                <a:tc>
                  <a:txBody>
                    <a:bodyPr/>
                    <a:lstStyle/>
                    <a:p>
                      <a:pPr algn="ctr"/>
                      <a:r>
                        <a:rPr sz="800" b="0">
                          <a:solidFill>
                            <a:srgbClr val="1A1A1A"/>
                          </a:solidFill>
                        </a:rPr>
                        <a:t>Ralentissement</a:t>
                      </a:r>
                    </a:p>
                  </a:txBody>
                  <a:tcPr>
                    <a:noFill/>
                  </a:tcPr>
                </a:tc>
                <a:tc>
                  <a:txBody>
                    <a:bodyPr/>
                    <a:lstStyle/>
                    <a:p>
                      <a:pPr algn="ctr"/>
                      <a:r>
                        <a:rPr sz="800" b="0">
                          <a:solidFill>
                            <a:srgbClr val="1A1A1A"/>
                          </a:solidFill>
                        </a:rPr>
                        <a:t>Elevee</a:t>
                      </a:r>
                    </a:p>
                  </a:txBody>
                  <a:tcPr>
                    <a:noFill/>
                  </a:tcPr>
                </a:tc>
                <a:tc>
                  <a:txBody>
                    <a:bodyPr/>
                    <a:lstStyle/>
                    <a:p>
                      <a:pPr algn="ctr"/>
                      <a:r>
                        <a:rPr sz="800" b="0">
                          <a:solidFill>
                            <a:srgbClr val="1A1A1A"/>
                          </a:solidFill>
                        </a:rPr>
                        <a:t>Faible</a:t>
                      </a:r>
                    </a:p>
                  </a:txBody>
                  <a:tcPr>
                    <a:noFill/>
                  </a:tcPr>
                </a:tc>
                <a:tc>
                  <a:txBody>
                    <a:bodyPr/>
                    <a:lstStyle/>
                    <a:p>
                      <a:pPr algn="ctr"/>
                      <a:r>
                        <a:rPr sz="800" b="0">
                          <a:solidFill>
                            <a:srgbClr val="B06000"/>
                          </a:solidFill>
                        </a:rPr>
                        <a:t>Alleger</a:t>
                      </a:r>
                    </a:p>
                  </a:txBody>
                  <a:tcPr>
                    <a:solidFill>
                      <a:srgbClr val="FDF3E5"/>
                    </a:solidFill>
                  </a:tcPr>
                </a:tc>
              </a:tr>
            </a:tbl>
          </a:graphicData>
        </a:graphic>
      </p:graphicFrame>
      <p:sp>
        <p:nvSpPr>
          <p:cNvPr id="16" name="Rectangle 15"/>
          <p:cNvSpPr/>
          <p:nvPr/>
        </p:nvSpPr>
        <p:spPr>
          <a:xfrm>
            <a:off x="324000" y="3744000"/>
            <a:ext cx="8496000" cy="1061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24000" y="3744000"/>
            <a:ext cx="43200" cy="1061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2000" y="3798000"/>
            <a:ext cx="8208000" cy="216000"/>
          </a:xfrm>
          <a:prstGeom prst="rect">
            <a:avLst/>
          </a:prstGeom>
          <a:noFill/>
        </p:spPr>
        <p:txBody>
          <a:bodyPr wrap="square">
            <a:spAutoFit/>
          </a:bodyPr>
          <a:lstStyle/>
          <a:p>
            <a:pPr algn="l"/>
            <a:r>
              <a:rPr sz="800" b="1" i="0">
                <a:solidFill>
                  <a:srgbClr val="1B3A6B"/>
                </a:solidFill>
              </a:rPr>
              <a:t>Positionnement de cycle — Synthèse et catalyseur de rotation</a:t>
            </a:r>
          </a:p>
        </p:txBody>
      </p:sp>
      <p:sp>
        <p:nvSpPr>
          <p:cNvPr id="19" name="TextBox 18"/>
          <p:cNvSpPr txBox="1"/>
          <p:nvPr/>
        </p:nvSpPr>
        <p:spPr>
          <a:xfrm>
            <a:off x="432000" y="4032000"/>
            <a:ext cx="8208000" cy="737999"/>
          </a:xfrm>
          <a:prstGeom prst="rect">
            <a:avLst/>
          </a:prstGeom>
          <a:noFill/>
        </p:spPr>
        <p:txBody>
          <a:bodyPr wrap="square">
            <a:spAutoFit/>
          </a:bodyPr>
          <a:lstStyle/>
          <a:p>
            <a:pPr algn="l"/>
            <a:r>
              <a:rPr sz="750" b="0" i="0">
                <a:solidFill>
                  <a:srgbClr val="555555"/>
                </a:solidFill>
              </a:rPr>
              <a:t>La rotation sectorielle recommandee s'appuie sur le modele cycle 4-phases FinSight. En phase d'expansion avancee, le signal Accumuler se concentre sur les secteurs a forte croissance BPA et pricing power : Technology (IA), Health Care (FDA pipeline), Financials (NIM). Le signal Alleger cible Real Estate (pression taux directe) et Utilities...</a:t>
            </a:r>
          </a:p>
        </p:txBody>
      </p:sp>
      <p:sp>
        <p:nvSpPr>
          <p:cNvPr id="20" name="Rectangle 19"/>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Sentiment Sectoriel Composite</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1A1A1A"/>
                </a:solidFill>
              </a:rPr>
              <a:t>4</a:t>
            </a:r>
          </a:p>
        </p:txBody>
      </p:sp>
      <p:sp>
        <p:nvSpPr>
          <p:cNvPr id="12" name="Rectangle 11"/>
          <p:cNvSpPr/>
          <p:nvPr/>
        </p:nvSpPr>
        <p:spPr>
          <a:xfrm>
            <a:off x="8856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AAAAA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Score proxy dérivé des scores sectoriels  ·  11 secteurs  ·  Signal composite</a:t>
            </a:r>
          </a:p>
        </p:txBody>
      </p:sp>
      <p:sp>
        <p:nvSpPr>
          <p:cNvPr id="15" name="Rectangle 14"/>
          <p:cNvSpPr/>
          <p:nvPr/>
        </p:nvSpPr>
        <p:spPr>
          <a:xfrm>
            <a:off x="324000" y="827999"/>
            <a:ext cx="20880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000" y="827999"/>
            <a:ext cx="43200" cy="126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2000" y="900000"/>
            <a:ext cx="1908000" cy="576000"/>
          </a:xfrm>
          <a:prstGeom prst="rect">
            <a:avLst/>
          </a:prstGeom>
          <a:noFill/>
        </p:spPr>
        <p:txBody>
          <a:bodyPr wrap="square">
            <a:spAutoFit/>
          </a:bodyPr>
          <a:lstStyle/>
          <a:p>
            <a:pPr algn="l"/>
            <a:r>
              <a:rPr sz="3200" b="1" i="0">
                <a:solidFill>
                  <a:srgbClr val="1A7A4A"/>
                </a:solidFill>
              </a:rPr>
              <a:t>+0.06</a:t>
            </a:r>
          </a:p>
        </p:txBody>
      </p:sp>
      <p:sp>
        <p:nvSpPr>
          <p:cNvPr id="18" name="TextBox 17"/>
          <p:cNvSpPr txBox="1"/>
          <p:nvPr/>
        </p:nvSpPr>
        <p:spPr>
          <a:xfrm>
            <a:off x="432000" y="1458000"/>
            <a:ext cx="1908000" cy="198000"/>
          </a:xfrm>
          <a:prstGeom prst="rect">
            <a:avLst/>
          </a:prstGeom>
          <a:noFill/>
        </p:spPr>
        <p:txBody>
          <a:bodyPr wrap="square">
            <a:spAutoFit/>
          </a:bodyPr>
          <a:lstStyle/>
          <a:p>
            <a:pPr algn="l"/>
            <a:r>
              <a:rPr sz="800" b="0" i="0">
                <a:solidFill>
                  <a:srgbClr val="555555"/>
                </a:solidFill>
              </a:rPr>
              <a:t>Score composite secteurs</a:t>
            </a:r>
          </a:p>
        </p:txBody>
      </p:sp>
      <p:sp>
        <p:nvSpPr>
          <p:cNvPr id="19" name="TextBox 18"/>
          <p:cNvSpPr txBox="1"/>
          <p:nvPr/>
        </p:nvSpPr>
        <p:spPr>
          <a:xfrm>
            <a:off x="432000" y="1638000"/>
            <a:ext cx="1908000" cy="180000"/>
          </a:xfrm>
          <a:prstGeom prst="rect">
            <a:avLst/>
          </a:prstGeom>
          <a:noFill/>
        </p:spPr>
        <p:txBody>
          <a:bodyPr wrap="square">
            <a:spAutoFit/>
          </a:bodyPr>
          <a:lstStyle/>
          <a:p>
            <a:pPr algn="l"/>
            <a:r>
              <a:rPr sz="850" b="1" i="0">
                <a:solidFill>
                  <a:srgbClr val="1A7A4A"/>
                </a:solidFill>
              </a:rPr>
              <a:t>Neutre</a:t>
            </a:r>
          </a:p>
        </p:txBody>
      </p:sp>
      <p:sp>
        <p:nvSpPr>
          <p:cNvPr id="20" name="Rectangle 19"/>
          <p:cNvSpPr/>
          <p:nvPr/>
        </p:nvSpPr>
        <p:spPr>
          <a:xfrm>
            <a:off x="2592000" y="827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2592000" y="827999"/>
            <a:ext cx="1235520" cy="36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664000" y="845999"/>
            <a:ext cx="1620000" cy="162000"/>
          </a:xfrm>
          <a:prstGeom prst="rect">
            <a:avLst/>
          </a:prstGeom>
          <a:noFill/>
        </p:spPr>
        <p:txBody>
          <a:bodyPr wrap="square">
            <a:spAutoFit/>
          </a:bodyPr>
          <a:lstStyle/>
          <a:p>
            <a:pPr algn="l"/>
            <a:r>
              <a:rPr sz="850" b="1" i="0">
                <a:solidFill>
                  <a:srgbClr val="FFFFFF"/>
                </a:solidFill>
              </a:rPr>
              <a:t>Surpondérer</a:t>
            </a:r>
          </a:p>
        </p:txBody>
      </p:sp>
      <p:sp>
        <p:nvSpPr>
          <p:cNvPr id="23" name="TextBox 22"/>
          <p:cNvSpPr txBox="1"/>
          <p:nvPr/>
        </p:nvSpPr>
        <p:spPr>
          <a:xfrm>
            <a:off x="2664000" y="1007999"/>
            <a:ext cx="2520000" cy="162000"/>
          </a:xfrm>
          <a:prstGeom prst="rect">
            <a:avLst/>
          </a:prstGeom>
          <a:noFill/>
        </p:spPr>
        <p:txBody>
          <a:bodyPr wrap="square">
            <a:spAutoFit/>
          </a:bodyPr>
          <a:lstStyle/>
          <a:p>
            <a:pPr algn="l"/>
            <a:r>
              <a:rPr sz="800" b="0" i="0">
                <a:solidFill>
                  <a:srgbClr val="FFFFFF"/>
                </a:solidFill>
              </a:rPr>
              <a:t>15 secteurs (44 %)</a:t>
            </a:r>
          </a:p>
        </p:txBody>
      </p:sp>
      <p:sp>
        <p:nvSpPr>
          <p:cNvPr id="24" name="Rectangle 23"/>
          <p:cNvSpPr/>
          <p:nvPr/>
        </p:nvSpPr>
        <p:spPr>
          <a:xfrm>
            <a:off x="2592000" y="1242000"/>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592000" y="1242000"/>
            <a:ext cx="982800" cy="36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664000" y="1259999"/>
            <a:ext cx="1620000" cy="162000"/>
          </a:xfrm>
          <a:prstGeom prst="rect">
            <a:avLst/>
          </a:prstGeom>
          <a:noFill/>
        </p:spPr>
        <p:txBody>
          <a:bodyPr wrap="square">
            <a:spAutoFit/>
          </a:bodyPr>
          <a:lstStyle/>
          <a:p>
            <a:pPr algn="l"/>
            <a:r>
              <a:rPr sz="850" b="1" i="0">
                <a:solidFill>
                  <a:srgbClr val="FFFFFF"/>
                </a:solidFill>
              </a:rPr>
              <a:t>Neutre</a:t>
            </a:r>
          </a:p>
        </p:txBody>
      </p:sp>
      <p:sp>
        <p:nvSpPr>
          <p:cNvPr id="27" name="TextBox 26"/>
          <p:cNvSpPr txBox="1"/>
          <p:nvPr/>
        </p:nvSpPr>
        <p:spPr>
          <a:xfrm>
            <a:off x="2664000" y="1422000"/>
            <a:ext cx="2520000" cy="162000"/>
          </a:xfrm>
          <a:prstGeom prst="rect">
            <a:avLst/>
          </a:prstGeom>
          <a:noFill/>
        </p:spPr>
        <p:txBody>
          <a:bodyPr wrap="square">
            <a:spAutoFit/>
          </a:bodyPr>
          <a:lstStyle/>
          <a:p>
            <a:pPr algn="l"/>
            <a:r>
              <a:rPr sz="800" b="0" i="0">
                <a:solidFill>
                  <a:srgbClr val="FFFFFF"/>
                </a:solidFill>
              </a:rPr>
              <a:t>12 secteurs (35 %)</a:t>
            </a:r>
          </a:p>
        </p:txBody>
      </p:sp>
      <p:sp>
        <p:nvSpPr>
          <p:cNvPr id="28" name="Rectangle 27"/>
          <p:cNvSpPr/>
          <p:nvPr/>
        </p:nvSpPr>
        <p:spPr>
          <a:xfrm>
            <a:off x="2592000" y="1655999"/>
            <a:ext cx="2808000" cy="3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592000" y="1655999"/>
            <a:ext cx="589680" cy="36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2664000" y="1673999"/>
            <a:ext cx="1620000" cy="162000"/>
          </a:xfrm>
          <a:prstGeom prst="rect">
            <a:avLst/>
          </a:prstGeom>
          <a:noFill/>
        </p:spPr>
        <p:txBody>
          <a:bodyPr wrap="square">
            <a:spAutoFit/>
          </a:bodyPr>
          <a:lstStyle/>
          <a:p>
            <a:pPr algn="l"/>
            <a:r>
              <a:rPr sz="850" b="1" i="0">
                <a:solidFill>
                  <a:srgbClr val="1A1A1A"/>
                </a:solidFill>
              </a:rPr>
              <a:t>Sous-pondérer</a:t>
            </a:r>
          </a:p>
        </p:txBody>
      </p:sp>
      <p:sp>
        <p:nvSpPr>
          <p:cNvPr id="31" name="TextBox 30"/>
          <p:cNvSpPr txBox="1"/>
          <p:nvPr/>
        </p:nvSpPr>
        <p:spPr>
          <a:xfrm>
            <a:off x="2664000" y="1835999"/>
            <a:ext cx="2520000" cy="162000"/>
          </a:xfrm>
          <a:prstGeom prst="rect">
            <a:avLst/>
          </a:prstGeom>
          <a:noFill/>
        </p:spPr>
        <p:txBody>
          <a:bodyPr wrap="square">
            <a:spAutoFit/>
          </a:bodyPr>
          <a:lstStyle/>
          <a:p>
            <a:pPr algn="l"/>
            <a:r>
              <a:rPr sz="800" b="0" i="0">
                <a:solidFill>
                  <a:srgbClr val="1A1A1A"/>
                </a:solidFill>
              </a:rPr>
              <a:t>7 secteurs (21 %)</a:t>
            </a:r>
          </a:p>
        </p:txBody>
      </p:sp>
      <p:sp>
        <p:nvSpPr>
          <p:cNvPr id="32" name="TextBox 31"/>
          <p:cNvSpPr txBox="1"/>
          <p:nvPr/>
        </p:nvSpPr>
        <p:spPr>
          <a:xfrm>
            <a:off x="5580000" y="827999"/>
            <a:ext cx="3168000" cy="180000"/>
          </a:xfrm>
          <a:prstGeom prst="rect">
            <a:avLst/>
          </a:prstGeom>
          <a:noFill/>
        </p:spPr>
        <p:txBody>
          <a:bodyPr wrap="square">
            <a:spAutoFit/>
          </a:bodyPr>
          <a:lstStyle/>
          <a:p>
            <a:pPr algn="l"/>
            <a:r>
              <a:rPr sz="850" b="1" i="0">
                <a:solidFill>
                  <a:srgbClr val="1B3A6B"/>
                </a:solidFill>
              </a:rPr>
              <a:t>Secteurs leaders / retardataires</a:t>
            </a:r>
          </a:p>
        </p:txBody>
      </p:sp>
      <p:sp>
        <p:nvSpPr>
          <p:cNvPr id="33" name="Rectangle 32"/>
          <p:cNvSpPr/>
          <p:nvPr/>
        </p:nvSpPr>
        <p:spPr>
          <a:xfrm>
            <a:off x="5580000" y="1044000"/>
            <a:ext cx="3168000" cy="450000"/>
          </a:xfrm>
          <a:prstGeom prst="rect">
            <a:avLst/>
          </a:prstGeom>
          <a:solidFill>
            <a:srgbClr val="E8F5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52000" y="1062000"/>
            <a:ext cx="3024000" cy="413999"/>
          </a:xfrm>
          <a:prstGeom prst="rect">
            <a:avLst/>
          </a:prstGeom>
          <a:noFill/>
        </p:spPr>
        <p:txBody>
          <a:bodyPr wrap="square">
            <a:spAutoFit/>
          </a:bodyPr>
          <a:lstStyle/>
          <a:p>
            <a:pPr algn="l"/>
            <a:r>
              <a:rPr sz="800" b="0" i="0">
                <a:solidFill>
                  <a:srgbClr val="555555"/>
                </a:solidFill>
              </a:rPr>
              <a:t>Surpondérer : Resultats T4  ·  Cycle IA  ·  Innovation semi</a:t>
            </a:r>
          </a:p>
        </p:txBody>
      </p:sp>
      <p:sp>
        <p:nvSpPr>
          <p:cNvPr id="35" name="Rectangle 34"/>
          <p:cNvSpPr/>
          <p:nvPr/>
        </p:nvSpPr>
        <p:spPr>
          <a:xfrm>
            <a:off x="5580000" y="1530000"/>
            <a:ext cx="3168000" cy="450000"/>
          </a:xfrm>
          <a:prstGeom prst="rect">
            <a:avLst/>
          </a:prstGeom>
          <a:solidFill>
            <a:srgbClr val="FBEB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52000" y="1548000"/>
            <a:ext cx="3024000" cy="413999"/>
          </a:xfrm>
          <a:prstGeom prst="rect">
            <a:avLst/>
          </a:prstGeom>
          <a:noFill/>
        </p:spPr>
        <p:txBody>
          <a:bodyPr wrap="square">
            <a:spAutoFit/>
          </a:bodyPr>
          <a:lstStyle/>
          <a:p>
            <a:pPr algn="l"/>
            <a:r>
              <a:rPr sz="800" b="0" i="0">
                <a:solidFill>
                  <a:srgbClr val="555555"/>
                </a:solidFill>
              </a:rPr>
              <a:t>Sous-pondérer : Regulation  ·  Taux LT  ·  CRE</a:t>
            </a:r>
          </a:p>
        </p:txBody>
      </p:sp>
      <p:sp>
        <p:nvSpPr>
          <p:cNvPr id="37" name="TextBox 36"/>
          <p:cNvSpPr txBox="1"/>
          <p:nvPr/>
        </p:nvSpPr>
        <p:spPr>
          <a:xfrm>
            <a:off x="324000" y="2124000"/>
            <a:ext cx="8496000" cy="198000"/>
          </a:xfrm>
          <a:prstGeom prst="rect">
            <a:avLst/>
          </a:prstGeom>
          <a:noFill/>
        </p:spPr>
        <p:txBody>
          <a:bodyPr wrap="square">
            <a:spAutoFit/>
          </a:bodyPr>
          <a:lstStyle/>
          <a:p>
            <a:pPr algn="l"/>
            <a:r>
              <a:rPr sz="800" b="1" i="0">
                <a:solidFill>
                  <a:srgbClr val="1B3A6B"/>
                </a:solidFill>
              </a:rPr>
              <a:t>Score composite par secteur (dérivé du score quantitatif)</a:t>
            </a:r>
          </a:p>
        </p:txBody>
      </p:sp>
      <p:pic>
        <p:nvPicPr>
          <p:cNvPr id="38" name="Picture 37" descr="image.png"/>
          <p:cNvPicPr>
            <a:picLocks noChangeAspect="1"/>
          </p:cNvPicPr>
          <p:nvPr/>
        </p:nvPicPr>
        <p:blipFill>
          <a:blip r:embed="rId2"/>
          <a:stretch>
            <a:fillRect/>
          </a:stretch>
        </p:blipFill>
        <p:spPr>
          <a:xfrm>
            <a:off x="324000" y="2340000"/>
            <a:ext cx="8496000" cy="2520000"/>
          </a:xfrm>
          <a:prstGeom prst="rect">
            <a:avLst/>
          </a:prstGeom>
        </p:spPr>
      </p:pic>
      <p:sp>
        <p:nvSpPr>
          <p:cNvPr id="39" name="Rectangle 38"/>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3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24000" y="18000"/>
            <a:ext cx="6876000" cy="468000"/>
          </a:xfrm>
          <a:prstGeom prst="rect">
            <a:avLst/>
          </a:prstGeom>
          <a:noFill/>
        </p:spPr>
        <p:txBody>
          <a:bodyPr wrap="square">
            <a:spAutoFit/>
          </a:bodyPr>
          <a:lstStyle/>
          <a:p>
            <a:pPr algn="l"/>
            <a:r>
              <a:rPr sz="1300" b="1" i="0">
                <a:solidFill>
                  <a:srgbClr val="FFFFFF"/>
                </a:solidFill>
              </a:rPr>
              <a:t>Performance des ETF Sectoriels — 52 Semaines</a:t>
            </a:r>
          </a:p>
        </p:txBody>
      </p:sp>
      <p:sp>
        <p:nvSpPr>
          <p:cNvPr id="4" name="Rectangle 3"/>
          <p:cNvSpPr/>
          <p:nvPr/>
        </p:nvSpPr>
        <p:spPr>
          <a:xfrm>
            <a:off x="7848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848000" y="125999"/>
            <a:ext cx="198000" cy="198000"/>
          </a:xfrm>
          <a:prstGeom prst="rect">
            <a:avLst/>
          </a:prstGeom>
          <a:noFill/>
        </p:spPr>
        <p:txBody>
          <a:bodyPr wrap="square">
            <a:spAutoFit/>
          </a:bodyPr>
          <a:lstStyle/>
          <a:p>
            <a:pPr algn="ctr"/>
            <a:r>
              <a:rPr sz="700" b="1" i="0">
                <a:solidFill>
                  <a:srgbClr val="AAAAAA"/>
                </a:solidFill>
              </a:rPr>
              <a:t>1</a:t>
            </a:r>
          </a:p>
        </p:txBody>
      </p:sp>
      <p:sp>
        <p:nvSpPr>
          <p:cNvPr id="6" name="Rectangle 5"/>
          <p:cNvSpPr/>
          <p:nvPr/>
        </p:nvSpPr>
        <p:spPr>
          <a:xfrm>
            <a:off x="8100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100000" y="125999"/>
            <a:ext cx="198000" cy="198000"/>
          </a:xfrm>
          <a:prstGeom prst="rect">
            <a:avLst/>
          </a:prstGeom>
          <a:noFill/>
        </p:spPr>
        <p:txBody>
          <a:bodyPr wrap="square">
            <a:spAutoFit/>
          </a:bodyPr>
          <a:lstStyle/>
          <a:p>
            <a:pPr algn="ctr"/>
            <a:r>
              <a:rPr sz="700" b="1" i="0">
                <a:solidFill>
                  <a:srgbClr val="AAAAAA"/>
                </a:solidFill>
              </a:rPr>
              <a:t>2</a:t>
            </a:r>
          </a:p>
        </p:txBody>
      </p:sp>
      <p:sp>
        <p:nvSpPr>
          <p:cNvPr id="8" name="Rectangle 7"/>
          <p:cNvSpPr/>
          <p:nvPr/>
        </p:nvSpPr>
        <p:spPr>
          <a:xfrm>
            <a:off x="8352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52000" y="125999"/>
            <a:ext cx="198000" cy="198000"/>
          </a:xfrm>
          <a:prstGeom prst="rect">
            <a:avLst/>
          </a:prstGeom>
          <a:noFill/>
        </p:spPr>
        <p:txBody>
          <a:bodyPr wrap="square">
            <a:spAutoFit/>
          </a:bodyPr>
          <a:lstStyle/>
          <a:p>
            <a:pPr algn="ctr"/>
            <a:r>
              <a:rPr sz="700" b="1" i="0">
                <a:solidFill>
                  <a:srgbClr val="AAAAAA"/>
                </a:solidFill>
              </a:rPr>
              <a:t>3</a:t>
            </a:r>
          </a:p>
        </p:txBody>
      </p:sp>
      <p:sp>
        <p:nvSpPr>
          <p:cNvPr id="10" name="Rectangle 9"/>
          <p:cNvSpPr/>
          <p:nvPr/>
        </p:nvSpPr>
        <p:spPr>
          <a:xfrm>
            <a:off x="8604000" y="125999"/>
            <a:ext cx="198000" cy="198000"/>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04000" y="125999"/>
            <a:ext cx="198000" cy="198000"/>
          </a:xfrm>
          <a:prstGeom prst="rect">
            <a:avLst/>
          </a:prstGeom>
          <a:noFill/>
        </p:spPr>
        <p:txBody>
          <a:bodyPr wrap="square">
            <a:spAutoFit/>
          </a:bodyPr>
          <a:lstStyle/>
          <a:p>
            <a:pPr algn="ctr"/>
            <a:r>
              <a:rPr sz="700" b="1" i="0">
                <a:solidFill>
                  <a:srgbClr val="AAAAAA"/>
                </a:solidFill>
              </a:rPr>
              <a:t>4</a:t>
            </a:r>
          </a:p>
        </p:txBody>
      </p:sp>
      <p:sp>
        <p:nvSpPr>
          <p:cNvPr id="12" name="Rectangle 11"/>
          <p:cNvSpPr/>
          <p:nvPr/>
        </p:nvSpPr>
        <p:spPr>
          <a:xfrm>
            <a:off x="8856000" y="125999"/>
            <a:ext cx="198000" cy="19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56000" y="125999"/>
            <a:ext cx="198000" cy="198000"/>
          </a:xfrm>
          <a:prstGeom prst="rect">
            <a:avLst/>
          </a:prstGeom>
          <a:noFill/>
        </p:spPr>
        <p:txBody>
          <a:bodyPr wrap="square">
            <a:spAutoFit/>
          </a:bodyPr>
          <a:lstStyle/>
          <a:p>
            <a:pPr algn="ctr"/>
            <a:r>
              <a:rPr sz="700" b="1" i="0">
                <a:solidFill>
                  <a:srgbClr val="1A1A1A"/>
                </a:solidFill>
              </a:rPr>
              <a:t>5</a:t>
            </a:r>
          </a:p>
        </p:txBody>
      </p:sp>
      <p:sp>
        <p:nvSpPr>
          <p:cNvPr id="14" name="TextBox 13"/>
          <p:cNvSpPr txBox="1"/>
          <p:nvPr/>
        </p:nvSpPr>
        <p:spPr>
          <a:xfrm>
            <a:off x="324000" y="576000"/>
            <a:ext cx="8496000" cy="216000"/>
          </a:xfrm>
          <a:prstGeom prst="rect">
            <a:avLst/>
          </a:prstGeom>
          <a:noFill/>
        </p:spPr>
        <p:txBody>
          <a:bodyPr wrap="square">
            <a:spAutoFit/>
          </a:bodyPr>
          <a:lstStyle/>
          <a:p>
            <a:pPr algn="l"/>
            <a:r>
              <a:rPr sz="800" b="0" i="0">
                <a:solidFill>
                  <a:srgbClr val="555555"/>
                </a:solidFill>
              </a:rPr>
              <a:t>DAX40  ·  ETF sectoriels SPDR/iShares  ·  Indexe a 100 au debut de la periode  ·  Donnees yfinance</a:t>
            </a:r>
          </a:p>
        </p:txBody>
      </p:sp>
      <p:pic>
        <p:nvPicPr>
          <p:cNvPr id="15" name="Picture 14" descr="image.png"/>
          <p:cNvPicPr>
            <a:picLocks noChangeAspect="1"/>
          </p:cNvPicPr>
          <p:nvPr/>
        </p:nvPicPr>
        <p:blipFill>
          <a:blip r:embed="rId2"/>
          <a:stretch>
            <a:fillRect/>
          </a:stretch>
        </p:blipFill>
        <p:spPr>
          <a:xfrm>
            <a:off x="324000" y="827999"/>
            <a:ext cx="5400000" cy="3996000"/>
          </a:xfrm>
          <a:prstGeom prst="rect">
            <a:avLst/>
          </a:prstGeom>
        </p:spPr>
      </p:pic>
      <p:sp>
        <p:nvSpPr>
          <p:cNvPr id="16" name="Rectangle 15"/>
          <p:cNvSpPr/>
          <p:nvPr/>
        </p:nvSpPr>
        <p:spPr>
          <a:xfrm>
            <a:off x="5903999" y="827999"/>
            <a:ext cx="2916000" cy="399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903999" y="827999"/>
            <a:ext cx="2916000" cy="23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76000" y="846000"/>
            <a:ext cx="2808000" cy="198000"/>
          </a:xfrm>
          <a:prstGeom prst="rect">
            <a:avLst/>
          </a:prstGeom>
          <a:noFill/>
        </p:spPr>
        <p:txBody>
          <a:bodyPr wrap="square">
            <a:spAutoFit/>
          </a:bodyPr>
          <a:lstStyle/>
          <a:p>
            <a:pPr algn="l"/>
            <a:r>
              <a:rPr sz="800" b="1" i="0">
                <a:solidFill>
                  <a:srgbClr val="FFFFFF"/>
                </a:solidFill>
              </a:rPr>
              <a:t>Legende ETF SPDR</a:t>
            </a:r>
          </a:p>
        </p:txBody>
      </p:sp>
      <p:sp>
        <p:nvSpPr>
          <p:cNvPr id="19" name="Rectangle 18"/>
          <p:cNvSpPr/>
          <p:nvPr/>
        </p:nvSpPr>
        <p:spPr>
          <a:xfrm>
            <a:off x="5940000" y="1188000"/>
            <a:ext cx="180000" cy="125999"/>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92000" y="1134000"/>
            <a:ext cx="2556000" cy="198000"/>
          </a:xfrm>
          <a:prstGeom prst="rect">
            <a:avLst/>
          </a:prstGeom>
          <a:noFill/>
        </p:spPr>
        <p:txBody>
          <a:bodyPr wrap="square">
            <a:spAutoFit/>
          </a:bodyPr>
          <a:lstStyle/>
          <a:p>
            <a:pPr algn="l"/>
            <a:r>
              <a:rPr sz="750" b="1" i="0">
                <a:solidFill>
                  <a:srgbClr val="1B3A6B"/>
                </a:solidFill>
              </a:rPr>
              <a:t>XLK  —  Technology</a:t>
            </a:r>
          </a:p>
        </p:txBody>
      </p:sp>
      <p:sp>
        <p:nvSpPr>
          <p:cNvPr id="21" name="TextBox 20"/>
          <p:cNvSpPr txBox="1"/>
          <p:nvPr/>
        </p:nvSpPr>
        <p:spPr>
          <a:xfrm>
            <a:off x="6192000" y="1332000"/>
            <a:ext cx="2556000" cy="198000"/>
          </a:xfrm>
          <a:prstGeom prst="rect">
            <a:avLst/>
          </a:prstGeom>
          <a:noFill/>
        </p:spPr>
        <p:txBody>
          <a:bodyPr wrap="square">
            <a:spAutoFit/>
          </a:bodyPr>
          <a:lstStyle/>
          <a:p>
            <a:pPr algn="l"/>
            <a:r>
              <a:rPr sz="800" b="1" i="0">
                <a:solidFill>
                  <a:srgbClr val="1A7A4A"/>
                </a:solidFill>
              </a:rPr>
              <a:t>+18.4 %</a:t>
            </a:r>
          </a:p>
        </p:txBody>
      </p:sp>
      <p:sp>
        <p:nvSpPr>
          <p:cNvPr id="22" name="Rectangle 21"/>
          <p:cNvSpPr/>
          <p:nvPr/>
        </p:nvSpPr>
        <p:spPr>
          <a:xfrm>
            <a:off x="5940000" y="1620000"/>
            <a:ext cx="180000" cy="125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2000" y="1565999"/>
            <a:ext cx="2556000" cy="198000"/>
          </a:xfrm>
          <a:prstGeom prst="rect">
            <a:avLst/>
          </a:prstGeom>
          <a:noFill/>
        </p:spPr>
        <p:txBody>
          <a:bodyPr wrap="square">
            <a:spAutoFit/>
          </a:bodyPr>
          <a:lstStyle/>
          <a:p>
            <a:pPr algn="l"/>
            <a:r>
              <a:rPr sz="750" b="1" i="0">
                <a:solidFill>
                  <a:srgbClr val="1B3A6B"/>
                </a:solidFill>
              </a:rPr>
              <a:t>XLF  —  Financials</a:t>
            </a:r>
          </a:p>
        </p:txBody>
      </p:sp>
      <p:sp>
        <p:nvSpPr>
          <p:cNvPr id="24" name="TextBox 23"/>
          <p:cNvSpPr txBox="1"/>
          <p:nvPr/>
        </p:nvSpPr>
        <p:spPr>
          <a:xfrm>
            <a:off x="6192000" y="1763999"/>
            <a:ext cx="2556000" cy="198000"/>
          </a:xfrm>
          <a:prstGeom prst="rect">
            <a:avLst/>
          </a:prstGeom>
          <a:noFill/>
        </p:spPr>
        <p:txBody>
          <a:bodyPr wrap="square">
            <a:spAutoFit/>
          </a:bodyPr>
          <a:lstStyle/>
          <a:p>
            <a:pPr algn="l"/>
            <a:r>
              <a:rPr sz="800" b="1" i="0">
                <a:solidFill>
                  <a:srgbClr val="1A7A4A"/>
                </a:solidFill>
              </a:rPr>
              <a:t>+12.1 %</a:t>
            </a:r>
          </a:p>
        </p:txBody>
      </p:sp>
      <p:sp>
        <p:nvSpPr>
          <p:cNvPr id="25" name="Rectangle 24"/>
          <p:cNvSpPr/>
          <p:nvPr/>
        </p:nvSpPr>
        <p:spPr>
          <a:xfrm>
            <a:off x="5940000" y="2052000"/>
            <a:ext cx="180000" cy="125999"/>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192000" y="1998000"/>
            <a:ext cx="2556000" cy="198000"/>
          </a:xfrm>
          <a:prstGeom prst="rect">
            <a:avLst/>
          </a:prstGeom>
          <a:noFill/>
        </p:spPr>
        <p:txBody>
          <a:bodyPr wrap="square">
            <a:spAutoFit/>
          </a:bodyPr>
          <a:lstStyle/>
          <a:p>
            <a:pPr algn="l"/>
            <a:r>
              <a:rPr sz="750" b="1" i="0">
                <a:solidFill>
                  <a:srgbClr val="1B3A6B"/>
                </a:solidFill>
              </a:rPr>
              <a:t>XLC  —  Comm. Services</a:t>
            </a:r>
          </a:p>
        </p:txBody>
      </p:sp>
      <p:sp>
        <p:nvSpPr>
          <p:cNvPr id="27" name="TextBox 26"/>
          <p:cNvSpPr txBox="1"/>
          <p:nvPr/>
        </p:nvSpPr>
        <p:spPr>
          <a:xfrm>
            <a:off x="6192000" y="2196000"/>
            <a:ext cx="2556000" cy="198000"/>
          </a:xfrm>
          <a:prstGeom prst="rect">
            <a:avLst/>
          </a:prstGeom>
          <a:noFill/>
        </p:spPr>
        <p:txBody>
          <a:bodyPr wrap="square">
            <a:spAutoFit/>
          </a:bodyPr>
          <a:lstStyle/>
          <a:p>
            <a:pPr algn="l"/>
            <a:r>
              <a:rPr sz="800" b="1" i="0">
                <a:solidFill>
                  <a:srgbClr val="1A7A4A"/>
                </a:solidFill>
              </a:rPr>
              <a:t>+9.2 %</a:t>
            </a:r>
          </a:p>
        </p:txBody>
      </p:sp>
      <p:sp>
        <p:nvSpPr>
          <p:cNvPr id="28" name="Rectangle 27"/>
          <p:cNvSpPr/>
          <p:nvPr/>
        </p:nvSpPr>
        <p:spPr>
          <a:xfrm>
            <a:off x="5940000" y="2484000"/>
            <a:ext cx="180000" cy="125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92000" y="2430000"/>
            <a:ext cx="2556000" cy="198000"/>
          </a:xfrm>
          <a:prstGeom prst="rect">
            <a:avLst/>
          </a:prstGeom>
          <a:noFill/>
        </p:spPr>
        <p:txBody>
          <a:bodyPr wrap="square">
            <a:spAutoFit/>
          </a:bodyPr>
          <a:lstStyle/>
          <a:p>
            <a:pPr algn="l"/>
            <a:r>
              <a:rPr sz="750" b="1" i="0">
                <a:solidFill>
                  <a:srgbClr val="1B3A6B"/>
                </a:solidFill>
              </a:rPr>
              <a:t>XLV  —  Health Care</a:t>
            </a:r>
          </a:p>
        </p:txBody>
      </p:sp>
      <p:sp>
        <p:nvSpPr>
          <p:cNvPr id="30" name="TextBox 29"/>
          <p:cNvSpPr txBox="1"/>
          <p:nvPr/>
        </p:nvSpPr>
        <p:spPr>
          <a:xfrm>
            <a:off x="6192000" y="2628000"/>
            <a:ext cx="2556000" cy="198000"/>
          </a:xfrm>
          <a:prstGeom prst="rect">
            <a:avLst/>
          </a:prstGeom>
          <a:noFill/>
        </p:spPr>
        <p:txBody>
          <a:bodyPr wrap="square">
            <a:spAutoFit/>
          </a:bodyPr>
          <a:lstStyle/>
          <a:p>
            <a:pPr algn="l"/>
            <a:r>
              <a:rPr sz="800" b="1" i="0">
                <a:solidFill>
                  <a:srgbClr val="1A7A4A"/>
                </a:solidFill>
              </a:rPr>
              <a:t>+8.4 %</a:t>
            </a:r>
          </a:p>
        </p:txBody>
      </p:sp>
      <p:sp>
        <p:nvSpPr>
          <p:cNvPr id="31" name="Rectangle 30"/>
          <p:cNvSpPr/>
          <p:nvPr/>
        </p:nvSpPr>
        <p:spPr>
          <a:xfrm>
            <a:off x="5940000" y="2916000"/>
            <a:ext cx="180000" cy="125999"/>
          </a:xfrm>
          <a:prstGeom prst="rect">
            <a:avLst/>
          </a:prstGeom>
          <a:solidFill>
            <a:srgbClr val="2A529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192000" y="2861999"/>
            <a:ext cx="2556000" cy="198000"/>
          </a:xfrm>
          <a:prstGeom prst="rect">
            <a:avLst/>
          </a:prstGeom>
          <a:noFill/>
        </p:spPr>
        <p:txBody>
          <a:bodyPr wrap="square">
            <a:spAutoFit/>
          </a:bodyPr>
          <a:lstStyle/>
          <a:p>
            <a:pPr algn="l"/>
            <a:r>
              <a:rPr sz="750" b="1" i="0">
                <a:solidFill>
                  <a:srgbClr val="1B3A6B"/>
                </a:solidFill>
              </a:rPr>
              <a:t>XLY  —  Consumer Disc.</a:t>
            </a:r>
          </a:p>
        </p:txBody>
      </p:sp>
      <p:sp>
        <p:nvSpPr>
          <p:cNvPr id="33" name="TextBox 32"/>
          <p:cNvSpPr txBox="1"/>
          <p:nvPr/>
        </p:nvSpPr>
        <p:spPr>
          <a:xfrm>
            <a:off x="6192000" y="3060000"/>
            <a:ext cx="2556000" cy="198000"/>
          </a:xfrm>
          <a:prstGeom prst="rect">
            <a:avLst/>
          </a:prstGeom>
          <a:noFill/>
        </p:spPr>
        <p:txBody>
          <a:bodyPr wrap="square">
            <a:spAutoFit/>
          </a:bodyPr>
          <a:lstStyle/>
          <a:p>
            <a:pPr algn="l"/>
            <a:r>
              <a:rPr sz="800" b="1" i="0">
                <a:solidFill>
                  <a:srgbClr val="1A7A4A"/>
                </a:solidFill>
              </a:rPr>
              <a:t>+6.8 %</a:t>
            </a:r>
          </a:p>
        </p:txBody>
      </p:sp>
      <p:sp>
        <p:nvSpPr>
          <p:cNvPr id="34" name="Rectangle 33"/>
          <p:cNvSpPr/>
          <p:nvPr/>
        </p:nvSpPr>
        <p:spPr>
          <a:xfrm>
            <a:off x="5940000" y="3348000"/>
            <a:ext cx="180000" cy="125999"/>
          </a:xfrm>
          <a:prstGeom prst="rect">
            <a:avLst/>
          </a:prstGeom>
          <a:solidFill>
            <a:srgbClr val="6B3A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92000" y="3294000"/>
            <a:ext cx="2556000" cy="198000"/>
          </a:xfrm>
          <a:prstGeom prst="rect">
            <a:avLst/>
          </a:prstGeom>
          <a:noFill/>
        </p:spPr>
        <p:txBody>
          <a:bodyPr wrap="square">
            <a:spAutoFit/>
          </a:bodyPr>
          <a:lstStyle/>
          <a:p>
            <a:pPr algn="l"/>
            <a:r>
              <a:rPr sz="750" b="1" i="0">
                <a:solidFill>
                  <a:srgbClr val="1B3A6B"/>
                </a:solidFill>
              </a:rPr>
              <a:t>XLI  —  Industrials</a:t>
            </a:r>
          </a:p>
        </p:txBody>
      </p:sp>
      <p:sp>
        <p:nvSpPr>
          <p:cNvPr id="36" name="TextBox 35"/>
          <p:cNvSpPr txBox="1"/>
          <p:nvPr/>
        </p:nvSpPr>
        <p:spPr>
          <a:xfrm>
            <a:off x="6192000" y="3492000"/>
            <a:ext cx="2556000" cy="198000"/>
          </a:xfrm>
          <a:prstGeom prst="rect">
            <a:avLst/>
          </a:prstGeom>
          <a:noFill/>
        </p:spPr>
        <p:txBody>
          <a:bodyPr wrap="square">
            <a:spAutoFit/>
          </a:bodyPr>
          <a:lstStyle/>
          <a:p>
            <a:pPr algn="l"/>
            <a:r>
              <a:rPr sz="800" b="1" i="0">
                <a:solidFill>
                  <a:srgbClr val="1A7A4A"/>
                </a:solidFill>
              </a:rPr>
              <a:t>+5.4 %</a:t>
            </a:r>
          </a:p>
        </p:txBody>
      </p:sp>
      <p:sp>
        <p:nvSpPr>
          <p:cNvPr id="37" name="Rectangle 36"/>
          <p:cNvSpPr/>
          <p:nvPr/>
        </p:nvSpPr>
        <p:spPr>
          <a:xfrm>
            <a:off x="5940000" y="3780000"/>
            <a:ext cx="180000" cy="125999"/>
          </a:xfrm>
          <a:prstGeom prst="rect">
            <a:avLst/>
          </a:prstGeom>
          <a:solidFill>
            <a:srgbClr val="3A6B1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92000" y="3726000"/>
            <a:ext cx="2556000" cy="198000"/>
          </a:xfrm>
          <a:prstGeom prst="rect">
            <a:avLst/>
          </a:prstGeom>
          <a:noFill/>
        </p:spPr>
        <p:txBody>
          <a:bodyPr wrap="square">
            <a:spAutoFit/>
          </a:bodyPr>
          <a:lstStyle/>
          <a:p>
            <a:pPr algn="l"/>
            <a:r>
              <a:rPr sz="750" b="1" i="0">
                <a:solidFill>
                  <a:srgbClr val="1B3A6B"/>
                </a:solidFill>
              </a:rPr>
              <a:t>XLP  —  Consumer Staples</a:t>
            </a:r>
          </a:p>
        </p:txBody>
      </p:sp>
      <p:sp>
        <p:nvSpPr>
          <p:cNvPr id="39" name="TextBox 38"/>
          <p:cNvSpPr txBox="1"/>
          <p:nvPr/>
        </p:nvSpPr>
        <p:spPr>
          <a:xfrm>
            <a:off x="6192000" y="3924000"/>
            <a:ext cx="2556000" cy="198000"/>
          </a:xfrm>
          <a:prstGeom prst="rect">
            <a:avLst/>
          </a:prstGeom>
          <a:noFill/>
        </p:spPr>
        <p:txBody>
          <a:bodyPr wrap="square">
            <a:spAutoFit/>
          </a:bodyPr>
          <a:lstStyle/>
          <a:p>
            <a:pPr algn="l"/>
            <a:r>
              <a:rPr sz="800" b="1" i="0">
                <a:solidFill>
                  <a:srgbClr val="1A7A4A"/>
                </a:solidFill>
              </a:rPr>
              <a:t>+2.1 %</a:t>
            </a:r>
          </a:p>
        </p:txBody>
      </p:sp>
      <p:sp>
        <p:nvSpPr>
          <p:cNvPr id="40" name="Rectangle 39"/>
          <p:cNvSpPr/>
          <p:nvPr/>
        </p:nvSpPr>
        <p:spPr>
          <a:xfrm>
            <a:off x="5940000" y="4212000"/>
            <a:ext cx="180000" cy="125999"/>
          </a:xfrm>
          <a:prstGeom prst="rect">
            <a:avLst/>
          </a:prstGeom>
          <a:solidFill>
            <a:srgbClr val="6B1B3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92000" y="4158000"/>
            <a:ext cx="2556000" cy="198000"/>
          </a:xfrm>
          <a:prstGeom prst="rect">
            <a:avLst/>
          </a:prstGeom>
          <a:noFill/>
        </p:spPr>
        <p:txBody>
          <a:bodyPr wrap="square">
            <a:spAutoFit/>
          </a:bodyPr>
          <a:lstStyle/>
          <a:p>
            <a:pPr algn="l"/>
            <a:r>
              <a:rPr sz="750" b="1" i="0">
                <a:solidFill>
                  <a:srgbClr val="1B3A6B"/>
                </a:solidFill>
              </a:rPr>
              <a:t>XLB  —  Materials</a:t>
            </a:r>
          </a:p>
        </p:txBody>
      </p:sp>
      <p:sp>
        <p:nvSpPr>
          <p:cNvPr id="42" name="TextBox 41"/>
          <p:cNvSpPr txBox="1"/>
          <p:nvPr/>
        </p:nvSpPr>
        <p:spPr>
          <a:xfrm>
            <a:off x="6192000" y="4356000"/>
            <a:ext cx="2556000" cy="198000"/>
          </a:xfrm>
          <a:prstGeom prst="rect">
            <a:avLst/>
          </a:prstGeom>
          <a:noFill/>
        </p:spPr>
        <p:txBody>
          <a:bodyPr wrap="square">
            <a:spAutoFit/>
          </a:bodyPr>
          <a:lstStyle/>
          <a:p>
            <a:pPr algn="l"/>
            <a:r>
              <a:rPr sz="800" b="1" i="0">
                <a:solidFill>
                  <a:srgbClr val="1A7A4A"/>
                </a:solidFill>
              </a:rPr>
              <a:t>+1.8 %</a:t>
            </a:r>
          </a:p>
        </p:txBody>
      </p:sp>
      <p:sp>
        <p:nvSpPr>
          <p:cNvPr id="43" name="Rectangle 42"/>
          <p:cNvSpPr/>
          <p:nvPr/>
        </p:nvSpPr>
        <p:spPr>
          <a:xfrm>
            <a:off x="5903999" y="3960000"/>
            <a:ext cx="2916000" cy="180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5976000" y="3996000"/>
            <a:ext cx="2808000" cy="180000"/>
          </a:xfrm>
          <a:prstGeom prst="rect">
            <a:avLst/>
          </a:prstGeom>
          <a:noFill/>
        </p:spPr>
        <p:txBody>
          <a:bodyPr wrap="square">
            <a:spAutoFit/>
          </a:bodyPr>
          <a:lstStyle/>
          <a:p>
            <a:pPr algn="l"/>
            <a:r>
              <a:rPr sz="750" b="1" i="0">
                <a:solidFill>
                  <a:srgbClr val="1B3A6B"/>
                </a:solidFill>
              </a:rPr>
              <a:t>Lecture du graphique</a:t>
            </a:r>
          </a:p>
        </p:txBody>
      </p:sp>
      <p:sp>
        <p:nvSpPr>
          <p:cNvPr id="45" name="TextBox 44"/>
          <p:cNvSpPr txBox="1"/>
          <p:nvPr/>
        </p:nvSpPr>
        <p:spPr>
          <a:xfrm>
            <a:off x="5976000" y="4194000"/>
            <a:ext cx="2808000" cy="612000"/>
          </a:xfrm>
          <a:prstGeom prst="rect">
            <a:avLst/>
          </a:prstGeom>
          <a:noFill/>
        </p:spPr>
        <p:txBody>
          <a:bodyPr wrap="square">
            <a:spAutoFit/>
          </a:bodyPr>
          <a:lstStyle/>
          <a:p>
            <a:pPr algn="l"/>
            <a:r>
              <a:rPr sz="700" b="0" i="0">
                <a:solidFill>
                  <a:srgbClr val="555555"/>
                </a:solidFill>
              </a:rPr>
              <a:t>XLK (Technology) domine avec +18.4 % — confirmation du signal Surpondérer soutenu par la monétisation IA. XLU (Utilities) sous-performe (-5.4 %) en ligne avec le signal Sous-pondérer.</a:t>
            </a:r>
          </a:p>
        </p:txBody>
      </p:sp>
      <p:sp>
        <p:nvSpPr>
          <p:cNvPr id="46" name="Rectangle 45"/>
          <p:cNvSpPr/>
          <p:nvPr/>
        </p:nvSpPr>
        <p:spPr>
          <a:xfrm>
            <a:off x="0" y="4950000"/>
            <a:ext cx="9144000" cy="1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4000" y="4968000"/>
            <a:ext cx="8496000" cy="144000"/>
          </a:xfrm>
          <a:prstGeom prst="rect">
            <a:avLst/>
          </a:prstGeom>
          <a:noFill/>
        </p:spPr>
        <p:txBody>
          <a:bodyPr wrap="square">
            <a:spAutoFit/>
          </a:bodyPr>
          <a:lstStyle/>
          <a:p>
            <a:pPr algn="l"/>
            <a:r>
              <a:rPr sz="700" b="0" i="0">
                <a:solidFill>
                  <a:srgbClr val="AAAAAA"/>
                </a:solidFill>
              </a:rPr>
              <a:t>FinSight IA  ·  Usage confidentiel  ·  Ne constitue pas un conseil en investissement MiFID II</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