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rPr>
              <a:t>Pitchbook  ·  Analyse d'Indice</a:t>
            </a:r>
          </a:p>
        </p:txBody>
      </p:sp>
      <p:sp>
        <p:nvSpPr>
          <p:cNvPr id="6" name="TextBox 5"/>
          <p:cNvSpPr txBox="1"/>
          <p:nvPr/>
        </p:nvSpPr>
        <p:spPr>
          <a:xfrm>
            <a:off x="457200" y="1512000"/>
            <a:ext cx="8229600" cy="576000"/>
          </a:xfrm>
          <a:prstGeom prst="rect">
            <a:avLst/>
          </a:prstGeom>
          <a:noFill/>
        </p:spPr>
        <p:txBody>
          <a:bodyPr wrap="square">
            <a:spAutoFit/>
          </a:bodyPr>
          <a:lstStyle/>
          <a:p>
            <a:pPr algn="ctr"/>
            <a:r>
              <a:rPr sz="3200" b="1" i="0">
                <a:solidFill>
                  <a:srgbClr val="1B3A6B"/>
                </a:solidFill>
              </a:rPr>
              <a:t>DAX40</a:t>
            </a:r>
          </a:p>
        </p:txBody>
      </p:sp>
      <p:sp>
        <p:nvSpPr>
          <p:cNvPr id="7" name="TextBox 6"/>
          <p:cNvSpPr txBox="1"/>
          <p:nvPr/>
        </p:nvSpPr>
        <p:spPr>
          <a:xfrm>
            <a:off x="457200" y="2124000"/>
            <a:ext cx="8229600" cy="255600"/>
          </a:xfrm>
          <a:prstGeom prst="rect">
            <a:avLst/>
          </a:prstGeom>
          <a:noFill/>
        </p:spPr>
        <p:txBody>
          <a:bodyPr wrap="square">
            <a:spAutoFit/>
          </a:bodyPr>
          <a:lstStyle/>
          <a:p>
            <a:pPr algn="ctr"/>
            <a:r>
              <a:rPr sz="1100" b="0" i="0">
                <a:solidFill>
                  <a:srgbClr val="888888"/>
                </a:solidFill>
              </a:rPr>
              <a:t>^GSPC  ·  11 secteurs analysés  ·  503 sociétés couvertes</a:t>
            </a:r>
          </a:p>
        </p:txBody>
      </p:sp>
      <p:sp>
        <p:nvSpPr>
          <p:cNvPr id="8" name="Rectangle 7"/>
          <p:cNvSpPr/>
          <p:nvPr/>
        </p:nvSpPr>
        <p:spPr>
          <a:xfrm>
            <a:off x="457200" y="2448000"/>
            <a:ext cx="8229600" cy="4752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48000"/>
            <a:ext cx="46800" cy="475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466000"/>
            <a:ext cx="8063999" cy="439200"/>
          </a:xfrm>
          <a:prstGeom prst="rect">
            <a:avLst/>
          </a:prstGeom>
          <a:noFill/>
        </p:spPr>
        <p:txBody>
          <a:bodyPr wrap="square">
            <a:spAutoFit/>
          </a:bodyPr>
          <a:lstStyle/>
          <a:p>
            <a:pPr algn="ctr"/>
            <a:r>
              <a:rPr sz="900" b="1" i="0">
                <a:solidFill>
                  <a:srgbClr val="B06000"/>
                </a:solidFill>
              </a:rPr>
              <a:t>● NEUTRE  ·  Conviction 27 %</a:t>
            </a:r>
          </a:p>
        </p:txBody>
      </p:sp>
      <p:sp>
        <p:nvSpPr>
          <p:cNvPr id="11" name="Rectangle 10"/>
          <p:cNvSpPr/>
          <p:nvPr/>
        </p:nvSpPr>
        <p:spPr>
          <a:xfrm>
            <a:off x="4572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9200" y="3096000"/>
            <a:ext cx="1800000" cy="180000"/>
          </a:xfrm>
          <a:prstGeom prst="rect">
            <a:avLst/>
          </a:prstGeom>
          <a:noFill/>
        </p:spPr>
        <p:txBody>
          <a:bodyPr wrap="square">
            <a:spAutoFit/>
          </a:bodyPr>
          <a:lstStyle/>
          <a:p>
            <a:pPr algn="l"/>
            <a:r>
              <a:rPr sz="750" b="0" i="0">
                <a:solidFill>
                  <a:srgbClr val="555555"/>
                </a:solidFill>
              </a:rPr>
              <a:t>Score médian</a:t>
            </a:r>
          </a:p>
        </p:txBody>
      </p:sp>
      <p:sp>
        <p:nvSpPr>
          <p:cNvPr id="13" name="TextBox 12"/>
          <p:cNvSpPr txBox="1"/>
          <p:nvPr/>
        </p:nvSpPr>
        <p:spPr>
          <a:xfrm>
            <a:off x="529200" y="3258000"/>
            <a:ext cx="1800000" cy="324000"/>
          </a:xfrm>
          <a:prstGeom prst="rect">
            <a:avLst/>
          </a:prstGeom>
          <a:noFill/>
        </p:spPr>
        <p:txBody>
          <a:bodyPr wrap="square">
            <a:spAutoFit/>
          </a:bodyPr>
          <a:lstStyle/>
          <a:p>
            <a:pPr algn="l"/>
            <a:r>
              <a:rPr sz="1300" b="1" i="0">
                <a:solidFill>
                  <a:srgbClr val="1B3A6B"/>
                </a:solidFill>
              </a:rPr>
              <a:t>52/100</a:t>
            </a:r>
          </a:p>
        </p:txBody>
      </p:sp>
      <p:sp>
        <p:nvSpPr>
          <p:cNvPr id="14" name="Rectangle 13"/>
          <p:cNvSpPr/>
          <p:nvPr/>
        </p:nvSpPr>
        <p:spPr>
          <a:xfrm>
            <a:off x="25146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86600" y="3096000"/>
            <a:ext cx="1800000" cy="180000"/>
          </a:xfrm>
          <a:prstGeom prst="rect">
            <a:avLst/>
          </a:prstGeom>
          <a:noFill/>
        </p:spPr>
        <p:txBody>
          <a:bodyPr wrap="square">
            <a:spAutoFit/>
          </a:bodyPr>
          <a:lstStyle/>
          <a:p>
            <a:pPr algn="l"/>
            <a:r>
              <a:rPr sz="750" b="0" i="0">
                <a:solidFill>
                  <a:srgbClr val="555555"/>
                </a:solidFill>
              </a:rPr>
              <a:t>Surpondérer</a:t>
            </a:r>
          </a:p>
        </p:txBody>
      </p:sp>
      <p:sp>
        <p:nvSpPr>
          <p:cNvPr id="16" name="TextBox 15"/>
          <p:cNvSpPr txBox="1"/>
          <p:nvPr/>
        </p:nvSpPr>
        <p:spPr>
          <a:xfrm>
            <a:off x="2586600" y="3258000"/>
            <a:ext cx="1800000" cy="324000"/>
          </a:xfrm>
          <a:prstGeom prst="rect">
            <a:avLst/>
          </a:prstGeom>
          <a:noFill/>
        </p:spPr>
        <p:txBody>
          <a:bodyPr wrap="square">
            <a:spAutoFit/>
          </a:bodyPr>
          <a:lstStyle/>
          <a:p>
            <a:pPr algn="l"/>
            <a:r>
              <a:rPr sz="1300" b="1" i="0">
                <a:solidFill>
                  <a:srgbClr val="1B3A6B"/>
                </a:solidFill>
              </a:rPr>
              <a:t>3 sect.</a:t>
            </a:r>
          </a:p>
        </p:txBody>
      </p:sp>
      <p:sp>
        <p:nvSpPr>
          <p:cNvPr id="17" name="Rectangle 16"/>
          <p:cNvSpPr/>
          <p:nvPr/>
        </p:nvSpPr>
        <p:spPr>
          <a:xfrm>
            <a:off x="45720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3999" y="3096000"/>
            <a:ext cx="1800000" cy="180000"/>
          </a:xfrm>
          <a:prstGeom prst="rect">
            <a:avLst/>
          </a:prstGeom>
          <a:noFill/>
        </p:spPr>
        <p:txBody>
          <a:bodyPr wrap="square">
            <a:spAutoFit/>
          </a:bodyPr>
          <a:lstStyle/>
          <a:p>
            <a:pPr algn="l"/>
            <a:r>
              <a:rPr sz="750" b="0" i="0">
                <a:solidFill>
                  <a:srgbClr val="555555"/>
                </a:solidFill>
              </a:rPr>
              <a:t>Neutre</a:t>
            </a:r>
          </a:p>
        </p:txBody>
      </p:sp>
      <p:sp>
        <p:nvSpPr>
          <p:cNvPr id="19" name="TextBox 18"/>
          <p:cNvSpPr txBox="1"/>
          <p:nvPr/>
        </p:nvSpPr>
        <p:spPr>
          <a:xfrm>
            <a:off x="4643999" y="3258000"/>
            <a:ext cx="1800000" cy="324000"/>
          </a:xfrm>
          <a:prstGeom prst="rect">
            <a:avLst/>
          </a:prstGeom>
          <a:noFill/>
        </p:spPr>
        <p:txBody>
          <a:bodyPr wrap="square">
            <a:spAutoFit/>
          </a:bodyPr>
          <a:lstStyle/>
          <a:p>
            <a:pPr algn="l"/>
            <a:r>
              <a:rPr sz="1300" b="1" i="0">
                <a:solidFill>
                  <a:srgbClr val="1B3A6B"/>
                </a:solidFill>
              </a:rPr>
              <a:t>6 sect.</a:t>
            </a:r>
          </a:p>
        </p:txBody>
      </p:sp>
      <p:sp>
        <p:nvSpPr>
          <p:cNvPr id="20" name="Rectangle 19"/>
          <p:cNvSpPr/>
          <p:nvPr/>
        </p:nvSpPr>
        <p:spPr>
          <a:xfrm>
            <a:off x="66294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01399" y="3096000"/>
            <a:ext cx="1800000" cy="180000"/>
          </a:xfrm>
          <a:prstGeom prst="rect">
            <a:avLst/>
          </a:prstGeom>
          <a:noFill/>
        </p:spPr>
        <p:txBody>
          <a:bodyPr wrap="square">
            <a:spAutoFit/>
          </a:bodyPr>
          <a:lstStyle/>
          <a:p>
            <a:pPr algn="l"/>
            <a:r>
              <a:rPr sz="750" b="0" i="0">
                <a:solidFill>
                  <a:srgbClr val="555555"/>
                </a:solidFill>
              </a:rPr>
              <a:t>Sous-pondérer</a:t>
            </a:r>
          </a:p>
        </p:txBody>
      </p:sp>
      <p:sp>
        <p:nvSpPr>
          <p:cNvPr id="22" name="TextBox 21"/>
          <p:cNvSpPr txBox="1"/>
          <p:nvPr/>
        </p:nvSpPr>
        <p:spPr>
          <a:xfrm>
            <a:off x="6701399" y="3258000"/>
            <a:ext cx="1800000" cy="324000"/>
          </a:xfrm>
          <a:prstGeom prst="rect">
            <a:avLst/>
          </a:prstGeom>
          <a:noFill/>
        </p:spPr>
        <p:txBody>
          <a:bodyPr wrap="square">
            <a:spAutoFit/>
          </a:bodyPr>
          <a:lstStyle/>
          <a:p>
            <a:pPr algn="l"/>
            <a:r>
              <a:rPr sz="1300" b="1" i="0">
                <a:solidFill>
                  <a:srgbClr val="1B3A6B"/>
                </a:solidFill>
              </a:rPr>
              <a:t>2 sect.</a:t>
            </a:r>
          </a:p>
        </p:txBody>
      </p:sp>
      <p:sp>
        <p:nvSpPr>
          <p:cNvPr id="23" name="Rectangle 22"/>
          <p:cNvSpPr/>
          <p:nvPr/>
        </p:nvSpPr>
        <p:spPr>
          <a:xfrm>
            <a:off x="367200" y="4248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7200" y="4338000"/>
            <a:ext cx="4114800" cy="201600"/>
          </a:xfrm>
          <a:prstGeom prst="rect">
            <a:avLst/>
          </a:prstGeom>
          <a:noFill/>
        </p:spPr>
        <p:txBody>
          <a:bodyPr wrap="square">
            <a:spAutoFit/>
          </a:bodyPr>
          <a:lstStyle/>
          <a:p>
            <a:pPr algn="l"/>
            <a:r>
              <a:rPr sz="800" b="0" i="0">
                <a:solidFill>
                  <a:srgbClr val="555555"/>
                </a:solidFill>
              </a:rPr>
              <a:t>Rapport confidentiel</a:t>
            </a:r>
          </a:p>
        </p:txBody>
      </p:sp>
      <p:sp>
        <p:nvSpPr>
          <p:cNvPr id="25" name="TextBox 24"/>
          <p:cNvSpPr txBox="1"/>
          <p:nvPr/>
        </p:nvSpPr>
        <p:spPr>
          <a:xfrm>
            <a:off x="4662000" y="4338000"/>
            <a:ext cx="4114800" cy="201600"/>
          </a:xfrm>
          <a:prstGeom prst="rect">
            <a:avLst/>
          </a:prstGeom>
          <a:noFill/>
        </p:spPr>
        <p:txBody>
          <a:bodyPr wrap="square">
            <a:spAutoFit/>
          </a:bodyPr>
          <a:lstStyle/>
          <a:p>
            <a:pPr algn="r"/>
            <a:r>
              <a:rPr sz="800" b="0" i="0">
                <a:solidFill>
                  <a:srgbClr val="555555"/>
                </a:solidFill>
              </a:rPr>
              <a:t>3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DAX40 (^GSPC)  ·  11 secteurs  ·  503 sociétés  ·  Horizon 12 mois</a:t>
            </a:r>
          </a:p>
        </p:txBody>
      </p:sp>
      <p:sp>
        <p:nvSpPr>
          <p:cNvPr id="15" name="Rectangle 14"/>
          <p:cNvSpPr/>
          <p:nvPr/>
        </p:nvSpPr>
        <p:spPr>
          <a:xfrm>
            <a:off x="324000" y="827999"/>
            <a:ext cx="1728000" cy="27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846000"/>
            <a:ext cx="1584000" cy="198000"/>
          </a:xfrm>
          <a:prstGeom prst="rect">
            <a:avLst/>
          </a:prstGeom>
          <a:noFill/>
        </p:spPr>
        <p:txBody>
          <a:bodyPr wrap="square">
            <a:spAutoFit/>
          </a:bodyPr>
          <a:lstStyle/>
          <a:p>
            <a:pPr algn="l"/>
            <a:r>
              <a:rPr sz="1000" b="1" i="0">
                <a:solidFill>
                  <a:srgbClr val="FFFFFF"/>
                </a:solidFill>
              </a:rPr>
              <a:t>NEUTRE</a:t>
            </a:r>
          </a:p>
        </p:txBody>
      </p:sp>
      <p:sp>
        <p:nvSpPr>
          <p:cNvPr id="17" name="TextBox 16"/>
          <p:cNvSpPr txBox="1"/>
          <p:nvPr/>
        </p:nvSpPr>
        <p:spPr>
          <a:xfrm>
            <a:off x="324000" y="1134000"/>
            <a:ext cx="8496000" cy="198000"/>
          </a:xfrm>
          <a:prstGeom prst="rect">
            <a:avLst/>
          </a:prstGeom>
          <a:noFill/>
        </p:spPr>
        <p:txBody>
          <a:bodyPr wrap="square">
            <a:spAutoFit/>
          </a:bodyPr>
          <a:lstStyle/>
          <a:p>
            <a:pPr algn="l"/>
            <a:r>
              <a:rPr sz="800" b="0" i="0">
                <a:solidFill>
                  <a:srgbClr val="555555"/>
                </a:solidFill>
              </a:rPr>
              <a:t>Cours : 5 210  ·  YTD : +4.8%  ·  P/E Forward : 21.5x  ·  ERP : 4.2%  ·  Conviction 27 %</a:t>
            </a:r>
          </a:p>
        </p:txBody>
      </p:sp>
      <p:sp>
        <p:nvSpPr>
          <p:cNvPr id="18" name="Rectangle 17"/>
          <p:cNvSpPr/>
          <p:nvPr/>
        </p:nvSpPr>
        <p:spPr>
          <a:xfrm>
            <a:off x="324000" y="1368000"/>
            <a:ext cx="882000" cy="16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0000" y="1368000"/>
            <a:ext cx="828000" cy="162000"/>
          </a:xfrm>
          <a:prstGeom prst="rect">
            <a:avLst/>
          </a:prstGeom>
          <a:noFill/>
        </p:spPr>
        <p:txBody>
          <a:bodyPr wrap="square" anchor="ctr">
            <a:spAutoFit/>
          </a:bodyPr>
          <a:lstStyle/>
          <a:p>
            <a:pPr algn="ctr"/>
            <a:r>
              <a:rPr sz="750" b="1" i="0">
                <a:solidFill>
                  <a:srgbClr val="FFFFFF"/>
                </a:solidFill>
              </a:rPr>
              <a:t>Régime Volatile</a:t>
            </a:r>
          </a:p>
        </p:txBody>
      </p:sp>
      <p:sp>
        <p:nvSpPr>
          <p:cNvPr id="20" name="Rectangle 19"/>
          <p:cNvSpPr/>
          <p:nvPr/>
        </p:nvSpPr>
        <p:spPr>
          <a:xfrm>
            <a:off x="1260000"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96000" y="1368000"/>
            <a:ext cx="738000" cy="162000"/>
          </a:xfrm>
          <a:prstGeom prst="rect">
            <a:avLst/>
          </a:prstGeom>
          <a:noFill/>
        </p:spPr>
        <p:txBody>
          <a:bodyPr wrap="square" anchor="ctr">
            <a:spAutoFit/>
          </a:bodyPr>
          <a:lstStyle/>
          <a:p>
            <a:pPr algn="ctr"/>
            <a:r>
              <a:rPr sz="750" b="0" i="0">
                <a:solidFill>
                  <a:srgbClr val="1B3A6B"/>
                </a:solidFill>
              </a:rPr>
              <a:t>VIX 24</a:t>
            </a:r>
          </a:p>
        </p:txBody>
      </p:sp>
      <p:sp>
        <p:nvSpPr>
          <p:cNvPr id="22" name="Rectangle 21"/>
          <p:cNvSpPr/>
          <p:nvPr/>
        </p:nvSpPr>
        <p:spPr>
          <a:xfrm>
            <a:off x="2106000"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41999" y="1368000"/>
            <a:ext cx="738000" cy="162000"/>
          </a:xfrm>
          <a:prstGeom prst="rect">
            <a:avLst/>
          </a:prstGeom>
          <a:noFill/>
        </p:spPr>
        <p:txBody>
          <a:bodyPr wrap="square" anchor="ctr">
            <a:spAutoFit/>
          </a:bodyPr>
          <a:lstStyle/>
          <a:p>
            <a:pPr algn="ctr"/>
            <a:r>
              <a:rPr sz="750" b="0" i="0">
                <a:solidFill>
                  <a:srgbClr val="1B3A6B"/>
                </a:solidFill>
              </a:rPr>
              <a:t>Spread +0.7%</a:t>
            </a:r>
          </a:p>
        </p:txBody>
      </p:sp>
      <p:sp>
        <p:nvSpPr>
          <p:cNvPr id="24" name="Rectangle 23"/>
          <p:cNvSpPr/>
          <p:nvPr/>
        </p:nvSpPr>
        <p:spPr>
          <a:xfrm>
            <a:off x="2951999"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87999" y="1368000"/>
            <a:ext cx="738000" cy="162000"/>
          </a:xfrm>
          <a:prstGeom prst="rect">
            <a:avLst/>
          </a:prstGeom>
          <a:noFill/>
        </p:spPr>
        <p:txBody>
          <a:bodyPr wrap="square" anchor="ctr">
            <a:spAutoFit/>
          </a:bodyPr>
          <a:lstStyle/>
          <a:p>
            <a:pPr algn="ctr"/>
            <a:r>
              <a:rPr sz="750" b="0" i="0">
                <a:solidFill>
                  <a:srgbClr val="1B3A6B"/>
                </a:solidFill>
              </a:rPr>
              <a:t>Rec. 6M 26%</a:t>
            </a:r>
          </a:p>
        </p:txBody>
      </p:sp>
      <p:sp>
        <p:nvSpPr>
          <p:cNvPr id="26" name="Rectangle 25"/>
          <p:cNvSpPr/>
          <p:nvPr/>
        </p:nvSpPr>
        <p:spPr>
          <a:xfrm>
            <a:off x="324000" y="1584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1602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8" name="Rectangle 27"/>
          <p:cNvSpPr/>
          <p:nvPr/>
        </p:nvSpPr>
        <p:spPr>
          <a:xfrm>
            <a:off x="324000" y="1818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3999" y="1818000"/>
            <a:ext cx="8028000" cy="162000"/>
          </a:xfrm>
          <a:prstGeom prst="rect">
            <a:avLst/>
          </a:prstGeom>
          <a:noFill/>
        </p:spPr>
        <p:txBody>
          <a:bodyPr wrap="square">
            <a:spAutoFit/>
          </a:bodyPr>
          <a:lstStyle/>
          <a:p>
            <a:pPr algn="l"/>
            <a:r>
              <a:rPr sz="800" b="1" i="0">
                <a:solidFill>
                  <a:srgbClr val="1B3A6B"/>
                </a:solidFill>
              </a:rPr>
              <a:t>Cycle IA</a:t>
            </a:r>
          </a:p>
        </p:txBody>
      </p:sp>
      <p:sp>
        <p:nvSpPr>
          <p:cNvPr id="30" name="TextBox 29"/>
          <p:cNvSpPr txBox="1"/>
          <p:nvPr/>
        </p:nvSpPr>
        <p:spPr>
          <a:xfrm>
            <a:off x="413999" y="1980000"/>
            <a:ext cx="8028000" cy="198000"/>
          </a:xfrm>
          <a:prstGeom prst="rect">
            <a:avLst/>
          </a:prstGeom>
          <a:noFill/>
        </p:spPr>
        <p:txBody>
          <a:bodyPr wrap="square">
            <a:spAutoFit/>
          </a:bodyPr>
          <a:lstStyle/>
          <a:p>
            <a:pPr algn="l"/>
            <a:r>
              <a:rPr sz="750" b="0" i="0">
                <a:solidFill>
                  <a:srgbClr val="555555"/>
                </a:solidFill>
              </a:rPr>
              <a:t>CAPEX hyperscalers +35% YoY — monetisation acceleree services cloud et semi</a:t>
            </a:r>
          </a:p>
        </p:txBody>
      </p:sp>
      <p:sp>
        <p:nvSpPr>
          <p:cNvPr id="31" name="Rectangle 30"/>
          <p:cNvSpPr/>
          <p:nvPr/>
        </p:nvSpPr>
        <p:spPr>
          <a:xfrm>
            <a:off x="324000" y="2160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2160000"/>
            <a:ext cx="8028000" cy="162000"/>
          </a:xfrm>
          <a:prstGeom prst="rect">
            <a:avLst/>
          </a:prstGeom>
          <a:noFill/>
        </p:spPr>
        <p:txBody>
          <a:bodyPr wrap="square">
            <a:spAutoFit/>
          </a:bodyPr>
          <a:lstStyle/>
          <a:p>
            <a:pPr algn="l"/>
            <a:r>
              <a:rPr sz="800" b="1" i="0">
                <a:solidFill>
                  <a:srgbClr val="1B3A6B"/>
                </a:solidFill>
              </a:rPr>
              <a:t>Desinflation</a:t>
            </a:r>
          </a:p>
        </p:txBody>
      </p:sp>
      <p:sp>
        <p:nvSpPr>
          <p:cNvPr id="33" name="TextBox 32"/>
          <p:cNvSpPr txBox="1"/>
          <p:nvPr/>
        </p:nvSpPr>
        <p:spPr>
          <a:xfrm>
            <a:off x="413999" y="2322000"/>
            <a:ext cx="8028000" cy="198000"/>
          </a:xfrm>
          <a:prstGeom prst="rect">
            <a:avLst/>
          </a:prstGeom>
          <a:noFill/>
        </p:spPr>
        <p:txBody>
          <a:bodyPr wrap="square">
            <a:spAutoFit/>
          </a:bodyPr>
          <a:lstStyle/>
          <a:p>
            <a:pPr algn="l"/>
            <a:r>
              <a:rPr sz="750" b="0" i="0">
                <a:solidFill>
                  <a:srgbClr val="555555"/>
                </a:solidFill>
              </a:rPr>
              <a:t>PCE Core convergence vers 2.5% d ici fin 2026 — Fed pivot dovish attendu</a:t>
            </a:r>
          </a:p>
        </p:txBody>
      </p:sp>
      <p:sp>
        <p:nvSpPr>
          <p:cNvPr id="34" name="Rectangle 33"/>
          <p:cNvSpPr/>
          <p:nvPr/>
        </p:nvSpPr>
        <p:spPr>
          <a:xfrm>
            <a:off x="324000" y="250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2501999"/>
            <a:ext cx="8028000" cy="162000"/>
          </a:xfrm>
          <a:prstGeom prst="rect">
            <a:avLst/>
          </a:prstGeom>
          <a:noFill/>
        </p:spPr>
        <p:txBody>
          <a:bodyPr wrap="square">
            <a:spAutoFit/>
          </a:bodyPr>
          <a:lstStyle/>
          <a:p>
            <a:pPr algn="l"/>
            <a:r>
              <a:rPr sz="800" b="1" i="0">
                <a:solidFill>
                  <a:srgbClr val="1B3A6B"/>
                </a:solidFill>
              </a:rPr>
              <a:t>Resilience margins</a:t>
            </a:r>
          </a:p>
        </p:txBody>
      </p:sp>
      <p:sp>
        <p:nvSpPr>
          <p:cNvPr id="36" name="TextBox 35"/>
          <p:cNvSpPr txBox="1"/>
          <p:nvPr/>
        </p:nvSpPr>
        <p:spPr>
          <a:xfrm>
            <a:off x="413999" y="2664000"/>
            <a:ext cx="8028000" cy="198000"/>
          </a:xfrm>
          <a:prstGeom prst="rect">
            <a:avLst/>
          </a:prstGeom>
          <a:noFill/>
        </p:spPr>
        <p:txBody>
          <a:bodyPr wrap="square">
            <a:spAutoFit/>
          </a:bodyPr>
          <a:lstStyle/>
          <a:p>
            <a:pPr algn="l"/>
            <a:r>
              <a:rPr sz="750" b="0" i="0">
                <a:solidFill>
                  <a:srgbClr val="555555"/>
                </a:solidFill>
              </a:rPr>
              <a:t>Marges nettes S&amp;P 500 a 12.4% vs 11.8% consensus — revision haussiere BPA</a:t>
            </a:r>
          </a:p>
        </p:txBody>
      </p:sp>
      <p:sp>
        <p:nvSpPr>
          <p:cNvPr id="37" name="Rectangle 36"/>
          <p:cNvSpPr/>
          <p:nvPr/>
        </p:nvSpPr>
        <p:spPr>
          <a:xfrm>
            <a:off x="324000" y="2988000"/>
            <a:ext cx="8496000" cy="18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4000" y="2988000"/>
            <a:ext cx="43200" cy="18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2000" y="3024000"/>
            <a:ext cx="8208000" cy="180000"/>
          </a:xfrm>
          <a:prstGeom prst="rect">
            <a:avLst/>
          </a:prstGeom>
          <a:noFill/>
        </p:spPr>
        <p:txBody>
          <a:bodyPr wrap="square">
            <a:spAutoFit/>
          </a:bodyPr>
          <a:lstStyle/>
          <a:p>
            <a:pPr algn="l"/>
            <a:r>
              <a:rPr sz="800" b="1" i="0">
                <a:solidFill>
                  <a:srgbClr val="1B3A6B"/>
                </a:solidFill>
              </a:rPr>
              <a:t>SYNTHESE DU SIGNAL</a:t>
            </a:r>
          </a:p>
        </p:txBody>
      </p:sp>
      <p:sp>
        <p:nvSpPr>
          <p:cNvPr id="40" name="TextBox 39"/>
          <p:cNvSpPr txBox="1"/>
          <p:nvPr/>
        </p:nvSpPr>
        <p:spPr>
          <a:xfrm>
            <a:off x="432000" y="3240000"/>
            <a:ext cx="8208000" cy="1512000"/>
          </a:xfrm>
          <a:prstGeom prst="rect">
            <a:avLst/>
          </a:prstGeom>
          <a:noFill/>
        </p:spPr>
        <p:txBody>
          <a:bodyPr wrap="square">
            <a:spAutoFit/>
          </a:bodyPr>
          <a:lstStyle/>
          <a:p>
            <a:pPr algn="l"/>
            <a:r>
              <a:rPr sz="800" b="0" i="0">
                <a:solidFill>
                  <a:srgbClr val="555555"/>
                </a:solidFill>
              </a:rPr>
              <a:t>Le signal global sur le DAX40 est Neutre avec une conviction de 27% (sur la base des 11 secteurs analyses). 3 secteurs ressortent Surpondérer — Technology, Health Care et Financials — portes respectivement par le cycle IA, le pricing power defensif et les spreads de credit eleves. 6 secteurs sont Neutre en raison d'une visibilite limitee sur les BPA dans un contexte de taux restrictifs. 2 secteurs (Real Estate, Utilities) sont Sous-ponderer sous pression directe de la politique monetaire.  Le DAX40 affiche un cours de 5 210 (YTD : +4.8%). P/E Forward 21.5x vs médiane historique 10 ans 18.2x — valorisation en ligne avec l'historique. ERP Damodaran 4.2%. Score composite moyen : —/100 —...</a:t>
            </a:r>
          </a:p>
        </p:txBody>
      </p:sp>
      <p:sp>
        <p:nvSpPr>
          <p:cNvPr id="41" name="Rectangle 4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DAX40  ·  ^GSPC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Synthèse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économique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Décomposition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Recommandés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Synthèse signal · Sociétés représentatives · Distribution valorisations · Zone d'entrée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Scénarios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Synthèse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économique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DAX40 (^GSPC)  ·  Caractéristiques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DAX40 regroupe les 503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5 210</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+4.8%</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21.5x</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18.2x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503</a:t>
                      </a:r>
                    </a:p>
                  </a:txBody>
                  <a:tcPr>
                    <a:solidFill>
                      <a:srgbClr val="F5F7FA"/>
                    </a:solidFill>
                  </a:tcPr>
                </a:tc>
              </a:tr>
            </a:tbl>
          </a:graphicData>
        </a:graphic>
      </p:graphicFrame>
      <p:sp>
        <p:nvSpPr>
          <p:cNvPr id="18" name="Rectangle 17"/>
          <p:cNvSpPr/>
          <p:nvPr/>
        </p:nvSpPr>
        <p:spPr>
          <a:xfrm>
            <a:off x="324000" y="3528000"/>
            <a:ext cx="8496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528000"/>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2000" y="3582000"/>
            <a:ext cx="8208000" cy="216000"/>
          </a:xfrm>
          <a:prstGeom prst="rect">
            <a:avLst/>
          </a:prstGeom>
          <a:noFill/>
        </p:spPr>
        <p:txBody>
          <a:bodyPr wrap="square">
            <a:spAutoFit/>
          </a:bodyPr>
          <a:lstStyle/>
          <a:p>
            <a:pPr algn="l"/>
            <a:r>
              <a:rPr sz="800" b="1" i="0">
                <a:solidFill>
                  <a:srgbClr val="1B3A6B"/>
                </a:solidFill>
              </a:rPr>
              <a:t>Lecture — Signal global &amp; positionnement sectoriel</a:t>
            </a:r>
          </a:p>
        </p:txBody>
      </p:sp>
      <p:sp>
        <p:nvSpPr>
          <p:cNvPr id="21" name="TextBox 20"/>
          <p:cNvSpPr txBox="1"/>
          <p:nvPr/>
        </p:nvSpPr>
        <p:spPr>
          <a:xfrm>
            <a:off x="432000" y="3816000"/>
            <a:ext cx="8208000" cy="936000"/>
          </a:xfrm>
          <a:prstGeom prst="rect">
            <a:avLst/>
          </a:prstGeom>
          <a:noFill/>
        </p:spPr>
        <p:txBody>
          <a:bodyPr wrap="square">
            <a:spAutoFit/>
          </a:bodyPr>
          <a:lstStyle/>
          <a:p>
            <a:pPr algn="l"/>
            <a:r>
              <a:rPr sz="750" b="0" i="0">
                <a:solidFill>
                  <a:srgbClr val="555555"/>
                </a:solidFill>
              </a:rPr>
              <a:t>Signal global : Neutre (score composite —/100). P/E Forward 21.5x vs médiane historique 18.2x — valorisation proche des normes historiques. ERP Damodaran : 4.2%. Secteurs a Surponderer : Technology  ·  Health Care  ·  Financials. Secteurs a Sous-ponderer : Real Estate  ·  Utilities. 6 secteur(s) en position Neutre. Horizon d'allocation recommande : 12 mois.</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DAX40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21.5x</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Prime vs médiane 10Y</a:t>
                      </a:r>
                    </a:p>
                  </a:txBody>
                  <a:tcPr>
                    <a:noFill/>
                  </a:tcPr>
                </a:tc>
              </a:tr>
              <a:tr h="30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18.2x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normalisé</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Surévalué si &gt; 20 %</a:t>
                      </a:r>
                    </a:p>
                  </a:txBody>
                  <a:tcPr>
                    <a:noFill/>
                  </a:tcPr>
                </a:tc>
                <a:tc>
                  <a:txBody>
                    <a:bodyPr/>
                    <a:lstStyle/>
                    <a:p>
                      <a:pPr algn="ctr"/>
                      <a:r>
                        <a:rPr sz="800" b="0">
                          <a:solidFill>
                            <a:srgbClr val="1A1A1A"/>
                          </a:solidFill>
                        </a:rPr>
                        <a:t>Signal d'alerte valorisation</a:t>
                      </a:r>
                    </a:p>
                  </a:txBody>
                  <a:tcPr>
                    <a:noFill/>
                  </a:tcPr>
                </a:tc>
              </a:tr>
            </a:tbl>
          </a:graphicData>
        </a:graphic>
      </p:graphicFrame>
      <p:sp>
        <p:nvSpPr>
          <p:cNvPr id="16" name="Rectangle 15"/>
          <p:cNvSpPr/>
          <p:nvPr/>
        </p:nvSpPr>
        <p:spPr>
          <a:xfrm>
            <a:off x="324000" y="2808000"/>
            <a:ext cx="8496000" cy="199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08000"/>
            <a:ext cx="43200" cy="19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862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096000"/>
            <a:ext cx="8208000" cy="1673999"/>
          </a:xfrm>
          <a:prstGeom prst="rect">
            <a:avLst/>
          </a:prstGeom>
          <a:noFill/>
        </p:spPr>
        <p:txBody>
          <a:bodyPr wrap="square">
            <a:spAutoFit/>
          </a:bodyPr>
          <a:lstStyle/>
          <a:p>
            <a:pPr algn="l"/>
            <a:r>
              <a:rPr sz="750" b="0" i="0">
                <a:solidFill>
                  <a:srgbClr val="555555"/>
                </a:solidFill>
              </a:rPr>
              <a:t>Le P/E Forward a 21.5x s'inscrit en prime de 18% par rapport a la mediane 10 ans (18.2x), justifie en partie par la monetisation de l'IA et la qualite superieure des marges. L'ERP ressort a 4.2% — niveau attractif mais contraint par le 10Y US a 4.3%. La compression de multiple reste le principal risque si les taux LT demeurent restrictifs. Le secteur Technologie (P/E 28.5x vs médiane 22x) concentre la prime de valorisation.</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Économique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DAX40  ·  Phase actuelle : Expansion avancée  ·  Signaux FRED  ·  Modèle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avancée</a:t>
            </a:r>
          </a:p>
        </p:txBody>
      </p:sp>
      <p:sp>
        <p:nvSpPr>
          <p:cNvPr id="20" name="TextBox 19"/>
          <p:cNvSpPr txBox="1"/>
          <p:nvPr/>
        </p:nvSpPr>
        <p:spPr>
          <a:xfrm>
            <a:off x="396000" y="1908000"/>
            <a:ext cx="2808000" cy="720000"/>
          </a:xfrm>
          <a:prstGeom prst="rect">
            <a:avLst/>
          </a:prstGeom>
          <a:noFill/>
        </p:spPr>
        <p:txBody>
          <a:bodyPr wrap="square">
            <a:spAutoFit/>
          </a:bodyPr>
          <a:lstStyle/>
          <a:p>
            <a:pPr algn="l"/>
            <a:r>
              <a:rPr sz="800" b="0" i="0">
                <a:solidFill>
                  <a:srgbClr val="AAAAAA"/>
                </a:solidFill>
              </a:rPr>
              <a:t>Milieu-fin de cycle — ISM proche 50, courbe taux normalisée</a:t>
            </a:r>
          </a:p>
        </p:txBody>
      </p:sp>
      <p:sp>
        <p:nvSpPr>
          <p:cNvPr id="21" name="TextBox 20"/>
          <p:cNvSpPr txBox="1"/>
          <p:nvPr/>
        </p:nvSpPr>
        <p:spPr>
          <a:xfrm>
            <a:off x="396000" y="2664000"/>
            <a:ext cx="2808000" cy="468000"/>
          </a:xfrm>
          <a:prstGeom prst="rect">
            <a:avLst/>
          </a:prstGeom>
          <a:noFill/>
        </p:spPr>
        <p:txBody>
          <a:bodyPr wrap="square">
            <a:spAutoFit/>
          </a:bodyPr>
          <a:lstStyle/>
          <a:p>
            <a:pPr algn="l"/>
            <a:r>
              <a:rPr sz="750" b="0" i="0">
                <a:solidFill>
                  <a:srgbClr val="AAAAAA"/>
                </a:solidFill>
              </a:rPr>
              <a:t>L'analyse des indicateurs avancées positionne le cycle en phase d'expansion avancée : ISM Manufacturier autour du seuil...</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modérée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Légèrement inversée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Chômage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Marché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recommandée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avancées positionne le cycle en phase d'expansion avancée : ISM Manufacturier autour du seuil 50 (49.8), courbe des taux partiellement normalisée (10Y-2Y +0.2%), Leading Indicators OCDE en légère hausse. Cette configuration favorise les secteurs avec forte visibilité BPA et moindre sensibilité aux taux : Technology, Health Care, Financials. Les secteurs défensifs (Consumer Staples,...</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503 sociétés  ·  Tri par score FinSight décroissant</a:t>
            </a:r>
          </a:p>
        </p:txBody>
      </p:sp>
      <p:graphicFrame>
        <p:nvGraphicFramePr>
          <p:cNvPr id="15" name="Table 14"/>
          <p:cNvGraphicFramePr>
            <a:graphicFrameLocks noGrp="1"/>
          </p:cNvGraphicFramePr>
          <p:nvPr/>
        </p:nvGraphicFramePr>
        <p:xfrm>
          <a:off x="324000" y="827999"/>
          <a:ext cx="8495998" cy="2700000"/>
        </p:xfrm>
        <a:graphic>
          <a:graphicData uri="http://schemas.openxmlformats.org/drawingml/2006/table">
            <a:tbl>
              <a:tblPr firstRow="1" bandRow="1">
                <a:tableStyleId>{5C22544A-7EE6-4342-B048-85BDC9FD1C3A}</a:tableStyleId>
              </a:tblPr>
              <a:tblGrid>
                <a:gridCol w="420594"/>
                <a:gridCol w="1892673"/>
                <a:gridCol w="630891"/>
                <a:gridCol w="1345900"/>
                <a:gridCol w="1051485"/>
                <a:gridCol w="1051485"/>
                <a:gridCol w="1051485"/>
                <a:gridCol w="1051485"/>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P/Book</a:t>
                      </a:r>
                    </a:p>
                  </a:txBody>
                  <a:tcPr>
                    <a:solidFill>
                      <a:srgbClr val="1B3A6B"/>
                    </a:solidFill>
                  </a:tcPr>
                </a:tc>
                <a:tc>
                  <a:txBody>
                    <a:bodyPr/>
                    <a:lstStyle/>
                    <a:p>
                      <a:pPr algn="ctr"/>
                      <a:r>
                        <a:rPr sz="800" b="1">
                          <a:solidFill>
                            <a:srgbClr val="FFFFFF"/>
                          </a:solidFill>
                        </a:rPr>
                        <a:t>Div.Yield</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Technology</a:t>
                      </a:r>
                    </a:p>
                  </a:txBody>
                  <a:tcPr>
                    <a:noFill/>
                  </a:tcPr>
                </a:tc>
                <a:tc>
                  <a:txBody>
                    <a:bodyPr/>
                    <a:lstStyle/>
                    <a:p>
                      <a:pPr algn="ctr"/>
                      <a:r>
                        <a:rPr sz="800" b="0">
                          <a:solidFill>
                            <a:srgbClr val="1A1A1A"/>
                          </a:solidFill>
                        </a:rPr>
                        <a:t>72</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28.4%</a:t>
                      </a:r>
                    </a:p>
                  </a:txBody>
                  <a:tcPr>
                    <a:noFill/>
                  </a:tcPr>
                </a:tc>
                <a:tc>
                  <a:txBody>
                    <a:bodyPr/>
                    <a:lstStyle/>
                    <a:p>
                      <a:pPr algn="ctr"/>
                      <a:r>
                        <a:rPr sz="800" b="0">
                          <a:solidFill>
                            <a:srgbClr val="1A1A1A"/>
                          </a:solidFill>
                        </a:rPr>
                        <a:t>+14.2%</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65</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22.1%</a:t>
                      </a:r>
                    </a:p>
                  </a:txBody>
                  <a:tcPr>
                    <a:solidFill>
                      <a:srgbClr val="F5F7FA"/>
                    </a:solidFill>
                  </a:tcPr>
                </a:tc>
                <a:tc>
                  <a:txBody>
                    <a:bodyPr/>
                    <a:lstStyle/>
                    <a:p>
                      <a:pPr algn="ctr"/>
                      <a:r>
                        <a:rPr sz="800" b="0">
                          <a:solidFill>
                            <a:srgbClr val="1A1A1A"/>
                          </a:solidFill>
                        </a:rPr>
                        <a:t>+9.8%</a:t>
                      </a:r>
                    </a:p>
                  </a:txBody>
                  <a:tcPr>
                    <a:solidFill>
                      <a:srgbClr val="F5F7FA"/>
                    </a:solidFill>
                  </a:tcPr>
                </a:tc>
                <a:tc>
                  <a:txBody>
                    <a:bodyPr/>
                    <a:lstStyle/>
                    <a:p>
                      <a:pPr algn="ctr"/>
                      <a:r>
                        <a:rPr sz="800" b="0">
                          <a:solidFill>
                            <a:srgbClr val="1A1A1A"/>
                          </a:solidFill>
                        </a:rPr>
                        <a:t>—</a:t>
                      </a:r>
                    </a:p>
                  </a:txBody>
                  <a:tcPr>
                    <a:solidFill>
                      <a:srgbClr val="F5F7FA"/>
                    </a:solidFill>
                  </a:tcPr>
                </a:tc>
                <a:tc>
                  <a:txBody>
                    <a:bodyPr/>
                    <a:lstStyle/>
                    <a:p>
                      <a:pPr algn="ctr"/>
                      <a:r>
                        <a:rPr sz="800" b="0">
                          <a:solidFill>
                            <a:srgbClr val="1A1A1A"/>
                          </a:solidFill>
                        </a:rPr>
                        <a:t>—</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Financials</a:t>
                      </a:r>
                    </a:p>
                  </a:txBody>
                  <a:tcPr>
                    <a:noFill/>
                  </a:tcPr>
                </a:tc>
                <a:tc>
                  <a:txBody>
                    <a:bodyPr/>
                    <a:lstStyle/>
                    <a:p>
                      <a:pPr algn="ctr"/>
                      <a:r>
                        <a:rPr sz="800" b="0">
                          <a:solidFill>
                            <a:srgbClr val="1A1A1A"/>
                          </a:solidFill>
                        </a:rPr>
                        <a:t>62</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31.2%</a:t>
                      </a:r>
                    </a:p>
                  </a:txBody>
                  <a:tcPr>
                    <a:noFill/>
                  </a:tcPr>
                </a:tc>
                <a:tc>
                  <a:txBody>
                    <a:bodyPr/>
                    <a:lstStyle/>
                    <a:p>
                      <a:pPr algn="ctr"/>
                      <a:r>
                        <a:rPr sz="800" b="0">
                          <a:solidFill>
                            <a:srgbClr val="1A1A1A"/>
                          </a:solidFill>
                        </a:rPr>
                        <a:t>+11.4%</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58</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24.6%</a:t>
                      </a:r>
                    </a:p>
                  </a:txBody>
                  <a:tcPr>
                    <a:solidFill>
                      <a:srgbClr val="F5F7FA"/>
                    </a:solidFill>
                  </a:tcPr>
                </a:tc>
                <a:tc>
                  <a:txBody>
                    <a:bodyPr/>
                    <a:lstStyle/>
                    <a:p>
                      <a:pPr algn="ctr"/>
                      <a:r>
                        <a:rPr sz="800" b="0">
                          <a:solidFill>
                            <a:srgbClr val="1A1A1A"/>
                          </a:solidFill>
                        </a:rPr>
                        <a:t>+10.1%</a:t>
                      </a:r>
                    </a:p>
                  </a:txBody>
                  <a:tcPr>
                    <a:solidFill>
                      <a:srgbClr val="F5F7FA"/>
                    </a:solidFill>
                  </a:tcPr>
                </a:tc>
                <a:tc>
                  <a:txBody>
                    <a:bodyPr/>
                    <a:lstStyle/>
                    <a:p>
                      <a:pPr algn="ctr"/>
                      <a:r>
                        <a:rPr sz="800" b="0">
                          <a:solidFill>
                            <a:srgbClr val="1A1A1A"/>
                          </a:solidFill>
                        </a:rPr>
                        <a:t>—</a:t>
                      </a:r>
                    </a:p>
                  </a:txBody>
                  <a:tcPr>
                    <a:solidFill>
                      <a:srgbClr val="F5F7FA"/>
                    </a:solidFill>
                  </a:tcPr>
                </a:tc>
                <a:tc>
                  <a:txBody>
                    <a:bodyPr/>
                    <a:lstStyle/>
                    <a:p>
                      <a:pPr algn="ctr"/>
                      <a:r>
                        <a:rPr sz="800" b="0">
                          <a:solidFill>
                            <a:srgbClr val="1A1A1A"/>
                          </a:solidFill>
                        </a:rPr>
                        <a:t>—</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55</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14.8%</a:t>
                      </a:r>
                    </a:p>
                  </a:txBody>
                  <a:tcPr>
                    <a:noFill/>
                  </a:tcPr>
                </a:tc>
                <a:tc>
                  <a:txBody>
                    <a:bodyPr/>
                    <a:lstStyle/>
                    <a:p>
                      <a:pPr algn="ctr"/>
                      <a:r>
                        <a:rPr sz="800" b="0">
                          <a:solidFill>
                            <a:srgbClr val="1A1A1A"/>
                          </a:solidFill>
                        </a:rPr>
                        <a:t>+8.2%</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53</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16.2%</a:t>
                      </a:r>
                    </a:p>
                  </a:txBody>
                  <a:tcPr>
                    <a:solidFill>
                      <a:srgbClr val="F5F7FA"/>
                    </a:solidFill>
                  </a:tcPr>
                </a:tc>
                <a:tc>
                  <a:txBody>
                    <a:bodyPr/>
                    <a:lstStyle/>
                    <a:p>
                      <a:pPr algn="ctr"/>
                      <a:r>
                        <a:rPr sz="800" b="0">
                          <a:solidFill>
                            <a:srgbClr val="1A1A1A"/>
                          </a:solidFill>
                        </a:rPr>
                        <a:t>+6.8%</a:t>
                      </a:r>
                    </a:p>
                  </a:txBody>
                  <a:tcPr>
                    <a:solidFill>
                      <a:srgbClr val="F5F7FA"/>
                    </a:solidFill>
                  </a:tcPr>
                </a:tc>
                <a:tc>
                  <a:txBody>
                    <a:bodyPr/>
                    <a:lstStyle/>
                    <a:p>
                      <a:pPr algn="ctr"/>
                      <a:r>
                        <a:rPr sz="800" b="0">
                          <a:solidFill>
                            <a:srgbClr val="1A1A1A"/>
                          </a:solidFill>
                        </a:rPr>
                        <a:t>—</a:t>
                      </a:r>
                    </a:p>
                  </a:txBody>
                  <a:tcPr>
                    <a:solidFill>
                      <a:srgbClr val="F5F7FA"/>
                    </a:solidFill>
                  </a:tcPr>
                </a:tc>
                <a:tc>
                  <a:txBody>
                    <a:bodyPr/>
                    <a:lstStyle/>
                    <a:p>
                      <a:pPr algn="ctr"/>
                      <a:r>
                        <a:rPr sz="800" b="0">
                          <a:solidFill>
                            <a:srgbClr val="1A1A1A"/>
                          </a:solidFill>
                        </a:rPr>
                        <a:t>—</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 Staples</a:t>
                      </a:r>
                    </a:p>
                  </a:txBody>
                  <a:tcPr>
                    <a:noFill/>
                  </a:tcPr>
                </a:tc>
                <a:tc>
                  <a:txBody>
                    <a:bodyPr/>
                    <a:lstStyle/>
                    <a:p>
                      <a:pPr algn="ctr"/>
                      <a:r>
                        <a:rPr sz="800" b="0">
                          <a:solidFill>
                            <a:srgbClr val="1A1A1A"/>
                          </a:solidFill>
                        </a:rPr>
                        <a:t>48</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18.4%</a:t>
                      </a:r>
                    </a:p>
                  </a:txBody>
                  <a:tcPr>
                    <a:noFill/>
                  </a:tcPr>
                </a:tc>
                <a:tc>
                  <a:txBody>
                    <a:bodyPr/>
                    <a:lstStyle/>
                    <a:p>
                      <a:pPr algn="ctr"/>
                      <a:r>
                        <a:rPr sz="800" b="0">
                          <a:solidFill>
                            <a:srgbClr val="1A1A1A"/>
                          </a:solidFill>
                        </a:rPr>
                        <a:t>+3.2%</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46</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20.4%</a:t>
                      </a:r>
                    </a:p>
                  </a:txBody>
                  <a:tcPr>
                    <a:solidFill>
                      <a:srgbClr val="F5F7FA"/>
                    </a:solidFill>
                  </a:tcPr>
                </a:tc>
                <a:tc>
                  <a:txBody>
                    <a:bodyPr/>
                    <a:lstStyle/>
                    <a:p>
                      <a:pPr algn="ctr"/>
                      <a:r>
                        <a:rPr sz="800" b="0">
                          <a:solidFill>
                            <a:srgbClr val="1A1A1A"/>
                          </a:solidFill>
                        </a:rPr>
                        <a:t>+4.8%</a:t>
                      </a:r>
                    </a:p>
                  </a:txBody>
                  <a:tcPr>
                    <a:solidFill>
                      <a:srgbClr val="F5F7FA"/>
                    </a:solidFill>
                  </a:tcPr>
                </a:tc>
                <a:tc>
                  <a:txBody>
                    <a:bodyPr/>
                    <a:lstStyle/>
                    <a:p>
                      <a:pPr algn="ctr"/>
                      <a:r>
                        <a:rPr sz="800" b="0">
                          <a:solidFill>
                            <a:srgbClr val="1A1A1A"/>
                          </a:solidFill>
                        </a:rPr>
                        <a:t>—</a:t>
                      </a:r>
                    </a:p>
                  </a:txBody>
                  <a:tcPr>
                    <a:solidFill>
                      <a:srgbClr val="F5F7FA"/>
                    </a:solidFill>
                  </a:tcPr>
                </a:tc>
                <a:tc>
                  <a:txBody>
                    <a:bodyPr/>
                    <a:lstStyle/>
                    <a:p>
                      <a:pPr algn="ctr"/>
                      <a:r>
                        <a:rPr sz="800" b="0">
                          <a:solidFill>
                            <a:srgbClr val="1A1A1A"/>
                          </a:solidFill>
                        </a:rPr>
                        <a:t>—</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Energy</a:t>
                      </a:r>
                    </a:p>
                  </a:txBody>
                  <a:tcPr>
                    <a:noFill/>
                  </a:tcPr>
                </a:tc>
                <a:tc>
                  <a:txBody>
                    <a:bodyPr/>
                    <a:lstStyle/>
                    <a:p>
                      <a:pPr algn="ctr"/>
                      <a:r>
                        <a:rPr sz="800" b="0">
                          <a:solidFill>
                            <a:srgbClr val="1A1A1A"/>
                          </a:solidFill>
                        </a:rPr>
                        <a:t>44</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28.8%</a:t>
                      </a:r>
                    </a:p>
                  </a:txBody>
                  <a:tcPr>
                    <a:noFill/>
                  </a:tcPr>
                </a:tc>
                <a:tc>
                  <a:txBody>
                    <a:bodyPr/>
                    <a:lstStyle/>
                    <a:p>
                      <a:pPr algn="ctr"/>
                      <a:r>
                        <a:rPr sz="800" b="0">
                          <a:solidFill>
                            <a:srgbClr val="1A1A1A"/>
                          </a:solidFill>
                        </a:rPr>
                        <a:t>-2.4%</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38</a:t>
                      </a:r>
                    </a:p>
                  </a:txBody>
                  <a:tcPr>
                    <a:solidFill>
                      <a:srgbClr val="F5F7FA"/>
                    </a:solidFill>
                  </a:tcPr>
                </a:tc>
                <a:tc>
                  <a:txBody>
                    <a:bodyPr/>
                    <a:lstStyle/>
                    <a:p>
                      <a:pPr algn="ctr"/>
                      <a:r>
                        <a:rPr sz="800" b="0">
                          <a:solidFill>
                            <a:srgbClr val="A82020"/>
                          </a:solidFill>
                        </a:rPr>
                        <a:t>Sous-pondérer</a:t>
                      </a:r>
                    </a:p>
                  </a:txBody>
                  <a:tcPr>
                    <a:solidFill>
                      <a:srgbClr val="FBEBEB"/>
                    </a:solidFill>
                  </a:tcPr>
                </a:tc>
                <a:tc>
                  <a:txBody>
                    <a:bodyPr/>
                    <a:lstStyle/>
                    <a:p>
                      <a:pPr algn="ctr"/>
                      <a:r>
                        <a:rPr sz="800" b="0">
                          <a:solidFill>
                            <a:srgbClr val="1A1A1A"/>
                          </a:solidFill>
                        </a:rPr>
                        <a:t>48.2%</a:t>
                      </a:r>
                    </a:p>
                  </a:txBody>
                  <a:tcPr>
                    <a:solidFill>
                      <a:srgbClr val="F5F7FA"/>
                    </a:solidFill>
                  </a:tcPr>
                </a:tc>
                <a:tc>
                  <a:txBody>
                    <a:bodyPr/>
                    <a:lstStyle/>
                    <a:p>
                      <a:pPr algn="ctr"/>
                      <a:r>
                        <a:rPr sz="800" b="0">
                          <a:solidFill>
                            <a:srgbClr val="1A1A1A"/>
                          </a:solidFill>
                        </a:rPr>
                        <a:t>+1.2%</a:t>
                      </a:r>
                    </a:p>
                  </a:txBody>
                  <a:tcPr>
                    <a:solidFill>
                      <a:srgbClr val="F5F7FA"/>
                    </a:solidFill>
                  </a:tcPr>
                </a:tc>
                <a:tc>
                  <a:txBody>
                    <a:bodyPr/>
                    <a:lstStyle/>
                    <a:p>
                      <a:pPr algn="ctr"/>
                      <a:r>
                        <a:rPr sz="800" b="0">
                          <a:solidFill>
                            <a:srgbClr val="1A1A1A"/>
                          </a:solidFill>
                        </a:rPr>
                        <a:t>—</a:t>
                      </a:r>
                    </a:p>
                  </a:txBody>
                  <a:tcPr>
                    <a:solidFill>
                      <a:srgbClr val="F5F7FA"/>
                    </a:solidFill>
                  </a:tcPr>
                </a:tc>
                <a:tc>
                  <a:txBody>
                    <a:bodyPr/>
                    <a:lstStyle/>
                    <a:p>
                      <a:pPr algn="ctr"/>
                      <a:r>
                        <a:rPr sz="800" b="0">
                          <a:solidFill>
                            <a:srgbClr val="1A1A1A"/>
                          </a:solidFill>
                        </a:rPr>
                        <a:t>—</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Utilities</a:t>
                      </a:r>
                    </a:p>
                  </a:txBody>
                  <a:tcPr>
                    <a:noFill/>
                  </a:tcPr>
                </a:tc>
                <a:tc>
                  <a:txBody>
                    <a:bodyPr/>
                    <a:lstStyle/>
                    <a:p>
                      <a:pPr algn="ctr"/>
                      <a:r>
                        <a:rPr sz="800" b="0">
                          <a:solidFill>
                            <a:srgbClr val="1A1A1A"/>
                          </a:solidFill>
                        </a:rPr>
                        <a:t>36</a:t>
                      </a:r>
                    </a:p>
                  </a:txBody>
                  <a:tcPr>
                    <a:noFill/>
                  </a:tcPr>
                </a:tc>
                <a:tc>
                  <a:txBody>
                    <a:bodyPr/>
                    <a:lstStyle/>
                    <a:p>
                      <a:pPr algn="ctr"/>
                      <a:r>
                        <a:rPr sz="800" b="0">
                          <a:solidFill>
                            <a:srgbClr val="A82020"/>
                          </a:solidFill>
                        </a:rPr>
                        <a:t>Sous-pondérer</a:t>
                      </a:r>
                    </a:p>
                  </a:txBody>
                  <a:tcPr>
                    <a:solidFill>
                      <a:srgbClr val="FBEBEB"/>
                    </a:solidFill>
                  </a:tcPr>
                </a:tc>
                <a:tc>
                  <a:txBody>
                    <a:bodyPr/>
                    <a:lstStyle/>
                    <a:p>
                      <a:pPr algn="ctr"/>
                      <a:r>
                        <a:rPr sz="800" b="0">
                          <a:solidFill>
                            <a:srgbClr val="1A1A1A"/>
                          </a:solidFill>
                        </a:rPr>
                        <a:t>32.4%</a:t>
                      </a:r>
                    </a:p>
                  </a:txBody>
                  <a:tcPr>
                    <a:noFill/>
                  </a:tcPr>
                </a:tc>
                <a:tc>
                  <a:txBody>
                    <a:bodyPr/>
                    <a:lstStyle/>
                    <a:p>
                      <a:pPr algn="ctr"/>
                      <a:r>
                        <a:rPr sz="800" b="0">
                          <a:solidFill>
                            <a:srgbClr val="1A1A1A"/>
                          </a:solidFill>
                        </a:rPr>
                        <a:t>+2.8%</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r>
            </a:tbl>
          </a:graphicData>
        </a:graphic>
      </p:graphicFrame>
      <p:sp>
        <p:nvSpPr>
          <p:cNvPr id="16" name="Rectangle 15"/>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Lecture analytique — Ce que la cartographie révèle</a:t>
            </a:r>
          </a:p>
        </p:txBody>
      </p:sp>
      <p:sp>
        <p:nvSpPr>
          <p:cNvPr id="19" name="TextBox 18"/>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3 secteur(s) sur 11 franchissent le seuil Surpondérer (score &gt; 65) : Technology · Health Care · Financials. 2 secteur(s) en Sous-pondérer : Real Estate · Utilities. 6 secteur(s) en position Neutre. L'écart entre le secteur leader (Technology, score 72/100) et le secteur le plus faible (Utilities, score 36/100) est de 36 points — une dispersion élevée qui témoigne d'une bifurcation sectorielle marquée.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 (EV/EBITDA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Technology en quadrant Premium Justifie — valorisation elevee supportee par forte croissance BPA.
Health Care  ·  Financials : valorisation attractive — croissance correcte,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Révisions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Révisions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Technology</a:t>
                      </a:r>
                    </a:p>
                  </a:txBody>
                  <a:tcPr>
                    <a:noFill/>
                  </a:tcPr>
                </a:tc>
                <a:tc>
                  <a:txBody>
                    <a:bodyPr/>
                    <a:lstStyle/>
                    <a:p>
                      <a:pPr algn="ctr"/>
                      <a:r>
                        <a:rPr sz="800" b="0">
                          <a:solidFill>
                            <a:srgbClr val="1A1A1A"/>
                          </a:solidFill>
                        </a:rPr>
                        <a:t>72</a:t>
                      </a:r>
                    </a:p>
                  </a:txBody>
                  <a:tcPr>
                    <a:solidFill>
                      <a:srgbClr val="E8F5EE"/>
                    </a:solidFill>
                  </a:tcPr>
                </a:tc>
                <a:tc>
                  <a:txBody>
                    <a:bodyPr/>
                    <a:lstStyle/>
                    <a:p>
                      <a:pPr algn="ctr"/>
                      <a:r>
                        <a:rPr sz="800" b="0">
                          <a:solidFill>
                            <a:srgbClr val="1A1A1A"/>
                          </a:solidFill>
                        </a:rPr>
                        <a:t>29</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65</a:t>
                      </a:r>
                    </a:p>
                  </a:txBody>
                  <a:tcPr>
                    <a:solidFill>
                      <a:srgbClr val="E8F5EE"/>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Financials</a:t>
                      </a:r>
                    </a:p>
                  </a:txBody>
                  <a:tcPr>
                    <a:noFill/>
                  </a:tcPr>
                </a:tc>
                <a:tc>
                  <a:txBody>
                    <a:bodyPr/>
                    <a:lstStyle/>
                    <a:p>
                      <a:pPr algn="ctr"/>
                      <a:r>
                        <a:rPr sz="800" b="0">
                          <a:solidFill>
                            <a:srgbClr val="1A1A1A"/>
                          </a:solidFill>
                        </a:rPr>
                        <a:t>62</a:t>
                      </a:r>
                    </a:p>
                  </a:txBody>
                  <a:tcPr>
                    <a:solidFill>
                      <a:srgbClr val="FDF3E5"/>
                    </a:solidFill>
                  </a:tcPr>
                </a:tc>
                <a:tc>
                  <a:txBody>
                    <a:bodyPr/>
                    <a:lstStyle/>
                    <a:p>
                      <a:pPr algn="ctr"/>
                      <a:r>
                        <a:rPr sz="800" b="0">
                          <a:solidFill>
                            <a:srgbClr val="1A1A1A"/>
                          </a:solidFill>
                        </a:rPr>
                        <a:t>25</a:t>
                      </a:r>
                    </a:p>
                  </a:txBody>
                  <a:tcPr>
                    <a:noFill/>
                  </a:tcPr>
                </a:tc>
                <a:tc>
                  <a:txBody>
                    <a:bodyPr/>
                    <a:lstStyle/>
                    <a:p>
                      <a:pPr algn="ctr"/>
                      <a:r>
                        <a:rPr sz="800" b="0">
                          <a:solidFill>
                            <a:srgbClr val="1A1A1A"/>
                          </a:solidFill>
                        </a:rPr>
                        <a:t>19</a:t>
                      </a:r>
                    </a:p>
                  </a:txBody>
                  <a:tcPr>
                    <a:noFill/>
                  </a:tcPr>
                </a:tc>
                <a:tc>
                  <a:txBody>
                    <a:bodyPr/>
                    <a:lstStyle/>
                    <a:p>
                      <a:pPr algn="ctr"/>
                      <a:r>
                        <a:rPr sz="800" b="0">
                          <a:solidFill>
                            <a:srgbClr val="1A1A1A"/>
                          </a:solidFill>
                        </a:rPr>
                        <a:t>19</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58</a:t>
                      </a:r>
                    </a:p>
                  </a:txBody>
                  <a:tcPr>
                    <a:solidFill>
                      <a:srgbClr val="FDF3E5"/>
                    </a:solidFill>
                  </a:tcPr>
                </a:tc>
                <a:tc>
                  <a:txBody>
                    <a:bodyPr/>
                    <a:lstStyle/>
                    <a:p>
                      <a:pPr algn="ctr"/>
                      <a:r>
                        <a:rPr sz="800" b="0">
                          <a:solidFill>
                            <a:srgbClr val="1A1A1A"/>
                          </a:solidFill>
                        </a:rPr>
                        <a:t>23</a:t>
                      </a:r>
                    </a:p>
                  </a:txBody>
                  <a:tcPr>
                    <a:solidFill>
                      <a:srgbClr val="F5F7FA"/>
                    </a:solidFill>
                  </a:tcPr>
                </a:tc>
                <a:tc>
                  <a:txBody>
                    <a:bodyPr/>
                    <a:lstStyle/>
                    <a:p>
                      <a:pPr algn="ctr"/>
                      <a:r>
                        <a:rPr sz="800" b="0">
                          <a:solidFill>
                            <a:srgbClr val="1A1A1A"/>
                          </a:solidFill>
                        </a:rPr>
                        <a:t>17</a:t>
                      </a:r>
                    </a:p>
                  </a:txBody>
                  <a:tcPr>
                    <a:solidFill>
                      <a:srgbClr val="F5F7FA"/>
                    </a:solidFill>
                  </a:tcPr>
                </a:tc>
                <a:tc>
                  <a:txBody>
                    <a:bodyPr/>
                    <a:lstStyle/>
                    <a:p>
                      <a:pPr algn="ctr"/>
                      <a:r>
                        <a:rPr sz="800" b="0">
                          <a:solidFill>
                            <a:srgbClr val="1A1A1A"/>
                          </a:solidFill>
                        </a:rPr>
                        <a:t>17</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Discret.</a:t>
                      </a:r>
                    </a:p>
                  </a:txBody>
                  <a:tcPr>
                    <a:noFill/>
                  </a:tcPr>
                </a:tc>
                <a:tc>
                  <a:txBody>
                    <a:bodyPr/>
                    <a:lstStyle/>
                    <a:p>
                      <a:pPr algn="ctr"/>
                      <a:r>
                        <a:rPr sz="800" b="0">
                          <a:solidFill>
                            <a:srgbClr val="1A1A1A"/>
                          </a:solidFill>
                        </a:rPr>
                        <a:t>55</a:t>
                      </a:r>
                    </a:p>
                  </a:txBody>
                  <a:tcPr>
                    <a:solidFill>
                      <a:srgbClr val="FDF3E5"/>
                    </a:solid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53</a:t>
                      </a:r>
                    </a:p>
                  </a:txBody>
                  <a:tcPr>
                    <a:solidFill>
                      <a:srgbClr val="FDF3E5"/>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Staples</a:t>
                      </a:r>
                    </a:p>
                  </a:txBody>
                  <a:tcPr>
                    <a:noFill/>
                  </a:tcPr>
                </a:tc>
                <a:tc>
                  <a:txBody>
                    <a:bodyPr/>
                    <a:lstStyle/>
                    <a:p>
                      <a:pPr algn="ctr"/>
                      <a:r>
                        <a:rPr sz="800" b="0">
                          <a:solidFill>
                            <a:srgbClr val="1A1A1A"/>
                          </a:solidFill>
                        </a:rPr>
                        <a:t>48</a:t>
                      </a:r>
                    </a:p>
                  </a:txBody>
                  <a:tcPr>
                    <a:solidFill>
                      <a:srgbClr val="FDF3E5"/>
                    </a:solidFill>
                  </a:tcPr>
                </a:tc>
                <a:tc>
                  <a:txBody>
                    <a:bodyPr/>
                    <a:lstStyle/>
                    <a:p>
                      <a:pPr algn="ctr"/>
                      <a:r>
                        <a:rPr sz="800" b="0">
                          <a:solidFill>
                            <a:srgbClr val="1A1A1A"/>
                          </a:solidFill>
                        </a:rPr>
                        <a:t>19</a:t>
                      </a:r>
                    </a:p>
                  </a:txBody>
                  <a:tcPr>
                    <a:noFill/>
                  </a:tcPr>
                </a:tc>
                <a:tc>
                  <a:txBody>
                    <a:bodyPr/>
                    <a:lstStyle/>
                    <a:p>
                      <a:pPr algn="ctr"/>
                      <a:r>
                        <a:rPr sz="800" b="0">
                          <a:solidFill>
                            <a:srgbClr val="1A1A1A"/>
                          </a:solidFill>
                        </a:rPr>
                        <a:t>14</a:t>
                      </a:r>
                    </a:p>
                  </a:txBody>
                  <a:tcPr>
                    <a:noFill/>
                  </a:tcPr>
                </a:tc>
                <a:tc>
                  <a:txBody>
                    <a:bodyPr/>
                    <a:lstStyle/>
                    <a:p>
                      <a:pPr algn="ctr"/>
                      <a:r>
                        <a:rPr sz="800" b="0">
                          <a:solidFill>
                            <a:srgbClr val="1A1A1A"/>
                          </a:solidFill>
                        </a:rPr>
                        <a:t>14</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46</a:t>
                      </a:r>
                    </a:p>
                  </a:txBody>
                  <a:tcPr>
                    <a:solidFill>
                      <a:srgbClr val="FDF3E5"/>
                    </a:solidFill>
                  </a:tcPr>
                </a:tc>
                <a:tc>
                  <a:txBody>
                    <a:bodyPr/>
                    <a:lstStyle/>
                    <a:p>
                      <a:pPr algn="ctr"/>
                      <a:r>
                        <a:rPr sz="800" b="0">
                          <a:solidFill>
                            <a:srgbClr val="1A1A1A"/>
                          </a:solidFill>
                        </a:rPr>
                        <a:t>18</a:t>
                      </a:r>
                    </a:p>
                  </a:txBody>
                  <a:tcPr>
                    <a:solidFill>
                      <a:srgbClr val="F5F7FA"/>
                    </a:solidFill>
                  </a:tcPr>
                </a:tc>
                <a:tc>
                  <a:txBody>
                    <a:bodyPr/>
                    <a:lstStyle/>
                    <a:p>
                      <a:pPr algn="ctr"/>
                      <a:r>
                        <a:rPr sz="800" b="0">
                          <a:solidFill>
                            <a:srgbClr val="1A1A1A"/>
                          </a:solidFill>
                        </a:rPr>
                        <a:t>14</a:t>
                      </a:r>
                    </a:p>
                  </a:txBody>
                  <a:tcPr>
                    <a:solidFill>
                      <a:srgbClr val="F5F7FA"/>
                    </a:solidFill>
                  </a:tcPr>
                </a:tc>
                <a:tc>
                  <a:txBody>
                    <a:bodyPr/>
                    <a:lstStyle/>
                    <a:p>
                      <a:pPr algn="ctr"/>
                      <a:r>
                        <a:rPr sz="800" b="0">
                          <a:solidFill>
                            <a:srgbClr val="1A1A1A"/>
                          </a:solidFill>
                        </a:rPr>
                        <a:t>14</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Energy</a:t>
                      </a:r>
                    </a:p>
                  </a:txBody>
                  <a:tcPr>
                    <a:noFill/>
                  </a:tcPr>
                </a:tc>
                <a:tc>
                  <a:txBody>
                    <a:bodyPr/>
                    <a:lstStyle/>
                    <a:p>
                      <a:pPr algn="ctr"/>
                      <a:r>
                        <a:rPr sz="800" b="0">
                          <a:solidFill>
                            <a:srgbClr val="1A1A1A"/>
                          </a:solidFill>
                        </a:rPr>
                        <a:t>44</a:t>
                      </a:r>
                    </a:p>
                  </a:txBody>
                  <a:tcPr>
                    <a:solidFill>
                      <a:srgbClr val="FBEBEB"/>
                    </a:solidFill>
                  </a:tcPr>
                </a:tc>
                <a:tc>
                  <a:txBody>
                    <a:bodyPr/>
                    <a:lstStyle/>
                    <a:p>
                      <a:pPr algn="ctr"/>
                      <a:r>
                        <a:rPr sz="800" b="0">
                          <a:solidFill>
                            <a:srgbClr val="1A1A1A"/>
                          </a:solidFill>
                        </a:rPr>
                        <a:t>18</a:t>
                      </a:r>
                    </a:p>
                  </a:txBody>
                  <a:tcPr>
                    <a:noFill/>
                  </a:tcPr>
                </a:tc>
                <a:tc>
                  <a:txBody>
                    <a:bodyPr/>
                    <a:lstStyle/>
                    <a:p>
                      <a:pPr algn="ctr"/>
                      <a:r>
                        <a:rPr sz="800" b="0">
                          <a:solidFill>
                            <a:srgbClr val="1A1A1A"/>
                          </a:solidFill>
                        </a:rPr>
                        <a:t>13</a:t>
                      </a:r>
                    </a:p>
                  </a:txBody>
                  <a:tcPr>
                    <a:noFill/>
                  </a:tcPr>
                </a:tc>
                <a:tc>
                  <a:txBody>
                    <a:bodyPr/>
                    <a:lstStyle/>
                    <a:p>
                      <a:pPr algn="ctr"/>
                      <a:r>
                        <a:rPr sz="800" b="0">
                          <a:solidFill>
                            <a:srgbClr val="1A1A1A"/>
                          </a:solidFill>
                        </a:rPr>
                        <a:t>13</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38</a:t>
                      </a:r>
                    </a:p>
                  </a:txBody>
                  <a:tcPr>
                    <a:solidFill>
                      <a:srgbClr val="FBEBEB"/>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11</a:t>
                      </a:r>
                    </a:p>
                  </a:txBody>
                  <a:tcPr>
                    <a:solidFill>
                      <a:srgbClr val="F5F7FA"/>
                    </a:solidFill>
                  </a:tcPr>
                </a:tc>
                <a:tc>
                  <a:txBody>
                    <a:bodyPr/>
                    <a:lstStyle/>
                    <a:p>
                      <a:pPr algn="ctr"/>
                      <a:r>
                        <a:rPr sz="800" b="0">
                          <a:solidFill>
                            <a:srgbClr val="1A1A1A"/>
                          </a:solidFill>
                        </a:rPr>
                        <a:t>11</a:t>
                      </a:r>
                    </a:p>
                  </a:txBody>
                  <a:tcPr>
                    <a:solidFill>
                      <a:srgbClr val="F5F7FA"/>
                    </a:solidFill>
                  </a:tcPr>
                </a:tc>
                <a:tc>
                  <a:txBody>
                    <a:bodyPr/>
                    <a:lstStyle/>
                    <a:p>
                      <a:pPr algn="ctr"/>
                      <a:r>
                        <a:rPr sz="800" b="0">
                          <a:solidFill>
                            <a:srgbClr val="A82020"/>
                          </a:solidFill>
                        </a:rPr>
                        <a:t>Sous-pondérer</a:t>
                      </a:r>
                    </a:p>
                  </a:txBody>
                  <a:tcPr>
                    <a:solidFill>
                      <a:srgbClr val="FBEBEB"/>
                    </a:solidFill>
                  </a:tcPr>
                </a:tc>
              </a:tr>
              <a:tr h="210000">
                <a:tc>
                  <a:txBody>
                    <a:bodyPr/>
                    <a:lstStyle/>
                    <a:p>
                      <a:pPr algn="ctr"/>
                      <a:r>
                        <a:rPr sz="800" b="0">
                          <a:solidFill>
                            <a:srgbClr val="1A1A1A"/>
                          </a:solidFill>
                        </a:rPr>
                        <a:t>Utilities</a:t>
                      </a:r>
                    </a:p>
                  </a:txBody>
                  <a:tcPr>
                    <a:noFill/>
                  </a:tcPr>
                </a:tc>
                <a:tc>
                  <a:txBody>
                    <a:bodyPr/>
                    <a:lstStyle/>
                    <a:p>
                      <a:pPr algn="ctr"/>
                      <a:r>
                        <a:rPr sz="800" b="0">
                          <a:solidFill>
                            <a:srgbClr val="1A1A1A"/>
                          </a:solidFill>
                        </a:rPr>
                        <a:t>36</a:t>
                      </a:r>
                    </a:p>
                  </a:txBody>
                  <a:tcPr>
                    <a:solidFill>
                      <a:srgbClr val="FBEBEB"/>
                    </a:solidFill>
                  </a:tcPr>
                </a:tc>
                <a:tc>
                  <a:txBody>
                    <a:bodyPr/>
                    <a:lstStyle/>
                    <a:p>
                      <a:pPr algn="ctr"/>
                      <a:r>
                        <a:rPr sz="800" b="0">
                          <a:solidFill>
                            <a:srgbClr val="1A1A1A"/>
                          </a:solidFill>
                        </a:rPr>
                        <a:t>14</a:t>
                      </a:r>
                    </a:p>
                  </a:txBody>
                  <a:tcPr>
                    <a:noFill/>
                  </a:tcPr>
                </a:tc>
                <a:tc>
                  <a:txBody>
                    <a:bodyPr/>
                    <a:lstStyle/>
                    <a:p>
                      <a:pPr algn="ctr"/>
                      <a:r>
                        <a:rPr sz="800" b="0">
                          <a:solidFill>
                            <a:srgbClr val="1A1A1A"/>
                          </a:solidFill>
                        </a:rPr>
                        <a:t>11</a:t>
                      </a:r>
                    </a:p>
                  </a:txBody>
                  <a:tcPr>
                    <a:noFill/>
                  </a:tcPr>
                </a:tc>
                <a:tc>
                  <a:txBody>
                    <a:bodyPr/>
                    <a:lstStyle/>
                    <a:p>
                      <a:pPr algn="ctr"/>
                      <a:r>
                        <a:rPr sz="800" b="0">
                          <a:solidFill>
                            <a:srgbClr val="1A1A1A"/>
                          </a:solidFill>
                        </a:rPr>
                        <a:t>11</a:t>
                      </a:r>
                    </a:p>
                  </a:txBody>
                  <a:tcPr>
                    <a:noFill/>
                  </a:tcPr>
                </a:tc>
                <a:tc>
                  <a:txBody>
                    <a:bodyPr/>
                    <a:lstStyle/>
                    <a:p>
                      <a:pPr algn="ctr"/>
                      <a:r>
                        <a:rPr sz="800" b="0">
                          <a:solidFill>
                            <a:srgbClr val="A82020"/>
                          </a:solidFill>
                        </a:rPr>
                        <a:t>Sous-pondérer</a:t>
                      </a:r>
                    </a:p>
                  </a:txBody>
                  <a:tcPr>
                    <a:solidFill>
                      <a:srgbClr val="FBEBEB"/>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Technology domine avec le score le plus élevé. Le momentum (29 pts) constitue le premier signal de confirmation. Les secteurs en vert sur les 3 dimensions offrent le meilleur profil composite. Croiser avec la valorisation relative pour identifier les meilleures opportunités d'entrée.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signal · Sociétés représentatives · Zone d'entrée · Allocation Markowitz</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Surpondérer  ·  Signal · Score · EV/EBITDA · Sociétés représentatives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Technology</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72/100  ·  EV/EBITDA : 24.8x</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684000" cy="198000"/>
          </a:xfrm>
          <a:prstGeom prst="rect">
            <a:avLst/>
          </a:prstGeom>
          <a:noFill/>
        </p:spPr>
        <p:txBody>
          <a:bodyPr wrap="square">
            <a:spAutoFit/>
          </a:bodyPr>
          <a:lstStyle/>
          <a:p>
            <a:pPr algn="l"/>
            <a:r>
              <a:rPr sz="800" b="1" i="0">
                <a:solidFill>
                  <a:srgbClr val="1B3A6B"/>
                </a:solidFill>
              </a:rPr>
              <a:t>AAPL</a:t>
            </a:r>
          </a:p>
        </p:txBody>
      </p:sp>
      <p:sp>
        <p:nvSpPr>
          <p:cNvPr id="24" name="TextBox 23"/>
          <p:cNvSpPr txBox="1"/>
          <p:nvPr/>
        </p:nvSpPr>
        <p:spPr>
          <a:xfrm>
            <a:off x="1152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692000" y="1620000"/>
            <a:ext cx="540000" cy="198000"/>
          </a:xfrm>
          <a:prstGeom prst="rect">
            <a:avLst/>
          </a:prstGeom>
          <a:noFill/>
        </p:spPr>
        <p:txBody>
          <a:bodyPr wrap="square">
            <a:spAutoFit/>
          </a:bodyPr>
          <a:lstStyle/>
          <a:p>
            <a:pPr algn="l"/>
            <a:r>
              <a:rPr sz="800" b="0" i="0">
                <a:solidFill>
                  <a:srgbClr val="555555"/>
                </a:solidFill>
              </a:rPr>
              <a:t>22.4x</a:t>
            </a:r>
          </a:p>
        </p:txBody>
      </p:sp>
      <p:sp>
        <p:nvSpPr>
          <p:cNvPr id="26" name="TextBox 25"/>
          <p:cNvSpPr txBox="1"/>
          <p:nvPr/>
        </p:nvSpPr>
        <p:spPr>
          <a:xfrm>
            <a:off x="2232000" y="1620000"/>
            <a:ext cx="540000" cy="198000"/>
          </a:xfrm>
          <a:prstGeom prst="rect">
            <a:avLst/>
          </a:prstGeom>
          <a:noFill/>
        </p:spPr>
        <p:txBody>
          <a:bodyPr wrap="square">
            <a:spAutoFit/>
          </a:bodyPr>
          <a:lstStyle/>
          <a:p>
            <a:pPr algn="l"/>
            <a:r>
              <a:rPr sz="800" b="0" i="0">
                <a:solidFill>
                  <a:srgbClr val="555555"/>
                </a:solidFill>
              </a:rPr>
              <a:t>78</a:t>
            </a:r>
          </a:p>
        </p:txBody>
      </p:sp>
      <p:sp>
        <p:nvSpPr>
          <p:cNvPr id="27" name="Rectangle 26"/>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000" y="1915200"/>
            <a:ext cx="684000" cy="198000"/>
          </a:xfrm>
          <a:prstGeom prst="rect">
            <a:avLst/>
          </a:prstGeom>
          <a:noFill/>
        </p:spPr>
        <p:txBody>
          <a:bodyPr wrap="square">
            <a:spAutoFit/>
          </a:bodyPr>
          <a:lstStyle/>
          <a:p>
            <a:pPr algn="l"/>
            <a:r>
              <a:rPr sz="800" b="1" i="0">
                <a:solidFill>
                  <a:srgbClr val="1B3A6B"/>
                </a:solidFill>
              </a:rPr>
              <a:t>MSFT</a:t>
            </a:r>
          </a:p>
        </p:txBody>
      </p:sp>
      <p:sp>
        <p:nvSpPr>
          <p:cNvPr id="29" name="TextBox 28"/>
          <p:cNvSpPr txBox="1"/>
          <p:nvPr/>
        </p:nvSpPr>
        <p:spPr>
          <a:xfrm>
            <a:off x="1152000" y="1915200"/>
            <a:ext cx="540000" cy="198000"/>
          </a:xfrm>
          <a:prstGeom prst="rect">
            <a:avLst/>
          </a:prstGeom>
          <a:noFill/>
        </p:spPr>
        <p:txBody>
          <a:bodyPr wrap="square">
            <a:spAutoFit/>
          </a:bodyPr>
          <a:lstStyle/>
          <a:p>
            <a:pPr algn="l"/>
            <a:r>
              <a:rPr sz="800" b="0" i="0">
                <a:solidFill>
                  <a:srgbClr val="1A7A4A"/>
                </a:solidFill>
              </a:rPr>
              <a:t>Surp.</a:t>
            </a:r>
          </a:p>
        </p:txBody>
      </p:sp>
      <p:sp>
        <p:nvSpPr>
          <p:cNvPr id="30" name="TextBox 29"/>
          <p:cNvSpPr txBox="1"/>
          <p:nvPr/>
        </p:nvSpPr>
        <p:spPr>
          <a:xfrm>
            <a:off x="1692000" y="1915200"/>
            <a:ext cx="540000" cy="198000"/>
          </a:xfrm>
          <a:prstGeom prst="rect">
            <a:avLst/>
          </a:prstGeom>
          <a:noFill/>
        </p:spPr>
        <p:txBody>
          <a:bodyPr wrap="square">
            <a:spAutoFit/>
          </a:bodyPr>
          <a:lstStyle/>
          <a:p>
            <a:pPr algn="l"/>
            <a:r>
              <a:rPr sz="800" b="0" i="0">
                <a:solidFill>
                  <a:srgbClr val="555555"/>
                </a:solidFill>
              </a:rPr>
              <a:t>28.6x</a:t>
            </a:r>
          </a:p>
        </p:txBody>
      </p:sp>
      <p:sp>
        <p:nvSpPr>
          <p:cNvPr id="31" name="TextBox 30"/>
          <p:cNvSpPr txBox="1"/>
          <p:nvPr/>
        </p:nvSpPr>
        <p:spPr>
          <a:xfrm>
            <a:off x="2232000" y="1915200"/>
            <a:ext cx="540000" cy="198000"/>
          </a:xfrm>
          <a:prstGeom prst="rect">
            <a:avLst/>
          </a:prstGeom>
          <a:noFill/>
        </p:spPr>
        <p:txBody>
          <a:bodyPr wrap="square">
            <a:spAutoFit/>
          </a:bodyPr>
          <a:lstStyle/>
          <a:p>
            <a:pPr algn="l"/>
            <a:r>
              <a:rPr sz="800" b="0" i="0">
                <a:solidFill>
                  <a:srgbClr val="555555"/>
                </a:solidFill>
              </a:rPr>
              <a:t>75</a:t>
            </a:r>
          </a:p>
        </p:txBody>
      </p:sp>
      <p:sp>
        <p:nvSpPr>
          <p:cNvPr id="32" name="Rectangle 31"/>
          <p:cNvSpPr/>
          <p:nvPr/>
        </p:nvSpPr>
        <p:spPr>
          <a:xfrm>
            <a:off x="396000"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8000" y="2210400"/>
            <a:ext cx="684000" cy="198000"/>
          </a:xfrm>
          <a:prstGeom prst="rect">
            <a:avLst/>
          </a:prstGeom>
          <a:noFill/>
        </p:spPr>
        <p:txBody>
          <a:bodyPr wrap="square">
            <a:spAutoFit/>
          </a:bodyPr>
          <a:lstStyle/>
          <a:p>
            <a:pPr algn="l"/>
            <a:r>
              <a:rPr sz="800" b="1" i="0">
                <a:solidFill>
                  <a:srgbClr val="1B3A6B"/>
                </a:solidFill>
              </a:rPr>
              <a:t>NVDA</a:t>
            </a:r>
          </a:p>
        </p:txBody>
      </p:sp>
      <p:sp>
        <p:nvSpPr>
          <p:cNvPr id="34" name="TextBox 33"/>
          <p:cNvSpPr txBox="1"/>
          <p:nvPr/>
        </p:nvSpPr>
        <p:spPr>
          <a:xfrm>
            <a:off x="1152000" y="2210400"/>
            <a:ext cx="540000" cy="198000"/>
          </a:xfrm>
          <a:prstGeom prst="rect">
            <a:avLst/>
          </a:prstGeom>
          <a:noFill/>
        </p:spPr>
        <p:txBody>
          <a:bodyPr wrap="square">
            <a:spAutoFit/>
          </a:bodyPr>
          <a:lstStyle/>
          <a:p>
            <a:pPr algn="l"/>
            <a:r>
              <a:rPr sz="800" b="0" i="0">
                <a:solidFill>
                  <a:srgbClr val="1A7A4A"/>
                </a:solidFill>
              </a:rPr>
              <a:t>Surp.</a:t>
            </a:r>
          </a:p>
        </p:txBody>
      </p:sp>
      <p:sp>
        <p:nvSpPr>
          <p:cNvPr id="35" name="TextBox 34"/>
          <p:cNvSpPr txBox="1"/>
          <p:nvPr/>
        </p:nvSpPr>
        <p:spPr>
          <a:xfrm>
            <a:off x="1692000" y="2210400"/>
            <a:ext cx="540000" cy="198000"/>
          </a:xfrm>
          <a:prstGeom prst="rect">
            <a:avLst/>
          </a:prstGeom>
          <a:noFill/>
        </p:spPr>
        <p:txBody>
          <a:bodyPr wrap="square">
            <a:spAutoFit/>
          </a:bodyPr>
          <a:lstStyle/>
          <a:p>
            <a:pPr algn="l"/>
            <a:r>
              <a:rPr sz="800" b="0" i="0">
                <a:solidFill>
                  <a:srgbClr val="555555"/>
                </a:solidFill>
              </a:rPr>
              <a:t>42.8x</a:t>
            </a:r>
          </a:p>
        </p:txBody>
      </p:sp>
      <p:sp>
        <p:nvSpPr>
          <p:cNvPr id="36" name="TextBox 35"/>
          <p:cNvSpPr txBox="1"/>
          <p:nvPr/>
        </p:nvSpPr>
        <p:spPr>
          <a:xfrm>
            <a:off x="2232000" y="2210400"/>
            <a:ext cx="540000" cy="198000"/>
          </a:xfrm>
          <a:prstGeom prst="rect">
            <a:avLst/>
          </a:prstGeom>
          <a:noFill/>
        </p:spPr>
        <p:txBody>
          <a:bodyPr wrap="square">
            <a:spAutoFit/>
          </a:bodyPr>
          <a:lstStyle/>
          <a:p>
            <a:pPr algn="l"/>
            <a:r>
              <a:rPr sz="800" b="0" i="0">
                <a:solidFill>
                  <a:srgbClr val="555555"/>
                </a:solidFill>
              </a:rPr>
              <a:t>82</a:t>
            </a:r>
          </a:p>
        </p:txBody>
      </p:sp>
      <p:sp>
        <p:nvSpPr>
          <p:cNvPr id="37" name="TextBox 3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8" name="Rectangle 3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Cycle IA — CAPEX hyperscalers +35% YoY, monetisation acceleree</a:t>
            </a:r>
          </a:p>
        </p:txBody>
      </p:sp>
      <p:sp>
        <p:nvSpPr>
          <p:cNvPr id="40" name="TextBox 3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1" name="Rectangle 4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Valorisations tendues si taux LT restent eleves</a:t>
            </a:r>
          </a:p>
        </p:txBody>
      </p:sp>
      <p:sp>
        <p:nvSpPr>
          <p:cNvPr id="43" name="Rectangle 4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Health Care</a:t>
            </a:r>
          </a:p>
        </p:txBody>
      </p:sp>
      <p:sp>
        <p:nvSpPr>
          <p:cNvPr id="46" name="Rectangle 4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8" name="TextBox 4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65/100  ·  EV/EBITDA : 14.2x</a:t>
            </a:r>
          </a:p>
        </p:txBody>
      </p:sp>
      <p:sp>
        <p:nvSpPr>
          <p:cNvPr id="49" name="TextBox 4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50" name="Rectangle 4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94000" y="1620000"/>
            <a:ext cx="684000" cy="198000"/>
          </a:xfrm>
          <a:prstGeom prst="rect">
            <a:avLst/>
          </a:prstGeom>
          <a:noFill/>
        </p:spPr>
        <p:txBody>
          <a:bodyPr wrap="square">
            <a:spAutoFit/>
          </a:bodyPr>
          <a:lstStyle/>
          <a:p>
            <a:pPr algn="l"/>
            <a:r>
              <a:rPr sz="800" b="1" i="0">
                <a:solidFill>
                  <a:srgbClr val="1B3A6B"/>
                </a:solidFill>
              </a:rPr>
              <a:t>UNH</a:t>
            </a:r>
          </a:p>
        </p:txBody>
      </p:sp>
      <p:sp>
        <p:nvSpPr>
          <p:cNvPr id="52" name="TextBox 51"/>
          <p:cNvSpPr txBox="1"/>
          <p:nvPr/>
        </p:nvSpPr>
        <p:spPr>
          <a:xfrm>
            <a:off x="3978000" y="1620000"/>
            <a:ext cx="540000" cy="198000"/>
          </a:xfrm>
          <a:prstGeom prst="rect">
            <a:avLst/>
          </a:prstGeom>
          <a:noFill/>
        </p:spPr>
        <p:txBody>
          <a:bodyPr wrap="square">
            <a:spAutoFit/>
          </a:bodyPr>
          <a:lstStyle/>
          <a:p>
            <a:pPr algn="l"/>
            <a:r>
              <a:rPr sz="800" b="0" i="0">
                <a:solidFill>
                  <a:srgbClr val="1A7A4A"/>
                </a:solidFill>
              </a:rPr>
              <a:t>Surp.</a:t>
            </a:r>
          </a:p>
        </p:txBody>
      </p:sp>
      <p:sp>
        <p:nvSpPr>
          <p:cNvPr id="53" name="TextBox 52"/>
          <p:cNvSpPr txBox="1"/>
          <p:nvPr/>
        </p:nvSpPr>
        <p:spPr>
          <a:xfrm>
            <a:off x="4518000" y="1620000"/>
            <a:ext cx="540000" cy="198000"/>
          </a:xfrm>
          <a:prstGeom prst="rect">
            <a:avLst/>
          </a:prstGeom>
          <a:noFill/>
        </p:spPr>
        <p:txBody>
          <a:bodyPr wrap="square">
            <a:spAutoFit/>
          </a:bodyPr>
          <a:lstStyle/>
          <a:p>
            <a:pPr algn="l"/>
            <a:r>
              <a:rPr sz="800" b="0" i="0">
                <a:solidFill>
                  <a:srgbClr val="555555"/>
                </a:solidFill>
              </a:rPr>
              <a:t>10.8x</a:t>
            </a:r>
          </a:p>
        </p:txBody>
      </p:sp>
      <p:sp>
        <p:nvSpPr>
          <p:cNvPr id="54" name="TextBox 53"/>
          <p:cNvSpPr txBox="1"/>
          <p:nvPr/>
        </p:nvSpPr>
        <p:spPr>
          <a:xfrm>
            <a:off x="5058000" y="1620000"/>
            <a:ext cx="540000" cy="198000"/>
          </a:xfrm>
          <a:prstGeom prst="rect">
            <a:avLst/>
          </a:prstGeom>
          <a:noFill/>
        </p:spPr>
        <p:txBody>
          <a:bodyPr wrap="square">
            <a:spAutoFit/>
          </a:bodyPr>
          <a:lstStyle/>
          <a:p>
            <a:pPr algn="l"/>
            <a:r>
              <a:rPr sz="800" b="0" i="0">
                <a:solidFill>
                  <a:srgbClr val="555555"/>
                </a:solidFill>
              </a:rPr>
              <a:t>72</a:t>
            </a:r>
          </a:p>
        </p:txBody>
      </p:sp>
      <p:sp>
        <p:nvSpPr>
          <p:cNvPr id="55" name="Rectangle 54"/>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1915200"/>
            <a:ext cx="684000" cy="198000"/>
          </a:xfrm>
          <a:prstGeom prst="rect">
            <a:avLst/>
          </a:prstGeom>
          <a:noFill/>
        </p:spPr>
        <p:txBody>
          <a:bodyPr wrap="square">
            <a:spAutoFit/>
          </a:bodyPr>
          <a:lstStyle/>
          <a:p>
            <a:pPr algn="l"/>
            <a:r>
              <a:rPr sz="800" b="1" i="0">
                <a:solidFill>
                  <a:srgbClr val="1B3A6B"/>
                </a:solidFill>
              </a:rPr>
              <a:t>LLY</a:t>
            </a:r>
          </a:p>
        </p:txBody>
      </p:sp>
      <p:sp>
        <p:nvSpPr>
          <p:cNvPr id="57" name="TextBox 56"/>
          <p:cNvSpPr txBox="1"/>
          <p:nvPr/>
        </p:nvSpPr>
        <p:spPr>
          <a:xfrm>
            <a:off x="3978000" y="1915200"/>
            <a:ext cx="540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518000" y="1915200"/>
            <a:ext cx="540000" cy="198000"/>
          </a:xfrm>
          <a:prstGeom prst="rect">
            <a:avLst/>
          </a:prstGeom>
          <a:noFill/>
        </p:spPr>
        <p:txBody>
          <a:bodyPr wrap="square">
            <a:spAutoFit/>
          </a:bodyPr>
          <a:lstStyle/>
          <a:p>
            <a:pPr algn="l"/>
            <a:r>
              <a:rPr sz="800" b="0" i="0">
                <a:solidFill>
                  <a:srgbClr val="555555"/>
                </a:solidFill>
              </a:rPr>
              <a:t>28.4x</a:t>
            </a:r>
          </a:p>
        </p:txBody>
      </p:sp>
      <p:sp>
        <p:nvSpPr>
          <p:cNvPr id="59" name="TextBox 58"/>
          <p:cNvSpPr txBox="1"/>
          <p:nvPr/>
        </p:nvSpPr>
        <p:spPr>
          <a:xfrm>
            <a:off x="5058000" y="1915200"/>
            <a:ext cx="540000" cy="198000"/>
          </a:xfrm>
          <a:prstGeom prst="rect">
            <a:avLst/>
          </a:prstGeom>
          <a:noFill/>
        </p:spPr>
        <p:txBody>
          <a:bodyPr wrap="square">
            <a:spAutoFit/>
          </a:bodyPr>
          <a:lstStyle/>
          <a:p>
            <a:pPr algn="l"/>
            <a:r>
              <a:rPr sz="800" b="0" i="0">
                <a:solidFill>
                  <a:srgbClr val="555555"/>
                </a:solidFill>
              </a:rPr>
              <a:t>80</a:t>
            </a:r>
          </a:p>
        </p:txBody>
      </p:sp>
      <p:sp>
        <p:nvSpPr>
          <p:cNvPr id="60" name="Rectangle 59"/>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94000" y="2210400"/>
            <a:ext cx="684000" cy="198000"/>
          </a:xfrm>
          <a:prstGeom prst="rect">
            <a:avLst/>
          </a:prstGeom>
          <a:noFill/>
        </p:spPr>
        <p:txBody>
          <a:bodyPr wrap="square">
            <a:spAutoFit/>
          </a:bodyPr>
          <a:lstStyle/>
          <a:p>
            <a:pPr algn="l"/>
            <a:r>
              <a:rPr sz="800" b="1" i="0">
                <a:solidFill>
                  <a:srgbClr val="1B3A6B"/>
                </a:solidFill>
              </a:rPr>
              <a:t>JNJ</a:t>
            </a:r>
          </a:p>
        </p:txBody>
      </p:sp>
      <p:sp>
        <p:nvSpPr>
          <p:cNvPr id="62" name="TextBox 61"/>
          <p:cNvSpPr txBox="1"/>
          <p:nvPr/>
        </p:nvSpPr>
        <p:spPr>
          <a:xfrm>
            <a:off x="3978000" y="2210400"/>
            <a:ext cx="540000" cy="198000"/>
          </a:xfrm>
          <a:prstGeom prst="rect">
            <a:avLst/>
          </a:prstGeom>
          <a:noFill/>
        </p:spPr>
        <p:txBody>
          <a:bodyPr wrap="square">
            <a:spAutoFit/>
          </a:bodyPr>
          <a:lstStyle/>
          <a:p>
            <a:pPr algn="l"/>
            <a:r>
              <a:rPr sz="800" b="0" i="0">
                <a:solidFill>
                  <a:srgbClr val="B06000"/>
                </a:solidFill>
              </a:rPr>
              <a:t>Neutre</a:t>
            </a:r>
          </a:p>
        </p:txBody>
      </p:sp>
      <p:sp>
        <p:nvSpPr>
          <p:cNvPr id="63" name="TextBox 62"/>
          <p:cNvSpPr txBox="1"/>
          <p:nvPr/>
        </p:nvSpPr>
        <p:spPr>
          <a:xfrm>
            <a:off x="4518000" y="2210400"/>
            <a:ext cx="540000" cy="198000"/>
          </a:xfrm>
          <a:prstGeom prst="rect">
            <a:avLst/>
          </a:prstGeom>
          <a:noFill/>
        </p:spPr>
        <p:txBody>
          <a:bodyPr wrap="square">
            <a:spAutoFit/>
          </a:bodyPr>
          <a:lstStyle/>
          <a:p>
            <a:pPr algn="l"/>
            <a:r>
              <a:rPr sz="800" b="0" i="0">
                <a:solidFill>
                  <a:srgbClr val="555555"/>
                </a:solidFill>
              </a:rPr>
              <a:t>12.6x</a:t>
            </a:r>
          </a:p>
        </p:txBody>
      </p:sp>
      <p:sp>
        <p:nvSpPr>
          <p:cNvPr id="64" name="TextBox 63"/>
          <p:cNvSpPr txBox="1"/>
          <p:nvPr/>
        </p:nvSpPr>
        <p:spPr>
          <a:xfrm>
            <a:off x="5058000" y="2210400"/>
            <a:ext cx="540000" cy="198000"/>
          </a:xfrm>
          <a:prstGeom prst="rect">
            <a:avLst/>
          </a:prstGeom>
          <a:noFill/>
        </p:spPr>
        <p:txBody>
          <a:bodyPr wrap="square">
            <a:spAutoFit/>
          </a:bodyPr>
          <a:lstStyle/>
          <a:p>
            <a:pPr algn="l"/>
            <a:r>
              <a:rPr sz="800" b="0" i="0">
                <a:solidFill>
                  <a:srgbClr val="555555"/>
                </a:solidFill>
              </a:rPr>
              <a:t>62</a:t>
            </a:r>
          </a:p>
        </p:txBody>
      </p:sp>
      <p:sp>
        <p:nvSpPr>
          <p:cNvPr id="65" name="TextBox 6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6" name="Rectangle 6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Pipeline FDA robuste, pricing power defensif intact</a:t>
            </a:r>
          </a:p>
        </p:txBody>
      </p:sp>
      <p:sp>
        <p:nvSpPr>
          <p:cNvPr id="68" name="TextBox 6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9" name="Rectangle 6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reglementaire US — pression politique sur prix medicaments</a:t>
            </a:r>
          </a:p>
        </p:txBody>
      </p:sp>
      <p:sp>
        <p:nvSpPr>
          <p:cNvPr id="71" name="Rectangle 7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Financials</a:t>
            </a:r>
          </a:p>
        </p:txBody>
      </p:sp>
      <p:sp>
        <p:nvSpPr>
          <p:cNvPr id="74" name="Rectangle 7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76" name="TextBox 7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62/100  ·  EV/EBITDA : 9.8x</a:t>
            </a:r>
          </a:p>
        </p:txBody>
      </p:sp>
      <p:sp>
        <p:nvSpPr>
          <p:cNvPr id="77" name="TextBox 7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78" name="Rectangle 7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119999" y="1620000"/>
            <a:ext cx="684000" cy="198000"/>
          </a:xfrm>
          <a:prstGeom prst="rect">
            <a:avLst/>
          </a:prstGeom>
          <a:noFill/>
        </p:spPr>
        <p:txBody>
          <a:bodyPr wrap="square">
            <a:spAutoFit/>
          </a:bodyPr>
          <a:lstStyle/>
          <a:p>
            <a:pPr algn="l"/>
            <a:r>
              <a:rPr sz="800" b="1" i="0">
                <a:solidFill>
                  <a:srgbClr val="1B3A6B"/>
                </a:solidFill>
              </a:rPr>
              <a:t>JPM</a:t>
            </a:r>
          </a:p>
        </p:txBody>
      </p:sp>
      <p:sp>
        <p:nvSpPr>
          <p:cNvPr id="80" name="TextBox 79"/>
          <p:cNvSpPr txBox="1"/>
          <p:nvPr/>
        </p:nvSpPr>
        <p:spPr>
          <a:xfrm>
            <a:off x="6803999" y="1620000"/>
            <a:ext cx="540000" cy="198000"/>
          </a:xfrm>
          <a:prstGeom prst="rect">
            <a:avLst/>
          </a:prstGeom>
          <a:noFill/>
        </p:spPr>
        <p:txBody>
          <a:bodyPr wrap="square">
            <a:spAutoFit/>
          </a:bodyPr>
          <a:lstStyle/>
          <a:p>
            <a:pPr algn="l"/>
            <a:r>
              <a:rPr sz="800" b="0" i="0">
                <a:solidFill>
                  <a:srgbClr val="1A7A4A"/>
                </a:solidFill>
              </a:rPr>
              <a:t>Surp.</a:t>
            </a:r>
          </a:p>
        </p:txBody>
      </p:sp>
      <p:sp>
        <p:nvSpPr>
          <p:cNvPr id="81" name="TextBox 80"/>
          <p:cNvSpPr txBox="1"/>
          <p:nvPr/>
        </p:nvSpPr>
        <p:spPr>
          <a:xfrm>
            <a:off x="7343999" y="1620000"/>
            <a:ext cx="540000" cy="198000"/>
          </a:xfrm>
          <a:prstGeom prst="rect">
            <a:avLst/>
          </a:prstGeom>
          <a:noFill/>
        </p:spPr>
        <p:txBody>
          <a:bodyPr wrap="square">
            <a:spAutoFit/>
          </a:bodyPr>
          <a:lstStyle/>
          <a:p>
            <a:pPr algn="l"/>
            <a:r>
              <a:rPr sz="800" b="0" i="0">
                <a:solidFill>
                  <a:srgbClr val="555555"/>
                </a:solidFill>
              </a:rPr>
              <a:t>8.4x</a:t>
            </a:r>
          </a:p>
        </p:txBody>
      </p:sp>
      <p:sp>
        <p:nvSpPr>
          <p:cNvPr id="82" name="TextBox 81"/>
          <p:cNvSpPr txBox="1"/>
          <p:nvPr/>
        </p:nvSpPr>
        <p:spPr>
          <a:xfrm>
            <a:off x="7883999" y="1620000"/>
            <a:ext cx="540000" cy="198000"/>
          </a:xfrm>
          <a:prstGeom prst="rect">
            <a:avLst/>
          </a:prstGeom>
          <a:noFill/>
        </p:spPr>
        <p:txBody>
          <a:bodyPr wrap="square">
            <a:spAutoFit/>
          </a:bodyPr>
          <a:lstStyle/>
          <a:p>
            <a:pPr algn="l"/>
            <a:r>
              <a:rPr sz="800" b="0" i="0">
                <a:solidFill>
                  <a:srgbClr val="555555"/>
                </a:solidFill>
              </a:rPr>
              <a:t>70</a:t>
            </a:r>
          </a:p>
        </p:txBody>
      </p:sp>
      <p:sp>
        <p:nvSpPr>
          <p:cNvPr id="83" name="Rectangle 82"/>
          <p:cNvSpPr/>
          <p:nvPr/>
        </p:nvSpPr>
        <p:spPr>
          <a:xfrm>
            <a:off x="6047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19999" y="1915200"/>
            <a:ext cx="684000" cy="198000"/>
          </a:xfrm>
          <a:prstGeom prst="rect">
            <a:avLst/>
          </a:prstGeom>
          <a:noFill/>
        </p:spPr>
        <p:txBody>
          <a:bodyPr wrap="square">
            <a:spAutoFit/>
          </a:bodyPr>
          <a:lstStyle/>
          <a:p>
            <a:pPr algn="l"/>
            <a:r>
              <a:rPr sz="800" b="1" i="0">
                <a:solidFill>
                  <a:srgbClr val="1B3A6B"/>
                </a:solidFill>
              </a:rPr>
              <a:t>BLK</a:t>
            </a:r>
          </a:p>
        </p:txBody>
      </p:sp>
      <p:sp>
        <p:nvSpPr>
          <p:cNvPr id="85" name="TextBox 84"/>
          <p:cNvSpPr txBox="1"/>
          <p:nvPr/>
        </p:nvSpPr>
        <p:spPr>
          <a:xfrm>
            <a:off x="6803999" y="1915200"/>
            <a:ext cx="540000" cy="198000"/>
          </a:xfrm>
          <a:prstGeom prst="rect">
            <a:avLst/>
          </a:prstGeom>
          <a:noFill/>
        </p:spPr>
        <p:txBody>
          <a:bodyPr wrap="square">
            <a:spAutoFit/>
          </a:bodyPr>
          <a:lstStyle/>
          <a:p>
            <a:pPr algn="l"/>
            <a:r>
              <a:rPr sz="800" b="0" i="0">
                <a:solidFill>
                  <a:srgbClr val="1A7A4A"/>
                </a:solidFill>
              </a:rPr>
              <a:t>Surp.</a:t>
            </a:r>
          </a:p>
        </p:txBody>
      </p:sp>
      <p:sp>
        <p:nvSpPr>
          <p:cNvPr id="86" name="TextBox 85"/>
          <p:cNvSpPr txBox="1"/>
          <p:nvPr/>
        </p:nvSpPr>
        <p:spPr>
          <a:xfrm>
            <a:off x="7343999" y="1915200"/>
            <a:ext cx="540000" cy="198000"/>
          </a:xfrm>
          <a:prstGeom prst="rect">
            <a:avLst/>
          </a:prstGeom>
          <a:noFill/>
        </p:spPr>
        <p:txBody>
          <a:bodyPr wrap="square">
            <a:spAutoFit/>
          </a:bodyPr>
          <a:lstStyle/>
          <a:p>
            <a:pPr algn="l"/>
            <a:r>
              <a:rPr sz="800" b="0" i="0">
                <a:solidFill>
                  <a:srgbClr val="555555"/>
                </a:solidFill>
              </a:rPr>
              <a:t>14.2x</a:t>
            </a:r>
          </a:p>
        </p:txBody>
      </p:sp>
      <p:sp>
        <p:nvSpPr>
          <p:cNvPr id="87" name="TextBox 86"/>
          <p:cNvSpPr txBox="1"/>
          <p:nvPr/>
        </p:nvSpPr>
        <p:spPr>
          <a:xfrm>
            <a:off x="7883999" y="1915200"/>
            <a:ext cx="540000" cy="198000"/>
          </a:xfrm>
          <a:prstGeom prst="rect">
            <a:avLst/>
          </a:prstGeom>
          <a:noFill/>
        </p:spPr>
        <p:txBody>
          <a:bodyPr wrap="square">
            <a:spAutoFit/>
          </a:bodyPr>
          <a:lstStyle/>
          <a:p>
            <a:pPr algn="l"/>
            <a:r>
              <a:rPr sz="800" b="0" i="0">
                <a:solidFill>
                  <a:srgbClr val="555555"/>
                </a:solidFill>
              </a:rPr>
              <a:t>68</a:t>
            </a:r>
          </a:p>
        </p:txBody>
      </p:sp>
      <p:sp>
        <p:nvSpPr>
          <p:cNvPr id="88" name="Rectangle 87"/>
          <p:cNvSpPr/>
          <p:nvPr/>
        </p:nvSpPr>
        <p:spPr>
          <a:xfrm>
            <a:off x="6047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119999" y="2210400"/>
            <a:ext cx="684000" cy="198000"/>
          </a:xfrm>
          <a:prstGeom prst="rect">
            <a:avLst/>
          </a:prstGeom>
          <a:noFill/>
        </p:spPr>
        <p:txBody>
          <a:bodyPr wrap="square">
            <a:spAutoFit/>
          </a:bodyPr>
          <a:lstStyle/>
          <a:p>
            <a:pPr algn="l"/>
            <a:r>
              <a:rPr sz="800" b="1" i="0">
                <a:solidFill>
                  <a:srgbClr val="1B3A6B"/>
                </a:solidFill>
              </a:rPr>
              <a:t>GS</a:t>
            </a:r>
          </a:p>
        </p:txBody>
      </p:sp>
      <p:sp>
        <p:nvSpPr>
          <p:cNvPr id="90" name="TextBox 89"/>
          <p:cNvSpPr txBox="1"/>
          <p:nvPr/>
        </p:nvSpPr>
        <p:spPr>
          <a:xfrm>
            <a:off x="6803999" y="2210400"/>
            <a:ext cx="540000" cy="198000"/>
          </a:xfrm>
          <a:prstGeom prst="rect">
            <a:avLst/>
          </a:prstGeom>
          <a:noFill/>
        </p:spPr>
        <p:txBody>
          <a:bodyPr wrap="square">
            <a:spAutoFit/>
          </a:bodyPr>
          <a:lstStyle/>
          <a:p>
            <a:pPr algn="l"/>
            <a:r>
              <a:rPr sz="800" b="0" i="0">
                <a:solidFill>
                  <a:srgbClr val="B06000"/>
                </a:solidFill>
              </a:rPr>
              <a:t>Neutre</a:t>
            </a:r>
          </a:p>
        </p:txBody>
      </p:sp>
      <p:sp>
        <p:nvSpPr>
          <p:cNvPr id="91" name="TextBox 90"/>
          <p:cNvSpPr txBox="1"/>
          <p:nvPr/>
        </p:nvSpPr>
        <p:spPr>
          <a:xfrm>
            <a:off x="7343999" y="2210400"/>
            <a:ext cx="540000" cy="198000"/>
          </a:xfrm>
          <a:prstGeom prst="rect">
            <a:avLst/>
          </a:prstGeom>
          <a:noFill/>
        </p:spPr>
        <p:txBody>
          <a:bodyPr wrap="square">
            <a:spAutoFit/>
          </a:bodyPr>
          <a:lstStyle/>
          <a:p>
            <a:pPr algn="l"/>
            <a:r>
              <a:rPr sz="800" b="0" i="0">
                <a:solidFill>
                  <a:srgbClr val="555555"/>
                </a:solidFill>
              </a:rPr>
              <a:t>9.8x</a:t>
            </a:r>
          </a:p>
        </p:txBody>
      </p:sp>
      <p:sp>
        <p:nvSpPr>
          <p:cNvPr id="92" name="TextBox 91"/>
          <p:cNvSpPr txBox="1"/>
          <p:nvPr/>
        </p:nvSpPr>
        <p:spPr>
          <a:xfrm>
            <a:off x="7883999" y="2210400"/>
            <a:ext cx="540000" cy="198000"/>
          </a:xfrm>
          <a:prstGeom prst="rect">
            <a:avLst/>
          </a:prstGeom>
          <a:noFill/>
        </p:spPr>
        <p:txBody>
          <a:bodyPr wrap="square">
            <a:spAutoFit/>
          </a:bodyPr>
          <a:lstStyle/>
          <a:p>
            <a:pPr algn="l"/>
            <a:r>
              <a:rPr sz="800" b="0" i="0">
                <a:solidFill>
                  <a:srgbClr val="555555"/>
                </a:solidFill>
              </a:rPr>
              <a:t>60</a:t>
            </a:r>
          </a:p>
        </p:txBody>
      </p:sp>
      <p:sp>
        <p:nvSpPr>
          <p:cNvPr id="93" name="TextBox 9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94" name="Rectangle 9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Spreads de credit solides, NIM eleves, buybacks soutenus</a:t>
            </a:r>
          </a:p>
        </p:txBody>
      </p:sp>
      <p:sp>
        <p:nvSpPr>
          <p:cNvPr id="96" name="TextBox 9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97" name="Rectangle 9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Stress immobilier commercial — CRE loans sous surveillance</a:t>
            </a:r>
          </a:p>
        </p:txBody>
      </p:sp>
      <p:sp>
        <p:nvSpPr>
          <p:cNvPr id="99" name="Rectangle 9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Allocation Optimale — Markowitz</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Min-Variance · Tangency (Max Sharpe) · Equal Risk Contribution  ·  ETF SPDR sectoriels 52S</a:t>
            </a:r>
          </a:p>
        </p:txBody>
      </p:sp>
      <p:sp>
        <p:nvSpPr>
          <p:cNvPr id="15" name="Rectangle 14"/>
          <p:cNvSpPr/>
          <p:nvPr/>
        </p:nvSpPr>
        <p:spPr>
          <a:xfrm>
            <a:off x="324000" y="9000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8280000" cy="251999"/>
          </a:xfrm>
          <a:prstGeom prst="rect">
            <a:avLst/>
          </a:prstGeom>
          <a:noFill/>
        </p:spPr>
        <p:txBody>
          <a:bodyPr wrap="square">
            <a:spAutoFit/>
          </a:bodyPr>
          <a:lstStyle/>
          <a:p>
            <a:pPr algn="l"/>
            <a:r>
              <a:rPr sz="1100" b="1" i="0">
                <a:solidFill>
                  <a:srgbClr val="1B3A6B"/>
                </a:solidFill>
              </a:rPr>
              <a:t>Optimisation non disponible pour cet indice</a:t>
            </a:r>
          </a:p>
        </p:txBody>
      </p:sp>
      <p:sp>
        <p:nvSpPr>
          <p:cNvPr id="18" name="TextBox 17"/>
          <p:cNvSpPr txBox="1"/>
          <p:nvPr/>
        </p:nvSpPr>
        <p:spPr>
          <a:xfrm>
            <a:off x="432000" y="1224000"/>
            <a:ext cx="8280000" cy="1188000"/>
          </a:xfrm>
          <a:prstGeom prst="rect">
            <a:avLst/>
          </a:prstGeom>
          <a:noFill/>
        </p:spPr>
        <p:txBody>
          <a:bodyPr wrap="square">
            <a:spAutoFit/>
          </a:bodyPr>
          <a:lstStyle/>
          <a:p>
            <a:pPr algn="l"/>
            <a:r>
              <a:rPr sz="900" b="0" i="0">
                <a:solidFill>
                  <a:srgbClr val="555555"/>
                </a:solidFill>
              </a:rPr>
              <a:t>L'optimisation de portefeuille Markowitz repose sur les ETF SPDR sectoriels (XLK, XLV, XLF...) qui ne couvrent que le marche US (S&amp;P 500). Pour les indices europeens (CAC 40, DAX, Euro Stoxx), les proxies sectoriels equivalents ne sont pas disponibles via yfinance. L'optimisation est donc calculee uniquement lors d'une analyse S&amp;P 500.</a:t>
            </a:r>
          </a:p>
        </p:txBody>
      </p:sp>
      <p:sp>
        <p:nvSpPr>
          <p:cNvPr id="19" name="Rectangle 18"/>
          <p:cNvSpPr/>
          <p:nvPr/>
        </p:nvSpPr>
        <p:spPr>
          <a:xfrm>
            <a:off x="324000" y="2700000"/>
            <a:ext cx="8496000" cy="21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2718000"/>
            <a:ext cx="8280000" cy="180000"/>
          </a:xfrm>
          <a:prstGeom prst="rect">
            <a:avLst/>
          </a:prstGeom>
          <a:noFill/>
        </p:spPr>
        <p:txBody>
          <a:bodyPr wrap="square">
            <a:spAutoFit/>
          </a:bodyPr>
          <a:lstStyle/>
          <a:p>
            <a:pPr algn="l"/>
            <a:r>
              <a:rPr sz="800" b="1" i="0">
                <a:solidFill>
                  <a:srgbClr val="FFFFFF"/>
                </a:solidFill>
              </a:rPr>
              <a:t>POSITIONNEMENT SECTORIEL RECOMMANDE (sans optimisation quantitative)</a:t>
            </a:r>
          </a:p>
        </p:txBody>
      </p:sp>
      <p:sp>
        <p:nvSpPr>
          <p:cNvPr id="21" name="Rectangle 20"/>
          <p:cNvSpPr/>
          <p:nvPr/>
        </p:nvSpPr>
        <p:spPr>
          <a:xfrm>
            <a:off x="324000" y="2934000"/>
            <a:ext cx="4104000" cy="14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934000"/>
            <a:ext cx="36000" cy="14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6000" y="2951999"/>
            <a:ext cx="3924000" cy="162000"/>
          </a:xfrm>
          <a:prstGeom prst="rect">
            <a:avLst/>
          </a:prstGeom>
          <a:noFill/>
        </p:spPr>
        <p:txBody>
          <a:bodyPr wrap="square">
            <a:spAutoFit/>
          </a:bodyPr>
          <a:lstStyle/>
          <a:p>
            <a:pPr algn="l"/>
            <a:r>
              <a:rPr sz="750" b="1" i="0">
                <a:solidFill>
                  <a:srgbClr val="1A7A4A"/>
                </a:solidFill>
              </a:rPr>
              <a:t>SURPONDERER</a:t>
            </a:r>
          </a:p>
        </p:txBody>
      </p:sp>
      <p:sp>
        <p:nvSpPr>
          <p:cNvPr id="24" name="TextBox 23"/>
          <p:cNvSpPr txBox="1"/>
          <p:nvPr/>
        </p:nvSpPr>
        <p:spPr>
          <a:xfrm>
            <a:off x="432000" y="3131999"/>
            <a:ext cx="3888000" cy="234000"/>
          </a:xfrm>
          <a:prstGeom prst="rect">
            <a:avLst/>
          </a:prstGeom>
          <a:noFill/>
        </p:spPr>
        <p:txBody>
          <a:bodyPr wrap="square">
            <a:spAutoFit/>
          </a:bodyPr>
          <a:lstStyle/>
          <a:p>
            <a:pPr algn="l"/>
            <a:r>
              <a:rPr sz="800" b="0" i="0">
                <a:solidFill>
                  <a:srgbClr val="555555"/>
                </a:solidFill>
              </a:rPr>
              <a:t>• Technology — score 72/100</a:t>
            </a:r>
          </a:p>
        </p:txBody>
      </p:sp>
      <p:sp>
        <p:nvSpPr>
          <p:cNvPr id="25" name="TextBox 24"/>
          <p:cNvSpPr txBox="1"/>
          <p:nvPr/>
        </p:nvSpPr>
        <p:spPr>
          <a:xfrm>
            <a:off x="432000" y="3401999"/>
            <a:ext cx="3888000" cy="234000"/>
          </a:xfrm>
          <a:prstGeom prst="rect">
            <a:avLst/>
          </a:prstGeom>
          <a:noFill/>
        </p:spPr>
        <p:txBody>
          <a:bodyPr wrap="square">
            <a:spAutoFit/>
          </a:bodyPr>
          <a:lstStyle/>
          <a:p>
            <a:pPr algn="l"/>
            <a:r>
              <a:rPr sz="800" b="0" i="0">
                <a:solidFill>
                  <a:srgbClr val="555555"/>
                </a:solidFill>
              </a:rPr>
              <a:t>• Health Care — score 65/100</a:t>
            </a:r>
          </a:p>
        </p:txBody>
      </p:sp>
      <p:sp>
        <p:nvSpPr>
          <p:cNvPr id="26" name="TextBox 25"/>
          <p:cNvSpPr txBox="1"/>
          <p:nvPr/>
        </p:nvSpPr>
        <p:spPr>
          <a:xfrm>
            <a:off x="432000" y="3671999"/>
            <a:ext cx="3888000" cy="234000"/>
          </a:xfrm>
          <a:prstGeom prst="rect">
            <a:avLst/>
          </a:prstGeom>
          <a:noFill/>
        </p:spPr>
        <p:txBody>
          <a:bodyPr wrap="square">
            <a:spAutoFit/>
          </a:bodyPr>
          <a:lstStyle/>
          <a:p>
            <a:pPr algn="l"/>
            <a:r>
              <a:rPr sz="800" b="0" i="0">
                <a:solidFill>
                  <a:srgbClr val="555555"/>
                </a:solidFill>
              </a:rPr>
              <a:t>• Financials — score 62/100</a:t>
            </a:r>
          </a:p>
        </p:txBody>
      </p:sp>
      <p:sp>
        <p:nvSpPr>
          <p:cNvPr id="27" name="Rectangle 26"/>
          <p:cNvSpPr/>
          <p:nvPr/>
        </p:nvSpPr>
        <p:spPr>
          <a:xfrm>
            <a:off x="4716000" y="2934000"/>
            <a:ext cx="4104000" cy="14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716000" y="2934000"/>
            <a:ext cx="36000" cy="14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88000" y="2951999"/>
            <a:ext cx="3924000" cy="162000"/>
          </a:xfrm>
          <a:prstGeom prst="rect">
            <a:avLst/>
          </a:prstGeom>
          <a:noFill/>
        </p:spPr>
        <p:txBody>
          <a:bodyPr wrap="square">
            <a:spAutoFit/>
          </a:bodyPr>
          <a:lstStyle/>
          <a:p>
            <a:pPr algn="l"/>
            <a:r>
              <a:rPr sz="750" b="1" i="0">
                <a:solidFill>
                  <a:srgbClr val="A82020"/>
                </a:solidFill>
              </a:rPr>
              <a:t>SOUS-PONDERER</a:t>
            </a:r>
          </a:p>
        </p:txBody>
      </p:sp>
      <p:sp>
        <p:nvSpPr>
          <p:cNvPr id="30" name="TextBox 29"/>
          <p:cNvSpPr txBox="1"/>
          <p:nvPr/>
        </p:nvSpPr>
        <p:spPr>
          <a:xfrm>
            <a:off x="4824000" y="3131999"/>
            <a:ext cx="3888000" cy="234000"/>
          </a:xfrm>
          <a:prstGeom prst="rect">
            <a:avLst/>
          </a:prstGeom>
          <a:noFill/>
        </p:spPr>
        <p:txBody>
          <a:bodyPr wrap="square">
            <a:spAutoFit/>
          </a:bodyPr>
          <a:lstStyle/>
          <a:p>
            <a:pPr algn="l"/>
            <a:r>
              <a:rPr sz="800" b="0" i="0">
                <a:solidFill>
                  <a:srgbClr val="555555"/>
                </a:solidFill>
              </a:rPr>
              <a:t>• Real Estate — score 38/100</a:t>
            </a:r>
          </a:p>
        </p:txBody>
      </p:sp>
      <p:sp>
        <p:nvSpPr>
          <p:cNvPr id="31" name="TextBox 30"/>
          <p:cNvSpPr txBox="1"/>
          <p:nvPr/>
        </p:nvSpPr>
        <p:spPr>
          <a:xfrm>
            <a:off x="4824000" y="3401999"/>
            <a:ext cx="3888000" cy="234000"/>
          </a:xfrm>
          <a:prstGeom prst="rect">
            <a:avLst/>
          </a:prstGeom>
          <a:noFill/>
        </p:spPr>
        <p:txBody>
          <a:bodyPr wrap="square">
            <a:spAutoFit/>
          </a:bodyPr>
          <a:lstStyle/>
          <a:p>
            <a:pPr algn="l"/>
            <a:r>
              <a:rPr sz="800" b="0" i="0">
                <a:solidFill>
                  <a:srgbClr val="555555"/>
                </a:solidFill>
              </a:rPr>
              <a:t>• Utilities — score 36/100</a:t>
            </a:r>
          </a:p>
        </p:txBody>
      </p:sp>
      <p:sp>
        <p:nvSpPr>
          <p:cNvPr id="32" name="Rectangle 3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d'Entrée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médiane historique 10 ans  ·  Signal d'entrée Accumuler / Neutre / Alléger</a:t>
            </a:r>
          </a:p>
        </p:txBody>
      </p:sp>
      <p:pic>
        <p:nvPicPr>
          <p:cNvPr id="15" name="Picture 14" descr="image.png"/>
          <p:cNvPicPr>
            <a:picLocks noChangeAspect="1"/>
          </p:cNvPicPr>
          <p:nvPr/>
        </p:nvPicPr>
        <p:blipFill>
          <a:blip r:embed="rId2"/>
          <a:stretch>
            <a:fillRect/>
          </a:stretch>
        </p:blipFill>
        <p:spPr>
          <a:xfrm>
            <a:off x="324000" y="827999"/>
            <a:ext cx="5400000" cy="3780000"/>
          </a:xfrm>
          <a:prstGeom prst="rect">
            <a:avLst/>
          </a:prstGeom>
        </p:spPr>
      </p:pic>
      <p:sp>
        <p:nvSpPr>
          <p:cNvPr id="16" name="Rectangle 15"/>
          <p:cNvSpPr/>
          <p:nvPr/>
        </p:nvSpPr>
        <p:spPr>
          <a:xfrm>
            <a:off x="5868000" y="827999"/>
            <a:ext cx="2916000" cy="37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68000" y="827999"/>
            <a:ext cx="43200" cy="37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64000"/>
            <a:ext cx="2736000" cy="216000"/>
          </a:xfrm>
          <a:prstGeom prst="rect">
            <a:avLst/>
          </a:prstGeom>
          <a:noFill/>
        </p:spPr>
        <p:txBody>
          <a:bodyPr wrap="square">
            <a:spAutoFit/>
          </a:bodyPr>
          <a:lstStyle/>
          <a:p>
            <a:pPr algn="l"/>
            <a:r>
              <a:rPr sz="850" b="1" i="0">
                <a:solidFill>
                  <a:srgbClr val="1B3A6B"/>
                </a:solidFill>
              </a:rPr>
              <a:t>Lecture — Zone d'entrée</a:t>
            </a:r>
          </a:p>
        </p:txBody>
      </p:sp>
      <p:sp>
        <p:nvSpPr>
          <p:cNvPr id="19" name="TextBox 18"/>
          <p:cNvSpPr txBox="1"/>
          <p:nvPr/>
        </p:nvSpPr>
        <p:spPr>
          <a:xfrm>
            <a:off x="5976000" y="1116000"/>
            <a:ext cx="2736000" cy="3420000"/>
          </a:xfrm>
          <a:prstGeom prst="rect">
            <a:avLst/>
          </a:prstGeom>
          <a:noFill/>
        </p:spPr>
        <p:txBody>
          <a:bodyPr wrap="square">
            <a:spAutoFit/>
          </a:bodyPr>
          <a:lstStyle/>
          <a:p>
            <a:pPr algn="l"/>
            <a:r>
              <a:rPr sz="750" b="0" i="0">
                <a:solidFill>
                  <a:srgbClr val="555555"/>
                </a:solidFill>
              </a:rPr>
              <a:t>PE médiane 10 ans : 18.2x
PE Forward indice : 21.5x
Zone d'entrée favorable (PE &lt; mediane) :
Financials
Zone de prudence (PE &gt; mediane +15 %) :
Technology
Methodologie : le PE Forward estime est ancre sur le PE global de l'indice ajuste du score sectoriel (+/- ecart). Les secteurs a gauche de la ligne pointillee (mediane 10 ans) offrent un meilleur point d'entree. Un ecart &gt; +20 % vs la médiane justifie une prudence accrue sur le timing.</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Scénarios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Scénarios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scénarios alternatifs  ·  Conditions d'invalidation du signal Neutre</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Récession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révision BPA -15/-20 %. Signal passerait Sous-pondérer.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prolongé</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géopolitique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géopolitique — spike VIX &gt; 35, rotation défensive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NEUTRE</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DAX40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Économique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DAX40  ·  Phase actuelle : Expansion avancée  ·  Sensibilités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favorisée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Alléger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Alléger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Alléger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Synthèse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avancée, le signal Accumuler se concentre sur les secteurs a forte croissance BPA et pricing power : Technology (IA), Health Care (FDA pipeline), Financials (NIM). Le signal Alléger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Sectoriel Composite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Score proxy dérivé des scores sectoriels  ·  11 secteurs  ·  Signal composite</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composite secteurs</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620000" cy="162000"/>
          </a:xfrm>
          <a:prstGeom prst="rect">
            <a:avLst/>
          </a:prstGeom>
          <a:noFill/>
        </p:spPr>
        <p:txBody>
          <a:bodyPr wrap="square">
            <a:spAutoFit/>
          </a:bodyPr>
          <a:lstStyle/>
          <a:p>
            <a:pPr algn="l"/>
            <a:r>
              <a:rPr sz="850" b="1" i="0">
                <a:solidFill>
                  <a:srgbClr val="FFFFFF"/>
                </a:solidFill>
              </a:rPr>
              <a:t>Surpondérer</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secteurs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62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secteurs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620000" cy="162000"/>
          </a:xfrm>
          <a:prstGeom prst="rect">
            <a:avLst/>
          </a:prstGeom>
          <a:noFill/>
        </p:spPr>
        <p:txBody>
          <a:bodyPr wrap="square">
            <a:spAutoFit/>
          </a:bodyPr>
          <a:lstStyle/>
          <a:p>
            <a:pPr algn="l"/>
            <a:r>
              <a:rPr sz="850" b="1" i="0">
                <a:solidFill>
                  <a:srgbClr val="1A1A1A"/>
                </a:solidFill>
              </a:rPr>
              <a:t>Sous-pondérer</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secteurs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Secteurs leaders / retardataires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Surpondérer :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Sous-pondérer :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Score composite par secteur (dérivé du score quantitatif)</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des ETF Sectoriels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DAX40  ·  ETF sectoriels SPDR/iShares  ·  Indexe a 100 au debut de la periode  ·  Donnees yfinance</a:t>
            </a:r>
          </a:p>
        </p:txBody>
      </p:sp>
      <p:pic>
        <p:nvPicPr>
          <p:cNvPr id="15" name="Picture 14" descr="image.png"/>
          <p:cNvPicPr>
            <a:picLocks noChangeAspect="1"/>
          </p:cNvPicPr>
          <p:nvPr/>
        </p:nvPicPr>
        <p:blipFill>
          <a:blip r:embed="rId2"/>
          <a:stretch>
            <a:fillRect/>
          </a:stretch>
        </p:blipFill>
        <p:spPr>
          <a:xfrm>
            <a:off x="324000" y="827999"/>
            <a:ext cx="5400000" cy="3996000"/>
          </a:xfrm>
          <a:prstGeom prst="rect">
            <a:avLst/>
          </a:prstGeom>
        </p:spPr>
      </p:pic>
      <p:sp>
        <p:nvSpPr>
          <p:cNvPr id="16" name="Rectangle 15"/>
          <p:cNvSpPr/>
          <p:nvPr/>
        </p:nvSpPr>
        <p:spPr>
          <a:xfrm>
            <a:off x="5903999" y="827999"/>
            <a:ext cx="2916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ETF SPDR</a:t>
            </a:r>
          </a:p>
        </p:txBody>
      </p:sp>
      <p:sp>
        <p:nvSpPr>
          <p:cNvPr id="19" name="Rectangle 18"/>
          <p:cNvSpPr/>
          <p:nvPr/>
        </p:nvSpPr>
        <p:spPr>
          <a:xfrm>
            <a:off x="5940000" y="1188000"/>
            <a:ext cx="180000" cy="1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98000"/>
          </a:xfrm>
          <a:prstGeom prst="rect">
            <a:avLst/>
          </a:prstGeom>
          <a:noFill/>
        </p:spPr>
        <p:txBody>
          <a:bodyPr wrap="square">
            <a:spAutoFit/>
          </a:bodyPr>
          <a:lstStyle/>
          <a:p>
            <a:pPr algn="l"/>
            <a:r>
              <a:rPr sz="750" b="1" i="0">
                <a:solidFill>
                  <a:srgbClr val="1B3A6B"/>
                </a:solidFill>
              </a:rPr>
              <a:t>XLK  —  Technology</a:t>
            </a:r>
          </a:p>
        </p:txBody>
      </p:sp>
      <p:sp>
        <p:nvSpPr>
          <p:cNvPr id="21" name="TextBox 20"/>
          <p:cNvSpPr txBox="1"/>
          <p:nvPr/>
        </p:nvSpPr>
        <p:spPr>
          <a:xfrm>
            <a:off x="6192000" y="1332000"/>
            <a:ext cx="2556000" cy="198000"/>
          </a:xfrm>
          <a:prstGeom prst="rect">
            <a:avLst/>
          </a:prstGeom>
          <a:noFill/>
        </p:spPr>
        <p:txBody>
          <a:bodyPr wrap="square">
            <a:spAutoFit/>
          </a:bodyPr>
          <a:lstStyle/>
          <a:p>
            <a:pPr algn="l"/>
            <a:r>
              <a:rPr sz="800" b="1" i="0">
                <a:solidFill>
                  <a:srgbClr val="1A7A4A"/>
                </a:solidFill>
              </a:rPr>
              <a:t>+18.4 %</a:t>
            </a:r>
          </a:p>
        </p:txBody>
      </p:sp>
      <p:sp>
        <p:nvSpPr>
          <p:cNvPr id="22" name="Rectangle 21"/>
          <p:cNvSpPr/>
          <p:nvPr/>
        </p:nvSpPr>
        <p:spPr>
          <a:xfrm>
            <a:off x="5940000" y="1620000"/>
            <a:ext cx="180000" cy="125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565999"/>
            <a:ext cx="2556000" cy="198000"/>
          </a:xfrm>
          <a:prstGeom prst="rect">
            <a:avLst/>
          </a:prstGeom>
          <a:noFill/>
        </p:spPr>
        <p:txBody>
          <a:bodyPr wrap="square">
            <a:spAutoFit/>
          </a:bodyPr>
          <a:lstStyle/>
          <a:p>
            <a:pPr algn="l"/>
            <a:r>
              <a:rPr sz="750" b="1" i="0">
                <a:solidFill>
                  <a:srgbClr val="1B3A6B"/>
                </a:solidFill>
              </a:rPr>
              <a:t>XLF  —  Financials</a:t>
            </a:r>
          </a:p>
        </p:txBody>
      </p:sp>
      <p:sp>
        <p:nvSpPr>
          <p:cNvPr id="24" name="TextBox 23"/>
          <p:cNvSpPr txBox="1"/>
          <p:nvPr/>
        </p:nvSpPr>
        <p:spPr>
          <a:xfrm>
            <a:off x="6192000" y="1763999"/>
            <a:ext cx="2556000" cy="198000"/>
          </a:xfrm>
          <a:prstGeom prst="rect">
            <a:avLst/>
          </a:prstGeom>
          <a:noFill/>
        </p:spPr>
        <p:txBody>
          <a:bodyPr wrap="square">
            <a:spAutoFit/>
          </a:bodyPr>
          <a:lstStyle/>
          <a:p>
            <a:pPr algn="l"/>
            <a:r>
              <a:rPr sz="800" b="1" i="0">
                <a:solidFill>
                  <a:srgbClr val="1A7A4A"/>
                </a:solidFill>
              </a:rPr>
              <a:t>+12.1 %</a:t>
            </a:r>
          </a:p>
        </p:txBody>
      </p:sp>
      <p:sp>
        <p:nvSpPr>
          <p:cNvPr id="25" name="Rectangle 24"/>
          <p:cNvSpPr/>
          <p:nvPr/>
        </p:nvSpPr>
        <p:spPr>
          <a:xfrm>
            <a:off x="5940000" y="2052000"/>
            <a:ext cx="180000" cy="125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998000"/>
            <a:ext cx="2556000" cy="198000"/>
          </a:xfrm>
          <a:prstGeom prst="rect">
            <a:avLst/>
          </a:prstGeom>
          <a:noFill/>
        </p:spPr>
        <p:txBody>
          <a:bodyPr wrap="square">
            <a:spAutoFit/>
          </a:bodyPr>
          <a:lstStyle/>
          <a:p>
            <a:pPr algn="l"/>
            <a:r>
              <a:rPr sz="750" b="1" i="0">
                <a:solidFill>
                  <a:srgbClr val="1B3A6B"/>
                </a:solidFill>
              </a:rPr>
              <a:t>XLC  —  Comm. Services</a:t>
            </a:r>
          </a:p>
        </p:txBody>
      </p:sp>
      <p:sp>
        <p:nvSpPr>
          <p:cNvPr id="27" name="TextBox 26"/>
          <p:cNvSpPr txBox="1"/>
          <p:nvPr/>
        </p:nvSpPr>
        <p:spPr>
          <a:xfrm>
            <a:off x="6192000" y="2196000"/>
            <a:ext cx="2556000" cy="198000"/>
          </a:xfrm>
          <a:prstGeom prst="rect">
            <a:avLst/>
          </a:prstGeom>
          <a:noFill/>
        </p:spPr>
        <p:txBody>
          <a:bodyPr wrap="square">
            <a:spAutoFit/>
          </a:bodyPr>
          <a:lstStyle/>
          <a:p>
            <a:pPr algn="l"/>
            <a:r>
              <a:rPr sz="800" b="1" i="0">
                <a:solidFill>
                  <a:srgbClr val="1A7A4A"/>
                </a:solidFill>
              </a:rPr>
              <a:t>+9.2 %</a:t>
            </a:r>
          </a:p>
        </p:txBody>
      </p:sp>
      <p:sp>
        <p:nvSpPr>
          <p:cNvPr id="28" name="Rectangle 27"/>
          <p:cNvSpPr/>
          <p:nvPr/>
        </p:nvSpPr>
        <p:spPr>
          <a:xfrm>
            <a:off x="5940000" y="2484000"/>
            <a:ext cx="180000" cy="125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430000"/>
            <a:ext cx="2556000" cy="198000"/>
          </a:xfrm>
          <a:prstGeom prst="rect">
            <a:avLst/>
          </a:prstGeom>
          <a:noFill/>
        </p:spPr>
        <p:txBody>
          <a:bodyPr wrap="square">
            <a:spAutoFit/>
          </a:bodyPr>
          <a:lstStyle/>
          <a:p>
            <a:pPr algn="l"/>
            <a:r>
              <a:rPr sz="750" b="1" i="0">
                <a:solidFill>
                  <a:srgbClr val="1B3A6B"/>
                </a:solidFill>
              </a:rPr>
              <a:t>XLV  —  Health Care</a:t>
            </a:r>
          </a:p>
        </p:txBody>
      </p:sp>
      <p:sp>
        <p:nvSpPr>
          <p:cNvPr id="30" name="TextBox 29"/>
          <p:cNvSpPr txBox="1"/>
          <p:nvPr/>
        </p:nvSpPr>
        <p:spPr>
          <a:xfrm>
            <a:off x="6192000" y="2628000"/>
            <a:ext cx="2556000" cy="198000"/>
          </a:xfrm>
          <a:prstGeom prst="rect">
            <a:avLst/>
          </a:prstGeom>
          <a:noFill/>
        </p:spPr>
        <p:txBody>
          <a:bodyPr wrap="square">
            <a:spAutoFit/>
          </a:bodyPr>
          <a:lstStyle/>
          <a:p>
            <a:pPr algn="l"/>
            <a:r>
              <a:rPr sz="800" b="1" i="0">
                <a:solidFill>
                  <a:srgbClr val="1A7A4A"/>
                </a:solidFill>
              </a:rPr>
              <a:t>+8.4 %</a:t>
            </a:r>
          </a:p>
        </p:txBody>
      </p:sp>
      <p:sp>
        <p:nvSpPr>
          <p:cNvPr id="31" name="Rectangle 30"/>
          <p:cNvSpPr/>
          <p:nvPr/>
        </p:nvSpPr>
        <p:spPr>
          <a:xfrm>
            <a:off x="5940000" y="2916000"/>
            <a:ext cx="180000" cy="125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861999"/>
            <a:ext cx="2556000" cy="198000"/>
          </a:xfrm>
          <a:prstGeom prst="rect">
            <a:avLst/>
          </a:prstGeom>
          <a:noFill/>
        </p:spPr>
        <p:txBody>
          <a:bodyPr wrap="square">
            <a:spAutoFit/>
          </a:bodyPr>
          <a:lstStyle/>
          <a:p>
            <a:pPr algn="l"/>
            <a:r>
              <a:rPr sz="750" b="1" i="0">
                <a:solidFill>
                  <a:srgbClr val="1B3A6B"/>
                </a:solidFill>
              </a:rPr>
              <a:t>XLY  —  Consumer Disc.</a:t>
            </a:r>
          </a:p>
        </p:txBody>
      </p:sp>
      <p:sp>
        <p:nvSpPr>
          <p:cNvPr id="33" name="TextBox 32"/>
          <p:cNvSpPr txBox="1"/>
          <p:nvPr/>
        </p:nvSpPr>
        <p:spPr>
          <a:xfrm>
            <a:off x="6192000" y="3060000"/>
            <a:ext cx="2556000" cy="198000"/>
          </a:xfrm>
          <a:prstGeom prst="rect">
            <a:avLst/>
          </a:prstGeom>
          <a:noFill/>
        </p:spPr>
        <p:txBody>
          <a:bodyPr wrap="square">
            <a:spAutoFit/>
          </a:bodyPr>
          <a:lstStyle/>
          <a:p>
            <a:pPr algn="l"/>
            <a:r>
              <a:rPr sz="800" b="1" i="0">
                <a:solidFill>
                  <a:srgbClr val="1A7A4A"/>
                </a:solidFill>
              </a:rPr>
              <a:t>+6.8 %</a:t>
            </a:r>
          </a:p>
        </p:txBody>
      </p:sp>
      <p:sp>
        <p:nvSpPr>
          <p:cNvPr id="34" name="Rectangle 33"/>
          <p:cNvSpPr/>
          <p:nvPr/>
        </p:nvSpPr>
        <p:spPr>
          <a:xfrm>
            <a:off x="5940000" y="3348000"/>
            <a:ext cx="180000" cy="125999"/>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3294000"/>
            <a:ext cx="2556000" cy="198000"/>
          </a:xfrm>
          <a:prstGeom prst="rect">
            <a:avLst/>
          </a:prstGeom>
          <a:noFill/>
        </p:spPr>
        <p:txBody>
          <a:bodyPr wrap="square">
            <a:spAutoFit/>
          </a:bodyPr>
          <a:lstStyle/>
          <a:p>
            <a:pPr algn="l"/>
            <a:r>
              <a:rPr sz="750" b="1" i="0">
                <a:solidFill>
                  <a:srgbClr val="1B3A6B"/>
                </a:solidFill>
              </a:rPr>
              <a:t>XLI  —  Industrials</a:t>
            </a:r>
          </a:p>
        </p:txBody>
      </p:sp>
      <p:sp>
        <p:nvSpPr>
          <p:cNvPr id="36" name="TextBox 35"/>
          <p:cNvSpPr txBox="1"/>
          <p:nvPr/>
        </p:nvSpPr>
        <p:spPr>
          <a:xfrm>
            <a:off x="6192000" y="3492000"/>
            <a:ext cx="2556000" cy="198000"/>
          </a:xfrm>
          <a:prstGeom prst="rect">
            <a:avLst/>
          </a:prstGeom>
          <a:noFill/>
        </p:spPr>
        <p:txBody>
          <a:bodyPr wrap="square">
            <a:spAutoFit/>
          </a:bodyPr>
          <a:lstStyle/>
          <a:p>
            <a:pPr algn="l"/>
            <a:r>
              <a:rPr sz="800" b="1" i="0">
                <a:solidFill>
                  <a:srgbClr val="1A7A4A"/>
                </a:solidFill>
              </a:rPr>
              <a:t>+5.4 %</a:t>
            </a:r>
          </a:p>
        </p:txBody>
      </p:sp>
      <p:sp>
        <p:nvSpPr>
          <p:cNvPr id="37" name="Rectangle 36"/>
          <p:cNvSpPr/>
          <p:nvPr/>
        </p:nvSpPr>
        <p:spPr>
          <a:xfrm>
            <a:off x="5940000" y="3780000"/>
            <a:ext cx="180000" cy="125999"/>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726000"/>
            <a:ext cx="2556000" cy="198000"/>
          </a:xfrm>
          <a:prstGeom prst="rect">
            <a:avLst/>
          </a:prstGeom>
          <a:noFill/>
        </p:spPr>
        <p:txBody>
          <a:bodyPr wrap="square">
            <a:spAutoFit/>
          </a:bodyPr>
          <a:lstStyle/>
          <a:p>
            <a:pPr algn="l"/>
            <a:r>
              <a:rPr sz="750" b="1" i="0">
                <a:solidFill>
                  <a:srgbClr val="1B3A6B"/>
                </a:solidFill>
              </a:rPr>
              <a:t>XLP  —  Consumer Staples</a:t>
            </a:r>
          </a:p>
        </p:txBody>
      </p:sp>
      <p:sp>
        <p:nvSpPr>
          <p:cNvPr id="39" name="TextBox 38"/>
          <p:cNvSpPr txBox="1"/>
          <p:nvPr/>
        </p:nvSpPr>
        <p:spPr>
          <a:xfrm>
            <a:off x="6192000" y="3924000"/>
            <a:ext cx="2556000" cy="198000"/>
          </a:xfrm>
          <a:prstGeom prst="rect">
            <a:avLst/>
          </a:prstGeom>
          <a:noFill/>
        </p:spPr>
        <p:txBody>
          <a:bodyPr wrap="square">
            <a:spAutoFit/>
          </a:bodyPr>
          <a:lstStyle/>
          <a:p>
            <a:pPr algn="l"/>
            <a:r>
              <a:rPr sz="800" b="1" i="0">
                <a:solidFill>
                  <a:srgbClr val="1A7A4A"/>
                </a:solidFill>
              </a:rPr>
              <a:t>+2.1 %</a:t>
            </a:r>
          </a:p>
        </p:txBody>
      </p:sp>
      <p:sp>
        <p:nvSpPr>
          <p:cNvPr id="40" name="Rectangle 39"/>
          <p:cNvSpPr/>
          <p:nvPr/>
        </p:nvSpPr>
        <p:spPr>
          <a:xfrm>
            <a:off x="5940000" y="4212000"/>
            <a:ext cx="180000" cy="125999"/>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4158000"/>
            <a:ext cx="2556000" cy="198000"/>
          </a:xfrm>
          <a:prstGeom prst="rect">
            <a:avLst/>
          </a:prstGeom>
          <a:noFill/>
        </p:spPr>
        <p:txBody>
          <a:bodyPr wrap="square">
            <a:spAutoFit/>
          </a:bodyPr>
          <a:lstStyle/>
          <a:p>
            <a:pPr algn="l"/>
            <a:r>
              <a:rPr sz="750" b="1" i="0">
                <a:solidFill>
                  <a:srgbClr val="1B3A6B"/>
                </a:solidFill>
              </a:rPr>
              <a:t>XLB  —  Materials</a:t>
            </a:r>
          </a:p>
        </p:txBody>
      </p:sp>
      <p:sp>
        <p:nvSpPr>
          <p:cNvPr id="42" name="TextBox 41"/>
          <p:cNvSpPr txBox="1"/>
          <p:nvPr/>
        </p:nvSpPr>
        <p:spPr>
          <a:xfrm>
            <a:off x="6192000" y="4356000"/>
            <a:ext cx="2556000" cy="198000"/>
          </a:xfrm>
          <a:prstGeom prst="rect">
            <a:avLst/>
          </a:prstGeom>
          <a:noFill/>
        </p:spPr>
        <p:txBody>
          <a:bodyPr wrap="square">
            <a:spAutoFit/>
          </a:bodyPr>
          <a:lstStyle/>
          <a:p>
            <a:pPr algn="l"/>
            <a:r>
              <a:rPr sz="800" b="1" i="0">
                <a:solidFill>
                  <a:srgbClr val="1A7A4A"/>
                </a:solidFill>
              </a:rPr>
              <a:t>+1.8 %</a:t>
            </a:r>
          </a:p>
        </p:txBody>
      </p:sp>
      <p:sp>
        <p:nvSpPr>
          <p:cNvPr id="43" name="Rectangle 42"/>
          <p:cNvSpPr/>
          <p:nvPr/>
        </p:nvSpPr>
        <p:spPr>
          <a:xfrm>
            <a:off x="5903999" y="396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996000"/>
            <a:ext cx="2808000" cy="180000"/>
          </a:xfrm>
          <a:prstGeom prst="rect">
            <a:avLst/>
          </a:prstGeom>
          <a:noFill/>
        </p:spPr>
        <p:txBody>
          <a:bodyPr wrap="square">
            <a:spAutoFit/>
          </a:bodyPr>
          <a:lstStyle/>
          <a:p>
            <a:pPr algn="l"/>
            <a:r>
              <a:rPr sz="750" b="1" i="0">
                <a:solidFill>
                  <a:srgbClr val="1B3A6B"/>
                </a:solidFill>
              </a:rPr>
              <a:t>Lecture du graphique</a:t>
            </a:r>
          </a:p>
        </p:txBody>
      </p:sp>
      <p:sp>
        <p:nvSpPr>
          <p:cNvPr id="45" name="TextBox 44"/>
          <p:cNvSpPr txBox="1"/>
          <p:nvPr/>
        </p:nvSpPr>
        <p:spPr>
          <a:xfrm>
            <a:off x="5976000" y="4194000"/>
            <a:ext cx="2808000" cy="612000"/>
          </a:xfrm>
          <a:prstGeom prst="rect">
            <a:avLst/>
          </a:prstGeom>
          <a:noFill/>
        </p:spPr>
        <p:txBody>
          <a:bodyPr wrap="square">
            <a:spAutoFit/>
          </a:bodyPr>
          <a:lstStyle/>
          <a:p>
            <a:pPr algn="l"/>
            <a:r>
              <a:rPr sz="700" b="0" i="0">
                <a:solidFill>
                  <a:srgbClr val="555555"/>
                </a:solidFill>
              </a:rPr>
              <a:t>XLK (Technology) domine avec +18.4 % — confirmation du signal Surpondérer soutenu par la monétisation IA. XLU (Utilities) sous-performe (-5.4 %) en ligne avec le signal Sous-pondérer.</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