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Energy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11.7x  ·  Croissance med. : -1.2 %  ·  Marge EBITDA med. : 19.4 %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Prix Petrole Soutenu</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Demande asiatique robuste et OPEP+ disciplinee — Brent attendu 75-85 USD/bbl en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Investissements Renouvelables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GNL Europeen</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Volatilite Petrole</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mondiale ou accord OPEP+ defavorable — Brent &lt; 60 USD/bbl entrainerait des coupes dividendes.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Transition Réglementaire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Acceleration du calendrier sortie fossiles — actifs bloques en risque.</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Capex Renouvelable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Surcouts et retards projets offshore wind — impact sur rendements.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-1.2 %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19.4 %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+31.0 %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Energie couvre les majors petrolieres et gazieres, les energies renouvelables et les services parapetroliers. Il reste marque par la volatilite des prix des matieres premieres, tout en beneficiant de la transition energetique.</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Prix Petrole Soutenu</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Demande asiatique robuste et OPEP+ disciplinee — Brent attendu 75-85 USD/bbl en 2026.</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Investissements Renouvelables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GNL Europeen</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7,2 %</a:t>
                      </a:r>
                    </a:p>
                  </a:txBody>
                  <a:tcPr>
                    <a:noFill/>
                  </a:tcPr>
                </a:tc>
                <a:tc>
                  <a:txBody>
                    <a:bodyPr/>
                    <a:lstStyle/>
                    <a:p>
                      <a:pPr algn="ctr"/>
                      <a:r>
                        <a:rPr sz="750" b="0">
                          <a:solidFill>
                            <a:srgbClr val="1A1A1A"/>
                          </a:solidFill>
                        </a:rPr>
                        <a:t>Tres 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4,8 %</a:t>
                      </a:r>
                    </a:p>
                  </a:txBody>
                  <a:tcPr>
                    <a:solidFill>
                      <a:srgbClr val="F5F7FA"/>
                    </a:solidFill>
                  </a:tcPr>
                </a:tc>
                <a:tc>
                  <a:txBody>
                    <a:bodyPr/>
                    <a:lstStyle/>
                    <a:p>
                      <a:pPr algn="ctr"/>
                      <a:r>
                        <a:rPr sz="750" b="0">
                          <a:solidFill>
                            <a:srgbClr val="1A1A1A"/>
                          </a:solidFill>
                        </a:rPr>
                        <a:t>Élevé</a:t>
                      </a:r>
                    </a:p>
                  </a:txBody>
                  <a:tcPr>
                    <a:solidFill>
                      <a:srgbClr val="F5F7FA"/>
                    </a:solidFill>
                  </a:tcPr>
                </a:tc>
              </a:tr>
              <a:tr h="208799">
                <a:tc>
                  <a:txBody>
                    <a:bodyPr/>
                    <a:lstStyle/>
                    <a:p>
                      <a:pPr algn="ctr"/>
                      <a:r>
                        <a:rPr sz="750" b="0">
                          <a:solidFill>
                            <a:srgbClr val="1A1A1A"/>
                          </a:solidFill>
                        </a:rPr>
                        <a:t>Breakeven</a:t>
                      </a:r>
                    </a:p>
                  </a:txBody>
                  <a:tcPr>
                    <a:noFill/>
                  </a:tcPr>
                </a:tc>
                <a:tc>
                  <a:txBody>
                    <a:bodyPr/>
                    <a:lstStyle/>
                    <a:p>
                      <a:pPr algn="ctr"/>
                      <a:r>
                        <a:rPr sz="750" b="0">
                          <a:solidFill>
                            <a:srgbClr val="1A1A1A"/>
                          </a:solidFill>
                        </a:rPr>
                        <a:t>52 USD</a:t>
                      </a:r>
                    </a:p>
                  </a:txBody>
                  <a:tcPr>
                    <a:noFill/>
                  </a:tcPr>
                </a:tc>
                <a:tc>
                  <a:txBody>
                    <a:bodyPr/>
                    <a:lstStyle/>
                    <a:p>
                      <a:pPr algn="ctr"/>
                      <a:r>
                        <a:rPr sz="750" b="0">
                          <a:solidFill>
                            <a:srgbClr val="1A1A1A"/>
                          </a:solidFill>
                        </a:rPr>
                        <a:t>Confortable</a:t>
                      </a:r>
                    </a:p>
                  </a:txBody>
                  <a:tcPr>
                    <a:noFill/>
                  </a:tcPr>
                </a:tc>
              </a:tr>
              <a:tr h="208799">
                <a:tc>
                  <a:txBody>
                    <a:bodyPr/>
                    <a:lstStyle/>
                    <a:p>
                      <a:pPr algn="ctr"/>
                      <a:r>
                        <a:rPr sz="750" b="0">
                          <a:solidFill>
                            <a:srgbClr val="1A1A1A"/>
                          </a:solidFill>
                        </a:rPr>
                        <a:t>ROACE</a:t>
                      </a:r>
                    </a:p>
                  </a:txBody>
                  <a:tcPr>
                    <a:solidFill>
                      <a:srgbClr val="F5F7FA"/>
                    </a:solidFill>
                  </a:tcPr>
                </a:tc>
                <a:tc>
                  <a:txBody>
                    <a:bodyPr/>
                    <a:lstStyle/>
                    <a:p>
                      <a:pPr algn="ctr"/>
                      <a:r>
                        <a:rPr sz="750" b="0">
                          <a:solidFill>
                            <a:srgbClr val="1A1A1A"/>
                          </a:solidFill>
                        </a:rPr>
                        <a:t>14,2 %</a:t>
                      </a:r>
                    </a:p>
                  </a:txBody>
                  <a:tcPr>
                    <a:solidFill>
                      <a:srgbClr val="F5F7FA"/>
                    </a:solidFill>
                  </a:tcPr>
                </a:tc>
                <a:tc>
                  <a:txBody>
                    <a:bodyPr/>
                    <a:lstStyle/>
                    <a:p>
                      <a:pPr algn="ctr"/>
                      <a:r>
                        <a:rPr sz="750" b="0">
                          <a:solidFill>
                            <a:srgbClr val="1A1A1A"/>
                          </a:solidFill>
                        </a:rPr>
                        <a:t>Bon</a:t>
                      </a:r>
                    </a:p>
                  </a:txBody>
                  <a:tcPr>
                    <a:solidFill>
                      <a:srgbClr val="F5F7FA"/>
                    </a:solidFill>
                  </a:tcPr>
                </a:tc>
              </a:tr>
              <a:tr h="208799">
                <a:tc>
                  <a:txBody>
                    <a:bodyPr/>
                    <a:lstStyle/>
                    <a:p>
                      <a:pPr algn="ctr"/>
                      <a:r>
                        <a:rPr sz="750" b="0">
                          <a:solidFill>
                            <a:srgbClr val="1A1A1A"/>
                          </a:solidFill>
                        </a:rPr>
                        <a:t>ND/EBITDA</a:t>
                      </a:r>
                    </a:p>
                  </a:txBody>
                  <a:tcPr>
                    <a:noFill/>
                  </a:tcPr>
                </a:tc>
                <a:tc>
                  <a:txBody>
                    <a:bodyPr/>
                    <a:lstStyle/>
                    <a:p>
                      <a:pPr algn="ctr"/>
                      <a:r>
                        <a:rPr sz="750" b="0">
                          <a:solidFill>
                            <a:srgbClr val="1A1A1A"/>
                          </a:solidFill>
                        </a:rPr>
                        <a:t>1,2x</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Capex/OCF</a:t>
                      </a:r>
                    </a:p>
                  </a:txBody>
                  <a:tcPr>
                    <a:solidFill>
                      <a:srgbClr val="F5F7FA"/>
                    </a:solidFill>
                  </a:tcPr>
                </a:tc>
                <a:tc>
                  <a:txBody>
                    <a:bodyPr/>
                    <a:lstStyle/>
                    <a:p>
                      <a:pPr algn="ctr"/>
                      <a:r>
                        <a:rPr sz="750" b="0">
                          <a:solidFill>
                            <a:srgbClr val="1A1A1A"/>
                          </a:solidFill>
                        </a:rPr>
                        <a:t>48 %</a:t>
                      </a:r>
                    </a:p>
                  </a:txBody>
                  <a:tcPr>
                    <a:solidFill>
                      <a:srgbClr val="F5F7FA"/>
                    </a:solidFill>
                  </a:tcPr>
                </a:tc>
                <a:tc>
                  <a:txBody>
                    <a:bodyPr/>
                    <a:lstStyle/>
                    <a:p>
                      <a:pPr algn="ctr"/>
                      <a:r>
                        <a:rPr sz="750" b="0">
                          <a:solidFill>
                            <a:srgbClr val="1A1A1A"/>
                          </a:solidFill>
                        </a:rPr>
                        <a:t>Modere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3.8x</a:t>
                      </a:r>
                    </a:p>
                  </a:txBody>
                  <a:tcPr>
                    <a:noFill/>
                  </a:tcPr>
                </a:tc>
                <a:tc>
                  <a:txBody>
                    <a:bodyPr/>
                    <a:lstStyle/>
                    <a:p>
                      <a:pPr algn="ctr"/>
                      <a:r>
                        <a:rPr sz="750" b="0">
                          <a:solidFill>
                            <a:srgbClr val="1A1A1A"/>
                          </a:solidFill>
                        </a:rPr>
                        <a:t>16.4x</a:t>
                      </a:r>
                    </a:p>
                  </a:txBody>
                  <a:tcPr>
                    <a:noFill/>
                  </a:tcPr>
                </a:tc>
                <a:tc>
                  <a:txBody>
                    <a:bodyPr/>
                    <a:lstStyle/>
                    <a:p>
                      <a:pPr algn="ctr"/>
                      <a:r>
                        <a:rPr sz="750" b="0">
                          <a:solidFill>
                            <a:srgbClr val="1A1A1A"/>
                          </a:solidFill>
                        </a:rPr>
                        <a:t>62.0 %</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16.8 %</a:t>
                      </a:r>
                    </a:p>
                  </a:txBody>
                  <a:tcPr>
                    <a:noFill/>
                  </a:tcPr>
                </a:tc>
              </a:tr>
              <a:tr h="198000">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11.6x</a:t>
                      </a:r>
                    </a:p>
                  </a:txBody>
                  <a:tcPr>
                    <a:solidFill>
                      <a:srgbClr val="F5F7FA"/>
                    </a:solidFill>
                  </a:tcPr>
                </a:tc>
                <a:tc>
                  <a:txBody>
                    <a:bodyPr/>
                    <a:lstStyle/>
                    <a:p>
                      <a:pPr algn="ctr"/>
                      <a:r>
                        <a:rPr sz="750" b="0">
                          <a:solidFill>
                            <a:srgbClr val="1A1A1A"/>
                          </a:solidFill>
                        </a:rPr>
                        <a:t>2.5x</a:t>
                      </a:r>
                    </a:p>
                  </a:txBody>
                  <a:tcPr>
                    <a:solidFill>
                      <a:srgbClr val="F5F7FA"/>
                    </a:solidFill>
                  </a:tcPr>
                </a:tc>
                <a:tc>
                  <a:txBody>
                    <a:bodyPr/>
                    <a:lstStyle/>
                    <a:p>
                      <a:pPr algn="ctr"/>
                      <a:r>
                        <a:rPr sz="750" b="0">
                          <a:solidFill>
                            <a:srgbClr val="1A1A1A"/>
                          </a:solidFill>
                        </a:rPr>
                        <a:t>22.8x</a:t>
                      </a:r>
                    </a:p>
                  </a:txBody>
                  <a:tcPr>
                    <a:solidFill>
                      <a:srgbClr val="F5F7FA"/>
                    </a:solidFill>
                  </a:tcPr>
                </a:tc>
                <a:tc>
                  <a:txBody>
                    <a:bodyPr/>
                    <a:lstStyle/>
                    <a:p>
                      <a:pPr algn="ctr"/>
                      <a:r>
                        <a:rPr sz="750" b="0">
                          <a:solidFill>
                            <a:srgbClr val="1A1A1A"/>
                          </a:solidFill>
                        </a:rPr>
                        <a:t>18.7 %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13.9 %</a:t>
                      </a:r>
                    </a:p>
                  </a:txBody>
                  <a:tcPr>
                    <a:solidFill>
                      <a:srgbClr val="F5F7FA"/>
                    </a:solidFill>
                  </a:tcPr>
                </a:tc>
              </a:tr>
              <a:tr h="198000">
                <a:tc>
                  <a:txBody>
                    <a:bodyPr/>
                    <a:lstStyle/>
                    <a:p>
                      <a:pPr algn="ctr"/>
                      <a:r>
                        <a:rPr sz="750" b="0">
                          <a:solidFill>
                            <a:srgbClr val="1A1A1A"/>
                          </a:solidFill>
                        </a:rPr>
                        <a:t>Phillips 66</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12.3 %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15.4 %</a:t>
                      </a:r>
                    </a:p>
                  </a:txBody>
                  <a:tcPr>
                    <a:noFill/>
                  </a:tcPr>
                </a:tc>
              </a:tr>
              <a:tr h="198000">
                <a:tc>
                  <a:txBody>
                    <a:bodyPr/>
                    <a:lstStyle/>
                    <a:p>
                      <a:pPr algn="ctr"/>
                      <a:r>
                        <a:rPr sz="750" b="0">
                          <a:solidFill>
                            <a:srgbClr val="1A1A1A"/>
                          </a:solidFill>
                        </a:rPr>
                        <a:t>Marathon Petroleum Corporati</a:t>
                      </a:r>
                    </a:p>
                  </a:txBody>
                  <a:tcPr>
                    <a:solidFill>
                      <a:srgbClr val="F5F7FA"/>
                    </a:solidFill>
                  </a:tcPr>
                </a:tc>
                <a:tc>
                  <a:txBody>
                    <a:bodyPr/>
                    <a:lstStyle/>
                    <a:p>
                      <a:pPr algn="ctr"/>
                      <a:r>
                        <a:rPr sz="750" b="0">
                          <a:solidFill>
                            <a:srgbClr val="1A1A1A"/>
                          </a:solidFill>
                        </a:rPr>
                        <a:t>11.8x</a:t>
                      </a:r>
                    </a:p>
                  </a:txBody>
                  <a:tcPr>
                    <a:solidFill>
                      <a:srgbClr val="F5F7FA"/>
                    </a:solidFill>
                  </a:tcPr>
                </a:tc>
                <a:tc>
                  <a:txBody>
                    <a:bodyPr/>
                    <a:lstStyle/>
                    <a:p>
                      <a:pPr algn="ctr"/>
                      <a:r>
                        <a:rPr sz="750" b="0">
                          <a:solidFill>
                            <a:srgbClr val="1A1A1A"/>
                          </a:solidFill>
                        </a:rPr>
                        <a:t>0.8x</a:t>
                      </a:r>
                    </a:p>
                  </a:txBody>
                  <a:tcPr>
                    <a:solidFill>
                      <a:srgbClr val="F5F7FA"/>
                    </a:solidFill>
                  </a:tcPr>
                </a:tc>
                <a:tc>
                  <a:txBody>
                    <a:bodyPr/>
                    <a:lstStyle/>
                    <a:p>
                      <a:pPr algn="ctr"/>
                      <a:r>
                        <a:rPr sz="750" b="0">
                          <a:solidFill>
                            <a:srgbClr val="1A1A1A"/>
                          </a:solidFill>
                        </a:rPr>
                        <a:t>19.0x</a:t>
                      </a:r>
                    </a:p>
                  </a:txBody>
                  <a:tcPr>
                    <a:solidFill>
                      <a:srgbClr val="F5F7FA"/>
                    </a:solidFill>
                  </a:tcPr>
                </a:tc>
                <a:tc>
                  <a:txBody>
                    <a:bodyPr/>
                    <a:lstStyle/>
                    <a:p>
                      <a:pPr algn="ctr"/>
                      <a:r>
                        <a:rPr sz="750" b="0">
                          <a:solidFill>
                            <a:srgbClr val="1A1A1A"/>
                          </a:solidFill>
                        </a:rPr>
                        <a:t>10.3 %</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24.2 %</a:t>
                      </a:r>
                    </a:p>
                  </a:txBody>
                  <a:tcPr>
                    <a:solidFill>
                      <a:srgbClr val="F5F7FA"/>
                    </a:solidFill>
                  </a:tcPr>
                </a:tc>
              </a:tr>
              <a:tr h="198000">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12.8x</a:t>
                      </a:r>
                    </a:p>
                  </a:txBody>
                  <a:tcPr>
                    <a:noFill/>
                  </a:tcPr>
                </a:tc>
                <a:tc>
                  <a:txBody>
                    <a:bodyPr/>
                    <a:lstStyle/>
                    <a:p>
                      <a:pPr algn="ctr"/>
                      <a:r>
                        <a:rPr sz="750" b="0">
                          <a:solidFill>
                            <a:srgbClr val="1A1A1A"/>
                          </a:solidFill>
                        </a:rPr>
                        <a:t>2.3x</a:t>
                      </a:r>
                    </a:p>
                  </a:txBody>
                  <a:tcPr>
                    <a:noFill/>
                  </a:tcPr>
                </a:tc>
                <a:tc>
                  <a:txBody>
                    <a:bodyPr/>
                    <a:lstStyle/>
                    <a:p>
                      <a:pPr algn="ctr"/>
                      <a:r>
                        <a:rPr sz="750" b="0">
                          <a:solidFill>
                            <a:srgbClr val="1A1A1A"/>
                          </a:solidFill>
                        </a:rPr>
                        <a:t>25.5x</a:t>
                      </a:r>
                    </a:p>
                  </a:txBody>
                  <a:tcPr>
                    <a:noFill/>
                  </a:tcPr>
                </a:tc>
                <a:tc>
                  <a:txBody>
                    <a:bodyPr/>
                    <a:lstStyle/>
                    <a:p>
                      <a:pPr algn="ctr"/>
                      <a:r>
                        <a:rPr sz="750" b="0">
                          <a:solidFill>
                            <a:srgbClr val="1A1A1A"/>
                          </a:solidFill>
                        </a:rPr>
                        <a:t>31.0 %</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11.1 %</a:t>
                      </a:r>
                    </a:p>
                  </a:txBody>
                  <a:tcPr>
                    <a:noFill/>
                  </a:tcPr>
                </a:tc>
              </a:tr>
              <a:tr h="198000">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7.5x</a:t>
                      </a:r>
                    </a:p>
                  </a:txBody>
                  <a:tcPr>
                    <a:solidFill>
                      <a:srgbClr val="F5F7FA"/>
                    </a:solidFill>
                  </a:tcPr>
                </a:tc>
                <a:tc>
                  <a:txBody>
                    <a:bodyPr/>
                    <a:lstStyle/>
                    <a:p>
                      <a:pPr algn="ctr"/>
                      <a:r>
                        <a:rPr sz="750" b="0">
                          <a:solidFill>
                            <a:srgbClr val="1A1A1A"/>
                          </a:solidFill>
                        </a:rPr>
                        <a:t>3.0x</a:t>
                      </a:r>
                    </a:p>
                  </a:txBody>
                  <a:tcPr>
                    <a:solidFill>
                      <a:srgbClr val="F5F7FA"/>
                    </a:solidFill>
                  </a:tcPr>
                </a:tc>
                <a:tc>
                  <a:txBody>
                    <a:bodyPr/>
                    <a:lstStyle/>
                    <a:p>
                      <a:pPr algn="ctr"/>
                      <a:r>
                        <a:rPr sz="750" b="0">
                          <a:solidFill>
                            <a:srgbClr val="1A1A1A"/>
                          </a:solidFill>
                        </a:rPr>
                        <a:t>21.0x</a:t>
                      </a:r>
                    </a:p>
                  </a:txBody>
                  <a:tcPr>
                    <a:solidFill>
                      <a:srgbClr val="F5F7FA"/>
                    </a:solidFill>
                  </a:tcPr>
                </a:tc>
                <a:tc>
                  <a:txBody>
                    <a:bodyPr/>
                    <a:lstStyle/>
                    <a:p>
                      <a:pPr algn="ctr"/>
                      <a:r>
                        <a:rPr sz="750" b="0">
                          <a:solidFill>
                            <a:srgbClr val="1A1A1A"/>
                          </a:solidFill>
                        </a:rPr>
                        <a:t>46.2 %</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12.4 %</a:t>
                      </a:r>
                    </a:p>
                  </a:txBody>
                  <a:tcPr>
                    <a:solidFill>
                      <a:srgbClr val="F5F7FA"/>
                    </a:solidFill>
                  </a:tcPr>
                </a:tc>
              </a:tr>
              <a:tr h="198000">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11.3x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33.6x</a:t>
                      </a:r>
                    </a:p>
                  </a:txBody>
                  <a:tcPr>
                    <a:noFill/>
                  </a:tcPr>
                </a:tc>
                <a:tc>
                  <a:txBody>
                    <a:bodyPr/>
                    <a:lstStyle/>
                    <a:p>
                      <a:pPr algn="ctr"/>
                      <a:r>
                        <a:rPr sz="750" b="0">
                          <a:solidFill>
                            <a:srgbClr val="1A1A1A"/>
                          </a:solidFill>
                        </a:rPr>
                        <a:t>13.2 %</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8.3 %</a:t>
                      </a:r>
                    </a:p>
                  </a:txBody>
                  <a:tcPr>
                    <a:noFill/>
                  </a:tcPr>
                </a:tc>
              </a:tr>
              <a:tr h="198000">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12.4x</a:t>
                      </a:r>
                    </a:p>
                  </a:txBody>
                  <a:tcPr>
                    <a:solidFill>
                      <a:srgbClr val="F5F7FA"/>
                    </a:solidFill>
                  </a:tcPr>
                </a:tc>
                <a:tc>
                  <a:txBody>
                    <a:bodyPr/>
                    <a:lstStyle/>
                    <a:p>
                      <a:pPr algn="ctr"/>
                      <a:r>
                        <a:rPr sz="750" b="0">
                          <a:solidFill>
                            <a:srgbClr val="1A1A1A"/>
                          </a:solidFill>
                        </a:rPr>
                        <a:t>2.5x</a:t>
                      </a:r>
                    </a:p>
                  </a:txBody>
                  <a:tcPr>
                    <a:solidFill>
                      <a:srgbClr val="F5F7FA"/>
                    </a:solidFill>
                  </a:tcPr>
                </a:tc>
                <a:tc>
                  <a:txBody>
                    <a:bodyPr/>
                    <a:lstStyle/>
                    <a:p>
                      <a:pPr algn="ctr"/>
                      <a:r>
                        <a:rPr sz="750" b="0">
                          <a:solidFill>
                            <a:srgbClr val="1A1A1A"/>
                          </a:solidFill>
                        </a:rPr>
                        <a:t>31.8x</a:t>
                      </a:r>
                    </a:p>
                  </a:txBody>
                  <a:tcPr>
                    <a:solidFill>
                      <a:srgbClr val="F5F7FA"/>
                    </a:solidFill>
                  </a:tcPr>
                </a:tc>
                <a:tc>
                  <a:txBody>
                    <a:bodyPr/>
                    <a:lstStyle/>
                    <a:p>
                      <a:pPr algn="ctr"/>
                      <a:r>
                        <a:rPr sz="750" b="0">
                          <a:solidFill>
                            <a:srgbClr val="1A1A1A"/>
                          </a:solidFill>
                        </a:rPr>
                        <a:t>41.9 %</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7.2 %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11.7x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21.9x</a:t>
                      </a:r>
                    </a:p>
                  </a:txBody>
                  <a:tcPr>
                    <a:noFill/>
                  </a:tcPr>
                </a:tc>
                <a:tc>
                  <a:txBody>
                    <a:bodyPr/>
                    <a:lstStyle/>
                    <a:p>
                      <a:pPr algn="ctr"/>
                      <a:r>
                        <a:rPr sz="750" b="0">
                          <a:solidFill>
                            <a:srgbClr val="1A1A1A"/>
                          </a:solidFill>
                        </a:rPr>
                        <a:t>24.9 %</a:t>
                      </a:r>
                    </a:p>
                  </a:txBody>
                  <a:tcPr>
                    <a:noFill/>
                  </a:tcPr>
                </a:tc>
                <a:tc>
                  <a:txBody>
                    <a:bodyPr/>
                    <a:lstStyle/>
                    <a:p>
                      <a:pPr algn="ctr"/>
                      <a:r>
                        <a:rPr sz="750" b="0">
                          <a:solidFill>
                            <a:srgbClr val="1A1A1A"/>
                          </a:solidFill>
                        </a:rPr>
                        <a:t>19.4 %</a:t>
                      </a:r>
                    </a:p>
                  </a:txBody>
                  <a:tcPr>
                    <a:noFill/>
                  </a:tcPr>
                </a:tc>
                <a:tc>
                  <a:txBody>
                    <a:bodyPr/>
                    <a:lstStyle/>
                    <a:p>
                      <a:pPr algn="ctr"/>
                      <a:r>
                        <a:rPr sz="750" b="0">
                          <a:solidFill>
                            <a:srgbClr val="1A1A1A"/>
                          </a:solidFill>
                        </a:rPr>
                        <a:t>13.2 %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11.7x LTM. EOG Resources, Inc. (7.3x) se distingue comme le leader de qualite, combine a une marge EBITDA de 51.8 % et une croissance de +0.0 %. La dispersion des multiples revele l heterogeneite des profils au sein du secteur Energy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Prix Hydrocarbures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OPEP+ discipline — soutien structurel des prix 2026</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GNL &amp; Souverainete</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Diversification approvisionnement EU — prime GNL persistante</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Transition Energetique</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Pression réglementaire et ESG — prime de risque croissante</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Capex Renouvelable</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Depenses investissement renouvelables pesent sur FCF</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6.9 %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transition | dividendes élevés, visibilite long terme reduite</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Energy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67/100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149.56</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+8.2 %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62/100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53.5</a:t>
                      </a:r>
                    </a:p>
                  </a:txBody>
                  <a:tcPr>
                    <a:solidFill>
                      <a:srgbClr val="F5F7FA"/>
                    </a:solidFill>
                  </a:tcPr>
                </a:tc>
                <a:tc>
                  <a:txBody>
                    <a:bodyPr/>
                    <a:lstStyle/>
                    <a:p>
                      <a:pPr algn="ctr"/>
                      <a:r>
                        <a:rPr sz="750" b="0">
                          <a:solidFill>
                            <a:srgbClr val="1A1A1A"/>
                          </a:solidFill>
                        </a:rPr>
                        <a:t>11.6x</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+11.8 %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188.28</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+38.7 %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Corpor</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251.91</a:t>
                      </a:r>
                    </a:p>
                  </a:txBody>
                  <a:tcPr>
                    <a:solidFill>
                      <a:srgbClr val="F5F7FA"/>
                    </a:solidFill>
                  </a:tcPr>
                </a:tc>
                <a:tc>
                  <a:txBody>
                    <a:bodyPr/>
                    <a:lstStyle/>
                    <a:p>
                      <a:pPr algn="ctr"/>
                      <a:r>
                        <a:rPr sz="750" b="0">
                          <a:solidFill>
                            <a:srgbClr val="1A1A1A"/>
                          </a:solidFill>
                        </a:rPr>
                        <a:t>11.8x</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+56.4 %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58/100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170.99</a:t>
                      </a:r>
                    </a:p>
                  </a:txBody>
                  <a:tcPr>
                    <a:noFill/>
                  </a:tcPr>
                </a:tc>
                <a:tc>
                  <a:txBody>
                    <a:bodyPr/>
                    <a:lstStyle/>
                    <a:p>
                      <a:pPr algn="ctr"/>
                      <a:r>
                        <a:rPr sz="750" b="0">
                          <a:solidFill>
                            <a:srgbClr val="1A1A1A"/>
                          </a:solidFill>
                        </a:rPr>
                        <a:t>12.8x</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+37.9 %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133.8</a:t>
                      </a:r>
                    </a:p>
                  </a:txBody>
                  <a:tcPr>
                    <a:solidFill>
                      <a:srgbClr val="F5F7FA"/>
                    </a:solidFill>
                  </a:tcPr>
                </a:tc>
                <a:tc>
                  <a:txBody>
                    <a:bodyPr/>
                    <a:lstStyle/>
                    <a:p>
                      <a:pPr algn="ctr"/>
                      <a:r>
                        <a:rPr sz="750" b="0">
                          <a:solidFill>
                            <a:srgbClr val="1A1A1A"/>
                          </a:solidFill>
                        </a:rPr>
                        <a:t>7.5x</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-6.8 %</a:t>
                      </a:r>
                    </a:p>
                  </a:txBody>
                  <a:tcPr>
                    <a:solidFill>
                      <a:srgbClr val="F5F7FA"/>
                    </a:solidFill>
                  </a:tcPr>
                </a:tc>
                <a:tc>
                  <a:txBody>
                    <a:bodyPr/>
                    <a:lstStyle/>
                    <a:p>
                      <a:pPr algn="ctr"/>
                      <a:r>
                        <a:rPr sz="750" b="0">
                          <a:solidFill>
                            <a:srgbClr val="1A1A1A"/>
                          </a:solidFill>
                        </a:rPr>
                        <a:t>+24.2 %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54/100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254.32</a:t>
                      </a:r>
                    </a:p>
                  </a:txBody>
                  <a:tcPr>
                    <a:noFill/>
                  </a:tcPr>
                </a:tc>
                <a:tc>
                  <a:txBody>
                    <a:bodyPr/>
                    <a:lstStyle/>
                    <a:p>
                      <a:pPr algn="ctr"/>
                      <a:r>
                        <a:rPr sz="750" b="0">
                          <a:solidFill>
                            <a:srgbClr val="1A1A1A"/>
                          </a:solidFill>
                        </a:rPr>
                        <a:t>11.3x</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-2.1 %</a:t>
                      </a:r>
                    </a:p>
                  </a:txBody>
                  <a:tcPr>
                    <a:noFill/>
                  </a:tcPr>
                </a:tc>
                <a:tc>
                  <a:txBody>
                    <a:bodyPr/>
                    <a:lstStyle/>
                    <a:p>
                      <a:pPr algn="ctr"/>
                      <a:r>
                        <a:rPr sz="750" b="0">
                          <a:solidFill>
                            <a:srgbClr val="1A1A1A"/>
                          </a:solidFill>
                        </a:rPr>
                        <a:t>+81.8 %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44/100</a:t>
                      </a:r>
                    </a:p>
                  </a:txBody>
                  <a:tcPr>
                    <a:solidFill>
                      <a:srgbClr val="F5F7FA"/>
                    </a:solidFill>
                  </a:tcPr>
                </a:tc>
                <a:tc>
                  <a:txBody>
                    <a:bodyPr/>
                    <a:lstStyle/>
                    <a:p>
                      <a:pPr algn="ctr"/>
                      <a:r>
                        <a:rPr sz="750" b="0">
                          <a:solidFill>
                            <a:srgbClr val="1A1A1A"/>
                          </a:solidFill>
                        </a:rPr>
                        <a:t>SELL</a:t>
                      </a:r>
                    </a:p>
                  </a:txBody>
                  <a:tcPr>
                    <a:solidFill>
                      <a:srgbClr val="F5F7FA"/>
                    </a:solidFill>
                  </a:tcPr>
                </a:tc>
                <a:tc>
                  <a:txBody>
                    <a:bodyPr/>
                    <a:lstStyle/>
                    <a:p>
                      <a:pPr algn="ctr"/>
                      <a:r>
                        <a:rPr sz="750" b="0">
                          <a:solidFill>
                            <a:srgbClr val="1A1A1A"/>
                          </a:solidFill>
                        </a:rPr>
                        <a:t>211.15</a:t>
                      </a:r>
                    </a:p>
                  </a:txBody>
                  <a:tcPr>
                    <a:solidFill>
                      <a:srgbClr val="F5F7FA"/>
                    </a:solidFill>
                  </a:tcPr>
                </a:tc>
                <a:tc>
                  <a:txBody>
                    <a:bodyPr/>
                    <a:lstStyle/>
                    <a:p>
                      <a:pPr algn="ctr"/>
                      <a:r>
                        <a:rPr sz="750" b="0">
                          <a:solidFill>
                            <a:srgbClr val="1A1A1A"/>
                          </a:solidFill>
                        </a:rPr>
                        <a:t>12.4x</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-8.2 %</a:t>
                      </a:r>
                    </a:p>
                  </a:txBody>
                  <a:tcPr>
                    <a:solidFill>
                      <a:srgbClr val="F5F7FA"/>
                    </a:solidFill>
                  </a:tcPr>
                </a:tc>
                <a:tc>
                  <a:txBody>
                    <a:bodyPr/>
                    <a:lstStyle/>
                    <a:p>
                      <a:pPr algn="ctr"/>
                      <a:r>
                        <a:rPr sz="750" b="0">
                          <a:solidFill>
                            <a:srgbClr val="1A1A1A"/>
                          </a:solidFill>
                        </a:rPr>
                        <a:t>+22.2 %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Energy presente 1 BUY / 6 HOLD / 1 SELL sur 8 valeurs analysées. EOG Resources, Inc. (score 67/100)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PSX domine le quadrant Premium Justifie — valorisation élevée (14.5x) soutenue par 12.3 % de marge brute.
COP se positionne en zone Opportunite — EV/EBITDA de 7.5x sous la médiane sectorielle de 11.7x.
La médiane sectorielle ressort a 11.7x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67/100</a:t>
                      </a:r>
                    </a:p>
                  </a:txBody>
                  <a:tcPr>
                    <a:noFill/>
                  </a:tcPr>
                </a:tc>
                <a:tc>
                  <a:txBody>
                    <a:bodyPr/>
                    <a:lstStyle/>
                    <a:p>
                      <a:pPr algn="ctr"/>
                      <a:r>
                        <a:rPr sz="750" b="0">
                          <a:solidFill>
                            <a:srgbClr val="1A1A1A"/>
                          </a:solidFill>
                        </a:rPr>
                        <a:t>16</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62/100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60/100</a:t>
                      </a:r>
                    </a:p>
                  </a:txBody>
                  <a:tcPr>
                    <a:noFill/>
                  </a:tcPr>
                </a:tc>
                <a:tc>
                  <a:txBody>
                    <a:bodyPr/>
                    <a:lstStyle/>
                    <a:p>
                      <a:pPr algn="ctr"/>
                      <a:r>
                        <a:rPr sz="750" b="0">
                          <a:solidFill>
                            <a:srgbClr val="1A1A1A"/>
                          </a:solidFill>
                        </a:rPr>
                        <a:t>16</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Corpor</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58/100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17</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56/100</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54/100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24</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44/100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3</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SELL</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EOG Resources, Inc. presente le profil le plus equilibre du secteur (67/100) avec des scores Value=16, Growth=12,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EOG</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EOG Resources,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179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7.3x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51.8 %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Demande asiatique robuste et OPEP+ disciplinee — Brent attendu 75-85 USD/bbl en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mondiale ou accord OPEP+ defavorable — Brent &lt; 60 USD/bbl entrainerait des coupes dividendes.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SLB</a:t>
            </a:r>
          </a:p>
        </p:txBody>
      </p:sp>
      <p:sp>
        <p:nvSpPr>
          <p:cNvPr id="45" name="Rectangle 44"/>
          <p:cNvSpPr/>
          <p:nvPr/>
        </p:nvSpPr>
        <p:spPr>
          <a:xfrm>
            <a:off x="511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HOLD</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SLB N.V.</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58</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11.6x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Acceleration du calendrier sortie fossiles — actifs bloques en risque.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PSX</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Phillips 66</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203</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14.5x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Surcouts et retards projets offshore wind — impact sur rendements.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1 acteur(s) se detachent nettement du reste du secteur, creant une prime de valorisation significative vs la médiane de 11.7x.
2 societe(s) se traitent sous la médiane — potentiellement les meilleures asymetries risque/rendement sous reserve de catalyseurs fondamentaux.
La dispersion des multiples est caracteristique d'un secteur Energy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149.56</a:t>
                      </a:r>
                    </a:p>
                  </a:txBody>
                  <a:tcPr>
                    <a:noFill/>
                  </a:tcPr>
                </a:tc>
                <a:tc>
                  <a:txBody>
                    <a:bodyPr/>
                    <a:lstStyle/>
                    <a:p>
                      <a:pPr algn="ctr"/>
                      <a:r>
                        <a:rPr sz="750" b="0">
                          <a:solidFill>
                            <a:srgbClr val="1A1A1A"/>
                          </a:solidFill>
                        </a:rPr>
                        <a:t>172.0</a:t>
                      </a:r>
                    </a:p>
                  </a:txBody>
                  <a:tcPr>
                    <a:noFill/>
                  </a:tcPr>
                </a:tc>
                <a:tc>
                  <a:txBody>
                    <a:bodyPr/>
                    <a:lstStyle/>
                    <a:p>
                      <a:pPr algn="ctr"/>
                      <a:r>
                        <a:rPr sz="750" b="0">
                          <a:solidFill>
                            <a:srgbClr val="1A1A1A"/>
                          </a:solidFill>
                        </a:rPr>
                        <a:t>&lt; 142.1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53.5</a:t>
                      </a:r>
                    </a:p>
                  </a:txBody>
                  <a:tcPr>
                    <a:solidFill>
                      <a:srgbClr val="F5F7FA"/>
                    </a:solidFill>
                  </a:tcPr>
                </a:tc>
                <a:tc>
                  <a:txBody>
                    <a:bodyPr/>
                    <a:lstStyle/>
                    <a:p>
                      <a:pPr algn="ctr"/>
                      <a:r>
                        <a:rPr sz="750" b="0">
                          <a:solidFill>
                            <a:srgbClr val="1A1A1A"/>
                          </a:solidFill>
                        </a:rPr>
                        <a:t>61.5</a:t>
                      </a:r>
                    </a:p>
                  </a:txBody>
                  <a:tcPr>
                    <a:solidFill>
                      <a:srgbClr val="F5F7FA"/>
                    </a:solidFill>
                  </a:tcPr>
                </a:tc>
                <a:tc>
                  <a:txBody>
                    <a:bodyPr/>
                    <a:lstStyle/>
                    <a:p>
                      <a:pPr algn="ctr"/>
                      <a:r>
                        <a:rPr sz="750" b="0">
                          <a:solidFill>
                            <a:srgbClr val="1A1A1A"/>
                          </a:solidFill>
                        </a:rPr>
                        <a:t>&lt; 50.8</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188.28</a:t>
                      </a:r>
                    </a:p>
                  </a:txBody>
                  <a:tcPr>
                    <a:noFill/>
                  </a:tcPr>
                </a:tc>
                <a:tc>
                  <a:txBody>
                    <a:bodyPr/>
                    <a:lstStyle/>
                    <a:p>
                      <a:pPr algn="ctr"/>
                      <a:r>
                        <a:rPr sz="750" b="0">
                          <a:solidFill>
                            <a:srgbClr val="1A1A1A"/>
                          </a:solidFill>
                        </a:rPr>
                        <a:t>216.5</a:t>
                      </a:r>
                    </a:p>
                  </a:txBody>
                  <a:tcPr>
                    <a:noFill/>
                  </a:tcPr>
                </a:tc>
                <a:tc>
                  <a:txBody>
                    <a:bodyPr/>
                    <a:lstStyle/>
                    <a:p>
                      <a:pPr algn="ctr"/>
                      <a:r>
                        <a:rPr sz="750" b="0">
                          <a:solidFill>
                            <a:srgbClr val="1A1A1A"/>
                          </a:solidFill>
                        </a:rPr>
                        <a:t>&lt; 178.9</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a:t>
                      </a:r>
                    </a:p>
                  </a:txBody>
                  <a:tcPr>
                    <a:solidFill>
                      <a:srgbClr val="F5F7FA"/>
                    </a:solidFill>
                  </a:tcPr>
                </a:tc>
                <a:tc>
                  <a:txBody>
                    <a:bodyPr/>
                    <a:lstStyle/>
                    <a:p>
                      <a:pPr algn="ctr"/>
                      <a:r>
                        <a:rPr sz="750" b="0">
                          <a:solidFill>
                            <a:srgbClr val="1A1A1A"/>
                          </a:solidFill>
                        </a:rPr>
                        <a:t>251.91</a:t>
                      </a:r>
                    </a:p>
                  </a:txBody>
                  <a:tcPr>
                    <a:solidFill>
                      <a:srgbClr val="F5F7FA"/>
                    </a:solidFill>
                  </a:tcPr>
                </a:tc>
                <a:tc>
                  <a:txBody>
                    <a:bodyPr/>
                    <a:lstStyle/>
                    <a:p>
                      <a:pPr algn="ctr"/>
                      <a:r>
                        <a:rPr sz="750" b="0">
                          <a:solidFill>
                            <a:srgbClr val="1A1A1A"/>
                          </a:solidFill>
                        </a:rPr>
                        <a:t>289.7</a:t>
                      </a:r>
                    </a:p>
                  </a:txBody>
                  <a:tcPr>
                    <a:solidFill>
                      <a:srgbClr val="F5F7FA"/>
                    </a:solidFill>
                  </a:tcPr>
                </a:tc>
                <a:tc>
                  <a:txBody>
                    <a:bodyPr/>
                    <a:lstStyle/>
                    <a:p>
                      <a:pPr algn="ctr"/>
                      <a:r>
                        <a:rPr sz="750" b="0">
                          <a:solidFill>
                            <a:srgbClr val="1A1A1A"/>
                          </a:solidFill>
                        </a:rPr>
                        <a:t>&lt; 239.3</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170.99</a:t>
                      </a:r>
                    </a:p>
                  </a:txBody>
                  <a:tcPr>
                    <a:noFill/>
                  </a:tcPr>
                </a:tc>
                <a:tc>
                  <a:txBody>
                    <a:bodyPr/>
                    <a:lstStyle/>
                    <a:p>
                      <a:pPr algn="ctr"/>
                      <a:r>
                        <a:rPr sz="750" b="0">
                          <a:solidFill>
                            <a:srgbClr val="1A1A1A"/>
                          </a:solidFill>
                        </a:rPr>
                        <a:t>196.6</a:t>
                      </a:r>
                    </a:p>
                  </a:txBody>
                  <a:tcPr>
                    <a:noFill/>
                  </a:tcPr>
                </a:tc>
                <a:tc>
                  <a:txBody>
                    <a:bodyPr/>
                    <a:lstStyle/>
                    <a:p>
                      <a:pPr algn="ctr"/>
                      <a:r>
                        <a:rPr sz="750" b="0">
                          <a:solidFill>
                            <a:srgbClr val="1A1A1A"/>
                          </a:solidFill>
                        </a:rPr>
                        <a:t>&lt; 162.4</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133.8</a:t>
                      </a:r>
                    </a:p>
                  </a:txBody>
                  <a:tcPr>
                    <a:solidFill>
                      <a:srgbClr val="F5F7FA"/>
                    </a:solidFill>
                  </a:tcPr>
                </a:tc>
                <a:tc>
                  <a:txBody>
                    <a:bodyPr/>
                    <a:lstStyle/>
                    <a:p>
                      <a:pPr algn="ctr"/>
                      <a:r>
                        <a:rPr sz="750" b="0">
                          <a:solidFill>
                            <a:srgbClr val="1A1A1A"/>
                          </a:solidFill>
                        </a:rPr>
                        <a:t>153.9</a:t>
                      </a:r>
                    </a:p>
                  </a:txBody>
                  <a:tcPr>
                    <a:solidFill>
                      <a:srgbClr val="F5F7FA"/>
                    </a:solidFill>
                  </a:tcPr>
                </a:tc>
                <a:tc>
                  <a:txBody>
                    <a:bodyPr/>
                    <a:lstStyle/>
                    <a:p>
                      <a:pPr algn="ctr"/>
                      <a:r>
                        <a:rPr sz="750" b="0">
                          <a:solidFill>
                            <a:srgbClr val="1A1A1A"/>
                          </a:solidFill>
                        </a:rPr>
                        <a:t>&lt; 127.1</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a:t>
                      </a:r>
                    </a:p>
                  </a:txBody>
                  <a:tcPr>
                    <a:noFill/>
                  </a:tcPr>
                </a:tc>
                <a:tc>
                  <a:txBody>
                    <a:bodyPr/>
                    <a:lstStyle/>
                    <a:p>
                      <a:pPr algn="ctr"/>
                      <a:r>
                        <a:rPr sz="750" b="0">
                          <a:solidFill>
                            <a:srgbClr val="1A1A1A"/>
                          </a:solidFill>
                        </a:rPr>
                        <a:t>254.32</a:t>
                      </a:r>
                    </a:p>
                  </a:txBody>
                  <a:tcPr>
                    <a:noFill/>
                  </a:tcPr>
                </a:tc>
                <a:tc>
                  <a:txBody>
                    <a:bodyPr/>
                    <a:lstStyle/>
                    <a:p>
                      <a:pPr algn="ctr"/>
                      <a:r>
                        <a:rPr sz="750" b="0">
                          <a:solidFill>
                            <a:srgbClr val="1A1A1A"/>
                          </a:solidFill>
                        </a:rPr>
                        <a:t>292.5</a:t>
                      </a:r>
                    </a:p>
                  </a:txBody>
                  <a:tcPr>
                    <a:noFill/>
                  </a:tcPr>
                </a:tc>
                <a:tc>
                  <a:txBody>
                    <a:bodyPr/>
                    <a:lstStyle/>
                    <a:p>
                      <a:pPr algn="ctr"/>
                      <a:r>
                        <a:rPr sz="750" b="0">
                          <a:solidFill>
                            <a:srgbClr val="1A1A1A"/>
                          </a:solidFill>
                        </a:rPr>
                        <a:t>&lt; 241.6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211.15</a:t>
                      </a:r>
                    </a:p>
                  </a:txBody>
                  <a:tcPr>
                    <a:solidFill>
                      <a:srgbClr val="F5F7FA"/>
                    </a:solidFill>
                  </a:tcPr>
                </a:tc>
                <a:tc>
                  <a:txBody>
                    <a:bodyPr/>
                    <a:lstStyle/>
                    <a:p>
                      <a:pPr algn="ctr"/>
                      <a:r>
                        <a:rPr sz="750" b="0">
                          <a:solidFill>
                            <a:srgbClr val="1A1A1A"/>
                          </a:solidFill>
                        </a:rPr>
                        <a:t>242.8</a:t>
                      </a:r>
                    </a:p>
                  </a:txBody>
                  <a:tcPr>
                    <a:solidFill>
                      <a:srgbClr val="F5F7FA"/>
                    </a:solidFill>
                  </a:tcPr>
                </a:tc>
                <a:tc>
                  <a:txBody>
                    <a:bodyPr/>
                    <a:lstStyle/>
                    <a:p>
                      <a:pPr algn="ctr"/>
                      <a:r>
                        <a:rPr sz="750" b="0">
                          <a:solidFill>
                            <a:srgbClr val="1A1A1A"/>
                          </a:solidFill>
                        </a:rPr>
                        <a:t>&lt; 200.6</a:t>
                      </a:r>
                    </a:p>
                  </a:txBody>
                  <a:tcPr>
                    <a:solidFill>
                      <a:srgbClr val="F5F7FA"/>
                    </a:solidFill>
                  </a:tcPr>
                </a:tc>
                <a:tc>
                  <a:txBody>
                    <a:bodyPr/>
                    <a:lstStyle/>
                    <a:p>
                      <a:pPr algn="ctr"/>
                      <a:r>
                        <a:rPr sz="750" b="0">
                          <a:solidFill>
                            <a:srgbClr val="1A1A1A"/>
                          </a:solidFill>
                        </a:rPr>
                        <a:t>Eviter</a:t>
                      </a:r>
                    </a:p>
                  </a:txBody>
                  <a:tcPr>
                    <a:solidFill>
                      <a:srgbClr val="F5F7FA"/>
                    </a:solidFill>
                  </a:tcPr>
                </a:tc>
                <a:tc>
                  <a:txBody>
                    <a:bodyPr/>
                    <a:lstStyle/>
                    <a:p>
                      <a:pPr algn="ctr"/>
                      <a:r>
                        <a:rPr sz="750" b="0">
                          <a:solidFill>
                            <a:srgbClr val="1A1A1A"/>
                          </a:solidFill>
                        </a:rPr>
                        <a:t>~35 %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30000"/>
            <a:ext cx="8316000" cy="324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1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Volatilite Petrole</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mondiale ou accord OPEP+ defavorable — Brent &lt; 60 USD/bbl entrainerait des coupes dividendes.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Transition Réglementaire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Acceleration du calendrier sortie fossiles — actifs bloques en risque.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Capex Renouvelable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Surcouts et retards projets offshore wind — impact sur rendements.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Petrole</a:t>
                      </a:r>
                    </a:p>
                  </a:txBody>
                  <a:tcPr>
                    <a:noFill/>
                  </a:tcPr>
                </a:tc>
                <a:tc>
                  <a:txBody>
                    <a:bodyPr/>
                    <a:lstStyle/>
                    <a:p>
                      <a:pPr algn="ctr"/>
                      <a:r>
                        <a:rPr sz="800" b="0">
                          <a:solidFill>
                            <a:srgbClr val="1A1A1A"/>
                          </a:solidFill>
                        </a:rPr>
                        <a:t>Brent &lt; 55 USD/bbl 6 mois — coupes dividendes</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Politique</a:t>
                      </a:r>
                    </a:p>
                  </a:txBody>
                  <a:tcPr>
                    <a:solidFill>
                      <a:srgbClr val="F5F7FA"/>
                    </a:solidFill>
                  </a:tcPr>
                </a:tc>
                <a:tc>
                  <a:txBody>
                    <a:bodyPr/>
                    <a:lstStyle/>
                    <a:p>
                      <a:pPr algn="ctr"/>
                      <a:r>
                        <a:rPr sz="800" b="0">
                          <a:solidFill>
                            <a:srgbClr val="1A1A1A"/>
                          </a:solidFill>
                        </a:rPr>
                        <a:t>Taxes exceptionnelles profits majors</a:t>
                      </a:r>
                    </a:p>
                  </a:txBody>
                  <a:tcPr>
                    <a:solidFill>
                      <a:srgbClr val="F5F7FA"/>
                    </a:solidFill>
                  </a:tcPr>
                </a:tc>
                <a:tc>
                  <a:txBody>
                    <a:bodyPr/>
                    <a:lstStyle/>
                    <a:p>
                      <a:pPr algn="ctr"/>
                      <a:r>
                        <a:rPr sz="800" b="0">
                          <a:solidFill>
                            <a:srgbClr val="1A1A1A"/>
                          </a:solidFill>
                        </a:rPr>
                        <a:t>Immediat</a:t>
                      </a:r>
                    </a:p>
                  </a:txBody>
                  <a:tcPr>
                    <a:solidFill>
                      <a:srgbClr val="F5F7FA"/>
                    </a:solidFill>
                  </a:tcPr>
                </a:tc>
              </a:tr>
              <a:tr h="223200">
                <a:tc>
                  <a:txBody>
                    <a:bodyPr/>
                    <a:lstStyle/>
                    <a:p>
                      <a:pPr algn="ctr"/>
                      <a:r>
                        <a:rPr sz="800" b="0">
                          <a:solidFill>
                            <a:srgbClr val="1A1A1A"/>
                          </a:solidFill>
                        </a:rPr>
                        <a:t>Transition</a:t>
                      </a:r>
                    </a:p>
                  </a:txBody>
                  <a:tcPr>
                    <a:noFill/>
                  </a:tcPr>
                </a:tc>
                <a:tc>
                  <a:txBody>
                    <a:bodyPr/>
                    <a:lstStyle/>
                    <a:p>
                      <a:pPr algn="ctr"/>
                      <a:r>
                        <a:rPr sz="800" b="0">
                          <a:solidFill>
                            <a:srgbClr val="1A1A1A"/>
                          </a:solidFill>
                        </a:rPr>
                        <a:t>Calendrier sortie fossiles avance 10 ans</a:t>
                      </a:r>
                    </a:p>
                  </a:txBody>
                  <a:tcPr>
                    <a:noFill/>
                  </a:tcPr>
                </a:tc>
                <a:tc>
                  <a:txBody>
                    <a:bodyPr/>
                    <a:lstStyle/>
                    <a:p>
                      <a:pPr algn="ctr"/>
                      <a:r>
                        <a:rPr sz="800" b="0">
                          <a:solidFill>
                            <a:srgbClr val="1A1A1A"/>
                          </a:solidFill>
                        </a:rPr>
                        <a:t>24-36 mois</a:t>
                      </a:r>
                    </a:p>
                  </a:txBody>
                  <a:tcPr>
                    <a:noFill/>
                  </a:tcPr>
                </a:tc>
              </a:tr>
              <a:tr h="223200">
                <a:tc>
                  <a:txBody>
                    <a:bodyPr/>
                    <a:lstStyle/>
                    <a:p>
                      <a:pPr algn="ctr"/>
                      <a:r>
                        <a:rPr sz="800" b="0">
                          <a:solidFill>
                            <a:srgbClr val="1A1A1A"/>
                          </a:solidFill>
                        </a:rPr>
                        <a:t>Demande</a:t>
                      </a:r>
                    </a:p>
                  </a:txBody>
                  <a:tcPr>
                    <a:solidFill>
                      <a:srgbClr val="F5F7FA"/>
                    </a:solidFill>
                  </a:tcPr>
                </a:tc>
                <a:tc>
                  <a:txBody>
                    <a:bodyPr/>
                    <a:lstStyle/>
                    <a:p>
                      <a:pPr algn="ctr"/>
                      <a:r>
                        <a:rPr sz="800" b="0">
                          <a:solidFill>
                            <a:srgbClr val="1A1A1A"/>
                          </a:solidFill>
                        </a:rPr>
                        <a:t>Pic demande petroliere confirme avant 2030</a:t>
                      </a:r>
                    </a:p>
                  </a:txBody>
                  <a:tcPr>
                    <a:solidFill>
                      <a:srgbClr val="F5F7FA"/>
                    </a:solidFill>
                  </a:tcPr>
                </a:tc>
                <a:tc>
                  <a:txBody>
                    <a:bodyPr/>
                    <a:lstStyle/>
                    <a:p>
                      <a:pPr algn="ctr"/>
                      <a:r>
                        <a:rPr sz="800" b="0">
                          <a:solidFill>
                            <a:srgbClr val="1A1A1A"/>
                          </a:solidFill>
                        </a:rPr>
                        <a:t>24-48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Prix Petrole Soutenu — Demande asiatique robuste et OPEP+ disciplinee — Brent attendu 75-85 USD/bbl en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Volatilite Petrole — Recession mondiale ou accord OPEP+ defavorable — Brent &lt; 60 USD/bbl entrainerait des coupes dividendes.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Energy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Energy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VLO  +82%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EOG  +8%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Ecart 74 pts — 8 valeur(s) positives vs 0 negatives.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integre dans le score FinSight comme signal de confirmation de la these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