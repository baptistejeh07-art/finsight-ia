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Énergie</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NEUTRE</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B06000"/>
                </a:solidFill>
              </a:rPr>
              <a:t>● NEUTRE</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11.1x  ·  Croissance med. : -1.2 %  ·  Marge EBITDA med. : 19.4 %  ·  Score moyen : 62/100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Prix Petrole Soutenu</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Demande asiatique robuste et OPEP+ disciplinée — Brent attendu 75-85 USD/bbl en 2026.</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Investissements Renouvelables</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Plans de transition des majors — allocation capex renouvelables +25 % pa.</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GNL Européen</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Diversification approvisionnement post-Ukraine — primes GNL structurellement élevées.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Volatilite Petrole</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Récession mondiale ou accord OPEP+ défavorable — Brent &lt; 60 USD/bbl entraînerait des coupes dividendes.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Transition Réglementaire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Accélération du calendrier sortie fossiles — actifs bloques en risque.</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Capex Renouvelable</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Surcoûts et retards projets offshore wind — impact sur rendements.</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11.1x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Marché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-1.2 %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19.4 %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+51.0 %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Synthèse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positionnément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Caractéristiques structurelles &amp; métriques de référence</a:t>
            </a:r>
          </a:p>
        </p:txBody>
      </p:sp>
      <p:sp>
        <p:nvSpPr>
          <p:cNvPr id="15" name="Rectangle 14"/>
          <p:cNvSpPr/>
          <p:nvPr/>
        </p:nvSpPr>
        <p:spPr>
          <a:xfrm>
            <a:off x="324000" y="900000"/>
            <a:ext cx="4932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900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928800"/>
            <a:ext cx="4788000" cy="162000"/>
          </a:xfrm>
          <a:prstGeom prst="rect">
            <a:avLst/>
          </a:prstGeom>
          <a:noFill/>
        </p:spPr>
        <p:txBody>
          <a:bodyPr wrap="square">
            <a:spAutoFit/>
          </a:bodyPr>
          <a:lstStyle/>
          <a:p>
            <a:pPr algn="l"/>
            <a:r>
              <a:rPr sz="900" b="1" i="0">
                <a:solidFill>
                  <a:srgbClr val="FFFFFF"/>
                </a:solidFill>
              </a:rPr>
              <a:t>PANORAMA SECTORIEL</a:t>
            </a:r>
          </a:p>
        </p:txBody>
      </p:sp>
      <p:sp>
        <p:nvSpPr>
          <p:cNvPr id="19" name="TextBox 18"/>
          <p:cNvSpPr txBox="1"/>
          <p:nvPr/>
        </p:nvSpPr>
        <p:spPr>
          <a:xfrm>
            <a:off x="468000" y="1152000"/>
            <a:ext cx="4716000" cy="936000"/>
          </a:xfrm>
          <a:prstGeom prst="rect">
            <a:avLst/>
          </a:prstGeom>
          <a:noFill/>
        </p:spPr>
        <p:txBody>
          <a:bodyPr wrap="square">
            <a:spAutoFit/>
          </a:bodyPr>
          <a:lstStyle/>
          <a:p>
            <a:pPr algn="l"/>
            <a:r>
              <a:rPr sz="1000" b="0" i="0">
                <a:solidFill>
                  <a:srgbClr val="555555"/>
                </a:solidFill>
              </a:rPr>
              <a:t>Le secteur Énergie couvre les majors petrolieres et gazieres, les énergies renouvelables et les services parapetroliers. Il reste marque par la volatilité des prix des matières premières, tout en beneficiant de la transition énergétique.</a:t>
            </a:r>
          </a:p>
        </p:txBody>
      </p:sp>
      <p:sp>
        <p:nvSpPr>
          <p:cNvPr id="20" name="Rectangle 19"/>
          <p:cNvSpPr/>
          <p:nvPr/>
        </p:nvSpPr>
        <p:spPr>
          <a:xfrm>
            <a:off x="324000" y="2268000"/>
            <a:ext cx="4932000" cy="239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4000" y="2268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2296800"/>
            <a:ext cx="4788000" cy="162000"/>
          </a:xfrm>
          <a:prstGeom prst="rect">
            <a:avLst/>
          </a:prstGeom>
          <a:noFill/>
        </p:spPr>
        <p:txBody>
          <a:bodyPr wrap="square">
            <a:spAutoFit/>
          </a:bodyPr>
          <a:lstStyle/>
          <a:p>
            <a:pPr algn="l"/>
            <a:r>
              <a:rPr sz="900" b="1" i="0">
                <a:solidFill>
                  <a:srgbClr val="FFFFFF"/>
                </a:solidFill>
              </a:rPr>
              <a:t>CATALYSEURS CLÉS</a:t>
            </a:r>
          </a:p>
        </p:txBody>
      </p:sp>
      <p:sp>
        <p:nvSpPr>
          <p:cNvPr id="23" name="Rectangle 22"/>
          <p:cNvSpPr/>
          <p:nvPr/>
        </p:nvSpPr>
        <p:spPr>
          <a:xfrm>
            <a:off x="396000" y="2520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3999" y="2538000"/>
            <a:ext cx="4680000" cy="162000"/>
          </a:xfrm>
          <a:prstGeom prst="rect">
            <a:avLst/>
          </a:prstGeom>
          <a:noFill/>
        </p:spPr>
        <p:txBody>
          <a:bodyPr wrap="square">
            <a:spAutoFit/>
          </a:bodyPr>
          <a:lstStyle/>
          <a:p>
            <a:pPr algn="l"/>
            <a:r>
              <a:rPr sz="1000" b="1" i="0">
                <a:solidFill>
                  <a:srgbClr val="1B3A6B"/>
                </a:solidFill>
              </a:rPr>
              <a:t>Prix Petrole Soutenu</a:t>
            </a:r>
          </a:p>
        </p:txBody>
      </p:sp>
      <p:sp>
        <p:nvSpPr>
          <p:cNvPr id="25" name="TextBox 24"/>
          <p:cNvSpPr txBox="1"/>
          <p:nvPr/>
        </p:nvSpPr>
        <p:spPr>
          <a:xfrm>
            <a:off x="503999" y="2718000"/>
            <a:ext cx="4680000" cy="450000"/>
          </a:xfrm>
          <a:prstGeom prst="rect">
            <a:avLst/>
          </a:prstGeom>
          <a:noFill/>
        </p:spPr>
        <p:txBody>
          <a:bodyPr wrap="square">
            <a:spAutoFit/>
          </a:bodyPr>
          <a:lstStyle/>
          <a:p>
            <a:pPr algn="l"/>
            <a:r>
              <a:rPr sz="900" b="0" i="0">
                <a:solidFill>
                  <a:srgbClr val="555555"/>
                </a:solidFill>
              </a:rPr>
              <a:t>Demande asiatique robuste et OPEP+ disciplinée — Brent attendu 75-85 USD/bbl en 2026.</a:t>
            </a:r>
          </a:p>
        </p:txBody>
      </p:sp>
      <p:sp>
        <p:nvSpPr>
          <p:cNvPr id="26" name="Rectangle 25"/>
          <p:cNvSpPr/>
          <p:nvPr/>
        </p:nvSpPr>
        <p:spPr>
          <a:xfrm>
            <a:off x="396000" y="3221999"/>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3999" y="3240000"/>
            <a:ext cx="4680000" cy="162000"/>
          </a:xfrm>
          <a:prstGeom prst="rect">
            <a:avLst/>
          </a:prstGeom>
          <a:noFill/>
        </p:spPr>
        <p:txBody>
          <a:bodyPr wrap="square">
            <a:spAutoFit/>
          </a:bodyPr>
          <a:lstStyle/>
          <a:p>
            <a:pPr algn="l"/>
            <a:r>
              <a:rPr sz="1000" b="1" i="0">
                <a:solidFill>
                  <a:srgbClr val="1B3A6B"/>
                </a:solidFill>
              </a:rPr>
              <a:t>Investissements Renouvelables</a:t>
            </a:r>
          </a:p>
        </p:txBody>
      </p:sp>
      <p:sp>
        <p:nvSpPr>
          <p:cNvPr id="28" name="TextBox 27"/>
          <p:cNvSpPr txBox="1"/>
          <p:nvPr/>
        </p:nvSpPr>
        <p:spPr>
          <a:xfrm>
            <a:off x="503999" y="3420000"/>
            <a:ext cx="4680000" cy="450000"/>
          </a:xfrm>
          <a:prstGeom prst="rect">
            <a:avLst/>
          </a:prstGeom>
          <a:noFill/>
        </p:spPr>
        <p:txBody>
          <a:bodyPr wrap="square">
            <a:spAutoFit/>
          </a:bodyPr>
          <a:lstStyle/>
          <a:p>
            <a:pPr algn="l"/>
            <a:r>
              <a:rPr sz="900" b="0" i="0">
                <a:solidFill>
                  <a:srgbClr val="555555"/>
                </a:solidFill>
              </a:rPr>
              <a:t>Plans de transition des majors — allocation capex renouvelables +25 % pa.</a:t>
            </a:r>
          </a:p>
        </p:txBody>
      </p:sp>
      <p:sp>
        <p:nvSpPr>
          <p:cNvPr id="29" name="Rectangle 28"/>
          <p:cNvSpPr/>
          <p:nvPr/>
        </p:nvSpPr>
        <p:spPr>
          <a:xfrm>
            <a:off x="396000" y="3924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3999" y="3942000"/>
            <a:ext cx="4680000" cy="162000"/>
          </a:xfrm>
          <a:prstGeom prst="rect">
            <a:avLst/>
          </a:prstGeom>
          <a:noFill/>
        </p:spPr>
        <p:txBody>
          <a:bodyPr wrap="square">
            <a:spAutoFit/>
          </a:bodyPr>
          <a:lstStyle/>
          <a:p>
            <a:pPr algn="l"/>
            <a:r>
              <a:rPr sz="1000" b="1" i="0">
                <a:solidFill>
                  <a:srgbClr val="1B3A6B"/>
                </a:solidFill>
              </a:rPr>
              <a:t>GNL Européen</a:t>
            </a:r>
          </a:p>
        </p:txBody>
      </p:sp>
      <p:sp>
        <p:nvSpPr>
          <p:cNvPr id="31" name="TextBox 30"/>
          <p:cNvSpPr txBox="1"/>
          <p:nvPr/>
        </p:nvSpPr>
        <p:spPr>
          <a:xfrm>
            <a:off x="503999" y="4122000"/>
            <a:ext cx="4680000" cy="450000"/>
          </a:xfrm>
          <a:prstGeom prst="rect">
            <a:avLst/>
          </a:prstGeom>
          <a:noFill/>
        </p:spPr>
        <p:txBody>
          <a:bodyPr wrap="square">
            <a:spAutoFit/>
          </a:bodyPr>
          <a:lstStyle/>
          <a:p>
            <a:pPr algn="l"/>
            <a:r>
              <a:rPr sz="900" b="0" i="0">
                <a:solidFill>
                  <a:srgbClr val="555555"/>
                </a:solidFill>
              </a:rPr>
              <a:t>Diversification approvisionnement post-Ukraine — primes GNL structurellement élevées.</a:t>
            </a:r>
          </a:p>
        </p:txBody>
      </p:sp>
      <p:graphicFrame>
        <p:nvGraphicFramePr>
          <p:cNvPr id="32" name="Table 31"/>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11.1x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19.4 %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-1.2 %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+51.0 %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62/100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Sociétés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Analysées</a:t>
                      </a:r>
                    </a:p>
                  </a:txBody>
                  <a:tcPr>
                    <a:solidFill>
                      <a:srgbClr val="F5F7FA"/>
                    </a:solidFill>
                  </a:tcPr>
                </a:tc>
              </a:tr>
            </a:tbl>
          </a:graphicData>
        </a:graphic>
      </p:graphicFrame>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6.8x</a:t>
                      </a:r>
                    </a:p>
                  </a:txBody>
                  <a:tcPr>
                    <a:noFill/>
                  </a:tcPr>
                </a:tc>
                <a:tc>
                  <a:txBody>
                    <a:bodyPr/>
                    <a:lstStyle/>
                    <a:p>
                      <a:pPr algn="ctr"/>
                      <a:r>
                        <a:rPr sz="750" b="0">
                          <a:solidFill>
                            <a:srgbClr val="1A1A1A"/>
                          </a:solidFill>
                        </a:rPr>
                        <a:t>3.5x</a:t>
                      </a:r>
                    </a:p>
                  </a:txBody>
                  <a:tcPr>
                    <a:noFill/>
                  </a:tcPr>
                </a:tc>
                <a:tc>
                  <a:txBody>
                    <a:bodyPr/>
                    <a:lstStyle/>
                    <a:p>
                      <a:pPr algn="ctr"/>
                      <a:r>
                        <a:rPr sz="750" b="0">
                          <a:solidFill>
                            <a:srgbClr val="1A1A1A"/>
                          </a:solidFill>
                        </a:rPr>
                        <a:t>14.6x</a:t>
                      </a:r>
                    </a:p>
                  </a:txBody>
                  <a:tcPr>
                    <a:noFill/>
                  </a:tcPr>
                </a:tc>
                <a:tc>
                  <a:txBody>
                    <a:bodyPr/>
                    <a:lstStyle/>
                    <a:p>
                      <a:pPr algn="ctr"/>
                      <a:r>
                        <a:rPr sz="750" b="0">
                          <a:solidFill>
                            <a:srgbClr val="1A1A1A"/>
                          </a:solidFill>
                        </a:rPr>
                        <a:t>62.0 %</a:t>
                      </a:r>
                    </a:p>
                  </a:txBody>
                  <a:tcPr>
                    <a:noFill/>
                  </a:tcPr>
                </a:tc>
                <a:tc>
                  <a:txBody>
                    <a:bodyPr/>
                    <a:lstStyle/>
                    <a:p>
                      <a:pPr algn="ctr"/>
                      <a:r>
                        <a:rPr sz="750" b="0">
                          <a:solidFill>
                            <a:srgbClr val="1A1A1A"/>
                          </a:solidFill>
                        </a:rPr>
                        <a:t>51.8 %</a:t>
                      </a:r>
                    </a:p>
                  </a:txBody>
                  <a:tcPr>
                    <a:noFill/>
                  </a:tcPr>
                </a:tc>
                <a:tc>
                  <a:txBody>
                    <a:bodyPr/>
                    <a:lstStyle/>
                    <a:p>
                      <a:pPr algn="ctr"/>
                      <a:r>
                        <a:rPr sz="750" b="0">
                          <a:solidFill>
                            <a:srgbClr val="1A1A1A"/>
                          </a:solidFill>
                        </a:rPr>
                        <a:t>16.8 %</a:t>
                      </a:r>
                    </a:p>
                  </a:txBody>
                  <a:tcPr>
                    <a:noFill/>
                  </a:tcPr>
                </a:tc>
              </a:tr>
              <a:tr h="198000">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11.3x</a:t>
                      </a:r>
                    </a:p>
                  </a:txBody>
                  <a:tcPr>
                    <a:solidFill>
                      <a:srgbClr val="F5F7FA"/>
                    </a:solidFill>
                  </a:tcPr>
                </a:tc>
                <a:tc>
                  <a:txBody>
                    <a:bodyPr/>
                    <a:lstStyle/>
                    <a:p>
                      <a:pPr algn="ctr"/>
                      <a:r>
                        <a:rPr sz="750" b="0">
                          <a:solidFill>
                            <a:srgbClr val="1A1A1A"/>
                          </a:solidFill>
                        </a:rPr>
                        <a:t>2.4x</a:t>
                      </a:r>
                    </a:p>
                  </a:txBody>
                  <a:tcPr>
                    <a:solidFill>
                      <a:srgbClr val="F5F7FA"/>
                    </a:solidFill>
                  </a:tcPr>
                </a:tc>
                <a:tc>
                  <a:txBody>
                    <a:bodyPr/>
                    <a:lstStyle/>
                    <a:p>
                      <a:pPr algn="ctr"/>
                      <a:r>
                        <a:rPr sz="750" b="0">
                          <a:solidFill>
                            <a:srgbClr val="1A1A1A"/>
                          </a:solidFill>
                        </a:rPr>
                        <a:t>21.8x</a:t>
                      </a:r>
                    </a:p>
                  </a:txBody>
                  <a:tcPr>
                    <a:solidFill>
                      <a:srgbClr val="F5F7FA"/>
                    </a:solidFill>
                  </a:tcPr>
                </a:tc>
                <a:tc>
                  <a:txBody>
                    <a:bodyPr/>
                    <a:lstStyle/>
                    <a:p>
                      <a:pPr algn="ctr"/>
                      <a:r>
                        <a:rPr sz="750" b="0">
                          <a:solidFill>
                            <a:srgbClr val="1A1A1A"/>
                          </a:solidFill>
                        </a:rPr>
                        <a:t>18.7 %</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13.9 %</a:t>
                      </a:r>
                    </a:p>
                  </a:txBody>
                  <a:tcPr>
                    <a:solidFill>
                      <a:srgbClr val="F5F7FA"/>
                    </a:solidFill>
                  </a:tcPr>
                </a:tc>
              </a:tr>
              <a:tr h="198000">
                <a:tc>
                  <a:txBody>
                    <a:bodyPr/>
                    <a:lstStyle/>
                    <a:p>
                      <a:pPr algn="ctr"/>
                      <a:r>
                        <a:rPr sz="750" b="0">
                          <a:solidFill>
                            <a:srgbClr val="1A1A1A"/>
                          </a:solidFill>
                        </a:rPr>
                        <a:t>Phillips 66</a:t>
                      </a:r>
                    </a:p>
                  </a:txBody>
                  <a:tcPr>
                    <a:noFill/>
                  </a:tcPr>
                </a:tc>
                <a:tc>
                  <a:txBody>
                    <a:bodyPr/>
                    <a:lstStyle/>
                    <a:p>
                      <a:pPr algn="ctr"/>
                      <a:r>
                        <a:rPr sz="750" b="0">
                          <a:solidFill>
                            <a:srgbClr val="1A1A1A"/>
                          </a:solidFill>
                        </a:rPr>
                        <a:t>12.9x</a:t>
                      </a:r>
                    </a:p>
                  </a:txBody>
                  <a:tcPr>
                    <a:noFill/>
                  </a:tcPr>
                </a:tc>
                <a:tc>
                  <a:txBody>
                    <a:bodyPr/>
                    <a:lstStyle/>
                    <a:p>
                      <a:pPr algn="ctr"/>
                      <a:r>
                        <a:rPr sz="750" b="0">
                          <a:solidFill>
                            <a:srgbClr val="1A1A1A"/>
                          </a:solidFill>
                        </a:rPr>
                        <a:t>0.6x</a:t>
                      </a:r>
                    </a:p>
                  </a:txBody>
                  <a:tcPr>
                    <a:noFill/>
                  </a:tcPr>
                </a:tc>
                <a:tc>
                  <a:txBody>
                    <a:bodyPr/>
                    <a:lstStyle/>
                    <a:p>
                      <a:pPr algn="ctr"/>
                      <a:r>
                        <a:rPr sz="750" b="0">
                          <a:solidFill>
                            <a:srgbClr val="1A1A1A"/>
                          </a:solidFill>
                        </a:rPr>
                        <a:t>14.7x</a:t>
                      </a:r>
                    </a:p>
                  </a:txBody>
                  <a:tcPr>
                    <a:noFill/>
                  </a:tcPr>
                </a:tc>
                <a:tc>
                  <a:txBody>
                    <a:bodyPr/>
                    <a:lstStyle/>
                    <a:p>
                      <a:pPr algn="ctr"/>
                      <a:r>
                        <a:rPr sz="750" b="0">
                          <a:solidFill>
                            <a:srgbClr val="1A1A1A"/>
                          </a:solidFill>
                        </a:rPr>
                        <a:t>12.3 %</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15.4 %</a:t>
                      </a:r>
                    </a:p>
                  </a:txBody>
                  <a:tcPr>
                    <a:noFill/>
                  </a:tcPr>
                </a:tc>
              </a:tr>
              <a:tr h="198000">
                <a:tc>
                  <a:txBody>
                    <a:bodyPr/>
                    <a:lstStyle/>
                    <a:p>
                      <a:pPr algn="ctr"/>
                      <a:r>
                        <a:rPr sz="750" b="0">
                          <a:solidFill>
                            <a:srgbClr val="1A1A1A"/>
                          </a:solidFill>
                        </a:rPr>
                        <a:t>Marathon Petroleum Corporati</a:t>
                      </a:r>
                    </a:p>
                  </a:txBody>
                  <a:tcPr>
                    <a:solidFill>
                      <a:srgbClr val="F5F7FA"/>
                    </a:solidFill>
                  </a:tcPr>
                </a:tc>
                <a:tc>
                  <a:txBody>
                    <a:bodyPr/>
                    <a:lstStyle/>
                    <a:p>
                      <a:pPr algn="ctr"/>
                      <a:r>
                        <a:rPr sz="750" b="0">
                          <a:solidFill>
                            <a:srgbClr val="1A1A1A"/>
                          </a:solidFill>
                        </a:rPr>
                        <a:t>11.0x</a:t>
                      </a:r>
                    </a:p>
                  </a:txBody>
                  <a:tcPr>
                    <a:solidFill>
                      <a:srgbClr val="F5F7FA"/>
                    </a:solidFill>
                  </a:tcPr>
                </a:tc>
                <a:tc>
                  <a:txBody>
                    <a:bodyPr/>
                    <a:lstStyle/>
                    <a:p>
                      <a:pPr algn="ctr"/>
                      <a:r>
                        <a:rPr sz="750" b="0">
                          <a:solidFill>
                            <a:srgbClr val="1A1A1A"/>
                          </a:solidFill>
                        </a:rPr>
                        <a:t>0.8x</a:t>
                      </a:r>
                    </a:p>
                  </a:txBody>
                  <a:tcPr>
                    <a:solidFill>
                      <a:srgbClr val="F5F7FA"/>
                    </a:solidFill>
                  </a:tcPr>
                </a:tc>
                <a:tc>
                  <a:txBody>
                    <a:bodyPr/>
                    <a:lstStyle/>
                    <a:p>
                      <a:pPr algn="ctr"/>
                      <a:r>
                        <a:rPr sz="750" b="0">
                          <a:solidFill>
                            <a:srgbClr val="1A1A1A"/>
                          </a:solidFill>
                        </a:rPr>
                        <a:t>17.0x</a:t>
                      </a:r>
                    </a:p>
                  </a:txBody>
                  <a:tcPr>
                    <a:solidFill>
                      <a:srgbClr val="F5F7FA"/>
                    </a:solidFill>
                  </a:tcPr>
                </a:tc>
                <a:tc>
                  <a:txBody>
                    <a:bodyPr/>
                    <a:lstStyle/>
                    <a:p>
                      <a:pPr algn="ctr"/>
                      <a:r>
                        <a:rPr sz="750" b="0">
                          <a:solidFill>
                            <a:srgbClr val="1A1A1A"/>
                          </a:solidFill>
                        </a:rPr>
                        <a:t>10.3 %</a:t>
                      </a:r>
                    </a:p>
                  </a:txBody>
                  <a:tcPr>
                    <a:solidFill>
                      <a:srgbClr val="F5F7FA"/>
                    </a:solidFill>
                  </a:tcPr>
                </a:tc>
                <a:tc>
                  <a:txBody>
                    <a:bodyPr/>
                    <a:lstStyle/>
                    <a:p>
                      <a:pPr algn="ctr"/>
                      <a:r>
                        <a:rPr sz="750" b="0">
                          <a:solidFill>
                            <a:srgbClr val="1A1A1A"/>
                          </a:solidFill>
                        </a:rPr>
                        <a:t>7.1 %</a:t>
                      </a:r>
                    </a:p>
                  </a:txBody>
                  <a:tcPr>
                    <a:solidFill>
                      <a:srgbClr val="F5F7FA"/>
                    </a:solidFill>
                  </a:tcPr>
                </a:tc>
                <a:tc>
                  <a:txBody>
                    <a:bodyPr/>
                    <a:lstStyle/>
                    <a:p>
                      <a:pPr algn="ctr"/>
                      <a:r>
                        <a:rPr sz="750" b="0">
                          <a:solidFill>
                            <a:srgbClr val="1A1A1A"/>
                          </a:solidFill>
                        </a:rPr>
                        <a:t>24.2 %</a:t>
                      </a:r>
                    </a:p>
                  </a:txBody>
                  <a:tcPr>
                    <a:solidFill>
                      <a:srgbClr val="F5F7FA"/>
                    </a:solidFill>
                  </a:tcPr>
                </a:tc>
              </a:tr>
              <a:tr h="198000">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11.5x</a:t>
                      </a:r>
                    </a:p>
                  </a:txBody>
                  <a:tcPr>
                    <a:noFill/>
                  </a:tcPr>
                </a:tc>
                <a:tc>
                  <a:txBody>
                    <a:bodyPr/>
                    <a:lstStyle/>
                    <a:p>
                      <a:pPr algn="ctr"/>
                      <a:r>
                        <a:rPr sz="750" b="0">
                          <a:solidFill>
                            <a:srgbClr val="1A1A1A"/>
                          </a:solidFill>
                        </a:rPr>
                        <a:t>2.1x</a:t>
                      </a:r>
                    </a:p>
                  </a:txBody>
                  <a:tcPr>
                    <a:noFill/>
                  </a:tcPr>
                </a:tc>
                <a:tc>
                  <a:txBody>
                    <a:bodyPr/>
                    <a:lstStyle/>
                    <a:p>
                      <a:pPr algn="ctr"/>
                      <a:r>
                        <a:rPr sz="750" b="0">
                          <a:solidFill>
                            <a:srgbClr val="1A1A1A"/>
                          </a:solidFill>
                        </a:rPr>
                        <a:t>22.1x</a:t>
                      </a:r>
                    </a:p>
                  </a:txBody>
                  <a:tcPr>
                    <a:noFill/>
                  </a:tcPr>
                </a:tc>
                <a:tc>
                  <a:txBody>
                    <a:bodyPr/>
                    <a:lstStyle/>
                    <a:p>
                      <a:pPr algn="ctr"/>
                      <a:r>
                        <a:rPr sz="750" b="0">
                          <a:solidFill>
                            <a:srgbClr val="1A1A1A"/>
                          </a:solidFill>
                        </a:rPr>
                        <a:t>31.0 %</a:t>
                      </a:r>
                    </a:p>
                  </a:txBody>
                  <a:tcPr>
                    <a:noFill/>
                  </a:tcPr>
                </a:tc>
                <a:tc>
                  <a:txBody>
                    <a:bodyPr/>
                    <a:lstStyle/>
                    <a:p>
                      <a:pPr algn="ctr"/>
                      <a:r>
                        <a:rPr sz="750" b="0">
                          <a:solidFill>
                            <a:srgbClr val="1A1A1A"/>
                          </a:solidFill>
                        </a:rPr>
                        <a:t>18.3 %</a:t>
                      </a:r>
                    </a:p>
                  </a:txBody>
                  <a:tcPr>
                    <a:noFill/>
                  </a:tcPr>
                </a:tc>
                <a:tc>
                  <a:txBody>
                    <a:bodyPr/>
                    <a:lstStyle/>
                    <a:p>
                      <a:pPr algn="ctr"/>
                      <a:r>
                        <a:rPr sz="750" b="0">
                          <a:solidFill>
                            <a:srgbClr val="1A1A1A"/>
                          </a:solidFill>
                        </a:rPr>
                        <a:t>11.1 %</a:t>
                      </a:r>
                    </a:p>
                  </a:txBody>
                  <a:tcPr>
                    <a:noFill/>
                  </a:tcPr>
                </a:tc>
              </a:tr>
              <a:tr h="198000">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7.0x</a:t>
                      </a:r>
                    </a:p>
                  </a:txBody>
                  <a:tcPr>
                    <a:solidFill>
                      <a:srgbClr val="F5F7FA"/>
                    </a:solidFill>
                  </a:tcPr>
                </a:tc>
                <a:tc>
                  <a:txBody>
                    <a:bodyPr/>
                    <a:lstStyle/>
                    <a:p>
                      <a:pPr algn="ctr"/>
                      <a:r>
                        <a:rPr sz="750" b="0">
                          <a:solidFill>
                            <a:srgbClr val="1A1A1A"/>
                          </a:solidFill>
                        </a:rPr>
                        <a:t>2.8x</a:t>
                      </a:r>
                    </a:p>
                  </a:txBody>
                  <a:tcPr>
                    <a:solidFill>
                      <a:srgbClr val="F5F7FA"/>
                    </a:solidFill>
                  </a:tcPr>
                </a:tc>
                <a:tc>
                  <a:txBody>
                    <a:bodyPr/>
                    <a:lstStyle/>
                    <a:p>
                      <a:pPr algn="ctr"/>
                      <a:r>
                        <a:rPr sz="750" b="0">
                          <a:solidFill>
                            <a:srgbClr val="1A1A1A"/>
                          </a:solidFill>
                        </a:rPr>
                        <a:t>18.7x</a:t>
                      </a:r>
                    </a:p>
                  </a:txBody>
                  <a:tcPr>
                    <a:solidFill>
                      <a:srgbClr val="F5F7FA"/>
                    </a:solidFill>
                  </a:tcPr>
                </a:tc>
                <a:tc>
                  <a:txBody>
                    <a:bodyPr/>
                    <a:lstStyle/>
                    <a:p>
                      <a:pPr algn="ctr"/>
                      <a:r>
                        <a:rPr sz="750" b="0">
                          <a:solidFill>
                            <a:srgbClr val="1A1A1A"/>
                          </a:solidFill>
                        </a:rPr>
                        <a:t>46.2 %</a:t>
                      </a:r>
                    </a:p>
                  </a:txBody>
                  <a:tcPr>
                    <a:solidFill>
                      <a:srgbClr val="F5F7FA"/>
                    </a:solidFill>
                  </a:tcPr>
                </a:tc>
                <a:tc>
                  <a:txBody>
                    <a:bodyPr/>
                    <a:lstStyle/>
                    <a:p>
                      <a:pPr algn="ctr"/>
                      <a:r>
                        <a:rPr sz="750" b="0">
                          <a:solidFill>
                            <a:srgbClr val="1A1A1A"/>
                          </a:solidFill>
                        </a:rPr>
                        <a:t>40.1 %</a:t>
                      </a:r>
                    </a:p>
                  </a:txBody>
                  <a:tcPr>
                    <a:solidFill>
                      <a:srgbClr val="F5F7FA"/>
                    </a:solidFill>
                  </a:tcPr>
                </a:tc>
                <a:tc>
                  <a:txBody>
                    <a:bodyPr/>
                    <a:lstStyle/>
                    <a:p>
                      <a:pPr algn="ctr"/>
                      <a:r>
                        <a:rPr sz="750" b="0">
                          <a:solidFill>
                            <a:srgbClr val="1A1A1A"/>
                          </a:solidFill>
                        </a:rPr>
                        <a:t>12.4 %</a:t>
                      </a:r>
                    </a:p>
                  </a:txBody>
                  <a:tcPr>
                    <a:solidFill>
                      <a:srgbClr val="F5F7FA"/>
                    </a:solidFill>
                  </a:tcPr>
                </a:tc>
              </a:tr>
              <a:tr h="198000">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10.8x</a:t>
                      </a:r>
                    </a:p>
                  </a:txBody>
                  <a:tcPr>
                    <a:noFill/>
                  </a:tcPr>
                </a:tc>
                <a:tc>
                  <a:txBody>
                    <a:bodyPr/>
                    <a:lstStyle/>
                    <a:p>
                      <a:pPr algn="ctr"/>
                      <a:r>
                        <a:rPr sz="750" b="0">
                          <a:solidFill>
                            <a:srgbClr val="1A1A1A"/>
                          </a:solidFill>
                        </a:rPr>
                        <a:t>0.7x</a:t>
                      </a:r>
                    </a:p>
                  </a:txBody>
                  <a:tcPr>
                    <a:noFill/>
                  </a:tcPr>
                </a:tc>
                <a:tc>
                  <a:txBody>
                    <a:bodyPr/>
                    <a:lstStyle/>
                    <a:p>
                      <a:pPr algn="ctr"/>
                      <a:r>
                        <a:rPr sz="750" b="0">
                          <a:solidFill>
                            <a:srgbClr val="1A1A1A"/>
                          </a:solidFill>
                        </a:rPr>
                        <a:t>31.3x</a:t>
                      </a:r>
                    </a:p>
                  </a:txBody>
                  <a:tcPr>
                    <a:noFill/>
                  </a:tcPr>
                </a:tc>
                <a:tc>
                  <a:txBody>
                    <a:bodyPr/>
                    <a:lstStyle/>
                    <a:p>
                      <a:pPr algn="ctr"/>
                      <a:r>
                        <a:rPr sz="750" b="0">
                          <a:solidFill>
                            <a:srgbClr val="1A1A1A"/>
                          </a:solidFill>
                        </a:rPr>
                        <a:t>13.2 %</a:t>
                      </a:r>
                    </a:p>
                  </a:txBody>
                  <a:tcPr>
                    <a:noFill/>
                  </a:tcPr>
                </a:tc>
                <a:tc>
                  <a:txBody>
                    <a:bodyPr/>
                    <a:lstStyle/>
                    <a:p>
                      <a:pPr algn="ctr"/>
                      <a:r>
                        <a:rPr sz="750" b="0">
                          <a:solidFill>
                            <a:srgbClr val="1A1A1A"/>
                          </a:solidFill>
                        </a:rPr>
                        <a:t>6.6 %</a:t>
                      </a:r>
                    </a:p>
                  </a:txBody>
                  <a:tcPr>
                    <a:noFill/>
                  </a:tcPr>
                </a:tc>
                <a:tc>
                  <a:txBody>
                    <a:bodyPr/>
                    <a:lstStyle/>
                    <a:p>
                      <a:pPr algn="ctr"/>
                      <a:r>
                        <a:rPr sz="750" b="0">
                          <a:solidFill>
                            <a:srgbClr val="1A1A1A"/>
                          </a:solidFill>
                        </a:rPr>
                        <a:t>8.3 %</a:t>
                      </a:r>
                    </a:p>
                  </a:txBody>
                  <a:tcPr>
                    <a:noFill/>
                  </a:tcPr>
                </a:tc>
              </a:tr>
              <a:tr h="198000">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11.4x</a:t>
                      </a:r>
                    </a:p>
                  </a:txBody>
                  <a:tcPr>
                    <a:solidFill>
                      <a:srgbClr val="F5F7FA"/>
                    </a:solidFill>
                  </a:tcPr>
                </a:tc>
                <a:tc>
                  <a:txBody>
                    <a:bodyPr/>
                    <a:lstStyle/>
                    <a:p>
                      <a:pPr algn="ctr"/>
                      <a:r>
                        <a:rPr sz="750" b="0">
                          <a:solidFill>
                            <a:srgbClr val="1A1A1A"/>
                          </a:solidFill>
                        </a:rPr>
                        <a:t>2.3x</a:t>
                      </a:r>
                    </a:p>
                  </a:txBody>
                  <a:tcPr>
                    <a:solidFill>
                      <a:srgbClr val="F5F7FA"/>
                    </a:solidFill>
                  </a:tcPr>
                </a:tc>
                <a:tc>
                  <a:txBody>
                    <a:bodyPr/>
                    <a:lstStyle/>
                    <a:p>
                      <a:pPr algn="ctr"/>
                      <a:r>
                        <a:rPr sz="750" b="0">
                          <a:solidFill>
                            <a:srgbClr val="1A1A1A"/>
                          </a:solidFill>
                        </a:rPr>
                        <a:t>27.9x</a:t>
                      </a:r>
                    </a:p>
                  </a:txBody>
                  <a:tcPr>
                    <a:solidFill>
                      <a:srgbClr val="F5F7FA"/>
                    </a:solidFill>
                  </a:tcPr>
                </a:tc>
                <a:tc>
                  <a:txBody>
                    <a:bodyPr/>
                    <a:lstStyle/>
                    <a:p>
                      <a:pPr algn="ctr"/>
                      <a:r>
                        <a:rPr sz="750" b="0">
                          <a:solidFill>
                            <a:srgbClr val="1A1A1A"/>
                          </a:solidFill>
                        </a:rPr>
                        <a:t>41.9 %</a:t>
                      </a:r>
                    </a:p>
                  </a:txBody>
                  <a:tcPr>
                    <a:solidFill>
                      <a:srgbClr val="F5F7FA"/>
                    </a:solidFill>
                  </a:tcPr>
                </a:tc>
                <a:tc>
                  <a:txBody>
                    <a:bodyPr/>
                    <a:lstStyle/>
                    <a:p>
                      <a:pPr algn="ctr"/>
                      <a:r>
                        <a:rPr sz="750" b="0">
                          <a:solidFill>
                            <a:srgbClr val="1A1A1A"/>
                          </a:solidFill>
                        </a:rPr>
                        <a:t>20.4 %</a:t>
                      </a:r>
                    </a:p>
                  </a:txBody>
                  <a:tcPr>
                    <a:solidFill>
                      <a:srgbClr val="F5F7FA"/>
                    </a:solidFill>
                  </a:tcPr>
                </a:tc>
                <a:tc>
                  <a:txBody>
                    <a:bodyPr/>
                    <a:lstStyle/>
                    <a:p>
                      <a:pPr algn="ctr"/>
                      <a:r>
                        <a:rPr sz="750" b="0">
                          <a:solidFill>
                            <a:srgbClr val="1A1A1A"/>
                          </a:solidFill>
                        </a:rPr>
                        <a:t>7.2 %</a:t>
                      </a:r>
                    </a:p>
                  </a:txBody>
                  <a:tcPr>
                    <a:solidFill>
                      <a:srgbClr val="F5F7FA"/>
                    </a:solidFill>
                  </a:tcPr>
                </a:tc>
              </a:tr>
              <a:tr h="198000">
                <a:tc>
                  <a:txBody>
                    <a:bodyPr/>
                    <a:lstStyle/>
                    <a:p>
                      <a:pPr algn="ctr"/>
                      <a:r>
                        <a:rPr sz="750" b="0">
                          <a:solidFill>
                            <a:srgbClr val="1A1A1A"/>
                          </a:solidFill>
                        </a:rPr>
                        <a:t>MÉDIANE</a:t>
                      </a:r>
                    </a:p>
                  </a:txBody>
                  <a:tcPr>
                    <a:noFill/>
                  </a:tcPr>
                </a:tc>
                <a:tc>
                  <a:txBody>
                    <a:bodyPr/>
                    <a:lstStyle/>
                    <a:p>
                      <a:pPr algn="ctr"/>
                      <a:r>
                        <a:rPr sz="750" b="0">
                          <a:solidFill>
                            <a:srgbClr val="1A1A1A"/>
                          </a:solidFill>
                        </a:rPr>
                        <a:t>11.1x</a:t>
                      </a:r>
                    </a:p>
                  </a:txBody>
                  <a:tcPr>
                    <a:noFill/>
                  </a:tcPr>
                </a:tc>
                <a:tc>
                  <a:txBody>
                    <a:bodyPr/>
                    <a:lstStyle/>
                    <a:p>
                      <a:pPr algn="ctr"/>
                      <a:r>
                        <a:rPr sz="750" b="0">
                          <a:solidFill>
                            <a:srgbClr val="1A1A1A"/>
                          </a:solidFill>
                        </a:rPr>
                        <a:t>2.2x</a:t>
                      </a:r>
                    </a:p>
                  </a:txBody>
                  <a:tcPr>
                    <a:noFill/>
                  </a:tcPr>
                </a:tc>
                <a:tc>
                  <a:txBody>
                    <a:bodyPr/>
                    <a:lstStyle/>
                    <a:p>
                      <a:pPr algn="ctr"/>
                      <a:r>
                        <a:rPr sz="750" b="0">
                          <a:solidFill>
                            <a:srgbClr val="1A1A1A"/>
                          </a:solidFill>
                        </a:rPr>
                        <a:t>20.2x</a:t>
                      </a:r>
                    </a:p>
                  </a:txBody>
                  <a:tcPr>
                    <a:noFill/>
                  </a:tcPr>
                </a:tc>
                <a:tc>
                  <a:txBody>
                    <a:bodyPr/>
                    <a:lstStyle/>
                    <a:p>
                      <a:pPr algn="ctr"/>
                      <a:r>
                        <a:rPr sz="750" b="0">
                          <a:solidFill>
                            <a:srgbClr val="1A1A1A"/>
                          </a:solidFill>
                        </a:rPr>
                        <a:t>24.9 %</a:t>
                      </a:r>
                    </a:p>
                  </a:txBody>
                  <a:tcPr>
                    <a:noFill/>
                  </a:tcPr>
                </a:tc>
                <a:tc>
                  <a:txBody>
                    <a:bodyPr/>
                    <a:lstStyle/>
                    <a:p>
                      <a:pPr algn="ctr"/>
                      <a:r>
                        <a:rPr sz="750" b="0">
                          <a:solidFill>
                            <a:srgbClr val="1A1A1A"/>
                          </a:solidFill>
                        </a:rPr>
                        <a:t>19.4 %</a:t>
                      </a:r>
                    </a:p>
                  </a:txBody>
                  <a:tcPr>
                    <a:noFill/>
                  </a:tcPr>
                </a:tc>
                <a:tc>
                  <a:txBody>
                    <a:bodyPr/>
                    <a:lstStyle/>
                    <a:p>
                      <a:pPr algn="ctr"/>
                      <a:r>
                        <a:rPr sz="750" b="0">
                          <a:solidFill>
                            <a:srgbClr val="1A1A1A"/>
                          </a:solidFill>
                        </a:rPr>
                        <a:t>13.2 %</a:t>
                      </a:r>
                    </a:p>
                  </a:txBody>
                  <a:tcPr>
                    <a:noFill/>
                  </a:tcPr>
                </a:tc>
              </a:tr>
            </a:tbl>
          </a:graphicData>
        </a:graphic>
      </p:graphicFrame>
      <p:sp>
        <p:nvSpPr>
          <p:cNvPr id="16" name="Rectangle 15"/>
          <p:cNvSpPr/>
          <p:nvPr/>
        </p:nvSpPr>
        <p:spPr>
          <a:xfrm>
            <a:off x="324000" y="3131999"/>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131999"/>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150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420000"/>
            <a:ext cx="8352000" cy="720000"/>
          </a:xfrm>
          <a:prstGeom prst="rect">
            <a:avLst/>
          </a:prstGeom>
          <a:noFill/>
        </p:spPr>
        <p:txBody>
          <a:bodyPr wrap="square">
            <a:spAutoFit/>
          </a:bodyPr>
          <a:lstStyle/>
          <a:p>
            <a:pPr algn="l"/>
            <a:r>
              <a:rPr sz="850" b="0" i="0">
                <a:solidFill>
                  <a:srgbClr val="555555"/>
                </a:solidFill>
              </a:rPr>
              <a:t>La Médiane EV/EBITDA sectorielle s établit a 11.1x LTM. EOG Resources, Inc. (6.8x) se distingue comme le leader de qualité, combine a une marge EBITDA de 51.8 % et une croissance de +0.0 %. La dispersion des multiples revele l hétérogèneite des profils au sein du secteur Énergie — une lecture croisée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Prix Hydrocarbures</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OPEP+ discipline — soutien structurel des prix 2026</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GNL &amp; Souveraineté</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Diversification approvisionnement EU — prime GNL persistante</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Transition Énergétique</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Pression réglementaire et ESG — prime de risque croissanté</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Capex Renouvelable</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Dépenses investissement renouvelables pesent sur FCF</a:t>
            </a:r>
          </a:p>
        </p:txBody>
      </p:sp>
      <p:sp>
        <p:nvSpPr>
          <p:cNvPr id="35" name="Rectangle 34"/>
          <p:cNvSpPr/>
          <p:nvPr/>
        </p:nvSpPr>
        <p:spPr>
          <a:xfrm>
            <a:off x="5976000" y="900000"/>
            <a:ext cx="2844000" cy="39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NEUTRE</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62/100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Médian : 6.3 %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Secteur en transition | dividendes élevés, visibilité long terme réduite</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1A7A4A"/>
                </a:solidFill>
              </a:rPr>
              <a:t>Régime : Bull</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10%  (Faible)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par Sous-Secteur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4 industries GICS identifiées</a:t>
            </a:r>
          </a:p>
        </p:txBody>
      </p:sp>
      <p:graphicFrame>
        <p:nvGraphicFramePr>
          <p:cNvPr id="15" name="Table 14"/>
          <p:cNvGraphicFramePr>
            <a:graphicFrameLocks noGrp="1"/>
          </p:cNvGraphicFramePr>
          <p:nvPr/>
        </p:nvGraphicFramePr>
        <p:xfrm>
          <a:off x="324000" y="792000"/>
          <a:ext cx="8495997" cy="766800"/>
        </p:xfrm>
        <a:graphic>
          <a:graphicData uri="http://schemas.openxmlformats.org/drawingml/2006/table">
            <a:tbl>
              <a:tblPr firstRow="1" bandRow="1">
                <a:tableStyleId>{5C22544A-7EE6-4342-B048-85BDC9FD1C3A}</a:tableStyleId>
              </a:tblPr>
              <a:tblGrid>
                <a:gridCol w="2404528"/>
                <a:gridCol w="601132"/>
                <a:gridCol w="721358"/>
                <a:gridCol w="1122113"/>
                <a:gridCol w="1001886"/>
                <a:gridCol w="881660"/>
                <a:gridCol w="881660"/>
                <a:gridCol w="881660"/>
              </a:tblGrid>
              <a:tr h="153360">
                <a:tc>
                  <a:txBody>
                    <a:bodyPr/>
                    <a:lstStyle/>
                    <a:p>
                      <a:pPr algn="l"/>
                      <a:r>
                        <a:rPr sz="800" b="1">
                          <a:solidFill>
                            <a:srgbClr val="FFFFFF"/>
                          </a:solidFill>
                        </a:rPr>
                        <a:t>Sous-secteur</a:t>
                      </a:r>
                    </a:p>
                  </a:txBody>
                  <a:tcPr>
                    <a:solidFill>
                      <a:srgbClr val="1B3A6B"/>
                    </a:solidFill>
                  </a:tcPr>
                </a:tc>
                <a:tc>
                  <a:txBody>
                    <a:bodyPr/>
                    <a:lstStyle/>
                    <a:p>
                      <a:pPr algn="ctr"/>
                      <a:r>
                        <a:rPr sz="800" b="1">
                          <a:solidFill>
                            <a:srgbClr val="FFFFFF"/>
                          </a:solidFill>
                        </a:rPr>
                        <a:t>Nb</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Marge</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153360">
                <a:tc>
                  <a:txBody>
                    <a:bodyPr/>
                    <a:lstStyle/>
                    <a:p>
                      <a:pPr algn="l"/>
                      <a:r>
                        <a:rPr sz="800">
                          <a:solidFill>
                            <a:srgbClr val="1A1A1A"/>
                          </a:solidFill>
                        </a:rPr>
                        <a:t>Oil &amp; Gas Equipment &amp; Servic</a:t>
                      </a:r>
                    </a:p>
                  </a:txBody>
                  <a:tcPr>
                    <a:solidFill>
                      <a:srgbClr val="F5F7FA"/>
                    </a:solidFill>
                  </a:tcPr>
                </a:tc>
                <a:tc>
                  <a:txBody>
                    <a:bodyPr/>
                    <a:lstStyle/>
                    <a:p>
                      <a:pPr algn="ctr"/>
                      <a:r>
                        <a:rPr sz="800">
                          <a:solidFill>
                            <a:srgbClr val="1A1A1A"/>
                          </a:solidFill>
                        </a:rPr>
                        <a:t>1</a:t>
                      </a:r>
                    </a:p>
                  </a:txBody>
                  <a:tcPr>
                    <a:solidFill>
                      <a:srgbClr val="F5F7FA"/>
                    </a:solidFill>
                  </a:tcPr>
                </a:tc>
                <a:tc>
                  <a:txBody>
                    <a:bodyPr/>
                    <a:lstStyle/>
                    <a:p>
                      <a:pPr algn="ctr"/>
                      <a:r>
                        <a:rPr sz="800">
                          <a:solidFill>
                            <a:srgbClr val="1A1A1A"/>
                          </a:solidFill>
                        </a:rPr>
                        <a:t>69</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11.3x</a:t>
                      </a:r>
                    </a:p>
                  </a:txBody>
                  <a:tcPr>
                    <a:solidFill>
                      <a:srgbClr val="F5F7FA"/>
                    </a:solidFill>
                  </a:tcPr>
                </a:tc>
                <a:tc>
                  <a:txBody>
                    <a:bodyPr/>
                    <a:lstStyle/>
                    <a:p>
                      <a:pPr algn="ctr"/>
                      <a:r>
                        <a:rPr sz="800">
                          <a:solidFill>
                            <a:srgbClr val="1A1A1A"/>
                          </a:solidFill>
                        </a:rPr>
                        <a:t>21.7%</a:t>
                      </a:r>
                    </a:p>
                  </a:txBody>
                  <a:tcPr>
                    <a:solidFill>
                      <a:srgbClr val="F5F7FA"/>
                    </a:solidFill>
                  </a:tcPr>
                </a:tc>
                <a:tc>
                  <a:txBody>
                    <a:bodyPr/>
                    <a:lstStyle/>
                    <a:p>
                      <a:pPr algn="ctr"/>
                      <a:r>
                        <a:rPr sz="800">
                          <a:solidFill>
                            <a:srgbClr val="1A1A1A"/>
                          </a:solidFill>
                        </a:rPr>
                        <a:t>+5.0%</a:t>
                      </a:r>
                    </a:p>
                  </a:txBody>
                  <a:tcPr>
                    <a:solidFill>
                      <a:srgbClr val="F5F7FA"/>
                    </a:solidFill>
                  </a:tcPr>
                </a:tc>
                <a:tc>
                  <a:txBody>
                    <a:bodyPr/>
                    <a:lstStyle/>
                    <a:p>
                      <a:pPr algn="ctr"/>
                      <a:r>
                        <a:rPr sz="800">
                          <a:solidFill>
                            <a:srgbClr val="1A1A1A"/>
                          </a:solidFill>
                        </a:rPr>
                        <a:t>+53.8%</a:t>
                      </a:r>
                    </a:p>
                  </a:txBody>
                  <a:tcPr>
                    <a:solidFill>
                      <a:srgbClr val="F5F7FA"/>
                    </a:solidFill>
                  </a:tcPr>
                </a:tc>
              </a:tr>
              <a:tr h="153360">
                <a:tc>
                  <a:txBody>
                    <a:bodyPr/>
                    <a:lstStyle/>
                    <a:p>
                      <a:pPr algn="l"/>
                      <a:r>
                        <a:rPr sz="800">
                          <a:solidFill>
                            <a:srgbClr val="1A1A1A"/>
                          </a:solidFill>
                        </a:rPr>
                        <a:t>Oil &amp; Gas E&amp;P</a:t>
                      </a:r>
                    </a:p>
                  </a:txBody>
                  <a:tcPr>
                    <a:solidFill>
                      <a:srgbClr val="FFFFFF"/>
                    </a:solidFill>
                  </a:tcPr>
                </a:tc>
                <a:tc>
                  <a:txBody>
                    <a:bodyPr/>
                    <a:lstStyle/>
                    <a:p>
                      <a:pPr algn="ctr"/>
                      <a:r>
                        <a:rPr sz="800">
                          <a:solidFill>
                            <a:srgbClr val="1A1A1A"/>
                          </a:solidFill>
                        </a:rPr>
                        <a:t>2</a:t>
                      </a:r>
                    </a:p>
                  </a:txBody>
                  <a:tcPr>
                    <a:solidFill>
                      <a:srgbClr val="FFFFFF"/>
                    </a:solidFill>
                  </a:tcPr>
                </a:tc>
                <a:tc>
                  <a:txBody>
                    <a:bodyPr/>
                    <a:lstStyle/>
                    <a:p>
                      <a:pPr algn="ctr"/>
                      <a:r>
                        <a:rPr sz="800">
                          <a:solidFill>
                            <a:srgbClr val="1A1A1A"/>
                          </a:solidFill>
                        </a:rPr>
                        <a:t>65</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6.9x</a:t>
                      </a:r>
                    </a:p>
                  </a:txBody>
                  <a:tcPr>
                    <a:solidFill>
                      <a:srgbClr val="FFFFFF"/>
                    </a:solidFill>
                  </a:tcPr>
                </a:tc>
                <a:tc>
                  <a:txBody>
                    <a:bodyPr/>
                    <a:lstStyle/>
                    <a:p>
                      <a:pPr algn="ctr"/>
                      <a:r>
                        <a:rPr sz="800">
                          <a:solidFill>
                            <a:srgbClr val="1A1A1A"/>
                          </a:solidFill>
                        </a:rPr>
                        <a:t>46.0%</a:t>
                      </a:r>
                    </a:p>
                  </a:txBody>
                  <a:tcPr>
                    <a:solidFill>
                      <a:srgbClr val="FFFFFF"/>
                    </a:solidFill>
                  </a:tcPr>
                </a:tc>
                <a:tc>
                  <a:txBody>
                    <a:bodyPr/>
                    <a:lstStyle/>
                    <a:p>
                      <a:pPr algn="ctr"/>
                      <a:r>
                        <a:rPr sz="800">
                          <a:solidFill>
                            <a:srgbClr val="1A1A1A"/>
                          </a:solidFill>
                        </a:rPr>
                        <a:t>-3.4%</a:t>
                      </a:r>
                    </a:p>
                  </a:txBody>
                  <a:tcPr>
                    <a:solidFill>
                      <a:srgbClr val="FFFFFF"/>
                    </a:solidFill>
                  </a:tcPr>
                </a:tc>
                <a:tc>
                  <a:txBody>
                    <a:bodyPr/>
                    <a:lstStyle/>
                    <a:p>
                      <a:pPr algn="ctr"/>
                      <a:r>
                        <a:rPr sz="800">
                          <a:solidFill>
                            <a:srgbClr val="1A1A1A"/>
                          </a:solidFill>
                        </a:rPr>
                        <a:t>+35.8%</a:t>
                      </a:r>
                    </a:p>
                  </a:txBody>
                  <a:tcPr>
                    <a:solidFill>
                      <a:srgbClr val="FFFFFF"/>
                    </a:solidFill>
                  </a:tcPr>
                </a:tc>
              </a:tr>
              <a:tr h="153360">
                <a:tc>
                  <a:txBody>
                    <a:bodyPr/>
                    <a:lstStyle/>
                    <a:p>
                      <a:pPr algn="l"/>
                      <a:r>
                        <a:rPr sz="800">
                          <a:solidFill>
                            <a:srgbClr val="1A1A1A"/>
                          </a:solidFill>
                        </a:rPr>
                        <a:t>Oil &amp; Gas Refining &amp; Marketi</a:t>
                      </a:r>
                    </a:p>
                  </a:txBody>
                  <a:tcPr>
                    <a:solidFill>
                      <a:srgbClr val="F5F7FA"/>
                    </a:solidFill>
                  </a:tcPr>
                </a:tc>
                <a:tc>
                  <a:txBody>
                    <a:bodyPr/>
                    <a:lstStyle/>
                    <a:p>
                      <a:pPr algn="ctr"/>
                      <a:r>
                        <a:rPr sz="800">
                          <a:solidFill>
                            <a:srgbClr val="1A1A1A"/>
                          </a:solidFill>
                        </a:rPr>
                        <a:t>3</a:t>
                      </a:r>
                    </a:p>
                  </a:txBody>
                  <a:tcPr>
                    <a:solidFill>
                      <a:srgbClr val="F5F7FA"/>
                    </a:solidFill>
                  </a:tcPr>
                </a:tc>
                <a:tc>
                  <a:txBody>
                    <a:bodyPr/>
                    <a:lstStyle/>
                    <a:p>
                      <a:pPr algn="ctr"/>
                      <a:r>
                        <a:rPr sz="800">
                          <a:solidFill>
                            <a:srgbClr val="1A1A1A"/>
                          </a:solidFill>
                        </a:rPr>
                        <a:t>62</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11.0x</a:t>
                      </a:r>
                    </a:p>
                  </a:txBody>
                  <a:tcPr>
                    <a:solidFill>
                      <a:srgbClr val="F5F7FA"/>
                    </a:solidFill>
                  </a:tcPr>
                </a:tc>
                <a:tc>
                  <a:txBody>
                    <a:bodyPr/>
                    <a:lstStyle/>
                    <a:p>
                      <a:pPr algn="ctr"/>
                      <a:r>
                        <a:rPr sz="800">
                          <a:solidFill>
                            <a:srgbClr val="1A1A1A"/>
                          </a:solidFill>
                        </a:rPr>
                        <a:t>6.6%</a:t>
                      </a:r>
                    </a:p>
                  </a:txBody>
                  <a:tcPr>
                    <a:solidFill>
                      <a:srgbClr val="F5F7FA"/>
                    </a:solidFill>
                  </a:tcPr>
                </a:tc>
                <a:tc>
                  <a:txBody>
                    <a:bodyPr/>
                    <a:lstStyle/>
                    <a:p>
                      <a:pPr algn="ctr"/>
                      <a:r>
                        <a:rPr sz="800">
                          <a:solidFill>
                            <a:srgbClr val="1A1A1A"/>
                          </a:solidFill>
                        </a:rPr>
                        <a:t>-1.2%</a:t>
                      </a:r>
                    </a:p>
                  </a:txBody>
                  <a:tcPr>
                    <a:solidFill>
                      <a:srgbClr val="F5F7FA"/>
                    </a:solidFill>
                  </a:tcPr>
                </a:tc>
                <a:tc>
                  <a:txBody>
                    <a:bodyPr/>
                    <a:lstStyle/>
                    <a:p>
                      <a:pPr algn="ctr"/>
                      <a:r>
                        <a:rPr sz="800">
                          <a:solidFill>
                            <a:srgbClr val="1A1A1A"/>
                          </a:solidFill>
                        </a:rPr>
                        <a:t>+84.3%</a:t>
                      </a:r>
                    </a:p>
                  </a:txBody>
                  <a:tcPr>
                    <a:solidFill>
                      <a:srgbClr val="F5F7FA"/>
                    </a:solidFill>
                  </a:tcPr>
                </a:tc>
              </a:tr>
              <a:tr h="153360">
                <a:tc>
                  <a:txBody>
                    <a:bodyPr/>
                    <a:lstStyle/>
                    <a:p>
                      <a:pPr algn="l"/>
                      <a:r>
                        <a:rPr sz="800">
                          <a:solidFill>
                            <a:srgbClr val="1A1A1A"/>
                          </a:solidFill>
                        </a:rPr>
                        <a:t>Oil &amp; Gas Integrated</a:t>
                      </a:r>
                    </a:p>
                  </a:txBody>
                  <a:tcPr>
                    <a:solidFill>
                      <a:srgbClr val="FFFFFF"/>
                    </a:solidFill>
                  </a:tcPr>
                </a:tc>
                <a:tc>
                  <a:txBody>
                    <a:bodyPr/>
                    <a:lstStyle/>
                    <a:p>
                      <a:pPr algn="ctr"/>
                      <a:r>
                        <a:rPr sz="800">
                          <a:solidFill>
                            <a:srgbClr val="1A1A1A"/>
                          </a:solidFill>
                        </a:rPr>
                        <a:t>2</a:t>
                      </a:r>
                    </a:p>
                  </a:txBody>
                  <a:tcPr>
                    <a:solidFill>
                      <a:srgbClr val="FFFFFF"/>
                    </a:solidFill>
                  </a:tcPr>
                </a:tc>
                <a:tc>
                  <a:txBody>
                    <a:bodyPr/>
                    <a:lstStyle/>
                    <a:p>
                      <a:pPr algn="ctr"/>
                      <a:r>
                        <a:rPr sz="800">
                          <a:solidFill>
                            <a:srgbClr val="1A1A1A"/>
                          </a:solidFill>
                        </a:rPr>
                        <a:t>55</a:t>
                      </a:r>
                    </a:p>
                  </a:txBody>
                  <a:tcPr>
                    <a:solidFill>
                      <a:srgbClr val="FFFFFF"/>
                    </a:solidFill>
                  </a:tcPr>
                </a:tc>
                <a:tc>
                  <a:txBody>
                    <a:bodyPr/>
                    <a:lstStyle/>
                    <a:p>
                      <a:pPr algn="ctr"/>
                      <a:r>
                        <a:rPr sz="800" b="1">
                          <a:solidFill>
                            <a:srgbClr val="B06000"/>
                          </a:solidFill>
                        </a:rPr>
                        <a:t>Neutre</a:t>
                      </a:r>
                    </a:p>
                  </a:txBody>
                  <a:tcPr>
                    <a:solidFill>
                      <a:srgbClr val="FFFFFF"/>
                    </a:solidFill>
                  </a:tcPr>
                </a:tc>
                <a:tc>
                  <a:txBody>
                    <a:bodyPr/>
                    <a:lstStyle/>
                    <a:p>
                      <a:pPr algn="ctr"/>
                      <a:r>
                        <a:rPr sz="800">
                          <a:solidFill>
                            <a:srgbClr val="1A1A1A"/>
                          </a:solidFill>
                        </a:rPr>
                        <a:t>11.4x</a:t>
                      </a:r>
                    </a:p>
                  </a:txBody>
                  <a:tcPr>
                    <a:solidFill>
                      <a:srgbClr val="FFFFFF"/>
                    </a:solidFill>
                  </a:tcPr>
                </a:tc>
                <a:tc>
                  <a:txBody>
                    <a:bodyPr/>
                    <a:lstStyle/>
                    <a:p>
                      <a:pPr algn="ctr"/>
                      <a:r>
                        <a:rPr sz="800">
                          <a:solidFill>
                            <a:srgbClr val="1A1A1A"/>
                          </a:solidFill>
                        </a:rPr>
                        <a:t>19.4%</a:t>
                      </a:r>
                    </a:p>
                  </a:txBody>
                  <a:tcPr>
                    <a:solidFill>
                      <a:srgbClr val="FFFFFF"/>
                    </a:solidFill>
                  </a:tcPr>
                </a:tc>
                <a:tc>
                  <a:txBody>
                    <a:bodyPr/>
                    <a:lstStyle/>
                    <a:p>
                      <a:pPr algn="ctr"/>
                      <a:r>
                        <a:rPr sz="800">
                          <a:solidFill>
                            <a:srgbClr val="1A1A1A"/>
                          </a:solidFill>
                        </a:rPr>
                        <a:t>-4.8%</a:t>
                      </a:r>
                    </a:p>
                  </a:txBody>
                  <a:tcPr>
                    <a:solidFill>
                      <a:srgbClr val="FFFFFF"/>
                    </a:solidFill>
                  </a:tcPr>
                </a:tc>
                <a:tc>
                  <a:txBody>
                    <a:bodyPr/>
                    <a:lstStyle/>
                    <a:p>
                      <a:pPr algn="ctr"/>
                      <a:r>
                        <a:rPr sz="800">
                          <a:solidFill>
                            <a:srgbClr val="1A1A1A"/>
                          </a:solidFill>
                        </a:rPr>
                        <a:t>+45.3%</a:t>
                      </a:r>
                    </a:p>
                  </a:txBody>
                  <a:tcPr>
                    <a:solidFill>
                      <a:srgbClr val="FFFFFF"/>
                    </a:solidFill>
                  </a:tcPr>
                </a:tc>
              </a:tr>
            </a:tbl>
          </a:graphicData>
        </a:graphic>
      </p:graphicFrame>
      <p:sp>
        <p:nvSpPr>
          <p:cNvPr id="16" name="Rectangle 15"/>
          <p:cNvSpPr/>
          <p:nvPr/>
        </p:nvSpPr>
        <p:spPr>
          <a:xfrm>
            <a:off x="324000" y="1792800"/>
            <a:ext cx="849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1839600"/>
            <a:ext cx="8352000" cy="162000"/>
          </a:xfrm>
          <a:prstGeom prst="rect">
            <a:avLst/>
          </a:prstGeom>
          <a:noFill/>
        </p:spPr>
        <p:txBody>
          <a:bodyPr wrap="square">
            <a:spAutoFit/>
          </a:bodyPr>
          <a:lstStyle/>
          <a:p>
            <a:pPr algn="l"/>
            <a:r>
              <a:rPr sz="1000" b="1" i="0">
                <a:solidFill>
                  <a:srgbClr val="FFFFFF"/>
                </a:solidFill>
              </a:rPr>
              <a:t>LEADERSHIP OIL &amp; GAS EQUIPMENT  — score 69/100</a:t>
            </a:r>
          </a:p>
        </p:txBody>
      </p:sp>
      <p:sp>
        <p:nvSpPr>
          <p:cNvPr id="18" name="Rectangle 17"/>
          <p:cNvSpPr/>
          <p:nvPr/>
        </p:nvSpPr>
        <p:spPr>
          <a:xfrm>
            <a:off x="324000" y="20808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20808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2134800"/>
            <a:ext cx="8424000" cy="1530000"/>
          </a:xfrm>
          <a:prstGeom prst="rect">
            <a:avLst/>
          </a:prstGeom>
          <a:noFill/>
        </p:spPr>
        <p:txBody>
          <a:bodyPr wrap="square">
            <a:spAutoFit/>
          </a:bodyPr>
          <a:lstStyle/>
          <a:p>
            <a:pPr algn="l"/>
            <a:r>
              <a:rPr sz="900" b="0" i="0">
                <a:solidFill>
                  <a:srgbClr val="555555"/>
                </a:solidFill>
              </a:rPr>
              <a:t>Le sous-segment Oil &amp; Gas Equipment &amp; Services ressort en tête du classement avec un score composite de 69/100 et un signal surpondérer, porté par 1 acteurs dont SLB. La valorisation médiane ressort sur 11.3x EV/EBITDA avec une marge EBITDA de 21.7% et une trajectoire top-line à +5.0% YoY. À l'inverse, Oil &amp; Gas Integrated ferme la Marché (55/100, signal neutre), reflétant des fondamentaux sous pression ou une valorisation déjà tendue. L'écart de 14 points entre les extrêmes du classement justifie une approche sélective plutôt qu'une exposition beta uniforme au secteur. Cette cartographie guide le calibrage d'allocation sous-sectorielle : Surpondérer les segments avec score ≥ 60 et momentum positif, Sous-pondérer les segments avec marges compressees ou croissance negative, et conserver une exposition neutre aux segments en transition.</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Énergie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71/100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133.24</a:t>
                      </a:r>
                    </a:p>
                  </a:txBody>
                  <a:tcPr>
                    <a:noFill/>
                  </a:tcPr>
                </a:tc>
                <a:tc>
                  <a:txBody>
                    <a:bodyPr/>
                    <a:lstStyle/>
                    <a:p>
                      <a:pPr algn="ctr"/>
                      <a:r>
                        <a:rPr sz="750" b="0">
                          <a:solidFill>
                            <a:srgbClr val="1A1A1A"/>
                          </a:solidFill>
                        </a:rPr>
                        <a:t>6.8x</a:t>
                      </a:r>
                    </a:p>
                  </a:txBody>
                  <a:tcPr>
                    <a:noFill/>
                  </a:tcPr>
                </a:tc>
                <a:tc>
                  <a:txBody>
                    <a:bodyPr/>
                    <a:lstStyle/>
                    <a:p>
                      <a:pPr algn="ctr"/>
                      <a:r>
                        <a:rPr sz="750" b="0">
                          <a:solidFill>
                            <a:srgbClr val="1A1A1A"/>
                          </a:solidFill>
                        </a:rPr>
                        <a:t>51.8 %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+27.4 %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SLB</a:t>
                      </a:r>
                    </a:p>
                  </a:txBody>
                  <a:tcPr>
                    <a:solidFill>
                      <a:srgbClr val="F5F7FA"/>
                    </a:solidFill>
                  </a:tcPr>
                </a:tc>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69/100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51.255</a:t>
                      </a:r>
                    </a:p>
                  </a:txBody>
                  <a:tcPr>
                    <a:solidFill>
                      <a:srgbClr val="F5F7FA"/>
                    </a:solidFill>
                  </a:tcPr>
                </a:tc>
                <a:tc>
                  <a:txBody>
                    <a:bodyPr/>
                    <a:lstStyle/>
                    <a:p>
                      <a:pPr algn="ctr"/>
                      <a:r>
                        <a:rPr sz="750" b="0">
                          <a:solidFill>
                            <a:srgbClr val="1A1A1A"/>
                          </a:solidFill>
                        </a:rPr>
                        <a:t>11.3x</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+5.0 %</a:t>
                      </a:r>
                    </a:p>
                  </a:txBody>
                  <a:tcPr>
                    <a:solidFill>
                      <a:srgbClr val="F5F7FA"/>
                    </a:solidFill>
                  </a:tcPr>
                </a:tc>
                <a:tc>
                  <a:txBody>
                    <a:bodyPr/>
                    <a:lstStyle/>
                    <a:p>
                      <a:pPr algn="ctr"/>
                      <a:r>
                        <a:rPr sz="750" b="0">
                          <a:solidFill>
                            <a:srgbClr val="1A1A1A"/>
                          </a:solidFill>
                        </a:rPr>
                        <a:t>+53.8 %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66/100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158.3</a:t>
                      </a:r>
                    </a:p>
                  </a:txBody>
                  <a:tcPr>
                    <a:noFill/>
                  </a:tcPr>
                </a:tc>
                <a:tc>
                  <a:txBody>
                    <a:bodyPr/>
                    <a:lstStyle/>
                    <a:p>
                      <a:pPr algn="ctr"/>
                      <a:r>
                        <a:rPr sz="750" b="0">
                          <a:solidFill>
                            <a:srgbClr val="1A1A1A"/>
                          </a:solidFill>
                        </a:rPr>
                        <a:t>12.9x</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+1.3 %</a:t>
                      </a:r>
                    </a:p>
                  </a:txBody>
                  <a:tcPr>
                    <a:noFill/>
                  </a:tcPr>
                </a:tc>
                <a:tc>
                  <a:txBody>
                    <a:bodyPr/>
                    <a:lstStyle/>
                    <a:p>
                      <a:pPr algn="ctr"/>
                      <a:r>
                        <a:rPr sz="750" b="0">
                          <a:solidFill>
                            <a:srgbClr val="1A1A1A"/>
                          </a:solidFill>
                        </a:rPr>
                        <a:t>+66.7 %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MPC</a:t>
                      </a:r>
                    </a:p>
                  </a:txBody>
                  <a:tcPr>
                    <a:solidFill>
                      <a:srgbClr val="F5F7FA"/>
                    </a:solidFill>
                  </a:tcPr>
                </a:tc>
                <a:tc>
                  <a:txBody>
                    <a:bodyPr/>
                    <a:lstStyle/>
                    <a:p>
                      <a:pPr algn="ctr"/>
                      <a:r>
                        <a:rPr sz="750" b="0">
                          <a:solidFill>
                            <a:srgbClr val="1A1A1A"/>
                          </a:solidFill>
                        </a:rPr>
                        <a:t>Marathon Petroleum Corpor</a:t>
                      </a:r>
                    </a:p>
                  </a:txBody>
                  <a:tcPr>
                    <a:solidFill>
                      <a:srgbClr val="F5F7FA"/>
                    </a:solidFill>
                  </a:tcPr>
                </a:tc>
                <a:tc>
                  <a:txBody>
                    <a:bodyPr/>
                    <a:lstStyle/>
                    <a:p>
                      <a:pPr algn="ctr"/>
                      <a:r>
                        <a:rPr sz="750" b="0">
                          <a:solidFill>
                            <a:srgbClr val="1A1A1A"/>
                          </a:solidFill>
                        </a:rPr>
                        <a:t>64/100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224.42</a:t>
                      </a:r>
                    </a:p>
                  </a:txBody>
                  <a:tcPr>
                    <a:solidFill>
                      <a:srgbClr val="F5F7FA"/>
                    </a:solidFill>
                  </a:tcPr>
                </a:tc>
                <a:tc>
                  <a:txBody>
                    <a:bodyPr/>
                    <a:lstStyle/>
                    <a:p>
                      <a:pPr algn="ctr"/>
                      <a:r>
                        <a:rPr sz="750" b="0">
                          <a:solidFill>
                            <a:srgbClr val="1A1A1A"/>
                          </a:solidFill>
                        </a:rPr>
                        <a:t>11.0x</a:t>
                      </a:r>
                    </a:p>
                  </a:txBody>
                  <a:tcPr>
                    <a:solidFill>
                      <a:srgbClr val="F5F7FA"/>
                    </a:solidFill>
                  </a:tcPr>
                </a:tc>
                <a:tc>
                  <a:txBody>
                    <a:bodyPr/>
                    <a:lstStyle/>
                    <a:p>
                      <a:pPr algn="ctr"/>
                      <a:r>
                        <a:rPr sz="750" b="0">
                          <a:solidFill>
                            <a:srgbClr val="1A1A1A"/>
                          </a:solidFill>
                        </a:rPr>
                        <a:t>7.1 %</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+84.3 %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61/100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148.055</a:t>
                      </a:r>
                    </a:p>
                  </a:txBody>
                  <a:tcPr>
                    <a:noFill/>
                  </a:tcPr>
                </a:tc>
                <a:tc>
                  <a:txBody>
                    <a:bodyPr/>
                    <a:lstStyle/>
                    <a:p>
                      <a:pPr algn="ctr"/>
                      <a:r>
                        <a:rPr sz="750" b="0">
                          <a:solidFill>
                            <a:srgbClr val="1A1A1A"/>
                          </a:solidFill>
                        </a:rPr>
                        <a:t>11.5x</a:t>
                      </a:r>
                    </a:p>
                  </a:txBody>
                  <a:tcPr>
                    <a:noFill/>
                  </a:tcPr>
                </a:tc>
                <a:tc>
                  <a:txBody>
                    <a:bodyPr/>
                    <a:lstStyle/>
                    <a:p>
                      <a:pPr algn="ctr"/>
                      <a:r>
                        <a:rPr sz="750" b="0">
                          <a:solidFill>
                            <a:srgbClr val="1A1A1A"/>
                          </a:solidFill>
                        </a:rPr>
                        <a:t>18.3 %</a:t>
                      </a:r>
                    </a:p>
                  </a:txBody>
                  <a:tcPr>
                    <a:noFill/>
                  </a:tcPr>
                </a:tc>
                <a:tc>
                  <a:txBody>
                    <a:bodyPr/>
                    <a:lstStyle/>
                    <a:p>
                      <a:pPr algn="ctr"/>
                      <a:r>
                        <a:rPr sz="750" b="0">
                          <a:solidFill>
                            <a:srgbClr val="1A1A1A"/>
                          </a:solidFill>
                        </a:rPr>
                        <a:t>-1.3 %</a:t>
                      </a:r>
                    </a:p>
                  </a:txBody>
                  <a:tcPr>
                    <a:noFill/>
                  </a:tcPr>
                </a:tc>
                <a:tc>
                  <a:txBody>
                    <a:bodyPr/>
                    <a:lstStyle/>
                    <a:p>
                      <a:pPr algn="ctr"/>
                      <a:r>
                        <a:rPr sz="750" b="0">
                          <a:solidFill>
                            <a:srgbClr val="1A1A1A"/>
                          </a:solidFill>
                        </a:rPr>
                        <a:t>+48.1 %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COP</a:t>
                      </a:r>
                    </a:p>
                  </a:txBody>
                  <a:tcPr>
                    <a:solidFill>
                      <a:srgbClr val="F5F7FA"/>
                    </a:solidFill>
                  </a:tcPr>
                </a:tc>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60/100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118.57</a:t>
                      </a:r>
                    </a:p>
                  </a:txBody>
                  <a:tcPr>
                    <a:solidFill>
                      <a:srgbClr val="F5F7FA"/>
                    </a:solidFill>
                  </a:tcPr>
                </a:tc>
                <a:tc>
                  <a:txBody>
                    <a:bodyPr/>
                    <a:lstStyle/>
                    <a:p>
                      <a:pPr algn="ctr"/>
                      <a:r>
                        <a:rPr sz="750" b="0">
                          <a:solidFill>
                            <a:srgbClr val="1A1A1A"/>
                          </a:solidFill>
                        </a:rPr>
                        <a:t>7.0x</a:t>
                      </a:r>
                    </a:p>
                  </a:txBody>
                  <a:tcPr>
                    <a:solidFill>
                      <a:srgbClr val="F5F7FA"/>
                    </a:solidFill>
                  </a:tcPr>
                </a:tc>
                <a:tc>
                  <a:txBody>
                    <a:bodyPr/>
                    <a:lstStyle/>
                    <a:p>
                      <a:pPr algn="ctr"/>
                      <a:r>
                        <a:rPr sz="750" b="0">
                          <a:solidFill>
                            <a:srgbClr val="1A1A1A"/>
                          </a:solidFill>
                        </a:rPr>
                        <a:t>40.1 %</a:t>
                      </a:r>
                    </a:p>
                  </a:txBody>
                  <a:tcPr>
                    <a:solidFill>
                      <a:srgbClr val="F5F7FA"/>
                    </a:solidFill>
                  </a:tcPr>
                </a:tc>
                <a:tc>
                  <a:txBody>
                    <a:bodyPr/>
                    <a:lstStyle/>
                    <a:p>
                      <a:pPr algn="ctr"/>
                      <a:r>
                        <a:rPr sz="750" b="0">
                          <a:solidFill>
                            <a:srgbClr val="1A1A1A"/>
                          </a:solidFill>
                        </a:rPr>
                        <a:t>-6.8 %</a:t>
                      </a:r>
                    </a:p>
                  </a:txBody>
                  <a:tcPr>
                    <a:solidFill>
                      <a:srgbClr val="F5F7FA"/>
                    </a:solidFill>
                  </a:tcPr>
                </a:tc>
                <a:tc>
                  <a:txBody>
                    <a:bodyPr/>
                    <a:lstStyle/>
                    <a:p>
                      <a:pPr algn="ctr"/>
                      <a:r>
                        <a:rPr sz="750" b="0">
                          <a:solidFill>
                            <a:srgbClr val="1A1A1A"/>
                          </a:solidFill>
                        </a:rPr>
                        <a:t>+44.2 %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56/100</a:t>
                      </a:r>
                    </a:p>
                  </a:txBody>
                  <a:tcPr>
                    <a:noFill/>
                  </a:tcPr>
                </a:tc>
                <a:tc>
                  <a:txBody>
                    <a:bodyPr/>
                    <a:lstStyle/>
                    <a:p>
                      <a:pPr algn="ctr"/>
                      <a:r>
                        <a:rPr sz="750" b="0">
                          <a:solidFill>
                            <a:srgbClr val="1A1A1A"/>
                          </a:solidFill>
                        </a:rPr>
                        <a:t>HOLD</a:t>
                      </a:r>
                    </a:p>
                  </a:txBody>
                  <a:tcPr>
                    <a:noFill/>
                  </a:tcPr>
                </a:tc>
                <a:tc>
                  <a:txBody>
                    <a:bodyPr/>
                    <a:lstStyle/>
                    <a:p>
                      <a:pPr algn="ctr"/>
                      <a:r>
                        <a:rPr sz="750" b="0">
                          <a:solidFill>
                            <a:srgbClr val="1A1A1A"/>
                          </a:solidFill>
                        </a:rPr>
                        <a:t>237.47</a:t>
                      </a:r>
                    </a:p>
                  </a:txBody>
                  <a:tcPr>
                    <a:noFill/>
                  </a:tcPr>
                </a:tc>
                <a:tc>
                  <a:txBody>
                    <a:bodyPr/>
                    <a:lstStyle/>
                    <a:p>
                      <a:pPr algn="ctr"/>
                      <a:r>
                        <a:rPr sz="750" b="0">
                          <a:solidFill>
                            <a:srgbClr val="1A1A1A"/>
                          </a:solidFill>
                        </a:rPr>
                        <a:t>10.8x</a:t>
                      </a:r>
                    </a:p>
                  </a:txBody>
                  <a:tcPr>
                    <a:noFill/>
                  </a:tcPr>
                </a:tc>
                <a:tc>
                  <a:txBody>
                    <a:bodyPr/>
                    <a:lstStyle/>
                    <a:p>
                      <a:pPr algn="ctr"/>
                      <a:r>
                        <a:rPr sz="750" b="0">
                          <a:solidFill>
                            <a:srgbClr val="1A1A1A"/>
                          </a:solidFill>
                        </a:rPr>
                        <a:t>6.6 %</a:t>
                      </a:r>
                    </a:p>
                  </a:txBody>
                  <a:tcPr>
                    <a:noFill/>
                  </a:tcPr>
                </a:tc>
                <a:tc>
                  <a:txBody>
                    <a:bodyPr/>
                    <a:lstStyle/>
                    <a:p>
                      <a:pPr algn="ctr"/>
                      <a:r>
                        <a:rPr sz="750" b="0">
                          <a:solidFill>
                            <a:srgbClr val="1A1A1A"/>
                          </a:solidFill>
                        </a:rPr>
                        <a:t>-2.1 %</a:t>
                      </a:r>
                    </a:p>
                  </a:txBody>
                  <a:tcPr>
                    <a:noFill/>
                  </a:tcPr>
                </a:tc>
                <a:tc>
                  <a:txBody>
                    <a:bodyPr/>
                    <a:lstStyle/>
                    <a:p>
                      <a:pPr algn="ctr"/>
                      <a:r>
                        <a:rPr sz="750" b="0">
                          <a:solidFill>
                            <a:srgbClr val="1A1A1A"/>
                          </a:solidFill>
                        </a:rPr>
                        <a:t>+125.1 %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CVX</a:t>
                      </a:r>
                    </a:p>
                  </a:txBody>
                  <a:tcPr>
                    <a:solidFill>
                      <a:srgbClr val="F5F7FA"/>
                    </a:solidFill>
                  </a:tcPr>
                </a:tc>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49/100</a:t>
                      </a:r>
                    </a:p>
                  </a:txBody>
                  <a:tcPr>
                    <a:solidFill>
                      <a:srgbClr val="F5F7FA"/>
                    </a:solidFill>
                  </a:tcPr>
                </a:tc>
                <a:tc>
                  <a:txBody>
                    <a:bodyPr/>
                    <a:lstStyle/>
                    <a:p>
                      <a:pPr algn="ctr"/>
                      <a:r>
                        <a:rPr sz="750" b="0">
                          <a:solidFill>
                            <a:srgbClr val="1A1A1A"/>
                          </a:solidFill>
                        </a:rPr>
                        <a:t>HOLD</a:t>
                      </a:r>
                    </a:p>
                  </a:txBody>
                  <a:tcPr>
                    <a:solidFill>
                      <a:srgbClr val="F5F7FA"/>
                    </a:solidFill>
                  </a:tcPr>
                </a:tc>
                <a:tc>
                  <a:txBody>
                    <a:bodyPr/>
                    <a:lstStyle/>
                    <a:p>
                      <a:pPr algn="ctr"/>
                      <a:r>
                        <a:rPr sz="750" b="0">
                          <a:solidFill>
                            <a:srgbClr val="1A1A1A"/>
                          </a:solidFill>
                        </a:rPr>
                        <a:t>185.545</a:t>
                      </a:r>
                    </a:p>
                  </a:txBody>
                  <a:tcPr>
                    <a:solidFill>
                      <a:srgbClr val="F5F7FA"/>
                    </a:solidFill>
                  </a:tcPr>
                </a:tc>
                <a:tc>
                  <a:txBody>
                    <a:bodyPr/>
                    <a:lstStyle/>
                    <a:p>
                      <a:pPr algn="ctr"/>
                      <a:r>
                        <a:rPr sz="750" b="0">
                          <a:solidFill>
                            <a:srgbClr val="1A1A1A"/>
                          </a:solidFill>
                        </a:rPr>
                        <a:t>11.4x</a:t>
                      </a:r>
                    </a:p>
                  </a:txBody>
                  <a:tcPr>
                    <a:solidFill>
                      <a:srgbClr val="F5F7FA"/>
                    </a:solidFill>
                  </a:tcPr>
                </a:tc>
                <a:tc>
                  <a:txBody>
                    <a:bodyPr/>
                    <a:lstStyle/>
                    <a:p>
                      <a:pPr algn="ctr"/>
                      <a:r>
                        <a:rPr sz="750" b="0">
                          <a:solidFill>
                            <a:srgbClr val="1A1A1A"/>
                          </a:solidFill>
                        </a:rPr>
                        <a:t>20.4 %</a:t>
                      </a:r>
                    </a:p>
                  </a:txBody>
                  <a:tcPr>
                    <a:solidFill>
                      <a:srgbClr val="F5F7FA"/>
                    </a:solidFill>
                  </a:tcPr>
                </a:tc>
                <a:tc>
                  <a:txBody>
                    <a:bodyPr/>
                    <a:lstStyle/>
                    <a:p>
                      <a:pPr algn="ctr"/>
                      <a:r>
                        <a:rPr sz="750" b="0">
                          <a:solidFill>
                            <a:srgbClr val="1A1A1A"/>
                          </a:solidFill>
                        </a:rPr>
                        <a:t>-8.2 %</a:t>
                      </a:r>
                    </a:p>
                  </a:txBody>
                  <a:tcPr>
                    <a:solidFill>
                      <a:srgbClr val="F5F7FA"/>
                    </a:solidFill>
                  </a:tcPr>
                </a:tc>
                <a:tc>
                  <a:txBody>
                    <a:bodyPr/>
                    <a:lstStyle/>
                    <a:p>
                      <a:pPr algn="ctr"/>
                      <a:r>
                        <a:rPr sz="750" b="0">
                          <a:solidFill>
                            <a:srgbClr val="1A1A1A"/>
                          </a:solidFill>
                        </a:rPr>
                        <a:t>+42.5 %</a:t>
                      </a:r>
                    </a:p>
                  </a:txBody>
                  <a:tcPr>
                    <a:solidFill>
                      <a:srgbClr val="F5F7FA"/>
                    </a:solidFill>
                  </a:tcPr>
                </a:tc>
              </a:tr>
            </a:tbl>
          </a:graphicData>
        </a:graphic>
      </p:graphicFrame>
      <p:sp>
        <p:nvSpPr>
          <p:cNvPr id="16" name="Rectangle 15"/>
          <p:cNvSpPr/>
          <p:nvPr/>
        </p:nvSpPr>
        <p:spPr>
          <a:xfrm>
            <a:off x="324000" y="29519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519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006000"/>
            <a:ext cx="8280000" cy="216000"/>
          </a:xfrm>
          <a:prstGeom prst="rect">
            <a:avLst/>
          </a:prstGeom>
          <a:noFill/>
        </p:spPr>
        <p:txBody>
          <a:bodyPr wrap="square">
            <a:spAutoFit/>
          </a:bodyPr>
          <a:lstStyle/>
          <a:p>
            <a:pPr algn="l"/>
            <a:r>
              <a:rPr sz="900" b="1" i="0">
                <a:solidFill>
                  <a:srgbClr val="1B3A6B"/>
                </a:solidFill>
              </a:rPr>
              <a:t>Énergie — 3 BUY / 5 HOLD / 0 SELL · EOG Resources, Inc. en tête (71/100)</a:t>
            </a:r>
          </a:p>
        </p:txBody>
      </p:sp>
      <p:sp>
        <p:nvSpPr>
          <p:cNvPr id="19" name="TextBox 18"/>
          <p:cNvSpPr txBox="1"/>
          <p:nvPr/>
        </p:nvSpPr>
        <p:spPr>
          <a:xfrm>
            <a:off x="468000" y="3257999"/>
            <a:ext cx="8280000" cy="1260000"/>
          </a:xfrm>
          <a:prstGeom prst="rect">
            <a:avLst/>
          </a:prstGeom>
          <a:noFill/>
        </p:spPr>
        <p:txBody>
          <a:bodyPr wrap="square">
            <a:spAutoFit/>
          </a:bodyPr>
          <a:lstStyle/>
          <a:p>
            <a:pPr algn="l"/>
            <a:r>
              <a:rPr sz="850" b="0" i="0">
                <a:solidFill>
                  <a:srgbClr val="555555"/>
                </a:solidFill>
              </a:rPr>
              <a:t>Le secteur Énergie présente 3 BUY / 5 HOLD / 0 SELL sur 8 valeurs analysées. EOG Resources, Inc. (score 71/100) constitue le coeur offensif recommande — fondamentaux solides et visibilité supérieure sur les revenus. La répartition des recommandations reflète un positionnément selectif cohérent avec la phase sectorielle actuelle. Les catalyseurs identifies — résultats trimestriels, guidance annuel, opérations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Classement EV/EBITDA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acteur  ·  Tri croissant  ·  Vert = sous Médiane (opportunité relative)  ·  Top 15</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EOG offre la meilleure asymétrie — EV/EBITDA de 6.8x sous la Médiane de 11.1x avec un score FinSight de 71/100.
PSX traite en prime (12.9x vs Médiane 11.1x) — vérifier si la croissance justifié ce multiple.
Médiane sectorielle : 11.1x. Les barres vertes sous cette ligne sont les candidats privilegies a analyser via Analyse Société individuelle (DCF, WACC, scénarios).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23328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59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59200">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71/100</a:t>
                      </a:r>
                    </a:p>
                  </a:txBody>
                  <a:tcPr>
                    <a:no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12</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16</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SLB</a:t>
                      </a:r>
                    </a:p>
                  </a:txBody>
                  <a:tcPr>
                    <a:noFill/>
                  </a:tcPr>
                </a:tc>
                <a:tc>
                  <a:txBody>
                    <a:bodyPr/>
                    <a:lstStyle/>
                    <a:p>
                      <a:pPr algn="ctr"/>
                      <a:r>
                        <a:rPr sz="750" b="0">
                          <a:solidFill>
                            <a:srgbClr val="1A1A1A"/>
                          </a:solidFill>
                        </a:rPr>
                        <a:t>SLB N.V.</a:t>
                      </a:r>
                    </a:p>
                  </a:txBody>
                  <a:tcPr>
                    <a:noFill/>
                  </a:tcPr>
                </a:tc>
                <a:tc>
                  <a:txBody>
                    <a:bodyPr/>
                    <a:lstStyle/>
                    <a:p>
                      <a:pPr algn="ctr"/>
                      <a:r>
                        <a:rPr sz="750" b="0">
                          <a:solidFill>
                            <a:srgbClr val="1A1A1A"/>
                          </a:solidFill>
                        </a:rPr>
                        <a:t>69/100</a:t>
                      </a:r>
                    </a:p>
                  </a:txBody>
                  <a:tcPr>
                    <a:no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20</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66/100</a:t>
                      </a:r>
                    </a:p>
                  </a:txBody>
                  <a:tcPr>
                    <a:no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13</a:t>
                      </a:r>
                    </a:p>
                  </a:txBody>
                  <a:tcPr>
                    <a:solidFill>
                      <a:srgbClr val="FFEBEE"/>
                    </a:solidFill>
                  </a:tcPr>
                </a:tc>
                <a:tc>
                  <a:txBody>
                    <a:bodyPr/>
                    <a:lstStyle/>
                    <a:p>
                      <a:pPr algn="ctr"/>
                      <a:r>
                        <a:rPr sz="750" b="1">
                          <a:solidFill>
                            <a:srgbClr val="A82020"/>
                          </a:solidFill>
                        </a:rPr>
                        <a:t>12</a:t>
                      </a:r>
                    </a:p>
                  </a:txBody>
                  <a:tcPr>
                    <a:solidFill>
                      <a:srgbClr val="FFEBEE"/>
                    </a:solidFill>
                  </a:tcPr>
                </a:tc>
                <a:tc>
                  <a:txBody>
                    <a:bodyPr/>
                    <a:lstStyle/>
                    <a:p>
                      <a:pPr algn="ctr"/>
                      <a:r>
                        <a:rPr sz="750" b="1">
                          <a:solidFill>
                            <a:srgbClr val="A82020"/>
                          </a:solidFill>
                        </a:rPr>
                        <a:t>22</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MPC</a:t>
                      </a:r>
                    </a:p>
                  </a:txBody>
                  <a:tcPr>
                    <a:noFill/>
                  </a:tcPr>
                </a:tc>
                <a:tc>
                  <a:txBody>
                    <a:bodyPr/>
                    <a:lstStyle/>
                    <a:p>
                      <a:pPr algn="ctr"/>
                      <a:r>
                        <a:rPr sz="750" b="0">
                          <a:solidFill>
                            <a:srgbClr val="1A1A1A"/>
                          </a:solidFill>
                        </a:rPr>
                        <a:t>Marathon Petroleum Corpor</a:t>
                      </a:r>
                    </a:p>
                  </a:txBody>
                  <a:tcPr>
                    <a:noFill/>
                  </a:tcPr>
                </a:tc>
                <a:tc>
                  <a:txBody>
                    <a:bodyPr/>
                    <a:lstStyle/>
                    <a:p>
                      <a:pPr algn="ctr"/>
                      <a:r>
                        <a:rPr sz="750" b="0">
                          <a:solidFill>
                            <a:srgbClr val="1A1A1A"/>
                          </a:solidFill>
                        </a:rPr>
                        <a:t>64/100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10</a:t>
                      </a:r>
                    </a:p>
                  </a:txBody>
                  <a:tcPr>
                    <a:solidFill>
                      <a:srgbClr val="FFEBEE"/>
                    </a:solidFill>
                  </a:tcPr>
                </a:tc>
                <a:tc>
                  <a:txBody>
                    <a:bodyPr/>
                    <a:lstStyle/>
                    <a:p>
                      <a:pPr algn="ctr"/>
                      <a:r>
                        <a:rPr sz="750" b="1">
                          <a:solidFill>
                            <a:srgbClr val="A82020"/>
                          </a:solidFill>
                        </a:rPr>
                        <a:t>12</a:t>
                      </a:r>
                    </a:p>
                  </a:txBody>
                  <a:tcPr>
                    <a:solidFill>
                      <a:srgbClr val="FFEBEE"/>
                    </a:solidFill>
                  </a:tcPr>
                </a:tc>
                <a:tc>
                  <a:txBody>
                    <a:bodyPr/>
                    <a:lstStyle/>
                    <a:p>
                      <a:pPr algn="ctr"/>
                      <a:r>
                        <a:rPr sz="750" b="1">
                          <a:solidFill>
                            <a:srgbClr val="A82020"/>
                          </a:solidFill>
                        </a:rPr>
                        <a:t>24</a:t>
                      </a:r>
                    </a:p>
                  </a:txBody>
                  <a:tcPr>
                    <a:solidFill>
                      <a:srgbClr val="FFEBEE"/>
                    </a:solidFill>
                  </a:tcPr>
                </a:tc>
                <a:tc>
                  <a:txBody>
                    <a:bodyPr/>
                    <a:lstStyle/>
                    <a:p>
                      <a:pPr algn="ctr"/>
                      <a:r>
                        <a:rPr sz="750" b="0">
                          <a:solidFill>
                            <a:srgbClr val="1A1A1A"/>
                          </a:solidFill>
                        </a:rPr>
                        <a:t>HOLD</a:t>
                      </a:r>
                    </a:p>
                  </a:txBody>
                  <a:tcPr>
                    <a:noFill/>
                  </a:tcPr>
                </a:tc>
              </a:tr>
              <a:tr h="259200">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61/100</a:t>
                      </a:r>
                    </a:p>
                  </a:txBody>
                  <a:tcPr>
                    <a:no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10</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19</a:t>
                      </a:r>
                    </a:p>
                  </a:txBody>
                  <a:tcPr>
                    <a:solidFill>
                      <a:srgbClr val="FFEBEE"/>
                    </a:solidFill>
                  </a:tcPr>
                </a:tc>
                <a:tc>
                  <a:txBody>
                    <a:bodyPr/>
                    <a:lstStyle/>
                    <a:p>
                      <a:pPr algn="ctr"/>
                      <a:r>
                        <a:rPr sz="750" b="0">
                          <a:solidFill>
                            <a:srgbClr val="1A1A1A"/>
                          </a:solidFill>
                        </a:rPr>
                        <a:t>HOLD</a:t>
                      </a:r>
                    </a:p>
                  </a:txBody>
                  <a:tcPr>
                    <a:noFill/>
                  </a:tcPr>
                </a:tc>
              </a:tr>
              <a:tr h="259200">
                <a:tc>
                  <a:txBody>
                    <a:bodyPr/>
                    <a:lstStyle/>
                    <a:p>
                      <a:pPr algn="ctr"/>
                      <a:r>
                        <a:rPr sz="750" b="0">
                          <a:solidFill>
                            <a:srgbClr val="1A1A1A"/>
                          </a:solidFill>
                        </a:rPr>
                        <a:t>COP</a:t>
                      </a:r>
                    </a:p>
                  </a:txBody>
                  <a:tcPr>
                    <a:noFill/>
                  </a:tcPr>
                </a:tc>
                <a:tc>
                  <a:txBody>
                    <a:bodyPr/>
                    <a:lstStyle/>
                    <a:p>
                      <a:pPr algn="ctr"/>
                      <a:r>
                        <a:rPr sz="750" b="0">
                          <a:solidFill>
                            <a:srgbClr val="1A1A1A"/>
                          </a:solidFill>
                        </a:rPr>
                        <a:t>ConocoPhillips</a:t>
                      </a:r>
                    </a:p>
                  </a:txBody>
                  <a:tcPr>
                    <a:noFill/>
                  </a:tcPr>
                </a:tc>
                <a:tc>
                  <a:txBody>
                    <a:bodyPr/>
                    <a:lstStyle/>
                    <a:p>
                      <a:pPr algn="ctr"/>
                      <a:r>
                        <a:rPr sz="750" b="0">
                          <a:solidFill>
                            <a:srgbClr val="1A1A1A"/>
                          </a:solidFill>
                        </a:rPr>
                        <a:t>60/100</a:t>
                      </a:r>
                    </a:p>
                  </a:txBody>
                  <a:tcPr>
                    <a:noFill/>
                  </a:tcPr>
                </a:tc>
                <a:tc>
                  <a:txBody>
                    <a:bodyPr/>
                    <a:lstStyle/>
                    <a:p>
                      <a:pPr algn="ctr"/>
                      <a:r>
                        <a:rPr sz="750" b="1">
                          <a:solidFill>
                            <a:srgbClr val="A82020"/>
                          </a:solidFill>
                        </a:rPr>
                        <a:t>15</a:t>
                      </a:r>
                    </a:p>
                  </a:txBody>
                  <a:tcPr>
                    <a:solidFill>
                      <a:srgbClr val="FFEBEE"/>
                    </a:solidFill>
                  </a:tcPr>
                </a:tc>
                <a:tc>
                  <a:txBody>
                    <a:bodyPr/>
                    <a:lstStyle/>
                    <a:p>
                      <a:pPr algn="ctr"/>
                      <a:r>
                        <a:rPr sz="750" b="1">
                          <a:solidFill>
                            <a:srgbClr val="A82020"/>
                          </a:solidFill>
                        </a:rPr>
                        <a:t>5</a:t>
                      </a:r>
                    </a:p>
                  </a:txBody>
                  <a:tcPr>
                    <a:solidFill>
                      <a:srgbClr val="FFEBEE"/>
                    </a:solidFill>
                  </a:tcPr>
                </a:tc>
                <a:tc>
                  <a:txBody>
                    <a:bodyPr/>
                    <a:lstStyle/>
                    <a:p>
                      <a:pPr algn="ctr"/>
                      <a:r>
                        <a:rPr sz="750" b="1">
                          <a:solidFill>
                            <a:srgbClr val="A82020"/>
                          </a:solidFill>
                        </a:rPr>
                        <a:t>20</a:t>
                      </a:r>
                    </a:p>
                  </a:txBody>
                  <a:tcPr>
                    <a:solidFill>
                      <a:srgbClr val="FFEBEE"/>
                    </a:solidFill>
                  </a:tcPr>
                </a:tc>
                <a:tc>
                  <a:txBody>
                    <a:bodyPr/>
                    <a:lstStyle/>
                    <a:p>
                      <a:pPr algn="ctr"/>
                      <a:r>
                        <a:rPr sz="750" b="1">
                          <a:solidFill>
                            <a:srgbClr val="A82020"/>
                          </a:solidFill>
                        </a:rPr>
                        <a:t>18</a:t>
                      </a:r>
                    </a:p>
                  </a:txBody>
                  <a:tcPr>
                    <a:solidFill>
                      <a:srgbClr val="FFEBEE"/>
                    </a:solidFill>
                  </a:tcPr>
                </a:tc>
                <a:tc>
                  <a:txBody>
                    <a:bodyPr/>
                    <a:lstStyle/>
                    <a:p>
                      <a:pPr algn="ctr"/>
                      <a:r>
                        <a:rPr sz="750" b="0">
                          <a:solidFill>
                            <a:srgbClr val="1A1A1A"/>
                          </a:solidFill>
                        </a:rPr>
                        <a:t>HOLD</a:t>
                      </a:r>
                    </a:p>
                  </a:txBody>
                  <a:tcPr>
                    <a:noFill/>
                  </a:tcPr>
                </a:tc>
              </a:tr>
              <a:tr h="259200">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Corporation</a:t>
                      </a:r>
                    </a:p>
                  </a:txBody>
                  <a:tcPr>
                    <a:noFill/>
                  </a:tcPr>
                </a:tc>
                <a:tc>
                  <a:txBody>
                    <a:bodyPr/>
                    <a:lstStyle/>
                    <a:p>
                      <a:pPr algn="ctr"/>
                      <a:r>
                        <a:rPr sz="750" b="0">
                          <a:solidFill>
                            <a:srgbClr val="1A1A1A"/>
                          </a:solidFill>
                        </a:rPr>
                        <a:t>56/100</a:t>
                      </a:r>
                    </a:p>
                  </a:txBody>
                  <a:tcPr>
                    <a:noFill/>
                  </a:tcPr>
                </a:tc>
                <a:tc>
                  <a:txBody>
                    <a:bodyPr/>
                    <a:lstStyle/>
                    <a:p>
                      <a:pPr algn="ctr"/>
                      <a:r>
                        <a:rPr sz="750" b="1">
                          <a:solidFill>
                            <a:srgbClr val="A82020"/>
                          </a:solidFill>
                        </a:rPr>
                        <a:t>9</a:t>
                      </a:r>
                    </a:p>
                  </a:txBody>
                  <a:tcPr>
                    <a:solidFill>
                      <a:srgbClr val="FFEBEE"/>
                    </a:solidFill>
                  </a:tcPr>
                </a:tc>
                <a:tc>
                  <a:txBody>
                    <a:bodyPr/>
                    <a:lstStyle/>
                    <a:p>
                      <a:pPr algn="ctr"/>
                      <a:r>
                        <a:rPr sz="750" b="1">
                          <a:solidFill>
                            <a:srgbClr val="A82020"/>
                          </a:solidFill>
                        </a:rPr>
                        <a:t>9</a:t>
                      </a:r>
                    </a:p>
                  </a:txBody>
                  <a:tcPr>
                    <a:solidFill>
                      <a:srgbClr val="FFEBEE"/>
                    </a:solidFill>
                  </a:tcPr>
                </a:tc>
                <a:tc>
                  <a:txBody>
                    <a:bodyPr/>
                    <a:lstStyle/>
                    <a:p>
                      <a:pPr algn="ctr"/>
                      <a:r>
                        <a:rPr sz="750" b="1">
                          <a:solidFill>
                            <a:srgbClr val="A82020"/>
                          </a:solidFill>
                        </a:rPr>
                        <a:t>11</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0">
                          <a:solidFill>
                            <a:srgbClr val="1A1A1A"/>
                          </a:solidFill>
                        </a:rPr>
                        <a:t>HOLD</a:t>
                      </a:r>
                    </a:p>
                  </a:txBody>
                  <a:tcPr>
                    <a:noFill/>
                  </a:tcPr>
                </a:tc>
              </a:tr>
              <a:tr h="259200">
                <a:tc>
                  <a:txBody>
                    <a:bodyPr/>
                    <a:lstStyle/>
                    <a:p>
                      <a:pPr algn="ctr"/>
                      <a:r>
                        <a:rPr sz="750" b="0">
                          <a:solidFill>
                            <a:srgbClr val="1A1A1A"/>
                          </a:solidFill>
                        </a:rPr>
                        <a:t>CVX</a:t>
                      </a:r>
                    </a:p>
                  </a:txBody>
                  <a:tcPr>
                    <a:noFill/>
                  </a:tcPr>
                </a:tc>
                <a:tc>
                  <a:txBody>
                    <a:bodyPr/>
                    <a:lstStyle/>
                    <a:p>
                      <a:pPr algn="ctr"/>
                      <a:r>
                        <a:rPr sz="750" b="0">
                          <a:solidFill>
                            <a:srgbClr val="1A1A1A"/>
                          </a:solidFill>
                        </a:rPr>
                        <a:t>Chevron Corporation</a:t>
                      </a:r>
                    </a:p>
                  </a:txBody>
                  <a:tcPr>
                    <a:noFill/>
                  </a:tcPr>
                </a:tc>
                <a:tc>
                  <a:txBody>
                    <a:bodyPr/>
                    <a:lstStyle/>
                    <a:p>
                      <a:pPr algn="ctr"/>
                      <a:r>
                        <a:rPr sz="750" b="0">
                          <a:solidFill>
                            <a:srgbClr val="1A1A1A"/>
                          </a:solidFill>
                        </a:rPr>
                        <a:t>49/100</a:t>
                      </a:r>
                    </a:p>
                  </a:txBody>
                  <a:tcPr>
                    <a:noFill/>
                  </a:tcPr>
                </a:tc>
                <a:tc>
                  <a:txBody>
                    <a:bodyPr/>
                    <a:lstStyle/>
                    <a:p>
                      <a:pPr algn="ctr"/>
                      <a:r>
                        <a:rPr sz="750" b="1">
                          <a:solidFill>
                            <a:srgbClr val="A82020"/>
                          </a:solidFill>
                        </a:rPr>
                        <a:t>11</a:t>
                      </a:r>
                    </a:p>
                  </a:txBody>
                  <a:tcPr>
                    <a:solidFill>
                      <a:srgbClr val="FFEBEE"/>
                    </a:solidFill>
                  </a:tcPr>
                </a:tc>
                <a:tc>
                  <a:txBody>
                    <a:bodyPr/>
                    <a:lstStyle/>
                    <a:p>
                      <a:pPr algn="ctr"/>
                      <a:r>
                        <a:rPr sz="750" b="1">
                          <a:solidFill>
                            <a:srgbClr val="A82020"/>
                          </a:solidFill>
                        </a:rPr>
                        <a:t>3</a:t>
                      </a:r>
                    </a:p>
                  </a:txBody>
                  <a:tcPr>
                    <a:solidFill>
                      <a:srgbClr val="FFEBEE"/>
                    </a:solidFill>
                  </a:tcPr>
                </a:tc>
                <a:tc>
                  <a:txBody>
                    <a:bodyPr/>
                    <a:lstStyle/>
                    <a:p>
                      <a:pPr algn="ctr"/>
                      <a:r>
                        <a:rPr sz="750" b="1">
                          <a:solidFill>
                            <a:srgbClr val="A82020"/>
                          </a:solidFill>
                        </a:rPr>
                        <a:t>15</a:t>
                      </a:r>
                    </a:p>
                  </a:txBody>
                  <a:tcPr>
                    <a:solidFill>
                      <a:srgbClr val="FFEBEE"/>
                    </a:solidFill>
                  </a:tcPr>
                </a:tc>
                <a:tc>
                  <a:txBody>
                    <a:bodyPr/>
                    <a:lstStyle/>
                    <a:p>
                      <a:pPr algn="ctr"/>
                      <a:r>
                        <a:rPr sz="750" b="1">
                          <a:solidFill>
                            <a:srgbClr val="A82020"/>
                          </a:solidFill>
                        </a:rPr>
                        <a:t>18</a:t>
                      </a:r>
                    </a:p>
                  </a:txBody>
                  <a:tcPr>
                    <a:solidFill>
                      <a:srgbClr val="FFEBEE"/>
                    </a:solidFill>
                  </a:tcPr>
                </a:tc>
                <a:tc>
                  <a:txBody>
                    <a:bodyPr/>
                    <a:lstStyle/>
                    <a:p>
                      <a:pPr algn="ctr"/>
                      <a:r>
                        <a:rPr sz="750" b="0">
                          <a:solidFill>
                            <a:srgbClr val="1A1A1A"/>
                          </a:solidFill>
                        </a:rPr>
                        <a:t>HOLD</a:t>
                      </a:r>
                    </a:p>
                  </a:txBody>
                  <a:tcPr>
                    <a:noFill/>
                  </a:tcPr>
                </a:tc>
              </a:tr>
            </a:tbl>
          </a:graphicData>
        </a:graphic>
      </p:graphicFrame>
      <p:sp>
        <p:nvSpPr>
          <p:cNvPr id="16" name="Rectangle 15"/>
          <p:cNvSpPr/>
          <p:nvPr/>
        </p:nvSpPr>
        <p:spPr>
          <a:xfrm>
            <a:off x="324000" y="3358800"/>
            <a:ext cx="8496000" cy="1501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588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376800"/>
            <a:ext cx="8352000" cy="216000"/>
          </a:xfrm>
          <a:prstGeom prst="rect">
            <a:avLst/>
          </a:prstGeom>
          <a:noFill/>
        </p:spPr>
        <p:txBody>
          <a:bodyPr wrap="square">
            <a:spAutoFit/>
          </a:bodyPr>
          <a:lstStyle/>
          <a:p>
            <a:pPr algn="l"/>
            <a:r>
              <a:rPr sz="750" b="1" i="0">
                <a:solidFill>
                  <a:srgbClr val="FFFFFF"/>
                </a:solidFill>
              </a:rPr>
              <a:t>SYNTHÈSE SCORES  ·  Score &gt;= 75 = fort  ·  50-74 = moyen  ·  &lt; 50 = faible  ·  Pondérations : Value / Growth / Quality / Momentum = 25 % chacun</a:t>
            </a:r>
          </a:p>
        </p:txBody>
      </p:sp>
      <p:sp>
        <p:nvSpPr>
          <p:cNvPr id="19" name="TextBox 18"/>
          <p:cNvSpPr txBox="1"/>
          <p:nvPr/>
        </p:nvSpPr>
        <p:spPr>
          <a:xfrm>
            <a:off x="396000" y="3664800"/>
            <a:ext cx="8352000" cy="1141200"/>
          </a:xfrm>
          <a:prstGeom prst="rect">
            <a:avLst/>
          </a:prstGeom>
          <a:noFill/>
        </p:spPr>
        <p:txBody>
          <a:bodyPr wrap="square">
            <a:spAutoFit/>
          </a:bodyPr>
          <a:lstStyle/>
          <a:p>
            <a:pPr algn="l"/>
            <a:r>
              <a:rPr sz="850" b="0" i="0">
                <a:solidFill>
                  <a:srgbClr val="555555"/>
                </a:solidFill>
              </a:rPr>
              <a:t>EOG Resources, Inc. présente le profil le plus équilibre du secteur (71/100) avec des scores Value=17, Growth=12, Quality=25, Momentum=16. La dispersion des scores entre les 8 sociétés Reflète des profils hétérogènes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Sociétés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EOG</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EOG Resources,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160</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6.8x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51.8 %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Demande asiatique robuste et OPEP+ disciplinée — Brent attendu 75-85 USD/bbl en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Récession mondiale ou accord OPEP+ défavorable — Brent &lt; 60 USD/bbl entraînerait des coupes dividendes.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SLB</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SLB N.V.</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62</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11.3x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21.7 %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de transition des majors — allocation capex renouvelables +25 % pa.</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Accélération du calendrier sortie fossiles — actifs bloques en risque.</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PSX</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Phillips 66</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190</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12.9x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Diversification approvisionnement post-Ukraine — primes GNL structurellement élevées.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Surcoûts et retards projets offshore wind — impact sur rendements.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société vs médiane sectorielle (11.1x)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1 acteur(s) se detachent nettement du reste du secteur, creant une prime de valorisation significative vs la médiane de 11.1x.
2 société(s) se traitent sous la médiane — potentiellement les meilleures asymétries risque/rendement sous reserve de catalyseurs fondamentaux.
La dispersion des multiples est caractéristique d'un secteur Énergie en phase de différentiation — les investisseurs selectifs peuvent exploiter cet Écart.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6848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87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 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87200">
                <a:tc>
                  <a:txBody>
                    <a:bodyPr/>
                    <a:lstStyle/>
                    <a:p>
                      <a:pPr algn="ctr"/>
                      <a:r>
                        <a:rPr sz="750" b="0">
                          <a:solidFill>
                            <a:srgbClr val="1A1A1A"/>
                          </a:solidFill>
                        </a:rPr>
                        <a:t>EOG</a:t>
                      </a:r>
                    </a:p>
                  </a:txBody>
                  <a:tcPr>
                    <a:noFill/>
                  </a:tcPr>
                </a:tc>
                <a:tc>
                  <a:txBody>
                    <a:bodyPr/>
                    <a:lstStyle/>
                    <a:p>
                      <a:pPr algn="ctr"/>
                      <a:r>
                        <a:rPr sz="750" b="0">
                          <a:solidFill>
                            <a:srgbClr val="1A1A1A"/>
                          </a:solidFill>
                        </a:rPr>
                        <a:t>EOG Resources, Inc.</a:t>
                      </a:r>
                    </a:p>
                  </a:txBody>
                  <a:tcPr>
                    <a:noFill/>
                  </a:tcPr>
                </a:tc>
                <a:tc>
                  <a:txBody>
                    <a:bodyPr/>
                    <a:lstStyle/>
                    <a:p>
                      <a:pPr algn="ctr"/>
                      <a:r>
                        <a:rPr sz="750" b="0">
                          <a:solidFill>
                            <a:srgbClr val="1A1A1A"/>
                          </a:solidFill>
                        </a:rPr>
                        <a:t>133.24</a:t>
                      </a:r>
                    </a:p>
                  </a:txBody>
                  <a:tcPr>
                    <a:noFill/>
                  </a:tcPr>
                </a:tc>
                <a:tc>
                  <a:txBody>
                    <a:bodyPr/>
                    <a:lstStyle/>
                    <a:p>
                      <a:pPr algn="ctr"/>
                      <a:r>
                        <a:rPr sz="750" b="0">
                          <a:solidFill>
                            <a:srgbClr val="1A1A1A"/>
                          </a:solidFill>
                        </a:rPr>
                        <a:t>153.2</a:t>
                      </a:r>
                    </a:p>
                  </a:txBody>
                  <a:tcPr>
                    <a:noFill/>
                  </a:tcPr>
                </a:tc>
                <a:tc>
                  <a:txBody>
                    <a:bodyPr/>
                    <a:lstStyle/>
                    <a:p>
                      <a:pPr algn="ctr"/>
                      <a:r>
                        <a:rPr sz="750" b="0">
                          <a:solidFill>
                            <a:srgbClr val="1A1A1A"/>
                          </a:solidFill>
                        </a:rPr>
                        <a:t>&lt; 126.6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SLB</a:t>
                      </a:r>
                    </a:p>
                  </a:txBody>
                  <a:tcPr>
                    <a:solidFill>
                      <a:srgbClr val="F5F7FA"/>
                    </a:solidFill>
                  </a:tcPr>
                </a:tc>
                <a:tc>
                  <a:txBody>
                    <a:bodyPr/>
                    <a:lstStyle/>
                    <a:p>
                      <a:pPr algn="ctr"/>
                      <a:r>
                        <a:rPr sz="750" b="0">
                          <a:solidFill>
                            <a:srgbClr val="1A1A1A"/>
                          </a:solidFill>
                        </a:rPr>
                        <a:t>SLB N.V.</a:t>
                      </a:r>
                    </a:p>
                  </a:txBody>
                  <a:tcPr>
                    <a:solidFill>
                      <a:srgbClr val="F5F7FA"/>
                    </a:solidFill>
                  </a:tcPr>
                </a:tc>
                <a:tc>
                  <a:txBody>
                    <a:bodyPr/>
                    <a:lstStyle/>
                    <a:p>
                      <a:pPr algn="ctr"/>
                      <a:r>
                        <a:rPr sz="750" b="0">
                          <a:solidFill>
                            <a:srgbClr val="1A1A1A"/>
                          </a:solidFill>
                        </a:rPr>
                        <a:t>51.255</a:t>
                      </a:r>
                    </a:p>
                  </a:txBody>
                  <a:tcPr>
                    <a:solidFill>
                      <a:srgbClr val="F5F7FA"/>
                    </a:solidFill>
                  </a:tcPr>
                </a:tc>
                <a:tc>
                  <a:txBody>
                    <a:bodyPr/>
                    <a:lstStyle/>
                    <a:p>
                      <a:pPr algn="ctr"/>
                      <a:r>
                        <a:rPr sz="750" b="0">
                          <a:solidFill>
                            <a:srgbClr val="1A1A1A"/>
                          </a:solidFill>
                        </a:rPr>
                        <a:t>58.9</a:t>
                      </a:r>
                    </a:p>
                  </a:txBody>
                  <a:tcPr>
                    <a:solidFill>
                      <a:srgbClr val="F5F7FA"/>
                    </a:solidFill>
                  </a:tcPr>
                </a:tc>
                <a:tc>
                  <a:txBody>
                    <a:bodyPr/>
                    <a:lstStyle/>
                    <a:p>
                      <a:pPr algn="ctr"/>
                      <a:r>
                        <a:rPr sz="750" b="0">
                          <a:solidFill>
                            <a:srgbClr val="1A1A1A"/>
                          </a:solidFill>
                        </a:rPr>
                        <a:t>&lt; 48.7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PSX</a:t>
                      </a:r>
                    </a:p>
                  </a:txBody>
                  <a:tcPr>
                    <a:noFill/>
                  </a:tcPr>
                </a:tc>
                <a:tc>
                  <a:txBody>
                    <a:bodyPr/>
                    <a:lstStyle/>
                    <a:p>
                      <a:pPr algn="ctr"/>
                      <a:r>
                        <a:rPr sz="750" b="0">
                          <a:solidFill>
                            <a:srgbClr val="1A1A1A"/>
                          </a:solidFill>
                        </a:rPr>
                        <a:t>Phillips 66</a:t>
                      </a:r>
                    </a:p>
                  </a:txBody>
                  <a:tcPr>
                    <a:noFill/>
                  </a:tcPr>
                </a:tc>
                <a:tc>
                  <a:txBody>
                    <a:bodyPr/>
                    <a:lstStyle/>
                    <a:p>
                      <a:pPr algn="ctr"/>
                      <a:r>
                        <a:rPr sz="750" b="0">
                          <a:solidFill>
                            <a:srgbClr val="1A1A1A"/>
                          </a:solidFill>
                        </a:rPr>
                        <a:t>158.3</a:t>
                      </a:r>
                    </a:p>
                  </a:txBody>
                  <a:tcPr>
                    <a:noFill/>
                  </a:tcPr>
                </a:tc>
                <a:tc>
                  <a:txBody>
                    <a:bodyPr/>
                    <a:lstStyle/>
                    <a:p>
                      <a:pPr algn="ctr"/>
                      <a:r>
                        <a:rPr sz="750" b="0">
                          <a:solidFill>
                            <a:srgbClr val="1A1A1A"/>
                          </a:solidFill>
                        </a:rPr>
                        <a:t>182.0</a:t>
                      </a:r>
                    </a:p>
                  </a:txBody>
                  <a:tcPr>
                    <a:noFill/>
                  </a:tcPr>
                </a:tc>
                <a:tc>
                  <a:txBody>
                    <a:bodyPr/>
                    <a:lstStyle/>
                    <a:p>
                      <a:pPr algn="ctr"/>
                      <a:r>
                        <a:rPr sz="750" b="0">
                          <a:solidFill>
                            <a:srgbClr val="1A1A1A"/>
                          </a:solidFill>
                        </a:rPr>
                        <a:t>&lt; 150.4</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MPC</a:t>
                      </a:r>
                    </a:p>
                  </a:txBody>
                  <a:tcPr>
                    <a:solidFill>
                      <a:srgbClr val="F5F7FA"/>
                    </a:solidFill>
                  </a:tcPr>
                </a:tc>
                <a:tc>
                  <a:txBody>
                    <a:bodyPr/>
                    <a:lstStyle/>
                    <a:p>
                      <a:pPr algn="ctr"/>
                      <a:r>
                        <a:rPr sz="750" b="0">
                          <a:solidFill>
                            <a:srgbClr val="1A1A1A"/>
                          </a:solidFill>
                        </a:rPr>
                        <a:t>Marathon Petroleum Corpo</a:t>
                      </a:r>
                    </a:p>
                  </a:txBody>
                  <a:tcPr>
                    <a:solidFill>
                      <a:srgbClr val="F5F7FA"/>
                    </a:solidFill>
                  </a:tcPr>
                </a:tc>
                <a:tc>
                  <a:txBody>
                    <a:bodyPr/>
                    <a:lstStyle/>
                    <a:p>
                      <a:pPr algn="ctr"/>
                      <a:r>
                        <a:rPr sz="750" b="0">
                          <a:solidFill>
                            <a:srgbClr val="1A1A1A"/>
                          </a:solidFill>
                        </a:rPr>
                        <a:t>224.42</a:t>
                      </a:r>
                    </a:p>
                  </a:txBody>
                  <a:tcPr>
                    <a:solidFill>
                      <a:srgbClr val="F5F7FA"/>
                    </a:solidFill>
                  </a:tcPr>
                </a:tc>
                <a:tc>
                  <a:txBody>
                    <a:bodyPr/>
                    <a:lstStyle/>
                    <a:p>
                      <a:pPr algn="ctr"/>
                      <a:r>
                        <a:rPr sz="750" b="0">
                          <a:solidFill>
                            <a:srgbClr val="1A1A1A"/>
                          </a:solidFill>
                        </a:rPr>
                        <a:t>258.1</a:t>
                      </a:r>
                    </a:p>
                  </a:txBody>
                  <a:tcPr>
                    <a:solidFill>
                      <a:srgbClr val="F5F7FA"/>
                    </a:solidFill>
                  </a:tcPr>
                </a:tc>
                <a:tc>
                  <a:txBody>
                    <a:bodyPr/>
                    <a:lstStyle/>
                    <a:p>
                      <a:pPr algn="ctr"/>
                      <a:r>
                        <a:rPr sz="750" b="0">
                          <a:solidFill>
                            <a:srgbClr val="1A1A1A"/>
                          </a:solidFill>
                        </a:rPr>
                        <a:t>&lt; 213.2</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87200">
                <a:tc>
                  <a:txBody>
                    <a:bodyPr/>
                    <a:lstStyle/>
                    <a:p>
                      <a:pPr algn="ctr"/>
                      <a:r>
                        <a:rPr sz="750" b="0">
                          <a:solidFill>
                            <a:srgbClr val="1A1A1A"/>
                          </a:solidFill>
                        </a:rPr>
                        <a:t>XOM</a:t>
                      </a:r>
                    </a:p>
                  </a:txBody>
                  <a:tcPr>
                    <a:noFill/>
                  </a:tcPr>
                </a:tc>
                <a:tc>
                  <a:txBody>
                    <a:bodyPr/>
                    <a:lstStyle/>
                    <a:p>
                      <a:pPr algn="ctr"/>
                      <a:r>
                        <a:rPr sz="750" b="0">
                          <a:solidFill>
                            <a:srgbClr val="1A1A1A"/>
                          </a:solidFill>
                        </a:rPr>
                        <a:t>Exxon Mobil Corporation</a:t>
                      </a:r>
                    </a:p>
                  </a:txBody>
                  <a:tcPr>
                    <a:noFill/>
                  </a:tcPr>
                </a:tc>
                <a:tc>
                  <a:txBody>
                    <a:bodyPr/>
                    <a:lstStyle/>
                    <a:p>
                      <a:pPr algn="ctr"/>
                      <a:r>
                        <a:rPr sz="750" b="0">
                          <a:solidFill>
                            <a:srgbClr val="1A1A1A"/>
                          </a:solidFill>
                        </a:rPr>
                        <a:t>148.055</a:t>
                      </a:r>
                    </a:p>
                  </a:txBody>
                  <a:tcPr>
                    <a:noFill/>
                  </a:tcPr>
                </a:tc>
                <a:tc>
                  <a:txBody>
                    <a:bodyPr/>
                    <a:lstStyle/>
                    <a:p>
                      <a:pPr algn="ctr"/>
                      <a:r>
                        <a:rPr sz="750" b="0">
                          <a:solidFill>
                            <a:srgbClr val="1A1A1A"/>
                          </a:solidFill>
                        </a:rPr>
                        <a:t>170.3</a:t>
                      </a:r>
                    </a:p>
                  </a:txBody>
                  <a:tcPr>
                    <a:noFill/>
                  </a:tcPr>
                </a:tc>
                <a:tc>
                  <a:txBody>
                    <a:bodyPr/>
                    <a:lstStyle/>
                    <a:p>
                      <a:pPr algn="ctr"/>
                      <a:r>
                        <a:rPr sz="750" b="0">
                          <a:solidFill>
                            <a:srgbClr val="1A1A1A"/>
                          </a:solidFill>
                        </a:rPr>
                        <a:t>&lt; 140.7</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87200">
                <a:tc>
                  <a:txBody>
                    <a:bodyPr/>
                    <a:lstStyle/>
                    <a:p>
                      <a:pPr algn="ctr"/>
                      <a:r>
                        <a:rPr sz="750" b="0">
                          <a:solidFill>
                            <a:srgbClr val="1A1A1A"/>
                          </a:solidFill>
                        </a:rPr>
                        <a:t>COP</a:t>
                      </a:r>
                    </a:p>
                  </a:txBody>
                  <a:tcPr>
                    <a:solidFill>
                      <a:srgbClr val="F5F7FA"/>
                    </a:solidFill>
                  </a:tcPr>
                </a:tc>
                <a:tc>
                  <a:txBody>
                    <a:bodyPr/>
                    <a:lstStyle/>
                    <a:p>
                      <a:pPr algn="ctr"/>
                      <a:r>
                        <a:rPr sz="750" b="0">
                          <a:solidFill>
                            <a:srgbClr val="1A1A1A"/>
                          </a:solidFill>
                        </a:rPr>
                        <a:t>ConocoPhillips</a:t>
                      </a:r>
                    </a:p>
                  </a:txBody>
                  <a:tcPr>
                    <a:solidFill>
                      <a:srgbClr val="F5F7FA"/>
                    </a:solidFill>
                  </a:tcPr>
                </a:tc>
                <a:tc>
                  <a:txBody>
                    <a:bodyPr/>
                    <a:lstStyle/>
                    <a:p>
                      <a:pPr algn="ctr"/>
                      <a:r>
                        <a:rPr sz="750" b="0">
                          <a:solidFill>
                            <a:srgbClr val="1A1A1A"/>
                          </a:solidFill>
                        </a:rPr>
                        <a:t>118.57</a:t>
                      </a:r>
                    </a:p>
                  </a:txBody>
                  <a:tcPr>
                    <a:solidFill>
                      <a:srgbClr val="F5F7FA"/>
                    </a:solidFill>
                  </a:tcPr>
                </a:tc>
                <a:tc>
                  <a:txBody>
                    <a:bodyPr/>
                    <a:lstStyle/>
                    <a:p>
                      <a:pPr algn="ctr"/>
                      <a:r>
                        <a:rPr sz="750" b="0">
                          <a:solidFill>
                            <a:srgbClr val="1A1A1A"/>
                          </a:solidFill>
                        </a:rPr>
                        <a:t>136.4</a:t>
                      </a:r>
                    </a:p>
                  </a:txBody>
                  <a:tcPr>
                    <a:solidFill>
                      <a:srgbClr val="F5F7FA"/>
                    </a:solidFill>
                  </a:tcPr>
                </a:tc>
                <a:tc>
                  <a:txBody>
                    <a:bodyPr/>
                    <a:lstStyle/>
                    <a:p>
                      <a:pPr algn="ctr"/>
                      <a:r>
                        <a:rPr sz="750" b="0">
                          <a:solidFill>
                            <a:srgbClr val="1A1A1A"/>
                          </a:solidFill>
                        </a:rPr>
                        <a:t>&lt; 112.6</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r h="187200">
                <a:tc>
                  <a:txBody>
                    <a:bodyPr/>
                    <a:lstStyle/>
                    <a:p>
                      <a:pPr algn="ctr"/>
                      <a:r>
                        <a:rPr sz="750" b="0">
                          <a:solidFill>
                            <a:srgbClr val="1A1A1A"/>
                          </a:solidFill>
                        </a:rPr>
                        <a:t>VLO</a:t>
                      </a:r>
                    </a:p>
                  </a:txBody>
                  <a:tcPr>
                    <a:noFill/>
                  </a:tcPr>
                </a:tc>
                <a:tc>
                  <a:txBody>
                    <a:bodyPr/>
                    <a:lstStyle/>
                    <a:p>
                      <a:pPr algn="ctr"/>
                      <a:r>
                        <a:rPr sz="750" b="0">
                          <a:solidFill>
                            <a:srgbClr val="1A1A1A"/>
                          </a:solidFill>
                        </a:rPr>
                        <a:t>Valero Energy Corporatio</a:t>
                      </a:r>
                    </a:p>
                  </a:txBody>
                  <a:tcPr>
                    <a:noFill/>
                  </a:tcPr>
                </a:tc>
                <a:tc>
                  <a:txBody>
                    <a:bodyPr/>
                    <a:lstStyle/>
                    <a:p>
                      <a:pPr algn="ctr"/>
                      <a:r>
                        <a:rPr sz="750" b="0">
                          <a:solidFill>
                            <a:srgbClr val="1A1A1A"/>
                          </a:solidFill>
                        </a:rPr>
                        <a:t>237.47</a:t>
                      </a:r>
                    </a:p>
                  </a:txBody>
                  <a:tcPr>
                    <a:noFill/>
                  </a:tcPr>
                </a:tc>
                <a:tc>
                  <a:txBody>
                    <a:bodyPr/>
                    <a:lstStyle/>
                    <a:p>
                      <a:pPr algn="ctr"/>
                      <a:r>
                        <a:rPr sz="750" b="0">
                          <a:solidFill>
                            <a:srgbClr val="1A1A1A"/>
                          </a:solidFill>
                        </a:rPr>
                        <a:t>273.1</a:t>
                      </a:r>
                    </a:p>
                  </a:txBody>
                  <a:tcPr>
                    <a:noFill/>
                  </a:tcPr>
                </a:tc>
                <a:tc>
                  <a:txBody>
                    <a:bodyPr/>
                    <a:lstStyle/>
                    <a:p>
                      <a:pPr algn="ctr"/>
                      <a:r>
                        <a:rPr sz="750" b="0">
                          <a:solidFill>
                            <a:srgbClr val="1A1A1A"/>
                          </a:solidFill>
                        </a:rPr>
                        <a:t>&lt; 225.6</a:t>
                      </a:r>
                    </a:p>
                  </a:txBody>
                  <a:tcPr>
                    <a:noFill/>
                  </a:tcPr>
                </a:tc>
                <a:tc>
                  <a:txBody>
                    <a:bodyPr/>
                    <a:lstStyle/>
                    <a:p>
                      <a:pPr algn="ctr"/>
                      <a:r>
                        <a:rPr sz="750" b="0">
                          <a:solidFill>
                            <a:srgbClr val="1A1A1A"/>
                          </a:solidFill>
                        </a:rPr>
                        <a:t>Proche zone</a:t>
                      </a:r>
                    </a:p>
                  </a:txBody>
                  <a:tcPr>
                    <a:noFill/>
                  </a:tcPr>
                </a:tc>
                <a:tc>
                  <a:txBody>
                    <a:bodyPr/>
                    <a:lstStyle/>
                    <a:p>
                      <a:pPr algn="ctr"/>
                      <a:r>
                        <a:rPr sz="750" b="0">
                          <a:solidFill>
                            <a:srgbClr val="1A1A1A"/>
                          </a:solidFill>
                        </a:rPr>
                        <a:t>~52 %</a:t>
                      </a:r>
                    </a:p>
                  </a:txBody>
                  <a:tcPr>
                    <a:noFill/>
                  </a:tcPr>
                </a:tc>
              </a:tr>
              <a:tr h="187200">
                <a:tc>
                  <a:txBody>
                    <a:bodyPr/>
                    <a:lstStyle/>
                    <a:p>
                      <a:pPr algn="ctr"/>
                      <a:r>
                        <a:rPr sz="750" b="0">
                          <a:solidFill>
                            <a:srgbClr val="1A1A1A"/>
                          </a:solidFill>
                        </a:rPr>
                        <a:t>CVX</a:t>
                      </a:r>
                    </a:p>
                  </a:txBody>
                  <a:tcPr>
                    <a:solidFill>
                      <a:srgbClr val="F5F7FA"/>
                    </a:solidFill>
                  </a:tcPr>
                </a:tc>
                <a:tc>
                  <a:txBody>
                    <a:bodyPr/>
                    <a:lstStyle/>
                    <a:p>
                      <a:pPr algn="ctr"/>
                      <a:r>
                        <a:rPr sz="750" b="0">
                          <a:solidFill>
                            <a:srgbClr val="1A1A1A"/>
                          </a:solidFill>
                        </a:rPr>
                        <a:t>Chevron Corporation</a:t>
                      </a:r>
                    </a:p>
                  </a:txBody>
                  <a:tcPr>
                    <a:solidFill>
                      <a:srgbClr val="F5F7FA"/>
                    </a:solidFill>
                  </a:tcPr>
                </a:tc>
                <a:tc>
                  <a:txBody>
                    <a:bodyPr/>
                    <a:lstStyle/>
                    <a:p>
                      <a:pPr algn="ctr"/>
                      <a:r>
                        <a:rPr sz="750" b="0">
                          <a:solidFill>
                            <a:srgbClr val="1A1A1A"/>
                          </a:solidFill>
                        </a:rPr>
                        <a:t>185.545</a:t>
                      </a:r>
                    </a:p>
                  </a:txBody>
                  <a:tcPr>
                    <a:solidFill>
                      <a:srgbClr val="F5F7FA"/>
                    </a:solidFill>
                  </a:tcPr>
                </a:tc>
                <a:tc>
                  <a:txBody>
                    <a:bodyPr/>
                    <a:lstStyle/>
                    <a:p>
                      <a:pPr algn="ctr"/>
                      <a:r>
                        <a:rPr sz="750" b="0">
                          <a:solidFill>
                            <a:srgbClr val="1A1A1A"/>
                          </a:solidFill>
                        </a:rPr>
                        <a:t>213.4</a:t>
                      </a:r>
                    </a:p>
                  </a:txBody>
                  <a:tcPr>
                    <a:solidFill>
                      <a:srgbClr val="F5F7FA"/>
                    </a:solidFill>
                  </a:tcPr>
                </a:tc>
                <a:tc>
                  <a:txBody>
                    <a:bodyPr/>
                    <a:lstStyle/>
                    <a:p>
                      <a:pPr algn="ctr"/>
                      <a:r>
                        <a:rPr sz="750" b="0">
                          <a:solidFill>
                            <a:srgbClr val="1A1A1A"/>
                          </a:solidFill>
                        </a:rPr>
                        <a:t>&lt; 176.3</a:t>
                      </a:r>
                    </a:p>
                  </a:txBody>
                  <a:tcPr>
                    <a:solidFill>
                      <a:srgbClr val="F5F7FA"/>
                    </a:solidFill>
                  </a:tcPr>
                </a:tc>
                <a:tc>
                  <a:txBody>
                    <a:bodyPr/>
                    <a:lstStyle/>
                    <a:p>
                      <a:pPr algn="ctr"/>
                      <a:r>
                        <a:rPr sz="750" b="0">
                          <a:solidFill>
                            <a:srgbClr val="1A1A1A"/>
                          </a:solidFill>
                        </a:rPr>
                        <a:t>Proche zone</a:t>
                      </a:r>
                    </a:p>
                  </a:txBody>
                  <a:tcPr>
                    <a:solidFill>
                      <a:srgbClr val="F5F7FA"/>
                    </a:solidFill>
                  </a:tcPr>
                </a:tc>
                <a:tc>
                  <a:txBody>
                    <a:bodyPr/>
                    <a:lstStyle/>
                    <a:p>
                      <a:pPr algn="ctr"/>
                      <a:r>
                        <a:rPr sz="750" b="0">
                          <a:solidFill>
                            <a:srgbClr val="1A1A1A"/>
                          </a:solidFill>
                        </a:rPr>
                        <a:t>~52 %</a:t>
                      </a:r>
                    </a:p>
                  </a:txBody>
                  <a:tcPr>
                    <a:solidFill>
                      <a:srgbClr val="F5F7FA"/>
                    </a:solidFill>
                  </a:tcPr>
                </a:tc>
              </a:tr>
            </a:tbl>
          </a:graphicData>
        </a:graphic>
      </p:graphicFrame>
      <p:sp>
        <p:nvSpPr>
          <p:cNvPr id="19" name="Rectangle 18"/>
          <p:cNvSpPr/>
          <p:nvPr/>
        </p:nvSpPr>
        <p:spPr>
          <a:xfrm>
            <a:off x="324000" y="3304800"/>
            <a:ext cx="8496000" cy="90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304800"/>
            <a:ext cx="36000" cy="90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333600"/>
            <a:ext cx="8316000" cy="180000"/>
          </a:xfrm>
          <a:prstGeom prst="rect">
            <a:avLst/>
          </a:prstGeom>
          <a:noFill/>
        </p:spPr>
        <p:txBody>
          <a:bodyPr wrap="square">
            <a:spAutoFit/>
          </a:bodyPr>
          <a:lstStyle/>
          <a:p>
            <a:pPr algn="l"/>
            <a:r>
              <a:rPr sz="750" b="1" i="0">
                <a:solidFill>
                  <a:srgbClr val="B06000"/>
                </a:solidFill>
              </a:rPr>
              <a:t>NOTE METHODOLOGIQUE</a:t>
            </a:r>
          </a:p>
        </p:txBody>
      </p:sp>
      <p:sp>
        <p:nvSpPr>
          <p:cNvPr id="22" name="TextBox 21"/>
          <p:cNvSpPr txBox="1"/>
          <p:nvPr/>
        </p:nvSpPr>
        <p:spPr>
          <a:xfrm>
            <a:off x="468000" y="3520800"/>
            <a:ext cx="8316000" cy="666000"/>
          </a:xfrm>
          <a:prstGeom prst="rect">
            <a:avLst/>
          </a:prstGeom>
          <a:noFill/>
        </p:spPr>
        <p:txBody>
          <a:bodyPr wrap="square">
            <a:spAutoFit/>
          </a:bodyPr>
          <a:lstStyle/>
          <a:p>
            <a:pPr algn="l"/>
            <a:r>
              <a:rPr sz="750" b="0" i="0">
                <a:solidFill>
                  <a:srgbClr val="555555"/>
                </a:solidFill>
              </a:rPr>
              <a:t>La probabilité de rendement positif a 12 mois est calculée sur des configurations similaires identifiees en backtesting sur Données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Volatilite Petrole</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Récession mondiale ou accord OPEP+ défavorable — Brent &lt; 60 USD/bbl entraînerait des coupes dividendes.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Transition Réglementaire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Accélération du calendrier sortie fossiles — actifs bloques en risque.</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Capex Renouvelable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Surcoûts et retards projets offshore wind — impact sur rendements.</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Récession confirmee — 2 trimestrès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47 — dégradation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Révision baissière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08000"/>
            <a:ext cx="8496000" cy="198000"/>
          </a:xfrm>
          <a:prstGeom prst="rect">
            <a:avLst/>
          </a:prstGeom>
          <a:noFill/>
        </p:spPr>
        <p:txBody>
          <a:bodyPr wrap="square">
            <a:spAutoFit/>
          </a:bodyPr>
          <a:lstStyle/>
          <a:p>
            <a:pPr algn="l"/>
            <a:r>
              <a:rPr sz="850" b="1" i="0">
                <a:solidFill>
                  <a:srgbClr val="1B3A6B"/>
                </a:solidFill>
              </a:rPr>
              <a:t>Sante financière agregee du secteur</a:t>
            </a:r>
          </a:p>
        </p:txBody>
      </p:sp>
      <p:sp>
        <p:nvSpPr>
          <p:cNvPr id="30" name="Rectangle 29"/>
          <p:cNvSpPr/>
          <p:nvPr/>
        </p:nvSpPr>
        <p:spPr>
          <a:xfrm>
            <a:off x="324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24000"/>
            <a:ext cx="36000" cy="79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3960000"/>
            <a:ext cx="2538000" cy="360000"/>
          </a:xfrm>
          <a:prstGeom prst="rect">
            <a:avLst/>
          </a:prstGeom>
          <a:noFill/>
        </p:spPr>
        <p:txBody>
          <a:bodyPr wrap="square">
            <a:spAutoFit/>
          </a:bodyPr>
          <a:lstStyle/>
          <a:p>
            <a:pPr algn="l"/>
            <a:r>
              <a:rPr sz="2200" b="1" i="0">
                <a:solidFill>
                  <a:srgbClr val="1B3A6B"/>
                </a:solidFill>
              </a:rPr>
              <a:t>N/D</a:t>
            </a:r>
          </a:p>
        </p:txBody>
      </p:sp>
      <p:sp>
        <p:nvSpPr>
          <p:cNvPr id="33" name="TextBox 32"/>
          <p:cNvSpPr txBox="1"/>
          <p:nvPr/>
        </p:nvSpPr>
        <p:spPr>
          <a:xfrm>
            <a:off x="413999" y="4338000"/>
            <a:ext cx="2538000" cy="162000"/>
          </a:xfrm>
          <a:prstGeom prst="rect">
            <a:avLst/>
          </a:prstGeom>
          <a:noFill/>
        </p:spPr>
        <p:txBody>
          <a:bodyPr wrap="square">
            <a:spAutoFit/>
          </a:bodyPr>
          <a:lstStyle/>
          <a:p>
            <a:pPr algn="l"/>
            <a:r>
              <a:rPr sz="850" b="0" i="0">
                <a:solidFill>
                  <a:srgbClr val="555555"/>
                </a:solidFill>
              </a:rPr>
              <a:t>ND/EBITDA Médian</a:t>
            </a:r>
          </a:p>
        </p:txBody>
      </p:sp>
      <p:sp>
        <p:nvSpPr>
          <p:cNvPr id="34" name="TextBox 33"/>
          <p:cNvSpPr txBox="1"/>
          <p:nvPr/>
        </p:nvSpPr>
        <p:spPr>
          <a:xfrm>
            <a:off x="413999" y="4500000"/>
            <a:ext cx="2538000" cy="144000"/>
          </a:xfrm>
          <a:prstGeom prst="rect">
            <a:avLst/>
          </a:prstGeom>
          <a:noFill/>
        </p:spPr>
        <p:txBody>
          <a:bodyPr wrap="square">
            <a:spAutoFit/>
          </a:bodyPr>
          <a:lstStyle/>
          <a:p>
            <a:pPr algn="l"/>
            <a:r>
              <a:rPr sz="800" b="0" i="0">
                <a:solidFill>
                  <a:srgbClr val="AAAAAA"/>
                </a:solidFill>
              </a:rPr>
              <a:t>levier sectoriel</a:t>
            </a:r>
          </a:p>
        </p:txBody>
      </p:sp>
      <p:sp>
        <p:nvSpPr>
          <p:cNvPr id="35" name="Rectangle 34"/>
          <p:cNvSpPr/>
          <p:nvPr/>
        </p:nvSpPr>
        <p:spPr>
          <a:xfrm>
            <a:off x="3276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24000"/>
            <a:ext cx="36000" cy="79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3960000"/>
            <a:ext cx="2538000" cy="360000"/>
          </a:xfrm>
          <a:prstGeom prst="rect">
            <a:avLst/>
          </a:prstGeom>
          <a:noFill/>
        </p:spPr>
        <p:txBody>
          <a:bodyPr wrap="square">
            <a:spAutoFit/>
          </a:bodyPr>
          <a:lstStyle/>
          <a:p>
            <a:pPr algn="l"/>
            <a:r>
              <a:rPr sz="2200" b="1" i="0">
                <a:solidFill>
                  <a:srgbClr val="1B3A6B"/>
                </a:solidFill>
              </a:rPr>
              <a:t>3.4%</a:t>
            </a:r>
          </a:p>
        </p:txBody>
      </p:sp>
      <p:sp>
        <p:nvSpPr>
          <p:cNvPr id="38" name="TextBox 37"/>
          <p:cNvSpPr txBox="1"/>
          <p:nvPr/>
        </p:nvSpPr>
        <p:spPr>
          <a:xfrm>
            <a:off x="3366000" y="4338000"/>
            <a:ext cx="2538000" cy="162000"/>
          </a:xfrm>
          <a:prstGeom prst="rect">
            <a:avLst/>
          </a:prstGeom>
          <a:noFill/>
        </p:spPr>
        <p:txBody>
          <a:bodyPr wrap="square">
            <a:spAutoFit/>
          </a:bodyPr>
          <a:lstStyle/>
          <a:p>
            <a:pPr algn="l"/>
            <a:r>
              <a:rPr sz="850" b="0" i="0">
                <a:solidFill>
                  <a:srgbClr val="555555"/>
                </a:solidFill>
              </a:rPr>
              <a:t>FCF Yield Médian</a:t>
            </a:r>
          </a:p>
        </p:txBody>
      </p:sp>
      <p:sp>
        <p:nvSpPr>
          <p:cNvPr id="39" name="TextBox 38"/>
          <p:cNvSpPr txBox="1"/>
          <p:nvPr/>
        </p:nvSpPr>
        <p:spPr>
          <a:xfrm>
            <a:off x="3366000" y="4500000"/>
            <a:ext cx="2538000" cy="144000"/>
          </a:xfrm>
          <a:prstGeom prst="rect">
            <a:avLst/>
          </a:prstGeom>
          <a:noFill/>
        </p:spPr>
        <p:txBody>
          <a:bodyPr wrap="square">
            <a:spAutoFit/>
          </a:bodyPr>
          <a:lstStyle/>
          <a:p>
            <a:pPr algn="l"/>
            <a:r>
              <a:rPr sz="800" b="0" i="0">
                <a:solidFill>
                  <a:srgbClr val="AAAAAA"/>
                </a:solidFill>
              </a:rPr>
              <a:t>Génération cash</a:t>
            </a:r>
          </a:p>
        </p:txBody>
      </p:sp>
      <p:sp>
        <p:nvSpPr>
          <p:cNvPr id="40" name="Rectangle 39"/>
          <p:cNvSpPr/>
          <p:nvPr/>
        </p:nvSpPr>
        <p:spPr>
          <a:xfrm>
            <a:off x="6228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3960000"/>
            <a:ext cx="2538000" cy="360000"/>
          </a:xfrm>
          <a:prstGeom prst="rect">
            <a:avLst/>
          </a:prstGeom>
          <a:noFill/>
        </p:spPr>
        <p:txBody>
          <a:bodyPr wrap="square">
            <a:spAutoFit/>
          </a:bodyPr>
          <a:lstStyle/>
          <a:p>
            <a:pPr algn="l"/>
            <a:r>
              <a:rPr sz="2200" b="1" i="0">
                <a:solidFill>
                  <a:srgbClr val="1B3A6B"/>
                </a:solidFill>
              </a:rPr>
              <a:t>62/100</a:t>
            </a:r>
          </a:p>
        </p:txBody>
      </p:sp>
      <p:sp>
        <p:nvSpPr>
          <p:cNvPr id="43" name="TextBox 42"/>
          <p:cNvSpPr txBox="1"/>
          <p:nvPr/>
        </p:nvSpPr>
        <p:spPr>
          <a:xfrm>
            <a:off x="6318000" y="4338000"/>
            <a:ext cx="2538000" cy="162000"/>
          </a:xfrm>
          <a:prstGeom prst="rect">
            <a:avLst/>
          </a:prstGeom>
          <a:noFill/>
        </p:spPr>
        <p:txBody>
          <a:bodyPr wrap="square">
            <a:spAutoFit/>
          </a:bodyPr>
          <a:lstStyle/>
          <a:p>
            <a:pPr algn="l"/>
            <a:r>
              <a:rPr sz="850" b="0" i="0">
                <a:solidFill>
                  <a:srgbClr val="555555"/>
                </a:solidFill>
              </a:rPr>
              <a:t>Score santé moyen</a:t>
            </a:r>
          </a:p>
        </p:txBody>
      </p:sp>
      <p:sp>
        <p:nvSpPr>
          <p:cNvPr id="44" name="TextBox 43"/>
          <p:cNvSpPr txBox="1"/>
          <p:nvPr/>
        </p:nvSpPr>
        <p:spPr>
          <a:xfrm>
            <a:off x="6318000" y="4500000"/>
            <a:ext cx="2538000" cy="144000"/>
          </a:xfrm>
          <a:prstGeom prst="rect">
            <a:avLst/>
          </a:prstGeom>
          <a:noFill/>
        </p:spPr>
        <p:txBody>
          <a:bodyPr wrap="square">
            <a:spAutoFit/>
          </a:bodyPr>
          <a:lstStyle/>
          <a:p>
            <a:pPr algn="l"/>
            <a:r>
              <a:rPr sz="800" b="0" i="0">
                <a:solidFill>
                  <a:srgbClr val="AAAAAA"/>
                </a:solidFill>
              </a:rPr>
              <a:t>solidité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Prix Petrole Soutenu — Demande asiatique robuste et OPEP+ disciplinée — Brent attendu 75-85 USD/bbl en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Volatilite Petrole — Récession mondiale ou accord OPEP+ défavorable — Brent &lt; 60 USD/bbl entraînerait des</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Énergie (S&amp;P 500) ressort neutre (0.00), avec 25% d'articles a tonalité positive sur 8 analysés. La dispersion inter-valeurs est prononcée : XOM (+0.00) Porté la composanté haussière tandis que PSX (+0.00) reflète les pressions structurelles. Cette hétérogénéité valide une approche sélective plutôt que directionnelle sur le secteur — le sentiment moyen masque des situations fondamentalement différentes entre leaders et retardataires. La composanté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Boursière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Énergie  ·  S&amp;P 500  ·  Indexe a 100 au debut de la période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VLO  +125%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EOG  +27%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98 pts — 8 valeur(s) positives vs 0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INTERPRÉTATION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création de valeur tandis que d'autrès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Avertissement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complète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