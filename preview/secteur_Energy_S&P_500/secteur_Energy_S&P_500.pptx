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Énergie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11.1x  ·  Croissance med. : -1.2 %  ·  Marge EBITDA med. : 19.4 %  ·  Score moyen : 62/100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Dynamique des prix du pétrole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La récente hausse des prix du Brent au-dessus de 85 USD/bbl, soutenue par des tensions géopolitiques au Moyen-Orient et une demande résiliente en Asie, pourrait relancer les investissements upstream.</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Transition énergétique</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Les majors comme SLB bénéficient de la demande croissante en technologies bas-carbone, notamment dans les énergies renouvelables et le captage de CO2.</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Efficacité opérationnelle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Les pure players comme EOG Resources maintiennent des coûts de production compétitifs grâce à des forages optimisés dans les bassins permien et bakken.</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Volatilité des matières premières</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Un retournement des prix du gaz naturel ou du pétrole, lié à une récession mondiale ou à un excès d'offre, pourrait peser sur les marges.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Réglementation climatique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Les politiques environnementales strictes, notamment en Europe, pourraient alourdir les coûts opérationnels pour les acteurs traditionnels.</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Dépendance aux subventions</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Les entreprises du secteur renouvelable, comme les acteurs de l'hydrogène, restent vulnérables aux changements de politiques fiscales.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11.1x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Marché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-1.2 %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19.4 %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+51.0 %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Synthèse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positionnément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Caractéristiques structurelles &amp; métriques de référence</a:t>
            </a:r>
          </a:p>
        </p:txBody>
      </p:sp>
      <p:sp>
        <p:nvSpPr>
          <p:cNvPr id="15" name="Rectangle 14"/>
          <p:cNvSpPr/>
          <p:nvPr/>
        </p:nvSpPr>
        <p:spPr>
          <a:xfrm>
            <a:off x="324000" y="900000"/>
            <a:ext cx="4932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900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928800"/>
            <a:ext cx="4788000" cy="162000"/>
          </a:xfrm>
          <a:prstGeom prst="rect">
            <a:avLst/>
          </a:prstGeom>
          <a:noFill/>
        </p:spPr>
        <p:txBody>
          <a:bodyPr wrap="square">
            <a:spAutoFit/>
          </a:bodyPr>
          <a:lstStyle/>
          <a:p>
            <a:pPr algn="l"/>
            <a:r>
              <a:rPr sz="900" b="1" i="0">
                <a:solidFill>
                  <a:srgbClr val="FFFFFF"/>
                </a:solidFill>
              </a:rPr>
              <a:t>PANORAMA SECTORIEL</a:t>
            </a:r>
          </a:p>
        </p:txBody>
      </p:sp>
      <p:sp>
        <p:nvSpPr>
          <p:cNvPr id="19" name="TextBox 18"/>
          <p:cNvSpPr txBox="1"/>
          <p:nvPr/>
        </p:nvSpPr>
        <p:spPr>
          <a:xfrm>
            <a:off x="468000" y="1152000"/>
            <a:ext cx="4716000" cy="936000"/>
          </a:xfrm>
          <a:prstGeom prst="rect">
            <a:avLst/>
          </a:prstGeom>
          <a:noFill/>
        </p:spPr>
        <p:txBody>
          <a:bodyPr wrap="square">
            <a:spAutoFit/>
          </a:bodyPr>
          <a:lstStyle/>
          <a:p>
            <a:pPr algn="l"/>
            <a:r>
              <a:rPr sz="1000" b="0" i="0">
                <a:solidFill>
                  <a:srgbClr val="555555"/>
                </a:solidFill>
              </a:rPr>
              <a:t>Le secteur Energy affiche une valorisation médiane EV/EBITDA de 11.1x, en ligne avec les moyennes historiques post-pandémie, reflétant une stabilisation des marges EBITDA à 19.4% malgré une croissance des revenus négative de -1.2% sur un an, signe d'une maturité relative du cycle.</a:t>
            </a:r>
          </a:p>
        </p:txBody>
      </p:sp>
      <p:sp>
        <p:nvSpPr>
          <p:cNvPr id="20" name="Rectangle 19"/>
          <p:cNvSpPr/>
          <p:nvPr/>
        </p:nvSpPr>
        <p:spPr>
          <a:xfrm>
            <a:off x="324000" y="2268000"/>
            <a:ext cx="4932000" cy="239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4000" y="2268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2296800"/>
            <a:ext cx="4788000" cy="162000"/>
          </a:xfrm>
          <a:prstGeom prst="rect">
            <a:avLst/>
          </a:prstGeom>
          <a:noFill/>
        </p:spPr>
        <p:txBody>
          <a:bodyPr wrap="square">
            <a:spAutoFit/>
          </a:bodyPr>
          <a:lstStyle/>
          <a:p>
            <a:pPr algn="l"/>
            <a:r>
              <a:rPr sz="900" b="1" i="0">
                <a:solidFill>
                  <a:srgbClr val="FFFFFF"/>
                </a:solidFill>
              </a:rPr>
              <a:t>CATALYSEURS CLÉS</a:t>
            </a:r>
          </a:p>
        </p:txBody>
      </p:sp>
      <p:sp>
        <p:nvSpPr>
          <p:cNvPr id="23" name="Rectangle 22"/>
          <p:cNvSpPr/>
          <p:nvPr/>
        </p:nvSpPr>
        <p:spPr>
          <a:xfrm>
            <a:off x="396000" y="2520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99" y="2538000"/>
            <a:ext cx="4680000" cy="162000"/>
          </a:xfrm>
          <a:prstGeom prst="rect">
            <a:avLst/>
          </a:prstGeom>
          <a:noFill/>
        </p:spPr>
        <p:txBody>
          <a:bodyPr wrap="square">
            <a:spAutoFit/>
          </a:bodyPr>
          <a:lstStyle/>
          <a:p>
            <a:pPr algn="l"/>
            <a:r>
              <a:rPr sz="1000" b="1" i="0">
                <a:solidFill>
                  <a:srgbClr val="1B3A6B"/>
                </a:solidFill>
              </a:rPr>
              <a:t>Dynamique des prix du pétrole</a:t>
            </a:r>
          </a:p>
        </p:txBody>
      </p:sp>
      <p:sp>
        <p:nvSpPr>
          <p:cNvPr id="25" name="TextBox 24"/>
          <p:cNvSpPr txBox="1"/>
          <p:nvPr/>
        </p:nvSpPr>
        <p:spPr>
          <a:xfrm>
            <a:off x="503999" y="2718000"/>
            <a:ext cx="4680000" cy="450000"/>
          </a:xfrm>
          <a:prstGeom prst="rect">
            <a:avLst/>
          </a:prstGeom>
          <a:noFill/>
        </p:spPr>
        <p:txBody>
          <a:bodyPr wrap="square">
            <a:spAutoFit/>
          </a:bodyPr>
          <a:lstStyle/>
          <a:p>
            <a:pPr algn="l"/>
            <a:r>
              <a:rPr sz="900" b="0" i="0">
                <a:solidFill>
                  <a:srgbClr val="555555"/>
                </a:solidFill>
              </a:rPr>
              <a:t>La récente hausse des prix du Brent au-dessus de 85 USD/bbl, soutenue par des tensions géopolitiques au Moyen-Orient et une demande résiliente en Asie, pourrait relancer les investissements upstream.</a:t>
            </a:r>
          </a:p>
        </p:txBody>
      </p:sp>
      <p:sp>
        <p:nvSpPr>
          <p:cNvPr id="26" name="Rectangle 25"/>
          <p:cNvSpPr/>
          <p:nvPr/>
        </p:nvSpPr>
        <p:spPr>
          <a:xfrm>
            <a:off x="396000" y="3221999"/>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3999" y="3240000"/>
            <a:ext cx="4680000" cy="162000"/>
          </a:xfrm>
          <a:prstGeom prst="rect">
            <a:avLst/>
          </a:prstGeom>
          <a:noFill/>
        </p:spPr>
        <p:txBody>
          <a:bodyPr wrap="square">
            <a:spAutoFit/>
          </a:bodyPr>
          <a:lstStyle/>
          <a:p>
            <a:pPr algn="l"/>
            <a:r>
              <a:rPr sz="1000" b="1" i="0">
                <a:solidFill>
                  <a:srgbClr val="1B3A6B"/>
                </a:solidFill>
              </a:rPr>
              <a:t>Transition énergétique</a:t>
            </a:r>
          </a:p>
        </p:txBody>
      </p:sp>
      <p:sp>
        <p:nvSpPr>
          <p:cNvPr id="28" name="TextBox 27"/>
          <p:cNvSpPr txBox="1"/>
          <p:nvPr/>
        </p:nvSpPr>
        <p:spPr>
          <a:xfrm>
            <a:off x="503999" y="3420000"/>
            <a:ext cx="4680000" cy="450000"/>
          </a:xfrm>
          <a:prstGeom prst="rect">
            <a:avLst/>
          </a:prstGeom>
          <a:noFill/>
        </p:spPr>
        <p:txBody>
          <a:bodyPr wrap="square">
            <a:spAutoFit/>
          </a:bodyPr>
          <a:lstStyle/>
          <a:p>
            <a:pPr algn="l"/>
            <a:r>
              <a:rPr sz="900" b="0" i="0">
                <a:solidFill>
                  <a:srgbClr val="555555"/>
                </a:solidFill>
              </a:rPr>
              <a:t>Les majors comme SLB bénéficient de la demande croissante en technologies bas-carbone, notamment dans les énergies renouvelables et le captage de CO2.</a:t>
            </a:r>
          </a:p>
        </p:txBody>
      </p:sp>
      <p:sp>
        <p:nvSpPr>
          <p:cNvPr id="29" name="Rectangle 28"/>
          <p:cNvSpPr/>
          <p:nvPr/>
        </p:nvSpPr>
        <p:spPr>
          <a:xfrm>
            <a:off x="396000" y="3924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3999" y="3942000"/>
            <a:ext cx="4680000" cy="162000"/>
          </a:xfrm>
          <a:prstGeom prst="rect">
            <a:avLst/>
          </a:prstGeom>
          <a:noFill/>
        </p:spPr>
        <p:txBody>
          <a:bodyPr wrap="square">
            <a:spAutoFit/>
          </a:bodyPr>
          <a:lstStyle/>
          <a:p>
            <a:pPr algn="l"/>
            <a:r>
              <a:rPr sz="1000" b="1" i="0">
                <a:solidFill>
                  <a:srgbClr val="1B3A6B"/>
                </a:solidFill>
              </a:rPr>
              <a:t>Efficacité opérationnelle</a:t>
            </a:r>
          </a:p>
        </p:txBody>
      </p:sp>
      <p:sp>
        <p:nvSpPr>
          <p:cNvPr id="31" name="TextBox 30"/>
          <p:cNvSpPr txBox="1"/>
          <p:nvPr/>
        </p:nvSpPr>
        <p:spPr>
          <a:xfrm>
            <a:off x="503999" y="4122000"/>
            <a:ext cx="4680000" cy="450000"/>
          </a:xfrm>
          <a:prstGeom prst="rect">
            <a:avLst/>
          </a:prstGeom>
          <a:noFill/>
        </p:spPr>
        <p:txBody>
          <a:bodyPr wrap="square">
            <a:spAutoFit/>
          </a:bodyPr>
          <a:lstStyle/>
          <a:p>
            <a:pPr algn="l"/>
            <a:r>
              <a:rPr sz="900" b="0" i="0">
                <a:solidFill>
                  <a:srgbClr val="555555"/>
                </a:solidFill>
              </a:rPr>
              <a:t>Les pure players comme EOG Resources maintiennent des coûts de production compétitifs grâce à des forages optimisés dans les bassins permien et bakken.</a:t>
            </a:r>
          </a:p>
        </p:txBody>
      </p:sp>
      <p:graphicFrame>
        <p:nvGraphicFramePr>
          <p:cNvPr id="32" name="Table 31"/>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11.1x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19.4 %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-1.2 %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+51.0 %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62/100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Sociétés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Analysées</a:t>
                      </a:r>
                    </a:p>
                  </a:txBody>
                  <a:tcPr>
                    <a:solidFill>
                      <a:srgbClr val="F5F7FA"/>
                    </a:solidFill>
                  </a:tcPr>
                </a:tc>
              </a:tr>
            </a:tbl>
          </a:graphicData>
        </a:graphic>
      </p:graphicFrame>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6.8x</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14.6x</a:t>
                      </a:r>
                    </a:p>
                  </a:txBody>
                  <a:tcPr>
                    <a:noFill/>
                  </a:tcPr>
                </a:tc>
                <a:tc>
                  <a:txBody>
                    <a:bodyPr/>
                    <a:lstStyle/>
                    <a:p>
                      <a:pPr algn="ctr"/>
                      <a:r>
                        <a:rPr sz="750" b="0">
                          <a:solidFill>
                            <a:srgbClr val="1A1A1A"/>
                          </a:solidFill>
                        </a:rPr>
                        <a:t>62.0 %</a:t>
                      </a:r>
                    </a:p>
                  </a:txBody>
                  <a:tcPr>
                    <a:noFill/>
                  </a:tcPr>
                </a:tc>
                <a:tc>
                  <a:txBody>
                    <a:bodyPr/>
                    <a:lstStyle/>
                    <a:p>
                      <a:pPr algn="ctr"/>
                      <a:r>
                        <a:rPr sz="750" b="0">
                          <a:solidFill>
                            <a:srgbClr val="1A1A1A"/>
                          </a:solidFill>
                        </a:rPr>
                        <a:t>51.8 %</a:t>
                      </a:r>
                    </a:p>
                  </a:txBody>
                  <a:tcPr>
                    <a:noFill/>
                  </a:tcPr>
                </a:tc>
                <a:tc>
                  <a:txBody>
                    <a:bodyPr/>
                    <a:lstStyle/>
                    <a:p>
                      <a:pPr algn="ctr"/>
                      <a:r>
                        <a:rPr sz="750" b="0">
                          <a:solidFill>
                            <a:srgbClr val="1A1A1A"/>
                          </a:solidFill>
                        </a:rPr>
                        <a:t>16.8 %</a:t>
                      </a:r>
                    </a:p>
                  </a:txBody>
                  <a:tcPr>
                    <a:noFill/>
                  </a:tcPr>
                </a:tc>
              </a:tr>
              <a:tr h="198000">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11.3x</a:t>
                      </a:r>
                    </a:p>
                  </a:txBody>
                  <a:tcPr>
                    <a:solidFill>
                      <a:srgbClr val="F5F7FA"/>
                    </a:solidFill>
                  </a:tcPr>
                </a:tc>
                <a:tc>
                  <a:txBody>
                    <a:bodyPr/>
                    <a:lstStyle/>
                    <a:p>
                      <a:pPr algn="ctr"/>
                      <a:r>
                        <a:rPr sz="750" b="0">
                          <a:solidFill>
                            <a:srgbClr val="1A1A1A"/>
                          </a:solidFill>
                        </a:rPr>
                        <a:t>2.4x</a:t>
                      </a:r>
                    </a:p>
                  </a:txBody>
                  <a:tcPr>
                    <a:solidFill>
                      <a:srgbClr val="F5F7FA"/>
                    </a:solidFill>
                  </a:tcPr>
                </a:tc>
                <a:tc>
                  <a:txBody>
                    <a:bodyPr/>
                    <a:lstStyle/>
                    <a:p>
                      <a:pPr algn="ctr"/>
                      <a:r>
                        <a:rPr sz="750" b="0">
                          <a:solidFill>
                            <a:srgbClr val="1A1A1A"/>
                          </a:solidFill>
                        </a:rPr>
                        <a:t>21.8x</a:t>
                      </a:r>
                    </a:p>
                  </a:txBody>
                  <a:tcPr>
                    <a:solidFill>
                      <a:srgbClr val="F5F7FA"/>
                    </a:solidFill>
                  </a:tcPr>
                </a:tc>
                <a:tc>
                  <a:txBody>
                    <a:bodyPr/>
                    <a:lstStyle/>
                    <a:p>
                      <a:pPr algn="ctr"/>
                      <a:r>
                        <a:rPr sz="750" b="0">
                          <a:solidFill>
                            <a:srgbClr val="1A1A1A"/>
                          </a:solidFill>
                        </a:rPr>
                        <a:t>18.7 %</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13.9 %</a:t>
                      </a:r>
                    </a:p>
                  </a:txBody>
                  <a:tcPr>
                    <a:solidFill>
                      <a:srgbClr val="F5F7FA"/>
                    </a:solidFill>
                  </a:tcPr>
                </a:tc>
              </a:tr>
              <a:tr h="198000">
                <a:tc>
                  <a:txBody>
                    <a:bodyPr/>
                    <a:lstStyle/>
                    <a:p>
                      <a:pPr algn="ctr"/>
                      <a:r>
                        <a:rPr sz="750" b="0">
                          <a:solidFill>
                            <a:srgbClr val="1A1A1A"/>
                          </a:solidFill>
                        </a:rPr>
                        <a:t>Phillips 66</a:t>
                      </a:r>
                    </a:p>
                  </a:txBody>
                  <a:tcPr>
                    <a:noFill/>
                  </a:tcPr>
                </a:tc>
                <a:tc>
                  <a:txBody>
                    <a:bodyPr/>
                    <a:lstStyle/>
                    <a:p>
                      <a:pPr algn="ctr"/>
                      <a:r>
                        <a:rPr sz="750" b="0">
                          <a:solidFill>
                            <a:srgbClr val="1A1A1A"/>
                          </a:solidFill>
                        </a:rPr>
                        <a:t>12.9x</a:t>
                      </a:r>
                    </a:p>
                  </a:txBody>
                  <a:tcPr>
                    <a:noFill/>
                  </a:tcPr>
                </a:tc>
                <a:tc>
                  <a:txBody>
                    <a:bodyPr/>
                    <a:lstStyle/>
                    <a:p>
                      <a:pPr algn="ctr"/>
                      <a:r>
                        <a:rPr sz="750" b="0">
                          <a:solidFill>
                            <a:srgbClr val="1A1A1A"/>
                          </a:solidFill>
                        </a:rPr>
                        <a:t>0.6x</a:t>
                      </a:r>
                    </a:p>
                  </a:txBody>
                  <a:tcPr>
                    <a:noFill/>
                  </a:tcPr>
                </a:tc>
                <a:tc>
                  <a:txBody>
                    <a:bodyPr/>
                    <a:lstStyle/>
                    <a:p>
                      <a:pPr algn="ctr"/>
                      <a:r>
                        <a:rPr sz="750" b="0">
                          <a:solidFill>
                            <a:srgbClr val="1A1A1A"/>
                          </a:solidFill>
                        </a:rPr>
                        <a:t>14.7x</a:t>
                      </a:r>
                    </a:p>
                  </a:txBody>
                  <a:tcPr>
                    <a:noFill/>
                  </a:tcPr>
                </a:tc>
                <a:tc>
                  <a:txBody>
                    <a:bodyPr/>
                    <a:lstStyle/>
                    <a:p>
                      <a:pPr algn="ctr"/>
                      <a:r>
                        <a:rPr sz="750" b="0">
                          <a:solidFill>
                            <a:srgbClr val="1A1A1A"/>
                          </a:solidFill>
                        </a:rPr>
                        <a:t>12.3 %</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15.4 %</a:t>
                      </a:r>
                    </a:p>
                  </a:txBody>
                  <a:tcPr>
                    <a:noFill/>
                  </a:tcPr>
                </a:tc>
              </a:tr>
              <a:tr h="198000">
                <a:tc>
                  <a:txBody>
                    <a:bodyPr/>
                    <a:lstStyle/>
                    <a:p>
                      <a:pPr algn="ctr"/>
                      <a:r>
                        <a:rPr sz="750" b="0">
                          <a:solidFill>
                            <a:srgbClr val="1A1A1A"/>
                          </a:solidFill>
                        </a:rPr>
                        <a:t>Marathon Petroleum Corporati</a:t>
                      </a:r>
                    </a:p>
                  </a:txBody>
                  <a:tcPr>
                    <a:solidFill>
                      <a:srgbClr val="F5F7FA"/>
                    </a:solidFill>
                  </a:tcPr>
                </a:tc>
                <a:tc>
                  <a:txBody>
                    <a:bodyPr/>
                    <a:lstStyle/>
                    <a:p>
                      <a:pPr algn="ctr"/>
                      <a:r>
                        <a:rPr sz="750" b="0">
                          <a:solidFill>
                            <a:srgbClr val="1A1A1A"/>
                          </a:solidFill>
                        </a:rPr>
                        <a:t>11.0x</a:t>
                      </a:r>
                    </a:p>
                  </a:txBody>
                  <a:tcPr>
                    <a:solidFill>
                      <a:srgbClr val="F5F7FA"/>
                    </a:solidFill>
                  </a:tcPr>
                </a:tc>
                <a:tc>
                  <a:txBody>
                    <a:bodyPr/>
                    <a:lstStyle/>
                    <a:p>
                      <a:pPr algn="ctr"/>
                      <a:r>
                        <a:rPr sz="750" b="0">
                          <a:solidFill>
                            <a:srgbClr val="1A1A1A"/>
                          </a:solidFill>
                        </a:rPr>
                        <a:t>0.8x</a:t>
                      </a:r>
                    </a:p>
                  </a:txBody>
                  <a:tcPr>
                    <a:solidFill>
                      <a:srgbClr val="F5F7FA"/>
                    </a:solidFill>
                  </a:tcPr>
                </a:tc>
                <a:tc>
                  <a:txBody>
                    <a:bodyPr/>
                    <a:lstStyle/>
                    <a:p>
                      <a:pPr algn="ctr"/>
                      <a:r>
                        <a:rPr sz="750" b="0">
                          <a:solidFill>
                            <a:srgbClr val="1A1A1A"/>
                          </a:solidFill>
                        </a:rPr>
                        <a:t>17.0x</a:t>
                      </a:r>
                    </a:p>
                  </a:txBody>
                  <a:tcPr>
                    <a:solidFill>
                      <a:srgbClr val="F5F7FA"/>
                    </a:solidFill>
                  </a:tcPr>
                </a:tc>
                <a:tc>
                  <a:txBody>
                    <a:bodyPr/>
                    <a:lstStyle/>
                    <a:p>
                      <a:pPr algn="ctr"/>
                      <a:r>
                        <a:rPr sz="750" b="0">
                          <a:solidFill>
                            <a:srgbClr val="1A1A1A"/>
                          </a:solidFill>
                        </a:rPr>
                        <a:t>10.3 %</a:t>
                      </a:r>
                    </a:p>
                  </a:txBody>
                  <a:tcPr>
                    <a:solidFill>
                      <a:srgbClr val="F5F7FA"/>
                    </a:solidFill>
                  </a:tcPr>
                </a:tc>
                <a:tc>
                  <a:txBody>
                    <a:bodyPr/>
                    <a:lstStyle/>
                    <a:p>
                      <a:pPr algn="ctr"/>
                      <a:r>
                        <a:rPr sz="750" b="0">
                          <a:solidFill>
                            <a:srgbClr val="1A1A1A"/>
                          </a:solidFill>
                        </a:rPr>
                        <a:t>7.1 %</a:t>
                      </a:r>
                    </a:p>
                  </a:txBody>
                  <a:tcPr>
                    <a:solidFill>
                      <a:srgbClr val="F5F7FA"/>
                    </a:solidFill>
                  </a:tcPr>
                </a:tc>
                <a:tc>
                  <a:txBody>
                    <a:bodyPr/>
                    <a:lstStyle/>
                    <a:p>
                      <a:pPr algn="ctr"/>
                      <a:r>
                        <a:rPr sz="750" b="0">
                          <a:solidFill>
                            <a:srgbClr val="1A1A1A"/>
                          </a:solidFill>
                        </a:rPr>
                        <a:t>24.2 %</a:t>
                      </a:r>
                    </a:p>
                  </a:txBody>
                  <a:tcPr>
                    <a:solidFill>
                      <a:srgbClr val="F5F7FA"/>
                    </a:solidFill>
                  </a:tcPr>
                </a:tc>
              </a:tr>
              <a:tr h="198000">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11.5x</a:t>
                      </a:r>
                    </a:p>
                  </a:txBody>
                  <a:tcPr>
                    <a:noFill/>
                  </a:tcPr>
                </a:tc>
                <a:tc>
                  <a:txBody>
                    <a:bodyPr/>
                    <a:lstStyle/>
                    <a:p>
                      <a:pPr algn="ctr"/>
                      <a:r>
                        <a:rPr sz="750" b="0">
                          <a:solidFill>
                            <a:srgbClr val="1A1A1A"/>
                          </a:solidFill>
                        </a:rPr>
                        <a:t>2.1x</a:t>
                      </a:r>
                    </a:p>
                  </a:txBody>
                  <a:tcPr>
                    <a:noFill/>
                  </a:tcPr>
                </a:tc>
                <a:tc>
                  <a:txBody>
                    <a:bodyPr/>
                    <a:lstStyle/>
                    <a:p>
                      <a:pPr algn="ctr"/>
                      <a:r>
                        <a:rPr sz="750" b="0">
                          <a:solidFill>
                            <a:srgbClr val="1A1A1A"/>
                          </a:solidFill>
                        </a:rPr>
                        <a:t>22.1x</a:t>
                      </a:r>
                    </a:p>
                  </a:txBody>
                  <a:tcPr>
                    <a:noFill/>
                  </a:tcPr>
                </a:tc>
                <a:tc>
                  <a:txBody>
                    <a:bodyPr/>
                    <a:lstStyle/>
                    <a:p>
                      <a:pPr algn="ctr"/>
                      <a:r>
                        <a:rPr sz="750" b="0">
                          <a:solidFill>
                            <a:srgbClr val="1A1A1A"/>
                          </a:solidFill>
                        </a:rPr>
                        <a:t>31.0 %</a:t>
                      </a:r>
                    </a:p>
                  </a:txBody>
                  <a:tcPr>
                    <a:noFill/>
                  </a:tcPr>
                </a:tc>
                <a:tc>
                  <a:txBody>
                    <a:bodyPr/>
                    <a:lstStyle/>
                    <a:p>
                      <a:pPr algn="ctr"/>
                      <a:r>
                        <a:rPr sz="750" b="0">
                          <a:solidFill>
                            <a:srgbClr val="1A1A1A"/>
                          </a:solidFill>
                        </a:rPr>
                        <a:t>18.3 %</a:t>
                      </a:r>
                    </a:p>
                  </a:txBody>
                  <a:tcPr>
                    <a:noFill/>
                  </a:tcPr>
                </a:tc>
                <a:tc>
                  <a:txBody>
                    <a:bodyPr/>
                    <a:lstStyle/>
                    <a:p>
                      <a:pPr algn="ctr"/>
                      <a:r>
                        <a:rPr sz="750" b="0">
                          <a:solidFill>
                            <a:srgbClr val="1A1A1A"/>
                          </a:solidFill>
                        </a:rPr>
                        <a:t>11.1 %</a:t>
                      </a:r>
                    </a:p>
                  </a:txBody>
                  <a:tcPr>
                    <a:noFill/>
                  </a:tcPr>
                </a:tc>
              </a:tr>
              <a:tr h="198000">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7.0x</a:t>
                      </a:r>
                    </a:p>
                  </a:txBody>
                  <a:tcPr>
                    <a:solidFill>
                      <a:srgbClr val="F5F7FA"/>
                    </a:solidFill>
                  </a:tcPr>
                </a:tc>
                <a:tc>
                  <a:txBody>
                    <a:bodyPr/>
                    <a:lstStyle/>
                    <a:p>
                      <a:pPr algn="ctr"/>
                      <a:r>
                        <a:rPr sz="750" b="0">
                          <a:solidFill>
                            <a:srgbClr val="1A1A1A"/>
                          </a:solidFill>
                        </a:rPr>
                        <a:t>2.8x</a:t>
                      </a:r>
                    </a:p>
                  </a:txBody>
                  <a:tcPr>
                    <a:solidFill>
                      <a:srgbClr val="F5F7FA"/>
                    </a:solidFill>
                  </a:tcPr>
                </a:tc>
                <a:tc>
                  <a:txBody>
                    <a:bodyPr/>
                    <a:lstStyle/>
                    <a:p>
                      <a:pPr algn="ctr"/>
                      <a:r>
                        <a:rPr sz="750" b="0">
                          <a:solidFill>
                            <a:srgbClr val="1A1A1A"/>
                          </a:solidFill>
                        </a:rPr>
                        <a:t>18.7x</a:t>
                      </a:r>
                    </a:p>
                  </a:txBody>
                  <a:tcPr>
                    <a:solidFill>
                      <a:srgbClr val="F5F7FA"/>
                    </a:solidFill>
                  </a:tcPr>
                </a:tc>
                <a:tc>
                  <a:txBody>
                    <a:bodyPr/>
                    <a:lstStyle/>
                    <a:p>
                      <a:pPr algn="ctr"/>
                      <a:r>
                        <a:rPr sz="750" b="0">
                          <a:solidFill>
                            <a:srgbClr val="1A1A1A"/>
                          </a:solidFill>
                        </a:rPr>
                        <a:t>46.2 %</a:t>
                      </a:r>
                    </a:p>
                  </a:txBody>
                  <a:tcPr>
                    <a:solidFill>
                      <a:srgbClr val="F5F7FA"/>
                    </a:solidFill>
                  </a:tcPr>
                </a:tc>
                <a:tc>
                  <a:txBody>
                    <a:bodyPr/>
                    <a:lstStyle/>
                    <a:p>
                      <a:pPr algn="ctr"/>
                      <a:r>
                        <a:rPr sz="750" b="0">
                          <a:solidFill>
                            <a:srgbClr val="1A1A1A"/>
                          </a:solidFill>
                        </a:rPr>
                        <a:t>40.1 %</a:t>
                      </a:r>
                    </a:p>
                  </a:txBody>
                  <a:tcPr>
                    <a:solidFill>
                      <a:srgbClr val="F5F7FA"/>
                    </a:solidFill>
                  </a:tcPr>
                </a:tc>
                <a:tc>
                  <a:txBody>
                    <a:bodyPr/>
                    <a:lstStyle/>
                    <a:p>
                      <a:pPr algn="ctr"/>
                      <a:r>
                        <a:rPr sz="750" b="0">
                          <a:solidFill>
                            <a:srgbClr val="1A1A1A"/>
                          </a:solidFill>
                        </a:rPr>
                        <a:t>12.4 %</a:t>
                      </a:r>
                    </a:p>
                  </a:txBody>
                  <a:tcPr>
                    <a:solidFill>
                      <a:srgbClr val="F5F7FA"/>
                    </a:solidFill>
                  </a:tcPr>
                </a:tc>
              </a:tr>
              <a:tr h="198000">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10.8x</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31.3x</a:t>
                      </a:r>
                    </a:p>
                  </a:txBody>
                  <a:tcPr>
                    <a:noFill/>
                  </a:tcPr>
                </a:tc>
                <a:tc>
                  <a:txBody>
                    <a:bodyPr/>
                    <a:lstStyle/>
                    <a:p>
                      <a:pPr algn="ctr"/>
                      <a:r>
                        <a:rPr sz="750" b="0">
                          <a:solidFill>
                            <a:srgbClr val="1A1A1A"/>
                          </a:solidFill>
                        </a:rPr>
                        <a:t>13.2 %</a:t>
                      </a:r>
                    </a:p>
                  </a:txBody>
                  <a:tcPr>
                    <a:noFill/>
                  </a:tcPr>
                </a:tc>
                <a:tc>
                  <a:txBody>
                    <a:bodyPr/>
                    <a:lstStyle/>
                    <a:p>
                      <a:pPr algn="ctr"/>
                      <a:r>
                        <a:rPr sz="750" b="0">
                          <a:solidFill>
                            <a:srgbClr val="1A1A1A"/>
                          </a:solidFill>
                        </a:rPr>
                        <a:t>6.6 %</a:t>
                      </a:r>
                    </a:p>
                  </a:txBody>
                  <a:tcPr>
                    <a:noFill/>
                  </a:tcPr>
                </a:tc>
                <a:tc>
                  <a:txBody>
                    <a:bodyPr/>
                    <a:lstStyle/>
                    <a:p>
                      <a:pPr algn="ctr"/>
                      <a:r>
                        <a:rPr sz="750" b="0">
                          <a:solidFill>
                            <a:srgbClr val="1A1A1A"/>
                          </a:solidFill>
                        </a:rPr>
                        <a:t>8.3 %</a:t>
                      </a:r>
                    </a:p>
                  </a:txBody>
                  <a:tcPr>
                    <a:noFill/>
                  </a:tcPr>
                </a:tc>
              </a:tr>
              <a:tr h="198000">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11.4x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28.0x</a:t>
                      </a:r>
                    </a:p>
                  </a:txBody>
                  <a:tcPr>
                    <a:solidFill>
                      <a:srgbClr val="F5F7FA"/>
                    </a:solidFill>
                  </a:tcPr>
                </a:tc>
                <a:tc>
                  <a:txBody>
                    <a:bodyPr/>
                    <a:lstStyle/>
                    <a:p>
                      <a:pPr algn="ctr"/>
                      <a:r>
                        <a:rPr sz="750" b="0">
                          <a:solidFill>
                            <a:srgbClr val="1A1A1A"/>
                          </a:solidFill>
                        </a:rPr>
                        <a:t>41.9 %</a:t>
                      </a:r>
                    </a:p>
                  </a:txBody>
                  <a:tcPr>
                    <a:solidFill>
                      <a:srgbClr val="F5F7FA"/>
                    </a:solidFill>
                  </a:tcPr>
                </a:tc>
                <a:tc>
                  <a:txBody>
                    <a:bodyPr/>
                    <a:lstStyle/>
                    <a:p>
                      <a:pPr algn="ctr"/>
                      <a:r>
                        <a:rPr sz="750" b="0">
                          <a:solidFill>
                            <a:srgbClr val="1A1A1A"/>
                          </a:solidFill>
                        </a:rPr>
                        <a:t>20.4 %</a:t>
                      </a:r>
                    </a:p>
                  </a:txBody>
                  <a:tcPr>
                    <a:solidFill>
                      <a:srgbClr val="F5F7FA"/>
                    </a:solidFill>
                  </a:tcPr>
                </a:tc>
                <a:tc>
                  <a:txBody>
                    <a:bodyPr/>
                    <a:lstStyle/>
                    <a:p>
                      <a:pPr algn="ctr"/>
                      <a:r>
                        <a:rPr sz="750" b="0">
                          <a:solidFill>
                            <a:srgbClr val="1A1A1A"/>
                          </a:solidFill>
                        </a:rPr>
                        <a:t>7.2 %</a:t>
                      </a:r>
                    </a:p>
                  </a:txBody>
                  <a:tcPr>
                    <a:solidFill>
                      <a:srgbClr val="F5F7FA"/>
                    </a:solidFill>
                  </a:tcPr>
                </a:tc>
              </a:tr>
              <a:tr h="198000">
                <a:tc>
                  <a:txBody>
                    <a:bodyPr/>
                    <a:lstStyle/>
                    <a:p>
                      <a:pPr algn="ctr"/>
                      <a:r>
                        <a:rPr sz="750" b="0">
                          <a:solidFill>
                            <a:srgbClr val="1A1A1A"/>
                          </a:solidFill>
                        </a:rPr>
                        <a:t>MÉDIANE</a:t>
                      </a:r>
                    </a:p>
                  </a:txBody>
                  <a:tcPr>
                    <a:noFill/>
                  </a:tcPr>
                </a:tc>
                <a:tc>
                  <a:txBody>
                    <a:bodyPr/>
                    <a:lstStyle/>
                    <a:p>
                      <a:pPr algn="ctr"/>
                      <a:r>
                        <a:rPr sz="750" b="0">
                          <a:solidFill>
                            <a:srgbClr val="1A1A1A"/>
                          </a:solidFill>
                        </a:rPr>
                        <a:t>11.1x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20.3x</a:t>
                      </a:r>
                    </a:p>
                  </a:txBody>
                  <a:tcPr>
                    <a:noFill/>
                  </a:tcPr>
                </a:tc>
                <a:tc>
                  <a:txBody>
                    <a:bodyPr/>
                    <a:lstStyle/>
                    <a:p>
                      <a:pPr algn="ctr"/>
                      <a:r>
                        <a:rPr sz="750" b="0">
                          <a:solidFill>
                            <a:srgbClr val="1A1A1A"/>
                          </a:solidFill>
                        </a:rPr>
                        <a:t>24.9 %</a:t>
                      </a:r>
                    </a:p>
                  </a:txBody>
                  <a:tcPr>
                    <a:noFill/>
                  </a:tcPr>
                </a:tc>
                <a:tc>
                  <a:txBody>
                    <a:bodyPr/>
                    <a:lstStyle/>
                    <a:p>
                      <a:pPr algn="ctr"/>
                      <a:r>
                        <a:rPr sz="750" b="0">
                          <a:solidFill>
                            <a:srgbClr val="1A1A1A"/>
                          </a:solidFill>
                        </a:rPr>
                        <a:t>19.4 %</a:t>
                      </a:r>
                    </a:p>
                  </a:txBody>
                  <a:tcPr>
                    <a:noFill/>
                  </a:tcPr>
                </a:tc>
                <a:tc>
                  <a:txBody>
                    <a:bodyPr/>
                    <a:lstStyle/>
                    <a:p>
                      <a:pPr algn="ctr"/>
                      <a:r>
                        <a:rPr sz="750" b="0">
                          <a:solidFill>
                            <a:srgbClr val="1A1A1A"/>
                          </a:solidFill>
                        </a:rPr>
                        <a:t>13.2 %</a:t>
                      </a:r>
                    </a:p>
                  </a:txBody>
                  <a:tcPr>
                    <a:noFill/>
                  </a:tcPr>
                </a:tc>
              </a:tr>
            </a:tbl>
          </a:graphicData>
        </a:graphic>
      </p:graphicFrame>
      <p:sp>
        <p:nvSpPr>
          <p:cNvPr id="16" name="Rectangle 15"/>
          <p:cNvSpPr/>
          <p:nvPr/>
        </p:nvSpPr>
        <p:spPr>
          <a:xfrm>
            <a:off x="324000" y="3131999"/>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131999"/>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150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420000"/>
            <a:ext cx="8352000" cy="720000"/>
          </a:xfrm>
          <a:prstGeom prst="rect">
            <a:avLst/>
          </a:prstGeom>
          <a:noFill/>
        </p:spPr>
        <p:txBody>
          <a:bodyPr wrap="square">
            <a:spAutoFit/>
          </a:bodyPr>
          <a:lstStyle/>
          <a:p>
            <a:pPr algn="l"/>
            <a:r>
              <a:rPr sz="850" b="0" i="0">
                <a:solidFill>
                  <a:srgbClr val="555555"/>
                </a:solidFill>
              </a:rPr>
              <a:t>La Médiane EV/EBITDA sectorielle s établit a 11.1x LTM. EOG Resources, Inc. (6.8x) se distingue comme le leader de qualité, combine a une marge EBITDA de 51.8 % et une croissance de +0.0 %. La dispersion des multiples revele l hétérogèneite des profils au sein du secteur Énergie — une lecture croisée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Prix des énergies fossiles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Une hausse durable des prix du pétrole ou du gaz, combinée à une demande structurelle en Asie, pourrait booster les valorisations des E&amp;P comme EOG Resources.</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Investissements ESG</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Les fonds dédiés à la transition énergétique pourraient surpondérer les acteurs bien positionnés comme SLB, tirant les multiples vers le haut.</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Surcapacité de raffinage</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Un excès de capacité dans le raffinage, notamment aux États-Unis, pourrait exercer une pression baissière sur les marges des acteurs comme PSX.</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Ralentissement économique</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Un ralentissement de la croissance mondiale, en particulier en Chine, réduirait la demande en produits pétroliers et gaziers, impactant les revenus.</a:t>
            </a:r>
          </a:p>
        </p:txBody>
      </p:sp>
      <p:sp>
        <p:nvSpPr>
          <p:cNvPr id="35" name="Rectangle 34"/>
          <p:cNvSpPr/>
          <p:nvPr/>
        </p:nvSpPr>
        <p:spPr>
          <a:xfrm>
            <a:off x="5976000" y="900000"/>
            <a:ext cx="2844000" cy="39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62/100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Médian : 6.3 %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semble en phase de maturité avancée, avec des signaux mitigés entre une demande résiliente pour les énergies fossiles et une transition vers des modèles bas-carbone encore en cours de consolidation.</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1A7A4A"/>
                </a:solidFill>
              </a:rPr>
              <a:t>Régime : Bull</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10%  (Faible)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par Sous-Secteur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4 industries GICS identifiées</a:t>
            </a:r>
          </a:p>
        </p:txBody>
      </p:sp>
      <p:graphicFrame>
        <p:nvGraphicFramePr>
          <p:cNvPr id="15" name="Table 14"/>
          <p:cNvGraphicFramePr>
            <a:graphicFrameLocks noGrp="1"/>
          </p:cNvGraphicFramePr>
          <p:nvPr/>
        </p:nvGraphicFramePr>
        <p:xfrm>
          <a:off x="324000" y="792000"/>
          <a:ext cx="8495997" cy="766800"/>
        </p:xfrm>
        <a:graphic>
          <a:graphicData uri="http://schemas.openxmlformats.org/drawingml/2006/table">
            <a:tbl>
              <a:tblPr firstRow="1" bandRow="1">
                <a:tableStyleId>{5C22544A-7EE6-4342-B048-85BDC9FD1C3A}</a:tableStyleId>
              </a:tblPr>
              <a:tblGrid>
                <a:gridCol w="2404528"/>
                <a:gridCol w="601132"/>
                <a:gridCol w="721358"/>
                <a:gridCol w="1122113"/>
                <a:gridCol w="1001886"/>
                <a:gridCol w="881660"/>
                <a:gridCol w="881660"/>
                <a:gridCol w="881660"/>
              </a:tblGrid>
              <a:tr h="153360">
                <a:tc>
                  <a:txBody>
                    <a:bodyPr/>
                    <a:lstStyle/>
                    <a:p>
                      <a:pPr algn="l"/>
                      <a:r>
                        <a:rPr sz="800" b="1">
                          <a:solidFill>
                            <a:srgbClr val="FFFFFF"/>
                          </a:solidFill>
                        </a:rPr>
                        <a:t>Sous-secteur</a:t>
                      </a:r>
                    </a:p>
                  </a:txBody>
                  <a:tcPr>
                    <a:solidFill>
                      <a:srgbClr val="1B3A6B"/>
                    </a:solidFill>
                  </a:tcPr>
                </a:tc>
                <a:tc>
                  <a:txBody>
                    <a:bodyPr/>
                    <a:lstStyle/>
                    <a:p>
                      <a:pPr algn="ctr"/>
                      <a:r>
                        <a:rPr sz="800" b="1">
                          <a:solidFill>
                            <a:srgbClr val="FFFFFF"/>
                          </a:solidFill>
                        </a:rPr>
                        <a:t>Nb</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Marge</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153360">
                <a:tc>
                  <a:txBody>
                    <a:bodyPr/>
                    <a:lstStyle/>
                    <a:p>
                      <a:pPr algn="l"/>
                      <a:r>
                        <a:rPr sz="800">
                          <a:solidFill>
                            <a:srgbClr val="1A1A1A"/>
                          </a:solidFill>
                        </a:rPr>
                        <a:t>Oil &amp; Gas Equipment &amp; Servic</a:t>
                      </a:r>
                    </a:p>
                  </a:txBody>
                  <a:tcPr>
                    <a:solidFill>
                      <a:srgbClr val="F5F7FA"/>
                    </a:solidFill>
                  </a:tcPr>
                </a:tc>
                <a:tc>
                  <a:txBody>
                    <a:bodyPr/>
                    <a:lstStyle/>
                    <a:p>
                      <a:pPr algn="ctr"/>
                      <a:r>
                        <a:rPr sz="800">
                          <a:solidFill>
                            <a:srgbClr val="1A1A1A"/>
                          </a:solidFill>
                        </a:rPr>
                        <a:t>1</a:t>
                      </a:r>
                    </a:p>
                  </a:txBody>
                  <a:tcPr>
                    <a:solidFill>
                      <a:srgbClr val="F5F7FA"/>
                    </a:solidFill>
                  </a:tcPr>
                </a:tc>
                <a:tc>
                  <a:txBody>
                    <a:bodyPr/>
                    <a:lstStyle/>
                    <a:p>
                      <a:pPr algn="ctr"/>
                      <a:r>
                        <a:rPr sz="800">
                          <a:solidFill>
                            <a:srgbClr val="1A1A1A"/>
                          </a:solidFill>
                        </a:rPr>
                        <a:t>69</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11.3x</a:t>
                      </a:r>
                    </a:p>
                  </a:txBody>
                  <a:tcPr>
                    <a:solidFill>
                      <a:srgbClr val="F5F7FA"/>
                    </a:solidFill>
                  </a:tcPr>
                </a:tc>
                <a:tc>
                  <a:txBody>
                    <a:bodyPr/>
                    <a:lstStyle/>
                    <a:p>
                      <a:pPr algn="ctr"/>
                      <a:r>
                        <a:rPr sz="800">
                          <a:solidFill>
                            <a:srgbClr val="1A1A1A"/>
                          </a:solidFill>
                        </a:rPr>
                        <a:t>21.7%</a:t>
                      </a:r>
                    </a:p>
                  </a:txBody>
                  <a:tcPr>
                    <a:solidFill>
                      <a:srgbClr val="F5F7FA"/>
                    </a:solidFill>
                  </a:tcPr>
                </a:tc>
                <a:tc>
                  <a:txBody>
                    <a:bodyPr/>
                    <a:lstStyle/>
                    <a:p>
                      <a:pPr algn="ctr"/>
                      <a:r>
                        <a:rPr sz="800">
                          <a:solidFill>
                            <a:srgbClr val="1A1A1A"/>
                          </a:solidFill>
                        </a:rPr>
                        <a:t>+5.0%</a:t>
                      </a:r>
                    </a:p>
                  </a:txBody>
                  <a:tcPr>
                    <a:solidFill>
                      <a:srgbClr val="F5F7FA"/>
                    </a:solidFill>
                  </a:tcPr>
                </a:tc>
                <a:tc>
                  <a:txBody>
                    <a:bodyPr/>
                    <a:lstStyle/>
                    <a:p>
                      <a:pPr algn="ctr"/>
                      <a:r>
                        <a:rPr sz="800">
                          <a:solidFill>
                            <a:srgbClr val="1A1A1A"/>
                          </a:solidFill>
                        </a:rPr>
                        <a:t>+53.8%</a:t>
                      </a:r>
                    </a:p>
                  </a:txBody>
                  <a:tcPr>
                    <a:solidFill>
                      <a:srgbClr val="F5F7FA"/>
                    </a:solidFill>
                  </a:tcPr>
                </a:tc>
              </a:tr>
              <a:tr h="153360">
                <a:tc>
                  <a:txBody>
                    <a:bodyPr/>
                    <a:lstStyle/>
                    <a:p>
                      <a:pPr algn="l"/>
                      <a:r>
                        <a:rPr sz="800">
                          <a:solidFill>
                            <a:srgbClr val="1A1A1A"/>
                          </a:solidFill>
                        </a:rPr>
                        <a:t>Oil &amp; Gas E&amp;P</a:t>
                      </a:r>
                    </a:p>
                  </a:txBody>
                  <a:tcPr>
                    <a:solidFill>
                      <a:srgbClr val="FFFFFF"/>
                    </a:solidFill>
                  </a:tcPr>
                </a:tc>
                <a:tc>
                  <a:txBody>
                    <a:bodyPr/>
                    <a:lstStyle/>
                    <a:p>
                      <a:pPr algn="ctr"/>
                      <a:r>
                        <a:rPr sz="800">
                          <a:solidFill>
                            <a:srgbClr val="1A1A1A"/>
                          </a:solidFill>
                        </a:rPr>
                        <a:t>2</a:t>
                      </a:r>
                    </a:p>
                  </a:txBody>
                  <a:tcPr>
                    <a:solidFill>
                      <a:srgbClr val="FFFFFF"/>
                    </a:solidFill>
                  </a:tcPr>
                </a:tc>
                <a:tc>
                  <a:txBody>
                    <a:bodyPr/>
                    <a:lstStyle/>
                    <a:p>
                      <a:pPr algn="ctr"/>
                      <a:r>
                        <a:rPr sz="800">
                          <a:solidFill>
                            <a:srgbClr val="1A1A1A"/>
                          </a:solidFill>
                        </a:rPr>
                        <a:t>65</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6.9x</a:t>
                      </a:r>
                    </a:p>
                  </a:txBody>
                  <a:tcPr>
                    <a:solidFill>
                      <a:srgbClr val="FFFFFF"/>
                    </a:solidFill>
                  </a:tcPr>
                </a:tc>
                <a:tc>
                  <a:txBody>
                    <a:bodyPr/>
                    <a:lstStyle/>
                    <a:p>
                      <a:pPr algn="ctr"/>
                      <a:r>
                        <a:rPr sz="800">
                          <a:solidFill>
                            <a:srgbClr val="1A1A1A"/>
                          </a:solidFill>
                        </a:rPr>
                        <a:t>46.0%</a:t>
                      </a:r>
                    </a:p>
                  </a:txBody>
                  <a:tcPr>
                    <a:solidFill>
                      <a:srgbClr val="FFFFFF"/>
                    </a:solidFill>
                  </a:tcPr>
                </a:tc>
                <a:tc>
                  <a:txBody>
                    <a:bodyPr/>
                    <a:lstStyle/>
                    <a:p>
                      <a:pPr algn="ctr"/>
                      <a:r>
                        <a:rPr sz="800">
                          <a:solidFill>
                            <a:srgbClr val="1A1A1A"/>
                          </a:solidFill>
                        </a:rPr>
                        <a:t>-3.4%</a:t>
                      </a:r>
                    </a:p>
                  </a:txBody>
                  <a:tcPr>
                    <a:solidFill>
                      <a:srgbClr val="FFFFFF"/>
                    </a:solidFill>
                  </a:tcPr>
                </a:tc>
                <a:tc>
                  <a:txBody>
                    <a:bodyPr/>
                    <a:lstStyle/>
                    <a:p>
                      <a:pPr algn="ctr"/>
                      <a:r>
                        <a:rPr sz="800">
                          <a:solidFill>
                            <a:srgbClr val="1A1A1A"/>
                          </a:solidFill>
                        </a:rPr>
                        <a:t>+35.8%</a:t>
                      </a:r>
                    </a:p>
                  </a:txBody>
                  <a:tcPr>
                    <a:solidFill>
                      <a:srgbClr val="FFFFFF"/>
                    </a:solidFill>
                  </a:tcPr>
                </a:tc>
              </a:tr>
              <a:tr h="153360">
                <a:tc>
                  <a:txBody>
                    <a:bodyPr/>
                    <a:lstStyle/>
                    <a:p>
                      <a:pPr algn="l"/>
                      <a:r>
                        <a:rPr sz="800">
                          <a:solidFill>
                            <a:srgbClr val="1A1A1A"/>
                          </a:solidFill>
                        </a:rPr>
                        <a:t>Oil &amp; Gas Refining &amp; Marketi</a:t>
                      </a:r>
                    </a:p>
                  </a:txBody>
                  <a:tcPr>
                    <a:solidFill>
                      <a:srgbClr val="F5F7FA"/>
                    </a:solidFill>
                  </a:tcPr>
                </a:tc>
                <a:tc>
                  <a:txBody>
                    <a:bodyPr/>
                    <a:lstStyle/>
                    <a:p>
                      <a:pPr algn="ctr"/>
                      <a:r>
                        <a:rPr sz="800">
                          <a:solidFill>
                            <a:srgbClr val="1A1A1A"/>
                          </a:solidFill>
                        </a:rPr>
                        <a:t>3</a:t>
                      </a:r>
                    </a:p>
                  </a:txBody>
                  <a:tcPr>
                    <a:solidFill>
                      <a:srgbClr val="F5F7FA"/>
                    </a:solidFill>
                  </a:tcPr>
                </a:tc>
                <a:tc>
                  <a:txBody>
                    <a:bodyPr/>
                    <a:lstStyle/>
                    <a:p>
                      <a:pPr algn="ctr"/>
                      <a:r>
                        <a:rPr sz="800">
                          <a:solidFill>
                            <a:srgbClr val="1A1A1A"/>
                          </a:solidFill>
                        </a:rPr>
                        <a:t>62</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11.0x</a:t>
                      </a:r>
                    </a:p>
                  </a:txBody>
                  <a:tcPr>
                    <a:solidFill>
                      <a:srgbClr val="F5F7FA"/>
                    </a:solidFill>
                  </a:tcPr>
                </a:tc>
                <a:tc>
                  <a:txBody>
                    <a:bodyPr/>
                    <a:lstStyle/>
                    <a:p>
                      <a:pPr algn="ctr"/>
                      <a:r>
                        <a:rPr sz="800">
                          <a:solidFill>
                            <a:srgbClr val="1A1A1A"/>
                          </a:solidFill>
                        </a:rPr>
                        <a:t>6.6%</a:t>
                      </a:r>
                    </a:p>
                  </a:txBody>
                  <a:tcPr>
                    <a:solidFill>
                      <a:srgbClr val="F5F7FA"/>
                    </a:solidFill>
                  </a:tcPr>
                </a:tc>
                <a:tc>
                  <a:txBody>
                    <a:bodyPr/>
                    <a:lstStyle/>
                    <a:p>
                      <a:pPr algn="ctr"/>
                      <a:r>
                        <a:rPr sz="800">
                          <a:solidFill>
                            <a:srgbClr val="1A1A1A"/>
                          </a:solidFill>
                        </a:rPr>
                        <a:t>-1.2%</a:t>
                      </a:r>
                    </a:p>
                  </a:txBody>
                  <a:tcPr>
                    <a:solidFill>
                      <a:srgbClr val="F5F7FA"/>
                    </a:solidFill>
                  </a:tcPr>
                </a:tc>
                <a:tc>
                  <a:txBody>
                    <a:bodyPr/>
                    <a:lstStyle/>
                    <a:p>
                      <a:pPr algn="ctr"/>
                      <a:r>
                        <a:rPr sz="800">
                          <a:solidFill>
                            <a:srgbClr val="1A1A1A"/>
                          </a:solidFill>
                        </a:rPr>
                        <a:t>+84.3%</a:t>
                      </a:r>
                    </a:p>
                  </a:txBody>
                  <a:tcPr>
                    <a:solidFill>
                      <a:srgbClr val="F5F7FA"/>
                    </a:solidFill>
                  </a:tcPr>
                </a:tc>
              </a:tr>
              <a:tr h="153360">
                <a:tc>
                  <a:txBody>
                    <a:bodyPr/>
                    <a:lstStyle/>
                    <a:p>
                      <a:pPr algn="l"/>
                      <a:r>
                        <a:rPr sz="800">
                          <a:solidFill>
                            <a:srgbClr val="1A1A1A"/>
                          </a:solidFill>
                        </a:rPr>
                        <a:t>Oil &amp; Gas Integrated</a:t>
                      </a:r>
                    </a:p>
                  </a:txBody>
                  <a:tcPr>
                    <a:solidFill>
                      <a:srgbClr val="FFFFFF"/>
                    </a:solidFill>
                  </a:tcPr>
                </a:tc>
                <a:tc>
                  <a:txBody>
                    <a:bodyPr/>
                    <a:lstStyle/>
                    <a:p>
                      <a:pPr algn="ctr"/>
                      <a:r>
                        <a:rPr sz="800">
                          <a:solidFill>
                            <a:srgbClr val="1A1A1A"/>
                          </a:solidFill>
                        </a:rPr>
                        <a:t>2</a:t>
                      </a:r>
                    </a:p>
                  </a:txBody>
                  <a:tcPr>
                    <a:solidFill>
                      <a:srgbClr val="FFFFFF"/>
                    </a:solidFill>
                  </a:tcPr>
                </a:tc>
                <a:tc>
                  <a:txBody>
                    <a:bodyPr/>
                    <a:lstStyle/>
                    <a:p>
                      <a:pPr algn="ctr"/>
                      <a:r>
                        <a:rPr sz="800">
                          <a:solidFill>
                            <a:srgbClr val="1A1A1A"/>
                          </a:solidFill>
                        </a:rPr>
                        <a:t>55</a:t>
                      </a:r>
                    </a:p>
                  </a:txBody>
                  <a:tcPr>
                    <a:solidFill>
                      <a:srgbClr val="FFFFFF"/>
                    </a:solidFill>
                  </a:tcPr>
                </a:tc>
                <a:tc>
                  <a:txBody>
                    <a:bodyPr/>
                    <a:lstStyle/>
                    <a:p>
                      <a:pPr algn="ctr"/>
                      <a:r>
                        <a:rPr sz="800" b="1">
                          <a:solidFill>
                            <a:srgbClr val="B06000"/>
                          </a:solidFill>
                        </a:rPr>
                        <a:t>Neutre</a:t>
                      </a:r>
                    </a:p>
                  </a:txBody>
                  <a:tcPr>
                    <a:solidFill>
                      <a:srgbClr val="FFFFFF"/>
                    </a:solidFill>
                  </a:tcPr>
                </a:tc>
                <a:tc>
                  <a:txBody>
                    <a:bodyPr/>
                    <a:lstStyle/>
                    <a:p>
                      <a:pPr algn="ctr"/>
                      <a:r>
                        <a:rPr sz="800">
                          <a:solidFill>
                            <a:srgbClr val="1A1A1A"/>
                          </a:solidFill>
                        </a:rPr>
                        <a:t>11.4x</a:t>
                      </a:r>
                    </a:p>
                  </a:txBody>
                  <a:tcPr>
                    <a:solidFill>
                      <a:srgbClr val="FFFFFF"/>
                    </a:solidFill>
                  </a:tcPr>
                </a:tc>
                <a:tc>
                  <a:txBody>
                    <a:bodyPr/>
                    <a:lstStyle/>
                    <a:p>
                      <a:pPr algn="ctr"/>
                      <a:r>
                        <a:rPr sz="800">
                          <a:solidFill>
                            <a:srgbClr val="1A1A1A"/>
                          </a:solidFill>
                        </a:rPr>
                        <a:t>19.4%</a:t>
                      </a:r>
                    </a:p>
                  </a:txBody>
                  <a:tcPr>
                    <a:solidFill>
                      <a:srgbClr val="FFFFFF"/>
                    </a:solidFill>
                  </a:tcPr>
                </a:tc>
                <a:tc>
                  <a:txBody>
                    <a:bodyPr/>
                    <a:lstStyle/>
                    <a:p>
                      <a:pPr algn="ctr"/>
                      <a:r>
                        <a:rPr sz="800">
                          <a:solidFill>
                            <a:srgbClr val="1A1A1A"/>
                          </a:solidFill>
                        </a:rPr>
                        <a:t>-4.8%</a:t>
                      </a:r>
                    </a:p>
                  </a:txBody>
                  <a:tcPr>
                    <a:solidFill>
                      <a:srgbClr val="FFFFFF"/>
                    </a:solidFill>
                  </a:tcPr>
                </a:tc>
                <a:tc>
                  <a:txBody>
                    <a:bodyPr/>
                    <a:lstStyle/>
                    <a:p>
                      <a:pPr algn="ctr"/>
                      <a:r>
                        <a:rPr sz="800">
                          <a:solidFill>
                            <a:srgbClr val="1A1A1A"/>
                          </a:solidFill>
                        </a:rPr>
                        <a:t>+45.3%</a:t>
                      </a:r>
                    </a:p>
                  </a:txBody>
                  <a:tcPr>
                    <a:solidFill>
                      <a:srgbClr val="FFFFFF"/>
                    </a:solidFill>
                  </a:tcPr>
                </a:tc>
              </a:tr>
            </a:tbl>
          </a:graphicData>
        </a:graphic>
      </p:graphicFrame>
      <p:sp>
        <p:nvSpPr>
          <p:cNvPr id="16" name="Rectangle 15"/>
          <p:cNvSpPr/>
          <p:nvPr/>
        </p:nvSpPr>
        <p:spPr>
          <a:xfrm>
            <a:off x="324000" y="1792800"/>
            <a:ext cx="849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1839600"/>
            <a:ext cx="8352000" cy="162000"/>
          </a:xfrm>
          <a:prstGeom prst="rect">
            <a:avLst/>
          </a:prstGeom>
          <a:noFill/>
        </p:spPr>
        <p:txBody>
          <a:bodyPr wrap="square">
            <a:spAutoFit/>
          </a:bodyPr>
          <a:lstStyle/>
          <a:p>
            <a:pPr algn="l"/>
            <a:r>
              <a:rPr sz="1000" b="1" i="0">
                <a:solidFill>
                  <a:srgbClr val="FFFFFF"/>
                </a:solidFill>
              </a:rPr>
              <a:t>LEADERSHIP OIL &amp; GAS EQUIPMENT  — score 69/100</a:t>
            </a:r>
          </a:p>
        </p:txBody>
      </p:sp>
      <p:sp>
        <p:nvSpPr>
          <p:cNvPr id="18" name="Rectangle 17"/>
          <p:cNvSpPr/>
          <p:nvPr/>
        </p:nvSpPr>
        <p:spPr>
          <a:xfrm>
            <a:off x="324000" y="20808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20808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2134800"/>
            <a:ext cx="8424000" cy="1530000"/>
          </a:xfrm>
          <a:prstGeom prst="rect">
            <a:avLst/>
          </a:prstGeom>
          <a:noFill/>
        </p:spPr>
        <p:txBody>
          <a:bodyPr wrap="square">
            <a:spAutoFit/>
          </a:bodyPr>
          <a:lstStyle/>
          <a:p>
            <a:pPr algn="l"/>
            <a:r>
              <a:rPr sz="900" b="0" i="0">
                <a:solidFill>
                  <a:srgbClr val="555555"/>
                </a:solidFill>
              </a:rPr>
              <a:t>Le sous-segment Oil &amp; Gas Equipment &amp; Services ressort en tête du classement avec un score composite de 69/100 et un signal surpondérer, porté par 1 acteurs dont SLB. La valorisation médiane ressort sur 11.3x EV/EBITDA avec une marge EBITDA de 21.7% et une trajectoire top-line à +5.0% YoY. À l'inverse, Oil &amp; Gas Integrated ferme la Marché (55/100, signal neutre), reflétant des fondamentaux sous pression ou une valorisation déjà tendue. L'écart de 14 points entre les extrêmes du classement justifie une approche sélective plutôt qu'une exposition beta uniforme au secteur. Cette cartographie guide le calibrage d'allocation sous-sectorielle : Surpondérer les segments avec score ≥ 60 et momentum positif, Sous-pondérer les segments avec marges compressees ou croissance negative, et conserver une exposition neutre aux segments en transition.</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Énergie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133.305</a:t>
                      </a:r>
                    </a:p>
                  </a:txBody>
                  <a:tcPr>
                    <a:noFill/>
                  </a:tcPr>
                </a:tc>
                <a:tc>
                  <a:txBody>
                    <a:bodyPr/>
                    <a:lstStyle/>
                    <a:p>
                      <a:pPr algn="ctr"/>
                      <a:r>
                        <a:rPr sz="750" b="0">
                          <a:solidFill>
                            <a:srgbClr val="1A1A1A"/>
                          </a:solidFill>
                        </a:rPr>
                        <a:t>6.8x</a:t>
                      </a:r>
                    </a:p>
                  </a:txBody>
                  <a:tcPr>
                    <a:noFill/>
                  </a:tcPr>
                </a:tc>
                <a:tc>
                  <a:txBody>
                    <a:bodyPr/>
                    <a:lstStyle/>
                    <a:p>
                      <a:pPr algn="ctr"/>
                      <a:r>
                        <a:rPr sz="750" b="0">
                          <a:solidFill>
                            <a:srgbClr val="1A1A1A"/>
                          </a:solidFill>
                        </a:rPr>
                        <a:t>51.8 %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+27.4 %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51.265</a:t>
                      </a:r>
                    </a:p>
                  </a:txBody>
                  <a:tcPr>
                    <a:solidFill>
                      <a:srgbClr val="F5F7FA"/>
                    </a:solidFill>
                  </a:tcPr>
                </a:tc>
                <a:tc>
                  <a:txBody>
                    <a:bodyPr/>
                    <a:lstStyle/>
                    <a:p>
                      <a:pPr algn="ctr"/>
                      <a:r>
                        <a:rPr sz="750" b="0">
                          <a:solidFill>
                            <a:srgbClr val="1A1A1A"/>
                          </a:solidFill>
                        </a:rPr>
                        <a:t>11.3x</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+5.0 %</a:t>
                      </a:r>
                    </a:p>
                  </a:txBody>
                  <a:tcPr>
                    <a:solidFill>
                      <a:srgbClr val="F5F7FA"/>
                    </a:solidFill>
                  </a:tcPr>
                </a:tc>
                <a:tc>
                  <a:txBody>
                    <a:bodyPr/>
                    <a:lstStyle/>
                    <a:p>
                      <a:pPr algn="ctr"/>
                      <a:r>
                        <a:rPr sz="750" b="0">
                          <a:solidFill>
                            <a:srgbClr val="1A1A1A"/>
                          </a:solidFill>
                        </a:rPr>
                        <a:t>+53.8 %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66/100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158.41</a:t>
                      </a:r>
                    </a:p>
                  </a:txBody>
                  <a:tcPr>
                    <a:noFill/>
                  </a:tcPr>
                </a:tc>
                <a:tc>
                  <a:txBody>
                    <a:bodyPr/>
                    <a:lstStyle/>
                    <a:p>
                      <a:pPr algn="ctr"/>
                      <a:r>
                        <a:rPr sz="750" b="0">
                          <a:solidFill>
                            <a:srgbClr val="1A1A1A"/>
                          </a:solidFill>
                        </a:rPr>
                        <a:t>12.9x</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+1.3 %</a:t>
                      </a:r>
                    </a:p>
                  </a:txBody>
                  <a:tcPr>
                    <a:noFill/>
                  </a:tcPr>
                </a:tc>
                <a:tc>
                  <a:txBody>
                    <a:bodyPr/>
                    <a:lstStyle/>
                    <a:p>
                      <a:pPr algn="ctr"/>
                      <a:r>
                        <a:rPr sz="750" b="0">
                          <a:solidFill>
                            <a:srgbClr val="1A1A1A"/>
                          </a:solidFill>
                        </a:rPr>
                        <a:t>+66.7 %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Corpor</a:t>
                      </a:r>
                    </a:p>
                  </a:txBody>
                  <a:tcPr>
                    <a:solidFill>
                      <a:srgbClr val="F5F7FA"/>
                    </a:solidFill>
                  </a:tcPr>
                </a:tc>
                <a:tc>
                  <a:txBody>
                    <a:bodyPr/>
                    <a:lstStyle/>
                    <a:p>
                      <a:pPr algn="ctr"/>
                      <a:r>
                        <a:rPr sz="750" b="0">
                          <a:solidFill>
                            <a:srgbClr val="1A1A1A"/>
                          </a:solidFill>
                        </a:rPr>
                        <a:t>64/100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224.315</a:t>
                      </a:r>
                    </a:p>
                  </a:txBody>
                  <a:tcPr>
                    <a:solidFill>
                      <a:srgbClr val="F5F7FA"/>
                    </a:solidFill>
                  </a:tcPr>
                </a:tc>
                <a:tc>
                  <a:txBody>
                    <a:bodyPr/>
                    <a:lstStyle/>
                    <a:p>
                      <a:pPr algn="ctr"/>
                      <a:r>
                        <a:rPr sz="750" b="0">
                          <a:solidFill>
                            <a:srgbClr val="1A1A1A"/>
                          </a:solidFill>
                        </a:rPr>
                        <a:t>11.0x</a:t>
                      </a:r>
                    </a:p>
                  </a:txBody>
                  <a:tcPr>
                    <a:solidFill>
                      <a:srgbClr val="F5F7FA"/>
                    </a:solidFill>
                  </a:tcPr>
                </a:tc>
                <a:tc>
                  <a:txBody>
                    <a:bodyPr/>
                    <a:lstStyle/>
                    <a:p>
                      <a:pPr algn="ctr"/>
                      <a:r>
                        <a:rPr sz="750" b="0">
                          <a:solidFill>
                            <a:srgbClr val="1A1A1A"/>
                          </a:solidFill>
                        </a:rPr>
                        <a:t>7.1 %</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+84.3 %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61/100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148.01</a:t>
                      </a:r>
                    </a:p>
                  </a:txBody>
                  <a:tcPr>
                    <a:noFill/>
                  </a:tcPr>
                </a:tc>
                <a:tc>
                  <a:txBody>
                    <a:bodyPr/>
                    <a:lstStyle/>
                    <a:p>
                      <a:pPr algn="ctr"/>
                      <a:r>
                        <a:rPr sz="750" b="0">
                          <a:solidFill>
                            <a:srgbClr val="1A1A1A"/>
                          </a:solidFill>
                        </a:rPr>
                        <a:t>11.5x</a:t>
                      </a:r>
                    </a:p>
                  </a:txBody>
                  <a:tcPr>
                    <a:noFill/>
                  </a:tcPr>
                </a:tc>
                <a:tc>
                  <a:txBody>
                    <a:bodyPr/>
                    <a:lstStyle/>
                    <a:p>
                      <a:pPr algn="ctr"/>
                      <a:r>
                        <a:rPr sz="750" b="0">
                          <a:solidFill>
                            <a:srgbClr val="1A1A1A"/>
                          </a:solidFill>
                        </a:rPr>
                        <a:t>18.3 %</a:t>
                      </a:r>
                    </a:p>
                  </a:txBody>
                  <a:tcPr>
                    <a:noFill/>
                  </a:tcPr>
                </a:tc>
                <a:tc>
                  <a:txBody>
                    <a:bodyPr/>
                    <a:lstStyle/>
                    <a:p>
                      <a:pPr algn="ctr"/>
                      <a:r>
                        <a:rPr sz="750" b="0">
                          <a:solidFill>
                            <a:srgbClr val="1A1A1A"/>
                          </a:solidFill>
                        </a:rPr>
                        <a:t>-1.3 %</a:t>
                      </a:r>
                    </a:p>
                  </a:txBody>
                  <a:tcPr>
                    <a:noFill/>
                  </a:tcPr>
                </a:tc>
                <a:tc>
                  <a:txBody>
                    <a:bodyPr/>
                    <a:lstStyle/>
                    <a:p>
                      <a:pPr algn="ctr"/>
                      <a:r>
                        <a:rPr sz="750" b="0">
                          <a:solidFill>
                            <a:srgbClr val="1A1A1A"/>
                          </a:solidFill>
                        </a:rPr>
                        <a:t>+48.1 %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60/100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118.66</a:t>
                      </a:r>
                    </a:p>
                  </a:txBody>
                  <a:tcPr>
                    <a:solidFill>
                      <a:srgbClr val="F5F7FA"/>
                    </a:solidFill>
                  </a:tcPr>
                </a:tc>
                <a:tc>
                  <a:txBody>
                    <a:bodyPr/>
                    <a:lstStyle/>
                    <a:p>
                      <a:pPr algn="ctr"/>
                      <a:r>
                        <a:rPr sz="750" b="0">
                          <a:solidFill>
                            <a:srgbClr val="1A1A1A"/>
                          </a:solidFill>
                        </a:rPr>
                        <a:t>7.0x</a:t>
                      </a:r>
                    </a:p>
                  </a:txBody>
                  <a:tcPr>
                    <a:solidFill>
                      <a:srgbClr val="F5F7FA"/>
                    </a:solidFill>
                  </a:tcPr>
                </a:tc>
                <a:tc>
                  <a:txBody>
                    <a:bodyPr/>
                    <a:lstStyle/>
                    <a:p>
                      <a:pPr algn="ctr"/>
                      <a:r>
                        <a:rPr sz="750" b="0">
                          <a:solidFill>
                            <a:srgbClr val="1A1A1A"/>
                          </a:solidFill>
                        </a:rPr>
                        <a:t>40.1 %</a:t>
                      </a:r>
                    </a:p>
                  </a:txBody>
                  <a:tcPr>
                    <a:solidFill>
                      <a:srgbClr val="F5F7FA"/>
                    </a:solidFill>
                  </a:tcPr>
                </a:tc>
                <a:tc>
                  <a:txBody>
                    <a:bodyPr/>
                    <a:lstStyle/>
                    <a:p>
                      <a:pPr algn="ctr"/>
                      <a:r>
                        <a:rPr sz="750" b="0">
                          <a:solidFill>
                            <a:srgbClr val="1A1A1A"/>
                          </a:solidFill>
                        </a:rPr>
                        <a:t>-6.8 %</a:t>
                      </a:r>
                    </a:p>
                  </a:txBody>
                  <a:tcPr>
                    <a:solidFill>
                      <a:srgbClr val="F5F7FA"/>
                    </a:solidFill>
                  </a:tcPr>
                </a:tc>
                <a:tc>
                  <a:txBody>
                    <a:bodyPr/>
                    <a:lstStyle/>
                    <a:p>
                      <a:pPr algn="ctr"/>
                      <a:r>
                        <a:rPr sz="750" b="0">
                          <a:solidFill>
                            <a:srgbClr val="1A1A1A"/>
                          </a:solidFill>
                        </a:rPr>
                        <a:t>+44.2 %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237.5142</a:t>
                      </a:r>
                    </a:p>
                  </a:txBody>
                  <a:tcPr>
                    <a:noFill/>
                  </a:tcPr>
                </a:tc>
                <a:tc>
                  <a:txBody>
                    <a:bodyPr/>
                    <a:lstStyle/>
                    <a:p>
                      <a:pPr algn="ctr"/>
                      <a:r>
                        <a:rPr sz="750" b="0">
                          <a:solidFill>
                            <a:srgbClr val="1A1A1A"/>
                          </a:solidFill>
                        </a:rPr>
                        <a:t>10.8x</a:t>
                      </a:r>
                    </a:p>
                  </a:txBody>
                  <a:tcPr>
                    <a:noFill/>
                  </a:tcPr>
                </a:tc>
                <a:tc>
                  <a:txBody>
                    <a:bodyPr/>
                    <a:lstStyle/>
                    <a:p>
                      <a:pPr algn="ctr"/>
                      <a:r>
                        <a:rPr sz="750" b="0">
                          <a:solidFill>
                            <a:srgbClr val="1A1A1A"/>
                          </a:solidFill>
                        </a:rPr>
                        <a:t>6.6 %</a:t>
                      </a:r>
                    </a:p>
                  </a:txBody>
                  <a:tcPr>
                    <a:noFill/>
                  </a:tcPr>
                </a:tc>
                <a:tc>
                  <a:txBody>
                    <a:bodyPr/>
                    <a:lstStyle/>
                    <a:p>
                      <a:pPr algn="ctr"/>
                      <a:r>
                        <a:rPr sz="750" b="0">
                          <a:solidFill>
                            <a:srgbClr val="1A1A1A"/>
                          </a:solidFill>
                        </a:rPr>
                        <a:t>-2.1 %</a:t>
                      </a:r>
                    </a:p>
                  </a:txBody>
                  <a:tcPr>
                    <a:noFill/>
                  </a:tcPr>
                </a:tc>
                <a:tc>
                  <a:txBody>
                    <a:bodyPr/>
                    <a:lstStyle/>
                    <a:p>
                      <a:pPr algn="ctr"/>
                      <a:r>
                        <a:rPr sz="750" b="0">
                          <a:solidFill>
                            <a:srgbClr val="1A1A1A"/>
                          </a:solidFill>
                        </a:rPr>
                        <a:t>+125.1 %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49/100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185.7203</a:t>
                      </a:r>
                    </a:p>
                  </a:txBody>
                  <a:tcPr>
                    <a:solidFill>
                      <a:srgbClr val="F5F7FA"/>
                    </a:solidFill>
                  </a:tcPr>
                </a:tc>
                <a:tc>
                  <a:txBody>
                    <a:bodyPr/>
                    <a:lstStyle/>
                    <a:p>
                      <a:pPr algn="ctr"/>
                      <a:r>
                        <a:rPr sz="750" b="0">
                          <a:solidFill>
                            <a:srgbClr val="1A1A1A"/>
                          </a:solidFill>
                        </a:rPr>
                        <a:t>11.4x</a:t>
                      </a:r>
                    </a:p>
                  </a:txBody>
                  <a:tcPr>
                    <a:solidFill>
                      <a:srgbClr val="F5F7FA"/>
                    </a:solidFill>
                  </a:tcPr>
                </a:tc>
                <a:tc>
                  <a:txBody>
                    <a:bodyPr/>
                    <a:lstStyle/>
                    <a:p>
                      <a:pPr algn="ctr"/>
                      <a:r>
                        <a:rPr sz="750" b="0">
                          <a:solidFill>
                            <a:srgbClr val="1A1A1A"/>
                          </a:solidFill>
                        </a:rPr>
                        <a:t>20.4 %</a:t>
                      </a:r>
                    </a:p>
                  </a:txBody>
                  <a:tcPr>
                    <a:solidFill>
                      <a:srgbClr val="F5F7FA"/>
                    </a:solidFill>
                  </a:tcPr>
                </a:tc>
                <a:tc>
                  <a:txBody>
                    <a:bodyPr/>
                    <a:lstStyle/>
                    <a:p>
                      <a:pPr algn="ctr"/>
                      <a:r>
                        <a:rPr sz="750" b="0">
                          <a:solidFill>
                            <a:srgbClr val="1A1A1A"/>
                          </a:solidFill>
                        </a:rPr>
                        <a:t>-8.2 %</a:t>
                      </a:r>
                    </a:p>
                  </a:txBody>
                  <a:tcPr>
                    <a:solidFill>
                      <a:srgbClr val="F5F7FA"/>
                    </a:solidFill>
                  </a:tcPr>
                </a:tc>
                <a:tc>
                  <a:txBody>
                    <a:bodyPr/>
                    <a:lstStyle/>
                    <a:p>
                      <a:pPr algn="ctr"/>
                      <a:r>
                        <a:rPr sz="750" b="0">
                          <a:solidFill>
                            <a:srgbClr val="1A1A1A"/>
                          </a:solidFill>
                        </a:rPr>
                        <a:t>+42.5 %</a:t>
                      </a:r>
                    </a:p>
                  </a:txBody>
                  <a:tcPr>
                    <a:solidFill>
                      <a:srgbClr val="F5F7FA"/>
                    </a:solidFill>
                  </a:tcPr>
                </a:tc>
              </a:tr>
            </a:tbl>
          </a:graphicData>
        </a:graphic>
      </p:graphicFrame>
      <p:sp>
        <p:nvSpPr>
          <p:cNvPr id="16" name="Rectangle 15"/>
          <p:cNvSpPr/>
          <p:nvPr/>
        </p:nvSpPr>
        <p:spPr>
          <a:xfrm>
            <a:off x="324000" y="29519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519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006000"/>
            <a:ext cx="8280000" cy="216000"/>
          </a:xfrm>
          <a:prstGeom prst="rect">
            <a:avLst/>
          </a:prstGeom>
          <a:noFill/>
        </p:spPr>
        <p:txBody>
          <a:bodyPr wrap="square">
            <a:spAutoFit/>
          </a:bodyPr>
          <a:lstStyle/>
          <a:p>
            <a:pPr algn="l"/>
            <a:r>
              <a:rPr sz="900" b="1" i="0">
                <a:solidFill>
                  <a:srgbClr val="1B3A6B"/>
                </a:solidFill>
              </a:rPr>
              <a:t>Énergie — 3 BUY / 5 HOLD / 0 SELL · EOG Resources, Inc. en tête (71/100)</a:t>
            </a:r>
          </a:p>
        </p:txBody>
      </p:sp>
      <p:sp>
        <p:nvSpPr>
          <p:cNvPr id="19" name="TextBox 18"/>
          <p:cNvSpPr txBox="1"/>
          <p:nvPr/>
        </p:nvSpPr>
        <p:spPr>
          <a:xfrm>
            <a:off x="468000" y="3257999"/>
            <a:ext cx="8280000" cy="1260000"/>
          </a:xfrm>
          <a:prstGeom prst="rect">
            <a:avLst/>
          </a:prstGeom>
          <a:noFill/>
        </p:spPr>
        <p:txBody>
          <a:bodyPr wrap="square">
            <a:spAutoFit/>
          </a:bodyPr>
          <a:lstStyle/>
          <a:p>
            <a:pPr algn="l"/>
            <a:r>
              <a:rPr sz="850" b="0" i="0">
                <a:solidFill>
                  <a:srgbClr val="555555"/>
                </a:solidFill>
              </a:rPr>
              <a:t>Le secteur Énergie présente 3 BUY / 5 HOLD / 0 SELL sur 8 valeurs analysées. EOG Resources, Inc. (score 71/100) constitue le coeur offensif recommande — fondamentaux solides et visibilité supérieure sur les revenus. La répartition des recommandations reflète un positionnément selectif cohérent avec la phase sectorielle actuelle. Les catalyseurs identifies — résultats trimestriels, guidance annuel, opérations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Classement EV/EBITDA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acteur  ·  Tri croissant  ·  Vert = sous Médiane (opportunité relative)  ·  Top 15</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EOG offre la meilleure asymétrie — EV/EBITDA de 6.8x sous la Médiane de 11.1x avec un score FinSight de 71/100.
PSX traite en prime (12.9x vs Médiane 11.1x) — vérifier si la croissance justifié ce multiple.
Médiane sectorielle : 11.1x. Les barres vertes sous cette ligne sont les candidats privilegies a analyser via Analyse Société individuelle (DCF, WACC, scénarios).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23328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59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59200">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71/100</a:t>
                      </a:r>
                    </a:p>
                  </a:txBody>
                  <a:tcPr>
                    <a:no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12</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16</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SLB</a:t>
                      </a:r>
                    </a:p>
                  </a:txBody>
                  <a:tcPr>
                    <a:noFill/>
                  </a:tcPr>
                </a:tc>
                <a:tc>
                  <a:txBody>
                    <a:bodyPr/>
                    <a:lstStyle/>
                    <a:p>
                      <a:pPr algn="ctr"/>
                      <a:r>
                        <a:rPr sz="750" b="0">
                          <a:solidFill>
                            <a:srgbClr val="1A1A1A"/>
                          </a:solidFill>
                        </a:rPr>
                        <a:t>SLB N.V.</a:t>
                      </a:r>
                    </a:p>
                  </a:txBody>
                  <a:tcPr>
                    <a:noFill/>
                  </a:tcPr>
                </a:tc>
                <a:tc>
                  <a:txBody>
                    <a:bodyPr/>
                    <a:lstStyle/>
                    <a:p>
                      <a:pPr algn="ctr"/>
                      <a:r>
                        <a:rPr sz="750" b="0">
                          <a:solidFill>
                            <a:srgbClr val="1A1A1A"/>
                          </a:solidFill>
                        </a:rPr>
                        <a:t>69/100</a:t>
                      </a:r>
                    </a:p>
                  </a:txBody>
                  <a:tcPr>
                    <a:no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20</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66/100</a:t>
                      </a:r>
                    </a:p>
                  </a:txBody>
                  <a:tcPr>
                    <a:no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13</a:t>
                      </a:r>
                    </a:p>
                  </a:txBody>
                  <a:tcPr>
                    <a:solidFill>
                      <a:srgbClr val="FFEBEE"/>
                    </a:solidFill>
                  </a:tcPr>
                </a:tc>
                <a:tc>
                  <a:txBody>
                    <a:bodyPr/>
                    <a:lstStyle/>
                    <a:p>
                      <a:pPr algn="ctr"/>
                      <a:r>
                        <a:rPr sz="750" b="1">
                          <a:solidFill>
                            <a:srgbClr val="A82020"/>
                          </a:solidFill>
                        </a:rPr>
                        <a:t>12</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MPC</a:t>
                      </a:r>
                    </a:p>
                  </a:txBody>
                  <a:tcPr>
                    <a:noFill/>
                  </a:tcPr>
                </a:tc>
                <a:tc>
                  <a:txBody>
                    <a:bodyPr/>
                    <a:lstStyle/>
                    <a:p>
                      <a:pPr algn="ctr"/>
                      <a:r>
                        <a:rPr sz="750" b="0">
                          <a:solidFill>
                            <a:srgbClr val="1A1A1A"/>
                          </a:solidFill>
                        </a:rPr>
                        <a:t>Marathon Petroleum Corpor</a:t>
                      </a:r>
                    </a:p>
                  </a:txBody>
                  <a:tcPr>
                    <a:noFill/>
                  </a:tcPr>
                </a:tc>
                <a:tc>
                  <a:txBody>
                    <a:bodyPr/>
                    <a:lstStyle/>
                    <a:p>
                      <a:pPr algn="ctr"/>
                      <a:r>
                        <a:rPr sz="750" b="0">
                          <a:solidFill>
                            <a:srgbClr val="1A1A1A"/>
                          </a:solidFill>
                        </a:rPr>
                        <a:t>64/100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12</a:t>
                      </a:r>
                    </a:p>
                  </a:txBody>
                  <a:tcPr>
                    <a:solidFill>
                      <a:srgbClr val="FFEBEE"/>
                    </a:solidFill>
                  </a:tcPr>
                </a:tc>
                <a:tc>
                  <a:txBody>
                    <a:bodyPr/>
                    <a:lstStyle/>
                    <a:p>
                      <a:pPr algn="ctr"/>
                      <a:r>
                        <a:rPr sz="750" b="1">
                          <a:solidFill>
                            <a:srgbClr val="A82020"/>
                          </a:solidFill>
                        </a:rPr>
                        <a:t>24</a:t>
                      </a:r>
                    </a:p>
                  </a:txBody>
                  <a:tcPr>
                    <a:solidFill>
                      <a:srgbClr val="FFEBEE"/>
                    </a:solidFill>
                  </a:tcPr>
                </a:tc>
                <a:tc>
                  <a:txBody>
                    <a:bodyPr/>
                    <a:lstStyle/>
                    <a:p>
                      <a:pPr algn="ctr"/>
                      <a:r>
                        <a:rPr sz="750" b="0">
                          <a:solidFill>
                            <a:srgbClr val="1A1A1A"/>
                          </a:solidFill>
                        </a:rPr>
                        <a:t>HOLD</a:t>
                      </a:r>
                    </a:p>
                  </a:txBody>
                  <a:tcPr>
                    <a:noFill/>
                  </a:tcPr>
                </a:tc>
              </a:tr>
              <a:tr h="259200">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61/100</a:t>
                      </a:r>
                    </a:p>
                  </a:txBody>
                  <a:tcPr>
                    <a:no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19</a:t>
                      </a:r>
                    </a:p>
                  </a:txBody>
                  <a:tcPr>
                    <a:solidFill>
                      <a:srgbClr val="FFEBEE"/>
                    </a:solidFill>
                  </a:tcPr>
                </a:tc>
                <a:tc>
                  <a:txBody>
                    <a:bodyPr/>
                    <a:lstStyle/>
                    <a:p>
                      <a:pPr algn="ctr"/>
                      <a:r>
                        <a:rPr sz="750" b="0">
                          <a:solidFill>
                            <a:srgbClr val="1A1A1A"/>
                          </a:solidFill>
                        </a:rPr>
                        <a:t>HOLD</a:t>
                      </a:r>
                    </a:p>
                  </a:txBody>
                  <a:tcPr>
                    <a:noFill/>
                  </a:tcPr>
                </a:tc>
              </a:tr>
              <a:tr h="259200">
                <a:tc>
                  <a:txBody>
                    <a:bodyPr/>
                    <a:lstStyle/>
                    <a:p>
                      <a:pPr algn="ctr"/>
                      <a:r>
                        <a:rPr sz="750" b="0">
                          <a:solidFill>
                            <a:srgbClr val="1A1A1A"/>
                          </a:solidFill>
                        </a:rPr>
                        <a:t>COP</a:t>
                      </a:r>
                    </a:p>
                  </a:txBody>
                  <a:tcPr>
                    <a:noFill/>
                  </a:tcPr>
                </a:tc>
                <a:tc>
                  <a:txBody>
                    <a:bodyPr/>
                    <a:lstStyle/>
                    <a:p>
                      <a:pPr algn="ctr"/>
                      <a:r>
                        <a:rPr sz="750" b="0">
                          <a:solidFill>
                            <a:srgbClr val="1A1A1A"/>
                          </a:solidFill>
                        </a:rPr>
                        <a:t>ConocoPhillips</a:t>
                      </a:r>
                    </a:p>
                  </a:txBody>
                  <a:tcPr>
                    <a:noFill/>
                  </a:tcPr>
                </a:tc>
                <a:tc>
                  <a:txBody>
                    <a:bodyPr/>
                    <a:lstStyle/>
                    <a:p>
                      <a:pPr algn="ctr"/>
                      <a:r>
                        <a:rPr sz="750" b="0">
                          <a:solidFill>
                            <a:srgbClr val="1A1A1A"/>
                          </a:solidFill>
                        </a:rPr>
                        <a:t>60/100</a:t>
                      </a:r>
                    </a:p>
                  </a:txBody>
                  <a:tcPr>
                    <a:noFill/>
                  </a:tcPr>
                </a:tc>
                <a:tc>
                  <a:txBody>
                    <a:bodyPr/>
                    <a:lstStyle/>
                    <a:p>
                      <a:pPr algn="ctr"/>
                      <a:r>
                        <a:rPr sz="750" b="1">
                          <a:solidFill>
                            <a:srgbClr val="A82020"/>
                          </a:solidFill>
                        </a:rPr>
                        <a:t>15</a:t>
                      </a:r>
                    </a:p>
                  </a:txBody>
                  <a:tcPr>
                    <a:solidFill>
                      <a:srgbClr val="FFEBEE"/>
                    </a:solidFill>
                  </a:tcPr>
                </a:tc>
                <a:tc>
                  <a:txBody>
                    <a:bodyPr/>
                    <a:lstStyle/>
                    <a:p>
                      <a:pPr algn="ctr"/>
                      <a:r>
                        <a:rPr sz="750" b="1">
                          <a:solidFill>
                            <a:srgbClr val="A82020"/>
                          </a:solidFill>
                        </a:rPr>
                        <a:t>5</a:t>
                      </a:r>
                    </a:p>
                  </a:txBody>
                  <a:tcPr>
                    <a:solidFill>
                      <a:srgbClr val="FFEBEE"/>
                    </a:solidFill>
                  </a:tcPr>
                </a:tc>
                <a:tc>
                  <a:txBody>
                    <a:bodyPr/>
                    <a:lstStyle/>
                    <a:p>
                      <a:pPr algn="ctr"/>
                      <a:r>
                        <a:rPr sz="750" b="1">
                          <a:solidFill>
                            <a:srgbClr val="A82020"/>
                          </a:solidFill>
                        </a:rPr>
                        <a:t>20</a:t>
                      </a:r>
                    </a:p>
                  </a:txBody>
                  <a:tcPr>
                    <a:solidFill>
                      <a:srgbClr val="FFEBEE"/>
                    </a:solidFill>
                  </a:tcPr>
                </a:tc>
                <a:tc>
                  <a:txBody>
                    <a:bodyPr/>
                    <a:lstStyle/>
                    <a:p>
                      <a:pPr algn="ctr"/>
                      <a:r>
                        <a:rPr sz="750" b="1">
                          <a:solidFill>
                            <a:srgbClr val="A82020"/>
                          </a:solidFill>
                        </a:rPr>
                        <a:t>18</a:t>
                      </a:r>
                    </a:p>
                  </a:txBody>
                  <a:tcPr>
                    <a:solidFill>
                      <a:srgbClr val="FFEBEE"/>
                    </a:solidFill>
                  </a:tcPr>
                </a:tc>
                <a:tc>
                  <a:txBody>
                    <a:bodyPr/>
                    <a:lstStyle/>
                    <a:p>
                      <a:pPr algn="ctr"/>
                      <a:r>
                        <a:rPr sz="750" b="0">
                          <a:solidFill>
                            <a:srgbClr val="1A1A1A"/>
                          </a:solidFill>
                        </a:rPr>
                        <a:t>HOLD</a:t>
                      </a:r>
                    </a:p>
                  </a:txBody>
                  <a:tcPr>
                    <a:noFill/>
                  </a:tcPr>
                </a:tc>
              </a:tr>
              <a:tr h="259200">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56/100</a:t>
                      </a:r>
                    </a:p>
                  </a:txBody>
                  <a:tcPr>
                    <a:noFill/>
                  </a:tcPr>
                </a:tc>
                <a:tc>
                  <a:txBody>
                    <a:bodyPr/>
                    <a:lstStyle/>
                    <a:p>
                      <a:pPr algn="ctr"/>
                      <a:r>
                        <a:rPr sz="750" b="1">
                          <a:solidFill>
                            <a:srgbClr val="A82020"/>
                          </a:solidFill>
                        </a:rPr>
                        <a:t>9</a:t>
                      </a:r>
                    </a:p>
                  </a:txBody>
                  <a:tcPr>
                    <a:solidFill>
                      <a:srgbClr val="FFEBEE"/>
                    </a:solidFill>
                  </a:tcPr>
                </a:tc>
                <a:tc>
                  <a:txBody>
                    <a:bodyPr/>
                    <a:lstStyle/>
                    <a:p>
                      <a:pPr algn="ctr"/>
                      <a:r>
                        <a:rPr sz="750" b="1">
                          <a:solidFill>
                            <a:srgbClr val="A82020"/>
                          </a:solidFill>
                        </a:rPr>
                        <a:t>9</a:t>
                      </a:r>
                    </a:p>
                  </a:txBody>
                  <a:tcPr>
                    <a:solidFill>
                      <a:srgbClr val="FFEBEE"/>
                    </a:solidFill>
                  </a:tcPr>
                </a:tc>
                <a:tc>
                  <a:txBody>
                    <a:bodyPr/>
                    <a:lstStyle/>
                    <a:p>
                      <a:pPr algn="ctr"/>
                      <a:r>
                        <a:rPr sz="750" b="1">
                          <a:solidFill>
                            <a:srgbClr val="A82020"/>
                          </a:solidFill>
                        </a:rPr>
                        <a:t>11</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0">
                          <a:solidFill>
                            <a:srgbClr val="1A1A1A"/>
                          </a:solidFill>
                        </a:rPr>
                        <a:t>HOLD</a:t>
                      </a:r>
                    </a:p>
                  </a:txBody>
                  <a:tcPr>
                    <a:noFill/>
                  </a:tcPr>
                </a:tc>
              </a:tr>
              <a:tr h="259200">
                <a:tc>
                  <a:txBody>
                    <a:bodyPr/>
                    <a:lstStyle/>
                    <a:p>
                      <a:pPr algn="ctr"/>
                      <a:r>
                        <a:rPr sz="750" b="0">
                          <a:solidFill>
                            <a:srgbClr val="1A1A1A"/>
                          </a:solidFill>
                        </a:rPr>
                        <a:t>CVX</a:t>
                      </a:r>
                    </a:p>
                  </a:txBody>
                  <a:tcPr>
                    <a:noFill/>
                  </a:tcPr>
                </a:tc>
                <a:tc>
                  <a:txBody>
                    <a:bodyPr/>
                    <a:lstStyle/>
                    <a:p>
                      <a:pPr algn="ctr"/>
                      <a:r>
                        <a:rPr sz="750" b="0">
                          <a:solidFill>
                            <a:srgbClr val="1A1A1A"/>
                          </a:solidFill>
                        </a:rPr>
                        <a:t>Chevron Corporation</a:t>
                      </a:r>
                    </a:p>
                  </a:txBody>
                  <a:tcPr>
                    <a:noFill/>
                  </a:tcPr>
                </a:tc>
                <a:tc>
                  <a:txBody>
                    <a:bodyPr/>
                    <a:lstStyle/>
                    <a:p>
                      <a:pPr algn="ctr"/>
                      <a:r>
                        <a:rPr sz="750" b="0">
                          <a:solidFill>
                            <a:srgbClr val="1A1A1A"/>
                          </a:solidFill>
                        </a:rPr>
                        <a:t>49/100</a:t>
                      </a:r>
                    </a:p>
                  </a:txBody>
                  <a:tcPr>
                    <a:noFill/>
                  </a:tcPr>
                </a:tc>
                <a:tc>
                  <a:txBody>
                    <a:bodyPr/>
                    <a:lstStyle/>
                    <a:p>
                      <a:pPr algn="ctr"/>
                      <a:r>
                        <a:rPr sz="750" b="1">
                          <a:solidFill>
                            <a:srgbClr val="A82020"/>
                          </a:solidFill>
                        </a:rPr>
                        <a:t>11</a:t>
                      </a:r>
                    </a:p>
                  </a:txBody>
                  <a:tcPr>
                    <a:solidFill>
                      <a:srgbClr val="FFEBEE"/>
                    </a:solidFill>
                  </a:tcPr>
                </a:tc>
                <a:tc>
                  <a:txBody>
                    <a:bodyPr/>
                    <a:lstStyle/>
                    <a:p>
                      <a:pPr algn="ctr"/>
                      <a:r>
                        <a:rPr sz="750" b="1">
                          <a:solidFill>
                            <a:srgbClr val="A82020"/>
                          </a:solidFill>
                        </a:rPr>
                        <a:t>3</a:t>
                      </a:r>
                    </a:p>
                  </a:txBody>
                  <a:tcPr>
                    <a:solidFill>
                      <a:srgbClr val="FFEBEE"/>
                    </a:solidFill>
                  </a:tcPr>
                </a:tc>
                <a:tc>
                  <a:txBody>
                    <a:bodyPr/>
                    <a:lstStyle/>
                    <a:p>
                      <a:pPr algn="ctr"/>
                      <a:r>
                        <a:rPr sz="750" b="1">
                          <a:solidFill>
                            <a:srgbClr val="A82020"/>
                          </a:solidFill>
                        </a:rPr>
                        <a:t>15</a:t>
                      </a:r>
                    </a:p>
                  </a:txBody>
                  <a:tcPr>
                    <a:solidFill>
                      <a:srgbClr val="FFEBEE"/>
                    </a:solidFill>
                  </a:tcPr>
                </a:tc>
                <a:tc>
                  <a:txBody>
                    <a:bodyPr/>
                    <a:lstStyle/>
                    <a:p>
                      <a:pPr algn="ctr"/>
                      <a:r>
                        <a:rPr sz="750" b="1">
                          <a:solidFill>
                            <a:srgbClr val="A82020"/>
                          </a:solidFill>
                        </a:rPr>
                        <a:t>18</a:t>
                      </a:r>
                    </a:p>
                  </a:txBody>
                  <a:tcPr>
                    <a:solidFill>
                      <a:srgbClr val="FFEBEE"/>
                    </a:solidFill>
                  </a:tcPr>
                </a:tc>
                <a:tc>
                  <a:txBody>
                    <a:bodyPr/>
                    <a:lstStyle/>
                    <a:p>
                      <a:pPr algn="ctr"/>
                      <a:r>
                        <a:rPr sz="750" b="0">
                          <a:solidFill>
                            <a:srgbClr val="1A1A1A"/>
                          </a:solidFill>
                        </a:rPr>
                        <a:t>HOLD</a:t>
                      </a:r>
                    </a:p>
                  </a:txBody>
                  <a:tcPr>
                    <a:noFill/>
                  </a:tcPr>
                </a:tc>
              </a:tr>
            </a:tbl>
          </a:graphicData>
        </a:graphic>
      </p:graphicFrame>
      <p:sp>
        <p:nvSpPr>
          <p:cNvPr id="16" name="Rectangle 15"/>
          <p:cNvSpPr/>
          <p:nvPr/>
        </p:nvSpPr>
        <p:spPr>
          <a:xfrm>
            <a:off x="324000" y="3358800"/>
            <a:ext cx="8496000" cy="1501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588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376800"/>
            <a:ext cx="8352000" cy="216000"/>
          </a:xfrm>
          <a:prstGeom prst="rect">
            <a:avLst/>
          </a:prstGeom>
          <a:noFill/>
        </p:spPr>
        <p:txBody>
          <a:bodyPr wrap="square">
            <a:spAutoFit/>
          </a:bodyPr>
          <a:lstStyle/>
          <a:p>
            <a:pPr algn="l"/>
            <a:r>
              <a:rPr sz="750" b="1" i="0">
                <a:solidFill>
                  <a:srgbClr val="FFFFFF"/>
                </a:solidFill>
              </a:rPr>
              <a:t>SYNTHÈSE SCORES  ·  Score &gt;= 75 = fort  ·  50-74 = moyen  ·  &lt; 50 = faible  ·  Pondérations : Value / Growth / Quality / Momentum = 25 % chacun</a:t>
            </a:r>
          </a:p>
        </p:txBody>
      </p:sp>
      <p:sp>
        <p:nvSpPr>
          <p:cNvPr id="19" name="TextBox 18"/>
          <p:cNvSpPr txBox="1"/>
          <p:nvPr/>
        </p:nvSpPr>
        <p:spPr>
          <a:xfrm>
            <a:off x="396000" y="3664800"/>
            <a:ext cx="8352000" cy="1141200"/>
          </a:xfrm>
          <a:prstGeom prst="rect">
            <a:avLst/>
          </a:prstGeom>
          <a:noFill/>
        </p:spPr>
        <p:txBody>
          <a:bodyPr wrap="square">
            <a:spAutoFit/>
          </a:bodyPr>
          <a:lstStyle/>
          <a:p>
            <a:pPr algn="l"/>
            <a:r>
              <a:rPr sz="850" b="0" i="0">
                <a:solidFill>
                  <a:srgbClr val="555555"/>
                </a:solidFill>
              </a:rPr>
              <a:t>EOG Resources, Inc. présente le profil le plus équilibre du secteur (71/100) avec des scores Value=17, Growth=12, Quality=25, Momentum=16. La dispersion des scores entre les 8 sociétés Reflète des profils hétérogènes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Sociétés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EOG</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EOG Resources,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160</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6.8x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51.8 %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La récente hausse des prix du Brent au-dessus de 85 USD/bbl, soutenue par des tensions géopolitiques au Moyen-Orient et une demande résiliente en Asie,</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Un retournement des prix du gaz naturel ou du pétrole, lié à une récession mondiale ou à un excès d'offre, pourrait peser sur les marges.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SLB</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SLB N.V.</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62</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11.3x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21.7 %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Les majors comme SLB bénéficient de la demande croissante en technologies bas-carbone, notamment dans les énergies renouvelables et le captage de CO2.</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Les politiques environnementales strictes, notamment en Europe, pourraient alourdir les coûts opérationnels pour les acteurs traditionnels.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PSX</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Phillips 66</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190</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12.9x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Les pure players comme EOG Resources maintiennent des coûts de production compétitifs grâce à des forages optimisés dans les bassins permien et bakken.</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Les entreprises du secteur renouvelable, comme les acteurs de l'hydrogène, restent vulnérables aux changements de politiques fiscales.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société vs médiane sectorielle (11.1x)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1 acteur(s) se detachent nettement du reste du secteur, creant une prime de valorisation significative vs la médiane de 11.1x.
2 société(s) se traitent sous la médiane — potentiellement les meilleures asymétries risque/rendement sous reserve de catalyseurs fondamentaux.
La dispersion des multiples est caractéristique d'un secteur Énergie en phase de différentiation — les investisseurs selectifs peuvent exploiter cet Écart.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 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133.305</a:t>
                      </a:r>
                    </a:p>
                  </a:txBody>
                  <a:tcPr>
                    <a:noFill/>
                  </a:tcPr>
                </a:tc>
                <a:tc>
                  <a:txBody>
                    <a:bodyPr/>
                    <a:lstStyle/>
                    <a:p>
                      <a:pPr algn="ctr"/>
                      <a:r>
                        <a:rPr sz="750" b="0">
                          <a:solidFill>
                            <a:srgbClr val="1A1A1A"/>
                          </a:solidFill>
                        </a:rPr>
                        <a:t>153.3</a:t>
                      </a:r>
                    </a:p>
                  </a:txBody>
                  <a:tcPr>
                    <a:noFill/>
                  </a:tcPr>
                </a:tc>
                <a:tc>
                  <a:txBody>
                    <a:bodyPr/>
                    <a:lstStyle/>
                    <a:p>
                      <a:pPr algn="ctr"/>
                      <a:r>
                        <a:rPr sz="750" b="0">
                          <a:solidFill>
                            <a:srgbClr val="1A1A1A"/>
                          </a:solidFill>
                        </a:rPr>
                        <a:t>&lt; 126.6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51.265</a:t>
                      </a:r>
                    </a:p>
                  </a:txBody>
                  <a:tcPr>
                    <a:solidFill>
                      <a:srgbClr val="F5F7FA"/>
                    </a:solidFill>
                  </a:tcPr>
                </a:tc>
                <a:tc>
                  <a:txBody>
                    <a:bodyPr/>
                    <a:lstStyle/>
                    <a:p>
                      <a:pPr algn="ctr"/>
                      <a:r>
                        <a:rPr sz="750" b="0">
                          <a:solidFill>
                            <a:srgbClr val="1A1A1A"/>
                          </a:solidFill>
                        </a:rPr>
                        <a:t>59.0</a:t>
                      </a:r>
                    </a:p>
                  </a:txBody>
                  <a:tcPr>
                    <a:solidFill>
                      <a:srgbClr val="F5F7FA"/>
                    </a:solidFill>
                  </a:tcPr>
                </a:tc>
                <a:tc>
                  <a:txBody>
                    <a:bodyPr/>
                    <a:lstStyle/>
                    <a:p>
                      <a:pPr algn="ctr"/>
                      <a:r>
                        <a:rPr sz="750" b="0">
                          <a:solidFill>
                            <a:srgbClr val="1A1A1A"/>
                          </a:solidFill>
                        </a:rPr>
                        <a:t>&lt; 48.7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158.41</a:t>
                      </a:r>
                    </a:p>
                  </a:txBody>
                  <a:tcPr>
                    <a:noFill/>
                  </a:tcPr>
                </a:tc>
                <a:tc>
                  <a:txBody>
                    <a:bodyPr/>
                    <a:lstStyle/>
                    <a:p>
                      <a:pPr algn="ctr"/>
                      <a:r>
                        <a:rPr sz="750" b="0">
                          <a:solidFill>
                            <a:srgbClr val="1A1A1A"/>
                          </a:solidFill>
                        </a:rPr>
                        <a:t>182.2</a:t>
                      </a:r>
                    </a:p>
                  </a:txBody>
                  <a:tcPr>
                    <a:noFill/>
                  </a:tcPr>
                </a:tc>
                <a:tc>
                  <a:txBody>
                    <a:bodyPr/>
                    <a:lstStyle/>
                    <a:p>
                      <a:pPr algn="ctr"/>
                      <a:r>
                        <a:rPr sz="750" b="0">
                          <a:solidFill>
                            <a:srgbClr val="1A1A1A"/>
                          </a:solidFill>
                        </a:rPr>
                        <a:t>&lt; 150.5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a:t>
                      </a:r>
                    </a:p>
                  </a:txBody>
                  <a:tcPr>
                    <a:solidFill>
                      <a:srgbClr val="F5F7FA"/>
                    </a:solidFill>
                  </a:tcPr>
                </a:tc>
                <a:tc>
                  <a:txBody>
                    <a:bodyPr/>
                    <a:lstStyle/>
                    <a:p>
                      <a:pPr algn="ctr"/>
                      <a:r>
                        <a:rPr sz="750" b="0">
                          <a:solidFill>
                            <a:srgbClr val="1A1A1A"/>
                          </a:solidFill>
                        </a:rPr>
                        <a:t>224.315</a:t>
                      </a:r>
                    </a:p>
                  </a:txBody>
                  <a:tcPr>
                    <a:solidFill>
                      <a:srgbClr val="F5F7FA"/>
                    </a:solidFill>
                  </a:tcPr>
                </a:tc>
                <a:tc>
                  <a:txBody>
                    <a:bodyPr/>
                    <a:lstStyle/>
                    <a:p>
                      <a:pPr algn="ctr"/>
                      <a:r>
                        <a:rPr sz="750" b="0">
                          <a:solidFill>
                            <a:srgbClr val="1A1A1A"/>
                          </a:solidFill>
                        </a:rPr>
                        <a:t>258.0</a:t>
                      </a:r>
                    </a:p>
                  </a:txBody>
                  <a:tcPr>
                    <a:solidFill>
                      <a:srgbClr val="F5F7FA"/>
                    </a:solidFill>
                  </a:tcPr>
                </a:tc>
                <a:tc>
                  <a:txBody>
                    <a:bodyPr/>
                    <a:lstStyle/>
                    <a:p>
                      <a:pPr algn="ctr"/>
                      <a:r>
                        <a:rPr sz="750" b="0">
                          <a:solidFill>
                            <a:srgbClr val="1A1A1A"/>
                          </a:solidFill>
                        </a:rPr>
                        <a:t>&lt; 213.1</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87200">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148.01</a:t>
                      </a:r>
                    </a:p>
                  </a:txBody>
                  <a:tcPr>
                    <a:noFill/>
                  </a:tcPr>
                </a:tc>
                <a:tc>
                  <a:txBody>
                    <a:bodyPr/>
                    <a:lstStyle/>
                    <a:p>
                      <a:pPr algn="ctr"/>
                      <a:r>
                        <a:rPr sz="750" b="0">
                          <a:solidFill>
                            <a:srgbClr val="1A1A1A"/>
                          </a:solidFill>
                        </a:rPr>
                        <a:t>170.2</a:t>
                      </a:r>
                    </a:p>
                  </a:txBody>
                  <a:tcPr>
                    <a:noFill/>
                  </a:tcPr>
                </a:tc>
                <a:tc>
                  <a:txBody>
                    <a:bodyPr/>
                    <a:lstStyle/>
                    <a:p>
                      <a:pPr algn="ctr"/>
                      <a:r>
                        <a:rPr sz="750" b="0">
                          <a:solidFill>
                            <a:srgbClr val="1A1A1A"/>
                          </a:solidFill>
                        </a:rPr>
                        <a:t>&lt; 140.6</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87200">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118.66</a:t>
                      </a:r>
                    </a:p>
                  </a:txBody>
                  <a:tcPr>
                    <a:solidFill>
                      <a:srgbClr val="F5F7FA"/>
                    </a:solidFill>
                  </a:tcPr>
                </a:tc>
                <a:tc>
                  <a:txBody>
                    <a:bodyPr/>
                    <a:lstStyle/>
                    <a:p>
                      <a:pPr algn="ctr"/>
                      <a:r>
                        <a:rPr sz="750" b="0">
                          <a:solidFill>
                            <a:srgbClr val="1A1A1A"/>
                          </a:solidFill>
                        </a:rPr>
                        <a:t>136.5</a:t>
                      </a:r>
                    </a:p>
                  </a:txBody>
                  <a:tcPr>
                    <a:solidFill>
                      <a:srgbClr val="F5F7FA"/>
                    </a:solidFill>
                  </a:tcPr>
                </a:tc>
                <a:tc>
                  <a:txBody>
                    <a:bodyPr/>
                    <a:lstStyle/>
                    <a:p>
                      <a:pPr algn="ctr"/>
                      <a:r>
                        <a:rPr sz="750" b="0">
                          <a:solidFill>
                            <a:srgbClr val="1A1A1A"/>
                          </a:solidFill>
                        </a:rPr>
                        <a:t>&lt; 112.7</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87200">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a:t>
                      </a:r>
                    </a:p>
                  </a:txBody>
                  <a:tcPr>
                    <a:noFill/>
                  </a:tcPr>
                </a:tc>
                <a:tc>
                  <a:txBody>
                    <a:bodyPr/>
                    <a:lstStyle/>
                    <a:p>
                      <a:pPr algn="ctr"/>
                      <a:r>
                        <a:rPr sz="750" b="0">
                          <a:solidFill>
                            <a:srgbClr val="1A1A1A"/>
                          </a:solidFill>
                        </a:rPr>
                        <a:t>237.5142</a:t>
                      </a:r>
                    </a:p>
                  </a:txBody>
                  <a:tcPr>
                    <a:noFill/>
                  </a:tcPr>
                </a:tc>
                <a:tc>
                  <a:txBody>
                    <a:bodyPr/>
                    <a:lstStyle/>
                    <a:p>
                      <a:pPr algn="ctr"/>
                      <a:r>
                        <a:rPr sz="750" b="0">
                          <a:solidFill>
                            <a:srgbClr val="1A1A1A"/>
                          </a:solidFill>
                        </a:rPr>
                        <a:t>273.1</a:t>
                      </a:r>
                    </a:p>
                  </a:txBody>
                  <a:tcPr>
                    <a:noFill/>
                  </a:tcPr>
                </a:tc>
                <a:tc>
                  <a:txBody>
                    <a:bodyPr/>
                    <a:lstStyle/>
                    <a:p>
                      <a:pPr algn="ctr"/>
                      <a:r>
                        <a:rPr sz="750" b="0">
                          <a:solidFill>
                            <a:srgbClr val="1A1A1A"/>
                          </a:solidFill>
                        </a:rPr>
                        <a:t>&lt; 225.6</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87200">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185.7203</a:t>
                      </a:r>
                    </a:p>
                  </a:txBody>
                  <a:tcPr>
                    <a:solidFill>
                      <a:srgbClr val="F5F7FA"/>
                    </a:solidFill>
                  </a:tcPr>
                </a:tc>
                <a:tc>
                  <a:txBody>
                    <a:bodyPr/>
                    <a:lstStyle/>
                    <a:p>
                      <a:pPr algn="ctr"/>
                      <a:r>
                        <a:rPr sz="750" b="0">
                          <a:solidFill>
                            <a:srgbClr val="1A1A1A"/>
                          </a:solidFill>
                        </a:rPr>
                        <a:t>213.6</a:t>
                      </a:r>
                    </a:p>
                  </a:txBody>
                  <a:tcPr>
                    <a:solidFill>
                      <a:srgbClr val="F5F7FA"/>
                    </a:solidFill>
                  </a:tcPr>
                </a:tc>
                <a:tc>
                  <a:txBody>
                    <a:bodyPr/>
                    <a:lstStyle/>
                    <a:p>
                      <a:pPr algn="ctr"/>
                      <a:r>
                        <a:rPr sz="750" b="0">
                          <a:solidFill>
                            <a:srgbClr val="1A1A1A"/>
                          </a:solidFill>
                        </a:rPr>
                        <a:t>&lt; 176.4</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3304800"/>
            <a:ext cx="8496000" cy="90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304800"/>
            <a:ext cx="36000" cy="90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333600"/>
            <a:ext cx="8316000" cy="180000"/>
          </a:xfrm>
          <a:prstGeom prst="rect">
            <a:avLst/>
          </a:prstGeom>
          <a:noFill/>
        </p:spPr>
        <p:txBody>
          <a:bodyPr wrap="square">
            <a:spAutoFit/>
          </a:bodyPr>
          <a:lstStyle/>
          <a:p>
            <a:pPr algn="l"/>
            <a:r>
              <a:rPr sz="750" b="1" i="0">
                <a:solidFill>
                  <a:srgbClr val="B06000"/>
                </a:solidFill>
              </a:rPr>
              <a:t>NOTE METHODOLOGIQUE</a:t>
            </a:r>
          </a:p>
        </p:txBody>
      </p:sp>
      <p:sp>
        <p:nvSpPr>
          <p:cNvPr id="22" name="TextBox 21"/>
          <p:cNvSpPr txBox="1"/>
          <p:nvPr/>
        </p:nvSpPr>
        <p:spPr>
          <a:xfrm>
            <a:off x="468000" y="3520800"/>
            <a:ext cx="8316000" cy="666000"/>
          </a:xfrm>
          <a:prstGeom prst="rect">
            <a:avLst/>
          </a:prstGeom>
          <a:noFill/>
        </p:spPr>
        <p:txBody>
          <a:bodyPr wrap="square">
            <a:spAutoFit/>
          </a:bodyPr>
          <a:lstStyle/>
          <a:p>
            <a:pPr algn="l"/>
            <a:r>
              <a:rPr sz="750" b="0" i="0">
                <a:solidFill>
                  <a:srgbClr val="555555"/>
                </a:solidFill>
              </a:rPr>
              <a:t>La probabilité de rendement positif a 12 mois est calculée sur des configurations similaires identifiees en backtesting sur Données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Volatilité des matières premières</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Un retournement des prix du gaz naturel ou du pétrole, lié à une récession mondiale ou à un excès d'offre, pourrait peser sur les marges.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Réglementation climatique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Les politiques environnementales strictes, notamment en Europe, pourraient alourdir les coûts opérationnels pour les acteurs traditionnels.</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Dépendance aux subventions</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Les entreprises du secteur renouvelable, comme les acteurs de l'hydrogène, restent vulnérables aux changements de politiques fiscales.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Récession confirmee — 2 trimestrès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47 — dégradation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Révision baissière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financière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Médian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3.4%</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Médian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Génération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62/100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santé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solidité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Dynamique des prix du pétrole — La récente hausse des prix du Brent au-dessus de 85 USD/bbl, soutenue par des tensions</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Volatilité des matières premières — Un retournement des prix du gaz naturel ou du pétrole, lié à une récession mondiale ou à</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Énergie (S&amp;P 500) ressort neutre (0.00), avec 25% d'articles a tonalité positive sur 8 analysés. La dispersion inter-valeurs est prononcée : XOM (+0.00) Porté la composanté haussière tandis que PSX (+0.00) reflète les pressions structurelles. Cette hétérogénéité valide une approche sélective plutôt que directionnelle sur le secteur — le sentiment moyen masque des situations fondamentalement différentes entre leaders et retardataires. La composanté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Boursière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S&amp;P 500  ·  Indexe a 100 au debut de la période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VLO  +125%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EOG  +27%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98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INTERPRÉTATION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création de valeur tandis que d'autrès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complète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