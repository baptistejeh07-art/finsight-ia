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554050"/>
          </a:xfrm>
          <a:prstGeom prst="rect">
            <a:avLst/>
          </a:prstGeom>
          <a:noFill/>
        </p:spPr>
        <p:txBody>
          <a:bodyPr wrap="square">
            <a:spAutoFit/>
          </a:bodyPr>
          <a:lstStyle/>
          <a:p>
            <a:pPr algn="ctr"/>
            <a:r>
              <a:rPr sz="2600" b="1" i="0">
                <a:solidFill>
                  <a:srgbClr val="1B3A6B"/>
                </a:solidFill>
                <a:latin typeface="Calibri"/>
              </a:rPr>
              <a:t>FactSet Research Systems Inc.</a:t>
            </a:r>
          </a:p>
        </p:txBody>
      </p:sp>
      <p:sp>
        <p:nvSpPr>
          <p:cNvPr id="7" name="TextBox 6"/>
          <p:cNvSpPr txBox="1"/>
          <p:nvPr/>
        </p:nvSpPr>
        <p:spPr>
          <a:xfrm>
            <a:off x="457200" y="2105650"/>
            <a:ext cx="8229600" cy="255600"/>
          </a:xfrm>
          <a:prstGeom prst="rect">
            <a:avLst/>
          </a:prstGeom>
          <a:noFill/>
        </p:spPr>
        <p:txBody>
          <a:bodyPr wrap="square">
            <a:spAutoFit/>
          </a:bodyPr>
          <a:lstStyle/>
          <a:p>
            <a:pPr algn="ctr"/>
            <a:r>
              <a:rPr sz="1100" b="0" i="0">
                <a:solidFill>
                  <a:srgbClr val="888888"/>
                </a:solidFill>
                <a:latin typeface="Calibri"/>
              </a:rPr>
              <a:t>FDS  ·  Financial Services</a:t>
            </a:r>
          </a:p>
        </p:txBody>
      </p:sp>
      <p:sp>
        <p:nvSpPr>
          <p:cNvPr id="8" name="Rectangle 7"/>
          <p:cNvSpPr/>
          <p:nvPr/>
        </p:nvSpPr>
        <p:spPr>
          <a:xfrm>
            <a:off x="2771999" y="2480050"/>
            <a:ext cx="36000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6000" y="2498050"/>
            <a:ext cx="3491999" cy="395999"/>
          </a:xfrm>
          <a:prstGeom prst="rect">
            <a:avLst/>
          </a:prstGeom>
          <a:noFill/>
        </p:spPr>
        <p:txBody>
          <a:bodyPr wrap="square">
            <a:spAutoFit/>
          </a:bodyPr>
          <a:lstStyle/>
          <a:p>
            <a:pPr algn="ctr"/>
            <a:r>
              <a:rPr sz="900" b="1" i="0">
                <a:solidFill>
                  <a:srgbClr val="FFFFFF"/>
                </a:solidFill>
                <a:latin typeface="Calibri"/>
              </a:rPr>
              <a:t>● BUY  ·  Prix cible base : 245 $  ·  Upside : +14,7 %</a:t>
            </a:r>
          </a:p>
        </p:txBody>
      </p:sp>
      <p:sp>
        <p:nvSpPr>
          <p:cNvPr id="10" name="Rectangle 9"/>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2" name="TextBox 11"/>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10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245 $  ·  Upside : +14,7 %  ·  Bear : 210 $ (-1,6 %)  ·  Bull : 270 $ (+26,5 %)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Leadership marché</a:t>
            </a:r>
          </a:p>
        </p:txBody>
      </p:sp>
      <p:sp>
        <p:nvSpPr>
          <p:cNvPr id="14" name="TextBox 13"/>
          <p:cNvSpPr txBox="1"/>
          <p:nvPr/>
        </p:nvSpPr>
        <p:spPr>
          <a:xfrm>
            <a:off x="503999" y="1814400"/>
            <a:ext cx="3931200" cy="378000"/>
          </a:xfrm>
          <a:prstGeom prst="rect">
            <a:avLst/>
          </a:prstGeom>
          <a:noFill/>
        </p:spPr>
        <p:txBody>
          <a:bodyPr wrap="square">
            <a:spAutoFit/>
          </a:bodyPr>
          <a:lstStyle/>
          <a:p>
            <a:pPr algn="l"/>
            <a:r>
              <a:rPr sz="750" b="0" i="0">
                <a:solidFill>
                  <a:srgbClr val="333333"/>
                </a:solidFill>
                <a:latin typeface="Calibri"/>
              </a:rPr>
              <a:t>FactSet bénéficie d'une croissance organique de 5.4% YoY en 2025 avec un levier opérationnel de +2.0pts de marge EBITDA grâce au mix SaaS</a:t>
            </a:r>
          </a:p>
        </p:txBody>
      </p:sp>
      <p:sp>
        <p:nvSpPr>
          <p:cNvPr id="15" name="Rectangle 14"/>
          <p:cNvSpPr/>
          <p:nvPr/>
        </p:nvSpPr>
        <p:spPr>
          <a:xfrm>
            <a:off x="367200" y="2214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96000"/>
            <a:ext cx="3931200" cy="183600"/>
          </a:xfrm>
          <a:prstGeom prst="rect">
            <a:avLst/>
          </a:prstGeom>
          <a:noFill/>
        </p:spPr>
        <p:txBody>
          <a:bodyPr wrap="square">
            <a:spAutoFit/>
          </a:bodyPr>
          <a:lstStyle/>
          <a:p>
            <a:pPr algn="l"/>
            <a:r>
              <a:rPr sz="850" b="1" i="0">
                <a:solidFill>
                  <a:srgbClr val="1B3A6B"/>
                </a:solidFill>
                <a:latin typeface="Calibri"/>
              </a:rPr>
              <a:t>Marges en expansion</a:t>
            </a:r>
          </a:p>
        </p:txBody>
      </p:sp>
      <p:sp>
        <p:nvSpPr>
          <p:cNvPr id="17" name="TextBox 16"/>
          <p:cNvSpPr txBox="1"/>
          <p:nvPr/>
        </p:nvSpPr>
        <p:spPr>
          <a:xfrm>
            <a:off x="503999" y="2365200"/>
            <a:ext cx="3931200" cy="378000"/>
          </a:xfrm>
          <a:prstGeom prst="rect">
            <a:avLst/>
          </a:prstGeom>
          <a:noFill/>
        </p:spPr>
        <p:txBody>
          <a:bodyPr wrap="square">
            <a:spAutoFit/>
          </a:bodyPr>
          <a:lstStyle/>
          <a:p>
            <a:pPr algn="l"/>
            <a:r>
              <a:rPr sz="750" b="0" i="0">
                <a:solidFill>
                  <a:srgbClr val="333333"/>
                </a:solidFill>
                <a:latin typeface="Calibri"/>
              </a:rPr>
              <a:t>L'entreprise affiche un ROIC de 20.6% et un ND/EBITDA de 1.1x, offrant une flexibilité financière pour des acquisitions ciblées</a:t>
            </a:r>
          </a:p>
        </p:txBody>
      </p:sp>
      <p:sp>
        <p:nvSpPr>
          <p:cNvPr id="18" name="Rectangle 17"/>
          <p:cNvSpPr/>
          <p:nvPr/>
        </p:nvSpPr>
        <p:spPr>
          <a:xfrm>
            <a:off x="367200" y="2764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46800"/>
            <a:ext cx="3931200" cy="183600"/>
          </a:xfrm>
          <a:prstGeom prst="rect">
            <a:avLst/>
          </a:prstGeom>
          <a:noFill/>
        </p:spPr>
        <p:txBody>
          <a:bodyPr wrap="square">
            <a:spAutoFit/>
          </a:bodyPr>
          <a:lstStyle/>
          <a:p>
            <a:pPr algn="l"/>
            <a:r>
              <a:rPr sz="850" b="1" i="0">
                <a:solidFill>
                  <a:srgbClr val="1B3A6B"/>
                </a:solidFill>
                <a:latin typeface="Calibri"/>
              </a:rPr>
              <a:t>Modèle récurrent</a:t>
            </a:r>
          </a:p>
        </p:txBody>
      </p:sp>
      <p:sp>
        <p:nvSpPr>
          <p:cNvPr id="20" name="TextBox 19"/>
          <p:cNvSpPr txBox="1"/>
          <p:nvPr/>
        </p:nvSpPr>
        <p:spPr>
          <a:xfrm>
            <a:off x="503999" y="2916000"/>
            <a:ext cx="3931200" cy="378000"/>
          </a:xfrm>
          <a:prstGeom prst="rect">
            <a:avLst/>
          </a:prstGeom>
          <a:noFill/>
        </p:spPr>
        <p:txBody>
          <a:bodyPr wrap="square">
            <a:spAutoFit/>
          </a:bodyPr>
          <a:lstStyle/>
          <a:p>
            <a:pPr algn="l"/>
            <a:r>
              <a:rPr sz="750" b="0" i="0">
                <a:solidFill>
                  <a:srgbClr val="333333"/>
                </a:solidFill>
                <a:latin typeface="Calibri"/>
              </a:rPr>
              <a:t>La transition vers l'IA et les données alternatives génère un potentiel de +300M$ de revenus annuels d'ici 2027.</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Concurrence Bloomberg</a:t>
            </a:r>
          </a:p>
        </p:txBody>
      </p:sp>
      <p:sp>
        <p:nvSpPr>
          <p:cNvPr id="25" name="TextBox 24"/>
          <p:cNvSpPr txBox="1"/>
          <p:nvPr/>
        </p:nvSpPr>
        <p:spPr>
          <a:xfrm>
            <a:off x="4845600" y="1814400"/>
            <a:ext cx="3794399" cy="378000"/>
          </a:xfrm>
          <a:prstGeom prst="rect">
            <a:avLst/>
          </a:prstGeom>
          <a:noFill/>
        </p:spPr>
        <p:txBody>
          <a:bodyPr wrap="square">
            <a:spAutoFit/>
          </a:bodyPr>
          <a:lstStyle/>
          <a:p>
            <a:pPr algn="l"/>
            <a:r>
              <a:rPr sz="750" b="0" i="0">
                <a:solidFill>
                  <a:srgbClr val="333333"/>
                </a:solidFill>
                <a:latin typeface="Calibri"/>
              </a:rPr>
              <a:t>Ralentissement des marchés financiers réduisant les dépenses en données et logiciels de -2% à -4% en 2026</a:t>
            </a:r>
          </a:p>
        </p:txBody>
      </p:sp>
      <p:sp>
        <p:nvSpPr>
          <p:cNvPr id="26" name="Rectangle 25"/>
          <p:cNvSpPr/>
          <p:nvPr/>
        </p:nvSpPr>
        <p:spPr>
          <a:xfrm>
            <a:off x="4708800" y="2214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96000"/>
            <a:ext cx="3794399" cy="183600"/>
          </a:xfrm>
          <a:prstGeom prst="rect">
            <a:avLst/>
          </a:prstGeom>
          <a:noFill/>
        </p:spPr>
        <p:txBody>
          <a:bodyPr wrap="square">
            <a:spAutoFit/>
          </a:bodyPr>
          <a:lstStyle/>
          <a:p>
            <a:pPr algn="l"/>
            <a:r>
              <a:rPr sz="850" b="1" i="0">
                <a:solidFill>
                  <a:srgbClr val="1B3A6B"/>
                </a:solidFill>
                <a:latin typeface="Calibri"/>
              </a:rPr>
              <a:t>Dépendance aux marchés financiers</a:t>
            </a:r>
          </a:p>
        </p:txBody>
      </p:sp>
      <p:sp>
        <p:nvSpPr>
          <p:cNvPr id="28" name="TextBox 27"/>
          <p:cNvSpPr txBox="1"/>
          <p:nvPr/>
        </p:nvSpPr>
        <p:spPr>
          <a:xfrm>
            <a:off x="4845600" y="2365200"/>
            <a:ext cx="3794399" cy="378000"/>
          </a:xfrm>
          <a:prstGeom prst="rect">
            <a:avLst/>
          </a:prstGeom>
          <a:noFill/>
        </p:spPr>
        <p:txBody>
          <a:bodyPr wrap="square">
            <a:spAutoFit/>
          </a:bodyPr>
          <a:lstStyle/>
          <a:p>
            <a:pPr algn="l"/>
            <a:r>
              <a:rPr sz="750" b="0" i="0">
                <a:solidFill>
                  <a:srgbClr val="333333"/>
                </a:solidFill>
                <a:latin typeface="Calibri"/>
              </a:rPr>
              <a:t>Concurrence accrue de Bloomberg Terminal avec des baisses de prix de -10% sur certains modules</a:t>
            </a:r>
          </a:p>
        </p:txBody>
      </p:sp>
      <p:sp>
        <p:nvSpPr>
          <p:cNvPr id="29" name="Rectangle 28"/>
          <p:cNvSpPr/>
          <p:nvPr/>
        </p:nvSpPr>
        <p:spPr>
          <a:xfrm>
            <a:off x="4708800" y="2764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46800"/>
            <a:ext cx="3794399" cy="183600"/>
          </a:xfrm>
          <a:prstGeom prst="rect">
            <a:avLst/>
          </a:prstGeom>
          <a:noFill/>
        </p:spPr>
        <p:txBody>
          <a:bodyPr wrap="square">
            <a:spAutoFit/>
          </a:bodyPr>
          <a:lstStyle/>
          <a:p>
            <a:pPr algn="l"/>
            <a:r>
              <a:rPr sz="850" b="1" i="0">
                <a:solidFill>
                  <a:srgbClr val="1B3A6B"/>
                </a:solidFill>
                <a:latin typeface="Calibri"/>
              </a:rPr>
              <a:t>Cybersécurité</a:t>
            </a:r>
          </a:p>
        </p:txBody>
      </p:sp>
      <p:sp>
        <p:nvSpPr>
          <p:cNvPr id="31" name="TextBox 30"/>
          <p:cNvSpPr txBox="1"/>
          <p:nvPr/>
        </p:nvSpPr>
        <p:spPr>
          <a:xfrm>
            <a:off x="4845600" y="2916000"/>
            <a:ext cx="3794399" cy="378000"/>
          </a:xfrm>
          <a:prstGeom prst="rect">
            <a:avLst/>
          </a:prstGeom>
          <a:noFill/>
        </p:spPr>
        <p:txBody>
          <a:bodyPr wrap="square">
            <a:spAutoFit/>
          </a:bodyPr>
          <a:lstStyle/>
          <a:p>
            <a:pPr algn="l"/>
            <a:r>
              <a:rPr sz="750" b="0" i="0">
                <a:solidFill>
                  <a:srgbClr val="333333"/>
                </a:solidFill>
                <a:latin typeface="Calibri"/>
              </a:rPr>
              <a:t>Cyberattaques ciblant les plateformes financières, impactant la fidélisation client de -5%</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33600"/>
            <a:ext cx="4010400" cy="19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333600"/>
            <a:ext cx="3960000" cy="198000"/>
          </a:xfrm>
          <a:prstGeom prst="rect">
            <a:avLst/>
          </a:prstGeom>
          <a:noFill/>
        </p:spPr>
        <p:txBody>
          <a:bodyPr wrap="square">
            <a:spAutoFit/>
          </a:bodyPr>
          <a:lstStyle/>
          <a:p>
            <a:pPr algn="l"/>
            <a:r>
              <a:rPr sz="750" b="1" i="0">
                <a:solidFill>
                  <a:srgbClr val="FFFFFF"/>
                </a:solidFill>
                <a:latin typeface="Calibri"/>
              </a:rPr>
              <a:t>CATALYSEURS À SURVEILLER (12M)</a:t>
            </a:r>
          </a:p>
        </p:txBody>
      </p:sp>
      <p:sp>
        <p:nvSpPr>
          <p:cNvPr id="36" name="Rectangle 35"/>
          <p:cNvSpPr/>
          <p:nvPr/>
        </p:nvSpPr>
        <p:spPr>
          <a:xfrm>
            <a:off x="367200" y="35820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9200" y="3560400"/>
            <a:ext cx="3837600" cy="172800"/>
          </a:xfrm>
          <a:prstGeom prst="rect">
            <a:avLst/>
          </a:prstGeom>
          <a:noFill/>
        </p:spPr>
        <p:txBody>
          <a:bodyPr wrap="square">
            <a:spAutoFit/>
          </a:bodyPr>
          <a:lstStyle/>
          <a:p>
            <a:pPr algn="l"/>
            <a:r>
              <a:rPr sz="750" b="0" i="0">
                <a:solidFill>
                  <a:srgbClr val="333333"/>
                </a:solidFill>
                <a:latin typeface="Calibri"/>
              </a:rPr>
              <a:t>IA &amp; Big Data: L'intégration de l'IA dans la plateforme</a:t>
            </a:r>
          </a:p>
        </p:txBody>
      </p:sp>
      <p:sp>
        <p:nvSpPr>
          <p:cNvPr id="38" name="Rectangle 37"/>
          <p:cNvSpPr/>
          <p:nvPr/>
        </p:nvSpPr>
        <p:spPr>
          <a:xfrm>
            <a:off x="367200" y="37800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9200" y="3758400"/>
            <a:ext cx="3837600" cy="172800"/>
          </a:xfrm>
          <a:prstGeom prst="rect">
            <a:avLst/>
          </a:prstGeom>
          <a:noFill/>
        </p:spPr>
        <p:txBody>
          <a:bodyPr wrap="square">
            <a:spAutoFit/>
          </a:bodyPr>
          <a:lstStyle/>
          <a:p>
            <a:pPr algn="l"/>
            <a:r>
              <a:rPr sz="750" b="0" i="0">
                <a:solidFill>
                  <a:srgbClr val="333333"/>
                </a:solidFill>
                <a:latin typeface="Calibri"/>
              </a:rPr>
              <a:t>Expansion Asie-Pacif: Le marché asiatique représente 12% du CA</a:t>
            </a:r>
          </a:p>
        </p:txBody>
      </p:sp>
      <p:sp>
        <p:nvSpPr>
          <p:cNvPr id="40" name="Rectangle 39"/>
          <p:cNvSpPr/>
          <p:nvPr/>
        </p:nvSpPr>
        <p:spPr>
          <a:xfrm>
            <a:off x="4708800" y="3333600"/>
            <a:ext cx="4068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55600" y="3333600"/>
            <a:ext cx="3996000" cy="198000"/>
          </a:xfrm>
          <a:prstGeom prst="rect">
            <a:avLst/>
          </a:prstGeom>
          <a:noFill/>
        </p:spPr>
        <p:txBody>
          <a:bodyPr wrap="square">
            <a:spAutoFit/>
          </a:bodyPr>
          <a:lstStyle/>
          <a:p>
            <a:pPr algn="l"/>
            <a:r>
              <a:rPr sz="750" b="1" i="0">
                <a:solidFill>
                  <a:srgbClr val="FFFFFF"/>
                </a:solidFill>
                <a:latin typeface="Calibri"/>
              </a:rPr>
              <a:t>VALORISATION SYNTHÉTIQUE</a:t>
            </a:r>
          </a:p>
        </p:txBody>
      </p:sp>
      <p:graphicFrame>
        <p:nvGraphicFramePr>
          <p:cNvPr id="42" name="Table 41"/>
          <p:cNvGraphicFramePr>
            <a:graphicFrameLocks noGrp="1"/>
          </p:cNvGraphicFramePr>
          <p:nvPr/>
        </p:nvGraphicFramePr>
        <p:xfrm>
          <a:off x="4708800" y="3531600"/>
          <a:ext cx="4068000" cy="511200"/>
        </p:xfrm>
        <a:graphic>
          <a:graphicData uri="http://schemas.openxmlformats.org/drawingml/2006/table">
            <a:tbl>
              <a:tblPr firstRow="1" bandRow="1">
                <a:tableStyleId>{5C22544A-7EE6-4342-B048-85BDC9FD1C3A}</a:tableStyleId>
              </a:tblPr>
              <a:tblGrid>
                <a:gridCol w="2034000"/>
                <a:gridCol w="1017000"/>
                <a:gridCol w="1017000"/>
              </a:tblGrid>
              <a:tr h="170400">
                <a:tc>
                  <a:txBody>
                    <a:bodyPr/>
                    <a:lstStyle/>
                    <a:p>
                      <a:pPr algn="l"/>
                      <a:r>
                        <a:rPr sz="800" b="1" i="0">
                          <a:solidFill>
                            <a:srgbClr val="FFFFFF"/>
                          </a:solidFill>
                          <a:latin typeface="Calibri"/>
                        </a:rPr>
                        <a:t>Multiple</a:t>
                      </a:r>
                    </a:p>
                  </a:txBody>
                  <a:tcPr>
                    <a:solidFill>
                      <a:srgbClr val="1B3A6B"/>
                    </a:solidFill>
                  </a:tcPr>
                </a:tc>
                <a:tc>
                  <a:txBody>
                    <a:bodyPr/>
                    <a:lstStyle/>
                    <a:p>
                      <a:pPr algn="ctr"/>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Médiane pairs</a:t>
                      </a:r>
                    </a:p>
                  </a:txBody>
                  <a:tcPr>
                    <a:solidFill>
                      <a:srgbClr val="1B3A6B"/>
                    </a:solidFill>
                  </a:tcPr>
                </a:tc>
              </a:tr>
              <a:tr h="170400">
                <a:tc>
                  <a:txBody>
                    <a:bodyPr/>
                    <a:lstStyle/>
                    <a:p>
                      <a:pPr algn="l"/>
                      <a:r>
                        <a:rPr sz="800" b="0" i="0">
                          <a:solidFill>
                            <a:srgbClr val="0D0D0D"/>
                          </a:solidFill>
                          <a:latin typeface="Calibri"/>
                        </a:rPr>
                        <a:t>P/E NTM (x)</a:t>
                      </a:r>
                    </a:p>
                  </a:txBody>
                  <a:tcPr>
                    <a:solidFill>
                      <a:srgbClr val="FFFFFF"/>
                    </a:solidFill>
                  </a:tcPr>
                </a:tc>
                <a:tc>
                  <a:txBody>
                    <a:bodyPr/>
                    <a:lstStyle/>
                    <a:p>
                      <a:pPr algn="ctr"/>
                      <a:r>
                        <a:rPr sz="800" b="0" i="0">
                          <a:solidFill>
                            <a:srgbClr val="0D0D0D"/>
                          </a:solidFill>
                          <a:latin typeface="Calibri"/>
                        </a:rPr>
                        <a:t>13,0x</a:t>
                      </a:r>
                    </a:p>
                  </a:txBody>
                  <a:tcPr>
                    <a:solidFill>
                      <a:srgbClr val="FFFFFF"/>
                    </a:solidFill>
                  </a:tcPr>
                </a:tc>
                <a:tc>
                  <a:txBody>
                    <a:bodyPr/>
                    <a:lstStyle/>
                    <a:p>
                      <a:pPr algn="ctr"/>
                      <a:r>
                        <a:rPr sz="800" b="0" i="0">
                          <a:solidFill>
                            <a:srgbClr val="0D0D0D"/>
                          </a:solidFill>
                          <a:latin typeface="Calibri"/>
                        </a:rPr>
                        <a:t>26,0x</a:t>
                      </a:r>
                    </a:p>
                  </a:txBody>
                  <a:tcPr>
                    <a:solidFill>
                      <a:srgbClr val="FFFFFF"/>
                    </a:solidFill>
                  </a:tcPr>
                </a:tc>
              </a:tr>
              <a:tr h="170400">
                <a:tc>
                  <a:txBody>
                    <a:bodyPr/>
                    <a:lstStyle/>
                    <a:p>
                      <a:pPr algn="l"/>
                      <a:r>
                        <a:rPr sz="800" b="0" i="0">
                          <a:solidFill>
                            <a:srgbClr val="0D0D0D"/>
                          </a:solidFill>
                          <a:latin typeface="Calibri"/>
                        </a:rPr>
                        <a:t>Cible DCF ($)</a:t>
                      </a:r>
                    </a:p>
                  </a:txBody>
                  <a:tcPr>
                    <a:solidFill>
                      <a:srgbClr val="F7F8FA"/>
                    </a:solidFill>
                  </a:tcPr>
                </a:tc>
                <a:tc>
                  <a:txBody>
                    <a:bodyPr/>
                    <a:lstStyle/>
                    <a:p>
                      <a:pPr algn="ctr"/>
                      <a:r>
                        <a:rPr sz="800" b="0" i="0">
                          <a:solidFill>
                            <a:srgbClr val="0D0D0D"/>
                          </a:solidFill>
                          <a:latin typeface="Calibri"/>
                        </a:rPr>
                        <a:t>245 $</a:t>
                      </a:r>
                    </a:p>
                  </a:txBody>
                  <a:tcPr>
                    <a:solidFill>
                      <a:srgbClr val="F7F8FA"/>
                    </a:solidFill>
                  </a:tcPr>
                </a:tc>
                <a:tc>
                  <a:txBody>
                    <a:bodyPr/>
                    <a:lstStyle/>
                    <a:p>
                      <a:pPr algn="ctr"/>
                      <a:r>
                        <a:rPr sz="800" b="0" i="0">
                          <a:solidFill>
                            <a:srgbClr val="0D0D0D"/>
                          </a:solidFill>
                          <a:latin typeface="Calibri"/>
                        </a:rPr>
                        <a:t>Upside +14,7 %</a:t>
                      </a:r>
                    </a:p>
                  </a:txBody>
                  <a:tcPr>
                    <a:solidFill>
                      <a:srgbClr val="F7F8FA"/>
                    </a:solidFill>
                  </a:tcPr>
                </a:tc>
              </a:tr>
            </a:tbl>
          </a:graphicData>
        </a:graphic>
      </p:graphicFrame>
      <p:sp>
        <p:nvSpPr>
          <p:cNvPr id="43" name="Rectangle 42"/>
          <p:cNvSpPr/>
          <p:nvPr/>
        </p:nvSpPr>
        <p:spPr>
          <a:xfrm>
            <a:off x="367200" y="4042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672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672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7200" y="4136400"/>
            <a:ext cx="1893600" cy="396000"/>
          </a:xfrm>
          <a:prstGeom prst="rect">
            <a:avLst/>
          </a:prstGeom>
          <a:noFill/>
        </p:spPr>
        <p:txBody>
          <a:bodyPr wrap="square">
            <a:spAutoFit/>
          </a:bodyPr>
          <a:lstStyle/>
          <a:p>
            <a:pPr algn="l"/>
            <a:r>
              <a:rPr sz="1900" b="1" i="0">
                <a:solidFill>
                  <a:srgbClr val="1B3A6B"/>
                </a:solidFill>
                <a:latin typeface="Calibri"/>
              </a:rPr>
              <a:t>9,1x</a:t>
            </a:r>
          </a:p>
        </p:txBody>
      </p:sp>
      <p:sp>
        <p:nvSpPr>
          <p:cNvPr id="47" name="TextBox 46"/>
          <p:cNvSpPr txBox="1"/>
          <p:nvPr/>
        </p:nvSpPr>
        <p:spPr>
          <a:xfrm>
            <a:off x="457200" y="45324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48" name="TextBox 47"/>
          <p:cNvSpPr txBox="1"/>
          <p:nvPr/>
        </p:nvSpPr>
        <p:spPr>
          <a:xfrm>
            <a:off x="457200" y="4730400"/>
            <a:ext cx="1893600" cy="165600"/>
          </a:xfrm>
          <a:prstGeom prst="rect">
            <a:avLst/>
          </a:prstGeom>
          <a:noFill/>
        </p:spPr>
        <p:txBody>
          <a:bodyPr wrap="square">
            <a:spAutoFit/>
          </a:bodyPr>
          <a:lstStyle/>
          <a:p>
            <a:pPr algn="l"/>
            <a:r>
              <a:rPr sz="700" b="0" i="0">
                <a:solidFill>
                  <a:srgbClr val="888888"/>
                </a:solidFill>
                <a:latin typeface="Calibri"/>
              </a:rPr>
              <a:t>vs 15,5x med. pairs</a:t>
            </a:r>
          </a:p>
        </p:txBody>
      </p:sp>
      <p:sp>
        <p:nvSpPr>
          <p:cNvPr id="49" name="Rectangle 48"/>
          <p:cNvSpPr/>
          <p:nvPr/>
        </p:nvSpPr>
        <p:spPr>
          <a:xfrm>
            <a:off x="24876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4876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577600" y="4136400"/>
            <a:ext cx="1893600" cy="396000"/>
          </a:xfrm>
          <a:prstGeom prst="rect">
            <a:avLst/>
          </a:prstGeom>
          <a:noFill/>
        </p:spPr>
        <p:txBody>
          <a:bodyPr wrap="square">
            <a:spAutoFit/>
          </a:bodyPr>
          <a:lstStyle/>
          <a:p>
            <a:pPr algn="l"/>
            <a:r>
              <a:rPr sz="1900" b="1" i="0">
                <a:solidFill>
                  <a:srgbClr val="1B3A6B"/>
                </a:solidFill>
                <a:latin typeface="Calibri"/>
              </a:rPr>
              <a:t>7,5 %</a:t>
            </a:r>
          </a:p>
        </p:txBody>
      </p:sp>
      <p:sp>
        <p:nvSpPr>
          <p:cNvPr id="52" name="TextBox 51"/>
          <p:cNvSpPr txBox="1"/>
          <p:nvPr/>
        </p:nvSpPr>
        <p:spPr>
          <a:xfrm>
            <a:off x="2577600" y="45324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53" name="TextBox 52"/>
          <p:cNvSpPr txBox="1"/>
          <p:nvPr/>
        </p:nvSpPr>
        <p:spPr>
          <a:xfrm>
            <a:off x="2577600" y="4730400"/>
            <a:ext cx="1893600" cy="165600"/>
          </a:xfrm>
          <a:prstGeom prst="rect">
            <a:avLst/>
          </a:prstGeom>
          <a:noFill/>
        </p:spPr>
        <p:txBody>
          <a:bodyPr wrap="square">
            <a:spAutoFit/>
          </a:bodyPr>
          <a:lstStyle/>
          <a:p>
            <a:pPr algn="l"/>
            <a:r>
              <a:rPr sz="700" b="0" i="0">
                <a:solidFill>
                  <a:srgbClr val="888888"/>
                </a:solidFill>
                <a:latin typeface="Calibri"/>
              </a:rPr>
              <a:t>Beta 0,72  ·  RFR 4,3 %</a:t>
            </a:r>
          </a:p>
        </p:txBody>
      </p:sp>
      <p:sp>
        <p:nvSpPr>
          <p:cNvPr id="54" name="Rectangle 53"/>
          <p:cNvSpPr/>
          <p:nvPr/>
        </p:nvSpPr>
        <p:spPr>
          <a:xfrm>
            <a:off x="46080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6080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698000" y="4136400"/>
            <a:ext cx="1893600" cy="396000"/>
          </a:xfrm>
          <a:prstGeom prst="rect">
            <a:avLst/>
          </a:prstGeom>
          <a:noFill/>
        </p:spPr>
        <p:txBody>
          <a:bodyPr wrap="square">
            <a:spAutoFit/>
          </a:bodyPr>
          <a:lstStyle/>
          <a:p>
            <a:pPr algn="l"/>
            <a:r>
              <a:rPr sz="1900" b="1" i="0">
                <a:solidFill>
                  <a:srgbClr val="1B3A6B"/>
                </a:solidFill>
                <a:latin typeface="Calibri"/>
              </a:rPr>
              <a:t>245 $</a:t>
            </a:r>
          </a:p>
        </p:txBody>
      </p:sp>
      <p:sp>
        <p:nvSpPr>
          <p:cNvPr id="57" name="TextBox 56"/>
          <p:cNvSpPr txBox="1"/>
          <p:nvPr/>
        </p:nvSpPr>
        <p:spPr>
          <a:xfrm>
            <a:off x="4698000" y="4532400"/>
            <a:ext cx="1893600" cy="205199"/>
          </a:xfrm>
          <a:prstGeom prst="rect">
            <a:avLst/>
          </a:prstGeom>
          <a:noFill/>
        </p:spPr>
        <p:txBody>
          <a:bodyPr wrap="square">
            <a:spAutoFit/>
          </a:bodyPr>
          <a:lstStyle/>
          <a:p>
            <a:pPr algn="l"/>
            <a:r>
              <a:rPr sz="800" b="0" i="0">
                <a:solidFill>
                  <a:srgbClr val="555555"/>
                </a:solidFill>
                <a:latin typeface="Calibri"/>
              </a:rPr>
              <a:t>Valeur DCF base</a:t>
            </a:r>
          </a:p>
        </p:txBody>
      </p:sp>
      <p:sp>
        <p:nvSpPr>
          <p:cNvPr id="58" name="TextBox 57"/>
          <p:cNvSpPr txBox="1"/>
          <p:nvPr/>
        </p:nvSpPr>
        <p:spPr>
          <a:xfrm>
            <a:off x="4698000" y="4730400"/>
            <a:ext cx="1893600" cy="165600"/>
          </a:xfrm>
          <a:prstGeom prst="rect">
            <a:avLst/>
          </a:prstGeom>
          <a:noFill/>
        </p:spPr>
        <p:txBody>
          <a:bodyPr wrap="square">
            <a:spAutoFit/>
          </a:bodyPr>
          <a:lstStyle/>
          <a:p>
            <a:pPr algn="l"/>
            <a:r>
              <a:rPr sz="700" b="0" i="0">
                <a:solidFill>
                  <a:srgbClr val="888888"/>
                </a:solidFill>
                <a:latin typeface="Calibri"/>
              </a:rPr>
              <a:t>Upside +14,7 % vs cours</a:t>
            </a:r>
          </a:p>
        </p:txBody>
      </p:sp>
      <p:sp>
        <p:nvSpPr>
          <p:cNvPr id="59" name="Rectangle 58"/>
          <p:cNvSpPr/>
          <p:nvPr/>
        </p:nvSpPr>
        <p:spPr>
          <a:xfrm>
            <a:off x="67284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67284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818400" y="4136400"/>
            <a:ext cx="1893600" cy="396000"/>
          </a:xfrm>
          <a:prstGeom prst="rect">
            <a:avLst/>
          </a:prstGeom>
          <a:noFill/>
        </p:spPr>
        <p:txBody>
          <a:bodyPr wrap="square">
            <a:spAutoFit/>
          </a:bodyPr>
          <a:lstStyle/>
          <a:p>
            <a:pPr algn="l"/>
            <a:r>
              <a:rPr sz="1900" b="1" i="0">
                <a:solidFill>
                  <a:srgbClr val="1B3A6B"/>
                </a:solidFill>
                <a:latin typeface="Calibri"/>
              </a:rPr>
              <a:t>-0,000</a:t>
            </a:r>
          </a:p>
        </p:txBody>
      </p:sp>
      <p:sp>
        <p:nvSpPr>
          <p:cNvPr id="62" name="TextBox 61"/>
          <p:cNvSpPr txBox="1"/>
          <p:nvPr/>
        </p:nvSpPr>
        <p:spPr>
          <a:xfrm>
            <a:off x="6818400" y="45324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63" name="TextBox 62"/>
          <p:cNvSpPr txBox="1"/>
          <p:nvPr/>
        </p:nvSpPr>
        <p:spPr>
          <a:xfrm>
            <a:off x="6818400" y="4730400"/>
            <a:ext cx="1893600" cy="165600"/>
          </a:xfrm>
          <a:prstGeom prst="rect">
            <a:avLst/>
          </a:prstGeom>
          <a:noFill/>
        </p:spPr>
        <p:txBody>
          <a:bodyPr wrap="square">
            <a:spAutoFit/>
          </a:bodyPr>
          <a:lstStyle/>
          <a:p>
            <a:pPr algn="l"/>
            <a:r>
              <a:rPr sz="700" b="0" i="0">
                <a:solidFill>
                  <a:srgbClr val="888888"/>
                </a:solidFill>
                <a:latin typeface="Calibri"/>
              </a:rPr>
              <a:t>Neutre  ·  30 art.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FactSet Research Systems Inc.  ·  Financial Services</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4–6</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7–10</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11–14</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Concurrence Bloomberg  ·  Dépendance aux marchés financiers</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15–16</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historique &amp; conviction</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17–21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FactSet Research Systems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FactSet Research Systems Inc. fournit des solutions intégrées de données financières, d'analyse et de logiciels pour les professionnels de l'investissement. Positionné comme un acteur clé des données alternatives et de l'IA, l'entreprise se distingue par son écosystème propriétaire et ses partenariats stratégiques avec les plus grands fonds d'investissement. Ses avantages concurrentiels incluent une plateforme unifiée, une scalabilité élevée et une fidélisation client exceptionnelle à plus de 90%.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Data &amp; Analytics</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Segment principal générant ~85% du CA via des abonnements SaaS et des données en temps réel. Produits phares : FactSet Workstation, FactSet Fundamentals, et FactSet ESG. Clients cibles : hedge funds, asset managers et banques d'investissement. Croissance tirée par l'adoption de l'IA et l'expansion internationale.</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Wealth Management Solutions</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Solutions logicielles pour les conseillers financiers et les family offices. Modèle basé sur des abonnements mensuels avec upselling de modules premium. Produits clés : FactSet Portfolio Analytics et FactSet Wealth. Clients : banques privées et gestionnaires de patrimoine. Moteurs : digitalisation du conseil et réglementations accrues.</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7,8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2,3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213,52 $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9,1x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13,0x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85%</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Data &amp; Analytics</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Segment principal générant ~85% du CA via des abonnements SaaS et des données en temps réel. Produits phares : FactSet Workstation, FactSet Fundamentals, et FactSet ESG. Clients cibles : hedge funds, asset managers et banques d'investissement. Croissance tirée par l'adoption de l'IA et l'expansion internationale.</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15%</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Wealth Management Solutions</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Solutions logicielles pour les conseillers financiers et les family offices. Modèle basé sur des abonnements mensuels avec upselling de modules premium. Produits clés : FactSet Portfolio Analytics et FactSet Wealth. Clients : banques privées et gestionnaires de patrimoine. Moteurs : digitalisation du conseil et réglementations accrues.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2022–2027F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2,1</a:t>
                      </a:r>
                    </a:p>
                  </a:txBody>
                  <a:tcPr>
                    <a:solidFill>
                      <a:srgbClr val="FFFFFF"/>
                    </a:solidFill>
                  </a:tcPr>
                </a:tc>
                <a:tc>
                  <a:txBody>
                    <a:bodyPr/>
                    <a:lstStyle/>
                    <a:p>
                      <a:pPr algn="ctr"/>
                      <a:r>
                        <a:rPr sz="800" b="1" i="0">
                          <a:solidFill>
                            <a:srgbClr val="0D0D0D"/>
                          </a:solidFill>
                          <a:latin typeface="Calibri"/>
                        </a:rPr>
                        <a:t>2,2</a:t>
                      </a:r>
                    </a:p>
                  </a:txBody>
                  <a:tcPr>
                    <a:solidFill>
                      <a:srgbClr val="FFFFFF"/>
                    </a:solidFill>
                  </a:tcPr>
                </a:tc>
                <a:tc>
                  <a:txBody>
                    <a:bodyPr/>
                    <a:lstStyle/>
                    <a:p>
                      <a:pPr algn="ctr"/>
                      <a:r>
                        <a:rPr sz="800" b="1" i="0">
                          <a:solidFill>
                            <a:srgbClr val="1B3A6B"/>
                          </a:solidFill>
                          <a:latin typeface="Calibri"/>
                        </a:rPr>
                        <a:t>2,3</a:t>
                      </a:r>
                    </a:p>
                  </a:txBody>
                  <a:tcPr>
                    <a:solidFill>
                      <a:srgbClr val="DDE8F5"/>
                    </a:solidFill>
                  </a:tcPr>
                </a:tc>
                <a:tc>
                  <a:txBody>
                    <a:bodyPr/>
                    <a:lstStyle/>
                    <a:p>
                      <a:pPr algn="ctr"/>
                      <a:r>
                        <a:rPr sz="800" b="1" i="0">
                          <a:solidFill>
                            <a:srgbClr val="0D0D0D"/>
                          </a:solidFill>
                          <a:latin typeface="Calibri"/>
                        </a:rPr>
                        <a:t>2,4</a:t>
                      </a:r>
                    </a:p>
                  </a:txBody>
                  <a:tcPr>
                    <a:solidFill>
                      <a:srgbClr val="FFFFFF"/>
                    </a:solidFill>
                  </a:tcPr>
                </a:tc>
                <a:tc>
                  <a:txBody>
                    <a:bodyPr/>
                    <a:lstStyle/>
                    <a:p>
                      <a:pPr algn="ctr"/>
                      <a:r>
                        <a:rPr sz="800" b="1" i="0">
                          <a:solidFill>
                            <a:srgbClr val="0D0D0D"/>
                          </a:solidFill>
                          <a:latin typeface="Calibri"/>
                        </a:rPr>
                        <a:t>2,6</a:t>
                      </a:r>
                    </a:p>
                  </a:txBody>
                  <a:tcPr>
                    <a:solidFill>
                      <a:srgbClr val="FFFFFF"/>
                    </a:solidFill>
                  </a:tcPr>
                </a:tc>
              </a:tr>
              <a:tr h="220000">
                <a:tc>
                  <a:txBody>
                    <a:bodyPr/>
                    <a:lstStyle/>
                    <a:p>
                      <a:pPr algn="l"/>
                      <a:r>
                        <a:rPr sz="750" b="0" i="1">
                          <a:solidFill>
                            <a:srgbClr val="333333"/>
                          </a:solidFill>
                          <a:latin typeface="Calibri"/>
                        </a:rPr>
                        <a:t>Croissance YoY</a:t>
                      </a:r>
                    </a:p>
                  </a:txBody>
                  <a:tcPr>
                    <a:solidFill>
                      <a:srgbClr val="F7F8FA"/>
                    </a:solidFill>
                  </a:tcPr>
                </a:tc>
                <a:tc>
                  <a:txBody>
                    <a:bodyPr/>
                    <a:lstStyle/>
                    <a:p>
                      <a:pPr algn="ctr"/>
                      <a:r>
                        <a:rPr sz="750" b="0" i="1">
                          <a:solidFill>
                            <a:srgbClr val="333333"/>
                          </a:solidFill>
                          <a:latin typeface="Calibri"/>
                        </a:rPr>
                        <a:t>+13,1 %</a:t>
                      </a:r>
                    </a:p>
                  </a:txBody>
                  <a:tcPr>
                    <a:solidFill>
                      <a:srgbClr val="F7F8FA"/>
                    </a:solidFill>
                  </a:tcPr>
                </a:tc>
                <a:tc>
                  <a:txBody>
                    <a:bodyPr/>
                    <a:lstStyle/>
                    <a:p>
                      <a:pPr algn="ctr"/>
                      <a:r>
                        <a:rPr sz="750" b="0" i="1">
                          <a:solidFill>
                            <a:srgbClr val="333333"/>
                          </a:solidFill>
                          <a:latin typeface="Calibri"/>
                        </a:rPr>
                        <a:t>+5,6 %</a:t>
                      </a:r>
                    </a:p>
                  </a:txBody>
                  <a:tcPr>
                    <a:solidFill>
                      <a:srgbClr val="F7F8FA"/>
                    </a:solidFill>
                  </a:tcPr>
                </a:tc>
                <a:tc>
                  <a:txBody>
                    <a:bodyPr/>
                    <a:lstStyle/>
                    <a:p>
                      <a:pPr algn="ctr"/>
                      <a:r>
                        <a:rPr sz="750" b="0" i="1">
                          <a:solidFill>
                            <a:srgbClr val="333333"/>
                          </a:solidFill>
                          <a:latin typeface="Calibri"/>
                        </a:rPr>
                        <a:t>+5,4 %</a:t>
                      </a:r>
                    </a:p>
                  </a:txBody>
                  <a:tcPr>
                    <a:solidFill>
                      <a:srgbClr val="DDE8F5"/>
                    </a:solidFill>
                  </a:tcPr>
                </a:tc>
                <a:tc>
                  <a:txBody>
                    <a:bodyPr/>
                    <a:lstStyle/>
                    <a:p>
                      <a:pPr algn="ctr"/>
                      <a:r>
                        <a:rPr sz="750" b="0" i="1">
                          <a:solidFill>
                            <a:srgbClr val="333333"/>
                          </a:solidFill>
                          <a:latin typeface="Calibri"/>
                        </a:rPr>
                        <a:t>+5,3 %</a:t>
                      </a:r>
                    </a:p>
                  </a:txBody>
                  <a:tcPr>
                    <a:solidFill>
                      <a:srgbClr val="F7F8FA"/>
                    </a:solidFill>
                  </a:tcPr>
                </a:tc>
                <a:tc>
                  <a:txBody>
                    <a:bodyPr/>
                    <a:lstStyle/>
                    <a:p>
                      <a:pPr algn="ctr"/>
                      <a:r>
                        <a:rPr sz="750" b="0" i="1">
                          <a:solidFill>
                            <a:srgbClr val="333333"/>
                          </a:solidFill>
                          <a:latin typeface="Calibri"/>
                        </a:rPr>
                        <a:t>+5,4 %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1,1</a:t>
                      </a:r>
                    </a:p>
                  </a:txBody>
                  <a:tcPr>
                    <a:solidFill>
                      <a:srgbClr val="FFFFFF"/>
                    </a:solidFill>
                  </a:tcPr>
                </a:tc>
                <a:tc>
                  <a:txBody>
                    <a:bodyPr/>
                    <a:lstStyle/>
                    <a:p>
                      <a:pPr algn="ctr"/>
                      <a:r>
                        <a:rPr sz="800" b="1" i="0">
                          <a:solidFill>
                            <a:srgbClr val="0D0D0D"/>
                          </a:solidFill>
                          <a:latin typeface="Calibri"/>
                        </a:rPr>
                        <a:t>1,2</a:t>
                      </a:r>
                    </a:p>
                  </a:txBody>
                  <a:tcPr>
                    <a:solidFill>
                      <a:srgbClr val="FFFFFF"/>
                    </a:solidFill>
                  </a:tcPr>
                </a:tc>
                <a:tc>
                  <a:txBody>
                    <a:bodyPr/>
                    <a:lstStyle/>
                    <a:p>
                      <a:pPr algn="ctr"/>
                      <a:r>
                        <a:rPr sz="800" b="1" i="0">
                          <a:solidFill>
                            <a:srgbClr val="1B3A6B"/>
                          </a:solidFill>
                          <a:latin typeface="Calibri"/>
                        </a:rPr>
                        <a:t>1,2</a:t>
                      </a:r>
                    </a:p>
                  </a:txBody>
                  <a:tcPr>
                    <a:solidFill>
                      <a:srgbClr val="DDE8F5"/>
                    </a:solidFill>
                  </a:tcPr>
                </a:tc>
                <a:tc>
                  <a:txBody>
                    <a:bodyPr/>
                    <a:lstStyle/>
                    <a:p>
                      <a:pPr algn="ctr"/>
                      <a:r>
                        <a:rPr sz="800" b="1" i="0">
                          <a:solidFill>
                            <a:srgbClr val="0D0D0D"/>
                          </a:solidFill>
                          <a:latin typeface="Calibri"/>
                        </a:rPr>
                        <a:t>1,3</a:t>
                      </a:r>
                    </a:p>
                  </a:txBody>
                  <a:tcPr>
                    <a:solidFill>
                      <a:srgbClr val="FFFFFF"/>
                    </a:solidFill>
                  </a:tcPr>
                </a:tc>
                <a:tc>
                  <a:txBody>
                    <a:bodyPr/>
                    <a:lstStyle/>
                    <a:p>
                      <a:pPr algn="ctr"/>
                      <a:r>
                        <a:rPr sz="800" b="1" i="0">
                          <a:solidFill>
                            <a:srgbClr val="0D0D0D"/>
                          </a:solidFill>
                          <a:latin typeface="Calibri"/>
                        </a:rPr>
                        <a:t>1,4</a:t>
                      </a:r>
                    </a:p>
                  </a:txBody>
                  <a:tcPr>
                    <a:solidFill>
                      <a:srgbClr val="FFFFFF"/>
                    </a:solidFill>
                  </a:tcPr>
                </a:tc>
              </a:tr>
              <a:tr h="220000">
                <a:tc>
                  <a:txBody>
                    <a:bodyPr/>
                    <a:lstStyle/>
                    <a:p>
                      <a:pPr algn="l"/>
                      <a:r>
                        <a:rPr sz="750" b="0" i="1">
                          <a:solidFill>
                            <a:srgbClr val="333333"/>
                          </a:solidFill>
                          <a:latin typeface="Calibri"/>
                        </a:rPr>
                        <a:t>Marge brute</a:t>
                      </a:r>
                    </a:p>
                  </a:txBody>
                  <a:tcPr>
                    <a:solidFill>
                      <a:srgbClr val="F7F8FA"/>
                    </a:solidFill>
                  </a:tcPr>
                </a:tc>
                <a:tc>
                  <a:txBody>
                    <a:bodyPr/>
                    <a:lstStyle/>
                    <a:p>
                      <a:pPr algn="ctr"/>
                      <a:r>
                        <a:rPr sz="750" b="0" i="1">
                          <a:solidFill>
                            <a:srgbClr val="333333"/>
                          </a:solidFill>
                          <a:latin typeface="Calibri"/>
                        </a:rPr>
                        <a:t>53,3 %</a:t>
                      </a:r>
                    </a:p>
                  </a:txBody>
                  <a:tcPr>
                    <a:solidFill>
                      <a:srgbClr val="F7F8FA"/>
                    </a:solidFill>
                  </a:tcPr>
                </a:tc>
                <a:tc>
                  <a:txBody>
                    <a:bodyPr/>
                    <a:lstStyle/>
                    <a:p>
                      <a:pPr algn="ctr"/>
                      <a:r>
                        <a:rPr sz="750" b="0" i="1">
                          <a:solidFill>
                            <a:srgbClr val="333333"/>
                          </a:solidFill>
                          <a:latin typeface="Calibri"/>
                        </a:rPr>
                        <a:t>54,1 %</a:t>
                      </a:r>
                    </a:p>
                  </a:txBody>
                  <a:tcPr>
                    <a:solidFill>
                      <a:srgbClr val="F7F8FA"/>
                    </a:solidFill>
                  </a:tcPr>
                </a:tc>
                <a:tc>
                  <a:txBody>
                    <a:bodyPr/>
                    <a:lstStyle/>
                    <a:p>
                      <a:pPr algn="ctr"/>
                      <a:r>
                        <a:rPr sz="750" b="0" i="1">
                          <a:solidFill>
                            <a:srgbClr val="333333"/>
                          </a:solidFill>
                          <a:latin typeface="Calibri"/>
                        </a:rPr>
                        <a:t>52,7 %</a:t>
                      </a:r>
                    </a:p>
                  </a:txBody>
                  <a:tcPr>
                    <a:solidFill>
                      <a:srgbClr val="DDE8F5"/>
                    </a:solidFill>
                  </a:tcPr>
                </a:tc>
                <a:tc>
                  <a:txBody>
                    <a:bodyPr/>
                    <a:lstStyle/>
                    <a:p>
                      <a:pPr algn="ctr"/>
                      <a:r>
                        <a:rPr sz="750" b="0" i="1">
                          <a:solidFill>
                            <a:srgbClr val="333333"/>
                          </a:solidFill>
                          <a:latin typeface="Calibri"/>
                        </a:rPr>
                        <a:t>53,0 %</a:t>
                      </a:r>
                    </a:p>
                  </a:txBody>
                  <a:tcPr>
                    <a:solidFill>
                      <a:srgbClr val="F7F8FA"/>
                    </a:solidFill>
                  </a:tcPr>
                </a:tc>
                <a:tc>
                  <a:txBody>
                    <a:bodyPr/>
                    <a:lstStyle/>
                    <a:p>
                      <a:pPr algn="ctr"/>
                      <a:r>
                        <a:rPr sz="750" b="0" i="1">
                          <a:solidFill>
                            <a:srgbClr val="333333"/>
                          </a:solidFill>
                          <a:latin typeface="Calibri"/>
                        </a:rPr>
                        <a:t>53,5 %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0,8</a:t>
                      </a:r>
                    </a:p>
                  </a:txBody>
                  <a:tcPr>
                    <a:solidFill>
                      <a:srgbClr val="FFFFFF"/>
                    </a:solidFill>
                  </a:tcPr>
                </a:tc>
                <a:tc>
                  <a:txBody>
                    <a:bodyPr/>
                    <a:lstStyle/>
                    <a:p>
                      <a:pPr algn="ctr"/>
                      <a:r>
                        <a:rPr sz="800" b="1" i="0">
                          <a:solidFill>
                            <a:srgbClr val="0D0D0D"/>
                          </a:solidFill>
                          <a:latin typeface="Calibri"/>
                        </a:rPr>
                        <a:t>0,9</a:t>
                      </a:r>
                    </a:p>
                  </a:txBody>
                  <a:tcPr>
                    <a:solidFill>
                      <a:srgbClr val="FFFFFF"/>
                    </a:solidFill>
                  </a:tcPr>
                </a:tc>
                <a:tc>
                  <a:txBody>
                    <a:bodyPr/>
                    <a:lstStyle/>
                    <a:p>
                      <a:pPr algn="ctr"/>
                      <a:r>
                        <a:rPr sz="800" b="1" i="0">
                          <a:solidFill>
                            <a:srgbClr val="1B3A6B"/>
                          </a:solidFill>
                          <a:latin typeface="Calibri"/>
                        </a:rPr>
                        <a:t>1,0</a:t>
                      </a:r>
                    </a:p>
                  </a:txBody>
                  <a:tcPr>
                    <a:solidFill>
                      <a:srgbClr val="DDE8F5"/>
                    </a:solidFill>
                  </a:tcPr>
                </a:tc>
                <a:tc>
                  <a:txBody>
                    <a:bodyPr/>
                    <a:lstStyle/>
                    <a:p>
                      <a:pPr algn="ctr"/>
                      <a:r>
                        <a:rPr sz="800" b="1" i="0">
                          <a:solidFill>
                            <a:srgbClr val="0D0D0D"/>
                          </a:solidFill>
                          <a:latin typeface="Calibri"/>
                        </a:rPr>
                        <a:t>1,0</a:t>
                      </a:r>
                    </a:p>
                  </a:txBody>
                  <a:tcPr>
                    <a:solidFill>
                      <a:srgbClr val="FFFFFF"/>
                    </a:solidFill>
                  </a:tcPr>
                </a:tc>
                <a:tc>
                  <a:txBody>
                    <a:bodyPr/>
                    <a:lstStyle/>
                    <a:p>
                      <a:pPr algn="ctr"/>
                      <a:r>
                        <a:rPr sz="800" b="1" i="0">
                          <a:solidFill>
                            <a:srgbClr val="0D0D0D"/>
                          </a:solidFill>
                          <a:latin typeface="Calibri"/>
                        </a:rPr>
                        <a:t>1,1</a:t>
                      </a:r>
                    </a:p>
                  </a:txBody>
                  <a:tcPr>
                    <a:solidFill>
                      <a:srgbClr val="FFFFFF"/>
                    </a:solidFill>
                  </a:tcPr>
                </a:tc>
              </a:tr>
              <a:tr h="220000">
                <a:tc>
                  <a:txBody>
                    <a:bodyPr/>
                    <a:lstStyle/>
                    <a:p>
                      <a:pPr algn="l"/>
                      <a:r>
                        <a:rPr sz="750" b="0" i="1">
                          <a:solidFill>
                            <a:srgbClr val="333333"/>
                          </a:solidFill>
                          <a:latin typeface="Calibri"/>
                        </a:rPr>
                        <a:t>Marge EBITDA</a:t>
                      </a:r>
                    </a:p>
                  </a:txBody>
                  <a:tcPr>
                    <a:solidFill>
                      <a:srgbClr val="F7F8FA"/>
                    </a:solidFill>
                  </a:tcPr>
                </a:tc>
                <a:tc>
                  <a:txBody>
                    <a:bodyPr/>
                    <a:lstStyle/>
                    <a:p>
                      <a:pPr algn="ctr"/>
                      <a:r>
                        <a:rPr sz="750" b="0" i="1">
                          <a:solidFill>
                            <a:srgbClr val="333333"/>
                          </a:solidFill>
                          <a:latin typeface="Calibri"/>
                        </a:rPr>
                        <a:t>37,8 %</a:t>
                      </a:r>
                    </a:p>
                  </a:txBody>
                  <a:tcPr>
                    <a:solidFill>
                      <a:srgbClr val="F7F8FA"/>
                    </a:solidFill>
                  </a:tcPr>
                </a:tc>
                <a:tc>
                  <a:txBody>
                    <a:bodyPr/>
                    <a:lstStyle/>
                    <a:p>
                      <a:pPr algn="ctr"/>
                      <a:r>
                        <a:rPr sz="750" b="0" i="1">
                          <a:solidFill>
                            <a:srgbClr val="333333"/>
                          </a:solidFill>
                          <a:latin typeface="Calibri"/>
                        </a:rPr>
                        <a:t>39,6 %</a:t>
                      </a:r>
                    </a:p>
                  </a:txBody>
                  <a:tcPr>
                    <a:solidFill>
                      <a:srgbClr val="F7F8FA"/>
                    </a:solidFill>
                  </a:tcPr>
                </a:tc>
                <a:tc>
                  <a:txBody>
                    <a:bodyPr/>
                    <a:lstStyle/>
                    <a:p>
                      <a:pPr algn="ctr"/>
                      <a:r>
                        <a:rPr sz="750" b="0" i="1">
                          <a:solidFill>
                            <a:srgbClr val="333333"/>
                          </a:solidFill>
                          <a:latin typeface="Calibri"/>
                        </a:rPr>
                        <a:t>41,6 %</a:t>
                      </a:r>
                    </a:p>
                  </a:txBody>
                  <a:tcPr>
                    <a:solidFill>
                      <a:srgbClr val="DDE8F5"/>
                    </a:solidFill>
                  </a:tcPr>
                </a:tc>
                <a:tc>
                  <a:txBody>
                    <a:bodyPr/>
                    <a:lstStyle/>
                    <a:p>
                      <a:pPr algn="ctr"/>
                      <a:r>
                        <a:rPr sz="750" b="0" i="1">
                          <a:solidFill>
                            <a:srgbClr val="333333"/>
                          </a:solidFill>
                          <a:latin typeface="Calibri"/>
                        </a:rPr>
                        <a:t>41,6 %</a:t>
                      </a:r>
                    </a:p>
                  </a:txBody>
                  <a:tcPr>
                    <a:solidFill>
                      <a:srgbClr val="F7F8FA"/>
                    </a:solidFill>
                  </a:tcPr>
                </a:tc>
                <a:tc>
                  <a:txBody>
                    <a:bodyPr/>
                    <a:lstStyle/>
                    <a:p>
                      <a:pPr algn="ctr"/>
                      <a:r>
                        <a:rPr sz="750" b="0" i="1">
                          <a:solidFill>
                            <a:srgbClr val="333333"/>
                          </a:solidFill>
                          <a:latin typeface="Calibri"/>
                        </a:rPr>
                        <a:t>42,1 %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0,5</a:t>
                      </a:r>
                    </a:p>
                  </a:txBody>
                  <a:tcPr>
                    <a:solidFill>
                      <a:srgbClr val="FFFFFF"/>
                    </a:solidFill>
                  </a:tcPr>
                </a:tc>
                <a:tc>
                  <a:txBody>
                    <a:bodyPr/>
                    <a:lstStyle/>
                    <a:p>
                      <a:pPr algn="ctr"/>
                      <a:r>
                        <a:rPr sz="800" b="1" i="0">
                          <a:solidFill>
                            <a:srgbClr val="0D0D0D"/>
                          </a:solidFill>
                          <a:latin typeface="Calibri"/>
                        </a:rPr>
                        <a:t>0,5</a:t>
                      </a:r>
                    </a:p>
                  </a:txBody>
                  <a:tcPr>
                    <a:solidFill>
                      <a:srgbClr val="FFFFFF"/>
                    </a:solidFill>
                  </a:tcPr>
                </a:tc>
                <a:tc>
                  <a:txBody>
                    <a:bodyPr/>
                    <a:lstStyle/>
                    <a:p>
                      <a:pPr algn="ctr"/>
                      <a:r>
                        <a:rPr sz="800" b="1" i="0">
                          <a:solidFill>
                            <a:srgbClr val="1B3A6B"/>
                          </a:solidFill>
                          <a:latin typeface="Calibri"/>
                        </a:rPr>
                        <a:t>0,6</a:t>
                      </a:r>
                    </a:p>
                  </a:txBody>
                  <a:tcPr>
                    <a:solidFill>
                      <a:srgbClr val="DDE8F5"/>
                    </a:solidFill>
                  </a:tcPr>
                </a:tc>
                <a:tc>
                  <a:txBody>
                    <a:bodyPr/>
                    <a:lstStyle/>
                    <a:p>
                      <a:pPr algn="ctr"/>
                      <a:r>
                        <a:rPr sz="800" b="1" i="0">
                          <a:solidFill>
                            <a:srgbClr val="0D0D0D"/>
                          </a:solidFill>
                          <a:latin typeface="Calibri"/>
                        </a:rPr>
                        <a:t>0,6</a:t>
                      </a:r>
                    </a:p>
                  </a:txBody>
                  <a:tcPr>
                    <a:solidFill>
                      <a:srgbClr val="FFFFFF"/>
                    </a:solidFill>
                  </a:tcPr>
                </a:tc>
                <a:tc>
                  <a:txBody>
                    <a:bodyPr/>
                    <a:lstStyle/>
                    <a:p>
                      <a:pPr algn="ctr"/>
                      <a:r>
                        <a:rPr sz="800" b="1" i="0">
                          <a:solidFill>
                            <a:srgbClr val="0D0D0D"/>
                          </a:solidFill>
                          <a:latin typeface="Calibri"/>
                        </a:rPr>
                        <a:t>0,6</a:t>
                      </a:r>
                    </a:p>
                  </a:txBody>
                  <a:tcPr>
                    <a:solidFill>
                      <a:srgbClr val="FFFFFF"/>
                    </a:solidFill>
                  </a:tcPr>
                </a:tc>
              </a:tr>
              <a:tr h="220000">
                <a:tc>
                  <a:txBody>
                    <a:bodyPr/>
                    <a:lstStyle/>
                    <a:p>
                      <a:pPr algn="l"/>
                      <a:r>
                        <a:rPr sz="750" b="0" i="1">
                          <a:solidFill>
                            <a:srgbClr val="333333"/>
                          </a:solidFill>
                          <a:latin typeface="Calibri"/>
                        </a:rPr>
                        <a:t>Marge nette</a:t>
                      </a:r>
                    </a:p>
                  </a:txBody>
                  <a:tcPr>
                    <a:solidFill>
                      <a:srgbClr val="F7F8FA"/>
                    </a:solidFill>
                  </a:tcPr>
                </a:tc>
                <a:tc>
                  <a:txBody>
                    <a:bodyPr/>
                    <a:lstStyle/>
                    <a:p>
                      <a:pPr algn="ctr"/>
                      <a:r>
                        <a:rPr sz="750" b="0" i="1">
                          <a:solidFill>
                            <a:srgbClr val="333333"/>
                          </a:solidFill>
                          <a:latin typeface="Calibri"/>
                        </a:rPr>
                        <a:t>22,4 %</a:t>
                      </a:r>
                    </a:p>
                  </a:txBody>
                  <a:tcPr>
                    <a:solidFill>
                      <a:srgbClr val="F7F8FA"/>
                    </a:solidFill>
                  </a:tcPr>
                </a:tc>
                <a:tc>
                  <a:txBody>
                    <a:bodyPr/>
                    <a:lstStyle/>
                    <a:p>
                      <a:pPr algn="ctr"/>
                      <a:r>
                        <a:rPr sz="750" b="0" i="1">
                          <a:solidFill>
                            <a:srgbClr val="333333"/>
                          </a:solidFill>
                          <a:latin typeface="Calibri"/>
                        </a:rPr>
                        <a:t>24,4 %</a:t>
                      </a:r>
                    </a:p>
                  </a:txBody>
                  <a:tcPr>
                    <a:solidFill>
                      <a:srgbClr val="F7F8FA"/>
                    </a:solidFill>
                  </a:tcPr>
                </a:tc>
                <a:tc>
                  <a:txBody>
                    <a:bodyPr/>
                    <a:lstStyle/>
                    <a:p>
                      <a:pPr algn="ctr"/>
                      <a:r>
                        <a:rPr sz="750" b="0" i="1">
                          <a:solidFill>
                            <a:srgbClr val="333333"/>
                          </a:solidFill>
                          <a:latin typeface="Calibri"/>
                        </a:rPr>
                        <a:t>25,7 %</a:t>
                      </a:r>
                    </a:p>
                  </a:txBody>
                  <a:tcPr>
                    <a:solidFill>
                      <a:srgbClr val="DDE8F5"/>
                    </a:solidFill>
                  </a:tcPr>
                </a:tc>
                <a:tc>
                  <a:txBody>
                    <a:bodyPr/>
                    <a:lstStyle/>
                    <a:p>
                      <a:pPr algn="ctr"/>
                      <a:r>
                        <a:rPr sz="750" b="0" i="1">
                          <a:solidFill>
                            <a:srgbClr val="333333"/>
                          </a:solidFill>
                          <a:latin typeface="Calibri"/>
                        </a:rPr>
                        <a:t>24,6 %</a:t>
                      </a:r>
                    </a:p>
                  </a:txBody>
                  <a:tcPr>
                    <a:solidFill>
                      <a:srgbClr val="F7F8FA"/>
                    </a:solidFill>
                  </a:tcPr>
                </a:tc>
                <a:tc>
                  <a:txBody>
                    <a:bodyPr/>
                    <a:lstStyle/>
                    <a:p>
                      <a:pPr algn="ctr"/>
                      <a:r>
                        <a:rPr sz="750" b="0" i="1">
                          <a:solidFill>
                            <a:srgbClr val="333333"/>
                          </a:solidFill>
                          <a:latin typeface="Calibri"/>
                        </a:rPr>
                        <a:t>25,0 %</a:t>
                      </a:r>
                    </a:p>
                  </a:txBody>
                  <a:tcPr>
                    <a:solidFill>
                      <a:srgbClr val="F7F8FA"/>
                    </a:solidFill>
                  </a:tcPr>
                </a:tc>
              </a:tr>
            </a:tbl>
          </a:graphicData>
        </a:graphic>
      </p:graphicFrame>
      <p:sp>
        <p:nvSpPr>
          <p:cNvPr id="18" name="Rectangle 17"/>
          <p:cNvSpPr/>
          <p:nvPr/>
        </p:nvSpPr>
        <p:spPr>
          <a:xfrm>
            <a:off x="367200" y="3218400"/>
            <a:ext cx="8413200" cy="12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218400"/>
            <a:ext cx="79200" cy="122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247200"/>
            <a:ext cx="8298000" cy="1188000"/>
          </a:xfrm>
          <a:prstGeom prst="rect">
            <a:avLst/>
          </a:prstGeom>
          <a:noFill/>
        </p:spPr>
        <p:txBody>
          <a:bodyPr wrap="square">
            <a:spAutoFit/>
          </a:bodyPr>
          <a:lstStyle/>
          <a:p>
            <a:pPr algn="l"/>
            <a:r>
              <a:rPr sz="850" b="0" i="0">
                <a:solidFill>
                  <a:srgbClr val="555555"/>
                </a:solidFill>
                <a:latin typeface="Calibri"/>
              </a:rPr>
              <a:t>Le CA 2025 atteint 2,321.8M$ (+5.4% YoY) avec une marge brute stable à 52.7%. Le levier opérationnel de +2.0pts sur l'EBITDA (41.6%) s'explique par l'effet volume et la mixité vers des solutions logicielles haute marge. Le ND/EBITDA de 1.1x et l'IntCov de 13.8x confirment une solidité financière permettant 500M$ de rachats ou dividendes.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338 M$</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1,4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1,0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4,58</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4,58</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0,6x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13,8x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1,1x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4,87</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-2,34</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Rectangle 30"/>
          <p:cNvSpPr/>
          <p:nvPr/>
        </p:nvSpPr>
        <p:spPr>
          <a:xfrm>
            <a:off x="367200" y="4068000"/>
            <a:ext cx="8413200" cy="46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7200" y="4068000"/>
            <a:ext cx="79200" cy="46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75200" y="4096800"/>
            <a:ext cx="8298000" cy="432000"/>
          </a:xfrm>
          <a:prstGeom prst="rect">
            <a:avLst/>
          </a:prstGeom>
          <a:noFill/>
        </p:spPr>
        <p:txBody>
          <a:bodyPr wrap="square">
            <a:spAutoFit/>
          </a:bodyPr>
          <a:lstStyle/>
          <a:p>
            <a:pPr algn="l"/>
            <a:r>
              <a:rPr sz="850" b="0" i="0">
                <a:solidFill>
                  <a:srgbClr val="555555"/>
                </a:solidFill>
                <a:latin typeface="Calibri"/>
              </a:rPr>
              <a:t>Le CA 2025 atteint 2,321.8M$ (+5.4% YoY) avec une marge brute stable à 52.7%. Le levier opérationnel de +2.0pts sur l'EBITDA (41.6%) s'explique par l'effet volume et la mixité vers des solutions logicielles haute marge. Le ND/EBITDA de 1.1x et l'IntCov de 13.8x confirment une solidité financière permettant 500M$ de rachats ou dividendes.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13,0x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Sous-value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9,1x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52,7 %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27,3 %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20,6 %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Léger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4,87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-2,34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Rectangle 17"/>
          <p:cNvSpPr/>
          <p:nvPr/>
        </p:nvSpPr>
        <p:spPr>
          <a:xfrm>
            <a:off x="367200" y="3628800"/>
            <a:ext cx="8413200" cy="8244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628800"/>
            <a:ext cx="792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657600"/>
            <a:ext cx="8298000" cy="788400"/>
          </a:xfrm>
          <a:prstGeom prst="rect">
            <a:avLst/>
          </a:prstGeom>
          <a:noFill/>
        </p:spPr>
        <p:txBody>
          <a:bodyPr wrap="square">
            <a:spAutoFit/>
          </a:bodyPr>
          <a:lstStyle/>
          <a:p>
            <a:pPr algn="l"/>
            <a:r>
              <a:rPr sz="850" b="0" i="0">
                <a:solidFill>
                  <a:srgbClr val="555555"/>
                </a:solidFill>
                <a:latin typeface="Calibri"/>
              </a:rPr>
              <a:t>Les marges brutes passent de 52.8% en 2022 à 52.7% en 2025, tandis que l'EBITDA margin progresse de 33.0% à 41.6% sur la même période. Cette trajectoire s'explique par l'effet de scale sur les coûts fixes et la montée en puissance des abonnements SaaS. La durabilité du pricing power est confirmée par un taux de rétention client &gt;90%, limitant le risque de mean-reversion.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245 $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213,52 $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210 $</a:t>
                      </a:r>
                    </a:p>
                  </a:txBody>
                  <a:tcPr>
                    <a:solidFill>
                      <a:srgbClr val="FAF0EF"/>
                    </a:solidFill>
                  </a:tcPr>
                </a:tc>
                <a:tc>
                  <a:txBody>
                    <a:bodyPr/>
                    <a:lstStyle/>
                    <a:p>
                      <a:pPr algn="ctr"/>
                      <a:r>
                        <a:rPr sz="2000" b="1" i="0">
                          <a:solidFill>
                            <a:srgbClr val="2E5FA3"/>
                          </a:solidFill>
                          <a:latin typeface="Calibri"/>
                        </a:rPr>
                        <a:t>245 $</a:t>
                      </a:r>
                    </a:p>
                  </a:txBody>
                  <a:tcPr>
                    <a:solidFill>
                      <a:srgbClr val="EEF3FA"/>
                    </a:solidFill>
                  </a:tcPr>
                </a:tc>
                <a:tc>
                  <a:txBody>
                    <a:bodyPr/>
                    <a:lstStyle/>
                    <a:p>
                      <a:pPr algn="ctr"/>
                      <a:r>
                        <a:rPr sz="2000" b="1" i="0">
                          <a:solidFill>
                            <a:srgbClr val="1A7A4A"/>
                          </a:solidFill>
                          <a:latin typeface="Calibri"/>
                        </a:rPr>
                        <a:t>270 $</a:t>
                      </a:r>
                    </a:p>
                  </a:txBody>
                  <a:tcPr>
                    <a:solidFill>
                      <a:srgbClr val="EAF4EF"/>
                    </a:solidFill>
                  </a:tcPr>
                </a:tc>
              </a:tr>
              <a:tr h="342900">
                <a:tc>
                  <a:txBody>
                    <a:bodyPr/>
                    <a:lstStyle/>
                    <a:p>
                      <a:pPr algn="ctr"/>
                      <a:r>
                        <a:rPr sz="1200" b="1" i="0">
                          <a:solidFill>
                            <a:srgbClr val="A82020"/>
                          </a:solidFill>
                          <a:latin typeface="Calibri"/>
                        </a:rPr>
                        <a:t>-1,6 %</a:t>
                      </a:r>
                    </a:p>
                  </a:txBody>
                  <a:tcPr>
                    <a:solidFill>
                      <a:srgbClr val="FAF0EF"/>
                    </a:solidFill>
                  </a:tcPr>
                </a:tc>
                <a:tc>
                  <a:txBody>
                    <a:bodyPr/>
                    <a:lstStyle/>
                    <a:p>
                      <a:pPr algn="ctr"/>
                      <a:r>
                        <a:rPr sz="1200" b="1" i="0">
                          <a:solidFill>
                            <a:srgbClr val="2E5FA3"/>
                          </a:solidFill>
                          <a:latin typeface="Calibri"/>
                        </a:rPr>
                        <a:t>+14,7 %</a:t>
                      </a:r>
                    </a:p>
                  </a:txBody>
                  <a:tcPr>
                    <a:solidFill>
                      <a:srgbClr val="EEF3FA"/>
                    </a:solidFill>
                  </a:tcPr>
                </a:tc>
                <a:tc>
                  <a:txBody>
                    <a:bodyPr/>
                    <a:lstStyle/>
                    <a:p>
                      <a:pPr algn="ctr"/>
                      <a:r>
                        <a:rPr sz="1200" b="1" i="0">
                          <a:solidFill>
                            <a:srgbClr val="1A7A4A"/>
                          </a:solidFill>
                          <a:latin typeface="Calibri"/>
                        </a:rPr>
                        <a:t>+26,5 %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4024800" cy="201600"/>
          </a:xfrm>
          <a:prstGeom prst="rect">
            <a:avLst/>
          </a:prstGeom>
          <a:noFill/>
        </p:spPr>
        <p:txBody>
          <a:bodyPr wrap="square">
            <a:spAutoFit/>
          </a:bodyPr>
          <a:lstStyle/>
          <a:p>
            <a:pPr algn="l"/>
            <a:r>
              <a:rPr sz="900" b="1" i="0">
                <a:solidFill>
                  <a:srgbClr val="1B3A6B"/>
                </a:solidFill>
                <a:latin typeface="Calibri"/>
              </a:rPr>
              <a:t>Monte Carlo GBM — 10 000 simulations</a:t>
            </a:r>
          </a:p>
        </p:txBody>
      </p:sp>
      <p:graphicFrame>
        <p:nvGraphicFramePr>
          <p:cNvPr id="19" name="Table 18"/>
          <p:cNvGraphicFramePr>
            <a:graphicFrameLocks noGrp="1"/>
          </p:cNvGraphicFramePr>
          <p:nvPr/>
        </p:nvGraphicFramePr>
        <p:xfrm>
          <a:off x="367200" y="2653200"/>
          <a:ext cx="4024800" cy="1116000"/>
        </p:xfrm>
        <a:graphic>
          <a:graphicData uri="http://schemas.openxmlformats.org/drawingml/2006/table">
            <a:tbl>
              <a:tblPr firstRow="1" bandRow="1">
                <a:tableStyleId>{5C22544A-7EE6-4342-B048-85BDC9FD1C3A}</a:tableStyleId>
              </a:tblPr>
              <a:tblGrid>
                <a:gridCol w="1690416"/>
                <a:gridCol w="1287936"/>
                <a:gridCol w="1046448"/>
              </a:tblGrid>
              <a:tr h="186000">
                <a:tc>
                  <a:txBody>
                    <a:bodyPr/>
                    <a:lstStyle/>
                    <a:p>
                      <a:pPr algn="l"/>
                      <a:r>
                        <a:rPr sz="800" b="1" i="0">
                          <a:solidFill>
                            <a:srgbClr val="FFFFFF"/>
                          </a:solidFill>
                          <a:latin typeface="Calibri"/>
                        </a:rPr>
                        <a:t>Scénario</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Cours prédit (12M)</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vs Cours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Down (P2)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-63,6 %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Pessimiste (P10)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98 $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-54,3 %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 Médian (P50)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145 $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-32,2 %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Optimiste (P90)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214 $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Up (P98)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4482000" y="2394000"/>
            <a:ext cx="4298400" cy="201600"/>
          </a:xfrm>
          <a:prstGeom prst="rect">
            <a:avLst/>
          </a:prstGeom>
          <a:noFill/>
        </p:spPr>
        <p:txBody>
          <a:bodyPr wrap="square">
            <a:spAutoFit/>
          </a:bodyPr>
          <a:lstStyle/>
          <a:p>
            <a:pPr algn="l"/>
            <a:r>
              <a:rPr sz="900" b="1" i="0">
                <a:solidFill>
                  <a:srgbClr val="1B3A6B"/>
                </a:solidFill>
                <a:latin typeface="Calibri"/>
              </a:rPr>
              <a:t>Sensibilité WACC × TGR — Valeur ($)</a:t>
            </a:r>
          </a:p>
        </p:txBody>
      </p:sp>
      <p:graphicFrame>
        <p:nvGraphicFramePr>
          <p:cNvPr id="21" name="Table 20"/>
          <p:cNvGraphicFramePr>
            <a:graphicFrameLocks noGrp="1"/>
          </p:cNvGraphicFramePr>
          <p:nvPr/>
        </p:nvGraphicFramePr>
        <p:xfrm>
          <a:off x="4482000" y="2653200"/>
          <a:ext cx="4298400" cy="1116000"/>
        </p:xfrm>
        <a:graphic>
          <a:graphicData uri="http://schemas.openxmlformats.org/drawingml/2006/table">
            <a:tbl>
              <a:tblPr firstRow="1" bandRow="1">
                <a:tableStyleId>{5C22544A-7EE6-4342-B048-85BDC9FD1C3A}</a:tableStyleId>
              </a:tblPr>
              <a:tblGrid>
                <a:gridCol w="716400"/>
                <a:gridCol w="716400"/>
                <a:gridCol w="716400"/>
                <a:gridCol w="716400"/>
                <a:gridCol w="716400"/>
                <a:gridCol w="7164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5,5%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406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604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6,6%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406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7,5%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245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2" name="Rectangle 21"/>
          <p:cNvSpPr/>
          <p:nvPr/>
        </p:nvSpPr>
        <p:spPr>
          <a:xfrm>
            <a:off x="367200" y="3916800"/>
            <a:ext cx="8413200" cy="5472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7200" y="3916800"/>
            <a:ext cx="79200" cy="5472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5200" y="3945600"/>
            <a:ext cx="8298000" cy="511200"/>
          </a:xfrm>
          <a:prstGeom prst="rect">
            <a:avLst/>
          </a:prstGeom>
          <a:noFill/>
        </p:spPr>
        <p:txBody>
          <a:bodyPr wrap="square">
            <a:spAutoFit/>
          </a:bodyPr>
          <a:lstStyle/>
          <a:p>
            <a:pPr algn="l"/>
            <a:r>
              <a:rPr sz="850" b="0" i="0">
                <a:solidFill>
                  <a:srgbClr val="555555"/>
                </a:solidFill>
                <a:latin typeface="Calibri"/>
              </a:rPr>
              <a:t>Avec un WACC de 7.5% et une TGR de 2.5%, le DCF implicite suggère un prix de 245$ (base), soit +15% vs le cours actuel. L'upside reflète une sous-valorisation structurelle liée à la qualité des actifs et à la croissance organique. Un catalyseur clé serait l'accélération des revenus liés à l'IA d'ici fin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FactSet Research Systems Inc.</a:t>
                      </a:r>
                    </a:p>
                  </a:txBody>
                  <a:tcPr>
                    <a:solidFill>
                      <a:srgbClr val="DDE8F5"/>
                    </a:solidFill>
                  </a:tcPr>
                </a:tc>
                <a:tc>
                  <a:txBody>
                    <a:bodyPr/>
                    <a:lstStyle/>
                    <a:p>
                      <a:pPr algn="ctr"/>
                      <a:r>
                        <a:rPr sz="750" b="1" i="0">
                          <a:solidFill>
                            <a:srgbClr val="2E5FA3"/>
                          </a:solidFill>
                          <a:latin typeface="Calibri"/>
                        </a:rPr>
                        <a:t>FDS</a:t>
                      </a:r>
                    </a:p>
                  </a:txBody>
                  <a:tcPr>
                    <a:solidFill>
                      <a:srgbClr val="DDE8F5"/>
                    </a:solidFill>
                  </a:tcPr>
                </a:tc>
                <a:tc>
                  <a:txBody>
                    <a:bodyPr/>
                    <a:lstStyle/>
                    <a:p>
                      <a:pPr algn="ctr"/>
                      <a:r>
                        <a:rPr sz="800" b="1" i="0">
                          <a:solidFill>
                            <a:srgbClr val="1B3A6B"/>
                          </a:solidFill>
                          <a:latin typeface="Calibri"/>
                        </a:rPr>
                        <a:t>7,8</a:t>
                      </a:r>
                    </a:p>
                  </a:txBody>
                  <a:tcPr>
                    <a:solidFill>
                      <a:srgbClr val="DDE8F5"/>
                    </a:solidFill>
                  </a:tcPr>
                </a:tc>
                <a:tc>
                  <a:txBody>
                    <a:bodyPr/>
                    <a:lstStyle/>
                    <a:p>
                      <a:pPr algn="ctr"/>
                      <a:r>
                        <a:rPr sz="800" b="1" i="0">
                          <a:solidFill>
                            <a:srgbClr val="1B3A6B"/>
                          </a:solidFill>
                          <a:latin typeface="Calibri"/>
                        </a:rPr>
                        <a:t>9,1x</a:t>
                      </a:r>
                    </a:p>
                  </a:txBody>
                  <a:tcPr>
                    <a:solidFill>
                      <a:srgbClr val="DDE8F5"/>
                    </a:solidFill>
                  </a:tcPr>
                </a:tc>
                <a:tc>
                  <a:txBody>
                    <a:bodyPr/>
                    <a:lstStyle/>
                    <a:p>
                      <a:pPr algn="ctr"/>
                      <a:r>
                        <a:rPr sz="800" b="1" i="0">
                          <a:solidFill>
                            <a:srgbClr val="1B3A6B"/>
                          </a:solidFill>
                          <a:latin typeface="Calibri"/>
                        </a:rPr>
                        <a:t>3,8x</a:t>
                      </a:r>
                    </a:p>
                  </a:txBody>
                  <a:tcPr>
                    <a:solidFill>
                      <a:srgbClr val="DDE8F5"/>
                    </a:solidFill>
                  </a:tcPr>
                </a:tc>
                <a:tc>
                  <a:txBody>
                    <a:bodyPr/>
                    <a:lstStyle/>
                    <a:p>
                      <a:pPr algn="ctr"/>
                      <a:r>
                        <a:rPr sz="800" b="1" i="0">
                          <a:solidFill>
                            <a:srgbClr val="1B3A6B"/>
                          </a:solidFill>
                          <a:latin typeface="Calibri"/>
                        </a:rPr>
                        <a:t>13,0x</a:t>
                      </a:r>
                    </a:p>
                  </a:txBody>
                  <a:tcPr>
                    <a:solidFill>
                      <a:srgbClr val="DDE8F5"/>
                    </a:solidFill>
                  </a:tcPr>
                </a:tc>
                <a:tc>
                  <a:txBody>
                    <a:bodyPr/>
                    <a:lstStyle/>
                    <a:p>
                      <a:pPr algn="ctr"/>
                      <a:r>
                        <a:rPr sz="800" b="1" i="0">
                          <a:solidFill>
                            <a:srgbClr val="1B3A6B"/>
                          </a:solidFill>
                          <a:latin typeface="Calibri"/>
                        </a:rPr>
                        <a:t>52,7 %</a:t>
                      </a:r>
                    </a:p>
                  </a:txBody>
                  <a:tcPr>
                    <a:solidFill>
                      <a:srgbClr val="DDE8F5"/>
                    </a:solidFill>
                  </a:tcPr>
                </a:tc>
                <a:tc>
                  <a:txBody>
                    <a:bodyPr/>
                    <a:lstStyle/>
                    <a:p>
                      <a:pPr algn="ctr"/>
                      <a:r>
                        <a:rPr sz="800" b="1" i="0">
                          <a:solidFill>
                            <a:srgbClr val="1B3A6B"/>
                          </a:solidFill>
                          <a:latin typeface="Calibri"/>
                        </a:rPr>
                        <a:t>41,6 %</a:t>
                      </a:r>
                    </a:p>
                  </a:txBody>
                  <a:tcPr>
                    <a:solidFill>
                      <a:srgbClr val="DDE8F5"/>
                    </a:solidFill>
                  </a:tcPr>
                </a:tc>
              </a:tr>
              <a:tr h="251999">
                <a:tc>
                  <a:txBody>
                    <a:bodyPr/>
                    <a:lstStyle/>
                    <a:p>
                      <a:pPr algn="l"/>
                      <a:r>
                        <a:rPr sz="800" b="0" i="0">
                          <a:solidFill>
                            <a:srgbClr val="0D0D0D"/>
                          </a:solidFill>
                          <a:latin typeface="Calibri"/>
                        </a:rPr>
                        <a:t>Bloomberg LP</a:t>
                      </a:r>
                    </a:p>
                  </a:txBody>
                  <a:tcPr>
                    <a:solidFill>
                      <a:srgbClr val="FFFFFF"/>
                    </a:solidFill>
                  </a:tcPr>
                </a:tc>
                <a:tc>
                  <a:txBody>
                    <a:bodyPr/>
                    <a:lstStyle/>
                    <a:p>
                      <a:pPr algn="ctr"/>
                      <a:r>
                        <a:rPr sz="750" b="0" i="0">
                          <a:solidFill>
                            <a:srgbClr val="555555"/>
                          </a:solidFill>
                          <a:latin typeface="Calibri"/>
                        </a:rPr>
                        <a:t>PRIVÉ</a:t>
                      </a:r>
                    </a:p>
                  </a:txBody>
                  <a:tcPr>
                    <a:solidFill>
                      <a:srgbClr val="FFFFFF"/>
                    </a:solidFill>
                  </a:tcPr>
                </a:tc>
                <a:tc>
                  <a:txBody>
                    <a:bodyPr/>
                    <a:lstStyle/>
                    <a:p>
                      <a:pPr algn="ctr"/>
                      <a:r>
                        <a:rPr sz="800" b="0" i="0">
                          <a:solidFill>
                            <a:srgbClr val="0D0D0D"/>
                          </a:solidFill>
                          <a:latin typeface="Calibri"/>
                        </a:rPr>
                        <a:t>0,0</a:t>
                      </a:r>
                    </a:p>
                  </a:txBody>
                  <a:tcPr>
                    <a:solidFill>
                      <a:srgbClr val="FFFFFF"/>
                    </a:solidFill>
                  </a:tcPr>
                </a:tc>
                <a:tc>
                  <a:txBody>
                    <a:bodyPr/>
                    <a:lstStyle/>
                    <a:p>
                      <a:pPr algn="ctr"/>
                      <a:r>
                        <a:rPr sz="800" b="0" i="0">
                          <a:solidFill>
                            <a:srgbClr val="0D0D0D"/>
                          </a:solidFill>
                          <a:latin typeface="Calibri"/>
                        </a:rPr>
                        <a:t>12,5x</a:t>
                      </a:r>
                    </a:p>
                  </a:txBody>
                  <a:tcPr>
                    <a:solidFill>
                      <a:srgbClr val="FFFFFF"/>
                    </a:solidFill>
                  </a:tcPr>
                </a:tc>
                <a:tc>
                  <a:txBody>
                    <a:bodyPr/>
                    <a:lstStyle/>
                    <a:p>
                      <a:pPr algn="ctr"/>
                      <a:r>
                        <a:rPr sz="800" b="0" i="0">
                          <a:solidFill>
                            <a:srgbClr val="0D0D0D"/>
                          </a:solidFill>
                          <a:latin typeface="Calibri"/>
                        </a:rPr>
                        <a:t>6,8x</a:t>
                      </a:r>
                    </a:p>
                  </a:txBody>
                  <a:tcPr>
                    <a:solidFill>
                      <a:srgbClr val="FFFFFF"/>
                    </a:solidFill>
                  </a:tcPr>
                </a:tc>
                <a:tc>
                  <a:txBody>
                    <a:bodyPr/>
                    <a:lstStyle/>
                    <a:p>
                      <a:pPr algn="ctr"/>
                      <a:r>
                        <a:rPr sz="800" b="0" i="0">
                          <a:solidFill>
                            <a:srgbClr val="0D0D0D"/>
                          </a:solidFill>
                          <a:latin typeface="Calibri"/>
                        </a:rPr>
                        <a:t>22,0x</a:t>
                      </a:r>
                    </a:p>
                  </a:txBody>
                  <a:tcPr>
                    <a:solidFill>
                      <a:srgbClr val="FFFFFF"/>
                    </a:solidFill>
                  </a:tcPr>
                </a:tc>
                <a:tc>
                  <a:txBody>
                    <a:bodyPr/>
                    <a:lstStyle/>
                    <a:p>
                      <a:pPr algn="ctr"/>
                      <a:r>
                        <a:rPr sz="800" b="0" i="0">
                          <a:solidFill>
                            <a:srgbClr val="0D0D0D"/>
                          </a:solidFill>
                          <a:latin typeface="Calibri"/>
                        </a:rPr>
                        <a:t>65,0 %</a:t>
                      </a:r>
                    </a:p>
                  </a:txBody>
                  <a:tcPr>
                    <a:solidFill>
                      <a:srgbClr val="FFFFFF"/>
                    </a:solidFill>
                  </a:tcPr>
                </a:tc>
                <a:tc>
                  <a:txBody>
                    <a:bodyPr/>
                    <a:lstStyle/>
                    <a:p>
                      <a:pPr algn="ctr"/>
                      <a:r>
                        <a:rPr sz="800" b="0" i="0">
                          <a:solidFill>
                            <a:srgbClr val="0D0D0D"/>
                          </a:solidFill>
                          <a:latin typeface="Calibri"/>
                        </a:rPr>
                        <a:t>45,0 %</a:t>
                      </a:r>
                    </a:p>
                  </a:txBody>
                  <a:tcPr>
                    <a:solidFill>
                      <a:srgbClr val="FFFFFF"/>
                    </a:solidFill>
                  </a:tcPr>
                </a:tc>
              </a:tr>
              <a:tr h="251999">
                <a:tc>
                  <a:txBody>
                    <a:bodyPr/>
                    <a:lstStyle/>
                    <a:p>
                      <a:pPr algn="l"/>
                      <a:r>
                        <a:rPr sz="800" b="0" i="0">
                          <a:solidFill>
                            <a:srgbClr val="0D0D0D"/>
                          </a:solidFill>
                          <a:latin typeface="Calibri"/>
                        </a:rPr>
                        <a:t>Refinitiv (LSEG)</a:t>
                      </a:r>
                    </a:p>
                  </a:txBody>
                  <a:tcPr>
                    <a:solidFill>
                      <a:srgbClr val="F7F8FA"/>
                    </a:solidFill>
                  </a:tcPr>
                </a:tc>
                <a:tc>
                  <a:txBody>
                    <a:bodyPr/>
                    <a:lstStyle/>
                    <a:p>
                      <a:pPr algn="ctr"/>
                      <a:r>
                        <a:rPr sz="750" b="0" i="0">
                          <a:solidFill>
                            <a:srgbClr val="555555"/>
                          </a:solidFill>
                          <a:latin typeface="Calibri"/>
                        </a:rPr>
                        <a:t>LSEG.L</a:t>
                      </a:r>
                    </a:p>
                  </a:txBody>
                  <a:tcPr>
                    <a:solidFill>
                      <a:srgbClr val="F7F8FA"/>
                    </a:solidFill>
                  </a:tcPr>
                </a:tc>
                <a:tc>
                  <a:txBody>
                    <a:bodyPr/>
                    <a:lstStyle/>
                    <a:p>
                      <a:pPr algn="ctr"/>
                      <a:r>
                        <a:rPr sz="800" b="0" i="0">
                          <a:solidFill>
                            <a:srgbClr val="0D0D0D"/>
                          </a:solidFill>
                          <a:latin typeface="Calibri"/>
                        </a:rPr>
                        <a:t>65,0</a:t>
                      </a:r>
                    </a:p>
                  </a:txBody>
                  <a:tcPr>
                    <a:solidFill>
                      <a:srgbClr val="F7F8FA"/>
                    </a:solidFill>
                  </a:tcPr>
                </a:tc>
                <a:tc>
                  <a:txBody>
                    <a:bodyPr/>
                    <a:lstStyle/>
                    <a:p>
                      <a:pPr algn="ctr"/>
                      <a:r>
                        <a:rPr sz="800" b="0" i="0">
                          <a:solidFill>
                            <a:srgbClr val="0D0D0D"/>
                          </a:solidFill>
                          <a:latin typeface="Calibri"/>
                        </a:rPr>
                        <a:t>14,2x</a:t>
                      </a:r>
                    </a:p>
                  </a:txBody>
                  <a:tcPr>
                    <a:solidFill>
                      <a:srgbClr val="F7F8FA"/>
                    </a:solidFill>
                  </a:tcPr>
                </a:tc>
                <a:tc>
                  <a:txBody>
                    <a:bodyPr/>
                    <a:lstStyle/>
                    <a:p>
                      <a:pPr algn="ctr"/>
                      <a:r>
                        <a:rPr sz="800" b="0" i="0">
                          <a:solidFill>
                            <a:srgbClr val="0D0D0D"/>
                          </a:solidFill>
                          <a:latin typeface="Calibri"/>
                        </a:rPr>
                        <a:t>5,9x</a:t>
                      </a:r>
                    </a:p>
                  </a:txBody>
                  <a:tcPr>
                    <a:solidFill>
                      <a:srgbClr val="F7F8FA"/>
                    </a:solidFill>
                  </a:tcPr>
                </a:tc>
                <a:tc>
                  <a:txBody>
                    <a:bodyPr/>
                    <a:lstStyle/>
                    <a:p>
                      <a:pPr algn="ctr"/>
                      <a:r>
                        <a:rPr sz="800" b="0" i="0">
                          <a:solidFill>
                            <a:srgbClr val="0D0D0D"/>
                          </a:solidFill>
                          <a:latin typeface="Calibri"/>
                        </a:rPr>
                        <a:t>25,0x</a:t>
                      </a:r>
                    </a:p>
                  </a:txBody>
                  <a:tcPr>
                    <a:solidFill>
                      <a:srgbClr val="F7F8FA"/>
                    </a:solidFill>
                  </a:tcPr>
                </a:tc>
                <a:tc>
                  <a:txBody>
                    <a:bodyPr/>
                    <a:lstStyle/>
                    <a:p>
                      <a:pPr algn="ctr"/>
                      <a:r>
                        <a:rPr sz="800" b="0" i="0">
                          <a:solidFill>
                            <a:srgbClr val="0D0D0D"/>
                          </a:solidFill>
                          <a:latin typeface="Calibri"/>
                        </a:rPr>
                        <a:t>58,0 %</a:t>
                      </a:r>
                    </a:p>
                  </a:txBody>
                  <a:tcPr>
                    <a:solidFill>
                      <a:srgbClr val="F7F8FA"/>
                    </a:solidFill>
                  </a:tcPr>
                </a:tc>
                <a:tc>
                  <a:txBody>
                    <a:bodyPr/>
                    <a:lstStyle/>
                    <a:p>
                      <a:pPr algn="ctr"/>
                      <a:r>
                        <a:rPr sz="800" b="0" i="0">
                          <a:solidFill>
                            <a:srgbClr val="0D0D0D"/>
                          </a:solidFill>
                          <a:latin typeface="Calibri"/>
                        </a:rPr>
                        <a:t>42,0 %</a:t>
                      </a:r>
                    </a:p>
                  </a:txBody>
                  <a:tcPr>
                    <a:solidFill>
                      <a:srgbClr val="F7F8FA"/>
                    </a:solidFill>
                  </a:tcPr>
                </a:tc>
              </a:tr>
              <a:tr h="251999">
                <a:tc>
                  <a:txBody>
                    <a:bodyPr/>
                    <a:lstStyle/>
                    <a:p>
                      <a:pPr algn="l"/>
                      <a:r>
                        <a:rPr sz="800" b="0" i="0">
                          <a:solidFill>
                            <a:srgbClr val="0D0D0D"/>
                          </a:solidFill>
                          <a:latin typeface="Calibri"/>
                        </a:rPr>
                        <a:t>S&amp;P Global Market Intelligence</a:t>
                      </a:r>
                    </a:p>
                  </a:txBody>
                  <a:tcPr>
                    <a:solidFill>
                      <a:srgbClr val="FFFFFF"/>
                    </a:solidFill>
                  </a:tcPr>
                </a:tc>
                <a:tc>
                  <a:txBody>
                    <a:bodyPr/>
                    <a:lstStyle/>
                    <a:p>
                      <a:pPr algn="ctr"/>
                      <a:r>
                        <a:rPr sz="750" b="0" i="0">
                          <a:solidFill>
                            <a:srgbClr val="555555"/>
                          </a:solidFill>
                          <a:latin typeface="Calibri"/>
                        </a:rPr>
                        <a:t>SPGI</a:t>
                      </a:r>
                    </a:p>
                  </a:txBody>
                  <a:tcPr>
                    <a:solidFill>
                      <a:srgbClr val="FFFFFF"/>
                    </a:solidFill>
                  </a:tcPr>
                </a:tc>
                <a:tc>
                  <a:txBody>
                    <a:bodyPr/>
                    <a:lstStyle/>
                    <a:p>
                      <a:pPr algn="ctr"/>
                      <a:r>
                        <a:rPr sz="800" b="0" i="0">
                          <a:solidFill>
                            <a:srgbClr val="0D0D0D"/>
                          </a:solidFill>
                          <a:latin typeface="Calibri"/>
                        </a:rPr>
                        <a:t>120,0</a:t>
                      </a:r>
                    </a:p>
                  </a:txBody>
                  <a:tcPr>
                    <a:solidFill>
                      <a:srgbClr val="FFFFFF"/>
                    </a:solidFill>
                  </a:tcPr>
                </a:tc>
                <a:tc>
                  <a:txBody>
                    <a:bodyPr/>
                    <a:lstStyle/>
                    <a:p>
                      <a:pPr algn="ctr"/>
                      <a:r>
                        <a:rPr sz="800" b="0" i="0">
                          <a:solidFill>
                            <a:srgbClr val="0D0D0D"/>
                          </a:solidFill>
                          <a:latin typeface="Calibri"/>
                        </a:rPr>
                        <a:t>18,5x</a:t>
                      </a:r>
                    </a:p>
                  </a:txBody>
                  <a:tcPr>
                    <a:solidFill>
                      <a:srgbClr val="FFFFFF"/>
                    </a:solidFill>
                  </a:tcPr>
                </a:tc>
                <a:tc>
                  <a:txBody>
                    <a:bodyPr/>
                    <a:lstStyle/>
                    <a:p>
                      <a:pPr algn="ctr"/>
                      <a:r>
                        <a:rPr sz="800" b="0" i="0">
                          <a:solidFill>
                            <a:srgbClr val="0D0D0D"/>
                          </a:solidFill>
                          <a:latin typeface="Calibri"/>
                        </a:rPr>
                        <a:t>7,2x</a:t>
                      </a:r>
                    </a:p>
                  </a:txBody>
                  <a:tcPr>
                    <a:solidFill>
                      <a:srgbClr val="FFFFFF"/>
                    </a:solidFill>
                  </a:tcPr>
                </a:tc>
                <a:tc>
                  <a:txBody>
                    <a:bodyPr/>
                    <a:lstStyle/>
                    <a:p>
                      <a:pPr algn="ctr"/>
                      <a:r>
                        <a:rPr sz="800" b="0" i="0">
                          <a:solidFill>
                            <a:srgbClr val="0D0D0D"/>
                          </a:solidFill>
                          <a:latin typeface="Calibri"/>
                        </a:rPr>
                        <a:t>28,0x</a:t>
                      </a:r>
                    </a:p>
                  </a:txBody>
                  <a:tcPr>
                    <a:solidFill>
                      <a:srgbClr val="FFFFFF"/>
                    </a:solidFill>
                  </a:tcPr>
                </a:tc>
                <a:tc>
                  <a:txBody>
                    <a:bodyPr/>
                    <a:lstStyle/>
                    <a:p>
                      <a:pPr algn="ctr"/>
                      <a:r>
                        <a:rPr sz="800" b="0" i="0">
                          <a:solidFill>
                            <a:srgbClr val="0D0D0D"/>
                          </a:solidFill>
                          <a:latin typeface="Calibri"/>
                        </a:rPr>
                        <a:t>60,0 %</a:t>
                      </a:r>
                    </a:p>
                  </a:txBody>
                  <a:tcPr>
                    <a:solidFill>
                      <a:srgbClr val="FFFFFF"/>
                    </a:solidFill>
                  </a:tcPr>
                </a:tc>
                <a:tc>
                  <a:txBody>
                    <a:bodyPr/>
                    <a:lstStyle/>
                    <a:p>
                      <a:pPr algn="ctr"/>
                      <a:r>
                        <a:rPr sz="800" b="0" i="0">
                          <a:solidFill>
                            <a:srgbClr val="0D0D0D"/>
                          </a:solidFill>
                          <a:latin typeface="Calibri"/>
                        </a:rPr>
                        <a:t>40,0 %</a:t>
                      </a:r>
                    </a:p>
                  </a:txBody>
                  <a:tcPr>
                    <a:solidFill>
                      <a:srgbClr val="FFFFFF"/>
                    </a:solidFill>
                  </a:tcPr>
                </a:tc>
              </a:tr>
              <a:tr h="251999">
                <a:tc>
                  <a:txBody>
                    <a:bodyPr/>
                    <a:lstStyle/>
                    <a:p>
                      <a:pPr algn="l"/>
                      <a:r>
                        <a:rPr sz="800" b="0" i="0">
                          <a:solidFill>
                            <a:srgbClr val="0D0D0D"/>
                          </a:solidFill>
                          <a:latin typeface="Calibri"/>
                        </a:rPr>
                        <a:t>Morningstar</a:t>
                      </a:r>
                    </a:p>
                  </a:txBody>
                  <a:tcPr>
                    <a:solidFill>
                      <a:srgbClr val="F7F8FA"/>
                    </a:solidFill>
                  </a:tcPr>
                </a:tc>
                <a:tc>
                  <a:txBody>
                    <a:bodyPr/>
                    <a:lstStyle/>
                    <a:p>
                      <a:pPr algn="ctr"/>
                      <a:r>
                        <a:rPr sz="750" b="0" i="0">
                          <a:solidFill>
                            <a:srgbClr val="555555"/>
                          </a:solidFill>
                          <a:latin typeface="Calibri"/>
                        </a:rPr>
                        <a:t>MORN</a:t>
                      </a:r>
                    </a:p>
                  </a:txBody>
                  <a:tcPr>
                    <a:solidFill>
                      <a:srgbClr val="F7F8FA"/>
                    </a:solidFill>
                  </a:tcPr>
                </a:tc>
                <a:tc>
                  <a:txBody>
                    <a:bodyPr/>
                    <a:lstStyle/>
                    <a:p>
                      <a:pPr algn="ctr"/>
                      <a:r>
                        <a:rPr sz="800" b="0" i="0">
                          <a:solidFill>
                            <a:srgbClr val="0D0D0D"/>
                          </a:solidFill>
                          <a:latin typeface="Calibri"/>
                        </a:rPr>
                        <a:t>15,0</a:t>
                      </a:r>
                    </a:p>
                  </a:txBody>
                  <a:tcPr>
                    <a:solidFill>
                      <a:srgbClr val="F7F8FA"/>
                    </a:solidFill>
                  </a:tcPr>
                </a:tc>
                <a:tc>
                  <a:txBody>
                    <a:bodyPr/>
                    <a:lstStyle/>
                    <a:p>
                      <a:pPr algn="ctr"/>
                      <a:r>
                        <a:rPr sz="800" b="0" i="0">
                          <a:solidFill>
                            <a:srgbClr val="0D0D0D"/>
                          </a:solidFill>
                          <a:latin typeface="Calibri"/>
                        </a:rPr>
                        <a:t>16,8x</a:t>
                      </a:r>
                    </a:p>
                  </a:txBody>
                  <a:tcPr>
                    <a:solidFill>
                      <a:srgbClr val="F7F8FA"/>
                    </a:solidFill>
                  </a:tcPr>
                </a:tc>
                <a:tc>
                  <a:txBody>
                    <a:bodyPr/>
                    <a:lstStyle/>
                    <a:p>
                      <a:pPr algn="ctr"/>
                      <a:r>
                        <a:rPr sz="800" b="0" i="0">
                          <a:solidFill>
                            <a:srgbClr val="0D0D0D"/>
                          </a:solidFill>
                          <a:latin typeface="Calibri"/>
                        </a:rPr>
                        <a:t>5,5x</a:t>
                      </a:r>
                    </a:p>
                  </a:txBody>
                  <a:tcPr>
                    <a:solidFill>
                      <a:srgbClr val="F7F8FA"/>
                    </a:solidFill>
                  </a:tcPr>
                </a:tc>
                <a:tc>
                  <a:txBody>
                    <a:bodyPr/>
                    <a:lstStyle/>
                    <a:p>
                      <a:pPr algn="ctr"/>
                      <a:r>
                        <a:rPr sz="800" b="0" i="0">
                          <a:solidFill>
                            <a:srgbClr val="0D0D0D"/>
                          </a:solidFill>
                          <a:latin typeface="Calibri"/>
                        </a:rPr>
                        <a:t>30,0x</a:t>
                      </a:r>
                    </a:p>
                  </a:txBody>
                  <a:tcPr>
                    <a:solidFill>
                      <a:srgbClr val="F7F8FA"/>
                    </a:solidFill>
                  </a:tcPr>
                </a:tc>
                <a:tc>
                  <a:txBody>
                    <a:bodyPr/>
                    <a:lstStyle/>
                    <a:p>
                      <a:pPr algn="ctr"/>
                      <a:r>
                        <a:rPr sz="800" b="0" i="0">
                          <a:solidFill>
                            <a:srgbClr val="0D0D0D"/>
                          </a:solidFill>
                          <a:latin typeface="Calibri"/>
                        </a:rPr>
                        <a:t>70,0 %</a:t>
                      </a:r>
                    </a:p>
                  </a:txBody>
                  <a:tcPr>
                    <a:solidFill>
                      <a:srgbClr val="F7F8FA"/>
                    </a:solidFill>
                  </a:tcPr>
                </a:tc>
                <a:tc>
                  <a:txBody>
                    <a:bodyPr/>
                    <a:lstStyle/>
                    <a:p>
                      <a:pPr algn="ctr"/>
                      <a:r>
                        <a:rPr sz="800" b="0" i="0">
                          <a:solidFill>
                            <a:srgbClr val="0D0D0D"/>
                          </a:solidFill>
                          <a:latin typeface="Calibri"/>
                        </a:rPr>
                        <a:t>38,0 %</a:t>
                      </a:r>
                    </a:p>
                  </a:txBody>
                  <a:tcPr>
                    <a:solidFill>
                      <a:srgbClr val="F7F8FA"/>
                    </a:solidFill>
                  </a:tcPr>
                </a:tc>
              </a:tr>
              <a:tr h="251999">
                <a:tc>
                  <a:txBody>
                    <a:bodyPr/>
                    <a:lstStyle/>
                    <a:p>
                      <a:pPr algn="l"/>
                      <a:r>
                        <a:rPr sz="800" b="0" i="0">
                          <a:solidFill>
                            <a:srgbClr val="0D0D0D"/>
                          </a:solidFill>
                          <a:latin typeface="Calibri"/>
                        </a:rPr>
                        <a:t>IHS Markit (avant fusion)</a:t>
                      </a:r>
                    </a:p>
                  </a:txBody>
                  <a:tcPr>
                    <a:solidFill>
                      <a:srgbClr val="FFFFFF"/>
                    </a:solidFill>
                  </a:tcPr>
                </a:tc>
                <a:tc>
                  <a:txBody>
                    <a:bodyPr/>
                    <a:lstStyle/>
                    <a:p>
                      <a:pPr algn="ctr"/>
                      <a:r>
                        <a:rPr sz="750" b="0" i="0">
                          <a:solidFill>
                            <a:srgbClr val="555555"/>
                          </a:solidFill>
                          <a:latin typeface="Calibri"/>
                        </a:rPr>
                        <a:t>INFO</a:t>
                      </a:r>
                    </a:p>
                  </a:txBody>
                  <a:tcPr>
                    <a:solidFill>
                      <a:srgbClr val="FFFFFF"/>
                    </a:solidFill>
                  </a:tcPr>
                </a:tc>
                <a:tc>
                  <a:txBody>
                    <a:bodyPr/>
                    <a:lstStyle/>
                    <a:p>
                      <a:pPr algn="ctr"/>
                      <a:r>
                        <a:rPr sz="800" b="0" i="0">
                          <a:solidFill>
                            <a:srgbClr val="0D0D0D"/>
                          </a:solidFill>
                          <a:latin typeface="Calibri"/>
                        </a:rPr>
                        <a:t>50,0</a:t>
                      </a:r>
                    </a:p>
                  </a:txBody>
                  <a:tcPr>
                    <a:solidFill>
                      <a:srgbClr val="FFFFFF"/>
                    </a:solidFill>
                  </a:tcPr>
                </a:tc>
                <a:tc>
                  <a:txBody>
                    <a:bodyPr/>
                    <a:lstStyle/>
                    <a:p>
                      <a:pPr algn="ctr"/>
                      <a:r>
                        <a:rPr sz="800" b="0" i="0">
                          <a:solidFill>
                            <a:srgbClr val="0D0D0D"/>
                          </a:solidFill>
                          <a:latin typeface="Calibri"/>
                        </a:rPr>
                        <a:t>15,5x</a:t>
                      </a:r>
                    </a:p>
                  </a:txBody>
                  <a:tcPr>
                    <a:solidFill>
                      <a:srgbClr val="FFFFFF"/>
                    </a:solidFill>
                  </a:tcPr>
                </a:tc>
                <a:tc>
                  <a:txBody>
                    <a:bodyPr/>
                    <a:lstStyle/>
                    <a:p>
                      <a:pPr algn="ctr"/>
                      <a:r>
                        <a:rPr sz="800" b="0" i="0">
                          <a:solidFill>
                            <a:srgbClr val="0D0D0D"/>
                          </a:solidFill>
                          <a:latin typeface="Calibri"/>
                        </a:rPr>
                        <a:t>6,2x</a:t>
                      </a:r>
                    </a:p>
                  </a:txBody>
                  <a:tcPr>
                    <a:solidFill>
                      <a:srgbClr val="FFFFFF"/>
                    </a:solidFill>
                  </a:tcPr>
                </a:tc>
                <a:tc>
                  <a:txBody>
                    <a:bodyPr/>
                    <a:lstStyle/>
                    <a:p>
                      <a:pPr algn="ctr"/>
                      <a:r>
                        <a:rPr sz="800" b="0" i="0">
                          <a:solidFill>
                            <a:srgbClr val="0D0D0D"/>
                          </a:solidFill>
                          <a:latin typeface="Calibri"/>
                        </a:rPr>
                        <a:t>26,0x</a:t>
                      </a:r>
                    </a:p>
                  </a:txBody>
                  <a:tcPr>
                    <a:solidFill>
                      <a:srgbClr val="FFFFFF"/>
                    </a:solidFill>
                  </a:tcPr>
                </a:tc>
                <a:tc>
                  <a:txBody>
                    <a:bodyPr/>
                    <a:lstStyle/>
                    <a:p>
                      <a:pPr algn="ctr"/>
                      <a:r>
                        <a:rPr sz="800" b="0" i="0">
                          <a:solidFill>
                            <a:srgbClr val="0D0D0D"/>
                          </a:solidFill>
                          <a:latin typeface="Calibri"/>
                        </a:rPr>
                        <a:t>55,0 %</a:t>
                      </a:r>
                    </a:p>
                  </a:txBody>
                  <a:tcPr>
                    <a:solidFill>
                      <a:srgbClr val="FFFFFF"/>
                    </a:solidFill>
                  </a:tcPr>
                </a:tc>
                <a:tc>
                  <a:txBody>
                    <a:bodyPr/>
                    <a:lstStyle/>
                    <a:p>
                      <a:pPr algn="ctr"/>
                      <a:r>
                        <a:rPr sz="800" b="0" i="0">
                          <a:solidFill>
                            <a:srgbClr val="0D0D0D"/>
                          </a:solidFill>
                          <a:latin typeface="Calibri"/>
                        </a:rPr>
                        <a:t>41,0 %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15,5x</a:t>
                      </a:r>
                    </a:p>
                  </a:txBody>
                  <a:tcPr>
                    <a:solidFill>
                      <a:srgbClr val="F7F8FA"/>
                    </a:solidFill>
                  </a:tcPr>
                </a:tc>
                <a:tc>
                  <a:txBody>
                    <a:bodyPr/>
                    <a:lstStyle/>
                    <a:p>
                      <a:pPr algn="ctr"/>
                      <a:r>
                        <a:rPr sz="800" b="1" i="0">
                          <a:solidFill>
                            <a:srgbClr val="0D0D0D"/>
                          </a:solidFill>
                          <a:latin typeface="Calibri"/>
                        </a:rPr>
                        <a:t>6,2x</a:t>
                      </a:r>
                    </a:p>
                  </a:txBody>
                  <a:tcPr>
                    <a:solidFill>
                      <a:srgbClr val="F7F8FA"/>
                    </a:solidFill>
                  </a:tcPr>
                </a:tc>
                <a:tc>
                  <a:txBody>
                    <a:bodyPr/>
                    <a:lstStyle/>
                    <a:p>
                      <a:pPr algn="ctr"/>
                      <a:r>
                        <a:rPr sz="800" b="1" i="0">
                          <a:solidFill>
                            <a:srgbClr val="0D0D0D"/>
                          </a:solidFill>
                          <a:latin typeface="Calibri"/>
                        </a:rPr>
                        <a:t>26,0x</a:t>
                      </a:r>
                    </a:p>
                  </a:txBody>
                  <a:tcPr>
                    <a:solidFill>
                      <a:srgbClr val="F7F8FA"/>
                    </a:solidFill>
                  </a:tcPr>
                </a:tc>
                <a:tc>
                  <a:txBody>
                    <a:bodyPr/>
                    <a:lstStyle/>
                    <a:p>
                      <a:pPr algn="ctr"/>
                      <a:r>
                        <a:rPr sz="800" b="1" i="0">
                          <a:solidFill>
                            <a:srgbClr val="0D0D0D"/>
                          </a:solidFill>
                          <a:latin typeface="Calibri"/>
                        </a:rPr>
                        <a:t>60,0 %</a:t>
                      </a:r>
                    </a:p>
                  </a:txBody>
                  <a:tcPr>
                    <a:solidFill>
                      <a:srgbClr val="F7F8FA"/>
                    </a:solidFill>
                  </a:tcPr>
                </a:tc>
                <a:tc>
                  <a:txBody>
                    <a:bodyPr/>
                    <a:lstStyle/>
                    <a:p>
                      <a:pPr algn="ctr"/>
                      <a:r>
                        <a:rPr sz="800" b="1" i="0">
                          <a:solidFill>
                            <a:srgbClr val="0D0D0D"/>
                          </a:solidFill>
                          <a:latin typeface="Calibri"/>
                        </a:rPr>
                        <a:t>41,0 %</a:t>
                      </a:r>
                    </a:p>
                  </a:txBody>
                  <a:tcPr>
                    <a:solidFill>
                      <a:srgbClr val="F7F8FA"/>
                    </a:solidFill>
                  </a:tcPr>
                </a:tc>
              </a:tr>
            </a:tbl>
          </a:graphicData>
        </a:graphic>
      </p:graphicFrame>
      <p:sp>
        <p:nvSpPr>
          <p:cNvPr id="18" name="Rectangle 17"/>
          <p:cNvSpPr/>
          <p:nvPr/>
        </p:nvSpPr>
        <p:spPr>
          <a:xfrm>
            <a:off x="367200" y="3128400"/>
            <a:ext cx="84132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128400"/>
            <a:ext cx="79200" cy="15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157200"/>
            <a:ext cx="8298000" cy="1512000"/>
          </a:xfrm>
          <a:prstGeom prst="rect">
            <a:avLst/>
          </a:prstGeom>
          <a:noFill/>
        </p:spPr>
        <p:txBody>
          <a:bodyPr wrap="square">
            <a:spAutoFit/>
          </a:bodyPr>
          <a:lstStyle/>
          <a:p>
            <a:pPr algn="l"/>
            <a:r>
              <a:rPr sz="850" b="0" i="0">
                <a:solidFill>
                  <a:srgbClr val="555555"/>
                </a:solidFill>
                <a:latin typeface="Calibri"/>
              </a:rPr>
              <a:t>FDS affiche un EV/EBITDA de 9.1x vs une médiane peers de 11.2x (-19%), et un P/E de 13.0x vs 15.2x (-14%). Cette décote est justifiée par une croissance organique supérieure (+5.4% vs +4.1% peers) et des marges EBITDA en expansion. Une convergence vers la médiane peers implique un upside de +15% sur l'EV/EBITDA. Les marges brutes passent de 52.8% en 2022 à 52.7% en 2025, tandis que l'EBITDA margin progresse de 33.0% à 41.6% sur la même période. Cette trajectoire s'explique par l'effet de scale sur les coûts fixes et la montée en puissance des abonnements SaaS. La durabilité du pricing power est confirmée par un taux de rétention client &gt;90%, limitant le risque de mean-reversion. FDS se négocie à 9.1x EV/EBITDA vs une médiane peers de 11.2x, soit une décote de 19%. Le P/E de 13.0x reflète une valorisation modérée malgré une croissance supérieure.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Rectangle 17"/>
          <p:cNvSpPr/>
          <p:nvPr/>
        </p:nvSpPr>
        <p:spPr>
          <a:xfrm>
            <a:off x="367200" y="3488400"/>
            <a:ext cx="8413200" cy="12816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488400"/>
            <a:ext cx="79200" cy="1281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517200"/>
            <a:ext cx="8298000" cy="1245600"/>
          </a:xfrm>
          <a:prstGeom prst="rect">
            <a:avLst/>
          </a:prstGeom>
          <a:noFill/>
        </p:spPr>
        <p:txBody>
          <a:bodyPr wrap="square">
            <a:spAutoFit/>
          </a:bodyPr>
          <a:lstStyle/>
          <a:p>
            <a:pPr algn="l"/>
            <a:r>
              <a:rPr sz="850" b="0" i="0">
                <a:solidFill>
                  <a:srgbClr val="555555"/>
                </a:solidFill>
                <a:latin typeface="Calibri"/>
              </a:rPr>
              <a:t>Avec un WACC de 7.5% et une TGR de 2.5%, le DCF implicite suggère un prix de 245$ (base), soit +15% vs le cours actuel. L'upside reflète une sous-valorisation structurelle liée à la qualité des actifs et à la croissance organique. Un catalyseur clé serait l'accélération des revenus liés à l'IA d'ici fin 2026. FDS se négocie à 9.1x EV/EBITDA vs une médiane peers de 11.2x, soit une décote de 19%. Le P/E de 13.0x reflète une valorisation modérée malgré une croissance supérieure.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Multiples de Valorisation Historiques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FDS · P/E &amp; EV/EBITDA sur 5 ans · Standards marché</a:t>
            </a:r>
          </a:p>
        </p:txBody>
      </p:sp>
      <p:pic>
        <p:nvPicPr>
          <p:cNvPr id="17" name="Picture 16" descr="image.png"/>
          <p:cNvPicPr>
            <a:picLocks noChangeAspect="1"/>
          </p:cNvPicPr>
          <p:nvPr/>
        </p:nvPicPr>
        <p:blipFill>
          <a:blip r:embed="rId2"/>
          <a:stretch>
            <a:fillRect/>
          </a:stretch>
        </p:blipFill>
        <p:spPr>
          <a:xfrm>
            <a:off x="367200" y="864000"/>
            <a:ext cx="5688000" cy="2520000"/>
          </a:xfrm>
          <a:prstGeom prst="rect">
            <a:avLst/>
          </a:prstGeom>
        </p:spPr>
      </p:pic>
      <p:sp>
        <p:nvSpPr>
          <p:cNvPr id="18" name="TextBox 17"/>
          <p:cNvSpPr txBox="1"/>
          <p:nvPr/>
        </p:nvSpPr>
        <p:spPr>
          <a:xfrm>
            <a:off x="6192000" y="864000"/>
            <a:ext cx="2592000" cy="180000"/>
          </a:xfrm>
          <a:prstGeom prst="rect">
            <a:avLst/>
          </a:prstGeom>
          <a:noFill/>
        </p:spPr>
        <p:txBody>
          <a:bodyPr wrap="square">
            <a:spAutoFit/>
          </a:bodyPr>
          <a:lstStyle/>
          <a:p>
            <a:pPr algn="l"/>
            <a:r>
              <a:rPr sz="800" b="1" i="0">
                <a:solidFill>
                  <a:srgbClr val="1B3A6B"/>
                </a:solidFill>
                <a:latin typeface="Calibri"/>
              </a:rPr>
              <a:t>SYNTHÈSE DES MULTIPLES</a:t>
            </a:r>
          </a:p>
        </p:txBody>
      </p:sp>
      <p:graphicFrame>
        <p:nvGraphicFramePr>
          <p:cNvPr id="19" name="Table 18"/>
          <p:cNvGraphicFramePr>
            <a:graphicFrameLocks noGrp="1"/>
          </p:cNvGraphicFramePr>
          <p:nvPr/>
        </p:nvGraphicFramePr>
        <p:xfrm>
          <a:off x="6192000" y="1098000"/>
          <a:ext cx="2592000" cy="1008000"/>
        </p:xfrm>
        <a:graphic>
          <a:graphicData uri="http://schemas.openxmlformats.org/drawingml/2006/table">
            <a:tbl>
              <a:tblPr firstRow="1" bandRow="1">
                <a:tableStyleId>{5C22544A-7EE6-4342-B048-85BDC9FD1C3A}</a:tableStyleId>
              </a:tblPr>
              <a:tblGrid>
                <a:gridCol w="777600"/>
                <a:gridCol w="570240"/>
                <a:gridCol w="673920"/>
                <a:gridCol w="570240"/>
              </a:tblGrid>
              <a:tr h="201600">
                <a:tc>
                  <a:txBody>
                    <a:bodyPr/>
                    <a:lstStyle/>
                    <a:p>
                      <a:pPr algn="l"/>
                      <a:r>
                        <a:rPr sz="800" b="1" i="0">
                          <a:solidFill>
                            <a:srgbClr val="FFFFFF"/>
                          </a:solidFill>
                          <a:latin typeface="Calibri"/>
                        </a:rPr>
                        <a:t>Année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EV/EB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19,6x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16,6x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9,1x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Rectangle 19"/>
          <p:cNvSpPr/>
          <p:nvPr/>
        </p:nvSpPr>
        <p:spPr>
          <a:xfrm>
            <a:off x="367200" y="3600000"/>
            <a:ext cx="8413200" cy="111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7200" y="3600000"/>
            <a:ext cx="79200" cy="111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200" y="3628800"/>
            <a:ext cx="8298000" cy="1080000"/>
          </a:xfrm>
          <a:prstGeom prst="rect">
            <a:avLst/>
          </a:prstGeom>
          <a:noFill/>
        </p:spPr>
        <p:txBody>
          <a:bodyPr wrap="square">
            <a:spAutoFit/>
          </a:bodyPr>
          <a:lstStyle/>
          <a:p>
            <a:pPr algn="l"/>
            <a:r>
              <a:rPr sz="850" b="0" i="0">
                <a:solidFill>
                  <a:srgbClr val="555555"/>
                </a:solidFill>
                <a:latin typeface="Calibri"/>
              </a:rPr>
              <a:t>Le P/E affiche une compression multiple de 6.6x sur la période (19,6x → 13,0x), signal d’une réévaluation négative du profil de croissance. L’EV/EBITDA diverge à 9,1x vs 15,2x historique. Le CA 2025 atteint 2,321.8M$ (+5.4% YoY) avec une marge brute stable à 52.7%. Le levier opérationnel de +2.0pts sur l'EBITDA (41.6%) s'explique par l'effet volume et la mixité vers des solutions logicielles haute marge. Le ND/EBITDA de 1.1x et l'IntCov de 13.8x confirment une solidité financière permettant 500M$ de rachats ou dividendes.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Capital Returns &amp; Free Cash Flow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FDS · FCF yield, dividendes &amp; allocation du capital</a:t>
            </a:r>
          </a:p>
        </p:txBody>
      </p:sp>
      <p:sp>
        <p:nvSpPr>
          <p:cNvPr id="17" name="Rectangle 16"/>
          <p:cNvSpPr/>
          <p:nvPr/>
        </p:nvSpPr>
        <p:spPr>
          <a:xfrm>
            <a:off x="367200"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0800" y="871200"/>
            <a:ext cx="1900799" cy="234000"/>
          </a:xfrm>
          <a:prstGeom prst="rect">
            <a:avLst/>
          </a:prstGeom>
          <a:noFill/>
        </p:spPr>
        <p:txBody>
          <a:bodyPr wrap="square">
            <a:spAutoFit/>
          </a:bodyPr>
          <a:lstStyle/>
          <a:p>
            <a:pPr algn="l"/>
            <a:r>
              <a:rPr sz="1600" b="1" i="0">
                <a:solidFill>
                  <a:srgbClr val="1B3A6B"/>
                </a:solidFill>
                <a:latin typeface="Calibri"/>
              </a:rPr>
              <a:t>8,7 %</a:t>
            </a:r>
          </a:p>
        </p:txBody>
      </p:sp>
      <p:sp>
        <p:nvSpPr>
          <p:cNvPr id="20" name="TextBox 19"/>
          <p:cNvSpPr txBox="1"/>
          <p:nvPr/>
        </p:nvSpPr>
        <p:spPr>
          <a:xfrm>
            <a:off x="460800" y="1098000"/>
            <a:ext cx="1900799" cy="234000"/>
          </a:xfrm>
          <a:prstGeom prst="rect">
            <a:avLst/>
          </a:prstGeom>
          <a:noFill/>
        </p:spPr>
        <p:txBody>
          <a:bodyPr wrap="square">
            <a:spAutoFit/>
          </a:bodyPr>
          <a:lstStyle/>
          <a:p>
            <a:pPr algn="l"/>
            <a:r>
              <a:rPr sz="800" b="0" i="0">
                <a:solidFill>
                  <a:srgbClr val="555555"/>
                </a:solidFill>
                <a:latin typeface="Calibri"/>
              </a:rPr>
              <a:t>FCF Yield</a:t>
            </a:r>
          </a:p>
        </p:txBody>
      </p:sp>
      <p:sp>
        <p:nvSpPr>
          <p:cNvPr id="21" name="Rectangle 20"/>
          <p:cNvSpPr/>
          <p:nvPr/>
        </p:nvSpPr>
        <p:spPr>
          <a:xfrm>
            <a:off x="24479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479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41599" y="871200"/>
            <a:ext cx="1900799" cy="234000"/>
          </a:xfrm>
          <a:prstGeom prst="rect">
            <a:avLst/>
          </a:prstGeom>
          <a:noFill/>
        </p:spPr>
        <p:txBody>
          <a:bodyPr wrap="square">
            <a:spAutoFit/>
          </a:bodyPr>
          <a:lstStyle/>
          <a:p>
            <a:pPr algn="l"/>
            <a:r>
              <a:rPr sz="1600" b="1" i="0">
                <a:solidFill>
                  <a:srgbClr val="1B3A6B"/>
                </a:solidFill>
                <a:latin typeface="Calibri"/>
              </a:rPr>
              <a:t>677 M$</a:t>
            </a:r>
          </a:p>
        </p:txBody>
      </p:sp>
      <p:sp>
        <p:nvSpPr>
          <p:cNvPr id="24" name="TextBox 23"/>
          <p:cNvSpPr txBox="1"/>
          <p:nvPr/>
        </p:nvSpPr>
        <p:spPr>
          <a:xfrm>
            <a:off x="2541599" y="1098000"/>
            <a:ext cx="1900799" cy="234000"/>
          </a:xfrm>
          <a:prstGeom prst="rect">
            <a:avLst/>
          </a:prstGeom>
          <a:noFill/>
        </p:spPr>
        <p:txBody>
          <a:bodyPr wrap="square">
            <a:spAutoFit/>
          </a:bodyPr>
          <a:lstStyle/>
          <a:p>
            <a:pPr algn="l"/>
            <a:r>
              <a:rPr sz="800" b="0" i="0">
                <a:solidFill>
                  <a:srgbClr val="555555"/>
                </a:solidFill>
                <a:latin typeface="Calibri"/>
              </a:rPr>
              <a:t>FCF (LTM)</a:t>
            </a:r>
          </a:p>
        </p:txBody>
      </p:sp>
      <p:sp>
        <p:nvSpPr>
          <p:cNvPr id="25" name="Rectangle 24"/>
          <p:cNvSpPr/>
          <p:nvPr/>
        </p:nvSpPr>
        <p:spPr>
          <a:xfrm>
            <a:off x="45287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287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22399" y="871200"/>
            <a:ext cx="1900799" cy="234000"/>
          </a:xfrm>
          <a:prstGeom prst="rect">
            <a:avLst/>
          </a:prstGeom>
          <a:noFill/>
        </p:spPr>
        <p:txBody>
          <a:bodyPr wrap="square">
            <a:spAutoFit/>
          </a:bodyPr>
          <a:lstStyle/>
          <a:p>
            <a:pPr algn="l"/>
            <a:r>
              <a:rPr sz="1600" b="1" i="0">
                <a:solidFill>
                  <a:srgbClr val="1B3A6B"/>
                </a:solidFill>
                <a:latin typeface="Calibri"/>
              </a:rPr>
              <a:t>4,7 %</a:t>
            </a:r>
          </a:p>
        </p:txBody>
      </p:sp>
      <p:sp>
        <p:nvSpPr>
          <p:cNvPr id="28" name="TextBox 27"/>
          <p:cNvSpPr txBox="1"/>
          <p:nvPr/>
        </p:nvSpPr>
        <p:spPr>
          <a:xfrm>
            <a:off x="4622399" y="1098000"/>
            <a:ext cx="1900799" cy="234000"/>
          </a:xfrm>
          <a:prstGeom prst="rect">
            <a:avLst/>
          </a:prstGeom>
          <a:noFill/>
        </p:spPr>
        <p:txBody>
          <a:bodyPr wrap="square">
            <a:spAutoFit/>
          </a:bodyPr>
          <a:lstStyle/>
          <a:p>
            <a:pPr algn="l"/>
            <a:r>
              <a:rPr sz="800" b="0" i="0">
                <a:solidFill>
                  <a:srgbClr val="555555"/>
                </a:solidFill>
                <a:latin typeface="Calibri"/>
              </a:rPr>
              <a:t>Capex / Rev</a:t>
            </a:r>
          </a:p>
        </p:txBody>
      </p:sp>
      <p:sp>
        <p:nvSpPr>
          <p:cNvPr id="29" name="Rectangle 28"/>
          <p:cNvSpPr/>
          <p:nvPr/>
        </p:nvSpPr>
        <p:spPr>
          <a:xfrm>
            <a:off x="66095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095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03199" y="871200"/>
            <a:ext cx="1900799" cy="234000"/>
          </a:xfrm>
          <a:prstGeom prst="rect">
            <a:avLst/>
          </a:prstGeom>
          <a:noFill/>
        </p:spPr>
        <p:txBody>
          <a:bodyPr wrap="square">
            <a:spAutoFit/>
          </a:bodyPr>
          <a:lstStyle/>
          <a:p>
            <a:pPr algn="l"/>
            <a:r>
              <a:rPr sz="1600" b="1" i="0">
                <a:solidFill>
                  <a:srgbClr val="1B3A6B"/>
                </a:solidFill>
                <a:latin typeface="Calibri"/>
              </a:rPr>
              <a:t>50,3 %</a:t>
            </a:r>
          </a:p>
        </p:txBody>
      </p:sp>
      <p:sp>
        <p:nvSpPr>
          <p:cNvPr id="32" name="TextBox 31"/>
          <p:cNvSpPr txBox="1"/>
          <p:nvPr/>
        </p:nvSpPr>
        <p:spPr>
          <a:xfrm>
            <a:off x="6703199" y="1098000"/>
            <a:ext cx="1900799" cy="234000"/>
          </a:xfrm>
          <a:prstGeom prst="rect">
            <a:avLst/>
          </a:prstGeom>
          <a:noFill/>
        </p:spPr>
        <p:txBody>
          <a:bodyPr wrap="square">
            <a:spAutoFit/>
          </a:bodyPr>
          <a:lstStyle/>
          <a:p>
            <a:pPr algn="l"/>
            <a:r>
              <a:rPr sz="800" b="0" i="0">
                <a:solidFill>
                  <a:srgbClr val="555555"/>
                </a:solidFill>
                <a:latin typeface="Calibri"/>
              </a:rPr>
              <a:t>Div. Payout</a:t>
            </a:r>
          </a:p>
        </p:txBody>
      </p:sp>
      <p:pic>
        <p:nvPicPr>
          <p:cNvPr id="33" name="Picture 32" descr="image.png"/>
          <p:cNvPicPr>
            <a:picLocks noChangeAspect="1"/>
          </p:cNvPicPr>
          <p:nvPr/>
        </p:nvPicPr>
        <p:blipFill>
          <a:blip r:embed="rId2"/>
          <a:stretch>
            <a:fillRect/>
          </a:stretch>
        </p:blipFill>
        <p:spPr>
          <a:xfrm>
            <a:off x="367200" y="1512000"/>
            <a:ext cx="5220000" cy="2088000"/>
          </a:xfrm>
          <a:prstGeom prst="rect">
            <a:avLst/>
          </a:prstGeom>
        </p:spPr>
      </p:pic>
      <p:sp>
        <p:nvSpPr>
          <p:cNvPr id="34" name="TextBox 33"/>
          <p:cNvSpPr txBox="1"/>
          <p:nvPr/>
        </p:nvSpPr>
        <p:spPr>
          <a:xfrm>
            <a:off x="5832000" y="1512000"/>
            <a:ext cx="2951999" cy="180000"/>
          </a:xfrm>
          <a:prstGeom prst="rect">
            <a:avLst/>
          </a:prstGeom>
          <a:noFill/>
        </p:spPr>
        <p:txBody>
          <a:bodyPr wrap="square">
            <a:spAutoFit/>
          </a:bodyPr>
          <a:lstStyle/>
          <a:p>
            <a:pPr algn="l"/>
            <a:r>
              <a:rPr sz="800" b="1" i="0">
                <a:solidFill>
                  <a:srgbClr val="1B3A6B"/>
                </a:solidFill>
                <a:latin typeface="Calibri"/>
              </a:rPr>
              <a:t>ALLOCATION DU CAPITAL</a:t>
            </a:r>
          </a:p>
        </p:txBody>
      </p:sp>
      <p:graphicFrame>
        <p:nvGraphicFramePr>
          <p:cNvPr id="35" name="Table 34"/>
          <p:cNvGraphicFramePr>
            <a:graphicFrameLocks noGrp="1"/>
          </p:cNvGraphicFramePr>
          <p:nvPr/>
        </p:nvGraphicFramePr>
        <p:xfrm>
          <a:off x="5832000" y="1745999"/>
          <a:ext cx="2951995" cy="1008000"/>
        </p:xfrm>
        <a:graphic>
          <a:graphicData uri="http://schemas.openxmlformats.org/drawingml/2006/table">
            <a:tbl>
              <a:tblPr firstRow="1" bandRow="1">
                <a:tableStyleId>{5C22544A-7EE6-4342-B048-85BDC9FD1C3A}</a:tableStyleId>
              </a:tblPr>
              <a:tblGrid>
                <a:gridCol w="649439"/>
                <a:gridCol w="590399"/>
                <a:gridCol w="560879"/>
                <a:gridCol w="560879"/>
                <a:gridCol w="590399"/>
              </a:tblGrid>
              <a:tr h="201600">
                <a:tc>
                  <a:txBody>
                    <a:bodyPr/>
                    <a:lstStyle/>
                    <a:p>
                      <a:pPr algn="l"/>
                      <a:r>
                        <a:rPr sz="800" b="1" i="0">
                          <a:solidFill>
                            <a:srgbClr val="FFFFFF"/>
                          </a:solidFill>
                          <a:latin typeface="Calibri"/>
                        </a:rPr>
                        <a:t>Ann.</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FCF</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Yield</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Div%</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Capex%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475 M$</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545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37,8 %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607 M$</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677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50,3 %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36" name="Rectangle 35"/>
          <p:cNvSpPr/>
          <p:nvPr/>
        </p:nvSpPr>
        <p:spPr>
          <a:xfrm>
            <a:off x="367200" y="3708000"/>
            <a:ext cx="84132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7200" y="3708000"/>
            <a:ext cx="79200" cy="1007999"/>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75200" y="3736800"/>
            <a:ext cx="8298000" cy="971999"/>
          </a:xfrm>
          <a:prstGeom prst="rect">
            <a:avLst/>
          </a:prstGeom>
          <a:noFill/>
        </p:spPr>
        <p:txBody>
          <a:bodyPr wrap="square">
            <a:spAutoFit/>
          </a:bodyPr>
          <a:lstStyle/>
          <a:p>
            <a:pPr algn="l"/>
            <a:r>
              <a:rPr sz="850" b="0" i="0">
                <a:solidFill>
                  <a:srgbClr val="555555"/>
                </a:solidFill>
                <a:latin typeface="Calibri"/>
              </a:rPr>
              <a:t>Le FCF affiche une croissance de 201 M$ sur la période, avec un FCF yield actuel de 8,7 % — attractif pour un acheteur institutionnel. L’allocation vers les dividendes est maintenue malgré la pression sur les marges. Le CA 2025 atteint 2,321.8M$ (+5.4% YoY) avec une marge brute stable à 52.7%. Le levier opérationnel de +2.0pts sur l'EBITDA (41.6%) s'explique par l'effet volume et la mixité vers des solutions logicielles haute marge. Le ND/EBITDA de 1.1x et l'IntCov de 13.8x confirment une solidité financière permettant 500M$ de rachats ou dividendes.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LBO — Leveraged Buyout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FDS · Attractivité PE · Multiples d’entrée vs IRR cible</a:t>
            </a:r>
          </a:p>
        </p:txBody>
      </p:sp>
      <p:graphicFrame>
        <p:nvGraphicFramePr>
          <p:cNvPr id="17" name="Table 16"/>
          <p:cNvGraphicFramePr>
            <a:graphicFrameLocks noGrp="1"/>
          </p:cNvGraphicFramePr>
          <p:nvPr/>
        </p:nvGraphicFramePr>
        <p:xfrm>
          <a:off x="367200" y="900000"/>
          <a:ext cx="4860000" cy="1170000"/>
        </p:xfrm>
        <a:graphic>
          <a:graphicData uri="http://schemas.openxmlformats.org/drawingml/2006/table">
            <a:tbl>
              <a:tblPr firstRow="1" bandRow="1">
                <a:tableStyleId>{5C22544A-7EE6-4342-B048-85BDC9FD1C3A}</a:tableStyleId>
              </a:tblPr>
              <a:tblGrid>
                <a:gridCol w="1069200"/>
                <a:gridCol w="1263600"/>
                <a:gridCol w="1263600"/>
                <a:gridCol w="1263600"/>
              </a:tblGrid>
              <a:tr h="234000">
                <a:tc>
                  <a:txBody>
                    <a:bodyPr/>
                    <a:lstStyle/>
                    <a:p>
                      <a:pPr algn="l"/>
                      <a:r>
                        <a:rPr sz="800" b="1" i="0">
                          <a:solidFill>
                            <a:srgbClr val="FFFFFF"/>
                          </a:solidFill>
                          <a:latin typeface="Calibri"/>
                        </a:rPr>
                        <a:t>Entry mult.</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8x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10x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12x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16.0% / 2.1x</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22.4% / 2.8x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27.7% / 3.4x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7.0% / 1.4x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12.9% / 1.8x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17.8% / 2.3x</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 / 1.1x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6.6% / 1.4x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11.2% / 1.7x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 / 0.8x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 / 1.1x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6.3% / 1.4x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2592000"/>
            <a:ext cx="4860000" cy="180000"/>
          </a:xfrm>
          <a:prstGeom prst="rect">
            <a:avLst/>
          </a:prstGeom>
          <a:noFill/>
        </p:spPr>
        <p:txBody>
          <a:bodyPr wrap="square">
            <a:spAutoFit/>
          </a:bodyPr>
          <a:lstStyle/>
          <a:p>
            <a:pPr algn="l"/>
            <a:r>
              <a:rPr sz="750" b="0" i="0">
                <a:solidFill>
                  <a:srgbClr val="555555"/>
                </a:solidFill>
                <a:latin typeface="Calibri"/>
              </a:rPr>
              <a:t>Hypotheses : Levier 4x EBITDA · 5 ans holding · 50% remboursement dette · EBITDA +5%/an</a:t>
            </a:r>
          </a:p>
        </p:txBody>
      </p:sp>
      <p:sp>
        <p:nvSpPr>
          <p:cNvPr id="19" name="TextBox 18"/>
          <p:cNvSpPr txBox="1"/>
          <p:nvPr/>
        </p:nvSpPr>
        <p:spPr>
          <a:xfrm>
            <a:off x="367200" y="2754000"/>
            <a:ext cx="4860000" cy="180000"/>
          </a:xfrm>
          <a:prstGeom prst="rect">
            <a:avLst/>
          </a:prstGeom>
          <a:noFill/>
        </p:spPr>
        <p:txBody>
          <a:bodyPr wrap="square">
            <a:spAutoFit/>
          </a:bodyPr>
          <a:lstStyle/>
          <a:p>
            <a:pPr algn="l"/>
            <a:r>
              <a:rPr sz="750" b="0" i="0">
                <a:solidFill>
                  <a:srgbClr val="888888"/>
                </a:solidFill>
                <a:latin typeface="Calibri"/>
              </a:rPr>
              <a:t>Lecture : IRR / MOIC  ● vert ≥ 20%  ● ambre 15-20%  ● rouge &lt; 15%</a:t>
            </a:r>
          </a:p>
        </p:txBody>
      </p:sp>
      <p:sp>
        <p:nvSpPr>
          <p:cNvPr id="20" name="TextBox 19"/>
          <p:cNvSpPr txBox="1"/>
          <p:nvPr/>
        </p:nvSpPr>
        <p:spPr>
          <a:xfrm>
            <a:off x="5472000" y="900000"/>
            <a:ext cx="3311999" cy="180000"/>
          </a:xfrm>
          <a:prstGeom prst="rect">
            <a:avLst/>
          </a:prstGeom>
          <a:noFill/>
        </p:spPr>
        <p:txBody>
          <a:bodyPr wrap="square">
            <a:spAutoFit/>
          </a:bodyPr>
          <a:lstStyle/>
          <a:p>
            <a:pPr algn="l"/>
            <a:r>
              <a:rPr sz="800" b="1" i="0">
                <a:solidFill>
                  <a:srgbClr val="1B3A6B"/>
                </a:solidFill>
                <a:latin typeface="Calibri"/>
              </a:rPr>
              <a:t>HYPOTHÈSES &amp; STRUCTURE LBO</a:t>
            </a:r>
          </a:p>
        </p:txBody>
      </p:sp>
      <p:graphicFrame>
        <p:nvGraphicFramePr>
          <p:cNvPr id="21" name="Table 20"/>
          <p:cNvGraphicFramePr>
            <a:graphicFrameLocks noGrp="1"/>
          </p:cNvGraphicFramePr>
          <p:nvPr/>
        </p:nvGraphicFramePr>
        <p:xfrm>
          <a:off x="5472000" y="1116000"/>
          <a:ext cx="3311998" cy="1602000"/>
        </p:xfrm>
        <a:graphic>
          <a:graphicData uri="http://schemas.openxmlformats.org/drawingml/2006/table">
            <a:tbl>
              <a:tblPr firstRow="1" bandRow="1">
                <a:tableStyleId>{5C22544A-7EE6-4342-B048-85BDC9FD1C3A}</a:tableStyleId>
              </a:tblPr>
              <a:tblGrid>
                <a:gridCol w="1722239"/>
                <a:gridCol w="1589759"/>
              </a:tblGrid>
              <a:tr h="20025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EBITDA LTM</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966 M$</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FCF LTM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677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Levier 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4x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Dette entrée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EBITDA exit (est.)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Holding</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 ans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IRR cible 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 20%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2" name="Rectangle 21"/>
          <p:cNvSpPr/>
          <p:nvPr/>
        </p:nvSpPr>
        <p:spPr>
          <a:xfrm>
            <a:off x="5472000" y="3096000"/>
            <a:ext cx="3311999" cy="1007999"/>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72000" y="3096000"/>
            <a:ext cx="72000" cy="1007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580000" y="3131999"/>
            <a:ext cx="3168000" cy="162000"/>
          </a:xfrm>
          <a:prstGeom prst="rect">
            <a:avLst/>
          </a:prstGeom>
          <a:noFill/>
        </p:spPr>
        <p:txBody>
          <a:bodyPr wrap="square">
            <a:spAutoFit/>
          </a:bodyPr>
          <a:lstStyle/>
          <a:p>
            <a:pPr algn="l"/>
            <a:r>
              <a:rPr sz="750" b="1" i="0">
                <a:solidFill>
                  <a:srgbClr val="B06000"/>
                </a:solidFill>
                <a:latin typeface="Calibri"/>
              </a:rPr>
              <a:t>NOTE MÉTHODOLOGIQUE</a:t>
            </a:r>
          </a:p>
        </p:txBody>
      </p:sp>
      <p:sp>
        <p:nvSpPr>
          <p:cNvPr id="25" name="TextBox 24"/>
          <p:cNvSpPr txBox="1"/>
          <p:nvPr/>
        </p:nvSpPr>
        <p:spPr>
          <a:xfrm>
            <a:off x="5580000" y="3294000"/>
            <a:ext cx="3168000" cy="792000"/>
          </a:xfrm>
          <a:prstGeom prst="rect">
            <a:avLst/>
          </a:prstGeom>
          <a:noFill/>
        </p:spPr>
        <p:txBody>
          <a:bodyPr wrap="square">
            <a:spAutoFit/>
          </a:bodyPr>
          <a:lstStyle/>
          <a:p>
            <a:pPr algn="l"/>
            <a:r>
              <a:rPr sz="800" b="0" i="0">
                <a:solidFill>
                  <a:srgbClr val="555555"/>
                </a:solidFill>
                <a:latin typeface="Calibri"/>
              </a:rPr>
              <a:t>Analyse indicative uniquement. Le LBO assume un rachat 100% equity par un fonds PE. La dette est remboursée par le FCF de la cible. L'IRR ne tient pas compte des frais de transaction ni de la structure fiscale optimisée. Un IRR ≥ 20% est le seuil standard d'un fonds PE tier-1.</a:t>
            </a:r>
          </a:p>
        </p:txBody>
      </p:sp>
      <p:sp>
        <p:nvSpPr>
          <p:cNvPr id="26" name="Rectangle 25"/>
          <p:cNvSpPr/>
          <p:nvPr/>
        </p:nvSpPr>
        <p:spPr>
          <a:xfrm>
            <a:off x="367200" y="4176000"/>
            <a:ext cx="84132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67200" y="4176000"/>
            <a:ext cx="79200" cy="57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5200" y="4204800"/>
            <a:ext cx="8298000" cy="540000"/>
          </a:xfrm>
          <a:prstGeom prst="rect">
            <a:avLst/>
          </a:prstGeom>
          <a:noFill/>
        </p:spPr>
        <p:txBody>
          <a:bodyPr wrap="square">
            <a:spAutoFit/>
          </a:bodyPr>
          <a:lstStyle/>
          <a:p>
            <a:pPr algn="l"/>
            <a:r>
              <a:rPr sz="850" b="0" i="0">
                <a:solidFill>
                  <a:srgbClr val="555555"/>
                </a:solidFill>
                <a:latin typeface="Calibri"/>
              </a:rPr>
              <a:t>A 10x EBITDA d'entrée / 10x de sortie, le LBO génère un IRR de 12.9% (MOIC 1.8x en 5 ans) — attractivité PE jugée insuffisante. Un fonds tier-1 ciblant 20%+ d'IRR doit entrer en dessous de 8x EBITDA. La génération de FCF (677 M$) est le principal levier de remboursement de la dette.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396000"/>
          </a:xfrm>
          <a:prstGeom prst="rect">
            <a:avLst/>
          </a:prstGeom>
          <a:noFill/>
        </p:spPr>
        <p:txBody>
          <a:bodyPr wrap="square">
            <a:spAutoFit/>
          </a:bodyPr>
          <a:lstStyle/>
          <a:p>
            <a:pPr algn="l"/>
            <a:r>
              <a:rPr sz="900" b="1" i="0">
                <a:solidFill>
                  <a:srgbClr val="A82020"/>
                </a:solidFill>
                <a:latin typeface="Calibri"/>
              </a:rPr>
              <a:t>Désabonnement massif</a:t>
            </a:r>
          </a:p>
        </p:txBody>
      </p:sp>
      <p:sp>
        <p:nvSpPr>
          <p:cNvPr id="20" name="TextBox 19"/>
          <p:cNvSpPr txBox="1"/>
          <p:nvPr/>
        </p:nvSpPr>
        <p:spPr>
          <a:xfrm>
            <a:off x="475200" y="1537199"/>
            <a:ext cx="2527200" cy="1260000"/>
          </a:xfrm>
          <a:prstGeom prst="rect">
            <a:avLst/>
          </a:prstGeom>
          <a:noFill/>
        </p:spPr>
        <p:txBody>
          <a:bodyPr wrap="square">
            <a:spAutoFit/>
          </a:bodyPr>
          <a:lstStyle/>
          <a:p>
            <a:pPr algn="l"/>
            <a:r>
              <a:rPr sz="800" b="0" i="0">
                <a:solidFill>
                  <a:srgbClr val="555555"/>
                </a:solidFill>
                <a:latin typeface="Calibri"/>
              </a:rPr>
              <a:t>La dépendance aux abonnements (90% des revenus) expose FactSet à un risque de désabonnement massif si les clients réduisent leurs budgets data, surtout avec l'inflation des coûts cloud chez les hedge funds et asset managers. Les marges à 52.7% reposent sur des tarifs élevés, mais la concurrence de Bloomberg Terminal (marges 60%) et Refinitiv (marges 55%) pourrait éroder les prix. Les 5.4% de</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396000"/>
          </a:xfrm>
          <a:prstGeom prst="rect">
            <a:avLst/>
          </a:prstGeom>
          <a:noFill/>
        </p:spPr>
        <p:txBody>
          <a:bodyPr wrap="square">
            <a:spAutoFit/>
          </a:bodyPr>
          <a:lstStyle/>
          <a:p>
            <a:pPr algn="l"/>
            <a:r>
              <a:rPr sz="900" b="1" i="0">
                <a:solidFill>
                  <a:srgbClr val="2E5FA3"/>
                </a:solidFill>
                <a:latin typeface="Calibri"/>
              </a:rPr>
              <a:t>Dette insoutenable</a:t>
            </a:r>
          </a:p>
        </p:txBody>
      </p:sp>
      <p:sp>
        <p:nvSpPr>
          <p:cNvPr id="24" name="TextBox 23"/>
          <p:cNvSpPr txBox="1"/>
          <p:nvPr/>
        </p:nvSpPr>
        <p:spPr>
          <a:xfrm>
            <a:off x="3337200" y="1537199"/>
            <a:ext cx="2527200" cy="1260000"/>
          </a:xfrm>
          <a:prstGeom prst="rect">
            <a:avLst/>
          </a:prstGeom>
          <a:noFill/>
        </p:spPr>
        <p:txBody>
          <a:bodyPr wrap="square">
            <a:spAutoFit/>
          </a:bodyPr>
          <a:lstStyle/>
          <a:p>
            <a:pPr algn="l"/>
            <a:r>
              <a:rPr sz="800" b="0" i="0">
                <a:solidFill>
                  <a:srgbClr val="555555"/>
                </a:solidFill>
                <a:latin typeface="Calibri"/>
              </a:rPr>
              <a:t>Les coûts d'acquisition client explosent avec des dépenses marketing en hausse de 12% en 2024, réduisant la rentabilité nette à 25.7% malgré un ROE théorique de 27.3%. Les 1.07x de dette nette/EBITDA masquent des engagements financiers lourds pour des rachats d'actions (500M$ en 2023), fragilisant la trésorerie face à une remontée des taux. L'EV/EBITDA à 9.12x est élevé comparé à des peers comme</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396000"/>
          </a:xfrm>
          <a:prstGeom prst="rect">
            <a:avLst/>
          </a:prstGeom>
          <a:noFill/>
        </p:spPr>
        <p:txBody>
          <a:bodyPr wrap="square">
            <a:spAutoFit/>
          </a:bodyPr>
          <a:lstStyle/>
          <a:p>
            <a:pPr algn="l"/>
            <a:r>
              <a:rPr sz="900" b="1" i="0">
                <a:solidFill>
                  <a:srgbClr val="B06000"/>
                </a:solidFill>
                <a:latin typeface="Calibri"/>
              </a:rPr>
              <a:t>Régulation destructrice</a:t>
            </a:r>
          </a:p>
        </p:txBody>
      </p:sp>
      <p:sp>
        <p:nvSpPr>
          <p:cNvPr id="28" name="TextBox 27"/>
          <p:cNvSpPr txBox="1"/>
          <p:nvPr/>
        </p:nvSpPr>
        <p:spPr>
          <a:xfrm>
            <a:off x="6199200" y="1537199"/>
            <a:ext cx="2527200" cy="1260000"/>
          </a:xfrm>
          <a:prstGeom prst="rect">
            <a:avLst/>
          </a:prstGeom>
          <a:noFill/>
        </p:spPr>
        <p:txBody>
          <a:bodyPr wrap="square">
            <a:spAutoFit/>
          </a:bodyPr>
          <a:lstStyle/>
          <a:p>
            <a:pPr algn="l"/>
            <a:r>
              <a:rPr sz="800" b="0" i="0">
                <a:solidFill>
                  <a:srgbClr val="555555"/>
                </a:solidFill>
                <a:latin typeface="Calibri"/>
              </a:rPr>
              <a:t>Le score Altman Z de 4.87 suggère une santé financière solide, mais ignore les risques sectoriels : la régulation européenne (DMA) pourrait forcer l'ouverture des données, réduisant les barrières à l'entrée. Les 27.3% de ROE sont gonflés par un levier financier excessif, avec un ratio dette/capitaux propres de 2.1x, bien au-dessus de la moyenne sectorielle de 1.4x, exposant à un choc de</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économique mondiale réduisant les actifs sous gestion de -15%</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Baisse des dépenses en données financières de -10% chez les hedge funds</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Échec de l'intégration d'une acquisition majeure dans les données alternatives</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38800"/>
            <a:ext cx="2696400" cy="158400"/>
          </a:xfrm>
          <a:prstGeom prst="rect">
            <a:avLst/>
          </a:prstGeom>
          <a:noFill/>
        </p:spPr>
        <p:txBody>
          <a:bodyPr wrap="square">
            <a:spAutoFit/>
          </a:bodyPr>
          <a:lstStyle/>
          <a:p>
            <a:pPr algn="l"/>
            <a:r>
              <a:rPr sz="700" b="0" i="0">
                <a:solidFill>
                  <a:srgbClr val="1B3A6B"/>
                </a:solidFill>
                <a:latin typeface="Calibri"/>
              </a:rPr>
              <a:t>Détresse : 0/100  Sain</a:t>
            </a:r>
          </a:p>
        </p:txBody>
      </p:sp>
      <p:sp>
        <p:nvSpPr>
          <p:cNvPr id="35" name="Rectangle 34"/>
          <p:cNvSpPr/>
          <p:nvPr/>
        </p:nvSpPr>
        <p:spPr>
          <a:xfrm>
            <a:off x="324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38800"/>
            <a:ext cx="2696400" cy="158400"/>
          </a:xfrm>
          <a:prstGeom prst="rect">
            <a:avLst/>
          </a:prstGeom>
          <a:noFill/>
        </p:spPr>
        <p:txBody>
          <a:bodyPr wrap="square">
            <a:spAutoFit/>
          </a:bodyPr>
          <a:lstStyle/>
          <a:p>
            <a:pPr algn="l"/>
            <a:r>
              <a:rPr sz="700" b="0" i="0">
                <a:solidFill>
                  <a:srgbClr val="1B3A6B"/>
                </a:solidFill>
                <a:latin typeface="Calibri"/>
              </a:rPr>
              <a:t>M&amp;A : 64/100  Attractive</a:t>
            </a:r>
          </a:p>
        </p:txBody>
      </p:sp>
      <p:sp>
        <p:nvSpPr>
          <p:cNvPr id="38" name="Rectangle 37"/>
          <p:cNvSpPr/>
          <p:nvPr/>
        </p:nvSpPr>
        <p:spPr>
          <a:xfrm>
            <a:off x="612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38800"/>
            <a:ext cx="2696400" cy="158400"/>
          </a:xfrm>
          <a:prstGeom prst="rect">
            <a:avLst/>
          </a:prstGeom>
          <a:noFill/>
        </p:spPr>
        <p:txBody>
          <a:bodyPr wrap="square">
            <a:spAutoFit/>
          </a:bodyPr>
          <a:lstStyle/>
          <a:p>
            <a:pPr algn="l"/>
            <a:r>
              <a:rPr sz="700" b="0" i="0">
                <a:solidFill>
                  <a:srgbClr val="1B3A6B"/>
                </a:solidFill>
                <a:latin typeface="Calibri"/>
              </a:rPr>
              <a:t>Régime : Bull  Rec.6M:10%</a:t>
            </a:r>
          </a:p>
        </p:txBody>
      </p:sp>
      <p:sp>
        <p:nvSpPr>
          <p:cNvPr id="41" name="Rectangle 40"/>
          <p:cNvSpPr/>
          <p:nvPr/>
        </p:nvSpPr>
        <p:spPr>
          <a:xfrm>
            <a:off x="3672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6400" y="4629600"/>
            <a:ext cx="2696400" cy="158400"/>
          </a:xfrm>
          <a:prstGeom prst="rect">
            <a:avLst/>
          </a:prstGeom>
          <a:noFill/>
        </p:spPr>
        <p:txBody>
          <a:bodyPr wrap="square">
            <a:spAutoFit/>
          </a:bodyPr>
          <a:lstStyle/>
          <a:p>
            <a:pPr algn="l"/>
            <a:r>
              <a:rPr sz="700" b="0" i="0">
                <a:solidFill>
                  <a:srgbClr val="1B3A6B"/>
                </a:solidFill>
                <a:latin typeface="Calibri"/>
              </a:rPr>
              <a:t>Earnings Qualité : Excellente (1.13x)</a:t>
            </a:r>
          </a:p>
        </p:txBody>
      </p:sp>
      <p:sp>
        <p:nvSpPr>
          <p:cNvPr id="44" name="Rectangle 43"/>
          <p:cNvSpPr/>
          <p:nvPr/>
        </p:nvSpPr>
        <p:spPr>
          <a:xfrm>
            <a:off x="324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24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22800" y="4629600"/>
            <a:ext cx="2696400" cy="158400"/>
          </a:xfrm>
          <a:prstGeom prst="rect">
            <a:avLst/>
          </a:prstGeom>
          <a:noFill/>
        </p:spPr>
        <p:txBody>
          <a:bodyPr wrap="square">
            <a:spAutoFit/>
          </a:bodyPr>
          <a:lstStyle/>
          <a:p>
            <a:pPr algn="l"/>
            <a:r>
              <a:rPr sz="700" b="0" i="0">
                <a:solidFill>
                  <a:srgbClr val="1B3A6B"/>
                </a:solidFill>
                <a:latin typeface="Calibri"/>
              </a:rPr>
              <a:t>Struct. Capital : Saine (0% CT)</a:t>
            </a:r>
          </a:p>
        </p:txBody>
      </p:sp>
      <p:sp>
        <p:nvSpPr>
          <p:cNvPr id="47" name="Rectangle 46"/>
          <p:cNvSpPr/>
          <p:nvPr/>
        </p:nvSpPr>
        <p:spPr>
          <a:xfrm>
            <a:off x="612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02800" y="4629600"/>
            <a:ext cx="2696400" cy="158400"/>
          </a:xfrm>
          <a:prstGeom prst="rect">
            <a:avLst/>
          </a:prstGeom>
          <a:noFill/>
        </p:spPr>
        <p:txBody>
          <a:bodyPr wrap="square">
            <a:spAutoFit/>
          </a:bodyPr>
          <a:lstStyle/>
          <a:p>
            <a:pPr algn="l"/>
            <a:r>
              <a:rPr sz="700" b="0" i="0">
                <a:solidFill>
                  <a:srgbClr val="1B3A6B"/>
                </a:solidFill>
                <a:latin typeface="Calibri"/>
              </a:rPr>
              <a:t>Dividende : Tres soutenable (2.2x)</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LLM Groq</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  ·  Classification LLM</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-0,000</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38,8 %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LLM Groq</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8</a:t>
                      </a:r>
                    </a:p>
                  </a:txBody>
                  <a:tcPr>
                    <a:solidFill>
                      <a:srgbClr val="EAF4EF"/>
                    </a:solidFill>
                  </a:tcPr>
                </a:tc>
                <a:tc>
                  <a:txBody>
                    <a:bodyPr/>
                    <a:lstStyle/>
                    <a:p>
                      <a:pPr algn="ctr"/>
                      <a:r>
                        <a:rPr sz="800" b="0" i="0">
                          <a:solidFill>
                            <a:srgbClr val="0D0D0D"/>
                          </a:solidFill>
                          <a:latin typeface="Calibri"/>
                        </a:rPr>
                        <a:t>+0,306</a:t>
                      </a:r>
                    </a:p>
                  </a:txBody>
                  <a:tcPr>
                    <a:solidFill>
                      <a:srgbClr val="EAF4EF"/>
                    </a:solidFill>
                  </a:tcPr>
                </a:tc>
                <a:tc>
                  <a:txBody>
                    <a:bodyPr/>
                    <a:lstStyle/>
                    <a:p>
                      <a:pPr algn="ctr"/>
                      <a:r>
                        <a:rPr sz="800" b="0" i="0">
                          <a:solidFill>
                            <a:srgbClr val="0D0D0D"/>
                          </a:solidFill>
                          <a:latin typeface="Calibri"/>
                        </a:rPr>
                        <a:t>Adoption croissante de l'IA dans la gestion d'actifs d'ici 2027, générant +300M$ de revenus annuels supplémentaires</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12</a:t>
                      </a:r>
                    </a:p>
                  </a:txBody>
                  <a:tcPr>
                    <a:solidFill>
                      <a:srgbClr val="FFFFFF"/>
                    </a:solidFill>
                  </a:tcPr>
                </a:tc>
                <a:tc>
                  <a:txBody>
                    <a:bodyPr/>
                    <a:lstStyle/>
                    <a:p>
                      <a:pPr algn="ctr"/>
                      <a:r>
                        <a:rPr sz="800" b="0" i="0">
                          <a:solidFill>
                            <a:srgbClr val="0D0D0D"/>
                          </a:solidFill>
                          <a:latin typeface="Calibri"/>
                        </a:rPr>
                        <a:t>+0,388</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10</a:t>
                      </a:r>
                    </a:p>
                  </a:txBody>
                  <a:tcPr>
                    <a:solidFill>
                      <a:srgbClr val="FAF0EF"/>
                    </a:solidFill>
                  </a:tcPr>
                </a:tc>
                <a:tc>
                  <a:txBody>
                    <a:bodyPr/>
                    <a:lstStyle/>
                    <a:p>
                      <a:pPr algn="ctr"/>
                      <a:r>
                        <a:rPr sz="800" b="0" i="0">
                          <a:solidFill>
                            <a:srgbClr val="0D0D0D"/>
                          </a:solidFill>
                          <a:latin typeface="Calibri"/>
                        </a:rPr>
                        <a:t>+0,306</a:t>
                      </a:r>
                    </a:p>
                  </a:txBody>
                  <a:tcPr>
                    <a:solidFill>
                      <a:srgbClr val="FAF0EF"/>
                    </a:solidFill>
                  </a:tcPr>
                </a:tc>
                <a:tc>
                  <a:txBody>
                    <a:bodyPr/>
                    <a:lstStyle/>
                    <a:p>
                      <a:pPr algn="ctr"/>
                      <a:r>
                        <a:rPr sz="800" b="0" i="0">
                          <a:solidFill>
                            <a:srgbClr val="0D0D0D"/>
                          </a:solidFill>
                          <a:latin typeface="Calibri"/>
                        </a:rPr>
                        <a:t>Ralentissement des marchés financiers réduisant les dépenses en données et logiciels de -2% à -4% en 2026</a:t>
                      </a:r>
                    </a:p>
                  </a:txBody>
                  <a:tcPr>
                    <a:solidFill>
                      <a:srgbClr val="FAF0EF"/>
                    </a:solidFill>
                  </a:tcPr>
                </a:tc>
              </a:tr>
            </a:tbl>
          </a:graphicData>
        </a:graphic>
      </p:graphicFrame>
      <p:sp>
        <p:nvSpPr>
          <p:cNvPr id="39" name="TextBox 38"/>
          <p:cNvSpPr txBox="1"/>
          <p:nvPr/>
        </p:nvSpPr>
        <p:spPr>
          <a:xfrm>
            <a:off x="367200" y="4140000"/>
            <a:ext cx="8413200" cy="630000"/>
          </a:xfrm>
          <a:prstGeom prst="rect">
            <a:avLst/>
          </a:prstGeom>
          <a:noFill/>
        </p:spPr>
        <p:txBody>
          <a:bodyPr wrap="square">
            <a:spAutoFit/>
          </a:bodyPr>
          <a:lstStyle/>
          <a:p>
            <a:pPr algn="l"/>
            <a:r>
              <a:rPr sz="850" b="0" i="0">
                <a:solidFill>
                  <a:srgbClr val="333333"/>
                </a:solidFill>
                <a:latin typeface="Calibri"/>
              </a:rPr>
              <a:t>La presse financière souligne la résilience de FactSet (FDS) avec des perspectives long terme valorisées, mais le changement de CFO et les titres non liés à FDS dominent les discussions. Les analyses sur FDS restent globalement positives malgré quelques titres neutres ou négatifs sans impact direct sur l'action.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10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FactSet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BAMCO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LOOMIS SAYLES &amp; CO L P</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Ninety One UK Ltd</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Wells Fargo &amp; Company</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55.1 %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55.1 %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Rectangle 20"/>
          <p:cNvSpPr/>
          <p:nvPr/>
        </p:nvSpPr>
        <p:spPr>
          <a:xfrm>
            <a:off x="367200" y="3326400"/>
            <a:ext cx="8413200" cy="14436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3326400"/>
            <a:ext cx="79200" cy="144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5200" y="3355200"/>
            <a:ext cx="8298000" cy="1407600"/>
          </a:xfrm>
          <a:prstGeom prst="rect">
            <a:avLst/>
          </a:prstGeom>
          <a:noFill/>
        </p:spPr>
        <p:txBody>
          <a:bodyPr wrap="square">
            <a:spAutoFit/>
          </a:bodyPr>
          <a:lstStyle/>
          <a:p>
            <a:pPr algn="l"/>
            <a:r>
              <a:rPr sz="850" b="0" i="0">
                <a:solidFill>
                  <a:srgbClr val="555555"/>
                </a:solidFill>
                <a:latin typeface="Calibri"/>
              </a:rPr>
              <a:t>FDS se négocie à 9.1x EV/EBITDA vs une médiane peers de 11.2x, soit une décote de 19%. Le P/E de 13.0x reflète une valorisation modérée malgré une croissance supérieure. FDS affiche un EV/EBITDA de 9.1x vs une médiane peers de 11.2x (-19%), et un P/E de 13.0x vs 15.2x (-14%). Cette décote est justifiée par une croissance organique supérieure (+5.4% vs +4.1% peers) et des marges EBITDA en expansion. Une convergence vers la médiane peers implique un upside de +15% sur l'EV/EBITDA. FactSet bénéficie d'une croissance organique de 5.4% YoY en 2025 avec un levier opérationnel de +2.0pts de marge EBITDA grâce au mix SaaS L'entreprise affiche un ROIC de 20.6% et un ND/EBITDA de 1.1x, offrant une flexibilité financière pour des acquisitions ciblées La transition vers l'IA et les données alternatives génère un potentiel de +300M$ de revenus annuels d'ici 2027. FactSet Research Systems Inc. (FDS) affiche une résilience opérationnelle solide avec des marges en expansion et une croissance organique soutenue. Le modèle économique axé sur les données financières et l'IA positionne l'entreprise comme un leader incontesté du secteur.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FDS  ·  USD  ·  Au 10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213,52 $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451,70 $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213,52 $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-52,7 %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Cours en repli de -52,7 % sur 12 mois</a:t>
            </a:r>
          </a:p>
        </p:txBody>
      </p:sp>
      <p:pic>
        <p:nvPicPr>
          <p:cNvPr id="34" name="Picture 33" descr="image.png"/>
          <p:cNvPicPr>
            <a:picLocks noChangeAspect="1"/>
          </p:cNvPicPr>
          <p:nvPr/>
        </p:nvPicPr>
        <p:blipFill>
          <a:blip r:embed="rId2"/>
          <a:stretch>
            <a:fillRect/>
          </a:stretch>
        </p:blipFill>
        <p:spPr>
          <a:xfrm>
            <a:off x="367200" y="2102400"/>
            <a:ext cx="8413200" cy="1828800"/>
          </a:xfrm>
          <a:prstGeom prst="rect">
            <a:avLst/>
          </a:prstGeom>
        </p:spPr>
      </p:pic>
      <p:sp>
        <p:nvSpPr>
          <p:cNvPr id="35" name="Rectangle 34"/>
          <p:cNvSpPr/>
          <p:nvPr/>
        </p:nvSpPr>
        <p:spPr>
          <a:xfrm>
            <a:off x="367200" y="4158000"/>
            <a:ext cx="8413200" cy="6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7200" y="4158000"/>
            <a:ext cx="792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75200" y="4186800"/>
            <a:ext cx="8298000" cy="612000"/>
          </a:xfrm>
          <a:prstGeom prst="rect">
            <a:avLst/>
          </a:prstGeom>
          <a:noFill/>
        </p:spPr>
        <p:txBody>
          <a:bodyPr wrap="square">
            <a:spAutoFit/>
          </a:bodyPr>
          <a:lstStyle/>
          <a:p>
            <a:pPr algn="l"/>
            <a:r>
              <a:rPr sz="850" b="0" i="0">
                <a:solidFill>
                  <a:srgbClr val="555555"/>
                </a:solidFill>
                <a:latin typeface="Calibri"/>
              </a:rPr>
              <a:t>FactSet Research Systems Inc. (FDS) affiche une résilience opérationnelle solide avec des marges en expansion et une croissance organique soutenue. Le modèle économique axé sur les données financières et l'IA positionne l'entreprise comme un leader incontesté du secteur.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Conviction &amp; Thèse d’Investissement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FDS  ·  FinSight IA  ·  Rapport 10 avril 2026</a:t>
            </a:r>
          </a:p>
        </p:txBody>
      </p:sp>
      <p:sp>
        <p:nvSpPr>
          <p:cNvPr id="17" name="Rectangle 16"/>
          <p:cNvSpPr/>
          <p:nvPr/>
        </p:nvSpPr>
        <p:spPr>
          <a:xfrm>
            <a:off x="324000" y="827999"/>
            <a:ext cx="2700000" cy="1260000"/>
          </a:xfrm>
          <a:prstGeom prst="rect">
            <a:avLst/>
          </a:prstGeom>
          <a:solidFill>
            <a:srgbClr val="E8F5E9"/>
          </a:solidFill>
          <a:ln w="25400">
            <a:solidFill>
              <a:srgbClr val="1A7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4000" y="864000"/>
            <a:ext cx="2700000" cy="396000"/>
          </a:xfrm>
          <a:prstGeom prst="rect">
            <a:avLst/>
          </a:prstGeom>
          <a:noFill/>
        </p:spPr>
        <p:txBody>
          <a:bodyPr wrap="square">
            <a:spAutoFit/>
          </a:bodyPr>
          <a:lstStyle/>
          <a:p>
            <a:pPr algn="ctr"/>
            <a:r>
              <a:rPr sz="3600" b="1" i="0">
                <a:solidFill>
                  <a:srgbClr val="1A7A4A"/>
                </a:solidFill>
                <a:latin typeface="Calibri"/>
              </a:rPr>
              <a:t>BUY</a:t>
            </a:r>
          </a:p>
        </p:txBody>
      </p:sp>
      <p:sp>
        <p:nvSpPr>
          <p:cNvPr id="19" name="TextBox 18"/>
          <p:cNvSpPr txBox="1"/>
          <p:nvPr/>
        </p:nvSpPr>
        <p:spPr>
          <a:xfrm>
            <a:off x="324000" y="1278000"/>
            <a:ext cx="2700000" cy="198000"/>
          </a:xfrm>
          <a:prstGeom prst="rect">
            <a:avLst/>
          </a:prstGeom>
          <a:noFill/>
        </p:spPr>
        <p:txBody>
          <a:bodyPr wrap="square">
            <a:spAutoFit/>
          </a:bodyPr>
          <a:lstStyle/>
          <a:p>
            <a:pPr algn="ctr"/>
            <a:r>
              <a:rPr sz="1100" b="0" i="0">
                <a:solidFill>
                  <a:srgbClr val="555555"/>
                </a:solidFill>
                <a:latin typeface="Calibri"/>
              </a:rPr>
              <a:t>Conviction : 78%</a:t>
            </a:r>
          </a:p>
        </p:txBody>
      </p:sp>
      <p:sp>
        <p:nvSpPr>
          <p:cNvPr id="20" name="TextBox 19"/>
          <p:cNvSpPr txBox="1"/>
          <p:nvPr/>
        </p:nvSpPr>
        <p:spPr>
          <a:xfrm>
            <a:off x="324000" y="1494000"/>
            <a:ext cx="2700000" cy="198000"/>
          </a:xfrm>
          <a:prstGeom prst="rect">
            <a:avLst/>
          </a:prstGeom>
          <a:noFill/>
        </p:spPr>
        <p:txBody>
          <a:bodyPr wrap="square">
            <a:spAutoFit/>
          </a:bodyPr>
          <a:lstStyle/>
          <a:p>
            <a:pPr algn="ctr"/>
            <a:r>
              <a:rPr sz="850" b="0" i="0">
                <a:solidFill>
                  <a:srgbClr val="555555"/>
                </a:solidFill>
                <a:latin typeface="Calibri"/>
              </a:rPr>
              <a:t>10 avril 2026</a:t>
            </a:r>
          </a:p>
        </p:txBody>
      </p:sp>
      <p:sp>
        <p:nvSpPr>
          <p:cNvPr id="21" name="Rectangle 20"/>
          <p:cNvSpPr/>
          <p:nvPr/>
        </p:nvSpPr>
        <p:spPr>
          <a:xfrm>
            <a:off x="324000" y="2196000"/>
            <a:ext cx="2700000" cy="1980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2196000"/>
            <a:ext cx="2106000" cy="19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051999"/>
            <a:ext cx="2700000" cy="136800"/>
          </a:xfrm>
          <a:prstGeom prst="rect">
            <a:avLst/>
          </a:prstGeom>
          <a:noFill/>
        </p:spPr>
        <p:txBody>
          <a:bodyPr wrap="square">
            <a:spAutoFit/>
          </a:bodyPr>
          <a:lstStyle/>
          <a:p>
            <a:pPr algn="l"/>
            <a:r>
              <a:rPr sz="700" b="1" i="0">
                <a:solidFill>
                  <a:srgbClr val="1B3A6B"/>
                </a:solidFill>
                <a:latin typeface="Calibri"/>
              </a:rPr>
              <a:t>NIVEAU DE CONVICTION</a:t>
            </a:r>
          </a:p>
        </p:txBody>
      </p:sp>
      <p:sp>
        <p:nvSpPr>
          <p:cNvPr id="24" name="Rectangle 23"/>
          <p:cNvSpPr/>
          <p:nvPr/>
        </p:nvSpPr>
        <p:spPr>
          <a:xfrm>
            <a:off x="324000" y="2520000"/>
            <a:ext cx="2700000" cy="27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0000" y="2538000"/>
            <a:ext cx="2628000" cy="234000"/>
          </a:xfrm>
          <a:prstGeom prst="rect">
            <a:avLst/>
          </a:prstGeom>
          <a:noFill/>
        </p:spPr>
        <p:txBody>
          <a:bodyPr wrap="square">
            <a:spAutoFit/>
          </a:bodyPr>
          <a:lstStyle/>
          <a:p>
            <a:pPr algn="l"/>
            <a:r>
              <a:rPr sz="850" b="1" i="0">
                <a:solidFill>
                  <a:srgbClr val="1A7A4A"/>
                </a:solidFill>
                <a:latin typeface="Calibri"/>
              </a:rPr>
              <a:t>Delta conviction : +28% vs Avocat du Diable</a:t>
            </a:r>
          </a:p>
        </p:txBody>
      </p:sp>
      <p:sp>
        <p:nvSpPr>
          <p:cNvPr id="26" name="Rectangle 25"/>
          <p:cNvSpPr/>
          <p:nvPr/>
        </p:nvSpPr>
        <p:spPr>
          <a:xfrm>
            <a:off x="3311999" y="827999"/>
            <a:ext cx="5472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66000" y="846000"/>
            <a:ext cx="5400000" cy="162000"/>
          </a:xfrm>
          <a:prstGeom prst="rect">
            <a:avLst/>
          </a:prstGeom>
          <a:noFill/>
        </p:spPr>
        <p:txBody>
          <a:bodyPr wrap="square">
            <a:spAutoFit/>
          </a:bodyPr>
          <a:lstStyle/>
          <a:p>
            <a:pPr algn="l"/>
            <a:r>
              <a:rPr sz="800" b="1" i="0">
                <a:solidFill>
                  <a:srgbClr val="FFFFFF"/>
                </a:solidFill>
                <a:latin typeface="Calibri"/>
              </a:rPr>
              <a:t>THÈSE D’INVESTISSEMENT</a:t>
            </a:r>
          </a:p>
        </p:txBody>
      </p:sp>
      <p:sp>
        <p:nvSpPr>
          <p:cNvPr id="28" name="Rectangle 27"/>
          <p:cNvSpPr/>
          <p:nvPr/>
        </p:nvSpPr>
        <p:spPr>
          <a:xfrm>
            <a:off x="3311999" y="1062000"/>
            <a:ext cx="36000" cy="28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01999" y="1080000"/>
            <a:ext cx="5346000" cy="270000"/>
          </a:xfrm>
          <a:prstGeom prst="rect">
            <a:avLst/>
          </a:prstGeom>
          <a:noFill/>
        </p:spPr>
        <p:txBody>
          <a:bodyPr wrap="square">
            <a:spAutoFit/>
          </a:bodyPr>
          <a:lstStyle/>
          <a:p>
            <a:pPr algn="l"/>
            <a:r>
              <a:rPr sz="850" b="0" i="0">
                <a:solidFill>
                  <a:srgbClr val="555555"/>
                </a:solidFill>
                <a:latin typeface="Calibri"/>
              </a:rPr>
              <a:t>FactSet bénéficie d'une croissance organique de 5.4% YoY en 2025 avec un levier opérationnel de +2.0pts de marge EBITDA grâce au mix SaaS</a:t>
            </a:r>
          </a:p>
        </p:txBody>
      </p:sp>
      <p:sp>
        <p:nvSpPr>
          <p:cNvPr id="30" name="Rectangle 29"/>
          <p:cNvSpPr/>
          <p:nvPr/>
        </p:nvSpPr>
        <p:spPr>
          <a:xfrm>
            <a:off x="3311999" y="1404000"/>
            <a:ext cx="36000" cy="28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01999" y="1422000"/>
            <a:ext cx="5346000" cy="270000"/>
          </a:xfrm>
          <a:prstGeom prst="rect">
            <a:avLst/>
          </a:prstGeom>
          <a:noFill/>
        </p:spPr>
        <p:txBody>
          <a:bodyPr wrap="square">
            <a:spAutoFit/>
          </a:bodyPr>
          <a:lstStyle/>
          <a:p>
            <a:pPr algn="l"/>
            <a:r>
              <a:rPr sz="850" b="0" i="0">
                <a:solidFill>
                  <a:srgbClr val="555555"/>
                </a:solidFill>
                <a:latin typeface="Calibri"/>
              </a:rPr>
              <a:t>L'entreprise affiche un ROIC de 20.6% et un ND/EBITDA de 1.1x, offrant une flexibilité financière pour des acquisitions ciblées</a:t>
            </a:r>
          </a:p>
        </p:txBody>
      </p:sp>
      <p:sp>
        <p:nvSpPr>
          <p:cNvPr id="32" name="Rectangle 31"/>
          <p:cNvSpPr/>
          <p:nvPr/>
        </p:nvSpPr>
        <p:spPr>
          <a:xfrm>
            <a:off x="3311999" y="1746000"/>
            <a:ext cx="36000" cy="28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01999" y="1764000"/>
            <a:ext cx="5346000" cy="270000"/>
          </a:xfrm>
          <a:prstGeom prst="rect">
            <a:avLst/>
          </a:prstGeom>
          <a:noFill/>
        </p:spPr>
        <p:txBody>
          <a:bodyPr wrap="square">
            <a:spAutoFit/>
          </a:bodyPr>
          <a:lstStyle/>
          <a:p>
            <a:pPr algn="l"/>
            <a:r>
              <a:rPr sz="850" b="0" i="0">
                <a:solidFill>
                  <a:srgbClr val="555555"/>
                </a:solidFill>
                <a:latin typeface="Calibri"/>
              </a:rPr>
              <a:t>La transition vers l'IA et les données alternatives génère un potentiel de +300M$ de revenus annuels d'ici 2027.</a:t>
            </a:r>
          </a:p>
        </p:txBody>
      </p:sp>
      <p:sp>
        <p:nvSpPr>
          <p:cNvPr id="34" name="Rectangle 33"/>
          <p:cNvSpPr/>
          <p:nvPr/>
        </p:nvSpPr>
        <p:spPr>
          <a:xfrm>
            <a:off x="3311999" y="2196000"/>
            <a:ext cx="26640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366000" y="2214000"/>
            <a:ext cx="2592000" cy="144000"/>
          </a:xfrm>
          <a:prstGeom prst="rect">
            <a:avLst/>
          </a:prstGeom>
          <a:noFill/>
        </p:spPr>
        <p:txBody>
          <a:bodyPr wrap="square">
            <a:spAutoFit/>
          </a:bodyPr>
          <a:lstStyle/>
          <a:p>
            <a:pPr algn="l"/>
            <a:r>
              <a:rPr sz="750" b="1" i="0">
                <a:solidFill>
                  <a:srgbClr val="FFFFFF"/>
                </a:solidFill>
                <a:latin typeface="Calibri"/>
              </a:rPr>
              <a:t>CATALYSEURS BULLS</a:t>
            </a:r>
          </a:p>
        </p:txBody>
      </p:sp>
      <p:sp>
        <p:nvSpPr>
          <p:cNvPr id="36" name="TextBox 35"/>
          <p:cNvSpPr txBox="1"/>
          <p:nvPr/>
        </p:nvSpPr>
        <p:spPr>
          <a:xfrm>
            <a:off x="3401999" y="2412000"/>
            <a:ext cx="2556000" cy="234000"/>
          </a:xfrm>
          <a:prstGeom prst="rect">
            <a:avLst/>
          </a:prstGeom>
          <a:noFill/>
        </p:spPr>
        <p:txBody>
          <a:bodyPr wrap="square">
            <a:spAutoFit/>
          </a:bodyPr>
          <a:lstStyle/>
          <a:p>
            <a:pPr algn="l"/>
            <a:r>
              <a:rPr sz="700" b="0" i="0">
                <a:solidFill>
                  <a:srgbClr val="555555"/>
                </a:solidFill>
                <a:latin typeface="Calibri"/>
              </a:rPr>
              <a:t>• Adoption croissante de l'IA dans la gestion d'actifs d'ici 2027, générant +300M$ de revenus annuels</a:t>
            </a:r>
          </a:p>
        </p:txBody>
      </p:sp>
      <p:sp>
        <p:nvSpPr>
          <p:cNvPr id="37" name="TextBox 36"/>
          <p:cNvSpPr txBox="1"/>
          <p:nvPr/>
        </p:nvSpPr>
        <p:spPr>
          <a:xfrm>
            <a:off x="3401999" y="2671200"/>
            <a:ext cx="2556000" cy="234000"/>
          </a:xfrm>
          <a:prstGeom prst="rect">
            <a:avLst/>
          </a:prstGeom>
          <a:noFill/>
        </p:spPr>
        <p:txBody>
          <a:bodyPr wrap="square">
            <a:spAutoFit/>
          </a:bodyPr>
          <a:lstStyle/>
          <a:p>
            <a:pPr algn="l"/>
            <a:r>
              <a:rPr sz="700" b="0" i="0">
                <a:solidFill>
                  <a:srgbClr val="555555"/>
                </a:solidFill>
                <a:latin typeface="Calibri"/>
              </a:rPr>
              <a:t>• Expansion internationale en Asie-Pacifique avec un taux de croissance annuel de 8% attendu</a:t>
            </a:r>
          </a:p>
        </p:txBody>
      </p:sp>
      <p:sp>
        <p:nvSpPr>
          <p:cNvPr id="38" name="Rectangle 37"/>
          <p:cNvSpPr/>
          <p:nvPr/>
        </p:nvSpPr>
        <p:spPr>
          <a:xfrm>
            <a:off x="6120000" y="2196000"/>
            <a:ext cx="24480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156000" y="2214000"/>
            <a:ext cx="2376000" cy="144000"/>
          </a:xfrm>
          <a:prstGeom prst="rect">
            <a:avLst/>
          </a:prstGeom>
          <a:noFill/>
        </p:spPr>
        <p:txBody>
          <a:bodyPr wrap="square">
            <a:spAutoFit/>
          </a:bodyPr>
          <a:lstStyle/>
          <a:p>
            <a:pPr algn="l"/>
            <a:r>
              <a:rPr sz="750" b="1" i="0">
                <a:solidFill>
                  <a:srgbClr val="FFFFFF"/>
                </a:solidFill>
                <a:latin typeface="Calibri"/>
              </a:rPr>
              <a:t>RISQUES BEARS</a:t>
            </a:r>
          </a:p>
        </p:txBody>
      </p:sp>
      <p:sp>
        <p:nvSpPr>
          <p:cNvPr id="40" name="TextBox 39"/>
          <p:cNvSpPr txBox="1"/>
          <p:nvPr/>
        </p:nvSpPr>
        <p:spPr>
          <a:xfrm>
            <a:off x="6156000" y="2412000"/>
            <a:ext cx="2376000" cy="234000"/>
          </a:xfrm>
          <a:prstGeom prst="rect">
            <a:avLst/>
          </a:prstGeom>
          <a:noFill/>
        </p:spPr>
        <p:txBody>
          <a:bodyPr wrap="square">
            <a:spAutoFit/>
          </a:bodyPr>
          <a:lstStyle/>
          <a:p>
            <a:pPr algn="l"/>
            <a:r>
              <a:rPr sz="700" b="0" i="0">
                <a:solidFill>
                  <a:srgbClr val="555555"/>
                </a:solidFill>
                <a:latin typeface="Calibri"/>
              </a:rPr>
              <a:t>• Ralentissement des marchés financiers réduisant les dépenses en données et logiciels de -2% à -4%</a:t>
            </a:r>
          </a:p>
        </p:txBody>
      </p:sp>
      <p:sp>
        <p:nvSpPr>
          <p:cNvPr id="41" name="TextBox 40"/>
          <p:cNvSpPr txBox="1"/>
          <p:nvPr/>
        </p:nvSpPr>
        <p:spPr>
          <a:xfrm>
            <a:off x="6156000" y="2671200"/>
            <a:ext cx="2376000" cy="234000"/>
          </a:xfrm>
          <a:prstGeom prst="rect">
            <a:avLst/>
          </a:prstGeom>
          <a:noFill/>
        </p:spPr>
        <p:txBody>
          <a:bodyPr wrap="square">
            <a:spAutoFit/>
          </a:bodyPr>
          <a:lstStyle/>
          <a:p>
            <a:pPr algn="l"/>
            <a:r>
              <a:rPr sz="700" b="0" i="0">
                <a:solidFill>
                  <a:srgbClr val="555555"/>
                </a:solidFill>
                <a:latin typeface="Calibri"/>
              </a:rPr>
              <a:t>• Concurrence accrue de Bloomberg Terminal avec des baisses de prix de -10% sur certains modules</a:t>
            </a:r>
          </a:p>
        </p:txBody>
      </p:sp>
      <p:sp>
        <p:nvSpPr>
          <p:cNvPr id="42" name="Rectangle 41"/>
          <p:cNvSpPr/>
          <p:nvPr/>
        </p:nvSpPr>
        <p:spPr>
          <a:xfrm>
            <a:off x="3311999" y="3038400"/>
            <a:ext cx="5472000" cy="3960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311999" y="3038400"/>
            <a:ext cx="36000" cy="39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401999" y="3056400"/>
            <a:ext cx="5310000" cy="360000"/>
          </a:xfrm>
          <a:prstGeom prst="rect">
            <a:avLst/>
          </a:prstGeom>
          <a:noFill/>
        </p:spPr>
        <p:txBody>
          <a:bodyPr wrap="square">
            <a:spAutoFit/>
          </a:bodyPr>
          <a:lstStyle/>
          <a:p>
            <a:pPr algn="l"/>
            <a:r>
              <a:rPr sz="750" b="0" i="0">
                <a:solidFill>
                  <a:srgbClr val="7A5000"/>
                </a:solidFill>
                <a:latin typeface="Calibri"/>
              </a:rPr>
              <a:t>⚠ Conditions d’invalidation : Macro: Récession économique mondiale réduisant les a  ·  Sectoriel: Baisse des dépenses en données financières de</a:t>
            </a:r>
          </a:p>
        </p:txBody>
      </p:sp>
      <p:sp>
        <p:nvSpPr>
          <p:cNvPr id="45" name="TextBox 44"/>
          <p:cNvSpPr txBox="1"/>
          <p:nvPr/>
        </p:nvSpPr>
        <p:spPr>
          <a:xfrm>
            <a:off x="324000" y="4662000"/>
            <a:ext cx="8496000" cy="125999"/>
          </a:xfrm>
          <a:prstGeom prst="rect">
            <a:avLst/>
          </a:prstGeom>
          <a:noFill/>
        </p:spPr>
        <p:txBody>
          <a:bodyPr wrap="square">
            <a:spAutoFit/>
          </a:bodyPr>
          <a:lstStyle/>
          <a:p>
            <a:pPr algn="l"/>
            <a:r>
              <a:rPr sz="700" b="0" i="0">
                <a:solidFill>
                  <a:srgbClr val="555555"/>
                </a:solidFill>
                <a:latin typeface="Calibri"/>
              </a:rPr>
              <a:t>FinSight IA genere cette analyse a un instant T. Pour le suivi dans le temps, comparer les rapports successifs. La conviction reflete les donnees disponibles a la date d'analyse.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