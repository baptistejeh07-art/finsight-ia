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554050"/>
          </a:xfrm>
          <a:prstGeom prst="rect">
            <a:avLst/>
          </a:prstGeom>
          <a:noFill/>
        </p:spPr>
        <p:txBody>
          <a:bodyPr wrap="square">
            <a:spAutoFit/>
          </a:bodyPr>
          <a:lstStyle/>
          <a:p>
            <a:pPr algn="ctr"/>
            <a:r>
              <a:rPr sz="2600" b="1" i="0">
                <a:solidFill>
                  <a:srgbClr val="1B3A6B"/>
                </a:solidFill>
                <a:latin typeface="Calibri"/>
              </a:rPr>
              <a:t>FactSet Research Systems Inc.</a:t>
            </a:r>
          </a:p>
        </p:txBody>
      </p:sp>
      <p:sp>
        <p:nvSpPr>
          <p:cNvPr id="7" name="TextBox 6"/>
          <p:cNvSpPr txBox="1"/>
          <p:nvPr/>
        </p:nvSpPr>
        <p:spPr>
          <a:xfrm>
            <a:off x="457200" y="2105650"/>
            <a:ext cx="8229600" cy="255600"/>
          </a:xfrm>
          <a:prstGeom prst="rect">
            <a:avLst/>
          </a:prstGeom>
          <a:noFill/>
        </p:spPr>
        <p:txBody>
          <a:bodyPr wrap="square">
            <a:spAutoFit/>
          </a:bodyPr>
          <a:lstStyle/>
          <a:p>
            <a:pPr algn="ctr"/>
            <a:r>
              <a:rPr sz="1100" b="0" i="0">
                <a:solidFill>
                  <a:srgbClr val="888888"/>
                </a:solidFill>
                <a:latin typeface="Calibri"/>
              </a:rPr>
              <a:t>FDS  ·  Financial Services</a:t>
            </a:r>
          </a:p>
        </p:txBody>
      </p:sp>
      <p:sp>
        <p:nvSpPr>
          <p:cNvPr id="8" name="Rectangle 7"/>
          <p:cNvSpPr/>
          <p:nvPr/>
        </p:nvSpPr>
        <p:spPr>
          <a:xfrm>
            <a:off x="2771999" y="2480050"/>
            <a:ext cx="3600000" cy="43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6000" y="2498050"/>
            <a:ext cx="3491999" cy="395999"/>
          </a:xfrm>
          <a:prstGeom prst="rect">
            <a:avLst/>
          </a:prstGeom>
          <a:noFill/>
        </p:spPr>
        <p:txBody>
          <a:bodyPr wrap="square">
            <a:spAutoFit/>
          </a:bodyPr>
          <a:lstStyle/>
          <a:p>
            <a:pPr algn="ctr"/>
            <a:r>
              <a:rPr sz="900" b="1" i="0">
                <a:solidFill>
                  <a:srgbClr val="FFFFFF"/>
                </a:solidFill>
                <a:latin typeface="Calibri"/>
              </a:rPr>
              <a:t>● HOLD  ·  Prix cible base : — $  ·  Upside : —</a:t>
            </a:r>
          </a:p>
        </p:txBody>
      </p:sp>
      <p:sp>
        <p:nvSpPr>
          <p:cNvPr id="10" name="Rectangle 9"/>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2" name="TextBox 11"/>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10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B06000"/>
                </a:solidFill>
                <a:latin typeface="Calibri"/>
              </a:rPr>
              <a:t>● HOLD</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 $  ·  Upside : —  ·  Bear : — $ (—)  ·  Bull : — $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a:t>
            </a:r>
          </a:p>
        </p:txBody>
      </p:sp>
      <p:sp>
        <p:nvSpPr>
          <p:cNvPr id="14" name="TextBox 13"/>
          <p:cNvSpPr txBox="1"/>
          <p:nvPr/>
        </p:nvSpPr>
        <p:spPr>
          <a:xfrm>
            <a:off x="503999" y="1814400"/>
            <a:ext cx="3931200" cy="378000"/>
          </a:xfrm>
          <a:prstGeom prst="rect">
            <a:avLst/>
          </a:prstGeom>
          <a:noFill/>
        </p:spPr>
        <p:txBody>
          <a:bodyPr wrap="square">
            <a:spAutoFit/>
          </a:bodyPr>
          <a:lstStyle/>
          <a:p>
            <a:pPr algn="l"/>
            <a:r>
              <a:rPr sz="750" b="0" i="0">
                <a:solidFill>
                  <a:srgbClr val="333333"/>
                </a:solidFill>
                <a:latin typeface="Calibri"/>
              </a:rPr>
              <a:t>—</a:t>
            </a:r>
          </a:p>
        </p:txBody>
      </p:sp>
      <p:sp>
        <p:nvSpPr>
          <p:cNvPr id="15" name="Rectangle 14"/>
          <p:cNvSpPr/>
          <p:nvPr/>
        </p:nvSpPr>
        <p:spPr>
          <a:xfrm>
            <a:off x="367200" y="2214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96000"/>
            <a:ext cx="3931200" cy="183600"/>
          </a:xfrm>
          <a:prstGeom prst="rect">
            <a:avLst/>
          </a:prstGeom>
          <a:noFill/>
        </p:spPr>
        <p:txBody>
          <a:bodyPr wrap="square">
            <a:spAutoFit/>
          </a:bodyPr>
          <a:lstStyle/>
          <a:p>
            <a:pPr algn="l"/>
            <a:r>
              <a:rPr sz="850" b="1" i="0">
                <a:solidFill>
                  <a:srgbClr val="1B3A6B"/>
                </a:solidFill>
                <a:latin typeface="Calibri"/>
              </a:rPr>
              <a:t>—</a:t>
            </a:r>
          </a:p>
        </p:txBody>
      </p:sp>
      <p:sp>
        <p:nvSpPr>
          <p:cNvPr id="17" name="TextBox 16"/>
          <p:cNvSpPr txBox="1"/>
          <p:nvPr/>
        </p:nvSpPr>
        <p:spPr>
          <a:xfrm>
            <a:off x="503999" y="2365200"/>
            <a:ext cx="3931200" cy="378000"/>
          </a:xfrm>
          <a:prstGeom prst="rect">
            <a:avLst/>
          </a:prstGeom>
          <a:noFill/>
        </p:spPr>
        <p:txBody>
          <a:bodyPr wrap="square">
            <a:spAutoFit/>
          </a:bodyPr>
          <a:lstStyle/>
          <a:p>
            <a:pPr algn="l"/>
            <a:r>
              <a:rPr sz="750" b="0" i="0">
                <a:solidFill>
                  <a:srgbClr val="333333"/>
                </a:solidFill>
                <a:latin typeface="Calibri"/>
              </a:rPr>
              <a:t>—</a:t>
            </a:r>
          </a:p>
        </p:txBody>
      </p:sp>
      <p:sp>
        <p:nvSpPr>
          <p:cNvPr id="18" name="Rectangle 17"/>
          <p:cNvSpPr/>
          <p:nvPr/>
        </p:nvSpPr>
        <p:spPr>
          <a:xfrm>
            <a:off x="367200" y="2764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46800"/>
            <a:ext cx="3931200" cy="183600"/>
          </a:xfrm>
          <a:prstGeom prst="rect">
            <a:avLst/>
          </a:prstGeom>
          <a:noFill/>
        </p:spPr>
        <p:txBody>
          <a:bodyPr wrap="square">
            <a:spAutoFit/>
          </a:bodyPr>
          <a:lstStyle/>
          <a:p>
            <a:pPr algn="l"/>
            <a:r>
              <a:rPr sz="850" b="1" i="0">
                <a:solidFill>
                  <a:srgbClr val="1B3A6B"/>
                </a:solidFill>
                <a:latin typeface="Calibri"/>
              </a:rPr>
              <a:t>—</a:t>
            </a:r>
          </a:p>
        </p:txBody>
      </p:sp>
      <p:sp>
        <p:nvSpPr>
          <p:cNvPr id="20" name="TextBox 19"/>
          <p:cNvSpPr txBox="1"/>
          <p:nvPr/>
        </p:nvSpPr>
        <p:spPr>
          <a:xfrm>
            <a:off x="503999" y="2916000"/>
            <a:ext cx="3931200" cy="378000"/>
          </a:xfrm>
          <a:prstGeom prst="rect">
            <a:avLst/>
          </a:prstGeom>
          <a:noFill/>
        </p:spPr>
        <p:txBody>
          <a:bodyPr wrap="square">
            <a:spAutoFit/>
          </a:bodyPr>
          <a:lstStyle/>
          <a:p>
            <a:pPr algn="l"/>
            <a:r>
              <a:rPr sz="750" b="0" i="0">
                <a:solidFill>
                  <a:srgbClr val="333333"/>
                </a:solidFill>
                <a:latin typeface="Calibri"/>
              </a:rPr>
              <a:t>—</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a:t>
            </a:r>
          </a:p>
        </p:txBody>
      </p:sp>
      <p:sp>
        <p:nvSpPr>
          <p:cNvPr id="25" name="TextBox 24"/>
          <p:cNvSpPr txBox="1"/>
          <p:nvPr/>
        </p:nvSpPr>
        <p:spPr>
          <a:xfrm>
            <a:off x="4845600" y="1814400"/>
            <a:ext cx="3794399" cy="378000"/>
          </a:xfrm>
          <a:prstGeom prst="rect">
            <a:avLst/>
          </a:prstGeom>
          <a:noFill/>
        </p:spPr>
        <p:txBody>
          <a:bodyPr wrap="square">
            <a:spAutoFit/>
          </a:bodyPr>
          <a:lstStyle/>
          <a:p>
            <a:pPr algn="l"/>
            <a:r>
              <a:rPr sz="750" b="0" i="0">
                <a:solidFill>
                  <a:srgbClr val="333333"/>
                </a:solidFill>
                <a:latin typeface="Calibri"/>
              </a:rPr>
              <a:t>Impact potentiel sur la thèse d'investissement — surveillance recommandée sur les 6-12 prochains mois.</a:t>
            </a:r>
          </a:p>
        </p:txBody>
      </p:sp>
      <p:sp>
        <p:nvSpPr>
          <p:cNvPr id="26" name="Rectangle 25"/>
          <p:cNvSpPr/>
          <p:nvPr/>
        </p:nvSpPr>
        <p:spPr>
          <a:xfrm>
            <a:off x="4708800" y="2214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96000"/>
            <a:ext cx="3794399" cy="183600"/>
          </a:xfrm>
          <a:prstGeom prst="rect">
            <a:avLst/>
          </a:prstGeom>
          <a:noFill/>
        </p:spPr>
        <p:txBody>
          <a:bodyPr wrap="square">
            <a:spAutoFit/>
          </a:bodyPr>
          <a:lstStyle/>
          <a:p>
            <a:pPr algn="l"/>
            <a:r>
              <a:rPr sz="850" b="1" i="0">
                <a:solidFill>
                  <a:srgbClr val="1B3A6B"/>
                </a:solidFill>
                <a:latin typeface="Calibri"/>
              </a:rPr>
              <a:t>—</a:t>
            </a:r>
          </a:p>
        </p:txBody>
      </p:sp>
      <p:sp>
        <p:nvSpPr>
          <p:cNvPr id="28" name="TextBox 27"/>
          <p:cNvSpPr txBox="1"/>
          <p:nvPr/>
        </p:nvSpPr>
        <p:spPr>
          <a:xfrm>
            <a:off x="4845600" y="2365200"/>
            <a:ext cx="3794399" cy="378000"/>
          </a:xfrm>
          <a:prstGeom prst="rect">
            <a:avLst/>
          </a:prstGeom>
          <a:noFill/>
        </p:spPr>
        <p:txBody>
          <a:bodyPr wrap="square">
            <a:spAutoFit/>
          </a:bodyPr>
          <a:lstStyle/>
          <a:p>
            <a:pPr algn="l"/>
            <a:r>
              <a:rPr sz="750" b="0" i="0">
                <a:solidFill>
                  <a:srgbClr val="333333"/>
                </a:solidFill>
                <a:latin typeface="Calibri"/>
              </a:rPr>
              <a:t>Impact potentiel sur la thèse d'investissement — surveillance recommandée sur les 6-12 prochains mois.</a:t>
            </a:r>
          </a:p>
        </p:txBody>
      </p:sp>
      <p:sp>
        <p:nvSpPr>
          <p:cNvPr id="29" name="Rectangle 28"/>
          <p:cNvSpPr/>
          <p:nvPr/>
        </p:nvSpPr>
        <p:spPr>
          <a:xfrm>
            <a:off x="4708800" y="2764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46800"/>
            <a:ext cx="3794399" cy="183600"/>
          </a:xfrm>
          <a:prstGeom prst="rect">
            <a:avLst/>
          </a:prstGeom>
          <a:noFill/>
        </p:spPr>
        <p:txBody>
          <a:bodyPr wrap="square">
            <a:spAutoFit/>
          </a:bodyPr>
          <a:lstStyle/>
          <a:p>
            <a:pPr algn="l"/>
            <a:r>
              <a:rPr sz="850" b="1" i="0">
                <a:solidFill>
                  <a:srgbClr val="1B3A6B"/>
                </a:solidFill>
                <a:latin typeface="Calibri"/>
              </a:rPr>
              <a:t>—</a:t>
            </a:r>
          </a:p>
        </p:txBody>
      </p:sp>
      <p:sp>
        <p:nvSpPr>
          <p:cNvPr id="31" name="TextBox 30"/>
          <p:cNvSpPr txBox="1"/>
          <p:nvPr/>
        </p:nvSpPr>
        <p:spPr>
          <a:xfrm>
            <a:off x="4845600" y="2916000"/>
            <a:ext cx="3794399" cy="378000"/>
          </a:xfrm>
          <a:prstGeom prst="rect">
            <a:avLst/>
          </a:prstGeom>
          <a:noFill/>
        </p:spPr>
        <p:txBody>
          <a:bodyPr wrap="square">
            <a:spAutoFit/>
          </a:bodyPr>
          <a:lstStyle/>
          <a:p>
            <a:pPr algn="l"/>
            <a:r>
              <a:rPr sz="750" b="0" i="0">
                <a:solidFill>
                  <a:srgbClr val="333333"/>
                </a:solidFill>
                <a:latin typeface="Calibri"/>
              </a:rPr>
              <a:t>Impact potentiel sur la thèse d'investissement — surveillance recommandée sur les 6-12 prochains mois.</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33600"/>
            <a:ext cx="40104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333600"/>
            <a:ext cx="3960000" cy="198000"/>
          </a:xfrm>
          <a:prstGeom prst="rect">
            <a:avLst/>
          </a:prstGeom>
          <a:noFill/>
        </p:spPr>
        <p:txBody>
          <a:bodyPr wrap="square">
            <a:spAutoFit/>
          </a:bodyPr>
          <a:lstStyle/>
          <a:p>
            <a:pPr algn="l"/>
            <a:r>
              <a:rPr sz="750" b="1" i="0">
                <a:solidFill>
                  <a:srgbClr val="FFFFFF"/>
                </a:solidFill>
                <a:latin typeface="Calibri"/>
              </a:rPr>
              <a:t>CATALYSEURS À SURVEILLER (12M)</a:t>
            </a:r>
          </a:p>
        </p:txBody>
      </p:sp>
      <p:sp>
        <p:nvSpPr>
          <p:cNvPr id="36" name="Rectangle 35"/>
          <p:cNvSpPr/>
          <p:nvPr/>
        </p:nvSpPr>
        <p:spPr>
          <a:xfrm>
            <a:off x="367200" y="3582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200" y="3560400"/>
            <a:ext cx="3837600" cy="172800"/>
          </a:xfrm>
          <a:prstGeom prst="rect">
            <a:avLst/>
          </a:prstGeom>
          <a:noFill/>
        </p:spPr>
        <p:txBody>
          <a:bodyPr wrap="square">
            <a:spAutoFit/>
          </a:bodyPr>
          <a:lstStyle/>
          <a:p>
            <a:pPr algn="l"/>
            <a:r>
              <a:rPr sz="750" b="0" i="0">
                <a:solidFill>
                  <a:srgbClr val="333333"/>
                </a:solidFill>
                <a:latin typeface="Calibri"/>
              </a:rPr>
              <a:t>—</a:t>
            </a:r>
          </a:p>
        </p:txBody>
      </p:sp>
      <p:sp>
        <p:nvSpPr>
          <p:cNvPr id="38" name="Rectangle 37"/>
          <p:cNvSpPr/>
          <p:nvPr/>
        </p:nvSpPr>
        <p:spPr>
          <a:xfrm>
            <a:off x="367200" y="3780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9200" y="3758400"/>
            <a:ext cx="3837600" cy="172800"/>
          </a:xfrm>
          <a:prstGeom prst="rect">
            <a:avLst/>
          </a:prstGeom>
          <a:noFill/>
        </p:spPr>
        <p:txBody>
          <a:bodyPr wrap="square">
            <a:spAutoFit/>
          </a:bodyPr>
          <a:lstStyle/>
          <a:p>
            <a:pPr algn="l"/>
            <a:r>
              <a:rPr sz="750" b="0" i="0">
                <a:solidFill>
                  <a:srgbClr val="333333"/>
                </a:solidFill>
                <a:latin typeface="Calibri"/>
              </a:rPr>
              <a:t>—</a:t>
            </a:r>
          </a:p>
        </p:txBody>
      </p:sp>
      <p:sp>
        <p:nvSpPr>
          <p:cNvPr id="40" name="Rectangle 39"/>
          <p:cNvSpPr/>
          <p:nvPr/>
        </p:nvSpPr>
        <p:spPr>
          <a:xfrm>
            <a:off x="4708800" y="3333600"/>
            <a:ext cx="4068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5600" y="3333600"/>
            <a:ext cx="3996000" cy="198000"/>
          </a:xfrm>
          <a:prstGeom prst="rect">
            <a:avLst/>
          </a:prstGeom>
          <a:noFill/>
        </p:spPr>
        <p:txBody>
          <a:bodyPr wrap="square">
            <a:spAutoFit/>
          </a:bodyPr>
          <a:lstStyle/>
          <a:p>
            <a:pPr algn="l"/>
            <a:r>
              <a:rPr sz="750" b="1" i="0">
                <a:solidFill>
                  <a:srgbClr val="FFFFFF"/>
                </a:solidFill>
                <a:latin typeface="Calibri"/>
              </a:rPr>
              <a:t>VALORISATION SYNTHÉTIQUE</a:t>
            </a:r>
          </a:p>
        </p:txBody>
      </p:sp>
      <p:graphicFrame>
        <p:nvGraphicFramePr>
          <p:cNvPr id="42" name="Table 41"/>
          <p:cNvGraphicFramePr>
            <a:graphicFrameLocks noGrp="1"/>
          </p:cNvGraphicFramePr>
          <p:nvPr/>
        </p:nvGraphicFramePr>
        <p:xfrm>
          <a:off x="4708800" y="3531600"/>
          <a:ext cx="4068000" cy="511200"/>
        </p:xfrm>
        <a:graphic>
          <a:graphicData uri="http://schemas.openxmlformats.org/drawingml/2006/table">
            <a:tbl>
              <a:tblPr firstRow="1" bandRow="1">
                <a:tableStyleId>{5C22544A-7EE6-4342-B048-85BDC9FD1C3A}</a:tableStyleId>
              </a:tblPr>
              <a:tblGrid>
                <a:gridCol w="2034000"/>
                <a:gridCol w="1017000"/>
                <a:gridCol w="1017000"/>
              </a:tblGrid>
              <a:tr h="170400">
                <a:tc>
                  <a:txBody>
                    <a:bodyPr/>
                    <a:lstStyle/>
                    <a:p>
                      <a:pPr algn="l"/>
                      <a:r>
                        <a:rPr sz="800" b="1" i="0">
                          <a:solidFill>
                            <a:srgbClr val="FFFFFF"/>
                          </a:solidFill>
                          <a:latin typeface="Calibri"/>
                        </a:rPr>
                        <a:t>Multiple</a:t>
                      </a:r>
                    </a:p>
                  </a:txBody>
                  <a:tcPr>
                    <a:solidFill>
                      <a:srgbClr val="1B3A6B"/>
                    </a:solidFill>
                  </a:tcPr>
                </a:tc>
                <a:tc>
                  <a:txBody>
                    <a:bodyPr/>
                    <a:lstStyle/>
                    <a:p>
                      <a:pPr algn="ctr"/>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Médiane pairs</a:t>
                      </a:r>
                    </a:p>
                  </a:txBody>
                  <a:tcPr>
                    <a:solidFill>
                      <a:srgbClr val="1B3A6B"/>
                    </a:solidFill>
                  </a:tcPr>
                </a:tc>
              </a:tr>
              <a:tr h="170400">
                <a:tc>
                  <a:txBody>
                    <a:bodyPr/>
                    <a:lstStyle/>
                    <a:p>
                      <a:pPr algn="l"/>
                      <a:r>
                        <a:rPr sz="800" b="0" i="0">
                          <a:solidFill>
                            <a:srgbClr val="0D0D0D"/>
                          </a:solidFill>
                          <a:latin typeface="Calibri"/>
                        </a:rPr>
                        <a:t>P/E NTM (x)</a:t>
                      </a:r>
                    </a:p>
                  </a:txBody>
                  <a:tcPr>
                    <a:solidFill>
                      <a:srgbClr val="FFFFFF"/>
                    </a:solidFill>
                  </a:tcPr>
                </a:tc>
                <a:tc>
                  <a:txBody>
                    <a:bodyPr/>
                    <a:lstStyle/>
                    <a:p>
                      <a:pPr algn="ctr"/>
                      <a:r>
                        <a:rPr sz="800" b="0" i="0">
                          <a:solidFill>
                            <a:srgbClr val="0D0D0D"/>
                          </a:solidFill>
                          <a:latin typeface="Calibri"/>
                        </a:rPr>
                        <a:t>13,0x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170400">
                <a:tc>
                  <a:txBody>
                    <a:bodyPr/>
                    <a:lstStyle/>
                    <a:p>
                      <a:pPr algn="l"/>
                      <a:r>
                        <a:rPr sz="800" b="0" i="0">
                          <a:solidFill>
                            <a:srgbClr val="0D0D0D"/>
                          </a:solidFill>
                          <a:latin typeface="Calibri"/>
                        </a:rPr>
                        <a:t>Cible DCF ($)</a:t>
                      </a:r>
                    </a:p>
                  </a:txBody>
                  <a:tcPr>
                    <a:solidFill>
                      <a:srgbClr val="F7F8FA"/>
                    </a:solidFill>
                  </a:tcPr>
                </a:tc>
                <a:tc>
                  <a:txBody>
                    <a:bodyPr/>
                    <a:lstStyle/>
                    <a:p>
                      <a:pPr algn="ctr"/>
                      <a:r>
                        <a:rPr sz="800" b="0" i="0">
                          <a:solidFill>
                            <a:srgbClr val="0D0D0D"/>
                          </a:solidFill>
                          <a:latin typeface="Calibri"/>
                        </a:rPr>
                        <a:t>— $</a:t>
                      </a:r>
                    </a:p>
                  </a:txBody>
                  <a:tcPr>
                    <a:solidFill>
                      <a:srgbClr val="F7F8FA"/>
                    </a:solidFill>
                  </a:tcPr>
                </a:tc>
                <a:tc>
                  <a:txBody>
                    <a:bodyPr/>
                    <a:lstStyle/>
                    <a:p>
                      <a:pPr algn="ctr"/>
                      <a:r>
                        <a:rPr sz="800" b="0" i="0">
                          <a:solidFill>
                            <a:srgbClr val="0D0D0D"/>
                          </a:solidFill>
                          <a:latin typeface="Calibri"/>
                        </a:rPr>
                        <a:t>Upside —</a:t>
                      </a:r>
                    </a:p>
                  </a:txBody>
                  <a:tcPr>
                    <a:solidFill>
                      <a:srgbClr val="F7F8FA"/>
                    </a:solidFill>
                  </a:tcPr>
                </a:tc>
              </a:tr>
            </a:tbl>
          </a:graphicData>
        </a:graphic>
      </p:graphicFrame>
      <p:sp>
        <p:nvSpPr>
          <p:cNvPr id="43" name="Rectangle 42"/>
          <p:cNvSpPr/>
          <p:nvPr/>
        </p:nvSpPr>
        <p:spPr>
          <a:xfrm>
            <a:off x="367200" y="4042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72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72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4136400"/>
            <a:ext cx="1893600" cy="396000"/>
          </a:xfrm>
          <a:prstGeom prst="rect">
            <a:avLst/>
          </a:prstGeom>
          <a:noFill/>
        </p:spPr>
        <p:txBody>
          <a:bodyPr wrap="square">
            <a:spAutoFit/>
          </a:bodyPr>
          <a:lstStyle/>
          <a:p>
            <a:pPr algn="l"/>
            <a:r>
              <a:rPr sz="1900" b="1" i="0">
                <a:solidFill>
                  <a:srgbClr val="1B3A6B"/>
                </a:solidFill>
                <a:latin typeface="Calibri"/>
              </a:rPr>
              <a:t>9,1x</a:t>
            </a:r>
          </a:p>
        </p:txBody>
      </p:sp>
      <p:sp>
        <p:nvSpPr>
          <p:cNvPr id="47" name="TextBox 46"/>
          <p:cNvSpPr txBox="1"/>
          <p:nvPr/>
        </p:nvSpPr>
        <p:spPr>
          <a:xfrm>
            <a:off x="457200" y="45324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48" name="TextBox 47"/>
          <p:cNvSpPr txBox="1"/>
          <p:nvPr/>
        </p:nvSpPr>
        <p:spPr>
          <a:xfrm>
            <a:off x="457200" y="4730400"/>
            <a:ext cx="1893600" cy="165600"/>
          </a:xfrm>
          <a:prstGeom prst="rect">
            <a:avLst/>
          </a:prstGeom>
          <a:noFill/>
        </p:spPr>
        <p:txBody>
          <a:bodyPr wrap="square">
            <a:spAutoFit/>
          </a:bodyPr>
          <a:lstStyle/>
          <a:p>
            <a:pPr algn="l"/>
            <a:r>
              <a:rPr sz="700" b="0" i="0">
                <a:solidFill>
                  <a:srgbClr val="888888"/>
                </a:solidFill>
                <a:latin typeface="Calibri"/>
              </a:rPr>
              <a:t>vs — med. pairs</a:t>
            </a:r>
          </a:p>
        </p:txBody>
      </p:sp>
      <p:sp>
        <p:nvSpPr>
          <p:cNvPr id="49" name="Rectangle 48"/>
          <p:cNvSpPr/>
          <p:nvPr/>
        </p:nvSpPr>
        <p:spPr>
          <a:xfrm>
            <a:off x="24876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4876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7600" y="4136400"/>
            <a:ext cx="1893600" cy="396000"/>
          </a:xfrm>
          <a:prstGeom prst="rect">
            <a:avLst/>
          </a:prstGeom>
          <a:noFill/>
        </p:spPr>
        <p:txBody>
          <a:bodyPr wrap="square">
            <a:spAutoFit/>
          </a:bodyPr>
          <a:lstStyle/>
          <a:p>
            <a:pPr algn="l"/>
            <a:r>
              <a:rPr sz="1900" b="1" i="0">
                <a:solidFill>
                  <a:srgbClr val="1B3A6B"/>
                </a:solidFill>
                <a:latin typeface="Calibri"/>
              </a:rPr>
              <a:t>7,5 %</a:t>
            </a:r>
          </a:p>
        </p:txBody>
      </p:sp>
      <p:sp>
        <p:nvSpPr>
          <p:cNvPr id="52" name="TextBox 51"/>
          <p:cNvSpPr txBox="1"/>
          <p:nvPr/>
        </p:nvSpPr>
        <p:spPr>
          <a:xfrm>
            <a:off x="2577600" y="45324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53" name="TextBox 52"/>
          <p:cNvSpPr txBox="1"/>
          <p:nvPr/>
        </p:nvSpPr>
        <p:spPr>
          <a:xfrm>
            <a:off x="2577600" y="4730400"/>
            <a:ext cx="1893600" cy="165600"/>
          </a:xfrm>
          <a:prstGeom prst="rect">
            <a:avLst/>
          </a:prstGeom>
          <a:noFill/>
        </p:spPr>
        <p:txBody>
          <a:bodyPr wrap="square">
            <a:spAutoFit/>
          </a:bodyPr>
          <a:lstStyle/>
          <a:p>
            <a:pPr algn="l"/>
            <a:r>
              <a:rPr sz="700" b="0" i="0">
                <a:solidFill>
                  <a:srgbClr val="888888"/>
                </a:solidFill>
                <a:latin typeface="Calibri"/>
              </a:rPr>
              <a:t>Beta 0,72  ·  RFR 4,3 %</a:t>
            </a:r>
          </a:p>
        </p:txBody>
      </p:sp>
      <p:sp>
        <p:nvSpPr>
          <p:cNvPr id="54" name="Rectangle 53"/>
          <p:cNvSpPr/>
          <p:nvPr/>
        </p:nvSpPr>
        <p:spPr>
          <a:xfrm>
            <a:off x="46080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080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98000" y="4136400"/>
            <a:ext cx="1893600" cy="396000"/>
          </a:xfrm>
          <a:prstGeom prst="rect">
            <a:avLst/>
          </a:prstGeom>
          <a:noFill/>
        </p:spPr>
        <p:txBody>
          <a:bodyPr wrap="square">
            <a:spAutoFit/>
          </a:bodyPr>
          <a:lstStyle/>
          <a:p>
            <a:pPr algn="l"/>
            <a:r>
              <a:rPr sz="1900" b="1" i="0">
                <a:solidFill>
                  <a:srgbClr val="1B3A6B"/>
                </a:solidFill>
                <a:latin typeface="Calibri"/>
              </a:rPr>
              <a:t>— $</a:t>
            </a:r>
          </a:p>
        </p:txBody>
      </p:sp>
      <p:sp>
        <p:nvSpPr>
          <p:cNvPr id="57" name="TextBox 56"/>
          <p:cNvSpPr txBox="1"/>
          <p:nvPr/>
        </p:nvSpPr>
        <p:spPr>
          <a:xfrm>
            <a:off x="4698000" y="4532400"/>
            <a:ext cx="1893600" cy="205199"/>
          </a:xfrm>
          <a:prstGeom prst="rect">
            <a:avLst/>
          </a:prstGeom>
          <a:noFill/>
        </p:spPr>
        <p:txBody>
          <a:bodyPr wrap="square">
            <a:spAutoFit/>
          </a:bodyPr>
          <a:lstStyle/>
          <a:p>
            <a:pPr algn="l"/>
            <a:r>
              <a:rPr sz="800" b="0" i="0">
                <a:solidFill>
                  <a:srgbClr val="555555"/>
                </a:solidFill>
                <a:latin typeface="Calibri"/>
              </a:rPr>
              <a:t>Valeur DCF base</a:t>
            </a:r>
          </a:p>
        </p:txBody>
      </p:sp>
      <p:sp>
        <p:nvSpPr>
          <p:cNvPr id="58" name="TextBox 57"/>
          <p:cNvSpPr txBox="1"/>
          <p:nvPr/>
        </p:nvSpPr>
        <p:spPr>
          <a:xfrm>
            <a:off x="4698000" y="4730400"/>
            <a:ext cx="1893600" cy="165600"/>
          </a:xfrm>
          <a:prstGeom prst="rect">
            <a:avLst/>
          </a:prstGeom>
          <a:noFill/>
        </p:spPr>
        <p:txBody>
          <a:bodyPr wrap="square">
            <a:spAutoFit/>
          </a:bodyPr>
          <a:lstStyle/>
          <a:p>
            <a:pPr algn="l"/>
            <a:r>
              <a:rPr sz="700" b="0" i="0">
                <a:solidFill>
                  <a:srgbClr val="888888"/>
                </a:solidFill>
                <a:latin typeface="Calibri"/>
              </a:rPr>
              <a:t>Upside — vs cours</a:t>
            </a:r>
          </a:p>
        </p:txBody>
      </p:sp>
      <p:sp>
        <p:nvSpPr>
          <p:cNvPr id="59" name="Rectangle 58"/>
          <p:cNvSpPr/>
          <p:nvPr/>
        </p:nvSpPr>
        <p:spPr>
          <a:xfrm>
            <a:off x="67284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284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18400" y="4136400"/>
            <a:ext cx="1893600" cy="396000"/>
          </a:xfrm>
          <a:prstGeom prst="rect">
            <a:avLst/>
          </a:prstGeom>
          <a:noFill/>
        </p:spPr>
        <p:txBody>
          <a:bodyPr wrap="square">
            <a:spAutoFit/>
          </a:bodyPr>
          <a:lstStyle/>
          <a:p>
            <a:pPr algn="l"/>
            <a:r>
              <a:rPr sz="1900" b="1" i="0">
                <a:solidFill>
                  <a:srgbClr val="1B3A6B"/>
                </a:solidFill>
                <a:latin typeface="Calibri"/>
              </a:rPr>
              <a:t>-0,000</a:t>
            </a:r>
          </a:p>
        </p:txBody>
      </p:sp>
      <p:sp>
        <p:nvSpPr>
          <p:cNvPr id="62" name="TextBox 61"/>
          <p:cNvSpPr txBox="1"/>
          <p:nvPr/>
        </p:nvSpPr>
        <p:spPr>
          <a:xfrm>
            <a:off x="6818400" y="45324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63" name="TextBox 62"/>
          <p:cNvSpPr txBox="1"/>
          <p:nvPr/>
        </p:nvSpPr>
        <p:spPr>
          <a:xfrm>
            <a:off x="6818400" y="4730400"/>
            <a:ext cx="1893600" cy="165600"/>
          </a:xfrm>
          <a:prstGeom prst="rect">
            <a:avLst/>
          </a:prstGeom>
          <a:noFill/>
        </p:spPr>
        <p:txBody>
          <a:bodyPr wrap="square">
            <a:spAutoFit/>
          </a:bodyPr>
          <a:lstStyle/>
          <a:p>
            <a:pPr algn="l"/>
            <a:r>
              <a:rPr sz="700" b="0" i="0">
                <a:solidFill>
                  <a:srgbClr val="888888"/>
                </a:solidFill>
                <a:latin typeface="Calibri"/>
              </a:rPr>
              <a:t>Neutre  ·  30 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FactSet Research Systems Inc.  ·  Financial Services</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4–6</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7–10</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11–14</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Risques structurels &amp; thèse contraire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15–16</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historique &amp; conviction</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17–21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FactSet Research Systems Inc.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FactSet Research Systems Inc. (FDS) opere dans le secteur Financial Services. Analyse FinSight IA en cours -- donnees de synthese non disponibles pour cette session. Lancer une nouvelle analyse pour obtenir la description complete, les segments et le positionnement strategique.</a:t>
            </a:r>
          </a:p>
        </p:txBody>
      </p:sp>
      <p:sp>
        <p:nvSpPr>
          <p:cNvPr id="20" name="TextBox 19"/>
          <p:cNvSpPr txBox="1"/>
          <p:nvPr/>
        </p:nvSpPr>
        <p:spPr>
          <a:xfrm>
            <a:off x="503999" y="2358000"/>
            <a:ext cx="4662000" cy="183600"/>
          </a:xfrm>
          <a:prstGeom prst="rect">
            <a:avLst/>
          </a:prstGeom>
          <a:noFill/>
        </p:spPr>
        <p:txBody>
          <a:bodyPr wrap="square">
            <a:spAutoFit/>
          </a:bodyPr>
          <a:lstStyle/>
          <a:p>
            <a:pPr algn="l"/>
            <a:r>
              <a:rPr sz="900" b="1" i="0">
                <a:solidFill>
                  <a:srgbClr val="1B3A6B"/>
                </a:solidFill>
                <a:latin typeface="Calibri"/>
              </a:rPr>
              <a:t>Positionnement stratégique</a:t>
            </a:r>
          </a:p>
        </p:txBody>
      </p:sp>
      <p:sp>
        <p:nvSpPr>
          <p:cNvPr id="21" name="Rectangle 20"/>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7,8 Mds$</a:t>
            </a:r>
          </a:p>
        </p:txBody>
      </p:sp>
      <p:sp>
        <p:nvSpPr>
          <p:cNvPr id="24" name="TextBox 23"/>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25" name="Rectangle 24"/>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2,3 Mds$</a:t>
            </a:r>
          </a:p>
        </p:txBody>
      </p:sp>
      <p:sp>
        <p:nvSpPr>
          <p:cNvPr id="28" name="TextBox 27"/>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29" name="Rectangle 28"/>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213,52 $</a:t>
            </a:r>
          </a:p>
        </p:txBody>
      </p:sp>
      <p:sp>
        <p:nvSpPr>
          <p:cNvPr id="32" name="TextBox 31"/>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3" name="Rectangle 32"/>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9,1x</a:t>
            </a:r>
          </a:p>
        </p:txBody>
      </p:sp>
      <p:sp>
        <p:nvSpPr>
          <p:cNvPr id="36" name="TextBox 35"/>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37" name="TextBox 36"/>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13,0x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2731199"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31199"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2551199" cy="640800"/>
          </a:xfrm>
          <a:prstGeom prst="rect">
            <a:avLst/>
          </a:prstGeom>
          <a:noFill/>
        </p:spPr>
        <p:txBody>
          <a:bodyPr wrap="square">
            <a:spAutoFit/>
          </a:bodyPr>
          <a:lstStyle/>
          <a:p>
            <a:pPr algn="l"/>
            <a:r>
              <a:rPr sz="2200" b="1" i="0">
                <a:solidFill>
                  <a:srgbClr val="2E5FA3"/>
                </a:solidFill>
                <a:latin typeface="Calibri"/>
              </a:rPr>
              <a:t>—</a:t>
            </a:r>
          </a:p>
        </p:txBody>
      </p:sp>
      <p:sp>
        <p:nvSpPr>
          <p:cNvPr id="20" name="TextBox 19"/>
          <p:cNvSpPr txBox="1"/>
          <p:nvPr/>
        </p:nvSpPr>
        <p:spPr>
          <a:xfrm>
            <a:off x="4572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2551199" cy="255600"/>
          </a:xfrm>
          <a:prstGeom prst="rect">
            <a:avLst/>
          </a:prstGeom>
          <a:noFill/>
        </p:spPr>
        <p:txBody>
          <a:bodyPr wrap="square">
            <a:spAutoFit/>
          </a:bodyPr>
          <a:lstStyle/>
          <a:p>
            <a:pPr algn="l"/>
            <a:r>
              <a:rPr sz="1000" b="1" i="0">
                <a:solidFill>
                  <a:srgbClr val="1B3A6B"/>
                </a:solidFill>
                <a:latin typeface="Calibri"/>
              </a:rPr>
              <a:t>Core Business</a:t>
            </a:r>
          </a:p>
        </p:txBody>
      </p:sp>
      <p:sp>
        <p:nvSpPr>
          <p:cNvPr id="23" name="TextBox 22"/>
          <p:cNvSpPr txBox="1"/>
          <p:nvPr/>
        </p:nvSpPr>
        <p:spPr>
          <a:xfrm>
            <a:off x="457200" y="2332800"/>
            <a:ext cx="2551199" cy="2041199"/>
          </a:xfrm>
          <a:prstGeom prst="rect">
            <a:avLst/>
          </a:prstGeom>
          <a:noFill/>
        </p:spPr>
        <p:txBody>
          <a:bodyPr wrap="square">
            <a:spAutoFit/>
          </a:bodyPr>
          <a:lstStyle/>
          <a:p>
            <a:pPr algn="l"/>
            <a:r>
              <a:rPr sz="800" b="0" i="0">
                <a:solidFill>
                  <a:srgbClr val="555555"/>
                </a:solidFill>
                <a:latin typeface="Calibri"/>
              </a:rPr>
              <a:t>—</a:t>
            </a:r>
          </a:p>
        </p:txBody>
      </p:sp>
      <p:sp>
        <p:nvSpPr>
          <p:cNvPr id="24" name="Rectangle 23"/>
          <p:cNvSpPr/>
          <p:nvPr/>
        </p:nvSpPr>
        <p:spPr>
          <a:xfrm>
            <a:off x="3206400" y="961200"/>
            <a:ext cx="2731199"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6400" y="961200"/>
            <a:ext cx="2731199"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6400" y="1141200"/>
            <a:ext cx="2551199" cy="640800"/>
          </a:xfrm>
          <a:prstGeom prst="rect">
            <a:avLst/>
          </a:prstGeom>
          <a:noFill/>
        </p:spPr>
        <p:txBody>
          <a:bodyPr wrap="square">
            <a:spAutoFit/>
          </a:bodyPr>
          <a:lstStyle/>
          <a:p>
            <a:pPr algn="l"/>
            <a:r>
              <a:rPr sz="2200" b="1" i="0">
                <a:solidFill>
                  <a:srgbClr val="1A7A4A"/>
                </a:solidFill>
                <a:latin typeface="Calibri"/>
              </a:rPr>
              <a:t>—</a:t>
            </a:r>
          </a:p>
        </p:txBody>
      </p:sp>
      <p:sp>
        <p:nvSpPr>
          <p:cNvPr id="27" name="TextBox 26"/>
          <p:cNvSpPr txBox="1"/>
          <p:nvPr/>
        </p:nvSpPr>
        <p:spPr>
          <a:xfrm>
            <a:off x="32964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32964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6400" y="2059200"/>
            <a:ext cx="2551199" cy="255600"/>
          </a:xfrm>
          <a:prstGeom prst="rect">
            <a:avLst/>
          </a:prstGeom>
          <a:noFill/>
        </p:spPr>
        <p:txBody>
          <a:bodyPr wrap="square">
            <a:spAutoFit/>
          </a:bodyPr>
          <a:lstStyle/>
          <a:p>
            <a:pPr algn="l"/>
            <a:r>
              <a:rPr sz="1000" b="1" i="0">
                <a:solidFill>
                  <a:srgbClr val="1B3A6B"/>
                </a:solidFill>
                <a:latin typeface="Calibri"/>
              </a:rPr>
              <a:t>Growth Driver</a:t>
            </a:r>
          </a:p>
        </p:txBody>
      </p:sp>
      <p:sp>
        <p:nvSpPr>
          <p:cNvPr id="30" name="TextBox 29"/>
          <p:cNvSpPr txBox="1"/>
          <p:nvPr/>
        </p:nvSpPr>
        <p:spPr>
          <a:xfrm>
            <a:off x="3296400" y="2332800"/>
            <a:ext cx="2551199" cy="2041199"/>
          </a:xfrm>
          <a:prstGeom prst="rect">
            <a:avLst/>
          </a:prstGeom>
          <a:noFill/>
        </p:spPr>
        <p:txBody>
          <a:bodyPr wrap="square">
            <a:spAutoFit/>
          </a:bodyPr>
          <a:lstStyle/>
          <a:p>
            <a:pPr algn="l"/>
            <a:r>
              <a:rPr sz="800" b="0" i="0">
                <a:solidFill>
                  <a:srgbClr val="555555"/>
                </a:solidFill>
                <a:latin typeface="Calibri"/>
              </a:rPr>
              <a:t>—</a:t>
            </a:r>
          </a:p>
        </p:txBody>
      </p:sp>
      <p:sp>
        <p:nvSpPr>
          <p:cNvPr id="31" name="Rectangle 30"/>
          <p:cNvSpPr/>
          <p:nvPr/>
        </p:nvSpPr>
        <p:spPr>
          <a:xfrm>
            <a:off x="6045600" y="961200"/>
            <a:ext cx="2731199"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45600" y="961200"/>
            <a:ext cx="2731199" cy="54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35600" y="1141200"/>
            <a:ext cx="2551199" cy="640800"/>
          </a:xfrm>
          <a:prstGeom prst="rect">
            <a:avLst/>
          </a:prstGeom>
          <a:noFill/>
        </p:spPr>
        <p:txBody>
          <a:bodyPr wrap="square">
            <a:spAutoFit/>
          </a:bodyPr>
          <a:lstStyle/>
          <a:p>
            <a:pPr algn="l"/>
            <a:r>
              <a:rPr sz="2200" b="1" i="0">
                <a:solidFill>
                  <a:srgbClr val="888888"/>
                </a:solidFill>
                <a:latin typeface="Calibri"/>
              </a:rPr>
              <a:t>—</a:t>
            </a:r>
          </a:p>
        </p:txBody>
      </p:sp>
      <p:sp>
        <p:nvSpPr>
          <p:cNvPr id="34" name="TextBox 33"/>
          <p:cNvSpPr txBox="1"/>
          <p:nvPr/>
        </p:nvSpPr>
        <p:spPr>
          <a:xfrm>
            <a:off x="61356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35" name="Rectangle 34"/>
          <p:cNvSpPr/>
          <p:nvPr/>
        </p:nvSpPr>
        <p:spPr>
          <a:xfrm>
            <a:off x="61356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5600" y="2059200"/>
            <a:ext cx="2551199" cy="255600"/>
          </a:xfrm>
          <a:prstGeom prst="rect">
            <a:avLst/>
          </a:prstGeom>
          <a:noFill/>
        </p:spPr>
        <p:txBody>
          <a:bodyPr wrap="square">
            <a:spAutoFit/>
          </a:bodyPr>
          <a:lstStyle/>
          <a:p>
            <a:pPr algn="l"/>
            <a:r>
              <a:rPr sz="1000" b="1" i="0">
                <a:solidFill>
                  <a:srgbClr val="1B3A6B"/>
                </a:solidFill>
                <a:latin typeface="Calibri"/>
              </a:rPr>
              <a:t>International</a:t>
            </a:r>
          </a:p>
        </p:txBody>
      </p:sp>
      <p:sp>
        <p:nvSpPr>
          <p:cNvPr id="37" name="TextBox 36"/>
          <p:cNvSpPr txBox="1"/>
          <p:nvPr/>
        </p:nvSpPr>
        <p:spPr>
          <a:xfrm>
            <a:off x="6135600" y="2332800"/>
            <a:ext cx="2551199" cy="2041199"/>
          </a:xfrm>
          <a:prstGeom prst="rect">
            <a:avLst/>
          </a:prstGeom>
          <a:noFill/>
        </p:spPr>
        <p:txBody>
          <a:bodyPr wrap="square">
            <a:spAutoFit/>
          </a:bodyPr>
          <a:lstStyle/>
          <a:p>
            <a:pPr algn="l"/>
            <a:r>
              <a:rPr sz="800" b="0" i="0">
                <a:solidFill>
                  <a:srgbClr val="555555"/>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USD millions  ·  2022–2025</a:t>
            </a:r>
          </a:p>
        </p:txBody>
      </p:sp>
      <p:graphicFrame>
        <p:nvGraphicFramePr>
          <p:cNvPr id="17" name="Table 16"/>
          <p:cNvGraphicFramePr>
            <a:graphicFrameLocks noGrp="1"/>
          </p:cNvGraphicFramePr>
          <p:nvPr/>
        </p:nvGraphicFramePr>
        <p:xfrm>
          <a:off x="367200" y="914400"/>
          <a:ext cx="8413200" cy="1980000"/>
        </p:xfrm>
        <a:graphic>
          <a:graphicData uri="http://schemas.openxmlformats.org/drawingml/2006/table">
            <a:tbl>
              <a:tblPr firstRow="1" bandRow="1">
                <a:tableStyleId>{5C22544A-7EE6-4342-B048-85BDC9FD1C3A}</a:tableStyleId>
              </a:tblPr>
              <a:tblGrid>
                <a:gridCol w="2355696"/>
                <a:gridCol w="2019168"/>
                <a:gridCol w="2019168"/>
                <a:gridCol w="2019168"/>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2,1</a:t>
                      </a:r>
                    </a:p>
                  </a:txBody>
                  <a:tcPr>
                    <a:solidFill>
                      <a:srgbClr val="FFFFFF"/>
                    </a:solidFill>
                  </a:tcPr>
                </a:tc>
                <a:tc>
                  <a:txBody>
                    <a:bodyPr/>
                    <a:lstStyle/>
                    <a:p>
                      <a:pPr algn="ctr"/>
                      <a:r>
                        <a:rPr sz="800" b="1" i="0">
                          <a:solidFill>
                            <a:srgbClr val="0D0D0D"/>
                          </a:solidFill>
                          <a:latin typeface="Calibri"/>
                        </a:rPr>
                        <a:t>2,2</a:t>
                      </a:r>
                    </a:p>
                  </a:txBody>
                  <a:tcPr>
                    <a:solidFill>
                      <a:srgbClr val="FFFFFF"/>
                    </a:solidFill>
                  </a:tcPr>
                </a:tc>
                <a:tc>
                  <a:txBody>
                    <a:bodyPr/>
                    <a:lstStyle/>
                    <a:p>
                      <a:pPr algn="ctr"/>
                      <a:r>
                        <a:rPr sz="800" b="1" i="0">
                          <a:solidFill>
                            <a:srgbClr val="1B3A6B"/>
                          </a:solidFill>
                          <a:latin typeface="Calibri"/>
                        </a:rPr>
                        <a:t>2,3</a:t>
                      </a:r>
                    </a:p>
                  </a:txBody>
                  <a:tcPr>
                    <a:solidFill>
                      <a:srgbClr val="DDE8F5"/>
                    </a:solidFill>
                  </a:tcPr>
                </a:tc>
              </a:tr>
              <a:tr h="220000">
                <a:tc>
                  <a:txBody>
                    <a:bodyPr/>
                    <a:lstStyle/>
                    <a:p>
                      <a:pPr algn="l"/>
                      <a:r>
                        <a:rPr sz="750" b="0" i="1">
                          <a:solidFill>
                            <a:srgbClr val="333333"/>
                          </a:solidFill>
                          <a:latin typeface="Calibri"/>
                        </a:rPr>
                        <a:t>Croissance YoY</a:t>
                      </a:r>
                    </a:p>
                  </a:txBody>
                  <a:tcPr>
                    <a:solidFill>
                      <a:srgbClr val="F7F8FA"/>
                    </a:solidFill>
                  </a:tcPr>
                </a:tc>
                <a:tc>
                  <a:txBody>
                    <a:bodyPr/>
                    <a:lstStyle/>
                    <a:p>
                      <a:pPr algn="ctr"/>
                      <a:r>
                        <a:rPr sz="750" b="0" i="1">
                          <a:solidFill>
                            <a:srgbClr val="333333"/>
                          </a:solidFill>
                          <a:latin typeface="Calibri"/>
                        </a:rPr>
                        <a:t>+13,1 %</a:t>
                      </a:r>
                    </a:p>
                  </a:txBody>
                  <a:tcPr>
                    <a:solidFill>
                      <a:srgbClr val="F7F8FA"/>
                    </a:solidFill>
                  </a:tcPr>
                </a:tc>
                <a:tc>
                  <a:txBody>
                    <a:bodyPr/>
                    <a:lstStyle/>
                    <a:p>
                      <a:pPr algn="ctr"/>
                      <a:r>
                        <a:rPr sz="750" b="0" i="1">
                          <a:solidFill>
                            <a:srgbClr val="333333"/>
                          </a:solidFill>
                          <a:latin typeface="Calibri"/>
                        </a:rPr>
                        <a:t>+5,6 %</a:t>
                      </a:r>
                    </a:p>
                  </a:txBody>
                  <a:tcPr>
                    <a:solidFill>
                      <a:srgbClr val="F7F8FA"/>
                    </a:solidFill>
                  </a:tcPr>
                </a:tc>
                <a:tc>
                  <a:txBody>
                    <a:bodyPr/>
                    <a:lstStyle/>
                    <a:p>
                      <a:pPr algn="ctr"/>
                      <a:r>
                        <a:rPr sz="750" b="0" i="1">
                          <a:solidFill>
                            <a:srgbClr val="333333"/>
                          </a:solidFill>
                          <a:latin typeface="Calibri"/>
                        </a:rPr>
                        <a:t>+5,4 %</a:t>
                      </a:r>
                    </a:p>
                  </a:txBody>
                  <a:tcPr>
                    <a:solidFill>
                      <a:srgbClr val="DDE8F5"/>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1,1</a:t>
                      </a:r>
                    </a:p>
                  </a:txBody>
                  <a:tcPr>
                    <a:solidFill>
                      <a:srgbClr val="FFFFFF"/>
                    </a:solidFill>
                  </a:tcPr>
                </a:tc>
                <a:tc>
                  <a:txBody>
                    <a:bodyPr/>
                    <a:lstStyle/>
                    <a:p>
                      <a:pPr algn="ctr"/>
                      <a:r>
                        <a:rPr sz="800" b="1" i="0">
                          <a:solidFill>
                            <a:srgbClr val="0D0D0D"/>
                          </a:solidFill>
                          <a:latin typeface="Calibri"/>
                        </a:rPr>
                        <a:t>1,2</a:t>
                      </a:r>
                    </a:p>
                  </a:txBody>
                  <a:tcPr>
                    <a:solidFill>
                      <a:srgbClr val="FFFFFF"/>
                    </a:solidFill>
                  </a:tcPr>
                </a:tc>
                <a:tc>
                  <a:txBody>
                    <a:bodyPr/>
                    <a:lstStyle/>
                    <a:p>
                      <a:pPr algn="ctr"/>
                      <a:r>
                        <a:rPr sz="800" b="1" i="0">
                          <a:solidFill>
                            <a:srgbClr val="1B3A6B"/>
                          </a:solidFill>
                          <a:latin typeface="Calibri"/>
                        </a:rPr>
                        <a:t>1,2</a:t>
                      </a:r>
                    </a:p>
                  </a:txBody>
                  <a:tcPr>
                    <a:solidFill>
                      <a:srgbClr val="DDE8F5"/>
                    </a:solidFill>
                  </a:tcPr>
                </a:tc>
              </a:tr>
              <a:tr h="220000">
                <a:tc>
                  <a:txBody>
                    <a:bodyPr/>
                    <a:lstStyle/>
                    <a:p>
                      <a:pPr algn="l"/>
                      <a:r>
                        <a:rPr sz="750" b="0" i="1">
                          <a:solidFill>
                            <a:srgbClr val="333333"/>
                          </a:solidFill>
                          <a:latin typeface="Calibri"/>
                        </a:rPr>
                        <a:t>Marge brute</a:t>
                      </a:r>
                    </a:p>
                  </a:txBody>
                  <a:tcPr>
                    <a:solidFill>
                      <a:srgbClr val="F7F8FA"/>
                    </a:solidFill>
                  </a:tcPr>
                </a:tc>
                <a:tc>
                  <a:txBody>
                    <a:bodyPr/>
                    <a:lstStyle/>
                    <a:p>
                      <a:pPr algn="ctr"/>
                      <a:r>
                        <a:rPr sz="750" b="0" i="1">
                          <a:solidFill>
                            <a:srgbClr val="333333"/>
                          </a:solidFill>
                          <a:latin typeface="Calibri"/>
                        </a:rPr>
                        <a:t>53,3 %</a:t>
                      </a:r>
                    </a:p>
                  </a:txBody>
                  <a:tcPr>
                    <a:solidFill>
                      <a:srgbClr val="F7F8FA"/>
                    </a:solidFill>
                  </a:tcPr>
                </a:tc>
                <a:tc>
                  <a:txBody>
                    <a:bodyPr/>
                    <a:lstStyle/>
                    <a:p>
                      <a:pPr algn="ctr"/>
                      <a:r>
                        <a:rPr sz="750" b="0" i="1">
                          <a:solidFill>
                            <a:srgbClr val="333333"/>
                          </a:solidFill>
                          <a:latin typeface="Calibri"/>
                        </a:rPr>
                        <a:t>54,1 %</a:t>
                      </a:r>
                    </a:p>
                  </a:txBody>
                  <a:tcPr>
                    <a:solidFill>
                      <a:srgbClr val="F7F8FA"/>
                    </a:solidFill>
                  </a:tcPr>
                </a:tc>
                <a:tc>
                  <a:txBody>
                    <a:bodyPr/>
                    <a:lstStyle/>
                    <a:p>
                      <a:pPr algn="ctr"/>
                      <a:r>
                        <a:rPr sz="750" b="0" i="1">
                          <a:solidFill>
                            <a:srgbClr val="333333"/>
                          </a:solidFill>
                          <a:latin typeface="Calibri"/>
                        </a:rPr>
                        <a:t>52,7 %</a:t>
                      </a:r>
                    </a:p>
                  </a:txBody>
                  <a:tcPr>
                    <a:solidFill>
                      <a:srgbClr val="DDE8F5"/>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0,8</a:t>
                      </a:r>
                    </a:p>
                  </a:txBody>
                  <a:tcPr>
                    <a:solidFill>
                      <a:srgbClr val="FFFFFF"/>
                    </a:solidFill>
                  </a:tcPr>
                </a:tc>
                <a:tc>
                  <a:txBody>
                    <a:bodyPr/>
                    <a:lstStyle/>
                    <a:p>
                      <a:pPr algn="ctr"/>
                      <a:r>
                        <a:rPr sz="800" b="1" i="0">
                          <a:solidFill>
                            <a:srgbClr val="0D0D0D"/>
                          </a:solidFill>
                          <a:latin typeface="Calibri"/>
                        </a:rPr>
                        <a:t>0,9</a:t>
                      </a:r>
                    </a:p>
                  </a:txBody>
                  <a:tcPr>
                    <a:solidFill>
                      <a:srgbClr val="FFFFFF"/>
                    </a:solidFill>
                  </a:tcPr>
                </a:tc>
                <a:tc>
                  <a:txBody>
                    <a:bodyPr/>
                    <a:lstStyle/>
                    <a:p>
                      <a:pPr algn="ctr"/>
                      <a:r>
                        <a:rPr sz="800" b="1" i="0">
                          <a:solidFill>
                            <a:srgbClr val="1B3A6B"/>
                          </a:solidFill>
                          <a:latin typeface="Calibri"/>
                        </a:rPr>
                        <a:t>1,0</a:t>
                      </a:r>
                    </a:p>
                  </a:txBody>
                  <a:tcPr>
                    <a:solidFill>
                      <a:srgbClr val="DDE8F5"/>
                    </a:solidFill>
                  </a:tcPr>
                </a:tc>
              </a:tr>
              <a:tr h="220000">
                <a:tc>
                  <a:txBody>
                    <a:bodyPr/>
                    <a:lstStyle/>
                    <a:p>
                      <a:pPr algn="l"/>
                      <a:r>
                        <a:rPr sz="750" b="0" i="1">
                          <a:solidFill>
                            <a:srgbClr val="333333"/>
                          </a:solidFill>
                          <a:latin typeface="Calibri"/>
                        </a:rPr>
                        <a:t>Marge EBITDA</a:t>
                      </a:r>
                    </a:p>
                  </a:txBody>
                  <a:tcPr>
                    <a:solidFill>
                      <a:srgbClr val="F7F8FA"/>
                    </a:solidFill>
                  </a:tcPr>
                </a:tc>
                <a:tc>
                  <a:txBody>
                    <a:bodyPr/>
                    <a:lstStyle/>
                    <a:p>
                      <a:pPr algn="ctr"/>
                      <a:r>
                        <a:rPr sz="750" b="0" i="1">
                          <a:solidFill>
                            <a:srgbClr val="333333"/>
                          </a:solidFill>
                          <a:latin typeface="Calibri"/>
                        </a:rPr>
                        <a:t>37,8 %</a:t>
                      </a:r>
                    </a:p>
                  </a:txBody>
                  <a:tcPr>
                    <a:solidFill>
                      <a:srgbClr val="F7F8FA"/>
                    </a:solidFill>
                  </a:tcPr>
                </a:tc>
                <a:tc>
                  <a:txBody>
                    <a:bodyPr/>
                    <a:lstStyle/>
                    <a:p>
                      <a:pPr algn="ctr"/>
                      <a:r>
                        <a:rPr sz="750" b="0" i="1">
                          <a:solidFill>
                            <a:srgbClr val="333333"/>
                          </a:solidFill>
                          <a:latin typeface="Calibri"/>
                        </a:rPr>
                        <a:t>39,6 %</a:t>
                      </a:r>
                    </a:p>
                  </a:txBody>
                  <a:tcPr>
                    <a:solidFill>
                      <a:srgbClr val="F7F8FA"/>
                    </a:solidFill>
                  </a:tcPr>
                </a:tc>
                <a:tc>
                  <a:txBody>
                    <a:bodyPr/>
                    <a:lstStyle/>
                    <a:p>
                      <a:pPr algn="ctr"/>
                      <a:r>
                        <a:rPr sz="750" b="0" i="1">
                          <a:solidFill>
                            <a:srgbClr val="333333"/>
                          </a:solidFill>
                          <a:latin typeface="Calibri"/>
                        </a:rPr>
                        <a:t>41,6 %</a:t>
                      </a:r>
                    </a:p>
                  </a:txBody>
                  <a:tcPr>
                    <a:solidFill>
                      <a:srgbClr val="DDE8F5"/>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0,5</a:t>
                      </a:r>
                    </a:p>
                  </a:txBody>
                  <a:tcPr>
                    <a:solidFill>
                      <a:srgbClr val="FFFFFF"/>
                    </a:solidFill>
                  </a:tcPr>
                </a:tc>
                <a:tc>
                  <a:txBody>
                    <a:bodyPr/>
                    <a:lstStyle/>
                    <a:p>
                      <a:pPr algn="ctr"/>
                      <a:r>
                        <a:rPr sz="800" b="1" i="0">
                          <a:solidFill>
                            <a:srgbClr val="0D0D0D"/>
                          </a:solidFill>
                          <a:latin typeface="Calibri"/>
                        </a:rPr>
                        <a:t>0,5</a:t>
                      </a:r>
                    </a:p>
                  </a:txBody>
                  <a:tcPr>
                    <a:solidFill>
                      <a:srgbClr val="FFFFFF"/>
                    </a:solidFill>
                  </a:tcPr>
                </a:tc>
                <a:tc>
                  <a:txBody>
                    <a:bodyPr/>
                    <a:lstStyle/>
                    <a:p>
                      <a:pPr algn="ctr"/>
                      <a:r>
                        <a:rPr sz="800" b="1" i="0">
                          <a:solidFill>
                            <a:srgbClr val="1B3A6B"/>
                          </a:solidFill>
                          <a:latin typeface="Calibri"/>
                        </a:rPr>
                        <a:t>0,6</a:t>
                      </a:r>
                    </a:p>
                  </a:txBody>
                  <a:tcPr>
                    <a:solidFill>
                      <a:srgbClr val="DDE8F5"/>
                    </a:solidFill>
                  </a:tcPr>
                </a:tc>
              </a:tr>
              <a:tr h="220000">
                <a:tc>
                  <a:txBody>
                    <a:bodyPr/>
                    <a:lstStyle/>
                    <a:p>
                      <a:pPr algn="l"/>
                      <a:r>
                        <a:rPr sz="750" b="0" i="1">
                          <a:solidFill>
                            <a:srgbClr val="333333"/>
                          </a:solidFill>
                          <a:latin typeface="Calibri"/>
                        </a:rPr>
                        <a:t>Marge nette</a:t>
                      </a:r>
                    </a:p>
                  </a:txBody>
                  <a:tcPr>
                    <a:solidFill>
                      <a:srgbClr val="F7F8FA"/>
                    </a:solidFill>
                  </a:tcPr>
                </a:tc>
                <a:tc>
                  <a:txBody>
                    <a:bodyPr/>
                    <a:lstStyle/>
                    <a:p>
                      <a:pPr algn="ctr"/>
                      <a:r>
                        <a:rPr sz="750" b="0" i="1">
                          <a:solidFill>
                            <a:srgbClr val="333333"/>
                          </a:solidFill>
                          <a:latin typeface="Calibri"/>
                        </a:rPr>
                        <a:t>22,4 %</a:t>
                      </a:r>
                    </a:p>
                  </a:txBody>
                  <a:tcPr>
                    <a:solidFill>
                      <a:srgbClr val="F7F8FA"/>
                    </a:solidFill>
                  </a:tcPr>
                </a:tc>
                <a:tc>
                  <a:txBody>
                    <a:bodyPr/>
                    <a:lstStyle/>
                    <a:p>
                      <a:pPr algn="ctr"/>
                      <a:r>
                        <a:rPr sz="750" b="0" i="1">
                          <a:solidFill>
                            <a:srgbClr val="333333"/>
                          </a:solidFill>
                          <a:latin typeface="Calibri"/>
                        </a:rPr>
                        <a:t>24,4 %</a:t>
                      </a:r>
                    </a:p>
                  </a:txBody>
                  <a:tcPr>
                    <a:solidFill>
                      <a:srgbClr val="F7F8FA"/>
                    </a:solidFill>
                  </a:tcPr>
                </a:tc>
                <a:tc>
                  <a:txBody>
                    <a:bodyPr/>
                    <a:lstStyle/>
                    <a:p>
                      <a:pPr algn="ctr"/>
                      <a:r>
                        <a:rPr sz="750" b="0" i="1">
                          <a:solidFill>
                            <a:srgbClr val="333333"/>
                          </a:solidFill>
                          <a:latin typeface="Calibri"/>
                        </a:rPr>
                        <a:t>25,7 %</a:t>
                      </a:r>
                    </a:p>
                  </a:txBody>
                  <a:tcPr>
                    <a:solidFill>
                      <a:srgbClr val="DDE8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USD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338 M$</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1,4 Mds$</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1,0 Mds$</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4,58</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4,58</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0,6x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13,8x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1,1x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4,87</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-2,34</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13,0x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Sous-value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9,1x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52,7 %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41,6 %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27,3 %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20,6 %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Léger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4,87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Solide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-2,34</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213,52 $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a:t>
                      </a:r>
                    </a:p>
                  </a:txBody>
                  <a:tcPr>
                    <a:solidFill>
                      <a:srgbClr val="FAF0EF"/>
                    </a:solidFill>
                  </a:tcPr>
                </a:tc>
                <a:tc>
                  <a:txBody>
                    <a:bodyPr/>
                    <a:lstStyle/>
                    <a:p>
                      <a:pPr algn="ctr"/>
                      <a:r>
                        <a:rPr sz="2000" b="1" i="0">
                          <a:solidFill>
                            <a:srgbClr val="2E5FA3"/>
                          </a:solidFill>
                          <a:latin typeface="Calibri"/>
                        </a:rPr>
                        <a:t>—</a:t>
                      </a:r>
                    </a:p>
                  </a:txBody>
                  <a:tcPr>
                    <a:solidFill>
                      <a:srgbClr val="EEF3FA"/>
                    </a:solidFill>
                  </a:tcPr>
                </a:tc>
                <a:tc>
                  <a:txBody>
                    <a:bodyPr/>
                    <a:lstStyle/>
                    <a:p>
                      <a:pPr algn="ctr"/>
                      <a:r>
                        <a:rPr sz="2000" b="1" i="0">
                          <a:solidFill>
                            <a:srgbClr val="1A7A4A"/>
                          </a:solidFill>
                          <a:latin typeface="Calibri"/>
                        </a:rPr>
                        <a:t>—</a:t>
                      </a:r>
                    </a:p>
                  </a:txBody>
                  <a:tcPr>
                    <a:solidFill>
                      <a:srgbClr val="EAF4EF"/>
                    </a:solidFill>
                  </a:tcPr>
                </a:tc>
              </a:tr>
              <a:tr h="342900">
                <a:tc>
                  <a:txBody>
                    <a:bodyPr/>
                    <a:lstStyle/>
                    <a:p>
                      <a:pPr algn="ctr"/>
                      <a:r>
                        <a:rPr sz="1200" b="1" i="0">
                          <a:solidFill>
                            <a:srgbClr val="A82020"/>
                          </a:solidFill>
                          <a:latin typeface="Calibri"/>
                        </a:rPr>
                        <a:t>—</a:t>
                      </a:r>
                    </a:p>
                  </a:txBody>
                  <a:tcPr>
                    <a:solidFill>
                      <a:srgbClr val="FAF0EF"/>
                    </a:solidFill>
                  </a:tcPr>
                </a:tc>
                <a:tc>
                  <a:txBody>
                    <a:bodyPr/>
                    <a:lstStyle/>
                    <a:p>
                      <a:pPr algn="ctr"/>
                      <a:r>
                        <a:rPr sz="1200" b="1" i="0">
                          <a:solidFill>
                            <a:srgbClr val="2E5FA3"/>
                          </a:solidFill>
                          <a:latin typeface="Calibri"/>
                        </a:rPr>
                        <a:t>—</a:t>
                      </a:r>
                    </a:p>
                  </a:txBody>
                  <a:tcPr>
                    <a:solidFill>
                      <a:srgbClr val="EEF3FA"/>
                    </a:solidFill>
                  </a:tcPr>
                </a:tc>
                <a:tc>
                  <a:txBody>
                    <a:bodyPr/>
                    <a:lstStyle/>
                    <a:p>
                      <a:pPr algn="ctr"/>
                      <a:r>
                        <a:rPr sz="1200" b="1" i="0">
                          <a:solidFill>
                            <a:srgbClr val="1A7A4A"/>
                          </a:solidFill>
                          <a:latin typeface="Calibri"/>
                        </a:rPr>
                        <a:t>—</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4024800" cy="201600"/>
          </a:xfrm>
          <a:prstGeom prst="rect">
            <a:avLst/>
          </a:prstGeom>
          <a:noFill/>
        </p:spPr>
        <p:txBody>
          <a:bodyPr wrap="square">
            <a:spAutoFit/>
          </a:bodyPr>
          <a:lstStyle/>
          <a:p>
            <a:pPr algn="l"/>
            <a:r>
              <a:rPr sz="900" b="1" i="0">
                <a:solidFill>
                  <a:srgbClr val="1B3A6B"/>
                </a:solidFill>
                <a:latin typeface="Calibri"/>
              </a:rPr>
              <a:t>Monte Carlo GBM — 10 000 simulations</a:t>
            </a:r>
          </a:p>
        </p:txBody>
      </p:sp>
      <p:graphicFrame>
        <p:nvGraphicFramePr>
          <p:cNvPr id="19" name="Table 18"/>
          <p:cNvGraphicFramePr>
            <a:graphicFrameLocks noGrp="1"/>
          </p:cNvGraphicFramePr>
          <p:nvPr/>
        </p:nvGraphicFramePr>
        <p:xfrm>
          <a:off x="367200" y="2653200"/>
          <a:ext cx="4024800" cy="1116000"/>
        </p:xfrm>
        <a:graphic>
          <a:graphicData uri="http://schemas.openxmlformats.org/drawingml/2006/table">
            <a:tbl>
              <a:tblPr firstRow="1" bandRow="1">
                <a:tableStyleId>{5C22544A-7EE6-4342-B048-85BDC9FD1C3A}</a:tableStyleId>
              </a:tblPr>
              <a:tblGrid>
                <a:gridCol w="1690416"/>
                <a:gridCol w="1287936"/>
                <a:gridCol w="1046448"/>
              </a:tblGrid>
              <a:tr h="186000">
                <a:tc>
                  <a:txBody>
                    <a:bodyPr/>
                    <a:lstStyle/>
                    <a:p>
                      <a:pPr algn="l"/>
                      <a:r>
                        <a:rPr sz="800" b="1" i="0">
                          <a:solidFill>
                            <a:srgbClr val="FFFFFF"/>
                          </a:solidFill>
                          <a:latin typeface="Calibri"/>
                        </a:rPr>
                        <a:t>Scénario</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Cours prédit (12M)</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vs Cours</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Down (P2)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-63,6 %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Pessimiste (P10)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 Médian (P50)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145 $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-32,2 %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Optimiste (P90)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Up (P98)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4482000" y="2394000"/>
            <a:ext cx="4298400" cy="201600"/>
          </a:xfrm>
          <a:prstGeom prst="rect">
            <a:avLst/>
          </a:prstGeom>
          <a:noFill/>
        </p:spPr>
        <p:txBody>
          <a:bodyPr wrap="square">
            <a:spAutoFit/>
          </a:bodyPr>
          <a:lstStyle/>
          <a:p>
            <a:pPr algn="l"/>
            <a:r>
              <a:rPr sz="900" b="1" i="0">
                <a:solidFill>
                  <a:srgbClr val="1B3A6B"/>
                </a:solidFill>
                <a:latin typeface="Calibri"/>
              </a:rPr>
              <a:t>Sensibilité WACC × TGR — Valeur ($)</a:t>
            </a:r>
          </a:p>
        </p:txBody>
      </p:sp>
      <p:graphicFrame>
        <p:nvGraphicFramePr>
          <p:cNvPr id="21" name="Table 20"/>
          <p:cNvGraphicFramePr>
            <a:graphicFrameLocks noGrp="1"/>
          </p:cNvGraphicFramePr>
          <p:nvPr/>
        </p:nvGraphicFramePr>
        <p:xfrm>
          <a:off x="4482000" y="2653200"/>
          <a:ext cx="4298400" cy="1116000"/>
        </p:xfrm>
        <a:graphic>
          <a:graphicData uri="http://schemas.openxmlformats.org/drawingml/2006/table">
            <a:tbl>
              <a:tblPr firstRow="1" bandRow="1">
                <a:tableStyleId>{5C22544A-7EE6-4342-B048-85BDC9FD1C3A}</a:tableStyleId>
              </a:tblPr>
              <a:tblGrid>
                <a:gridCol w="716400"/>
                <a:gridCol w="716400"/>
                <a:gridCol w="716400"/>
                <a:gridCol w="716400"/>
                <a:gridCol w="716400"/>
                <a:gridCol w="7164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5,5%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6,6%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7,5%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8,5%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9,6%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USD</a:t>
            </a:r>
          </a:p>
        </p:txBody>
      </p:sp>
      <p:graphicFrame>
        <p:nvGraphicFramePr>
          <p:cNvPr id="17" name="Table 16"/>
          <p:cNvGraphicFramePr>
            <a:graphicFrameLocks noGrp="1"/>
          </p:cNvGraphicFramePr>
          <p:nvPr/>
        </p:nvGraphicFramePr>
        <p:xfrm>
          <a:off x="367200" y="914400"/>
          <a:ext cx="8413200" cy="871200"/>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90400">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90400">
                <a:tc>
                  <a:txBody>
                    <a:bodyPr/>
                    <a:lstStyle/>
                    <a:p>
                      <a:pPr algn="l"/>
                      <a:r>
                        <a:rPr sz="800" b="1" i="0">
                          <a:solidFill>
                            <a:srgbClr val="1B3A6B"/>
                          </a:solidFill>
                          <a:latin typeface="Calibri"/>
                        </a:rPr>
                        <a:t>FactSet Research Systems Inc.</a:t>
                      </a:r>
                    </a:p>
                  </a:txBody>
                  <a:tcPr>
                    <a:solidFill>
                      <a:srgbClr val="DDE8F5"/>
                    </a:solidFill>
                  </a:tcPr>
                </a:tc>
                <a:tc>
                  <a:txBody>
                    <a:bodyPr/>
                    <a:lstStyle/>
                    <a:p>
                      <a:pPr algn="ctr"/>
                      <a:r>
                        <a:rPr sz="750" b="1" i="0">
                          <a:solidFill>
                            <a:srgbClr val="2E5FA3"/>
                          </a:solidFill>
                          <a:latin typeface="Calibri"/>
                        </a:rPr>
                        <a:t>FDS</a:t>
                      </a:r>
                    </a:p>
                  </a:txBody>
                  <a:tcPr>
                    <a:solidFill>
                      <a:srgbClr val="DDE8F5"/>
                    </a:solidFill>
                  </a:tcPr>
                </a:tc>
                <a:tc>
                  <a:txBody>
                    <a:bodyPr/>
                    <a:lstStyle/>
                    <a:p>
                      <a:pPr algn="ctr"/>
                      <a:r>
                        <a:rPr sz="800" b="1" i="0">
                          <a:solidFill>
                            <a:srgbClr val="1B3A6B"/>
                          </a:solidFill>
                          <a:latin typeface="Calibri"/>
                        </a:rPr>
                        <a:t>7,8</a:t>
                      </a:r>
                    </a:p>
                  </a:txBody>
                  <a:tcPr>
                    <a:solidFill>
                      <a:srgbClr val="DDE8F5"/>
                    </a:solidFill>
                  </a:tcPr>
                </a:tc>
                <a:tc>
                  <a:txBody>
                    <a:bodyPr/>
                    <a:lstStyle/>
                    <a:p>
                      <a:pPr algn="ctr"/>
                      <a:r>
                        <a:rPr sz="800" b="1" i="0">
                          <a:solidFill>
                            <a:srgbClr val="1B3A6B"/>
                          </a:solidFill>
                          <a:latin typeface="Calibri"/>
                        </a:rPr>
                        <a:t>9,1x</a:t>
                      </a:r>
                    </a:p>
                  </a:txBody>
                  <a:tcPr>
                    <a:solidFill>
                      <a:srgbClr val="DDE8F5"/>
                    </a:solidFill>
                  </a:tcPr>
                </a:tc>
                <a:tc>
                  <a:txBody>
                    <a:bodyPr/>
                    <a:lstStyle/>
                    <a:p>
                      <a:pPr algn="ctr"/>
                      <a:r>
                        <a:rPr sz="800" b="1" i="0">
                          <a:solidFill>
                            <a:srgbClr val="1B3A6B"/>
                          </a:solidFill>
                          <a:latin typeface="Calibri"/>
                        </a:rPr>
                        <a:t>3,8x</a:t>
                      </a:r>
                    </a:p>
                  </a:txBody>
                  <a:tcPr>
                    <a:solidFill>
                      <a:srgbClr val="DDE8F5"/>
                    </a:solidFill>
                  </a:tcPr>
                </a:tc>
                <a:tc>
                  <a:txBody>
                    <a:bodyPr/>
                    <a:lstStyle/>
                    <a:p>
                      <a:pPr algn="ctr"/>
                      <a:r>
                        <a:rPr sz="800" b="1" i="0">
                          <a:solidFill>
                            <a:srgbClr val="1B3A6B"/>
                          </a:solidFill>
                          <a:latin typeface="Calibri"/>
                        </a:rPr>
                        <a:t>13,0x</a:t>
                      </a:r>
                    </a:p>
                  </a:txBody>
                  <a:tcPr>
                    <a:solidFill>
                      <a:srgbClr val="DDE8F5"/>
                    </a:solidFill>
                  </a:tcPr>
                </a:tc>
                <a:tc>
                  <a:txBody>
                    <a:bodyPr/>
                    <a:lstStyle/>
                    <a:p>
                      <a:pPr algn="ctr"/>
                      <a:r>
                        <a:rPr sz="800" b="1" i="0">
                          <a:solidFill>
                            <a:srgbClr val="1B3A6B"/>
                          </a:solidFill>
                          <a:latin typeface="Calibri"/>
                        </a:rPr>
                        <a:t>52,7 %</a:t>
                      </a:r>
                    </a:p>
                  </a:txBody>
                  <a:tcPr>
                    <a:solidFill>
                      <a:srgbClr val="DDE8F5"/>
                    </a:solidFill>
                  </a:tcPr>
                </a:tc>
                <a:tc>
                  <a:txBody>
                    <a:bodyPr/>
                    <a:lstStyle/>
                    <a:p>
                      <a:pPr algn="ctr"/>
                      <a:r>
                        <a:rPr sz="800" b="1" i="0">
                          <a:solidFill>
                            <a:srgbClr val="1B3A6B"/>
                          </a:solidFill>
                          <a:latin typeface="Calibri"/>
                        </a:rPr>
                        <a:t>41,6 %</a:t>
                      </a:r>
                    </a:p>
                  </a:txBody>
                  <a:tcPr>
                    <a:solidFill>
                      <a:srgbClr val="DDE8F5"/>
                    </a:solidFill>
                  </a:tcPr>
                </a:tc>
              </a:tr>
              <a:tr h="290400">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USD par action</a:t>
            </a:r>
          </a:p>
        </p:txBody>
      </p:sp>
      <p:graphicFrame>
        <p:nvGraphicFramePr>
          <p:cNvPr id="17" name="Table 16"/>
          <p:cNvGraphicFramePr>
            <a:graphicFrameLocks noGrp="1"/>
          </p:cNvGraphicFramePr>
          <p:nvPr/>
        </p:nvGraphicFramePr>
        <p:xfrm>
          <a:off x="367200" y="914400"/>
          <a:ext cx="8413200" cy="615600"/>
        </p:xfrm>
        <a:graphic>
          <a:graphicData uri="http://schemas.openxmlformats.org/drawingml/2006/table">
            <a:tbl>
              <a:tblPr firstRow="1" bandRow="1">
                <a:tableStyleId>{5C22544A-7EE6-4342-B048-85BDC9FD1C3A}</a:tableStyleId>
              </a:tblPr>
              <a:tblGrid>
                <a:gridCol w="2944620"/>
                <a:gridCol w="1682640"/>
                <a:gridCol w="1682640"/>
                <a:gridCol w="2103300"/>
              </a:tblGrid>
              <a:tr h="307800">
                <a:tc>
                  <a:txBody>
                    <a:bodyPr/>
                    <a:lstStyle/>
                    <a:p>
                      <a:pPr algn="l"/>
                      <a:r>
                        <a:rPr sz="800" b="1" i="0">
                          <a:solidFill>
                            <a:srgbClr val="FFFFFF"/>
                          </a:solidFill>
                          <a:latin typeface="Calibri"/>
                        </a:rPr>
                        <a:t>Méthode</a:t>
                      </a:r>
                    </a:p>
                  </a:txBody>
                  <a:tcPr>
                    <a:solidFill>
                      <a:srgbClr val="1B3A6B"/>
                    </a:solidFill>
                  </a:tcPr>
                </a:tc>
                <a:tc>
                  <a:txBody>
                    <a:bodyPr/>
                    <a:lstStyle/>
                    <a:p>
                      <a:pPr algn="ctr"/>
                      <a:r>
                        <a:rPr sz="800" b="1" i="0">
                          <a:solidFill>
                            <a:srgbClr val="FFFFFF"/>
                          </a:solidFill>
                          <a:latin typeface="Calibri"/>
                        </a:rPr>
                        <a:t>Fourchette basse</a:t>
                      </a:r>
                    </a:p>
                  </a:txBody>
                  <a:tcPr>
                    <a:solidFill>
                      <a:srgbClr val="1B3A6B"/>
                    </a:solidFill>
                  </a:tcPr>
                </a:tc>
                <a:tc>
                  <a:txBody>
                    <a:bodyPr/>
                    <a:lstStyle/>
                    <a:p>
                      <a:pPr algn="ctr"/>
                      <a:r>
                        <a:rPr sz="800" b="1" i="0">
                          <a:solidFill>
                            <a:srgbClr val="FFFFFF"/>
                          </a:solidFill>
                          <a:latin typeface="Calibri"/>
                        </a:rPr>
                        <a:t>Fourchette haute</a:t>
                      </a:r>
                    </a:p>
                  </a:txBody>
                  <a:tcPr>
                    <a:solidFill>
                      <a:srgbClr val="1B3A6B"/>
                    </a:solidFill>
                  </a:tcPr>
                </a:tc>
                <a:tc>
                  <a:txBody>
                    <a:bodyPr/>
                    <a:lstStyle/>
                    <a:p>
                      <a:pPr algn="ctr"/>
                      <a:r>
                        <a:rPr sz="800" b="1" i="0">
                          <a:solidFill>
                            <a:srgbClr val="FFFFFF"/>
                          </a:solidFill>
                          <a:latin typeface="Calibri"/>
                        </a:rPr>
                        <a:t>Point central</a:t>
                      </a:r>
                    </a:p>
                  </a:txBody>
                  <a:tcPr>
                    <a:solidFill>
                      <a:srgbClr val="1B3A6B"/>
                    </a:solidFill>
                  </a:tcPr>
                </a:tc>
              </a:tr>
              <a:tr h="307800">
                <a:tc>
                  <a:txBody>
                    <a:bodyPr/>
                    <a:lstStyle/>
                    <a:p>
                      <a:pPr algn="l"/>
                      <a:r>
                        <a:rPr sz="800" b="0" i="0">
                          <a:solidFill>
                            <a:srgbClr val="0D0D0D"/>
                          </a:solidFill>
                          <a:latin typeface="Calibri"/>
                        </a:rPr>
                        <a:t>Cours actuel (213,52)</a:t>
                      </a:r>
                    </a:p>
                  </a:txBody>
                  <a:tcPr>
                    <a:solidFill>
                      <a:srgbClr val="EEF3FA"/>
                    </a:solidFill>
                  </a:tcPr>
                </a:tc>
                <a:tc>
                  <a:txBody>
                    <a:bodyPr/>
                    <a:lstStyle/>
                    <a:p>
                      <a:pPr algn="ctr"/>
                      <a:r>
                        <a:rPr sz="800" b="0" i="0">
                          <a:solidFill>
                            <a:srgbClr val="0D0D0D"/>
                          </a:solidFill>
                          <a:latin typeface="Calibri"/>
                        </a:rPr>
                        <a:t>—</a:t>
                      </a:r>
                    </a:p>
                  </a:txBody>
                  <a:tcPr>
                    <a:solidFill>
                      <a:srgbClr val="EEF3FA"/>
                    </a:solidFill>
                  </a:tcPr>
                </a:tc>
                <a:tc>
                  <a:txBody>
                    <a:bodyPr/>
                    <a:lstStyle/>
                    <a:p>
                      <a:pPr algn="ctr"/>
                      <a:r>
                        <a:rPr sz="800" b="0" i="0">
                          <a:solidFill>
                            <a:srgbClr val="0D0D0D"/>
                          </a:solidFill>
                          <a:latin typeface="Calibri"/>
                        </a:rPr>
                        <a:t>—</a:t>
                      </a:r>
                    </a:p>
                  </a:txBody>
                  <a:tcPr>
                    <a:solidFill>
                      <a:srgbClr val="EEF3FA"/>
                    </a:solidFill>
                  </a:tcPr>
                </a:tc>
                <a:tc>
                  <a:txBody>
                    <a:bodyPr/>
                    <a:lstStyle/>
                    <a:p>
                      <a:pPr algn="ctr"/>
                      <a:r>
                        <a:rPr sz="800" b="0" i="0">
                          <a:solidFill>
                            <a:srgbClr val="0D0D0D"/>
                          </a:solidFill>
                          <a:latin typeface="Calibri"/>
                        </a:rPr>
                        <a:t>213,52</a:t>
                      </a:r>
                    </a:p>
                  </a:txBody>
                  <a:tcPr>
                    <a:solidFill>
                      <a:srgbClr val="EEF3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Multiples de Valorisation Historiques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FDS · P/E &amp; EV/EBITDA sur 5 ans · Standards marché</a:t>
            </a:r>
          </a:p>
        </p:txBody>
      </p:sp>
      <p:pic>
        <p:nvPicPr>
          <p:cNvPr id="17" name="Picture 16" descr="image.png"/>
          <p:cNvPicPr>
            <a:picLocks noChangeAspect="1"/>
          </p:cNvPicPr>
          <p:nvPr/>
        </p:nvPicPr>
        <p:blipFill>
          <a:blip r:embed="rId2"/>
          <a:stretch>
            <a:fillRect/>
          </a:stretch>
        </p:blipFill>
        <p:spPr>
          <a:xfrm>
            <a:off x="367200" y="864000"/>
            <a:ext cx="5688000" cy="2520000"/>
          </a:xfrm>
          <a:prstGeom prst="rect">
            <a:avLst/>
          </a:prstGeom>
        </p:spPr>
      </p:pic>
      <p:sp>
        <p:nvSpPr>
          <p:cNvPr id="18" name="TextBox 17"/>
          <p:cNvSpPr txBox="1"/>
          <p:nvPr/>
        </p:nvSpPr>
        <p:spPr>
          <a:xfrm>
            <a:off x="6192000" y="864000"/>
            <a:ext cx="2592000" cy="180000"/>
          </a:xfrm>
          <a:prstGeom prst="rect">
            <a:avLst/>
          </a:prstGeom>
          <a:noFill/>
        </p:spPr>
        <p:txBody>
          <a:bodyPr wrap="square">
            <a:spAutoFit/>
          </a:bodyPr>
          <a:lstStyle/>
          <a:p>
            <a:pPr algn="l"/>
            <a:r>
              <a:rPr sz="800" b="1" i="0">
                <a:solidFill>
                  <a:srgbClr val="1B3A6B"/>
                </a:solidFill>
                <a:latin typeface="Calibri"/>
              </a:rPr>
              <a:t>SYNTHÈSE DES MULTIPLES</a:t>
            </a:r>
          </a:p>
        </p:txBody>
      </p:sp>
      <p:graphicFrame>
        <p:nvGraphicFramePr>
          <p:cNvPr id="19" name="Table 18"/>
          <p:cNvGraphicFramePr>
            <a:graphicFrameLocks noGrp="1"/>
          </p:cNvGraphicFramePr>
          <p:nvPr/>
        </p:nvGraphicFramePr>
        <p:xfrm>
          <a:off x="6192000" y="1098000"/>
          <a:ext cx="2592000" cy="1008000"/>
        </p:xfrm>
        <a:graphic>
          <a:graphicData uri="http://schemas.openxmlformats.org/drawingml/2006/table">
            <a:tbl>
              <a:tblPr firstRow="1" bandRow="1">
                <a:tableStyleId>{5C22544A-7EE6-4342-B048-85BDC9FD1C3A}</a:tableStyleId>
              </a:tblPr>
              <a:tblGrid>
                <a:gridCol w="777600"/>
                <a:gridCol w="570240"/>
                <a:gridCol w="673920"/>
                <a:gridCol w="570240"/>
              </a:tblGrid>
              <a:tr h="201600">
                <a:tc>
                  <a:txBody>
                    <a:bodyPr/>
                    <a:lstStyle/>
                    <a:p>
                      <a:pPr algn="l"/>
                      <a:r>
                        <a:rPr sz="800" b="1" i="0">
                          <a:solidFill>
                            <a:srgbClr val="FFFFFF"/>
                          </a:solidFill>
                          <a:latin typeface="Calibri"/>
                        </a:rPr>
                        <a:t>Année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EV/EB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19,6x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10,0x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9,1x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Rectangle 19"/>
          <p:cNvSpPr/>
          <p:nvPr/>
        </p:nvSpPr>
        <p:spPr>
          <a:xfrm>
            <a:off x="367200" y="3600000"/>
            <a:ext cx="8413200" cy="111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7200" y="3600000"/>
            <a:ext cx="79200" cy="111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200" y="3628800"/>
            <a:ext cx="8298000" cy="1080000"/>
          </a:xfrm>
          <a:prstGeom prst="rect">
            <a:avLst/>
          </a:prstGeom>
          <a:noFill/>
        </p:spPr>
        <p:txBody>
          <a:bodyPr wrap="square">
            <a:spAutoFit/>
          </a:bodyPr>
          <a:lstStyle/>
          <a:p>
            <a:pPr algn="l"/>
            <a:r>
              <a:rPr sz="850" b="0" i="0">
                <a:solidFill>
                  <a:srgbClr val="555555"/>
                </a:solidFill>
                <a:latin typeface="Calibri"/>
              </a:rPr>
              <a:t>Le P/E affiche une compression multiple de 6.6x sur la période (19,6x → 13,0x), signal d’une réévaluation négative du profil de croissance. L’EV/EBITDA diverge à 9,1x vs 15,2x historique.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Capital Returns &amp; Free Cash Flow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FDS · FCF yield, dividendes &amp; allocation du capital</a:t>
            </a:r>
          </a:p>
        </p:txBody>
      </p:sp>
      <p:sp>
        <p:nvSpPr>
          <p:cNvPr id="17" name="Rectangle 16"/>
          <p:cNvSpPr/>
          <p:nvPr/>
        </p:nvSpPr>
        <p:spPr>
          <a:xfrm>
            <a:off x="367200"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00" y="871200"/>
            <a:ext cx="1900799" cy="234000"/>
          </a:xfrm>
          <a:prstGeom prst="rect">
            <a:avLst/>
          </a:prstGeom>
          <a:noFill/>
        </p:spPr>
        <p:txBody>
          <a:bodyPr wrap="square">
            <a:spAutoFit/>
          </a:bodyPr>
          <a:lstStyle/>
          <a:p>
            <a:pPr algn="l"/>
            <a:r>
              <a:rPr sz="1600" b="1" i="0">
                <a:solidFill>
                  <a:srgbClr val="1B3A6B"/>
                </a:solidFill>
                <a:latin typeface="Calibri"/>
              </a:rPr>
              <a:t>8,7 %</a:t>
            </a:r>
          </a:p>
        </p:txBody>
      </p:sp>
      <p:sp>
        <p:nvSpPr>
          <p:cNvPr id="20" name="TextBox 19"/>
          <p:cNvSpPr txBox="1"/>
          <p:nvPr/>
        </p:nvSpPr>
        <p:spPr>
          <a:xfrm>
            <a:off x="460800" y="1098000"/>
            <a:ext cx="1900799" cy="234000"/>
          </a:xfrm>
          <a:prstGeom prst="rect">
            <a:avLst/>
          </a:prstGeom>
          <a:noFill/>
        </p:spPr>
        <p:txBody>
          <a:bodyPr wrap="square">
            <a:spAutoFit/>
          </a:bodyPr>
          <a:lstStyle/>
          <a:p>
            <a:pPr algn="l"/>
            <a:r>
              <a:rPr sz="800" b="0" i="0">
                <a:solidFill>
                  <a:srgbClr val="555555"/>
                </a:solidFill>
                <a:latin typeface="Calibri"/>
              </a:rPr>
              <a:t>FCF Yield</a:t>
            </a:r>
          </a:p>
        </p:txBody>
      </p:sp>
      <p:sp>
        <p:nvSpPr>
          <p:cNvPr id="21" name="Rectangle 20"/>
          <p:cNvSpPr/>
          <p:nvPr/>
        </p:nvSpPr>
        <p:spPr>
          <a:xfrm>
            <a:off x="24479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479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1599" y="871200"/>
            <a:ext cx="1900799" cy="234000"/>
          </a:xfrm>
          <a:prstGeom prst="rect">
            <a:avLst/>
          </a:prstGeom>
          <a:noFill/>
        </p:spPr>
        <p:txBody>
          <a:bodyPr wrap="square">
            <a:spAutoFit/>
          </a:bodyPr>
          <a:lstStyle/>
          <a:p>
            <a:pPr algn="l"/>
            <a:r>
              <a:rPr sz="1600" b="1" i="0">
                <a:solidFill>
                  <a:srgbClr val="1B3A6B"/>
                </a:solidFill>
                <a:latin typeface="Calibri"/>
              </a:rPr>
              <a:t>677 M$</a:t>
            </a:r>
          </a:p>
        </p:txBody>
      </p:sp>
      <p:sp>
        <p:nvSpPr>
          <p:cNvPr id="24" name="TextBox 23"/>
          <p:cNvSpPr txBox="1"/>
          <p:nvPr/>
        </p:nvSpPr>
        <p:spPr>
          <a:xfrm>
            <a:off x="2541599" y="1098000"/>
            <a:ext cx="1900799" cy="234000"/>
          </a:xfrm>
          <a:prstGeom prst="rect">
            <a:avLst/>
          </a:prstGeom>
          <a:noFill/>
        </p:spPr>
        <p:txBody>
          <a:bodyPr wrap="square">
            <a:spAutoFit/>
          </a:bodyPr>
          <a:lstStyle/>
          <a:p>
            <a:pPr algn="l"/>
            <a:r>
              <a:rPr sz="800" b="0" i="0">
                <a:solidFill>
                  <a:srgbClr val="555555"/>
                </a:solidFill>
                <a:latin typeface="Calibri"/>
              </a:rPr>
              <a:t>FCF (LTM)</a:t>
            </a:r>
          </a:p>
        </p:txBody>
      </p:sp>
      <p:sp>
        <p:nvSpPr>
          <p:cNvPr id="25" name="Rectangle 24"/>
          <p:cNvSpPr/>
          <p:nvPr/>
        </p:nvSpPr>
        <p:spPr>
          <a:xfrm>
            <a:off x="45287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87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2399" y="871200"/>
            <a:ext cx="1900799" cy="234000"/>
          </a:xfrm>
          <a:prstGeom prst="rect">
            <a:avLst/>
          </a:prstGeom>
          <a:noFill/>
        </p:spPr>
        <p:txBody>
          <a:bodyPr wrap="square">
            <a:spAutoFit/>
          </a:bodyPr>
          <a:lstStyle/>
          <a:p>
            <a:pPr algn="l"/>
            <a:r>
              <a:rPr sz="1600" b="1" i="0">
                <a:solidFill>
                  <a:srgbClr val="1B3A6B"/>
                </a:solidFill>
                <a:latin typeface="Calibri"/>
              </a:rPr>
              <a:t>4,7 %</a:t>
            </a:r>
          </a:p>
        </p:txBody>
      </p:sp>
      <p:sp>
        <p:nvSpPr>
          <p:cNvPr id="28" name="TextBox 27"/>
          <p:cNvSpPr txBox="1"/>
          <p:nvPr/>
        </p:nvSpPr>
        <p:spPr>
          <a:xfrm>
            <a:off x="4622399" y="1098000"/>
            <a:ext cx="1900799" cy="234000"/>
          </a:xfrm>
          <a:prstGeom prst="rect">
            <a:avLst/>
          </a:prstGeom>
          <a:noFill/>
        </p:spPr>
        <p:txBody>
          <a:bodyPr wrap="square">
            <a:spAutoFit/>
          </a:bodyPr>
          <a:lstStyle/>
          <a:p>
            <a:pPr algn="l"/>
            <a:r>
              <a:rPr sz="800" b="0" i="0">
                <a:solidFill>
                  <a:srgbClr val="555555"/>
                </a:solidFill>
                <a:latin typeface="Calibri"/>
              </a:rPr>
              <a:t>Capex / Rev</a:t>
            </a:r>
          </a:p>
        </p:txBody>
      </p:sp>
      <p:sp>
        <p:nvSpPr>
          <p:cNvPr id="29" name="Rectangle 28"/>
          <p:cNvSpPr/>
          <p:nvPr/>
        </p:nvSpPr>
        <p:spPr>
          <a:xfrm>
            <a:off x="66095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095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3199" y="871200"/>
            <a:ext cx="1900799" cy="234000"/>
          </a:xfrm>
          <a:prstGeom prst="rect">
            <a:avLst/>
          </a:prstGeom>
          <a:noFill/>
        </p:spPr>
        <p:txBody>
          <a:bodyPr wrap="square">
            <a:spAutoFit/>
          </a:bodyPr>
          <a:lstStyle/>
          <a:p>
            <a:pPr algn="l"/>
            <a:r>
              <a:rPr sz="1600" b="1" i="0">
                <a:solidFill>
                  <a:srgbClr val="1B3A6B"/>
                </a:solidFill>
                <a:latin typeface="Calibri"/>
              </a:rPr>
              <a:t>50,3 %</a:t>
            </a:r>
          </a:p>
        </p:txBody>
      </p:sp>
      <p:sp>
        <p:nvSpPr>
          <p:cNvPr id="32" name="TextBox 31"/>
          <p:cNvSpPr txBox="1"/>
          <p:nvPr/>
        </p:nvSpPr>
        <p:spPr>
          <a:xfrm>
            <a:off x="6703199" y="1098000"/>
            <a:ext cx="1900799" cy="234000"/>
          </a:xfrm>
          <a:prstGeom prst="rect">
            <a:avLst/>
          </a:prstGeom>
          <a:noFill/>
        </p:spPr>
        <p:txBody>
          <a:bodyPr wrap="square">
            <a:spAutoFit/>
          </a:bodyPr>
          <a:lstStyle/>
          <a:p>
            <a:pPr algn="l"/>
            <a:r>
              <a:rPr sz="800" b="0" i="0">
                <a:solidFill>
                  <a:srgbClr val="555555"/>
                </a:solidFill>
                <a:latin typeface="Calibri"/>
              </a:rPr>
              <a:t>Div. Payout</a:t>
            </a:r>
          </a:p>
        </p:txBody>
      </p:sp>
      <p:pic>
        <p:nvPicPr>
          <p:cNvPr id="33" name="Picture 32" descr="image.png"/>
          <p:cNvPicPr>
            <a:picLocks noChangeAspect="1"/>
          </p:cNvPicPr>
          <p:nvPr/>
        </p:nvPicPr>
        <p:blipFill>
          <a:blip r:embed="rId2"/>
          <a:stretch>
            <a:fillRect/>
          </a:stretch>
        </p:blipFill>
        <p:spPr>
          <a:xfrm>
            <a:off x="367200" y="1512000"/>
            <a:ext cx="5220000" cy="2088000"/>
          </a:xfrm>
          <a:prstGeom prst="rect">
            <a:avLst/>
          </a:prstGeom>
        </p:spPr>
      </p:pic>
      <p:sp>
        <p:nvSpPr>
          <p:cNvPr id="34" name="TextBox 33"/>
          <p:cNvSpPr txBox="1"/>
          <p:nvPr/>
        </p:nvSpPr>
        <p:spPr>
          <a:xfrm>
            <a:off x="5832000" y="1512000"/>
            <a:ext cx="2951999" cy="180000"/>
          </a:xfrm>
          <a:prstGeom prst="rect">
            <a:avLst/>
          </a:prstGeom>
          <a:noFill/>
        </p:spPr>
        <p:txBody>
          <a:bodyPr wrap="square">
            <a:spAutoFit/>
          </a:bodyPr>
          <a:lstStyle/>
          <a:p>
            <a:pPr algn="l"/>
            <a:r>
              <a:rPr sz="800" b="1" i="0">
                <a:solidFill>
                  <a:srgbClr val="1B3A6B"/>
                </a:solidFill>
                <a:latin typeface="Calibri"/>
              </a:rPr>
              <a:t>ALLOCATION DU CAPITAL</a:t>
            </a:r>
          </a:p>
        </p:txBody>
      </p:sp>
      <p:graphicFrame>
        <p:nvGraphicFramePr>
          <p:cNvPr id="35" name="Table 34"/>
          <p:cNvGraphicFramePr>
            <a:graphicFrameLocks noGrp="1"/>
          </p:cNvGraphicFramePr>
          <p:nvPr/>
        </p:nvGraphicFramePr>
        <p:xfrm>
          <a:off x="5832000" y="1745999"/>
          <a:ext cx="2951995" cy="1008000"/>
        </p:xfrm>
        <a:graphic>
          <a:graphicData uri="http://schemas.openxmlformats.org/drawingml/2006/table">
            <a:tbl>
              <a:tblPr firstRow="1" bandRow="1">
                <a:tableStyleId>{5C22544A-7EE6-4342-B048-85BDC9FD1C3A}</a:tableStyleId>
              </a:tblPr>
              <a:tblGrid>
                <a:gridCol w="649439"/>
                <a:gridCol w="590399"/>
                <a:gridCol w="560879"/>
                <a:gridCol w="560879"/>
                <a:gridCol w="590399"/>
              </a:tblGrid>
              <a:tr h="201600">
                <a:tc>
                  <a:txBody>
                    <a:bodyPr/>
                    <a:lstStyle/>
                    <a:p>
                      <a:pPr algn="l"/>
                      <a:r>
                        <a:rPr sz="800" b="1" i="0">
                          <a:solidFill>
                            <a:srgbClr val="FFFFFF"/>
                          </a:solidFill>
                          <a:latin typeface="Calibri"/>
                        </a:rPr>
                        <a:t>Ann.</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FCF</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Yield</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Div%</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Capex%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475 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545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37,8 %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607 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43,8 %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677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50,3 %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36" name="Rectangle 35"/>
          <p:cNvSpPr/>
          <p:nvPr/>
        </p:nvSpPr>
        <p:spPr>
          <a:xfrm>
            <a:off x="367200" y="3708000"/>
            <a:ext cx="84132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7200" y="3708000"/>
            <a:ext cx="79200" cy="1007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200" y="3736800"/>
            <a:ext cx="8298000" cy="971999"/>
          </a:xfrm>
          <a:prstGeom prst="rect">
            <a:avLst/>
          </a:prstGeom>
          <a:noFill/>
        </p:spPr>
        <p:txBody>
          <a:bodyPr wrap="square">
            <a:spAutoFit/>
          </a:bodyPr>
          <a:lstStyle/>
          <a:p>
            <a:pPr algn="l"/>
            <a:r>
              <a:rPr sz="850" b="0" i="0">
                <a:solidFill>
                  <a:srgbClr val="555555"/>
                </a:solidFill>
                <a:latin typeface="Calibri"/>
              </a:rPr>
              <a:t>Le FCF affiche une croissance de 201 M$ sur la période, avec un FCF yield actuel de 8,7 % — attractif pour un acheteur institutionnel. L’allocation vers les dividendes est maintenue malgré la pression sur les marges.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LBO — Leveraged Buyout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FDS · Attractivité PE · Multiples d’entrée vs IRR cible</a:t>
            </a:r>
          </a:p>
        </p:txBody>
      </p:sp>
      <p:graphicFrame>
        <p:nvGraphicFramePr>
          <p:cNvPr id="17" name="Table 16"/>
          <p:cNvGraphicFramePr>
            <a:graphicFrameLocks noGrp="1"/>
          </p:cNvGraphicFramePr>
          <p:nvPr/>
        </p:nvGraphicFramePr>
        <p:xfrm>
          <a:off x="367200" y="900000"/>
          <a:ext cx="4860000" cy="1170000"/>
        </p:xfrm>
        <a:graphic>
          <a:graphicData uri="http://schemas.openxmlformats.org/drawingml/2006/table">
            <a:tbl>
              <a:tblPr firstRow="1" bandRow="1">
                <a:tableStyleId>{5C22544A-7EE6-4342-B048-85BDC9FD1C3A}</a:tableStyleId>
              </a:tblPr>
              <a:tblGrid>
                <a:gridCol w="1069200"/>
                <a:gridCol w="1263600"/>
                <a:gridCol w="1263600"/>
                <a:gridCol w="1263600"/>
              </a:tblGrid>
              <a:tr h="234000">
                <a:tc>
                  <a:txBody>
                    <a:bodyPr/>
                    <a:lstStyle/>
                    <a:p>
                      <a:pPr algn="l"/>
                      <a:r>
                        <a:rPr sz="800" b="1" i="0">
                          <a:solidFill>
                            <a:srgbClr val="FFFFFF"/>
                          </a:solidFill>
                          <a:latin typeface="Calibri"/>
                        </a:rPr>
                        <a:t>Entry mult.</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8x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10x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12x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16.0% / 2.1x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22.4% / 2.8x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27.7% / 3.4x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7.0% / 1.4x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12.9% / 1.8x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17.8% / 2.3x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 / 1.1x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6.6% / 1.4x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11.2% / 1.7x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 / 0.8x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 / 1.1x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6.3% / 1.4x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2592000"/>
            <a:ext cx="4860000" cy="180000"/>
          </a:xfrm>
          <a:prstGeom prst="rect">
            <a:avLst/>
          </a:prstGeom>
          <a:noFill/>
        </p:spPr>
        <p:txBody>
          <a:bodyPr wrap="square">
            <a:spAutoFit/>
          </a:bodyPr>
          <a:lstStyle/>
          <a:p>
            <a:pPr algn="l"/>
            <a:r>
              <a:rPr sz="750" b="0" i="0">
                <a:solidFill>
                  <a:srgbClr val="555555"/>
                </a:solidFill>
                <a:latin typeface="Calibri"/>
              </a:rPr>
              <a:t>Hypotheses : Levier 4x EBITDA · 5 ans holding · 50% remboursement dette · EBITDA +5%/an</a:t>
            </a:r>
          </a:p>
        </p:txBody>
      </p:sp>
      <p:sp>
        <p:nvSpPr>
          <p:cNvPr id="19" name="TextBox 18"/>
          <p:cNvSpPr txBox="1"/>
          <p:nvPr/>
        </p:nvSpPr>
        <p:spPr>
          <a:xfrm>
            <a:off x="367200" y="2754000"/>
            <a:ext cx="4860000" cy="180000"/>
          </a:xfrm>
          <a:prstGeom prst="rect">
            <a:avLst/>
          </a:prstGeom>
          <a:noFill/>
        </p:spPr>
        <p:txBody>
          <a:bodyPr wrap="square">
            <a:spAutoFit/>
          </a:bodyPr>
          <a:lstStyle/>
          <a:p>
            <a:pPr algn="l"/>
            <a:r>
              <a:rPr sz="750" b="0" i="0">
                <a:solidFill>
                  <a:srgbClr val="888888"/>
                </a:solidFill>
                <a:latin typeface="Calibri"/>
              </a:rPr>
              <a:t>Lecture : IRR / MOIC  ● vert ≥ 20%  ● ambre 15-20%  ● rouge &lt; 15%</a:t>
            </a:r>
          </a:p>
        </p:txBody>
      </p:sp>
      <p:sp>
        <p:nvSpPr>
          <p:cNvPr id="20" name="TextBox 19"/>
          <p:cNvSpPr txBox="1"/>
          <p:nvPr/>
        </p:nvSpPr>
        <p:spPr>
          <a:xfrm>
            <a:off x="5472000" y="900000"/>
            <a:ext cx="3311999" cy="180000"/>
          </a:xfrm>
          <a:prstGeom prst="rect">
            <a:avLst/>
          </a:prstGeom>
          <a:noFill/>
        </p:spPr>
        <p:txBody>
          <a:bodyPr wrap="square">
            <a:spAutoFit/>
          </a:bodyPr>
          <a:lstStyle/>
          <a:p>
            <a:pPr algn="l"/>
            <a:r>
              <a:rPr sz="800" b="1" i="0">
                <a:solidFill>
                  <a:srgbClr val="1B3A6B"/>
                </a:solidFill>
                <a:latin typeface="Calibri"/>
              </a:rPr>
              <a:t>HYPOTHÈSES &amp; STRUCTURE LBO</a:t>
            </a:r>
          </a:p>
        </p:txBody>
      </p:sp>
      <p:graphicFrame>
        <p:nvGraphicFramePr>
          <p:cNvPr id="21" name="Table 20"/>
          <p:cNvGraphicFramePr>
            <a:graphicFrameLocks noGrp="1"/>
          </p:cNvGraphicFramePr>
          <p:nvPr/>
        </p:nvGraphicFramePr>
        <p:xfrm>
          <a:off x="5472000" y="1116000"/>
          <a:ext cx="3311998" cy="1602000"/>
        </p:xfrm>
        <a:graphic>
          <a:graphicData uri="http://schemas.openxmlformats.org/drawingml/2006/table">
            <a:tbl>
              <a:tblPr firstRow="1" bandRow="1">
                <a:tableStyleId>{5C22544A-7EE6-4342-B048-85BDC9FD1C3A}</a:tableStyleId>
              </a:tblPr>
              <a:tblGrid>
                <a:gridCol w="1722239"/>
                <a:gridCol w="1589759"/>
              </a:tblGrid>
              <a:tr h="20025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LTM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966 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FCF LTM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677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Levier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4x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Dette entrée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exit (est.)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Holding</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 ans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IRR cible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 20%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5472000" y="3096000"/>
            <a:ext cx="3311999" cy="1007999"/>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72000" y="3096000"/>
            <a:ext cx="72000" cy="1007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0000" y="3131999"/>
            <a:ext cx="3168000" cy="162000"/>
          </a:xfrm>
          <a:prstGeom prst="rect">
            <a:avLst/>
          </a:prstGeom>
          <a:noFill/>
        </p:spPr>
        <p:txBody>
          <a:bodyPr wrap="square">
            <a:spAutoFit/>
          </a:bodyPr>
          <a:lstStyle/>
          <a:p>
            <a:pPr algn="l"/>
            <a:r>
              <a:rPr sz="750" b="1" i="0">
                <a:solidFill>
                  <a:srgbClr val="B06000"/>
                </a:solidFill>
                <a:latin typeface="Calibri"/>
              </a:rPr>
              <a:t>NOTE MÉTHODOLOGIQUE</a:t>
            </a:r>
          </a:p>
        </p:txBody>
      </p:sp>
      <p:sp>
        <p:nvSpPr>
          <p:cNvPr id="25" name="TextBox 24"/>
          <p:cNvSpPr txBox="1"/>
          <p:nvPr/>
        </p:nvSpPr>
        <p:spPr>
          <a:xfrm>
            <a:off x="5580000" y="3294000"/>
            <a:ext cx="3168000" cy="792000"/>
          </a:xfrm>
          <a:prstGeom prst="rect">
            <a:avLst/>
          </a:prstGeom>
          <a:noFill/>
        </p:spPr>
        <p:txBody>
          <a:bodyPr wrap="square">
            <a:spAutoFit/>
          </a:bodyPr>
          <a:lstStyle/>
          <a:p>
            <a:pPr algn="l"/>
            <a:r>
              <a:rPr sz="800" b="0" i="0">
                <a:solidFill>
                  <a:srgbClr val="555555"/>
                </a:solidFill>
                <a:latin typeface="Calibri"/>
              </a:rPr>
              <a:t>Analyse indicative uniquement. Le LBO assume un rachat 100% equity par un fonds PE. La dette est remboursée par le FCF de la cible. L'IRR ne tient pas compte des frais de transaction ni de la structure fiscale optimisée. Un IRR ≥ 20% est le seuil standard d'un fonds PE tier-1.</a:t>
            </a:r>
          </a:p>
        </p:txBody>
      </p:sp>
      <p:sp>
        <p:nvSpPr>
          <p:cNvPr id="26" name="Rectangle 25"/>
          <p:cNvSpPr/>
          <p:nvPr/>
        </p:nvSpPr>
        <p:spPr>
          <a:xfrm>
            <a:off x="367200" y="4176000"/>
            <a:ext cx="84132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7200" y="4176000"/>
            <a:ext cx="79200" cy="57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200" y="4204800"/>
            <a:ext cx="8298000" cy="540000"/>
          </a:xfrm>
          <a:prstGeom prst="rect">
            <a:avLst/>
          </a:prstGeom>
          <a:noFill/>
        </p:spPr>
        <p:txBody>
          <a:bodyPr wrap="square">
            <a:spAutoFit/>
          </a:bodyPr>
          <a:lstStyle/>
          <a:p>
            <a:pPr algn="l"/>
            <a:r>
              <a:rPr sz="850" b="0" i="0">
                <a:solidFill>
                  <a:srgbClr val="555555"/>
                </a:solidFill>
                <a:latin typeface="Calibri"/>
              </a:rPr>
              <a:t>A 10x EBITDA d'entrée / 10x de sortie, le LBO génère un IRR de 12.9% (MOIC 1.8x en 5 ans) — attractivité PE jugée insuffisante. Un fonds tier-1 ciblant 20%+ d'IRR doit entrer en dessous de 8x EBITDA. La génération de FCF (677 M$) est le principal levier de remboursement de la dette.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396000"/>
          </a:xfrm>
          <a:prstGeom prst="rect">
            <a:avLst/>
          </a:prstGeom>
          <a:noFill/>
        </p:spPr>
        <p:txBody>
          <a:bodyPr wrap="square">
            <a:spAutoFit/>
          </a:bodyPr>
          <a:lstStyle/>
          <a:p>
            <a:pPr algn="l"/>
            <a:r>
              <a:rPr sz="900" b="1" i="0">
                <a:solidFill>
                  <a:srgbClr val="A82020"/>
                </a:solidFill>
                <a:latin typeface="Calibri"/>
              </a:rPr>
              <a:t>Risque 1</a:t>
            </a:r>
          </a:p>
        </p:txBody>
      </p:sp>
      <p:sp>
        <p:nvSpPr>
          <p:cNvPr id="20" name="TextBox 19"/>
          <p:cNvSpPr txBox="1"/>
          <p:nvPr/>
        </p:nvSpPr>
        <p:spPr>
          <a:xfrm>
            <a:off x="475200" y="1537199"/>
            <a:ext cx="2527200" cy="1260000"/>
          </a:xfrm>
          <a:prstGeom prst="rect">
            <a:avLst/>
          </a:prstGeom>
          <a:noFill/>
        </p:spPr>
        <p:txBody>
          <a:bodyPr wrap="square">
            <a:spAutoFit/>
          </a:bodyPr>
          <a:lstStyle/>
          <a:p>
            <a:pPr algn="l"/>
            <a:r>
              <a:rPr sz="800" b="0" i="0">
                <a:solidFill>
                  <a:srgbClr val="555555"/>
                </a:solidFill>
                <a:latin typeface="Calibri"/>
              </a:rPr>
              <a:t>Risque macro-économique : remontée des taux ou ralentissement de la demande mondiale.</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396000"/>
          </a:xfrm>
          <a:prstGeom prst="rect">
            <a:avLst/>
          </a:prstGeom>
          <a:noFill/>
        </p:spPr>
        <p:txBody>
          <a:bodyPr wrap="square">
            <a:spAutoFit/>
          </a:bodyPr>
          <a:lstStyle/>
          <a:p>
            <a:pPr algn="l"/>
            <a:r>
              <a:rPr sz="900" b="1" i="0">
                <a:solidFill>
                  <a:srgbClr val="2E5FA3"/>
                </a:solidFill>
                <a:latin typeface="Calibri"/>
              </a:rPr>
              <a:t>Risque 2</a:t>
            </a:r>
          </a:p>
        </p:txBody>
      </p:sp>
      <p:sp>
        <p:nvSpPr>
          <p:cNvPr id="24" name="TextBox 23"/>
          <p:cNvSpPr txBox="1"/>
          <p:nvPr/>
        </p:nvSpPr>
        <p:spPr>
          <a:xfrm>
            <a:off x="3337200" y="1537199"/>
            <a:ext cx="2527200" cy="1260000"/>
          </a:xfrm>
          <a:prstGeom prst="rect">
            <a:avLst/>
          </a:prstGeom>
          <a:noFill/>
        </p:spPr>
        <p:txBody>
          <a:bodyPr wrap="square">
            <a:spAutoFit/>
          </a:bodyPr>
          <a:lstStyle/>
          <a:p>
            <a:pPr algn="l"/>
            <a:r>
              <a:rPr sz="800" b="0" i="0">
                <a:solidFill>
                  <a:srgbClr val="555555"/>
                </a:solidFill>
                <a:latin typeface="Calibri"/>
              </a:rPr>
              <a:t>Risque sectoriel : intensification de la concurrence ou disruption technologique.</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396000"/>
          </a:xfrm>
          <a:prstGeom prst="rect">
            <a:avLst/>
          </a:prstGeom>
          <a:noFill/>
        </p:spPr>
        <p:txBody>
          <a:bodyPr wrap="square">
            <a:spAutoFit/>
          </a:bodyPr>
          <a:lstStyle/>
          <a:p>
            <a:pPr algn="l"/>
            <a:r>
              <a:rPr sz="900" b="1" i="0">
                <a:solidFill>
                  <a:srgbClr val="B06000"/>
                </a:solidFill>
                <a:latin typeface="Calibri"/>
              </a:rPr>
              <a:t>Risque 3</a:t>
            </a:r>
          </a:p>
        </p:txBody>
      </p:sp>
      <p:sp>
        <p:nvSpPr>
          <p:cNvPr id="28" name="TextBox 27"/>
          <p:cNvSpPr txBox="1"/>
          <p:nvPr/>
        </p:nvSpPr>
        <p:spPr>
          <a:xfrm>
            <a:off x="6199200" y="1537199"/>
            <a:ext cx="2527200" cy="1260000"/>
          </a:xfrm>
          <a:prstGeom prst="rect">
            <a:avLst/>
          </a:prstGeom>
          <a:noFill/>
        </p:spPr>
        <p:txBody>
          <a:bodyPr wrap="square">
            <a:spAutoFit/>
          </a:bodyPr>
          <a:lstStyle/>
          <a:p>
            <a:pPr algn="l"/>
            <a:r>
              <a:rPr sz="800" b="0" i="0">
                <a:solidFill>
                  <a:srgbClr val="555555"/>
                </a:solidFill>
                <a:latin typeface="Calibri"/>
              </a:rPr>
              <a:t>Risque spécifique : détérioration des marges ou exécution stratégique.</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Remontée des taux directeurs &gt; 200bps</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Rupture technologique remettant en cause le modèle</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Détérioration matérielle des marges opérationnelles</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Détresse : 0/100  Sain</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64/100  Attractive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Régime : Bull  Rec.6M:10%</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Qualité : Excellente (1.13x)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Saine (0% CT)</a:t>
            </a:r>
          </a:p>
        </p:txBody>
      </p:sp>
      <p:sp>
        <p:nvSpPr>
          <p:cNvPr id="47" name="Rectangle 46"/>
          <p:cNvSpPr/>
          <p:nvPr/>
        </p:nvSpPr>
        <p:spPr>
          <a:xfrm>
            <a:off x="612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2800" y="4629600"/>
            <a:ext cx="2696400" cy="158400"/>
          </a:xfrm>
          <a:prstGeom prst="rect">
            <a:avLst/>
          </a:prstGeom>
          <a:noFill/>
        </p:spPr>
        <p:txBody>
          <a:bodyPr wrap="square">
            <a:spAutoFit/>
          </a:bodyPr>
          <a:lstStyle/>
          <a:p>
            <a:pPr algn="l"/>
            <a:r>
              <a:rPr sz="700" b="0" i="0">
                <a:solidFill>
                  <a:srgbClr val="1B3A6B"/>
                </a:solidFill>
                <a:latin typeface="Calibri"/>
              </a:rPr>
              <a:t>Dividende : Tres soutenable (2.2x)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LLM Groq</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30 articles  ·  7 derniers jours  ·  Classification LLM</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Neutre</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-0,000</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30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38,8 %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LLM Groq</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HOLD</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8</a:t>
                      </a:r>
                    </a:p>
                  </a:txBody>
                  <a:tcPr>
                    <a:solidFill>
                      <a:srgbClr val="EAF4EF"/>
                    </a:solidFill>
                  </a:tcPr>
                </a:tc>
                <a:tc>
                  <a:txBody>
                    <a:bodyPr/>
                    <a:lstStyle/>
                    <a:p>
                      <a:pPr algn="ctr"/>
                      <a:r>
                        <a:rPr sz="800" b="0" i="0">
                          <a:solidFill>
                            <a:srgbClr val="0D0D0D"/>
                          </a:solidFill>
                          <a:latin typeface="Calibri"/>
                        </a:rPr>
                        <a:t>+0,306</a:t>
                      </a:r>
                    </a:p>
                  </a:txBody>
                  <a:tcPr>
                    <a:solidFill>
                      <a:srgbClr val="EAF4EF"/>
                    </a:solidFill>
                  </a:tcPr>
                </a:tc>
                <a:tc>
                  <a:txBody>
                    <a:bodyPr/>
                    <a:lstStyle/>
                    <a:p>
                      <a:pPr algn="ctr"/>
                      <a:r>
                        <a:rPr sz="800" b="0" i="0">
                          <a:solidFill>
                            <a:srgbClr val="0D0D0D"/>
                          </a:solidFill>
                          <a:latin typeface="Calibri"/>
                        </a:rPr>
                        <a:t>Catalyseurs, croissance, résultats</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12</a:t>
                      </a:r>
                    </a:p>
                  </a:txBody>
                  <a:tcPr>
                    <a:solidFill>
                      <a:srgbClr val="FFFFFF"/>
                    </a:solidFill>
                  </a:tcPr>
                </a:tc>
                <a:tc>
                  <a:txBody>
                    <a:bodyPr/>
                    <a:lstStyle/>
                    <a:p>
                      <a:pPr algn="ctr"/>
                      <a:r>
                        <a:rPr sz="800" b="0" i="0">
                          <a:solidFill>
                            <a:srgbClr val="0D0D0D"/>
                          </a:solidFill>
                          <a:latin typeface="Calibri"/>
                        </a:rPr>
                        <a:t>+0,388</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10</a:t>
                      </a:r>
                    </a:p>
                  </a:txBody>
                  <a:tcPr>
                    <a:solidFill>
                      <a:srgbClr val="FAF0EF"/>
                    </a:solidFill>
                  </a:tcPr>
                </a:tc>
                <a:tc>
                  <a:txBody>
                    <a:bodyPr/>
                    <a:lstStyle/>
                    <a:p>
                      <a:pPr algn="ctr"/>
                      <a:r>
                        <a:rPr sz="800" b="0" i="0">
                          <a:solidFill>
                            <a:srgbClr val="0D0D0D"/>
                          </a:solidFill>
                          <a:latin typeface="Calibri"/>
                        </a:rPr>
                        <a:t>+0,306</a:t>
                      </a:r>
                    </a:p>
                  </a:txBody>
                  <a:tcPr>
                    <a:solidFill>
                      <a:srgbClr val="FAF0EF"/>
                    </a:solidFill>
                  </a:tcPr>
                </a:tc>
                <a:tc>
                  <a:txBody>
                    <a:bodyPr/>
                    <a:lstStyle/>
                    <a:p>
                      <a:pPr algn="ctr"/>
                      <a:r>
                        <a:rPr sz="800" b="0" i="0">
                          <a:solidFill>
                            <a:srgbClr val="0D0D0D"/>
                          </a:solidFill>
                          <a:latin typeface="Calibri"/>
                        </a:rPr>
                        <a:t>Risques macro, concurrence, dette</a:t>
                      </a:r>
                    </a:p>
                  </a:txBody>
                  <a:tcPr>
                    <a:solidFill>
                      <a:srgbClr val="FAF0EF"/>
                    </a:solidFill>
                  </a:tcPr>
                </a:tc>
              </a:tr>
            </a:tbl>
          </a:graphicData>
        </a:graphic>
      </p:graphicFrame>
      <p:sp>
        <p:nvSpPr>
          <p:cNvPr id="39" name="TextBox 38"/>
          <p:cNvSpPr txBox="1"/>
          <p:nvPr/>
        </p:nvSpPr>
        <p:spPr>
          <a:xfrm>
            <a:off x="367200" y="4140000"/>
            <a:ext cx="8413200" cy="630000"/>
          </a:xfrm>
          <a:prstGeom prst="rect">
            <a:avLst/>
          </a:prstGeom>
          <a:noFill/>
        </p:spPr>
        <p:txBody>
          <a:bodyPr wrap="square">
            <a:spAutoFit/>
          </a:bodyPr>
          <a:lstStyle/>
          <a:p>
            <a:pPr algn="l"/>
            <a:r>
              <a:rPr sz="850" b="0" i="0">
                <a:solidFill>
                  <a:srgbClr val="333333"/>
                </a:solidFill>
                <a:latin typeface="Calibri"/>
              </a:rPr>
              <a:t>La presse financière souligne la résilience de FactSet (FDS) avec des perspectives de valeur à long terme, mais l'annonce de la transition du CFO crée une incertitude temporaire. Les titres liés à des entreprises concurrentes ou connexes n'impactent pas directement FDS, limitant leur influence sur son cours.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10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FactSet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Blackrock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BAMCO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State Street Corporation</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LOOMIS SAYLES &amp; CO L P</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Ninety One UK Ltd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Wells Fargo &amp; Company</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55.1 %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55.1 %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FDS  ·  USD  ·  Au 10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213,52 $</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451,70 $</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213,52 $</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-52,7 %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Cours en repli de -52,7 % sur 12 mois</a:t>
            </a:r>
          </a:p>
        </p:txBody>
      </p:sp>
      <p:pic>
        <p:nvPicPr>
          <p:cNvPr id="34" name="Picture 33" descr="image.png"/>
          <p:cNvPicPr>
            <a:picLocks noChangeAspect="1"/>
          </p:cNvPicPr>
          <p:nvPr/>
        </p:nvPicPr>
        <p:blipFill>
          <a:blip r:embed="rId2"/>
          <a:stretch>
            <a:fillRect/>
          </a:stretch>
        </p:blipFill>
        <p:spPr>
          <a:xfrm>
            <a:off x="367200" y="2102400"/>
            <a:ext cx="8413200" cy="18288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Conviction &amp; Thèse d’Investissement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FDS  ·  FinSight IA  ·  Rapport 10 avril 2026</a:t>
            </a:r>
          </a:p>
        </p:txBody>
      </p:sp>
      <p:sp>
        <p:nvSpPr>
          <p:cNvPr id="17" name="Rectangle 16"/>
          <p:cNvSpPr/>
          <p:nvPr/>
        </p:nvSpPr>
        <p:spPr>
          <a:xfrm>
            <a:off x="324000" y="827999"/>
            <a:ext cx="2700000" cy="1260000"/>
          </a:xfrm>
          <a:prstGeom prst="rect">
            <a:avLst/>
          </a:prstGeom>
          <a:solidFill>
            <a:srgbClr val="FFF8E1"/>
          </a:solidFill>
          <a:ln w="25400">
            <a:solidFill>
              <a:srgbClr val="B0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000" y="864000"/>
            <a:ext cx="2700000" cy="396000"/>
          </a:xfrm>
          <a:prstGeom prst="rect">
            <a:avLst/>
          </a:prstGeom>
          <a:noFill/>
        </p:spPr>
        <p:txBody>
          <a:bodyPr wrap="square">
            <a:spAutoFit/>
          </a:bodyPr>
          <a:lstStyle/>
          <a:p>
            <a:pPr algn="ctr"/>
            <a:r>
              <a:rPr sz="3600" b="1" i="0">
                <a:solidFill>
                  <a:srgbClr val="B06000"/>
                </a:solidFill>
                <a:latin typeface="Calibri"/>
              </a:rPr>
              <a:t>HOLD</a:t>
            </a:r>
          </a:p>
        </p:txBody>
      </p:sp>
      <p:sp>
        <p:nvSpPr>
          <p:cNvPr id="19" name="TextBox 18"/>
          <p:cNvSpPr txBox="1"/>
          <p:nvPr/>
        </p:nvSpPr>
        <p:spPr>
          <a:xfrm>
            <a:off x="324000" y="1278000"/>
            <a:ext cx="2700000" cy="198000"/>
          </a:xfrm>
          <a:prstGeom prst="rect">
            <a:avLst/>
          </a:prstGeom>
          <a:noFill/>
        </p:spPr>
        <p:txBody>
          <a:bodyPr wrap="square">
            <a:spAutoFit/>
          </a:bodyPr>
          <a:lstStyle/>
          <a:p>
            <a:pPr algn="ctr"/>
            <a:r>
              <a:rPr sz="1100" b="0" i="0">
                <a:solidFill>
                  <a:srgbClr val="555555"/>
                </a:solidFill>
                <a:latin typeface="Calibri"/>
              </a:rPr>
              <a:t>Conviction : 50%</a:t>
            </a:r>
          </a:p>
        </p:txBody>
      </p:sp>
      <p:sp>
        <p:nvSpPr>
          <p:cNvPr id="20" name="TextBox 19"/>
          <p:cNvSpPr txBox="1"/>
          <p:nvPr/>
        </p:nvSpPr>
        <p:spPr>
          <a:xfrm>
            <a:off x="324000" y="1494000"/>
            <a:ext cx="2700000" cy="198000"/>
          </a:xfrm>
          <a:prstGeom prst="rect">
            <a:avLst/>
          </a:prstGeom>
          <a:noFill/>
        </p:spPr>
        <p:txBody>
          <a:bodyPr wrap="square">
            <a:spAutoFit/>
          </a:bodyPr>
          <a:lstStyle/>
          <a:p>
            <a:pPr algn="ctr"/>
            <a:r>
              <a:rPr sz="850" b="0" i="0">
                <a:solidFill>
                  <a:srgbClr val="555555"/>
                </a:solidFill>
                <a:latin typeface="Calibri"/>
              </a:rPr>
              <a:t>10 avril 2026</a:t>
            </a:r>
          </a:p>
        </p:txBody>
      </p:sp>
      <p:sp>
        <p:nvSpPr>
          <p:cNvPr id="21" name="Rectangle 20"/>
          <p:cNvSpPr/>
          <p:nvPr/>
        </p:nvSpPr>
        <p:spPr>
          <a:xfrm>
            <a:off x="324000" y="2196000"/>
            <a:ext cx="2700000" cy="1980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196000"/>
            <a:ext cx="1350000" cy="19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051999"/>
            <a:ext cx="2700000" cy="136800"/>
          </a:xfrm>
          <a:prstGeom prst="rect">
            <a:avLst/>
          </a:prstGeom>
          <a:noFill/>
        </p:spPr>
        <p:txBody>
          <a:bodyPr wrap="square">
            <a:spAutoFit/>
          </a:bodyPr>
          <a:lstStyle/>
          <a:p>
            <a:pPr algn="l"/>
            <a:r>
              <a:rPr sz="700" b="1" i="0">
                <a:solidFill>
                  <a:srgbClr val="1B3A6B"/>
                </a:solidFill>
                <a:latin typeface="Calibri"/>
              </a:rPr>
              <a:t>NIVEAU DE CONVICTION</a:t>
            </a:r>
          </a:p>
        </p:txBody>
      </p:sp>
      <p:sp>
        <p:nvSpPr>
          <p:cNvPr id="24" name="Rectangle 23"/>
          <p:cNvSpPr/>
          <p:nvPr/>
        </p:nvSpPr>
        <p:spPr>
          <a:xfrm>
            <a:off x="324000" y="2520000"/>
            <a:ext cx="2700000" cy="27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00" y="2538000"/>
            <a:ext cx="2628000" cy="234000"/>
          </a:xfrm>
          <a:prstGeom prst="rect">
            <a:avLst/>
          </a:prstGeom>
          <a:noFill/>
        </p:spPr>
        <p:txBody>
          <a:bodyPr wrap="square">
            <a:spAutoFit/>
          </a:bodyPr>
          <a:lstStyle/>
          <a:p>
            <a:pPr algn="l"/>
            <a:r>
              <a:rPr sz="850" b="1" i="0">
                <a:solidFill>
                  <a:srgbClr val="1A7A4A"/>
                </a:solidFill>
                <a:latin typeface="Calibri"/>
              </a:rPr>
              <a:t>Delta conviction : +0% vs Avocat du Diable</a:t>
            </a:r>
          </a:p>
        </p:txBody>
      </p:sp>
      <p:sp>
        <p:nvSpPr>
          <p:cNvPr id="26" name="Rectangle 25"/>
          <p:cNvSpPr/>
          <p:nvPr/>
        </p:nvSpPr>
        <p:spPr>
          <a:xfrm>
            <a:off x="3311999" y="827999"/>
            <a:ext cx="5472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66000" y="846000"/>
            <a:ext cx="5400000" cy="162000"/>
          </a:xfrm>
          <a:prstGeom prst="rect">
            <a:avLst/>
          </a:prstGeom>
          <a:noFill/>
        </p:spPr>
        <p:txBody>
          <a:bodyPr wrap="square">
            <a:spAutoFit/>
          </a:bodyPr>
          <a:lstStyle/>
          <a:p>
            <a:pPr algn="l"/>
            <a:r>
              <a:rPr sz="800" b="1" i="0">
                <a:solidFill>
                  <a:srgbClr val="FFFFFF"/>
                </a:solidFill>
                <a:latin typeface="Calibri"/>
              </a:rPr>
              <a:t>THÈSE D’INVESTISSEMENT</a:t>
            </a:r>
          </a:p>
        </p:txBody>
      </p:sp>
      <p:sp>
        <p:nvSpPr>
          <p:cNvPr id="28" name="Rectangle 27"/>
          <p:cNvSpPr/>
          <p:nvPr/>
        </p:nvSpPr>
        <p:spPr>
          <a:xfrm>
            <a:off x="3311999" y="1062000"/>
            <a:ext cx="36000" cy="28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1999" y="1080000"/>
            <a:ext cx="5346000" cy="270000"/>
          </a:xfrm>
          <a:prstGeom prst="rect">
            <a:avLst/>
          </a:prstGeom>
          <a:noFill/>
        </p:spPr>
        <p:txBody>
          <a:bodyPr wrap="square">
            <a:spAutoFit/>
          </a:bodyPr>
          <a:lstStyle/>
          <a:p>
            <a:pPr algn="l"/>
            <a:r>
              <a:rPr sz="850" b="0" i="0">
                <a:solidFill>
                  <a:srgbClr val="555555"/>
                </a:solidFill>
                <a:latin typeface="Calibri"/>
              </a:rPr>
              <a:t>Recommandation HOLD pour FactSet Research Systems Inc., secteur Financial Services.</a:t>
            </a:r>
          </a:p>
        </p:txBody>
      </p:sp>
      <p:sp>
        <p:nvSpPr>
          <p:cNvPr id="30" name="Rectangle 29"/>
          <p:cNvSpPr/>
          <p:nvPr/>
        </p:nvSpPr>
        <p:spPr>
          <a:xfrm>
            <a:off x="3311999" y="1404000"/>
            <a:ext cx="36000" cy="28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999" y="1422000"/>
            <a:ext cx="5346000" cy="270000"/>
          </a:xfrm>
          <a:prstGeom prst="rect">
            <a:avLst/>
          </a:prstGeom>
          <a:noFill/>
        </p:spPr>
        <p:txBody>
          <a:bodyPr wrap="square">
            <a:spAutoFit/>
          </a:bodyPr>
          <a:lstStyle/>
          <a:p>
            <a:pPr algn="l"/>
            <a:r>
              <a:rPr sz="850" b="0" i="0">
                <a:solidFill>
                  <a:srgbClr val="555555"/>
                </a:solidFill>
                <a:latin typeface="Calibri"/>
              </a:rPr>
              <a:t>Relancer l'analyse pour obtenir la these complete avec synthese IA.</a:t>
            </a:r>
          </a:p>
        </p:txBody>
      </p:sp>
      <p:sp>
        <p:nvSpPr>
          <p:cNvPr id="32" name="Rectangle 31"/>
          <p:cNvSpPr/>
          <p:nvPr/>
        </p:nvSpPr>
        <p:spPr>
          <a:xfrm>
            <a:off x="3311999" y="2142000"/>
            <a:ext cx="26640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66000" y="2160000"/>
            <a:ext cx="2592000" cy="144000"/>
          </a:xfrm>
          <a:prstGeom prst="rect">
            <a:avLst/>
          </a:prstGeom>
          <a:noFill/>
        </p:spPr>
        <p:txBody>
          <a:bodyPr wrap="square">
            <a:spAutoFit/>
          </a:bodyPr>
          <a:lstStyle/>
          <a:p>
            <a:pPr algn="l"/>
            <a:r>
              <a:rPr sz="750" b="1" i="0">
                <a:solidFill>
                  <a:srgbClr val="FFFFFF"/>
                </a:solidFill>
                <a:latin typeface="Calibri"/>
              </a:rPr>
              <a:t>CATALYSEURS BULLS</a:t>
            </a:r>
          </a:p>
        </p:txBody>
      </p:sp>
      <p:sp>
        <p:nvSpPr>
          <p:cNvPr id="34" name="TextBox 33"/>
          <p:cNvSpPr txBox="1"/>
          <p:nvPr/>
        </p:nvSpPr>
        <p:spPr>
          <a:xfrm>
            <a:off x="3401999" y="2358000"/>
            <a:ext cx="2556000" cy="234000"/>
          </a:xfrm>
          <a:prstGeom prst="rect">
            <a:avLst/>
          </a:prstGeom>
          <a:noFill/>
        </p:spPr>
        <p:txBody>
          <a:bodyPr wrap="square">
            <a:spAutoFit/>
          </a:bodyPr>
          <a:lstStyle/>
          <a:p>
            <a:pPr algn="l"/>
            <a:r>
              <a:rPr sz="700" b="0" i="0">
                <a:solidFill>
                  <a:srgbClr val="555555"/>
                </a:solidFill>
                <a:latin typeface="Calibri"/>
              </a:rPr>
              <a:t>• N/D</a:t>
            </a:r>
          </a:p>
        </p:txBody>
      </p:sp>
      <p:sp>
        <p:nvSpPr>
          <p:cNvPr id="35" name="Rectangle 34"/>
          <p:cNvSpPr/>
          <p:nvPr/>
        </p:nvSpPr>
        <p:spPr>
          <a:xfrm>
            <a:off x="6120000" y="2142000"/>
            <a:ext cx="24480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56000" y="2160000"/>
            <a:ext cx="2376000" cy="144000"/>
          </a:xfrm>
          <a:prstGeom prst="rect">
            <a:avLst/>
          </a:prstGeom>
          <a:noFill/>
        </p:spPr>
        <p:txBody>
          <a:bodyPr wrap="square">
            <a:spAutoFit/>
          </a:bodyPr>
          <a:lstStyle/>
          <a:p>
            <a:pPr algn="l"/>
            <a:r>
              <a:rPr sz="750" b="1" i="0">
                <a:solidFill>
                  <a:srgbClr val="FFFFFF"/>
                </a:solidFill>
                <a:latin typeface="Calibri"/>
              </a:rPr>
              <a:t>RISQUES BEARS</a:t>
            </a:r>
          </a:p>
        </p:txBody>
      </p:sp>
      <p:sp>
        <p:nvSpPr>
          <p:cNvPr id="37" name="TextBox 36"/>
          <p:cNvSpPr txBox="1"/>
          <p:nvPr/>
        </p:nvSpPr>
        <p:spPr>
          <a:xfrm>
            <a:off x="6156000" y="2358000"/>
            <a:ext cx="2376000" cy="234000"/>
          </a:xfrm>
          <a:prstGeom prst="rect">
            <a:avLst/>
          </a:prstGeom>
          <a:noFill/>
        </p:spPr>
        <p:txBody>
          <a:bodyPr wrap="square">
            <a:spAutoFit/>
          </a:bodyPr>
          <a:lstStyle/>
          <a:p>
            <a:pPr algn="l"/>
            <a:r>
              <a:rPr sz="700" b="0" i="0">
                <a:solidFill>
                  <a:srgbClr val="555555"/>
                </a:solidFill>
                <a:latin typeface="Calibri"/>
              </a:rPr>
              <a:t>• N/D</a:t>
            </a:r>
          </a:p>
        </p:txBody>
      </p:sp>
      <p:sp>
        <p:nvSpPr>
          <p:cNvPr id="38" name="TextBox 37"/>
          <p:cNvSpPr txBox="1"/>
          <p:nvPr/>
        </p:nvSpPr>
        <p:spPr>
          <a:xfrm>
            <a:off x="324000" y="4662000"/>
            <a:ext cx="8496000" cy="125999"/>
          </a:xfrm>
          <a:prstGeom prst="rect">
            <a:avLst/>
          </a:prstGeom>
          <a:noFill/>
        </p:spPr>
        <p:txBody>
          <a:bodyPr wrap="square">
            <a:spAutoFit/>
          </a:bodyPr>
          <a:lstStyle/>
          <a:p>
            <a:pPr algn="l"/>
            <a:r>
              <a:rPr sz="700" b="0" i="0">
                <a:solidFill>
                  <a:srgbClr val="555555"/>
                </a:solidFill>
                <a:latin typeface="Calibri"/>
              </a:rPr>
              <a:t>FinSight IA genere cette analyse a un instant T. Pour le suivi dans le temps, comparer les rapports successifs. La conviction reflete les donnees disponibles a la date d'analyse.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