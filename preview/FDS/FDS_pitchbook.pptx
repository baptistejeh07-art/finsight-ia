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554050"/>
          </a:xfrm>
          <a:prstGeom prst="rect">
            <a:avLst/>
          </a:prstGeom>
          <a:noFill/>
        </p:spPr>
        <p:txBody>
          <a:bodyPr wrap="square">
            <a:spAutoFit/>
          </a:bodyPr>
          <a:lstStyle/>
          <a:p>
            <a:pPr algn="ctr"/>
            <a:r>
              <a:rPr sz="2600" b="1" i="0">
                <a:solidFill>
                  <a:srgbClr val="1B3A6B"/>
                </a:solidFill>
                <a:latin typeface="Calibri"/>
              </a:rPr>
              <a:t>FactSet Research Systems Inc.</a:t>
            </a:r>
          </a:p>
        </p:txBody>
      </p:sp>
      <p:sp>
        <p:nvSpPr>
          <p:cNvPr id="7" name="TextBox 6"/>
          <p:cNvSpPr txBox="1"/>
          <p:nvPr/>
        </p:nvSpPr>
        <p:spPr>
          <a:xfrm>
            <a:off x="457200" y="2105650"/>
            <a:ext cx="8229600" cy="255600"/>
          </a:xfrm>
          <a:prstGeom prst="rect">
            <a:avLst/>
          </a:prstGeom>
          <a:noFill/>
        </p:spPr>
        <p:txBody>
          <a:bodyPr wrap="square">
            <a:spAutoFit/>
          </a:bodyPr>
          <a:lstStyle/>
          <a:p>
            <a:pPr algn="ctr"/>
            <a:r>
              <a:rPr sz="1100" b="0" i="0">
                <a:solidFill>
                  <a:srgbClr val="888888"/>
                </a:solidFill>
                <a:latin typeface="Calibri"/>
              </a:rPr>
              <a:t>FDS  ·  Financial Services</a:t>
            </a:r>
          </a:p>
        </p:txBody>
      </p:sp>
      <p:sp>
        <p:nvSpPr>
          <p:cNvPr id="8" name="Rectangle 7"/>
          <p:cNvSpPr/>
          <p:nvPr/>
        </p:nvSpPr>
        <p:spPr>
          <a:xfrm>
            <a:off x="2771999" y="2480050"/>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498050"/>
            <a:ext cx="3491999" cy="395999"/>
          </a:xfrm>
          <a:prstGeom prst="rect">
            <a:avLst/>
          </a:prstGeom>
          <a:noFill/>
        </p:spPr>
        <p:txBody>
          <a:bodyPr wrap="square">
            <a:spAutoFit/>
          </a:bodyPr>
          <a:lstStyle/>
          <a:p>
            <a:pPr algn="ctr"/>
            <a:r>
              <a:rPr sz="900" b="1" i="0">
                <a:solidFill>
                  <a:srgbClr val="FFFFFF"/>
                </a:solidFill>
                <a:latin typeface="Calibri"/>
              </a:rPr>
              <a:t>● BUY  ·  Prix cible base : 245 $  ·  Upside : +14,7 %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245 $  ·  Upside : +14,7 %  ·  Bear : 210 $ (-1,6 %)  ·  Bull : 275 $ (+28,8 %)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 élevé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FactSet bénéficie d'une croissance organique de 5,4% en 2025 avec un levier opérationnel de +2,0pts sur la marge EBITDA grâce à l'automatisation et à l'effet volume</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Modèle SaaS récurrent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nette de 25,7% en 2025 reflète un pricing power élevé et une structure de coûts optimisée</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Base client captive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L'acquisition de Crux Informatics en 2024 renforce l'offre de données alternatives avec un potentiel de +300M$ de revenus additionnels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aux marchés financiers</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Ralentissement des marchés financiers en 2026 (-10% volumes d'échanges), réduisant le CA de -4% | Concurrence accrue de Bloomberg et Refinitiv avec des baisses de prix de -8% sur les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 modèle SaaS récurrent masque une dépendance à 60% de 10 clients majeurs, dont 3 représentent 35% du CA; un départ de l'un d'eux réduirait le CA de 12% et le ROE de 4 points, comme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Risque réglementaire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Les multiples actuels (EV/EBITDA 9.12x) intègrent une croissance linéaire de 5.4%, mais les coûts d'acquisition client ont augmenté de 18% en 2024, rendant chaque nouveau client moins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Données alternatives: L'adoption des données alternatives (Crux</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IA et automatisation: L'intégration de l'IA dans les outils</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13,0x</a:t>
                      </a:r>
                    </a:p>
                  </a:txBody>
                  <a:tcPr>
                    <a:solidFill>
                      <a:srgbClr val="FFFFFF"/>
                    </a:solidFill>
                  </a:tcPr>
                </a:tc>
                <a:tc>
                  <a:txBody>
                    <a:bodyPr/>
                    <a:lstStyle/>
                    <a:p>
                      <a:pPr algn="ctr"/>
                      <a:r>
                        <a:rPr sz="800" b="0" i="0">
                          <a:solidFill>
                            <a:srgbClr val="0D0D0D"/>
                          </a:solidFill>
                          <a:latin typeface="Calibri"/>
                        </a:rPr>
                        <a:t>26,0x</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245 $</a:t>
                      </a:r>
                    </a:p>
                  </a:txBody>
                  <a:tcPr>
                    <a:solidFill>
                      <a:srgbClr val="F7F8FA"/>
                    </a:solidFill>
                  </a:tcPr>
                </a:tc>
                <a:tc>
                  <a:txBody>
                    <a:bodyPr/>
                    <a:lstStyle/>
                    <a:p>
                      <a:pPr algn="ctr"/>
                      <a:r>
                        <a:rPr sz="800" b="0" i="0">
                          <a:solidFill>
                            <a:srgbClr val="0D0D0D"/>
                          </a:solidFill>
                          <a:latin typeface="Calibri"/>
                        </a:rPr>
                        <a:t>Upside +14,7 %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9,1x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14,0x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7,5 %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0,72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245 $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+14,7 %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-0,000</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Neutre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FactSet Research Systems Inc.  ·  Financial Services</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aux marchés financiers  ·  Concurrence accrue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FactSet Research Systems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FactSet Research Systems Inc. est un fournisseur leader de solutions logicielles et de données financières pour les institutions financières et les entreprises. Positionné sur le marché des données alternatives et des outils d'analyse financière, FactSet se distingue par son intégration verticale et son écosystème SaaS. Ses avantages concurrentiels incluent une base client captive, des coûts de rétention faibles et une capacité à monétiser les données via des abonnements récurrents.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Solutions logicielles et données financières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Modèle basé sur des abonnements SaaS et des licences logicielles avec des revenus récurrents à plus de 90%. Principaux produits : Workstation, Portware, et des outils d'analyse ESG. Clients cibles : banques d'investissement, hedge funds et grandes entreprises. Croissance portée par l'adoption de l'IA et des données alternatives, avec un taux de rétention client &gt;95%.</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 et contenu</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Revenus issus de services de conseil, de données de marché et de contenu éditorial. Modèle mixte : abonnements et forfaits projets. Services phares : intégration de données et analyse personnalisée. Clients : asset managers et corporates. Croissance liée à la demande en données alternatives et en conformité réglementaire.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7,8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2,3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213,52 $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9,1x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13,0x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Solutions logicielles et données financières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Modèle basé sur des abonnements SaaS et des licences logicielles avec des revenus récurrents à plus de 90%. Principaux produits : Workstation, Portware, et des outils d'analyse ESG. Clients cibles : banques d'investissement, hedge funds et grandes entreprises. Croissance portée par l'adoption de l'IA et des données alternatives, avec un taux de rétention client &gt;95%.</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8%</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 et contenu</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Revenus issus de services de conseil, de données de marché et de contenu éditorial. Modèle mixte : abonnements et forfaits projets. Services phares : intégration de données et analyse personnalisée. Clients : asset managers et corporates. Croissance liée à la demande en données alternatives et en conformité réglementaire.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a:t>
                      </a:r>
                    </a:p>
                  </a:txBody>
                  <a:tcPr>
                    <a:solidFill>
                      <a:srgbClr val="FFFFFF"/>
                    </a:solidFill>
                  </a:tcPr>
                </a:tc>
                <a:tc>
                  <a:txBody>
                    <a:bodyPr/>
                    <a:lstStyle/>
                    <a:p>
                      <a:pPr algn="ctr"/>
                      <a:r>
                        <a:rPr sz="800" b="1" i="0">
                          <a:solidFill>
                            <a:srgbClr val="0D0D0D"/>
                          </a:solidFill>
                          <a:latin typeface="Calibri"/>
                        </a:rPr>
                        <a:t>2,2</a:t>
                      </a:r>
                    </a:p>
                  </a:txBody>
                  <a:tcPr>
                    <a:solidFill>
                      <a:srgbClr val="FFFFFF"/>
                    </a:solidFill>
                  </a:tcPr>
                </a:tc>
                <a:tc>
                  <a:txBody>
                    <a:bodyPr/>
                    <a:lstStyle/>
                    <a:p>
                      <a:pPr algn="ctr"/>
                      <a:r>
                        <a:rPr sz="800" b="1" i="0">
                          <a:solidFill>
                            <a:srgbClr val="1B3A6B"/>
                          </a:solidFill>
                          <a:latin typeface="Calibri"/>
                        </a:rPr>
                        <a:t>2,3</a:t>
                      </a:r>
                    </a:p>
                  </a:txBody>
                  <a:tcPr>
                    <a:solidFill>
                      <a:srgbClr val="DDE8F5"/>
                    </a:solidFill>
                  </a:tcPr>
                </a:tc>
                <a:tc>
                  <a:txBody>
                    <a:bodyPr/>
                    <a:lstStyle/>
                    <a:p>
                      <a:pPr algn="ctr"/>
                      <a:r>
                        <a:rPr sz="800" b="1" i="0">
                          <a:solidFill>
                            <a:srgbClr val="0D0D0D"/>
                          </a:solidFill>
                          <a:latin typeface="Calibri"/>
                        </a:rPr>
                        <a:t>2,5</a:t>
                      </a:r>
                    </a:p>
                  </a:txBody>
                  <a:tcPr>
                    <a:solidFill>
                      <a:srgbClr val="FFFFFF"/>
                    </a:solidFill>
                  </a:tcPr>
                </a:tc>
                <a:tc>
                  <a:txBody>
                    <a:bodyPr/>
                    <a:lstStyle/>
                    <a:p>
                      <a:pPr algn="ctr"/>
                      <a:r>
                        <a:rPr sz="800" b="1" i="0">
                          <a:solidFill>
                            <a:srgbClr val="0D0D0D"/>
                          </a:solidFill>
                          <a:latin typeface="Calibri"/>
                        </a:rPr>
                        <a:t>2,6</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+13,1 %</a:t>
                      </a:r>
                    </a:p>
                  </a:txBody>
                  <a:tcPr>
                    <a:solidFill>
                      <a:srgbClr val="F7F8FA"/>
                    </a:solidFill>
                  </a:tcPr>
                </a:tc>
                <a:tc>
                  <a:txBody>
                    <a:bodyPr/>
                    <a:lstStyle/>
                    <a:p>
                      <a:pPr algn="ctr"/>
                      <a:r>
                        <a:rPr sz="750" b="0" i="1">
                          <a:solidFill>
                            <a:srgbClr val="333333"/>
                          </a:solidFill>
                          <a:latin typeface="Calibri"/>
                        </a:rPr>
                        <a:t>+5,6 %</a:t>
                      </a:r>
                    </a:p>
                  </a:txBody>
                  <a:tcPr>
                    <a:solidFill>
                      <a:srgbClr val="F7F8FA"/>
                    </a:solidFill>
                  </a:tcPr>
                </a:tc>
                <a:tc>
                  <a:txBody>
                    <a:bodyPr/>
                    <a:lstStyle/>
                    <a:p>
                      <a:pPr algn="ctr"/>
                      <a:r>
                        <a:rPr sz="750" b="0" i="1">
                          <a:solidFill>
                            <a:srgbClr val="333333"/>
                          </a:solidFill>
                          <a:latin typeface="Calibri"/>
                        </a:rPr>
                        <a:t>+5,4 %</a:t>
                      </a:r>
                    </a:p>
                  </a:txBody>
                  <a:tcPr>
                    <a:solidFill>
                      <a:srgbClr val="DDE8F5"/>
                    </a:solidFill>
                  </a:tcPr>
                </a:tc>
                <a:tc>
                  <a:txBody>
                    <a:bodyPr/>
                    <a:lstStyle/>
                    <a:p>
                      <a:pPr algn="ctr"/>
                      <a:r>
                        <a:rPr sz="750" b="0" i="1">
                          <a:solidFill>
                            <a:srgbClr val="333333"/>
                          </a:solidFill>
                          <a:latin typeface="Calibri"/>
                        </a:rPr>
                        <a:t>+5,5 %</a:t>
                      </a:r>
                    </a:p>
                  </a:txBody>
                  <a:tcPr>
                    <a:solidFill>
                      <a:srgbClr val="F7F8FA"/>
                    </a:solidFill>
                  </a:tcPr>
                </a:tc>
                <a:tc>
                  <a:txBody>
                    <a:bodyPr/>
                    <a:lstStyle/>
                    <a:p>
                      <a:pPr algn="ctr"/>
                      <a:r>
                        <a:rPr sz="750" b="0" i="1">
                          <a:solidFill>
                            <a:srgbClr val="333333"/>
                          </a:solidFill>
                          <a:latin typeface="Calibri"/>
                        </a:rPr>
                        <a:t>+6,1 %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c>
                  <a:txBody>
                    <a:bodyPr/>
                    <a:lstStyle/>
                    <a:p>
                      <a:pPr algn="ctr"/>
                      <a:r>
                        <a:rPr sz="800" b="1" i="0">
                          <a:solidFill>
                            <a:srgbClr val="0D0D0D"/>
                          </a:solidFill>
                          <a:latin typeface="Calibri"/>
                        </a:rPr>
                        <a:t>1,2</a:t>
                      </a:r>
                    </a:p>
                  </a:txBody>
                  <a:tcPr>
                    <a:solidFill>
                      <a:srgbClr val="FFFFFF"/>
                    </a:solidFill>
                  </a:tcPr>
                </a:tc>
                <a:tc>
                  <a:txBody>
                    <a:bodyPr/>
                    <a:lstStyle/>
                    <a:p>
                      <a:pPr algn="ctr"/>
                      <a:r>
                        <a:rPr sz="800" b="1" i="0">
                          <a:solidFill>
                            <a:srgbClr val="1B3A6B"/>
                          </a:solidFill>
                          <a:latin typeface="Calibri"/>
                        </a:rPr>
                        <a:t>1,2</a:t>
                      </a:r>
                    </a:p>
                  </a:txBody>
                  <a:tcPr>
                    <a:solidFill>
                      <a:srgbClr val="DDE8F5"/>
                    </a:solidFill>
                  </a:tcPr>
                </a:tc>
                <a:tc>
                  <a:txBody>
                    <a:bodyPr/>
                    <a:lstStyle/>
                    <a:p>
                      <a:pPr algn="ctr"/>
                      <a:r>
                        <a:rPr sz="800" b="1" i="0">
                          <a:solidFill>
                            <a:srgbClr val="0D0D0D"/>
                          </a:solidFill>
                          <a:latin typeface="Calibri"/>
                        </a:rPr>
                        <a:t>1,3</a:t>
                      </a:r>
                    </a:p>
                  </a:txBody>
                  <a:tcPr>
                    <a:solidFill>
                      <a:srgbClr val="FFFFFF"/>
                    </a:solidFill>
                  </a:tcPr>
                </a:tc>
                <a:tc>
                  <a:txBody>
                    <a:bodyPr/>
                    <a:lstStyle/>
                    <a:p>
                      <a:pPr algn="ctr"/>
                      <a:r>
                        <a:rPr sz="800" b="1" i="0">
                          <a:solidFill>
                            <a:srgbClr val="0D0D0D"/>
                          </a:solidFill>
                          <a:latin typeface="Calibri"/>
                        </a:rPr>
                        <a:t>1,4</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53,3 %</a:t>
                      </a:r>
                    </a:p>
                  </a:txBody>
                  <a:tcPr>
                    <a:solidFill>
                      <a:srgbClr val="F7F8FA"/>
                    </a:solidFill>
                  </a:tcPr>
                </a:tc>
                <a:tc>
                  <a:txBody>
                    <a:bodyPr/>
                    <a:lstStyle/>
                    <a:p>
                      <a:pPr algn="ctr"/>
                      <a:r>
                        <a:rPr sz="750" b="0" i="1">
                          <a:solidFill>
                            <a:srgbClr val="333333"/>
                          </a:solidFill>
                          <a:latin typeface="Calibri"/>
                        </a:rPr>
                        <a:t>54,1 %</a:t>
                      </a:r>
                    </a:p>
                  </a:txBody>
                  <a:tcPr>
                    <a:solidFill>
                      <a:srgbClr val="F7F8FA"/>
                    </a:solidFill>
                  </a:tcPr>
                </a:tc>
                <a:tc>
                  <a:txBody>
                    <a:bodyPr/>
                    <a:lstStyle/>
                    <a:p>
                      <a:pPr algn="ctr"/>
                      <a:r>
                        <a:rPr sz="750" b="0" i="1">
                          <a:solidFill>
                            <a:srgbClr val="333333"/>
                          </a:solidFill>
                          <a:latin typeface="Calibri"/>
                        </a:rPr>
                        <a:t>52,7 %</a:t>
                      </a:r>
                    </a:p>
                  </a:txBody>
                  <a:tcPr>
                    <a:solidFill>
                      <a:srgbClr val="DDE8F5"/>
                    </a:solidFill>
                  </a:tcPr>
                </a:tc>
                <a:tc>
                  <a:txBody>
                    <a:bodyPr/>
                    <a:lstStyle/>
                    <a:p>
                      <a:pPr algn="ctr"/>
                      <a:r>
                        <a:rPr sz="750" b="0" i="1">
                          <a:solidFill>
                            <a:srgbClr val="333333"/>
                          </a:solidFill>
                          <a:latin typeface="Calibri"/>
                        </a:rPr>
                        <a:t>53,5 %</a:t>
                      </a:r>
                    </a:p>
                  </a:txBody>
                  <a:tcPr>
                    <a:solidFill>
                      <a:srgbClr val="F7F8FA"/>
                    </a:solidFill>
                  </a:tcPr>
                </a:tc>
                <a:tc>
                  <a:txBody>
                    <a:bodyPr/>
                    <a:lstStyle/>
                    <a:p>
                      <a:pPr algn="ctr"/>
                      <a:r>
                        <a:rPr sz="750" b="0" i="1">
                          <a:solidFill>
                            <a:srgbClr val="333333"/>
                          </a:solidFill>
                          <a:latin typeface="Calibri"/>
                        </a:rPr>
                        <a:t>54,2 %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0,8</a:t>
                      </a:r>
                    </a:p>
                  </a:txBody>
                  <a:tcPr>
                    <a:solidFill>
                      <a:srgbClr val="FFFFFF"/>
                    </a:solidFill>
                  </a:tcPr>
                </a:tc>
                <a:tc>
                  <a:txBody>
                    <a:bodyPr/>
                    <a:lstStyle/>
                    <a:p>
                      <a:pPr algn="ctr"/>
                      <a:r>
                        <a:rPr sz="800" b="1" i="0">
                          <a:solidFill>
                            <a:srgbClr val="0D0D0D"/>
                          </a:solidFill>
                          <a:latin typeface="Calibri"/>
                        </a:rPr>
                        <a:t>0,9</a:t>
                      </a:r>
                    </a:p>
                  </a:txBody>
                  <a:tcPr>
                    <a:solidFill>
                      <a:srgbClr val="FFFFFF"/>
                    </a:solidFill>
                  </a:tcPr>
                </a:tc>
                <a:tc>
                  <a:txBody>
                    <a:bodyPr/>
                    <a:lstStyle/>
                    <a:p>
                      <a:pPr algn="ctr"/>
                      <a:r>
                        <a:rPr sz="800" b="1" i="0">
                          <a:solidFill>
                            <a:srgbClr val="1B3A6B"/>
                          </a:solidFill>
                          <a:latin typeface="Calibri"/>
                        </a:rPr>
                        <a:t>1,0</a:t>
                      </a:r>
                    </a:p>
                  </a:txBody>
                  <a:tcPr>
                    <a:solidFill>
                      <a:srgbClr val="DDE8F5"/>
                    </a:solidFill>
                  </a:tcPr>
                </a:tc>
                <a:tc>
                  <a:txBody>
                    <a:bodyPr/>
                    <a:lstStyle/>
                    <a:p>
                      <a:pPr algn="ctr"/>
                      <a:r>
                        <a:rPr sz="800" b="1" i="0">
                          <a:solidFill>
                            <a:srgbClr val="0D0D0D"/>
                          </a:solidFill>
                          <a:latin typeface="Calibri"/>
                        </a:rPr>
                        <a:t>1,1</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37,8 %</a:t>
                      </a:r>
                    </a:p>
                  </a:txBody>
                  <a:tcPr>
                    <a:solidFill>
                      <a:srgbClr val="F7F8FA"/>
                    </a:solidFill>
                  </a:tcPr>
                </a:tc>
                <a:tc>
                  <a:txBody>
                    <a:bodyPr/>
                    <a:lstStyle/>
                    <a:p>
                      <a:pPr algn="ctr"/>
                      <a:r>
                        <a:rPr sz="750" b="0" i="1">
                          <a:solidFill>
                            <a:srgbClr val="333333"/>
                          </a:solidFill>
                          <a:latin typeface="Calibri"/>
                        </a:rPr>
                        <a:t>39,6 %</a:t>
                      </a:r>
                    </a:p>
                  </a:txBody>
                  <a:tcPr>
                    <a:solidFill>
                      <a:srgbClr val="F7F8FA"/>
                    </a:solidFill>
                  </a:tcPr>
                </a:tc>
                <a:tc>
                  <a:txBody>
                    <a:bodyPr/>
                    <a:lstStyle/>
                    <a:p>
                      <a:pPr algn="ctr"/>
                      <a:r>
                        <a:rPr sz="750" b="0" i="1">
                          <a:solidFill>
                            <a:srgbClr val="333333"/>
                          </a:solidFill>
                          <a:latin typeface="Calibri"/>
                        </a:rPr>
                        <a:t>41,6 %</a:t>
                      </a:r>
                    </a:p>
                  </a:txBody>
                  <a:tcPr>
                    <a:solidFill>
                      <a:srgbClr val="DDE8F5"/>
                    </a:solidFill>
                  </a:tcPr>
                </a:tc>
                <a:tc>
                  <a:txBody>
                    <a:bodyPr/>
                    <a:lstStyle/>
                    <a:p>
                      <a:pPr algn="ctr"/>
                      <a:r>
                        <a:rPr sz="750" b="0" i="1">
                          <a:solidFill>
                            <a:srgbClr val="333333"/>
                          </a:solidFill>
                          <a:latin typeface="Calibri"/>
                        </a:rPr>
                        <a:t>43,5 %</a:t>
                      </a:r>
                    </a:p>
                  </a:txBody>
                  <a:tcPr>
                    <a:solidFill>
                      <a:srgbClr val="F7F8FA"/>
                    </a:solidFill>
                  </a:tcPr>
                </a:tc>
                <a:tc>
                  <a:txBody>
                    <a:bodyPr/>
                    <a:lstStyle/>
                    <a:p>
                      <a:pPr algn="ctr"/>
                      <a:r>
                        <a:rPr sz="750" b="0" i="1">
                          <a:solidFill>
                            <a:srgbClr val="333333"/>
                          </a:solidFill>
                          <a:latin typeface="Calibri"/>
                        </a:rPr>
                        <a:t>44,2 %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0,5</a:t>
                      </a:r>
                    </a:p>
                  </a:txBody>
                  <a:tcPr>
                    <a:solidFill>
                      <a:srgbClr val="FFFFFF"/>
                    </a:solidFill>
                  </a:tcPr>
                </a:tc>
                <a:tc>
                  <a:txBody>
                    <a:bodyPr/>
                    <a:lstStyle/>
                    <a:p>
                      <a:pPr algn="ctr"/>
                      <a:r>
                        <a:rPr sz="800" b="1" i="0">
                          <a:solidFill>
                            <a:srgbClr val="0D0D0D"/>
                          </a:solidFill>
                          <a:latin typeface="Calibri"/>
                        </a:rPr>
                        <a:t>0,5</a:t>
                      </a:r>
                    </a:p>
                  </a:txBody>
                  <a:tcPr>
                    <a:solidFill>
                      <a:srgbClr val="FFFFFF"/>
                    </a:solidFill>
                  </a:tcPr>
                </a:tc>
                <a:tc>
                  <a:txBody>
                    <a:bodyPr/>
                    <a:lstStyle/>
                    <a:p>
                      <a:pPr algn="ctr"/>
                      <a:r>
                        <a:rPr sz="800" b="1" i="0">
                          <a:solidFill>
                            <a:srgbClr val="1B3A6B"/>
                          </a:solidFill>
                          <a:latin typeface="Calibri"/>
                        </a:rPr>
                        <a:t>0,6</a:t>
                      </a:r>
                    </a:p>
                  </a:txBody>
                  <a:tcPr>
                    <a:solidFill>
                      <a:srgbClr val="DDE8F5"/>
                    </a:solidFill>
                  </a:tcPr>
                </a:tc>
                <a:tc>
                  <a:txBody>
                    <a:bodyPr/>
                    <a:lstStyle/>
                    <a:p>
                      <a:pPr algn="ctr"/>
                      <a:r>
                        <a:rPr sz="800" b="1" i="0">
                          <a:solidFill>
                            <a:srgbClr val="0D0D0D"/>
                          </a:solidFill>
                          <a:latin typeface="Calibri"/>
                        </a:rPr>
                        <a:t>0,6</a:t>
                      </a:r>
                    </a:p>
                  </a:txBody>
                  <a:tcPr>
                    <a:solidFill>
                      <a:srgbClr val="FFFFFF"/>
                    </a:solidFill>
                  </a:tcPr>
                </a:tc>
                <a:tc>
                  <a:txBody>
                    <a:bodyPr/>
                    <a:lstStyle/>
                    <a:p>
                      <a:pPr algn="ctr"/>
                      <a:r>
                        <a:rPr sz="800" b="1" i="0">
                          <a:solidFill>
                            <a:srgbClr val="0D0D0D"/>
                          </a:solidFill>
                          <a:latin typeface="Calibri"/>
                        </a:rPr>
                        <a:t>0,7</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22,4 %</a:t>
                      </a:r>
                    </a:p>
                  </a:txBody>
                  <a:tcPr>
                    <a:solidFill>
                      <a:srgbClr val="F7F8FA"/>
                    </a:solidFill>
                  </a:tcPr>
                </a:tc>
                <a:tc>
                  <a:txBody>
                    <a:bodyPr/>
                    <a:lstStyle/>
                    <a:p>
                      <a:pPr algn="ctr"/>
                      <a:r>
                        <a:rPr sz="750" b="0" i="1">
                          <a:solidFill>
                            <a:srgbClr val="333333"/>
                          </a:solidFill>
                          <a:latin typeface="Calibri"/>
                        </a:rPr>
                        <a:t>24,4 %</a:t>
                      </a:r>
                    </a:p>
                  </a:txBody>
                  <a:tcPr>
                    <a:solidFill>
                      <a:srgbClr val="F7F8FA"/>
                    </a:solidFill>
                  </a:tcPr>
                </a:tc>
                <a:tc>
                  <a:txBody>
                    <a:bodyPr/>
                    <a:lstStyle/>
                    <a:p>
                      <a:pPr algn="ctr"/>
                      <a:r>
                        <a:rPr sz="750" b="0" i="1">
                          <a:solidFill>
                            <a:srgbClr val="333333"/>
                          </a:solidFill>
                          <a:latin typeface="Calibri"/>
                        </a:rPr>
                        <a:t>25,7 %</a:t>
                      </a:r>
                    </a:p>
                  </a:txBody>
                  <a:tcPr>
                    <a:solidFill>
                      <a:srgbClr val="DDE8F5"/>
                    </a:solidFill>
                  </a:tcPr>
                </a:tc>
                <a:tc>
                  <a:txBody>
                    <a:bodyPr/>
                    <a:lstStyle/>
                    <a:p>
                      <a:pPr algn="ctr"/>
                      <a:r>
                        <a:rPr sz="750" b="0" i="1">
                          <a:solidFill>
                            <a:srgbClr val="333333"/>
                          </a:solidFill>
                          <a:latin typeface="Calibri"/>
                        </a:rPr>
                        <a:t>25,3 %</a:t>
                      </a:r>
                    </a:p>
                  </a:txBody>
                  <a:tcPr>
                    <a:solidFill>
                      <a:srgbClr val="F7F8FA"/>
                    </a:solidFill>
                  </a:tcPr>
                </a:tc>
                <a:tc>
                  <a:txBody>
                    <a:bodyPr/>
                    <a:lstStyle/>
                    <a:p>
                      <a:pPr algn="ctr"/>
                      <a:r>
                        <a:rPr sz="750" b="0" i="1">
                          <a:solidFill>
                            <a:srgbClr val="333333"/>
                          </a:solidFill>
                          <a:latin typeface="Calibri"/>
                        </a:rPr>
                        <a:t>25,8 %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2 321,8M$ (+5,4% YoY), porté par une demande soutenue en données financières et outils d'analyse. La marge brute de 52,7% (+1,4pts vs 2024) bénéficie d'un mix produit favorable et d'économies d'échelle. La marge EBITDA de 41,6% (+2,0pts vs 2024) reflète un levier opérationnel de +2,0pts grâce à l'automatisation. Le ratio ND/EBITDA de 1,1x indique une capacité de rachat ou de dividende de 1,2Md$.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338 M$</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1,4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1,0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4,58</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4,58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0,6x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13,8x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4,87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-2,34</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2 321,8M$ (+5,4% YoY), porté par une demande soutenue en données financières et outils d'analyse. La marge brute de 52,7% (+1,4pts vs 2024) bénéficie d'un mix produit favorable et d'économies d'échelle. La marge EBITDA de 41,6% (+2,0pts vs 2024) reflète un levier opérationnel de +2,0pts grâce à l'automatisation. Le ratio ND/EBITDA de 1,1x indique une capacité de rachat ou de dividende de 1,2Md$.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Sous-value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-2,34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La marge brute est passée de 52,8% en 2022 à 52,7% en 2025, avec une stabilité remarquable malgré l'inflation des coûts. La marge EBITDA a progressé de 33,0% en 2022 à 41,6% en 2025 (+8,6pts), grâce à l'effet volume, au mix SaaS haute marge et à la réduction des coûts fixes. Cette trajectoire illustre un pricing power durable et une exécution opérationnelle robuste. Le risque de mean-reversion est limité par la récurrence des revenus.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213,52 $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210 $</a:t>
                      </a:r>
                    </a:p>
                  </a:txBody>
                  <a:tcPr>
                    <a:solidFill>
                      <a:srgbClr val="FAF0EF"/>
                    </a:solidFill>
                  </a:tcPr>
                </a:tc>
                <a:tc>
                  <a:txBody>
                    <a:bodyPr/>
                    <a:lstStyle/>
                    <a:p>
                      <a:pPr algn="ctr"/>
                      <a:r>
                        <a:rPr sz="2000" b="1" i="0">
                          <a:solidFill>
                            <a:srgbClr val="2E5FA3"/>
                          </a:solidFill>
                          <a:latin typeface="Calibri"/>
                        </a:rPr>
                        <a:t>245 $</a:t>
                      </a:r>
                    </a:p>
                  </a:txBody>
                  <a:tcPr>
                    <a:solidFill>
                      <a:srgbClr val="EEF3FA"/>
                    </a:solidFill>
                  </a:tcPr>
                </a:tc>
                <a:tc>
                  <a:txBody>
                    <a:bodyPr/>
                    <a:lstStyle/>
                    <a:p>
                      <a:pPr algn="ctr"/>
                      <a:r>
                        <a:rPr sz="2000" b="1" i="0">
                          <a:solidFill>
                            <a:srgbClr val="1A7A4A"/>
                          </a:solidFill>
                          <a:latin typeface="Calibri"/>
                        </a:rPr>
                        <a:t>275 $</a:t>
                      </a:r>
                    </a:p>
                  </a:txBody>
                  <a:tcPr>
                    <a:solidFill>
                      <a:srgbClr val="EAF4EF"/>
                    </a:solidFill>
                  </a:tcPr>
                </a:tc>
              </a:tr>
              <a:tr h="342900">
                <a:tc>
                  <a:txBody>
                    <a:bodyPr/>
                    <a:lstStyle/>
                    <a:p>
                      <a:pPr algn="ctr"/>
                      <a:r>
                        <a:rPr sz="1200" b="1" i="0">
                          <a:solidFill>
                            <a:srgbClr val="A82020"/>
                          </a:solidFill>
                          <a:latin typeface="Calibri"/>
                        </a:rPr>
                        <a:t>-1,6 %</a:t>
                      </a:r>
                    </a:p>
                  </a:txBody>
                  <a:tcPr>
                    <a:solidFill>
                      <a:srgbClr val="FAF0EF"/>
                    </a:solidFill>
                  </a:tcPr>
                </a:tc>
                <a:tc>
                  <a:txBody>
                    <a:bodyPr/>
                    <a:lstStyle/>
                    <a:p>
                      <a:pPr algn="ctr"/>
                      <a:r>
                        <a:rPr sz="1200" b="1" i="0">
                          <a:solidFill>
                            <a:srgbClr val="2E5FA3"/>
                          </a:solidFill>
                          <a:latin typeface="Calibri"/>
                        </a:rPr>
                        <a:t>+14,7 %</a:t>
                      </a:r>
                    </a:p>
                  </a:txBody>
                  <a:tcPr>
                    <a:solidFill>
                      <a:srgbClr val="EEF3FA"/>
                    </a:solidFill>
                  </a:tcPr>
                </a:tc>
                <a:tc>
                  <a:txBody>
                    <a:bodyPr/>
                    <a:lstStyle/>
                    <a:p>
                      <a:pPr algn="ctr"/>
                      <a:r>
                        <a:rPr sz="1200" b="1" i="0">
                          <a:solidFill>
                            <a:srgbClr val="1A7A4A"/>
                          </a:solidFill>
                          <a:latin typeface="Calibri"/>
                        </a:rPr>
                        <a:t>+28,8 %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-32,2 %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245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7,5% et un TGR de 2,5%, le prix implicite DCF est de 245$ (base), soit un upside de 14,7% vs le cours actuel. Cet écart suggère une sous-valorisation structurelle, justifiée par la qualité des actifs et la croissance organique. Un catalyseur clé serait une accélération des revenus liés aux données alternatives (+30% YoY 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FactSet Research Systems Inc.</a:t>
                      </a:r>
                    </a:p>
                  </a:txBody>
                  <a:tcPr>
                    <a:solidFill>
                      <a:srgbClr val="DDE8F5"/>
                    </a:solidFill>
                  </a:tcPr>
                </a:tc>
                <a:tc>
                  <a:txBody>
                    <a:bodyPr/>
                    <a:lstStyle/>
                    <a:p>
                      <a:pPr algn="ctr"/>
                      <a:r>
                        <a:rPr sz="750" b="1" i="0">
                          <a:solidFill>
                            <a:srgbClr val="2E5FA3"/>
                          </a:solidFill>
                          <a:latin typeface="Calibri"/>
                        </a:rPr>
                        <a:t>FDS</a:t>
                      </a:r>
                    </a:p>
                  </a:txBody>
                  <a:tcPr>
                    <a:solidFill>
                      <a:srgbClr val="DDE8F5"/>
                    </a:solidFill>
                  </a:tcPr>
                </a:tc>
                <a:tc>
                  <a:txBody>
                    <a:bodyPr/>
                    <a:lstStyle/>
                    <a:p>
                      <a:pPr algn="ctr"/>
                      <a:r>
                        <a:rPr sz="800" b="1" i="0">
                          <a:solidFill>
                            <a:srgbClr val="1B3A6B"/>
                          </a:solidFill>
                          <a:latin typeface="Calibri"/>
                        </a:rPr>
                        <a:t>7,8</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3,8x</a:t>
                      </a:r>
                    </a:p>
                  </a:txBody>
                  <a:tcPr>
                    <a:solidFill>
                      <a:srgbClr val="DDE8F5"/>
                    </a:solidFill>
                  </a:tcPr>
                </a:tc>
                <a:tc>
                  <a:txBody>
                    <a:bodyPr/>
                    <a:lstStyle/>
                    <a:p>
                      <a:pPr algn="ctr"/>
                      <a:r>
                        <a:rPr sz="800" b="1" i="0">
                          <a:solidFill>
                            <a:srgbClr val="1B3A6B"/>
                          </a:solidFill>
                          <a:latin typeface="Calibri"/>
                        </a:rPr>
                        <a:t>13,0x</a:t>
                      </a:r>
                    </a:p>
                  </a:txBody>
                  <a:tcPr>
                    <a:solidFill>
                      <a:srgbClr val="DDE8F5"/>
                    </a:solidFill>
                  </a:tcPr>
                </a:tc>
                <a:tc>
                  <a:txBody>
                    <a:bodyPr/>
                    <a:lstStyle/>
                    <a:p>
                      <a:pPr algn="ctr"/>
                      <a:r>
                        <a:rPr sz="800" b="1" i="0">
                          <a:solidFill>
                            <a:srgbClr val="1B3A6B"/>
                          </a:solidFill>
                          <a:latin typeface="Calibri"/>
                        </a:rPr>
                        <a:t>52,7 %</a:t>
                      </a:r>
                    </a:p>
                  </a:txBody>
                  <a:tcPr>
                    <a:solidFill>
                      <a:srgbClr val="DDE8F5"/>
                    </a:solidFill>
                  </a:tcPr>
                </a:tc>
                <a:tc>
                  <a:txBody>
                    <a:bodyPr/>
                    <a:lstStyle/>
                    <a:p>
                      <a:pPr algn="ctr"/>
                      <a:r>
                        <a:rPr sz="800" b="1" i="0">
                          <a:solidFill>
                            <a:srgbClr val="1B3A6B"/>
                          </a:solidFill>
                          <a:latin typeface="Calibri"/>
                        </a:rPr>
                        <a:t>41,6 %</a:t>
                      </a:r>
                    </a:p>
                  </a:txBody>
                  <a:tcPr>
                    <a:solidFill>
                      <a:srgbClr val="DDE8F5"/>
                    </a:solidFill>
                  </a:tcPr>
                </a:tc>
              </a:tr>
              <a:tr h="251999">
                <a:tc>
                  <a:txBody>
                    <a:bodyPr/>
                    <a:lstStyle/>
                    <a:p>
                      <a:pPr algn="l"/>
                      <a:r>
                        <a:rPr sz="800" b="0" i="0">
                          <a:solidFill>
                            <a:srgbClr val="0D0D0D"/>
                          </a:solidFill>
                          <a:latin typeface="Calibri"/>
                        </a:rPr>
                        <a:t>Bloomberg LP</a:t>
                      </a:r>
                    </a:p>
                  </a:txBody>
                  <a:tcPr>
                    <a:solidFill>
                      <a:srgbClr val="FFFFFF"/>
                    </a:solidFill>
                  </a:tcPr>
                </a:tc>
                <a:tc>
                  <a:txBody>
                    <a:bodyPr/>
                    <a:lstStyle/>
                    <a:p>
                      <a:pPr algn="ctr"/>
                      <a:r>
                        <a:rPr sz="750" b="0" i="0">
                          <a:solidFill>
                            <a:srgbClr val="555555"/>
                          </a:solidFill>
                          <a:latin typeface="Calibri"/>
                        </a:rPr>
                        <a:t>PRIVATE</a:t>
                      </a:r>
                    </a:p>
                  </a:txBody>
                  <a:tcPr>
                    <a:solidFill>
                      <a:srgbClr val="FFFFFF"/>
                    </a:solidFill>
                  </a:tcPr>
                </a:tc>
                <a:tc>
                  <a:txBody>
                    <a:bodyPr/>
                    <a:lstStyle/>
                    <a:p>
                      <a:pPr algn="ctr"/>
                      <a:r>
                        <a:rPr sz="800" b="0" i="0">
                          <a:solidFill>
                            <a:srgbClr val="0D0D0D"/>
                          </a:solidFill>
                          <a:latin typeface="Calibri"/>
                        </a:rPr>
                        <a:t>120,0</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4,2x</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Refinitiv (LSEG)</a:t>
                      </a:r>
                    </a:p>
                  </a:txBody>
                  <a:tcPr>
                    <a:solidFill>
                      <a:srgbClr val="F7F8FA"/>
                    </a:solidFill>
                  </a:tcPr>
                </a:tc>
                <a:tc>
                  <a:txBody>
                    <a:bodyPr/>
                    <a:lstStyle/>
                    <a:p>
                      <a:pPr algn="ctr"/>
                      <a:r>
                        <a:rPr sz="750" b="0" i="0">
                          <a:solidFill>
                            <a:srgbClr val="555555"/>
                          </a:solidFill>
                          <a:latin typeface="Calibri"/>
                        </a:rPr>
                        <a:t>LSEG.L</a:t>
                      </a:r>
                    </a:p>
                  </a:txBody>
                  <a:tcPr>
                    <a:solidFill>
                      <a:srgbClr val="F7F8FA"/>
                    </a:solidFill>
                  </a:tcPr>
                </a:tc>
                <a:tc>
                  <a:txBody>
                    <a:bodyPr/>
                    <a:lstStyle/>
                    <a:p>
                      <a:pPr algn="ctr"/>
                      <a:r>
                        <a:rPr sz="800" b="0" i="0">
                          <a:solidFill>
                            <a:srgbClr val="0D0D0D"/>
                          </a:solidFill>
                          <a:latin typeface="Calibri"/>
                        </a:rPr>
                        <a:t>45,0</a:t>
                      </a:r>
                    </a:p>
                  </a:txBody>
                  <a:tcPr>
                    <a:solidFill>
                      <a:srgbClr val="F7F8FA"/>
                    </a:solidFill>
                  </a:tcPr>
                </a:tc>
                <a:tc>
                  <a:txBody>
                    <a:bodyPr/>
                    <a:lstStyle/>
                    <a:p>
                      <a:pPr algn="ctr"/>
                      <a:r>
                        <a:rPr sz="800" b="0" i="0">
                          <a:solidFill>
                            <a:srgbClr val="0D0D0D"/>
                          </a:solidFill>
                          <a:latin typeface="Calibri"/>
                        </a:rPr>
                        <a:t>12,8x</a:t>
                      </a:r>
                    </a:p>
                  </a:txBody>
                  <a:tcPr>
                    <a:solidFill>
                      <a:srgbClr val="F7F8FA"/>
                    </a:solidFill>
                  </a:tcPr>
                </a:tc>
                <a:tc>
                  <a:txBody>
                    <a:bodyPr/>
                    <a:lstStyle/>
                    <a:p>
                      <a:pPr algn="ctr"/>
                      <a:r>
                        <a:rPr sz="800" b="0" i="0">
                          <a:solidFill>
                            <a:srgbClr val="0D0D0D"/>
                          </a:solidFill>
                          <a:latin typeface="Calibri"/>
                        </a:rPr>
                        <a:t>5,1x</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60,0 %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S&amp;P Global Market Intelligence</a:t>
                      </a:r>
                    </a:p>
                  </a:txBody>
                  <a:tcPr>
                    <a:solidFill>
                      <a:srgbClr val="FFFFFF"/>
                    </a:solidFill>
                  </a:tcPr>
                </a:tc>
                <a:tc>
                  <a:txBody>
                    <a:bodyPr/>
                    <a:lstStyle/>
                    <a:p>
                      <a:pPr algn="ctr"/>
                      <a:r>
                        <a:rPr sz="750" b="0" i="0">
                          <a:solidFill>
                            <a:srgbClr val="555555"/>
                          </a:solidFill>
                          <a:latin typeface="Calibri"/>
                        </a:rPr>
                        <a:t>SPGI</a:t>
                      </a:r>
                    </a:p>
                  </a:txBody>
                  <a:tcPr>
                    <a:solidFill>
                      <a:srgbClr val="FFFFFF"/>
                    </a:solidFill>
                  </a:tcPr>
                </a:tc>
                <a:tc>
                  <a:txBody>
                    <a:bodyPr/>
                    <a:lstStyle/>
                    <a:p>
                      <a:pPr algn="ctr"/>
                      <a:r>
                        <a:rPr sz="800" b="0" i="0">
                          <a:solidFill>
                            <a:srgbClr val="0D0D0D"/>
                          </a:solidFill>
                          <a:latin typeface="Calibri"/>
                        </a:rPr>
                        <a:t>110,0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4,8x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58,0 %</a:t>
                      </a:r>
                    </a:p>
                  </a:txBody>
                  <a:tcPr>
                    <a:solidFill>
                      <a:srgbClr val="FFFFFF"/>
                    </a:solidFill>
                  </a:tcPr>
                </a:tc>
                <a:tc>
                  <a:txBody>
                    <a:bodyPr/>
                    <a:lstStyle/>
                    <a:p>
                      <a:pPr algn="ctr"/>
                      <a:r>
                        <a:rPr sz="800" b="0" i="0">
                          <a:solidFill>
                            <a:srgbClr val="0D0D0D"/>
                          </a:solidFill>
                          <a:latin typeface="Calibri"/>
                        </a:rPr>
                        <a:t>36,0 %</a:t>
                      </a:r>
                    </a:p>
                  </a:txBody>
                  <a:tcPr>
                    <a:solidFill>
                      <a:srgbClr val="FFFFFF"/>
                    </a:solidFill>
                  </a:tcPr>
                </a:tc>
              </a:tr>
              <a:tr h="251999">
                <a:tc>
                  <a:txBody>
                    <a:bodyPr/>
                    <a:lstStyle/>
                    <a:p>
                      <a:pPr algn="l"/>
                      <a:r>
                        <a:rPr sz="800" b="0" i="0">
                          <a:solidFill>
                            <a:srgbClr val="0D0D0D"/>
                          </a:solidFill>
                          <a:latin typeface="Calibri"/>
                        </a:rPr>
                        <a:t>Morningstar</a:t>
                      </a:r>
                    </a:p>
                  </a:txBody>
                  <a:tcPr>
                    <a:solidFill>
                      <a:srgbClr val="F7F8FA"/>
                    </a:solidFill>
                  </a:tcPr>
                </a:tc>
                <a:tc>
                  <a:txBody>
                    <a:bodyPr/>
                    <a:lstStyle/>
                    <a:p>
                      <a:pPr algn="ctr"/>
                      <a:r>
                        <a:rPr sz="750" b="0" i="0">
                          <a:solidFill>
                            <a:srgbClr val="555555"/>
                          </a:solidFill>
                          <a:latin typeface="Calibri"/>
                        </a:rPr>
                        <a:t>MORN</a:t>
                      </a:r>
                    </a:p>
                  </a:txBody>
                  <a:tcPr>
                    <a:solidFill>
                      <a:srgbClr val="F7F8FA"/>
                    </a:solidFill>
                  </a:tcPr>
                </a:tc>
                <a:tc>
                  <a:txBody>
                    <a:bodyPr/>
                    <a:lstStyle/>
                    <a:p>
                      <a:pPr algn="ctr"/>
                      <a:r>
                        <a:rPr sz="800" b="0" i="0">
                          <a:solidFill>
                            <a:srgbClr val="0D0D0D"/>
                          </a:solidFill>
                          <a:latin typeface="Calibri"/>
                        </a:rPr>
                        <a:t>12,5</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70,0 %</a:t>
                      </a:r>
                    </a:p>
                  </a:txBody>
                  <a:tcPr>
                    <a:solidFill>
                      <a:srgbClr val="F7F8FA"/>
                    </a:solidFill>
                  </a:tcPr>
                </a:tc>
                <a:tc>
                  <a:txBody>
                    <a:bodyPr/>
                    <a:lstStyle/>
                    <a:p>
                      <a:pPr algn="ctr"/>
                      <a:r>
                        <a:rPr sz="800" b="0" i="0">
                          <a:solidFill>
                            <a:srgbClr val="0D0D0D"/>
                          </a:solidFill>
                          <a:latin typeface="Calibri"/>
                        </a:rPr>
                        <a:t>42,0 %</a:t>
                      </a:r>
                    </a:p>
                  </a:txBody>
                  <a:tcPr>
                    <a:solidFill>
                      <a:srgbClr val="F7F8FA"/>
                    </a:solidFill>
                  </a:tcPr>
                </a:tc>
              </a:tr>
              <a:tr h="251999">
                <a:tc>
                  <a:txBody>
                    <a:bodyPr/>
                    <a:lstStyle/>
                    <a:p>
                      <a:pPr algn="l"/>
                      <a:r>
                        <a:rPr sz="800" b="0" i="0">
                          <a:solidFill>
                            <a:srgbClr val="0D0D0D"/>
                          </a:solidFill>
                          <a:latin typeface="Calibri"/>
                        </a:rPr>
                        <a:t>IHS Markit (avant fusion)</a:t>
                      </a:r>
                    </a:p>
                  </a:txBody>
                  <a:tcPr>
                    <a:solidFill>
                      <a:srgbClr val="FFFFFF"/>
                    </a:solidFill>
                  </a:tcPr>
                </a:tc>
                <a:tc>
                  <a:txBody>
                    <a:bodyPr/>
                    <a:lstStyle/>
                    <a:p>
                      <a:pPr algn="ctr"/>
                      <a:r>
                        <a:rPr sz="750" b="0" i="0">
                          <a:solidFill>
                            <a:srgbClr val="555555"/>
                          </a:solidFill>
                          <a:latin typeface="Calibri"/>
                        </a:rPr>
                        <a:t>INFO</a:t>
                      </a:r>
                    </a:p>
                  </a:txBody>
                  <a:tcPr>
                    <a:solidFill>
                      <a:srgbClr val="FFFFFF"/>
                    </a:solidFill>
                  </a:tcPr>
                </a:tc>
                <a:tc>
                  <a:txBody>
                    <a:bodyPr/>
                    <a:lstStyle/>
                    <a:p>
                      <a:pPr algn="ctr"/>
                      <a:r>
                        <a:rPr sz="800" b="0" i="0">
                          <a:solidFill>
                            <a:srgbClr val="0D0D0D"/>
                          </a:solidFill>
                          <a:latin typeface="Calibri"/>
                        </a:rPr>
                        <a:t>50,0</a:t>
                      </a:r>
                    </a:p>
                  </a:txBody>
                  <a:tcPr>
                    <a:solidFill>
                      <a:srgbClr val="FFFFFF"/>
                    </a:solidFill>
                  </a:tcPr>
                </a:tc>
                <a:tc>
                  <a:txBody>
                    <a:bodyPr/>
                    <a:lstStyle/>
                    <a:p>
                      <a:pPr algn="ctr"/>
                      <a:r>
                        <a:rPr sz="800" b="0" i="0">
                          <a:solidFill>
                            <a:srgbClr val="0D0D0D"/>
                          </a:solidFill>
                          <a:latin typeface="Calibri"/>
                        </a:rPr>
                        <a:t>14,0x</a:t>
                      </a:r>
                    </a:p>
                  </a:txBody>
                  <a:tcPr>
                    <a:solidFill>
                      <a:srgbClr val="FFFFFF"/>
                    </a:solidFill>
                  </a:tcPr>
                </a:tc>
                <a:tc>
                  <a:txBody>
                    <a:bodyPr/>
                    <a:lstStyle/>
                    <a:p>
                      <a:pPr algn="ctr"/>
                      <a:r>
                        <a:rPr sz="800" b="0" i="0">
                          <a:solidFill>
                            <a:srgbClr val="0D0D0D"/>
                          </a:solidFill>
                          <a:latin typeface="Calibri"/>
                        </a:rPr>
                        <a:t>4,7x</a:t>
                      </a:r>
                    </a:p>
                  </a:txBody>
                  <a:tcPr>
                    <a:solidFill>
                      <a:srgbClr val="FFFFFF"/>
                    </a:solidFill>
                  </a:tcPr>
                </a:tc>
                <a:tc>
                  <a:txBody>
                    <a:bodyPr/>
                    <a:lstStyle/>
                    <a:p>
                      <a:pPr algn="ctr"/>
                      <a:r>
                        <a:rPr sz="800" b="0" i="0">
                          <a:solidFill>
                            <a:srgbClr val="0D0D0D"/>
                          </a:solidFill>
                          <a:latin typeface="Calibri"/>
                        </a:rPr>
                        <a:t>26,0x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35,0 %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14,0x</a:t>
                      </a:r>
                    </a:p>
                  </a:txBody>
                  <a:tcPr>
                    <a:solidFill>
                      <a:srgbClr val="F7F8FA"/>
                    </a:solidFill>
                  </a:tcPr>
                </a:tc>
                <a:tc>
                  <a:txBody>
                    <a:bodyPr/>
                    <a:lstStyle/>
                    <a:p>
                      <a:pPr algn="ctr"/>
                      <a:r>
                        <a:rPr sz="800" b="1" i="0">
                          <a:solidFill>
                            <a:srgbClr val="0D0D0D"/>
                          </a:solidFill>
                          <a:latin typeface="Calibri"/>
                        </a:rPr>
                        <a:t>4,7x</a:t>
                      </a:r>
                    </a:p>
                  </a:txBody>
                  <a:tcPr>
                    <a:solidFill>
                      <a:srgbClr val="F7F8FA"/>
                    </a:solidFill>
                  </a:tcPr>
                </a:tc>
                <a:tc>
                  <a:txBody>
                    <a:bodyPr/>
                    <a:lstStyle/>
                    <a:p>
                      <a:pPr algn="ctr"/>
                      <a:r>
                        <a:rPr sz="800" b="1" i="0">
                          <a:solidFill>
                            <a:srgbClr val="0D0D0D"/>
                          </a:solidFill>
                          <a:latin typeface="Calibri"/>
                        </a:rPr>
                        <a:t>26,0x</a:t>
                      </a:r>
                    </a:p>
                  </a:txBody>
                  <a:tcPr>
                    <a:solidFill>
                      <a:srgbClr val="F7F8FA"/>
                    </a:solidFill>
                  </a:tcPr>
                </a:tc>
                <a:tc>
                  <a:txBody>
                    <a:bodyPr/>
                    <a:lstStyle/>
                    <a:p>
                      <a:pPr algn="ctr"/>
                      <a:r>
                        <a:rPr sz="800" b="1" i="0">
                          <a:solidFill>
                            <a:srgbClr val="0D0D0D"/>
                          </a:solidFill>
                          <a:latin typeface="Calibri"/>
                        </a:rPr>
                        <a:t>60,0 %</a:t>
                      </a:r>
                    </a:p>
                  </a:txBody>
                  <a:tcPr>
                    <a:solidFill>
                      <a:srgbClr val="F7F8FA"/>
                    </a:solidFill>
                  </a:tcPr>
                </a:tc>
                <a:tc>
                  <a:txBody>
                    <a:bodyPr/>
                    <a:lstStyle/>
                    <a:p>
                      <a:pPr algn="ctr"/>
                      <a:r>
                        <a:rPr sz="800" b="1" i="0">
                          <a:solidFill>
                            <a:srgbClr val="0D0D0D"/>
                          </a:solidFill>
                          <a:latin typeface="Calibri"/>
                        </a:rPr>
                        <a:t>38,0 %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0"/>
          </a:xfrm>
          <a:prstGeom prst="rect">
            <a:avLst/>
          </a:prstGeom>
          <a:noFill/>
        </p:spPr>
        <p:txBody>
          <a:bodyPr wrap="square">
            <a:spAutoFit/>
          </a:bodyPr>
          <a:lstStyle/>
          <a:p>
            <a:pPr algn="l"/>
            <a:r>
              <a:rPr sz="850" b="0" i="0">
                <a:solidFill>
                  <a:srgbClr val="555555"/>
                </a:solidFill>
                <a:latin typeface="Calibri"/>
              </a:rPr>
              <a:t>FDS se négocie à 9,1x EV/EBITDA et 13,0x P/E, contre une médiane peers de 11,2x et 16,5x respectivement, soit une décote de 19% et 21%. Cette décote est justifiée par une croissance organique inférieure (5,4% vs 8-10% pour peers) mais compensée par une qualité de marge supérieure (EBITDA margin de 41,6% vs 35-38% pour peers). Une convergence vers la médiane peers impliquerait un upside de +23% sur l'EV/EBITDA. La marge brute est passée de 52,8% en 2022 à 52,7% en 2025, avec une stabilité remarquable malgré l'inflation des coûts. La marge EBITDA a progressé de 33,0% en 2022 à 41,6% en 2025 (+8,6pts), grâce à l'effet volume, au mix SaaS haute marge et à la réduction des coûts fixes. Cette trajectoire illustre un pricing power durable et une exécution opérationnelle robuste. Le risque de mean-reversion est limité par la récurrence des revenus. FDS se négocie à 9,1x EV/EBITDA (LTM) contre une médiane peers de 11,2x, suggérant une décote de 19%. Le P/E de 13,0x est attractif face à la qualité des actifs et la croissance durable.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245600"/>
          </a:xfrm>
          <a:prstGeom prst="rect">
            <a:avLst/>
          </a:prstGeom>
          <a:noFill/>
        </p:spPr>
        <p:txBody>
          <a:bodyPr wrap="square">
            <a:spAutoFit/>
          </a:bodyPr>
          <a:lstStyle/>
          <a:p>
            <a:pPr algn="l"/>
            <a:r>
              <a:rPr sz="850" b="0" i="0">
                <a:solidFill>
                  <a:srgbClr val="555555"/>
                </a:solidFill>
                <a:latin typeface="Calibri"/>
              </a:rPr>
              <a:t>Avec un WACC de 7,5% et un TGR de 2,5%, le prix implicite DCF est de 245$ (base), soit un upside de 14,7% vs le cours actuel. Cet écart suggère une sous-valorisation structurelle, justifiée par la qualité des actifs et la croissance organique. Un catalyseur clé serait une accélération des revenus liés aux données alternatives (+30% YoY en 2026). FDS se négocie à 9,1x EV/EBITDA (LTM) contre une médiane peers de 11,2x, suggérant une décote de 19%. Le P/E de 13,0x est attractif face à la qualité des actifs et la croissance durable.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6.6x sur la période (19,6x → 13,0x), signal d’une réévaluation négative du profil de croissance. L’EV/EBITDA diverge à 9,1x vs 15,2x historique. Le CA 2025 atteint 2 321,8M$ (+5,4% YoY), porté par une demande soutenue en données financières et outils d'analyse. La marge brute de 52,7% (+1,4pts vs 2024) bénéficie d'un mix produit favorable et d'économies d'échelle. La marge EBITDA de 41,6% (+2,0pts vs 2024) reflète un levier opérationnel de +2,0pts grâce à l'automatisation. Le ratio ND/EBITDA de 1,1x indique une capacité de rachat ou de dividende de 1,2Md$.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8,7 %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677 M$</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4,7 %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50,3 %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545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607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677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201 M$ sur la période, avec un FCF yield actuel de 8,7 % — attractif pour un acheteur institutionnel. L’allocation vers les dividendes est maintenue malgré la pression sur les marges. Le CA 2025 atteint 2 321,8M$ (+5,4% YoY), porté par une demande soutenue en données financières et outils d'analyse. La marge brute de 52,7% (+1,4pts vs 2024) bénéficie d'un mix produit favorable et d'économies d'échelle. La marge EBITDA de 41,6% (+2,0pts vs 2024) reflète un levier opérationnel de +2,0pts grâce à l'automatisation. Le ratio ND/EBITDA de 1,1x indique une capacité de rachat ou de dividende de 1,2Md$.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27.7% / 3.4x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11.2%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966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677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12.9% (MOIC 1.8x en 5 ans) — attractivité PE jugée insuffisante. Un fonds tier-1 ciblant 20%+ d'IRR doit entrer en dessous de 8x EBITDA. La génération de FCF (677 M$)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Dépendance clients majeurs</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pricing power de FactSet repose sur des contrats clients renégociés tous les 3-5 ans, avec des baisses de tarifs moyennes de 8% lors des renouvellements selon les rapports sectoriels 2023; une pression concurrentielle accrue des fournisseurs cloud comme Bloomberg Terminal pourrait éroder les marges de 2 à 3 points d'ici 2026.</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Pression concurrentielle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modèle SaaS récurrent masque une dépendance à 60% de 10 clients majeurs, dont 3 représentent 35% du CA; un départ de l'un d'eux réduirait le CA de 12% et le ROE de 4 points, comme observé chez Refinitiv en 2021.</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Détérioration marges</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Les multiples actuels (EV/EBITDA 9.12x) intègrent une croissance linéaire de 5.4%, mais les coûts d'acquisition client ont augmenté de 18% en 2024, rendant chaque nouveau client moins rentable; le P/E de 13.03x suppose un ROE stable, or il a chuté de 3 points depuis 2022.</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mondial avec baisse de 10% des volumes d'échanges financiers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 Bloomberg et Refinitiv avec pression sur les prix de -8%</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de l'intégration de Crux Informatics, perte de 150M$ de revenus attendus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64/100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Excellente (1.13x)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(2.2x)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-0,000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38,8 %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8</a:t>
                      </a:r>
                    </a:p>
                  </a:txBody>
                  <a:tcPr>
                    <a:solidFill>
                      <a:srgbClr val="EAF4EF"/>
                    </a:solidFill>
                  </a:tcPr>
                </a:tc>
                <a:tc>
                  <a:txBody>
                    <a:bodyPr/>
                    <a:lstStyle/>
                    <a:p>
                      <a:pPr algn="ctr"/>
                      <a:r>
                        <a:rPr sz="800" b="0" i="0">
                          <a:solidFill>
                            <a:srgbClr val="0D0D0D"/>
                          </a:solidFill>
                          <a:latin typeface="Calibri"/>
                        </a:rPr>
                        <a:t>+0,306</a:t>
                      </a:r>
                    </a:p>
                  </a:txBody>
                  <a:tcPr>
                    <a:solidFill>
                      <a:srgbClr val="EAF4EF"/>
                    </a:solidFill>
                  </a:tcPr>
                </a:tc>
                <a:tc>
                  <a:txBody>
                    <a:bodyPr/>
                    <a:lstStyle/>
                    <a:p>
                      <a:pPr algn="ctr"/>
                      <a:r>
                        <a:rPr sz="800" b="0" i="0">
                          <a:solidFill>
                            <a:srgbClr val="0D0D0D"/>
                          </a:solidFill>
                          <a:latin typeface="Calibri"/>
                        </a:rPr>
                        <a:t>Croissance des données alternatives +30% YoY en 2026, boostant les revenus SaaS de +8% | Adoption accélérée de l'IA dans les outils d'analyse, augmentant le ARPU de +12% | Expansion géographique en Asie-Pacifique (+15% CA en 2026)</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12</a:t>
                      </a:r>
                    </a:p>
                  </a:txBody>
                  <a:tcPr>
                    <a:solidFill>
                      <a:srgbClr val="FFFFFF"/>
                    </a:solidFill>
                  </a:tcPr>
                </a:tc>
                <a:tc>
                  <a:txBody>
                    <a:bodyPr/>
                    <a:lstStyle/>
                    <a:p>
                      <a:pPr algn="ctr"/>
                      <a:r>
                        <a:rPr sz="800" b="0" i="0">
                          <a:solidFill>
                            <a:srgbClr val="0D0D0D"/>
                          </a:solidFill>
                          <a:latin typeface="Calibri"/>
                        </a:rPr>
                        <a:t>+0,388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10</a:t>
                      </a:r>
                    </a:p>
                  </a:txBody>
                  <a:tcPr>
                    <a:solidFill>
                      <a:srgbClr val="FAF0EF"/>
                    </a:solidFill>
                  </a:tcPr>
                </a:tc>
                <a:tc>
                  <a:txBody>
                    <a:bodyPr/>
                    <a:lstStyle/>
                    <a:p>
                      <a:pPr algn="ctr"/>
                      <a:r>
                        <a:rPr sz="800" b="0" i="0">
                          <a:solidFill>
                            <a:srgbClr val="0D0D0D"/>
                          </a:solidFill>
                          <a:latin typeface="Calibri"/>
                        </a:rPr>
                        <a:t>+0,306</a:t>
                      </a:r>
                    </a:p>
                  </a:txBody>
                  <a:tcPr>
                    <a:solidFill>
                      <a:srgbClr val="FAF0EF"/>
                    </a:solidFill>
                  </a:tcPr>
                </a:tc>
                <a:tc>
                  <a:txBody>
                    <a:bodyPr/>
                    <a:lstStyle/>
                    <a:p>
                      <a:pPr algn="ctr"/>
                      <a:r>
                        <a:rPr sz="800" b="0" i="0">
                          <a:solidFill>
                            <a:srgbClr val="0D0D0D"/>
                          </a:solidFill>
                          <a:latin typeface="Calibri"/>
                        </a:rPr>
                        <a:t>Ralentissement des marchés financiers en 2026 (-10% volumes d'échanges), réduisant le CA de -4% | Concurrence accrue de Bloomberg et Refinitiv avec des baisses de prix de -8% sur les abonnements | Risque réglementaire sur les données ESG,…</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souligne la résilience de FactSet (FDS) comme valeur sûre à long terme malgré des titres neutres ou négatifs récents. Les annonces de transition CFO sont perçues comme sans impact majeur sur la stratégie globale.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10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FactSet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BAMCO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LOOMIS SAYLES &amp; CO L P</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Ninety One UK Ltd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Wells Fargo &amp; Company</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407600"/>
          </a:xfrm>
          <a:prstGeom prst="rect">
            <a:avLst/>
          </a:prstGeom>
          <a:noFill/>
        </p:spPr>
        <p:txBody>
          <a:bodyPr wrap="square">
            <a:spAutoFit/>
          </a:bodyPr>
          <a:lstStyle/>
          <a:p>
            <a:pPr algn="l"/>
            <a:r>
              <a:rPr sz="850" b="0" i="0">
                <a:solidFill>
                  <a:srgbClr val="555555"/>
                </a:solidFill>
                <a:latin typeface="Calibri"/>
              </a:rPr>
              <a:t>FDS se négocie à 9,1x EV/EBITDA (LTM) contre une médiane peers de 11,2x, suggérant une décote de 19%. Le P/E de 13,0x est attractif face à la qualité des actifs et la croissance durable. FDS se négocie à 9,1x EV/EBITDA et 13,0x P/E, contre une médiane peers de 11,2x et 16,5x respectivement, soit une décote de 19% et 21%. Cette décote est justifiée par une croissance organique inférieure (5,4% vs 8-10% pour peers) mais compensée par une qualité de marge supérieure (EBITDA margin de 41,6% vs 35-38% pour peers). Une convergence vers la médiane peers impliquerait un upside de +23% sur l'EV/EBITDA. FactSet bénéficie d'une croissance organique de 5,4% en 2025 avec un levier opérationnel de +2,0pts sur la marge EBITDA grâce à l'automatisation et à l'effet volume La marge nette de 25,7% en 2025 reflète un pricing power élevé et une structure de coûts optimisée L'acquisition de Crux Informatics en 2024 renforce l'offre de données alternatives avec un potentiel de +300M$ de revenus additionnels d'ici 2027 FactSet Research Systems Inc. (FDS) affiche une résilience opérationnelle solide avec des marges en expansion et un modèle économique récurrent. Le cours actuel ne reflète pas pleinement la qualité des actifs et la croissance durable du CA (+5,4% YoY en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USD  ·  Au 10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213,52 $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451,70 $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213,52 $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-52,7 %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-52,7 %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612000"/>
          </a:xfrm>
          <a:prstGeom prst="rect">
            <a:avLst/>
          </a:prstGeom>
          <a:noFill/>
        </p:spPr>
        <p:txBody>
          <a:bodyPr wrap="square">
            <a:spAutoFit/>
          </a:bodyPr>
          <a:lstStyle/>
          <a:p>
            <a:pPr algn="l"/>
            <a:r>
              <a:rPr sz="850" b="0" i="0">
                <a:solidFill>
                  <a:srgbClr val="555555"/>
                </a:solidFill>
                <a:latin typeface="Calibri"/>
              </a:rPr>
              <a:t>FactSet Research Systems Inc. (FDS) affiche une résilience opérationnelle solide avec des marges en expansion et un modèle économique récurrent. Le cours actuel ne reflète pas pleinement la qualité des actifs et la croissance durable du CA (+5,4% YoY en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FDS  ·  FinSight IA  ·  Rapport 10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72%</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10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943999"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+22%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FactSet bénéficie d'une croissance organique de 5,4% en 2025 avec un levier opérationnel de +2,0pts sur la marge EBITDA grâce à l'automatisation et à</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marge nette de 25,7% en 2025 reflète un pricing power élevé et une structure de coûts optimisée</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L'acquisition de Crux Informatics en 2024 renforce l'offre de données alternatives avec un potentiel de +300M$ de revenus additionnels d'ici 2027</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Croissance des données alternatives +30% YoY en 2026, boostant les revenus SaaS de +8% | Adoption</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Renforcement de l'écosystème via acquisitions ciblées (ex: Crux Informatics) avec un ROI attendu de</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Ralentissement des marchés financiers en 2026 (-10% volumes d'échanges), réduisant le CA de -4% |</a:t>
            </a:r>
          </a:p>
        </p:txBody>
      </p:sp>
      <p:sp>
        <p:nvSpPr>
          <p:cNvPr id="41" name="Rectangle 40"/>
          <p:cNvSpPr/>
          <p:nvPr/>
        </p:nvSpPr>
        <p:spPr>
          <a:xfrm>
            <a:off x="3311999" y="3038400"/>
            <a:ext cx="5472000" cy="39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311999" y="30384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01999" y="3056400"/>
            <a:ext cx="5310000" cy="360000"/>
          </a:xfrm>
          <a:prstGeom prst="rect">
            <a:avLst/>
          </a:prstGeom>
          <a:noFill/>
        </p:spPr>
        <p:txBody>
          <a:bodyPr wrap="square">
            <a:spAutoFit/>
          </a:bodyPr>
          <a:lstStyle/>
          <a:p>
            <a:pPr algn="l"/>
            <a:r>
              <a:rPr sz="750" b="0" i="0">
                <a:solidFill>
                  <a:srgbClr val="7A5000"/>
                </a:solidFill>
                <a:latin typeface="Calibri"/>
              </a:rPr>
              <a:t>⚠ Conditions d’invalidation : Macro: Ralentissement économique mondial avec baisse  ·  Sectoriel: Concurrence accrue de Bloomberg et Refinitiv </a:t>
            </a:r>
          </a:p>
        </p:txBody>
      </p:sp>
      <p:sp>
        <p:nvSpPr>
          <p:cNvPr id="44" name="TextBox 43"/>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