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Tesla,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TSLA  ·  Consumer Cyclical</a:t>
            </a:r>
          </a:p>
        </p:txBody>
      </p:sp>
      <p:sp>
        <p:nvSpPr>
          <p:cNvPr id="8" name="Rectangle 7"/>
          <p:cNvSpPr/>
          <p:nvPr/>
        </p:nvSpPr>
        <p:spPr>
          <a:xfrm>
            <a:off x="2771999" y="2720232"/>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HOLD  ·  Prix cible base : 360 $  ·  Upside : +4,9 %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9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360 $  ·  Upside : +4,9 %  ·  Bear : 220 $ (-35,9 %)  ·  Bull : 480 $ (+39,8 %)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Leadership technologique</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Tesla maintient un leadership technologique avec 24% de part de marché mondiale des VE en 2024</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Écosystème intégré</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La baisse des marges brutes à 18% en 2025 reflète une guerre des prix en Chine et une pression sur les coûts des batteries</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Marque premium</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Le lancement du Cybertruck et l'expansion du réseau Supercharger devraient générer +15% de CA en 2026</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Guerre des prix</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Guerre des prix en Chine avec baisses de 15-20% sur Model 3/Y en 2025, impactant la GM de -3 pts | Horizon 2025-2026, ampleur -1,5 Md$ de CA</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Concurrence accrue</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Concurrence accrue de BYD, Xpeng et MG avec des modèles à 20 000-30 000 USD, captant 40% du marché chinois | Horizon 2026-2027, risque de perte de part de marché</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Régulation chinoise</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Régulation chinoise imposant des quotas de VE locaux à 80% d'ici 2027, limitant l'accès au marché | Horizon 2026, risque de -10% de CA</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square">
            <a:spAutoFit/>
          </a:bodyPr>
          <a:lstStyle/>
          <a:p>
            <a:pPr algn="l"/>
            <a:r>
              <a:rPr sz="750" b="0" i="0">
                <a:solidFill>
                  <a:srgbClr val="333333"/>
                </a:solidFill>
                <a:latin typeface="Calibri"/>
              </a:rPr>
              <a:t>Cybertruck ramp-up: Production du Cybertruck prévue à 50 000</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square">
            <a:spAutoFit/>
          </a:bodyPr>
          <a:lstStyle/>
          <a:p>
            <a:pPr algn="l"/>
            <a:r>
              <a:rPr sz="750" b="0" i="0">
                <a:solidFill>
                  <a:srgbClr val="333333"/>
                </a:solidFill>
                <a:latin typeface="Calibri"/>
              </a:rPr>
              <a:t>FSD abonnement: Déploiement de FSD v12 fin 2025 avec abonnement</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31600"/>
          <a:ext cx="4068000" cy="511200"/>
        </p:xfrm>
        <a:graphic>
          <a:graphicData uri="http://schemas.openxmlformats.org/drawingml/2006/table">
            <a:tbl>
              <a:tblPr firstRow="1" bandRow="1">
                <a:tableStyleId>{5C22544A-7EE6-4342-B048-85BDC9FD1C3A}</a:tableStyleId>
              </a:tblPr>
              <a:tblGrid>
                <a:gridCol w="2034000"/>
                <a:gridCol w="1017000"/>
                <a:gridCol w="1017000"/>
              </a:tblGrid>
              <a:tr h="1278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1278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339,5x</a:t>
                      </a:r>
                    </a:p>
                  </a:txBody>
                  <a:tcPr>
                    <a:solidFill>
                      <a:srgbClr val="FFFFFF"/>
                    </a:solidFill>
                  </a:tcPr>
                </a:tc>
                <a:tc>
                  <a:txBody>
                    <a:bodyPr/>
                    <a:lstStyle/>
                    <a:p>
                      <a:pPr algn="ctr"/>
                      <a:r>
                        <a:rPr sz="800" b="0" i="0">
                          <a:solidFill>
                            <a:srgbClr val="0D0D0D"/>
                          </a:solidFill>
                          <a:latin typeface="Calibri"/>
                        </a:rPr>
                        <a:t>0,0x</a:t>
                      </a:r>
                    </a:p>
                  </a:txBody>
                  <a:tcPr>
                    <a:solidFill>
                      <a:srgbClr val="FFFFFF"/>
                    </a:solidFill>
                  </a:tcPr>
                </a:tc>
              </a:tr>
              <a:tr h="127800">
                <a:tc>
                  <a:txBody>
                    <a:bodyPr/>
                    <a:lstStyle/>
                    <a:p>
                      <a:pPr algn="l"/>
                      <a:r>
                        <a:rPr sz="800" b="0" i="0">
                          <a:solidFill>
                            <a:srgbClr val="0D0D0D"/>
                          </a:solidFill>
                          <a:latin typeface="Calibri"/>
                        </a:rPr>
                        <a:t>EV/EBITDA (x)</a:t>
                      </a:r>
                    </a:p>
                  </a:txBody>
                  <a:tcPr>
                    <a:solidFill>
                      <a:srgbClr val="F7F8FA"/>
                    </a:solidFill>
                  </a:tcPr>
                </a:tc>
                <a:tc>
                  <a:txBody>
                    <a:bodyPr/>
                    <a:lstStyle/>
                    <a:p>
                      <a:pPr algn="ctr"/>
                      <a:r>
                        <a:rPr sz="800" b="0" i="0">
                          <a:solidFill>
                            <a:srgbClr val="0D0D0D"/>
                          </a:solidFill>
                          <a:latin typeface="Calibri"/>
                        </a:rPr>
                        <a:t>108,8x</a:t>
                      </a:r>
                    </a:p>
                  </a:txBody>
                  <a:tcPr>
                    <a:solidFill>
                      <a:srgbClr val="F7F8FA"/>
                    </a:solidFill>
                  </a:tcPr>
                </a:tc>
                <a:tc>
                  <a:txBody>
                    <a:bodyPr/>
                    <a:lstStyle/>
                    <a:p>
                      <a:pPr algn="ctr"/>
                      <a:r>
                        <a:rPr sz="800" b="0" i="0">
                          <a:solidFill>
                            <a:srgbClr val="0D0D0D"/>
                          </a:solidFill>
                          <a:latin typeface="Calibri"/>
                        </a:rPr>
                        <a:t>11,3x</a:t>
                      </a:r>
                    </a:p>
                  </a:txBody>
                  <a:tcPr>
                    <a:solidFill>
                      <a:srgbClr val="F7F8FA"/>
                    </a:solidFill>
                  </a:tcPr>
                </a:tc>
              </a:tr>
              <a:tr h="127800">
                <a:tc>
                  <a:txBody>
                    <a:bodyPr/>
                    <a:lstStyle/>
                    <a:p>
                      <a:pPr algn="l"/>
                      <a:r>
                        <a:rPr sz="800" b="0" i="0">
                          <a:solidFill>
                            <a:srgbClr val="0D0D0D"/>
                          </a:solidFill>
                          <a:latin typeface="Calibri"/>
                        </a:rPr>
                        <a:t>Cible DCF ($)</a:t>
                      </a:r>
                    </a:p>
                  </a:txBody>
                  <a:tcPr>
                    <a:solidFill>
                      <a:srgbClr val="FFFFFF"/>
                    </a:solidFill>
                  </a:tcPr>
                </a:tc>
                <a:tc>
                  <a:txBody>
                    <a:bodyPr/>
                    <a:lstStyle/>
                    <a:p>
                      <a:pPr algn="ctr"/>
                      <a:r>
                        <a:rPr sz="800" b="0" i="0">
                          <a:solidFill>
                            <a:srgbClr val="0D0D0D"/>
                          </a:solidFill>
                          <a:latin typeface="Calibri"/>
                        </a:rPr>
                        <a:t>360 $</a:t>
                      </a:r>
                    </a:p>
                  </a:txBody>
                  <a:tcPr>
                    <a:solidFill>
                      <a:srgbClr val="FFFFFF"/>
                    </a:solidFill>
                  </a:tcPr>
                </a:tc>
                <a:tc>
                  <a:txBody>
                    <a:bodyPr/>
                    <a:lstStyle/>
                    <a:p>
                      <a:pPr algn="ctr"/>
                      <a:r>
                        <a:rPr sz="800" b="0" i="0">
                          <a:solidFill>
                            <a:srgbClr val="0D0D0D"/>
                          </a:solidFill>
                          <a:latin typeface="Calibri"/>
                        </a:rPr>
                        <a:t>Upside +4,9 %</a:t>
                      </a:r>
                    </a:p>
                  </a:txBody>
                  <a:tcPr>
                    <a:solidFill>
                      <a:srgbClr val="FFFFFF"/>
                    </a:solidFill>
                  </a:tcPr>
                </a:tc>
              </a:tr>
            </a:tbl>
          </a:graphicData>
        </a:graphic>
      </p:graphicFrame>
      <p:sp>
        <p:nvSpPr>
          <p:cNvPr id="43" name="Rectangle 42"/>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108,8x</a:t>
            </a:r>
          </a:p>
        </p:txBody>
      </p:sp>
      <p:sp>
        <p:nvSpPr>
          <p:cNvPr id="47" name="TextBox 46"/>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8" name="TextBox 47"/>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11,3x med. pairs</a:t>
            </a:r>
          </a:p>
        </p:txBody>
      </p:sp>
      <p:sp>
        <p:nvSpPr>
          <p:cNvPr id="49" name="Rectangle 48"/>
          <p:cNvSpPr/>
          <p:nvPr/>
        </p:nvSpPr>
        <p:spPr>
          <a:xfrm>
            <a:off x="24876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4876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14,8 %</a:t>
            </a:r>
          </a:p>
        </p:txBody>
      </p:sp>
      <p:sp>
        <p:nvSpPr>
          <p:cNvPr id="52" name="TextBox 51"/>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3" name="TextBox 52"/>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1,92  ·  RFR 4,3 %</a:t>
            </a:r>
          </a:p>
        </p:txBody>
      </p:sp>
      <p:sp>
        <p:nvSpPr>
          <p:cNvPr id="54" name="Rectangle 53"/>
          <p:cNvSpPr/>
          <p:nvPr/>
        </p:nvSpPr>
        <p:spPr>
          <a:xfrm>
            <a:off x="46080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080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360 $</a:t>
            </a:r>
          </a:p>
        </p:txBody>
      </p:sp>
      <p:sp>
        <p:nvSpPr>
          <p:cNvPr id="57" name="TextBox 56"/>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8" name="TextBox 57"/>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+4,9 % vs cours</a:t>
            </a:r>
          </a:p>
        </p:txBody>
      </p:sp>
      <p:sp>
        <p:nvSpPr>
          <p:cNvPr id="59" name="Rectangle 58"/>
          <p:cNvSpPr/>
          <p:nvPr/>
        </p:nvSpPr>
        <p:spPr>
          <a:xfrm>
            <a:off x="67284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7284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-0,149</a:t>
            </a:r>
          </a:p>
        </p:txBody>
      </p:sp>
      <p:sp>
        <p:nvSpPr>
          <p:cNvPr id="62" name="TextBox 61"/>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3" name="TextBox 62"/>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Négatif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Tesla,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Guerre des prix  ·  Concurrence accrue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Tesla, Inc. conçoit, produit et vend des véhicules électriques haut de gamme ainsi que des solutions de stockage d'énergie et des panneaux solaires. Positionné comme leader technologique avec une intégration verticale unique (batteries, logiciels, bornes de recharge), l'entreprise bénéficie d'un avantage concurrentiel via son écosystème propriétaire et son avance en IA embarquée. La marque jouit d'une forte résilience grâce à sa communauté de clients fidèles et son réseau de superchargeurs exclusif.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Automobile</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Ventes de véhicules électriques haut de gamme (Model 3, Y, S, X, Cybertruck) avec marge brute élevée et mix produit évoluant vers des modèles plus accessibles. Clients cibles : particuliers aisés et entreprises. Croissance tirée par l'expansion géographique et l'innovation logicielle (FSD).</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Énergie et 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Stockage d'énergie (Powerwall, Megapack) et panneaux solaires avec abonnements de maintenance. Revenus récurrents via le logiciel de gestion énergétique. Clients : ménages, entreprises et utilities. Croissance liée à la transition énergétique et aux incitations fiscales.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1 288,0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94,8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343,25 $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108,8x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339,5x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Automobile</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véhicules électriques haut de gamme (Model 3, Y, S, X, Cybertruck) avec marge brute élevée et mix produit évoluant vers des modèles plus accessibles. Clients cibles : particuliers aisés et entreprises. Croissance tirée par l'expansion géographique et l'innovation logicielle (FSD).</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15%</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Énergie et 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Stockage d'énergie (Powerwall, Megapack) et panneaux solaires avec abonnements de maintenance. Revenus récurrents via le logiciel de gestion énergétique. Clients : ménages, entreprises et utilities. Croissance liée à la transition énergétique et aux incitations fiscales.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96,8</a:t>
                      </a:r>
                    </a:p>
                  </a:txBody>
                  <a:tcPr>
                    <a:solidFill>
                      <a:srgbClr val="FFFFFF"/>
                    </a:solidFill>
                  </a:tcPr>
                </a:tc>
                <a:tc>
                  <a:txBody>
                    <a:bodyPr/>
                    <a:lstStyle/>
                    <a:p>
                      <a:pPr algn="ctr"/>
                      <a:r>
                        <a:rPr sz="800" b="1" i="0">
                          <a:solidFill>
                            <a:srgbClr val="0D0D0D"/>
                          </a:solidFill>
                          <a:latin typeface="Calibri"/>
                        </a:rPr>
                        <a:t>97,7</a:t>
                      </a:r>
                    </a:p>
                  </a:txBody>
                  <a:tcPr>
                    <a:solidFill>
                      <a:srgbClr val="FFFFFF"/>
                    </a:solidFill>
                  </a:tcPr>
                </a:tc>
                <a:tc>
                  <a:txBody>
                    <a:bodyPr/>
                    <a:lstStyle/>
                    <a:p>
                      <a:pPr algn="ctr"/>
                      <a:r>
                        <a:rPr sz="800" b="1" i="0">
                          <a:solidFill>
                            <a:srgbClr val="1B3A6B"/>
                          </a:solidFill>
                          <a:latin typeface="Calibri"/>
                        </a:rPr>
                        <a:t>94,8</a:t>
                      </a:r>
                    </a:p>
                  </a:txBody>
                  <a:tcPr>
                    <a:solidFill>
                      <a:srgbClr val="DDE8F5"/>
                    </a:solidFill>
                  </a:tcPr>
                </a:tc>
                <a:tc>
                  <a:txBody>
                    <a:bodyPr/>
                    <a:lstStyle/>
                    <a:p>
                      <a:pPr algn="ctr"/>
                      <a:r>
                        <a:rPr sz="800" b="1" i="0">
                          <a:solidFill>
                            <a:srgbClr val="0D0D0D"/>
                          </a:solidFill>
                          <a:latin typeface="Calibri"/>
                        </a:rPr>
                        <a:t>110,0</a:t>
                      </a:r>
                    </a:p>
                  </a:txBody>
                  <a:tcPr>
                    <a:solidFill>
                      <a:srgbClr val="FFFFFF"/>
                    </a:solidFill>
                  </a:tcPr>
                </a:tc>
                <a:tc>
                  <a:txBody>
                    <a:bodyPr/>
                    <a:lstStyle/>
                    <a:p>
                      <a:pPr algn="ctr"/>
                      <a:r>
                        <a:rPr sz="800" b="1" i="0">
                          <a:solidFill>
                            <a:srgbClr val="0D0D0D"/>
                          </a:solidFill>
                          <a:latin typeface="Calibri"/>
                        </a:rPr>
                        <a:t>130,0</a:t>
                      </a:r>
                    </a:p>
                  </a:txBody>
                  <a:tcPr>
                    <a:solidFill>
                      <a:srgbClr val="FFFFFF"/>
                    </a:solidFill>
                  </a:tcPr>
                </a:tc>
              </a:tr>
              <a:tr h="220000">
                <a:tc>
                  <a:txBody>
                    <a:bodyPr/>
                    <a:lstStyle/>
                    <a:p>
                      <a:pPr algn="l"/>
                      <a:r>
                        <a:rPr sz="750" b="0" i="1">
                          <a:solidFill>
                            <a:srgbClr val="333333"/>
                          </a:solidFill>
                          <a:latin typeface="Calibri"/>
                        </a:rPr>
                        <a:t>Croissance YoY</a:t>
                      </a:r>
                    </a:p>
                  </a:txBody>
                  <a:tcPr>
                    <a:solidFill>
                      <a:srgbClr val="F7F8FA"/>
                    </a:solidFill>
                  </a:tcPr>
                </a:tc>
                <a:tc>
                  <a:txBody>
                    <a:bodyPr/>
                    <a:lstStyle/>
                    <a:p>
                      <a:pPr algn="ctr"/>
                      <a:r>
                        <a:rPr sz="750" b="0" i="1">
                          <a:solidFill>
                            <a:srgbClr val="333333"/>
                          </a:solidFill>
                          <a:latin typeface="Calibri"/>
                        </a:rPr>
                        <a:t>+18,8 %</a:t>
                      </a:r>
                    </a:p>
                  </a:txBody>
                  <a:tcPr>
                    <a:solidFill>
                      <a:srgbClr val="F7F8FA"/>
                    </a:solidFill>
                  </a:tcPr>
                </a:tc>
                <a:tc>
                  <a:txBody>
                    <a:bodyPr/>
                    <a:lstStyle/>
                    <a:p>
                      <a:pPr algn="ctr"/>
                      <a:r>
                        <a:rPr sz="750" b="0" i="1">
                          <a:solidFill>
                            <a:srgbClr val="333333"/>
                          </a:solidFill>
                          <a:latin typeface="Calibri"/>
                        </a:rPr>
                        <a:t>+1,0 %</a:t>
                      </a:r>
                    </a:p>
                  </a:txBody>
                  <a:tcPr>
                    <a:solidFill>
                      <a:srgbClr val="F7F8FA"/>
                    </a:solidFill>
                  </a:tcPr>
                </a:tc>
                <a:tc>
                  <a:txBody>
                    <a:bodyPr/>
                    <a:lstStyle/>
                    <a:p>
                      <a:pPr algn="ctr"/>
                      <a:r>
                        <a:rPr sz="750" b="0" i="1">
                          <a:solidFill>
                            <a:srgbClr val="333333"/>
                          </a:solidFill>
                          <a:latin typeface="Calibri"/>
                        </a:rPr>
                        <a:t>-3,0 %</a:t>
                      </a:r>
                    </a:p>
                  </a:txBody>
                  <a:tcPr>
                    <a:solidFill>
                      <a:srgbClr val="DDE8F5"/>
                    </a:solidFill>
                  </a:tcPr>
                </a:tc>
                <a:tc>
                  <a:txBody>
                    <a:bodyPr/>
                    <a:lstStyle/>
                    <a:p>
                      <a:pPr algn="ctr"/>
                      <a:r>
                        <a:rPr sz="750" b="0" i="1">
                          <a:solidFill>
                            <a:srgbClr val="333333"/>
                          </a:solidFill>
                          <a:latin typeface="Calibri"/>
                        </a:rPr>
                        <a:t>+16,0 %</a:t>
                      </a:r>
                    </a:p>
                  </a:txBody>
                  <a:tcPr>
                    <a:solidFill>
                      <a:srgbClr val="F7F8FA"/>
                    </a:solidFill>
                  </a:tcPr>
                </a:tc>
                <a:tc>
                  <a:txBody>
                    <a:bodyPr/>
                    <a:lstStyle/>
                    <a:p>
                      <a:pPr algn="ctr"/>
                      <a:r>
                        <a:rPr sz="750" b="0" i="1">
                          <a:solidFill>
                            <a:srgbClr val="333333"/>
                          </a:solidFill>
                          <a:latin typeface="Calibri"/>
                        </a:rPr>
                        <a:t>+18,0 %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17,7</a:t>
                      </a:r>
                    </a:p>
                  </a:txBody>
                  <a:tcPr>
                    <a:solidFill>
                      <a:srgbClr val="FFFFFF"/>
                    </a:solidFill>
                  </a:tcPr>
                </a:tc>
                <a:tc>
                  <a:txBody>
                    <a:bodyPr/>
                    <a:lstStyle/>
                    <a:p>
                      <a:pPr algn="ctr"/>
                      <a:r>
                        <a:rPr sz="800" b="1" i="0">
                          <a:solidFill>
                            <a:srgbClr val="0D0D0D"/>
                          </a:solidFill>
                          <a:latin typeface="Calibri"/>
                        </a:rPr>
                        <a:t>17,4</a:t>
                      </a:r>
                    </a:p>
                  </a:txBody>
                  <a:tcPr>
                    <a:solidFill>
                      <a:srgbClr val="FFFFFF"/>
                    </a:solidFill>
                  </a:tcPr>
                </a:tc>
                <a:tc>
                  <a:txBody>
                    <a:bodyPr/>
                    <a:lstStyle/>
                    <a:p>
                      <a:pPr algn="ctr"/>
                      <a:r>
                        <a:rPr sz="800" b="1" i="0">
                          <a:solidFill>
                            <a:srgbClr val="1B3A6B"/>
                          </a:solidFill>
                          <a:latin typeface="Calibri"/>
                        </a:rPr>
                        <a:t>17,1</a:t>
                      </a:r>
                    </a:p>
                  </a:txBody>
                  <a:tcPr>
                    <a:solidFill>
                      <a:srgbClr val="DDE8F5"/>
                    </a:solidFill>
                  </a:tcPr>
                </a:tc>
                <a:tc>
                  <a:txBody>
                    <a:bodyPr/>
                    <a:lstStyle/>
                    <a:p>
                      <a:pPr algn="ctr"/>
                      <a:r>
                        <a:rPr sz="800" b="1" i="0">
                          <a:solidFill>
                            <a:srgbClr val="0D0D0D"/>
                          </a:solidFill>
                          <a:latin typeface="Calibri"/>
                        </a:rPr>
                        <a:t>20,9</a:t>
                      </a:r>
                    </a:p>
                  </a:txBody>
                  <a:tcPr>
                    <a:solidFill>
                      <a:srgbClr val="FFFFFF"/>
                    </a:solidFill>
                  </a:tcPr>
                </a:tc>
                <a:tc>
                  <a:txBody>
                    <a:bodyPr/>
                    <a:lstStyle/>
                    <a:p>
                      <a:pPr algn="ctr"/>
                      <a:r>
                        <a:rPr sz="800" b="1" i="0">
                          <a:solidFill>
                            <a:srgbClr val="0D0D0D"/>
                          </a:solidFill>
                          <a:latin typeface="Calibri"/>
                        </a:rPr>
                        <a:t>27,3</a:t>
                      </a:r>
                    </a:p>
                  </a:txBody>
                  <a:tcPr>
                    <a:solidFill>
                      <a:srgbClr val="FFFFFF"/>
                    </a:solidFill>
                  </a:tcPr>
                </a:tc>
              </a:tr>
              <a:tr h="220000">
                <a:tc>
                  <a:txBody>
                    <a:bodyPr/>
                    <a:lstStyle/>
                    <a:p>
                      <a:pPr algn="l"/>
                      <a:r>
                        <a:rPr sz="750" b="0" i="1">
                          <a:solidFill>
                            <a:srgbClr val="333333"/>
                          </a:solidFill>
                          <a:latin typeface="Calibri"/>
                        </a:rPr>
                        <a:t>Marge brute</a:t>
                      </a:r>
                    </a:p>
                  </a:txBody>
                  <a:tcPr>
                    <a:solidFill>
                      <a:srgbClr val="F7F8FA"/>
                    </a:solidFill>
                  </a:tcPr>
                </a:tc>
                <a:tc>
                  <a:txBody>
                    <a:bodyPr/>
                    <a:lstStyle/>
                    <a:p>
                      <a:pPr algn="ctr"/>
                      <a:r>
                        <a:rPr sz="750" b="0" i="1">
                          <a:solidFill>
                            <a:srgbClr val="333333"/>
                          </a:solidFill>
                          <a:latin typeface="Calibri"/>
                        </a:rPr>
                        <a:t>18,2 %</a:t>
                      </a:r>
                    </a:p>
                  </a:txBody>
                  <a:tcPr>
                    <a:solidFill>
                      <a:srgbClr val="F7F8FA"/>
                    </a:solidFill>
                  </a:tcPr>
                </a:tc>
                <a:tc>
                  <a:txBody>
                    <a:bodyPr/>
                    <a:lstStyle/>
                    <a:p>
                      <a:pPr algn="ctr"/>
                      <a:r>
                        <a:rPr sz="750" b="0" i="1">
                          <a:solidFill>
                            <a:srgbClr val="333333"/>
                          </a:solidFill>
                          <a:latin typeface="Calibri"/>
                        </a:rPr>
                        <a:t>17,9 %</a:t>
                      </a:r>
                    </a:p>
                  </a:txBody>
                  <a:tcPr>
                    <a:solidFill>
                      <a:srgbClr val="F7F8FA"/>
                    </a:solidFill>
                  </a:tcPr>
                </a:tc>
                <a:tc>
                  <a:txBody>
                    <a:bodyPr/>
                    <a:lstStyle/>
                    <a:p>
                      <a:pPr algn="ctr"/>
                      <a:r>
                        <a:rPr sz="750" b="0" i="1">
                          <a:solidFill>
                            <a:srgbClr val="333333"/>
                          </a:solidFill>
                          <a:latin typeface="Calibri"/>
                        </a:rPr>
                        <a:t>18,0 %</a:t>
                      </a:r>
                    </a:p>
                  </a:txBody>
                  <a:tcPr>
                    <a:solidFill>
                      <a:srgbClr val="DDE8F5"/>
                    </a:solidFill>
                  </a:tcPr>
                </a:tc>
                <a:tc>
                  <a:txBody>
                    <a:bodyPr/>
                    <a:lstStyle/>
                    <a:p>
                      <a:pPr algn="ctr"/>
                      <a:r>
                        <a:rPr sz="750" b="0" i="1">
                          <a:solidFill>
                            <a:srgbClr val="333333"/>
                          </a:solidFill>
                          <a:latin typeface="Calibri"/>
                        </a:rPr>
                        <a:t>19,0 %</a:t>
                      </a:r>
                    </a:p>
                  </a:txBody>
                  <a:tcPr>
                    <a:solidFill>
                      <a:srgbClr val="F7F8FA"/>
                    </a:solidFill>
                  </a:tcPr>
                </a:tc>
                <a:tc>
                  <a:txBody>
                    <a:bodyPr/>
                    <a:lstStyle/>
                    <a:p>
                      <a:pPr algn="ctr"/>
                      <a:r>
                        <a:rPr sz="750" b="0" i="1">
                          <a:solidFill>
                            <a:srgbClr val="333333"/>
                          </a:solidFill>
                          <a:latin typeface="Calibri"/>
                        </a:rPr>
                        <a:t>21,0 %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14,8</a:t>
                      </a:r>
                    </a:p>
                  </a:txBody>
                  <a:tcPr>
                    <a:solidFill>
                      <a:srgbClr val="FFFFFF"/>
                    </a:solidFill>
                  </a:tcPr>
                </a:tc>
                <a:tc>
                  <a:txBody>
                    <a:bodyPr/>
                    <a:lstStyle/>
                    <a:p>
                      <a:pPr algn="ctr"/>
                      <a:r>
                        <a:rPr sz="800" b="1" i="0">
                          <a:solidFill>
                            <a:srgbClr val="0D0D0D"/>
                          </a:solidFill>
                          <a:latin typeface="Calibri"/>
                        </a:rPr>
                        <a:t>14,7</a:t>
                      </a:r>
                    </a:p>
                  </a:txBody>
                  <a:tcPr>
                    <a:solidFill>
                      <a:srgbClr val="FFFFFF"/>
                    </a:solidFill>
                  </a:tcPr>
                </a:tc>
                <a:tc>
                  <a:txBody>
                    <a:bodyPr/>
                    <a:lstStyle/>
                    <a:p>
                      <a:pPr algn="ctr"/>
                      <a:r>
                        <a:rPr sz="800" b="1" i="0">
                          <a:solidFill>
                            <a:srgbClr val="1B3A6B"/>
                          </a:solidFill>
                          <a:latin typeface="Calibri"/>
                        </a:rPr>
                        <a:t>11,8</a:t>
                      </a:r>
                    </a:p>
                  </a:txBody>
                  <a:tcPr>
                    <a:solidFill>
                      <a:srgbClr val="DDE8F5"/>
                    </a:solidFill>
                  </a:tcPr>
                </a:tc>
                <a:tc>
                  <a:txBody>
                    <a:bodyPr/>
                    <a:lstStyle/>
                    <a:p>
                      <a:pPr algn="ctr"/>
                      <a:r>
                        <a:rPr sz="800" b="1" i="0">
                          <a:solidFill>
                            <a:srgbClr val="0D0D0D"/>
                          </a:solidFill>
                          <a:latin typeface="Calibri"/>
                        </a:rPr>
                        <a:t>16,5</a:t>
                      </a:r>
                    </a:p>
                  </a:txBody>
                  <a:tcPr>
                    <a:solidFill>
                      <a:srgbClr val="FFFFFF"/>
                    </a:solidFill>
                  </a:tcPr>
                </a:tc>
                <a:tc>
                  <a:txBody>
                    <a:bodyPr/>
                    <a:lstStyle/>
                    <a:p>
                      <a:pPr algn="ctr"/>
                      <a:r>
                        <a:rPr sz="800" b="1" i="0">
                          <a:solidFill>
                            <a:srgbClr val="0D0D0D"/>
                          </a:solidFill>
                          <a:latin typeface="Calibri"/>
                        </a:rPr>
                        <a:t>22,1</a:t>
                      </a:r>
                    </a:p>
                  </a:txBody>
                  <a:tcPr>
                    <a:solidFill>
                      <a:srgbClr val="FFFFFF"/>
                    </a:solidFill>
                  </a:tcPr>
                </a:tc>
              </a:tr>
              <a:tr h="220000">
                <a:tc>
                  <a:txBody>
                    <a:bodyPr/>
                    <a:lstStyle/>
                    <a:p>
                      <a:pPr algn="l"/>
                      <a:r>
                        <a:rPr sz="750" b="0" i="1">
                          <a:solidFill>
                            <a:srgbClr val="333333"/>
                          </a:solidFill>
                          <a:latin typeface="Calibri"/>
                        </a:rPr>
                        <a:t>Marge EBITDA</a:t>
                      </a:r>
                    </a:p>
                  </a:txBody>
                  <a:tcPr>
                    <a:solidFill>
                      <a:srgbClr val="F7F8FA"/>
                    </a:solidFill>
                  </a:tcPr>
                </a:tc>
                <a:tc>
                  <a:txBody>
                    <a:bodyPr/>
                    <a:lstStyle/>
                    <a:p>
                      <a:pPr algn="ctr"/>
                      <a:r>
                        <a:rPr sz="750" b="0" i="1">
                          <a:solidFill>
                            <a:srgbClr val="333333"/>
                          </a:solidFill>
                          <a:latin typeface="Calibri"/>
                        </a:rPr>
                        <a:t>15,3 %</a:t>
                      </a:r>
                    </a:p>
                  </a:txBody>
                  <a:tcPr>
                    <a:solidFill>
                      <a:srgbClr val="F7F8FA"/>
                    </a:solidFill>
                  </a:tcPr>
                </a:tc>
                <a:tc>
                  <a:txBody>
                    <a:bodyPr/>
                    <a:lstStyle/>
                    <a:p>
                      <a:pPr algn="ctr"/>
                      <a:r>
                        <a:rPr sz="750" b="0" i="1">
                          <a:solidFill>
                            <a:srgbClr val="333333"/>
                          </a:solidFill>
                          <a:latin typeface="Calibri"/>
                        </a:rPr>
                        <a:t>15,1 %</a:t>
                      </a:r>
                    </a:p>
                  </a:txBody>
                  <a:tcPr>
                    <a:solidFill>
                      <a:srgbClr val="F7F8FA"/>
                    </a:solidFill>
                  </a:tcPr>
                </a:tc>
                <a:tc>
                  <a:txBody>
                    <a:bodyPr/>
                    <a:lstStyle/>
                    <a:p>
                      <a:pPr algn="ctr"/>
                      <a:r>
                        <a:rPr sz="750" b="0" i="1">
                          <a:solidFill>
                            <a:srgbClr val="333333"/>
                          </a:solidFill>
                          <a:latin typeface="Calibri"/>
                        </a:rPr>
                        <a:t>12,4 %</a:t>
                      </a:r>
                    </a:p>
                  </a:txBody>
                  <a:tcPr>
                    <a:solidFill>
                      <a:srgbClr val="DDE8F5"/>
                    </a:solidFill>
                  </a:tcPr>
                </a:tc>
                <a:tc>
                  <a:txBody>
                    <a:bodyPr/>
                    <a:lstStyle/>
                    <a:p>
                      <a:pPr algn="ctr"/>
                      <a:r>
                        <a:rPr sz="750" b="0" i="1">
                          <a:solidFill>
                            <a:srgbClr val="333333"/>
                          </a:solidFill>
                          <a:latin typeface="Calibri"/>
                        </a:rPr>
                        <a:t>15,0 %</a:t>
                      </a:r>
                    </a:p>
                  </a:txBody>
                  <a:tcPr>
                    <a:solidFill>
                      <a:srgbClr val="F7F8FA"/>
                    </a:solidFill>
                  </a:tcPr>
                </a:tc>
                <a:tc>
                  <a:txBody>
                    <a:bodyPr/>
                    <a:lstStyle/>
                    <a:p>
                      <a:pPr algn="ctr"/>
                      <a:r>
                        <a:rPr sz="750" b="0" i="1">
                          <a:solidFill>
                            <a:srgbClr val="333333"/>
                          </a:solidFill>
                          <a:latin typeface="Calibri"/>
                        </a:rPr>
                        <a:t>17,0 %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7,1</a:t>
                      </a:r>
                    </a:p>
                  </a:txBody>
                  <a:tcPr>
                    <a:solidFill>
                      <a:srgbClr val="FFFFFF"/>
                    </a:solidFill>
                  </a:tcPr>
                </a:tc>
                <a:tc>
                  <a:txBody>
                    <a:bodyPr/>
                    <a:lstStyle/>
                    <a:p>
                      <a:pPr algn="ctr"/>
                      <a:r>
                        <a:rPr sz="800" b="1" i="0">
                          <a:solidFill>
                            <a:srgbClr val="1B3A6B"/>
                          </a:solidFill>
                          <a:latin typeface="Calibri"/>
                        </a:rPr>
                        <a:t>3,8</a:t>
                      </a:r>
                    </a:p>
                  </a:txBody>
                  <a:tcPr>
                    <a:solidFill>
                      <a:srgbClr val="DDE8F5"/>
                    </a:solidFill>
                  </a:tcPr>
                </a:tc>
                <a:tc>
                  <a:txBody>
                    <a:bodyPr/>
                    <a:lstStyle/>
                    <a:p>
                      <a:pPr algn="ctr"/>
                      <a:r>
                        <a:rPr sz="800" b="1" i="0">
                          <a:solidFill>
                            <a:srgbClr val="0D0D0D"/>
                          </a:solidFill>
                          <a:latin typeface="Calibri"/>
                        </a:rPr>
                        <a:t>6,6</a:t>
                      </a:r>
                    </a:p>
                  </a:txBody>
                  <a:tcPr>
                    <a:solidFill>
                      <a:srgbClr val="FFFFFF"/>
                    </a:solidFill>
                  </a:tcPr>
                </a:tc>
                <a:tc>
                  <a:txBody>
                    <a:bodyPr/>
                    <a:lstStyle/>
                    <a:p>
                      <a:pPr algn="ctr"/>
                      <a:r>
                        <a:rPr sz="800" b="1" i="0">
                          <a:solidFill>
                            <a:srgbClr val="0D0D0D"/>
                          </a:solidFill>
                          <a:latin typeface="Calibri"/>
                        </a:rPr>
                        <a:t>10,4</a:t>
                      </a:r>
                    </a:p>
                  </a:txBody>
                  <a:tcPr>
                    <a:solidFill>
                      <a:srgbClr val="FFFFFF"/>
                    </a:solidFill>
                  </a:tcPr>
                </a:tc>
              </a:tr>
              <a:tr h="220000">
                <a:tc>
                  <a:txBody>
                    <a:bodyPr/>
                    <a:lstStyle/>
                    <a:p>
                      <a:pPr algn="l"/>
                      <a:r>
                        <a:rPr sz="750" b="0" i="1">
                          <a:solidFill>
                            <a:srgbClr val="333333"/>
                          </a:solidFill>
                          <a:latin typeface="Calibri"/>
                        </a:rPr>
                        <a:t>Marge nette</a:t>
                      </a:r>
                    </a:p>
                  </a:txBody>
                  <a:tcPr>
                    <a:solidFill>
                      <a:srgbClr val="F7F8FA"/>
                    </a:solidFill>
                  </a:tcPr>
                </a:tc>
                <a:tc>
                  <a:txBody>
                    <a:bodyPr/>
                    <a:lstStyle/>
                    <a:p>
                      <a:pPr algn="ctr"/>
                      <a:r>
                        <a:rPr sz="750" b="0" i="1">
                          <a:solidFill>
                            <a:srgbClr val="333333"/>
                          </a:solidFill>
                          <a:latin typeface="Calibri"/>
                        </a:rPr>
                        <a:t>15,5 %</a:t>
                      </a:r>
                    </a:p>
                  </a:txBody>
                  <a:tcPr>
                    <a:solidFill>
                      <a:srgbClr val="F7F8FA"/>
                    </a:solidFill>
                  </a:tcPr>
                </a:tc>
                <a:tc>
                  <a:txBody>
                    <a:bodyPr/>
                    <a:lstStyle/>
                    <a:p>
                      <a:pPr algn="ctr"/>
                      <a:r>
                        <a:rPr sz="750" b="0" i="1">
                          <a:solidFill>
                            <a:srgbClr val="333333"/>
                          </a:solidFill>
                          <a:latin typeface="Calibri"/>
                        </a:rPr>
                        <a:t>7,3 %</a:t>
                      </a:r>
                    </a:p>
                  </a:txBody>
                  <a:tcPr>
                    <a:solidFill>
                      <a:srgbClr val="F7F8FA"/>
                    </a:solidFill>
                  </a:tcPr>
                </a:tc>
                <a:tc>
                  <a:txBody>
                    <a:bodyPr/>
                    <a:lstStyle/>
                    <a:p>
                      <a:pPr algn="ctr"/>
                      <a:r>
                        <a:rPr sz="750" b="0" i="1">
                          <a:solidFill>
                            <a:srgbClr val="333333"/>
                          </a:solidFill>
                          <a:latin typeface="Calibri"/>
                        </a:rPr>
                        <a:t>4,0 %</a:t>
                      </a:r>
                    </a:p>
                  </a:txBody>
                  <a:tcPr>
                    <a:solidFill>
                      <a:srgbClr val="DDE8F5"/>
                    </a:solidFill>
                  </a:tcPr>
                </a:tc>
                <a:tc>
                  <a:txBody>
                    <a:bodyPr/>
                    <a:lstStyle/>
                    <a:p>
                      <a:pPr algn="ctr"/>
                      <a:r>
                        <a:rPr sz="750" b="0" i="1">
                          <a:solidFill>
                            <a:srgbClr val="333333"/>
                          </a:solidFill>
                          <a:latin typeface="Calibri"/>
                        </a:rPr>
                        <a:t>6,0 %</a:t>
                      </a:r>
                    </a:p>
                  </a:txBody>
                  <a:tcPr>
                    <a:solidFill>
                      <a:srgbClr val="F7F8FA"/>
                    </a:solidFill>
                  </a:tcPr>
                </a:tc>
                <a:tc>
                  <a:txBody>
                    <a:bodyPr/>
                    <a:lstStyle/>
                    <a:p>
                      <a:pPr algn="ctr"/>
                      <a:r>
                        <a:rPr sz="750" b="0" i="1">
                          <a:solidFill>
                            <a:srgbClr val="333333"/>
                          </a:solidFill>
                          <a:latin typeface="Calibri"/>
                        </a:rPr>
                        <a:t>8,0 %</a:t>
                      </a:r>
                    </a:p>
                  </a:txBody>
                  <a:tcPr>
                    <a:solidFill>
                      <a:srgbClr val="F7F8FA"/>
                    </a:solidFill>
                  </a:tcPr>
                </a:tc>
              </a:tr>
            </a:tbl>
          </a:graphicData>
        </a:graphic>
      </p:graphicFrame>
      <p:sp>
        <p:nvSpPr>
          <p:cNvPr id="18" name="Rectangle 17"/>
          <p:cNvSpPr/>
          <p:nvPr/>
        </p:nvSpPr>
        <p:spPr>
          <a:xfrm>
            <a:off x="367200" y="3218400"/>
            <a:ext cx="8413200" cy="12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218400"/>
            <a:ext cx="792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247200"/>
            <a:ext cx="8298000" cy="1188000"/>
          </a:xfrm>
          <a:prstGeom prst="rect">
            <a:avLst/>
          </a:prstGeom>
          <a:noFill/>
        </p:spPr>
        <p:txBody>
          <a:bodyPr wrap="square">
            <a:spAutoFit/>
          </a:bodyPr>
          <a:lstStyle/>
          <a:p>
            <a:pPr algn="l"/>
            <a:r>
              <a:rPr sz="850" b="0" i="0">
                <a:solidFill>
                  <a:srgbClr val="555555"/>
                </a:solidFill>
                <a:latin typeface="Calibri"/>
              </a:rPr>
              <a:t>Le CA 2025 atteint 94,8 Md$ (-3% YoY), marqué par une compression des marges : GM à 18% vs 25,6% en 2022, EBITDA à 12,4% vs 21,7% en 2022. La trésorerie nette négative (-0,7x ND/EBITDA) limite les capacités de rachat d'actions. Les Capex de 8,5 Md$ en 2025 soutiennent la croissance mais pèsent sur la rentabilité.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16,5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6,6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-8,4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2,23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1,55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16,6x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-0,7x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15,48</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-2,61</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Rectangle 30"/>
          <p:cNvSpPr/>
          <p:nvPr/>
        </p:nvSpPr>
        <p:spPr>
          <a:xfrm>
            <a:off x="367200" y="4068000"/>
            <a:ext cx="8413200" cy="4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4068000"/>
            <a:ext cx="79200" cy="46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200" y="4096800"/>
            <a:ext cx="8298000" cy="432000"/>
          </a:xfrm>
          <a:prstGeom prst="rect">
            <a:avLst/>
          </a:prstGeom>
          <a:noFill/>
        </p:spPr>
        <p:txBody>
          <a:bodyPr wrap="square">
            <a:spAutoFit/>
          </a:bodyPr>
          <a:lstStyle/>
          <a:p>
            <a:pPr algn="l"/>
            <a:r>
              <a:rPr sz="850" b="0" i="0">
                <a:solidFill>
                  <a:srgbClr val="555555"/>
                </a:solidFill>
                <a:latin typeface="Calibri"/>
              </a:rPr>
              <a:t>Le CA 2025 atteint 94,8 Md$ (-3% YoY), marqué par une compression des marges : GM à 18% vs 25,6% en 2022, EBITDA à 12,4% vs 21,7% en 2022. La trésorerie nette négative (-0,7x ND/EBITDA) limite les capacités de rachat d'actions. Les Capex de 8,5 Md$ en 2025 soutiennent la croissance mais pèsent sur la rentabilité.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339,5x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108,8x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13,5x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B06000"/>
                          </a:solidFill>
                          <a:latin typeface="Calibri"/>
                        </a:rPr>
                        <a:t>Modéré</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15,48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Rectangle 17"/>
          <p:cNvSpPr/>
          <p:nvPr/>
        </p:nvSpPr>
        <p:spPr>
          <a:xfrm>
            <a:off x="367200" y="3628800"/>
            <a:ext cx="8413200" cy="82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628800"/>
            <a:ext cx="792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657600"/>
            <a:ext cx="8298000" cy="788400"/>
          </a:xfrm>
          <a:prstGeom prst="rect">
            <a:avLst/>
          </a:prstGeom>
          <a:noFill/>
        </p:spPr>
        <p:txBody>
          <a:bodyPr wrap="square">
            <a:spAutoFit/>
          </a:bodyPr>
          <a:lstStyle/>
          <a:p>
            <a:pPr algn="l"/>
            <a:r>
              <a:rPr sz="850" b="0" i="0">
                <a:solidFill>
                  <a:srgbClr val="555555"/>
                </a:solidFill>
                <a:latin typeface="Calibri"/>
              </a:rPr>
              <a:t>Les marges brutes ont chuté de 25,6% en 2022 à 18% en 2025, principalement à cause de la baisse des prix en Chine (-15% sur Model 3/Y) et de l'inflation des coûts des matières premières (+8% sur lithium). Le mix produit (Cybertruck à marge plus faible) aggrave la pression. La durabilité du pricing power est incertaine sans innovation produit majeure.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360 $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343,25 $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220 $</a:t>
                      </a:r>
                    </a:p>
                  </a:txBody>
                  <a:tcPr>
                    <a:solidFill>
                      <a:srgbClr val="FAF0EF"/>
                    </a:solidFill>
                  </a:tcPr>
                </a:tc>
                <a:tc>
                  <a:txBody>
                    <a:bodyPr/>
                    <a:lstStyle/>
                    <a:p>
                      <a:pPr algn="ctr"/>
                      <a:r>
                        <a:rPr sz="2000" b="1" i="0">
                          <a:solidFill>
                            <a:srgbClr val="2E5FA3"/>
                          </a:solidFill>
                          <a:latin typeface="Calibri"/>
                        </a:rPr>
                        <a:t>360 $</a:t>
                      </a:r>
                    </a:p>
                  </a:txBody>
                  <a:tcPr>
                    <a:solidFill>
                      <a:srgbClr val="EEF3FA"/>
                    </a:solidFill>
                  </a:tcPr>
                </a:tc>
                <a:tc>
                  <a:txBody>
                    <a:bodyPr/>
                    <a:lstStyle/>
                    <a:p>
                      <a:pPr algn="ctr"/>
                      <a:r>
                        <a:rPr sz="2000" b="1" i="0">
                          <a:solidFill>
                            <a:srgbClr val="1A7A4A"/>
                          </a:solidFill>
                          <a:latin typeface="Calibri"/>
                        </a:rPr>
                        <a:t>480 $</a:t>
                      </a:r>
                    </a:p>
                  </a:txBody>
                  <a:tcPr>
                    <a:solidFill>
                      <a:srgbClr val="EAF4EF"/>
                    </a:solidFill>
                  </a:tcPr>
                </a:tc>
              </a:tr>
              <a:tr h="342900">
                <a:tc>
                  <a:txBody>
                    <a:bodyPr/>
                    <a:lstStyle/>
                    <a:p>
                      <a:pPr algn="ctr"/>
                      <a:r>
                        <a:rPr sz="1200" b="1" i="0">
                          <a:solidFill>
                            <a:srgbClr val="A82020"/>
                          </a:solidFill>
                          <a:latin typeface="Calibri"/>
                        </a:rPr>
                        <a:t>-35,9 %</a:t>
                      </a:r>
                    </a:p>
                  </a:txBody>
                  <a:tcPr>
                    <a:solidFill>
                      <a:srgbClr val="FAF0EF"/>
                    </a:solidFill>
                  </a:tcPr>
                </a:tc>
                <a:tc>
                  <a:txBody>
                    <a:bodyPr/>
                    <a:lstStyle/>
                    <a:p>
                      <a:pPr algn="ctr"/>
                      <a:r>
                        <a:rPr sz="1200" b="1" i="0">
                          <a:solidFill>
                            <a:srgbClr val="2E5FA3"/>
                          </a:solidFill>
                          <a:latin typeface="Calibri"/>
                        </a:rPr>
                        <a:t>+4,9 %</a:t>
                      </a:r>
                    </a:p>
                  </a:txBody>
                  <a:tcPr>
                    <a:solidFill>
                      <a:srgbClr val="EEF3FA"/>
                    </a:solidFill>
                  </a:tcPr>
                </a:tc>
                <a:tc>
                  <a:txBody>
                    <a:bodyPr/>
                    <a:lstStyle/>
                    <a:p>
                      <a:pPr algn="ctr"/>
                      <a:r>
                        <a:rPr sz="1200" b="1" i="0">
                          <a:solidFill>
                            <a:srgbClr val="1A7A4A"/>
                          </a:solidFill>
                          <a:latin typeface="Calibri"/>
                        </a:rPr>
                        <a:t>+39,8 %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393 $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+14,4 %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1 403 $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+308,9 %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13,7%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14,8%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360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367200" y="3916800"/>
            <a:ext cx="8413200" cy="547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7200" y="3916800"/>
            <a:ext cx="79200" cy="547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200" y="3945600"/>
            <a:ext cx="8298000" cy="511200"/>
          </a:xfrm>
          <a:prstGeom prst="rect">
            <a:avLst/>
          </a:prstGeom>
          <a:noFill/>
        </p:spPr>
        <p:txBody>
          <a:bodyPr wrap="square">
            <a:spAutoFit/>
          </a:bodyPr>
          <a:lstStyle/>
          <a:p>
            <a:pPr algn="l"/>
            <a:r>
              <a:rPr sz="850" b="0" i="0">
                <a:solidFill>
                  <a:srgbClr val="555555"/>
                </a:solidFill>
                <a:latin typeface="Calibri"/>
              </a:rPr>
              <a:t>Avec un WACC de 14,8% et un TGR de 2,5%, le prix implicite DCF est de 360 USD (base), soit un upside de 5% vs cours actuel. Cette valorisation suppose une reprise des marges et une croissance modérée du CA. Le risque principal est une mean-reversion des marges vers 12-14%, ce qui réduirait le DCF à 220 USD.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Tesla, Inc.</a:t>
                      </a:r>
                    </a:p>
                  </a:txBody>
                  <a:tcPr>
                    <a:solidFill>
                      <a:srgbClr val="DDE8F5"/>
                    </a:solidFill>
                  </a:tcPr>
                </a:tc>
                <a:tc>
                  <a:txBody>
                    <a:bodyPr/>
                    <a:lstStyle/>
                    <a:p>
                      <a:pPr algn="ctr"/>
                      <a:r>
                        <a:rPr sz="750" b="1" i="0">
                          <a:solidFill>
                            <a:srgbClr val="2E5FA3"/>
                          </a:solidFill>
                          <a:latin typeface="Calibri"/>
                        </a:rPr>
                        <a:t>TSLA</a:t>
                      </a:r>
                    </a:p>
                  </a:txBody>
                  <a:tcPr>
                    <a:solidFill>
                      <a:srgbClr val="DDE8F5"/>
                    </a:solidFill>
                  </a:tcPr>
                </a:tc>
                <a:tc>
                  <a:txBody>
                    <a:bodyPr/>
                    <a:lstStyle/>
                    <a:p>
                      <a:pPr algn="ctr"/>
                      <a:r>
                        <a:rPr sz="800" b="1" i="0">
                          <a:solidFill>
                            <a:srgbClr val="1B3A6B"/>
                          </a:solidFill>
                          <a:latin typeface="Calibri"/>
                        </a:rPr>
                        <a:t>1 288,0</a:t>
                      </a:r>
                    </a:p>
                  </a:txBody>
                  <a:tcPr>
                    <a:solidFill>
                      <a:srgbClr val="DDE8F5"/>
                    </a:solidFill>
                  </a:tcPr>
                </a:tc>
                <a:tc>
                  <a:txBody>
                    <a:bodyPr/>
                    <a:lstStyle/>
                    <a:p>
                      <a:pPr algn="ctr"/>
                      <a:r>
                        <a:rPr sz="800" b="1" i="0">
                          <a:solidFill>
                            <a:srgbClr val="1B3A6B"/>
                          </a:solidFill>
                          <a:latin typeface="Calibri"/>
                        </a:rPr>
                        <a:t>108,8x</a:t>
                      </a:r>
                    </a:p>
                  </a:txBody>
                  <a:tcPr>
                    <a:solidFill>
                      <a:srgbClr val="DDE8F5"/>
                    </a:solidFill>
                  </a:tcPr>
                </a:tc>
                <a:tc>
                  <a:txBody>
                    <a:bodyPr/>
                    <a:lstStyle/>
                    <a:p>
                      <a:pPr algn="ctr"/>
                      <a:r>
                        <a:rPr sz="800" b="1" i="0">
                          <a:solidFill>
                            <a:srgbClr val="1B3A6B"/>
                          </a:solidFill>
                          <a:latin typeface="Calibri"/>
                        </a:rPr>
                        <a:t>13,5x</a:t>
                      </a:r>
                    </a:p>
                  </a:txBody>
                  <a:tcPr>
                    <a:solidFill>
                      <a:srgbClr val="DDE8F5"/>
                    </a:solidFill>
                  </a:tcPr>
                </a:tc>
                <a:tc>
                  <a:txBody>
                    <a:bodyPr/>
                    <a:lstStyle/>
                    <a:p>
                      <a:pPr algn="ctr"/>
                      <a:r>
                        <a:rPr sz="800" b="1" i="0">
                          <a:solidFill>
                            <a:srgbClr val="1B3A6B"/>
                          </a:solidFill>
                          <a:latin typeface="Calibri"/>
                        </a:rPr>
                        <a:t>339,5x</a:t>
                      </a:r>
                    </a:p>
                  </a:txBody>
                  <a:tcPr>
                    <a:solidFill>
                      <a:srgbClr val="DDE8F5"/>
                    </a:solidFill>
                  </a:tcPr>
                </a:tc>
                <a:tc>
                  <a:txBody>
                    <a:bodyPr/>
                    <a:lstStyle/>
                    <a:p>
                      <a:pPr algn="ctr"/>
                      <a:r>
                        <a:rPr sz="800" b="1" i="0">
                          <a:solidFill>
                            <a:srgbClr val="1B3A6B"/>
                          </a:solidFill>
                          <a:latin typeface="Calibri"/>
                        </a:rPr>
                        <a:t>18,0 %</a:t>
                      </a:r>
                    </a:p>
                  </a:txBody>
                  <a:tcPr>
                    <a:solidFill>
                      <a:srgbClr val="DDE8F5"/>
                    </a:solidFill>
                  </a:tcPr>
                </a:tc>
                <a:tc>
                  <a:txBody>
                    <a:bodyPr/>
                    <a:lstStyle/>
                    <a:p>
                      <a:pPr algn="ctr"/>
                      <a:r>
                        <a:rPr sz="800" b="1" i="0">
                          <a:solidFill>
                            <a:srgbClr val="1B3A6B"/>
                          </a:solidFill>
                          <a:latin typeface="Calibri"/>
                        </a:rPr>
                        <a:t>12,4 %</a:t>
                      </a:r>
                    </a:p>
                  </a:txBody>
                  <a:tcPr>
                    <a:solidFill>
                      <a:srgbClr val="DDE8F5"/>
                    </a:solidFill>
                  </a:tcPr>
                </a:tc>
              </a:tr>
              <a:tr h="251999">
                <a:tc>
                  <a:txBody>
                    <a:bodyPr/>
                    <a:lstStyle/>
                    <a:p>
                      <a:pPr algn="l"/>
                      <a:r>
                        <a:rPr sz="800" b="0" i="0">
                          <a:solidFill>
                            <a:srgbClr val="0D0D0D"/>
                          </a:solidFill>
                          <a:latin typeface="Calibri"/>
                        </a:rPr>
                        <a:t>BYD Company Limited</a:t>
                      </a:r>
                    </a:p>
                  </a:txBody>
                  <a:tcPr>
                    <a:solidFill>
                      <a:srgbClr val="FFFFFF"/>
                    </a:solidFill>
                  </a:tcPr>
                </a:tc>
                <a:tc>
                  <a:txBody>
                    <a:bodyPr/>
                    <a:lstStyle/>
                    <a:p>
                      <a:pPr algn="ctr"/>
                      <a:r>
                        <a:rPr sz="750" b="0" i="0">
                          <a:solidFill>
                            <a:srgbClr val="555555"/>
                          </a:solidFill>
                          <a:latin typeface="Calibri"/>
                        </a:rPr>
                        <a:t>BYD</a:t>
                      </a:r>
                    </a:p>
                  </a:txBody>
                  <a:tcPr>
                    <a:solidFill>
                      <a:srgbClr val="FFFFFF"/>
                    </a:solidFill>
                  </a:tcPr>
                </a:tc>
                <a:tc>
                  <a:txBody>
                    <a:bodyPr/>
                    <a:lstStyle/>
                    <a:p>
                      <a:pPr algn="ctr"/>
                      <a:r>
                        <a:rPr sz="800" b="0" i="0">
                          <a:solidFill>
                            <a:srgbClr val="0D0D0D"/>
                          </a:solidFill>
                          <a:latin typeface="Calibri"/>
                        </a:rPr>
                        <a:t>120,0</a:t>
                      </a:r>
                    </a:p>
                  </a:txBody>
                  <a:tcPr>
                    <a:solidFill>
                      <a:srgbClr val="FFFFFF"/>
                    </a:solidFill>
                  </a:tcPr>
                </a:tc>
                <a:tc>
                  <a:txBody>
                    <a:bodyPr/>
                    <a:lstStyle/>
                    <a:p>
                      <a:pPr algn="ctr"/>
                      <a:r>
                        <a:rPr sz="800" b="0" i="0">
                          <a:solidFill>
                            <a:srgbClr val="0D0D0D"/>
                          </a:solidFill>
                          <a:latin typeface="Calibri"/>
                        </a:rPr>
                        <a:t>10,2x</a:t>
                      </a:r>
                    </a:p>
                  </a:txBody>
                  <a:tcPr>
                    <a:solidFill>
                      <a:srgbClr val="FFFFFF"/>
                    </a:solidFill>
                  </a:tcPr>
                </a:tc>
                <a:tc>
                  <a:txBody>
                    <a:bodyPr/>
                    <a:lstStyle/>
                    <a:p>
                      <a:pPr algn="ctr"/>
                      <a:r>
                        <a:rPr sz="800" b="0" i="0">
                          <a:solidFill>
                            <a:srgbClr val="0D0D0D"/>
                          </a:solidFill>
                          <a:latin typeface="Calibri"/>
                        </a:rPr>
                        <a:t>1,8x</a:t>
                      </a:r>
                    </a:p>
                  </a:txBody>
                  <a:tcPr>
                    <a:solidFill>
                      <a:srgbClr val="FFFFFF"/>
                    </a:solidFill>
                  </a:tcPr>
                </a:tc>
                <a:tc>
                  <a:txBody>
                    <a:bodyPr/>
                    <a:lstStyle/>
                    <a:p>
                      <a:pPr algn="ctr"/>
                      <a:r>
                        <a:rPr sz="800" b="0" i="0">
                          <a:solidFill>
                            <a:srgbClr val="0D0D0D"/>
                          </a:solidFill>
                          <a:latin typeface="Calibri"/>
                        </a:rPr>
                        <a:t>25,0x</a:t>
                      </a:r>
                    </a:p>
                  </a:txBody>
                  <a:tcPr>
                    <a:solidFill>
                      <a:srgbClr val="FFFFFF"/>
                    </a:solidFill>
                  </a:tcPr>
                </a:tc>
                <a:tc>
                  <a:txBody>
                    <a:bodyPr/>
                    <a:lstStyle/>
                    <a:p>
                      <a:pPr algn="ctr"/>
                      <a:r>
                        <a:rPr sz="800" b="0" i="0">
                          <a:solidFill>
                            <a:srgbClr val="0D0D0D"/>
                          </a:solidFill>
                          <a:latin typeface="Calibri"/>
                        </a:rPr>
                        <a:t>18,0 %</a:t>
                      </a:r>
                    </a:p>
                  </a:txBody>
                  <a:tcPr>
                    <a:solidFill>
                      <a:srgbClr val="FFFFFF"/>
                    </a:solidFill>
                  </a:tcPr>
                </a:tc>
                <a:tc>
                  <a:txBody>
                    <a:bodyPr/>
                    <a:lstStyle/>
                    <a:p>
                      <a:pPr algn="ctr"/>
                      <a:r>
                        <a:rPr sz="800" b="0" i="0">
                          <a:solidFill>
                            <a:srgbClr val="0D0D0D"/>
                          </a:solidFill>
                          <a:latin typeface="Calibri"/>
                        </a:rPr>
                        <a:t>12,0 %</a:t>
                      </a:r>
                    </a:p>
                  </a:txBody>
                  <a:tcPr>
                    <a:solidFill>
                      <a:srgbClr val="FFFFFF"/>
                    </a:solidFill>
                  </a:tcPr>
                </a:tc>
              </a:tr>
              <a:tr h="251999">
                <a:tc>
                  <a:txBody>
                    <a:bodyPr/>
                    <a:lstStyle/>
                    <a:p>
                      <a:pPr algn="l"/>
                      <a:r>
                        <a:rPr sz="800" b="0" i="0">
                          <a:solidFill>
                            <a:srgbClr val="0D0D0D"/>
                          </a:solidFill>
                          <a:latin typeface="Calibri"/>
                        </a:rPr>
                        <a:t>Rivian Automotive, Inc.</a:t>
                      </a:r>
                    </a:p>
                  </a:txBody>
                  <a:tcPr>
                    <a:solidFill>
                      <a:srgbClr val="F7F8FA"/>
                    </a:solidFill>
                  </a:tcPr>
                </a:tc>
                <a:tc>
                  <a:txBody>
                    <a:bodyPr/>
                    <a:lstStyle/>
                    <a:p>
                      <a:pPr algn="ctr"/>
                      <a:r>
                        <a:rPr sz="750" b="0" i="0">
                          <a:solidFill>
                            <a:srgbClr val="555555"/>
                          </a:solidFill>
                          <a:latin typeface="Calibri"/>
                        </a:rPr>
                        <a:t>RIVN</a:t>
                      </a:r>
                    </a:p>
                  </a:txBody>
                  <a:tcPr>
                    <a:solidFill>
                      <a:srgbClr val="F7F8FA"/>
                    </a:solidFill>
                  </a:tcPr>
                </a:tc>
                <a:tc>
                  <a:txBody>
                    <a:bodyPr/>
                    <a:lstStyle/>
                    <a:p>
                      <a:pPr algn="ctr"/>
                      <a:r>
                        <a:rPr sz="800" b="0" i="0">
                          <a:solidFill>
                            <a:srgbClr val="0D0D0D"/>
                          </a:solidFill>
                          <a:latin typeface="Calibri"/>
                        </a:rPr>
                        <a:t>18,0</a:t>
                      </a:r>
                    </a:p>
                  </a:txBody>
                  <a:tcPr>
                    <a:solidFill>
                      <a:srgbClr val="F7F8FA"/>
                    </a:solidFill>
                  </a:tcPr>
                </a:tc>
                <a:tc>
                  <a:txBody>
                    <a:bodyPr/>
                    <a:lstStyle/>
                    <a:p>
                      <a:pPr algn="ctr"/>
                      <a:r>
                        <a:rPr sz="800" b="0" i="0">
                          <a:solidFill>
                            <a:srgbClr val="0D0D0D"/>
                          </a:solidFill>
                          <a:latin typeface="Calibri"/>
                        </a:rPr>
                        <a:t>15,8x</a:t>
                      </a:r>
                    </a:p>
                  </a:txBody>
                  <a:tcPr>
                    <a:solidFill>
                      <a:srgbClr val="F7F8FA"/>
                    </a:solidFill>
                  </a:tcPr>
                </a:tc>
                <a:tc>
                  <a:txBody>
                    <a:bodyPr/>
                    <a:lstStyle/>
                    <a:p>
                      <a:pPr algn="ctr"/>
                      <a:r>
                        <a:rPr sz="800" b="0" i="0">
                          <a:solidFill>
                            <a:srgbClr val="0D0D0D"/>
                          </a:solidFill>
                          <a:latin typeface="Calibri"/>
                        </a:rPr>
                        <a:t>3,2x</a:t>
                      </a:r>
                    </a:p>
                  </a:txBody>
                  <a:tcPr>
                    <a:solidFill>
                      <a:srgbClr val="F7F8FA"/>
                    </a:solidFill>
                  </a:tcPr>
                </a:tc>
                <a:tc>
                  <a:txBody>
                    <a:bodyPr/>
                    <a:lstStyle/>
                    <a:p>
                      <a:pPr algn="ctr"/>
                      <a:r>
                        <a:rPr sz="800" b="0" i="0">
                          <a:solidFill>
                            <a:srgbClr val="0D0D0D"/>
                          </a:solidFill>
                          <a:latin typeface="Calibri"/>
                        </a:rPr>
                        <a:t>0,0x</a:t>
                      </a:r>
                    </a:p>
                  </a:txBody>
                  <a:tcPr>
                    <a:solidFill>
                      <a:srgbClr val="F7F8FA"/>
                    </a:solidFill>
                  </a:tcPr>
                </a:tc>
                <a:tc>
                  <a:txBody>
                    <a:bodyPr/>
                    <a:lstStyle/>
                    <a:p>
                      <a:pPr algn="ctr"/>
                      <a:r>
                        <a:rPr sz="800" b="0" i="0">
                          <a:solidFill>
                            <a:srgbClr val="0D0D0D"/>
                          </a:solidFill>
                          <a:latin typeface="Calibri"/>
                        </a:rPr>
                        <a:t>12,0 %</a:t>
                      </a:r>
                    </a:p>
                  </a:txBody>
                  <a:tcPr>
                    <a:solidFill>
                      <a:srgbClr val="F7F8FA"/>
                    </a:solidFill>
                  </a:tcPr>
                </a:tc>
                <a:tc>
                  <a:txBody>
                    <a:bodyPr/>
                    <a:lstStyle/>
                    <a:p>
                      <a:pPr algn="ctr"/>
                      <a:r>
                        <a:rPr sz="800" b="0" i="0">
                          <a:solidFill>
                            <a:srgbClr val="0D0D0D"/>
                          </a:solidFill>
                          <a:latin typeface="Calibri"/>
                        </a:rPr>
                        <a:t>-25,0 %</a:t>
                      </a:r>
                    </a:p>
                  </a:txBody>
                  <a:tcPr>
                    <a:solidFill>
                      <a:srgbClr val="F7F8FA"/>
                    </a:solidFill>
                  </a:tcPr>
                </a:tc>
              </a:tr>
              <a:tr h="251999">
                <a:tc>
                  <a:txBody>
                    <a:bodyPr/>
                    <a:lstStyle/>
                    <a:p>
                      <a:pPr algn="l"/>
                      <a:r>
                        <a:rPr sz="800" b="0" i="0">
                          <a:solidFill>
                            <a:srgbClr val="0D0D0D"/>
                          </a:solidFill>
                          <a:latin typeface="Calibri"/>
                        </a:rPr>
                        <a:t>Lucid Group, Inc.</a:t>
                      </a:r>
                    </a:p>
                  </a:txBody>
                  <a:tcPr>
                    <a:solidFill>
                      <a:srgbClr val="FFFFFF"/>
                    </a:solidFill>
                  </a:tcPr>
                </a:tc>
                <a:tc>
                  <a:txBody>
                    <a:bodyPr/>
                    <a:lstStyle/>
                    <a:p>
                      <a:pPr algn="ctr"/>
                      <a:r>
                        <a:rPr sz="750" b="0" i="0">
                          <a:solidFill>
                            <a:srgbClr val="555555"/>
                          </a:solidFill>
                          <a:latin typeface="Calibri"/>
                        </a:rPr>
                        <a:t>LCID</a:t>
                      </a:r>
                    </a:p>
                  </a:txBody>
                  <a:tcPr>
                    <a:solidFill>
                      <a:srgbClr val="FFFFFF"/>
                    </a:solidFill>
                  </a:tcPr>
                </a:tc>
                <a:tc>
                  <a:txBody>
                    <a:bodyPr/>
                    <a:lstStyle/>
                    <a:p>
                      <a:pPr algn="ctr"/>
                      <a:r>
                        <a:rPr sz="800" b="0" i="0">
                          <a:solidFill>
                            <a:srgbClr val="0D0D0D"/>
                          </a:solidFill>
                          <a:latin typeface="Calibri"/>
                        </a:rPr>
                        <a:t>12,0</a:t>
                      </a:r>
                    </a:p>
                  </a:txBody>
                  <a:tcPr>
                    <a:solidFill>
                      <a:srgbClr val="FFFFFF"/>
                    </a:solidFill>
                  </a:tcPr>
                </a:tc>
                <a:tc>
                  <a:txBody>
                    <a:bodyPr/>
                    <a:lstStyle/>
                    <a:p>
                      <a:pPr algn="ctr"/>
                      <a:r>
                        <a:rPr sz="800" b="0" i="0">
                          <a:solidFill>
                            <a:srgbClr val="0D0D0D"/>
                          </a:solidFill>
                          <a:latin typeface="Calibri"/>
                        </a:rPr>
                        <a:t>8,5x</a:t>
                      </a:r>
                    </a:p>
                  </a:txBody>
                  <a:tcPr>
                    <a:solidFill>
                      <a:srgbClr val="FFFFFF"/>
                    </a:solidFill>
                  </a:tcPr>
                </a:tc>
                <a:tc>
                  <a:txBody>
                    <a:bodyPr/>
                    <a:lstStyle/>
                    <a:p>
                      <a:pPr algn="ctr"/>
                      <a:r>
                        <a:rPr sz="800" b="0" i="0">
                          <a:solidFill>
                            <a:srgbClr val="0D0D0D"/>
                          </a:solidFill>
                          <a:latin typeface="Calibri"/>
                        </a:rPr>
                        <a:t>12,0x</a:t>
                      </a:r>
                    </a:p>
                  </a:txBody>
                  <a:tcPr>
                    <a:solidFill>
                      <a:srgbClr val="FFFFFF"/>
                    </a:solidFill>
                  </a:tcPr>
                </a:tc>
                <a:tc>
                  <a:txBody>
                    <a:bodyPr/>
                    <a:lstStyle/>
                    <a:p>
                      <a:pPr algn="ctr"/>
                      <a:r>
                        <a:rPr sz="800" b="0" i="0">
                          <a:solidFill>
                            <a:srgbClr val="0D0D0D"/>
                          </a:solidFill>
                          <a:latin typeface="Calibri"/>
                        </a:rPr>
                        <a:t>0,0x</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c>
                  <a:txBody>
                    <a:bodyPr/>
                    <a:lstStyle/>
                    <a:p>
                      <a:pPr algn="ctr"/>
                      <a:r>
                        <a:rPr sz="800" b="0" i="0">
                          <a:solidFill>
                            <a:srgbClr val="0D0D0D"/>
                          </a:solidFill>
                          <a:latin typeface="Calibri"/>
                        </a:rPr>
                        <a:t>-40,0 %</a:t>
                      </a:r>
                    </a:p>
                  </a:txBody>
                  <a:tcPr>
                    <a:solidFill>
                      <a:srgbClr val="FFFFFF"/>
                    </a:solidFill>
                  </a:tcPr>
                </a:tc>
              </a:tr>
              <a:tr h="251999">
                <a:tc>
                  <a:txBody>
                    <a:bodyPr/>
                    <a:lstStyle/>
                    <a:p>
                      <a:pPr algn="l"/>
                      <a:r>
                        <a:rPr sz="800" b="0" i="0">
                          <a:solidFill>
                            <a:srgbClr val="0D0D0D"/>
                          </a:solidFill>
                          <a:latin typeface="Calibri"/>
                        </a:rPr>
                        <a:t>XPeng Inc.</a:t>
                      </a:r>
                    </a:p>
                  </a:txBody>
                  <a:tcPr>
                    <a:solidFill>
                      <a:srgbClr val="F7F8FA"/>
                    </a:solidFill>
                  </a:tcPr>
                </a:tc>
                <a:tc>
                  <a:txBody>
                    <a:bodyPr/>
                    <a:lstStyle/>
                    <a:p>
                      <a:pPr algn="ctr"/>
                      <a:r>
                        <a:rPr sz="750" b="0" i="0">
                          <a:solidFill>
                            <a:srgbClr val="555555"/>
                          </a:solidFill>
                          <a:latin typeface="Calibri"/>
                        </a:rPr>
                        <a:t>XPEV</a:t>
                      </a:r>
                    </a:p>
                  </a:txBody>
                  <a:tcPr>
                    <a:solidFill>
                      <a:srgbClr val="F7F8FA"/>
                    </a:solidFill>
                  </a:tcPr>
                </a:tc>
                <a:tc>
                  <a:txBody>
                    <a:bodyPr/>
                    <a:lstStyle/>
                    <a:p>
                      <a:pPr algn="ctr"/>
                      <a:r>
                        <a:rPr sz="800" b="0" i="0">
                          <a:solidFill>
                            <a:srgbClr val="0D0D0D"/>
                          </a:solidFill>
                          <a:latin typeface="Calibri"/>
                        </a:rPr>
                        <a:t>15,0</a:t>
                      </a:r>
                    </a:p>
                  </a:txBody>
                  <a:tcPr>
                    <a:solidFill>
                      <a:srgbClr val="F7F8FA"/>
                    </a:solidFill>
                  </a:tcPr>
                </a:tc>
                <a:tc>
                  <a:txBody>
                    <a:bodyPr/>
                    <a:lstStyle/>
                    <a:p>
                      <a:pPr algn="ctr"/>
                      <a:r>
                        <a:rPr sz="800" b="0" i="0">
                          <a:solidFill>
                            <a:srgbClr val="0D0D0D"/>
                          </a:solidFill>
                          <a:latin typeface="Calibri"/>
                        </a:rPr>
                        <a:t>11,3x</a:t>
                      </a:r>
                    </a:p>
                  </a:txBody>
                  <a:tcPr>
                    <a:solidFill>
                      <a:srgbClr val="F7F8FA"/>
                    </a:solidFill>
                  </a:tcPr>
                </a:tc>
                <a:tc>
                  <a:txBody>
                    <a:bodyPr/>
                    <a:lstStyle/>
                    <a:p>
                      <a:pPr algn="ctr"/>
                      <a:r>
                        <a:rPr sz="800" b="0" i="0">
                          <a:solidFill>
                            <a:srgbClr val="0D0D0D"/>
                          </a:solidFill>
                          <a:latin typeface="Calibri"/>
                        </a:rPr>
                        <a:t>2,1x</a:t>
                      </a:r>
                    </a:p>
                  </a:txBody>
                  <a:tcPr>
                    <a:solidFill>
                      <a:srgbClr val="F7F8FA"/>
                    </a:solidFill>
                  </a:tcPr>
                </a:tc>
                <a:tc>
                  <a:txBody>
                    <a:bodyPr/>
                    <a:lstStyle/>
                    <a:p>
                      <a:pPr algn="ctr"/>
                      <a:r>
                        <a:rPr sz="800" b="0" i="0">
                          <a:solidFill>
                            <a:srgbClr val="0D0D0D"/>
                          </a:solidFill>
                          <a:latin typeface="Calibri"/>
                        </a:rPr>
                        <a:t>0,0x</a:t>
                      </a:r>
                    </a:p>
                  </a:txBody>
                  <a:tcPr>
                    <a:solidFill>
                      <a:srgbClr val="F7F8FA"/>
                    </a:solidFill>
                  </a:tcPr>
                </a:tc>
                <a:tc>
                  <a:txBody>
                    <a:bodyPr/>
                    <a:lstStyle/>
                    <a:p>
                      <a:pPr algn="ctr"/>
                      <a:r>
                        <a:rPr sz="800" b="0" i="0">
                          <a:solidFill>
                            <a:srgbClr val="0D0D0D"/>
                          </a:solidFill>
                          <a:latin typeface="Calibri"/>
                        </a:rPr>
                        <a:t>14,0 %</a:t>
                      </a:r>
                    </a:p>
                  </a:txBody>
                  <a:tcPr>
                    <a:solidFill>
                      <a:srgbClr val="F7F8FA"/>
                    </a:solidFill>
                  </a:tcPr>
                </a:tc>
                <a:tc>
                  <a:txBody>
                    <a:bodyPr/>
                    <a:lstStyle/>
                    <a:p>
                      <a:pPr algn="ctr"/>
                      <a:r>
                        <a:rPr sz="800" b="0" i="0">
                          <a:solidFill>
                            <a:srgbClr val="0D0D0D"/>
                          </a:solidFill>
                          <a:latin typeface="Calibri"/>
                        </a:rPr>
                        <a:t>-5,0 %</a:t>
                      </a:r>
                    </a:p>
                  </a:txBody>
                  <a:tcPr>
                    <a:solidFill>
                      <a:srgbClr val="F7F8FA"/>
                    </a:solidFill>
                  </a:tcPr>
                </a:tc>
              </a:tr>
              <a:tr h="251999">
                <a:tc>
                  <a:txBody>
                    <a:bodyPr/>
                    <a:lstStyle/>
                    <a:p>
                      <a:pPr algn="l"/>
                      <a:r>
                        <a:rPr sz="800" b="0" i="0">
                          <a:solidFill>
                            <a:srgbClr val="0D0D0D"/>
                          </a:solidFill>
                          <a:latin typeface="Calibri"/>
                        </a:rPr>
                        <a:t>NIO Inc.</a:t>
                      </a:r>
                    </a:p>
                  </a:txBody>
                  <a:tcPr>
                    <a:solidFill>
                      <a:srgbClr val="FFFFFF"/>
                    </a:solidFill>
                  </a:tcPr>
                </a:tc>
                <a:tc>
                  <a:txBody>
                    <a:bodyPr/>
                    <a:lstStyle/>
                    <a:p>
                      <a:pPr algn="ctr"/>
                      <a:r>
                        <a:rPr sz="750" b="0" i="0">
                          <a:solidFill>
                            <a:srgbClr val="555555"/>
                          </a:solidFill>
                          <a:latin typeface="Calibri"/>
                        </a:rPr>
                        <a:t>NIO</a:t>
                      </a:r>
                    </a:p>
                  </a:txBody>
                  <a:tcPr>
                    <a:solidFill>
                      <a:srgbClr val="FFFFFF"/>
                    </a:solidFill>
                  </a:tcPr>
                </a:tc>
                <a:tc>
                  <a:txBody>
                    <a:bodyPr/>
                    <a:lstStyle/>
                    <a:p>
                      <a:pPr algn="ctr"/>
                      <a:r>
                        <a:rPr sz="800" b="0" i="0">
                          <a:solidFill>
                            <a:srgbClr val="0D0D0D"/>
                          </a:solidFill>
                          <a:latin typeface="Calibri"/>
                        </a:rPr>
                        <a:t>25,0</a:t>
                      </a:r>
                    </a:p>
                  </a:txBody>
                  <a:tcPr>
                    <a:solidFill>
                      <a:srgbClr val="FFFFFF"/>
                    </a:solidFill>
                  </a:tcPr>
                </a:tc>
                <a:tc>
                  <a:txBody>
                    <a:bodyPr/>
                    <a:lstStyle/>
                    <a:p>
                      <a:pPr algn="ctr"/>
                      <a:r>
                        <a:rPr sz="800" b="0" i="0">
                          <a:solidFill>
                            <a:srgbClr val="0D0D0D"/>
                          </a:solidFill>
                          <a:latin typeface="Calibri"/>
                        </a:rPr>
                        <a:t>14,1x</a:t>
                      </a:r>
                    </a:p>
                  </a:txBody>
                  <a:tcPr>
                    <a:solidFill>
                      <a:srgbClr val="FFFFFF"/>
                    </a:solidFill>
                  </a:tcPr>
                </a:tc>
                <a:tc>
                  <a:txBody>
                    <a:bodyPr/>
                    <a:lstStyle/>
                    <a:p>
                      <a:pPr algn="ctr"/>
                      <a:r>
                        <a:rPr sz="800" b="0" i="0">
                          <a:solidFill>
                            <a:srgbClr val="0D0D0D"/>
                          </a:solidFill>
                          <a:latin typeface="Calibri"/>
                        </a:rPr>
                        <a:t>2,8x</a:t>
                      </a:r>
                    </a:p>
                  </a:txBody>
                  <a:tcPr>
                    <a:solidFill>
                      <a:srgbClr val="FFFFFF"/>
                    </a:solidFill>
                  </a:tcPr>
                </a:tc>
                <a:tc>
                  <a:txBody>
                    <a:bodyPr/>
                    <a:lstStyle/>
                    <a:p>
                      <a:pPr algn="ctr"/>
                      <a:r>
                        <a:rPr sz="800" b="0" i="0">
                          <a:solidFill>
                            <a:srgbClr val="0D0D0D"/>
                          </a:solidFill>
                          <a:latin typeface="Calibri"/>
                        </a:rPr>
                        <a:t>0,0x</a:t>
                      </a:r>
                    </a:p>
                  </a:txBody>
                  <a:tcPr>
                    <a:solidFill>
                      <a:srgbClr val="FFFFFF"/>
                    </a:solidFill>
                  </a:tcPr>
                </a:tc>
                <a:tc>
                  <a:txBody>
                    <a:bodyPr/>
                    <a:lstStyle/>
                    <a:p>
                      <a:pPr algn="ctr"/>
                      <a:r>
                        <a:rPr sz="800" b="0" i="0">
                          <a:solidFill>
                            <a:srgbClr val="0D0D0D"/>
                          </a:solidFill>
                          <a:latin typeface="Calibri"/>
                        </a:rPr>
                        <a:t>16,0 %</a:t>
                      </a:r>
                    </a:p>
                  </a:txBody>
                  <a:tcPr>
                    <a:solidFill>
                      <a:srgbClr val="FFFFFF"/>
                    </a:solidFill>
                  </a:tcPr>
                </a:tc>
                <a:tc>
                  <a:txBody>
                    <a:bodyPr/>
                    <a:lstStyle/>
                    <a:p>
                      <a:pPr algn="ctr"/>
                      <a:r>
                        <a:rPr sz="800" b="0" i="0">
                          <a:solidFill>
                            <a:srgbClr val="0D0D0D"/>
                          </a:solidFill>
                          <a:latin typeface="Calibri"/>
                        </a:rPr>
                        <a:t>2,0 %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11,3x</a:t>
                      </a:r>
                    </a:p>
                  </a:txBody>
                  <a:tcPr>
                    <a:solidFill>
                      <a:srgbClr val="F7F8FA"/>
                    </a:solidFill>
                  </a:tcPr>
                </a:tc>
                <a:tc>
                  <a:txBody>
                    <a:bodyPr/>
                    <a:lstStyle/>
                    <a:p>
                      <a:pPr algn="ctr"/>
                      <a:r>
                        <a:rPr sz="800" b="1" i="0">
                          <a:solidFill>
                            <a:srgbClr val="0D0D0D"/>
                          </a:solidFill>
                          <a:latin typeface="Calibri"/>
                        </a:rPr>
                        <a:t>2,8x</a:t>
                      </a:r>
                    </a:p>
                  </a:txBody>
                  <a:tcPr>
                    <a:solidFill>
                      <a:srgbClr val="F7F8FA"/>
                    </a:solidFill>
                  </a:tcPr>
                </a:tc>
                <a:tc>
                  <a:txBody>
                    <a:bodyPr/>
                    <a:lstStyle/>
                    <a:p>
                      <a:pPr algn="ctr"/>
                      <a:r>
                        <a:rPr sz="800" b="1" i="0">
                          <a:solidFill>
                            <a:srgbClr val="0D0D0D"/>
                          </a:solidFill>
                          <a:latin typeface="Calibri"/>
                        </a:rPr>
                        <a:t>0,0x</a:t>
                      </a:r>
                    </a:p>
                  </a:txBody>
                  <a:tcPr>
                    <a:solidFill>
                      <a:srgbClr val="F7F8FA"/>
                    </a:solidFill>
                  </a:tcPr>
                </a:tc>
                <a:tc>
                  <a:txBody>
                    <a:bodyPr/>
                    <a:lstStyle/>
                    <a:p>
                      <a:pPr algn="ctr"/>
                      <a:r>
                        <a:rPr sz="800" b="1" i="0">
                          <a:solidFill>
                            <a:srgbClr val="0D0D0D"/>
                          </a:solidFill>
                          <a:latin typeface="Calibri"/>
                        </a:rPr>
                        <a:t>15,0 %</a:t>
                      </a:r>
                    </a:p>
                  </a:txBody>
                  <a:tcPr>
                    <a:solidFill>
                      <a:srgbClr val="F7F8FA"/>
                    </a:solidFill>
                  </a:tcPr>
                </a:tc>
                <a:tc>
                  <a:txBody>
                    <a:bodyPr/>
                    <a:lstStyle/>
                    <a:p>
                      <a:pPr algn="ctr"/>
                      <a:r>
                        <a:rPr sz="800" b="1" i="0">
                          <a:solidFill>
                            <a:srgbClr val="0D0D0D"/>
                          </a:solidFill>
                          <a:latin typeface="Calibri"/>
                        </a:rPr>
                        <a:t>-5,0 %</a:t>
                      </a:r>
                    </a:p>
                  </a:txBody>
                  <a:tcPr>
                    <a:solidFill>
                      <a:srgbClr val="F7F8FA"/>
                    </a:solidFill>
                  </a:tcPr>
                </a:tc>
              </a:tr>
            </a:tbl>
          </a:graphicData>
        </a:graphic>
      </p:graphicFrame>
      <p:sp>
        <p:nvSpPr>
          <p:cNvPr id="18" name="Rectangle 17"/>
          <p:cNvSpPr/>
          <p:nvPr/>
        </p:nvSpPr>
        <p:spPr>
          <a:xfrm>
            <a:off x="367200" y="3128400"/>
            <a:ext cx="84132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128400"/>
            <a:ext cx="79200" cy="15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157200"/>
            <a:ext cx="8298000" cy="1512000"/>
          </a:xfrm>
          <a:prstGeom prst="rect">
            <a:avLst/>
          </a:prstGeom>
          <a:noFill/>
        </p:spPr>
        <p:txBody>
          <a:bodyPr wrap="square">
            <a:spAutoFit/>
          </a:bodyPr>
          <a:lstStyle/>
          <a:p>
            <a:pPr algn="l"/>
            <a:r>
              <a:rPr sz="850" b="0" i="0">
                <a:solidFill>
                  <a:srgbClr val="555555"/>
                </a:solidFill>
                <a:latin typeface="Calibri"/>
              </a:rPr>
              <a:t>Tesla affiche un EV/EBITDA de 108,8x vs une médiane peers de 12,5x (BYD: 10,2x; Rivian: 15,8x; Lucid: 8,5x; XPeng: 11,3x; NIO: 14,1x), soit une prime de 770%. Cette décote s'explique par la croissance supérieure et la marge technologique, mais semble excessive au vu des fondamentaux actuels. Une convergence vers 20x impliquerait un upside de 85%. Les marges brutes ont chuté de 25,6% en 2022 à 18% en 2025, principalement à cause de la baisse des prix en Chine (-15% sur Model 3/Y) et de l'inflation des coûts des matières premières (+8% sur lithium). Le mix produit (Cybertruck à marge plus faible) aggrave la pression. La durabilité du pricing power est incertaine sans innovation produit majeure. La valorisation reste élevée avec un P/E de 339.5x et un EV/EBITDA de 108.8x, soit une prime de 200% vs les constructeurs automobiles traditionnels. La décote par rapport aux peers tech (ex: NVIDIA) semble justifiée par des fondamentaux moins solides.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Rectangle 17"/>
          <p:cNvSpPr/>
          <p:nvPr/>
        </p:nvSpPr>
        <p:spPr>
          <a:xfrm>
            <a:off x="367200" y="3488400"/>
            <a:ext cx="8413200" cy="1281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488400"/>
            <a:ext cx="79200" cy="128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517200"/>
            <a:ext cx="8298000" cy="1245600"/>
          </a:xfrm>
          <a:prstGeom prst="rect">
            <a:avLst/>
          </a:prstGeom>
          <a:noFill/>
        </p:spPr>
        <p:txBody>
          <a:bodyPr wrap="square">
            <a:spAutoFit/>
          </a:bodyPr>
          <a:lstStyle/>
          <a:p>
            <a:pPr algn="l"/>
            <a:r>
              <a:rPr sz="850" b="0" i="0">
                <a:solidFill>
                  <a:srgbClr val="555555"/>
                </a:solidFill>
                <a:latin typeface="Calibri"/>
              </a:rPr>
              <a:t>Avec un WACC de 14,8% et un TGR de 2,5%, le prix implicite DCF est de 360 USD (base), soit un upside de 5% vs cours actuel. Cette valorisation suppose une reprise des marges et une croissance modérée du CA. Le risque principal est une mean-reversion des marges vers 12-14%, ce qui réduirait le DCF à 220 USD. La valorisation reste élevée avec un P/E de 339.5x et un EV/EBITDA de 108.8x, soit une prime de 200% vs les constructeurs automobiles traditionnels. La décote par rapport aux peers tech (ex: NVIDIA) semble justifiée par des fondamentaux moins solides.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102,4x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72,1x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85,9x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180,7x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339,5x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111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111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1080000"/>
          </a:xfrm>
          <a:prstGeom prst="rect">
            <a:avLst/>
          </a:prstGeom>
          <a:noFill/>
        </p:spPr>
        <p:txBody>
          <a:bodyPr wrap="square">
            <a:spAutoFit/>
          </a:bodyPr>
          <a:lstStyle/>
          <a:p>
            <a:pPr algn="l"/>
            <a:r>
              <a:rPr sz="850" b="0" i="0">
                <a:solidFill>
                  <a:srgbClr val="555555"/>
                </a:solidFill>
                <a:latin typeface="Calibri"/>
              </a:rPr>
              <a:t>Le P/E affiche une expansion multiple de 237.1x sur la période (102,4x → 339,5x), signal d’une réévaluation favorable du profil de croissance. L’EV/EBITDA diverge à 108,8x vs 72,1x historique. Le CA 2025 atteint 94,8 Md$ (-3% YoY), marqué par une compression des marges : GM à 18% vs 25,6% en 2022, EBITDA à 12,4% vs 21,7% en 2022. La trésorerie nette négative (-0,7x ND/EBITDA) limite les capacités de rachat d'actions. Les Capex de 8,5 Md$ en 2025 soutiennent la croissance mais pèsent sur la rentabilité.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0,1 %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1,4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9,0 %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100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971999"/>
          </a:xfrm>
          <a:prstGeom prst="rect">
            <a:avLst/>
          </a:prstGeom>
          <a:noFill/>
        </p:spPr>
        <p:txBody>
          <a:bodyPr wrap="square">
            <a:spAutoFit/>
          </a:bodyPr>
          <a:lstStyle/>
          <a:p>
            <a:pPr algn="l"/>
            <a:r>
              <a:rPr sz="850" b="0" i="0">
                <a:solidFill>
                  <a:srgbClr val="555555"/>
                </a:solidFill>
                <a:latin typeface="Calibri"/>
              </a:rPr>
              <a:t>Le FCF affiche une contraction de 7,7 Mds$ sur la période, avec un FCF yield actuel de 0,1 % — à surveiller au regard de la valorisation de marché. L’allocation vers les dividendes est maintenue malgré la pression sur les marges. Le CA 2025 atteint 94,8 Md$ (-3% YoY), marqué par une compression des marges : GM à 18% vs 25,6% en 2022, EBITDA à 12,4% vs 21,7% en 2022. La trésorerie nette négative (-0,7x ND/EBITDA) limite les capacités de rachat d'actions. Les Capex de 8,5 Md$ en 2025 soutiennent la croissance mais pèsent sur la rentabilité.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 2.1x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21.9% / 2.7x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27.2% / 3.3x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6.5%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17.3% / 2.2x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0.5% / 1.0x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 / 1.3x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 1.7x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 / 0.8x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 1.1x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5.9% / 1.3x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+5%/an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15,0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Rectangle 25"/>
          <p:cNvSpPr/>
          <p:nvPr/>
        </p:nvSpPr>
        <p:spPr>
          <a:xfrm>
            <a:off x="367200" y="4176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7200" y="4176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200" y="4204800"/>
            <a:ext cx="8298000" cy="540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12.4% (MOIC 1.8x en 5 ans) — attractivité PE jugée insuffisante. Un fonds tier-1 ciblant 20%+ d'IRR doit entrer en dessous de 8x EBITDA. La génération de FCF (1,4 Mds$)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Marges en chute libre</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Les marges de Tesla s'effritent avec une baisse de 3% du chiffre d'affaires en 2025, réduisant la marge brute à 18% contre 27% en 2022. La marge nette de 4% est insuffisante pour couvrir les coûts fixes élevés, notamment les dépenses R&amp;D de 3,5 milliards USD trimestriels.</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Valorisation déconnectée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L'endettement net négatif de -0,71x EBITDA masque une dépendance aux subventions et crédits carbone, évalués à 1,8 milliard USD en 2024. La valorisation à 108,78x EBITDA est 3 fois supérieure à celle de BYD, malgré des volumes de production inférieurs de 20%.</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Demande en déclin</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Le score Altman Z de 15,48, bien au-dessus du seuil critique de 1,8, suggère une stabilité illusoire. Pourtant, la croissance des ventes de véhicules a chuté à -12% au T1 2025, révélant une demande atone et une concurrence accrue en Chine et Europe.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en 2026 avec baisse de 20% des ventes de VE</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Subventions chinoises réduites de 50% sur les VE en 2026</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Retard de 6 mois sur le lancement de la 4680 battery, impactant les marges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28/100  Peu attractive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Rec.6M:18%</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Faible (0.37x)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(19% 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Négatif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-0,149</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40,0 %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7</a:t>
                      </a:r>
                    </a:p>
                  </a:txBody>
                  <a:tcPr>
                    <a:solidFill>
                      <a:srgbClr val="EAF4EF"/>
                    </a:solidFill>
                  </a:tcPr>
                </a:tc>
                <a:tc>
                  <a:txBody>
                    <a:bodyPr/>
                    <a:lstStyle/>
                    <a:p>
                      <a:pPr algn="ctr"/>
                      <a:r>
                        <a:rPr sz="800" b="0" i="0">
                          <a:solidFill>
                            <a:srgbClr val="0D0D0D"/>
                          </a:solidFill>
                          <a:latin typeface="Calibri"/>
                        </a:rPr>
                        <a:t>+0,251</a:t>
                      </a:r>
                    </a:p>
                  </a:txBody>
                  <a:tcPr>
                    <a:solidFill>
                      <a:srgbClr val="EAF4EF"/>
                    </a:solidFill>
                  </a:tcPr>
                </a:tc>
                <a:tc>
                  <a:txBody>
                    <a:bodyPr/>
                    <a:lstStyle/>
                    <a:p>
                      <a:pPr algn="ctr"/>
                      <a:r>
                        <a:rPr sz="800" b="0" i="0">
                          <a:solidFill>
                            <a:srgbClr val="0D0D0D"/>
                          </a:solidFill>
                          <a:latin typeface="Calibri"/>
                        </a:rPr>
                        <a:t>Lancement Cybertruck 2026 avec marge brute cible de 20% et CA additionnel de 5 Md$ | Horizon 2026-2027</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10</a:t>
                      </a:r>
                    </a:p>
                  </a:txBody>
                  <a:tcPr>
                    <a:solidFill>
                      <a:srgbClr val="FFFFFF"/>
                    </a:solidFill>
                  </a:tcPr>
                </a:tc>
                <a:tc>
                  <a:txBody>
                    <a:bodyPr/>
                    <a:lstStyle/>
                    <a:p>
                      <a:pPr algn="ctr"/>
                      <a:r>
                        <a:rPr sz="800" b="0" i="0">
                          <a:solidFill>
                            <a:srgbClr val="0D0D0D"/>
                          </a:solidFill>
                          <a:latin typeface="Calibri"/>
                        </a:rPr>
                        <a:t>+0,349</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13</a:t>
                      </a:r>
                    </a:p>
                  </a:txBody>
                  <a:tcPr>
                    <a:solidFill>
                      <a:srgbClr val="FAF0EF"/>
                    </a:solidFill>
                  </a:tcPr>
                </a:tc>
                <a:tc>
                  <a:txBody>
                    <a:bodyPr/>
                    <a:lstStyle/>
                    <a:p>
                      <a:pPr algn="ctr"/>
                      <a:r>
                        <a:rPr sz="800" b="0" i="0">
                          <a:solidFill>
                            <a:srgbClr val="0D0D0D"/>
                          </a:solidFill>
                          <a:latin typeface="Calibri"/>
                        </a:rPr>
                        <a:t>+0,400</a:t>
                      </a:r>
                    </a:p>
                  </a:txBody>
                  <a:tcPr>
                    <a:solidFill>
                      <a:srgbClr val="FAF0EF"/>
                    </a:solidFill>
                  </a:tcPr>
                </a:tc>
                <a:tc>
                  <a:txBody>
                    <a:bodyPr/>
                    <a:lstStyle/>
                    <a:p>
                      <a:pPr algn="ctr"/>
                      <a:r>
                        <a:rPr sz="800" b="0" i="0">
                          <a:solidFill>
                            <a:srgbClr val="0D0D0D"/>
                          </a:solidFill>
                          <a:latin typeface="Calibri"/>
                        </a:rPr>
                        <a:t>Guerre des prix en Chine avec baisses de 15-20% sur Model 3/Y en 2025, impactant la GM de -3 pts | Horizon 2025-2026, ampleur -1,5 Md$ de CA</a:t>
                      </a:r>
                    </a:p>
                  </a:txBody>
                  <a:tcPr>
                    <a:solidFill>
                      <a:srgbClr val="FAF0EF"/>
                    </a:solidFill>
                  </a:tcPr>
                </a:tc>
              </a:tr>
            </a:tbl>
          </a:graphicData>
        </a:graphic>
      </p:graphicFrame>
      <p:sp>
        <p:nvSpPr>
          <p:cNvPr id="39" name="TextBox 38"/>
          <p:cNvSpPr txBox="1"/>
          <p:nvPr/>
        </p:nvSpPr>
        <p:spPr>
          <a:xfrm>
            <a:off x="367200" y="4140000"/>
            <a:ext cx="8413200" cy="630000"/>
          </a:xfrm>
          <a:prstGeom prst="rect">
            <a:avLst/>
          </a:prstGeom>
          <a:noFill/>
        </p:spPr>
        <p:txBody>
          <a:bodyPr wrap="square">
            <a:spAutoFit/>
          </a:bodyPr>
          <a:lstStyle/>
          <a:p>
            <a:pPr algn="l"/>
            <a:r>
              <a:rPr sz="850" b="0" i="0">
                <a:solidFill>
                  <a:srgbClr val="333333"/>
                </a:solidFill>
                <a:latin typeface="Calibri"/>
              </a:rPr>
              <a:t>La presse financière cette semaine dresse un bilan très négatif pour Tesla, marquée par des déceptions sur les livraisons et des perspectives de trésorerie en forte dégradation. Les rares éléments positifs, comme l’implication dans les puces Terafab, peinent à contrebalancer un sentiment global de méfiance persistante.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9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Tesla,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World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Rectangle 20"/>
          <p:cNvSpPr/>
          <p:nvPr/>
        </p:nvSpPr>
        <p:spPr>
          <a:xfrm>
            <a:off x="367200" y="3326400"/>
            <a:ext cx="8413200" cy="1443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3326400"/>
            <a:ext cx="79200" cy="144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355200"/>
            <a:ext cx="8298000" cy="1407600"/>
          </a:xfrm>
          <a:prstGeom prst="rect">
            <a:avLst/>
          </a:prstGeom>
          <a:noFill/>
        </p:spPr>
        <p:txBody>
          <a:bodyPr wrap="square">
            <a:spAutoFit/>
          </a:bodyPr>
          <a:lstStyle/>
          <a:p>
            <a:pPr algn="l"/>
            <a:r>
              <a:rPr sz="850" b="0" i="0">
                <a:solidFill>
                  <a:srgbClr val="555555"/>
                </a:solidFill>
                <a:latin typeface="Calibri"/>
              </a:rPr>
              <a:t>La valorisation reste élevée avec un P/E de 339.5x et un EV/EBITDA de 108.8x, soit une prime de 200% vs les constructeurs automobiles traditionnels. La décote par rapport aux peers tech (ex: NVIDIA) semble justifiée par des fondamentaux moins solides. Tesla affiche un EV/EBITDA de 108,8x vs une médiane peers de 12,5x (BYD: 10,2x; Rivian: 15,8x; Lucid: 8,5x; XPeng: 11,3x; NIO: 14,1x), soit une prime de 770%. Cette décote s'explique par la croissance supérieure et la marge technologique, mais semble excessive au vu des fondamentaux actuels. Une convergence vers 20x impliquerait un upside de 85%. Tesla maintient un leadership technologique avec 24% de part de marché mondiale des VE en 2024 La baisse des marges brutes à 18% en 2025 reflète une guerre des prix en Chine et une pression sur les coûts des batteries Le lancement du Cybertruck et l'expansion du réseau Supercharger devraient générer +15% de CA en 2026 Tesla affiche une décélération structurelle des marges et de la croissance du CA, malgré une position dominante sur le marché des véhicules électriques haut de gamme. Le modèle d'affaires reste solide mais vulnérable à la concurrence accrue et à la pression sur les prix. La valorisation reste élevée malgré des signaux de faiblesse opérationnelle.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USD  ·  Au 9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343,25 $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456,56 $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308,27 $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-0,9 %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stable de -0,9 %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
        <p:nvSpPr>
          <p:cNvPr id="35" name="Rectangle 34"/>
          <p:cNvSpPr/>
          <p:nvPr/>
        </p:nvSpPr>
        <p:spPr>
          <a:xfrm>
            <a:off x="367200" y="4158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7200" y="4158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200" y="4186800"/>
            <a:ext cx="8298000" cy="612000"/>
          </a:xfrm>
          <a:prstGeom prst="rect">
            <a:avLst/>
          </a:prstGeom>
          <a:noFill/>
        </p:spPr>
        <p:txBody>
          <a:bodyPr wrap="square">
            <a:spAutoFit/>
          </a:bodyPr>
          <a:lstStyle/>
          <a:p>
            <a:pPr algn="l"/>
            <a:r>
              <a:rPr sz="850" b="0" i="0">
                <a:solidFill>
                  <a:srgbClr val="555555"/>
                </a:solidFill>
                <a:latin typeface="Calibri"/>
              </a:rPr>
              <a:t>Tesla affiche une décélération structurelle des marges et de la croissance du CA, malgré une position dominante sur le marché des véhicules électriques haut de gamme. Le modèle d'affaires reste solide mais vulnérable à la concurrence accrue et à la pression sur les prix. La valorisation reste élevée malgré des signaux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FinSight IA  ·  Rapport 9 avril 2026</a:t>
            </a:r>
          </a:p>
        </p:txBody>
      </p:sp>
      <p:sp>
        <p:nvSpPr>
          <p:cNvPr id="17" name="Rectangle 16"/>
          <p:cNvSpPr/>
          <p:nvPr/>
        </p:nvSpPr>
        <p:spPr>
          <a:xfrm>
            <a:off x="324000" y="827999"/>
            <a:ext cx="2700000" cy="1260000"/>
          </a:xfrm>
          <a:prstGeom prst="rect">
            <a:avLst/>
          </a:prstGeom>
          <a:solidFill>
            <a:srgbClr val="FFF8E1"/>
          </a:solidFill>
          <a:ln w="25400">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B06000"/>
                </a:solidFill>
                <a:latin typeface="Calibri"/>
              </a:rPr>
              <a:t>HOLD</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55%</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9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485000" cy="19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+5%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Tesla maintient un leadership technologique avec 24% de part de marché mondiale des VE en 2024</a:t>
            </a:r>
          </a:p>
        </p:txBody>
      </p:sp>
      <p:sp>
        <p:nvSpPr>
          <p:cNvPr id="30" name="Rectangle 29"/>
          <p:cNvSpPr/>
          <p:nvPr/>
        </p:nvSpPr>
        <p:spPr>
          <a:xfrm>
            <a:off x="3311999" y="1404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La baisse des marges brutes à 18% en 2025 reflète une guerre des prix en Chine et une pression sur les coûts des batteries</a:t>
            </a:r>
          </a:p>
        </p:txBody>
      </p:sp>
      <p:sp>
        <p:nvSpPr>
          <p:cNvPr id="32" name="Rectangle 31"/>
          <p:cNvSpPr/>
          <p:nvPr/>
        </p:nvSpPr>
        <p:spPr>
          <a:xfrm>
            <a:off x="3311999" y="1746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Le lancement du Cybertruck et l'expansion du réseau Supercharger devraient générer +15% de CA en 2026</a:t>
            </a:r>
          </a:p>
        </p:txBody>
      </p:sp>
      <p:sp>
        <p:nvSpPr>
          <p:cNvPr id="34" name="Rectangle 33"/>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6" name="TextBox 35"/>
          <p:cNvSpPr txBox="1"/>
          <p:nvPr/>
        </p:nvSpPr>
        <p:spPr>
          <a:xfrm>
            <a:off x="3401999" y="2412000"/>
            <a:ext cx="2556000" cy="234000"/>
          </a:xfrm>
          <a:prstGeom prst="rect">
            <a:avLst/>
          </a:prstGeom>
          <a:noFill/>
        </p:spPr>
        <p:txBody>
          <a:bodyPr wrap="square">
            <a:spAutoFit/>
          </a:bodyPr>
          <a:lstStyle/>
          <a:p>
            <a:pPr algn="l"/>
            <a:r>
              <a:rPr sz="700" b="0" i="0">
                <a:solidFill>
                  <a:srgbClr val="555555"/>
                </a:solidFill>
                <a:latin typeface="Calibri"/>
              </a:rPr>
              <a:t>• Lancement Cybertruck 2026 avec marge brute cible de 20% et CA additionnel de 5 Md$ | Horizon</a:t>
            </a:r>
          </a:p>
        </p:txBody>
      </p:sp>
      <p:sp>
        <p:nvSpPr>
          <p:cNvPr id="37" name="TextBox 36"/>
          <p:cNvSpPr txBox="1"/>
          <p:nvPr/>
        </p:nvSpPr>
        <p:spPr>
          <a:xfrm>
            <a:off x="3401999" y="2671200"/>
            <a:ext cx="2556000" cy="234000"/>
          </a:xfrm>
          <a:prstGeom prst="rect">
            <a:avLst/>
          </a:prstGeom>
          <a:noFill/>
        </p:spPr>
        <p:txBody>
          <a:bodyPr wrap="square">
            <a:spAutoFit/>
          </a:bodyPr>
          <a:lstStyle/>
          <a:p>
            <a:pPr algn="l"/>
            <a:r>
              <a:rPr sz="700" b="0" i="0">
                <a:solidFill>
                  <a:srgbClr val="555555"/>
                </a:solidFill>
                <a:latin typeface="Calibri"/>
              </a:rPr>
              <a:t>• Expansion du réseau Supercharger à 50 000 bornes d'ici 2027, générant 2 Md$ de revenus récurrents |</a:t>
            </a:r>
          </a:p>
        </p:txBody>
      </p:sp>
      <p:sp>
        <p:nvSpPr>
          <p:cNvPr id="38" name="Rectangle 37"/>
          <p:cNvSpPr/>
          <p:nvPr/>
        </p:nvSpPr>
        <p:spPr>
          <a:xfrm>
            <a:off x="6120000" y="2196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56000" y="2214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40" name="TextBox 39"/>
          <p:cNvSpPr txBox="1"/>
          <p:nvPr/>
        </p:nvSpPr>
        <p:spPr>
          <a:xfrm>
            <a:off x="6156000" y="2412000"/>
            <a:ext cx="2376000" cy="234000"/>
          </a:xfrm>
          <a:prstGeom prst="rect">
            <a:avLst/>
          </a:prstGeom>
          <a:noFill/>
        </p:spPr>
        <p:txBody>
          <a:bodyPr wrap="square">
            <a:spAutoFit/>
          </a:bodyPr>
          <a:lstStyle/>
          <a:p>
            <a:pPr algn="l"/>
            <a:r>
              <a:rPr sz="700" b="0" i="0">
                <a:solidFill>
                  <a:srgbClr val="555555"/>
                </a:solidFill>
                <a:latin typeface="Calibri"/>
              </a:rPr>
              <a:t>• Guerre des prix en Chine avec baisses de 15-20% sur Model 3/Y en 2025, impactant la GM de -3 pts |</a:t>
            </a:r>
          </a:p>
        </p:txBody>
      </p:sp>
      <p:sp>
        <p:nvSpPr>
          <p:cNvPr id="41" name="TextBox 40"/>
          <p:cNvSpPr txBox="1"/>
          <p:nvPr/>
        </p:nvSpPr>
        <p:spPr>
          <a:xfrm>
            <a:off x="6156000" y="2671200"/>
            <a:ext cx="2376000" cy="234000"/>
          </a:xfrm>
          <a:prstGeom prst="rect">
            <a:avLst/>
          </a:prstGeom>
          <a:noFill/>
        </p:spPr>
        <p:txBody>
          <a:bodyPr wrap="square">
            <a:spAutoFit/>
          </a:bodyPr>
          <a:lstStyle/>
          <a:p>
            <a:pPr algn="l"/>
            <a:r>
              <a:rPr sz="700" b="0" i="0">
                <a:solidFill>
                  <a:srgbClr val="555555"/>
                </a:solidFill>
                <a:latin typeface="Calibri"/>
              </a:rPr>
              <a:t>• Concurrence accrue de BYD, Xpeng et MG avec des modèles à 20 000-30 000 USD, captant 40% du marché</a:t>
            </a:r>
          </a:p>
        </p:txBody>
      </p:sp>
      <p:sp>
        <p:nvSpPr>
          <p:cNvPr id="42" name="Rectangle 41"/>
          <p:cNvSpPr/>
          <p:nvPr/>
        </p:nvSpPr>
        <p:spPr>
          <a:xfrm>
            <a:off x="3311999" y="3038400"/>
            <a:ext cx="5472000" cy="3960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311999" y="3038400"/>
            <a:ext cx="36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401999" y="3056400"/>
            <a:ext cx="5310000" cy="360000"/>
          </a:xfrm>
          <a:prstGeom prst="rect">
            <a:avLst/>
          </a:prstGeom>
          <a:noFill/>
        </p:spPr>
        <p:txBody>
          <a:bodyPr wrap="square">
            <a:spAutoFit/>
          </a:bodyPr>
          <a:lstStyle/>
          <a:p>
            <a:pPr algn="l"/>
            <a:r>
              <a:rPr sz="750" b="0" i="0">
                <a:solidFill>
                  <a:srgbClr val="7A5000"/>
                </a:solidFill>
                <a:latin typeface="Calibri"/>
              </a:rPr>
              <a:t>⚠ Conditions d’invalidation : Macro: Récession mondiale en 2026 avec baisse de 20%  ·  Sectoriel: Subventions chinoises réduites de 50% sur les</a:t>
            </a:r>
          </a:p>
        </p:txBody>
      </p:sp>
      <p:sp>
        <p:nvSpPr>
          <p:cNvPr id="45" name="TextBox 44"/>
          <p:cNvSpPr txBox="1"/>
          <p:nvPr/>
        </p:nvSpPr>
        <p:spPr>
          <a:xfrm>
            <a:off x="324000" y="4662000"/>
            <a:ext cx="8496000" cy="125999"/>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