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2771999" y="2720232"/>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HOLD  ·  Prix cible base : — $  ·  Upside :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9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 $  ·  Upside : —  ·  Bear : — $ (—)  ·  Bull : — $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square">
            <a:spAutoFit/>
          </a:bodyPr>
          <a:lstStyle/>
          <a:p>
            <a:pPr algn="l"/>
            <a:r>
              <a:rPr sz="750" b="0" i="0">
                <a:solidFill>
                  <a:srgbClr val="333333"/>
                </a:solidFill>
                <a:latin typeface="Calibri"/>
              </a:rPr>
              <a:t>—</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square">
            <a:spAutoFit/>
          </a:bodyPr>
          <a:lstStyle/>
          <a:p>
            <a:pPr algn="l"/>
            <a:r>
              <a:rPr sz="750" b="0" i="0">
                <a:solidFill>
                  <a:srgbClr val="333333"/>
                </a:solidFill>
                <a:latin typeface="Calibri"/>
              </a:rPr>
              <a:t>—</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60400"/>
          <a:ext cx="4068000" cy="468000"/>
        </p:xfrm>
        <a:graphic>
          <a:graphicData uri="http://schemas.openxmlformats.org/drawingml/2006/table">
            <a:tbl>
              <a:tblPr firstRow="1" bandRow="1">
                <a:tableStyleId>{5C22544A-7EE6-4342-B048-85BDC9FD1C3A}</a:tableStyleId>
              </a:tblPr>
              <a:tblGrid>
                <a:gridCol w="2034000"/>
                <a:gridCol w="1017000"/>
                <a:gridCol w="1017000"/>
              </a:tblGrid>
              <a:tr h="1170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1170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339,5x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117000">
                <a:tc>
                  <a:txBody>
                    <a:bodyPr/>
                    <a:lstStyle/>
                    <a:p>
                      <a:pPr algn="l"/>
                      <a:r>
                        <a:rPr sz="800" b="0" i="0">
                          <a:solidFill>
                            <a:srgbClr val="0D0D0D"/>
                          </a:solidFill>
                          <a:latin typeface="Calibri"/>
                        </a:rPr>
                        <a:t>EV/EBITDA (x)</a:t>
                      </a:r>
                    </a:p>
                  </a:txBody>
                  <a:tcPr>
                    <a:solidFill>
                      <a:srgbClr val="F7F8FA"/>
                    </a:solidFill>
                  </a:tcPr>
                </a:tc>
                <a:tc>
                  <a:txBody>
                    <a:bodyPr/>
                    <a:lstStyle/>
                    <a:p>
                      <a:pPr algn="ctr"/>
                      <a:r>
                        <a:rPr sz="800" b="0" i="0">
                          <a:solidFill>
                            <a:srgbClr val="0D0D0D"/>
                          </a:solidFill>
                          <a:latin typeface="Calibri"/>
                        </a:rPr>
                        <a:t>108,8x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117000">
                <a:tc>
                  <a:txBody>
                    <a:bodyPr/>
                    <a:lstStyle/>
                    <a:p>
                      <a:pPr algn="l"/>
                      <a:r>
                        <a:rPr sz="800" b="0" i="0">
                          <a:solidFill>
                            <a:srgbClr val="0D0D0D"/>
                          </a:solidFill>
                          <a:latin typeface="Calibri"/>
                        </a:rPr>
                        <a:t>Cible DCF ($)</a:t>
                      </a:r>
                    </a:p>
                  </a:txBody>
                  <a:tcPr>
                    <a:solidFill>
                      <a:srgbClr val="FFFFFF"/>
                    </a:solidFill>
                  </a:tcPr>
                </a:tc>
                <a:tc>
                  <a:txBody>
                    <a:bodyPr/>
                    <a:lstStyle/>
                    <a:p>
                      <a:pPr algn="ctr"/>
                      <a:r>
                        <a:rPr sz="800" b="0" i="0">
                          <a:solidFill>
                            <a:srgbClr val="0D0D0D"/>
                          </a:solidFill>
                          <a:latin typeface="Calibri"/>
                        </a:rPr>
                        <a:t>— $</a:t>
                      </a:r>
                    </a:p>
                  </a:txBody>
                  <a:tcPr>
                    <a:solidFill>
                      <a:srgbClr val="FFFFFF"/>
                    </a:solidFill>
                  </a:tcPr>
                </a:tc>
                <a:tc>
                  <a:txBody>
                    <a:bodyPr/>
                    <a:lstStyle/>
                    <a:p>
                      <a:pPr algn="ctr"/>
                      <a:r>
                        <a:rPr sz="800" b="0" i="0">
                          <a:solidFill>
                            <a:srgbClr val="0D0D0D"/>
                          </a:solidFill>
                          <a:latin typeface="Calibri"/>
                        </a:rPr>
                        <a:t>Upside —</a:t>
                      </a:r>
                    </a:p>
                  </a:txBody>
                  <a:tcPr>
                    <a:solidFill>
                      <a:srgbClr val="FFFFFF"/>
                    </a:solidFill>
                  </a:tcPr>
                </a:tc>
              </a:tr>
            </a:tbl>
          </a:graphicData>
        </a:graphic>
      </p:graphicFrame>
      <p:sp>
        <p:nvSpPr>
          <p:cNvPr id="43" name="Rectangle 42"/>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108,8x</a:t>
            </a:r>
          </a:p>
        </p:txBody>
      </p:sp>
      <p:sp>
        <p:nvSpPr>
          <p:cNvPr id="47" name="TextBox 46"/>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8" name="TextBox 47"/>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 med. pairs</a:t>
            </a:r>
          </a:p>
        </p:txBody>
      </p:sp>
      <p:sp>
        <p:nvSpPr>
          <p:cNvPr id="49" name="Rectangle 48"/>
          <p:cNvSpPr/>
          <p:nvPr/>
        </p:nvSpPr>
        <p:spPr>
          <a:xfrm>
            <a:off x="24876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4876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14,8 %</a:t>
            </a:r>
          </a:p>
        </p:txBody>
      </p:sp>
      <p:sp>
        <p:nvSpPr>
          <p:cNvPr id="52" name="TextBox 51"/>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3" name="TextBox 52"/>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1,92  ·  RFR 4,3 %</a:t>
            </a:r>
          </a:p>
        </p:txBody>
      </p:sp>
      <p:sp>
        <p:nvSpPr>
          <p:cNvPr id="54" name="Rectangle 53"/>
          <p:cNvSpPr/>
          <p:nvPr/>
        </p:nvSpPr>
        <p:spPr>
          <a:xfrm>
            <a:off x="46080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080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 $</a:t>
            </a:r>
          </a:p>
        </p:txBody>
      </p:sp>
      <p:sp>
        <p:nvSpPr>
          <p:cNvPr id="57" name="TextBox 56"/>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8" name="TextBox 57"/>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 vs cours</a:t>
            </a:r>
          </a:p>
        </p:txBody>
      </p:sp>
      <p:sp>
        <p:nvSpPr>
          <p:cNvPr id="59" name="Rectangle 58"/>
          <p:cNvSpPr/>
          <p:nvPr/>
        </p:nvSpPr>
        <p:spPr>
          <a:xfrm>
            <a:off x="67284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7284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-0,134</a:t>
            </a:r>
          </a:p>
        </p:txBody>
      </p:sp>
      <p:sp>
        <p:nvSpPr>
          <p:cNvPr id="62" name="TextBox 61"/>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3" name="TextBox 62"/>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Négatif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Risques structurels &amp; thèse contraire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Inc. (TSLA) opere dans le secteur Consumer Cyclical. Analyse FinSight IA en cours -- donnees de synthese non disponibles pour cette session. Lancer une nouvelle analyse pour obtenir la description complete, les segments et le positionnement strategique.</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1 288,0 Mds$</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343,25 $</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108,8x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339,5x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+18,8 %</a:t>
                      </a:r>
                    </a:p>
                  </a:txBody>
                  <a:tcPr>
                    <a:solidFill>
                      <a:srgbClr val="F7F8FA"/>
                    </a:solidFill>
                  </a:tcPr>
                </a:tc>
                <a:tc>
                  <a:txBody>
                    <a:bodyPr/>
                    <a:lstStyle/>
                    <a:p>
                      <a:pPr algn="ctr"/>
                      <a:r>
                        <a:rPr sz="750" b="0" i="1">
                          <a:solidFill>
                            <a:srgbClr val="333333"/>
                          </a:solidFill>
                          <a:latin typeface="Calibri"/>
                        </a:rPr>
                        <a:t>+1,0 %</a:t>
                      </a:r>
                    </a:p>
                  </a:txBody>
                  <a:tcPr>
                    <a:solidFill>
                      <a:srgbClr val="F7F8FA"/>
                    </a:solidFill>
                  </a:tcPr>
                </a:tc>
                <a:tc>
                  <a:txBody>
                    <a:bodyPr/>
                    <a:lstStyle/>
                    <a:p>
                      <a:pPr algn="ctr"/>
                      <a:r>
                        <a:rPr sz="750" b="0" i="1">
                          <a:solidFill>
                            <a:srgbClr val="333333"/>
                          </a:solidFill>
                          <a:latin typeface="Calibri"/>
                        </a:rPr>
                        <a:t>-3,0 %</a:t>
                      </a:r>
                    </a:p>
                  </a:txBody>
                  <a:tcPr>
                    <a:solidFill>
                      <a:srgbClr val="DDE8F5"/>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18,2 %</a:t>
                      </a:r>
                    </a:p>
                  </a:txBody>
                  <a:tcPr>
                    <a:solidFill>
                      <a:srgbClr val="F7F8FA"/>
                    </a:solidFill>
                  </a:tcPr>
                </a:tc>
                <a:tc>
                  <a:txBody>
                    <a:bodyPr/>
                    <a:lstStyle/>
                    <a:p>
                      <a:pPr algn="ctr"/>
                      <a:r>
                        <a:rPr sz="750" b="0" i="1">
                          <a:solidFill>
                            <a:srgbClr val="333333"/>
                          </a:solidFill>
                          <a:latin typeface="Calibri"/>
                        </a:rPr>
                        <a:t>17,9 %</a:t>
                      </a:r>
                    </a:p>
                  </a:txBody>
                  <a:tcPr>
                    <a:solidFill>
                      <a:srgbClr val="F7F8FA"/>
                    </a:solidFill>
                  </a:tcPr>
                </a:tc>
                <a:tc>
                  <a:txBody>
                    <a:bodyPr/>
                    <a:lstStyle/>
                    <a:p>
                      <a:pPr algn="ctr"/>
                      <a:r>
                        <a:rPr sz="750" b="0" i="1">
                          <a:solidFill>
                            <a:srgbClr val="333333"/>
                          </a:solidFill>
                          <a:latin typeface="Calibri"/>
                        </a:rPr>
                        <a:t>18,0 %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15,3 %</a:t>
                      </a:r>
                    </a:p>
                  </a:txBody>
                  <a:tcPr>
                    <a:solidFill>
                      <a:srgbClr val="F7F8FA"/>
                    </a:solidFill>
                  </a:tcPr>
                </a:tc>
                <a:tc>
                  <a:txBody>
                    <a:bodyPr/>
                    <a:lstStyle/>
                    <a:p>
                      <a:pPr algn="ctr"/>
                      <a:r>
                        <a:rPr sz="750" b="0" i="1">
                          <a:solidFill>
                            <a:srgbClr val="333333"/>
                          </a:solidFill>
                          <a:latin typeface="Calibri"/>
                        </a:rPr>
                        <a:t>15,1 %</a:t>
                      </a:r>
                    </a:p>
                  </a:txBody>
                  <a:tcPr>
                    <a:solidFill>
                      <a:srgbClr val="F7F8FA"/>
                    </a:solidFill>
                  </a:tcPr>
                </a:tc>
                <a:tc>
                  <a:txBody>
                    <a:bodyPr/>
                    <a:lstStyle/>
                    <a:p>
                      <a:pPr algn="ctr"/>
                      <a:r>
                        <a:rPr sz="750" b="0" i="1">
                          <a:solidFill>
                            <a:srgbClr val="333333"/>
                          </a:solidFill>
                          <a:latin typeface="Calibri"/>
                        </a:rPr>
                        <a:t>12,4 %</a:t>
                      </a:r>
                    </a:p>
                  </a:txBody>
                  <a:tcPr>
                    <a:solidFill>
                      <a:srgbClr val="DDE8F5"/>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15,5 %</a:t>
                      </a:r>
                    </a:p>
                  </a:txBody>
                  <a:tcPr>
                    <a:solidFill>
                      <a:srgbClr val="F7F8FA"/>
                    </a:solidFill>
                  </a:tcPr>
                </a:tc>
                <a:tc>
                  <a:txBody>
                    <a:bodyPr/>
                    <a:lstStyle/>
                    <a:p>
                      <a:pPr algn="ctr"/>
                      <a:r>
                        <a:rPr sz="750" b="0" i="1">
                          <a:solidFill>
                            <a:srgbClr val="333333"/>
                          </a:solidFill>
                          <a:latin typeface="Calibri"/>
                        </a:rPr>
                        <a:t>7,3 %</a:t>
                      </a:r>
                    </a:p>
                  </a:txBody>
                  <a:tcPr>
                    <a:solidFill>
                      <a:srgbClr val="F7F8FA"/>
                    </a:solidFill>
                  </a:tcPr>
                </a:tc>
                <a:tc>
                  <a:txBody>
                    <a:bodyPr/>
                    <a:lstStyle/>
                    <a:p>
                      <a:pPr algn="ctr"/>
                      <a:r>
                        <a:rPr sz="750" b="0" i="1">
                          <a:solidFill>
                            <a:srgbClr val="333333"/>
                          </a:solidFill>
                          <a:latin typeface="Calibri"/>
                        </a:rPr>
                        <a:t>4,0 %</a:t>
                      </a:r>
                    </a:p>
                  </a:txBody>
                  <a:tcPr>
                    <a:solidFill>
                      <a:srgbClr val="DDE8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15,48</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339,5x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108,8x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15,48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343,25 $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a:t>
                      </a:r>
                    </a:p>
                  </a:txBody>
                  <a:tcPr>
                    <a:solidFill>
                      <a:srgbClr val="FAF0EF"/>
                    </a:solidFill>
                  </a:tcPr>
                </a:tc>
                <a:tc>
                  <a:txBody>
                    <a:bodyPr/>
                    <a:lstStyle/>
                    <a:p>
                      <a:pPr algn="ctr"/>
                      <a:r>
                        <a:rPr sz="2000" b="1" i="0">
                          <a:solidFill>
                            <a:srgbClr val="2E5FA3"/>
                          </a:solidFill>
                          <a:latin typeface="Calibri"/>
                        </a:rPr>
                        <a:t>—</a:t>
                      </a:r>
                    </a:p>
                  </a:txBody>
                  <a:tcPr>
                    <a:solidFill>
                      <a:srgbClr val="EEF3FA"/>
                    </a:solidFill>
                  </a:tcPr>
                </a:tc>
                <a:tc>
                  <a:txBody>
                    <a:bodyPr/>
                    <a:lstStyle/>
                    <a:p>
                      <a:pPr algn="ctr"/>
                      <a:r>
                        <a:rPr sz="2000" b="1" i="0">
                          <a:solidFill>
                            <a:srgbClr val="1A7A4A"/>
                          </a:solidFill>
                          <a:latin typeface="Calibri"/>
                        </a:rPr>
                        <a:t>—</a:t>
                      </a:r>
                    </a:p>
                  </a:txBody>
                  <a:tcPr>
                    <a:solidFill>
                      <a:srgbClr val="EAF4EF"/>
                    </a:solidFill>
                  </a:tcPr>
                </a:tc>
              </a:tr>
              <a:tr h="342900">
                <a:tc>
                  <a:txBody>
                    <a:bodyPr/>
                    <a:lstStyle/>
                    <a:p>
                      <a:pPr algn="ctr"/>
                      <a:r>
                        <a:rPr sz="1200" b="1" i="0">
                          <a:solidFill>
                            <a:srgbClr val="A82020"/>
                          </a:solidFill>
                          <a:latin typeface="Calibri"/>
                        </a:rPr>
                        <a:t>—</a:t>
                      </a:r>
                    </a:p>
                  </a:txBody>
                  <a:tcPr>
                    <a:solidFill>
                      <a:srgbClr val="FAF0EF"/>
                    </a:solidFill>
                  </a:tcPr>
                </a:tc>
                <a:tc>
                  <a:txBody>
                    <a:bodyPr/>
                    <a:lstStyle/>
                    <a:p>
                      <a:pPr algn="ctr"/>
                      <a:r>
                        <a:rPr sz="1200" b="1" i="0">
                          <a:solidFill>
                            <a:srgbClr val="2E5FA3"/>
                          </a:solidFill>
                          <a:latin typeface="Calibri"/>
                        </a:rPr>
                        <a:t>—</a:t>
                      </a:r>
                    </a:p>
                  </a:txBody>
                  <a:tcPr>
                    <a:solidFill>
                      <a:srgbClr val="EEF3FA"/>
                    </a:solidFill>
                  </a:tcPr>
                </a:tc>
                <a:tc>
                  <a:txBody>
                    <a:bodyPr/>
                    <a:lstStyle/>
                    <a:p>
                      <a:pPr algn="ctr"/>
                      <a:r>
                        <a:rPr sz="1200" b="1" i="0">
                          <a:solidFill>
                            <a:srgbClr val="1A7A4A"/>
                          </a:solidFill>
                          <a:latin typeface="Calibri"/>
                        </a:rPr>
                        <a:t>—</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-67,8 %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395 $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+156,2 %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1 412 $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+311,5 %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1 288,0</a:t>
                      </a:r>
                    </a:p>
                  </a:txBody>
                  <a:tcPr>
                    <a:solidFill>
                      <a:srgbClr val="DDE8F5"/>
                    </a:solidFill>
                  </a:tcPr>
                </a:tc>
                <a:tc>
                  <a:txBody>
                    <a:bodyPr/>
                    <a:lstStyle/>
                    <a:p>
                      <a:pPr algn="ctr"/>
                      <a:r>
                        <a:rPr sz="800" b="1" i="0">
                          <a:solidFill>
                            <a:srgbClr val="1B3A6B"/>
                          </a:solidFill>
                          <a:latin typeface="Calibri"/>
                        </a:rPr>
                        <a:t>108,8x</a:t>
                      </a:r>
                    </a:p>
                  </a:txBody>
                  <a:tcPr>
                    <a:solidFill>
                      <a:srgbClr val="DDE8F5"/>
                    </a:solidFill>
                  </a:tcPr>
                </a:tc>
                <a:tc>
                  <a:txBody>
                    <a:bodyPr/>
                    <a:lstStyle/>
                    <a:p>
                      <a:pPr algn="ctr"/>
                      <a:r>
                        <a:rPr sz="800" b="1" i="0">
                          <a:solidFill>
                            <a:srgbClr val="1B3A6B"/>
                          </a:solidFill>
                          <a:latin typeface="Calibri"/>
                        </a:rPr>
                        <a:t>13,5x</a:t>
                      </a:r>
                    </a:p>
                  </a:txBody>
                  <a:tcPr>
                    <a:solidFill>
                      <a:srgbClr val="DDE8F5"/>
                    </a:solidFill>
                  </a:tcPr>
                </a:tc>
                <a:tc>
                  <a:txBody>
                    <a:bodyPr/>
                    <a:lstStyle/>
                    <a:p>
                      <a:pPr algn="ctr"/>
                      <a:r>
                        <a:rPr sz="800" b="1" i="0">
                          <a:solidFill>
                            <a:srgbClr val="1B3A6B"/>
                          </a:solidFill>
                          <a:latin typeface="Calibri"/>
                        </a:rPr>
                        <a:t>339,5x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Méthode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(343,25)</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343,25</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102,4x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72,1x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180,7x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339,5x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080000"/>
          </a:xfrm>
          <a:prstGeom prst="rect">
            <a:avLst/>
          </a:prstGeom>
          <a:noFill/>
        </p:spPr>
        <p:txBody>
          <a:bodyPr wrap="square">
            <a:spAutoFit/>
          </a:bodyPr>
          <a:lstStyle/>
          <a:p>
            <a:pPr algn="l"/>
            <a:r>
              <a:rPr sz="850" b="0" i="0">
                <a:solidFill>
                  <a:srgbClr val="555555"/>
                </a:solidFill>
                <a:latin typeface="Calibri"/>
              </a:rPr>
              <a:t>Le P/E affiche une expansion multiple de 237.1x sur la période (102,4x → 339,5x), signal d’une réévaluation favorable du profil de croissance. L’EV/EBITDA diverge à 108,8x vs 72,1x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0,1 %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9,0 %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971999"/>
          </a:xfrm>
          <a:prstGeom prst="rect">
            <a:avLst/>
          </a:prstGeom>
          <a:noFill/>
        </p:spPr>
        <p:txBody>
          <a:bodyPr wrap="square">
            <a:spAutoFit/>
          </a:bodyPr>
          <a:lstStyle/>
          <a:p>
            <a:pPr algn="l"/>
            <a:r>
              <a:rPr sz="850" b="0" i="0">
                <a:solidFill>
                  <a:srgbClr val="555555"/>
                </a:solidFill>
                <a:latin typeface="Calibri"/>
              </a:rPr>
              <a:t>Le FCF affiche une contraction de 7,7 Mds$ sur la période, avec un FCF yield actuel de 0,1 %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 2.1x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21.9% / 2.7x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 / 3.3x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 1.0x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 1.7x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 0.8x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5.9%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+5%/an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Rectangle 25"/>
          <p:cNvSpPr/>
          <p:nvPr/>
        </p:nvSpPr>
        <p:spPr>
          <a:xfrm>
            <a:off x="367200" y="4176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7200" y="4176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200" y="4204800"/>
            <a:ext cx="8298000" cy="540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12.4% (MOIC 1.8x en 5 ans) — attractivité PE jugée insuffisante. Un fonds tier-1 ciblant 20%+ d'IRR doit entrer en dessous de 8x EBITDA. La génération de FCF (1,4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Risque 1</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Risque macro-économique : remontée des taux ou ralentissement de la demande mondiale.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Risque 2</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Risque sectoriel : intensification de la concurrence ou disruption technologique.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Risque 3</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Risque spécifique : détérioration des marges ou exécution stratégique.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28/100  Peu attractive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Bear  Rec.6M:34%</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Faible (0.37x)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(19% 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Négatif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-0,134</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39,2 %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7</a:t>
                      </a:r>
                    </a:p>
                  </a:txBody>
                  <a:tcPr>
                    <a:solidFill>
                      <a:srgbClr val="EAF4EF"/>
                    </a:solidFill>
                  </a:tcPr>
                </a:tc>
                <a:tc>
                  <a:txBody>
                    <a:bodyPr/>
                    <a:lstStyle/>
                    <a:p>
                      <a:pPr algn="ctr"/>
                      <a:r>
                        <a:rPr sz="800" b="0" i="0">
                          <a:solidFill>
                            <a:srgbClr val="0D0D0D"/>
                          </a:solidFill>
                          <a:latin typeface="Calibri"/>
                        </a:rPr>
                        <a:t>+0,259</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10</a:t>
                      </a:r>
                    </a:p>
                  </a:txBody>
                  <a:tcPr>
                    <a:solidFill>
                      <a:srgbClr val="FFFFFF"/>
                    </a:solidFill>
                  </a:tcPr>
                </a:tc>
                <a:tc>
                  <a:txBody>
                    <a:bodyPr/>
                    <a:lstStyle/>
                    <a:p>
                      <a:pPr algn="ctr"/>
                      <a:r>
                        <a:rPr sz="800" b="0" i="0">
                          <a:solidFill>
                            <a:srgbClr val="0D0D0D"/>
                          </a:solidFill>
                          <a:latin typeface="Calibri"/>
                        </a:rPr>
                        <a:t>+0,349</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13</a:t>
                      </a:r>
                    </a:p>
                  </a:txBody>
                  <a:tcPr>
                    <a:solidFill>
                      <a:srgbClr val="FAF0EF"/>
                    </a:solidFill>
                  </a:tcPr>
                </a:tc>
                <a:tc>
                  <a:txBody>
                    <a:bodyPr/>
                    <a:lstStyle/>
                    <a:p>
                      <a:pPr algn="ctr"/>
                      <a:r>
                        <a:rPr sz="800" b="0" i="0">
                          <a:solidFill>
                            <a:srgbClr val="0D0D0D"/>
                          </a:solidFill>
                          <a:latin typeface="Calibri"/>
                        </a:rPr>
                        <a:t>+0,393</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TextBox 38"/>
          <p:cNvSpPr txBox="1"/>
          <p:nvPr/>
        </p:nvSpPr>
        <p:spPr>
          <a:xfrm>
            <a:off x="367200" y="4140000"/>
            <a:ext cx="8413200" cy="630000"/>
          </a:xfrm>
          <a:prstGeom prst="rect">
            <a:avLst/>
          </a:prstGeom>
          <a:noFill/>
        </p:spPr>
        <p:txBody>
          <a:bodyPr wrap="square">
            <a:spAutoFit/>
          </a:bodyPr>
          <a:lstStyle/>
          <a:p>
            <a:pPr algn="l"/>
            <a:r>
              <a:rPr sz="850" b="0" i="0">
                <a:solidFill>
                  <a:srgbClr val="333333"/>
                </a:solidFill>
                <a:latin typeface="Calibri"/>
              </a:rPr>
              <a:t>La presse financière cette semaine dresse un bilan très négatif pour Tesla, marquée par des déceptions sur les livraisons et des perspectives de flux de trésorerie fortement dégradées. Les rares éléments positifs, comme l'implication dans les puces Terafab, peinent à contrebalancer les alertes majeures sur la santé financière de l'entreprise.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9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9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343,25 $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308,27 $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-0,9 %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stable de -0,9 %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FinSight IA  ·  Rapport 9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50%</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9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350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+0%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Donnees de synthese non disponibles pour Tesla, Inc.. Relancer l'analyse pour obtenir la these complete.</a:t>
            </a:r>
          </a:p>
        </p:txBody>
      </p:sp>
      <p:sp>
        <p:nvSpPr>
          <p:cNvPr id="30" name="Rectangle 29"/>
          <p:cNvSpPr/>
          <p:nvPr/>
        </p:nvSpPr>
        <p:spPr>
          <a:xfrm>
            <a:off x="3311999" y="2142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66000" y="2160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2" name="TextBox 31"/>
          <p:cNvSpPr txBox="1"/>
          <p:nvPr/>
        </p:nvSpPr>
        <p:spPr>
          <a:xfrm>
            <a:off x="3401999" y="2358000"/>
            <a:ext cx="2556000" cy="234000"/>
          </a:xfrm>
          <a:prstGeom prst="rect">
            <a:avLst/>
          </a:prstGeom>
          <a:noFill/>
        </p:spPr>
        <p:txBody>
          <a:bodyPr wrap="square">
            <a:spAutoFit/>
          </a:bodyPr>
          <a:lstStyle/>
          <a:p>
            <a:pPr algn="l"/>
            <a:r>
              <a:rPr sz="700" b="0" i="0">
                <a:solidFill>
                  <a:srgbClr val="555555"/>
                </a:solidFill>
                <a:latin typeface="Calibri"/>
              </a:rPr>
              <a:t>• N/D</a:t>
            </a:r>
          </a:p>
        </p:txBody>
      </p:sp>
      <p:sp>
        <p:nvSpPr>
          <p:cNvPr id="33" name="Rectangle 32"/>
          <p:cNvSpPr/>
          <p:nvPr/>
        </p:nvSpPr>
        <p:spPr>
          <a:xfrm>
            <a:off x="6120000" y="2142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56000" y="2160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35" name="TextBox 34"/>
          <p:cNvSpPr txBox="1"/>
          <p:nvPr/>
        </p:nvSpPr>
        <p:spPr>
          <a:xfrm>
            <a:off x="6156000" y="2358000"/>
            <a:ext cx="2376000" cy="234000"/>
          </a:xfrm>
          <a:prstGeom prst="rect">
            <a:avLst/>
          </a:prstGeom>
          <a:noFill/>
        </p:spPr>
        <p:txBody>
          <a:bodyPr wrap="square">
            <a:spAutoFit/>
          </a:bodyPr>
          <a:lstStyle/>
          <a:p>
            <a:pPr algn="l"/>
            <a:r>
              <a:rPr sz="700" b="0" i="0">
                <a:solidFill>
                  <a:srgbClr val="555555"/>
                </a:solidFill>
                <a:latin typeface="Calibri"/>
              </a:rPr>
              <a:t>• N/D</a:t>
            </a:r>
          </a:p>
        </p:txBody>
      </p:sp>
      <p:sp>
        <p:nvSpPr>
          <p:cNvPr id="36" name="TextBox 35"/>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