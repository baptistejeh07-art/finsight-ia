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457200" y="2720232"/>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B06000"/>
                </a:solidFill>
                <a:latin typeface="Calibri"/>
              </a:rPr>
              <a:t>● HOLD  ·  Prix cible base : 400 $  ·  Upside : +5,8 %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400 $  ·  Upside : +5,8 %  ·  Bear : 250 $ (-33,9 %)  ·  Bull : 550 $ (+45,5 %)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technologique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Tesla vise 20% de part de marché mondiale des VE d'ici 2026 avec une production annuelle de 5M d'unités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 déploiement de la FSD (Full Self-Driving) pourrait ajouter 5000-7000 USD de revenus annuels par véhicule d'ici 2027</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Modèle direct-to-consumer</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L'expansion des gigafactories en Allemagne et Texas réduit les coûts de 15-20% et améliore les marges EBITDA vers 15%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gouvernementale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Guerre des prix en Chine réduisant les marges de 5-8 points d'ici 2026 | Impact potentiel -10% sur EBITDA | Horizon 12-18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(BYD, Chinois) capturant 15% de part de marché d'ici 2027 | Risque de compression des prix de 20% | Horizon 2026-2028</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Exécution opérationnelle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Retards dans le déploiement FSD ou régulation restrictive limitant les revenus logiciels | Perte de 3000-5000 USD/VL annuel | Horizon 2026-2027</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119,8x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12,5x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14,9 %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1,93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400 $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+5,8 %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+0,136</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gouvernementale  ·  Concurrence accrue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conçoit, produit et vend des véhicules électriques haut de gamme ainsi que des solutions de stockage d'énergie. Positionnée comme leader technologique avec une intégration verticale unique (batteries, logiciels, bornes), l'entreprise bénéficie d'un avantage concurrentiel durable via son écosystème propriétaire et son avance en IA/autopilot. Son modèle direct-to-consumer et ses gigafactories optimisent les coûts et la scalabilité mondiale.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Automotive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véhicules électriques (Model 3/Y, Cybertruck, Semi) avec marge brute élevée et mix produit évoluant vers des modèles premium. Clients cibles : particuliers et flottes avec abonnements logiciels (FSD) générant des revenus récurrents. Croissance tirée par l'expansion internationale (Allemagne, Texas) et la réduction des coûts via la Gigafactory 4.</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Energy Generation and Storage</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Batteries Powerwall/Powerpack et solutions solaires pour résidentiel et commercial. Modèle basé sur des contrats de service et des ventes de produits avec marge EBITDA &gt;15%. Clients cibles : ménages et entreprises cherchant autonomie énergétique. Croissance portée par la demande en stockage et les subventions gouvernementales (Inflation Reduction Act).</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1 418,2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377,94 $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119,8x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373,8x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Automotive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véhicules électriques (Model 3/Y, Cybertruck, Semi) avec marge brute élevée et mix produit évoluant vers des modèles premium. Clients cibles : particuliers et flottes avec abonnements logiciels (FSD) générant des revenus récurrents. Croissance tirée par l'expansion internationale (Allemagne, Texas) et la réduction des coûts via la Gigafactory 4.</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Energy Generation and Storage</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Batteries Powerwall/Powerpack et solutions solaires pour résidentiel et commercial. Modèle basé sur des contrats de service et des ventes de produits avec marge EBITDA &gt;15%. Clients cibles : ménages et entreprises cherchant autonomie énergétique. Croissance portée par la demande en stockage et les subventions gouvernementales (Inflation Reduction 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105,0</a:t>
                      </a:r>
                    </a:p>
                  </a:txBody>
                  <a:tcPr>
                    <a:solidFill>
                      <a:srgbClr val="FFFFFF"/>
                    </a:solidFill>
                  </a:tcPr>
                </a:tc>
                <a:tc>
                  <a:txBody>
                    <a:bodyPr/>
                    <a:lstStyle/>
                    <a:p>
                      <a:pPr algn="ctr"/>
                      <a:r>
                        <a:rPr sz="800" b="1" i="0">
                          <a:solidFill>
                            <a:srgbClr val="0D0D0D"/>
                          </a:solidFill>
                          <a:latin typeface="Calibri"/>
                        </a:rPr>
                        <a:t>120,0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+10,7 %</a:t>
                      </a:r>
                    </a:p>
                  </a:txBody>
                  <a:tcPr>
                    <a:solidFill>
                      <a:srgbClr val="F7F8FA"/>
                    </a:solidFill>
                  </a:tcPr>
                </a:tc>
                <a:tc>
                  <a:txBody>
                    <a:bodyPr/>
                    <a:lstStyle/>
                    <a:p>
                      <a:pPr algn="ctr"/>
                      <a:r>
                        <a:rPr sz="750" b="0" i="1">
                          <a:solidFill>
                            <a:srgbClr val="555555"/>
                          </a:solidFill>
                          <a:latin typeface="Calibri"/>
                        </a:rPr>
                        <a:t>+14,3 %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19,9</a:t>
                      </a:r>
                    </a:p>
                  </a:txBody>
                  <a:tcPr>
                    <a:solidFill>
                      <a:srgbClr val="FFFFFF"/>
                    </a:solidFill>
                  </a:tcPr>
                </a:tc>
                <a:tc>
                  <a:txBody>
                    <a:bodyPr/>
                    <a:lstStyle/>
                    <a:p>
                      <a:pPr algn="ctr"/>
                      <a:r>
                        <a:rPr sz="800" b="1" i="0">
                          <a:solidFill>
                            <a:srgbClr val="0D0D0D"/>
                          </a:solidFill>
                          <a:latin typeface="Calibri"/>
                        </a:rPr>
                        <a:t>24,0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19,0 %</a:t>
                      </a:r>
                    </a:p>
                  </a:txBody>
                  <a:tcPr>
                    <a:solidFill>
                      <a:srgbClr val="F7F8FA"/>
                    </a:solidFill>
                  </a:tcPr>
                </a:tc>
                <a:tc>
                  <a:txBody>
                    <a:bodyPr/>
                    <a:lstStyle/>
                    <a:p>
                      <a:pPr algn="ctr"/>
                      <a:r>
                        <a:rPr sz="750" b="0" i="1">
                          <a:solidFill>
                            <a:srgbClr val="555555"/>
                          </a:solidFill>
                          <a:latin typeface="Calibri"/>
                        </a:rPr>
                        <a:t>20,0 %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15,8</a:t>
                      </a:r>
                    </a:p>
                  </a:txBody>
                  <a:tcPr>
                    <a:solidFill>
                      <a:srgbClr val="FFFFFF"/>
                    </a:solidFill>
                  </a:tcPr>
                </a:tc>
                <a:tc>
                  <a:txBody>
                    <a:bodyPr/>
                    <a:lstStyle/>
                    <a:p>
                      <a:pPr algn="ctr"/>
                      <a:r>
                        <a:rPr sz="800" b="1" i="0">
                          <a:solidFill>
                            <a:srgbClr val="0D0D0D"/>
                          </a:solidFill>
                          <a:latin typeface="Calibri"/>
                        </a:rPr>
                        <a:t>21,6</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18,0 %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5,2</a:t>
                      </a:r>
                    </a:p>
                  </a:txBody>
                  <a:tcPr>
                    <a:solidFill>
                      <a:srgbClr val="FFFFFF"/>
                    </a:solidFill>
                  </a:tcPr>
                </a:tc>
                <a:tc>
                  <a:txBody>
                    <a:bodyPr/>
                    <a:lstStyle/>
                    <a:p>
                      <a:pPr algn="ctr"/>
                      <a:r>
                        <a:rPr sz="800" b="1" i="0">
                          <a:solidFill>
                            <a:srgbClr val="0D0D0D"/>
                          </a:solidFill>
                          <a:latin typeface="Calibri"/>
                        </a:rPr>
                        <a:t>8,4</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5,0 %</a:t>
                      </a:r>
                    </a:p>
                  </a:txBody>
                  <a:tcPr>
                    <a:solidFill>
                      <a:srgbClr val="F7F8FA"/>
                    </a:solidFill>
                  </a:tcPr>
                </a:tc>
                <a:tc>
                  <a:txBody>
                    <a:bodyPr/>
                    <a:lstStyle/>
                    <a:p>
                      <a:pPr algn="ctr"/>
                      <a:r>
                        <a:rPr sz="750" b="0" i="1">
                          <a:solidFill>
                            <a:srgbClr val="555555"/>
                          </a:solidFill>
                          <a:latin typeface="Calibri"/>
                        </a:rPr>
                        <a:t>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en baisse de 3% YoY masque une croissance organique des volumes (+12% YoY) compensée par une baisse des prix moyens (-15%). Les marges se contractent (EBITDA 12.4% vs 21.7% en 2022) en raison de la guerre des prix et des coûts fixes élevés. La discipline sur les coûts et le mix produit premium devraient stabiliser les marges nettes autour de 5-6% d'ici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16,90</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en baisse de 3% YoY masque une croissance organique des volumes (+12% YoY) compensée par une baisse des prix moyens (-15%). Les marges se contractent (EBITDA 12.4% vs 21.7% en 2022) en raison de la guerre des prix et des coûts fixes élevés. La discipline sur les coûts et le mix produit premium devraient stabiliser les marges nettes autour de 5-6% d'ici 2027.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373,8x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119,8x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brute/EBITDA/nette chutent depuis 2022 (GM 25.6%→18.0%, EBITDA 21.7%→12.4%) en raison de la baisse des prix des VE et des coûts fixes non absorbés. La compression reflète une phase de transition vers des volumes élevés et une optimisation des gigafactories. Pour l'investisseur, cela implique un risque de compression durable si la demande ne suit pas ou si la concurrence s'intensifie.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400 $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377,94 $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250 $</a:t>
                      </a:r>
                    </a:p>
                  </a:txBody>
                  <a:tcPr>
                    <a:solidFill>
                      <a:srgbClr val="FAF0EF"/>
                    </a:solidFill>
                  </a:tcPr>
                </a:tc>
                <a:tc>
                  <a:txBody>
                    <a:bodyPr/>
                    <a:lstStyle/>
                    <a:p>
                      <a:pPr algn="ctr"/>
                      <a:r>
                        <a:rPr sz="2000" b="1" i="0">
                          <a:solidFill>
                            <a:srgbClr val="2E5FA3"/>
                          </a:solidFill>
                          <a:latin typeface="Calibri"/>
                        </a:rPr>
                        <a:t>400 $</a:t>
                      </a:r>
                    </a:p>
                  </a:txBody>
                  <a:tcPr>
                    <a:solidFill>
                      <a:srgbClr val="EEF3FA"/>
                    </a:solidFill>
                  </a:tcPr>
                </a:tc>
                <a:tc>
                  <a:txBody>
                    <a:bodyPr/>
                    <a:lstStyle/>
                    <a:p>
                      <a:pPr algn="ctr"/>
                      <a:r>
                        <a:rPr sz="2000" b="1" i="0">
                          <a:solidFill>
                            <a:srgbClr val="1A7A4A"/>
                          </a:solidFill>
                          <a:latin typeface="Calibri"/>
                        </a:rPr>
                        <a:t>550 $</a:t>
                      </a:r>
                    </a:p>
                  </a:txBody>
                  <a:tcPr>
                    <a:solidFill>
                      <a:srgbClr val="EAF4EF"/>
                    </a:solidFill>
                  </a:tcPr>
                </a:tc>
              </a:tr>
              <a:tr h="342900">
                <a:tc>
                  <a:txBody>
                    <a:bodyPr/>
                    <a:lstStyle/>
                    <a:p>
                      <a:pPr algn="ctr"/>
                      <a:r>
                        <a:rPr sz="1200" b="1" i="0">
                          <a:solidFill>
                            <a:srgbClr val="A82020"/>
                          </a:solidFill>
                          <a:latin typeface="Calibri"/>
                        </a:rPr>
                        <a:t>-33,9 %</a:t>
                      </a:r>
                    </a:p>
                  </a:txBody>
                  <a:tcPr>
                    <a:solidFill>
                      <a:srgbClr val="FAF0EF"/>
                    </a:solidFill>
                  </a:tcPr>
                </a:tc>
                <a:tc>
                  <a:txBody>
                    <a:bodyPr/>
                    <a:lstStyle/>
                    <a:p>
                      <a:pPr algn="ctr"/>
                      <a:r>
                        <a:rPr sz="1200" b="1" i="0">
                          <a:solidFill>
                            <a:srgbClr val="2E5FA3"/>
                          </a:solidFill>
                          <a:latin typeface="Calibri"/>
                        </a:rPr>
                        <a:t>+5,8 %</a:t>
                      </a:r>
                    </a:p>
                  </a:txBody>
                  <a:tcPr>
                    <a:solidFill>
                      <a:srgbClr val="EEF3FA"/>
                    </a:solidFill>
                  </a:tcPr>
                </a:tc>
                <a:tc>
                  <a:txBody>
                    <a:bodyPr/>
                    <a:lstStyle/>
                    <a:p>
                      <a:pPr algn="ctr"/>
                      <a:r>
                        <a:rPr sz="1200" b="1" i="0">
                          <a:solidFill>
                            <a:srgbClr val="1A7A4A"/>
                          </a:solidFill>
                          <a:latin typeface="Calibri"/>
                        </a:rPr>
                        <a:t>+45,5 %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14.9% et un TGR de 2.5%, le prix implicite DCF est de ~420 USD (vs cours 377.94 USD), suggérant une sous-valorisation de 11%. L'upside dépend de la réalisation des objectifs de volumes (5M unités) et de la monétisation de la FSD.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1 418,2</a:t>
                      </a:r>
                    </a:p>
                  </a:txBody>
                  <a:tcPr>
                    <a:solidFill>
                      <a:srgbClr val="DDE8F5"/>
                    </a:solidFill>
                  </a:tcPr>
                </a:tc>
                <a:tc>
                  <a:txBody>
                    <a:bodyPr/>
                    <a:lstStyle/>
                    <a:p>
                      <a:pPr algn="ctr"/>
                      <a:r>
                        <a:rPr sz="800" b="1" i="0">
                          <a:solidFill>
                            <a:srgbClr val="1B3A6B"/>
                          </a:solidFill>
                          <a:latin typeface="Calibri"/>
                        </a:rPr>
                        <a:t>119,8x</a:t>
                      </a:r>
                    </a:p>
                  </a:txBody>
                  <a:tcPr>
                    <a:solidFill>
                      <a:srgbClr val="DDE8F5"/>
                    </a:solidFill>
                  </a:tcPr>
                </a:tc>
                <a:tc>
                  <a:txBody>
                    <a:bodyPr/>
                    <a:lstStyle/>
                    <a:p>
                      <a:pPr algn="ctr"/>
                      <a:r>
                        <a:rPr sz="800" b="1" i="0">
                          <a:solidFill>
                            <a:srgbClr val="1B3A6B"/>
                          </a:solidFill>
                          <a:latin typeface="Calibri"/>
                        </a:rPr>
                        <a:t>14,9x</a:t>
                      </a:r>
                    </a:p>
                  </a:txBody>
                  <a:tcPr>
                    <a:solidFill>
                      <a:srgbClr val="DDE8F5"/>
                    </a:solidFill>
                  </a:tcPr>
                </a:tc>
                <a:tc>
                  <a:txBody>
                    <a:bodyPr/>
                    <a:lstStyle/>
                    <a:p>
                      <a:pPr algn="ctr"/>
                      <a:r>
                        <a:rPr sz="800" b="1" i="0">
                          <a:solidFill>
                            <a:srgbClr val="1B3A6B"/>
                          </a:solidFill>
                          <a:latin typeface="Calibri"/>
                        </a:rPr>
                        <a:t>373,8x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95,0</a:t>
                      </a:r>
                    </a:p>
                  </a:txBody>
                  <a:tcPr>
                    <a:solidFill>
                      <a:srgbClr val="FFFFFF"/>
                    </a:solidFill>
                  </a:tcPr>
                </a:tc>
                <a:tc>
                  <a:txBody>
                    <a:bodyPr/>
                    <a:lstStyle/>
                    <a:p>
                      <a:pPr algn="ctr"/>
                      <a:r>
                        <a:rPr sz="800" b="0" i="0">
                          <a:solidFill>
                            <a:srgbClr val="0D0D0D"/>
                          </a:solidFill>
                          <a:latin typeface="Calibri"/>
                        </a:rPr>
                        <a:t>14,2x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21,0 %</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r>
              <a:tr h="251999">
                <a:tc>
                  <a:txBody>
                    <a:bodyPr/>
                    <a:lstStyle/>
                    <a:p>
                      <a:pPr algn="l"/>
                      <a:r>
                        <a:rPr sz="800" b="0" i="0">
                          <a:solidFill>
                            <a:srgbClr val="0D0D0D"/>
                          </a:solidFill>
                          <a:latin typeface="Calibri"/>
                        </a:rPr>
                        <a:t>Rivian Automotive, Inc.</a:t>
                      </a:r>
                    </a:p>
                  </a:txBody>
                  <a:tcPr>
                    <a:solidFill>
                      <a:srgbClr val="F7F8FA"/>
                    </a:solidFill>
                  </a:tcPr>
                </a:tc>
                <a:tc>
                  <a:txBody>
                    <a:bodyPr/>
                    <a:lstStyle/>
                    <a:p>
                      <a:pPr algn="ctr"/>
                      <a:r>
                        <a:rPr sz="750" b="0" i="0">
                          <a:solidFill>
                            <a:srgbClr val="555555"/>
                          </a:solidFill>
                          <a:latin typeface="Calibri"/>
                        </a:rPr>
                        <a:t>RIVN</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12,5x</a:t>
                      </a:r>
                    </a:p>
                  </a:txBody>
                  <a:tcPr>
                    <a:solidFill>
                      <a:srgbClr val="F7F8FA"/>
                    </a:solidFill>
                  </a:tcPr>
                </a:tc>
                <a:tc>
                  <a:txBody>
                    <a:bodyPr/>
                    <a:lstStyle/>
                    <a:p>
                      <a:pPr algn="ctr"/>
                      <a:r>
                        <a:rPr sz="800" b="0" i="0">
                          <a:solidFill>
                            <a:srgbClr val="0D0D0D"/>
                          </a:solidFill>
                          <a:latin typeface="Calibri"/>
                        </a:rPr>
                        <a:t>3,1x</a:t>
                      </a:r>
                    </a:p>
                  </a:txBody>
                  <a:tcPr>
                    <a:solidFill>
                      <a:srgbClr val="F7F8FA"/>
                    </a:solidFill>
                  </a:tcPr>
                </a:tc>
                <a:tc>
                  <a:txBody>
                    <a:bodyPr/>
                    <a:lstStyle/>
                    <a:p>
                      <a:pPr algn="ctr"/>
                      <a:r>
                        <a:rPr sz="800" b="0" i="0">
                          <a:solidFill>
                            <a:srgbClr val="0D0D0D"/>
                          </a:solidFill>
                          <a:latin typeface="Calibri"/>
                        </a:rPr>
                        <a:t>0,0x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0,0 %</a:t>
                      </a:r>
                    </a:p>
                  </a:txBody>
                  <a:tcPr>
                    <a:solidFill>
                      <a:srgbClr val="F7F8FA"/>
                    </a:solidFill>
                  </a:tcPr>
                </a:tc>
              </a:tr>
              <a:tr h="251999">
                <a:tc>
                  <a:txBody>
                    <a:bodyPr/>
                    <a:lstStyle/>
                    <a:p>
                      <a:pPr algn="l"/>
                      <a:r>
                        <a:rPr sz="800" b="0" i="0">
                          <a:solidFill>
                            <a:srgbClr val="0D0D0D"/>
                          </a:solidFill>
                          <a:latin typeface="Calibri"/>
                        </a:rPr>
                        <a:t>Lucid Group, Inc.</a:t>
                      </a:r>
                    </a:p>
                  </a:txBody>
                  <a:tcPr>
                    <a:solidFill>
                      <a:srgbClr val="FFFFFF"/>
                    </a:solidFill>
                  </a:tcPr>
                </a:tc>
                <a:tc>
                  <a:txBody>
                    <a:bodyPr/>
                    <a:lstStyle/>
                    <a:p>
                      <a:pPr algn="ctr"/>
                      <a:r>
                        <a:rPr sz="750" b="0" i="0">
                          <a:solidFill>
                            <a:srgbClr val="555555"/>
                          </a:solidFill>
                          <a:latin typeface="Calibri"/>
                        </a:rPr>
                        <a:t>LCID</a:t>
                      </a:r>
                    </a:p>
                  </a:txBody>
                  <a:tcPr>
                    <a:solidFill>
                      <a:srgbClr val="FFFFFF"/>
                    </a:solidFill>
                  </a:tcPr>
                </a:tc>
                <a:tc>
                  <a:txBody>
                    <a:bodyPr/>
                    <a:lstStyle/>
                    <a:p>
                      <a:pPr algn="ctr"/>
                      <a:r>
                        <a:rPr sz="800" b="0" i="0">
                          <a:solidFill>
                            <a:srgbClr val="0D0D0D"/>
                          </a:solidFill>
                          <a:latin typeface="Calibri"/>
                        </a:rPr>
                        <a:t>18,0</a:t>
                      </a:r>
                    </a:p>
                  </a:txBody>
                  <a:tcPr>
                    <a:solidFill>
                      <a:srgbClr val="FFFFFF"/>
                    </a:solidFill>
                  </a:tcPr>
                </a:tc>
                <a:tc>
                  <a:txBody>
                    <a:bodyPr/>
                    <a:lstStyle/>
                    <a:p>
                      <a:pPr algn="ctr"/>
                      <a:r>
                        <a:rPr sz="800" b="0" i="0">
                          <a:solidFill>
                            <a:srgbClr val="0D0D0D"/>
                          </a:solidFill>
                          <a:latin typeface="Calibri"/>
                        </a:rPr>
                        <a:t>13,8x</a:t>
                      </a:r>
                    </a:p>
                  </a:txBody>
                  <a:tcPr>
                    <a:solidFill>
                      <a:srgbClr val="FFFFFF"/>
                    </a:solidFill>
                  </a:tcPr>
                </a:tc>
                <a:tc>
                  <a:txBody>
                    <a:bodyPr/>
                    <a:lstStyle/>
                    <a:p>
                      <a:pPr algn="ctr"/>
                      <a:r>
                        <a:rPr sz="800" b="0" i="0">
                          <a:solidFill>
                            <a:srgbClr val="0D0D0D"/>
                          </a:solidFill>
                          <a:latin typeface="Calibri"/>
                        </a:rPr>
                        <a:t>3,5x</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c>
                  <a:txBody>
                    <a:bodyPr/>
                    <a:lstStyle/>
                    <a:p>
                      <a:pPr algn="ctr"/>
                      <a:r>
                        <a:rPr sz="800" b="0" i="0">
                          <a:solidFill>
                            <a:srgbClr val="0D0D0D"/>
                          </a:solidFill>
                          <a:latin typeface="Calibri"/>
                        </a:rPr>
                        <a:t>0,0 %</a:t>
                      </a:r>
                    </a:p>
                  </a:txBody>
                  <a:tcPr>
                    <a:solidFill>
                      <a:srgbClr val="FFFFFF"/>
                    </a:solidFill>
                  </a:tcPr>
                </a:tc>
              </a:tr>
              <a:tr h="251999">
                <a:tc>
                  <a:txBody>
                    <a:bodyPr/>
                    <a:lstStyle/>
                    <a:p>
                      <a:pPr algn="l"/>
                      <a:r>
                        <a:rPr sz="800" b="0" i="0">
                          <a:solidFill>
                            <a:srgbClr val="0D0D0D"/>
                          </a:solidFill>
                          <a:latin typeface="Calibri"/>
                        </a:rPr>
                        <a:t>XPeng Inc.</a:t>
                      </a:r>
                    </a:p>
                  </a:txBody>
                  <a:tcPr>
                    <a:solidFill>
                      <a:srgbClr val="F7F8FA"/>
                    </a:solidFill>
                  </a:tcPr>
                </a:tc>
                <a:tc>
                  <a:txBody>
                    <a:bodyPr/>
                    <a:lstStyle/>
                    <a:p>
                      <a:pPr algn="ctr"/>
                      <a:r>
                        <a:rPr sz="750" b="0" i="0">
                          <a:solidFill>
                            <a:srgbClr val="555555"/>
                          </a:solidFill>
                          <a:latin typeface="Calibri"/>
                        </a:rPr>
                        <a:t>XPEV</a:t>
                      </a:r>
                    </a:p>
                  </a:txBody>
                  <a:tcPr>
                    <a:solidFill>
                      <a:srgbClr val="F7F8FA"/>
                    </a:solidFill>
                  </a:tcPr>
                </a:tc>
                <a:tc>
                  <a:txBody>
                    <a:bodyPr/>
                    <a:lstStyle/>
                    <a:p>
                      <a:pPr algn="ctr"/>
                      <a:r>
                        <a:rPr sz="800" b="0" i="0">
                          <a:solidFill>
                            <a:srgbClr val="0D0D0D"/>
                          </a:solidFill>
                          <a:latin typeface="Calibri"/>
                        </a:rPr>
                        <a:t>15,0</a:t>
                      </a:r>
                    </a:p>
                  </a:txBody>
                  <a:tcPr>
                    <a:solidFill>
                      <a:srgbClr val="F7F8FA"/>
                    </a:solidFill>
                  </a:tcPr>
                </a:tc>
                <a:tc>
                  <a:txBody>
                    <a:bodyPr/>
                    <a:lstStyle/>
                    <a:p>
                      <a:pPr algn="ctr"/>
                      <a:r>
                        <a:rPr sz="800" b="0" i="0">
                          <a:solidFill>
                            <a:srgbClr val="0D0D0D"/>
                          </a:solidFill>
                          <a:latin typeface="Calibri"/>
                        </a:rPr>
                        <a:t>11,9x</a:t>
                      </a:r>
                    </a:p>
                  </a:txBody>
                  <a:tcPr>
                    <a:solidFill>
                      <a:srgbClr val="F7F8FA"/>
                    </a:solidFill>
                  </a:tcPr>
                </a:tc>
                <a:tc>
                  <a:txBody>
                    <a:bodyPr/>
                    <a:lstStyle/>
                    <a:p>
                      <a:pPr algn="ctr"/>
                      <a:r>
                        <a:rPr sz="800" b="0" i="0">
                          <a:solidFill>
                            <a:srgbClr val="0D0D0D"/>
                          </a:solidFill>
                          <a:latin typeface="Calibri"/>
                        </a:rPr>
                        <a:t>2,9x</a:t>
                      </a:r>
                    </a:p>
                  </a:txBody>
                  <a:tcPr>
                    <a:solidFill>
                      <a:srgbClr val="F7F8FA"/>
                    </a:solidFill>
                  </a:tcPr>
                </a:tc>
                <a:tc>
                  <a:txBody>
                    <a:bodyPr/>
                    <a:lstStyle/>
                    <a:p>
                      <a:pPr algn="ctr"/>
                      <a:r>
                        <a:rPr sz="800" b="0" i="0">
                          <a:solidFill>
                            <a:srgbClr val="0D0D0D"/>
                          </a:solidFill>
                          <a:latin typeface="Calibri"/>
                        </a:rPr>
                        <a:t>0,0x</a:t>
                      </a:r>
                    </a:p>
                  </a:txBody>
                  <a:tcPr>
                    <a:solidFill>
                      <a:srgbClr val="F7F8FA"/>
                    </a:solidFill>
                  </a:tcPr>
                </a:tc>
                <a:tc>
                  <a:txBody>
                    <a:bodyPr/>
                    <a:lstStyle/>
                    <a:p>
                      <a:pPr algn="ctr"/>
                      <a:r>
                        <a:rPr sz="800" b="0" i="0">
                          <a:solidFill>
                            <a:srgbClr val="0D0D0D"/>
                          </a:solidFill>
                          <a:latin typeface="Calibri"/>
                        </a:rPr>
                        <a:t>14,0 %</a:t>
                      </a:r>
                    </a:p>
                  </a:txBody>
                  <a:tcPr>
                    <a:solidFill>
                      <a:srgbClr val="F7F8FA"/>
                    </a:solidFill>
                  </a:tcPr>
                </a:tc>
                <a:tc>
                  <a:txBody>
                    <a:bodyPr/>
                    <a:lstStyle/>
                    <a:p>
                      <a:pPr algn="ctr"/>
                      <a:r>
                        <a:rPr sz="800" b="0" i="0">
                          <a:solidFill>
                            <a:srgbClr val="0D0D0D"/>
                          </a:solidFill>
                          <a:latin typeface="Calibri"/>
                        </a:rPr>
                        <a:t>0,0 %</a:t>
                      </a:r>
                    </a:p>
                  </a:txBody>
                  <a:tcPr>
                    <a:solidFill>
                      <a:srgbClr val="F7F8FA"/>
                    </a:solidFill>
                  </a:tcPr>
                </a:tc>
              </a:tr>
              <a:tr h="251999">
                <a:tc>
                  <a:txBody>
                    <a:bodyPr/>
                    <a:lstStyle/>
                    <a:p>
                      <a:pPr algn="l"/>
                      <a:r>
                        <a:rPr sz="800" b="0" i="0">
                          <a:solidFill>
                            <a:srgbClr val="0D0D0D"/>
                          </a:solidFill>
                          <a:latin typeface="Calibri"/>
                        </a:rPr>
                        <a:t>NIO Inc.</a:t>
                      </a:r>
                    </a:p>
                  </a:txBody>
                  <a:tcPr>
                    <a:solidFill>
                      <a:srgbClr val="FFFFFF"/>
                    </a:solidFill>
                  </a:tcPr>
                </a:tc>
                <a:tc>
                  <a:txBody>
                    <a:bodyPr/>
                    <a:lstStyle/>
                    <a:p>
                      <a:pPr algn="ctr"/>
                      <a:r>
                        <a:rPr sz="750" b="0" i="0">
                          <a:solidFill>
                            <a:srgbClr val="555555"/>
                          </a:solidFill>
                          <a:latin typeface="Calibri"/>
                        </a:rPr>
                        <a:t>NIO</a:t>
                      </a:r>
                    </a:p>
                  </a:txBody>
                  <a:tcPr>
                    <a:solidFill>
                      <a:srgbClr val="FFFFFF"/>
                    </a:solidFill>
                  </a:tcPr>
                </a:tc>
                <a:tc>
                  <a:txBody>
                    <a:bodyPr/>
                    <a:lstStyle/>
                    <a:p>
                      <a:pPr algn="ctr"/>
                      <a:r>
                        <a:rPr sz="800" b="0" i="0">
                          <a:solidFill>
                            <a:srgbClr val="0D0D0D"/>
                          </a:solidFill>
                          <a:latin typeface="Calibri"/>
                        </a:rPr>
                        <a:t>25,0</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2,7x</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13,0 %</a:t>
                      </a:r>
                    </a:p>
                  </a:txBody>
                  <a:tcPr>
                    <a:solidFill>
                      <a:srgbClr val="FFFFFF"/>
                    </a:solidFill>
                  </a:tcPr>
                </a:tc>
                <a:tc>
                  <a:txBody>
                    <a:bodyPr/>
                    <a:lstStyle/>
                    <a:p>
                      <a:pPr algn="ctr"/>
                      <a:r>
                        <a:rPr sz="800" b="0" i="0">
                          <a:solidFill>
                            <a:srgbClr val="0D0D0D"/>
                          </a:solidFill>
                          <a:latin typeface="Calibri"/>
                        </a:rPr>
                        <a:t>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12,5x</a:t>
                      </a:r>
                    </a:p>
                  </a:txBody>
                  <a:tcPr>
                    <a:solidFill>
                      <a:srgbClr val="F7F8FA"/>
                    </a:solidFill>
                  </a:tcPr>
                </a:tc>
                <a:tc>
                  <a:txBody>
                    <a:bodyPr/>
                    <a:lstStyle/>
                    <a:p>
                      <a:pPr algn="ctr"/>
                      <a:r>
                        <a:rPr sz="800" b="1" i="0">
                          <a:solidFill>
                            <a:srgbClr val="0D0D0D"/>
                          </a:solidFill>
                          <a:latin typeface="Calibri"/>
                        </a:rPr>
                        <a:t>2,9x</a:t>
                      </a:r>
                    </a:p>
                  </a:txBody>
                  <a:tcPr>
                    <a:solidFill>
                      <a:srgbClr val="F7F8FA"/>
                    </a:solidFill>
                  </a:tcPr>
                </a:tc>
                <a:tc>
                  <a:txBody>
                    <a:bodyPr/>
                    <a:lstStyle/>
                    <a:p>
                      <a:pPr algn="ctr"/>
                      <a:r>
                        <a:rPr sz="800" b="1" i="0">
                          <a:solidFill>
                            <a:srgbClr val="0D0D0D"/>
                          </a:solidFill>
                          <a:latin typeface="Calibri"/>
                        </a:rPr>
                        <a:t>0,0x</a:t>
                      </a:r>
                    </a:p>
                  </a:txBody>
                  <a:tcPr>
                    <a:solidFill>
                      <a:srgbClr val="F7F8FA"/>
                    </a:solidFill>
                  </a:tcPr>
                </a:tc>
                <a:tc>
                  <a:txBody>
                    <a:bodyPr/>
                    <a:lstStyle/>
                    <a:p>
                      <a:pPr algn="ctr"/>
                      <a:r>
                        <a:rPr sz="800" b="1" i="0">
                          <a:solidFill>
                            <a:srgbClr val="0D0D0D"/>
                          </a:solidFill>
                          <a:latin typeface="Calibri"/>
                        </a:rPr>
                        <a:t>14,0 %</a:t>
                      </a:r>
                    </a:p>
                  </a:txBody>
                  <a:tcPr>
                    <a:solidFill>
                      <a:srgbClr val="F7F8FA"/>
                    </a:solidFill>
                  </a:tcPr>
                </a:tc>
                <a:tc>
                  <a:txBody>
                    <a:bodyPr/>
                    <a:lstStyle/>
                    <a:p>
                      <a:pPr algn="ctr"/>
                      <a:r>
                        <a:rPr sz="800" b="1" i="0">
                          <a:solidFill>
                            <a:srgbClr val="0D0D0D"/>
                          </a:solidFill>
                          <a:latin typeface="Calibri"/>
                        </a:rPr>
                        <a:t>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Tesla affiche un EV/EBITDA 119.8x vs mediane peers (BYD 14.2x, Rivian 12.5x, Lucid 13.8x, XPeng 11.9x, NIO 10.5x), soit une prime de 750%. Cette prime est justifiée par la croissance supérieure et l'avance technologique, mais une convergence vers 20x impliquerait un downside de 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14.9% et un TGR de 2.5%, le prix implicite DCF est de ~420 USD (vs cours 377.94 USD), suggérant une sous-valorisation de 11%. L'upside dépend de la réalisation des objectifs de volumes (5M unités) et de la monétisation de la FSD.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chute libre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de Tesla s'effritent sous la pression concurrentielle chinoise : BYD réduit ses prix de 30% en 2024, forçant Tesla à baisser ses tarifs de 17% en moyenne, comprimant la marge brute à 18% contre 27% en 2022.</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Modèle non rentable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 modèle direct-to-consumer coûte 12% de CA en frais de vente et marketing, soit 3x plus qu'un réseau traditionnel, annulant l'avantage théorique de la verticalisation.</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Surévaluation extrême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ROE de 4.6% est inférieur au coût moyen pondéré du capital (WACC) estimé à 8.5%, détruisant toute création de valeur pour les actionnaires.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de VE de 25%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Subventions gouvernementales supprimées pour les VE en Europe/Chine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Retards majeurs dans le déploiement FSD ou rappels massifs de véhicules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0/100 — Sain</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28/100 — Peu attractive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+0,136</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41,8 %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11</a:t>
                      </a:r>
                    </a:p>
                  </a:txBody>
                  <a:tcPr>
                    <a:solidFill>
                      <a:srgbClr val="EAF4EF"/>
                    </a:solidFill>
                  </a:tcPr>
                </a:tc>
                <a:tc>
                  <a:txBody>
                    <a:bodyPr/>
                    <a:lstStyle/>
                    <a:p>
                      <a:pPr algn="ctr"/>
                      <a:r>
                        <a:rPr sz="800" b="0" i="0">
                          <a:solidFill>
                            <a:srgbClr val="0D0D0D"/>
                          </a:solidFill>
                          <a:latin typeface="Calibri"/>
                        </a:rPr>
                        <a:t>+0,359</a:t>
                      </a:r>
                    </a:p>
                  </a:txBody>
                  <a:tcPr>
                    <a:solidFill>
                      <a:srgbClr val="EAF4EF"/>
                    </a:solidFill>
                  </a:tcPr>
                </a:tc>
                <a:tc>
                  <a:txBody>
                    <a:bodyPr/>
                    <a:lstStyle/>
                    <a:p>
                      <a:pPr algn="ctr"/>
                      <a:r>
                        <a:rPr sz="800" b="0" i="0">
                          <a:solidFill>
                            <a:srgbClr val="0D0D0D"/>
                          </a:solidFill>
                          <a:latin typeface="Calibri"/>
                        </a:rPr>
                        <a:t>Déploiement FSD générant 5000-7000 USD/VL annuel d'ici 2027 avec marge &gt;80% | Horizon 2026-2028</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+0,418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+0,223</a:t>
                      </a:r>
                    </a:p>
                  </a:txBody>
                  <a:tcPr>
                    <a:solidFill>
                      <a:srgbClr val="FAF0EF"/>
                    </a:solidFill>
                  </a:tcPr>
                </a:tc>
                <a:tc>
                  <a:txBody>
                    <a:bodyPr/>
                    <a:lstStyle/>
                    <a:p>
                      <a:pPr algn="ctr"/>
                      <a:r>
                        <a:rPr sz="800" b="0" i="0">
                          <a:solidFill>
                            <a:srgbClr val="0D0D0D"/>
                          </a:solidFill>
                          <a:latin typeface="Calibri"/>
                        </a:rPr>
                        <a:t>Guerre des prix en Chine réduisant les marges de 5-8 points d'ici 2026 | Impact potentiel -10% sur EBITDA | Horizon 12-18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un rebond des ventes européennes et asiatiques pour Tesla, mais note une concurrence accrue en Chine et des risques géopolitiques pesant sur l'action. Les mises à jour technologiques et les performances régionales contrastées dessinent un tableau mitigé pour l'investisseur.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prime de valorisation (EV/EBITDA 119.8x vs mediane peers ~15x) reflète une croissance future attendue. Le P/E à 373.8x suggère une anticipation de rebond des marges et de rentabilité.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377,94 $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282,16 $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+34,0 %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292282"/>
            <a:ext cx="498636" cy="60291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530080"/>
            <a:ext cx="498636" cy="36511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07612"/>
            <a:ext cx="498636" cy="2875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396236"/>
            <a:ext cx="498636" cy="4989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480961"/>
            <a:ext cx="498636" cy="141423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601099"/>
            <a:ext cx="498636" cy="12941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439677"/>
            <a:ext cx="498636" cy="145552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599117"/>
            <a:ext cx="498636" cy="12960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829484"/>
            <a:ext cx="498636" cy="10657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083466"/>
            <a:ext cx="498636" cy="81173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032190"/>
            <a:ext cx="498636" cy="86300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282</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339</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399</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456</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Tesla affiche une deceleration de la croissance et une compression des marges malgré des avantages competitifs structurels. La valorisation reste extreme mais pourrait se justifier par des catalyseurs futurs. Le HOLD reflète un equilibre risque/rendement serré.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