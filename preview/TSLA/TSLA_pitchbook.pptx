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468000"/>
        </p:xfrm>
        <a:graphic>
          <a:graphicData uri="http://schemas.openxmlformats.org/drawingml/2006/table">
            <a:tbl>
              <a:tblPr firstRow="1" bandRow="1">
                <a:tableStyleId>{5C22544A-7EE6-4342-B048-85BDC9FD1C3A}</a:tableStyleId>
              </a:tblPr>
              <a:tblGrid>
                <a:gridCol w="2034000"/>
                <a:gridCol w="1017000"/>
                <a:gridCol w="1017000"/>
              </a:tblGrid>
              <a:tr h="117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17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339,5x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117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108,8x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117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 $</a:t>
                      </a:r>
                    </a:p>
                  </a:txBody>
                  <a:tcPr>
                    <a:solidFill>
                      <a:srgbClr val="FFFFFF"/>
                    </a:solidFill>
                  </a:tcPr>
                </a:tc>
                <a:tc>
                  <a:txBody>
                    <a:bodyPr/>
                    <a:lstStyle/>
                    <a:p>
                      <a:pPr algn="ctr"/>
                      <a:r>
                        <a:rPr sz="800" b="0" i="0">
                          <a:solidFill>
                            <a:srgbClr val="0D0D0D"/>
                          </a:solidFill>
                          <a:latin typeface="Calibri"/>
                        </a:rPr>
                        <a:t>Upside —</a:t>
                      </a:r>
                    </a:p>
                  </a:txBody>
                  <a:tcPr>
                    <a:solidFill>
                      <a:srgbClr val="FFFFFF"/>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108,8x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-0,149</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Négatif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(TSLA) opere dans le secteur Consumer Cyclical. Analyse FinSight IA en cours -- donnees de synthese non disponibles pour cette session. Lancer une nouvelle analyse pour obtenir la description complete, les segments et le positionnement strategique.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1 288,0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343,25 $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108,8x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+18,8 %</a:t>
                      </a:r>
                    </a:p>
                  </a:txBody>
                  <a:tcPr>
                    <a:solidFill>
                      <a:srgbClr val="F7F8FA"/>
                    </a:solidFill>
                  </a:tcPr>
                </a:tc>
                <a:tc>
                  <a:txBody>
                    <a:bodyPr/>
                    <a:lstStyle/>
                    <a:p>
                      <a:pPr algn="ctr"/>
                      <a:r>
                        <a:rPr sz="750" b="0" i="1">
                          <a:solidFill>
                            <a:srgbClr val="333333"/>
                          </a:solidFill>
                          <a:latin typeface="Calibri"/>
                        </a:rPr>
                        <a:t>+1,0 %</a:t>
                      </a:r>
                    </a:p>
                  </a:txBody>
                  <a:tcPr>
                    <a:solidFill>
                      <a:srgbClr val="F7F8FA"/>
                    </a:solidFill>
                  </a:tcPr>
                </a:tc>
                <a:tc>
                  <a:txBody>
                    <a:bodyPr/>
                    <a:lstStyle/>
                    <a:p>
                      <a:pPr algn="ctr"/>
                      <a:r>
                        <a:rPr sz="750" b="0" i="1">
                          <a:solidFill>
                            <a:srgbClr val="333333"/>
                          </a:solidFill>
                          <a:latin typeface="Calibri"/>
                        </a:rPr>
                        <a:t>-3,0 %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18,2 %</a:t>
                      </a:r>
                    </a:p>
                  </a:txBody>
                  <a:tcPr>
                    <a:solidFill>
                      <a:srgbClr val="F7F8FA"/>
                    </a:solidFill>
                  </a:tcPr>
                </a:tc>
                <a:tc>
                  <a:txBody>
                    <a:bodyPr/>
                    <a:lstStyle/>
                    <a:p>
                      <a:pPr algn="ctr"/>
                      <a:r>
                        <a:rPr sz="750" b="0" i="1">
                          <a:solidFill>
                            <a:srgbClr val="333333"/>
                          </a:solidFill>
                          <a:latin typeface="Calibri"/>
                        </a:rPr>
                        <a:t>17,9 %</a:t>
                      </a:r>
                    </a:p>
                  </a:txBody>
                  <a:tcPr>
                    <a:solidFill>
                      <a:srgbClr val="F7F8FA"/>
                    </a:solidFill>
                  </a:tcPr>
                </a:tc>
                <a:tc>
                  <a:txBody>
                    <a:bodyPr/>
                    <a:lstStyle/>
                    <a:p>
                      <a:pPr algn="ctr"/>
                      <a:r>
                        <a:rPr sz="750" b="0" i="1">
                          <a:solidFill>
                            <a:srgbClr val="333333"/>
                          </a:solidFill>
                          <a:latin typeface="Calibri"/>
                        </a:rPr>
                        <a:t>18,0 %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15,3 %</a:t>
                      </a:r>
                    </a:p>
                  </a:txBody>
                  <a:tcPr>
                    <a:solidFill>
                      <a:srgbClr val="F7F8FA"/>
                    </a:solidFill>
                  </a:tcPr>
                </a:tc>
                <a:tc>
                  <a:txBody>
                    <a:bodyPr/>
                    <a:lstStyle/>
                    <a:p>
                      <a:pPr algn="ctr"/>
                      <a:r>
                        <a:rPr sz="750" b="0" i="1">
                          <a:solidFill>
                            <a:srgbClr val="333333"/>
                          </a:solidFill>
                          <a:latin typeface="Calibri"/>
                        </a:rPr>
                        <a:t>15,1 %</a:t>
                      </a:r>
                    </a:p>
                  </a:txBody>
                  <a:tcPr>
                    <a:solidFill>
                      <a:srgbClr val="F7F8FA"/>
                    </a:solidFill>
                  </a:tcPr>
                </a:tc>
                <a:tc>
                  <a:txBody>
                    <a:bodyPr/>
                    <a:lstStyle/>
                    <a:p>
                      <a:pPr algn="ctr"/>
                      <a:r>
                        <a:rPr sz="750" b="0" i="1">
                          <a:solidFill>
                            <a:srgbClr val="333333"/>
                          </a:solidFill>
                          <a:latin typeface="Calibri"/>
                        </a:rPr>
                        <a:t>12,4 %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15,5 %</a:t>
                      </a:r>
                    </a:p>
                  </a:txBody>
                  <a:tcPr>
                    <a:solidFill>
                      <a:srgbClr val="F7F8FA"/>
                    </a:solidFill>
                  </a:tcPr>
                </a:tc>
                <a:tc>
                  <a:txBody>
                    <a:bodyPr/>
                    <a:lstStyle/>
                    <a:p>
                      <a:pPr algn="ctr"/>
                      <a:r>
                        <a:rPr sz="750" b="0" i="1">
                          <a:solidFill>
                            <a:srgbClr val="333333"/>
                          </a:solidFill>
                          <a:latin typeface="Calibri"/>
                        </a:rPr>
                        <a:t>7,3 %</a:t>
                      </a:r>
                    </a:p>
                  </a:txBody>
                  <a:tcPr>
                    <a:solidFill>
                      <a:srgbClr val="F7F8FA"/>
                    </a:solidFill>
                  </a:tcPr>
                </a:tc>
                <a:tc>
                  <a:txBody>
                    <a:bodyPr/>
                    <a:lstStyle/>
                    <a:p>
                      <a:pPr algn="ctr"/>
                      <a:r>
                        <a:rPr sz="750" b="0" i="1">
                          <a:solidFill>
                            <a:srgbClr val="333333"/>
                          </a:solidFill>
                          <a:latin typeface="Calibri"/>
                        </a:rPr>
                        <a:t>4,0 %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15,48</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343,25 $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395 $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+156,2 %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1 412 $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+311,5 %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1 288,0</a:t>
                      </a:r>
                    </a:p>
                  </a:txBody>
                  <a:tcPr>
                    <a:solidFill>
                      <a:srgbClr val="DDE8F5"/>
                    </a:solidFill>
                  </a:tcPr>
                </a:tc>
                <a:tc>
                  <a:txBody>
                    <a:bodyPr/>
                    <a:lstStyle/>
                    <a:p>
                      <a:pPr algn="ctr"/>
                      <a:r>
                        <a:rPr sz="800" b="1" i="0">
                          <a:solidFill>
                            <a:srgbClr val="1B3A6B"/>
                          </a:solidFill>
                          <a:latin typeface="Calibri"/>
                        </a:rPr>
                        <a:t>108,8x</a:t>
                      </a:r>
                    </a:p>
                  </a:txBody>
                  <a:tcPr>
                    <a:solidFill>
                      <a:srgbClr val="DDE8F5"/>
                    </a:solidFill>
                  </a:tcPr>
                </a:tc>
                <a:tc>
                  <a:txBody>
                    <a:bodyPr/>
                    <a:lstStyle/>
                    <a:p>
                      <a:pPr algn="ctr"/>
                      <a:r>
                        <a:rPr sz="800" b="1" i="0">
                          <a:solidFill>
                            <a:srgbClr val="1B3A6B"/>
                          </a:solidFill>
                          <a:latin typeface="Calibri"/>
                        </a:rPr>
                        <a:t>13,5x</a:t>
                      </a:r>
                    </a:p>
                  </a:txBody>
                  <a:tcPr>
                    <a:solidFill>
                      <a:srgbClr val="DDE8F5"/>
                    </a:solidFill>
                  </a:tcPr>
                </a:tc>
                <a:tc>
                  <a:txBody>
                    <a:bodyPr/>
                    <a:lstStyle/>
                    <a:p>
                      <a:pPr algn="ctr"/>
                      <a:r>
                        <a:rPr sz="800" b="1" i="0">
                          <a:solidFill>
                            <a:srgbClr val="1B3A6B"/>
                          </a:solidFill>
                          <a:latin typeface="Calibri"/>
                        </a:rPr>
                        <a:t>339,5x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(343,25)</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343,25</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102,4x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180,7x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expansion multiple de 237.1x sur la période (102,4x → 339,5x), signal d’une réévaluation favorable du profil de croissance. L’EV/EBITDA diverge à 108,8x vs 72,1x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Négatif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-0,149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40,0 %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+0,251</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+0,349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13</a:t>
                      </a:r>
                    </a:p>
                  </a:txBody>
                  <a:tcPr>
                    <a:solidFill>
                      <a:srgbClr val="FAF0EF"/>
                    </a:solidFill>
                  </a:tcPr>
                </a:tc>
                <a:tc>
                  <a:txBody>
                    <a:bodyPr/>
                    <a:lstStyle/>
                    <a:p>
                      <a:pPr algn="ctr"/>
                      <a:r>
                        <a:rPr sz="800" b="0" i="0">
                          <a:solidFill>
                            <a:srgbClr val="0D0D0D"/>
                          </a:solidFill>
                          <a:latin typeface="Calibri"/>
                        </a:rPr>
                        <a:t>+0,400</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cette semaine dresse un bilan très négatif pour Tesla, marquée par des déceptions sur les livraisons et des perspectives de flux de trésorerie fortement dégradées. Les rares points positifs concernent des partenariats technologiques, mais ils peinent à contrebalancer les signaux d'alerte majeurs.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9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9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343,25 $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-0,9 %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9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9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Donnees de synthese non disponibles pour Tesla, Inc.. Relancer l'analyse pour obtenir la these complete.</a:t>
            </a:r>
          </a:p>
        </p:txBody>
      </p:sp>
      <p:sp>
        <p:nvSpPr>
          <p:cNvPr id="30" name="Rectangle 29"/>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2" name="TextBox 31"/>
          <p:cNvSpPr txBox="1"/>
          <p:nvPr/>
        </p:nvSpPr>
        <p:spPr>
          <a:xfrm>
            <a:off x="3401999" y="2358000"/>
            <a:ext cx="2556000" cy="234000"/>
          </a:xfrm>
          <a:prstGeom prst="rect">
            <a:avLst/>
          </a:prstGeom>
          <a:noFill/>
        </p:spPr>
        <p:txBody>
          <a:bodyPr wrap="square">
            <a:spAutoFit/>
          </a:bodyPr>
          <a:lstStyle/>
          <a:p>
            <a:pPr algn="l"/>
            <a:r>
              <a:rPr sz="700" b="0" i="0">
                <a:solidFill>
                  <a:srgbClr val="555555"/>
                </a:solidFill>
                <a:latin typeface="Calibri"/>
              </a:rPr>
              <a:t>• N/D</a:t>
            </a:r>
          </a:p>
        </p:txBody>
      </p:sp>
      <p:sp>
        <p:nvSpPr>
          <p:cNvPr id="33" name="Rectangle 32"/>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5" name="TextBox 34"/>
          <p:cNvSpPr txBox="1"/>
          <p:nvPr/>
        </p:nvSpPr>
        <p:spPr>
          <a:xfrm>
            <a:off x="6156000" y="2358000"/>
            <a:ext cx="2376000" cy="234000"/>
          </a:xfrm>
          <a:prstGeom prst="rect">
            <a:avLst/>
          </a:prstGeom>
          <a:noFill/>
        </p:spPr>
        <p:txBody>
          <a:bodyPr wrap="square">
            <a:spAutoFit/>
          </a:bodyPr>
          <a:lstStyle/>
          <a:p>
            <a:pPr algn="l"/>
            <a:r>
              <a:rPr sz="700" b="0" i="0">
                <a:solidFill>
                  <a:srgbClr val="555555"/>
                </a:solidFill>
                <a:latin typeface="Calibri"/>
              </a:rPr>
              <a:t>• N/D</a:t>
            </a:r>
          </a:p>
        </p:txBody>
      </p:sp>
      <p:sp>
        <p:nvSpPr>
          <p:cNvPr id="36" name="TextBox 35"/>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