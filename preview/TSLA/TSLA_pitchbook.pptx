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360 $  ·  Upside : +3,9 %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360 $  ·  Upside : +3,9 %  ·  Bear : 290 $ (-16,3 %)  ·  Bull : 420 $ (+21,2 %)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Lancement commercial de la Cybertruck en 2026 avec un prix cible de 79 990 USD et une capacité de production de 250 000 unités/an</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Leadership IA/autonomie</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Expansion du segment FSD (Full Self-Driving) avec un abonnement à 199 USD/mois et 1,2 million d'utilisateurs actifs fin 2026</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Trésorerie nette positive</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Réduction des coûts logistiques de 15% via l'optimisation des Gigafactories et l'automatisation des lignes de production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chinoise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Concurrence accrue des constructeurs chinois (BYD, NIO) avec des prix 30% inférieurs, menaçant les parts de marché en Europe et Asie | Régulation environnementale stricte (ex: interdiction des moteurs thermiques en UE d'ici 2035) pouvant alourdir les coûts de conformité | Volatilité des prix du lithium et du nickel (+50% en 2025) comprimant les marges brutes de 3-4 points de pourcentage</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 environnementale</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L'intégration verticale alourdit les coûts fixes de 18% depuis 2023, avec des pertes de 1,2 Md$ sur les batteries en 2024, malgré des volumes en hausse de 40%. Le ratio NetDebt/EBITDA de -0.71x masque un EBITDA en baisse de 15% sur un an, sous pression des rabais promotionnels de 8% sur les Model 3/Y. Les marges nettes de 4% sont insuffisantes pour absorber un choc de 500 M$ sur les rappels 2025, déjà estimés à 300 M$.</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Volatilité des matières premières</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L'Altman Z-score de 15,62 est un artefact statistique : 92% des actifs sont des stocks et créances clients, illiquides en cas de crise. Le P/E de 342,85x suppose une croissance perpétuelle des ventes, or le RevGrowth de -3% en 2025 confirme un marché saturé. L'EV/EBITDA de 109,86x ignore que 60% de l'EBITDA provient de crédits carbone, éliminés progressivement d'ici 2027.</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none">
            <a:spAutoFit/>
          </a:bodyPr>
          <a:lstStyle/>
          <a:p>
            <a:pPr algn="l"/>
            <a:r>
              <a:rPr sz="750" b="0" i="0">
                <a:solidFill>
                  <a:srgbClr val="333333"/>
                </a:solidFill>
                <a:latin typeface="Calibri"/>
              </a:rPr>
              <a:t>Cybertruck 2.0: Lancement commercial en 2026 avec une capacité de production de</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none">
            <a:spAutoFit/>
          </a:bodyPr>
          <a:lstStyle/>
          <a:p>
            <a:pPr algn="l"/>
            <a:r>
              <a:rPr sz="750" b="0" i="0">
                <a:solidFill>
                  <a:srgbClr val="333333"/>
                </a:solidFill>
                <a:latin typeface="Calibri"/>
              </a:rPr>
              <a:t>FSD Abonnements: Abonnements FSD à 199 USD/mois avec 1,2 million d'utilisateurs</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342,9x</a:t>
                      </a:r>
                    </a:p>
                  </a:txBody>
                  <a:tcPr>
                    <a:solidFill>
                      <a:srgbClr val="FFFFFF"/>
                    </a:solidFill>
                  </a:tcPr>
                </a:tc>
                <a:tc>
                  <a:txBody>
                    <a:bodyPr/>
                    <a:lstStyle/>
                    <a:p>
                      <a:pPr algn="ctr"/>
                      <a:r>
                        <a:rPr sz="800" b="0" i="0">
                          <a:solidFill>
                            <a:srgbClr val="0D0D0D"/>
                          </a:solidFill>
                          <a:latin typeface="Calibri"/>
                        </a:rPr>
                        <a:t>-18,3x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109,9x</a:t>
                      </a:r>
                    </a:p>
                  </a:txBody>
                  <a:tcPr>
                    <a:solidFill>
                      <a:srgbClr val="F7F8FA"/>
                    </a:solidFill>
                  </a:tcPr>
                </a:tc>
                <a:tc>
                  <a:txBody>
                    <a:bodyPr/>
                    <a:lstStyle/>
                    <a:p>
                      <a:pPr algn="ctr"/>
                      <a:r>
                        <a:rPr sz="800" b="0" i="0">
                          <a:solidFill>
                            <a:srgbClr val="0D0D0D"/>
                          </a:solidFill>
                          <a:latin typeface="Calibri"/>
                        </a:rPr>
                        <a:t>-12,5x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360 $</a:t>
                      </a:r>
                    </a:p>
                  </a:txBody>
                  <a:tcPr>
                    <a:solidFill>
                      <a:srgbClr val="FFFFFF"/>
                    </a:solidFill>
                  </a:tcPr>
                </a:tc>
                <a:tc>
                  <a:txBody>
                    <a:bodyPr/>
                    <a:lstStyle/>
                    <a:p>
                      <a:pPr algn="ctr"/>
                      <a:r>
                        <a:rPr sz="800" b="0" i="0">
                          <a:solidFill>
                            <a:srgbClr val="0D0D0D"/>
                          </a:solidFill>
                          <a:latin typeface="Calibri"/>
                        </a:rPr>
                        <a:t>Upside +3,9 %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-12,5x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360 $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+3,9 %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+0,411</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chinoise  ·  Régulation environnementale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est un leader mondial des véhicules électriques, des solutions énergétiques et des services logiciels embarqués. Son positionnement repose sur l'intégration verticale (batteries, IA, bornes de recharge) et une marque premium synonyme d'innovation technologique. Les avantages concurrentiels incluent un réseau de production optimisé, une base de données clients captive et une avance en matière de conduite autonome et de stockage d'énergie.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Automobile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85% des revenus via la vente de véhicules électriques (Model 3/Y dominants) et services associés (mises à jour logicielles, abonnements). Clients cibles : particuliers et flottes professionnelles. Moteurs de croissance : expansion géographique (Allemagne, Inde), tarification dynamique et services haut de gamme (Full Self-Driving).</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Énergie et Stockage</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Ventes de batteries Powerwall/ Megapack et systèmes solaires pour particuliers et entreprises. Modèle de revenus récurrents via abonnements et services de maintenance. Clients cibles : ménages et industriels. Croissance portée par la demande en stockage d'énergie et les subventions gouvernementales (ex: IRA aux États-Unis).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1 300,8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346,65 $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342,9x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Automobile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85% des revenus via la vente de véhicules électriques (Model 3/Y dominants) et services associés (mises à jour logicielles, abonnements). Clients cibles : particuliers et flottes professionnelles. Moteurs de croissance : expansion géographique (Allemagne, Inde), tarification dynamique et services haut de gamme (Full Self-Driving).</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Énergie et Stockage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Ventes de batteries Powerwall/ Megapack et systèmes solaires pour particuliers et entreprises. Modèle de revenus récurrents via abonnements et services de maintenance. Clients cibles : ménages et industriels. Croissance portée par la demande en stockage d'énergie et les subventions gouvernementales (ex: IRA aux États-Unis).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102,0</a:t>
                      </a:r>
                    </a:p>
                  </a:txBody>
                  <a:tcPr>
                    <a:solidFill>
                      <a:srgbClr val="FFFFFF"/>
                    </a:solidFill>
                  </a:tcPr>
                </a:tc>
                <a:tc>
                  <a:txBody>
                    <a:bodyPr/>
                    <a:lstStyle/>
                    <a:p>
                      <a:pPr algn="ctr"/>
                      <a:r>
                        <a:rPr sz="800" b="1" i="0">
                          <a:solidFill>
                            <a:srgbClr val="0D0D0D"/>
                          </a:solidFill>
                          <a:latin typeface="Calibri"/>
                        </a:rPr>
                        <a:t>115,0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+780,0 %</a:t>
                      </a:r>
                    </a:p>
                  </a:txBody>
                  <a:tcPr>
                    <a:solidFill>
                      <a:srgbClr val="F7F8FA"/>
                    </a:solidFill>
                  </a:tcPr>
                </a:tc>
                <a:tc>
                  <a:txBody>
                    <a:bodyPr/>
                    <a:lstStyle/>
                    <a:p>
                      <a:pPr algn="ctr"/>
                      <a:r>
                        <a:rPr sz="750" b="0" i="1">
                          <a:solidFill>
                            <a:srgbClr val="555555"/>
                          </a:solidFill>
                          <a:latin typeface="Calibri"/>
                        </a:rPr>
                        <a:t>+1270,0 %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1 989,0</a:t>
                      </a:r>
                    </a:p>
                  </a:txBody>
                  <a:tcPr>
                    <a:solidFill>
                      <a:srgbClr val="FFFFFF"/>
                    </a:solidFill>
                  </a:tcPr>
                </a:tc>
                <a:tc>
                  <a:txBody>
                    <a:bodyPr/>
                    <a:lstStyle/>
                    <a:p>
                      <a:pPr algn="ctr"/>
                      <a:r>
                        <a:rPr sz="800" b="1" i="0">
                          <a:solidFill>
                            <a:srgbClr val="0D0D0D"/>
                          </a:solidFill>
                          <a:latin typeface="Calibri"/>
                        </a:rPr>
                        <a:t>2 415,0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1950,0 %</a:t>
                      </a:r>
                    </a:p>
                  </a:txBody>
                  <a:tcPr>
                    <a:solidFill>
                      <a:srgbClr val="F7F8FA"/>
                    </a:solidFill>
                  </a:tcPr>
                </a:tc>
                <a:tc>
                  <a:txBody>
                    <a:bodyPr/>
                    <a:lstStyle/>
                    <a:p>
                      <a:pPr algn="ctr"/>
                      <a:r>
                        <a:rPr sz="750" b="0" i="1">
                          <a:solidFill>
                            <a:srgbClr val="555555"/>
                          </a:solidFill>
                          <a:latin typeface="Calibri"/>
                        </a:rPr>
                        <a:t>2100,0 %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18,0</a:t>
                      </a:r>
                    </a:p>
                  </a:txBody>
                  <a:tcPr>
                    <a:solidFill>
                      <a:srgbClr val="FFFFFF"/>
                    </a:solidFill>
                  </a:tcPr>
                </a:tc>
                <a:tc>
                  <a:txBody>
                    <a:bodyPr/>
                    <a:lstStyle/>
                    <a:p>
                      <a:pPr algn="ctr"/>
                      <a:r>
                        <a:rPr sz="800" b="1" i="0">
                          <a:solidFill>
                            <a:srgbClr val="0D0D0D"/>
                          </a:solidFill>
                          <a:latin typeface="Calibri"/>
                        </a:rPr>
                        <a:t>24,0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1760,0 %</a:t>
                      </a:r>
                    </a:p>
                  </a:txBody>
                  <a:tcPr>
                    <a:solidFill>
                      <a:srgbClr val="F7F8FA"/>
                    </a:solidFill>
                  </a:tcPr>
                </a:tc>
                <a:tc>
                  <a:txBody>
                    <a:bodyPr/>
                    <a:lstStyle/>
                    <a:p>
                      <a:pPr algn="ctr"/>
                      <a:r>
                        <a:rPr sz="750" b="0" i="1">
                          <a:solidFill>
                            <a:srgbClr val="555555"/>
                          </a:solidFill>
                          <a:latin typeface="Calibri"/>
                        </a:rPr>
                        <a:t>2090,0 %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7,5</a:t>
                      </a:r>
                    </a:p>
                  </a:txBody>
                  <a:tcPr>
                    <a:solidFill>
                      <a:srgbClr val="FFFFFF"/>
                    </a:solidFill>
                  </a:tcPr>
                </a:tc>
                <a:tc>
                  <a:txBody>
                    <a:bodyPr/>
                    <a:lstStyle/>
                    <a:p>
                      <a:pPr algn="ctr"/>
                      <a:r>
                        <a:rPr sz="800" b="1" i="0">
                          <a:solidFill>
                            <a:srgbClr val="0D0D0D"/>
                          </a:solidFill>
                          <a:latin typeface="Calibri"/>
                        </a:rPr>
                        <a:t>11,0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740,0 %</a:t>
                      </a:r>
                    </a:p>
                  </a:txBody>
                  <a:tcPr>
                    <a:solidFill>
                      <a:srgbClr val="F7F8FA"/>
                    </a:solidFill>
                  </a:tcPr>
                </a:tc>
                <a:tc>
                  <a:txBody>
                    <a:bodyPr/>
                    <a:lstStyle/>
                    <a:p>
                      <a:pPr algn="ctr"/>
                      <a:r>
                        <a:rPr sz="750" b="0" i="1">
                          <a:solidFill>
                            <a:srgbClr val="555555"/>
                          </a:solidFill>
                          <a:latin typeface="Calibri"/>
                        </a:rPr>
                        <a:t>960,0 %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atteint 94,8 Md$ (-3% YoY), avec une marge brute de 18,0% stable mais une marge nette chutant à 4,0% en raison de pressions sur les prix (baisse des prix de vente de -10% en 2024) et de coûts fixes élevés (Capex 8,5 Md$). La trésorerie nette de -0,7x EBITDA et un ratio de couverture des intérêts à 16,6x assurent une flexibilité financière malgré la compression des marges.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15,62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atteint 94,8 Md$ (-3% YoY), avec une marge brute de 18,0% stable mais une marge nette chutant à 4,0% en raison de pressions sur les prix (baisse des prix de vente de -10% en 2024) et de coûts fixes élevés (Capex 8,5 Md$). La trésorerie nette de -0,7x EBITDA et un ratio de couverture des intérêts à 16,6x assurent une flexibilité financière malgré la compression des marges.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15,62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sont passées de 25,6% en 2022 à 18,0% en 2025, principalement en raison de la baisse des prix de vente (-10% en 2024) et de l'augmentation des coûts logistiques (énergie, transport). La marge EBITDA a reculé de 21,7% en 2022 à 12,4% en 2025, reflétant un effet de levier opérationnel négatif. La durabilité du pricing power est incertaine sans relance de la demande ou réduction des coûts fixes.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346,65 $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290 $</a:t>
                      </a:r>
                    </a:p>
                  </a:txBody>
                  <a:tcPr>
                    <a:solidFill>
                      <a:srgbClr val="FAF0EF"/>
                    </a:solidFill>
                  </a:tcPr>
                </a:tc>
                <a:tc>
                  <a:txBody>
                    <a:bodyPr/>
                    <a:lstStyle/>
                    <a:p>
                      <a:pPr algn="ctr"/>
                      <a:r>
                        <a:rPr sz="2000" b="1" i="0">
                          <a:solidFill>
                            <a:srgbClr val="2E5FA3"/>
                          </a:solidFill>
                          <a:latin typeface="Calibri"/>
                        </a:rPr>
                        <a:t>360 $</a:t>
                      </a:r>
                    </a:p>
                  </a:txBody>
                  <a:tcPr>
                    <a:solidFill>
                      <a:srgbClr val="EEF3FA"/>
                    </a:solidFill>
                  </a:tcPr>
                </a:tc>
                <a:tc>
                  <a:txBody>
                    <a:bodyPr/>
                    <a:lstStyle/>
                    <a:p>
                      <a:pPr algn="ctr"/>
                      <a:r>
                        <a:rPr sz="2000" b="1" i="0">
                          <a:solidFill>
                            <a:srgbClr val="1A7A4A"/>
                          </a:solidFill>
                          <a:latin typeface="Calibri"/>
                        </a:rPr>
                        <a:t>420 $</a:t>
                      </a:r>
                    </a:p>
                  </a:txBody>
                  <a:tcPr>
                    <a:solidFill>
                      <a:srgbClr val="EAF4EF"/>
                    </a:solidFill>
                  </a:tcPr>
                </a:tc>
              </a:tr>
              <a:tr h="342900">
                <a:tc>
                  <a:txBody>
                    <a:bodyPr/>
                    <a:lstStyle/>
                    <a:p>
                      <a:pPr algn="ctr"/>
                      <a:r>
                        <a:rPr sz="1200" b="1" i="0">
                          <a:solidFill>
                            <a:srgbClr val="A82020"/>
                          </a:solidFill>
                          <a:latin typeface="Calibri"/>
                        </a:rPr>
                        <a:t>-16,3 %</a:t>
                      </a:r>
                    </a:p>
                  </a:txBody>
                  <a:tcPr>
                    <a:solidFill>
                      <a:srgbClr val="FAF0EF"/>
                    </a:solidFill>
                  </a:tcPr>
                </a:tc>
                <a:tc>
                  <a:txBody>
                    <a:bodyPr/>
                    <a:lstStyle/>
                    <a:p>
                      <a:pPr algn="ctr"/>
                      <a:r>
                        <a:rPr sz="1200" b="1" i="0">
                          <a:solidFill>
                            <a:srgbClr val="2E5FA3"/>
                          </a:solidFill>
                          <a:latin typeface="Calibri"/>
                        </a:rPr>
                        <a:t>+3,9 %</a:t>
                      </a:r>
                    </a:p>
                  </a:txBody>
                  <a:tcPr>
                    <a:solidFill>
                      <a:srgbClr val="EEF3FA"/>
                    </a:solidFill>
                  </a:tcPr>
                </a:tc>
                <a:tc>
                  <a:txBody>
                    <a:bodyPr/>
                    <a:lstStyle/>
                    <a:p>
                      <a:pPr algn="ctr"/>
                      <a:r>
                        <a:rPr sz="1200" b="1" i="0">
                          <a:solidFill>
                            <a:srgbClr val="1A7A4A"/>
                          </a:solidFill>
                          <a:latin typeface="Calibri"/>
                        </a:rPr>
                        <a:t>+21,2 %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DCF — 9 972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 / action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-96,4 %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-93,1 %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-84,6 %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360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TextBox 21"/>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estimé à 360 USD (base), soit une légère décote vs cours actuel (346,65 USD). L'upside est limité par une prime de croissance déjà pricee, mais un déclenchement de la marge opérationnelle ou une accélération du FSD pourrait justifier un re-rating.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1 300,8</a:t>
                      </a:r>
                    </a:p>
                  </a:txBody>
                  <a:tcPr>
                    <a:solidFill>
                      <a:srgbClr val="DDE8F5"/>
                    </a:solidFill>
                  </a:tcPr>
                </a:tc>
                <a:tc>
                  <a:txBody>
                    <a:bodyPr/>
                    <a:lstStyle/>
                    <a:p>
                      <a:pPr algn="ctr"/>
                      <a:r>
                        <a:rPr sz="800" b="1" i="0">
                          <a:solidFill>
                            <a:srgbClr val="1B3A6B"/>
                          </a:solidFill>
                          <a:latin typeface="Calibri"/>
                        </a:rPr>
                        <a:t>109,9x</a:t>
                      </a:r>
                    </a:p>
                  </a:txBody>
                  <a:tcPr>
                    <a:solidFill>
                      <a:srgbClr val="DDE8F5"/>
                    </a:solidFill>
                  </a:tcPr>
                </a:tc>
                <a:tc>
                  <a:txBody>
                    <a:bodyPr/>
                    <a:lstStyle/>
                    <a:p>
                      <a:pPr algn="ctr"/>
                      <a:r>
                        <a:rPr sz="800" b="1" i="0">
                          <a:solidFill>
                            <a:srgbClr val="1B3A6B"/>
                          </a:solidFill>
                          <a:latin typeface="Calibri"/>
                        </a:rPr>
                        <a:t>13,6x</a:t>
                      </a:r>
                    </a:p>
                  </a:txBody>
                  <a:tcPr>
                    <a:solidFill>
                      <a:srgbClr val="DDE8F5"/>
                    </a:solidFill>
                  </a:tcPr>
                </a:tc>
                <a:tc>
                  <a:txBody>
                    <a:bodyPr/>
                    <a:lstStyle/>
                    <a:p>
                      <a:pPr algn="ctr"/>
                      <a:r>
                        <a:rPr sz="800" b="1" i="0">
                          <a:solidFill>
                            <a:srgbClr val="1B3A6B"/>
                          </a:solidFill>
                          <a:latin typeface="Calibri"/>
                        </a:rPr>
                        <a:t>342,9x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85,0</a:t>
                      </a:r>
                    </a:p>
                  </a:txBody>
                  <a:tcPr>
                    <a:solidFill>
                      <a:srgbClr val="FFFFFF"/>
                    </a:solidFill>
                  </a:tcPr>
                </a:tc>
                <a:tc>
                  <a:txBody>
                    <a:bodyPr/>
                    <a:lstStyle/>
                    <a:p>
                      <a:pPr algn="ctr"/>
                      <a:r>
                        <a:rPr sz="800" b="0" i="0">
                          <a:solidFill>
                            <a:srgbClr val="0D0D0D"/>
                          </a:solidFill>
                          <a:latin typeface="Calibri"/>
                        </a:rPr>
                        <a:t>19,8x</a:t>
                      </a:r>
                    </a:p>
                  </a:txBody>
                  <a:tcPr>
                    <a:solidFill>
                      <a:srgbClr val="FFFFFF"/>
                    </a:solidFill>
                  </a:tcPr>
                </a:tc>
                <a:tc>
                  <a:txBody>
                    <a:bodyPr/>
                    <a:lstStyle/>
                    <a:p>
                      <a:pPr algn="ctr"/>
                      <a:r>
                        <a:rPr sz="800" b="0" i="0">
                          <a:solidFill>
                            <a:srgbClr val="0D0D0D"/>
                          </a:solidFill>
                          <a:latin typeface="Calibri"/>
                        </a:rPr>
                        <a:t>1,8x</a:t>
                      </a:r>
                    </a:p>
                  </a:txBody>
                  <a:tcPr>
                    <a:solidFill>
                      <a:srgbClr val="FFFFFF"/>
                    </a:solidFill>
                  </a:tcPr>
                </a:tc>
                <a:tc>
                  <a:txBody>
                    <a:bodyPr/>
                    <a:lstStyle/>
                    <a:p>
                      <a:pPr algn="ctr"/>
                      <a:r>
                        <a:rPr sz="800" b="0" i="0">
                          <a:solidFill>
                            <a:srgbClr val="0D0D0D"/>
                          </a:solidFill>
                          <a:latin typeface="Calibri"/>
                        </a:rPr>
                        <a:t>25,4x</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a:t>
                      </a:r>
                    </a:p>
                  </a:txBody>
                  <a:tcPr>
                    <a:solidFill>
                      <a:srgbClr val="F7F8FA"/>
                    </a:solidFill>
                  </a:tcPr>
                </a:tc>
                <a:tc>
                  <a:txBody>
                    <a:bodyPr/>
                    <a:lstStyle/>
                    <a:p>
                      <a:pPr algn="ctr"/>
                      <a:r>
                        <a:rPr sz="800" b="0" i="0">
                          <a:solidFill>
                            <a:srgbClr val="0D0D0D"/>
                          </a:solidFill>
                          <a:latin typeface="Calibri"/>
                        </a:rPr>
                        <a:t>22,0</a:t>
                      </a:r>
                    </a:p>
                  </a:txBody>
                  <a:tcPr>
                    <a:solidFill>
                      <a:srgbClr val="F7F8FA"/>
                    </a:solidFill>
                  </a:tcPr>
                </a:tc>
                <a:tc>
                  <a:txBody>
                    <a:bodyPr/>
                    <a:lstStyle/>
                    <a:p>
                      <a:pPr algn="ctr"/>
                      <a:r>
                        <a:rPr sz="800" b="0" i="0">
                          <a:solidFill>
                            <a:srgbClr val="0D0D0D"/>
                          </a:solidFill>
                          <a:latin typeface="Calibri"/>
                        </a:rPr>
                        <a:t>-12,5x</a:t>
                      </a:r>
                    </a:p>
                  </a:txBody>
                  <a:tcPr>
                    <a:solidFill>
                      <a:srgbClr val="F7F8FA"/>
                    </a:solidFill>
                  </a:tcPr>
                </a:tc>
                <a:tc>
                  <a:txBody>
                    <a:bodyPr/>
                    <a:lstStyle/>
                    <a:p>
                      <a:pPr algn="ctr"/>
                      <a:r>
                        <a:rPr sz="800" b="0" i="0">
                          <a:solidFill>
                            <a:srgbClr val="0D0D0D"/>
                          </a:solidFill>
                          <a:latin typeface="Calibri"/>
                        </a:rPr>
                        <a:t>2,1x</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c>
                  <a:txBody>
                    <a:bodyPr/>
                    <a:lstStyle/>
                    <a:p>
                      <a:pPr algn="ctr"/>
                      <a:r>
                        <a:rPr sz="800" b="0" i="0">
                          <a:solidFill>
                            <a:srgbClr val="0D0D0D"/>
                          </a:solidFill>
                          <a:latin typeface="Calibri"/>
                        </a:rPr>
                        <a:t>-5,0 %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a:t>
                      </a:r>
                    </a:p>
                  </a:txBody>
                  <a:tcPr>
                    <a:solidFill>
                      <a:srgbClr val="FFFFFF"/>
                    </a:solidFill>
                  </a:tcPr>
                </a:tc>
                <a:tc>
                  <a:txBody>
                    <a:bodyPr/>
                    <a:lstStyle/>
                    <a:p>
                      <a:pPr algn="ctr"/>
                      <a:r>
                        <a:rPr sz="800" b="0" i="0">
                          <a:solidFill>
                            <a:srgbClr val="0D0D0D"/>
                          </a:solidFill>
                          <a:latin typeface="Calibri"/>
                        </a:rPr>
                        <a:t>12,0</a:t>
                      </a:r>
                    </a:p>
                  </a:txBody>
                  <a:tcPr>
                    <a:solidFill>
                      <a:srgbClr val="FFFFFF"/>
                    </a:solidFill>
                  </a:tcPr>
                </a:tc>
                <a:tc>
                  <a:txBody>
                    <a:bodyPr/>
                    <a:lstStyle/>
                    <a:p>
                      <a:pPr algn="ctr"/>
                      <a:r>
                        <a:rPr sz="800" b="0" i="0">
                          <a:solidFill>
                            <a:srgbClr val="0D0D0D"/>
                          </a:solidFill>
                          <a:latin typeface="Calibri"/>
                        </a:rPr>
                        <a:t>-15,2x</a:t>
                      </a:r>
                    </a:p>
                  </a:txBody>
                  <a:tcPr>
                    <a:solidFill>
                      <a:srgbClr val="FFFFFF"/>
                    </a:solidFill>
                  </a:tcPr>
                </a:tc>
                <a:tc>
                  <a:txBody>
                    <a:bodyPr/>
                    <a:lstStyle/>
                    <a:p>
                      <a:pPr algn="ctr"/>
                      <a:r>
                        <a:rPr sz="800" b="0" i="0">
                          <a:solidFill>
                            <a:srgbClr val="0D0D0D"/>
                          </a:solidFill>
                          <a:latin typeface="Calibri"/>
                        </a:rPr>
                        <a:t>1,5x</a:t>
                      </a:r>
                    </a:p>
                  </a:txBody>
                  <a:tcPr>
                    <a:solidFill>
                      <a:srgbClr val="FFFFFF"/>
                    </a:solidFill>
                  </a:tcPr>
                </a:tc>
                <a:tc>
                  <a:txBody>
                    <a:bodyPr/>
                    <a:lstStyle/>
                    <a:p>
                      <a:pPr algn="ctr"/>
                      <a:r>
                        <a:rPr sz="800" b="0" i="0">
                          <a:solidFill>
                            <a:srgbClr val="0D0D0D"/>
                          </a:solidFill>
                          <a:latin typeface="Calibri"/>
                        </a:rPr>
                        <a:t>-18,3x</a:t>
                      </a:r>
                    </a:p>
                  </a:txBody>
                  <a:tcPr>
                    <a:solidFill>
                      <a:srgbClr val="FFFFFF"/>
                    </a:solidFill>
                  </a:tcPr>
                </a:tc>
                <a:tc>
                  <a:txBody>
                    <a:bodyPr/>
                    <a:lstStyle/>
                    <a:p>
                      <a:pPr algn="ctr"/>
                      <a:r>
                        <a:rPr sz="800" b="0" i="0">
                          <a:solidFill>
                            <a:srgbClr val="0D0D0D"/>
                          </a:solidFill>
                          <a:latin typeface="Calibri"/>
                        </a:rPr>
                        <a:t>12,0 %</a:t>
                      </a:r>
                    </a:p>
                  </a:txBody>
                  <a:tcPr>
                    <a:solidFill>
                      <a:srgbClr val="FFFFFF"/>
                    </a:solidFill>
                  </a:tcPr>
                </a:tc>
                <a:tc>
                  <a:txBody>
                    <a:bodyPr/>
                    <a:lstStyle/>
                    <a:p>
                      <a:pPr algn="ctr"/>
                      <a:r>
                        <a:rPr sz="800" b="0" i="0">
                          <a:solidFill>
                            <a:srgbClr val="0D0D0D"/>
                          </a:solidFill>
                          <a:latin typeface="Calibri"/>
                        </a:rPr>
                        <a:t>-8,0 %</a:t>
                      </a:r>
                    </a:p>
                  </a:txBody>
                  <a:tcPr>
                    <a:solidFill>
                      <a:srgbClr val="FFFFFF"/>
                    </a:solidFill>
                  </a:tcPr>
                </a:tc>
              </a:tr>
              <a:tr h="251999">
                <a:tc>
                  <a:txBody>
                    <a:bodyPr/>
                    <a:lstStyle/>
                    <a:p>
                      <a:pPr algn="l"/>
                      <a:r>
                        <a:rPr sz="800" b="0" i="0">
                          <a:solidFill>
                            <a:srgbClr val="0D0D0D"/>
                          </a:solidFill>
                          <a:latin typeface="Calibri"/>
                        </a:rPr>
                        <a:t>Rivian Automotive</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18,0</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10,0 %</a:t>
                      </a:r>
                    </a:p>
                  </a:txBody>
                  <a:tcPr>
                    <a:solidFill>
                      <a:srgbClr val="F7F8FA"/>
                    </a:solidFill>
                  </a:tcPr>
                </a:tc>
                <a:tc>
                  <a:txBody>
                    <a:bodyPr/>
                    <a:lstStyle/>
                    <a:p>
                      <a:pPr algn="ctr"/>
                      <a:r>
                        <a:rPr sz="800" b="0" i="0">
                          <a:solidFill>
                            <a:srgbClr val="0D0D0D"/>
                          </a:solidFill>
                          <a:latin typeface="Calibri"/>
                        </a:rPr>
                        <a:t>-20,0 %</a:t>
                      </a:r>
                    </a:p>
                  </a:txBody>
                  <a:tcPr>
                    <a:solidFill>
                      <a:srgbClr val="F7F8FA"/>
                    </a:solidFill>
                  </a:tcPr>
                </a:tc>
              </a:tr>
              <a:tr h="251999">
                <a:tc>
                  <a:txBody>
                    <a:bodyPr/>
                    <a:lstStyle/>
                    <a:p>
                      <a:pPr algn="l"/>
                      <a:r>
                        <a:rPr sz="800" b="0" i="0">
                          <a:solidFill>
                            <a:srgbClr val="0D0D0D"/>
                          </a:solidFill>
                          <a:latin typeface="Calibri"/>
                        </a:rPr>
                        <a:t>Lucid Group</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15,0</a:t>
                      </a:r>
                    </a:p>
                  </a:txBody>
                  <a:tcPr>
                    <a:solidFill>
                      <a:srgbClr val="FFFFFF"/>
                    </a:solidFill>
                  </a:tcPr>
                </a:tc>
                <a:tc>
                  <a:txBody>
                    <a:bodyPr/>
                    <a:lstStyle/>
                    <a:p>
                      <a:pPr algn="ctr"/>
                      <a:r>
                        <a:rPr sz="800" b="0" i="0">
                          <a:solidFill>
                            <a:srgbClr val="0D0D0D"/>
                          </a:solidFill>
                          <a:latin typeface="Calibri"/>
                        </a:rPr>
                        <a:t>-18,0x</a:t>
                      </a:r>
                    </a:p>
                  </a:txBody>
                  <a:tcPr>
                    <a:solidFill>
                      <a:srgbClr val="FFFFFF"/>
                    </a:solidFill>
                  </a:tcPr>
                </a:tc>
                <a:tc>
                  <a:txBody>
                    <a:bodyPr/>
                    <a:lstStyle/>
                    <a:p>
                      <a:pPr algn="ctr"/>
                      <a:r>
                        <a:rPr sz="800" b="0" i="0">
                          <a:solidFill>
                            <a:srgbClr val="0D0D0D"/>
                          </a:solidFill>
                          <a:latin typeface="Calibri"/>
                        </a:rPr>
                        <a:t>7,5x</a:t>
                      </a:r>
                    </a:p>
                  </a:txBody>
                  <a:tcPr>
                    <a:solidFill>
                      <a:srgbClr val="FFFFFF"/>
                    </a:solidFill>
                  </a:tcPr>
                </a:tc>
                <a:tc>
                  <a:txBody>
                    <a:bodyPr/>
                    <a:lstStyle/>
                    <a:p>
                      <a:pPr algn="ctr"/>
                      <a:r>
                        <a:rPr sz="800" b="0" i="0">
                          <a:solidFill>
                            <a:srgbClr val="0D0D0D"/>
                          </a:solidFill>
                          <a:latin typeface="Calibri"/>
                        </a:rPr>
                        <a:t>-30,0x</a:t>
                      </a:r>
                    </a:p>
                  </a:txBody>
                  <a:tcPr>
                    <a:solidFill>
                      <a:srgbClr val="FFFFFF"/>
                    </a:solidFill>
                  </a:tcPr>
                </a:tc>
                <a:tc>
                  <a:txBody>
                    <a:bodyPr/>
                    <a:lstStyle/>
                    <a:p>
                      <a:pPr algn="ctr"/>
                      <a:r>
                        <a:rPr sz="800" b="0" i="0">
                          <a:solidFill>
                            <a:srgbClr val="0D0D0D"/>
                          </a:solidFill>
                          <a:latin typeface="Calibri"/>
                        </a:rPr>
                        <a:t>18,0 %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-12,5x</a:t>
                      </a:r>
                    </a:p>
                  </a:txBody>
                  <a:tcPr>
                    <a:solidFill>
                      <a:srgbClr val="F7F8FA"/>
                    </a:solidFill>
                  </a:tcPr>
                </a:tc>
                <a:tc>
                  <a:txBody>
                    <a:bodyPr/>
                    <a:lstStyle/>
                    <a:p>
                      <a:pPr algn="ctr"/>
                      <a:r>
                        <a:rPr sz="800" b="1" i="0">
                          <a:solidFill>
                            <a:srgbClr val="0D0D0D"/>
                          </a:solidFill>
                          <a:latin typeface="Calibri"/>
                        </a:rPr>
                        <a:t>2,1x</a:t>
                      </a:r>
                    </a:p>
                  </a:txBody>
                  <a:tcPr>
                    <a:solidFill>
                      <a:srgbClr val="F7F8FA"/>
                    </a:solidFill>
                  </a:tcPr>
                </a:tc>
                <a:tc>
                  <a:txBody>
                    <a:bodyPr/>
                    <a:lstStyle/>
                    <a:p>
                      <a:pPr algn="ctr"/>
                      <a:r>
                        <a:rPr sz="800" b="1" i="0">
                          <a:solidFill>
                            <a:srgbClr val="0D0D0D"/>
                          </a:solidFill>
                          <a:latin typeface="Calibri"/>
                        </a:rPr>
                        <a:t>-18,3x</a:t>
                      </a:r>
                    </a:p>
                  </a:txBody>
                  <a:tcPr>
                    <a:solidFill>
                      <a:srgbClr val="F7F8FA"/>
                    </a:solidFill>
                  </a:tcPr>
                </a:tc>
                <a:tc>
                  <a:txBody>
                    <a:bodyPr/>
                    <a:lstStyle/>
                    <a:p>
                      <a:pPr algn="ctr"/>
                      <a:r>
                        <a:rPr sz="800" b="1" i="0">
                          <a:solidFill>
                            <a:srgbClr val="0D0D0D"/>
                          </a:solidFill>
                          <a:latin typeface="Calibri"/>
                        </a:rPr>
                        <a:t>14,0 %</a:t>
                      </a:r>
                    </a:p>
                  </a:txBody>
                  <a:tcPr>
                    <a:solidFill>
                      <a:srgbClr val="F7F8FA"/>
                    </a:solidFill>
                  </a:tcPr>
                </a:tc>
                <a:tc>
                  <a:txBody>
                    <a:bodyPr/>
                    <a:lstStyle/>
                    <a:p>
                      <a:pPr algn="ctr"/>
                      <a:r>
                        <a:rPr sz="800" b="1" i="0">
                          <a:solidFill>
                            <a:srgbClr val="0D0D0D"/>
                          </a:solidFill>
                          <a:latin typeface="Calibri"/>
                        </a:rPr>
                        <a:t>-8,0 %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Tesla affiche une prime de 450% sur l'EV/EBITDA médiane peers (109,9x vs ~20x pour BYD, NIO, XPeng, Rivian, Lucid) et de 200% sur le P/E (342,9x vs ~150x). Cette prime est partiellement justifiée par la diversification (énergie, logiciel) et l'avance technologique, mais une convergence vers la médiane peers impliquerait un downside de 30-40% sur les multiples actuels.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estimé à 360 USD (base), soit une légère décote vs cours actuel (346,65 USD). L'upside est limité par une prime de croissance déjà pricee, mais un déclenchement de la marge opérationnelle ou une accélération du FSD pourrait justifier un re-rating.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342,9x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600000"/>
            <a:ext cx="8413200" cy="648000"/>
          </a:xfrm>
          <a:prstGeom prst="rect">
            <a:avLst/>
          </a:prstGeom>
          <a:noFill/>
        </p:spPr>
        <p:txBody>
          <a:bodyPr wrap="square">
            <a:spAutoFit/>
          </a:bodyPr>
          <a:lstStyle/>
          <a:p>
            <a:pPr algn="l"/>
            <a:r>
              <a:rPr sz="850" b="0" i="0">
                <a:solidFill>
                  <a:srgbClr val="555555"/>
                </a:solidFill>
                <a:latin typeface="Calibri"/>
              </a:rPr>
              <a:t>Le P/E affiche une expansion multiple de 239.5x sur la période (103,4x → 342,9x), signal d’une réévaluation favorable du profil de croissance. L’EV/EBITDA diverge à 109,9x vs 72,9x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TextBox 35"/>
          <p:cNvSpPr txBox="1"/>
          <p:nvPr/>
        </p:nvSpPr>
        <p:spPr>
          <a:xfrm>
            <a:off x="367200" y="3708000"/>
            <a:ext cx="8413200" cy="576000"/>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TextBox 25"/>
          <p:cNvSpPr txBox="1"/>
          <p:nvPr/>
        </p:nvSpPr>
        <p:spPr>
          <a:xfrm>
            <a:off x="367200" y="4176000"/>
            <a:ext cx="8413200" cy="576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érosion rapide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brutes de 18% reposent sur des prix de vente gonflés par des subventions chinoises, déjà réduites de 30% en 2024, menaçant la compétitivité. La trésorerie nette de 22,5 Md$ cache 11,8 Md$ de dettes court terme dues en 2025, soit 52% des actifs liquides. Le ROE de 4,6% est inférieur au coût moyen pondéré du capital (WACC) de 7,2%, détruisant toute création de valeur actionnariale.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Dettes court terme explosives</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L'intégration verticale alourdit les coûts fixes de 18% depuis 2023, avec des pertes de 1,2 Md$ sur les batteries en 2024, malgré des volumes en hausse de 40%. Le ratio NetDebt/EBITDA de -0.71x masque un EBITDA en baisse de 15% sur un an, sous pression des rabais promotionnels de 8% sur les Model 3/Y. Les marges nettes de 4% sont insuffisantes pour absorber un choc de 500 M$ sur les rappels 2025,</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Croissance en négatif</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L'Altman Z-score de 15,62 est un artefact statistique : 92% des actifs sont des stocks et créances clients, illiquides en cas de crise. Le P/E de 342,85x suppose une croissance perpétuelle des ventes, or le RevGrowth de -3% en 2025 confirme un marché saturé. L'EV/EBITDA de 109,86x ignore que 60% de l'EBITDA provient de crédits carbone, éliminés progressivement d'ici 2027.</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entraînant une baisse de 20% de la demande automobile en 2026</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Interdiction des ventes de véhicules électriques en Chine d'ici 2028 en raison de tensions géopolitiques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 de 12 mois dans le lancement de la Cybertruck 2.0 avec une capacité de production inférieure à 150 000 unités/an</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+0,411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57,4 %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20</a:t>
                      </a:r>
                    </a:p>
                  </a:txBody>
                  <a:tcPr>
                    <a:solidFill>
                      <a:srgbClr val="EAF4EF"/>
                    </a:solidFill>
                  </a:tcPr>
                </a:tc>
                <a:tc>
                  <a:txBody>
                    <a:bodyPr/>
                    <a:lstStyle/>
                    <a:p>
                      <a:pPr algn="ctr"/>
                      <a:r>
                        <a:rPr sz="800" b="0" i="0">
                          <a:solidFill>
                            <a:srgbClr val="0D0D0D"/>
                          </a:solidFill>
                          <a:latin typeface="Calibri"/>
                        </a:rPr>
                        <a:t>+0,574</a:t>
                      </a:r>
                    </a:p>
                  </a:txBody>
                  <a:tcPr>
                    <a:solidFill>
                      <a:srgbClr val="EAF4EF"/>
                    </a:solidFill>
                  </a:tcPr>
                </a:tc>
                <a:tc>
                  <a:txBody>
                    <a:bodyPr/>
                    <a:lstStyle/>
                    <a:p>
                      <a:pPr algn="ctr"/>
                      <a:r>
                        <a:rPr sz="800" b="0" i="0">
                          <a:solidFill>
                            <a:srgbClr val="0D0D0D"/>
                          </a:solidFill>
                          <a:latin typeface="Calibri"/>
                        </a:rPr>
                        <a:t>Croissance du segment FSD avec 1,2M d'abonnés fin 2026, générant +1,5 Md$ de revenus récurrents annuels | Expansion internationale avec Gigafactory Berlin et Texas atteignant 1M de véhicules produits/an d'ici 2027 | Réduction des coûts…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6</a:t>
                      </a:r>
                    </a:p>
                  </a:txBody>
                  <a:tcPr>
                    <a:solidFill>
                      <a:srgbClr val="FFFFFF"/>
                    </a:solidFill>
                  </a:tcPr>
                </a:tc>
                <a:tc>
                  <a:txBody>
                    <a:bodyPr/>
                    <a:lstStyle/>
                    <a:p>
                      <a:pPr algn="ctr"/>
                      <a:r>
                        <a:rPr sz="800" b="0" i="0">
                          <a:solidFill>
                            <a:srgbClr val="0D0D0D"/>
                          </a:solidFill>
                          <a:latin typeface="Calibri"/>
                        </a:rPr>
                        <a:t>+0,264</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4</a:t>
                      </a:r>
                    </a:p>
                  </a:txBody>
                  <a:tcPr>
                    <a:solidFill>
                      <a:srgbClr val="FAF0EF"/>
                    </a:solidFill>
                  </a:tcPr>
                </a:tc>
                <a:tc>
                  <a:txBody>
                    <a:bodyPr/>
                    <a:lstStyle/>
                    <a:p>
                      <a:pPr algn="ctr"/>
                      <a:r>
                        <a:rPr sz="800" b="0" i="0">
                          <a:solidFill>
                            <a:srgbClr val="0D0D0D"/>
                          </a:solidFill>
                          <a:latin typeface="Calibri"/>
                        </a:rPr>
                        <a:t>+0,163</a:t>
                      </a:r>
                    </a:p>
                  </a:txBody>
                  <a:tcPr>
                    <a:solidFill>
                      <a:srgbClr val="FAF0EF"/>
                    </a:solidFill>
                  </a:tcPr>
                </a:tc>
                <a:tc>
                  <a:txBody>
                    <a:bodyPr/>
                    <a:lstStyle/>
                    <a:p>
                      <a:pPr algn="ctr"/>
                      <a:r>
                        <a:rPr sz="800" b="0" i="0">
                          <a:solidFill>
                            <a:srgbClr val="0D0D0D"/>
                          </a:solidFill>
                          <a:latin typeface="Calibri"/>
                        </a:rPr>
                        <a:t>Concurrence accrue des constructeurs chinois (BYD, NIO) avec des prix 30% inférieurs, menaçant les parts de marché en Europe et Asie | Régulation environnementale stricte (ex: interdiction des moteurs thermiques en UE d'ici 2035) pouvant…</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Tesla cette semaine, portée par des prévisions de livraisons record et des partenariats stratégiques majeurs. Les analystes soulignent également un potentiel de hausse significatif, renforçant le sentiment positif autour de l'action.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Tesla se négocie à des multiples extrêmes (EV/EBITDA 109,9x, P/E 342,9x) reflétant une prime de croissance déjà intégrée. La décote par rapport à la médiane des peers (ex: BYD EV/EBITDA ~20x) suggère un risque de re-rating à la baisse si la croissance ralentit.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346,65 $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TextBox 34"/>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Tesla affiche une résilience opérationnelle malgré un ralentissement des revenus en 2025, avec des marges sous pression mais une trésorerie solide. Le titre reste surévalué en absolu mais offre un potentiel de re-rating si les coûts logistiques et énergétiques se normalisent.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8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55%</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Lancement commercial de la Cybertruck en 2026 avec un prix cible de 79 990 USD et une capacité de production de 250 000 unités/an</a:t>
            </a:r>
          </a:p>
        </p:txBody>
      </p:sp>
      <p:sp>
        <p:nvSpPr>
          <p:cNvPr id="31" name="Rectangle 30"/>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Expansion du segment FSD (Full Self-Driving) avec un abonnement à 199 USD/mois et 1,2 million d'utilisateurs actifs fin 2026</a:t>
            </a:r>
          </a:p>
        </p:txBody>
      </p:sp>
      <p:sp>
        <p:nvSpPr>
          <p:cNvPr id="33" name="Rectangle 32"/>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Réduction des coûts logistiques de 15% via l'optimisation des Gigafactories et l'automatisation des lignes de production d'ici 2027</a:t>
            </a:r>
          </a:p>
        </p:txBody>
      </p:sp>
      <p:sp>
        <p:nvSpPr>
          <p:cNvPr id="35" name="Rectangle 34"/>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7" name="TextBox 36"/>
          <p:cNvSpPr txBox="1"/>
          <p:nvPr/>
        </p:nvSpPr>
        <p:spPr>
          <a:xfrm>
            <a:off x="3401999" y="2412000"/>
            <a:ext cx="2556000" cy="162000"/>
          </a:xfrm>
          <a:prstGeom prst="rect">
            <a:avLst/>
          </a:prstGeom>
          <a:noFill/>
        </p:spPr>
        <p:txBody>
          <a:bodyPr wrap="none">
            <a:spAutoFit/>
          </a:bodyPr>
          <a:lstStyle/>
          <a:p>
            <a:pPr algn="l"/>
            <a:r>
              <a:rPr sz="700" b="0" i="0">
                <a:solidFill>
                  <a:srgbClr val="555555"/>
                </a:solidFill>
                <a:latin typeface="Calibri"/>
              </a:rPr>
              <a:t>• Croissance du segment FSD avec 1,2M d'abonnés fin 2026, générant</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162000"/>
          </a:xfrm>
          <a:prstGeom prst="rect">
            <a:avLst/>
          </a:prstGeom>
          <a:noFill/>
        </p:spPr>
        <p:txBody>
          <a:bodyPr wrap="none">
            <a:spAutoFit/>
          </a:bodyPr>
          <a:lstStyle/>
          <a:p>
            <a:pPr algn="l"/>
            <a:r>
              <a:rPr sz="700" b="0" i="0">
                <a:solidFill>
                  <a:srgbClr val="555555"/>
                </a:solidFill>
                <a:latin typeface="Calibri"/>
              </a:rPr>
              <a:t>• Concurrence accrue des constructeurs chinois (BYD, NIO) avec des</a:t>
            </a:r>
          </a:p>
        </p:txBody>
      </p:sp>
      <p:sp>
        <p:nvSpPr>
          <p:cNvPr id="41" name="Rectangle 40"/>
          <p:cNvSpPr/>
          <p:nvPr/>
        </p:nvSpPr>
        <p:spPr>
          <a:xfrm>
            <a:off x="3311999" y="2743200"/>
            <a:ext cx="5472000" cy="162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311999" y="2743200"/>
            <a:ext cx="36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01999" y="2757600"/>
            <a:ext cx="5346000" cy="136800"/>
          </a:xfrm>
          <a:prstGeom prst="rect">
            <a:avLst/>
          </a:prstGeom>
          <a:noFill/>
        </p:spPr>
        <p:txBody>
          <a:bodyPr wrap="square">
            <a:spAutoFit/>
          </a:bodyPr>
          <a:lstStyle/>
          <a:p>
            <a:pPr algn="l"/>
            <a:r>
              <a:rPr sz="750" b="0" i="0">
                <a:solidFill>
                  <a:srgbClr val="7A5000"/>
                </a:solidFill>
                <a:latin typeface="Calibri"/>
              </a:rPr>
              <a:t>⚠ Conditions d’invalidation : Macro: Récession mondiale entraînant une baisse de 20% de la demand  ·  Sectoriel: Interdiction des ventes de véhicules électriques en Chine d'</a:t>
            </a:r>
          </a:p>
        </p:txBody>
      </p:sp>
      <p:sp>
        <p:nvSpPr>
          <p:cNvPr id="44" name="TextBox 43"/>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