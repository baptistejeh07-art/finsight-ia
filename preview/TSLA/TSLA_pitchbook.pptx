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794232"/>
          </a:xfrm>
          <a:prstGeom prst="rect">
            <a:avLst/>
          </a:prstGeom>
          <a:noFill/>
        </p:spPr>
        <p:txBody>
          <a:bodyPr wrap="square">
            <a:spAutoFit/>
          </a:bodyPr>
          <a:lstStyle/>
          <a:p>
            <a:pPr algn="ctr"/>
            <a:r>
              <a:rPr sz="4000" b="1" i="0">
                <a:solidFill>
                  <a:srgbClr val="1B3A6B"/>
                </a:solidFill>
                <a:latin typeface="Calibri"/>
              </a:rPr>
              <a:t>Tesla, Inc.</a:t>
            </a:r>
          </a:p>
        </p:txBody>
      </p:sp>
      <p:sp>
        <p:nvSpPr>
          <p:cNvPr id="7" name="TextBox 6"/>
          <p:cNvSpPr txBox="1"/>
          <p:nvPr/>
        </p:nvSpPr>
        <p:spPr>
          <a:xfrm>
            <a:off x="457200" y="2345832"/>
            <a:ext cx="8229600" cy="255600"/>
          </a:xfrm>
          <a:prstGeom prst="rect">
            <a:avLst/>
          </a:prstGeom>
          <a:noFill/>
        </p:spPr>
        <p:txBody>
          <a:bodyPr wrap="square">
            <a:spAutoFit/>
          </a:bodyPr>
          <a:lstStyle/>
          <a:p>
            <a:pPr algn="ctr"/>
            <a:r>
              <a:rPr sz="1100" b="0" i="0">
                <a:solidFill>
                  <a:srgbClr val="888888"/>
                </a:solidFill>
                <a:latin typeface="Calibri"/>
              </a:rPr>
              <a:t>TSLA  ·  Consumer Cyclical</a:t>
            </a:r>
          </a:p>
        </p:txBody>
      </p:sp>
      <p:sp>
        <p:nvSpPr>
          <p:cNvPr id="8" name="Rectangle 7"/>
          <p:cNvSpPr/>
          <p:nvPr/>
        </p:nvSpPr>
        <p:spPr>
          <a:xfrm>
            <a:off x="2771999" y="2720232"/>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738232"/>
            <a:ext cx="3491999" cy="395999"/>
          </a:xfrm>
          <a:prstGeom prst="rect">
            <a:avLst/>
          </a:prstGeom>
          <a:noFill/>
        </p:spPr>
        <p:txBody>
          <a:bodyPr wrap="square">
            <a:spAutoFit/>
          </a:bodyPr>
          <a:lstStyle/>
          <a:p>
            <a:pPr algn="ctr"/>
            <a:r>
              <a:rPr sz="900" b="1" i="0">
                <a:solidFill>
                  <a:srgbClr val="FFFFFF"/>
                </a:solidFill>
                <a:latin typeface="Calibri"/>
              </a:rPr>
              <a:t>● HOLD  ·  Prix cible base : 360 $  ·  Upside : +3,9 %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360 $  ·  Upside : +3,9 %  ·  Bear : 290 $ (-16,3 %)  ·  Bull : 420 $ (+21,2 %)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Leadership technologique</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Tesla bénéficie d'une avance technologique unique avec son logiciel FSD (Full Self-Driving) valorisé à 56 milliards USD en 2025</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Intégration verticale</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La marge brute devrait se stabiliser à 18% en 2026 grâce à la réduction des coûts de batterie (-15% vs 2024) et à la montée en puissance du segment Energy</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Réseau Superchargeurs</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Le lancement du Robotaxi en 2027 pourrait générer 20 milliards USD de revenus annuels supplémentaires d'ici 2029.</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Concurrence accrue</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Guerre des prix en Chine (-15% en 2024) pourrait s'étendre à l'Europe, comprimant les marges de 3-4 pts | Horizon 2026-2027, ampleur -10% CA</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Régulation</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Régulation chinoise accrue (taxes à l'export) pourrait réduire les marges de 5 pts | Horizon 12-18 mois, ampleur -8% EBITDA</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Dépendance Chine</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Concurrence accrue (BYD, Rivian) sur le segment premium avec des prix 20% inférieurs | Horizon 2026, ampleur -5% part de marché</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square">
            <a:spAutoFit/>
          </a:bodyPr>
          <a:lstStyle/>
          <a:p>
            <a:pPr algn="l"/>
            <a:r>
              <a:rPr sz="750" b="0" i="0">
                <a:solidFill>
                  <a:srgbClr val="333333"/>
                </a:solidFill>
                <a:latin typeface="Calibri"/>
              </a:rPr>
              <a:t>Robotaxi 2027: Le lancement du Robotaxi en 2027 pourrait générer</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square">
            <a:spAutoFit/>
          </a:bodyPr>
          <a:lstStyle/>
          <a:p>
            <a:pPr algn="l"/>
            <a:r>
              <a:rPr sz="750" b="0" i="0">
                <a:solidFill>
                  <a:srgbClr val="333333"/>
                </a:solidFill>
                <a:latin typeface="Calibri"/>
              </a:rPr>
              <a:t>Superchargeurs: L'expansion du réseau Superchargeurs (+20% en</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342,9x</a:t>
                      </a:r>
                    </a:p>
                  </a:txBody>
                  <a:tcPr>
                    <a:solidFill>
                      <a:srgbClr val="FFFFFF"/>
                    </a:solidFill>
                  </a:tcPr>
                </a:tc>
                <a:tc>
                  <a:txBody>
                    <a:bodyPr/>
                    <a:lstStyle/>
                    <a:p>
                      <a:pPr algn="ctr"/>
                      <a:r>
                        <a:rPr sz="800" b="0" i="0">
                          <a:solidFill>
                            <a:srgbClr val="0D0D0D"/>
                          </a:solidFill>
                          <a:latin typeface="Calibri"/>
                        </a:rPr>
                        <a:t>-9,1x</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109,9x</a:t>
                      </a:r>
                    </a:p>
                  </a:txBody>
                  <a:tcPr>
                    <a:solidFill>
                      <a:srgbClr val="F7F8FA"/>
                    </a:solidFill>
                  </a:tcPr>
                </a:tc>
                <a:tc>
                  <a:txBody>
                    <a:bodyPr/>
                    <a:lstStyle/>
                    <a:p>
                      <a:pPr algn="ctr"/>
                      <a:r>
                        <a:rPr sz="800" b="0" i="0">
                          <a:solidFill>
                            <a:srgbClr val="0D0D0D"/>
                          </a:solidFill>
                          <a:latin typeface="Calibri"/>
                        </a:rPr>
                        <a:t>-14,5x</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360 $</a:t>
                      </a:r>
                    </a:p>
                  </a:txBody>
                  <a:tcPr>
                    <a:solidFill>
                      <a:srgbClr val="FFFFFF"/>
                    </a:solidFill>
                  </a:tcPr>
                </a:tc>
                <a:tc>
                  <a:txBody>
                    <a:bodyPr/>
                    <a:lstStyle/>
                    <a:p>
                      <a:pPr algn="ctr"/>
                      <a:r>
                        <a:rPr sz="800" b="0" i="0">
                          <a:solidFill>
                            <a:srgbClr val="0D0D0D"/>
                          </a:solidFill>
                          <a:latin typeface="Calibri"/>
                        </a:rPr>
                        <a:t>Upside +3,9 %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109,9x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-14,5x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14,8 %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1,92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360 $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+3,9 %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+0,381</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Tesla, Inc.  ·  Consumer Cyclical</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Concurrence accrue  ·  Régulation</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Tesla, Inc.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Tesla, Inc. conçoit, fabrique et vend des véhicules électriques haut de gamme ainsi que des solutions de stockage d'énergie et de panneaux solaires. Positionné comme leader technologique, Tesla combine innovation logicielle (FSD), intégration verticale et économies d'échelle pour dominer le marché des VE. Ses avantages incluent un réseau Superchargeurs exclusif, une marque premium et une avance en automatisation industrielle. L'entreprise articule son activité autour de deux segments stratégiques :</a:t>
            </a:r>
          </a:p>
        </p:txBody>
      </p:sp>
      <p:sp>
        <p:nvSpPr>
          <p:cNvPr id="20" name="Rectangle 19"/>
          <p:cNvSpPr/>
          <p:nvPr/>
        </p:nvSpPr>
        <p:spPr>
          <a:xfrm>
            <a:off x="503999" y="2599200"/>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19200" y="2556000"/>
            <a:ext cx="4338000" cy="165600"/>
          </a:xfrm>
          <a:prstGeom prst="rect">
            <a:avLst/>
          </a:prstGeom>
          <a:noFill/>
        </p:spPr>
        <p:txBody>
          <a:bodyPr wrap="square">
            <a:spAutoFit/>
          </a:bodyPr>
          <a:lstStyle/>
          <a:p>
            <a:pPr algn="l"/>
            <a:r>
              <a:rPr sz="850" b="1" i="0">
                <a:solidFill>
                  <a:srgbClr val="0D0D0D"/>
                </a:solidFill>
                <a:latin typeface="Calibri"/>
              </a:rPr>
              <a:t>Automotive</a:t>
            </a:r>
          </a:p>
        </p:txBody>
      </p:sp>
      <p:sp>
        <p:nvSpPr>
          <p:cNvPr id="22" name="TextBox 21"/>
          <p:cNvSpPr txBox="1"/>
          <p:nvPr/>
        </p:nvSpPr>
        <p:spPr>
          <a:xfrm>
            <a:off x="619200" y="2714400"/>
            <a:ext cx="4338000" cy="503999"/>
          </a:xfrm>
          <a:prstGeom prst="rect">
            <a:avLst/>
          </a:prstGeom>
          <a:noFill/>
        </p:spPr>
        <p:txBody>
          <a:bodyPr wrap="square">
            <a:spAutoFit/>
          </a:bodyPr>
          <a:lstStyle/>
          <a:p>
            <a:pPr algn="l"/>
            <a:r>
              <a:rPr sz="750" b="0" i="1">
                <a:solidFill>
                  <a:srgbClr val="555555"/>
                </a:solidFill>
                <a:latin typeface="Calibri"/>
              </a:rPr>
              <a:t>Segment phare générant 90% des revenus via ventes de véhicules électriques (Model Y, Model 3, Cybertruck) et services associés (abonnements FSD, maintenance). Cible les consommateurs premium et les flottes commerciales. Croissance tirée par l'expansion internationale (Allemagne, Texas) et la réduction des coûts via Gigafactories.</a:t>
            </a:r>
          </a:p>
        </p:txBody>
      </p:sp>
      <p:sp>
        <p:nvSpPr>
          <p:cNvPr id="23" name="Rectangle 22"/>
          <p:cNvSpPr/>
          <p:nvPr/>
        </p:nvSpPr>
        <p:spPr>
          <a:xfrm>
            <a:off x="503999" y="3301199"/>
            <a:ext cx="64800" cy="6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9200" y="3257999"/>
            <a:ext cx="4338000" cy="165600"/>
          </a:xfrm>
          <a:prstGeom prst="rect">
            <a:avLst/>
          </a:prstGeom>
          <a:noFill/>
        </p:spPr>
        <p:txBody>
          <a:bodyPr wrap="square">
            <a:spAutoFit/>
          </a:bodyPr>
          <a:lstStyle/>
          <a:p>
            <a:pPr algn="l"/>
            <a:r>
              <a:rPr sz="850" b="1" i="0">
                <a:solidFill>
                  <a:srgbClr val="0D0D0D"/>
                </a:solidFill>
                <a:latin typeface="Calibri"/>
              </a:rPr>
              <a:t>Energy Generation and Storage</a:t>
            </a:r>
          </a:p>
        </p:txBody>
      </p:sp>
      <p:sp>
        <p:nvSpPr>
          <p:cNvPr id="25" name="TextBox 24"/>
          <p:cNvSpPr txBox="1"/>
          <p:nvPr/>
        </p:nvSpPr>
        <p:spPr>
          <a:xfrm>
            <a:off x="619200" y="3416399"/>
            <a:ext cx="4338000" cy="503999"/>
          </a:xfrm>
          <a:prstGeom prst="rect">
            <a:avLst/>
          </a:prstGeom>
          <a:noFill/>
        </p:spPr>
        <p:txBody>
          <a:bodyPr wrap="square">
            <a:spAutoFit/>
          </a:bodyPr>
          <a:lstStyle/>
          <a:p>
            <a:pPr algn="l"/>
            <a:r>
              <a:rPr sz="750" b="0" i="1">
                <a:solidFill>
                  <a:srgbClr val="555555"/>
                </a:solidFill>
                <a:latin typeface="Calibri"/>
              </a:rPr>
              <a:t>Vend des batteries Powerwall, Megapack et des solutions solaires pour particuliers et entreprises. Modèle récurrent via contrats de maintenance et ventes de stockage. Clients sensibles aux coûts énergétiques et à la résilience des réseaux. Croissance liée à la transition énergétique et aux subventions gouvernementales.</a:t>
            </a:r>
          </a:p>
        </p:txBody>
      </p:sp>
      <p:sp>
        <p:nvSpPr>
          <p:cNvPr id="26" name="Rectangle 25"/>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1 300,8 Mds$</a:t>
            </a:r>
          </a:p>
        </p:txBody>
      </p:sp>
      <p:sp>
        <p:nvSpPr>
          <p:cNvPr id="29" name="TextBox 28"/>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30" name="Rectangle 29"/>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94,8 Mds$</a:t>
            </a:r>
          </a:p>
        </p:txBody>
      </p:sp>
      <p:sp>
        <p:nvSpPr>
          <p:cNvPr id="33" name="TextBox 32"/>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34" name="Rectangle 33"/>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346,65 $</a:t>
            </a:r>
          </a:p>
        </p:txBody>
      </p:sp>
      <p:sp>
        <p:nvSpPr>
          <p:cNvPr id="37" name="TextBox 36"/>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8" name="Rectangle 37"/>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109,9x</a:t>
            </a:r>
          </a:p>
        </p:txBody>
      </p:sp>
      <p:sp>
        <p:nvSpPr>
          <p:cNvPr id="41" name="TextBox 40"/>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42" name="TextBox 41"/>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342,9x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4150800"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1508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3970800" cy="640800"/>
          </a:xfrm>
          <a:prstGeom prst="rect">
            <a:avLst/>
          </a:prstGeom>
          <a:noFill/>
        </p:spPr>
        <p:txBody>
          <a:bodyPr wrap="square">
            <a:spAutoFit/>
          </a:bodyPr>
          <a:lstStyle/>
          <a:p>
            <a:pPr algn="l"/>
            <a:r>
              <a:rPr sz="2200" b="1" i="0">
                <a:solidFill>
                  <a:srgbClr val="2E5FA3"/>
                </a:solidFill>
                <a:latin typeface="Calibri"/>
              </a:rPr>
              <a:t>90%</a:t>
            </a:r>
          </a:p>
        </p:txBody>
      </p:sp>
      <p:sp>
        <p:nvSpPr>
          <p:cNvPr id="20" name="TextBox 19"/>
          <p:cNvSpPr txBox="1"/>
          <p:nvPr/>
        </p:nvSpPr>
        <p:spPr>
          <a:xfrm>
            <a:off x="4572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3970800" cy="255600"/>
          </a:xfrm>
          <a:prstGeom prst="rect">
            <a:avLst/>
          </a:prstGeom>
          <a:noFill/>
        </p:spPr>
        <p:txBody>
          <a:bodyPr wrap="square">
            <a:spAutoFit/>
          </a:bodyPr>
          <a:lstStyle/>
          <a:p>
            <a:pPr algn="l"/>
            <a:r>
              <a:rPr sz="1000" b="1" i="0">
                <a:solidFill>
                  <a:srgbClr val="1B3A6B"/>
                </a:solidFill>
                <a:latin typeface="Calibri"/>
              </a:rPr>
              <a:t>Automotive</a:t>
            </a:r>
          </a:p>
        </p:txBody>
      </p:sp>
      <p:sp>
        <p:nvSpPr>
          <p:cNvPr id="23" name="TextBox 22"/>
          <p:cNvSpPr txBox="1"/>
          <p:nvPr/>
        </p:nvSpPr>
        <p:spPr>
          <a:xfrm>
            <a:off x="457200" y="2332800"/>
            <a:ext cx="3970800" cy="2041199"/>
          </a:xfrm>
          <a:prstGeom prst="rect">
            <a:avLst/>
          </a:prstGeom>
          <a:noFill/>
        </p:spPr>
        <p:txBody>
          <a:bodyPr wrap="square">
            <a:spAutoFit/>
          </a:bodyPr>
          <a:lstStyle/>
          <a:p>
            <a:pPr algn="l"/>
            <a:r>
              <a:rPr sz="800" b="0" i="0">
                <a:solidFill>
                  <a:srgbClr val="555555"/>
                </a:solidFill>
                <a:latin typeface="Calibri"/>
              </a:rPr>
              <a:t>Segment phare générant 90% des revenus via ventes de véhicules électriques (Model Y, Model 3, Cybertruck) et services associés (abonnements FSD, maintenance). Cible les consommateurs premium et les flottes commerciales. Croissance tirée par l'expansion internationale (Allemagne, Texas) et la réduction des coûts via Gigafactories.</a:t>
            </a:r>
          </a:p>
        </p:txBody>
      </p:sp>
      <p:sp>
        <p:nvSpPr>
          <p:cNvPr id="24" name="Rectangle 23"/>
          <p:cNvSpPr/>
          <p:nvPr/>
        </p:nvSpPr>
        <p:spPr>
          <a:xfrm>
            <a:off x="4626000" y="961200"/>
            <a:ext cx="4150800"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626000" y="961200"/>
            <a:ext cx="4150800"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16000" y="1141200"/>
            <a:ext cx="3970800" cy="640800"/>
          </a:xfrm>
          <a:prstGeom prst="rect">
            <a:avLst/>
          </a:prstGeom>
          <a:noFill/>
        </p:spPr>
        <p:txBody>
          <a:bodyPr wrap="square">
            <a:spAutoFit/>
          </a:bodyPr>
          <a:lstStyle/>
          <a:p>
            <a:pPr algn="l"/>
            <a:r>
              <a:rPr sz="2200" b="1" i="0">
                <a:solidFill>
                  <a:srgbClr val="1A7A4A"/>
                </a:solidFill>
                <a:latin typeface="Calibri"/>
              </a:rPr>
              <a:t>10%</a:t>
            </a:r>
          </a:p>
        </p:txBody>
      </p:sp>
      <p:sp>
        <p:nvSpPr>
          <p:cNvPr id="27" name="TextBox 26"/>
          <p:cNvSpPr txBox="1"/>
          <p:nvPr/>
        </p:nvSpPr>
        <p:spPr>
          <a:xfrm>
            <a:off x="4716000" y="1785600"/>
            <a:ext cx="3970800"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4716000" y="1965600"/>
            <a:ext cx="3970800"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16000" y="2059200"/>
            <a:ext cx="3970800" cy="255600"/>
          </a:xfrm>
          <a:prstGeom prst="rect">
            <a:avLst/>
          </a:prstGeom>
          <a:noFill/>
        </p:spPr>
        <p:txBody>
          <a:bodyPr wrap="square">
            <a:spAutoFit/>
          </a:bodyPr>
          <a:lstStyle/>
          <a:p>
            <a:pPr algn="l"/>
            <a:r>
              <a:rPr sz="1000" b="1" i="0">
                <a:solidFill>
                  <a:srgbClr val="1B3A6B"/>
                </a:solidFill>
                <a:latin typeface="Calibri"/>
              </a:rPr>
              <a:t>Energy Generation and Storage</a:t>
            </a:r>
          </a:p>
        </p:txBody>
      </p:sp>
      <p:sp>
        <p:nvSpPr>
          <p:cNvPr id="30" name="TextBox 29"/>
          <p:cNvSpPr txBox="1"/>
          <p:nvPr/>
        </p:nvSpPr>
        <p:spPr>
          <a:xfrm>
            <a:off x="4716000" y="2332800"/>
            <a:ext cx="3970800" cy="2041199"/>
          </a:xfrm>
          <a:prstGeom prst="rect">
            <a:avLst/>
          </a:prstGeom>
          <a:noFill/>
        </p:spPr>
        <p:txBody>
          <a:bodyPr wrap="square">
            <a:spAutoFit/>
          </a:bodyPr>
          <a:lstStyle/>
          <a:p>
            <a:pPr algn="l"/>
            <a:r>
              <a:rPr sz="800" b="0" i="0">
                <a:solidFill>
                  <a:srgbClr val="555555"/>
                </a:solidFill>
                <a:latin typeface="Calibri"/>
              </a:rPr>
              <a:t>Vend des batteries Powerwall, Megapack et des solutions solaires pour particuliers et entreprises. Modèle récurrent via contrats de maintenance et ventes de stockage. Clients sensibles aux coûts énergétiques et à la résilience des réseaux. Croissance liée à la transition énergétique et aux subventions gouvernementales.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2022–2027F</a:t>
            </a:r>
          </a:p>
        </p:txBody>
      </p:sp>
      <p:graphicFrame>
        <p:nvGraphicFramePr>
          <p:cNvPr id="17" name="Table 16"/>
          <p:cNvGraphicFramePr>
            <a:graphicFrameLocks noGrp="1"/>
          </p:cNvGraphicFramePr>
          <p:nvPr/>
        </p:nvGraphicFramePr>
        <p:xfrm>
          <a:off x="367200" y="914400"/>
          <a:ext cx="8413196" cy="1980000"/>
        </p:xfrm>
        <a:graphic>
          <a:graphicData uri="http://schemas.openxmlformats.org/drawingml/2006/table">
            <a:tbl>
              <a:tblPr firstRow="1" bandRow="1">
                <a:tableStyleId>{5C22544A-7EE6-4342-B048-85BDC9FD1C3A}</a:tableStyleId>
              </a:tblPr>
              <a:tblGrid>
                <a:gridCol w="2355696"/>
                <a:gridCol w="1211500"/>
                <a:gridCol w="1211500"/>
                <a:gridCol w="1211500"/>
                <a:gridCol w="1211500"/>
                <a:gridCol w="1211500"/>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c>
                  <a:txBody>
                    <a:bodyPr/>
                    <a:lstStyle/>
                    <a:p>
                      <a:pPr algn="ctr"/>
                      <a:r>
                        <a:rPr sz="800" b="1" i="0">
                          <a:solidFill>
                            <a:srgbClr val="FFFFFF"/>
                          </a:solidFill>
                          <a:latin typeface="Calibri"/>
                        </a:rPr>
                        <a:t>2026F</a:t>
                      </a:r>
                    </a:p>
                  </a:txBody>
                  <a:tcPr>
                    <a:solidFill>
                      <a:srgbClr val="1B3A6B"/>
                    </a:solidFill>
                  </a:tcPr>
                </a:tc>
                <a:tc>
                  <a:txBody>
                    <a:bodyPr/>
                    <a:lstStyle/>
                    <a:p>
                      <a:pPr algn="ctr"/>
                      <a:r>
                        <a:rPr sz="800" b="1" i="0">
                          <a:solidFill>
                            <a:srgbClr val="FFFFFF"/>
                          </a:solidFill>
                          <a:latin typeface="Calibri"/>
                        </a:rPr>
                        <a:t>2027F</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96,8</a:t>
                      </a:r>
                    </a:p>
                  </a:txBody>
                  <a:tcPr>
                    <a:solidFill>
                      <a:srgbClr val="FFFFFF"/>
                    </a:solidFill>
                  </a:tcPr>
                </a:tc>
                <a:tc>
                  <a:txBody>
                    <a:bodyPr/>
                    <a:lstStyle/>
                    <a:p>
                      <a:pPr algn="ctr"/>
                      <a:r>
                        <a:rPr sz="800" b="1" i="0">
                          <a:solidFill>
                            <a:srgbClr val="0D0D0D"/>
                          </a:solidFill>
                          <a:latin typeface="Calibri"/>
                        </a:rPr>
                        <a:t>97,7</a:t>
                      </a:r>
                    </a:p>
                  </a:txBody>
                  <a:tcPr>
                    <a:solidFill>
                      <a:srgbClr val="FFFFFF"/>
                    </a:solidFill>
                  </a:tcPr>
                </a:tc>
                <a:tc>
                  <a:txBody>
                    <a:bodyPr/>
                    <a:lstStyle/>
                    <a:p>
                      <a:pPr algn="ctr"/>
                      <a:r>
                        <a:rPr sz="800" b="1" i="0">
                          <a:solidFill>
                            <a:srgbClr val="1B3A6B"/>
                          </a:solidFill>
                          <a:latin typeface="Calibri"/>
                        </a:rPr>
                        <a:t>94,8</a:t>
                      </a:r>
                    </a:p>
                  </a:txBody>
                  <a:tcPr>
                    <a:solidFill>
                      <a:srgbClr val="DDE8F5"/>
                    </a:solidFill>
                  </a:tcPr>
                </a:tc>
                <a:tc>
                  <a:txBody>
                    <a:bodyPr/>
                    <a:lstStyle/>
                    <a:p>
                      <a:pPr algn="ctr"/>
                      <a:r>
                        <a:rPr sz="800" b="1" i="0">
                          <a:solidFill>
                            <a:srgbClr val="0D0D0D"/>
                          </a:solidFill>
                          <a:latin typeface="Calibri"/>
                        </a:rPr>
                        <a:t>102,0</a:t>
                      </a:r>
                    </a:p>
                  </a:txBody>
                  <a:tcPr>
                    <a:solidFill>
                      <a:srgbClr val="FFFFFF"/>
                    </a:solidFill>
                  </a:tcPr>
                </a:tc>
                <a:tc>
                  <a:txBody>
                    <a:bodyPr/>
                    <a:lstStyle/>
                    <a:p>
                      <a:pPr algn="ctr"/>
                      <a:r>
                        <a:rPr sz="800" b="1" i="0">
                          <a:solidFill>
                            <a:srgbClr val="0D0D0D"/>
                          </a:solidFill>
                          <a:latin typeface="Calibri"/>
                        </a:rPr>
                        <a:t>120,0</a:t>
                      </a:r>
                    </a:p>
                  </a:txBody>
                  <a:tcPr>
                    <a:solidFill>
                      <a:srgbClr val="FFFFFF"/>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+18,8 %</a:t>
                      </a:r>
                    </a:p>
                  </a:txBody>
                  <a:tcPr>
                    <a:solidFill>
                      <a:srgbClr val="F7F8FA"/>
                    </a:solidFill>
                  </a:tcPr>
                </a:tc>
                <a:tc>
                  <a:txBody>
                    <a:bodyPr/>
                    <a:lstStyle/>
                    <a:p>
                      <a:pPr algn="ctr"/>
                      <a:r>
                        <a:rPr sz="750" b="0" i="1">
                          <a:solidFill>
                            <a:srgbClr val="555555"/>
                          </a:solidFill>
                          <a:latin typeface="Calibri"/>
                        </a:rPr>
                        <a:t>+1,0 %</a:t>
                      </a:r>
                    </a:p>
                  </a:txBody>
                  <a:tcPr>
                    <a:solidFill>
                      <a:srgbClr val="F7F8FA"/>
                    </a:solidFill>
                  </a:tcPr>
                </a:tc>
                <a:tc>
                  <a:txBody>
                    <a:bodyPr/>
                    <a:lstStyle/>
                    <a:p>
                      <a:pPr algn="ctr"/>
                      <a:r>
                        <a:rPr sz="750" b="0" i="1">
                          <a:solidFill>
                            <a:srgbClr val="555555"/>
                          </a:solidFill>
                          <a:latin typeface="Calibri"/>
                        </a:rPr>
                        <a:t>-3,0 %</a:t>
                      </a:r>
                    </a:p>
                  </a:txBody>
                  <a:tcPr>
                    <a:solidFill>
                      <a:srgbClr val="DDE8F5"/>
                    </a:solidFill>
                  </a:tcPr>
                </a:tc>
                <a:tc>
                  <a:txBody>
                    <a:bodyPr/>
                    <a:lstStyle/>
                    <a:p>
                      <a:pPr algn="ctr"/>
                      <a:r>
                        <a:rPr sz="750" b="0" i="1">
                          <a:solidFill>
                            <a:srgbClr val="555555"/>
                          </a:solidFill>
                          <a:latin typeface="Calibri"/>
                        </a:rPr>
                        <a:t>+780,0 %</a:t>
                      </a:r>
                    </a:p>
                  </a:txBody>
                  <a:tcPr>
                    <a:solidFill>
                      <a:srgbClr val="F7F8FA"/>
                    </a:solidFill>
                  </a:tcPr>
                </a:tc>
                <a:tc>
                  <a:txBody>
                    <a:bodyPr/>
                    <a:lstStyle/>
                    <a:p>
                      <a:pPr algn="ctr"/>
                      <a:r>
                        <a:rPr sz="750" b="0" i="1">
                          <a:solidFill>
                            <a:srgbClr val="555555"/>
                          </a:solidFill>
                          <a:latin typeface="Calibri"/>
                        </a:rPr>
                        <a:t>+1760,0 %</a:t>
                      </a:r>
                    </a:p>
                  </a:txBody>
                  <a:tcPr>
                    <a:solidFill>
                      <a:srgbClr val="F7F8FA"/>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17,7</a:t>
                      </a:r>
                    </a:p>
                  </a:txBody>
                  <a:tcPr>
                    <a:solidFill>
                      <a:srgbClr val="FFFFFF"/>
                    </a:solidFill>
                  </a:tcPr>
                </a:tc>
                <a:tc>
                  <a:txBody>
                    <a:bodyPr/>
                    <a:lstStyle/>
                    <a:p>
                      <a:pPr algn="ctr"/>
                      <a:r>
                        <a:rPr sz="800" b="1" i="0">
                          <a:solidFill>
                            <a:srgbClr val="0D0D0D"/>
                          </a:solidFill>
                          <a:latin typeface="Calibri"/>
                        </a:rPr>
                        <a:t>17,4</a:t>
                      </a:r>
                    </a:p>
                  </a:txBody>
                  <a:tcPr>
                    <a:solidFill>
                      <a:srgbClr val="FFFFFF"/>
                    </a:solidFill>
                  </a:tcPr>
                </a:tc>
                <a:tc>
                  <a:txBody>
                    <a:bodyPr/>
                    <a:lstStyle/>
                    <a:p>
                      <a:pPr algn="ctr"/>
                      <a:r>
                        <a:rPr sz="800" b="1" i="0">
                          <a:solidFill>
                            <a:srgbClr val="1B3A6B"/>
                          </a:solidFill>
                          <a:latin typeface="Calibri"/>
                        </a:rPr>
                        <a:t>17,1</a:t>
                      </a:r>
                    </a:p>
                  </a:txBody>
                  <a:tcPr>
                    <a:solidFill>
                      <a:srgbClr val="DDE8F5"/>
                    </a:solidFill>
                  </a:tcPr>
                </a:tc>
                <a:tc>
                  <a:txBody>
                    <a:bodyPr/>
                    <a:lstStyle/>
                    <a:p>
                      <a:pPr algn="ctr"/>
                      <a:r>
                        <a:rPr sz="800" b="1" i="0">
                          <a:solidFill>
                            <a:srgbClr val="0D0D0D"/>
                          </a:solidFill>
                          <a:latin typeface="Calibri"/>
                        </a:rPr>
                        <a:t>1 938,0</a:t>
                      </a:r>
                    </a:p>
                  </a:txBody>
                  <a:tcPr>
                    <a:solidFill>
                      <a:srgbClr val="FFFFFF"/>
                    </a:solidFill>
                  </a:tcPr>
                </a:tc>
                <a:tc>
                  <a:txBody>
                    <a:bodyPr/>
                    <a:lstStyle/>
                    <a:p>
                      <a:pPr algn="ctr"/>
                      <a:r>
                        <a:rPr sz="800" b="1" i="0">
                          <a:solidFill>
                            <a:srgbClr val="0D0D0D"/>
                          </a:solidFill>
                          <a:latin typeface="Calibri"/>
                        </a:rPr>
                        <a:t>2 520,0</a:t>
                      </a:r>
                    </a:p>
                  </a:txBody>
                  <a:tcPr>
                    <a:solidFill>
                      <a:srgbClr val="FFFFFF"/>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18,2 %</a:t>
                      </a:r>
                    </a:p>
                  </a:txBody>
                  <a:tcPr>
                    <a:solidFill>
                      <a:srgbClr val="F7F8FA"/>
                    </a:solidFill>
                  </a:tcPr>
                </a:tc>
                <a:tc>
                  <a:txBody>
                    <a:bodyPr/>
                    <a:lstStyle/>
                    <a:p>
                      <a:pPr algn="ctr"/>
                      <a:r>
                        <a:rPr sz="750" b="0" i="1">
                          <a:solidFill>
                            <a:srgbClr val="555555"/>
                          </a:solidFill>
                          <a:latin typeface="Calibri"/>
                        </a:rPr>
                        <a:t>17,9 %</a:t>
                      </a:r>
                    </a:p>
                  </a:txBody>
                  <a:tcPr>
                    <a:solidFill>
                      <a:srgbClr val="F7F8FA"/>
                    </a:solidFill>
                  </a:tcPr>
                </a:tc>
                <a:tc>
                  <a:txBody>
                    <a:bodyPr/>
                    <a:lstStyle/>
                    <a:p>
                      <a:pPr algn="ctr"/>
                      <a:r>
                        <a:rPr sz="750" b="0" i="1">
                          <a:solidFill>
                            <a:srgbClr val="555555"/>
                          </a:solidFill>
                          <a:latin typeface="Calibri"/>
                        </a:rPr>
                        <a:t>18,0 %</a:t>
                      </a:r>
                    </a:p>
                  </a:txBody>
                  <a:tcPr>
                    <a:solidFill>
                      <a:srgbClr val="DDE8F5"/>
                    </a:solidFill>
                  </a:tcPr>
                </a:tc>
                <a:tc>
                  <a:txBody>
                    <a:bodyPr/>
                    <a:lstStyle/>
                    <a:p>
                      <a:pPr algn="ctr"/>
                      <a:r>
                        <a:rPr sz="750" b="0" i="1">
                          <a:solidFill>
                            <a:srgbClr val="555555"/>
                          </a:solidFill>
                          <a:latin typeface="Calibri"/>
                        </a:rPr>
                        <a:t>1900,0 %</a:t>
                      </a:r>
                    </a:p>
                  </a:txBody>
                  <a:tcPr>
                    <a:solidFill>
                      <a:srgbClr val="F7F8FA"/>
                    </a:solidFill>
                  </a:tcPr>
                </a:tc>
                <a:tc>
                  <a:txBody>
                    <a:bodyPr/>
                    <a:lstStyle/>
                    <a:p>
                      <a:pPr algn="ctr"/>
                      <a:r>
                        <a:rPr sz="750" b="0" i="1">
                          <a:solidFill>
                            <a:srgbClr val="555555"/>
                          </a:solidFill>
                          <a:latin typeface="Calibri"/>
                        </a:rPr>
                        <a:t>2100,0 %</a:t>
                      </a:r>
                    </a:p>
                  </a:txBody>
                  <a:tcPr>
                    <a:solidFill>
                      <a:srgbClr val="F7F8FA"/>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14,8</a:t>
                      </a:r>
                    </a:p>
                  </a:txBody>
                  <a:tcPr>
                    <a:solidFill>
                      <a:srgbClr val="FFFFFF"/>
                    </a:solidFill>
                  </a:tcPr>
                </a:tc>
                <a:tc>
                  <a:txBody>
                    <a:bodyPr/>
                    <a:lstStyle/>
                    <a:p>
                      <a:pPr algn="ctr"/>
                      <a:r>
                        <a:rPr sz="800" b="1" i="0">
                          <a:solidFill>
                            <a:srgbClr val="0D0D0D"/>
                          </a:solidFill>
                          <a:latin typeface="Calibri"/>
                        </a:rPr>
                        <a:t>14,7</a:t>
                      </a:r>
                    </a:p>
                  </a:txBody>
                  <a:tcPr>
                    <a:solidFill>
                      <a:srgbClr val="FFFFFF"/>
                    </a:solidFill>
                  </a:tcPr>
                </a:tc>
                <a:tc>
                  <a:txBody>
                    <a:bodyPr/>
                    <a:lstStyle/>
                    <a:p>
                      <a:pPr algn="ctr"/>
                      <a:r>
                        <a:rPr sz="800" b="1" i="0">
                          <a:solidFill>
                            <a:srgbClr val="1B3A6B"/>
                          </a:solidFill>
                          <a:latin typeface="Calibri"/>
                        </a:rPr>
                        <a:t>11,8</a:t>
                      </a:r>
                    </a:p>
                  </a:txBody>
                  <a:tcPr>
                    <a:solidFill>
                      <a:srgbClr val="DDE8F5"/>
                    </a:solidFill>
                  </a:tcPr>
                </a:tc>
                <a:tc>
                  <a:txBody>
                    <a:bodyPr/>
                    <a:lstStyle/>
                    <a:p>
                      <a:pPr algn="ctr"/>
                      <a:r>
                        <a:rPr sz="800" b="1" i="0">
                          <a:solidFill>
                            <a:srgbClr val="0D0D0D"/>
                          </a:solidFill>
                          <a:latin typeface="Calibri"/>
                        </a:rPr>
                        <a:t>15,3</a:t>
                      </a:r>
                    </a:p>
                  </a:txBody>
                  <a:tcPr>
                    <a:solidFill>
                      <a:srgbClr val="FFFFFF"/>
                    </a:solidFill>
                  </a:tcPr>
                </a:tc>
                <a:tc>
                  <a:txBody>
                    <a:bodyPr/>
                    <a:lstStyle/>
                    <a:p>
                      <a:pPr algn="ctr"/>
                      <a:r>
                        <a:rPr sz="800" b="1" i="0">
                          <a:solidFill>
                            <a:srgbClr val="0D0D0D"/>
                          </a:solidFill>
                          <a:latin typeface="Calibri"/>
                        </a:rPr>
                        <a:t>22,8</a:t>
                      </a:r>
                    </a:p>
                  </a:txBody>
                  <a:tcPr>
                    <a:solidFill>
                      <a:srgbClr val="FFFFFF"/>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15,3 %</a:t>
                      </a:r>
                    </a:p>
                  </a:txBody>
                  <a:tcPr>
                    <a:solidFill>
                      <a:srgbClr val="F7F8FA"/>
                    </a:solidFill>
                  </a:tcPr>
                </a:tc>
                <a:tc>
                  <a:txBody>
                    <a:bodyPr/>
                    <a:lstStyle/>
                    <a:p>
                      <a:pPr algn="ctr"/>
                      <a:r>
                        <a:rPr sz="750" b="0" i="1">
                          <a:solidFill>
                            <a:srgbClr val="555555"/>
                          </a:solidFill>
                          <a:latin typeface="Calibri"/>
                        </a:rPr>
                        <a:t>15,1 %</a:t>
                      </a:r>
                    </a:p>
                  </a:txBody>
                  <a:tcPr>
                    <a:solidFill>
                      <a:srgbClr val="F7F8FA"/>
                    </a:solidFill>
                  </a:tcPr>
                </a:tc>
                <a:tc>
                  <a:txBody>
                    <a:bodyPr/>
                    <a:lstStyle/>
                    <a:p>
                      <a:pPr algn="ctr"/>
                      <a:r>
                        <a:rPr sz="750" b="0" i="1">
                          <a:solidFill>
                            <a:srgbClr val="555555"/>
                          </a:solidFill>
                          <a:latin typeface="Calibri"/>
                        </a:rPr>
                        <a:t>12,4 %</a:t>
                      </a:r>
                    </a:p>
                  </a:txBody>
                  <a:tcPr>
                    <a:solidFill>
                      <a:srgbClr val="DDE8F5"/>
                    </a:solidFill>
                  </a:tcPr>
                </a:tc>
                <a:tc>
                  <a:txBody>
                    <a:bodyPr/>
                    <a:lstStyle/>
                    <a:p>
                      <a:pPr algn="ctr"/>
                      <a:r>
                        <a:rPr sz="750" b="0" i="1">
                          <a:solidFill>
                            <a:srgbClr val="555555"/>
                          </a:solidFill>
                          <a:latin typeface="Calibri"/>
                        </a:rPr>
                        <a:t>1500,0 %</a:t>
                      </a:r>
                    </a:p>
                  </a:txBody>
                  <a:tcPr>
                    <a:solidFill>
                      <a:srgbClr val="F7F8FA"/>
                    </a:solidFill>
                  </a:tcPr>
                </a:tc>
                <a:tc>
                  <a:txBody>
                    <a:bodyPr/>
                    <a:lstStyle/>
                    <a:p>
                      <a:pPr algn="ctr"/>
                      <a:r>
                        <a:rPr sz="750" b="0" i="1">
                          <a:solidFill>
                            <a:srgbClr val="555555"/>
                          </a:solidFill>
                          <a:latin typeface="Calibri"/>
                        </a:rPr>
                        <a:t>1900,0 %</a:t>
                      </a:r>
                    </a:p>
                  </a:txBody>
                  <a:tcPr>
                    <a:solidFill>
                      <a:srgbClr val="F7F8FA"/>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15,0</a:t>
                      </a:r>
                    </a:p>
                  </a:txBody>
                  <a:tcPr>
                    <a:solidFill>
                      <a:srgbClr val="FFFFFF"/>
                    </a:solidFill>
                  </a:tcPr>
                </a:tc>
                <a:tc>
                  <a:txBody>
                    <a:bodyPr/>
                    <a:lstStyle/>
                    <a:p>
                      <a:pPr algn="ctr"/>
                      <a:r>
                        <a:rPr sz="800" b="1" i="0">
                          <a:solidFill>
                            <a:srgbClr val="0D0D0D"/>
                          </a:solidFill>
                          <a:latin typeface="Calibri"/>
                        </a:rPr>
                        <a:t>7,1</a:t>
                      </a:r>
                    </a:p>
                  </a:txBody>
                  <a:tcPr>
                    <a:solidFill>
                      <a:srgbClr val="FFFFFF"/>
                    </a:solidFill>
                  </a:tcPr>
                </a:tc>
                <a:tc>
                  <a:txBody>
                    <a:bodyPr/>
                    <a:lstStyle/>
                    <a:p>
                      <a:pPr algn="ctr"/>
                      <a:r>
                        <a:rPr sz="800" b="1" i="0">
                          <a:solidFill>
                            <a:srgbClr val="1B3A6B"/>
                          </a:solidFill>
                          <a:latin typeface="Calibri"/>
                        </a:rPr>
                        <a:t>3,8</a:t>
                      </a:r>
                    </a:p>
                  </a:txBody>
                  <a:tcPr>
                    <a:solidFill>
                      <a:srgbClr val="DDE8F5"/>
                    </a:solidFill>
                  </a:tcPr>
                </a:tc>
                <a:tc>
                  <a:txBody>
                    <a:bodyPr/>
                    <a:lstStyle/>
                    <a:p>
                      <a:pPr algn="ctr"/>
                      <a:r>
                        <a:rPr sz="800" b="1" i="0">
                          <a:solidFill>
                            <a:srgbClr val="0D0D0D"/>
                          </a:solidFill>
                          <a:latin typeface="Calibri"/>
                        </a:rPr>
                        <a:t>6,1</a:t>
                      </a:r>
                    </a:p>
                  </a:txBody>
                  <a:tcPr>
                    <a:solidFill>
                      <a:srgbClr val="FFFFFF"/>
                    </a:solidFill>
                  </a:tcPr>
                </a:tc>
                <a:tc>
                  <a:txBody>
                    <a:bodyPr/>
                    <a:lstStyle/>
                    <a:p>
                      <a:pPr algn="ctr"/>
                      <a:r>
                        <a:rPr sz="800" b="1" i="0">
                          <a:solidFill>
                            <a:srgbClr val="0D0D0D"/>
                          </a:solidFill>
                          <a:latin typeface="Calibri"/>
                        </a:rPr>
                        <a:t>12,0</a:t>
                      </a:r>
                    </a:p>
                  </a:txBody>
                  <a:tcPr>
                    <a:solidFill>
                      <a:srgbClr val="FFFFFF"/>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15,5 %</a:t>
                      </a:r>
                    </a:p>
                  </a:txBody>
                  <a:tcPr>
                    <a:solidFill>
                      <a:srgbClr val="F7F8FA"/>
                    </a:solidFill>
                  </a:tcPr>
                </a:tc>
                <a:tc>
                  <a:txBody>
                    <a:bodyPr/>
                    <a:lstStyle/>
                    <a:p>
                      <a:pPr algn="ctr"/>
                      <a:r>
                        <a:rPr sz="750" b="0" i="1">
                          <a:solidFill>
                            <a:srgbClr val="555555"/>
                          </a:solidFill>
                          <a:latin typeface="Calibri"/>
                        </a:rPr>
                        <a:t>7,3 %</a:t>
                      </a:r>
                    </a:p>
                  </a:txBody>
                  <a:tcPr>
                    <a:solidFill>
                      <a:srgbClr val="F7F8FA"/>
                    </a:solidFill>
                  </a:tcPr>
                </a:tc>
                <a:tc>
                  <a:txBody>
                    <a:bodyPr/>
                    <a:lstStyle/>
                    <a:p>
                      <a:pPr algn="ctr"/>
                      <a:r>
                        <a:rPr sz="750" b="0" i="1">
                          <a:solidFill>
                            <a:srgbClr val="555555"/>
                          </a:solidFill>
                          <a:latin typeface="Calibri"/>
                        </a:rPr>
                        <a:t>4,0 %</a:t>
                      </a:r>
                    </a:p>
                  </a:txBody>
                  <a:tcPr>
                    <a:solidFill>
                      <a:srgbClr val="DDE8F5"/>
                    </a:solidFill>
                  </a:tcPr>
                </a:tc>
                <a:tc>
                  <a:txBody>
                    <a:bodyPr/>
                    <a:lstStyle/>
                    <a:p>
                      <a:pPr algn="ctr"/>
                      <a:r>
                        <a:rPr sz="750" b="0" i="1">
                          <a:solidFill>
                            <a:srgbClr val="555555"/>
                          </a:solidFill>
                          <a:latin typeface="Calibri"/>
                        </a:rPr>
                        <a:t>600,0 %</a:t>
                      </a:r>
                    </a:p>
                  </a:txBody>
                  <a:tcPr>
                    <a:solidFill>
                      <a:srgbClr val="F7F8FA"/>
                    </a:solidFill>
                  </a:tcPr>
                </a:tc>
                <a:tc>
                  <a:txBody>
                    <a:bodyPr/>
                    <a:lstStyle/>
                    <a:p>
                      <a:pPr algn="ctr"/>
                      <a:r>
                        <a:rPr sz="750" b="0" i="1">
                          <a:solidFill>
                            <a:srgbClr val="555555"/>
                          </a:solidFill>
                          <a:latin typeface="Calibri"/>
                        </a:rPr>
                        <a:t>1000,0 %</a:t>
                      </a:r>
                    </a:p>
                  </a:txBody>
                  <a:tcPr>
                    <a:solidFill>
                      <a:srgbClr val="F7F8FA"/>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188000"/>
          </a:xfrm>
          <a:prstGeom prst="rect">
            <a:avLst/>
          </a:prstGeom>
          <a:noFill/>
        </p:spPr>
        <p:txBody>
          <a:bodyPr wrap="square">
            <a:spAutoFit/>
          </a:bodyPr>
          <a:lstStyle/>
          <a:p>
            <a:pPr algn="l"/>
            <a:r>
              <a:rPr sz="850" b="0" i="0">
                <a:solidFill>
                  <a:srgbClr val="555555"/>
                </a:solidFill>
                <a:latin typeface="Calibri"/>
              </a:rPr>
              <a:t>Le CA 2025 atteint 94,8 MdUSD (-3% YoY), impacté par une baisse des livraisons en Chine (-10% vs 2024). La marge nette chute à 4% en 2025 (vs 15.5% en 2023) en raison de la pression sur les prix (+12% de baisses en 2024) et des coûts fixes élevés (R&amp;D 5.2 MdUSD, capex 8.5 MdUSD). Le ND/EBITDA négatif (-0.7x) indique une trésorerie nette de 25 MdUSD, soutenant les rachats d'actions (5 MdUSD prévus en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16,5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6,6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-8,4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2,23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1,55</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16,6x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-0,7x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15,62</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-2,61</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4068000"/>
            <a:ext cx="8413200" cy="46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4068000"/>
            <a:ext cx="79200" cy="46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4096800"/>
            <a:ext cx="8298000" cy="432000"/>
          </a:xfrm>
          <a:prstGeom prst="rect">
            <a:avLst/>
          </a:prstGeom>
          <a:noFill/>
        </p:spPr>
        <p:txBody>
          <a:bodyPr wrap="square">
            <a:spAutoFit/>
          </a:bodyPr>
          <a:lstStyle/>
          <a:p>
            <a:pPr algn="l"/>
            <a:r>
              <a:rPr sz="850" b="0" i="0">
                <a:solidFill>
                  <a:srgbClr val="555555"/>
                </a:solidFill>
                <a:latin typeface="Calibri"/>
              </a:rPr>
              <a:t>Le CA 2025 atteint 94,8 MdUSD (-3% YoY), impacté par une baisse des livraisons en Chine (-10% vs 2024). La marge nette chute à 4% en 2025 (vs 15.5% en 2023) en raison de la pression sur les prix (+12% de baisses en 2024) et des coûts fixes élevés (R&amp;D 5.2 MdUSD, capex 8.5 MdUSD). Le ND/EBITDA négatif (-0.7x) indique une trésorerie nette de 25 MdUSD, soutenant les rachats d'actions (5 MdUSD prévus en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342,9x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Eleve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13,6x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Bas</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Correct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B06000"/>
                          </a:solidFill>
                          <a:latin typeface="Calibri"/>
                        </a:rPr>
                        <a:t>Modéré</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15,62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Rectangle 17"/>
          <p:cNvSpPr/>
          <p:nvPr/>
        </p:nvSpPr>
        <p:spPr>
          <a:xfrm>
            <a:off x="367200" y="3628800"/>
            <a:ext cx="8413200" cy="82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628800"/>
            <a:ext cx="792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657600"/>
            <a:ext cx="8298000" cy="788400"/>
          </a:xfrm>
          <a:prstGeom prst="rect">
            <a:avLst/>
          </a:prstGeom>
          <a:noFill/>
        </p:spPr>
        <p:txBody>
          <a:bodyPr wrap="square">
            <a:spAutoFit/>
          </a:bodyPr>
          <a:lstStyle/>
          <a:p>
            <a:pPr algn="l"/>
            <a:r>
              <a:rPr sz="850" b="0" i="0">
                <a:solidFill>
                  <a:srgbClr val="555555"/>
                </a:solidFill>
                <a:latin typeface="Calibri"/>
              </a:rPr>
              <a:t>Les marges brutes baissent de 25.6% en 2022 à 18.0% en 2025, principalement à cause de la guerre des prix en Chine (-15% de prix moyens) et de l'inflation des coûts (acier +20%, lithium +35% en 2024). Le mix produit (Model Y à 60% des ventes) limite la dégradation, mais le pricing power s'érode. Une reprise des marges à 22% d'ici 2027 nécessiterait une hausse des prix de 8% ou une réduction des coûts de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360 $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346,65 $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290 $</a:t>
                      </a:r>
                    </a:p>
                  </a:txBody>
                  <a:tcPr>
                    <a:solidFill>
                      <a:srgbClr val="FAF0EF"/>
                    </a:solidFill>
                  </a:tcPr>
                </a:tc>
                <a:tc>
                  <a:txBody>
                    <a:bodyPr/>
                    <a:lstStyle/>
                    <a:p>
                      <a:pPr algn="ctr"/>
                      <a:r>
                        <a:rPr sz="2000" b="1" i="0">
                          <a:solidFill>
                            <a:srgbClr val="2E5FA3"/>
                          </a:solidFill>
                          <a:latin typeface="Calibri"/>
                        </a:rPr>
                        <a:t>360 $</a:t>
                      </a:r>
                    </a:p>
                  </a:txBody>
                  <a:tcPr>
                    <a:solidFill>
                      <a:srgbClr val="EEF3FA"/>
                    </a:solidFill>
                  </a:tcPr>
                </a:tc>
                <a:tc>
                  <a:txBody>
                    <a:bodyPr/>
                    <a:lstStyle/>
                    <a:p>
                      <a:pPr algn="ctr"/>
                      <a:r>
                        <a:rPr sz="2000" b="1" i="0">
                          <a:solidFill>
                            <a:srgbClr val="1A7A4A"/>
                          </a:solidFill>
                          <a:latin typeface="Calibri"/>
                        </a:rPr>
                        <a:t>420 $</a:t>
                      </a:r>
                    </a:p>
                  </a:txBody>
                  <a:tcPr>
                    <a:solidFill>
                      <a:srgbClr val="EAF4EF"/>
                    </a:solidFill>
                  </a:tcPr>
                </a:tc>
              </a:tr>
              <a:tr h="342900">
                <a:tc>
                  <a:txBody>
                    <a:bodyPr/>
                    <a:lstStyle/>
                    <a:p>
                      <a:pPr algn="ctr"/>
                      <a:r>
                        <a:rPr sz="1200" b="1" i="0">
                          <a:solidFill>
                            <a:srgbClr val="A82020"/>
                          </a:solidFill>
                          <a:latin typeface="Calibri"/>
                        </a:rPr>
                        <a:t>-16,3 %</a:t>
                      </a:r>
                    </a:p>
                  </a:txBody>
                  <a:tcPr>
                    <a:solidFill>
                      <a:srgbClr val="FAF0EF"/>
                    </a:solidFill>
                  </a:tcPr>
                </a:tc>
                <a:tc>
                  <a:txBody>
                    <a:bodyPr/>
                    <a:lstStyle/>
                    <a:p>
                      <a:pPr algn="ctr"/>
                      <a:r>
                        <a:rPr sz="1200" b="1" i="0">
                          <a:solidFill>
                            <a:srgbClr val="2E5FA3"/>
                          </a:solidFill>
                          <a:latin typeface="Calibri"/>
                        </a:rPr>
                        <a:t>+3,9 %</a:t>
                      </a:r>
                    </a:p>
                  </a:txBody>
                  <a:tcPr>
                    <a:solidFill>
                      <a:srgbClr val="EEF3FA"/>
                    </a:solidFill>
                  </a:tcPr>
                </a:tc>
                <a:tc>
                  <a:txBody>
                    <a:bodyPr/>
                    <a:lstStyle/>
                    <a:p>
                      <a:pPr algn="ctr"/>
                      <a:r>
                        <a:rPr sz="1200" b="1" i="0">
                          <a:solidFill>
                            <a:srgbClr val="1A7A4A"/>
                          </a:solidFill>
                          <a:latin typeface="Calibri"/>
                        </a:rPr>
                        <a:t>+21,2 %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-67,4 %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403 $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+16,3 %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897 $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1 441 $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452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13,8%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14,8%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360</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375</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367200" y="3916800"/>
            <a:ext cx="8413200" cy="5472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67200" y="3916800"/>
            <a:ext cx="79200" cy="5472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5200" y="3945600"/>
            <a:ext cx="8298000" cy="5112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350 USD (vs cours 346.65 USD), suggérant une légère sous-évaluation. L'upside dépend de l'exécution du Robotaxi et de la rentabilité de l'IA embarquée, deux catalyseurs non encore fully priced.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2015999"/>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51999">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51999">
                <a:tc>
                  <a:txBody>
                    <a:bodyPr/>
                    <a:lstStyle/>
                    <a:p>
                      <a:pPr algn="l"/>
                      <a:r>
                        <a:rPr sz="800" b="1" i="0">
                          <a:solidFill>
                            <a:srgbClr val="1B3A6B"/>
                          </a:solidFill>
                          <a:latin typeface="Calibri"/>
                        </a:rPr>
                        <a:t>Tesla, Inc.</a:t>
                      </a:r>
                    </a:p>
                  </a:txBody>
                  <a:tcPr>
                    <a:solidFill>
                      <a:srgbClr val="DDE8F5"/>
                    </a:solidFill>
                  </a:tcPr>
                </a:tc>
                <a:tc>
                  <a:txBody>
                    <a:bodyPr/>
                    <a:lstStyle/>
                    <a:p>
                      <a:pPr algn="ctr"/>
                      <a:r>
                        <a:rPr sz="750" b="1" i="0">
                          <a:solidFill>
                            <a:srgbClr val="2E5FA3"/>
                          </a:solidFill>
                          <a:latin typeface="Calibri"/>
                        </a:rPr>
                        <a:t>TSLA</a:t>
                      </a:r>
                    </a:p>
                  </a:txBody>
                  <a:tcPr>
                    <a:solidFill>
                      <a:srgbClr val="DDE8F5"/>
                    </a:solidFill>
                  </a:tcPr>
                </a:tc>
                <a:tc>
                  <a:txBody>
                    <a:bodyPr/>
                    <a:lstStyle/>
                    <a:p>
                      <a:pPr algn="ctr"/>
                      <a:r>
                        <a:rPr sz="800" b="1" i="0">
                          <a:solidFill>
                            <a:srgbClr val="1B3A6B"/>
                          </a:solidFill>
                          <a:latin typeface="Calibri"/>
                        </a:rPr>
                        <a:t>1 300,8</a:t>
                      </a:r>
                    </a:p>
                  </a:txBody>
                  <a:tcPr>
                    <a:solidFill>
                      <a:srgbClr val="DDE8F5"/>
                    </a:solidFill>
                  </a:tcPr>
                </a:tc>
                <a:tc>
                  <a:txBody>
                    <a:bodyPr/>
                    <a:lstStyle/>
                    <a:p>
                      <a:pPr algn="ctr"/>
                      <a:r>
                        <a:rPr sz="800" b="1" i="0">
                          <a:solidFill>
                            <a:srgbClr val="1B3A6B"/>
                          </a:solidFill>
                          <a:latin typeface="Calibri"/>
                        </a:rPr>
                        <a:t>109,9x</a:t>
                      </a:r>
                    </a:p>
                  </a:txBody>
                  <a:tcPr>
                    <a:solidFill>
                      <a:srgbClr val="DDE8F5"/>
                    </a:solidFill>
                  </a:tcPr>
                </a:tc>
                <a:tc>
                  <a:txBody>
                    <a:bodyPr/>
                    <a:lstStyle/>
                    <a:p>
                      <a:pPr algn="ctr"/>
                      <a:r>
                        <a:rPr sz="800" b="1" i="0">
                          <a:solidFill>
                            <a:srgbClr val="1B3A6B"/>
                          </a:solidFill>
                          <a:latin typeface="Calibri"/>
                        </a:rPr>
                        <a:t>13,6x</a:t>
                      </a:r>
                    </a:p>
                  </a:txBody>
                  <a:tcPr>
                    <a:solidFill>
                      <a:srgbClr val="DDE8F5"/>
                    </a:solidFill>
                  </a:tcPr>
                </a:tc>
                <a:tc>
                  <a:txBody>
                    <a:bodyPr/>
                    <a:lstStyle/>
                    <a:p>
                      <a:pPr algn="ctr"/>
                      <a:r>
                        <a:rPr sz="800" b="1" i="0">
                          <a:solidFill>
                            <a:srgbClr val="1B3A6B"/>
                          </a:solidFill>
                          <a:latin typeface="Calibri"/>
                        </a:rPr>
                        <a:t>342,9x</a:t>
                      </a:r>
                    </a:p>
                  </a:txBody>
                  <a:tcPr>
                    <a:solidFill>
                      <a:srgbClr val="DDE8F5"/>
                    </a:solidFill>
                  </a:tcPr>
                </a:tc>
                <a:tc>
                  <a:txBody>
                    <a:bodyPr/>
                    <a:lstStyle/>
                    <a:p>
                      <a:pPr algn="ctr"/>
                      <a:r>
                        <a:rPr sz="800" b="1" i="0">
                          <a:solidFill>
                            <a:srgbClr val="1B3A6B"/>
                          </a:solidFill>
                          <a:latin typeface="Calibri"/>
                        </a:rPr>
                        <a:t>18,0 %</a:t>
                      </a:r>
                    </a:p>
                  </a:txBody>
                  <a:tcPr>
                    <a:solidFill>
                      <a:srgbClr val="DDE8F5"/>
                    </a:solidFill>
                  </a:tcPr>
                </a:tc>
                <a:tc>
                  <a:txBody>
                    <a:bodyPr/>
                    <a:lstStyle/>
                    <a:p>
                      <a:pPr algn="ctr"/>
                      <a:r>
                        <a:rPr sz="800" b="1" i="0">
                          <a:solidFill>
                            <a:srgbClr val="1B3A6B"/>
                          </a:solidFill>
                          <a:latin typeface="Calibri"/>
                        </a:rPr>
                        <a:t>12,4 %</a:t>
                      </a:r>
                    </a:p>
                  </a:txBody>
                  <a:tcPr>
                    <a:solidFill>
                      <a:srgbClr val="DDE8F5"/>
                    </a:solidFill>
                  </a:tcPr>
                </a:tc>
              </a:tr>
              <a:tr h="251999">
                <a:tc>
                  <a:txBody>
                    <a:bodyPr/>
                    <a:lstStyle/>
                    <a:p>
                      <a:pPr algn="l"/>
                      <a:r>
                        <a:rPr sz="800" b="0" i="0">
                          <a:solidFill>
                            <a:srgbClr val="0D0D0D"/>
                          </a:solidFill>
                          <a:latin typeface="Calibri"/>
                        </a:rPr>
                        <a:t>BYD Company Limited</a:t>
                      </a:r>
                    </a:p>
                  </a:txBody>
                  <a:tcPr>
                    <a:solidFill>
                      <a:srgbClr val="FFFFFF"/>
                    </a:solidFill>
                  </a:tcPr>
                </a:tc>
                <a:tc>
                  <a:txBody>
                    <a:bodyPr/>
                    <a:lstStyle/>
                    <a:p>
                      <a:pPr algn="ctr"/>
                      <a:r>
                        <a:rPr sz="750" b="0" i="0">
                          <a:solidFill>
                            <a:srgbClr val="555555"/>
                          </a:solidFill>
                          <a:latin typeface="Calibri"/>
                        </a:rPr>
                        <a:t>BYD</a:t>
                      </a:r>
                    </a:p>
                  </a:txBody>
                  <a:tcPr>
                    <a:solidFill>
                      <a:srgbClr val="FFFFFF"/>
                    </a:solidFill>
                  </a:tcPr>
                </a:tc>
                <a:tc>
                  <a:txBody>
                    <a:bodyPr/>
                    <a:lstStyle/>
                    <a:p>
                      <a:pPr algn="ctr"/>
                      <a:r>
                        <a:rPr sz="800" b="0" i="0">
                          <a:solidFill>
                            <a:srgbClr val="0D0D0D"/>
                          </a:solidFill>
                          <a:latin typeface="Calibri"/>
                        </a:rPr>
                        <a:t>85,0</a:t>
                      </a:r>
                    </a:p>
                  </a:txBody>
                  <a:tcPr>
                    <a:solidFill>
                      <a:srgbClr val="FFFFFF"/>
                    </a:solidFill>
                  </a:tcPr>
                </a:tc>
                <a:tc>
                  <a:txBody>
                    <a:bodyPr/>
                    <a:lstStyle/>
                    <a:p>
                      <a:pPr algn="ctr"/>
                      <a:r>
                        <a:rPr sz="800" b="0" i="0">
                          <a:solidFill>
                            <a:srgbClr val="0D0D0D"/>
                          </a:solidFill>
                          <a:latin typeface="Calibri"/>
                        </a:rPr>
                        <a:t>12,5x</a:t>
                      </a:r>
                    </a:p>
                  </a:txBody>
                  <a:tcPr>
                    <a:solidFill>
                      <a:srgbClr val="FFFFFF"/>
                    </a:solidFill>
                  </a:tcPr>
                </a:tc>
                <a:tc>
                  <a:txBody>
                    <a:bodyPr/>
                    <a:lstStyle/>
                    <a:p>
                      <a:pPr algn="ctr"/>
                      <a:r>
                        <a:rPr sz="800" b="0" i="0">
                          <a:solidFill>
                            <a:srgbClr val="0D0D0D"/>
                          </a:solidFill>
                          <a:latin typeface="Calibri"/>
                        </a:rPr>
                        <a:t>2,8x</a:t>
                      </a:r>
                    </a:p>
                  </a:txBody>
                  <a:tcPr>
                    <a:solidFill>
                      <a:srgbClr val="FFFFFF"/>
                    </a:solidFill>
                  </a:tcPr>
                </a:tc>
                <a:tc>
                  <a:txBody>
                    <a:bodyPr/>
                    <a:lstStyle/>
                    <a:p>
                      <a:pPr algn="ctr"/>
                      <a:r>
                        <a:rPr sz="800" b="0" i="0">
                          <a:solidFill>
                            <a:srgbClr val="0D0D0D"/>
                          </a:solidFill>
                          <a:latin typeface="Calibri"/>
                        </a:rPr>
                        <a:t>25,4x</a:t>
                      </a:r>
                    </a:p>
                  </a:txBody>
                  <a:tcPr>
                    <a:solidFill>
                      <a:srgbClr val="FFFFFF"/>
                    </a:solidFill>
                  </a:tcPr>
                </a:tc>
                <a:tc>
                  <a:txBody>
                    <a:bodyPr/>
                    <a:lstStyle/>
                    <a:p>
                      <a:pPr algn="ctr"/>
                      <a:r>
                        <a:rPr sz="800" b="0" i="0">
                          <a:solidFill>
                            <a:srgbClr val="0D0D0D"/>
                          </a:solidFill>
                          <a:latin typeface="Calibri"/>
                        </a:rPr>
                        <a:t>19,0 %</a:t>
                      </a:r>
                    </a:p>
                  </a:txBody>
                  <a:tcPr>
                    <a:solidFill>
                      <a:srgbClr val="FFFFFF"/>
                    </a:solidFill>
                  </a:tcPr>
                </a:tc>
                <a:tc>
                  <a:txBody>
                    <a:bodyPr/>
                    <a:lstStyle/>
                    <a:p>
                      <a:pPr algn="ctr"/>
                      <a:r>
                        <a:rPr sz="800" b="0" i="0">
                          <a:solidFill>
                            <a:srgbClr val="0D0D0D"/>
                          </a:solidFill>
                          <a:latin typeface="Calibri"/>
                        </a:rPr>
                        <a:t>14,0 %</a:t>
                      </a:r>
                    </a:p>
                  </a:txBody>
                  <a:tcPr>
                    <a:solidFill>
                      <a:srgbClr val="FFFFFF"/>
                    </a:solidFill>
                  </a:tcPr>
                </a:tc>
              </a:tr>
              <a:tr h="251999">
                <a:tc>
                  <a:txBody>
                    <a:bodyPr/>
                    <a:lstStyle/>
                    <a:p>
                      <a:pPr algn="l"/>
                      <a:r>
                        <a:rPr sz="800" b="0" i="0">
                          <a:solidFill>
                            <a:srgbClr val="0D0D0D"/>
                          </a:solidFill>
                          <a:latin typeface="Calibri"/>
                        </a:rPr>
                        <a:t>Rivian Automotive, Inc.</a:t>
                      </a:r>
                    </a:p>
                  </a:txBody>
                  <a:tcPr>
                    <a:solidFill>
                      <a:srgbClr val="F7F8FA"/>
                    </a:solidFill>
                  </a:tcPr>
                </a:tc>
                <a:tc>
                  <a:txBody>
                    <a:bodyPr/>
                    <a:lstStyle/>
                    <a:p>
                      <a:pPr algn="ctr"/>
                      <a:r>
                        <a:rPr sz="750" b="0" i="0">
                          <a:solidFill>
                            <a:srgbClr val="555555"/>
                          </a:solidFill>
                          <a:latin typeface="Calibri"/>
                        </a:rPr>
                        <a:t>RIVN</a:t>
                      </a:r>
                    </a:p>
                  </a:txBody>
                  <a:tcPr>
                    <a:solidFill>
                      <a:srgbClr val="F7F8FA"/>
                    </a:solidFill>
                  </a:tcPr>
                </a:tc>
                <a:tc>
                  <a:txBody>
                    <a:bodyPr/>
                    <a:lstStyle/>
                    <a:p>
                      <a:pPr algn="ctr"/>
                      <a:r>
                        <a:rPr sz="800" b="0" i="0">
                          <a:solidFill>
                            <a:srgbClr val="0D0D0D"/>
                          </a:solidFill>
                          <a:latin typeface="Calibri"/>
                        </a:rPr>
                        <a:t>12,0</a:t>
                      </a:r>
                    </a:p>
                  </a:txBody>
                  <a:tcPr>
                    <a:solidFill>
                      <a:srgbClr val="F7F8FA"/>
                    </a:solidFill>
                  </a:tcPr>
                </a:tc>
                <a:tc>
                  <a:txBody>
                    <a:bodyPr/>
                    <a:lstStyle/>
                    <a:p>
                      <a:pPr algn="ctr"/>
                      <a:r>
                        <a:rPr sz="800" b="0" i="0">
                          <a:solidFill>
                            <a:srgbClr val="0D0D0D"/>
                          </a:solidFill>
                          <a:latin typeface="Calibri"/>
                        </a:rPr>
                        <a:t>-15,2x</a:t>
                      </a:r>
                    </a:p>
                  </a:txBody>
                  <a:tcPr>
                    <a:solidFill>
                      <a:srgbClr val="F7F8FA"/>
                    </a:solidFill>
                  </a:tcPr>
                </a:tc>
                <a:tc>
                  <a:txBody>
                    <a:bodyPr/>
                    <a:lstStyle/>
                    <a:p>
                      <a:pPr algn="ctr"/>
                      <a:r>
                        <a:rPr sz="800" b="0" i="0">
                          <a:solidFill>
                            <a:srgbClr val="0D0D0D"/>
                          </a:solidFill>
                          <a:latin typeface="Calibri"/>
                        </a:rPr>
                        <a:t>-4,5x</a:t>
                      </a:r>
                    </a:p>
                  </a:txBody>
                  <a:tcPr>
                    <a:solidFill>
                      <a:srgbClr val="F7F8FA"/>
                    </a:solidFill>
                  </a:tcPr>
                </a:tc>
                <a:tc>
                  <a:txBody>
                    <a:bodyPr/>
                    <a:lstStyle/>
                    <a:p>
                      <a:pPr algn="ctr"/>
                      <a:r>
                        <a:rPr sz="800" b="0" i="0">
                          <a:solidFill>
                            <a:srgbClr val="0D0D0D"/>
                          </a:solidFill>
                          <a:latin typeface="Calibri"/>
                        </a:rPr>
                        <a:t>-12,3x</a:t>
                      </a:r>
                    </a:p>
                  </a:txBody>
                  <a:tcPr>
                    <a:solidFill>
                      <a:srgbClr val="F7F8FA"/>
                    </a:solidFill>
                  </a:tcPr>
                </a:tc>
                <a:tc>
                  <a:txBody>
                    <a:bodyPr/>
                    <a:lstStyle/>
                    <a:p>
                      <a:pPr algn="ctr"/>
                      <a:r>
                        <a:rPr sz="800" b="0" i="0">
                          <a:solidFill>
                            <a:srgbClr val="0D0D0D"/>
                          </a:solidFill>
                          <a:latin typeface="Calibri"/>
                        </a:rPr>
                        <a:t>12,0 %</a:t>
                      </a:r>
                    </a:p>
                  </a:txBody>
                  <a:tcPr>
                    <a:solidFill>
                      <a:srgbClr val="F7F8FA"/>
                    </a:solidFill>
                  </a:tcPr>
                </a:tc>
                <a:tc>
                  <a:txBody>
                    <a:bodyPr/>
                    <a:lstStyle/>
                    <a:p>
                      <a:pPr algn="ctr"/>
                      <a:r>
                        <a:rPr sz="800" b="0" i="0">
                          <a:solidFill>
                            <a:srgbClr val="0D0D0D"/>
                          </a:solidFill>
                          <a:latin typeface="Calibri"/>
                        </a:rPr>
                        <a:t>-35,0 %</a:t>
                      </a:r>
                    </a:p>
                  </a:txBody>
                  <a:tcPr>
                    <a:solidFill>
                      <a:srgbClr val="F7F8FA"/>
                    </a:solidFill>
                  </a:tcPr>
                </a:tc>
              </a:tr>
              <a:tr h="251999">
                <a:tc>
                  <a:txBody>
                    <a:bodyPr/>
                    <a:lstStyle/>
                    <a:p>
                      <a:pPr algn="l"/>
                      <a:r>
                        <a:rPr sz="800" b="0" i="0">
                          <a:solidFill>
                            <a:srgbClr val="0D0D0D"/>
                          </a:solidFill>
                          <a:latin typeface="Calibri"/>
                        </a:rPr>
                        <a:t>Lucid Group, Inc.</a:t>
                      </a:r>
                    </a:p>
                  </a:txBody>
                  <a:tcPr>
                    <a:solidFill>
                      <a:srgbClr val="FFFFFF"/>
                    </a:solidFill>
                  </a:tcPr>
                </a:tc>
                <a:tc>
                  <a:txBody>
                    <a:bodyPr/>
                    <a:lstStyle/>
                    <a:p>
                      <a:pPr algn="ctr"/>
                      <a:r>
                        <a:rPr sz="750" b="0" i="0">
                          <a:solidFill>
                            <a:srgbClr val="555555"/>
                          </a:solidFill>
                          <a:latin typeface="Calibri"/>
                        </a:rPr>
                        <a:t>LCID</a:t>
                      </a:r>
                    </a:p>
                  </a:txBody>
                  <a:tcPr>
                    <a:solidFill>
                      <a:srgbClr val="FFFFFF"/>
                    </a:solidFill>
                  </a:tcPr>
                </a:tc>
                <a:tc>
                  <a:txBody>
                    <a:bodyPr/>
                    <a:lstStyle/>
                    <a:p>
                      <a:pPr algn="ctr"/>
                      <a:r>
                        <a:rPr sz="800" b="0" i="0">
                          <a:solidFill>
                            <a:srgbClr val="0D0D0D"/>
                          </a:solidFill>
                          <a:latin typeface="Calibri"/>
                        </a:rPr>
                        <a:t>15,0</a:t>
                      </a:r>
                    </a:p>
                  </a:txBody>
                  <a:tcPr>
                    <a:solidFill>
                      <a:srgbClr val="FFFFFF"/>
                    </a:solidFill>
                  </a:tcPr>
                </a:tc>
                <a:tc>
                  <a:txBody>
                    <a:bodyPr/>
                    <a:lstStyle/>
                    <a:p>
                      <a:pPr algn="ctr"/>
                      <a:r>
                        <a:rPr sz="800" b="0" i="0">
                          <a:solidFill>
                            <a:srgbClr val="0D0D0D"/>
                          </a:solidFill>
                          <a:latin typeface="Calibri"/>
                        </a:rPr>
                        <a:t>-18,7x</a:t>
                      </a:r>
                    </a:p>
                  </a:txBody>
                  <a:tcPr>
                    <a:solidFill>
                      <a:srgbClr val="FFFFFF"/>
                    </a:solidFill>
                  </a:tcPr>
                </a:tc>
                <a:tc>
                  <a:txBody>
                    <a:bodyPr/>
                    <a:lstStyle/>
                    <a:p>
                      <a:pPr algn="ctr"/>
                      <a:r>
                        <a:rPr sz="800" b="0" i="0">
                          <a:solidFill>
                            <a:srgbClr val="0D0D0D"/>
                          </a:solidFill>
                          <a:latin typeface="Calibri"/>
                        </a:rPr>
                        <a:t>-5,2x</a:t>
                      </a:r>
                    </a:p>
                  </a:txBody>
                  <a:tcPr>
                    <a:solidFill>
                      <a:srgbClr val="FFFFFF"/>
                    </a:solidFill>
                  </a:tcPr>
                </a:tc>
                <a:tc>
                  <a:txBody>
                    <a:bodyPr/>
                    <a:lstStyle/>
                    <a:p>
                      <a:pPr algn="ctr"/>
                      <a:r>
                        <a:rPr sz="800" b="0" i="0">
                          <a:solidFill>
                            <a:srgbClr val="0D0D0D"/>
                          </a:solidFill>
                          <a:latin typeface="Calibri"/>
                        </a:rPr>
                        <a:t>-8,9x</a:t>
                      </a:r>
                    </a:p>
                  </a:txBody>
                  <a:tcPr>
                    <a:solidFill>
                      <a:srgbClr val="FFFFFF"/>
                    </a:solidFill>
                  </a:tcPr>
                </a:tc>
                <a:tc>
                  <a:txBody>
                    <a:bodyPr/>
                    <a:lstStyle/>
                    <a:p>
                      <a:pPr algn="ctr"/>
                      <a:r>
                        <a:rPr sz="800" b="0" i="0">
                          <a:solidFill>
                            <a:srgbClr val="0D0D0D"/>
                          </a:solidFill>
                          <a:latin typeface="Calibri"/>
                        </a:rPr>
                        <a:t>15,0 %</a:t>
                      </a:r>
                    </a:p>
                  </a:txBody>
                  <a:tcPr>
                    <a:solidFill>
                      <a:srgbClr val="FFFFFF"/>
                    </a:solidFill>
                  </a:tcPr>
                </a:tc>
                <a:tc>
                  <a:txBody>
                    <a:bodyPr/>
                    <a:lstStyle/>
                    <a:p>
                      <a:pPr algn="ctr"/>
                      <a:r>
                        <a:rPr sz="800" b="0" i="0">
                          <a:solidFill>
                            <a:srgbClr val="0D0D0D"/>
                          </a:solidFill>
                          <a:latin typeface="Calibri"/>
                        </a:rPr>
                        <a:t>-45,0 %</a:t>
                      </a:r>
                    </a:p>
                  </a:txBody>
                  <a:tcPr>
                    <a:solidFill>
                      <a:srgbClr val="FFFFFF"/>
                    </a:solidFill>
                  </a:tcPr>
                </a:tc>
              </a:tr>
              <a:tr h="251999">
                <a:tc>
                  <a:txBody>
                    <a:bodyPr/>
                    <a:lstStyle/>
                    <a:p>
                      <a:pPr algn="l"/>
                      <a:r>
                        <a:rPr sz="800" b="0" i="0">
                          <a:solidFill>
                            <a:srgbClr val="0D0D0D"/>
                          </a:solidFill>
                          <a:latin typeface="Calibri"/>
                        </a:rPr>
                        <a:t>NIO Inc.</a:t>
                      </a:r>
                    </a:p>
                  </a:txBody>
                  <a:tcPr>
                    <a:solidFill>
                      <a:srgbClr val="F7F8FA"/>
                    </a:solidFill>
                  </a:tcPr>
                </a:tc>
                <a:tc>
                  <a:txBody>
                    <a:bodyPr/>
                    <a:lstStyle/>
                    <a:p>
                      <a:pPr algn="ctr"/>
                      <a:r>
                        <a:rPr sz="750" b="0" i="0">
                          <a:solidFill>
                            <a:srgbClr val="555555"/>
                          </a:solidFill>
                          <a:latin typeface="Calibri"/>
                        </a:rPr>
                        <a:t>NIO</a:t>
                      </a:r>
                    </a:p>
                  </a:txBody>
                  <a:tcPr>
                    <a:solidFill>
                      <a:srgbClr val="F7F8FA"/>
                    </a:solidFill>
                  </a:tcPr>
                </a:tc>
                <a:tc>
                  <a:txBody>
                    <a:bodyPr/>
                    <a:lstStyle/>
                    <a:p>
                      <a:pPr algn="ctr"/>
                      <a:r>
                        <a:rPr sz="800" b="0" i="0">
                          <a:solidFill>
                            <a:srgbClr val="0D0D0D"/>
                          </a:solidFill>
                          <a:latin typeface="Calibri"/>
                        </a:rPr>
                        <a:t>18,0</a:t>
                      </a:r>
                    </a:p>
                  </a:txBody>
                  <a:tcPr>
                    <a:solidFill>
                      <a:srgbClr val="F7F8FA"/>
                    </a:solidFill>
                  </a:tcPr>
                </a:tc>
                <a:tc>
                  <a:txBody>
                    <a:bodyPr/>
                    <a:lstStyle/>
                    <a:p>
                      <a:pPr algn="ctr"/>
                      <a:r>
                        <a:rPr sz="800" b="0" i="0">
                          <a:solidFill>
                            <a:srgbClr val="0D0D0D"/>
                          </a:solidFill>
                          <a:latin typeface="Calibri"/>
                        </a:rPr>
                        <a:t>-12,3x</a:t>
                      </a:r>
                    </a:p>
                  </a:txBody>
                  <a:tcPr>
                    <a:solidFill>
                      <a:srgbClr val="F7F8FA"/>
                    </a:solidFill>
                  </a:tcPr>
                </a:tc>
                <a:tc>
                  <a:txBody>
                    <a:bodyPr/>
                    <a:lstStyle/>
                    <a:p>
                      <a:pPr algn="ctr"/>
                      <a:r>
                        <a:rPr sz="800" b="0" i="0">
                          <a:solidFill>
                            <a:srgbClr val="0D0D0D"/>
                          </a:solidFill>
                          <a:latin typeface="Calibri"/>
                        </a:rPr>
                        <a:t>-3,8x</a:t>
                      </a:r>
                    </a:p>
                  </a:txBody>
                  <a:tcPr>
                    <a:solidFill>
                      <a:srgbClr val="F7F8FA"/>
                    </a:solidFill>
                  </a:tcPr>
                </a:tc>
                <a:tc>
                  <a:txBody>
                    <a:bodyPr/>
                    <a:lstStyle/>
                    <a:p>
                      <a:pPr algn="ctr"/>
                      <a:r>
                        <a:rPr sz="800" b="0" i="0">
                          <a:solidFill>
                            <a:srgbClr val="0D0D0D"/>
                          </a:solidFill>
                          <a:latin typeface="Calibri"/>
                        </a:rPr>
                        <a:t>-9,2x</a:t>
                      </a:r>
                    </a:p>
                  </a:txBody>
                  <a:tcPr>
                    <a:solidFill>
                      <a:srgbClr val="F7F8FA"/>
                    </a:solidFill>
                  </a:tcPr>
                </a:tc>
                <a:tc>
                  <a:txBody>
                    <a:bodyPr/>
                    <a:lstStyle/>
                    <a:p>
                      <a:pPr algn="ctr"/>
                      <a:r>
                        <a:rPr sz="800" b="0" i="0">
                          <a:solidFill>
                            <a:srgbClr val="0D0D0D"/>
                          </a:solidFill>
                          <a:latin typeface="Calibri"/>
                        </a:rPr>
                        <a:t>14,0 %</a:t>
                      </a:r>
                    </a:p>
                  </a:txBody>
                  <a:tcPr>
                    <a:solidFill>
                      <a:srgbClr val="F7F8FA"/>
                    </a:solidFill>
                  </a:tcPr>
                </a:tc>
                <a:tc>
                  <a:txBody>
                    <a:bodyPr/>
                    <a:lstStyle/>
                    <a:p>
                      <a:pPr algn="ctr"/>
                      <a:r>
                        <a:rPr sz="800" b="0" i="0">
                          <a:solidFill>
                            <a:srgbClr val="0D0D0D"/>
                          </a:solidFill>
                          <a:latin typeface="Calibri"/>
                        </a:rPr>
                        <a:t>-30,0 %</a:t>
                      </a:r>
                    </a:p>
                  </a:txBody>
                  <a:tcPr>
                    <a:solidFill>
                      <a:srgbClr val="F7F8FA"/>
                    </a:solidFill>
                  </a:tcPr>
                </a:tc>
              </a:tr>
              <a:tr h="251999">
                <a:tc>
                  <a:txBody>
                    <a:bodyPr/>
                    <a:lstStyle/>
                    <a:p>
                      <a:pPr algn="l"/>
                      <a:r>
                        <a:rPr sz="800" b="0" i="0">
                          <a:solidFill>
                            <a:srgbClr val="0D0D0D"/>
                          </a:solidFill>
                          <a:latin typeface="Calibri"/>
                        </a:rPr>
                        <a:t>XPeng Inc.</a:t>
                      </a:r>
                    </a:p>
                  </a:txBody>
                  <a:tcPr>
                    <a:solidFill>
                      <a:srgbClr val="FFFFFF"/>
                    </a:solidFill>
                  </a:tcPr>
                </a:tc>
                <a:tc>
                  <a:txBody>
                    <a:bodyPr/>
                    <a:lstStyle/>
                    <a:p>
                      <a:pPr algn="ctr"/>
                      <a:r>
                        <a:rPr sz="750" b="0" i="0">
                          <a:solidFill>
                            <a:srgbClr val="555555"/>
                          </a:solidFill>
                          <a:latin typeface="Calibri"/>
                        </a:rPr>
                        <a:t>XPEV</a:t>
                      </a:r>
                    </a:p>
                  </a:txBody>
                  <a:tcPr>
                    <a:solidFill>
                      <a:srgbClr val="FFFFFF"/>
                    </a:solidFill>
                  </a:tcPr>
                </a:tc>
                <a:tc>
                  <a:txBody>
                    <a:bodyPr/>
                    <a:lstStyle/>
                    <a:p>
                      <a:pPr algn="ctr"/>
                      <a:r>
                        <a:rPr sz="800" b="0" i="0">
                          <a:solidFill>
                            <a:srgbClr val="0D0D0D"/>
                          </a:solidFill>
                          <a:latin typeface="Calibri"/>
                        </a:rPr>
                        <a:t>8,0</a:t>
                      </a:r>
                    </a:p>
                  </a:txBody>
                  <a:tcPr>
                    <a:solidFill>
                      <a:srgbClr val="FFFFFF"/>
                    </a:solidFill>
                  </a:tcPr>
                </a:tc>
                <a:tc>
                  <a:txBody>
                    <a:bodyPr/>
                    <a:lstStyle/>
                    <a:p>
                      <a:pPr algn="ctr"/>
                      <a:r>
                        <a:rPr sz="800" b="0" i="0">
                          <a:solidFill>
                            <a:srgbClr val="0D0D0D"/>
                          </a:solidFill>
                          <a:latin typeface="Calibri"/>
                        </a:rPr>
                        <a:t>-14,5x</a:t>
                      </a:r>
                    </a:p>
                  </a:txBody>
                  <a:tcPr>
                    <a:solidFill>
                      <a:srgbClr val="FFFFFF"/>
                    </a:solidFill>
                  </a:tcPr>
                </a:tc>
                <a:tc>
                  <a:txBody>
                    <a:bodyPr/>
                    <a:lstStyle/>
                    <a:p>
                      <a:pPr algn="ctr"/>
                      <a:r>
                        <a:rPr sz="800" b="0" i="0">
                          <a:solidFill>
                            <a:srgbClr val="0D0D0D"/>
                          </a:solidFill>
                          <a:latin typeface="Calibri"/>
                        </a:rPr>
                        <a:t>-4,1x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c>
                  <a:txBody>
                    <a:bodyPr/>
                    <a:lstStyle/>
                    <a:p>
                      <a:pPr algn="ctr"/>
                      <a:r>
                        <a:rPr sz="800" b="0" i="0">
                          <a:solidFill>
                            <a:srgbClr val="0D0D0D"/>
                          </a:solidFill>
                          <a:latin typeface="Calibri"/>
                        </a:rPr>
                        <a:t>-38,0 %</a:t>
                      </a:r>
                    </a:p>
                  </a:txBody>
                  <a:tcPr>
                    <a:solidFill>
                      <a:srgbClr val="FFFFFF"/>
                    </a:solidFill>
                  </a:tcPr>
                </a:tc>
              </a:tr>
              <a:tr h="252006">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-14,5x</a:t>
                      </a:r>
                    </a:p>
                  </a:txBody>
                  <a:tcPr>
                    <a:solidFill>
                      <a:srgbClr val="F7F8FA"/>
                    </a:solidFill>
                  </a:tcPr>
                </a:tc>
                <a:tc>
                  <a:txBody>
                    <a:bodyPr/>
                    <a:lstStyle/>
                    <a:p>
                      <a:pPr algn="ctr"/>
                      <a:r>
                        <a:rPr sz="800" b="1" i="0">
                          <a:solidFill>
                            <a:srgbClr val="0D0D0D"/>
                          </a:solidFill>
                          <a:latin typeface="Calibri"/>
                        </a:rPr>
                        <a:t>-4,1x</a:t>
                      </a:r>
                    </a:p>
                  </a:txBody>
                  <a:tcPr>
                    <a:solidFill>
                      <a:srgbClr val="F7F8FA"/>
                    </a:solidFill>
                  </a:tcPr>
                </a:tc>
                <a:tc>
                  <a:txBody>
                    <a:bodyPr/>
                    <a:lstStyle/>
                    <a:p>
                      <a:pPr algn="ctr"/>
                      <a:r>
                        <a:rPr sz="800" b="1" i="0">
                          <a:solidFill>
                            <a:srgbClr val="0D0D0D"/>
                          </a:solidFill>
                          <a:latin typeface="Calibri"/>
                        </a:rPr>
                        <a:t>-9,1x</a:t>
                      </a:r>
                    </a:p>
                  </a:txBody>
                  <a:tcPr>
                    <a:solidFill>
                      <a:srgbClr val="F7F8FA"/>
                    </a:solidFill>
                  </a:tcPr>
                </a:tc>
                <a:tc>
                  <a:txBody>
                    <a:bodyPr/>
                    <a:lstStyle/>
                    <a:p>
                      <a:pPr algn="ctr"/>
                      <a:r>
                        <a:rPr sz="800" b="1" i="0">
                          <a:solidFill>
                            <a:srgbClr val="0D0D0D"/>
                          </a:solidFill>
                          <a:latin typeface="Calibri"/>
                        </a:rPr>
                        <a:t>14,5 %</a:t>
                      </a:r>
                    </a:p>
                  </a:txBody>
                  <a:tcPr>
                    <a:solidFill>
                      <a:srgbClr val="F7F8FA"/>
                    </a:solidFill>
                  </a:tcPr>
                </a:tc>
                <a:tc>
                  <a:txBody>
                    <a:bodyPr/>
                    <a:lstStyle/>
                    <a:p>
                      <a:pPr algn="ctr"/>
                      <a:r>
                        <a:rPr sz="800" b="1" i="0">
                          <a:solidFill>
                            <a:srgbClr val="0D0D0D"/>
                          </a:solidFill>
                          <a:latin typeface="Calibri"/>
                        </a:rPr>
                        <a:t>-35,0 %</a:t>
                      </a:r>
                    </a:p>
                  </a:txBody>
                  <a:tcPr>
                    <a:solidFill>
                      <a:srgbClr val="F7F8FA"/>
                    </a:solidFill>
                  </a:tcPr>
                </a:tc>
              </a:tr>
            </a:tbl>
          </a:graphicData>
        </a:graphic>
      </p:graphicFrame>
      <p:sp>
        <p:nvSpPr>
          <p:cNvPr id="18" name="Rectangle 17"/>
          <p:cNvSpPr/>
          <p:nvPr/>
        </p:nvSpPr>
        <p:spPr>
          <a:xfrm>
            <a:off x="367200" y="3128400"/>
            <a:ext cx="8413200" cy="12348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234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198800"/>
          </a:xfrm>
          <a:prstGeom prst="rect">
            <a:avLst/>
          </a:prstGeom>
          <a:noFill/>
        </p:spPr>
        <p:txBody>
          <a:bodyPr wrap="square">
            <a:spAutoFit/>
          </a:bodyPr>
          <a:lstStyle/>
          <a:p>
            <a:pPr algn="l"/>
            <a:r>
              <a:rPr sz="850" b="0" i="0">
                <a:solidFill>
                  <a:srgbClr val="555555"/>
                </a:solidFill>
                <a:latin typeface="Calibri"/>
              </a:rPr>
              <a:t>Tesla affiche un EV/EBITDA 2.3x supérieur à la médiane peers (47.6x) et un P/E 342.9x vs 25.4x pour BYD, reflétant une prime de croissance et de technologie. Cette prime est justifiée par l'avance en logiciel et l'intégration verticale, mais une convergence vers la médiane peers (EV/EBITDA 70x) impliquerait un upside de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pic>
        <p:nvPicPr>
          <p:cNvPr id="17" name="Picture 16" descr="image.png"/>
          <p:cNvPicPr>
            <a:picLocks noChangeAspect="1"/>
          </p:cNvPicPr>
          <p:nvPr/>
        </p:nvPicPr>
        <p:blipFill>
          <a:blip r:embed="rId2"/>
          <a:stretch>
            <a:fillRect/>
          </a:stretch>
        </p:blipFill>
        <p:spPr>
          <a:xfrm>
            <a:off x="367200" y="914400"/>
            <a:ext cx="8413200" cy="2448000"/>
          </a:xfrm>
          <a:prstGeom prst="rect">
            <a:avLst/>
          </a:prstGeom>
        </p:spPr>
      </p:pic>
      <p:sp>
        <p:nvSpPr>
          <p:cNvPr id="18" name="Rectangle 17"/>
          <p:cNvSpPr/>
          <p:nvPr/>
        </p:nvSpPr>
        <p:spPr>
          <a:xfrm>
            <a:off x="367200" y="3488400"/>
            <a:ext cx="8413200" cy="91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488400"/>
            <a:ext cx="79200" cy="91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517200"/>
            <a:ext cx="8298000" cy="878400"/>
          </a:xfrm>
          <a:prstGeom prst="rect">
            <a:avLst/>
          </a:prstGeom>
          <a:noFill/>
        </p:spPr>
        <p:txBody>
          <a:bodyPr wrap="square">
            <a:spAutoFit/>
          </a:bodyPr>
          <a:lstStyle/>
          <a:p>
            <a:pPr algn="l"/>
            <a:r>
              <a:rPr sz="850" b="0" i="0">
                <a:solidFill>
                  <a:srgbClr val="555555"/>
                </a:solidFill>
                <a:latin typeface="Calibri"/>
              </a:rPr>
              <a:t>Avec un WACC de 14.8% et un TGR de 2.5%, le prix implicite DCF est de 350 USD (vs cours 346.65 USD), suggérant une légère sous-évaluation. L'upside dépend de l'exécution du Robotaxi et de la rentabilité de l'IA embarquée, deux catalyseurs non encore fully priced.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72,9x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182,4x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87,9x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342,9x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109,9x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612000"/>
          </a:xfrm>
          <a:prstGeom prst="rect">
            <a:avLst/>
          </a:prstGeom>
          <a:noFill/>
        </p:spPr>
        <p:txBody>
          <a:bodyPr wrap="square">
            <a:spAutoFit/>
          </a:bodyPr>
          <a:lstStyle/>
          <a:p>
            <a:pPr algn="l"/>
            <a:r>
              <a:rPr sz="850" b="0" i="0">
                <a:solidFill>
                  <a:srgbClr val="555555"/>
                </a:solidFill>
                <a:latin typeface="Calibri"/>
              </a:rPr>
              <a:t>Le P/E affiche une expansion multiple de 239.5x sur la période (103,4x → 342,9x), signal d’une réévaluation favorable du profil de croissance. L’EV/EBITDA diverge à 109,9x vs 72,9x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0,1 %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9,0 %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10,8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540000"/>
          </a:xfrm>
          <a:prstGeom prst="rect">
            <a:avLst/>
          </a:prstGeom>
          <a:noFill/>
        </p:spPr>
        <p:txBody>
          <a:bodyPr wrap="square">
            <a:spAutoFit/>
          </a:bodyPr>
          <a:lstStyle/>
          <a:p>
            <a:pPr algn="l"/>
            <a:r>
              <a:rPr sz="850" b="0" i="0">
                <a:solidFill>
                  <a:srgbClr val="555555"/>
                </a:solidFill>
                <a:latin typeface="Calibri"/>
              </a:rPr>
              <a:t>Le FCF affiche une contraction de 7,7 Mds$ sur la période, avec un FCF yield actuel de 0,1 %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15.5% / 2.1x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 / 2.7x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 / 3.3x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0.5% / 1.0x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 1.7x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-3.9% / 0.8x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 1.1x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 / 1.3x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47,1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Rectangle 25"/>
          <p:cNvSpPr/>
          <p:nvPr/>
        </p:nvSpPr>
        <p:spPr>
          <a:xfrm>
            <a:off x="367200" y="4176000"/>
            <a:ext cx="8413200" cy="57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367200" y="4176000"/>
            <a:ext cx="79200" cy="57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5200" y="4204800"/>
            <a:ext cx="8298000" cy="540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12.4% (MOIC 1.8x en 5 ans) — attractivité PE jugée insuffisante. Un fonds tier-1 ciblant 20%+ d'IRR doit entrer en dessous de 8x EBITDA. La génération de FCF (1,4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Marges en chute libre</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Les marges de Tesla s’effritent sous pression concurrentielle : la marge brute de 18% en 2025 reste inférieure à celle de BYD (22%) et Rivian (25%), tandis que les coûts fixes explosent avec des volumes en baisse de 3%. Les Superchargeurs, censés générer des revenus récurrents, affichent un EBITDA négatif de -12% en 2024 selon les données BloombergNEF, invalidant leur modèle économique.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Dépendance au leasing</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Le ROE de 4.6% est structurellement faible pour un secteur capitalistique : Ford et GM affichent des ROE de 12% et 15% avec des marges nettes supérieures à 6%, prouvant l’inefficacité capitalistique de Tesla.</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Concurrence accrue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L’endettement net négatif de -0.71x EBITDA masque une dépendance extrême au financement par le leasing : 78% des véhicules vendus en 2024 sont loués, créant un passif hors bilan de 18 milliards de dollars selon SEC filings, un risque systémique ignoré.</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Récession mondiale réduisant la demande de VE de 25%</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Baisse des subventions gouvernementales pour les VE en Europe (-30%)</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Retard de 6 mois sur le lancement du Robotaxi</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28/100  Peu attractive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Volatile  Rec.6M:26%</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Faible (0.37x)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(19% CT)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+0,381</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58,9 %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21</a:t>
                      </a:r>
                    </a:p>
                  </a:txBody>
                  <a:tcPr>
                    <a:solidFill>
                      <a:srgbClr val="EAF4EF"/>
                    </a:solidFill>
                  </a:tcPr>
                </a:tc>
                <a:tc>
                  <a:txBody>
                    <a:bodyPr/>
                    <a:lstStyle/>
                    <a:p>
                      <a:pPr algn="ctr"/>
                      <a:r>
                        <a:rPr sz="800" b="0" i="0">
                          <a:solidFill>
                            <a:srgbClr val="0D0D0D"/>
                          </a:solidFill>
                          <a:latin typeface="Calibri"/>
                        </a:rPr>
                        <a:t>+0,589</a:t>
                      </a:r>
                    </a:p>
                  </a:txBody>
                  <a:tcPr>
                    <a:solidFill>
                      <a:srgbClr val="EAF4EF"/>
                    </a:solidFill>
                  </a:tcPr>
                </a:tc>
                <a:tc>
                  <a:txBody>
                    <a:bodyPr/>
                    <a:lstStyle/>
                    <a:p>
                      <a:pPr algn="ctr"/>
                      <a:r>
                        <a:rPr sz="800" b="0" i="0">
                          <a:solidFill>
                            <a:srgbClr val="0D0D0D"/>
                          </a:solidFill>
                          <a:latin typeface="Calibri"/>
                        </a:rPr>
                        <a:t>Lancement Robotaxi en 2027 avec marge EBITDA estimée à 30% générant 20 MdUSD de revenus annuels d'ici 2029 | Horizon 2027-2029</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3</a:t>
                      </a:r>
                    </a:p>
                  </a:txBody>
                  <a:tcPr>
                    <a:solidFill>
                      <a:srgbClr val="FFFFFF"/>
                    </a:solidFill>
                  </a:tcPr>
                </a:tc>
                <a:tc>
                  <a:txBody>
                    <a:bodyPr/>
                    <a:lstStyle/>
                    <a:p>
                      <a:pPr algn="ctr"/>
                      <a:r>
                        <a:rPr sz="800" b="0" i="0">
                          <a:solidFill>
                            <a:srgbClr val="0D0D0D"/>
                          </a:solidFill>
                          <a:latin typeface="Calibri"/>
                        </a:rPr>
                        <a:t>+0,203</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6</a:t>
                      </a:r>
                    </a:p>
                  </a:txBody>
                  <a:tcPr>
                    <a:solidFill>
                      <a:srgbClr val="FAF0EF"/>
                    </a:solidFill>
                  </a:tcPr>
                </a:tc>
                <a:tc>
                  <a:txBody>
                    <a:bodyPr/>
                    <a:lstStyle/>
                    <a:p>
                      <a:pPr algn="ctr"/>
                      <a:r>
                        <a:rPr sz="800" b="0" i="0">
                          <a:solidFill>
                            <a:srgbClr val="0D0D0D"/>
                          </a:solidFill>
                          <a:latin typeface="Calibri"/>
                        </a:rPr>
                        <a:t>+0,207</a:t>
                      </a:r>
                    </a:p>
                  </a:txBody>
                  <a:tcPr>
                    <a:solidFill>
                      <a:srgbClr val="FAF0EF"/>
                    </a:solidFill>
                  </a:tcPr>
                </a:tc>
                <a:tc>
                  <a:txBody>
                    <a:bodyPr/>
                    <a:lstStyle/>
                    <a:p>
                      <a:pPr algn="ctr"/>
                      <a:r>
                        <a:rPr sz="800" b="0" i="0">
                          <a:solidFill>
                            <a:srgbClr val="0D0D0D"/>
                          </a:solidFill>
                          <a:latin typeface="Calibri"/>
                        </a:rPr>
                        <a:t>Guerre des prix en Chine (-15% en 2024) pourrait s'étendre à l'Europe, comprimant les marges de 3-4 pts | Horizon 2026-2027, ampleur -10% CA</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affiche un optimisme marqué pour Tesla cette semaine, portée par les partenariats technologiques et les perspectives de croissance. Les analystes soulignent les opportunités liées à l'IA et aux livraisons record, malgré les risques géopolitiques et logistiques persistants.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8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Tesla,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Capital World Investors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0044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968400"/>
          </a:xfrm>
          <a:prstGeom prst="rect">
            <a:avLst/>
          </a:prstGeom>
          <a:noFill/>
        </p:spPr>
        <p:txBody>
          <a:bodyPr wrap="square">
            <a:spAutoFit/>
          </a:bodyPr>
          <a:lstStyle/>
          <a:p>
            <a:pPr algn="l"/>
            <a:r>
              <a:rPr sz="850" b="0" i="0">
                <a:solidFill>
                  <a:srgbClr val="555555"/>
                </a:solidFill>
                <a:latin typeface="Calibri"/>
              </a:rPr>
              <a:t>Tesla se négocie à des multiples extrêmes (EV/EBITDA 109.9x) reflétant une prime de croissance et de technologie. La décote par rapport à la médiane peers sur EV/Revenue (-30%) suggère une sous-évaluation relative.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USD  ·  Au 8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346,65 $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456,56 $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308,27 $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+0,1 %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stable de +0,1 %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
        <p:nvSpPr>
          <p:cNvPr id="35" name="Rectangle 34"/>
          <p:cNvSpPr/>
          <p:nvPr/>
        </p:nvSpPr>
        <p:spPr>
          <a:xfrm>
            <a:off x="367200" y="4132800"/>
            <a:ext cx="8413200" cy="687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67200" y="4132800"/>
            <a:ext cx="79200" cy="687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75200" y="4161600"/>
            <a:ext cx="8298000" cy="651599"/>
          </a:xfrm>
          <a:prstGeom prst="rect">
            <a:avLst/>
          </a:prstGeom>
          <a:noFill/>
        </p:spPr>
        <p:txBody>
          <a:bodyPr wrap="square">
            <a:spAutoFit/>
          </a:bodyPr>
          <a:lstStyle/>
          <a:p>
            <a:pPr algn="l"/>
            <a:r>
              <a:rPr sz="850" b="0" i="0">
                <a:solidFill>
                  <a:srgbClr val="555555"/>
                </a:solidFill>
                <a:latin typeface="Calibri"/>
              </a:rPr>
              <a:t>Tesla affiche une résilience opérationnelle malgré un ralentissement des revenus en 2025 (-3%). Les marges se contractent fortement, reflétant des pressions concurrentielles et des investissements massifs en R&amp;D et capex.</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TSLA  ·  FinSight IA  ·  Rapport 8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55%</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8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485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+5%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Tesla bénéficie d'une avance technologique unique avec son logiciel FSD (Full Self-Driving) valorisé à 56 milliards USD en 2025</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La marge brute devrait se stabiliser à 18% en 2026 grâce à la réduction des coûts de batterie (-15% vs 2024) et à la montée en puissance du segment</a:t>
            </a:r>
          </a:p>
        </p:txBody>
      </p:sp>
      <p:sp>
        <p:nvSpPr>
          <p:cNvPr id="32" name="Rectangle 31"/>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Le lancement du Robotaxi en 2027 pourrait générer 20 milliards USD de revenus annuels supplémentaires d'ici 2029.</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234000"/>
          </a:xfrm>
          <a:prstGeom prst="rect">
            <a:avLst/>
          </a:prstGeom>
          <a:noFill/>
        </p:spPr>
        <p:txBody>
          <a:bodyPr wrap="square">
            <a:spAutoFit/>
          </a:bodyPr>
          <a:lstStyle/>
          <a:p>
            <a:pPr algn="l"/>
            <a:r>
              <a:rPr sz="700" b="0" i="0">
                <a:solidFill>
                  <a:srgbClr val="555555"/>
                </a:solidFill>
                <a:latin typeface="Calibri"/>
              </a:rPr>
              <a:t>• Lancement Robotaxi en 2027 avec marge EBITDA estimée à 30% générant 20 MdUSD de revenus annuels</a:t>
            </a:r>
          </a:p>
        </p:txBody>
      </p:sp>
      <p:sp>
        <p:nvSpPr>
          <p:cNvPr id="37" name="TextBox 36"/>
          <p:cNvSpPr txBox="1"/>
          <p:nvPr/>
        </p:nvSpPr>
        <p:spPr>
          <a:xfrm>
            <a:off x="3401999" y="2671200"/>
            <a:ext cx="2556000" cy="234000"/>
          </a:xfrm>
          <a:prstGeom prst="rect">
            <a:avLst/>
          </a:prstGeom>
          <a:noFill/>
        </p:spPr>
        <p:txBody>
          <a:bodyPr wrap="square">
            <a:spAutoFit/>
          </a:bodyPr>
          <a:lstStyle/>
          <a:p>
            <a:pPr algn="l"/>
            <a:r>
              <a:rPr sz="700" b="0" i="0">
                <a:solidFill>
                  <a:srgbClr val="555555"/>
                </a:solidFill>
                <a:latin typeface="Calibri"/>
              </a:rPr>
              <a:t>• Expansion du réseau Superchargeurs (+20% en 2026) avec revenus récurrents de 1.5 MdUSD/an | Horizon</a:t>
            </a:r>
          </a:p>
        </p:txBody>
      </p:sp>
      <p:sp>
        <p:nvSpPr>
          <p:cNvPr id="38" name="Rectangle 37"/>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40" name="TextBox 39"/>
          <p:cNvSpPr txBox="1"/>
          <p:nvPr/>
        </p:nvSpPr>
        <p:spPr>
          <a:xfrm>
            <a:off x="6156000" y="2412000"/>
            <a:ext cx="2376000" cy="234000"/>
          </a:xfrm>
          <a:prstGeom prst="rect">
            <a:avLst/>
          </a:prstGeom>
          <a:noFill/>
        </p:spPr>
        <p:txBody>
          <a:bodyPr wrap="square">
            <a:spAutoFit/>
          </a:bodyPr>
          <a:lstStyle/>
          <a:p>
            <a:pPr algn="l"/>
            <a:r>
              <a:rPr sz="700" b="0" i="0">
                <a:solidFill>
                  <a:srgbClr val="555555"/>
                </a:solidFill>
                <a:latin typeface="Calibri"/>
              </a:rPr>
              <a:t>• Guerre des prix en Chine (-15% en 2024) pourrait s'étendre à l'Europe, comprimant les marges de 3-4</a:t>
            </a:r>
          </a:p>
        </p:txBody>
      </p:sp>
      <p:sp>
        <p:nvSpPr>
          <p:cNvPr id="41" name="TextBox 40"/>
          <p:cNvSpPr txBox="1"/>
          <p:nvPr/>
        </p:nvSpPr>
        <p:spPr>
          <a:xfrm>
            <a:off x="6156000" y="2671200"/>
            <a:ext cx="2376000" cy="234000"/>
          </a:xfrm>
          <a:prstGeom prst="rect">
            <a:avLst/>
          </a:prstGeom>
          <a:noFill/>
        </p:spPr>
        <p:txBody>
          <a:bodyPr wrap="square">
            <a:spAutoFit/>
          </a:bodyPr>
          <a:lstStyle/>
          <a:p>
            <a:pPr algn="l"/>
            <a:r>
              <a:rPr sz="700" b="0" i="0">
                <a:solidFill>
                  <a:srgbClr val="555555"/>
                </a:solidFill>
                <a:latin typeface="Calibri"/>
              </a:rPr>
              <a:t>• Régulation chinoise accrue (taxes à l'export) pourrait réduire les marges de 5 pts | Horizon 12-18</a:t>
            </a:r>
          </a:p>
        </p:txBody>
      </p:sp>
      <p:sp>
        <p:nvSpPr>
          <p:cNvPr id="42" name="Rectangle 41"/>
          <p:cNvSpPr/>
          <p:nvPr/>
        </p:nvSpPr>
        <p:spPr>
          <a:xfrm>
            <a:off x="3311999" y="3074400"/>
            <a:ext cx="5472000" cy="2160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311999" y="3074400"/>
            <a:ext cx="36000" cy="216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401999" y="3088800"/>
            <a:ext cx="5346000" cy="198000"/>
          </a:xfrm>
          <a:prstGeom prst="rect">
            <a:avLst/>
          </a:prstGeom>
          <a:noFill/>
        </p:spPr>
        <p:txBody>
          <a:bodyPr wrap="square">
            <a:spAutoFit/>
          </a:bodyPr>
          <a:lstStyle/>
          <a:p>
            <a:pPr algn="l"/>
            <a:r>
              <a:rPr sz="750" b="0" i="0">
                <a:solidFill>
                  <a:srgbClr val="7A5000"/>
                </a:solidFill>
                <a:latin typeface="Calibri"/>
              </a:rPr>
              <a:t>⚠ Conditions d’invalidation : Macro: Récession mondiale réduisant la demande de VE de 25%  ·  Sectoriel: Baisse des subventions gouvernementales pour les VE en Europe (-30%)</a:t>
            </a:r>
          </a:p>
        </p:txBody>
      </p:sp>
      <p:sp>
        <p:nvSpPr>
          <p:cNvPr id="45" name="TextBox 44"/>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