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Tesla,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TSLA  ·  Consumer Cyclical</a:t>
            </a:r>
          </a:p>
        </p:txBody>
      </p:sp>
      <p:sp>
        <p:nvSpPr>
          <p:cNvPr id="8" name="Rectangle 7"/>
          <p:cNvSpPr/>
          <p:nvPr/>
        </p:nvSpPr>
        <p:spPr>
          <a:xfrm>
            <a:off x="457200" y="2720232"/>
            <a:ext cx="8229600" cy="475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B06000"/>
                </a:solidFill>
                <a:latin typeface="Calibri"/>
              </a:rPr>
              <a:t>● HOLD  ·  Prix cible base : — $  ·  Upside :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1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B06000"/>
                </a:solidFill>
                <a:latin typeface="Calibri"/>
              </a:rPr>
              <a:t>● HOLD</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 $  ·  Upside : —  ·  Bear : — $ (—)  ·  Bull : — $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119,5x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14,9 %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1,93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+0,064</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Positif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Tesla, Inc.  ·  Consumer Cyclical</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Risques structurels &amp; thèse contraire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Tesla,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t>
            </a:r>
          </a:p>
        </p:txBody>
      </p:sp>
      <p:sp>
        <p:nvSpPr>
          <p:cNvPr id="20" name="TextBox 19"/>
          <p:cNvSpPr txBox="1"/>
          <p:nvPr/>
        </p:nvSpPr>
        <p:spPr>
          <a:xfrm>
            <a:off x="503999" y="2358000"/>
            <a:ext cx="4662000" cy="183600"/>
          </a:xfrm>
          <a:prstGeom prst="rect">
            <a:avLst/>
          </a:prstGeom>
          <a:noFill/>
        </p:spPr>
        <p:txBody>
          <a:bodyPr wrap="square">
            <a:spAutoFit/>
          </a:bodyPr>
          <a:lstStyle/>
          <a:p>
            <a:pPr algn="l"/>
            <a:r>
              <a:rPr sz="900" b="1" i="0">
                <a:solidFill>
                  <a:srgbClr val="1B3A6B"/>
                </a:solidFill>
                <a:latin typeface="Calibri"/>
              </a:rPr>
              <a:t>Positionnement stratégique</a:t>
            </a:r>
          </a:p>
        </p:txBody>
      </p:sp>
      <p:sp>
        <p:nvSpPr>
          <p:cNvPr id="21" name="Rectangle 20"/>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1 413,6 Mds$</a:t>
            </a:r>
          </a:p>
        </p:txBody>
      </p:sp>
      <p:sp>
        <p:nvSpPr>
          <p:cNvPr id="24" name="TextBox 23"/>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25" name="Rectangle 24"/>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94,8 Mds$</a:t>
            </a:r>
          </a:p>
        </p:txBody>
      </p:sp>
      <p:sp>
        <p:nvSpPr>
          <p:cNvPr id="28" name="TextBox 27"/>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29" name="Rectangle 28"/>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376,71 $</a:t>
            </a:r>
          </a:p>
        </p:txBody>
      </p:sp>
      <p:sp>
        <p:nvSpPr>
          <p:cNvPr id="32" name="TextBox 31"/>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3" name="Rectangle 32"/>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119,5x</a:t>
            </a:r>
          </a:p>
        </p:txBody>
      </p:sp>
      <p:sp>
        <p:nvSpPr>
          <p:cNvPr id="36" name="TextBox 35"/>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37" name="TextBox 36"/>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372,6x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2731199"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31199"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2551199" cy="640800"/>
          </a:xfrm>
          <a:prstGeom prst="rect">
            <a:avLst/>
          </a:prstGeom>
          <a:noFill/>
        </p:spPr>
        <p:txBody>
          <a:bodyPr wrap="square">
            <a:spAutoFit/>
          </a:bodyPr>
          <a:lstStyle/>
          <a:p>
            <a:pPr algn="l"/>
            <a:r>
              <a:rPr sz="2200" b="1" i="0">
                <a:solidFill>
                  <a:srgbClr val="2E5FA3"/>
                </a:solidFill>
                <a:latin typeface="Calibri"/>
              </a:rPr>
              <a:t>—</a:t>
            </a:r>
          </a:p>
        </p:txBody>
      </p:sp>
      <p:sp>
        <p:nvSpPr>
          <p:cNvPr id="20" name="TextBox 19"/>
          <p:cNvSpPr txBox="1"/>
          <p:nvPr/>
        </p:nvSpPr>
        <p:spPr>
          <a:xfrm>
            <a:off x="4572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2551199" cy="255600"/>
          </a:xfrm>
          <a:prstGeom prst="rect">
            <a:avLst/>
          </a:prstGeom>
          <a:noFill/>
        </p:spPr>
        <p:txBody>
          <a:bodyPr wrap="square">
            <a:spAutoFit/>
          </a:bodyPr>
          <a:lstStyle/>
          <a:p>
            <a:pPr algn="l"/>
            <a:r>
              <a:rPr sz="1000" b="1" i="0">
                <a:solidFill>
                  <a:srgbClr val="1B3A6B"/>
                </a:solidFill>
                <a:latin typeface="Calibri"/>
              </a:rPr>
              <a:t>Core Business</a:t>
            </a:r>
          </a:p>
        </p:txBody>
      </p:sp>
      <p:sp>
        <p:nvSpPr>
          <p:cNvPr id="23" name="TextBox 22"/>
          <p:cNvSpPr txBox="1"/>
          <p:nvPr/>
        </p:nvSpPr>
        <p:spPr>
          <a:xfrm>
            <a:off x="4572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24" name="Rectangle 23"/>
          <p:cNvSpPr/>
          <p:nvPr/>
        </p:nvSpPr>
        <p:spPr>
          <a:xfrm>
            <a:off x="3206400" y="961200"/>
            <a:ext cx="2731199"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206400" y="961200"/>
            <a:ext cx="2731199"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96400" y="1141200"/>
            <a:ext cx="2551199" cy="640800"/>
          </a:xfrm>
          <a:prstGeom prst="rect">
            <a:avLst/>
          </a:prstGeom>
          <a:noFill/>
        </p:spPr>
        <p:txBody>
          <a:bodyPr wrap="square">
            <a:spAutoFit/>
          </a:bodyPr>
          <a:lstStyle/>
          <a:p>
            <a:pPr algn="l"/>
            <a:r>
              <a:rPr sz="2200" b="1" i="0">
                <a:solidFill>
                  <a:srgbClr val="1A7A4A"/>
                </a:solidFill>
                <a:latin typeface="Calibri"/>
              </a:rPr>
              <a:t>—</a:t>
            </a:r>
          </a:p>
        </p:txBody>
      </p:sp>
      <p:sp>
        <p:nvSpPr>
          <p:cNvPr id="27" name="TextBox 26"/>
          <p:cNvSpPr txBox="1"/>
          <p:nvPr/>
        </p:nvSpPr>
        <p:spPr>
          <a:xfrm>
            <a:off x="32964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32964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96400" y="2059200"/>
            <a:ext cx="2551199" cy="255600"/>
          </a:xfrm>
          <a:prstGeom prst="rect">
            <a:avLst/>
          </a:prstGeom>
          <a:noFill/>
        </p:spPr>
        <p:txBody>
          <a:bodyPr wrap="square">
            <a:spAutoFit/>
          </a:bodyPr>
          <a:lstStyle/>
          <a:p>
            <a:pPr algn="l"/>
            <a:r>
              <a:rPr sz="1000" b="1" i="0">
                <a:solidFill>
                  <a:srgbClr val="1B3A6B"/>
                </a:solidFill>
                <a:latin typeface="Calibri"/>
              </a:rPr>
              <a:t>Growth Driver</a:t>
            </a:r>
          </a:p>
        </p:txBody>
      </p:sp>
      <p:sp>
        <p:nvSpPr>
          <p:cNvPr id="30" name="TextBox 29"/>
          <p:cNvSpPr txBox="1"/>
          <p:nvPr/>
        </p:nvSpPr>
        <p:spPr>
          <a:xfrm>
            <a:off x="32964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31" name="Rectangle 30"/>
          <p:cNvSpPr/>
          <p:nvPr/>
        </p:nvSpPr>
        <p:spPr>
          <a:xfrm>
            <a:off x="6045600" y="961200"/>
            <a:ext cx="2731199"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45600" y="961200"/>
            <a:ext cx="2731199" cy="54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00" y="1141200"/>
            <a:ext cx="2551199" cy="640800"/>
          </a:xfrm>
          <a:prstGeom prst="rect">
            <a:avLst/>
          </a:prstGeom>
          <a:noFill/>
        </p:spPr>
        <p:txBody>
          <a:bodyPr wrap="square">
            <a:spAutoFit/>
          </a:bodyPr>
          <a:lstStyle/>
          <a:p>
            <a:pPr algn="l"/>
            <a:r>
              <a:rPr sz="2200" b="1" i="0">
                <a:solidFill>
                  <a:srgbClr val="888888"/>
                </a:solidFill>
                <a:latin typeface="Calibri"/>
              </a:rPr>
              <a:t>—</a:t>
            </a:r>
          </a:p>
        </p:txBody>
      </p:sp>
      <p:sp>
        <p:nvSpPr>
          <p:cNvPr id="34" name="TextBox 33"/>
          <p:cNvSpPr txBox="1"/>
          <p:nvPr/>
        </p:nvSpPr>
        <p:spPr>
          <a:xfrm>
            <a:off x="61356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35" name="Rectangle 34"/>
          <p:cNvSpPr/>
          <p:nvPr/>
        </p:nvSpPr>
        <p:spPr>
          <a:xfrm>
            <a:off x="61356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35600" y="2059200"/>
            <a:ext cx="2551199" cy="255600"/>
          </a:xfrm>
          <a:prstGeom prst="rect">
            <a:avLst/>
          </a:prstGeom>
          <a:noFill/>
        </p:spPr>
        <p:txBody>
          <a:bodyPr wrap="square">
            <a:spAutoFit/>
          </a:bodyPr>
          <a:lstStyle/>
          <a:p>
            <a:pPr algn="l"/>
            <a:r>
              <a:rPr sz="1000" b="1" i="0">
                <a:solidFill>
                  <a:srgbClr val="1B3A6B"/>
                </a:solidFill>
                <a:latin typeface="Calibri"/>
              </a:rPr>
              <a:t>International</a:t>
            </a:r>
          </a:p>
        </p:txBody>
      </p:sp>
      <p:sp>
        <p:nvSpPr>
          <p:cNvPr id="37" name="TextBox 36"/>
          <p:cNvSpPr txBox="1"/>
          <p:nvPr/>
        </p:nvSpPr>
        <p:spPr>
          <a:xfrm>
            <a:off x="6135600" y="2332800"/>
            <a:ext cx="2551199" cy="2041199"/>
          </a:xfrm>
          <a:prstGeom prst="rect">
            <a:avLst/>
          </a:prstGeom>
          <a:noFill/>
        </p:spPr>
        <p:txBody>
          <a:bodyPr wrap="square">
            <a:spAutoFit/>
          </a:bodyPr>
          <a:lstStyle/>
          <a:p>
            <a:pPr algn="l"/>
            <a:r>
              <a:rPr sz="800" b="0" i="0">
                <a:solidFill>
                  <a:srgbClr val="555555"/>
                </a:solidFill>
                <a:latin typeface="Calibri"/>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2022–2025</a:t>
            </a:r>
          </a:p>
        </p:txBody>
      </p:sp>
      <p:graphicFrame>
        <p:nvGraphicFramePr>
          <p:cNvPr id="17" name="Table 16"/>
          <p:cNvGraphicFramePr>
            <a:graphicFrameLocks noGrp="1"/>
          </p:cNvGraphicFramePr>
          <p:nvPr/>
        </p:nvGraphicFramePr>
        <p:xfrm>
          <a:off x="367200" y="914400"/>
          <a:ext cx="8413200" cy="1980000"/>
        </p:xfrm>
        <a:graphic>
          <a:graphicData uri="http://schemas.openxmlformats.org/drawingml/2006/table">
            <a:tbl>
              <a:tblPr firstRow="1" bandRow="1">
                <a:tableStyleId>{5C22544A-7EE6-4342-B048-85BDC9FD1C3A}</a:tableStyleId>
              </a:tblPr>
              <a:tblGrid>
                <a:gridCol w="2355696"/>
                <a:gridCol w="2019168"/>
                <a:gridCol w="2019168"/>
                <a:gridCol w="2019168"/>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96,8</a:t>
                      </a:r>
                    </a:p>
                  </a:txBody>
                  <a:tcPr>
                    <a:solidFill>
                      <a:srgbClr val="FFFFFF"/>
                    </a:solidFill>
                  </a:tcPr>
                </a:tc>
                <a:tc>
                  <a:txBody>
                    <a:bodyPr/>
                    <a:lstStyle/>
                    <a:p>
                      <a:pPr algn="ctr"/>
                      <a:r>
                        <a:rPr sz="800" b="1" i="0">
                          <a:solidFill>
                            <a:srgbClr val="0D0D0D"/>
                          </a:solidFill>
                          <a:latin typeface="Calibri"/>
                        </a:rPr>
                        <a:t>97,7</a:t>
                      </a:r>
                    </a:p>
                  </a:txBody>
                  <a:tcPr>
                    <a:solidFill>
                      <a:srgbClr val="FFFFFF"/>
                    </a:solidFill>
                  </a:tcPr>
                </a:tc>
                <a:tc>
                  <a:txBody>
                    <a:bodyPr/>
                    <a:lstStyle/>
                    <a:p>
                      <a:pPr algn="ctr"/>
                      <a:r>
                        <a:rPr sz="800" b="1" i="0">
                          <a:solidFill>
                            <a:srgbClr val="1B3A6B"/>
                          </a:solidFill>
                          <a:latin typeface="Calibri"/>
                        </a:rPr>
                        <a:t>94,8</a:t>
                      </a:r>
                    </a:p>
                  </a:txBody>
                  <a:tcPr>
                    <a:solidFill>
                      <a:srgbClr val="DDE8F5"/>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+18,8 %</a:t>
                      </a:r>
                    </a:p>
                  </a:txBody>
                  <a:tcPr>
                    <a:solidFill>
                      <a:srgbClr val="F7F8FA"/>
                    </a:solidFill>
                  </a:tcPr>
                </a:tc>
                <a:tc>
                  <a:txBody>
                    <a:bodyPr/>
                    <a:lstStyle/>
                    <a:p>
                      <a:pPr algn="ctr"/>
                      <a:r>
                        <a:rPr sz="750" b="0" i="1">
                          <a:solidFill>
                            <a:srgbClr val="555555"/>
                          </a:solidFill>
                          <a:latin typeface="Calibri"/>
                        </a:rPr>
                        <a:t>+1,0 %</a:t>
                      </a:r>
                    </a:p>
                  </a:txBody>
                  <a:tcPr>
                    <a:solidFill>
                      <a:srgbClr val="F7F8FA"/>
                    </a:solidFill>
                  </a:tcPr>
                </a:tc>
                <a:tc>
                  <a:txBody>
                    <a:bodyPr/>
                    <a:lstStyle/>
                    <a:p>
                      <a:pPr algn="ctr"/>
                      <a:r>
                        <a:rPr sz="750" b="0" i="1">
                          <a:solidFill>
                            <a:srgbClr val="555555"/>
                          </a:solidFill>
                          <a:latin typeface="Calibri"/>
                        </a:rPr>
                        <a:t>-3,0 %</a:t>
                      </a:r>
                    </a:p>
                  </a:txBody>
                  <a:tcPr>
                    <a:solidFill>
                      <a:srgbClr val="DDE8F5"/>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17,7</a:t>
                      </a:r>
                    </a:p>
                  </a:txBody>
                  <a:tcPr>
                    <a:solidFill>
                      <a:srgbClr val="FFFFFF"/>
                    </a:solidFill>
                  </a:tcPr>
                </a:tc>
                <a:tc>
                  <a:txBody>
                    <a:bodyPr/>
                    <a:lstStyle/>
                    <a:p>
                      <a:pPr algn="ctr"/>
                      <a:r>
                        <a:rPr sz="800" b="1" i="0">
                          <a:solidFill>
                            <a:srgbClr val="0D0D0D"/>
                          </a:solidFill>
                          <a:latin typeface="Calibri"/>
                        </a:rPr>
                        <a:t>17,4</a:t>
                      </a:r>
                    </a:p>
                  </a:txBody>
                  <a:tcPr>
                    <a:solidFill>
                      <a:srgbClr val="FFFFFF"/>
                    </a:solidFill>
                  </a:tcPr>
                </a:tc>
                <a:tc>
                  <a:txBody>
                    <a:bodyPr/>
                    <a:lstStyle/>
                    <a:p>
                      <a:pPr algn="ctr"/>
                      <a:r>
                        <a:rPr sz="800" b="1" i="0">
                          <a:solidFill>
                            <a:srgbClr val="1B3A6B"/>
                          </a:solidFill>
                          <a:latin typeface="Calibri"/>
                        </a:rPr>
                        <a:t>17,1</a:t>
                      </a:r>
                    </a:p>
                  </a:txBody>
                  <a:tcPr>
                    <a:solidFill>
                      <a:srgbClr val="DDE8F5"/>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18,2 %</a:t>
                      </a:r>
                    </a:p>
                  </a:txBody>
                  <a:tcPr>
                    <a:solidFill>
                      <a:srgbClr val="F7F8FA"/>
                    </a:solidFill>
                  </a:tcPr>
                </a:tc>
                <a:tc>
                  <a:txBody>
                    <a:bodyPr/>
                    <a:lstStyle/>
                    <a:p>
                      <a:pPr algn="ctr"/>
                      <a:r>
                        <a:rPr sz="750" b="0" i="1">
                          <a:solidFill>
                            <a:srgbClr val="555555"/>
                          </a:solidFill>
                          <a:latin typeface="Calibri"/>
                        </a:rPr>
                        <a:t>17,9 %</a:t>
                      </a:r>
                    </a:p>
                  </a:txBody>
                  <a:tcPr>
                    <a:solidFill>
                      <a:srgbClr val="F7F8FA"/>
                    </a:solidFill>
                  </a:tcPr>
                </a:tc>
                <a:tc>
                  <a:txBody>
                    <a:bodyPr/>
                    <a:lstStyle/>
                    <a:p>
                      <a:pPr algn="ctr"/>
                      <a:r>
                        <a:rPr sz="750" b="0" i="1">
                          <a:solidFill>
                            <a:srgbClr val="555555"/>
                          </a:solidFill>
                          <a:latin typeface="Calibri"/>
                        </a:rPr>
                        <a:t>18,0 %</a:t>
                      </a:r>
                    </a:p>
                  </a:txBody>
                  <a:tcPr>
                    <a:solidFill>
                      <a:srgbClr val="DDE8F5"/>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14,8</a:t>
                      </a:r>
                    </a:p>
                  </a:txBody>
                  <a:tcPr>
                    <a:solidFill>
                      <a:srgbClr val="FFFFFF"/>
                    </a:solidFill>
                  </a:tcPr>
                </a:tc>
                <a:tc>
                  <a:txBody>
                    <a:bodyPr/>
                    <a:lstStyle/>
                    <a:p>
                      <a:pPr algn="ctr"/>
                      <a:r>
                        <a:rPr sz="800" b="1" i="0">
                          <a:solidFill>
                            <a:srgbClr val="0D0D0D"/>
                          </a:solidFill>
                          <a:latin typeface="Calibri"/>
                        </a:rPr>
                        <a:t>14,7</a:t>
                      </a:r>
                    </a:p>
                  </a:txBody>
                  <a:tcPr>
                    <a:solidFill>
                      <a:srgbClr val="FFFFFF"/>
                    </a:solidFill>
                  </a:tcPr>
                </a:tc>
                <a:tc>
                  <a:txBody>
                    <a:bodyPr/>
                    <a:lstStyle/>
                    <a:p>
                      <a:pPr algn="ctr"/>
                      <a:r>
                        <a:rPr sz="800" b="1" i="0">
                          <a:solidFill>
                            <a:srgbClr val="1B3A6B"/>
                          </a:solidFill>
                          <a:latin typeface="Calibri"/>
                        </a:rPr>
                        <a:t>11,8</a:t>
                      </a:r>
                    </a:p>
                  </a:txBody>
                  <a:tcPr>
                    <a:solidFill>
                      <a:srgbClr val="DDE8F5"/>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15,3 %</a:t>
                      </a:r>
                    </a:p>
                  </a:txBody>
                  <a:tcPr>
                    <a:solidFill>
                      <a:srgbClr val="F7F8FA"/>
                    </a:solidFill>
                  </a:tcPr>
                </a:tc>
                <a:tc>
                  <a:txBody>
                    <a:bodyPr/>
                    <a:lstStyle/>
                    <a:p>
                      <a:pPr algn="ctr"/>
                      <a:r>
                        <a:rPr sz="750" b="0" i="1">
                          <a:solidFill>
                            <a:srgbClr val="555555"/>
                          </a:solidFill>
                          <a:latin typeface="Calibri"/>
                        </a:rPr>
                        <a:t>15,1 %</a:t>
                      </a:r>
                    </a:p>
                  </a:txBody>
                  <a:tcPr>
                    <a:solidFill>
                      <a:srgbClr val="F7F8FA"/>
                    </a:solidFill>
                  </a:tcPr>
                </a:tc>
                <a:tc>
                  <a:txBody>
                    <a:bodyPr/>
                    <a:lstStyle/>
                    <a:p>
                      <a:pPr algn="ctr"/>
                      <a:r>
                        <a:rPr sz="750" b="0" i="1">
                          <a:solidFill>
                            <a:srgbClr val="555555"/>
                          </a:solidFill>
                          <a:latin typeface="Calibri"/>
                        </a:rPr>
                        <a:t>12,4 %</a:t>
                      </a:r>
                    </a:p>
                  </a:txBody>
                  <a:tcPr>
                    <a:solidFill>
                      <a:srgbClr val="DDE8F5"/>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15,0</a:t>
                      </a:r>
                    </a:p>
                  </a:txBody>
                  <a:tcPr>
                    <a:solidFill>
                      <a:srgbClr val="FFFFFF"/>
                    </a:solidFill>
                  </a:tcPr>
                </a:tc>
                <a:tc>
                  <a:txBody>
                    <a:bodyPr/>
                    <a:lstStyle/>
                    <a:p>
                      <a:pPr algn="ctr"/>
                      <a:r>
                        <a:rPr sz="800" b="1" i="0">
                          <a:solidFill>
                            <a:srgbClr val="0D0D0D"/>
                          </a:solidFill>
                          <a:latin typeface="Calibri"/>
                        </a:rPr>
                        <a:t>7,1</a:t>
                      </a:r>
                    </a:p>
                  </a:txBody>
                  <a:tcPr>
                    <a:solidFill>
                      <a:srgbClr val="FFFFFF"/>
                    </a:solidFill>
                  </a:tcPr>
                </a:tc>
                <a:tc>
                  <a:txBody>
                    <a:bodyPr/>
                    <a:lstStyle/>
                    <a:p>
                      <a:pPr algn="ctr"/>
                      <a:r>
                        <a:rPr sz="800" b="1" i="0">
                          <a:solidFill>
                            <a:srgbClr val="1B3A6B"/>
                          </a:solidFill>
                          <a:latin typeface="Calibri"/>
                        </a:rPr>
                        <a:t>3,8</a:t>
                      </a:r>
                    </a:p>
                  </a:txBody>
                  <a:tcPr>
                    <a:solidFill>
                      <a:srgbClr val="DDE8F5"/>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15,5 %</a:t>
                      </a:r>
                    </a:p>
                  </a:txBody>
                  <a:tcPr>
                    <a:solidFill>
                      <a:srgbClr val="F7F8FA"/>
                    </a:solidFill>
                  </a:tcPr>
                </a:tc>
                <a:tc>
                  <a:txBody>
                    <a:bodyPr/>
                    <a:lstStyle/>
                    <a:p>
                      <a:pPr algn="ctr"/>
                      <a:r>
                        <a:rPr sz="750" b="0" i="1">
                          <a:solidFill>
                            <a:srgbClr val="555555"/>
                          </a:solidFill>
                          <a:latin typeface="Calibri"/>
                        </a:rPr>
                        <a:t>7,3 %</a:t>
                      </a:r>
                    </a:p>
                  </a:txBody>
                  <a:tcPr>
                    <a:solidFill>
                      <a:srgbClr val="F7F8FA"/>
                    </a:solidFill>
                  </a:tcPr>
                </a:tc>
                <a:tc>
                  <a:txBody>
                    <a:bodyPr/>
                    <a:lstStyle/>
                    <a:p>
                      <a:pPr algn="ctr"/>
                      <a:r>
                        <a:rPr sz="750" b="0" i="1">
                          <a:solidFill>
                            <a:srgbClr val="555555"/>
                          </a:solidFill>
                          <a:latin typeface="Calibri"/>
                        </a:rPr>
                        <a:t>4,0 %</a:t>
                      </a:r>
                    </a:p>
                  </a:txBody>
                  <a:tcPr>
                    <a:solidFill>
                      <a:srgbClr val="DDE8F5"/>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16,5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6,6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-8,4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2,23</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1,55</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16,6x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-0,7x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16,85</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-2,61</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372,6x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Eleve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119,5x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14,8x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B06000"/>
                          </a:solidFill>
                          <a:latin typeface="Calibri"/>
                        </a:rPr>
                        <a:t>Modéré</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16,85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376,71 $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a:t>
                      </a:r>
                    </a:p>
                  </a:txBody>
                  <a:tcPr>
                    <a:solidFill>
                      <a:srgbClr val="FAF0EF"/>
                    </a:solidFill>
                  </a:tcPr>
                </a:tc>
                <a:tc>
                  <a:txBody>
                    <a:bodyPr/>
                    <a:lstStyle/>
                    <a:p>
                      <a:pPr algn="ctr"/>
                      <a:r>
                        <a:rPr sz="2000" b="1" i="0">
                          <a:solidFill>
                            <a:srgbClr val="2E5FA3"/>
                          </a:solidFill>
                          <a:latin typeface="Calibri"/>
                        </a:rPr>
                        <a:t>—</a:t>
                      </a:r>
                    </a:p>
                  </a:txBody>
                  <a:tcPr>
                    <a:solidFill>
                      <a:srgbClr val="EEF3FA"/>
                    </a:solidFill>
                  </a:tcPr>
                </a:tc>
                <a:tc>
                  <a:txBody>
                    <a:bodyPr/>
                    <a:lstStyle/>
                    <a:p>
                      <a:pPr algn="ctr"/>
                      <a:r>
                        <a:rPr sz="2000" b="1" i="0">
                          <a:solidFill>
                            <a:srgbClr val="1A7A4A"/>
                          </a:solidFill>
                          <a:latin typeface="Calibri"/>
                        </a:rPr>
                        <a:t>—</a:t>
                      </a:r>
                    </a:p>
                  </a:txBody>
                  <a:tcPr>
                    <a:solidFill>
                      <a:srgbClr val="EAF4EF"/>
                    </a:solidFill>
                  </a:tcPr>
                </a:tc>
              </a:tr>
              <a:tr h="342900">
                <a:tc>
                  <a:txBody>
                    <a:bodyPr/>
                    <a:lstStyle/>
                    <a:p>
                      <a:pPr algn="ctr"/>
                      <a:r>
                        <a:rPr sz="1200" b="1" i="0">
                          <a:solidFill>
                            <a:srgbClr val="A82020"/>
                          </a:solidFill>
                          <a:latin typeface="Calibri"/>
                        </a:rPr>
                        <a:t>—</a:t>
                      </a:r>
                    </a:p>
                  </a:txBody>
                  <a:tcPr>
                    <a:solidFill>
                      <a:srgbClr val="FAF0EF"/>
                    </a:solidFill>
                  </a:tcPr>
                </a:tc>
                <a:tc>
                  <a:txBody>
                    <a:bodyPr/>
                    <a:lstStyle/>
                    <a:p>
                      <a:pPr algn="ctr"/>
                      <a:r>
                        <a:rPr sz="1200" b="1" i="0">
                          <a:solidFill>
                            <a:srgbClr val="2E5FA3"/>
                          </a:solidFill>
                          <a:latin typeface="Calibri"/>
                        </a:rPr>
                        <a:t>—</a:t>
                      </a:r>
                    </a:p>
                  </a:txBody>
                  <a:tcPr>
                    <a:solidFill>
                      <a:srgbClr val="EEF3FA"/>
                    </a:solidFill>
                  </a:tcPr>
                </a:tc>
                <a:tc>
                  <a:txBody>
                    <a:bodyPr/>
                    <a:lstStyle/>
                    <a:p>
                      <a:pPr algn="ctr"/>
                      <a:r>
                        <a:rPr sz="1200" b="1" i="0">
                          <a:solidFill>
                            <a:srgbClr val="1A7A4A"/>
                          </a:solidFill>
                          <a:latin typeface="Calibri"/>
                        </a:rPr>
                        <a:t>—</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13,9%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14,9%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15,9%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16,9%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871200"/>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90400">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90400">
                <a:tc>
                  <a:txBody>
                    <a:bodyPr/>
                    <a:lstStyle/>
                    <a:p>
                      <a:pPr algn="l"/>
                      <a:r>
                        <a:rPr sz="800" b="1" i="0">
                          <a:solidFill>
                            <a:srgbClr val="1B3A6B"/>
                          </a:solidFill>
                          <a:latin typeface="Calibri"/>
                        </a:rPr>
                        <a:t>Tesla, Inc.</a:t>
                      </a:r>
                    </a:p>
                  </a:txBody>
                  <a:tcPr>
                    <a:solidFill>
                      <a:srgbClr val="DDE8F5"/>
                    </a:solidFill>
                  </a:tcPr>
                </a:tc>
                <a:tc>
                  <a:txBody>
                    <a:bodyPr/>
                    <a:lstStyle/>
                    <a:p>
                      <a:pPr algn="ctr"/>
                      <a:r>
                        <a:rPr sz="750" b="1" i="0">
                          <a:solidFill>
                            <a:srgbClr val="2E5FA3"/>
                          </a:solidFill>
                          <a:latin typeface="Calibri"/>
                        </a:rPr>
                        <a:t>TSLA</a:t>
                      </a:r>
                    </a:p>
                  </a:txBody>
                  <a:tcPr>
                    <a:solidFill>
                      <a:srgbClr val="DDE8F5"/>
                    </a:solidFill>
                  </a:tcPr>
                </a:tc>
                <a:tc>
                  <a:txBody>
                    <a:bodyPr/>
                    <a:lstStyle/>
                    <a:p>
                      <a:pPr algn="ctr"/>
                      <a:r>
                        <a:rPr sz="800" b="1" i="0">
                          <a:solidFill>
                            <a:srgbClr val="1B3A6B"/>
                          </a:solidFill>
                          <a:latin typeface="Calibri"/>
                        </a:rPr>
                        <a:t>1 413,6</a:t>
                      </a:r>
                    </a:p>
                  </a:txBody>
                  <a:tcPr>
                    <a:solidFill>
                      <a:srgbClr val="DDE8F5"/>
                    </a:solidFill>
                  </a:tcPr>
                </a:tc>
                <a:tc>
                  <a:txBody>
                    <a:bodyPr/>
                    <a:lstStyle/>
                    <a:p>
                      <a:pPr algn="ctr"/>
                      <a:r>
                        <a:rPr sz="800" b="1" i="0">
                          <a:solidFill>
                            <a:srgbClr val="1B3A6B"/>
                          </a:solidFill>
                          <a:latin typeface="Calibri"/>
                        </a:rPr>
                        <a:t>119,5x</a:t>
                      </a:r>
                    </a:p>
                  </a:txBody>
                  <a:tcPr>
                    <a:solidFill>
                      <a:srgbClr val="DDE8F5"/>
                    </a:solidFill>
                  </a:tcPr>
                </a:tc>
                <a:tc>
                  <a:txBody>
                    <a:bodyPr/>
                    <a:lstStyle/>
                    <a:p>
                      <a:pPr algn="ctr"/>
                      <a:r>
                        <a:rPr sz="800" b="1" i="0">
                          <a:solidFill>
                            <a:srgbClr val="1B3A6B"/>
                          </a:solidFill>
                          <a:latin typeface="Calibri"/>
                        </a:rPr>
                        <a:t>14,8x</a:t>
                      </a:r>
                    </a:p>
                  </a:txBody>
                  <a:tcPr>
                    <a:solidFill>
                      <a:srgbClr val="DDE8F5"/>
                    </a:solidFill>
                  </a:tcPr>
                </a:tc>
                <a:tc>
                  <a:txBody>
                    <a:bodyPr/>
                    <a:lstStyle/>
                    <a:p>
                      <a:pPr algn="ctr"/>
                      <a:r>
                        <a:rPr sz="800" b="1" i="0">
                          <a:solidFill>
                            <a:srgbClr val="1B3A6B"/>
                          </a:solidFill>
                          <a:latin typeface="Calibri"/>
                        </a:rPr>
                        <a:t>372,6x</a:t>
                      </a:r>
                    </a:p>
                  </a:txBody>
                  <a:tcPr>
                    <a:solidFill>
                      <a:srgbClr val="DDE8F5"/>
                    </a:solidFill>
                  </a:tcPr>
                </a:tc>
                <a:tc>
                  <a:txBody>
                    <a:bodyPr/>
                    <a:lstStyle/>
                    <a:p>
                      <a:pPr algn="ctr"/>
                      <a:r>
                        <a:rPr sz="800" b="1" i="0">
                          <a:solidFill>
                            <a:srgbClr val="1B3A6B"/>
                          </a:solidFill>
                          <a:latin typeface="Calibri"/>
                        </a:rPr>
                        <a:t>18,0 %</a:t>
                      </a:r>
                    </a:p>
                  </a:txBody>
                  <a:tcPr>
                    <a:solidFill>
                      <a:srgbClr val="DDE8F5"/>
                    </a:solidFill>
                  </a:tcPr>
                </a:tc>
                <a:tc>
                  <a:txBody>
                    <a:bodyPr/>
                    <a:lstStyle/>
                    <a:p>
                      <a:pPr algn="ctr"/>
                      <a:r>
                        <a:rPr sz="800" b="1" i="0">
                          <a:solidFill>
                            <a:srgbClr val="1B3A6B"/>
                          </a:solidFill>
                          <a:latin typeface="Calibri"/>
                        </a:rPr>
                        <a:t>12,4 %</a:t>
                      </a:r>
                    </a:p>
                  </a:txBody>
                  <a:tcPr>
                    <a:solidFill>
                      <a:srgbClr val="DDE8F5"/>
                    </a:solidFill>
                  </a:tcPr>
                </a:tc>
              </a:tr>
              <a:tr h="290400">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graphicFrame>
        <p:nvGraphicFramePr>
          <p:cNvPr id="17" name="Table 16"/>
          <p:cNvGraphicFramePr>
            <a:graphicFrameLocks noGrp="1"/>
          </p:cNvGraphicFramePr>
          <p:nvPr/>
        </p:nvGraphicFramePr>
        <p:xfrm>
          <a:off x="367200" y="914400"/>
          <a:ext cx="8413200" cy="615600"/>
        </p:xfrm>
        <a:graphic>
          <a:graphicData uri="http://schemas.openxmlformats.org/drawingml/2006/table">
            <a:tbl>
              <a:tblPr firstRow="1" bandRow="1">
                <a:tableStyleId>{5C22544A-7EE6-4342-B048-85BDC9FD1C3A}</a:tableStyleId>
              </a:tblPr>
              <a:tblGrid>
                <a:gridCol w="2944620"/>
                <a:gridCol w="1682640"/>
                <a:gridCol w="1682640"/>
                <a:gridCol w="2103300"/>
              </a:tblGrid>
              <a:tr h="307800">
                <a:tc>
                  <a:txBody>
                    <a:bodyPr/>
                    <a:lstStyle/>
                    <a:p>
                      <a:pPr algn="l"/>
                      <a:r>
                        <a:rPr sz="800" b="1" i="0">
                          <a:solidFill>
                            <a:srgbClr val="FFFFFF"/>
                          </a:solidFill>
                          <a:latin typeface="Calibri"/>
                        </a:rPr>
                        <a:t>Méthode</a:t>
                      </a:r>
                    </a:p>
                  </a:txBody>
                  <a:tcPr>
                    <a:solidFill>
                      <a:srgbClr val="1B3A6B"/>
                    </a:solidFill>
                  </a:tcPr>
                </a:tc>
                <a:tc>
                  <a:txBody>
                    <a:bodyPr/>
                    <a:lstStyle/>
                    <a:p>
                      <a:pPr algn="ctr"/>
                      <a:r>
                        <a:rPr sz="800" b="1" i="0">
                          <a:solidFill>
                            <a:srgbClr val="FFFFFF"/>
                          </a:solidFill>
                          <a:latin typeface="Calibri"/>
                        </a:rPr>
                        <a:t>Fourchette basse</a:t>
                      </a:r>
                    </a:p>
                  </a:txBody>
                  <a:tcPr>
                    <a:solidFill>
                      <a:srgbClr val="1B3A6B"/>
                    </a:solidFill>
                  </a:tcPr>
                </a:tc>
                <a:tc>
                  <a:txBody>
                    <a:bodyPr/>
                    <a:lstStyle/>
                    <a:p>
                      <a:pPr algn="ctr"/>
                      <a:r>
                        <a:rPr sz="800" b="1" i="0">
                          <a:solidFill>
                            <a:srgbClr val="FFFFFF"/>
                          </a:solidFill>
                          <a:latin typeface="Calibri"/>
                        </a:rPr>
                        <a:t>Fourchette haute</a:t>
                      </a:r>
                    </a:p>
                  </a:txBody>
                  <a:tcPr>
                    <a:solidFill>
                      <a:srgbClr val="1B3A6B"/>
                    </a:solidFill>
                  </a:tcPr>
                </a:tc>
                <a:tc>
                  <a:txBody>
                    <a:bodyPr/>
                    <a:lstStyle/>
                    <a:p>
                      <a:pPr algn="ctr"/>
                      <a:r>
                        <a:rPr sz="800" b="1" i="0">
                          <a:solidFill>
                            <a:srgbClr val="FFFFFF"/>
                          </a:solidFill>
                          <a:latin typeface="Calibri"/>
                        </a:rPr>
                        <a:t>Point central</a:t>
                      </a:r>
                    </a:p>
                  </a:txBody>
                  <a:tcPr>
                    <a:solidFill>
                      <a:srgbClr val="1B3A6B"/>
                    </a:solidFill>
                  </a:tcPr>
                </a:tc>
              </a:tr>
              <a:tr h="307800">
                <a:tc>
                  <a:txBody>
                    <a:bodyPr/>
                    <a:lstStyle/>
                    <a:p>
                      <a:pPr algn="l"/>
                      <a:r>
                        <a:rPr sz="800" b="0" i="0">
                          <a:solidFill>
                            <a:srgbClr val="0D0D0D"/>
                          </a:solidFill>
                          <a:latin typeface="Calibri"/>
                        </a:rPr>
                        <a:t>Cours actuel (376,71)</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376,71</a:t>
                      </a:r>
                    </a:p>
                  </a:txBody>
                  <a:tcPr>
                    <a:solidFill>
                      <a:srgbClr val="EEF3FA"/>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Risque 1</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Risque macro-économique : remontée des taux ou ralentissement de la demande mondiale.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Risque 2</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Risque sectoriel : intensification de la concurrence ou disruption technologique.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Risque 3</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Risque spécifique : détérioration des marges ou exécution stratégique.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Remontée des taux directeurs &gt; 200bps</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Rupture technologique remettant en cause le modèle</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Détérioration matérielle des marges opérationnelles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324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46000"/>
            <a:ext cx="2696400" cy="288000"/>
          </a:xfrm>
          <a:prstGeom prst="rect">
            <a:avLst/>
          </a:prstGeom>
          <a:noFill/>
        </p:spPr>
        <p:txBody>
          <a:bodyPr wrap="square">
            <a:spAutoFit/>
          </a:bodyPr>
          <a:lstStyle/>
          <a:p>
            <a:pPr algn="l"/>
            <a:r>
              <a:rPr sz="750" b="0" i="0">
                <a:solidFill>
                  <a:srgbClr val="1B3A6B"/>
                </a:solidFill>
                <a:latin typeface="Calibri"/>
              </a:rPr>
              <a:t>Detresse : 0/100 — Sain</a:t>
            </a:r>
          </a:p>
        </p:txBody>
      </p:sp>
      <p:sp>
        <p:nvSpPr>
          <p:cNvPr id="35" name="Rectangle 34"/>
          <p:cNvSpPr/>
          <p:nvPr/>
        </p:nvSpPr>
        <p:spPr>
          <a:xfrm>
            <a:off x="3243600" y="4428000"/>
            <a:ext cx="2804400" cy="324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32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46000"/>
            <a:ext cx="2696400" cy="288000"/>
          </a:xfrm>
          <a:prstGeom prst="rect">
            <a:avLst/>
          </a:prstGeom>
          <a:noFill/>
        </p:spPr>
        <p:txBody>
          <a:bodyPr wrap="square">
            <a:spAutoFit/>
          </a:bodyPr>
          <a:lstStyle/>
          <a:p>
            <a:pPr algn="l"/>
            <a:r>
              <a:rPr sz="750" b="0" i="0">
                <a:solidFill>
                  <a:srgbClr val="1B3A6B"/>
                </a:solidFill>
                <a:latin typeface="Calibri"/>
              </a:rPr>
              <a:t>M&amp;A : 28/100 — Peu attractive</a:t>
            </a:r>
          </a:p>
        </p:txBody>
      </p:sp>
      <p:sp>
        <p:nvSpPr>
          <p:cNvPr id="38" name="Rectangle 37"/>
          <p:cNvSpPr/>
          <p:nvPr/>
        </p:nvSpPr>
        <p:spPr>
          <a:xfrm>
            <a:off x="6123600" y="4428000"/>
            <a:ext cx="2804400" cy="324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32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46000"/>
            <a:ext cx="2696400" cy="288000"/>
          </a:xfrm>
          <a:prstGeom prst="rect">
            <a:avLst/>
          </a:prstGeom>
          <a:noFill/>
        </p:spPr>
        <p:txBody>
          <a:bodyPr wrap="square">
            <a:spAutoFit/>
          </a:bodyPr>
          <a:lstStyle/>
          <a:p>
            <a:pPr algn="l"/>
            <a:r>
              <a:rPr sz="750" b="0" i="0">
                <a:solidFill>
                  <a:srgbClr val="1B3A6B"/>
                </a:solidFill>
                <a:latin typeface="Calibri"/>
              </a:rPr>
              <a:t>Regime : Bear  Rec.6M:34%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Positif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+0,064</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35,6 %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HOLD</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11</a:t>
                      </a:r>
                    </a:p>
                  </a:txBody>
                  <a:tcPr>
                    <a:solidFill>
                      <a:srgbClr val="EAF4EF"/>
                    </a:solidFill>
                  </a:tcPr>
                </a:tc>
                <a:tc>
                  <a:txBody>
                    <a:bodyPr/>
                    <a:lstStyle/>
                    <a:p>
                      <a:pPr algn="ctr"/>
                      <a:r>
                        <a:rPr sz="800" b="0" i="0">
                          <a:solidFill>
                            <a:srgbClr val="0D0D0D"/>
                          </a:solidFill>
                          <a:latin typeface="Calibri"/>
                        </a:rPr>
                        <a:t>+0,356</a:t>
                      </a:r>
                    </a:p>
                  </a:txBody>
                  <a:tcPr>
                    <a:solidFill>
                      <a:srgbClr val="EAF4EF"/>
                    </a:solidFill>
                  </a:tcPr>
                </a:tc>
                <a:tc>
                  <a:txBody>
                    <a:bodyPr/>
                    <a:lstStyle/>
                    <a:p>
                      <a:pPr algn="ctr"/>
                      <a:r>
                        <a:rPr sz="800" b="0" i="0">
                          <a:solidFill>
                            <a:srgbClr val="0D0D0D"/>
                          </a:solidFill>
                          <a:latin typeface="Calibri"/>
                        </a:rPr>
                        <a:t>Catalyseurs, croissance, résultats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10</a:t>
                      </a:r>
                    </a:p>
                  </a:txBody>
                  <a:tcPr>
                    <a:solidFill>
                      <a:srgbClr val="FFFFFF"/>
                    </a:solidFill>
                  </a:tcPr>
                </a:tc>
                <a:tc>
                  <a:txBody>
                    <a:bodyPr/>
                    <a:lstStyle/>
                    <a:p>
                      <a:pPr algn="ctr"/>
                      <a:r>
                        <a:rPr sz="800" b="0" i="0">
                          <a:solidFill>
                            <a:srgbClr val="0D0D0D"/>
                          </a:solidFill>
                          <a:latin typeface="Calibri"/>
                        </a:rPr>
                        <a:t>+0,351</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9</a:t>
                      </a:r>
                    </a:p>
                  </a:txBody>
                  <a:tcPr>
                    <a:solidFill>
                      <a:srgbClr val="FAF0EF"/>
                    </a:solidFill>
                  </a:tcPr>
                </a:tc>
                <a:tc>
                  <a:txBody>
                    <a:bodyPr/>
                    <a:lstStyle/>
                    <a:p>
                      <a:pPr algn="ctr"/>
                      <a:r>
                        <a:rPr sz="800" b="0" i="0">
                          <a:solidFill>
                            <a:srgbClr val="0D0D0D"/>
                          </a:solidFill>
                          <a:latin typeface="Calibri"/>
                        </a:rPr>
                        <a:t>+0,293</a:t>
                      </a:r>
                    </a:p>
                  </a:txBody>
                  <a:tcPr>
                    <a:solidFill>
                      <a:srgbClr val="FAF0EF"/>
                    </a:solidFill>
                  </a:tcPr>
                </a:tc>
                <a:tc>
                  <a:txBody>
                    <a:bodyPr/>
                    <a:lstStyle/>
                    <a:p>
                      <a:pPr algn="ctr"/>
                      <a:r>
                        <a:rPr sz="800" b="0" i="0">
                          <a:solidFill>
                            <a:srgbClr val="0D0D0D"/>
                          </a:solidFill>
                          <a:latin typeface="Calibri"/>
                        </a:rPr>
                        <a:t>Risques macro, concurrence, dette</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cette semaine présente un bilan contrasté pour Tesla, avec des signaux positifs sur les ventes en Europe et les innovations technologiques, mais des inquiétudes persistantes sur la demande et la valorisation. Les investisseurs semblent divisés entre optimisme sur les perspectives futures et prudence face aux défis opérationnels actuels.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1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Tesla,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Capital World Investors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USD  ·  Au 1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376,71 $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456,56 $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282,16 $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+33,5 %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292282"/>
            <a:ext cx="498636" cy="602917"/>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38" name="Rectangle 37"/>
          <p:cNvSpPr/>
          <p:nvPr/>
        </p:nvSpPr>
        <p:spPr>
          <a:xfrm>
            <a:off x="1293300" y="3530080"/>
            <a:ext cx="498636" cy="36511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0" name="Rectangle 39"/>
          <p:cNvSpPr/>
          <p:nvPr/>
        </p:nvSpPr>
        <p:spPr>
          <a:xfrm>
            <a:off x="1949400" y="3607612"/>
            <a:ext cx="498636" cy="287587"/>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2" name="Rectangle 41"/>
          <p:cNvSpPr/>
          <p:nvPr/>
        </p:nvSpPr>
        <p:spPr>
          <a:xfrm>
            <a:off x="2605500" y="3396236"/>
            <a:ext cx="498636" cy="49896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4" name="Rectangle 43"/>
          <p:cNvSpPr/>
          <p:nvPr/>
        </p:nvSpPr>
        <p:spPr>
          <a:xfrm>
            <a:off x="3261600" y="2480961"/>
            <a:ext cx="498636" cy="141423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6" name="Rectangle 45"/>
          <p:cNvSpPr/>
          <p:nvPr/>
        </p:nvSpPr>
        <p:spPr>
          <a:xfrm>
            <a:off x="39177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48" name="Rectangle 47"/>
          <p:cNvSpPr/>
          <p:nvPr/>
        </p:nvSpPr>
        <p:spPr>
          <a:xfrm>
            <a:off x="4573800" y="2601099"/>
            <a:ext cx="498636" cy="12941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0" name="Rectangle 49"/>
          <p:cNvSpPr/>
          <p:nvPr/>
        </p:nvSpPr>
        <p:spPr>
          <a:xfrm>
            <a:off x="5229900" y="2439677"/>
            <a:ext cx="498636" cy="1455522"/>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2" name="Rectangle 51"/>
          <p:cNvSpPr/>
          <p:nvPr/>
        </p:nvSpPr>
        <p:spPr>
          <a:xfrm>
            <a:off x="5886000" y="2599117"/>
            <a:ext cx="498636" cy="12960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4" name="Rectangle 53"/>
          <p:cNvSpPr/>
          <p:nvPr/>
        </p:nvSpPr>
        <p:spPr>
          <a:xfrm>
            <a:off x="6542100" y="2829484"/>
            <a:ext cx="498636" cy="1065715"/>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6" name="Rectangle 55"/>
          <p:cNvSpPr/>
          <p:nvPr/>
        </p:nvSpPr>
        <p:spPr>
          <a:xfrm>
            <a:off x="7198200" y="3083466"/>
            <a:ext cx="498636" cy="811733"/>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58" name="Rectangle 57"/>
          <p:cNvSpPr/>
          <p:nvPr/>
        </p:nvSpPr>
        <p:spPr>
          <a:xfrm>
            <a:off x="7854300" y="3042511"/>
            <a:ext cx="498636" cy="852688"/>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282</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339</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399</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456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