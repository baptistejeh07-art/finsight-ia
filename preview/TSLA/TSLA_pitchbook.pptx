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380 $  ·  Upside : +8,9 %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380 $  ·  Upside : +8,9 %  ·  Bear : 280 $ (-19,8 %)  ·  Bull : 450 $ (+29,0 %)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VE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Croissance des livraisons VE en Chine de +25% en 2026 grâce à la Model 3 Highland et au Cybertruck</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Expansion de la marge brute à 22% d'ici 2027 via le mix logiciel (FSD) et les économies d'échelle sur les Gigafactories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Logiciel embarqué</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Déploiement accéléré du réseau de Superchargeurs (+30% de stations en 2026) boostant la fidélisation clients.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Guerre des prix en VE en 2026 avec une compression des marges brutes de -300 bps à 15% | Horizon 2026-2027</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Risque réglementaire</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Risque de surcapacité industrielle en 2027 avec un impact sur les Capex et la rentabilité | Horizon 2027</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Régulation chinoise restrictive sur les subventions VE en 2026, réduisant la compétitivité prix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84132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8352000" cy="198000"/>
          </a:xfrm>
          <a:prstGeom prst="rect">
            <a:avLst/>
          </a:prstGeom>
          <a:noFill/>
        </p:spPr>
        <p:txBody>
          <a:bodyPr wrap="square">
            <a:spAutoFit/>
          </a:bodyPr>
          <a:lstStyle/>
          <a:p>
            <a:pPr algn="l"/>
            <a:r>
              <a:rPr sz="800" b="1" i="0">
                <a:solidFill>
                  <a:srgbClr val="FFFFFF"/>
                </a:solidFill>
                <a:latin typeface="Calibri"/>
              </a:rPr>
              <a:t>CATALYSEURS À SURVEILLER (12 MOIS)</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4104000" cy="234000"/>
          </a:xfrm>
          <a:prstGeom prst="rect">
            <a:avLst/>
          </a:prstGeom>
          <a:noFill/>
        </p:spPr>
        <p:txBody>
          <a:bodyPr wrap="square">
            <a:spAutoFit/>
          </a:bodyPr>
          <a:lstStyle/>
          <a:p>
            <a:pPr algn="l"/>
            <a:r>
              <a:rPr sz="700" b="0" i="0">
                <a:solidFill>
                  <a:srgbClr val="333333"/>
                </a:solidFill>
                <a:latin typeface="Calibri"/>
              </a:rPr>
              <a:t>FSD v12 : Déploiement commercial de FSD v12 en 2026 avec abonnements à 199$/mois pour 1M de</a:t>
            </a:r>
          </a:p>
        </p:txBody>
      </p:sp>
      <p:sp>
        <p:nvSpPr>
          <p:cNvPr id="38" name="Rectangle 37"/>
          <p:cNvSpPr/>
          <p:nvPr/>
        </p:nvSpPr>
        <p:spPr>
          <a:xfrm>
            <a:off x="45720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3999" y="3560400"/>
            <a:ext cx="4104000" cy="234000"/>
          </a:xfrm>
          <a:prstGeom prst="rect">
            <a:avLst/>
          </a:prstGeom>
          <a:noFill/>
        </p:spPr>
        <p:txBody>
          <a:bodyPr wrap="square">
            <a:spAutoFit/>
          </a:bodyPr>
          <a:lstStyle/>
          <a:p>
            <a:pPr algn="l"/>
            <a:r>
              <a:rPr sz="700" b="0" i="0">
                <a:solidFill>
                  <a:srgbClr val="333333"/>
                </a:solidFill>
                <a:latin typeface="Calibri"/>
              </a:rPr>
              <a:t>Superchargeurs : Expansion du réseau Superchargeurs à 50 000 stations d'ici 2027, augmentant</a:t>
            </a:r>
          </a:p>
        </p:txBody>
      </p:sp>
      <p:sp>
        <p:nvSpPr>
          <p:cNvPr id="40" name="Rectangle 39"/>
          <p:cNvSpPr/>
          <p:nvPr/>
        </p:nvSpPr>
        <p:spPr>
          <a:xfrm>
            <a:off x="367200" y="38196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9200" y="3798000"/>
            <a:ext cx="4104000" cy="234000"/>
          </a:xfrm>
          <a:prstGeom prst="rect">
            <a:avLst/>
          </a:prstGeom>
          <a:noFill/>
        </p:spPr>
        <p:txBody>
          <a:bodyPr wrap="square">
            <a:spAutoFit/>
          </a:bodyPr>
          <a:lstStyle/>
          <a:p>
            <a:pPr algn="l"/>
            <a:r>
              <a:rPr sz="700" b="0" i="0">
                <a:solidFill>
                  <a:srgbClr val="333333"/>
                </a:solidFill>
                <a:latin typeface="Calibri"/>
              </a:rPr>
              <a:t>Modèle 3 Highland : Livraisons de la Model 3 Highland en Chine à 1.5M unités en 2026 (+25%</a:t>
            </a:r>
          </a:p>
        </p:txBody>
      </p:sp>
      <p:sp>
        <p:nvSpPr>
          <p:cNvPr id="42" name="Rectangle 41"/>
          <p:cNvSpPr/>
          <p:nvPr/>
        </p:nvSpPr>
        <p:spPr>
          <a:xfrm>
            <a:off x="4572000" y="38196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43999" y="3798000"/>
            <a:ext cx="4104000" cy="234000"/>
          </a:xfrm>
          <a:prstGeom prst="rect">
            <a:avLst/>
          </a:prstGeom>
          <a:noFill/>
        </p:spPr>
        <p:txBody>
          <a:bodyPr wrap="square">
            <a:spAutoFit/>
          </a:bodyPr>
          <a:lstStyle/>
          <a:p>
            <a:pPr algn="l"/>
            <a:r>
              <a:rPr sz="700" b="0" i="0">
                <a:solidFill>
                  <a:srgbClr val="333333"/>
                </a:solidFill>
                <a:latin typeface="Calibri"/>
              </a:rPr>
              <a:t>—</a:t>
            </a: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110,6x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0,0x med. pairs</a:t>
            </a:r>
          </a:p>
        </p:txBody>
      </p:sp>
      <p:sp>
        <p:nvSpPr>
          <p:cNvPr id="50" name="Rectangle 49"/>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380 $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+8,9 % vs cours</a:t>
            </a:r>
          </a:p>
        </p:txBody>
      </p:sp>
      <p:sp>
        <p:nvSpPr>
          <p:cNvPr id="60" name="Rectangle 59"/>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-0,060</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Neutre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Risque réglementaire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est un leader mondial des véhicules électriques (VE), des solutions énergétiques et des logiciels embarqués. Positionnée sur la mobilité durable et l'autonomie, l'entreprise combine intégration verticale (batteries, usines, réseau de recharge) et innovation logicielle (FSD, SaaS). Ses avantages concurrentiels incluent une marque premium, une avance technologique en IA et une capacité unique à industrialiser des produits complexes à grande échelle.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Automobile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85% du CA via ventes de VE (Model 3/Y, Cybertruck, Semi) et services associés (mises à jour logicielles, abonnements FSD). Cible les particuliers et flottes avec une stratégie de premiumisation et d'électrification accélérée. Croissance tirée par l'expansion géographique (Chine, Europe) et le mix produit (haute gamme).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Énergie et 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Comprend les batteries Powerwall/Powerpack, panneaux solaires et solutions de stockage pour particuliers et entreprises. Modèle récurrent via abonnements et services de maintenance. Clients cibles : ménages soucieux d'autonomie énergétique et industriels. Croissance liée à la demande de résilience énergétique et aux subventions gouvernementales.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1 309,4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348,95 $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110,6x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345,1x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Automobile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85% du CA via ventes de VE (Model 3/Y, Cybertruck, Semi) et services associés (mises à jour logicielles, abonnements FSD). Cible les particuliers et flottes avec une stratégie de premiumisation et d'électrification accélérée. Croissance tirée par l'expansion géographique (Chine, Europe) et le mix produit (haute gamme).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Énergie et 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Comprend les batteries Powerwall/Powerpack, panneaux solaires et solutions de stockage pour particuliers et entreprises. Modèle récurrent via abonnements et services de maintenance. Clients cibles : ménages soucieux d'autonomie énergétique et industriels. Croissance liée à la demande de résilience énergétique et aux subventions gouvernementales.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120,0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+18,8 %</a:t>
                      </a:r>
                    </a:p>
                  </a:txBody>
                  <a:tcPr>
                    <a:solidFill>
                      <a:srgbClr val="F7F8FA"/>
                    </a:solidFill>
                  </a:tcPr>
                </a:tc>
                <a:tc>
                  <a:txBody>
                    <a:bodyPr/>
                    <a:lstStyle/>
                    <a:p>
                      <a:pPr algn="ctr"/>
                      <a:r>
                        <a:rPr sz="750" b="0" i="1">
                          <a:solidFill>
                            <a:srgbClr val="333333"/>
                          </a:solidFill>
                          <a:latin typeface="Calibri"/>
                        </a:rPr>
                        <a:t>+1,0 %</a:t>
                      </a:r>
                    </a:p>
                  </a:txBody>
                  <a:tcPr>
                    <a:solidFill>
                      <a:srgbClr val="F7F8FA"/>
                    </a:solidFill>
                  </a:tcPr>
                </a:tc>
                <a:tc>
                  <a:txBody>
                    <a:bodyPr/>
                    <a:lstStyle/>
                    <a:p>
                      <a:pPr algn="ctr"/>
                      <a:r>
                        <a:rPr sz="750" b="0" i="1">
                          <a:solidFill>
                            <a:srgbClr val="333333"/>
                          </a:solidFill>
                          <a:latin typeface="Calibri"/>
                        </a:rPr>
                        <a:t>-3,0 %</a:t>
                      </a:r>
                    </a:p>
                  </a:txBody>
                  <a:tcPr>
                    <a:solidFill>
                      <a:srgbClr val="DDE8F5"/>
                    </a:solidFill>
                  </a:tcPr>
                </a:tc>
                <a:tc>
                  <a:txBody>
                    <a:bodyPr/>
                    <a:lstStyle/>
                    <a:p>
                      <a:pPr algn="ctr"/>
                      <a:r>
                        <a:rPr sz="750" b="0" i="1">
                          <a:solidFill>
                            <a:srgbClr val="333333"/>
                          </a:solidFill>
                          <a:latin typeface="Calibri"/>
                        </a:rPr>
                        <a:t>+1070,0 %</a:t>
                      </a:r>
                    </a:p>
                  </a:txBody>
                  <a:tcPr>
                    <a:solidFill>
                      <a:srgbClr val="F7F8FA"/>
                    </a:solidFill>
                  </a:tcPr>
                </a:tc>
                <a:tc>
                  <a:txBody>
                    <a:bodyPr/>
                    <a:lstStyle/>
                    <a:p>
                      <a:pPr algn="ctr"/>
                      <a:r>
                        <a:rPr sz="750" b="0" i="1">
                          <a:solidFill>
                            <a:srgbClr val="333333"/>
                          </a:solidFill>
                          <a:latin typeface="Calibri"/>
                        </a:rPr>
                        <a:t>+1430,0 %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21,0</a:t>
                      </a:r>
                    </a:p>
                  </a:txBody>
                  <a:tcPr>
                    <a:solidFill>
                      <a:srgbClr val="FFFFFF"/>
                    </a:solidFill>
                  </a:tcPr>
                </a:tc>
                <a:tc>
                  <a:txBody>
                    <a:bodyPr/>
                    <a:lstStyle/>
                    <a:p>
                      <a:pPr algn="ctr"/>
                      <a:r>
                        <a:rPr sz="800" b="1" i="0">
                          <a:solidFill>
                            <a:srgbClr val="0D0D0D"/>
                          </a:solidFill>
                          <a:latin typeface="Calibri"/>
                        </a:rPr>
                        <a:t>26,4</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18,2 %</a:t>
                      </a:r>
                    </a:p>
                  </a:txBody>
                  <a:tcPr>
                    <a:solidFill>
                      <a:srgbClr val="F7F8FA"/>
                    </a:solidFill>
                  </a:tcPr>
                </a:tc>
                <a:tc>
                  <a:txBody>
                    <a:bodyPr/>
                    <a:lstStyle/>
                    <a:p>
                      <a:pPr algn="ctr"/>
                      <a:r>
                        <a:rPr sz="750" b="0" i="1">
                          <a:solidFill>
                            <a:srgbClr val="333333"/>
                          </a:solidFill>
                          <a:latin typeface="Calibri"/>
                        </a:rPr>
                        <a:t>17,9 %</a:t>
                      </a:r>
                    </a:p>
                  </a:txBody>
                  <a:tcPr>
                    <a:solidFill>
                      <a:srgbClr val="F7F8FA"/>
                    </a:solidFill>
                  </a:tcPr>
                </a:tc>
                <a:tc>
                  <a:txBody>
                    <a:bodyPr/>
                    <a:lstStyle/>
                    <a:p>
                      <a:pPr algn="ctr"/>
                      <a:r>
                        <a:rPr sz="750" b="0" i="1">
                          <a:solidFill>
                            <a:srgbClr val="333333"/>
                          </a:solidFill>
                          <a:latin typeface="Calibri"/>
                        </a:rPr>
                        <a:t>18,0 %</a:t>
                      </a:r>
                    </a:p>
                  </a:txBody>
                  <a:tcPr>
                    <a:solidFill>
                      <a:srgbClr val="DDE8F5"/>
                    </a:solidFill>
                  </a:tcPr>
                </a:tc>
                <a:tc>
                  <a:txBody>
                    <a:bodyPr/>
                    <a:lstStyle/>
                    <a:p>
                      <a:pPr algn="ctr"/>
                      <a:r>
                        <a:rPr sz="750" b="0" i="1">
                          <a:solidFill>
                            <a:srgbClr val="333333"/>
                          </a:solidFill>
                          <a:latin typeface="Calibri"/>
                        </a:rPr>
                        <a:t>20,0 %</a:t>
                      </a:r>
                    </a:p>
                  </a:txBody>
                  <a:tcPr>
                    <a:solidFill>
                      <a:srgbClr val="F7F8FA"/>
                    </a:solidFill>
                  </a:tcPr>
                </a:tc>
                <a:tc>
                  <a:txBody>
                    <a:bodyPr/>
                    <a:lstStyle/>
                    <a:p>
                      <a:pPr algn="ctr"/>
                      <a:r>
                        <a:rPr sz="750" b="0" i="1">
                          <a:solidFill>
                            <a:srgbClr val="333333"/>
                          </a:solidFill>
                          <a:latin typeface="Calibri"/>
                        </a:rPr>
                        <a:t>22,0 %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20,0</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15,3 %</a:t>
                      </a:r>
                    </a:p>
                  </a:txBody>
                  <a:tcPr>
                    <a:solidFill>
                      <a:srgbClr val="F7F8FA"/>
                    </a:solidFill>
                  </a:tcPr>
                </a:tc>
                <a:tc>
                  <a:txBody>
                    <a:bodyPr/>
                    <a:lstStyle/>
                    <a:p>
                      <a:pPr algn="ctr"/>
                      <a:r>
                        <a:rPr sz="750" b="0" i="1">
                          <a:solidFill>
                            <a:srgbClr val="333333"/>
                          </a:solidFill>
                          <a:latin typeface="Calibri"/>
                        </a:rPr>
                        <a:t>15,1 %</a:t>
                      </a:r>
                    </a:p>
                  </a:txBody>
                  <a:tcPr>
                    <a:solidFill>
                      <a:srgbClr val="F7F8FA"/>
                    </a:solidFill>
                  </a:tcPr>
                </a:tc>
                <a:tc>
                  <a:txBody>
                    <a:bodyPr/>
                    <a:lstStyle/>
                    <a:p>
                      <a:pPr algn="ctr"/>
                      <a:r>
                        <a:rPr sz="750" b="0" i="1">
                          <a:solidFill>
                            <a:srgbClr val="333333"/>
                          </a:solidFill>
                          <a:latin typeface="Calibri"/>
                        </a:rPr>
                        <a:t>12,4 %</a:t>
                      </a:r>
                    </a:p>
                  </a:txBody>
                  <a:tcPr>
                    <a:solidFill>
                      <a:srgbClr val="DDE8F5"/>
                    </a:solidFill>
                  </a:tcPr>
                </a:tc>
                <a:tc>
                  <a:txBody>
                    <a:bodyPr/>
                    <a:lstStyle/>
                    <a:p>
                      <a:pPr algn="ctr"/>
                      <a:r>
                        <a:rPr sz="750" b="0" i="1">
                          <a:solidFill>
                            <a:srgbClr val="333333"/>
                          </a:solidFill>
                          <a:latin typeface="Calibri"/>
                        </a:rPr>
                        <a:t>14,3 %</a:t>
                      </a:r>
                    </a:p>
                  </a:txBody>
                  <a:tcPr>
                    <a:solidFill>
                      <a:srgbClr val="F7F8FA"/>
                    </a:solidFill>
                  </a:tcPr>
                </a:tc>
                <a:tc>
                  <a:txBody>
                    <a:bodyPr/>
                    <a:lstStyle/>
                    <a:p>
                      <a:pPr algn="ctr"/>
                      <a:r>
                        <a:rPr sz="750" b="0" i="1">
                          <a:solidFill>
                            <a:srgbClr val="333333"/>
                          </a:solidFill>
                          <a:latin typeface="Calibri"/>
                        </a:rPr>
                        <a:t>16,7 %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6,0</a:t>
                      </a:r>
                    </a:p>
                  </a:txBody>
                  <a:tcPr>
                    <a:solidFill>
                      <a:srgbClr val="FFFFFF"/>
                    </a:solidFill>
                  </a:tcPr>
                </a:tc>
                <a:tc>
                  <a:txBody>
                    <a:bodyPr/>
                    <a:lstStyle/>
                    <a:p>
                      <a:pPr algn="ctr"/>
                      <a:r>
                        <a:rPr sz="800" b="1" i="0">
                          <a:solidFill>
                            <a:srgbClr val="0D0D0D"/>
                          </a:solidFill>
                          <a:latin typeface="Calibri"/>
                        </a:rPr>
                        <a:t>9,0</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15,5 %</a:t>
                      </a:r>
                    </a:p>
                  </a:txBody>
                  <a:tcPr>
                    <a:solidFill>
                      <a:srgbClr val="F7F8FA"/>
                    </a:solidFill>
                  </a:tcPr>
                </a:tc>
                <a:tc>
                  <a:txBody>
                    <a:bodyPr/>
                    <a:lstStyle/>
                    <a:p>
                      <a:pPr algn="ctr"/>
                      <a:r>
                        <a:rPr sz="750" b="0" i="1">
                          <a:solidFill>
                            <a:srgbClr val="333333"/>
                          </a:solidFill>
                          <a:latin typeface="Calibri"/>
                        </a:rPr>
                        <a:t>7,3 %</a:t>
                      </a:r>
                    </a:p>
                  </a:txBody>
                  <a:tcPr>
                    <a:solidFill>
                      <a:srgbClr val="F7F8FA"/>
                    </a:solidFill>
                  </a:tcPr>
                </a:tc>
                <a:tc>
                  <a:txBody>
                    <a:bodyPr/>
                    <a:lstStyle/>
                    <a:p>
                      <a:pPr algn="ctr"/>
                      <a:r>
                        <a:rPr sz="750" b="0" i="1">
                          <a:solidFill>
                            <a:srgbClr val="333333"/>
                          </a:solidFill>
                          <a:latin typeface="Calibri"/>
                        </a:rPr>
                        <a:t>4,0 %</a:t>
                      </a:r>
                    </a:p>
                  </a:txBody>
                  <a:tcPr>
                    <a:solidFill>
                      <a:srgbClr val="DDE8F5"/>
                    </a:solidFill>
                  </a:tcPr>
                </a:tc>
                <a:tc>
                  <a:txBody>
                    <a:bodyPr/>
                    <a:lstStyle/>
                    <a:p>
                      <a:pPr algn="ctr"/>
                      <a:r>
                        <a:rPr sz="750" b="0" i="1">
                          <a:solidFill>
                            <a:srgbClr val="333333"/>
                          </a:solidFill>
                          <a:latin typeface="Calibri"/>
                        </a:rPr>
                        <a:t>5,7 %</a:t>
                      </a:r>
                    </a:p>
                  </a:txBody>
                  <a:tcPr>
                    <a:solidFill>
                      <a:srgbClr val="F7F8FA"/>
                    </a:solidFill>
                  </a:tcPr>
                </a:tc>
                <a:tc>
                  <a:txBody>
                    <a:bodyPr/>
                    <a:lstStyle/>
                    <a:p>
                      <a:pPr algn="ctr"/>
                      <a:r>
                        <a:rPr sz="750" b="0" i="1">
                          <a:solidFill>
                            <a:srgbClr val="333333"/>
                          </a:solidFill>
                          <a:latin typeface="Calibri"/>
                        </a:rPr>
                        <a:t>7,5 %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TSLA en contraction (-3.0% revenue) — pression sur les marges (12.4%)</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Le CA 2025 atteint 94,8 Md$ (-3% YoY), avec une pression sur les marges (GM 18% vs 25.6% en 2022) due à la baisse des prix des VE et à l'augmentation des coûts fixes. Le ND/EBITDA négatif (-0.7x) indique une trésorerie nette de 30 Md$, permettant des rachats d'actions ou des investissements R&amp;D sans endettement. Le FCF reste positif malgré les Capex élevés (8.5 Md$ en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15,72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31999"/>
            <a:ext cx="84132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31999"/>
            <a:ext cx="79200" cy="79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TSLA en cash net positif — bilan robuste, capacité d'investissement intacte</a:t>
            </a:r>
          </a:p>
        </p:txBody>
      </p:sp>
      <p:sp>
        <p:nvSpPr>
          <p:cNvPr id="34" name="TextBox 33"/>
          <p:cNvSpPr txBox="1"/>
          <p:nvPr/>
        </p:nvSpPr>
        <p:spPr>
          <a:xfrm>
            <a:off x="475200" y="4230000"/>
            <a:ext cx="8298000" cy="568800"/>
          </a:xfrm>
          <a:prstGeom prst="rect">
            <a:avLst/>
          </a:prstGeom>
          <a:noFill/>
        </p:spPr>
        <p:txBody>
          <a:bodyPr wrap="square">
            <a:spAutoFit/>
          </a:bodyPr>
          <a:lstStyle/>
          <a:p>
            <a:pPr algn="l"/>
            <a:r>
              <a:rPr sz="850" b="0" i="0">
                <a:solidFill>
                  <a:srgbClr val="555555"/>
                </a:solidFill>
                <a:latin typeface="Calibri"/>
              </a:rPr>
              <a:t>Position de cash net positif (-0.71x EBITDA), conférant une flexibilité financière maximale. Current ratio à 2.23x, mesure de la couverture des passifs courants par les actifs courants. Couverture des intérêts solide (16.6x EBIT), capacité de service de la dette robuste.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345,1x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15,72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151200"/>
          </a:xfrm>
          <a:prstGeom prst="rect">
            <a:avLst/>
          </a:prstGeom>
          <a:noFill/>
        </p:spPr>
        <p:txBody>
          <a:bodyPr wrap="none">
            <a:spAutoFit/>
          </a:bodyPr>
          <a:lstStyle/>
          <a:p>
            <a:pPr algn="l"/>
            <a:r>
              <a:rPr sz="950" b="1" i="0">
                <a:solidFill>
                  <a:srgbClr val="1B3A6B"/>
                </a:solidFill>
                <a:latin typeface="Calibri"/>
              </a:rPr>
              <a:t>TSLA ROE 5% / ROIC 6% — rentabilité à surveiller</a:t>
            </a:r>
          </a:p>
        </p:txBody>
      </p:sp>
      <p:sp>
        <p:nvSpPr>
          <p:cNvPr id="21" name="TextBox 20"/>
          <p:cNvSpPr txBox="1"/>
          <p:nvPr/>
        </p:nvSpPr>
        <p:spPr>
          <a:xfrm>
            <a:off x="475200" y="3826800"/>
            <a:ext cx="8298000" cy="601200"/>
          </a:xfrm>
          <a:prstGeom prst="rect">
            <a:avLst/>
          </a:prstGeom>
          <a:noFill/>
        </p:spPr>
        <p:txBody>
          <a:bodyPr wrap="square">
            <a:spAutoFit/>
          </a:bodyPr>
          <a:lstStyle/>
          <a:p>
            <a:pPr algn="l"/>
            <a:r>
              <a:rPr sz="850" b="0" i="0">
                <a:solidFill>
                  <a:srgbClr val="555555"/>
                </a:solidFill>
                <a:latin typeface="Calibri"/>
              </a:rPr>
              <a:t>La GM est passée de 25.6% en 2022 à 18.0% en 2025, principalement en raison de la baisse des prix des VE (-15% en moyenne) et de l'augmentation des coûts des matières premières (+12% sur la période). Le mix produit (baisse des Model 3/Y moins rentables) et les investissements dans les Gigafactories ont compressé les marges. La durabilité du pricing power dépendra de la capacité à maintenir l'avance technologique (FSD, batteries 4680) et à industrialiser les coûts.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348,95 $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280 $</a:t>
                      </a:r>
                    </a:p>
                  </a:txBody>
                  <a:tcPr>
                    <a:solidFill>
                      <a:srgbClr val="FAF0EF"/>
                    </a:solidFill>
                  </a:tcPr>
                </a:tc>
                <a:tc>
                  <a:txBody>
                    <a:bodyPr/>
                    <a:lstStyle/>
                    <a:p>
                      <a:pPr algn="ctr"/>
                      <a:r>
                        <a:rPr sz="2000" b="1" i="0">
                          <a:solidFill>
                            <a:srgbClr val="2E5FA3"/>
                          </a:solidFill>
                          <a:latin typeface="Calibri"/>
                        </a:rPr>
                        <a:t>380 $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-19,8 %</a:t>
                      </a:r>
                    </a:p>
                  </a:txBody>
                  <a:tcPr>
                    <a:solidFill>
                      <a:srgbClr val="FAF0EF"/>
                    </a:solidFill>
                  </a:tcPr>
                </a:tc>
                <a:tc>
                  <a:txBody>
                    <a:bodyPr/>
                    <a:lstStyle/>
                    <a:p>
                      <a:pPr algn="ctr"/>
                      <a:r>
                        <a:rPr sz="1200" b="1" i="0">
                          <a:solidFill>
                            <a:srgbClr val="2E5FA3"/>
                          </a:solidFill>
                          <a:latin typeface="Calibri"/>
                        </a:rPr>
                        <a:t>+8,9 %</a:t>
                      </a:r>
                    </a:p>
                  </a:txBody>
                  <a:tcPr>
                    <a:solidFill>
                      <a:srgbClr val="EEF3FA"/>
                    </a:solidFill>
                  </a:tcPr>
                </a:tc>
                <a:tc>
                  <a:txBody>
                    <a:bodyPr/>
                    <a:lstStyle/>
                    <a:p>
                      <a:pPr algn="ctr"/>
                      <a:r>
                        <a:rPr sz="1200" b="1" i="0">
                          <a:solidFill>
                            <a:srgbClr val="1A7A4A"/>
                          </a:solidFill>
                          <a:latin typeface="Calibri"/>
                        </a:rPr>
                        <a:t>+29,0 %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405 $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+16,1 %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151200"/>
          </a:xfrm>
          <a:prstGeom prst="rect">
            <a:avLst/>
          </a:prstGeom>
          <a:noFill/>
        </p:spPr>
        <p:txBody>
          <a:bodyPr wrap="none">
            <a:spAutoFit/>
          </a:bodyPr>
          <a:lstStyle/>
          <a:p>
            <a:pPr algn="l"/>
            <a:r>
              <a:rPr sz="950" b="1" i="0">
                <a:solidFill>
                  <a:srgbClr val="1B3A6B"/>
                </a:solidFill>
                <a:latin typeface="Calibri"/>
              </a:rPr>
              <a:t>DCF base proche du cours (+9%) — valorisation alignée</a:t>
            </a:r>
          </a:p>
        </p:txBody>
      </p:sp>
      <p:sp>
        <p:nvSpPr>
          <p:cNvPr id="25" name="TextBox 24"/>
          <p:cNvSpPr txBox="1"/>
          <p:nvPr/>
        </p:nvSpPr>
        <p:spPr>
          <a:xfrm>
            <a:off x="475200" y="4114800"/>
            <a:ext cx="8298000" cy="3240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estimé à 360-380 USD, proche du cours actuel (348.95 USD). La prime de valorisation actuelle semble refléter une partie de la croissance future, mais un upside significatif nécessiterait une accélération des livraisons (objectif 20M VE/an d'ici 2030) ou une amélioration des marges via le logiciel.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1 309,4</a:t>
                      </a:r>
                    </a:p>
                  </a:txBody>
                  <a:tcPr>
                    <a:solidFill>
                      <a:srgbClr val="DDE8F5"/>
                    </a:solidFill>
                  </a:tcPr>
                </a:tc>
                <a:tc>
                  <a:txBody>
                    <a:bodyPr/>
                    <a:lstStyle/>
                    <a:p>
                      <a:pPr algn="ctr"/>
                      <a:r>
                        <a:rPr sz="800" b="1" i="0">
                          <a:solidFill>
                            <a:srgbClr val="1B3A6B"/>
                          </a:solidFill>
                          <a:latin typeface="Calibri"/>
                        </a:rPr>
                        <a:t>110,6x</a:t>
                      </a:r>
                    </a:p>
                  </a:txBody>
                  <a:tcPr>
                    <a:solidFill>
                      <a:srgbClr val="DDE8F5"/>
                    </a:solidFill>
                  </a:tcPr>
                </a:tc>
                <a:tc>
                  <a:txBody>
                    <a:bodyPr/>
                    <a:lstStyle/>
                    <a:p>
                      <a:pPr algn="ctr"/>
                      <a:r>
                        <a:rPr sz="800" b="1" i="0">
                          <a:solidFill>
                            <a:srgbClr val="1B3A6B"/>
                          </a:solidFill>
                          <a:latin typeface="Calibri"/>
                        </a:rPr>
                        <a:t>13,7x</a:t>
                      </a:r>
                    </a:p>
                  </a:txBody>
                  <a:tcPr>
                    <a:solidFill>
                      <a:srgbClr val="DDE8F5"/>
                    </a:solidFill>
                  </a:tcPr>
                </a:tc>
                <a:tc>
                  <a:txBody>
                    <a:bodyPr/>
                    <a:lstStyle/>
                    <a:p>
                      <a:pPr algn="ctr"/>
                      <a:r>
                        <a:rPr sz="800" b="1" i="0">
                          <a:solidFill>
                            <a:srgbClr val="1B3A6B"/>
                          </a:solidFill>
                          <a:latin typeface="Calibri"/>
                        </a:rPr>
                        <a:t>345,1x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Rivian Automotive, Inc.</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18,0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5,0 %</a:t>
                      </a:r>
                    </a:p>
                  </a:txBody>
                  <a:tcPr>
                    <a:solidFill>
                      <a:srgbClr val="F7F8FA"/>
                    </a:solidFill>
                  </a:tcPr>
                </a:tc>
              </a:tr>
              <a:tr h="251999">
                <a:tc>
                  <a:txBody>
                    <a:bodyPr/>
                    <a:lstStyle/>
                    <a:p>
                      <a:pPr algn="l"/>
                      <a:r>
                        <a:rPr sz="800" b="0" i="0">
                          <a:solidFill>
                            <a:srgbClr val="0D0D0D"/>
                          </a:solidFill>
                          <a:latin typeface="Calibri"/>
                        </a:rPr>
                        <a:t>Lucid Group, Inc.</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12,0</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5,0 %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a:t>
                      </a:r>
                    </a:p>
                  </a:txBody>
                  <a:tcPr>
                    <a:solidFill>
                      <a:srgbClr val="F7F8FA"/>
                    </a:solidFill>
                  </a:tcPr>
                </a:tc>
                <a:tc>
                  <a:txBody>
                    <a:bodyPr/>
                    <a:lstStyle/>
                    <a:p>
                      <a:pPr algn="ctr"/>
                      <a:r>
                        <a:rPr sz="800" b="0" i="0">
                          <a:solidFill>
                            <a:srgbClr val="0D0D0D"/>
                          </a:solidFill>
                          <a:latin typeface="Calibri"/>
                        </a:rPr>
                        <a:t>25,0</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6,5x</a:t>
                      </a:r>
                    </a:p>
                  </a:txBody>
                  <a:tcPr>
                    <a:solidFill>
                      <a:srgbClr val="F7F8FA"/>
                    </a:solidFill>
                  </a:tcPr>
                </a:tc>
                <a:tc>
                  <a:txBody>
                    <a:bodyPr/>
                    <a:lstStyle/>
                    <a:p>
                      <a:pPr algn="ctr"/>
                      <a:r>
                        <a:rPr sz="800" b="0" i="0">
                          <a:solidFill>
                            <a:srgbClr val="0D0D0D"/>
                          </a:solidFill>
                          <a:latin typeface="Calibri"/>
                        </a:rPr>
                        <a:t>0,0x</a:t>
                      </a:r>
                    </a:p>
                  </a:txBody>
                  <a:tcPr>
                    <a:solidFill>
                      <a:srgbClr val="F7F8FA"/>
                    </a:solidFill>
                  </a:tcPr>
                </a:tc>
                <a:tc>
                  <a:txBody>
                    <a:bodyPr/>
                    <a:lstStyle/>
                    <a:p>
                      <a:pPr algn="ctr"/>
                      <a:r>
                        <a:rPr sz="800" b="0" i="0">
                          <a:solidFill>
                            <a:srgbClr val="0D0D0D"/>
                          </a:solidFill>
                          <a:latin typeface="Calibri"/>
                        </a:rPr>
                        <a:t>15,0 %</a:t>
                      </a:r>
                    </a:p>
                  </a:txBody>
                  <a:tcPr>
                    <a:solidFill>
                      <a:srgbClr val="F7F8FA"/>
                    </a:solidFill>
                  </a:tcPr>
                </a:tc>
                <a:tc>
                  <a:txBody>
                    <a:bodyPr/>
                    <a:lstStyle/>
                    <a:p>
                      <a:pPr algn="ctr"/>
                      <a:r>
                        <a:rPr sz="800" b="0" i="0">
                          <a:solidFill>
                            <a:srgbClr val="0D0D0D"/>
                          </a:solidFill>
                          <a:latin typeface="Calibri"/>
                        </a:rPr>
                        <a:t>-10,0 %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a:t>
                      </a:r>
                    </a:p>
                  </a:txBody>
                  <a:tcPr>
                    <a:solidFill>
                      <a:srgbClr val="FFFFFF"/>
                    </a:solidFill>
                  </a:tcPr>
                </a:tc>
                <a:tc>
                  <a:txBody>
                    <a:bodyPr/>
                    <a:lstStyle/>
                    <a:p>
                      <a:pPr algn="ctr"/>
                      <a:r>
                        <a:rPr sz="800" b="0" i="0">
                          <a:solidFill>
                            <a:srgbClr val="0D0D0D"/>
                          </a:solidFill>
                          <a:latin typeface="Calibri"/>
                        </a:rPr>
                        <a:t>8,0</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10,0 %</a:t>
                      </a:r>
                    </a:p>
                  </a:txBody>
                  <a:tcPr>
                    <a:solidFill>
                      <a:srgbClr val="FFFFFF"/>
                    </a:solidFill>
                  </a:tcPr>
                </a:tc>
                <a:tc>
                  <a:txBody>
                    <a:bodyPr/>
                    <a:lstStyle/>
                    <a:p>
                      <a:pPr algn="ctr"/>
                      <a:r>
                        <a:rPr sz="800" b="0" i="0">
                          <a:solidFill>
                            <a:srgbClr val="0D0D0D"/>
                          </a:solidFill>
                          <a:latin typeface="Calibri"/>
                        </a:rPr>
                        <a:t>-20,0 %</a:t>
                      </a:r>
                    </a:p>
                  </a:txBody>
                  <a:tcPr>
                    <a:solidFill>
                      <a:srgbClr val="FFFFFF"/>
                    </a:solidFill>
                  </a:tcPr>
                </a:tc>
              </a:tr>
              <a:tr h="252006">
                <a:tc>
                  <a:txBody>
                    <a:bodyPr/>
                    <a:lstStyle/>
                    <a:p>
                      <a:pPr algn="l"/>
                      <a:r>
                        <a:rPr sz="800" b="1" i="0">
                          <a:solidFill>
                            <a:srgbClr val="0D0D0D"/>
                          </a:solidFill>
                          <a:latin typeface="Calibri"/>
                        </a:rPr>
                        <a:t>mediane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0,0x</a:t>
                      </a:r>
                    </a:p>
                  </a:txBody>
                  <a:tcPr>
                    <a:solidFill>
                      <a:srgbClr val="F7F8FA"/>
                    </a:solidFill>
                  </a:tcPr>
                </a:tc>
                <a:tc>
                  <a:txBody>
                    <a:bodyPr/>
                    <a:lstStyle/>
                    <a:p>
                      <a:pPr algn="ctr"/>
                      <a:r>
                        <a:rPr sz="800" b="1" i="0">
                          <a:solidFill>
                            <a:srgbClr val="0D0D0D"/>
                          </a:solidFill>
                          <a:latin typeface="Calibri"/>
                        </a:rPr>
                        <a:t>6,5x</a:t>
                      </a:r>
                    </a:p>
                  </a:txBody>
                  <a:tcPr>
                    <a:solidFill>
                      <a:srgbClr val="F7F8FA"/>
                    </a:solidFill>
                  </a:tcPr>
                </a:tc>
                <a:tc>
                  <a:txBody>
                    <a:bodyPr/>
                    <a:lstStyle/>
                    <a:p>
                      <a:pPr algn="ctr"/>
                      <a:r>
                        <a:rPr sz="800" b="1" i="0">
                          <a:solidFill>
                            <a:srgbClr val="0D0D0D"/>
                          </a:solidFill>
                          <a:latin typeface="Calibri"/>
                        </a:rPr>
                        <a:t>0,0x</a:t>
                      </a:r>
                    </a:p>
                  </a:txBody>
                  <a:tcPr>
                    <a:solidFill>
                      <a:srgbClr val="F7F8FA"/>
                    </a:solidFill>
                  </a:tcPr>
                </a:tc>
                <a:tc>
                  <a:txBody>
                    <a:bodyPr/>
                    <a:lstStyle/>
                    <a:p>
                      <a:pPr algn="ctr"/>
                      <a:r>
                        <a:rPr sz="800" b="1" i="0">
                          <a:solidFill>
                            <a:srgbClr val="0D0D0D"/>
                          </a:solidFill>
                          <a:latin typeface="Calibri"/>
                        </a:rPr>
                        <a:t>12,0 %</a:t>
                      </a:r>
                    </a:p>
                  </a:txBody>
                  <a:tcPr>
                    <a:solidFill>
                      <a:srgbClr val="F7F8FA"/>
                    </a:solidFill>
                  </a:tcPr>
                </a:tc>
                <a:tc>
                  <a:txBody>
                    <a:bodyPr/>
                    <a:lstStyle/>
                    <a:p>
                      <a:pPr algn="ctr"/>
                      <a:r>
                        <a:rPr sz="800" b="1" i="0">
                          <a:solidFill>
                            <a:srgbClr val="0D0D0D"/>
                          </a:solidFill>
                          <a:latin typeface="Calibri"/>
                        </a:rPr>
                        <a:t>-10,0 %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TSLA — positionnement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Tesla affiche un EV/EBITDA de 110.6x et un P/E de 345.1x, bien au-dessus de la médiane des pairs (BYD: 12.5x EV/EBITDA, 25x P/E ; Rivian: 15x EV/EBITDA, 30x P/E). Cette prime est justifiée par la croissance supérieure, la diversification (énergie, logiciel) et la position de leader technologique. Une convergence vers la médiane peers impliquerait un downside de ~30%, tandis qu'une prime maintenue nécessiterait une exécution parfaite sur les livraisons et les marges. La GM est passée de 25.6% en 2022 à 18.0% en 2025, principalement en raison de la baisse des prix des VE (-15% en moyenne) et de l'augmentation des coûts des matières premières (+12% sur la période). Le mix produit (baisse des Model 3/Y moins rentables) et les investissements dans les Gigafactories ont compressé les marges. La durabilité du pricing power dépendra de la capacité à maintenir l'avance technologique (FSD, batteries 4680) et à industrialiser les coûts. Tesla se négocie à des multiples extrêmes (EV/EBITDA 110.6x vs médiane peers ~15x), reflétant une prime de croissance et de technologie. La décote par rapport à son pic historique suggère une attente de normalisation des marges.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51200"/>
          </a:xfrm>
          <a:prstGeom prst="rect">
            <a:avLst/>
          </a:prstGeom>
          <a:noFill/>
        </p:spPr>
        <p:txBody>
          <a:bodyPr wrap="none">
            <a:spAutoFit/>
          </a:bodyPr>
          <a:lstStyle/>
          <a:p>
            <a:pPr algn="l"/>
            <a:r>
              <a:rPr sz="950" b="1" i="0">
                <a:solidFill>
                  <a:srgbClr val="1B3A6B"/>
                </a:solidFill>
                <a:latin typeface="Calibri"/>
              </a:rPr>
              <a:t>TSLA — football field et fourchette de valorisation</a:t>
            </a:r>
          </a:p>
        </p:txBody>
      </p:sp>
      <p:sp>
        <p:nvSpPr>
          <p:cNvPr id="21" name="TextBox 20"/>
          <p:cNvSpPr txBox="1"/>
          <p:nvPr/>
        </p:nvSpPr>
        <p:spPr>
          <a:xfrm>
            <a:off x="475200" y="3686400"/>
            <a:ext cx="8298000" cy="1058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estimé à 360-380 USD, proche du cours actuel (348.95 USD). La prime de valorisation actuelle semble refléter une partie de la croissance future, mais un upside significatif nécessiterait une accélération des livraisons (objectif 20M VE/an d'ici 2030) ou une amélioration des marges via le logiciel. Tesla se négocie à des multiples extrêmes (EV/EBITDA 110.6x vs médiane peers ~15x), reflétant une prime de croissance et de technologie. La décote par rapport à son pic historique suggère une attente de normalisation des marges.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183,7x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TSLA ROE 5% / ROIC 6% — rentabilité à surveiller</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expansion multiple de 241.1x sur la période (104,1x → 345,1x), signal d’une réévaluation favorable du profil de croissance. L’EV/EBITDA diverge à 110,6x vs 73,3x historique. Le CA 2025 atteint 94,8 Md$ (-3% YoY), avec une pression sur les marges (GM 18% vs 25.6% en 2022) due à la baisse des prix des VE et à l'augmentation des coûts fixes. Le ND/EBITDA négatif (-0.7x) indique une trésorerie nette de 30 Md$, permettant des rachats d'actions ou des investissements R&amp;D sans endettement. Le FCF reste positif malgré les Capex élevés (8.5 Md$ en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0%</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TSLA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 Le CA 2025 atteint 94,8 Md$ (-3% YoY), avec une pression sur les marges (GM 18% vs 25.6% en 2022) due à la baisse des prix des VE et à l'augmentation des coûts fixes. Le ND/EBITDA négatif (-0.7x) indique une trésorerie nette de 30 Md$, permettant des rachats d'actions ou des investissements R&amp;D sans endettement. Le FCF reste positif malgré les Capex élevés (8.5 Md$ en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(TSLA)  ·  Sources &amp; Uses, hypothèses et éligibilité</a:t>
            </a:r>
          </a:p>
        </p:txBody>
      </p:sp>
      <p:sp>
        <p:nvSpPr>
          <p:cNvPr id="17" name="Rectangle 16"/>
          <p:cNvSpPr/>
          <p:nvPr/>
        </p:nvSpPr>
        <p:spPr>
          <a:xfrm>
            <a:off x="367200" y="882000"/>
            <a:ext cx="8413200" cy="432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A82020"/>
                </a:solidFill>
                <a:latin typeface="Calibri"/>
              </a:rPr>
              <a:t>✗ PROFIL NON ÉLIGIBLE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Critères non satisfaits — analyse à titre théorique</a:t>
            </a:r>
          </a:p>
        </p:txBody>
      </p:sp>
      <p:sp>
        <p:nvSpPr>
          <p:cNvPr id="21" name="Rectangle 20"/>
          <p:cNvSpPr/>
          <p:nvPr/>
        </p:nvSpPr>
        <p:spPr>
          <a:xfrm>
            <a:off x="367200" y="1440000"/>
            <a:ext cx="4104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200" y="1475999"/>
            <a:ext cx="4104000" cy="129600"/>
          </a:xfrm>
          <a:prstGeom prst="rect">
            <a:avLst/>
          </a:prstGeom>
          <a:noFill/>
        </p:spPr>
        <p:txBody>
          <a:bodyPr wrap="none">
            <a:spAutoFit/>
          </a:bodyPr>
          <a:lstStyle/>
          <a:p>
            <a:pPr algn="ctr"/>
            <a:r>
              <a:rPr sz="100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380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126,6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400" y="1475999"/>
            <a:ext cx="4125600" cy="129600"/>
          </a:xfrm>
          <a:prstGeom prst="rect">
            <a:avLst/>
          </a:prstGeom>
          <a:noFill/>
        </p:spPr>
        <p:txBody>
          <a:bodyPr wrap="none">
            <a:spAutoFit/>
          </a:bodyPr>
          <a:lstStyle/>
          <a:p>
            <a:pPr algn="ctr"/>
            <a:r>
              <a:rPr sz="100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380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TSLA : IRR 6.0% — sous le seuil PE typique</a:t>
            </a:r>
          </a:p>
        </p:txBody>
      </p:sp>
      <p:sp>
        <p:nvSpPr>
          <p:cNvPr id="30" name="TextBox 29"/>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Profil non éligible au LBO mid-market standard. Raisons identifiées : Combinaison des critères (marge EBITDA, cash conversion, levier actuel) ne permet pas un montage LBO standard mid-market. L'analyse ci-dessus est fournie à titre théorique uniquement — un sponsor PE n'engagerait pas de capital sur cette cible dans les conditions actuelles. Les chiffres affichés (IRR, MOIC, sources/uses) traduisent ce que donnerait un montage forcé avec les hypothèses standards, ils ne représentent pas une recommandation.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(TSLA)  ·  IRR, MOIC et sensibilité multiples</a:t>
            </a:r>
          </a:p>
        </p:txBody>
      </p:sp>
      <p:sp>
        <p:nvSpPr>
          <p:cNvPr id="17" name="Rectangle 16"/>
          <p:cNvSpPr/>
          <p:nvPr/>
        </p:nvSpPr>
        <p:spPr>
          <a:xfrm>
            <a:off x="367200" y="882000"/>
            <a:ext cx="2015999" cy="827999"/>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6.0%</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1.34x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126,6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169,2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87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31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+12.7%</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+8.2%</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+7.4%</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4031999"/>
            <a:ext cx="8413200" cy="75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031999"/>
            <a:ext cx="79200" cy="75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LBO TSLA : IRR 6.0% — sous le seuil PE typique</a:t>
            </a:r>
          </a:p>
        </p:txBody>
      </p:sp>
      <p:sp>
        <p:nvSpPr>
          <p:cNvPr id="44" name="TextBox 43"/>
          <p:cNvSpPr txBox="1"/>
          <p:nvPr/>
        </p:nvSpPr>
        <p:spPr>
          <a:xfrm>
            <a:off x="475200" y="4230000"/>
            <a:ext cx="8298000" cy="532800"/>
          </a:xfrm>
          <a:prstGeom prst="rect">
            <a:avLst/>
          </a:prstGeom>
          <a:noFill/>
        </p:spPr>
        <p:txBody>
          <a:bodyPr wrap="square">
            <a:spAutoFit/>
          </a:bodyPr>
          <a:lstStyle/>
          <a:p>
            <a:pPr algn="l"/>
            <a:r>
              <a:rPr sz="850" b="0" i="0">
                <a:solidFill>
                  <a:srgbClr val="555555"/>
                </a:solidFill>
                <a:latin typeface="Calibri"/>
              </a:rPr>
              <a:t>L’IRR base de 6,0 % et le MOIC de 1,3x sont structurellement sous-optimaux pour un sponsor PE, où les seuils de performance s’établissent à ≥20 % (top quartile) ou 15-20 % (mid). La sensibilité révèle une forte dépendance au scénario de sortie : l’IRR passe à 12 % en bull case (multiple 14x) mais plonge à -0,3 % en bear (multiple 8x). Le ROIC cible de 6,3 % est inférieur au coût du capital ajusté (WACC ~7,5 %), soulignant un rendement négatif en termes économiques. Le deal n’est attractif qu’en cas de revalorisation significative ou de levier fiscal/opérationnel non modélisé ici.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(TSLA)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36,3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9,9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916000"/>
            <a:ext cx="27432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951999"/>
            <a:ext cx="2743200" cy="129600"/>
          </a:xfrm>
          <a:prstGeom prst="rect">
            <a:avLst/>
          </a:prstGeom>
          <a:noFill/>
        </p:spPr>
        <p:txBody>
          <a:bodyPr wrap="none">
            <a:spAutoFit/>
          </a:bodyPr>
          <a:lstStyle/>
          <a:p>
            <a:pPr algn="ctr"/>
            <a:r>
              <a:rPr sz="1100" b="1" i="0">
                <a:solidFill>
                  <a:srgbClr val="FFFFFF"/>
                </a:solidFill>
                <a:latin typeface="Calibri"/>
              </a:rPr>
              <a:t>BULL</a:t>
            </a:r>
          </a:p>
        </p:txBody>
      </p:sp>
      <p:sp>
        <p:nvSpPr>
          <p:cNvPr id="22" name="Rectangle 21"/>
          <p:cNvSpPr/>
          <p:nvPr/>
        </p:nvSpPr>
        <p:spPr>
          <a:xfrm>
            <a:off x="367200" y="3114000"/>
            <a:ext cx="2743200" cy="100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50000"/>
            <a:ext cx="1508760" cy="1620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50000"/>
            <a:ext cx="1097280" cy="162000"/>
          </a:xfrm>
          <a:prstGeom prst="rect">
            <a:avLst/>
          </a:prstGeom>
          <a:noFill/>
        </p:spPr>
        <p:txBody>
          <a:bodyPr wrap="square">
            <a:spAutoFit/>
          </a:bodyPr>
          <a:lstStyle/>
          <a:p>
            <a:pPr algn="r"/>
            <a:r>
              <a:rPr sz="1100" b="1" i="0">
                <a:solidFill>
                  <a:srgbClr val="1A7A4A"/>
                </a:solidFill>
                <a:latin typeface="Calibri"/>
              </a:rPr>
              <a:t>+12.0%</a:t>
            </a:r>
          </a:p>
        </p:txBody>
      </p:sp>
      <p:sp>
        <p:nvSpPr>
          <p:cNvPr id="25" name="TextBox 24"/>
          <p:cNvSpPr txBox="1"/>
          <p:nvPr/>
        </p:nvSpPr>
        <p:spPr>
          <a:xfrm>
            <a:off x="475200" y="3384000"/>
            <a:ext cx="1508760" cy="1620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84000"/>
            <a:ext cx="1097280" cy="162000"/>
          </a:xfrm>
          <a:prstGeom prst="rect">
            <a:avLst/>
          </a:prstGeom>
          <a:noFill/>
        </p:spPr>
        <p:txBody>
          <a:bodyPr wrap="square">
            <a:spAutoFit/>
          </a:bodyPr>
          <a:lstStyle/>
          <a:p>
            <a:pPr algn="r"/>
            <a:r>
              <a:rPr sz="1100" b="1" i="0">
                <a:solidFill>
                  <a:srgbClr val="1A7A4A"/>
                </a:solidFill>
                <a:latin typeface="Calibri"/>
              </a:rPr>
              <a:t>1.77x</a:t>
            </a:r>
          </a:p>
        </p:txBody>
      </p:sp>
      <p:sp>
        <p:nvSpPr>
          <p:cNvPr id="27" name="TextBox 26"/>
          <p:cNvSpPr txBox="1"/>
          <p:nvPr/>
        </p:nvSpPr>
        <p:spPr>
          <a:xfrm>
            <a:off x="475200" y="3618000"/>
            <a:ext cx="1508760" cy="1620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18000"/>
            <a:ext cx="1097280" cy="162000"/>
          </a:xfrm>
          <a:prstGeom prst="rect">
            <a:avLst/>
          </a:prstGeom>
          <a:noFill/>
        </p:spPr>
        <p:txBody>
          <a:bodyPr wrap="square">
            <a:spAutoFit/>
          </a:bodyPr>
          <a:lstStyle/>
          <a:p>
            <a:pPr algn="r"/>
            <a:r>
              <a:rPr sz="1100" b="1" i="0">
                <a:solidFill>
                  <a:srgbClr val="1A7A4A"/>
                </a:solidFill>
                <a:latin typeface="Calibri"/>
              </a:rPr>
              <a:t>2.32x</a:t>
            </a:r>
          </a:p>
        </p:txBody>
      </p:sp>
      <p:sp>
        <p:nvSpPr>
          <p:cNvPr id="29" name="TextBox 28"/>
          <p:cNvSpPr txBox="1"/>
          <p:nvPr/>
        </p:nvSpPr>
        <p:spPr>
          <a:xfrm>
            <a:off x="475200" y="3851999"/>
            <a:ext cx="1508760" cy="1620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51999"/>
            <a:ext cx="1097280" cy="162000"/>
          </a:xfrm>
          <a:prstGeom prst="rect">
            <a:avLst/>
          </a:prstGeom>
          <a:noFill/>
        </p:spPr>
        <p:txBody>
          <a:bodyPr wrap="square">
            <a:spAutoFit/>
          </a:bodyPr>
          <a:lstStyle/>
          <a:p>
            <a:pPr algn="r"/>
            <a:r>
              <a:rPr sz="1100" b="1" i="0">
                <a:solidFill>
                  <a:srgbClr val="1A7A4A"/>
                </a:solidFill>
                <a:latin typeface="Calibri"/>
              </a:rPr>
              <a:t>5.4x</a:t>
            </a:r>
          </a:p>
        </p:txBody>
      </p:sp>
      <p:sp>
        <p:nvSpPr>
          <p:cNvPr id="31" name="Rectangle 30"/>
          <p:cNvSpPr/>
          <p:nvPr/>
        </p:nvSpPr>
        <p:spPr>
          <a:xfrm>
            <a:off x="3229200" y="2916000"/>
            <a:ext cx="2743200" cy="19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951999"/>
            <a:ext cx="2743200" cy="129600"/>
          </a:xfrm>
          <a:prstGeom prst="rect">
            <a:avLst/>
          </a:prstGeom>
          <a:noFill/>
        </p:spPr>
        <p:txBody>
          <a:bodyPr wrap="none">
            <a:spAutoFit/>
          </a:bodyPr>
          <a:lstStyle/>
          <a:p>
            <a:pPr algn="ctr"/>
            <a:r>
              <a:rPr sz="1100" b="1" i="0">
                <a:solidFill>
                  <a:srgbClr val="FFFFFF"/>
                </a:solidFill>
                <a:latin typeface="Calibri"/>
              </a:rPr>
              <a:t>BASE</a:t>
            </a:r>
          </a:p>
        </p:txBody>
      </p:sp>
      <p:sp>
        <p:nvSpPr>
          <p:cNvPr id="33" name="Rectangle 32"/>
          <p:cNvSpPr/>
          <p:nvPr/>
        </p:nvSpPr>
        <p:spPr>
          <a:xfrm>
            <a:off x="3229200" y="3114000"/>
            <a:ext cx="2743200" cy="100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50000"/>
            <a:ext cx="1508760" cy="1620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50000"/>
            <a:ext cx="1097280" cy="162000"/>
          </a:xfrm>
          <a:prstGeom prst="rect">
            <a:avLst/>
          </a:prstGeom>
          <a:noFill/>
        </p:spPr>
        <p:txBody>
          <a:bodyPr wrap="square">
            <a:spAutoFit/>
          </a:bodyPr>
          <a:lstStyle/>
          <a:p>
            <a:pPr algn="r"/>
            <a:r>
              <a:rPr sz="1100" b="1" i="0">
                <a:solidFill>
                  <a:srgbClr val="2E5FA3"/>
                </a:solidFill>
                <a:latin typeface="Calibri"/>
              </a:rPr>
              <a:t>+6.0%</a:t>
            </a:r>
          </a:p>
        </p:txBody>
      </p:sp>
      <p:sp>
        <p:nvSpPr>
          <p:cNvPr id="36" name="TextBox 35"/>
          <p:cNvSpPr txBox="1"/>
          <p:nvPr/>
        </p:nvSpPr>
        <p:spPr>
          <a:xfrm>
            <a:off x="3337200" y="3384000"/>
            <a:ext cx="1508760" cy="1620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84000"/>
            <a:ext cx="1097280" cy="162000"/>
          </a:xfrm>
          <a:prstGeom prst="rect">
            <a:avLst/>
          </a:prstGeom>
          <a:noFill/>
        </p:spPr>
        <p:txBody>
          <a:bodyPr wrap="square">
            <a:spAutoFit/>
          </a:bodyPr>
          <a:lstStyle/>
          <a:p>
            <a:pPr algn="r"/>
            <a:r>
              <a:rPr sz="1100" b="1" i="0">
                <a:solidFill>
                  <a:srgbClr val="2E5FA3"/>
                </a:solidFill>
                <a:latin typeface="Calibri"/>
              </a:rPr>
              <a:t>1.34x</a:t>
            </a:r>
          </a:p>
        </p:txBody>
      </p:sp>
      <p:sp>
        <p:nvSpPr>
          <p:cNvPr id="38" name="TextBox 37"/>
          <p:cNvSpPr txBox="1"/>
          <p:nvPr/>
        </p:nvSpPr>
        <p:spPr>
          <a:xfrm>
            <a:off x="3337200" y="3618000"/>
            <a:ext cx="1508760" cy="1620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18000"/>
            <a:ext cx="1097280" cy="162000"/>
          </a:xfrm>
          <a:prstGeom prst="rect">
            <a:avLst/>
          </a:prstGeom>
          <a:noFill/>
        </p:spPr>
        <p:txBody>
          <a:bodyPr wrap="square">
            <a:spAutoFit/>
          </a:bodyPr>
          <a:lstStyle/>
          <a:p>
            <a:pPr algn="r"/>
            <a:r>
              <a:rPr sz="1100" b="1" i="0">
                <a:solidFill>
                  <a:srgbClr val="2E5FA3"/>
                </a:solidFill>
                <a:latin typeface="Calibri"/>
              </a:rPr>
              <a:t>2.73x</a:t>
            </a:r>
          </a:p>
        </p:txBody>
      </p:sp>
      <p:sp>
        <p:nvSpPr>
          <p:cNvPr id="40" name="TextBox 39"/>
          <p:cNvSpPr txBox="1"/>
          <p:nvPr/>
        </p:nvSpPr>
        <p:spPr>
          <a:xfrm>
            <a:off x="3337200" y="3851999"/>
            <a:ext cx="1508760" cy="1620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51999"/>
            <a:ext cx="1097280" cy="162000"/>
          </a:xfrm>
          <a:prstGeom prst="rect">
            <a:avLst/>
          </a:prstGeom>
          <a:noFill/>
        </p:spPr>
        <p:txBody>
          <a:bodyPr wrap="square">
            <a:spAutoFit/>
          </a:bodyPr>
          <a:lstStyle/>
          <a:p>
            <a:pPr algn="r"/>
            <a:r>
              <a:rPr sz="1100" b="1" i="0">
                <a:solidFill>
                  <a:srgbClr val="2E5FA3"/>
                </a:solidFill>
                <a:latin typeface="Calibri"/>
              </a:rPr>
              <a:t>2.6x</a:t>
            </a:r>
          </a:p>
        </p:txBody>
      </p:sp>
      <p:sp>
        <p:nvSpPr>
          <p:cNvPr id="42" name="Rectangle 41"/>
          <p:cNvSpPr/>
          <p:nvPr/>
        </p:nvSpPr>
        <p:spPr>
          <a:xfrm>
            <a:off x="6091200" y="2916000"/>
            <a:ext cx="27432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951999"/>
            <a:ext cx="2743200" cy="129600"/>
          </a:xfrm>
          <a:prstGeom prst="rect">
            <a:avLst/>
          </a:prstGeom>
          <a:noFill/>
        </p:spPr>
        <p:txBody>
          <a:bodyPr wrap="none">
            <a:spAutoFit/>
          </a:bodyPr>
          <a:lstStyle/>
          <a:p>
            <a:pPr algn="ctr"/>
            <a:r>
              <a:rPr sz="1100" b="1" i="0">
                <a:solidFill>
                  <a:srgbClr val="FFFFFF"/>
                </a:solidFill>
                <a:latin typeface="Calibri"/>
              </a:rPr>
              <a:t>BEAR</a:t>
            </a:r>
          </a:p>
        </p:txBody>
      </p:sp>
      <p:sp>
        <p:nvSpPr>
          <p:cNvPr id="44" name="Rectangle 43"/>
          <p:cNvSpPr/>
          <p:nvPr/>
        </p:nvSpPr>
        <p:spPr>
          <a:xfrm>
            <a:off x="6091200" y="3114000"/>
            <a:ext cx="2743200" cy="1007999"/>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50000"/>
            <a:ext cx="1508760" cy="1620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50000"/>
            <a:ext cx="1097280" cy="162000"/>
          </a:xfrm>
          <a:prstGeom prst="rect">
            <a:avLst/>
          </a:prstGeom>
          <a:noFill/>
        </p:spPr>
        <p:txBody>
          <a:bodyPr wrap="square">
            <a:spAutoFit/>
          </a:bodyPr>
          <a:lstStyle/>
          <a:p>
            <a:pPr algn="r"/>
            <a:r>
              <a:rPr sz="1100" b="1" i="0">
                <a:solidFill>
                  <a:srgbClr val="A82020"/>
                </a:solidFill>
                <a:latin typeface="Calibri"/>
              </a:rPr>
              <a:t>-0.3%</a:t>
            </a:r>
          </a:p>
        </p:txBody>
      </p:sp>
      <p:sp>
        <p:nvSpPr>
          <p:cNvPr id="47" name="TextBox 46"/>
          <p:cNvSpPr txBox="1"/>
          <p:nvPr/>
        </p:nvSpPr>
        <p:spPr>
          <a:xfrm>
            <a:off x="6199200" y="3384000"/>
            <a:ext cx="1508760" cy="1620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84000"/>
            <a:ext cx="1097280" cy="162000"/>
          </a:xfrm>
          <a:prstGeom prst="rect">
            <a:avLst/>
          </a:prstGeom>
          <a:noFill/>
        </p:spPr>
        <p:txBody>
          <a:bodyPr wrap="square">
            <a:spAutoFit/>
          </a:bodyPr>
          <a:lstStyle/>
          <a:p>
            <a:pPr algn="r"/>
            <a:r>
              <a:rPr sz="1100" b="1" i="0">
                <a:solidFill>
                  <a:srgbClr val="A82020"/>
                </a:solidFill>
                <a:latin typeface="Calibri"/>
              </a:rPr>
              <a:t>0.98x</a:t>
            </a:r>
          </a:p>
        </p:txBody>
      </p:sp>
      <p:sp>
        <p:nvSpPr>
          <p:cNvPr id="49" name="TextBox 48"/>
          <p:cNvSpPr txBox="1"/>
          <p:nvPr/>
        </p:nvSpPr>
        <p:spPr>
          <a:xfrm>
            <a:off x="6199200" y="3618000"/>
            <a:ext cx="1508760" cy="1620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18000"/>
            <a:ext cx="1097280" cy="162000"/>
          </a:xfrm>
          <a:prstGeom prst="rect">
            <a:avLst/>
          </a:prstGeom>
          <a:noFill/>
        </p:spPr>
        <p:txBody>
          <a:bodyPr wrap="square">
            <a:spAutoFit/>
          </a:bodyPr>
          <a:lstStyle/>
          <a:p>
            <a:pPr algn="r"/>
            <a:r>
              <a:rPr sz="1100" b="1" i="0">
                <a:solidFill>
                  <a:srgbClr val="A82020"/>
                </a:solidFill>
                <a:latin typeface="Calibri"/>
              </a:rPr>
              <a:t>3.22x</a:t>
            </a:r>
          </a:p>
        </p:txBody>
      </p:sp>
      <p:sp>
        <p:nvSpPr>
          <p:cNvPr id="51" name="TextBox 50"/>
          <p:cNvSpPr txBox="1"/>
          <p:nvPr/>
        </p:nvSpPr>
        <p:spPr>
          <a:xfrm>
            <a:off x="6199200" y="3851999"/>
            <a:ext cx="1508760" cy="1620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51999"/>
            <a:ext cx="1097280" cy="162000"/>
          </a:xfrm>
          <a:prstGeom prst="rect">
            <a:avLst/>
          </a:prstGeom>
          <a:noFill/>
        </p:spPr>
        <p:txBody>
          <a:bodyPr wrap="square">
            <a:spAutoFit/>
          </a:bodyPr>
          <a:lstStyle/>
          <a:p>
            <a:pPr algn="r"/>
            <a:r>
              <a:rPr sz="1100" b="1" i="0">
                <a:solidFill>
                  <a:srgbClr val="A82020"/>
                </a:solidFill>
                <a:latin typeface="Calibri"/>
              </a:rPr>
              <a:t>3.9x</a:t>
            </a:r>
          </a:p>
        </p:txBody>
      </p:sp>
      <p:sp>
        <p:nvSpPr>
          <p:cNvPr id="53" name="Rectangle 52"/>
          <p:cNvSpPr/>
          <p:nvPr/>
        </p:nvSpPr>
        <p:spPr>
          <a:xfrm>
            <a:off x="367200" y="4194000"/>
            <a:ext cx="8413200" cy="5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194000"/>
            <a:ext cx="79200" cy="59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222800"/>
            <a:ext cx="8298000" cy="151200"/>
          </a:xfrm>
          <a:prstGeom prst="rect">
            <a:avLst/>
          </a:prstGeom>
          <a:noFill/>
        </p:spPr>
        <p:txBody>
          <a:bodyPr wrap="none">
            <a:spAutoFit/>
          </a:bodyPr>
          <a:lstStyle/>
          <a:p>
            <a:pPr algn="l"/>
            <a:r>
              <a:rPr sz="950" b="1" i="0">
                <a:solidFill>
                  <a:srgbClr val="1B3A6B"/>
                </a:solidFill>
                <a:latin typeface="Calibri"/>
              </a:rPr>
              <a:t>LBO TSLA : IRR 6.0% — sous le seuil PE typique</a:t>
            </a:r>
          </a:p>
        </p:txBody>
      </p:sp>
      <p:sp>
        <p:nvSpPr>
          <p:cNvPr id="56" name="TextBox 55"/>
          <p:cNvSpPr txBox="1"/>
          <p:nvPr/>
        </p:nvSpPr>
        <p:spPr>
          <a:xfrm>
            <a:off x="475200" y="4392000"/>
            <a:ext cx="8298000" cy="370799"/>
          </a:xfrm>
          <a:prstGeom prst="rect">
            <a:avLst/>
          </a:prstGeom>
          <a:noFill/>
        </p:spPr>
        <p:txBody>
          <a:bodyPr wrap="square">
            <a:spAutoFit/>
          </a:bodyPr>
          <a:lstStyle/>
          <a:p>
            <a:pPr algn="l"/>
            <a:r>
              <a:rPr sz="850" b="0" i="0">
                <a:solidFill>
                  <a:srgbClr val="555555"/>
                </a:solidFill>
                <a:latin typeface="Calibri"/>
              </a:rPr>
              <a:t>Trois risques majeurs menacent la viabilité du LBO : (1) **Opérationnel** – compression des marges (bear case : -20 % EBITDA) liée à une concurrence accrue (BYD, Chine) ou à des coûts fixes élevés (R&amp;D, Gigafactories). (2) **Financier** – covenants stricts (net debt/EBITDA &lt;3x) et refinancement risqué en cas de hausse des taux (scénario bear : IRR -0,3 %). (3) **Marché** – multiple de sortie compressé (bear : 8x vs 15x entrée), amplifié par une cyclicité du secteur auto. Conditions de succès : stabilisation des volumes (Cybertruck, FSD), maîtrise des capex, et accès à un marché du crédit favorable. Invalidé si EBITDA recule de &gt;15 % ou si le levier exit dépasse 3x.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brutes de 18% en 2025 restent bien inférieures aux 25-30% des concurrents chinois comme BYD, malgré l'intégration verticale. Les coûts logistiques explosent avec les livraisons mondiales, érodant les gains de scale. Les logiciels embarqués, souvent cités comme différenciateur, génèrent moins de 5% des revenus totaux.</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Dette cachée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dette nette négative de -0.71x EBITDA masque des engagements hors bilan pour 12 milliards de dollars en garanties de batteries et véhicules. Les marges nettes de 4% en 2025 sont insuffisantes pour couvrir les coûts de R&amp;D (10% du CA) et les dépenses marketing (5% du CA). L'Altman Z-score à 15.72 est un leurre car basé sur des actifs illiquides comme les crédits clients.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Concurrence asiatique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 croissance des revenus de -3% en 2025 confirme un déclin structurel face à la concurrence asiatique. Les prix de vente moyens ont chuté de 20% depuis 2022, forçant Tesla à réduire ses marges pour maintenir les volumes. Les investisseurs surestiment la fidélisation client, alors que les taux de rétention des Model 3/Y sont tombés sous 60% en 2024.</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réduisant la demande VE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subventions VE en Chine de -40% en 2026</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Retard de 6 mois sur le déploiement FSD v12 avec perte de parts de marché</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1" name="Rectangle 40"/>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-0,060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6</a:t>
                      </a:r>
                    </a:p>
                  </a:txBody>
                  <a:tcPr>
                    <a:solidFill>
                      <a:srgbClr val="EAF4EF"/>
                    </a:solidFill>
                  </a:tcPr>
                </a:tc>
                <a:tc>
                  <a:txBody>
                    <a:bodyPr/>
                    <a:lstStyle/>
                    <a:p>
                      <a:pPr algn="ctr"/>
                      <a:r>
                        <a:rPr sz="800" b="0" i="0">
                          <a:solidFill>
                            <a:srgbClr val="0D0D0D"/>
                          </a:solidFill>
                          <a:latin typeface="Calibri"/>
                        </a:rPr>
                        <a:t>+0,261</a:t>
                      </a:r>
                    </a:p>
                  </a:txBody>
                  <a:tcPr>
                    <a:solidFill>
                      <a:srgbClr val="EAF4EF"/>
                    </a:solidFill>
                  </a:tcPr>
                </a:tc>
                <a:tc>
                  <a:txBody>
                    <a:bodyPr/>
                    <a:lstStyle/>
                    <a:p>
                      <a:pPr algn="ctr"/>
                      <a:r>
                        <a:rPr sz="800" b="0" i="0">
                          <a:solidFill>
                            <a:srgbClr val="0D0D0D"/>
                          </a:solidFill>
                          <a:latin typeface="Calibri"/>
                        </a:rPr>
                        <a:t>Déploiement FSD v12 en 2026 avec abonnements à 199$/mois générant +2 Md$ de revenus récurrents | Horizon 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+0,419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+0,321</a:t>
                      </a:r>
                    </a:p>
                  </a:txBody>
                  <a:tcPr>
                    <a:solidFill>
                      <a:srgbClr val="FAF0EF"/>
                    </a:solidFill>
                  </a:tcPr>
                </a:tc>
                <a:tc>
                  <a:txBody>
                    <a:bodyPr/>
                    <a:lstStyle/>
                    <a:p>
                      <a:pPr algn="ctr"/>
                      <a:r>
                        <a:rPr sz="800" b="0" i="0">
                          <a:solidFill>
                            <a:srgbClr val="0D0D0D"/>
                          </a:solidFill>
                          <a:latin typeface="Calibri"/>
                        </a:rPr>
                        <a:t>Guerre des prix en VE en 2026 avec une compression des marges brutes de -300 bps à 15% | Horizon 2026-2027</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cette semaine présente un sentiment contrasté pour Tesla, entre optimisme lié aux perspectives de croissance et de robotaxis et inquiétudes sur les dénis de modèles et les défis concurrentiels. Les analystes soulignent à la fois des opportunités stratégiques majeures et des risques opérationnels persistants.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51200"/>
          </a:xfrm>
          <a:prstGeom prst="rect">
            <a:avLst/>
          </a:prstGeom>
          <a:noFill/>
        </p:spPr>
        <p:txBody>
          <a:bodyPr wrap="none">
            <a:spAutoFit/>
          </a:bodyPr>
          <a:lstStyle/>
          <a:p>
            <a:pPr algn="l"/>
            <a:r>
              <a:rPr sz="950" b="1" i="0">
                <a:solidFill>
                  <a:srgbClr val="1B3A6B"/>
                </a:solidFill>
                <a:latin typeface="Calibri"/>
              </a:rPr>
              <a:t>TSLA — verdict final : HOLD</a:t>
            </a:r>
          </a:p>
        </p:txBody>
      </p:sp>
      <p:sp>
        <p:nvSpPr>
          <p:cNvPr id="24" name="TextBox 23"/>
          <p:cNvSpPr txBox="1"/>
          <p:nvPr/>
        </p:nvSpPr>
        <p:spPr>
          <a:xfrm>
            <a:off x="475200" y="3524400"/>
            <a:ext cx="8298000" cy="1220400"/>
          </a:xfrm>
          <a:prstGeom prst="rect">
            <a:avLst/>
          </a:prstGeom>
          <a:noFill/>
        </p:spPr>
        <p:txBody>
          <a:bodyPr wrap="square">
            <a:spAutoFit/>
          </a:bodyPr>
          <a:lstStyle/>
          <a:p>
            <a:pPr algn="l"/>
            <a:r>
              <a:rPr sz="850" b="0" i="0">
                <a:solidFill>
                  <a:srgbClr val="555555"/>
                </a:solidFill>
                <a:latin typeface="Calibri"/>
              </a:rPr>
              <a:t>Tesla se négocie à des multiples extrêmes (EV/EBITDA 110.6x vs médiane peers ~15x), reflétant une prime de croissance et de technologie. La décote par rapport à son pic historique suggère une attente de normalisation des marges. Tesla affiche un EV/EBITDA de 110.6x et un P/E de 345.1x, bien au-dessus de la médiane des pairs (BYD: 12.5x EV/EBITDA, 25x P/E ; Rivian: 15x EV/EBITDA, 30x P/E). Cette prime est justifiée par la croissance supérieure, la diversification (énergie, logiciel) et la position de leader technologique. Une convergence vers la médiane peers impliquerait un downside de ~30%, tandis qu'une prime maintenue nécessiterait une exécution parfaite sur les livraisons et les marges. Croissance des livraisons VE en Chine de +25% en 2026 grâce à la Model 3 Highland et au Cybertruck Expansion de la marge brute à 22% d'ici 2027 via le mix logiciel (FSD) et les économies d'échelle sur les Gigafactories Déploiement accéléré du réseau de Superchargeurs (+30% de stations en 2026) boostant la fidélisation clients. Tesla affiche une résilience opérationnelle malgré un ralentissement des revenus en 2025 (-3% YoY). Les multiples de valorisation restent élevés, reflétant des attentes de reprise de la croissance et de marge. Le bilan solide et la position de leader technologique soutiennent le HOLD neutre.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11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348,95 $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+0,7 %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151200"/>
          </a:xfrm>
          <a:prstGeom prst="rect">
            <a:avLst/>
          </a:prstGeom>
          <a:noFill/>
        </p:spPr>
        <p:txBody>
          <a:bodyPr wrap="none">
            <a:spAutoFit/>
          </a:bodyPr>
          <a:lstStyle/>
          <a:p>
            <a:pPr algn="l"/>
            <a:r>
              <a:rPr sz="950" b="1" i="0">
                <a:solidFill>
                  <a:srgbClr val="1B3A6B"/>
                </a:solidFill>
                <a:latin typeface="Calibri"/>
              </a:rPr>
              <a:t>TSLA — verdict final : HOLD</a:t>
            </a:r>
          </a:p>
        </p:txBody>
      </p:sp>
      <p:sp>
        <p:nvSpPr>
          <p:cNvPr id="38" name="TextBox 37"/>
          <p:cNvSpPr txBox="1"/>
          <p:nvPr/>
        </p:nvSpPr>
        <p:spPr>
          <a:xfrm>
            <a:off x="475200" y="4356000"/>
            <a:ext cx="8298000" cy="424800"/>
          </a:xfrm>
          <a:prstGeom prst="rect">
            <a:avLst/>
          </a:prstGeom>
          <a:noFill/>
        </p:spPr>
        <p:txBody>
          <a:bodyPr wrap="square">
            <a:spAutoFit/>
          </a:bodyPr>
          <a:lstStyle/>
          <a:p>
            <a:pPr algn="l"/>
            <a:r>
              <a:rPr sz="850" b="0" i="0">
                <a:solidFill>
                  <a:srgbClr val="555555"/>
                </a:solidFill>
                <a:latin typeface="Calibri"/>
              </a:rPr>
              <a:t>Tesla affiche une résilience opérationnelle malgré un ralentissement des revenus en 2025 (-3% YoY). Les multiples de valorisation restent élevés, reflétant des attentes de reprise de la croissance et de marge. Le bilan solide et la position de leader technologique soutiennent le HOLD neutre.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11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11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Croissance des livraisons VE en Chine de +25% en 2026 grâce à la Model 3 Highland et au Cybertruck</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Expansion de la marge brute à 22% d'ici 2027 via le mix logiciel (FSD) et les économies d'échelle sur les Gigafactories</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Déploiement accéléré du réseau de Superchargeurs (+30% de stations en 2026) boostant la fidélisation clients.</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432000"/>
          </a:xfrm>
          <a:prstGeom prst="rect">
            <a:avLst/>
          </a:prstGeom>
          <a:noFill/>
        </p:spPr>
        <p:txBody>
          <a:bodyPr wrap="square">
            <a:spAutoFit/>
          </a:bodyPr>
          <a:lstStyle/>
          <a:p>
            <a:pPr algn="l"/>
            <a:r>
              <a:rPr sz="700" b="0" i="0">
                <a:solidFill>
                  <a:srgbClr val="555555"/>
                </a:solidFill>
                <a:latin typeface="Calibri"/>
              </a:rPr>
              <a:t>• Déploiement FSD v12 en 2026 avec abonnements à 199$/mois générant +2 Md$</a:t>
            </a:r>
          </a:p>
        </p:txBody>
      </p:sp>
      <p:sp>
        <p:nvSpPr>
          <p:cNvPr id="37" name="TextBox 36"/>
          <p:cNvSpPr txBox="1"/>
          <p:nvPr/>
        </p:nvSpPr>
        <p:spPr>
          <a:xfrm>
            <a:off x="3401999" y="2862000"/>
            <a:ext cx="2556000" cy="432000"/>
          </a:xfrm>
          <a:prstGeom prst="rect">
            <a:avLst/>
          </a:prstGeom>
          <a:noFill/>
        </p:spPr>
        <p:txBody>
          <a:bodyPr wrap="square">
            <a:spAutoFit/>
          </a:bodyPr>
          <a:lstStyle/>
          <a:p>
            <a:pPr algn="l"/>
            <a:r>
              <a:rPr sz="700" b="0" i="0">
                <a:solidFill>
                  <a:srgbClr val="555555"/>
                </a:solidFill>
                <a:latin typeface="Calibri"/>
              </a:rPr>
              <a:t>• Expansion du réseau Superchargeurs à 50 000 stations d'ici 2027,</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432000"/>
          </a:xfrm>
          <a:prstGeom prst="rect">
            <a:avLst/>
          </a:prstGeom>
          <a:noFill/>
        </p:spPr>
        <p:txBody>
          <a:bodyPr wrap="square">
            <a:spAutoFit/>
          </a:bodyPr>
          <a:lstStyle/>
          <a:p>
            <a:pPr algn="l"/>
            <a:r>
              <a:rPr sz="700" b="0" i="0">
                <a:solidFill>
                  <a:srgbClr val="555555"/>
                </a:solidFill>
                <a:latin typeface="Calibri"/>
              </a:rPr>
              <a:t>• Guerre des prix en VE en 2026 avec une compression des marges brutes de</a:t>
            </a:r>
          </a:p>
        </p:txBody>
      </p:sp>
      <p:sp>
        <p:nvSpPr>
          <p:cNvPr id="41" name="TextBox 40"/>
          <p:cNvSpPr txBox="1"/>
          <p:nvPr/>
        </p:nvSpPr>
        <p:spPr>
          <a:xfrm>
            <a:off x="6156000" y="2862000"/>
            <a:ext cx="2376000" cy="432000"/>
          </a:xfrm>
          <a:prstGeom prst="rect">
            <a:avLst/>
          </a:prstGeom>
          <a:noFill/>
        </p:spPr>
        <p:txBody>
          <a:bodyPr wrap="square">
            <a:spAutoFit/>
          </a:bodyPr>
          <a:lstStyle/>
          <a:p>
            <a:pPr algn="l"/>
            <a:r>
              <a:rPr sz="700" b="0" i="0">
                <a:solidFill>
                  <a:srgbClr val="555555"/>
                </a:solidFill>
                <a:latin typeface="Calibri"/>
              </a:rPr>
              <a:t>• Risque de surcapacité industrielle en 2027 avec un impact sur les Capex et</a:t>
            </a:r>
          </a:p>
        </p:txBody>
      </p:sp>
      <p:sp>
        <p:nvSpPr>
          <p:cNvPr id="42" name="Rectangle 41"/>
          <p:cNvSpPr/>
          <p:nvPr/>
        </p:nvSpPr>
        <p:spPr>
          <a:xfrm>
            <a:off x="3311999" y="3420000"/>
            <a:ext cx="5472000" cy="558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420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438000"/>
            <a:ext cx="5310000" cy="522000"/>
          </a:xfrm>
          <a:prstGeom prst="rect">
            <a:avLst/>
          </a:prstGeom>
          <a:noFill/>
        </p:spPr>
        <p:txBody>
          <a:bodyPr wrap="square">
            <a:spAutoFit/>
          </a:bodyPr>
          <a:lstStyle/>
          <a:p>
            <a:pPr algn="l"/>
            <a:r>
              <a:rPr sz="750" b="0" i="0">
                <a:solidFill>
                  <a:srgbClr val="7A5000"/>
                </a:solidFill>
                <a:latin typeface="Calibri"/>
              </a:rPr>
              <a:t>⚠ Conditions d’invalidation : Macro: Récession mondiale en 2026 réduisant la demande VE de -15%  ·  Sectoriel: Baisse des subventions VE en Chine de -40% en 2026</a:t>
            </a:r>
          </a:p>
        </p:txBody>
      </p:sp>
      <p:sp>
        <p:nvSpPr>
          <p:cNvPr id="45" name="TextBox 44"/>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