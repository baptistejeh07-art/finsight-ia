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Tesla,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TSLA  ·  Consumer Cyclical</a:t>
            </a:r>
          </a:p>
        </p:txBody>
      </p:sp>
      <p:sp>
        <p:nvSpPr>
          <p:cNvPr id="8" name="Rectangle 7"/>
          <p:cNvSpPr/>
          <p:nvPr/>
        </p:nvSpPr>
        <p:spPr>
          <a:xfrm>
            <a:off x="2771999" y="2720232"/>
            <a:ext cx="3600000" cy="43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738232"/>
            <a:ext cx="3491999" cy="395999"/>
          </a:xfrm>
          <a:prstGeom prst="rect">
            <a:avLst/>
          </a:prstGeom>
          <a:noFill/>
        </p:spPr>
        <p:txBody>
          <a:bodyPr wrap="square">
            <a:spAutoFit/>
          </a:bodyPr>
          <a:lstStyle/>
          <a:p>
            <a:pPr algn="ctr"/>
            <a:r>
              <a:rPr sz="900" b="1" i="0">
                <a:solidFill>
                  <a:srgbClr val="FFFFFF"/>
                </a:solidFill>
                <a:latin typeface="Calibri"/>
              </a:rPr>
              <a:t>● HOLD  ·  Prix cible base : — $  ·  Upside :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8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B06000"/>
                </a:solidFill>
                <a:latin typeface="Calibri"/>
              </a:rPr>
              <a:t>● HOLD</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 $  ·  Upside : —  ·  Bear : — $ (—)  ·  Bull : — $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a:t>
            </a:r>
          </a:p>
        </p:txBody>
      </p:sp>
      <p:sp>
        <p:nvSpPr>
          <p:cNvPr id="14" name="TextBox 13"/>
          <p:cNvSpPr txBox="1"/>
          <p:nvPr/>
        </p:nvSpPr>
        <p:spPr>
          <a:xfrm>
            <a:off x="503999" y="1814400"/>
            <a:ext cx="3931200" cy="378000"/>
          </a:xfrm>
          <a:prstGeom prst="rect">
            <a:avLst/>
          </a:prstGeom>
          <a:noFill/>
        </p:spPr>
        <p:txBody>
          <a:bodyPr wrap="square">
            <a:spAutoFit/>
          </a:bodyPr>
          <a:lstStyle/>
          <a:p>
            <a:pPr algn="l"/>
            <a:r>
              <a:rPr sz="750" b="0" i="0">
                <a:solidFill>
                  <a:srgbClr val="333333"/>
                </a:solidFill>
                <a:latin typeface="Calibri"/>
              </a:rPr>
              <a:t>—</a:t>
            </a:r>
          </a:p>
        </p:txBody>
      </p:sp>
      <p:sp>
        <p:nvSpPr>
          <p:cNvPr id="15" name="Rectangle 14"/>
          <p:cNvSpPr/>
          <p:nvPr/>
        </p:nvSpPr>
        <p:spPr>
          <a:xfrm>
            <a:off x="367200" y="2214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96000"/>
            <a:ext cx="3931200" cy="183600"/>
          </a:xfrm>
          <a:prstGeom prst="rect">
            <a:avLst/>
          </a:prstGeom>
          <a:noFill/>
        </p:spPr>
        <p:txBody>
          <a:bodyPr wrap="square">
            <a:spAutoFit/>
          </a:bodyPr>
          <a:lstStyle/>
          <a:p>
            <a:pPr algn="l"/>
            <a:r>
              <a:rPr sz="850" b="1" i="0">
                <a:solidFill>
                  <a:srgbClr val="1B3A6B"/>
                </a:solidFill>
                <a:latin typeface="Calibri"/>
              </a:rPr>
              <a:t>—</a:t>
            </a:r>
          </a:p>
        </p:txBody>
      </p:sp>
      <p:sp>
        <p:nvSpPr>
          <p:cNvPr id="17" name="TextBox 16"/>
          <p:cNvSpPr txBox="1"/>
          <p:nvPr/>
        </p:nvSpPr>
        <p:spPr>
          <a:xfrm>
            <a:off x="503999" y="2365200"/>
            <a:ext cx="3931200" cy="378000"/>
          </a:xfrm>
          <a:prstGeom prst="rect">
            <a:avLst/>
          </a:prstGeom>
          <a:noFill/>
        </p:spPr>
        <p:txBody>
          <a:bodyPr wrap="square">
            <a:spAutoFit/>
          </a:bodyPr>
          <a:lstStyle/>
          <a:p>
            <a:pPr algn="l"/>
            <a:r>
              <a:rPr sz="750" b="0" i="0">
                <a:solidFill>
                  <a:srgbClr val="333333"/>
                </a:solidFill>
                <a:latin typeface="Calibri"/>
              </a:rPr>
              <a:t>—</a:t>
            </a:r>
          </a:p>
        </p:txBody>
      </p:sp>
      <p:sp>
        <p:nvSpPr>
          <p:cNvPr id="18" name="Rectangle 17"/>
          <p:cNvSpPr/>
          <p:nvPr/>
        </p:nvSpPr>
        <p:spPr>
          <a:xfrm>
            <a:off x="367200" y="2764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46800"/>
            <a:ext cx="3931200" cy="183600"/>
          </a:xfrm>
          <a:prstGeom prst="rect">
            <a:avLst/>
          </a:prstGeom>
          <a:noFill/>
        </p:spPr>
        <p:txBody>
          <a:bodyPr wrap="square">
            <a:spAutoFit/>
          </a:bodyPr>
          <a:lstStyle/>
          <a:p>
            <a:pPr algn="l"/>
            <a:r>
              <a:rPr sz="850" b="1" i="0">
                <a:solidFill>
                  <a:srgbClr val="1B3A6B"/>
                </a:solidFill>
                <a:latin typeface="Calibri"/>
              </a:rPr>
              <a:t>—</a:t>
            </a:r>
          </a:p>
        </p:txBody>
      </p:sp>
      <p:sp>
        <p:nvSpPr>
          <p:cNvPr id="20" name="TextBox 19"/>
          <p:cNvSpPr txBox="1"/>
          <p:nvPr/>
        </p:nvSpPr>
        <p:spPr>
          <a:xfrm>
            <a:off x="503999" y="2916000"/>
            <a:ext cx="3931200" cy="378000"/>
          </a:xfrm>
          <a:prstGeom prst="rect">
            <a:avLst/>
          </a:prstGeom>
          <a:noFill/>
        </p:spPr>
        <p:txBody>
          <a:bodyPr wrap="square">
            <a:spAutoFit/>
          </a:bodyPr>
          <a:lstStyle/>
          <a:p>
            <a:pPr algn="l"/>
            <a:r>
              <a:rPr sz="750" b="0" i="0">
                <a:solidFill>
                  <a:srgbClr val="333333"/>
                </a:solidFill>
                <a:latin typeface="Calibri"/>
              </a:rPr>
              <a:t>—</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a:t>
            </a:r>
          </a:p>
        </p:txBody>
      </p:sp>
      <p:sp>
        <p:nvSpPr>
          <p:cNvPr id="25" name="TextBox 24"/>
          <p:cNvSpPr txBox="1"/>
          <p:nvPr/>
        </p:nvSpPr>
        <p:spPr>
          <a:xfrm>
            <a:off x="4845600" y="1814400"/>
            <a:ext cx="3794399" cy="3780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26" name="Rectangle 25"/>
          <p:cNvSpPr/>
          <p:nvPr/>
        </p:nvSpPr>
        <p:spPr>
          <a:xfrm>
            <a:off x="4708800" y="2214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96000"/>
            <a:ext cx="3794399" cy="183600"/>
          </a:xfrm>
          <a:prstGeom prst="rect">
            <a:avLst/>
          </a:prstGeom>
          <a:noFill/>
        </p:spPr>
        <p:txBody>
          <a:bodyPr wrap="square">
            <a:spAutoFit/>
          </a:bodyPr>
          <a:lstStyle/>
          <a:p>
            <a:pPr algn="l"/>
            <a:r>
              <a:rPr sz="850" b="1" i="0">
                <a:solidFill>
                  <a:srgbClr val="1B3A6B"/>
                </a:solidFill>
                <a:latin typeface="Calibri"/>
              </a:rPr>
              <a:t>—</a:t>
            </a:r>
          </a:p>
        </p:txBody>
      </p:sp>
      <p:sp>
        <p:nvSpPr>
          <p:cNvPr id="28" name="TextBox 27"/>
          <p:cNvSpPr txBox="1"/>
          <p:nvPr/>
        </p:nvSpPr>
        <p:spPr>
          <a:xfrm>
            <a:off x="4845600" y="2365200"/>
            <a:ext cx="3794399" cy="3780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29" name="Rectangle 28"/>
          <p:cNvSpPr/>
          <p:nvPr/>
        </p:nvSpPr>
        <p:spPr>
          <a:xfrm>
            <a:off x="4708800" y="2764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46800"/>
            <a:ext cx="3794399" cy="183600"/>
          </a:xfrm>
          <a:prstGeom prst="rect">
            <a:avLst/>
          </a:prstGeom>
          <a:noFill/>
        </p:spPr>
        <p:txBody>
          <a:bodyPr wrap="square">
            <a:spAutoFit/>
          </a:bodyPr>
          <a:lstStyle/>
          <a:p>
            <a:pPr algn="l"/>
            <a:r>
              <a:rPr sz="850" b="1" i="0">
                <a:solidFill>
                  <a:srgbClr val="1B3A6B"/>
                </a:solidFill>
                <a:latin typeface="Calibri"/>
              </a:rPr>
              <a:t>—</a:t>
            </a:r>
          </a:p>
        </p:txBody>
      </p:sp>
      <p:sp>
        <p:nvSpPr>
          <p:cNvPr id="31" name="TextBox 30"/>
          <p:cNvSpPr txBox="1"/>
          <p:nvPr/>
        </p:nvSpPr>
        <p:spPr>
          <a:xfrm>
            <a:off x="4845600" y="2916000"/>
            <a:ext cx="3794399" cy="3780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33600"/>
            <a:ext cx="4010400" cy="19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333600"/>
            <a:ext cx="3960000" cy="198000"/>
          </a:xfrm>
          <a:prstGeom prst="rect">
            <a:avLst/>
          </a:prstGeom>
          <a:noFill/>
        </p:spPr>
        <p:txBody>
          <a:bodyPr wrap="square">
            <a:spAutoFit/>
          </a:bodyPr>
          <a:lstStyle/>
          <a:p>
            <a:pPr algn="l"/>
            <a:r>
              <a:rPr sz="750" b="1" i="0">
                <a:solidFill>
                  <a:srgbClr val="FFFFFF"/>
                </a:solidFill>
                <a:latin typeface="Calibri"/>
              </a:rPr>
              <a:t>CATALYSEURS À SURVEILLER (12M)</a:t>
            </a:r>
          </a:p>
        </p:txBody>
      </p:sp>
      <p:sp>
        <p:nvSpPr>
          <p:cNvPr id="36" name="Rectangle 35"/>
          <p:cNvSpPr/>
          <p:nvPr/>
        </p:nvSpPr>
        <p:spPr>
          <a:xfrm>
            <a:off x="367200" y="3582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9200" y="3560400"/>
            <a:ext cx="3837600" cy="172800"/>
          </a:xfrm>
          <a:prstGeom prst="rect">
            <a:avLst/>
          </a:prstGeom>
          <a:noFill/>
        </p:spPr>
        <p:txBody>
          <a:bodyPr wrap="none">
            <a:spAutoFit/>
          </a:bodyPr>
          <a:lstStyle/>
          <a:p>
            <a:pPr algn="l"/>
            <a:r>
              <a:rPr sz="750" b="0" i="0">
                <a:solidFill>
                  <a:srgbClr val="333333"/>
                </a:solidFill>
                <a:latin typeface="Calibri"/>
              </a:rPr>
              <a:t>—</a:t>
            </a:r>
          </a:p>
        </p:txBody>
      </p:sp>
      <p:sp>
        <p:nvSpPr>
          <p:cNvPr id="38" name="Rectangle 37"/>
          <p:cNvSpPr/>
          <p:nvPr/>
        </p:nvSpPr>
        <p:spPr>
          <a:xfrm>
            <a:off x="367200" y="3780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9200" y="3758400"/>
            <a:ext cx="3837600" cy="172800"/>
          </a:xfrm>
          <a:prstGeom prst="rect">
            <a:avLst/>
          </a:prstGeom>
          <a:noFill/>
        </p:spPr>
        <p:txBody>
          <a:bodyPr wrap="none">
            <a:spAutoFit/>
          </a:bodyPr>
          <a:lstStyle/>
          <a:p>
            <a:pPr algn="l"/>
            <a:r>
              <a:rPr sz="750" b="0" i="0">
                <a:solidFill>
                  <a:srgbClr val="333333"/>
                </a:solidFill>
                <a:latin typeface="Calibri"/>
              </a:rPr>
              <a:t>—</a:t>
            </a:r>
          </a:p>
        </p:txBody>
      </p:sp>
      <p:sp>
        <p:nvSpPr>
          <p:cNvPr id="40" name="Rectangle 39"/>
          <p:cNvSpPr/>
          <p:nvPr/>
        </p:nvSpPr>
        <p:spPr>
          <a:xfrm>
            <a:off x="4708800" y="3333600"/>
            <a:ext cx="4068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55600" y="3333600"/>
            <a:ext cx="3996000" cy="198000"/>
          </a:xfrm>
          <a:prstGeom prst="rect">
            <a:avLst/>
          </a:prstGeom>
          <a:noFill/>
        </p:spPr>
        <p:txBody>
          <a:bodyPr wrap="square">
            <a:spAutoFit/>
          </a:bodyPr>
          <a:lstStyle/>
          <a:p>
            <a:pPr algn="l"/>
            <a:r>
              <a:rPr sz="750" b="1" i="0">
                <a:solidFill>
                  <a:srgbClr val="FFFFFF"/>
                </a:solidFill>
                <a:latin typeface="Calibri"/>
              </a:rPr>
              <a:t>VALORISATION SYNTHÉTIQUE</a:t>
            </a:r>
          </a:p>
        </p:txBody>
      </p:sp>
      <p:graphicFrame>
        <p:nvGraphicFramePr>
          <p:cNvPr id="42" name="Table 41"/>
          <p:cNvGraphicFramePr>
            <a:graphicFrameLocks noGrp="1"/>
          </p:cNvGraphicFramePr>
          <p:nvPr/>
        </p:nvGraphicFramePr>
        <p:xfrm>
          <a:off x="4708800" y="3560400"/>
          <a:ext cx="4068000" cy="396000"/>
        </p:xfrm>
        <a:graphic>
          <a:graphicData uri="http://schemas.openxmlformats.org/drawingml/2006/table">
            <a:tbl>
              <a:tblPr firstRow="1" bandRow="1">
                <a:tableStyleId>{5C22544A-7EE6-4342-B048-85BDC9FD1C3A}</a:tableStyleId>
              </a:tblPr>
              <a:tblGrid>
                <a:gridCol w="2034000"/>
                <a:gridCol w="1017000"/>
                <a:gridCol w="1017000"/>
              </a:tblGrid>
              <a:tr h="99000">
                <a:tc>
                  <a:txBody>
                    <a:bodyPr/>
                    <a:lstStyle/>
                    <a:p>
                      <a:pPr algn="l"/>
                      <a:r>
                        <a:rPr sz="800" b="1" i="0">
                          <a:solidFill>
                            <a:srgbClr val="FFFFFF"/>
                          </a:solidFill>
                          <a:latin typeface="Calibri"/>
                        </a:rPr>
                        <a:t>Multiple</a:t>
                      </a:r>
                    </a:p>
                  </a:txBody>
                  <a:tcPr>
                    <a:solidFill>
                      <a:srgbClr val="1B3A6B"/>
                    </a:solidFill>
                  </a:tcPr>
                </a:tc>
                <a:tc>
                  <a:txBody>
                    <a:bodyPr/>
                    <a:lstStyle/>
                    <a:p>
                      <a:pPr algn="ctr"/>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Médiane pairs</a:t>
                      </a:r>
                    </a:p>
                  </a:txBody>
                  <a:tcPr>
                    <a:solidFill>
                      <a:srgbClr val="1B3A6B"/>
                    </a:solidFill>
                  </a:tcPr>
                </a:tc>
              </a:tr>
              <a:tr h="99000">
                <a:tc>
                  <a:txBody>
                    <a:bodyPr/>
                    <a:lstStyle/>
                    <a:p>
                      <a:pPr algn="l"/>
                      <a:r>
                        <a:rPr sz="800" b="0" i="0">
                          <a:solidFill>
                            <a:srgbClr val="0D0D0D"/>
                          </a:solidFill>
                          <a:latin typeface="Calibri"/>
                        </a:rPr>
                        <a:t>P/E NTM (x)</a:t>
                      </a:r>
                    </a:p>
                  </a:txBody>
                  <a:tcPr>
                    <a:solidFill>
                      <a:srgbClr val="FFFFFF"/>
                    </a:solidFill>
                  </a:tcPr>
                </a:tc>
                <a:tc>
                  <a:txBody>
                    <a:bodyPr/>
                    <a:lstStyle/>
                    <a:p>
                      <a:pPr algn="ctr"/>
                      <a:r>
                        <a:rPr sz="800" b="0" i="0">
                          <a:solidFill>
                            <a:srgbClr val="0D0D0D"/>
                          </a:solidFill>
                          <a:latin typeface="Calibri"/>
                        </a:rPr>
                        <a:t>342,9x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99000">
                <a:tc>
                  <a:txBody>
                    <a:bodyPr/>
                    <a:lstStyle/>
                    <a:p>
                      <a:pPr algn="l"/>
                      <a:r>
                        <a:rPr sz="800" b="0" i="0">
                          <a:solidFill>
                            <a:srgbClr val="0D0D0D"/>
                          </a:solidFill>
                          <a:latin typeface="Calibri"/>
                        </a:rPr>
                        <a:t>EV/EBITDA (x)</a:t>
                      </a:r>
                    </a:p>
                  </a:txBody>
                  <a:tcPr>
                    <a:solidFill>
                      <a:srgbClr val="F7F8FA"/>
                    </a:solidFill>
                  </a:tcPr>
                </a:tc>
                <a:tc>
                  <a:txBody>
                    <a:bodyPr/>
                    <a:lstStyle/>
                    <a:p>
                      <a:pPr algn="ctr"/>
                      <a:r>
                        <a:rPr sz="800" b="0" i="0">
                          <a:solidFill>
                            <a:srgbClr val="0D0D0D"/>
                          </a:solidFill>
                          <a:latin typeface="Calibri"/>
                        </a:rPr>
                        <a:t>109,9x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99000">
                <a:tc>
                  <a:txBody>
                    <a:bodyPr/>
                    <a:lstStyle/>
                    <a:p>
                      <a:pPr algn="l"/>
                      <a:r>
                        <a:rPr sz="800" b="0" i="0">
                          <a:solidFill>
                            <a:srgbClr val="0D0D0D"/>
                          </a:solidFill>
                          <a:latin typeface="Calibri"/>
                        </a:rPr>
                        <a:t>Cible DCF ($)</a:t>
                      </a:r>
                    </a:p>
                  </a:txBody>
                  <a:tcPr>
                    <a:solidFill>
                      <a:srgbClr val="FFFFFF"/>
                    </a:solidFill>
                  </a:tcPr>
                </a:tc>
                <a:tc>
                  <a:txBody>
                    <a:bodyPr/>
                    <a:lstStyle/>
                    <a:p>
                      <a:pPr algn="ctr"/>
                      <a:r>
                        <a:rPr sz="800" b="0" i="0">
                          <a:solidFill>
                            <a:srgbClr val="0D0D0D"/>
                          </a:solidFill>
                          <a:latin typeface="Calibri"/>
                        </a:rPr>
                        <a:t>— $</a:t>
                      </a:r>
                    </a:p>
                  </a:txBody>
                  <a:tcPr>
                    <a:solidFill>
                      <a:srgbClr val="FFFFFF"/>
                    </a:solidFill>
                  </a:tcPr>
                </a:tc>
                <a:tc>
                  <a:txBody>
                    <a:bodyPr/>
                    <a:lstStyle/>
                    <a:p>
                      <a:pPr algn="ctr"/>
                      <a:r>
                        <a:rPr sz="800" b="0" i="0">
                          <a:solidFill>
                            <a:srgbClr val="0D0D0D"/>
                          </a:solidFill>
                          <a:latin typeface="Calibri"/>
                        </a:rPr>
                        <a:t>Upside —</a:t>
                      </a:r>
                    </a:p>
                  </a:txBody>
                  <a:tcPr>
                    <a:solidFill>
                      <a:srgbClr val="FFFFFF"/>
                    </a:solidFill>
                  </a:tcPr>
                </a:tc>
              </a:tr>
            </a:tbl>
          </a:graphicData>
        </a:graphic>
      </p:graphicFrame>
      <p:sp>
        <p:nvSpPr>
          <p:cNvPr id="43" name="Rectangle 42"/>
          <p:cNvSpPr/>
          <p:nvPr/>
        </p:nvSpPr>
        <p:spPr>
          <a:xfrm>
            <a:off x="4525200" y="3301200"/>
            <a:ext cx="10800" cy="720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67200" y="4042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672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672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 y="4136400"/>
            <a:ext cx="1893600" cy="396000"/>
          </a:xfrm>
          <a:prstGeom prst="rect">
            <a:avLst/>
          </a:prstGeom>
          <a:noFill/>
        </p:spPr>
        <p:txBody>
          <a:bodyPr wrap="square">
            <a:spAutoFit/>
          </a:bodyPr>
          <a:lstStyle/>
          <a:p>
            <a:pPr algn="l"/>
            <a:r>
              <a:rPr sz="1900" b="1" i="0">
                <a:solidFill>
                  <a:srgbClr val="1B3A6B"/>
                </a:solidFill>
                <a:latin typeface="Calibri"/>
              </a:rPr>
              <a:t>109,9x</a:t>
            </a:r>
          </a:p>
        </p:txBody>
      </p:sp>
      <p:sp>
        <p:nvSpPr>
          <p:cNvPr id="48" name="TextBox 47"/>
          <p:cNvSpPr txBox="1"/>
          <p:nvPr/>
        </p:nvSpPr>
        <p:spPr>
          <a:xfrm>
            <a:off x="457200" y="45324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49" name="TextBox 48"/>
          <p:cNvSpPr txBox="1"/>
          <p:nvPr/>
        </p:nvSpPr>
        <p:spPr>
          <a:xfrm>
            <a:off x="457200" y="4730400"/>
            <a:ext cx="1893600" cy="165600"/>
          </a:xfrm>
          <a:prstGeom prst="rect">
            <a:avLst/>
          </a:prstGeom>
          <a:noFill/>
        </p:spPr>
        <p:txBody>
          <a:bodyPr wrap="square">
            <a:spAutoFit/>
          </a:bodyPr>
          <a:lstStyle/>
          <a:p>
            <a:pPr algn="l"/>
            <a:r>
              <a:rPr sz="700" b="0" i="0">
                <a:solidFill>
                  <a:srgbClr val="888888"/>
                </a:solidFill>
                <a:latin typeface="Calibri"/>
              </a:rPr>
              <a:t>vs — med. pairs</a:t>
            </a:r>
          </a:p>
        </p:txBody>
      </p:sp>
      <p:sp>
        <p:nvSpPr>
          <p:cNvPr id="50" name="Rectangle 49"/>
          <p:cNvSpPr/>
          <p:nvPr/>
        </p:nvSpPr>
        <p:spPr>
          <a:xfrm>
            <a:off x="24876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4876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577600" y="4136400"/>
            <a:ext cx="1893600" cy="396000"/>
          </a:xfrm>
          <a:prstGeom prst="rect">
            <a:avLst/>
          </a:prstGeom>
          <a:noFill/>
        </p:spPr>
        <p:txBody>
          <a:bodyPr wrap="square">
            <a:spAutoFit/>
          </a:bodyPr>
          <a:lstStyle/>
          <a:p>
            <a:pPr algn="l"/>
            <a:r>
              <a:rPr sz="1900" b="1" i="0">
                <a:solidFill>
                  <a:srgbClr val="1B3A6B"/>
                </a:solidFill>
                <a:latin typeface="Calibri"/>
              </a:rPr>
              <a:t>14,8 %</a:t>
            </a:r>
          </a:p>
        </p:txBody>
      </p:sp>
      <p:sp>
        <p:nvSpPr>
          <p:cNvPr id="53" name="TextBox 52"/>
          <p:cNvSpPr txBox="1"/>
          <p:nvPr/>
        </p:nvSpPr>
        <p:spPr>
          <a:xfrm>
            <a:off x="2577600" y="45324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54" name="TextBox 53"/>
          <p:cNvSpPr txBox="1"/>
          <p:nvPr/>
        </p:nvSpPr>
        <p:spPr>
          <a:xfrm>
            <a:off x="2577600" y="4730400"/>
            <a:ext cx="1893600" cy="165600"/>
          </a:xfrm>
          <a:prstGeom prst="rect">
            <a:avLst/>
          </a:prstGeom>
          <a:noFill/>
        </p:spPr>
        <p:txBody>
          <a:bodyPr wrap="square">
            <a:spAutoFit/>
          </a:bodyPr>
          <a:lstStyle/>
          <a:p>
            <a:pPr algn="l"/>
            <a:r>
              <a:rPr sz="700" b="0" i="0">
                <a:solidFill>
                  <a:srgbClr val="888888"/>
                </a:solidFill>
                <a:latin typeface="Calibri"/>
              </a:rPr>
              <a:t>Beta 1,92  ·  RFR 4,3 %</a:t>
            </a:r>
          </a:p>
        </p:txBody>
      </p:sp>
      <p:sp>
        <p:nvSpPr>
          <p:cNvPr id="55" name="Rectangle 54"/>
          <p:cNvSpPr/>
          <p:nvPr/>
        </p:nvSpPr>
        <p:spPr>
          <a:xfrm>
            <a:off x="46080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6080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698000" y="4136400"/>
            <a:ext cx="1893600" cy="396000"/>
          </a:xfrm>
          <a:prstGeom prst="rect">
            <a:avLst/>
          </a:prstGeom>
          <a:noFill/>
        </p:spPr>
        <p:txBody>
          <a:bodyPr wrap="square">
            <a:spAutoFit/>
          </a:bodyPr>
          <a:lstStyle/>
          <a:p>
            <a:pPr algn="l"/>
            <a:r>
              <a:rPr sz="1900" b="1" i="0">
                <a:solidFill>
                  <a:srgbClr val="1B3A6B"/>
                </a:solidFill>
                <a:latin typeface="Calibri"/>
              </a:rPr>
              <a:t>— $</a:t>
            </a:r>
          </a:p>
        </p:txBody>
      </p:sp>
      <p:sp>
        <p:nvSpPr>
          <p:cNvPr id="58" name="TextBox 57"/>
          <p:cNvSpPr txBox="1"/>
          <p:nvPr/>
        </p:nvSpPr>
        <p:spPr>
          <a:xfrm>
            <a:off x="4698000" y="4532400"/>
            <a:ext cx="1893600" cy="205199"/>
          </a:xfrm>
          <a:prstGeom prst="rect">
            <a:avLst/>
          </a:prstGeom>
          <a:noFill/>
        </p:spPr>
        <p:txBody>
          <a:bodyPr wrap="square">
            <a:spAutoFit/>
          </a:bodyPr>
          <a:lstStyle/>
          <a:p>
            <a:pPr algn="l"/>
            <a:r>
              <a:rPr sz="800" b="0" i="0">
                <a:solidFill>
                  <a:srgbClr val="555555"/>
                </a:solidFill>
                <a:latin typeface="Calibri"/>
              </a:rPr>
              <a:t>Valeur DCF base</a:t>
            </a:r>
          </a:p>
        </p:txBody>
      </p:sp>
      <p:sp>
        <p:nvSpPr>
          <p:cNvPr id="59" name="TextBox 58"/>
          <p:cNvSpPr txBox="1"/>
          <p:nvPr/>
        </p:nvSpPr>
        <p:spPr>
          <a:xfrm>
            <a:off x="4698000" y="4730400"/>
            <a:ext cx="1893600" cy="165600"/>
          </a:xfrm>
          <a:prstGeom prst="rect">
            <a:avLst/>
          </a:prstGeom>
          <a:noFill/>
        </p:spPr>
        <p:txBody>
          <a:bodyPr wrap="square">
            <a:spAutoFit/>
          </a:bodyPr>
          <a:lstStyle/>
          <a:p>
            <a:pPr algn="l"/>
            <a:r>
              <a:rPr sz="700" b="0" i="0">
                <a:solidFill>
                  <a:srgbClr val="888888"/>
                </a:solidFill>
                <a:latin typeface="Calibri"/>
              </a:rPr>
              <a:t>Upside — vs cours</a:t>
            </a:r>
          </a:p>
        </p:txBody>
      </p:sp>
      <p:sp>
        <p:nvSpPr>
          <p:cNvPr id="60" name="Rectangle 59"/>
          <p:cNvSpPr/>
          <p:nvPr/>
        </p:nvSpPr>
        <p:spPr>
          <a:xfrm>
            <a:off x="67284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7284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818400" y="4136400"/>
            <a:ext cx="1893600" cy="396000"/>
          </a:xfrm>
          <a:prstGeom prst="rect">
            <a:avLst/>
          </a:prstGeom>
          <a:noFill/>
        </p:spPr>
        <p:txBody>
          <a:bodyPr wrap="square">
            <a:spAutoFit/>
          </a:bodyPr>
          <a:lstStyle/>
          <a:p>
            <a:pPr algn="l"/>
            <a:r>
              <a:rPr sz="1900" b="1" i="0">
                <a:solidFill>
                  <a:srgbClr val="1B3A6B"/>
                </a:solidFill>
                <a:latin typeface="Calibri"/>
              </a:rPr>
              <a:t>+0,435</a:t>
            </a:r>
          </a:p>
        </p:txBody>
      </p:sp>
      <p:sp>
        <p:nvSpPr>
          <p:cNvPr id="63" name="TextBox 62"/>
          <p:cNvSpPr txBox="1"/>
          <p:nvPr/>
        </p:nvSpPr>
        <p:spPr>
          <a:xfrm>
            <a:off x="6818400" y="45324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64" name="TextBox 63"/>
          <p:cNvSpPr txBox="1"/>
          <p:nvPr/>
        </p:nvSpPr>
        <p:spPr>
          <a:xfrm>
            <a:off x="6818400" y="4730400"/>
            <a:ext cx="1893600" cy="165600"/>
          </a:xfrm>
          <a:prstGeom prst="rect">
            <a:avLst/>
          </a:prstGeom>
          <a:noFill/>
        </p:spPr>
        <p:txBody>
          <a:bodyPr wrap="square">
            <a:spAutoFit/>
          </a:bodyPr>
          <a:lstStyle/>
          <a:p>
            <a:pPr algn="l"/>
            <a:r>
              <a:rPr sz="700" b="0" i="0">
                <a:solidFill>
                  <a:srgbClr val="888888"/>
                </a:solidFill>
                <a:latin typeface="Calibri"/>
              </a:rPr>
              <a:t>Positif  ·  30 art.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Tesla, Inc.  ·  Consumer Cyclical</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4–6</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7–10</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11–14</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Risques structurels &amp; thèse contraire</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15–16</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historique &amp; conviction</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17–21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Tesla,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Tesla, Inc. (TSLA) opere dans le secteur Consumer Cyclical. Analyse FinSight IA en cours -- donnees de synthese non disponibles pour cette session. Lancer une nouvelle analyse pour obtenir la description complete, les segments et le positionnement strategique.</a:t>
            </a:r>
          </a:p>
        </p:txBody>
      </p:sp>
      <p:sp>
        <p:nvSpPr>
          <p:cNvPr id="20" name="TextBox 19"/>
          <p:cNvSpPr txBox="1"/>
          <p:nvPr/>
        </p:nvSpPr>
        <p:spPr>
          <a:xfrm>
            <a:off x="503999" y="2358000"/>
            <a:ext cx="4662000" cy="183600"/>
          </a:xfrm>
          <a:prstGeom prst="rect">
            <a:avLst/>
          </a:prstGeom>
          <a:noFill/>
        </p:spPr>
        <p:txBody>
          <a:bodyPr wrap="square">
            <a:spAutoFit/>
          </a:bodyPr>
          <a:lstStyle/>
          <a:p>
            <a:pPr algn="l"/>
            <a:r>
              <a:rPr sz="900" b="1" i="0">
                <a:solidFill>
                  <a:srgbClr val="1B3A6B"/>
                </a:solidFill>
                <a:latin typeface="Calibri"/>
              </a:rPr>
              <a:t>Positionnement stratégique</a:t>
            </a:r>
          </a:p>
        </p:txBody>
      </p:sp>
      <p:sp>
        <p:nvSpPr>
          <p:cNvPr id="21" name="Rectangle 20"/>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1 300,8 Mds$</a:t>
            </a:r>
          </a:p>
        </p:txBody>
      </p:sp>
      <p:sp>
        <p:nvSpPr>
          <p:cNvPr id="24" name="TextBox 23"/>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25" name="Rectangle 24"/>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94,8 Mds$</a:t>
            </a:r>
          </a:p>
        </p:txBody>
      </p:sp>
      <p:sp>
        <p:nvSpPr>
          <p:cNvPr id="28" name="TextBox 27"/>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29" name="Rectangle 28"/>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346,65 $</a:t>
            </a:r>
          </a:p>
        </p:txBody>
      </p:sp>
      <p:sp>
        <p:nvSpPr>
          <p:cNvPr id="32" name="TextBox 31"/>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3" name="Rectangle 32"/>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109,9x</a:t>
            </a:r>
          </a:p>
        </p:txBody>
      </p:sp>
      <p:sp>
        <p:nvSpPr>
          <p:cNvPr id="36" name="TextBox 35"/>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37" name="TextBox 36"/>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342,9x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2731199"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31199"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2551199" cy="640800"/>
          </a:xfrm>
          <a:prstGeom prst="rect">
            <a:avLst/>
          </a:prstGeom>
          <a:noFill/>
        </p:spPr>
        <p:txBody>
          <a:bodyPr wrap="square">
            <a:spAutoFit/>
          </a:bodyPr>
          <a:lstStyle/>
          <a:p>
            <a:pPr algn="l"/>
            <a:r>
              <a:rPr sz="2200" b="1" i="0">
                <a:solidFill>
                  <a:srgbClr val="2E5FA3"/>
                </a:solidFill>
                <a:latin typeface="Calibri"/>
              </a:rPr>
              <a:t>—</a:t>
            </a:r>
          </a:p>
        </p:txBody>
      </p:sp>
      <p:sp>
        <p:nvSpPr>
          <p:cNvPr id="20" name="TextBox 19"/>
          <p:cNvSpPr txBox="1"/>
          <p:nvPr/>
        </p:nvSpPr>
        <p:spPr>
          <a:xfrm>
            <a:off x="4572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2551199" cy="255600"/>
          </a:xfrm>
          <a:prstGeom prst="rect">
            <a:avLst/>
          </a:prstGeom>
          <a:noFill/>
        </p:spPr>
        <p:txBody>
          <a:bodyPr wrap="square">
            <a:spAutoFit/>
          </a:bodyPr>
          <a:lstStyle/>
          <a:p>
            <a:pPr algn="l"/>
            <a:r>
              <a:rPr sz="1000" b="1" i="0">
                <a:solidFill>
                  <a:srgbClr val="1B3A6B"/>
                </a:solidFill>
                <a:latin typeface="Calibri"/>
              </a:rPr>
              <a:t>Core Business</a:t>
            </a:r>
          </a:p>
        </p:txBody>
      </p:sp>
      <p:sp>
        <p:nvSpPr>
          <p:cNvPr id="23" name="TextBox 22"/>
          <p:cNvSpPr txBox="1"/>
          <p:nvPr/>
        </p:nvSpPr>
        <p:spPr>
          <a:xfrm>
            <a:off x="457200" y="2332800"/>
            <a:ext cx="2551199" cy="2041199"/>
          </a:xfrm>
          <a:prstGeom prst="rect">
            <a:avLst/>
          </a:prstGeom>
          <a:noFill/>
        </p:spPr>
        <p:txBody>
          <a:bodyPr wrap="square">
            <a:spAutoFit/>
          </a:bodyPr>
          <a:lstStyle/>
          <a:p>
            <a:pPr algn="l"/>
            <a:r>
              <a:rPr sz="800" b="0" i="0">
                <a:solidFill>
                  <a:srgbClr val="555555"/>
                </a:solidFill>
                <a:latin typeface="Calibri"/>
              </a:rPr>
              <a:t>—</a:t>
            </a:r>
          </a:p>
        </p:txBody>
      </p:sp>
      <p:sp>
        <p:nvSpPr>
          <p:cNvPr id="24" name="Rectangle 23"/>
          <p:cNvSpPr/>
          <p:nvPr/>
        </p:nvSpPr>
        <p:spPr>
          <a:xfrm>
            <a:off x="3206400" y="961200"/>
            <a:ext cx="2731199"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206400" y="961200"/>
            <a:ext cx="2731199"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96400" y="1141200"/>
            <a:ext cx="2551199" cy="640800"/>
          </a:xfrm>
          <a:prstGeom prst="rect">
            <a:avLst/>
          </a:prstGeom>
          <a:noFill/>
        </p:spPr>
        <p:txBody>
          <a:bodyPr wrap="square">
            <a:spAutoFit/>
          </a:bodyPr>
          <a:lstStyle/>
          <a:p>
            <a:pPr algn="l"/>
            <a:r>
              <a:rPr sz="2200" b="1" i="0">
                <a:solidFill>
                  <a:srgbClr val="1A7A4A"/>
                </a:solidFill>
                <a:latin typeface="Calibri"/>
              </a:rPr>
              <a:t>—</a:t>
            </a:r>
          </a:p>
        </p:txBody>
      </p:sp>
      <p:sp>
        <p:nvSpPr>
          <p:cNvPr id="27" name="TextBox 26"/>
          <p:cNvSpPr txBox="1"/>
          <p:nvPr/>
        </p:nvSpPr>
        <p:spPr>
          <a:xfrm>
            <a:off x="32964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32964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96400" y="2059200"/>
            <a:ext cx="2551199" cy="255600"/>
          </a:xfrm>
          <a:prstGeom prst="rect">
            <a:avLst/>
          </a:prstGeom>
          <a:noFill/>
        </p:spPr>
        <p:txBody>
          <a:bodyPr wrap="square">
            <a:spAutoFit/>
          </a:bodyPr>
          <a:lstStyle/>
          <a:p>
            <a:pPr algn="l"/>
            <a:r>
              <a:rPr sz="1000" b="1" i="0">
                <a:solidFill>
                  <a:srgbClr val="1B3A6B"/>
                </a:solidFill>
                <a:latin typeface="Calibri"/>
              </a:rPr>
              <a:t>Growth Driver</a:t>
            </a:r>
          </a:p>
        </p:txBody>
      </p:sp>
      <p:sp>
        <p:nvSpPr>
          <p:cNvPr id="30" name="TextBox 29"/>
          <p:cNvSpPr txBox="1"/>
          <p:nvPr/>
        </p:nvSpPr>
        <p:spPr>
          <a:xfrm>
            <a:off x="3296400" y="2332800"/>
            <a:ext cx="2551199" cy="2041199"/>
          </a:xfrm>
          <a:prstGeom prst="rect">
            <a:avLst/>
          </a:prstGeom>
          <a:noFill/>
        </p:spPr>
        <p:txBody>
          <a:bodyPr wrap="square">
            <a:spAutoFit/>
          </a:bodyPr>
          <a:lstStyle/>
          <a:p>
            <a:pPr algn="l"/>
            <a:r>
              <a:rPr sz="800" b="0" i="0">
                <a:solidFill>
                  <a:srgbClr val="555555"/>
                </a:solidFill>
                <a:latin typeface="Calibri"/>
              </a:rPr>
              <a:t>—</a:t>
            </a:r>
          </a:p>
        </p:txBody>
      </p:sp>
      <p:sp>
        <p:nvSpPr>
          <p:cNvPr id="31" name="Rectangle 30"/>
          <p:cNvSpPr/>
          <p:nvPr/>
        </p:nvSpPr>
        <p:spPr>
          <a:xfrm>
            <a:off x="6045600" y="961200"/>
            <a:ext cx="2731199"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45600" y="961200"/>
            <a:ext cx="2731199" cy="54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35600" y="1141200"/>
            <a:ext cx="2551199" cy="640800"/>
          </a:xfrm>
          <a:prstGeom prst="rect">
            <a:avLst/>
          </a:prstGeom>
          <a:noFill/>
        </p:spPr>
        <p:txBody>
          <a:bodyPr wrap="square">
            <a:spAutoFit/>
          </a:bodyPr>
          <a:lstStyle/>
          <a:p>
            <a:pPr algn="l"/>
            <a:r>
              <a:rPr sz="2200" b="1" i="0">
                <a:solidFill>
                  <a:srgbClr val="888888"/>
                </a:solidFill>
                <a:latin typeface="Calibri"/>
              </a:rPr>
              <a:t>—</a:t>
            </a:r>
          </a:p>
        </p:txBody>
      </p:sp>
      <p:sp>
        <p:nvSpPr>
          <p:cNvPr id="34" name="TextBox 33"/>
          <p:cNvSpPr txBox="1"/>
          <p:nvPr/>
        </p:nvSpPr>
        <p:spPr>
          <a:xfrm>
            <a:off x="61356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35" name="Rectangle 34"/>
          <p:cNvSpPr/>
          <p:nvPr/>
        </p:nvSpPr>
        <p:spPr>
          <a:xfrm>
            <a:off x="61356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35600" y="2059200"/>
            <a:ext cx="2551199" cy="255600"/>
          </a:xfrm>
          <a:prstGeom prst="rect">
            <a:avLst/>
          </a:prstGeom>
          <a:noFill/>
        </p:spPr>
        <p:txBody>
          <a:bodyPr wrap="square">
            <a:spAutoFit/>
          </a:bodyPr>
          <a:lstStyle/>
          <a:p>
            <a:pPr algn="l"/>
            <a:r>
              <a:rPr sz="1000" b="1" i="0">
                <a:solidFill>
                  <a:srgbClr val="1B3A6B"/>
                </a:solidFill>
                <a:latin typeface="Calibri"/>
              </a:rPr>
              <a:t>International</a:t>
            </a:r>
          </a:p>
        </p:txBody>
      </p:sp>
      <p:sp>
        <p:nvSpPr>
          <p:cNvPr id="37" name="TextBox 36"/>
          <p:cNvSpPr txBox="1"/>
          <p:nvPr/>
        </p:nvSpPr>
        <p:spPr>
          <a:xfrm>
            <a:off x="6135600" y="2332800"/>
            <a:ext cx="2551199" cy="2041199"/>
          </a:xfrm>
          <a:prstGeom prst="rect">
            <a:avLst/>
          </a:prstGeom>
          <a:noFill/>
        </p:spPr>
        <p:txBody>
          <a:bodyPr wrap="square">
            <a:spAutoFit/>
          </a:bodyPr>
          <a:lstStyle/>
          <a:p>
            <a:pPr algn="l"/>
            <a:r>
              <a:rPr sz="800" b="0" i="0">
                <a:solidFill>
                  <a:srgbClr val="555555"/>
                </a:solidFill>
                <a:latin typeface="Calibri"/>
              </a:rP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2022–2025</a:t>
            </a:r>
          </a:p>
        </p:txBody>
      </p:sp>
      <p:graphicFrame>
        <p:nvGraphicFramePr>
          <p:cNvPr id="17" name="Table 16"/>
          <p:cNvGraphicFramePr>
            <a:graphicFrameLocks noGrp="1"/>
          </p:cNvGraphicFramePr>
          <p:nvPr/>
        </p:nvGraphicFramePr>
        <p:xfrm>
          <a:off x="367200" y="914400"/>
          <a:ext cx="8413200" cy="1980000"/>
        </p:xfrm>
        <a:graphic>
          <a:graphicData uri="http://schemas.openxmlformats.org/drawingml/2006/table">
            <a:tbl>
              <a:tblPr firstRow="1" bandRow="1">
                <a:tableStyleId>{5C22544A-7EE6-4342-B048-85BDC9FD1C3A}</a:tableStyleId>
              </a:tblPr>
              <a:tblGrid>
                <a:gridCol w="2355696"/>
                <a:gridCol w="2019168"/>
                <a:gridCol w="2019168"/>
                <a:gridCol w="2019168"/>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96,8</a:t>
                      </a:r>
                    </a:p>
                  </a:txBody>
                  <a:tcPr>
                    <a:solidFill>
                      <a:srgbClr val="FFFFFF"/>
                    </a:solidFill>
                  </a:tcPr>
                </a:tc>
                <a:tc>
                  <a:txBody>
                    <a:bodyPr/>
                    <a:lstStyle/>
                    <a:p>
                      <a:pPr algn="ctr"/>
                      <a:r>
                        <a:rPr sz="800" b="1" i="0">
                          <a:solidFill>
                            <a:srgbClr val="0D0D0D"/>
                          </a:solidFill>
                          <a:latin typeface="Calibri"/>
                        </a:rPr>
                        <a:t>97,7</a:t>
                      </a:r>
                    </a:p>
                  </a:txBody>
                  <a:tcPr>
                    <a:solidFill>
                      <a:srgbClr val="FFFFFF"/>
                    </a:solidFill>
                  </a:tcPr>
                </a:tc>
                <a:tc>
                  <a:txBody>
                    <a:bodyPr/>
                    <a:lstStyle/>
                    <a:p>
                      <a:pPr algn="ctr"/>
                      <a:r>
                        <a:rPr sz="800" b="1" i="0">
                          <a:solidFill>
                            <a:srgbClr val="1B3A6B"/>
                          </a:solidFill>
                          <a:latin typeface="Calibri"/>
                        </a:rPr>
                        <a:t>94,8</a:t>
                      </a:r>
                    </a:p>
                  </a:txBody>
                  <a:tcPr>
                    <a:solidFill>
                      <a:srgbClr val="DDE8F5"/>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+18,8 %</a:t>
                      </a:r>
                    </a:p>
                  </a:txBody>
                  <a:tcPr>
                    <a:solidFill>
                      <a:srgbClr val="F7F8FA"/>
                    </a:solidFill>
                  </a:tcPr>
                </a:tc>
                <a:tc>
                  <a:txBody>
                    <a:bodyPr/>
                    <a:lstStyle/>
                    <a:p>
                      <a:pPr algn="ctr"/>
                      <a:r>
                        <a:rPr sz="750" b="0" i="1">
                          <a:solidFill>
                            <a:srgbClr val="555555"/>
                          </a:solidFill>
                          <a:latin typeface="Calibri"/>
                        </a:rPr>
                        <a:t>+1,0 %</a:t>
                      </a:r>
                    </a:p>
                  </a:txBody>
                  <a:tcPr>
                    <a:solidFill>
                      <a:srgbClr val="F7F8FA"/>
                    </a:solidFill>
                  </a:tcPr>
                </a:tc>
                <a:tc>
                  <a:txBody>
                    <a:bodyPr/>
                    <a:lstStyle/>
                    <a:p>
                      <a:pPr algn="ctr"/>
                      <a:r>
                        <a:rPr sz="750" b="0" i="1">
                          <a:solidFill>
                            <a:srgbClr val="555555"/>
                          </a:solidFill>
                          <a:latin typeface="Calibri"/>
                        </a:rPr>
                        <a:t>-3,0 %</a:t>
                      </a:r>
                    </a:p>
                  </a:txBody>
                  <a:tcPr>
                    <a:solidFill>
                      <a:srgbClr val="DDE8F5"/>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17,7</a:t>
                      </a:r>
                    </a:p>
                  </a:txBody>
                  <a:tcPr>
                    <a:solidFill>
                      <a:srgbClr val="FFFFFF"/>
                    </a:solidFill>
                  </a:tcPr>
                </a:tc>
                <a:tc>
                  <a:txBody>
                    <a:bodyPr/>
                    <a:lstStyle/>
                    <a:p>
                      <a:pPr algn="ctr"/>
                      <a:r>
                        <a:rPr sz="800" b="1" i="0">
                          <a:solidFill>
                            <a:srgbClr val="0D0D0D"/>
                          </a:solidFill>
                          <a:latin typeface="Calibri"/>
                        </a:rPr>
                        <a:t>17,4</a:t>
                      </a:r>
                    </a:p>
                  </a:txBody>
                  <a:tcPr>
                    <a:solidFill>
                      <a:srgbClr val="FFFFFF"/>
                    </a:solidFill>
                  </a:tcPr>
                </a:tc>
                <a:tc>
                  <a:txBody>
                    <a:bodyPr/>
                    <a:lstStyle/>
                    <a:p>
                      <a:pPr algn="ctr"/>
                      <a:r>
                        <a:rPr sz="800" b="1" i="0">
                          <a:solidFill>
                            <a:srgbClr val="1B3A6B"/>
                          </a:solidFill>
                          <a:latin typeface="Calibri"/>
                        </a:rPr>
                        <a:t>17,1</a:t>
                      </a:r>
                    </a:p>
                  </a:txBody>
                  <a:tcPr>
                    <a:solidFill>
                      <a:srgbClr val="DDE8F5"/>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18,2 %</a:t>
                      </a:r>
                    </a:p>
                  </a:txBody>
                  <a:tcPr>
                    <a:solidFill>
                      <a:srgbClr val="F7F8FA"/>
                    </a:solidFill>
                  </a:tcPr>
                </a:tc>
                <a:tc>
                  <a:txBody>
                    <a:bodyPr/>
                    <a:lstStyle/>
                    <a:p>
                      <a:pPr algn="ctr"/>
                      <a:r>
                        <a:rPr sz="750" b="0" i="1">
                          <a:solidFill>
                            <a:srgbClr val="555555"/>
                          </a:solidFill>
                          <a:latin typeface="Calibri"/>
                        </a:rPr>
                        <a:t>17,9 %</a:t>
                      </a:r>
                    </a:p>
                  </a:txBody>
                  <a:tcPr>
                    <a:solidFill>
                      <a:srgbClr val="F7F8FA"/>
                    </a:solidFill>
                  </a:tcPr>
                </a:tc>
                <a:tc>
                  <a:txBody>
                    <a:bodyPr/>
                    <a:lstStyle/>
                    <a:p>
                      <a:pPr algn="ctr"/>
                      <a:r>
                        <a:rPr sz="750" b="0" i="1">
                          <a:solidFill>
                            <a:srgbClr val="555555"/>
                          </a:solidFill>
                          <a:latin typeface="Calibri"/>
                        </a:rPr>
                        <a:t>18,0 %</a:t>
                      </a:r>
                    </a:p>
                  </a:txBody>
                  <a:tcPr>
                    <a:solidFill>
                      <a:srgbClr val="DDE8F5"/>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14,8</a:t>
                      </a:r>
                    </a:p>
                  </a:txBody>
                  <a:tcPr>
                    <a:solidFill>
                      <a:srgbClr val="FFFFFF"/>
                    </a:solidFill>
                  </a:tcPr>
                </a:tc>
                <a:tc>
                  <a:txBody>
                    <a:bodyPr/>
                    <a:lstStyle/>
                    <a:p>
                      <a:pPr algn="ctr"/>
                      <a:r>
                        <a:rPr sz="800" b="1" i="0">
                          <a:solidFill>
                            <a:srgbClr val="0D0D0D"/>
                          </a:solidFill>
                          <a:latin typeface="Calibri"/>
                        </a:rPr>
                        <a:t>14,7</a:t>
                      </a:r>
                    </a:p>
                  </a:txBody>
                  <a:tcPr>
                    <a:solidFill>
                      <a:srgbClr val="FFFFFF"/>
                    </a:solidFill>
                  </a:tcPr>
                </a:tc>
                <a:tc>
                  <a:txBody>
                    <a:bodyPr/>
                    <a:lstStyle/>
                    <a:p>
                      <a:pPr algn="ctr"/>
                      <a:r>
                        <a:rPr sz="800" b="1" i="0">
                          <a:solidFill>
                            <a:srgbClr val="1B3A6B"/>
                          </a:solidFill>
                          <a:latin typeface="Calibri"/>
                        </a:rPr>
                        <a:t>11,8</a:t>
                      </a:r>
                    </a:p>
                  </a:txBody>
                  <a:tcPr>
                    <a:solidFill>
                      <a:srgbClr val="DDE8F5"/>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15,3 %</a:t>
                      </a:r>
                    </a:p>
                  </a:txBody>
                  <a:tcPr>
                    <a:solidFill>
                      <a:srgbClr val="F7F8FA"/>
                    </a:solidFill>
                  </a:tcPr>
                </a:tc>
                <a:tc>
                  <a:txBody>
                    <a:bodyPr/>
                    <a:lstStyle/>
                    <a:p>
                      <a:pPr algn="ctr"/>
                      <a:r>
                        <a:rPr sz="750" b="0" i="1">
                          <a:solidFill>
                            <a:srgbClr val="555555"/>
                          </a:solidFill>
                          <a:latin typeface="Calibri"/>
                        </a:rPr>
                        <a:t>15,1 %</a:t>
                      </a:r>
                    </a:p>
                  </a:txBody>
                  <a:tcPr>
                    <a:solidFill>
                      <a:srgbClr val="F7F8FA"/>
                    </a:solidFill>
                  </a:tcPr>
                </a:tc>
                <a:tc>
                  <a:txBody>
                    <a:bodyPr/>
                    <a:lstStyle/>
                    <a:p>
                      <a:pPr algn="ctr"/>
                      <a:r>
                        <a:rPr sz="750" b="0" i="1">
                          <a:solidFill>
                            <a:srgbClr val="555555"/>
                          </a:solidFill>
                          <a:latin typeface="Calibri"/>
                        </a:rPr>
                        <a:t>12,4 %</a:t>
                      </a:r>
                    </a:p>
                  </a:txBody>
                  <a:tcPr>
                    <a:solidFill>
                      <a:srgbClr val="DDE8F5"/>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15,0</a:t>
                      </a:r>
                    </a:p>
                  </a:txBody>
                  <a:tcPr>
                    <a:solidFill>
                      <a:srgbClr val="FFFFFF"/>
                    </a:solidFill>
                  </a:tcPr>
                </a:tc>
                <a:tc>
                  <a:txBody>
                    <a:bodyPr/>
                    <a:lstStyle/>
                    <a:p>
                      <a:pPr algn="ctr"/>
                      <a:r>
                        <a:rPr sz="800" b="1" i="0">
                          <a:solidFill>
                            <a:srgbClr val="0D0D0D"/>
                          </a:solidFill>
                          <a:latin typeface="Calibri"/>
                        </a:rPr>
                        <a:t>7,1</a:t>
                      </a:r>
                    </a:p>
                  </a:txBody>
                  <a:tcPr>
                    <a:solidFill>
                      <a:srgbClr val="FFFFFF"/>
                    </a:solidFill>
                  </a:tcPr>
                </a:tc>
                <a:tc>
                  <a:txBody>
                    <a:bodyPr/>
                    <a:lstStyle/>
                    <a:p>
                      <a:pPr algn="ctr"/>
                      <a:r>
                        <a:rPr sz="800" b="1" i="0">
                          <a:solidFill>
                            <a:srgbClr val="1B3A6B"/>
                          </a:solidFill>
                          <a:latin typeface="Calibri"/>
                        </a:rPr>
                        <a:t>3,8</a:t>
                      </a:r>
                    </a:p>
                  </a:txBody>
                  <a:tcPr>
                    <a:solidFill>
                      <a:srgbClr val="DDE8F5"/>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15,5 %</a:t>
                      </a:r>
                    </a:p>
                  </a:txBody>
                  <a:tcPr>
                    <a:solidFill>
                      <a:srgbClr val="F7F8FA"/>
                    </a:solidFill>
                  </a:tcPr>
                </a:tc>
                <a:tc>
                  <a:txBody>
                    <a:bodyPr/>
                    <a:lstStyle/>
                    <a:p>
                      <a:pPr algn="ctr"/>
                      <a:r>
                        <a:rPr sz="750" b="0" i="1">
                          <a:solidFill>
                            <a:srgbClr val="555555"/>
                          </a:solidFill>
                          <a:latin typeface="Calibri"/>
                        </a:rPr>
                        <a:t>7,3 %</a:t>
                      </a:r>
                    </a:p>
                  </a:txBody>
                  <a:tcPr>
                    <a:solidFill>
                      <a:srgbClr val="F7F8FA"/>
                    </a:solidFill>
                  </a:tcPr>
                </a:tc>
                <a:tc>
                  <a:txBody>
                    <a:bodyPr/>
                    <a:lstStyle/>
                    <a:p>
                      <a:pPr algn="ctr"/>
                      <a:r>
                        <a:rPr sz="750" b="0" i="1">
                          <a:solidFill>
                            <a:srgbClr val="555555"/>
                          </a:solidFill>
                          <a:latin typeface="Calibri"/>
                        </a:rPr>
                        <a:t>4,0 %</a:t>
                      </a:r>
                    </a:p>
                  </a:txBody>
                  <a:tcPr>
                    <a:solidFill>
                      <a:srgbClr val="DDE8F5"/>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16,5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6,6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-8,4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2,23</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1,55</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16,6x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-0,7x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15,62</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-2,61</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342,9x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Eleve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109,9x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13,6x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18,0 %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Bas</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Bas</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6,3 %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B06000"/>
                          </a:solidFill>
                          <a:latin typeface="Calibri"/>
                        </a:rPr>
                        <a:t>Modéré</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15,62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346,65 $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a:t>
                      </a:r>
                    </a:p>
                  </a:txBody>
                  <a:tcPr>
                    <a:solidFill>
                      <a:srgbClr val="FAF0EF"/>
                    </a:solidFill>
                  </a:tcPr>
                </a:tc>
                <a:tc>
                  <a:txBody>
                    <a:bodyPr/>
                    <a:lstStyle/>
                    <a:p>
                      <a:pPr algn="ctr"/>
                      <a:r>
                        <a:rPr sz="2000" b="1" i="0">
                          <a:solidFill>
                            <a:srgbClr val="2E5FA3"/>
                          </a:solidFill>
                          <a:latin typeface="Calibri"/>
                        </a:rPr>
                        <a:t>—</a:t>
                      </a:r>
                    </a:p>
                  </a:txBody>
                  <a:tcPr>
                    <a:solidFill>
                      <a:srgbClr val="EEF3FA"/>
                    </a:solidFill>
                  </a:tcPr>
                </a:tc>
                <a:tc>
                  <a:txBody>
                    <a:bodyPr/>
                    <a:lstStyle/>
                    <a:p>
                      <a:pPr algn="ctr"/>
                      <a:r>
                        <a:rPr sz="2000" b="1" i="0">
                          <a:solidFill>
                            <a:srgbClr val="1A7A4A"/>
                          </a:solidFill>
                          <a:latin typeface="Calibri"/>
                        </a:rPr>
                        <a:t>—</a:t>
                      </a:r>
                    </a:p>
                  </a:txBody>
                  <a:tcPr>
                    <a:solidFill>
                      <a:srgbClr val="EAF4EF"/>
                    </a:solidFill>
                  </a:tcPr>
                </a:tc>
              </a:tr>
              <a:tr h="342900">
                <a:tc>
                  <a:txBody>
                    <a:bodyPr/>
                    <a:lstStyle/>
                    <a:p>
                      <a:pPr algn="ctr"/>
                      <a:r>
                        <a:rPr sz="1200" b="1" i="0">
                          <a:solidFill>
                            <a:srgbClr val="A82020"/>
                          </a:solidFill>
                          <a:latin typeface="Calibri"/>
                        </a:rPr>
                        <a:t>—</a:t>
                      </a:r>
                    </a:p>
                  </a:txBody>
                  <a:tcPr>
                    <a:solidFill>
                      <a:srgbClr val="FAF0EF"/>
                    </a:solidFill>
                  </a:tcPr>
                </a:tc>
                <a:tc>
                  <a:txBody>
                    <a:bodyPr/>
                    <a:lstStyle/>
                    <a:p>
                      <a:pPr algn="ctr"/>
                      <a:r>
                        <a:rPr sz="1200" b="1" i="0">
                          <a:solidFill>
                            <a:srgbClr val="2E5FA3"/>
                          </a:solidFill>
                          <a:latin typeface="Calibri"/>
                        </a:rPr>
                        <a:t>—</a:t>
                      </a:r>
                    </a:p>
                  </a:txBody>
                  <a:tcPr>
                    <a:solidFill>
                      <a:srgbClr val="EEF3FA"/>
                    </a:solidFill>
                  </a:tcPr>
                </a:tc>
                <a:tc>
                  <a:txBody>
                    <a:bodyPr/>
                    <a:lstStyle/>
                    <a:p>
                      <a:pPr algn="ctr"/>
                      <a:r>
                        <a:rPr sz="1200" b="1" i="0">
                          <a:solidFill>
                            <a:srgbClr val="1A7A4A"/>
                          </a:solidFill>
                          <a:latin typeface="Calibri"/>
                        </a:rPr>
                        <a:t>—</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4024800" cy="201600"/>
          </a:xfrm>
          <a:prstGeom prst="rect">
            <a:avLst/>
          </a:prstGeom>
          <a:noFill/>
        </p:spPr>
        <p:txBody>
          <a:bodyPr wrap="square">
            <a:spAutoFit/>
          </a:bodyPr>
          <a:lstStyle/>
          <a:p>
            <a:pPr algn="l"/>
            <a:r>
              <a:rPr sz="900" b="1" i="0">
                <a:solidFill>
                  <a:srgbClr val="1B3A6B"/>
                </a:solidFill>
                <a:latin typeface="Calibri"/>
              </a:rPr>
              <a:t>Monte Carlo DCF — 9 972 simulations</a:t>
            </a:r>
          </a:p>
        </p:txBody>
      </p:sp>
      <p:graphicFrame>
        <p:nvGraphicFramePr>
          <p:cNvPr id="19" name="Table 18"/>
          <p:cNvGraphicFramePr>
            <a:graphicFrameLocks noGrp="1"/>
          </p:cNvGraphicFramePr>
          <p:nvPr/>
        </p:nvGraphicFramePr>
        <p:xfrm>
          <a:off x="367200" y="2653200"/>
          <a:ext cx="4024800" cy="1116000"/>
        </p:xfrm>
        <a:graphic>
          <a:graphicData uri="http://schemas.openxmlformats.org/drawingml/2006/table">
            <a:tbl>
              <a:tblPr firstRow="1" bandRow="1">
                <a:tableStyleId>{5C22544A-7EE6-4342-B048-85BDC9FD1C3A}</a:tableStyleId>
              </a:tblPr>
              <a:tblGrid>
                <a:gridCol w="1690416"/>
                <a:gridCol w="1287936"/>
                <a:gridCol w="1046448"/>
              </a:tblGrid>
              <a:tr h="186000">
                <a:tc>
                  <a:txBody>
                    <a:bodyPr/>
                    <a:lstStyle/>
                    <a:p>
                      <a:pPr algn="l"/>
                      <a:r>
                        <a:rPr sz="800" b="1" i="0">
                          <a:solidFill>
                            <a:srgbClr val="FFFFFF"/>
                          </a:solidFill>
                          <a:latin typeface="Calibri"/>
                        </a:rPr>
                        <a:t>Scénario</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 / action</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vs Cours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Down (P2)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-98,2 %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Pessimiste (P10)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-96,4 %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 Médian (P50)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24 $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-93,1 %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Optimiste (P90)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-88,4 %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Up (P98)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-84,6 %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4482000" y="2394000"/>
            <a:ext cx="4298400" cy="201600"/>
          </a:xfrm>
          <a:prstGeom prst="rect">
            <a:avLst/>
          </a:prstGeom>
          <a:noFill/>
        </p:spPr>
        <p:txBody>
          <a:bodyPr wrap="square">
            <a:spAutoFit/>
          </a:bodyPr>
          <a:lstStyle/>
          <a:p>
            <a:pPr algn="l"/>
            <a:r>
              <a:rPr sz="900" b="1" i="0">
                <a:solidFill>
                  <a:srgbClr val="1B3A6B"/>
                </a:solidFill>
                <a:latin typeface="Calibri"/>
              </a:rPr>
              <a:t>Sensibilité WACC × TGR — Valeur ($)</a:t>
            </a:r>
          </a:p>
        </p:txBody>
      </p:sp>
      <p:graphicFrame>
        <p:nvGraphicFramePr>
          <p:cNvPr id="21" name="Table 20"/>
          <p:cNvGraphicFramePr>
            <a:graphicFrameLocks noGrp="1"/>
          </p:cNvGraphicFramePr>
          <p:nvPr/>
        </p:nvGraphicFramePr>
        <p:xfrm>
          <a:off x="4482000" y="2653200"/>
          <a:ext cx="4298400" cy="1116000"/>
        </p:xfrm>
        <a:graphic>
          <a:graphicData uri="http://schemas.openxmlformats.org/drawingml/2006/table">
            <a:tbl>
              <a:tblPr firstRow="1" bandRow="1">
                <a:tableStyleId>{5C22544A-7EE6-4342-B048-85BDC9FD1C3A}</a:tableStyleId>
              </a:tblPr>
              <a:tblGrid>
                <a:gridCol w="716400"/>
                <a:gridCol w="716400"/>
                <a:gridCol w="716400"/>
                <a:gridCol w="716400"/>
                <a:gridCol w="716400"/>
                <a:gridCol w="7164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13,8%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14,8%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15,8%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16,8%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871200"/>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90400">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90400">
                <a:tc>
                  <a:txBody>
                    <a:bodyPr/>
                    <a:lstStyle/>
                    <a:p>
                      <a:pPr algn="l"/>
                      <a:r>
                        <a:rPr sz="800" b="1" i="0">
                          <a:solidFill>
                            <a:srgbClr val="1B3A6B"/>
                          </a:solidFill>
                          <a:latin typeface="Calibri"/>
                        </a:rPr>
                        <a:t>Tesla, Inc.</a:t>
                      </a:r>
                    </a:p>
                  </a:txBody>
                  <a:tcPr>
                    <a:solidFill>
                      <a:srgbClr val="DDE8F5"/>
                    </a:solidFill>
                  </a:tcPr>
                </a:tc>
                <a:tc>
                  <a:txBody>
                    <a:bodyPr/>
                    <a:lstStyle/>
                    <a:p>
                      <a:pPr algn="ctr"/>
                      <a:r>
                        <a:rPr sz="750" b="1" i="0">
                          <a:solidFill>
                            <a:srgbClr val="2E5FA3"/>
                          </a:solidFill>
                          <a:latin typeface="Calibri"/>
                        </a:rPr>
                        <a:t>TSLA</a:t>
                      </a:r>
                    </a:p>
                  </a:txBody>
                  <a:tcPr>
                    <a:solidFill>
                      <a:srgbClr val="DDE8F5"/>
                    </a:solidFill>
                  </a:tcPr>
                </a:tc>
                <a:tc>
                  <a:txBody>
                    <a:bodyPr/>
                    <a:lstStyle/>
                    <a:p>
                      <a:pPr algn="ctr"/>
                      <a:r>
                        <a:rPr sz="800" b="1" i="0">
                          <a:solidFill>
                            <a:srgbClr val="1B3A6B"/>
                          </a:solidFill>
                          <a:latin typeface="Calibri"/>
                        </a:rPr>
                        <a:t>1 300,8</a:t>
                      </a:r>
                    </a:p>
                  </a:txBody>
                  <a:tcPr>
                    <a:solidFill>
                      <a:srgbClr val="DDE8F5"/>
                    </a:solidFill>
                  </a:tcPr>
                </a:tc>
                <a:tc>
                  <a:txBody>
                    <a:bodyPr/>
                    <a:lstStyle/>
                    <a:p>
                      <a:pPr algn="ctr"/>
                      <a:r>
                        <a:rPr sz="800" b="1" i="0">
                          <a:solidFill>
                            <a:srgbClr val="1B3A6B"/>
                          </a:solidFill>
                          <a:latin typeface="Calibri"/>
                        </a:rPr>
                        <a:t>109,9x</a:t>
                      </a:r>
                    </a:p>
                  </a:txBody>
                  <a:tcPr>
                    <a:solidFill>
                      <a:srgbClr val="DDE8F5"/>
                    </a:solidFill>
                  </a:tcPr>
                </a:tc>
                <a:tc>
                  <a:txBody>
                    <a:bodyPr/>
                    <a:lstStyle/>
                    <a:p>
                      <a:pPr algn="ctr"/>
                      <a:r>
                        <a:rPr sz="800" b="1" i="0">
                          <a:solidFill>
                            <a:srgbClr val="1B3A6B"/>
                          </a:solidFill>
                          <a:latin typeface="Calibri"/>
                        </a:rPr>
                        <a:t>13,6x</a:t>
                      </a:r>
                    </a:p>
                  </a:txBody>
                  <a:tcPr>
                    <a:solidFill>
                      <a:srgbClr val="DDE8F5"/>
                    </a:solidFill>
                  </a:tcPr>
                </a:tc>
                <a:tc>
                  <a:txBody>
                    <a:bodyPr/>
                    <a:lstStyle/>
                    <a:p>
                      <a:pPr algn="ctr"/>
                      <a:r>
                        <a:rPr sz="800" b="1" i="0">
                          <a:solidFill>
                            <a:srgbClr val="1B3A6B"/>
                          </a:solidFill>
                          <a:latin typeface="Calibri"/>
                        </a:rPr>
                        <a:t>342,9x</a:t>
                      </a:r>
                    </a:p>
                  </a:txBody>
                  <a:tcPr>
                    <a:solidFill>
                      <a:srgbClr val="DDE8F5"/>
                    </a:solidFill>
                  </a:tcPr>
                </a:tc>
                <a:tc>
                  <a:txBody>
                    <a:bodyPr/>
                    <a:lstStyle/>
                    <a:p>
                      <a:pPr algn="ctr"/>
                      <a:r>
                        <a:rPr sz="800" b="1" i="0">
                          <a:solidFill>
                            <a:srgbClr val="1B3A6B"/>
                          </a:solidFill>
                          <a:latin typeface="Calibri"/>
                        </a:rPr>
                        <a:t>18,0 %</a:t>
                      </a:r>
                    </a:p>
                  </a:txBody>
                  <a:tcPr>
                    <a:solidFill>
                      <a:srgbClr val="DDE8F5"/>
                    </a:solidFill>
                  </a:tcPr>
                </a:tc>
                <a:tc>
                  <a:txBody>
                    <a:bodyPr/>
                    <a:lstStyle/>
                    <a:p>
                      <a:pPr algn="ctr"/>
                      <a:r>
                        <a:rPr sz="800" b="1" i="0">
                          <a:solidFill>
                            <a:srgbClr val="1B3A6B"/>
                          </a:solidFill>
                          <a:latin typeface="Calibri"/>
                        </a:rPr>
                        <a:t>12,4 %</a:t>
                      </a:r>
                    </a:p>
                  </a:txBody>
                  <a:tcPr>
                    <a:solidFill>
                      <a:srgbClr val="DDE8F5"/>
                    </a:solidFill>
                  </a:tcPr>
                </a:tc>
              </a:tr>
              <a:tr h="290400">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graphicFrame>
        <p:nvGraphicFramePr>
          <p:cNvPr id="17" name="Table 16"/>
          <p:cNvGraphicFramePr>
            <a:graphicFrameLocks noGrp="1"/>
          </p:cNvGraphicFramePr>
          <p:nvPr/>
        </p:nvGraphicFramePr>
        <p:xfrm>
          <a:off x="367200" y="914400"/>
          <a:ext cx="8413200" cy="615600"/>
        </p:xfrm>
        <a:graphic>
          <a:graphicData uri="http://schemas.openxmlformats.org/drawingml/2006/table">
            <a:tbl>
              <a:tblPr firstRow="1" bandRow="1">
                <a:tableStyleId>{5C22544A-7EE6-4342-B048-85BDC9FD1C3A}</a:tableStyleId>
              </a:tblPr>
              <a:tblGrid>
                <a:gridCol w="2944620"/>
                <a:gridCol w="1682640"/>
                <a:gridCol w="1682640"/>
                <a:gridCol w="2103300"/>
              </a:tblGrid>
              <a:tr h="307800">
                <a:tc>
                  <a:txBody>
                    <a:bodyPr/>
                    <a:lstStyle/>
                    <a:p>
                      <a:pPr algn="l"/>
                      <a:r>
                        <a:rPr sz="800" b="1" i="0">
                          <a:solidFill>
                            <a:srgbClr val="FFFFFF"/>
                          </a:solidFill>
                          <a:latin typeface="Calibri"/>
                        </a:rPr>
                        <a:t>Méthode</a:t>
                      </a:r>
                    </a:p>
                  </a:txBody>
                  <a:tcPr>
                    <a:solidFill>
                      <a:srgbClr val="1B3A6B"/>
                    </a:solidFill>
                  </a:tcPr>
                </a:tc>
                <a:tc>
                  <a:txBody>
                    <a:bodyPr/>
                    <a:lstStyle/>
                    <a:p>
                      <a:pPr algn="ctr"/>
                      <a:r>
                        <a:rPr sz="800" b="1" i="0">
                          <a:solidFill>
                            <a:srgbClr val="FFFFFF"/>
                          </a:solidFill>
                          <a:latin typeface="Calibri"/>
                        </a:rPr>
                        <a:t>Fourchette basse</a:t>
                      </a:r>
                    </a:p>
                  </a:txBody>
                  <a:tcPr>
                    <a:solidFill>
                      <a:srgbClr val="1B3A6B"/>
                    </a:solidFill>
                  </a:tcPr>
                </a:tc>
                <a:tc>
                  <a:txBody>
                    <a:bodyPr/>
                    <a:lstStyle/>
                    <a:p>
                      <a:pPr algn="ctr"/>
                      <a:r>
                        <a:rPr sz="800" b="1" i="0">
                          <a:solidFill>
                            <a:srgbClr val="FFFFFF"/>
                          </a:solidFill>
                          <a:latin typeface="Calibri"/>
                        </a:rPr>
                        <a:t>Fourchette haute</a:t>
                      </a:r>
                    </a:p>
                  </a:txBody>
                  <a:tcPr>
                    <a:solidFill>
                      <a:srgbClr val="1B3A6B"/>
                    </a:solidFill>
                  </a:tcPr>
                </a:tc>
                <a:tc>
                  <a:txBody>
                    <a:bodyPr/>
                    <a:lstStyle/>
                    <a:p>
                      <a:pPr algn="ctr"/>
                      <a:r>
                        <a:rPr sz="800" b="1" i="0">
                          <a:solidFill>
                            <a:srgbClr val="FFFFFF"/>
                          </a:solidFill>
                          <a:latin typeface="Calibri"/>
                        </a:rPr>
                        <a:t>Point central</a:t>
                      </a:r>
                    </a:p>
                  </a:txBody>
                  <a:tcPr>
                    <a:solidFill>
                      <a:srgbClr val="1B3A6B"/>
                    </a:solidFill>
                  </a:tcPr>
                </a:tc>
              </a:tr>
              <a:tr h="307800">
                <a:tc>
                  <a:txBody>
                    <a:bodyPr/>
                    <a:lstStyle/>
                    <a:p>
                      <a:pPr algn="l"/>
                      <a:r>
                        <a:rPr sz="800" b="0" i="0">
                          <a:solidFill>
                            <a:srgbClr val="0D0D0D"/>
                          </a:solidFill>
                          <a:latin typeface="Calibri"/>
                        </a:rPr>
                        <a:t>Cours actuel (346,65)</a:t>
                      </a:r>
                    </a:p>
                  </a:txBody>
                  <a:tcPr>
                    <a:solidFill>
                      <a:srgbClr val="EEF3FA"/>
                    </a:solidFill>
                  </a:tcPr>
                </a:tc>
                <a:tc>
                  <a:txBody>
                    <a:bodyPr/>
                    <a:lstStyle/>
                    <a:p>
                      <a:pPr algn="ctr"/>
                      <a:r>
                        <a:rPr sz="800" b="0" i="0">
                          <a:solidFill>
                            <a:srgbClr val="0D0D0D"/>
                          </a:solidFill>
                          <a:latin typeface="Calibri"/>
                        </a:rPr>
                        <a:t>—</a:t>
                      </a:r>
                    </a:p>
                  </a:txBody>
                  <a:tcPr>
                    <a:solidFill>
                      <a:srgbClr val="EEF3FA"/>
                    </a:solidFill>
                  </a:tcPr>
                </a:tc>
                <a:tc>
                  <a:txBody>
                    <a:bodyPr/>
                    <a:lstStyle/>
                    <a:p>
                      <a:pPr algn="ctr"/>
                      <a:r>
                        <a:rPr sz="800" b="0" i="0">
                          <a:solidFill>
                            <a:srgbClr val="0D0D0D"/>
                          </a:solidFill>
                          <a:latin typeface="Calibri"/>
                        </a:rPr>
                        <a:t>—</a:t>
                      </a:r>
                    </a:p>
                  </a:txBody>
                  <a:tcPr>
                    <a:solidFill>
                      <a:srgbClr val="EEF3FA"/>
                    </a:solidFill>
                  </a:tcPr>
                </a:tc>
                <a:tc>
                  <a:txBody>
                    <a:bodyPr/>
                    <a:lstStyle/>
                    <a:p>
                      <a:pPr algn="ctr"/>
                      <a:r>
                        <a:rPr sz="800" b="0" i="0">
                          <a:solidFill>
                            <a:srgbClr val="0D0D0D"/>
                          </a:solidFill>
                          <a:latin typeface="Calibri"/>
                        </a:rPr>
                        <a:t>346,65</a:t>
                      </a:r>
                    </a:p>
                  </a:txBody>
                  <a:tcPr>
                    <a:solidFill>
                      <a:srgbClr val="EEF3FA"/>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Multiples de Valorisation Historiques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P/E &amp; EV/EBITDA sur 5 ans · Standards marché</a:t>
            </a:r>
          </a:p>
        </p:txBody>
      </p:sp>
      <p:pic>
        <p:nvPicPr>
          <p:cNvPr id="17" name="Picture 16" descr="image.png"/>
          <p:cNvPicPr>
            <a:picLocks noChangeAspect="1"/>
          </p:cNvPicPr>
          <p:nvPr/>
        </p:nvPicPr>
        <p:blipFill>
          <a:blip r:embed="rId2"/>
          <a:stretch>
            <a:fillRect/>
          </a:stretch>
        </p:blipFill>
        <p:spPr>
          <a:xfrm>
            <a:off x="367200" y="864000"/>
            <a:ext cx="5688000" cy="2520000"/>
          </a:xfrm>
          <a:prstGeom prst="rect">
            <a:avLst/>
          </a:prstGeom>
        </p:spPr>
      </p:pic>
      <p:sp>
        <p:nvSpPr>
          <p:cNvPr id="18" name="TextBox 17"/>
          <p:cNvSpPr txBox="1"/>
          <p:nvPr/>
        </p:nvSpPr>
        <p:spPr>
          <a:xfrm>
            <a:off x="6192000" y="864000"/>
            <a:ext cx="2592000" cy="180000"/>
          </a:xfrm>
          <a:prstGeom prst="rect">
            <a:avLst/>
          </a:prstGeom>
          <a:noFill/>
        </p:spPr>
        <p:txBody>
          <a:bodyPr wrap="square">
            <a:spAutoFit/>
          </a:bodyPr>
          <a:lstStyle/>
          <a:p>
            <a:pPr algn="l"/>
            <a:r>
              <a:rPr sz="800" b="1" i="0">
                <a:solidFill>
                  <a:srgbClr val="1B3A6B"/>
                </a:solidFill>
                <a:latin typeface="Calibri"/>
              </a:rPr>
              <a:t>SYNTHÈSE DES MULTIPLES</a:t>
            </a:r>
          </a:p>
        </p:txBody>
      </p:sp>
      <p:graphicFrame>
        <p:nvGraphicFramePr>
          <p:cNvPr id="19" name="Table 18"/>
          <p:cNvGraphicFramePr>
            <a:graphicFrameLocks noGrp="1"/>
          </p:cNvGraphicFramePr>
          <p:nvPr/>
        </p:nvGraphicFramePr>
        <p:xfrm>
          <a:off x="6192000" y="1098000"/>
          <a:ext cx="2592000" cy="1206000"/>
        </p:xfrm>
        <a:graphic>
          <a:graphicData uri="http://schemas.openxmlformats.org/drawingml/2006/table">
            <a:tbl>
              <a:tblPr firstRow="1" bandRow="1">
                <a:tableStyleId>{5C22544A-7EE6-4342-B048-85BDC9FD1C3A}</a:tableStyleId>
              </a:tblPr>
              <a:tblGrid>
                <a:gridCol w="777600"/>
                <a:gridCol w="570240"/>
                <a:gridCol w="673920"/>
                <a:gridCol w="570240"/>
              </a:tblGrid>
              <a:tr h="201000">
                <a:tc>
                  <a:txBody>
                    <a:bodyPr/>
                    <a:lstStyle/>
                    <a:p>
                      <a:pPr algn="l"/>
                      <a:r>
                        <a:rPr sz="800" b="1" i="0">
                          <a:solidFill>
                            <a:srgbClr val="FFFFFF"/>
                          </a:solidFill>
                          <a:latin typeface="Calibri"/>
                        </a:rPr>
                        <a:t>Année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EV/EB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000">
                <a:tc>
                  <a:txBody>
                    <a:bodyPr/>
                    <a:lstStyle/>
                    <a:p>
                      <a:pPr algn="l"/>
                      <a:r>
                        <a:rPr sz="800" b="0" i="0">
                          <a:solidFill>
                            <a:srgbClr val="0D0D0D"/>
                          </a:solidFill>
                          <a:latin typeface="Calibri"/>
                        </a:rPr>
                        <a:t>2021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000">
                <a:tc>
                  <a:txBody>
                    <a:bodyPr/>
                    <a:lstStyle/>
                    <a:p>
                      <a:pPr algn="l"/>
                      <a:r>
                        <a:rPr sz="800" b="0" i="0">
                          <a:solidFill>
                            <a:srgbClr val="0D0D0D"/>
                          </a:solidFill>
                          <a:latin typeface="Calibri"/>
                        </a:rPr>
                        <a:t>2022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72,9x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29,1x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000">
                <a:tc>
                  <a:txBody>
                    <a:bodyPr/>
                    <a:lstStyle/>
                    <a:p>
                      <a:pPr algn="l"/>
                      <a:r>
                        <a:rPr sz="800" b="0" i="0">
                          <a:solidFill>
                            <a:srgbClr val="0D0D0D"/>
                          </a:solidFill>
                          <a:latin typeface="Calibri"/>
                        </a:rPr>
                        <a:t>2023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86,7x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87,1x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000">
                <a:tc>
                  <a:txBody>
                    <a:bodyPr/>
                    <a:lstStyle/>
                    <a:p>
                      <a:pPr algn="l"/>
                      <a:r>
                        <a:rPr sz="800" b="0" i="0">
                          <a:solidFill>
                            <a:srgbClr val="0D0D0D"/>
                          </a:solidFill>
                          <a:latin typeface="Calibri"/>
                        </a:rPr>
                        <a:t>2024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182,4x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87,9x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17,8x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000">
                <a:tc>
                  <a:txBody>
                    <a:bodyPr/>
                    <a:lstStyle/>
                    <a:p>
                      <a:pPr algn="l"/>
                      <a:r>
                        <a:rPr sz="800" b="0" i="0">
                          <a:solidFill>
                            <a:srgbClr val="0D0D0D"/>
                          </a:solidFill>
                          <a:latin typeface="Calibri"/>
                        </a:rPr>
                        <a:t>2025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342,9x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109,9x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600000"/>
            <a:ext cx="8413200" cy="648000"/>
          </a:xfrm>
          <a:prstGeom prst="rect">
            <a:avLst/>
          </a:prstGeom>
          <a:noFill/>
        </p:spPr>
        <p:txBody>
          <a:bodyPr wrap="square">
            <a:spAutoFit/>
          </a:bodyPr>
          <a:lstStyle/>
          <a:p>
            <a:pPr algn="l"/>
            <a:r>
              <a:rPr sz="850" b="0" i="0">
                <a:solidFill>
                  <a:srgbClr val="555555"/>
                </a:solidFill>
                <a:latin typeface="Calibri"/>
              </a:rPr>
              <a:t>Le P/E affiche une expansion multiple de 239.5x sur la période (103,4x → 342,9x), signal d’une réévaluation favorable du profil de croissance. L’EV/EBITDA diverge à 109,9x vs 72,9x historique.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Capital Returns &amp; Free Cash Flow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FCF yield, dividendes &amp; allocation du capital</a:t>
            </a:r>
          </a:p>
        </p:txBody>
      </p:sp>
      <p:sp>
        <p:nvSpPr>
          <p:cNvPr id="17" name="Rectangle 16"/>
          <p:cNvSpPr/>
          <p:nvPr/>
        </p:nvSpPr>
        <p:spPr>
          <a:xfrm>
            <a:off x="367200"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0800" y="871200"/>
            <a:ext cx="1900799" cy="234000"/>
          </a:xfrm>
          <a:prstGeom prst="rect">
            <a:avLst/>
          </a:prstGeom>
          <a:noFill/>
        </p:spPr>
        <p:txBody>
          <a:bodyPr wrap="square">
            <a:spAutoFit/>
          </a:bodyPr>
          <a:lstStyle/>
          <a:p>
            <a:pPr algn="l"/>
            <a:r>
              <a:rPr sz="1600" b="1" i="0">
                <a:solidFill>
                  <a:srgbClr val="1B3A6B"/>
                </a:solidFill>
                <a:latin typeface="Calibri"/>
              </a:rPr>
              <a:t>0,1 %</a:t>
            </a:r>
          </a:p>
        </p:txBody>
      </p:sp>
      <p:sp>
        <p:nvSpPr>
          <p:cNvPr id="20" name="TextBox 19"/>
          <p:cNvSpPr txBox="1"/>
          <p:nvPr/>
        </p:nvSpPr>
        <p:spPr>
          <a:xfrm>
            <a:off x="460800" y="1098000"/>
            <a:ext cx="1900799" cy="234000"/>
          </a:xfrm>
          <a:prstGeom prst="rect">
            <a:avLst/>
          </a:prstGeom>
          <a:noFill/>
        </p:spPr>
        <p:txBody>
          <a:bodyPr wrap="square">
            <a:spAutoFit/>
          </a:bodyPr>
          <a:lstStyle/>
          <a:p>
            <a:pPr algn="l"/>
            <a:r>
              <a:rPr sz="800" b="0" i="0">
                <a:solidFill>
                  <a:srgbClr val="555555"/>
                </a:solidFill>
                <a:latin typeface="Calibri"/>
              </a:rPr>
              <a:t>FCF Yield</a:t>
            </a:r>
          </a:p>
        </p:txBody>
      </p:sp>
      <p:sp>
        <p:nvSpPr>
          <p:cNvPr id="21" name="Rectangle 20"/>
          <p:cNvSpPr/>
          <p:nvPr/>
        </p:nvSpPr>
        <p:spPr>
          <a:xfrm>
            <a:off x="24479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479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41599" y="871200"/>
            <a:ext cx="1900799" cy="234000"/>
          </a:xfrm>
          <a:prstGeom prst="rect">
            <a:avLst/>
          </a:prstGeom>
          <a:noFill/>
        </p:spPr>
        <p:txBody>
          <a:bodyPr wrap="square">
            <a:spAutoFit/>
          </a:bodyPr>
          <a:lstStyle/>
          <a:p>
            <a:pPr algn="l"/>
            <a:r>
              <a:rPr sz="1600" b="1" i="0">
                <a:solidFill>
                  <a:srgbClr val="1B3A6B"/>
                </a:solidFill>
                <a:latin typeface="Calibri"/>
              </a:rPr>
              <a:t>1,4 Mds$</a:t>
            </a:r>
          </a:p>
        </p:txBody>
      </p:sp>
      <p:sp>
        <p:nvSpPr>
          <p:cNvPr id="24" name="TextBox 23"/>
          <p:cNvSpPr txBox="1"/>
          <p:nvPr/>
        </p:nvSpPr>
        <p:spPr>
          <a:xfrm>
            <a:off x="2541599" y="1098000"/>
            <a:ext cx="1900799" cy="234000"/>
          </a:xfrm>
          <a:prstGeom prst="rect">
            <a:avLst/>
          </a:prstGeom>
          <a:noFill/>
        </p:spPr>
        <p:txBody>
          <a:bodyPr wrap="square">
            <a:spAutoFit/>
          </a:bodyPr>
          <a:lstStyle/>
          <a:p>
            <a:pPr algn="l"/>
            <a:r>
              <a:rPr sz="800" b="0" i="0">
                <a:solidFill>
                  <a:srgbClr val="555555"/>
                </a:solidFill>
                <a:latin typeface="Calibri"/>
              </a:rPr>
              <a:t>FCF (LTM)</a:t>
            </a:r>
          </a:p>
        </p:txBody>
      </p:sp>
      <p:sp>
        <p:nvSpPr>
          <p:cNvPr id="25" name="Rectangle 24"/>
          <p:cNvSpPr/>
          <p:nvPr/>
        </p:nvSpPr>
        <p:spPr>
          <a:xfrm>
            <a:off x="45287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287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22399" y="871200"/>
            <a:ext cx="1900799" cy="234000"/>
          </a:xfrm>
          <a:prstGeom prst="rect">
            <a:avLst/>
          </a:prstGeom>
          <a:noFill/>
        </p:spPr>
        <p:txBody>
          <a:bodyPr wrap="square">
            <a:spAutoFit/>
          </a:bodyPr>
          <a:lstStyle/>
          <a:p>
            <a:pPr algn="l"/>
            <a:r>
              <a:rPr sz="1600" b="1" i="0">
                <a:solidFill>
                  <a:srgbClr val="1B3A6B"/>
                </a:solidFill>
                <a:latin typeface="Calibri"/>
              </a:rPr>
              <a:t>9,0 %</a:t>
            </a:r>
          </a:p>
        </p:txBody>
      </p:sp>
      <p:sp>
        <p:nvSpPr>
          <p:cNvPr id="28" name="TextBox 27"/>
          <p:cNvSpPr txBox="1"/>
          <p:nvPr/>
        </p:nvSpPr>
        <p:spPr>
          <a:xfrm>
            <a:off x="4622399" y="1098000"/>
            <a:ext cx="1900799" cy="234000"/>
          </a:xfrm>
          <a:prstGeom prst="rect">
            <a:avLst/>
          </a:prstGeom>
          <a:noFill/>
        </p:spPr>
        <p:txBody>
          <a:bodyPr wrap="square">
            <a:spAutoFit/>
          </a:bodyPr>
          <a:lstStyle/>
          <a:p>
            <a:pPr algn="l"/>
            <a:r>
              <a:rPr sz="800" b="0" i="0">
                <a:solidFill>
                  <a:srgbClr val="555555"/>
                </a:solidFill>
                <a:latin typeface="Calibri"/>
              </a:rPr>
              <a:t>Capex / Rev</a:t>
            </a:r>
          </a:p>
        </p:txBody>
      </p:sp>
      <p:sp>
        <p:nvSpPr>
          <p:cNvPr id="29" name="Rectangle 28"/>
          <p:cNvSpPr/>
          <p:nvPr/>
        </p:nvSpPr>
        <p:spPr>
          <a:xfrm>
            <a:off x="66095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095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03199" y="871200"/>
            <a:ext cx="1900799" cy="234000"/>
          </a:xfrm>
          <a:prstGeom prst="rect">
            <a:avLst/>
          </a:prstGeom>
          <a:noFill/>
        </p:spPr>
        <p:txBody>
          <a:bodyPr wrap="square">
            <a:spAutoFit/>
          </a:bodyPr>
          <a:lstStyle/>
          <a:p>
            <a:pPr algn="l"/>
            <a:r>
              <a:rPr sz="1600" b="1" i="0">
                <a:solidFill>
                  <a:srgbClr val="1B3A6B"/>
                </a:solidFill>
                <a:latin typeface="Calibri"/>
              </a:rPr>
              <a:t>—</a:t>
            </a:r>
          </a:p>
        </p:txBody>
      </p:sp>
      <p:sp>
        <p:nvSpPr>
          <p:cNvPr id="32" name="TextBox 31"/>
          <p:cNvSpPr txBox="1"/>
          <p:nvPr/>
        </p:nvSpPr>
        <p:spPr>
          <a:xfrm>
            <a:off x="6703199" y="1098000"/>
            <a:ext cx="1900799" cy="234000"/>
          </a:xfrm>
          <a:prstGeom prst="rect">
            <a:avLst/>
          </a:prstGeom>
          <a:noFill/>
        </p:spPr>
        <p:txBody>
          <a:bodyPr wrap="square">
            <a:spAutoFit/>
          </a:bodyPr>
          <a:lstStyle/>
          <a:p>
            <a:pPr algn="l"/>
            <a:r>
              <a:rPr sz="800" b="0" i="0">
                <a:solidFill>
                  <a:srgbClr val="555555"/>
                </a:solidFill>
                <a:latin typeface="Calibri"/>
              </a:rPr>
              <a:t>Div. Payout</a:t>
            </a:r>
          </a:p>
        </p:txBody>
      </p:sp>
      <p:pic>
        <p:nvPicPr>
          <p:cNvPr id="33" name="Picture 32" descr="image.png"/>
          <p:cNvPicPr>
            <a:picLocks noChangeAspect="1"/>
          </p:cNvPicPr>
          <p:nvPr/>
        </p:nvPicPr>
        <p:blipFill>
          <a:blip r:embed="rId2"/>
          <a:stretch>
            <a:fillRect/>
          </a:stretch>
        </p:blipFill>
        <p:spPr>
          <a:xfrm>
            <a:off x="367200" y="1512000"/>
            <a:ext cx="5220000" cy="2088000"/>
          </a:xfrm>
          <a:prstGeom prst="rect">
            <a:avLst/>
          </a:prstGeom>
        </p:spPr>
      </p:pic>
      <p:sp>
        <p:nvSpPr>
          <p:cNvPr id="34" name="TextBox 33"/>
          <p:cNvSpPr txBox="1"/>
          <p:nvPr/>
        </p:nvSpPr>
        <p:spPr>
          <a:xfrm>
            <a:off x="5832000" y="1512000"/>
            <a:ext cx="2951999" cy="180000"/>
          </a:xfrm>
          <a:prstGeom prst="rect">
            <a:avLst/>
          </a:prstGeom>
          <a:noFill/>
        </p:spPr>
        <p:txBody>
          <a:bodyPr wrap="square">
            <a:spAutoFit/>
          </a:bodyPr>
          <a:lstStyle/>
          <a:p>
            <a:pPr algn="l"/>
            <a:r>
              <a:rPr sz="800" b="1" i="0">
                <a:solidFill>
                  <a:srgbClr val="1B3A6B"/>
                </a:solidFill>
                <a:latin typeface="Calibri"/>
              </a:rPr>
              <a:t>ALLOCATION DU CAPITAL</a:t>
            </a:r>
          </a:p>
        </p:txBody>
      </p:sp>
      <p:graphicFrame>
        <p:nvGraphicFramePr>
          <p:cNvPr id="35" name="Table 34"/>
          <p:cNvGraphicFramePr>
            <a:graphicFrameLocks noGrp="1"/>
          </p:cNvGraphicFramePr>
          <p:nvPr/>
        </p:nvGraphicFramePr>
        <p:xfrm>
          <a:off x="5832000" y="1745999"/>
          <a:ext cx="2951995" cy="1206000"/>
        </p:xfrm>
        <a:graphic>
          <a:graphicData uri="http://schemas.openxmlformats.org/drawingml/2006/table">
            <a:tbl>
              <a:tblPr firstRow="1" bandRow="1">
                <a:tableStyleId>{5C22544A-7EE6-4342-B048-85BDC9FD1C3A}</a:tableStyleId>
              </a:tblPr>
              <a:tblGrid>
                <a:gridCol w="649439"/>
                <a:gridCol w="590399"/>
                <a:gridCol w="560879"/>
                <a:gridCol w="560879"/>
                <a:gridCol w="590399"/>
              </a:tblGrid>
              <a:tr h="201000">
                <a:tc>
                  <a:txBody>
                    <a:bodyPr/>
                    <a:lstStyle/>
                    <a:p>
                      <a:pPr algn="l"/>
                      <a:r>
                        <a:rPr sz="800" b="1" i="0">
                          <a:solidFill>
                            <a:srgbClr val="FFFFFF"/>
                          </a:solidFill>
                          <a:latin typeface="Calibri"/>
                        </a:rPr>
                        <a:t>Ann.</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FCF</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Yield</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Div%</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Capex%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000">
                <a:tc>
                  <a:txBody>
                    <a:bodyPr/>
                    <a:lstStyle/>
                    <a:p>
                      <a:pPr algn="l"/>
                      <a:r>
                        <a:rPr sz="800" b="0" i="0">
                          <a:solidFill>
                            <a:srgbClr val="0D0D0D"/>
                          </a:solidFill>
                          <a:latin typeface="Calibri"/>
                        </a:rPr>
                        <a:t>2021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000">
                <a:tc>
                  <a:txBody>
                    <a:bodyPr/>
                    <a:lstStyle/>
                    <a:p>
                      <a:pPr algn="l"/>
                      <a:r>
                        <a:rPr sz="800" b="0" i="0">
                          <a:solidFill>
                            <a:srgbClr val="0D0D0D"/>
                          </a:solidFill>
                          <a:latin typeface="Calibri"/>
                        </a:rPr>
                        <a:t>2022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9,2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000">
                <a:tc>
                  <a:txBody>
                    <a:bodyPr/>
                    <a:lstStyle/>
                    <a:p>
                      <a:pPr algn="l"/>
                      <a:r>
                        <a:rPr sz="800" b="0" i="0">
                          <a:solidFill>
                            <a:srgbClr val="0D0D0D"/>
                          </a:solidFill>
                          <a:latin typeface="Calibri"/>
                        </a:rPr>
                        <a:t>2023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10,8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000">
                <a:tc>
                  <a:txBody>
                    <a:bodyPr/>
                    <a:lstStyle/>
                    <a:p>
                      <a:pPr algn="l"/>
                      <a:r>
                        <a:rPr sz="800" b="0" i="0">
                          <a:solidFill>
                            <a:srgbClr val="0D0D0D"/>
                          </a:solidFill>
                          <a:latin typeface="Calibri"/>
                        </a:rPr>
                        <a:t>2024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000">
                <a:tc>
                  <a:txBody>
                    <a:bodyPr/>
                    <a:lstStyle/>
                    <a:p>
                      <a:pPr algn="l"/>
                      <a:r>
                        <a:rPr sz="800" b="0" i="0">
                          <a:solidFill>
                            <a:srgbClr val="0D0D0D"/>
                          </a:solidFill>
                          <a:latin typeface="Calibri"/>
                        </a:rPr>
                        <a:t>2025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36" name="TextBox 35"/>
          <p:cNvSpPr txBox="1"/>
          <p:nvPr/>
        </p:nvSpPr>
        <p:spPr>
          <a:xfrm>
            <a:off x="367200" y="3708000"/>
            <a:ext cx="8413200" cy="576000"/>
          </a:xfrm>
          <a:prstGeom prst="rect">
            <a:avLst/>
          </a:prstGeom>
          <a:noFill/>
        </p:spPr>
        <p:txBody>
          <a:bodyPr wrap="square">
            <a:spAutoFit/>
          </a:bodyPr>
          <a:lstStyle/>
          <a:p>
            <a:pPr algn="l"/>
            <a:r>
              <a:rPr sz="850" b="0" i="0">
                <a:solidFill>
                  <a:srgbClr val="555555"/>
                </a:solidFill>
                <a:latin typeface="Calibri"/>
              </a:rPr>
              <a:t>Le FCF affiche une contraction de 7,7 Mds$ sur la période, avec un FCF yield actuel de 0,1 % — à surveiller au regard de la valorisation de marché. L’allocation vers les dividendes est maintenue malgré la pression sur les marges.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LBO — Leveraged Buyout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Attractivité PE · Multiples d’entrée vs IRR cible</a:t>
            </a:r>
          </a:p>
        </p:txBody>
      </p:sp>
      <p:graphicFrame>
        <p:nvGraphicFramePr>
          <p:cNvPr id="17" name="Table 16"/>
          <p:cNvGraphicFramePr>
            <a:graphicFrameLocks noGrp="1"/>
          </p:cNvGraphicFramePr>
          <p:nvPr/>
        </p:nvGraphicFramePr>
        <p:xfrm>
          <a:off x="367200" y="900000"/>
          <a:ext cx="4860000" cy="1170000"/>
        </p:xfrm>
        <a:graphic>
          <a:graphicData uri="http://schemas.openxmlformats.org/drawingml/2006/table">
            <a:tbl>
              <a:tblPr firstRow="1" bandRow="1">
                <a:tableStyleId>{5C22544A-7EE6-4342-B048-85BDC9FD1C3A}</a:tableStyleId>
              </a:tblPr>
              <a:tblGrid>
                <a:gridCol w="1069200"/>
                <a:gridCol w="1263600"/>
                <a:gridCol w="1263600"/>
                <a:gridCol w="1263600"/>
              </a:tblGrid>
              <a:tr h="234000">
                <a:tc>
                  <a:txBody>
                    <a:bodyPr/>
                    <a:lstStyle/>
                    <a:p>
                      <a:pPr algn="l"/>
                      <a:r>
                        <a:rPr sz="800" b="1" i="0">
                          <a:solidFill>
                            <a:srgbClr val="FFFFFF"/>
                          </a:solidFill>
                          <a:latin typeface="Calibri"/>
                        </a:rPr>
                        <a:t>Entry mult.</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8x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10x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12x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 2.1x</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21.9% / 2.7x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27.2% / 3.3x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6.5% / 1.4x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12.4% / 1.8x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17.3% / 2.2x</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0.5% / 1.0x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6.1% / 1.3x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10.7% / 1.7x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 / 0.8x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 / 1.1x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5.9% / 1.3x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2592000"/>
            <a:ext cx="4860000" cy="180000"/>
          </a:xfrm>
          <a:prstGeom prst="rect">
            <a:avLst/>
          </a:prstGeom>
          <a:noFill/>
        </p:spPr>
        <p:txBody>
          <a:bodyPr wrap="square">
            <a:spAutoFit/>
          </a:bodyPr>
          <a:lstStyle/>
          <a:p>
            <a:pPr algn="l"/>
            <a:r>
              <a:rPr sz="750" b="0" i="0">
                <a:solidFill>
                  <a:srgbClr val="555555"/>
                </a:solidFill>
                <a:latin typeface="Calibri"/>
              </a:rPr>
              <a:t>Hypotheses : Levier 4x EBITDA · 5 ans holding · 50% remboursement dette · EBITDA +5%/an</a:t>
            </a:r>
          </a:p>
        </p:txBody>
      </p:sp>
      <p:sp>
        <p:nvSpPr>
          <p:cNvPr id="19" name="TextBox 18"/>
          <p:cNvSpPr txBox="1"/>
          <p:nvPr/>
        </p:nvSpPr>
        <p:spPr>
          <a:xfrm>
            <a:off x="367200" y="2754000"/>
            <a:ext cx="4860000" cy="180000"/>
          </a:xfrm>
          <a:prstGeom prst="rect">
            <a:avLst/>
          </a:prstGeom>
          <a:noFill/>
        </p:spPr>
        <p:txBody>
          <a:bodyPr wrap="square">
            <a:spAutoFit/>
          </a:bodyPr>
          <a:lstStyle/>
          <a:p>
            <a:pPr algn="l"/>
            <a:r>
              <a:rPr sz="750" b="0" i="0">
                <a:solidFill>
                  <a:srgbClr val="888888"/>
                </a:solidFill>
                <a:latin typeface="Calibri"/>
              </a:rPr>
              <a:t>Lecture : IRR / MOIC  ● vert ≥ 20%  ● ambre 15-20%  ● rouge &lt; 15%</a:t>
            </a:r>
          </a:p>
        </p:txBody>
      </p:sp>
      <p:sp>
        <p:nvSpPr>
          <p:cNvPr id="20" name="TextBox 19"/>
          <p:cNvSpPr txBox="1"/>
          <p:nvPr/>
        </p:nvSpPr>
        <p:spPr>
          <a:xfrm>
            <a:off x="5472000" y="900000"/>
            <a:ext cx="3311999" cy="180000"/>
          </a:xfrm>
          <a:prstGeom prst="rect">
            <a:avLst/>
          </a:prstGeom>
          <a:noFill/>
        </p:spPr>
        <p:txBody>
          <a:bodyPr wrap="square">
            <a:spAutoFit/>
          </a:bodyPr>
          <a:lstStyle/>
          <a:p>
            <a:pPr algn="l"/>
            <a:r>
              <a:rPr sz="800" b="1" i="0">
                <a:solidFill>
                  <a:srgbClr val="1B3A6B"/>
                </a:solidFill>
                <a:latin typeface="Calibri"/>
              </a:rPr>
              <a:t>HYPOTHÈSES &amp; STRUCTURE LBO</a:t>
            </a:r>
          </a:p>
        </p:txBody>
      </p:sp>
      <p:graphicFrame>
        <p:nvGraphicFramePr>
          <p:cNvPr id="21" name="Table 20"/>
          <p:cNvGraphicFramePr>
            <a:graphicFrameLocks noGrp="1"/>
          </p:cNvGraphicFramePr>
          <p:nvPr/>
        </p:nvGraphicFramePr>
        <p:xfrm>
          <a:off x="5472000" y="1116000"/>
          <a:ext cx="3311998" cy="1602000"/>
        </p:xfrm>
        <a:graphic>
          <a:graphicData uri="http://schemas.openxmlformats.org/drawingml/2006/table">
            <a:tbl>
              <a:tblPr firstRow="1" bandRow="1">
                <a:tableStyleId>{5C22544A-7EE6-4342-B048-85BDC9FD1C3A}</a:tableStyleId>
              </a:tblPr>
              <a:tblGrid>
                <a:gridCol w="1722239"/>
                <a:gridCol w="1589759"/>
              </a:tblGrid>
              <a:tr h="20025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EBITDA LTM</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11,8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FCF LTM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Levier 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4x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Dette entrée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47,1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EBITDA exit (est.)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15,0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Holding</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 ans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IRR cible 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 20%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2" name="Rectangle 21"/>
          <p:cNvSpPr/>
          <p:nvPr/>
        </p:nvSpPr>
        <p:spPr>
          <a:xfrm>
            <a:off x="5472000" y="3096000"/>
            <a:ext cx="3311999" cy="1007999"/>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72000" y="3096000"/>
            <a:ext cx="72000" cy="1007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80000" y="3131999"/>
            <a:ext cx="3168000" cy="162000"/>
          </a:xfrm>
          <a:prstGeom prst="rect">
            <a:avLst/>
          </a:prstGeom>
          <a:noFill/>
        </p:spPr>
        <p:txBody>
          <a:bodyPr wrap="square">
            <a:spAutoFit/>
          </a:bodyPr>
          <a:lstStyle/>
          <a:p>
            <a:pPr algn="l"/>
            <a:r>
              <a:rPr sz="750" b="1" i="0">
                <a:solidFill>
                  <a:srgbClr val="B06000"/>
                </a:solidFill>
                <a:latin typeface="Calibri"/>
              </a:rPr>
              <a:t>NOTE MÉTHODOLOGIQUE</a:t>
            </a:r>
          </a:p>
        </p:txBody>
      </p:sp>
      <p:sp>
        <p:nvSpPr>
          <p:cNvPr id="25" name="TextBox 24"/>
          <p:cNvSpPr txBox="1"/>
          <p:nvPr/>
        </p:nvSpPr>
        <p:spPr>
          <a:xfrm>
            <a:off x="5580000" y="3294000"/>
            <a:ext cx="3168000" cy="792000"/>
          </a:xfrm>
          <a:prstGeom prst="rect">
            <a:avLst/>
          </a:prstGeom>
          <a:noFill/>
        </p:spPr>
        <p:txBody>
          <a:bodyPr wrap="square">
            <a:spAutoFit/>
          </a:bodyPr>
          <a:lstStyle/>
          <a:p>
            <a:pPr algn="l"/>
            <a:r>
              <a:rPr sz="800" b="0" i="0">
                <a:solidFill>
                  <a:srgbClr val="555555"/>
                </a:solidFill>
                <a:latin typeface="Calibri"/>
              </a:rPr>
              <a:t>Analyse indicative uniquement. Le LBO assume un rachat 100% equity par un fonds PE. La dette est remboursée par le FCF de la cible. L'IRR ne tient pas compte des frais de transaction ni de la structure fiscale optimisée. Un IRR ≥ 20% est le seuil standard d'un fonds PE tier-1.</a:t>
            </a:r>
          </a:p>
        </p:txBody>
      </p:sp>
      <p:sp>
        <p:nvSpPr>
          <p:cNvPr id="26" name="TextBox 25"/>
          <p:cNvSpPr txBox="1"/>
          <p:nvPr/>
        </p:nvSpPr>
        <p:spPr>
          <a:xfrm>
            <a:off x="367200" y="4176000"/>
            <a:ext cx="8413200" cy="576000"/>
          </a:xfrm>
          <a:prstGeom prst="rect">
            <a:avLst/>
          </a:prstGeom>
          <a:noFill/>
        </p:spPr>
        <p:txBody>
          <a:bodyPr wrap="square">
            <a:spAutoFit/>
          </a:bodyPr>
          <a:lstStyle/>
          <a:p>
            <a:pPr algn="l"/>
            <a:r>
              <a:rPr sz="850" b="0" i="0">
                <a:solidFill>
                  <a:srgbClr val="555555"/>
                </a:solidFill>
                <a:latin typeface="Calibri"/>
              </a:rPr>
              <a:t>A 10x EBITDA d'entrée / 10x de sortie, le LBO génère un IRR de 12.4% (MOIC 1.8x en 5 ans) — attractivité PE jugée insuffisante. Un fonds tier-1 ciblant 20%+ d'IRR doit entrer en dessous de 8x EBITDA. La génération de FCF (1,4 Mds$) est le principal levier de remboursement de la dette.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396000"/>
          </a:xfrm>
          <a:prstGeom prst="rect">
            <a:avLst/>
          </a:prstGeom>
          <a:noFill/>
        </p:spPr>
        <p:txBody>
          <a:bodyPr wrap="square">
            <a:spAutoFit/>
          </a:bodyPr>
          <a:lstStyle/>
          <a:p>
            <a:pPr algn="l"/>
            <a:r>
              <a:rPr sz="900" b="1" i="0">
                <a:solidFill>
                  <a:srgbClr val="A82020"/>
                </a:solidFill>
                <a:latin typeface="Calibri"/>
              </a:rPr>
              <a:t>Risque 1</a:t>
            </a:r>
          </a:p>
        </p:txBody>
      </p:sp>
      <p:sp>
        <p:nvSpPr>
          <p:cNvPr id="20" name="TextBox 19"/>
          <p:cNvSpPr txBox="1"/>
          <p:nvPr/>
        </p:nvSpPr>
        <p:spPr>
          <a:xfrm>
            <a:off x="475200" y="1537199"/>
            <a:ext cx="2527200" cy="1260000"/>
          </a:xfrm>
          <a:prstGeom prst="rect">
            <a:avLst/>
          </a:prstGeom>
          <a:noFill/>
        </p:spPr>
        <p:txBody>
          <a:bodyPr wrap="square">
            <a:spAutoFit/>
          </a:bodyPr>
          <a:lstStyle/>
          <a:p>
            <a:pPr algn="l"/>
            <a:r>
              <a:rPr sz="800" b="0" i="0">
                <a:solidFill>
                  <a:srgbClr val="555555"/>
                </a:solidFill>
                <a:latin typeface="Calibri"/>
              </a:rPr>
              <a:t>Risque macro-économique : remontée des taux ou ralentissement de la demande mondiale.</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396000"/>
          </a:xfrm>
          <a:prstGeom prst="rect">
            <a:avLst/>
          </a:prstGeom>
          <a:noFill/>
        </p:spPr>
        <p:txBody>
          <a:bodyPr wrap="square">
            <a:spAutoFit/>
          </a:bodyPr>
          <a:lstStyle/>
          <a:p>
            <a:pPr algn="l"/>
            <a:r>
              <a:rPr sz="900" b="1" i="0">
                <a:solidFill>
                  <a:srgbClr val="2E5FA3"/>
                </a:solidFill>
                <a:latin typeface="Calibri"/>
              </a:rPr>
              <a:t>Risque 2</a:t>
            </a:r>
          </a:p>
        </p:txBody>
      </p:sp>
      <p:sp>
        <p:nvSpPr>
          <p:cNvPr id="24" name="TextBox 23"/>
          <p:cNvSpPr txBox="1"/>
          <p:nvPr/>
        </p:nvSpPr>
        <p:spPr>
          <a:xfrm>
            <a:off x="3337200" y="1537199"/>
            <a:ext cx="2527200" cy="1260000"/>
          </a:xfrm>
          <a:prstGeom prst="rect">
            <a:avLst/>
          </a:prstGeom>
          <a:noFill/>
        </p:spPr>
        <p:txBody>
          <a:bodyPr wrap="square">
            <a:spAutoFit/>
          </a:bodyPr>
          <a:lstStyle/>
          <a:p>
            <a:pPr algn="l"/>
            <a:r>
              <a:rPr sz="800" b="0" i="0">
                <a:solidFill>
                  <a:srgbClr val="555555"/>
                </a:solidFill>
                <a:latin typeface="Calibri"/>
              </a:rPr>
              <a:t>Risque sectoriel : intensification de la concurrence ou disruption technologique.</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396000"/>
          </a:xfrm>
          <a:prstGeom prst="rect">
            <a:avLst/>
          </a:prstGeom>
          <a:noFill/>
        </p:spPr>
        <p:txBody>
          <a:bodyPr wrap="square">
            <a:spAutoFit/>
          </a:bodyPr>
          <a:lstStyle/>
          <a:p>
            <a:pPr algn="l"/>
            <a:r>
              <a:rPr sz="900" b="1" i="0">
                <a:solidFill>
                  <a:srgbClr val="B06000"/>
                </a:solidFill>
                <a:latin typeface="Calibri"/>
              </a:rPr>
              <a:t>Risque 3</a:t>
            </a:r>
          </a:p>
        </p:txBody>
      </p:sp>
      <p:sp>
        <p:nvSpPr>
          <p:cNvPr id="28" name="TextBox 27"/>
          <p:cNvSpPr txBox="1"/>
          <p:nvPr/>
        </p:nvSpPr>
        <p:spPr>
          <a:xfrm>
            <a:off x="6199200" y="1537199"/>
            <a:ext cx="2527200" cy="1260000"/>
          </a:xfrm>
          <a:prstGeom prst="rect">
            <a:avLst/>
          </a:prstGeom>
          <a:noFill/>
        </p:spPr>
        <p:txBody>
          <a:bodyPr wrap="square">
            <a:spAutoFit/>
          </a:bodyPr>
          <a:lstStyle/>
          <a:p>
            <a:pPr algn="l"/>
            <a:r>
              <a:rPr sz="800" b="0" i="0">
                <a:solidFill>
                  <a:srgbClr val="555555"/>
                </a:solidFill>
                <a:latin typeface="Calibri"/>
              </a:rPr>
              <a:t>Risque spécifique : détérioration des marges ou exécution stratégique.</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Remontée des taux directeurs &gt; 200bps</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Rupture technologique remettant en cause le modèle</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Détérioration matérielle des marges opérationnelles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38800"/>
            <a:ext cx="2696400" cy="158400"/>
          </a:xfrm>
          <a:prstGeom prst="rect">
            <a:avLst/>
          </a:prstGeom>
          <a:noFill/>
        </p:spPr>
        <p:txBody>
          <a:bodyPr wrap="square">
            <a:spAutoFit/>
          </a:bodyPr>
          <a:lstStyle/>
          <a:p>
            <a:pPr algn="l"/>
            <a:r>
              <a:rPr sz="700" b="0" i="0">
                <a:solidFill>
                  <a:srgbClr val="1B3A6B"/>
                </a:solidFill>
                <a:latin typeface="Calibri"/>
              </a:rPr>
              <a:t>Détresse : 0/100  Sain</a:t>
            </a:r>
          </a:p>
        </p:txBody>
      </p:sp>
      <p:sp>
        <p:nvSpPr>
          <p:cNvPr id="35" name="Rectangle 34"/>
          <p:cNvSpPr/>
          <p:nvPr/>
        </p:nvSpPr>
        <p:spPr>
          <a:xfrm>
            <a:off x="324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38800"/>
            <a:ext cx="2696400" cy="158400"/>
          </a:xfrm>
          <a:prstGeom prst="rect">
            <a:avLst/>
          </a:prstGeom>
          <a:noFill/>
        </p:spPr>
        <p:txBody>
          <a:bodyPr wrap="square">
            <a:spAutoFit/>
          </a:bodyPr>
          <a:lstStyle/>
          <a:p>
            <a:pPr algn="l"/>
            <a:r>
              <a:rPr sz="700" b="0" i="0">
                <a:solidFill>
                  <a:srgbClr val="1B3A6B"/>
                </a:solidFill>
                <a:latin typeface="Calibri"/>
              </a:rPr>
              <a:t>M&amp;A : 28/100  Peu attractive</a:t>
            </a:r>
          </a:p>
        </p:txBody>
      </p:sp>
      <p:sp>
        <p:nvSpPr>
          <p:cNvPr id="38" name="Rectangle 37"/>
          <p:cNvSpPr/>
          <p:nvPr/>
        </p:nvSpPr>
        <p:spPr>
          <a:xfrm>
            <a:off x="612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38800"/>
            <a:ext cx="2696400" cy="158400"/>
          </a:xfrm>
          <a:prstGeom prst="rect">
            <a:avLst/>
          </a:prstGeom>
          <a:noFill/>
        </p:spPr>
        <p:txBody>
          <a:bodyPr wrap="square">
            <a:spAutoFit/>
          </a:bodyPr>
          <a:lstStyle/>
          <a:p>
            <a:pPr algn="l"/>
            <a:r>
              <a:rPr sz="700" b="0" i="0">
                <a:solidFill>
                  <a:srgbClr val="1B3A6B"/>
                </a:solidFill>
                <a:latin typeface="Calibri"/>
              </a:rPr>
              <a:t>Régime : Volatile  Rec.6M:26%</a:t>
            </a:r>
          </a:p>
        </p:txBody>
      </p:sp>
      <p:sp>
        <p:nvSpPr>
          <p:cNvPr id="41" name="Rectangle 40"/>
          <p:cNvSpPr/>
          <p:nvPr/>
        </p:nvSpPr>
        <p:spPr>
          <a:xfrm>
            <a:off x="3672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618800"/>
            <a:ext cx="432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629600"/>
            <a:ext cx="2696400" cy="158400"/>
          </a:xfrm>
          <a:prstGeom prst="rect">
            <a:avLst/>
          </a:prstGeom>
          <a:noFill/>
        </p:spPr>
        <p:txBody>
          <a:bodyPr wrap="square">
            <a:spAutoFit/>
          </a:bodyPr>
          <a:lstStyle/>
          <a:p>
            <a:pPr algn="l"/>
            <a:r>
              <a:rPr sz="700" b="0" i="0">
                <a:solidFill>
                  <a:srgbClr val="1B3A6B"/>
                </a:solidFill>
                <a:latin typeface="Calibri"/>
              </a:rPr>
              <a:t>Earnings Qualité : Faible (0.37x)</a:t>
            </a:r>
          </a:p>
        </p:txBody>
      </p:sp>
      <p:sp>
        <p:nvSpPr>
          <p:cNvPr id="44" name="Rectangle 43"/>
          <p:cNvSpPr/>
          <p:nvPr/>
        </p:nvSpPr>
        <p:spPr>
          <a:xfrm>
            <a:off x="324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629600"/>
            <a:ext cx="2696400" cy="158400"/>
          </a:xfrm>
          <a:prstGeom prst="rect">
            <a:avLst/>
          </a:prstGeom>
          <a:noFill/>
        </p:spPr>
        <p:txBody>
          <a:bodyPr wrap="square">
            <a:spAutoFit/>
          </a:bodyPr>
          <a:lstStyle/>
          <a:p>
            <a:pPr algn="l"/>
            <a:r>
              <a:rPr sz="700" b="0" i="0">
                <a:solidFill>
                  <a:srgbClr val="1B3A6B"/>
                </a:solidFill>
                <a:latin typeface="Calibri"/>
              </a:rPr>
              <a:t>Struct. Capital : Saine (19% 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LLM Groq</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  ·  Classification LLM</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Positif</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+0,435</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59,6 %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LLM Groq</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HOLD</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21</a:t>
                      </a:r>
                    </a:p>
                  </a:txBody>
                  <a:tcPr>
                    <a:solidFill>
                      <a:srgbClr val="EAF4EF"/>
                    </a:solidFill>
                  </a:tcPr>
                </a:tc>
                <a:tc>
                  <a:txBody>
                    <a:bodyPr/>
                    <a:lstStyle/>
                    <a:p>
                      <a:pPr algn="ctr"/>
                      <a:r>
                        <a:rPr sz="800" b="0" i="0">
                          <a:solidFill>
                            <a:srgbClr val="0D0D0D"/>
                          </a:solidFill>
                          <a:latin typeface="Calibri"/>
                        </a:rPr>
                        <a:t>+0,596</a:t>
                      </a:r>
                    </a:p>
                  </a:txBody>
                  <a:tcPr>
                    <a:solidFill>
                      <a:srgbClr val="EAF4EF"/>
                    </a:solidFill>
                  </a:tcPr>
                </a:tc>
                <a:tc>
                  <a:txBody>
                    <a:bodyPr/>
                    <a:lstStyle/>
                    <a:p>
                      <a:pPr algn="ctr"/>
                      <a:r>
                        <a:rPr sz="800" b="0" i="0">
                          <a:solidFill>
                            <a:srgbClr val="0D0D0D"/>
                          </a:solidFill>
                          <a:latin typeface="Calibri"/>
                        </a:rPr>
                        <a:t>Catalyseurs, croissance, résultats</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5</a:t>
                      </a:r>
                    </a:p>
                  </a:txBody>
                  <a:tcPr>
                    <a:solidFill>
                      <a:srgbClr val="FFFFFF"/>
                    </a:solidFill>
                  </a:tcPr>
                </a:tc>
                <a:tc>
                  <a:txBody>
                    <a:bodyPr/>
                    <a:lstStyle/>
                    <a:p>
                      <a:pPr algn="ctr"/>
                      <a:r>
                        <a:rPr sz="800" b="0" i="0">
                          <a:solidFill>
                            <a:srgbClr val="0D0D0D"/>
                          </a:solidFill>
                          <a:latin typeface="Calibri"/>
                        </a:rPr>
                        <a:t>+0,243</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4</a:t>
                      </a:r>
                    </a:p>
                  </a:txBody>
                  <a:tcPr>
                    <a:solidFill>
                      <a:srgbClr val="FAF0EF"/>
                    </a:solidFill>
                  </a:tcPr>
                </a:tc>
                <a:tc>
                  <a:txBody>
                    <a:bodyPr/>
                    <a:lstStyle/>
                    <a:p>
                      <a:pPr algn="ctr"/>
                      <a:r>
                        <a:rPr sz="800" b="0" i="0">
                          <a:solidFill>
                            <a:srgbClr val="0D0D0D"/>
                          </a:solidFill>
                          <a:latin typeface="Calibri"/>
                        </a:rPr>
                        <a:t>+0,161</a:t>
                      </a:r>
                    </a:p>
                  </a:txBody>
                  <a:tcPr>
                    <a:solidFill>
                      <a:srgbClr val="FAF0EF"/>
                    </a:solidFill>
                  </a:tcPr>
                </a:tc>
                <a:tc>
                  <a:txBody>
                    <a:bodyPr/>
                    <a:lstStyle/>
                    <a:p>
                      <a:pPr algn="ctr"/>
                      <a:r>
                        <a:rPr sz="800" b="0" i="0">
                          <a:solidFill>
                            <a:srgbClr val="0D0D0D"/>
                          </a:solidFill>
                          <a:latin typeface="Calibri"/>
                        </a:rPr>
                        <a:t>Risques macro, concurrence, dette</a:t>
                      </a:r>
                    </a:p>
                  </a:txBody>
                  <a:tcPr>
                    <a:solidFill>
                      <a:srgbClr val="FAF0EF"/>
                    </a:solidFill>
                  </a:tcPr>
                </a:tc>
              </a:tr>
            </a:tbl>
          </a:graphicData>
        </a:graphic>
      </p:graphicFrame>
      <p:sp>
        <p:nvSpPr>
          <p:cNvPr id="39" name="TextBox 38"/>
          <p:cNvSpPr txBox="1"/>
          <p:nvPr/>
        </p:nvSpPr>
        <p:spPr>
          <a:xfrm>
            <a:off x="367200" y="4140000"/>
            <a:ext cx="8413200" cy="720000"/>
          </a:xfrm>
          <a:prstGeom prst="rect">
            <a:avLst/>
          </a:prstGeom>
          <a:noFill/>
        </p:spPr>
        <p:txBody>
          <a:bodyPr wrap="square">
            <a:spAutoFit/>
          </a:bodyPr>
          <a:lstStyle/>
          <a:p>
            <a:pPr algn="l"/>
            <a:r>
              <a:rPr sz="850" b="0" i="0">
                <a:solidFill>
                  <a:srgbClr val="333333"/>
                </a:solidFill>
                <a:latin typeface="Calibri"/>
              </a:rPr>
              <a:t>La presse financière affiche un optimisme marqué pour Tesla cette semaine, portée par des perspectives de livraisons record et des partenariats stratégiques majeurs. Les analystes et investisseurs semblent convaincus par le potentiel de croissance lié aux robotaxis et à l'écosystème Musk.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8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Tesla,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JPMORGAN CHASE &amp; CO</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Capital World Investors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USD  ·  Au 8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346,65 $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456,56 $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308,27 $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+0,1 %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Cours stable de +0,1 % sur 12 mois</a:t>
            </a:r>
          </a:p>
        </p:txBody>
      </p:sp>
      <p:pic>
        <p:nvPicPr>
          <p:cNvPr id="34" name="Picture 33" descr="image.png"/>
          <p:cNvPicPr>
            <a:picLocks noChangeAspect="1"/>
          </p:cNvPicPr>
          <p:nvPr/>
        </p:nvPicPr>
        <p:blipFill>
          <a:blip r:embed="rId2"/>
          <a:stretch>
            <a:fillRect/>
          </a:stretch>
        </p:blipFill>
        <p:spPr>
          <a:xfrm>
            <a:off x="367200" y="2102400"/>
            <a:ext cx="8413200" cy="18288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Conviction &amp; Thèse d’Investissement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FinSight IA  ·  Rapport 8 avril 2026</a:t>
            </a:r>
          </a:p>
        </p:txBody>
      </p:sp>
      <p:sp>
        <p:nvSpPr>
          <p:cNvPr id="17" name="Rectangle 16"/>
          <p:cNvSpPr/>
          <p:nvPr/>
        </p:nvSpPr>
        <p:spPr>
          <a:xfrm>
            <a:off x="324000" y="827999"/>
            <a:ext cx="2700000" cy="1260000"/>
          </a:xfrm>
          <a:prstGeom prst="rect">
            <a:avLst/>
          </a:prstGeom>
          <a:solidFill>
            <a:srgbClr val="FFF8E1"/>
          </a:solidFill>
          <a:ln w="25400">
            <a:solidFill>
              <a:srgbClr val="B06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4000" y="864000"/>
            <a:ext cx="2700000" cy="396000"/>
          </a:xfrm>
          <a:prstGeom prst="rect">
            <a:avLst/>
          </a:prstGeom>
          <a:noFill/>
        </p:spPr>
        <p:txBody>
          <a:bodyPr wrap="square">
            <a:spAutoFit/>
          </a:bodyPr>
          <a:lstStyle/>
          <a:p>
            <a:pPr algn="ctr"/>
            <a:r>
              <a:rPr sz="3600" b="1" i="0">
                <a:solidFill>
                  <a:srgbClr val="B06000"/>
                </a:solidFill>
                <a:latin typeface="Calibri"/>
              </a:rPr>
              <a:t>HOLD</a:t>
            </a:r>
          </a:p>
        </p:txBody>
      </p:sp>
      <p:sp>
        <p:nvSpPr>
          <p:cNvPr id="19" name="TextBox 18"/>
          <p:cNvSpPr txBox="1"/>
          <p:nvPr/>
        </p:nvSpPr>
        <p:spPr>
          <a:xfrm>
            <a:off x="324000" y="1278000"/>
            <a:ext cx="2700000" cy="198000"/>
          </a:xfrm>
          <a:prstGeom prst="rect">
            <a:avLst/>
          </a:prstGeom>
          <a:noFill/>
        </p:spPr>
        <p:txBody>
          <a:bodyPr wrap="square">
            <a:spAutoFit/>
          </a:bodyPr>
          <a:lstStyle/>
          <a:p>
            <a:pPr algn="ctr"/>
            <a:r>
              <a:rPr sz="1100" b="0" i="0">
                <a:solidFill>
                  <a:srgbClr val="555555"/>
                </a:solidFill>
                <a:latin typeface="Calibri"/>
              </a:rPr>
              <a:t>Conviction : 50%</a:t>
            </a:r>
          </a:p>
        </p:txBody>
      </p:sp>
      <p:sp>
        <p:nvSpPr>
          <p:cNvPr id="20" name="TextBox 19"/>
          <p:cNvSpPr txBox="1"/>
          <p:nvPr/>
        </p:nvSpPr>
        <p:spPr>
          <a:xfrm>
            <a:off x="324000" y="1494000"/>
            <a:ext cx="2700000" cy="198000"/>
          </a:xfrm>
          <a:prstGeom prst="rect">
            <a:avLst/>
          </a:prstGeom>
          <a:noFill/>
        </p:spPr>
        <p:txBody>
          <a:bodyPr wrap="square">
            <a:spAutoFit/>
          </a:bodyPr>
          <a:lstStyle/>
          <a:p>
            <a:pPr algn="ctr"/>
            <a:r>
              <a:rPr sz="850" b="0" i="0">
                <a:solidFill>
                  <a:srgbClr val="555555"/>
                </a:solidFill>
                <a:latin typeface="Calibri"/>
              </a:rPr>
              <a:t>8 avril 2026</a:t>
            </a:r>
          </a:p>
        </p:txBody>
      </p:sp>
      <p:sp>
        <p:nvSpPr>
          <p:cNvPr id="21" name="Rectangle 20"/>
          <p:cNvSpPr/>
          <p:nvPr/>
        </p:nvSpPr>
        <p:spPr>
          <a:xfrm>
            <a:off x="324000" y="2196000"/>
            <a:ext cx="2700000" cy="1980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2196000"/>
            <a:ext cx="1350000" cy="19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051999"/>
            <a:ext cx="2700000" cy="136800"/>
          </a:xfrm>
          <a:prstGeom prst="rect">
            <a:avLst/>
          </a:prstGeom>
          <a:noFill/>
        </p:spPr>
        <p:txBody>
          <a:bodyPr wrap="square">
            <a:spAutoFit/>
          </a:bodyPr>
          <a:lstStyle/>
          <a:p>
            <a:pPr algn="l"/>
            <a:r>
              <a:rPr sz="700" b="1" i="0">
                <a:solidFill>
                  <a:srgbClr val="1B3A6B"/>
                </a:solidFill>
                <a:latin typeface="Calibri"/>
              </a:rPr>
              <a:t>NIVEAU DE CONVICTION</a:t>
            </a:r>
          </a:p>
        </p:txBody>
      </p:sp>
      <p:sp>
        <p:nvSpPr>
          <p:cNvPr id="24" name="TextBox 23"/>
          <p:cNvSpPr txBox="1"/>
          <p:nvPr/>
        </p:nvSpPr>
        <p:spPr>
          <a:xfrm>
            <a:off x="3060000" y="2196000"/>
            <a:ext cx="432000" cy="198000"/>
          </a:xfrm>
          <a:prstGeom prst="rect">
            <a:avLst/>
          </a:prstGeom>
          <a:noFill/>
        </p:spPr>
        <p:txBody>
          <a:bodyPr wrap="square">
            <a:spAutoFit/>
          </a:bodyPr>
          <a:lstStyle/>
          <a:p>
            <a:pPr algn="l"/>
            <a:r>
              <a:rPr sz="1000" b="1" i="0">
                <a:solidFill>
                  <a:srgbClr val="1B3A6B"/>
                </a:solidFill>
                <a:latin typeface="Calibri"/>
              </a:rPr>
              <a:t>50%</a:t>
            </a:r>
          </a:p>
        </p:txBody>
      </p:sp>
      <p:sp>
        <p:nvSpPr>
          <p:cNvPr id="25" name="Rectangle 24"/>
          <p:cNvSpPr/>
          <p:nvPr/>
        </p:nvSpPr>
        <p:spPr>
          <a:xfrm>
            <a:off x="324000" y="2520000"/>
            <a:ext cx="2700000" cy="27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0000" y="2538000"/>
            <a:ext cx="2628000" cy="234000"/>
          </a:xfrm>
          <a:prstGeom prst="rect">
            <a:avLst/>
          </a:prstGeom>
          <a:noFill/>
        </p:spPr>
        <p:txBody>
          <a:bodyPr wrap="square">
            <a:spAutoFit/>
          </a:bodyPr>
          <a:lstStyle/>
          <a:p>
            <a:pPr algn="l"/>
            <a:r>
              <a:rPr sz="850" b="1" i="0">
                <a:solidFill>
                  <a:srgbClr val="1A7A4A"/>
                </a:solidFill>
                <a:latin typeface="Calibri"/>
              </a:rPr>
              <a:t>Delta conviction : +0% vs Avocat du Diable</a:t>
            </a:r>
          </a:p>
        </p:txBody>
      </p:sp>
      <p:sp>
        <p:nvSpPr>
          <p:cNvPr id="27" name="Rectangle 26"/>
          <p:cNvSpPr/>
          <p:nvPr/>
        </p:nvSpPr>
        <p:spPr>
          <a:xfrm>
            <a:off x="3311999" y="827999"/>
            <a:ext cx="5472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366000" y="846000"/>
            <a:ext cx="5400000" cy="162000"/>
          </a:xfrm>
          <a:prstGeom prst="rect">
            <a:avLst/>
          </a:prstGeom>
          <a:noFill/>
        </p:spPr>
        <p:txBody>
          <a:bodyPr wrap="square">
            <a:spAutoFit/>
          </a:bodyPr>
          <a:lstStyle/>
          <a:p>
            <a:pPr algn="l"/>
            <a:r>
              <a:rPr sz="800" b="1" i="0">
                <a:solidFill>
                  <a:srgbClr val="FFFFFF"/>
                </a:solidFill>
                <a:latin typeface="Calibri"/>
              </a:rPr>
              <a:t>THÈSE D’INVESTISSEMENT</a:t>
            </a:r>
          </a:p>
        </p:txBody>
      </p:sp>
      <p:sp>
        <p:nvSpPr>
          <p:cNvPr id="29" name="Rectangle 28"/>
          <p:cNvSpPr/>
          <p:nvPr/>
        </p:nvSpPr>
        <p:spPr>
          <a:xfrm>
            <a:off x="3311999" y="1062000"/>
            <a:ext cx="36000" cy="28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401999" y="1080000"/>
            <a:ext cx="5346000" cy="270000"/>
          </a:xfrm>
          <a:prstGeom prst="rect">
            <a:avLst/>
          </a:prstGeom>
          <a:noFill/>
        </p:spPr>
        <p:txBody>
          <a:bodyPr wrap="square">
            <a:spAutoFit/>
          </a:bodyPr>
          <a:lstStyle/>
          <a:p>
            <a:pPr algn="l"/>
            <a:r>
              <a:rPr sz="850" b="0" i="0">
                <a:solidFill>
                  <a:srgbClr val="555555"/>
                </a:solidFill>
                <a:latin typeface="Calibri"/>
              </a:rPr>
              <a:t>Donnees de synthese non disponibles pour Tesla, Inc.. Relancer l'analyse pour obtenir la these complete.</a:t>
            </a:r>
          </a:p>
        </p:txBody>
      </p:sp>
      <p:sp>
        <p:nvSpPr>
          <p:cNvPr id="31" name="Rectangle 30"/>
          <p:cNvSpPr/>
          <p:nvPr/>
        </p:nvSpPr>
        <p:spPr>
          <a:xfrm>
            <a:off x="3311999" y="2142000"/>
            <a:ext cx="26640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366000" y="2160000"/>
            <a:ext cx="2592000" cy="144000"/>
          </a:xfrm>
          <a:prstGeom prst="rect">
            <a:avLst/>
          </a:prstGeom>
          <a:noFill/>
        </p:spPr>
        <p:txBody>
          <a:bodyPr wrap="square">
            <a:spAutoFit/>
          </a:bodyPr>
          <a:lstStyle/>
          <a:p>
            <a:pPr algn="l"/>
            <a:r>
              <a:rPr sz="750" b="1" i="0">
                <a:solidFill>
                  <a:srgbClr val="FFFFFF"/>
                </a:solidFill>
                <a:latin typeface="Calibri"/>
              </a:rPr>
              <a:t>CATALYSEURS BULLS</a:t>
            </a:r>
          </a:p>
        </p:txBody>
      </p:sp>
      <p:sp>
        <p:nvSpPr>
          <p:cNvPr id="33" name="TextBox 32"/>
          <p:cNvSpPr txBox="1"/>
          <p:nvPr/>
        </p:nvSpPr>
        <p:spPr>
          <a:xfrm>
            <a:off x="3401999" y="2358000"/>
            <a:ext cx="2556000" cy="162000"/>
          </a:xfrm>
          <a:prstGeom prst="rect">
            <a:avLst/>
          </a:prstGeom>
          <a:noFill/>
        </p:spPr>
        <p:txBody>
          <a:bodyPr wrap="none">
            <a:spAutoFit/>
          </a:bodyPr>
          <a:lstStyle/>
          <a:p>
            <a:pPr algn="l"/>
            <a:r>
              <a:rPr sz="700" b="0" i="0">
                <a:solidFill>
                  <a:srgbClr val="555555"/>
                </a:solidFill>
                <a:latin typeface="Calibri"/>
              </a:rPr>
              <a:t>• N/D</a:t>
            </a:r>
          </a:p>
        </p:txBody>
      </p:sp>
      <p:sp>
        <p:nvSpPr>
          <p:cNvPr id="34" name="Rectangle 33"/>
          <p:cNvSpPr/>
          <p:nvPr/>
        </p:nvSpPr>
        <p:spPr>
          <a:xfrm>
            <a:off x="6120000" y="2142000"/>
            <a:ext cx="24480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56000" y="2160000"/>
            <a:ext cx="2376000" cy="144000"/>
          </a:xfrm>
          <a:prstGeom prst="rect">
            <a:avLst/>
          </a:prstGeom>
          <a:noFill/>
        </p:spPr>
        <p:txBody>
          <a:bodyPr wrap="square">
            <a:spAutoFit/>
          </a:bodyPr>
          <a:lstStyle/>
          <a:p>
            <a:pPr algn="l"/>
            <a:r>
              <a:rPr sz="750" b="1" i="0">
                <a:solidFill>
                  <a:srgbClr val="FFFFFF"/>
                </a:solidFill>
                <a:latin typeface="Calibri"/>
              </a:rPr>
              <a:t>RISQUES BEARS</a:t>
            </a:r>
          </a:p>
        </p:txBody>
      </p:sp>
      <p:sp>
        <p:nvSpPr>
          <p:cNvPr id="36" name="TextBox 35"/>
          <p:cNvSpPr txBox="1"/>
          <p:nvPr/>
        </p:nvSpPr>
        <p:spPr>
          <a:xfrm>
            <a:off x="6156000" y="2358000"/>
            <a:ext cx="2376000" cy="162000"/>
          </a:xfrm>
          <a:prstGeom prst="rect">
            <a:avLst/>
          </a:prstGeom>
          <a:noFill/>
        </p:spPr>
        <p:txBody>
          <a:bodyPr wrap="none">
            <a:spAutoFit/>
          </a:bodyPr>
          <a:lstStyle/>
          <a:p>
            <a:pPr algn="l"/>
            <a:r>
              <a:rPr sz="700" b="0" i="0">
                <a:solidFill>
                  <a:srgbClr val="555555"/>
                </a:solidFill>
                <a:latin typeface="Calibri"/>
              </a:rPr>
              <a:t>• N/D</a:t>
            </a:r>
          </a:p>
        </p:txBody>
      </p:sp>
      <p:sp>
        <p:nvSpPr>
          <p:cNvPr id="37" name="TextBox 36"/>
          <p:cNvSpPr txBox="1"/>
          <p:nvPr/>
        </p:nvSpPr>
        <p:spPr>
          <a:xfrm>
            <a:off x="324000" y="4752000"/>
            <a:ext cx="8496000" cy="162000"/>
          </a:xfrm>
          <a:prstGeom prst="rect">
            <a:avLst/>
          </a:prstGeom>
          <a:noFill/>
        </p:spPr>
        <p:txBody>
          <a:bodyPr wrap="square">
            <a:spAutoFit/>
          </a:bodyPr>
          <a:lstStyle/>
          <a:p>
            <a:pPr algn="l"/>
            <a:r>
              <a:rPr sz="700" b="0" i="0">
                <a:solidFill>
                  <a:srgbClr val="555555"/>
                </a:solidFill>
                <a:latin typeface="Calibri"/>
              </a:rPr>
              <a:t>FinSight IA genere cette analyse a un instant T. Pour le suivi dans le temps, comparer les rapports successifs. La conviction reflete les donnees disponibles a la date d'analyse.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