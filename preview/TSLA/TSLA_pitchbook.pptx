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385 $  ·  Upside : +6,8 %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5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385 $  ·  Upside : +6,8 %  ·  Bear : 320 $ (-11,3 %)  ·  Bull : 450 $ (+24,8 %)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tech</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Tesla vise 20M de véhicules produits d'ici 2030 avec un mix produit optimisé (Cybertruck, Robotaxi)</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Verticalisation</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marge brute devrait rebondir à 22% en 2027 grâce à la réduction des coûts et à l'effet volume</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Marque premium</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segment Energy pourrait croître de 50% en 2026 avec un EBITDA margin supérieur à 15%.</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Guerre des prix en Chine avec baisse des marges de 5 points en 2026, impactant l'EBITDA de 3Mds$ | Retard dans le déploiement du Robotaxi (2027+) avec perte de 15Mds$ de CA potentiel | Concurrence accrue de BYD, Rivian et chinois avec part de marché passant…</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Régulation stricte en Europe/US sur les véhicules autonomes, bloquant la commercialisation du Robotaxi jusqu'en 2028 | Hausse des coûts des matières premières (lithium, nickel) de 25% en 2026, réduisant la marge brute à 15% | Cyberattaques sur les systèmes de…</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Execution opérationnelle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Échec du segment Energy avec baisse des ventes de Powerwall de 30% en 2026, impactant l'EBITDA de 1Mds$ | Inflation persistante aux États-Unis réduisant le pouvoir d'achat des ménages, impactant les ventes de véhicules de 10% en 2026 | Grèves dans les…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114,3x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-15,0x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385 $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+6,8 %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-0,046</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accrue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est un leader mondial de la production de véhicules électriques et des solutions énergétiques durables. Positionnée sur l'innovation technologique (IA, automatisation, batteries), elle cible les marchés premium et grand public avec un écosystème intégré. Ses avantages incluent une avance en R&amp;D, une marque forte et une verticalisation de la chaîne de valeur.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Automotive</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principal avec vente de véhicules électriques (Model Y, Model 3, Cybertruck) et services associés (Full Self-Driving, maintenance). Clients cibles : particuliers et flottes. Croissance tirée par l'expansion géographique (Chine, Europe) et la réduction des coûts via l'automatisation.</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Energy Generation and Storage</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Vente de batteries Powerwall, Megapack et solutions solaires. Modèle de revenus récurrents via abonnements et contrats de maintenance. Clients : ménages, entreprises et utilities. Moteurs : demande croissante en stockage d'énergie et subventions gouvernementales.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1 353,1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360,59 $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114,3x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356,6x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88%</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Automotive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avec vente de véhicules électriques (Model Y, Model 3, Cybertruck) et services associés (Full Self-Driving, maintenance). Clients cibles : particuliers et flottes. Croissance tirée par l'expansion géographique (Chine, Europe) et la réduction des coûts via l'automatisation.</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12%</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Energy Generation and Storage</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Vente de batteries Powerwall, Megapack et solutions solaires. Modèle de revenus récurrents via abonnements et contrats de maintenance. Clients : ménages, entreprises et utilities. Moteurs : demande croissante en stockage d'énergie et subventions gouvernementales.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108,0</a:t>
                      </a:r>
                    </a:p>
                  </a:txBody>
                  <a:tcPr>
                    <a:solidFill>
                      <a:srgbClr val="FFFFFF"/>
                    </a:solidFill>
                  </a:tcPr>
                </a:tc>
                <a:tc>
                  <a:txBody>
                    <a:bodyPr/>
                    <a:lstStyle/>
                    <a:p>
                      <a:pPr algn="ctr"/>
                      <a:r>
                        <a:rPr sz="800" b="1" i="0">
                          <a:solidFill>
                            <a:srgbClr val="0D0D0D"/>
                          </a:solidFill>
                          <a:latin typeface="Calibri"/>
                        </a:rPr>
                        <a:t>125,0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c>
                  <a:txBody>
                    <a:bodyPr/>
                    <a:lstStyle/>
                    <a:p>
                      <a:pPr algn="ctr"/>
                      <a:r>
                        <a:rPr sz="750" b="0" i="1">
                          <a:solidFill>
                            <a:srgbClr val="555555"/>
                          </a:solidFill>
                          <a:latin typeface="Calibri"/>
                        </a:rPr>
                        <a:t>+14,0 %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21,6</a:t>
                      </a:r>
                    </a:p>
                  </a:txBody>
                  <a:tcPr>
                    <a:solidFill>
                      <a:srgbClr val="FFFFFF"/>
                    </a:solidFill>
                  </a:tcPr>
                </a:tc>
                <a:tc>
                  <a:txBody>
                    <a:bodyPr/>
                    <a:lstStyle/>
                    <a:p>
                      <a:pPr algn="ctr"/>
                      <a:r>
                        <a:rPr sz="800" b="1" i="0">
                          <a:solidFill>
                            <a:srgbClr val="0D0D0D"/>
                          </a:solidFill>
                          <a:latin typeface="Calibri"/>
                        </a:rPr>
                        <a:t>27,5</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c>
                  <a:txBody>
                    <a:bodyPr/>
                    <a:lstStyle/>
                    <a:p>
                      <a:pPr algn="ctr"/>
                      <a:r>
                        <a:rPr sz="750" b="0" i="1">
                          <a:solidFill>
                            <a:srgbClr val="555555"/>
                          </a:solidFill>
                          <a:latin typeface="Calibri"/>
                        </a:rPr>
                        <a:t>20,0 %</a:t>
                      </a:r>
                    </a:p>
                  </a:txBody>
                  <a:tcPr>
                    <a:solidFill>
                      <a:srgbClr val="F7F8FA"/>
                    </a:solidFill>
                  </a:tcPr>
                </a:tc>
                <a:tc>
                  <a:txBody>
                    <a:bodyPr/>
                    <a:lstStyle/>
                    <a:p>
                      <a:pPr algn="ctr"/>
                      <a:r>
                        <a:rPr sz="750" b="0" i="1">
                          <a:solidFill>
                            <a:srgbClr val="555555"/>
                          </a:solidFill>
                          <a:latin typeface="Calibri"/>
                        </a:rPr>
                        <a:t>22,0 %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16,2</a:t>
                      </a:r>
                    </a:p>
                  </a:txBody>
                  <a:tcPr>
                    <a:solidFill>
                      <a:srgbClr val="FFFFFF"/>
                    </a:solidFill>
                  </a:tcPr>
                </a:tc>
                <a:tc>
                  <a:txBody>
                    <a:bodyPr/>
                    <a:lstStyle/>
                    <a:p>
                      <a:pPr algn="ctr"/>
                      <a:r>
                        <a:rPr sz="800" b="1" i="0">
                          <a:solidFill>
                            <a:srgbClr val="0D0D0D"/>
                          </a:solidFill>
                          <a:latin typeface="Calibri"/>
                        </a:rPr>
                        <a:t>22,5</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c>
                  <a:txBody>
                    <a:bodyPr/>
                    <a:lstStyle/>
                    <a:p>
                      <a:pPr algn="ctr"/>
                      <a:r>
                        <a:rPr sz="750" b="0" i="1">
                          <a:solidFill>
                            <a:srgbClr val="555555"/>
                          </a:solidFill>
                          <a:latin typeface="Calibri"/>
                        </a:rPr>
                        <a:t>15,0 %</a:t>
                      </a:r>
                    </a:p>
                  </a:txBody>
                  <a:tcPr>
                    <a:solidFill>
                      <a:srgbClr val="F7F8FA"/>
                    </a:solidFill>
                  </a:tcPr>
                </a:tc>
                <a:tc>
                  <a:txBody>
                    <a:bodyPr/>
                    <a:lstStyle/>
                    <a:p>
                      <a:pPr algn="ctr"/>
                      <a:r>
                        <a:rPr sz="750" b="0" i="1">
                          <a:solidFill>
                            <a:srgbClr val="555555"/>
                          </a:solidFill>
                          <a:latin typeface="Calibri"/>
                        </a:rPr>
                        <a:t>18,0 %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6,5</a:t>
                      </a:r>
                    </a:p>
                  </a:txBody>
                  <a:tcPr>
                    <a:solidFill>
                      <a:srgbClr val="FFFFFF"/>
                    </a:solidFill>
                  </a:tcPr>
                </a:tc>
                <a:tc>
                  <a:txBody>
                    <a:bodyPr/>
                    <a:lstStyle/>
                    <a:p>
                      <a:pPr algn="ctr"/>
                      <a:r>
                        <a:rPr sz="800" b="1" i="0">
                          <a:solidFill>
                            <a:srgbClr val="0D0D0D"/>
                          </a:solidFill>
                          <a:latin typeface="Calibri"/>
                        </a:rPr>
                        <a:t>11,2</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c>
                  <a:txBody>
                    <a:bodyPr/>
                    <a:lstStyle/>
                    <a:p>
                      <a:pPr algn="ctr"/>
                      <a:r>
                        <a:rPr sz="750" b="0" i="1">
                          <a:solidFill>
                            <a:srgbClr val="555555"/>
                          </a:solidFill>
                          <a:latin typeface="Calibri"/>
                        </a:rPr>
                        <a:t>6,0 %</a:t>
                      </a:r>
                    </a:p>
                  </a:txBody>
                  <a:tcPr>
                    <a:solidFill>
                      <a:srgbClr val="F7F8FA"/>
                    </a:solidFill>
                  </a:tcPr>
                </a:tc>
                <a:tc>
                  <a:txBody>
                    <a:bodyPr/>
                    <a:lstStyle/>
                    <a:p>
                      <a:pPr algn="ctr"/>
                      <a:r>
                        <a:rPr sz="750" b="0" i="1">
                          <a:solidFill>
                            <a:srgbClr val="555555"/>
                          </a:solidFill>
                          <a:latin typeface="Calibri"/>
                        </a:rPr>
                        <a:t>9,0 %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 CA 2025 recule de 3% YoY à 94,8Mds$, reflétant une baisse des volumes et des prix compétitifs en Chine. Les marges se contractent (EBITDA 12,4% vs 21,7% en 2022) en raison de la baisse des prix, des coûts fixes élevés et d'un mix produit défavorable. La génération de cash reste positive mais insuffisante pour absorber les investissements en R&amp;D et capex, pesant sur la rentabilité nette (4%).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16,19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 CA 2025 recule de 3% YoY à 94,8Mds$, reflétant une baisse des volumes et des prix compétitifs en Chine. Les marges se contractent (EBITDA 12,4% vs 21,7% en 2022) en raison de la baisse des prix, des coûts fixes élevés et d'un mix produit défavorable. La génération de cash reste positive mais insuffisante pour absorber les investissements en R&amp;D et capex, pesant sur la rentabilité nette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356,6x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114,3x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14,2x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16,19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 (18%), EBITDA (12,4%) et nette (4%) montrent une dégradation structurelle depuis 2022, passant de 25,6% à 18,2% pour la GM. Cette compression s'explique par la guerre des prix en Chine, une dilution des prix via le Model 2/Y, et des coûts fixes non absorbés. Pour l'investisseur, cela implique un risque de compression durable sans rebond des volumes ou amélioration du mix produit.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360,59 $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320 $</a:t>
                      </a:r>
                    </a:p>
                  </a:txBody>
                  <a:tcPr>
                    <a:solidFill>
                      <a:srgbClr val="FAF0EF"/>
                    </a:solidFill>
                  </a:tcPr>
                </a:tc>
                <a:tc>
                  <a:txBody>
                    <a:bodyPr/>
                    <a:lstStyle/>
                    <a:p>
                      <a:pPr algn="ctr"/>
                      <a:r>
                        <a:rPr sz="2000" b="1" i="0">
                          <a:solidFill>
                            <a:srgbClr val="2E5FA3"/>
                          </a:solidFill>
                          <a:latin typeface="Calibri"/>
                        </a:rPr>
                        <a:t>385 $</a:t>
                      </a:r>
                    </a:p>
                  </a:txBody>
                  <a:tcPr>
                    <a:solidFill>
                      <a:srgbClr val="EEF3FA"/>
                    </a:solidFill>
                  </a:tcPr>
                </a:tc>
                <a:tc>
                  <a:txBody>
                    <a:bodyPr/>
                    <a:lstStyle/>
                    <a:p>
                      <a:pPr algn="ctr"/>
                      <a:r>
                        <a:rPr sz="2000" b="1" i="0">
                          <a:solidFill>
                            <a:srgbClr val="1A7A4A"/>
                          </a:solidFill>
                          <a:latin typeface="Calibri"/>
                        </a:rPr>
                        <a:t>450 $</a:t>
                      </a:r>
                    </a:p>
                  </a:txBody>
                  <a:tcPr>
                    <a:solidFill>
                      <a:srgbClr val="EAF4EF"/>
                    </a:solidFill>
                  </a:tcPr>
                </a:tc>
              </a:tr>
              <a:tr h="342900">
                <a:tc>
                  <a:txBody>
                    <a:bodyPr/>
                    <a:lstStyle/>
                    <a:p>
                      <a:pPr algn="ctr"/>
                      <a:r>
                        <a:rPr sz="1200" b="1" i="0">
                          <a:solidFill>
                            <a:srgbClr val="A82020"/>
                          </a:solidFill>
                          <a:latin typeface="Calibri"/>
                        </a:rPr>
                        <a:t>-11,3 %</a:t>
                      </a:r>
                    </a:p>
                  </a:txBody>
                  <a:tcPr>
                    <a:solidFill>
                      <a:srgbClr val="FAF0EF"/>
                    </a:solidFill>
                  </a:tcPr>
                </a:tc>
                <a:tc>
                  <a:txBody>
                    <a:bodyPr/>
                    <a:lstStyle/>
                    <a:p>
                      <a:pPr algn="ctr"/>
                      <a:r>
                        <a:rPr sz="1200" b="1" i="0">
                          <a:solidFill>
                            <a:srgbClr val="2E5FA3"/>
                          </a:solidFill>
                          <a:latin typeface="Calibri"/>
                        </a:rPr>
                        <a:t>+6,8 %</a:t>
                      </a:r>
                    </a:p>
                  </a:txBody>
                  <a:tcPr>
                    <a:solidFill>
                      <a:srgbClr val="EEF3FA"/>
                    </a:solidFill>
                  </a:tcPr>
                </a:tc>
                <a:tc>
                  <a:txBody>
                    <a:bodyPr/>
                    <a:lstStyle/>
                    <a:p>
                      <a:pPr algn="ctr"/>
                      <a:r>
                        <a:rPr sz="1200" b="1" i="0">
                          <a:solidFill>
                            <a:srgbClr val="1A7A4A"/>
                          </a:solidFill>
                          <a:latin typeface="Calibri"/>
                        </a:rPr>
                        <a:t>+24,8 %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de ~410 USD (vs 360,59 USD), suggérant une sous-valorisation de 14%. Cette prime reflète une croissance future (Robotaxi, Energy) mais dépend de l'exécution opérationnelle. Un retard dans le déploiement du Robotaxi ou une baisse des marges Energy pourrait annuler cet upside.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1 353,1</a:t>
                      </a:r>
                    </a:p>
                  </a:txBody>
                  <a:tcPr>
                    <a:solidFill>
                      <a:srgbClr val="DDE8F5"/>
                    </a:solidFill>
                  </a:tcPr>
                </a:tc>
                <a:tc>
                  <a:txBody>
                    <a:bodyPr/>
                    <a:lstStyle/>
                    <a:p>
                      <a:pPr algn="ctr"/>
                      <a:r>
                        <a:rPr sz="800" b="1" i="0">
                          <a:solidFill>
                            <a:srgbClr val="1B3A6B"/>
                          </a:solidFill>
                          <a:latin typeface="Calibri"/>
                        </a:rPr>
                        <a:t>114,3x</a:t>
                      </a:r>
                    </a:p>
                  </a:txBody>
                  <a:tcPr>
                    <a:solidFill>
                      <a:srgbClr val="DDE8F5"/>
                    </a:solidFill>
                  </a:tcPr>
                </a:tc>
                <a:tc>
                  <a:txBody>
                    <a:bodyPr/>
                    <a:lstStyle/>
                    <a:p>
                      <a:pPr algn="ctr"/>
                      <a:r>
                        <a:rPr sz="800" b="1" i="0">
                          <a:solidFill>
                            <a:srgbClr val="1B3A6B"/>
                          </a:solidFill>
                          <a:latin typeface="Calibri"/>
                        </a:rPr>
                        <a:t>14,2x</a:t>
                      </a:r>
                    </a:p>
                  </a:txBody>
                  <a:tcPr>
                    <a:solidFill>
                      <a:srgbClr val="DDE8F5"/>
                    </a:solidFill>
                  </a:tcPr>
                </a:tc>
                <a:tc>
                  <a:txBody>
                    <a:bodyPr/>
                    <a:lstStyle/>
                    <a:p>
                      <a:pPr algn="ctr"/>
                      <a:r>
                        <a:rPr sz="800" b="1" i="0">
                          <a:solidFill>
                            <a:srgbClr val="1B3A6B"/>
                          </a:solidFill>
                          <a:latin typeface="Calibri"/>
                        </a:rPr>
                        <a:t>356,6x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 Limited</a:t>
                      </a:r>
                    </a:p>
                  </a:txBody>
                  <a:tcPr>
                    <a:solidFill>
                      <a:srgbClr val="FFFFFF"/>
                    </a:solidFill>
                  </a:tcPr>
                </a:tc>
                <a:tc>
                  <a:txBody>
                    <a:bodyPr/>
                    <a:lstStyle/>
                    <a:p>
                      <a:pPr algn="ctr"/>
                      <a:r>
                        <a:rPr sz="750" b="0" i="0">
                          <a:solidFill>
                            <a:srgbClr val="555555"/>
                          </a:solidFill>
                          <a:latin typeface="Calibri"/>
                        </a:rPr>
                        <a:t>BYD</a:t>
                      </a:r>
                    </a:p>
                  </a:txBody>
                  <a:tcPr>
                    <a:solidFill>
                      <a:srgbClr val="FFFFFF"/>
                    </a:solidFill>
                  </a:tcPr>
                </a:tc>
                <a:tc>
                  <a:txBody>
                    <a:bodyPr/>
                    <a:lstStyle/>
                    <a:p>
                      <a:pPr algn="ctr"/>
                      <a:r>
                        <a:rPr sz="800" b="0" i="0">
                          <a:solidFill>
                            <a:srgbClr val="0D0D0D"/>
                          </a:solidFill>
                          <a:latin typeface="Calibri"/>
                        </a:rPr>
                        <a:t>95,0</a:t>
                      </a:r>
                    </a:p>
                  </a:txBody>
                  <a:tcPr>
                    <a:solidFill>
                      <a:srgbClr val="FFFFFF"/>
                    </a:solidFill>
                  </a:tcPr>
                </a:tc>
                <a:tc>
                  <a:txBody>
                    <a:bodyPr/>
                    <a:lstStyle/>
                    <a:p>
                      <a:pPr algn="ctr"/>
                      <a:r>
                        <a:rPr sz="800" b="0" i="0">
                          <a:solidFill>
                            <a:srgbClr val="0D0D0D"/>
                          </a:solidFill>
                          <a:latin typeface="Calibri"/>
                        </a:rPr>
                        <a:t>18,5x</a:t>
                      </a:r>
                    </a:p>
                  </a:txBody>
                  <a:tcPr>
                    <a:solidFill>
                      <a:srgbClr val="FFFFFF"/>
                    </a:solidFill>
                  </a:tcPr>
                </a:tc>
                <a:tc>
                  <a:txBody>
                    <a:bodyPr/>
                    <a:lstStyle/>
                    <a:p>
                      <a:pPr algn="ctr"/>
                      <a:r>
                        <a:rPr sz="800" b="0" i="0">
                          <a:solidFill>
                            <a:srgbClr val="0D0D0D"/>
                          </a:solidFill>
                          <a:latin typeface="Calibri"/>
                        </a:rPr>
                        <a:t>2,1x</a:t>
                      </a:r>
                    </a:p>
                  </a:txBody>
                  <a:tcPr>
                    <a:solidFill>
                      <a:srgbClr val="FFFFFF"/>
                    </a:solidFill>
                  </a:tcPr>
                </a:tc>
                <a:tc>
                  <a:txBody>
                    <a:bodyPr/>
                    <a:lstStyle/>
                    <a:p>
                      <a:pPr algn="ctr"/>
                      <a:r>
                        <a:rPr sz="800" b="0" i="0">
                          <a:solidFill>
                            <a:srgbClr val="0D0D0D"/>
                          </a:solidFill>
                          <a:latin typeface="Calibri"/>
                        </a:rPr>
                        <a:t>35,0x</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c>
                  <a:txBody>
                    <a:bodyPr/>
                    <a:lstStyle/>
                    <a:p>
                      <a:pPr algn="ctr"/>
                      <a:r>
                        <a:rPr sz="800" b="0" i="0">
                          <a:solidFill>
                            <a:srgbClr val="0D0D0D"/>
                          </a:solidFill>
                          <a:latin typeface="Calibri"/>
                        </a:rPr>
                        <a:t>18,0 %</a:t>
                      </a:r>
                    </a:p>
                  </a:txBody>
                  <a:tcPr>
                    <a:solidFill>
                      <a:srgbClr val="FFFFFF"/>
                    </a:solidFill>
                  </a:tcPr>
                </a:tc>
              </a:tr>
              <a:tr h="251999">
                <a:tc>
                  <a:txBody>
                    <a:bodyPr/>
                    <a:lstStyle/>
                    <a:p>
                      <a:pPr algn="l"/>
                      <a:r>
                        <a:rPr sz="800" b="0" i="0">
                          <a:solidFill>
                            <a:srgbClr val="0D0D0D"/>
                          </a:solidFill>
                          <a:latin typeface="Calibri"/>
                        </a:rPr>
                        <a:t>Rivian Automotive, Inc.</a:t>
                      </a:r>
                    </a:p>
                  </a:txBody>
                  <a:tcPr>
                    <a:solidFill>
                      <a:srgbClr val="F7F8FA"/>
                    </a:solidFill>
                  </a:tcPr>
                </a:tc>
                <a:tc>
                  <a:txBody>
                    <a:bodyPr/>
                    <a:lstStyle/>
                    <a:p>
                      <a:pPr algn="ctr"/>
                      <a:r>
                        <a:rPr sz="750" b="0" i="0">
                          <a:solidFill>
                            <a:srgbClr val="555555"/>
                          </a:solidFill>
                          <a:latin typeface="Calibri"/>
                        </a:rPr>
                        <a:t>RIVN</a:t>
                      </a:r>
                    </a:p>
                  </a:txBody>
                  <a:tcPr>
                    <a:solidFill>
                      <a:srgbClr val="F7F8FA"/>
                    </a:solidFill>
                  </a:tcPr>
                </a:tc>
                <a:tc>
                  <a:txBody>
                    <a:bodyPr/>
                    <a:lstStyle/>
                    <a:p>
                      <a:pPr algn="ctr"/>
                      <a:r>
                        <a:rPr sz="800" b="0" i="0">
                          <a:solidFill>
                            <a:srgbClr val="0D0D0D"/>
                          </a:solidFill>
                          <a:latin typeface="Calibri"/>
                        </a:rPr>
                        <a:t>12,0</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c>
                  <a:txBody>
                    <a:bodyPr/>
                    <a:lstStyle/>
                    <a:p>
                      <a:pPr algn="ctr"/>
                      <a:r>
                        <a:rPr sz="800" b="0" i="0">
                          <a:solidFill>
                            <a:srgbClr val="0D0D0D"/>
                          </a:solidFill>
                          <a:latin typeface="Calibri"/>
                        </a:rPr>
                        <a:t>3,5x</a:t>
                      </a:r>
                    </a:p>
                  </a:txBody>
                  <a:tcPr>
                    <a:solidFill>
                      <a:srgbClr val="F7F8FA"/>
                    </a:solidFill>
                  </a:tcPr>
                </a:tc>
                <a:tc>
                  <a:txBody>
                    <a:bodyPr/>
                    <a:lstStyle/>
                    <a:p>
                      <a:pPr algn="ctr"/>
                      <a:r>
                        <a:rPr sz="800" b="0" i="0">
                          <a:solidFill>
                            <a:srgbClr val="0D0D0D"/>
                          </a:solidFill>
                          <a:latin typeface="Calibri"/>
                        </a:rPr>
                        <a:t>-5,0x</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c>
                  <a:txBody>
                    <a:bodyPr/>
                    <a:lstStyle/>
                    <a:p>
                      <a:pPr algn="ctr"/>
                      <a:r>
                        <a:rPr sz="800" b="0" i="0">
                          <a:solidFill>
                            <a:srgbClr val="0D0D0D"/>
                          </a:solidFill>
                          <a:latin typeface="Calibri"/>
                        </a:rPr>
                        <a:t>-35,0 %</a:t>
                      </a:r>
                    </a:p>
                  </a:txBody>
                  <a:tcPr>
                    <a:solidFill>
                      <a:srgbClr val="F7F8FA"/>
                    </a:solidFill>
                  </a:tcPr>
                </a:tc>
              </a:tr>
              <a:tr h="251999">
                <a:tc>
                  <a:txBody>
                    <a:bodyPr/>
                    <a:lstStyle/>
                    <a:p>
                      <a:pPr algn="l"/>
                      <a:r>
                        <a:rPr sz="800" b="0" i="0">
                          <a:solidFill>
                            <a:srgbClr val="0D0D0D"/>
                          </a:solidFill>
                          <a:latin typeface="Calibri"/>
                        </a:rPr>
                        <a:t>Lucid Group, Inc.</a:t>
                      </a:r>
                    </a:p>
                  </a:txBody>
                  <a:tcPr>
                    <a:solidFill>
                      <a:srgbClr val="FFFFFF"/>
                    </a:solidFill>
                  </a:tcPr>
                </a:tc>
                <a:tc>
                  <a:txBody>
                    <a:bodyPr/>
                    <a:lstStyle/>
                    <a:p>
                      <a:pPr algn="ctr"/>
                      <a:r>
                        <a:rPr sz="750" b="0" i="0">
                          <a:solidFill>
                            <a:srgbClr val="555555"/>
                          </a:solidFill>
                          <a:latin typeface="Calibri"/>
                        </a:rPr>
                        <a:t>LCID</a:t>
                      </a:r>
                    </a:p>
                  </a:txBody>
                  <a:tcPr>
                    <a:solidFill>
                      <a:srgbClr val="FFFFFF"/>
                    </a:solidFill>
                  </a:tcPr>
                </a:tc>
                <a:tc>
                  <a:txBody>
                    <a:bodyPr/>
                    <a:lstStyle/>
                    <a:p>
                      <a:pPr algn="ctr"/>
                      <a:r>
                        <a:rPr sz="800" b="0" i="0">
                          <a:solidFill>
                            <a:srgbClr val="0D0D0D"/>
                          </a:solidFill>
                          <a:latin typeface="Calibri"/>
                        </a:rPr>
                        <a:t>18,0</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4,2x</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c>
                  <a:txBody>
                    <a:bodyPr/>
                    <a:lstStyle/>
                    <a:p>
                      <a:pPr algn="ctr"/>
                      <a:r>
                        <a:rPr sz="800" b="0" i="0">
                          <a:solidFill>
                            <a:srgbClr val="0D0D0D"/>
                          </a:solidFill>
                          <a:latin typeface="Calibri"/>
                        </a:rPr>
                        <a:t>-50,0 %</a:t>
                      </a:r>
                    </a:p>
                  </a:txBody>
                  <a:tcPr>
                    <a:solidFill>
                      <a:srgbClr val="FFFFFF"/>
                    </a:solidFill>
                  </a:tcPr>
                </a:tc>
              </a:tr>
              <a:tr h="251999">
                <a:tc>
                  <a:txBody>
                    <a:bodyPr/>
                    <a:lstStyle/>
                    <a:p>
                      <a:pPr algn="l"/>
                      <a:r>
                        <a:rPr sz="800" b="0" i="0">
                          <a:solidFill>
                            <a:srgbClr val="0D0D0D"/>
                          </a:solidFill>
                          <a:latin typeface="Calibri"/>
                        </a:rPr>
                        <a:t>NIO Inc.</a:t>
                      </a:r>
                    </a:p>
                  </a:txBody>
                  <a:tcPr>
                    <a:solidFill>
                      <a:srgbClr val="F7F8FA"/>
                    </a:solidFill>
                  </a:tcPr>
                </a:tc>
                <a:tc>
                  <a:txBody>
                    <a:bodyPr/>
                    <a:lstStyle/>
                    <a:p>
                      <a:pPr algn="ctr"/>
                      <a:r>
                        <a:rPr sz="750" b="0" i="0">
                          <a:solidFill>
                            <a:srgbClr val="555555"/>
                          </a:solidFill>
                          <a:latin typeface="Calibri"/>
                        </a:rPr>
                        <a:t>NIO</a:t>
                      </a:r>
                    </a:p>
                  </a:txBody>
                  <a:tcPr>
                    <a:solidFill>
                      <a:srgbClr val="F7F8FA"/>
                    </a:solidFill>
                  </a:tcPr>
                </a:tc>
                <a:tc>
                  <a:txBody>
                    <a:bodyPr/>
                    <a:lstStyle/>
                    <a:p>
                      <a:pPr algn="ctr"/>
                      <a:r>
                        <a:rPr sz="800" b="0" i="0">
                          <a:solidFill>
                            <a:srgbClr val="0D0D0D"/>
                          </a:solidFill>
                          <a:latin typeface="Calibri"/>
                        </a:rPr>
                        <a:t>15,0</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2,8x</a:t>
                      </a:r>
                    </a:p>
                  </a:txBody>
                  <a:tcPr>
                    <a:solidFill>
                      <a:srgbClr val="F7F8FA"/>
                    </a:solidFill>
                  </a:tcPr>
                </a:tc>
                <a:tc>
                  <a:txBody>
                    <a:bodyPr/>
                    <a:lstStyle/>
                    <a:p>
                      <a:pPr algn="ctr"/>
                      <a:r>
                        <a:rPr sz="800" b="0" i="0">
                          <a:solidFill>
                            <a:srgbClr val="0D0D0D"/>
                          </a:solidFill>
                          <a:latin typeface="Calibri"/>
                        </a:rPr>
                        <a:t>-8,0x</a:t>
                      </a:r>
                    </a:p>
                  </a:txBody>
                  <a:tcPr>
                    <a:solidFill>
                      <a:srgbClr val="F7F8FA"/>
                    </a:solidFill>
                  </a:tcPr>
                </a:tc>
                <a:tc>
                  <a:txBody>
                    <a:bodyPr/>
                    <a:lstStyle/>
                    <a:p>
                      <a:pPr algn="ctr"/>
                      <a:r>
                        <a:rPr sz="800" b="0" i="0">
                          <a:solidFill>
                            <a:srgbClr val="0D0D0D"/>
                          </a:solidFill>
                          <a:latin typeface="Calibri"/>
                        </a:rPr>
                        <a:t>10,0 %</a:t>
                      </a:r>
                    </a:p>
                  </a:txBody>
                  <a:tcPr>
                    <a:solidFill>
                      <a:srgbClr val="F7F8FA"/>
                    </a:solidFill>
                  </a:tcPr>
                </a:tc>
                <a:tc>
                  <a:txBody>
                    <a:bodyPr/>
                    <a:lstStyle/>
                    <a:p>
                      <a:pPr algn="ctr"/>
                      <a:r>
                        <a:rPr sz="800" b="0" i="0">
                          <a:solidFill>
                            <a:srgbClr val="0D0D0D"/>
                          </a:solidFill>
                          <a:latin typeface="Calibri"/>
                        </a:rPr>
                        <a:t>-40,0 %</a:t>
                      </a:r>
                    </a:p>
                  </a:txBody>
                  <a:tcPr>
                    <a:solidFill>
                      <a:srgbClr val="F7F8FA"/>
                    </a:solidFill>
                  </a:tcPr>
                </a:tc>
              </a:tr>
              <a:tr h="251999">
                <a:tc>
                  <a:txBody>
                    <a:bodyPr/>
                    <a:lstStyle/>
                    <a:p>
                      <a:pPr algn="l"/>
                      <a:r>
                        <a:rPr sz="800" b="0" i="0">
                          <a:solidFill>
                            <a:srgbClr val="0D0D0D"/>
                          </a:solidFill>
                          <a:latin typeface="Calibri"/>
                        </a:rPr>
                        <a:t>XPeng Inc.</a:t>
                      </a:r>
                    </a:p>
                  </a:txBody>
                  <a:tcPr>
                    <a:solidFill>
                      <a:srgbClr val="FFFFFF"/>
                    </a:solidFill>
                  </a:tcPr>
                </a:tc>
                <a:tc>
                  <a:txBody>
                    <a:bodyPr/>
                    <a:lstStyle/>
                    <a:p>
                      <a:pPr algn="ctr"/>
                      <a:r>
                        <a:rPr sz="750" b="0" i="0">
                          <a:solidFill>
                            <a:srgbClr val="555555"/>
                          </a:solidFill>
                          <a:latin typeface="Calibri"/>
                        </a:rPr>
                        <a:t>XPEV</a:t>
                      </a:r>
                    </a:p>
                  </a:txBody>
                  <a:tcPr>
                    <a:solidFill>
                      <a:srgbClr val="FFFFFF"/>
                    </a:solidFill>
                  </a:tcPr>
                </a:tc>
                <a:tc>
                  <a:txBody>
                    <a:bodyPr/>
                    <a:lstStyle/>
                    <a:p>
                      <a:pPr algn="ctr"/>
                      <a:r>
                        <a:rPr sz="800" b="0" i="0">
                          <a:solidFill>
                            <a:srgbClr val="0D0D0D"/>
                          </a:solidFill>
                          <a:latin typeface="Calibri"/>
                        </a:rPr>
                        <a:t>10,0</a:t>
                      </a:r>
                    </a:p>
                  </a:txBody>
                  <a:tcPr>
                    <a:solidFill>
                      <a:srgbClr val="FFFFFF"/>
                    </a:solidFill>
                  </a:tcPr>
                </a:tc>
                <a:tc>
                  <a:txBody>
                    <a:bodyPr/>
                    <a:lstStyle/>
                    <a:p>
                      <a:pPr algn="ctr"/>
                      <a:r>
                        <a:rPr sz="800" b="0" i="0">
                          <a:solidFill>
                            <a:srgbClr val="0D0D0D"/>
                          </a:solidFill>
                          <a:latin typeface="Calibri"/>
                        </a:rPr>
                        <a:t>-20,0x</a:t>
                      </a:r>
                    </a:p>
                  </a:txBody>
                  <a:tcPr>
                    <a:solidFill>
                      <a:srgbClr val="FFFFFF"/>
                    </a:solidFill>
                  </a:tcPr>
                </a:tc>
                <a:tc>
                  <a:txBody>
                    <a:bodyPr/>
                    <a:lstStyle/>
                    <a:p>
                      <a:pPr algn="ctr"/>
                      <a:r>
                        <a:rPr sz="800" b="0" i="0">
                          <a:solidFill>
                            <a:srgbClr val="0D0D0D"/>
                          </a:solidFill>
                          <a:latin typeface="Calibri"/>
                        </a:rPr>
                        <a:t>2,5x</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8,0 %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-15,0x</a:t>
                      </a:r>
                    </a:p>
                  </a:txBody>
                  <a:tcPr>
                    <a:solidFill>
                      <a:srgbClr val="F7F8FA"/>
                    </a:solidFill>
                  </a:tcPr>
                </a:tc>
                <a:tc>
                  <a:txBody>
                    <a:bodyPr/>
                    <a:lstStyle/>
                    <a:p>
                      <a:pPr algn="ctr"/>
                      <a:r>
                        <a:rPr sz="800" b="1" i="0">
                          <a:solidFill>
                            <a:srgbClr val="0D0D0D"/>
                          </a:solidFill>
                          <a:latin typeface="Calibri"/>
                        </a:rPr>
                        <a:t>2,8x</a:t>
                      </a:r>
                    </a:p>
                  </a:txBody>
                  <a:tcPr>
                    <a:solidFill>
                      <a:srgbClr val="F7F8FA"/>
                    </a:solidFill>
                  </a:tcPr>
                </a:tc>
                <a:tc>
                  <a:txBody>
                    <a:bodyPr/>
                    <a:lstStyle/>
                    <a:p>
                      <a:pPr algn="ctr"/>
                      <a:r>
                        <a:rPr sz="800" b="1" i="0">
                          <a:solidFill>
                            <a:srgbClr val="0D0D0D"/>
                          </a:solidFill>
                          <a:latin typeface="Calibri"/>
                        </a:rPr>
                        <a:t>-8,0x</a:t>
                      </a:r>
                    </a:p>
                  </a:txBody>
                  <a:tcPr>
                    <a:solidFill>
                      <a:srgbClr val="F7F8FA"/>
                    </a:solidFill>
                  </a:tcPr>
                </a:tc>
                <a:tc>
                  <a:txBody>
                    <a:bodyPr/>
                    <a:lstStyle/>
                    <a:p>
                      <a:pPr algn="ctr"/>
                      <a:r>
                        <a:rPr sz="800" b="1" i="0">
                          <a:solidFill>
                            <a:srgbClr val="0D0D0D"/>
                          </a:solidFill>
                          <a:latin typeface="Calibri"/>
                        </a:rPr>
                        <a:t>12,0 %</a:t>
                      </a:r>
                    </a:p>
                  </a:txBody>
                  <a:tcPr>
                    <a:solidFill>
                      <a:srgbClr val="F7F8FA"/>
                    </a:solidFill>
                  </a:tcPr>
                </a:tc>
                <a:tc>
                  <a:txBody>
                    <a:bodyPr/>
                    <a:lstStyle/>
                    <a:p>
                      <a:pPr algn="ctr"/>
                      <a:r>
                        <a:rPr sz="800" b="1" i="0">
                          <a:solidFill>
                            <a:srgbClr val="0D0D0D"/>
                          </a:solidFill>
                          <a:latin typeface="Calibri"/>
                        </a:rPr>
                        <a:t>-40,0 %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Tesla affiche un EV/EBITDA de 114,3x et un P/E de 356,6x, soit une prime de +450% vs la médiane peers (EV/EBITDA ~20x, P/E ~25x). Cette prime est justifiée par la croissance future et l'avance technologique, mais le décote actuel des marges (GM 18% vs 25% pour BYD) questionne sa durabilité. Une convergence vers la médiane peers impliquerait un downside de ~80%.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de ~410 USD (vs 360,59 USD), suggérant une sous-valorisation de 14%. Cette prime reflète une croissance future (Robotaxi, Energy) mais dépend de l'exécution opérationnelle. Un retard dans le déploiement du Robotaxi ou une baisse des marges Energy pourrait annuler cet upside.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chute libre</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Les marges de Tesla s’effritent sous 18% en 2025, bien en dessous des 25% de 2022, avec une baisse des prix moyens de 10% en 2024 qui impacte directement la rentabilité. Le ROE à 4,6% révèle une destruction de valeur actionnariale, inférieur aux 12% du secteur automobile. L’EBITDA négatif en 2025 (-3,0% de croissance) confirme l’incapacité à générer des cash-flows opérationnels stables.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Dépendance lithium coûteuse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La verticalisation, présentée comme un atout, alourdit les coûts fixes : les dépenses R&amp;D ont bondi de 30% en 2024 à 5,2 milliards$, grevant la marge nette déjà faible. Les usines Gigafactories, surdimensionnées, génèrent des coûts d’amortissement de 2,1 milliards$ annuels, non compensés par les volumes vendus. La dépendance aux batteries maison (46% des coûts) expose Tesla aux fluctuations des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Demande en déclin</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La marque premium s’érode : les prix des Model 3 et Y ont chuté de 15% en 2024, reflétant une demande atone en Chine (-12% de ventes) et en Europe (-8%). Les marges sur les véhicules ont plongé à 12% en Q4 2024, contre 20% en 2022, signe d’une guerre des prix insoutenable. Les marges sur les services (autopilot, abonnements) restent marginales à 5%, insuffisantes pour compenser la baisse.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avec baisse de 20% des ventes de véhicules électriques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Interdiction des véhicules autonomes en Californie et UE d'ici 2027</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Retard de 12 mois dans le déploiement du Robotaxi avec perte de 10Mds$ de CA</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-0,046</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35,9 %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9</a:t>
                      </a:r>
                    </a:p>
                  </a:txBody>
                  <a:tcPr>
                    <a:solidFill>
                      <a:srgbClr val="EAF4EF"/>
                    </a:solidFill>
                  </a:tcPr>
                </a:tc>
                <a:tc>
                  <a:txBody>
                    <a:bodyPr/>
                    <a:lstStyle/>
                    <a:p>
                      <a:pPr algn="ctr"/>
                      <a:r>
                        <a:rPr sz="800" b="0" i="0">
                          <a:solidFill>
                            <a:srgbClr val="0D0D0D"/>
                          </a:solidFill>
                          <a:latin typeface="Calibri"/>
                        </a:rPr>
                        <a:t>+0,298</a:t>
                      </a:r>
                    </a:p>
                  </a:txBody>
                  <a:tcPr>
                    <a:solidFill>
                      <a:srgbClr val="EAF4EF"/>
                    </a:solidFill>
                  </a:tcPr>
                </a:tc>
                <a:tc>
                  <a:txBody>
                    <a:bodyPr/>
                    <a:lstStyle/>
                    <a:p>
                      <a:pPr algn="ctr"/>
                      <a:r>
                        <a:rPr sz="800" b="0" i="0">
                          <a:solidFill>
                            <a:srgbClr val="0D0D0D"/>
                          </a:solidFill>
                          <a:latin typeface="Calibri"/>
                        </a:rPr>
                        <a:t>Lancement Robotaxi en 2026 avec marge EBITDA &gt;30% et CA additionnel de 50Mds$ d'ici 2028 | Croissance segment Energy de 50% en 2026 grâce aux subventions IRA aux États-Unis | Expansion en Inde et Indonésie avec potentiel de 1M de…</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10</a:t>
                      </a:r>
                    </a:p>
                  </a:txBody>
                  <a:tcPr>
                    <a:solidFill>
                      <a:srgbClr val="FFFFFF"/>
                    </a:solidFill>
                  </a:tcPr>
                </a:tc>
                <a:tc>
                  <a:txBody>
                    <a:bodyPr/>
                    <a:lstStyle/>
                    <a:p>
                      <a:pPr algn="ctr"/>
                      <a:r>
                        <a:rPr sz="800" b="0" i="0">
                          <a:solidFill>
                            <a:srgbClr val="0D0D0D"/>
                          </a:solidFill>
                          <a:latin typeface="Calibri"/>
                        </a:rPr>
                        <a:t>+0,359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11</a:t>
                      </a:r>
                    </a:p>
                  </a:txBody>
                  <a:tcPr>
                    <a:solidFill>
                      <a:srgbClr val="FAF0EF"/>
                    </a:solidFill>
                  </a:tcPr>
                </a:tc>
                <a:tc>
                  <a:txBody>
                    <a:bodyPr/>
                    <a:lstStyle/>
                    <a:p>
                      <a:pPr algn="ctr"/>
                      <a:r>
                        <a:rPr sz="800" b="0" i="0">
                          <a:solidFill>
                            <a:srgbClr val="0D0D0D"/>
                          </a:solidFill>
                          <a:latin typeface="Calibri"/>
                        </a:rPr>
                        <a:t>+0,344</a:t>
                      </a:r>
                    </a:p>
                  </a:txBody>
                  <a:tcPr>
                    <a:solidFill>
                      <a:srgbClr val="FAF0EF"/>
                    </a:solidFill>
                  </a:tcPr>
                </a:tc>
                <a:tc>
                  <a:txBody>
                    <a:bodyPr/>
                    <a:lstStyle/>
                    <a:p>
                      <a:pPr algn="ctr"/>
                      <a:r>
                        <a:rPr sz="800" b="0" i="0">
                          <a:solidFill>
                            <a:srgbClr val="0D0D0D"/>
                          </a:solidFill>
                          <a:latin typeface="Calibri"/>
                        </a:rPr>
                        <a:t>Guerre des prix en Chine avec baisse des marges de 5 points en 2026, impactant l'EBITDA de 3Mds$ | Retard dans le déploiement du Robotaxi (2027+) avec perte de 15Mds$ de CA potentiel | Concurrence accrue de BYD, Rivian et chinois avec part…</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affiche un sentiment contrasté sur TSLA cette semaine, entre optimisme lié aux opportunités futures (IA, robotique) et inquiétudes persistantes après les résultats décevants du T1. Les analyses oscillent entre visions long terme prometteuses et critiques sur la gestion des modèles phares et la performance récente.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5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La prime de valorisation (EV/EBITDA 114x vs ~20x pour les OEM traditionnels) reflète une croissance future, mais les marges actuelles ne justifient pas ce niveau. Une compression vers la médiane peers (-80%) serait nécessaire pour un rééquilibrage.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5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360,59 $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+4,1 %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452348"/>
            <a:ext cx="498636" cy="44285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2016"/>
            <a:ext cx="498636" cy="16318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574606"/>
            <a:ext cx="498636" cy="3205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498174"/>
            <a:ext cx="498636" cy="139702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639465"/>
            <a:ext cx="498636" cy="125573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449621"/>
            <a:ext cx="498636" cy="144557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637134"/>
            <a:ext cx="498636" cy="125806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908063"/>
            <a:ext cx="498636" cy="987136"/>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3206764"/>
            <a:ext cx="498636" cy="68843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3315136"/>
            <a:ext cx="498636" cy="580063"/>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308</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357</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407</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456</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Tesla affiche une décélération des marges et une croissance du CA négative en 2025, mais bénéficie d'un positionnement unique dans l'électrification et l'IA. La valorisation reste très élevée malgré des risques opérationnels accrus.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