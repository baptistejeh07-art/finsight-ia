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342,9x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109,9x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 $</a:t>
                      </a:r>
                    </a:p>
                  </a:txBody>
                  <a:tcPr>
                    <a:solidFill>
                      <a:srgbClr val="FFFFFF"/>
                    </a:solidFill>
                  </a:tcPr>
                </a:tc>
                <a:tc>
                  <a:txBody>
                    <a:bodyPr/>
                    <a:lstStyle/>
                    <a:p>
                      <a:pPr algn="ctr"/>
                      <a:r>
                        <a:rPr sz="800" b="0" i="0">
                          <a:solidFill>
                            <a:srgbClr val="0D0D0D"/>
                          </a:solidFill>
                          <a:latin typeface="Calibri"/>
                        </a:rPr>
                        <a:t>Upside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+0,335</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(TSLA) opere dans le secteur Consumer Cyclical.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1 300,8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346,65 $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109,9x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342,9x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15,62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15,62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346,65 $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DCF — 9 972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 / action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-96,4 %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-93,1 %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-84,6 %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1 300,8</a:t>
                      </a:r>
                    </a:p>
                  </a:txBody>
                  <a:tcPr>
                    <a:solidFill>
                      <a:srgbClr val="DDE8F5"/>
                    </a:solidFill>
                  </a:tcPr>
                </a:tc>
                <a:tc>
                  <a:txBody>
                    <a:bodyPr/>
                    <a:lstStyle/>
                    <a:p>
                      <a:pPr algn="ctr"/>
                      <a:r>
                        <a:rPr sz="800" b="1" i="0">
                          <a:solidFill>
                            <a:srgbClr val="1B3A6B"/>
                          </a:solidFill>
                          <a:latin typeface="Calibri"/>
                        </a:rPr>
                        <a:t>109,9x</a:t>
                      </a:r>
                    </a:p>
                  </a:txBody>
                  <a:tcPr>
                    <a:solidFill>
                      <a:srgbClr val="DDE8F5"/>
                    </a:solidFill>
                  </a:tcPr>
                </a:tc>
                <a:tc>
                  <a:txBody>
                    <a:bodyPr/>
                    <a:lstStyle/>
                    <a:p>
                      <a:pPr algn="ctr"/>
                      <a:r>
                        <a:rPr sz="800" b="1" i="0">
                          <a:solidFill>
                            <a:srgbClr val="1B3A6B"/>
                          </a:solidFill>
                          <a:latin typeface="Calibri"/>
                        </a:rPr>
                        <a:t>13,6x</a:t>
                      </a:r>
                    </a:p>
                  </a:txBody>
                  <a:tcPr>
                    <a:solidFill>
                      <a:srgbClr val="DDE8F5"/>
                    </a:solidFill>
                  </a:tcPr>
                </a:tc>
                <a:tc>
                  <a:txBody>
                    <a:bodyPr/>
                    <a:lstStyle/>
                    <a:p>
                      <a:pPr algn="ctr"/>
                      <a:r>
                        <a:rPr sz="800" b="1" i="0">
                          <a:solidFill>
                            <a:srgbClr val="1B3A6B"/>
                          </a:solidFill>
                          <a:latin typeface="Calibri"/>
                        </a:rPr>
                        <a:t>342,9x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(346,65)</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346,65</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342,9x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612000"/>
          </a:xfrm>
          <a:prstGeom prst="rect">
            <a:avLst/>
          </a:prstGeom>
          <a:noFill/>
        </p:spPr>
        <p:txBody>
          <a:bodyPr wrap="square">
            <a:spAutoFit/>
          </a:bodyPr>
          <a:lstStyle/>
          <a:p>
            <a:pPr algn="l"/>
            <a:r>
              <a:rPr sz="850" b="0" i="0">
                <a:solidFill>
                  <a:srgbClr val="555555"/>
                </a:solidFill>
                <a:latin typeface="Calibri"/>
              </a:rPr>
              <a:t>Le P/E affiche une expansion multiple de 239.5x sur la période (103,4x → 342,9x), signal d’une réévaluation favorable du profil de croissance. L’EV/EBITDA diverge à 109,9x vs 72,9x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540000"/>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+0,335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54,6 %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19</a:t>
                      </a:r>
                    </a:p>
                  </a:txBody>
                  <a:tcPr>
                    <a:solidFill>
                      <a:srgbClr val="EAF4EF"/>
                    </a:solidFill>
                  </a:tcPr>
                </a:tc>
                <a:tc>
                  <a:txBody>
                    <a:bodyPr/>
                    <a:lstStyle/>
                    <a:p>
                      <a:pPr algn="ctr"/>
                      <a:r>
                        <a:rPr sz="800" b="0" i="0">
                          <a:solidFill>
                            <a:srgbClr val="0D0D0D"/>
                          </a:solidFill>
                          <a:latin typeface="Calibri"/>
                        </a:rPr>
                        <a:t>+0,546</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5</a:t>
                      </a:r>
                    </a:p>
                  </a:txBody>
                  <a:tcPr>
                    <a:solidFill>
                      <a:srgbClr val="FFFFFF"/>
                    </a:solidFill>
                  </a:tcPr>
                </a:tc>
                <a:tc>
                  <a:txBody>
                    <a:bodyPr/>
                    <a:lstStyle/>
                    <a:p>
                      <a:pPr algn="ctr"/>
                      <a:r>
                        <a:rPr sz="800" b="0" i="0">
                          <a:solidFill>
                            <a:srgbClr val="0D0D0D"/>
                          </a:solidFill>
                          <a:latin typeface="Calibri"/>
                        </a:rPr>
                        <a:t>+0,243</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+0,211</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Tesla cette semaine, portée par des partenariats stratégiques et des prévisions de livraisons record. Cependant, les tensions géopolitiques et les défis logistiques pèsent sur le sentiment global.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346,65 $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8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Donnees de synthese non disponibles pour Tesla, Inc.. Relancer l'analyse pour obtenir la these complete.</a:t>
            </a:r>
          </a:p>
        </p:txBody>
      </p:sp>
      <p:sp>
        <p:nvSpPr>
          <p:cNvPr id="30" name="Rectangle 29"/>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2" name="TextBox 31"/>
          <p:cNvSpPr txBox="1"/>
          <p:nvPr/>
        </p:nvSpPr>
        <p:spPr>
          <a:xfrm>
            <a:off x="3401999" y="2358000"/>
            <a:ext cx="2556000" cy="234000"/>
          </a:xfrm>
          <a:prstGeom prst="rect">
            <a:avLst/>
          </a:prstGeom>
          <a:noFill/>
        </p:spPr>
        <p:txBody>
          <a:bodyPr wrap="square">
            <a:spAutoFit/>
          </a:bodyPr>
          <a:lstStyle/>
          <a:p>
            <a:pPr algn="l"/>
            <a:r>
              <a:rPr sz="700" b="0" i="0">
                <a:solidFill>
                  <a:srgbClr val="555555"/>
                </a:solidFill>
                <a:latin typeface="Calibri"/>
              </a:rPr>
              <a:t>• N/D</a:t>
            </a:r>
          </a:p>
        </p:txBody>
      </p:sp>
      <p:sp>
        <p:nvSpPr>
          <p:cNvPr id="33" name="Rectangle 32"/>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5" name="TextBox 34"/>
          <p:cNvSpPr txBox="1"/>
          <p:nvPr/>
        </p:nvSpPr>
        <p:spPr>
          <a:xfrm>
            <a:off x="6156000" y="2358000"/>
            <a:ext cx="2376000" cy="234000"/>
          </a:xfrm>
          <a:prstGeom prst="rect">
            <a:avLst/>
          </a:prstGeom>
          <a:noFill/>
        </p:spPr>
        <p:txBody>
          <a:bodyPr wrap="square">
            <a:spAutoFit/>
          </a:bodyPr>
          <a:lstStyle/>
          <a:p>
            <a:pPr algn="l"/>
            <a:r>
              <a:rPr sz="700" b="0" i="0">
                <a:solidFill>
                  <a:srgbClr val="555555"/>
                </a:solidFill>
                <a:latin typeface="Calibri"/>
              </a:rPr>
              <a:t>• N/D</a:t>
            </a:r>
          </a:p>
        </p:txBody>
      </p:sp>
      <p:sp>
        <p:nvSpPr>
          <p:cNvPr id="36" name="TextBox 35"/>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