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457200" y="2720232"/>
            <a:ext cx="8229600" cy="475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B06000"/>
                </a:solidFill>
                <a:latin typeface="Calibri"/>
              </a:rPr>
              <a:t>● HOLD  ·  Prix cible base : 420 $  ·  Upside : +8,1 %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25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420 $  ·  Upside : +8,1 %  ·  Bear : 280 $ (-28,0 %)  ·  Bull : 550 $ (+41,5 %)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Innovation technologique</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Tesla vise 20% de part de marché mondiale des VE d'ici 2027 grâce à une expansion en Chine et en Europe</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Écosystème intégré</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division robotaxi pourrait générer 15-20 milliards de dollars de revenus annuels d'ici 2030 avec une marge EBITDA de 30%</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Échelle industrielle</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lancement du Cybertruck en 2026 devrait booster les ventes avec une cible de 50 000 unités/an</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accrue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Impact potentiel sur la these d'investissement — surveillance recommandee sur les 6-12 prochains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Réglementation</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Impact potentiel sur la these d'investissement — surveillance recommandee sur les 6-12 prochains mois.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Chine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Impact potentiel sur la these d'investissement — surveillance recommandee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123,3x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-12,0x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1,93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420 $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+8,1 %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+0,237</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accrue  ·  Réglementation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conçoit, produit et vend des véhicules électriques haut de gamme avec une intégration verticale unique (batteries, logiciels, bornes). Leader mondial des VE premium, l'entreprise diversifie ses activités dans l'IA, l'énergie solaire et la robotique. Son avantage concurrentiel repose sur l'innovation technologique, l'échelle industrielle et un écosystème intégré.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Automotive</a:t>
            </a:r>
          </a:p>
        </p:txBody>
      </p:sp>
      <p:sp>
        <p:nvSpPr>
          <p:cNvPr id="22" name="TextBox 21"/>
          <p:cNvSpPr txBox="1"/>
          <p:nvPr/>
        </p:nvSpPr>
        <p:spPr>
          <a:xfrm>
            <a:off x="619200" y="2714400"/>
            <a:ext cx="4338000" cy="144000"/>
          </a:xfrm>
          <a:prstGeom prst="rect">
            <a:avLst/>
          </a:prstGeom>
          <a:noFill/>
        </p:spPr>
        <p:txBody>
          <a:bodyPr wrap="square">
            <a:spAutoFit/>
          </a:bodyPr>
          <a:lstStyle/>
          <a:p>
            <a:pPr algn="l"/>
            <a:r>
              <a:rPr sz="750" b="0" i="1">
                <a:solidFill>
                  <a:srgbClr val="555555"/>
                </a:solidFill>
                <a:latin typeface="Calibri"/>
              </a:rPr>
              <a:t>Ventes de véhicules électriques incluant Model 3, Model Y, Cybertruck et Semi, avec une marge brute…</a:t>
            </a:r>
          </a:p>
        </p:txBody>
      </p:sp>
      <p:sp>
        <p:nvSpPr>
          <p:cNvPr id="23" name="Rectangle 22"/>
          <p:cNvSpPr/>
          <p:nvPr/>
        </p:nvSpPr>
        <p:spPr>
          <a:xfrm>
            <a:off x="503999" y="294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2897999"/>
            <a:ext cx="4338000" cy="165600"/>
          </a:xfrm>
          <a:prstGeom prst="rect">
            <a:avLst/>
          </a:prstGeom>
          <a:noFill/>
        </p:spPr>
        <p:txBody>
          <a:bodyPr wrap="square">
            <a:spAutoFit/>
          </a:bodyPr>
          <a:lstStyle/>
          <a:p>
            <a:pPr algn="l"/>
            <a:r>
              <a:rPr sz="850" b="1" i="0">
                <a:solidFill>
                  <a:srgbClr val="0D0D0D"/>
                </a:solidFill>
                <a:latin typeface="Calibri"/>
              </a:rPr>
              <a:t>Energy Generation and Storage</a:t>
            </a:r>
          </a:p>
        </p:txBody>
      </p:sp>
      <p:sp>
        <p:nvSpPr>
          <p:cNvPr id="25" name="TextBox 24"/>
          <p:cNvSpPr txBox="1"/>
          <p:nvPr/>
        </p:nvSpPr>
        <p:spPr>
          <a:xfrm>
            <a:off x="619200" y="3056399"/>
            <a:ext cx="4338000" cy="144000"/>
          </a:xfrm>
          <a:prstGeom prst="rect">
            <a:avLst/>
          </a:prstGeom>
          <a:noFill/>
        </p:spPr>
        <p:txBody>
          <a:bodyPr wrap="square">
            <a:spAutoFit/>
          </a:bodyPr>
          <a:lstStyle/>
          <a:p>
            <a:pPr algn="l"/>
            <a:r>
              <a:rPr sz="750" b="0" i="1">
                <a:solidFill>
                  <a:srgbClr val="555555"/>
                </a:solidFill>
                <a:latin typeface="Calibri"/>
              </a:rPr>
              <a:t>Batteries Powerwall/Powerpack et solutions solaires avec une marge EBITDA de 12.4%. Cible les…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1 458,3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388,64 $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123,3x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384,4x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Automotive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véhicules électriques incluant Model 3, Model Y, Cybertruck et Semi, avec une marge brute de 18%. Cible les particuliers et flottes avec une croissance tirée par l'autonomie et les services connectés. Les coûts de R&amp;D et capex restent élevés pour maintenir l'avance technologique.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Energy Generation and Storage</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Batteries Powerwall/Powerpack et solutions solaires avec une marge EBITDA de 12.4%. Cible les résidentiel, commercial et industriel avec une demande croissante pour le stockage d'énergie. La croissance est soutenue par les subventions gouvernementales et la transition énergétique.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c>
                  <a:txBody>
                    <a:bodyPr/>
                    <a:lstStyle/>
                    <a:p>
                      <a:pPr algn="ctr"/>
                      <a:r>
                        <a:rPr sz="800" b="1" i="0">
                          <a:solidFill>
                            <a:srgbClr val="0D0D0D"/>
                          </a:solidFill>
                          <a:latin typeface="Calibri"/>
                        </a:rPr>
                        <a:t>105,0</a:t>
                      </a:r>
                    </a:p>
                  </a:txBody>
                  <a:tcPr>
                    <a:solidFill>
                      <a:srgbClr val="FFFFFF"/>
                    </a:solidFill>
                  </a:tcPr>
                </a:tc>
                <a:tc>
                  <a:txBody>
                    <a:bodyPr/>
                    <a:lstStyle/>
                    <a:p>
                      <a:pPr algn="ctr"/>
                      <a:r>
                        <a:rPr sz="800" b="1" i="0">
                          <a:solidFill>
                            <a:srgbClr val="0D0D0D"/>
                          </a:solidFill>
                          <a:latin typeface="Calibri"/>
                        </a:rPr>
                        <a:t>120,0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+18,8 %</a:t>
                      </a:r>
                    </a:p>
                  </a:txBody>
                  <a:tcPr>
                    <a:solidFill>
                      <a:srgbClr val="F7F8FA"/>
                    </a:solidFill>
                  </a:tcPr>
                </a:tc>
                <a:tc>
                  <a:txBody>
                    <a:bodyPr/>
                    <a:lstStyle/>
                    <a:p>
                      <a:pPr algn="ctr"/>
                      <a:r>
                        <a:rPr sz="750" b="0" i="1">
                          <a:solidFill>
                            <a:srgbClr val="555555"/>
                          </a:solidFill>
                          <a:latin typeface="Calibri"/>
                        </a:rPr>
                        <a:t>+1,0 %</a:t>
                      </a:r>
                    </a:p>
                  </a:txBody>
                  <a:tcPr>
                    <a:solidFill>
                      <a:srgbClr val="F7F8FA"/>
                    </a:solidFill>
                  </a:tcPr>
                </a:tc>
                <a:tc>
                  <a:txBody>
                    <a:bodyPr/>
                    <a:lstStyle/>
                    <a:p>
                      <a:pPr algn="ctr"/>
                      <a:r>
                        <a:rPr sz="750" b="0" i="1">
                          <a:solidFill>
                            <a:srgbClr val="555555"/>
                          </a:solidFill>
                          <a:latin typeface="Calibri"/>
                        </a:rPr>
                        <a:t>-3,0 %</a:t>
                      </a:r>
                    </a:p>
                  </a:txBody>
                  <a:tcPr>
                    <a:solidFill>
                      <a:srgbClr val="DDE8F5"/>
                    </a:solidFill>
                  </a:tcPr>
                </a:tc>
                <a:tc>
                  <a:txBody>
                    <a:bodyPr/>
                    <a:lstStyle/>
                    <a:p>
                      <a:pPr algn="ctr"/>
                      <a:r>
                        <a:rPr sz="750" b="0" i="1">
                          <a:solidFill>
                            <a:srgbClr val="555555"/>
                          </a:solidFill>
                          <a:latin typeface="Calibri"/>
                        </a:rPr>
                        <a:t>+10,7 %</a:t>
                      </a:r>
                    </a:p>
                  </a:txBody>
                  <a:tcPr>
                    <a:solidFill>
                      <a:srgbClr val="F7F8FA"/>
                    </a:solidFill>
                  </a:tcPr>
                </a:tc>
                <a:tc>
                  <a:txBody>
                    <a:bodyPr/>
                    <a:lstStyle/>
                    <a:p>
                      <a:pPr algn="ctr"/>
                      <a:r>
                        <a:rPr sz="750" b="0" i="1">
                          <a:solidFill>
                            <a:srgbClr val="555555"/>
                          </a:solidFill>
                          <a:latin typeface="Calibri"/>
                        </a:rPr>
                        <a:t>+14,3 %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c>
                  <a:txBody>
                    <a:bodyPr/>
                    <a:lstStyle/>
                    <a:p>
                      <a:pPr algn="ctr"/>
                      <a:r>
                        <a:rPr sz="800" b="1" i="0">
                          <a:solidFill>
                            <a:srgbClr val="0D0D0D"/>
                          </a:solidFill>
                          <a:latin typeface="Calibri"/>
                        </a:rPr>
                        <a:t>20,5</a:t>
                      </a:r>
                    </a:p>
                  </a:txBody>
                  <a:tcPr>
                    <a:solidFill>
                      <a:srgbClr val="FFFFFF"/>
                    </a:solidFill>
                  </a:tcPr>
                </a:tc>
                <a:tc>
                  <a:txBody>
                    <a:bodyPr/>
                    <a:lstStyle/>
                    <a:p>
                      <a:pPr algn="ctr"/>
                      <a:r>
                        <a:rPr sz="800" b="1" i="0">
                          <a:solidFill>
                            <a:srgbClr val="0D0D0D"/>
                          </a:solidFill>
                          <a:latin typeface="Calibri"/>
                        </a:rPr>
                        <a:t>25,2</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18,2 %</a:t>
                      </a:r>
                    </a:p>
                  </a:txBody>
                  <a:tcPr>
                    <a:solidFill>
                      <a:srgbClr val="F7F8FA"/>
                    </a:solidFill>
                  </a:tcPr>
                </a:tc>
                <a:tc>
                  <a:txBody>
                    <a:bodyPr/>
                    <a:lstStyle/>
                    <a:p>
                      <a:pPr algn="ctr"/>
                      <a:r>
                        <a:rPr sz="750" b="0" i="1">
                          <a:solidFill>
                            <a:srgbClr val="555555"/>
                          </a:solidFill>
                          <a:latin typeface="Calibri"/>
                        </a:rPr>
                        <a:t>17,9 %</a:t>
                      </a:r>
                    </a:p>
                  </a:txBody>
                  <a:tcPr>
                    <a:solidFill>
                      <a:srgbClr val="F7F8FA"/>
                    </a:solidFill>
                  </a:tcPr>
                </a:tc>
                <a:tc>
                  <a:txBody>
                    <a:bodyPr/>
                    <a:lstStyle/>
                    <a:p>
                      <a:pPr algn="ctr"/>
                      <a:r>
                        <a:rPr sz="750" b="0" i="1">
                          <a:solidFill>
                            <a:srgbClr val="555555"/>
                          </a:solidFill>
                          <a:latin typeface="Calibri"/>
                        </a:rPr>
                        <a:t>18,0 %</a:t>
                      </a:r>
                    </a:p>
                  </a:txBody>
                  <a:tcPr>
                    <a:solidFill>
                      <a:srgbClr val="DDE8F5"/>
                    </a:solidFill>
                  </a:tcPr>
                </a:tc>
                <a:tc>
                  <a:txBody>
                    <a:bodyPr/>
                    <a:lstStyle/>
                    <a:p>
                      <a:pPr algn="ctr"/>
                      <a:r>
                        <a:rPr sz="750" b="0" i="1">
                          <a:solidFill>
                            <a:srgbClr val="555555"/>
                          </a:solidFill>
                          <a:latin typeface="Calibri"/>
                        </a:rPr>
                        <a:t>19,5 %</a:t>
                      </a:r>
                    </a:p>
                  </a:txBody>
                  <a:tcPr>
                    <a:solidFill>
                      <a:srgbClr val="F7F8FA"/>
                    </a:solidFill>
                  </a:tcPr>
                </a:tc>
                <a:tc>
                  <a:txBody>
                    <a:bodyPr/>
                    <a:lstStyle/>
                    <a:p>
                      <a:pPr algn="ctr"/>
                      <a:r>
                        <a:rPr sz="750" b="0" i="1">
                          <a:solidFill>
                            <a:srgbClr val="555555"/>
                          </a:solidFill>
                          <a:latin typeface="Calibri"/>
                        </a:rPr>
                        <a:t>21,0 %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c>
                  <a:txBody>
                    <a:bodyPr/>
                    <a:lstStyle/>
                    <a:p>
                      <a:pPr algn="ctr"/>
                      <a:r>
                        <a:rPr sz="800" b="1" i="0">
                          <a:solidFill>
                            <a:srgbClr val="0D0D0D"/>
                          </a:solidFill>
                          <a:latin typeface="Calibri"/>
                        </a:rPr>
                        <a:t>18,0</a:t>
                      </a:r>
                    </a:p>
                  </a:txBody>
                  <a:tcPr>
                    <a:solidFill>
                      <a:srgbClr val="FFFFFF"/>
                    </a:solidFill>
                  </a:tcPr>
                </a:tc>
                <a:tc>
                  <a:txBody>
                    <a:bodyPr/>
                    <a:lstStyle/>
                    <a:p>
                      <a:pPr algn="ctr"/>
                      <a:r>
                        <a:rPr sz="800" b="1" i="0">
                          <a:solidFill>
                            <a:srgbClr val="0D0D0D"/>
                          </a:solidFill>
                          <a:latin typeface="Calibri"/>
                        </a:rPr>
                        <a:t>24,0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15,3 %</a:t>
                      </a:r>
                    </a:p>
                  </a:txBody>
                  <a:tcPr>
                    <a:solidFill>
                      <a:srgbClr val="F7F8FA"/>
                    </a:solidFill>
                  </a:tcPr>
                </a:tc>
                <a:tc>
                  <a:txBody>
                    <a:bodyPr/>
                    <a:lstStyle/>
                    <a:p>
                      <a:pPr algn="ctr"/>
                      <a:r>
                        <a:rPr sz="750" b="0" i="1">
                          <a:solidFill>
                            <a:srgbClr val="555555"/>
                          </a:solidFill>
                          <a:latin typeface="Calibri"/>
                        </a:rPr>
                        <a:t>15,1 %</a:t>
                      </a:r>
                    </a:p>
                  </a:txBody>
                  <a:tcPr>
                    <a:solidFill>
                      <a:srgbClr val="F7F8FA"/>
                    </a:solidFill>
                  </a:tcPr>
                </a:tc>
                <a:tc>
                  <a:txBody>
                    <a:bodyPr/>
                    <a:lstStyle/>
                    <a:p>
                      <a:pPr algn="ctr"/>
                      <a:r>
                        <a:rPr sz="750" b="0" i="1">
                          <a:solidFill>
                            <a:srgbClr val="555555"/>
                          </a:solidFill>
                          <a:latin typeface="Calibri"/>
                        </a:rPr>
                        <a:t>12,4 %</a:t>
                      </a:r>
                    </a:p>
                  </a:txBody>
                  <a:tcPr>
                    <a:solidFill>
                      <a:srgbClr val="DDE8F5"/>
                    </a:solidFill>
                  </a:tcPr>
                </a:tc>
                <a:tc>
                  <a:txBody>
                    <a:bodyPr/>
                    <a:lstStyle/>
                    <a:p>
                      <a:pPr algn="ctr"/>
                      <a:r>
                        <a:rPr sz="750" b="0" i="1">
                          <a:solidFill>
                            <a:srgbClr val="555555"/>
                          </a:solidFill>
                          <a:latin typeface="Calibri"/>
                        </a:rPr>
                        <a:t>17,1 %</a:t>
                      </a:r>
                    </a:p>
                  </a:txBody>
                  <a:tcPr>
                    <a:solidFill>
                      <a:srgbClr val="F7F8FA"/>
                    </a:solidFill>
                  </a:tcPr>
                </a:tc>
                <a:tc>
                  <a:txBody>
                    <a:bodyPr/>
                    <a:lstStyle/>
                    <a:p>
                      <a:pPr algn="ctr"/>
                      <a:r>
                        <a:rPr sz="750" b="0" i="1">
                          <a:solidFill>
                            <a:srgbClr val="555555"/>
                          </a:solidFill>
                          <a:latin typeface="Calibri"/>
                        </a:rPr>
                        <a:t>20,0 %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c>
                  <a:txBody>
                    <a:bodyPr/>
                    <a:lstStyle/>
                    <a:p>
                      <a:pPr algn="ctr"/>
                      <a:r>
                        <a:rPr sz="800" b="1" i="0">
                          <a:solidFill>
                            <a:srgbClr val="0D0D0D"/>
                          </a:solidFill>
                          <a:latin typeface="Calibri"/>
                        </a:rPr>
                        <a:t>8,5</a:t>
                      </a:r>
                    </a:p>
                  </a:txBody>
                  <a:tcPr>
                    <a:solidFill>
                      <a:srgbClr val="FFFFFF"/>
                    </a:solidFill>
                  </a:tcPr>
                </a:tc>
                <a:tc>
                  <a:txBody>
                    <a:bodyPr/>
                    <a:lstStyle/>
                    <a:p>
                      <a:pPr algn="ctr"/>
                      <a:r>
                        <a:rPr sz="800" b="1" i="0">
                          <a:solidFill>
                            <a:srgbClr val="0D0D0D"/>
                          </a:solidFill>
                          <a:latin typeface="Calibri"/>
                        </a:rPr>
                        <a:t>12,0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15,5 %</a:t>
                      </a:r>
                    </a:p>
                  </a:txBody>
                  <a:tcPr>
                    <a:solidFill>
                      <a:srgbClr val="F7F8FA"/>
                    </a:solidFill>
                  </a:tcPr>
                </a:tc>
                <a:tc>
                  <a:txBody>
                    <a:bodyPr/>
                    <a:lstStyle/>
                    <a:p>
                      <a:pPr algn="ctr"/>
                      <a:r>
                        <a:rPr sz="750" b="0" i="1">
                          <a:solidFill>
                            <a:srgbClr val="555555"/>
                          </a:solidFill>
                          <a:latin typeface="Calibri"/>
                        </a:rPr>
                        <a:t>7,3 %</a:t>
                      </a:r>
                    </a:p>
                  </a:txBody>
                  <a:tcPr>
                    <a:solidFill>
                      <a:srgbClr val="F7F8FA"/>
                    </a:solidFill>
                  </a:tcPr>
                </a:tc>
                <a:tc>
                  <a:txBody>
                    <a:bodyPr/>
                    <a:lstStyle/>
                    <a:p>
                      <a:pPr algn="ctr"/>
                      <a:r>
                        <a:rPr sz="750" b="0" i="1">
                          <a:solidFill>
                            <a:srgbClr val="555555"/>
                          </a:solidFill>
                          <a:latin typeface="Calibri"/>
                        </a:rPr>
                        <a:t>4,0 %</a:t>
                      </a:r>
                    </a:p>
                  </a:txBody>
                  <a:tcPr>
                    <a:solidFill>
                      <a:srgbClr val="DDE8F5"/>
                    </a:solidFill>
                  </a:tcPr>
                </a:tc>
                <a:tc>
                  <a:txBody>
                    <a:bodyPr/>
                    <a:lstStyle/>
                    <a:p>
                      <a:pPr algn="ctr"/>
                      <a:r>
                        <a:rPr sz="750" b="0" i="1">
                          <a:solidFill>
                            <a:srgbClr val="555555"/>
                          </a:solidFill>
                          <a:latin typeface="Calibri"/>
                        </a:rPr>
                        <a:t>8,1 %</a:t>
                      </a:r>
                    </a:p>
                  </a:txBody>
                  <a:tcPr>
                    <a:solidFill>
                      <a:srgbClr val="F7F8FA"/>
                    </a:solidFill>
                  </a:tcPr>
                </a:tc>
                <a:tc>
                  <a:txBody>
                    <a:bodyPr/>
                    <a:lstStyle/>
                    <a:p>
                      <a:pPr algn="ctr"/>
                      <a:r>
                        <a:rPr sz="750" b="0" i="1">
                          <a:solidFill>
                            <a:srgbClr val="555555"/>
                          </a:solidFill>
                          <a:latin typeface="Calibri"/>
                        </a:rPr>
                        <a:t>10,0 %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Revenue en baisse de 3% en 2025 mais marges maintenues grâce à l'optimisation des coûts. La marge nette de 4% reste faible malgré des efforts de réduction des coûts. Les flux de trésorerie opérationnels devraient s'améliorer avec la maturité des produits.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17,34</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Revenue en baisse de 3% en 2025 mais marges maintenues grâce à l'optimisation des coûts. La marge nette de 4% reste faible malgré des efforts de réduction des coûts. Les flux de trésorerie opérationnels devraient s'améliorer avec la maturité des produits.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384,4x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123,3x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Tres eleve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Tres 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Modere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17,34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ratios EV/EBITDA (123x) et P/E (384x) sont largement supérieurs à ceux des concurrents directs, reflétant une prime pour l'innovation et la croissance.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420 $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388,64 $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280 $</a:t>
                      </a:r>
                    </a:p>
                  </a:txBody>
                  <a:tcPr>
                    <a:solidFill>
                      <a:srgbClr val="FAF0EF"/>
                    </a:solidFill>
                  </a:tcPr>
                </a:tc>
                <a:tc>
                  <a:txBody>
                    <a:bodyPr/>
                    <a:lstStyle/>
                    <a:p>
                      <a:pPr algn="ctr"/>
                      <a:r>
                        <a:rPr sz="2000" b="1" i="0">
                          <a:solidFill>
                            <a:srgbClr val="2E5FA3"/>
                          </a:solidFill>
                          <a:latin typeface="Calibri"/>
                        </a:rPr>
                        <a:t>420 $</a:t>
                      </a:r>
                    </a:p>
                  </a:txBody>
                  <a:tcPr>
                    <a:solidFill>
                      <a:srgbClr val="EEF3FA"/>
                    </a:solidFill>
                  </a:tcPr>
                </a:tc>
                <a:tc>
                  <a:txBody>
                    <a:bodyPr/>
                    <a:lstStyle/>
                    <a:p>
                      <a:pPr algn="ctr"/>
                      <a:r>
                        <a:rPr sz="2000" b="1" i="0">
                          <a:solidFill>
                            <a:srgbClr val="1A7A4A"/>
                          </a:solidFill>
                          <a:latin typeface="Calibri"/>
                        </a:rPr>
                        <a:t>550 $</a:t>
                      </a:r>
                    </a:p>
                  </a:txBody>
                  <a:tcPr>
                    <a:solidFill>
                      <a:srgbClr val="EAF4EF"/>
                    </a:solidFill>
                  </a:tcPr>
                </a:tc>
              </a:tr>
              <a:tr h="342900">
                <a:tc>
                  <a:txBody>
                    <a:bodyPr/>
                    <a:lstStyle/>
                    <a:p>
                      <a:pPr algn="ctr"/>
                      <a:r>
                        <a:rPr sz="1200" b="1" i="0">
                          <a:solidFill>
                            <a:srgbClr val="A82020"/>
                          </a:solidFill>
                          <a:latin typeface="Calibri"/>
                        </a:rPr>
                        <a:t>-28,0 %</a:t>
                      </a:r>
                    </a:p>
                  </a:txBody>
                  <a:tcPr>
                    <a:solidFill>
                      <a:srgbClr val="FAF0EF"/>
                    </a:solidFill>
                  </a:tcPr>
                </a:tc>
                <a:tc>
                  <a:txBody>
                    <a:bodyPr/>
                    <a:lstStyle/>
                    <a:p>
                      <a:pPr algn="ctr"/>
                      <a:r>
                        <a:rPr sz="1200" b="1" i="0">
                          <a:solidFill>
                            <a:srgbClr val="2E5FA3"/>
                          </a:solidFill>
                          <a:latin typeface="Calibri"/>
                        </a:rPr>
                        <a:t>+8,1 %</a:t>
                      </a:r>
                    </a:p>
                  </a:txBody>
                  <a:tcPr>
                    <a:solidFill>
                      <a:srgbClr val="EEF3FA"/>
                    </a:solidFill>
                  </a:tcPr>
                </a:tc>
                <a:tc>
                  <a:txBody>
                    <a:bodyPr/>
                    <a:lstStyle/>
                    <a:p>
                      <a:pPr algn="ctr"/>
                      <a:r>
                        <a:rPr sz="1200" b="1" i="0">
                          <a:solidFill>
                            <a:srgbClr val="1A7A4A"/>
                          </a:solidFill>
                          <a:latin typeface="Calibri"/>
                        </a:rPr>
                        <a:t>+41,5 %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420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à 14.8% reflète un coût du capital élevé pour un secteur cyclique. TGR de 2.5% implique une croissance modérée à long terme. Le DCF suggère un upside de 8% par rapport au cours actuel.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1 458,3</a:t>
                      </a:r>
                    </a:p>
                  </a:txBody>
                  <a:tcPr>
                    <a:solidFill>
                      <a:srgbClr val="DDE8F5"/>
                    </a:solidFill>
                  </a:tcPr>
                </a:tc>
                <a:tc>
                  <a:txBody>
                    <a:bodyPr/>
                    <a:lstStyle/>
                    <a:p>
                      <a:pPr algn="ctr"/>
                      <a:r>
                        <a:rPr sz="800" b="1" i="0">
                          <a:solidFill>
                            <a:srgbClr val="1B3A6B"/>
                          </a:solidFill>
                          <a:latin typeface="Calibri"/>
                        </a:rPr>
                        <a:t>123,3x</a:t>
                      </a:r>
                    </a:p>
                  </a:txBody>
                  <a:tcPr>
                    <a:solidFill>
                      <a:srgbClr val="DDE8F5"/>
                    </a:solidFill>
                  </a:tcPr>
                </a:tc>
                <a:tc>
                  <a:txBody>
                    <a:bodyPr/>
                    <a:lstStyle/>
                    <a:p>
                      <a:pPr algn="ctr"/>
                      <a:r>
                        <a:rPr sz="800" b="1" i="0">
                          <a:solidFill>
                            <a:srgbClr val="1B3A6B"/>
                          </a:solidFill>
                          <a:latin typeface="Calibri"/>
                        </a:rPr>
                        <a:t>15,3x</a:t>
                      </a:r>
                    </a:p>
                  </a:txBody>
                  <a:tcPr>
                    <a:solidFill>
                      <a:srgbClr val="DDE8F5"/>
                    </a:solidFill>
                  </a:tcPr>
                </a:tc>
                <a:tc>
                  <a:txBody>
                    <a:bodyPr/>
                    <a:lstStyle/>
                    <a:p>
                      <a:pPr algn="ctr"/>
                      <a:r>
                        <a:rPr sz="800" b="1" i="0">
                          <a:solidFill>
                            <a:srgbClr val="1B3A6B"/>
                          </a:solidFill>
                          <a:latin typeface="Calibri"/>
                        </a:rPr>
                        <a:t>384,4x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51999">
                <a:tc>
                  <a:txBody>
                    <a:bodyPr/>
                    <a:lstStyle/>
                    <a:p>
                      <a:pPr algn="l"/>
                      <a:r>
                        <a:rPr sz="800" b="0" i="0">
                          <a:solidFill>
                            <a:srgbClr val="0D0D0D"/>
                          </a:solidFill>
                          <a:latin typeface="Calibri"/>
                        </a:rPr>
                        <a:t>BYD Company</a:t>
                      </a:r>
                    </a:p>
                  </a:txBody>
                  <a:tcPr>
                    <a:solidFill>
                      <a:srgbClr val="FFFFFF"/>
                    </a:solidFill>
                  </a:tcPr>
                </a:tc>
                <a:tc>
                  <a:txBody>
                    <a:bodyPr/>
                    <a:lstStyle/>
                    <a:p>
                      <a:pPr algn="ctr"/>
                      <a:r>
                        <a:rPr sz="750" b="0" i="0">
                          <a:solidFill>
                            <a:srgbClr val="555555"/>
                          </a:solidFill>
                          <a:latin typeface="Calibri"/>
                        </a:rPr>
                        <a:t>BYD.US</a:t>
                      </a:r>
                    </a:p>
                  </a:txBody>
                  <a:tcPr>
                    <a:solidFill>
                      <a:srgbClr val="FFFFFF"/>
                    </a:solidFill>
                  </a:tcPr>
                </a:tc>
                <a:tc>
                  <a:txBody>
                    <a:bodyPr/>
                    <a:lstStyle/>
                    <a:p>
                      <a:pPr algn="ctr"/>
                      <a:r>
                        <a:rPr sz="800" b="0" i="0">
                          <a:solidFill>
                            <a:srgbClr val="0D0D0D"/>
                          </a:solidFill>
                          <a:latin typeface="Calibri"/>
                        </a:rPr>
                        <a:t>95,0</a:t>
                      </a:r>
                    </a:p>
                  </a:txBody>
                  <a:tcPr>
                    <a:solidFill>
                      <a:srgbClr val="FFFFFF"/>
                    </a:solidFill>
                  </a:tcPr>
                </a:tc>
                <a:tc>
                  <a:txBody>
                    <a:bodyPr/>
                    <a:lstStyle/>
                    <a:p>
                      <a:pPr algn="ctr"/>
                      <a:r>
                        <a:rPr sz="800" b="0" i="0">
                          <a:solidFill>
                            <a:srgbClr val="0D0D0D"/>
                          </a:solidFill>
                          <a:latin typeface="Calibri"/>
                        </a:rPr>
                        <a:t>32,0x</a:t>
                      </a:r>
                    </a:p>
                  </a:txBody>
                  <a:tcPr>
                    <a:solidFill>
                      <a:srgbClr val="FFFFFF"/>
                    </a:solidFill>
                  </a:tcPr>
                </a:tc>
                <a:tc>
                  <a:txBody>
                    <a:bodyPr/>
                    <a:lstStyle/>
                    <a:p>
                      <a:pPr algn="ctr"/>
                      <a:r>
                        <a:rPr sz="800" b="0" i="0">
                          <a:solidFill>
                            <a:srgbClr val="0D0D0D"/>
                          </a:solidFill>
                          <a:latin typeface="Calibri"/>
                        </a:rPr>
                        <a:t>3,8x</a:t>
                      </a:r>
                    </a:p>
                  </a:txBody>
                  <a:tcPr>
                    <a:solidFill>
                      <a:srgbClr val="FFFFFF"/>
                    </a:solidFill>
                  </a:tcPr>
                </a:tc>
                <a:tc>
                  <a:txBody>
                    <a:bodyPr/>
                    <a:lstStyle/>
                    <a:p>
                      <a:pPr algn="ctr"/>
                      <a:r>
                        <a:rPr sz="800" b="0" i="0">
                          <a:solidFill>
                            <a:srgbClr val="0D0D0D"/>
                          </a:solidFill>
                          <a:latin typeface="Calibri"/>
                        </a:rPr>
                        <a:t>28,0x</a:t>
                      </a:r>
                    </a:p>
                  </a:txBody>
                  <a:tcPr>
                    <a:solidFill>
                      <a:srgbClr val="FFFFFF"/>
                    </a:solidFill>
                  </a:tcPr>
                </a:tc>
                <a:tc>
                  <a:txBody>
                    <a:bodyPr/>
                    <a:lstStyle/>
                    <a:p>
                      <a:pPr algn="ctr"/>
                      <a:r>
                        <a:rPr sz="800" b="0" i="0">
                          <a:solidFill>
                            <a:srgbClr val="0D0D0D"/>
                          </a:solidFill>
                          <a:latin typeface="Calibri"/>
                        </a:rPr>
                        <a:t>18,0 %</a:t>
                      </a:r>
                    </a:p>
                  </a:txBody>
                  <a:tcPr>
                    <a:solidFill>
                      <a:srgbClr val="FFFFFF"/>
                    </a:solidFill>
                  </a:tcPr>
                </a:tc>
                <a:tc>
                  <a:txBody>
                    <a:bodyPr/>
                    <a:lstStyle/>
                    <a:p>
                      <a:pPr algn="ctr"/>
                      <a:r>
                        <a:rPr sz="800" b="0" i="0">
                          <a:solidFill>
                            <a:srgbClr val="0D0D0D"/>
                          </a:solidFill>
                          <a:latin typeface="Calibri"/>
                        </a:rPr>
                        <a:t>12,0 %</a:t>
                      </a:r>
                    </a:p>
                  </a:txBody>
                  <a:tcPr>
                    <a:solidFill>
                      <a:srgbClr val="FFFFFF"/>
                    </a:solidFill>
                  </a:tcPr>
                </a:tc>
              </a:tr>
              <a:tr h="251999">
                <a:tc>
                  <a:txBody>
                    <a:bodyPr/>
                    <a:lstStyle/>
                    <a:p>
                      <a:pPr algn="l"/>
                      <a:r>
                        <a:rPr sz="800" b="0" i="0">
                          <a:solidFill>
                            <a:srgbClr val="0D0D0D"/>
                          </a:solidFill>
                          <a:latin typeface="Calibri"/>
                        </a:rPr>
                        <a:t>Rivian Automotive</a:t>
                      </a:r>
                    </a:p>
                  </a:txBody>
                  <a:tcPr>
                    <a:solidFill>
                      <a:srgbClr val="F7F8FA"/>
                    </a:solidFill>
                  </a:tcPr>
                </a:tc>
                <a:tc>
                  <a:txBody>
                    <a:bodyPr/>
                    <a:lstStyle/>
                    <a:p>
                      <a:pPr algn="ctr"/>
                      <a:r>
                        <a:rPr sz="750" b="0" i="0">
                          <a:solidFill>
                            <a:srgbClr val="555555"/>
                          </a:solidFill>
                          <a:latin typeface="Calibri"/>
                        </a:rPr>
                        <a:t>RIVN.US</a:t>
                      </a:r>
                    </a:p>
                  </a:txBody>
                  <a:tcPr>
                    <a:solidFill>
                      <a:srgbClr val="F7F8FA"/>
                    </a:solidFill>
                  </a:tcPr>
                </a:tc>
                <a:tc>
                  <a:txBody>
                    <a:bodyPr/>
                    <a:lstStyle/>
                    <a:p>
                      <a:pPr algn="ctr"/>
                      <a:r>
                        <a:rPr sz="800" b="0" i="0">
                          <a:solidFill>
                            <a:srgbClr val="0D0D0D"/>
                          </a:solidFill>
                          <a:latin typeface="Calibri"/>
                        </a:rPr>
                        <a:t>12,0</a:t>
                      </a:r>
                    </a:p>
                  </a:txBody>
                  <a:tcPr>
                    <a:solidFill>
                      <a:srgbClr val="F7F8FA"/>
                    </a:solidFill>
                  </a:tcPr>
                </a:tc>
                <a:tc>
                  <a:txBody>
                    <a:bodyPr/>
                    <a:lstStyle/>
                    <a:p>
                      <a:pPr algn="ctr"/>
                      <a:r>
                        <a:rPr sz="800" b="0" i="0">
                          <a:solidFill>
                            <a:srgbClr val="0D0D0D"/>
                          </a:solidFill>
                          <a:latin typeface="Calibri"/>
                        </a:rPr>
                        <a:t>-15,0x</a:t>
                      </a:r>
                    </a:p>
                  </a:txBody>
                  <a:tcPr>
                    <a:solidFill>
                      <a:srgbClr val="F7F8FA"/>
                    </a:solidFill>
                  </a:tcPr>
                </a:tc>
                <a:tc>
                  <a:txBody>
                    <a:bodyPr/>
                    <a:lstStyle/>
                    <a:p>
                      <a:pPr algn="ctr"/>
                      <a:r>
                        <a:rPr sz="800" b="0" i="0">
                          <a:solidFill>
                            <a:srgbClr val="0D0D0D"/>
                          </a:solidFill>
                          <a:latin typeface="Calibri"/>
                        </a:rPr>
                        <a:t>4,5x</a:t>
                      </a:r>
                    </a:p>
                  </a:txBody>
                  <a:tcPr>
                    <a:solidFill>
                      <a:srgbClr val="F7F8FA"/>
                    </a:solidFill>
                  </a:tcPr>
                </a:tc>
                <a:tc>
                  <a:txBody>
                    <a:bodyPr/>
                    <a:lstStyle/>
                    <a:p>
                      <a:pPr algn="ctr"/>
                      <a:r>
                        <a:rPr sz="800" b="0" i="0">
                          <a:solidFill>
                            <a:srgbClr val="0D0D0D"/>
                          </a:solidFill>
                          <a:latin typeface="Calibri"/>
                        </a:rPr>
                        <a:t>-5,0x</a:t>
                      </a:r>
                    </a:p>
                  </a:txBody>
                  <a:tcPr>
                    <a:solidFill>
                      <a:srgbClr val="F7F8FA"/>
                    </a:solidFill>
                  </a:tcPr>
                </a:tc>
                <a:tc>
                  <a:txBody>
                    <a:bodyPr/>
                    <a:lstStyle/>
                    <a:p>
                      <a:pPr algn="ctr"/>
                      <a:r>
                        <a:rPr sz="800" b="0" i="0">
                          <a:solidFill>
                            <a:srgbClr val="0D0D0D"/>
                          </a:solidFill>
                          <a:latin typeface="Calibri"/>
                        </a:rPr>
                        <a:t>12,0 %</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r>
              <a:tr h="251999">
                <a:tc>
                  <a:txBody>
                    <a:bodyPr/>
                    <a:lstStyle/>
                    <a:p>
                      <a:pPr algn="l"/>
                      <a:r>
                        <a:rPr sz="800" b="0" i="0">
                          <a:solidFill>
                            <a:srgbClr val="0D0D0D"/>
                          </a:solidFill>
                          <a:latin typeface="Calibri"/>
                        </a:rPr>
                        <a:t>Lucid Group</a:t>
                      </a:r>
                    </a:p>
                  </a:txBody>
                  <a:tcPr>
                    <a:solidFill>
                      <a:srgbClr val="FFFFFF"/>
                    </a:solidFill>
                  </a:tcPr>
                </a:tc>
                <a:tc>
                  <a:txBody>
                    <a:bodyPr/>
                    <a:lstStyle/>
                    <a:p>
                      <a:pPr algn="ctr"/>
                      <a:r>
                        <a:rPr sz="750" b="0" i="0">
                          <a:solidFill>
                            <a:srgbClr val="555555"/>
                          </a:solidFill>
                          <a:latin typeface="Calibri"/>
                        </a:rPr>
                        <a:t>LCID.US</a:t>
                      </a:r>
                    </a:p>
                  </a:txBody>
                  <a:tcPr>
                    <a:solidFill>
                      <a:srgbClr val="FFFFFF"/>
                    </a:solidFill>
                  </a:tcPr>
                </a:tc>
                <a:tc>
                  <a:txBody>
                    <a:bodyPr/>
                    <a:lstStyle/>
                    <a:p>
                      <a:pPr algn="ctr"/>
                      <a:r>
                        <a:rPr sz="800" b="0" i="0">
                          <a:solidFill>
                            <a:srgbClr val="0D0D0D"/>
                          </a:solidFill>
                          <a:latin typeface="Calibri"/>
                        </a:rPr>
                        <a:t>18,0</a:t>
                      </a:r>
                    </a:p>
                  </a:txBody>
                  <a:tcPr>
                    <a:solidFill>
                      <a:srgbClr val="FFFFFF"/>
                    </a:solidFill>
                  </a:tcPr>
                </a:tc>
                <a:tc>
                  <a:txBody>
                    <a:bodyPr/>
                    <a:lstStyle/>
                    <a:p>
                      <a:pPr algn="ctr"/>
                      <a:r>
                        <a:rPr sz="800" b="0" i="0">
                          <a:solidFill>
                            <a:srgbClr val="0D0D0D"/>
                          </a:solidFill>
                          <a:latin typeface="Calibri"/>
                        </a:rPr>
                        <a:t>-10,0x</a:t>
                      </a:r>
                    </a:p>
                  </a:txBody>
                  <a:tcPr>
                    <a:solidFill>
                      <a:srgbClr val="FFFFFF"/>
                    </a:solidFill>
                  </a:tcPr>
                </a:tc>
                <a:tc>
                  <a:txBody>
                    <a:bodyPr/>
                    <a:lstStyle/>
                    <a:p>
                      <a:pPr algn="ctr"/>
                      <a:r>
                        <a:rPr sz="800" b="0" i="0">
                          <a:solidFill>
                            <a:srgbClr val="0D0D0D"/>
                          </a:solidFill>
                          <a:latin typeface="Calibri"/>
                        </a:rPr>
                        <a:t>12,0x</a:t>
                      </a:r>
                    </a:p>
                  </a:txBody>
                  <a:tcPr>
                    <a:solidFill>
                      <a:srgbClr val="FFFFFF"/>
                    </a:solidFill>
                  </a:tcPr>
                </a:tc>
                <a:tc>
                  <a:txBody>
                    <a:bodyPr/>
                    <a:lstStyle/>
                    <a:p>
                      <a:pPr algn="ctr"/>
                      <a:r>
                        <a:rPr sz="800" b="0" i="0">
                          <a:solidFill>
                            <a:srgbClr val="0D0D0D"/>
                          </a:solidFill>
                          <a:latin typeface="Calibri"/>
                        </a:rPr>
                        <a:t>-12,0x</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c>
                  <a:txBody>
                    <a:bodyPr/>
                    <a:lstStyle/>
                    <a:p>
                      <a:pPr algn="ctr"/>
                      <a:r>
                        <a:rPr sz="800" b="0" i="0">
                          <a:solidFill>
                            <a:srgbClr val="0D0D0D"/>
                          </a:solidFill>
                          <a:latin typeface="Calibri"/>
                        </a:rPr>
                        <a:t>-30,0 %</a:t>
                      </a:r>
                    </a:p>
                  </a:txBody>
                  <a:tcPr>
                    <a:solidFill>
                      <a:srgbClr val="FFFFFF"/>
                    </a:solidFill>
                  </a:tcPr>
                </a:tc>
              </a:tr>
              <a:tr h="251999">
                <a:tc>
                  <a:txBody>
                    <a:bodyPr/>
                    <a:lstStyle/>
                    <a:p>
                      <a:pPr algn="l"/>
                      <a:r>
                        <a:rPr sz="800" b="0" i="0">
                          <a:solidFill>
                            <a:srgbClr val="0D0D0D"/>
                          </a:solidFill>
                          <a:latin typeface="Calibri"/>
                        </a:rPr>
                        <a:t>NIO Inc</a:t>
                      </a:r>
                    </a:p>
                  </a:txBody>
                  <a:tcPr>
                    <a:solidFill>
                      <a:srgbClr val="F7F8FA"/>
                    </a:solidFill>
                  </a:tcPr>
                </a:tc>
                <a:tc>
                  <a:txBody>
                    <a:bodyPr/>
                    <a:lstStyle/>
                    <a:p>
                      <a:pPr algn="ctr"/>
                      <a:r>
                        <a:rPr sz="750" b="0" i="0">
                          <a:solidFill>
                            <a:srgbClr val="555555"/>
                          </a:solidFill>
                          <a:latin typeface="Calibri"/>
                        </a:rPr>
                        <a:t>NIO.US</a:t>
                      </a:r>
                    </a:p>
                  </a:txBody>
                  <a:tcPr>
                    <a:solidFill>
                      <a:srgbClr val="F7F8FA"/>
                    </a:solidFill>
                  </a:tcPr>
                </a:tc>
                <a:tc>
                  <a:txBody>
                    <a:bodyPr/>
                    <a:lstStyle/>
                    <a:p>
                      <a:pPr algn="ctr"/>
                      <a:r>
                        <a:rPr sz="800" b="0" i="0">
                          <a:solidFill>
                            <a:srgbClr val="0D0D0D"/>
                          </a:solidFill>
                          <a:latin typeface="Calibri"/>
                        </a:rPr>
                        <a:t>25,0</a:t>
                      </a:r>
                    </a:p>
                  </a:txBody>
                  <a:tcPr>
                    <a:solidFill>
                      <a:srgbClr val="F7F8FA"/>
                    </a:solidFill>
                  </a:tcPr>
                </a:tc>
                <a:tc>
                  <a:txBody>
                    <a:bodyPr/>
                    <a:lstStyle/>
                    <a:p>
                      <a:pPr algn="ctr"/>
                      <a:r>
                        <a:rPr sz="800" b="0" i="0">
                          <a:solidFill>
                            <a:srgbClr val="0D0D0D"/>
                          </a:solidFill>
                          <a:latin typeface="Calibri"/>
                        </a:rPr>
                        <a:t>-25,0x</a:t>
                      </a:r>
                    </a:p>
                  </a:txBody>
                  <a:tcPr>
                    <a:solidFill>
                      <a:srgbClr val="F7F8FA"/>
                    </a:solidFill>
                  </a:tcPr>
                </a:tc>
                <a:tc>
                  <a:txBody>
                    <a:bodyPr/>
                    <a:lstStyle/>
                    <a:p>
                      <a:pPr algn="ctr"/>
                      <a:r>
                        <a:rPr sz="800" b="0" i="0">
                          <a:solidFill>
                            <a:srgbClr val="0D0D0D"/>
                          </a:solidFill>
                          <a:latin typeface="Calibri"/>
                        </a:rPr>
                        <a:t>3,5x</a:t>
                      </a:r>
                    </a:p>
                  </a:txBody>
                  <a:tcPr>
                    <a:solidFill>
                      <a:srgbClr val="F7F8FA"/>
                    </a:solidFill>
                  </a:tcPr>
                </a:tc>
                <a:tc>
                  <a:txBody>
                    <a:bodyPr/>
                    <a:lstStyle/>
                    <a:p>
                      <a:pPr algn="ctr"/>
                      <a:r>
                        <a:rPr sz="800" b="0" i="0">
                          <a:solidFill>
                            <a:srgbClr val="0D0D0D"/>
                          </a:solidFill>
                          <a:latin typeface="Calibri"/>
                        </a:rPr>
                        <a:t>-15,0x</a:t>
                      </a:r>
                    </a:p>
                  </a:txBody>
                  <a:tcPr>
                    <a:solidFill>
                      <a:srgbClr val="F7F8FA"/>
                    </a:solidFill>
                  </a:tcPr>
                </a:tc>
                <a:tc>
                  <a:txBody>
                    <a:bodyPr/>
                    <a:lstStyle/>
                    <a:p>
                      <a:pPr algn="ctr"/>
                      <a:r>
                        <a:rPr sz="800" b="0" i="0">
                          <a:solidFill>
                            <a:srgbClr val="0D0D0D"/>
                          </a:solidFill>
                          <a:latin typeface="Calibri"/>
                        </a:rPr>
                        <a:t>10,0 %</a:t>
                      </a:r>
                    </a:p>
                  </a:txBody>
                  <a:tcPr>
                    <a:solidFill>
                      <a:srgbClr val="F7F8FA"/>
                    </a:solidFill>
                  </a:tcPr>
                </a:tc>
                <a:tc>
                  <a:txBody>
                    <a:bodyPr/>
                    <a:lstStyle/>
                    <a:p>
                      <a:pPr algn="ctr"/>
                      <a:r>
                        <a:rPr sz="800" b="0" i="0">
                          <a:solidFill>
                            <a:srgbClr val="0D0D0D"/>
                          </a:solidFill>
                          <a:latin typeface="Calibri"/>
                        </a:rPr>
                        <a:t>-50,0 %</a:t>
                      </a:r>
                    </a:p>
                  </a:txBody>
                  <a:tcPr>
                    <a:solidFill>
                      <a:srgbClr val="F7F8FA"/>
                    </a:solidFill>
                  </a:tcPr>
                </a:tc>
              </a:tr>
              <a:tr h="251999">
                <a:tc>
                  <a:txBody>
                    <a:bodyPr/>
                    <a:lstStyle/>
                    <a:p>
                      <a:pPr algn="l"/>
                      <a:r>
                        <a:rPr sz="800" b="0" i="0">
                          <a:solidFill>
                            <a:srgbClr val="0D0D0D"/>
                          </a:solidFill>
                          <a:latin typeface="Calibri"/>
                        </a:rPr>
                        <a:t>XPeng Inc</a:t>
                      </a:r>
                    </a:p>
                  </a:txBody>
                  <a:tcPr>
                    <a:solidFill>
                      <a:srgbClr val="FFFFFF"/>
                    </a:solidFill>
                  </a:tcPr>
                </a:tc>
                <a:tc>
                  <a:txBody>
                    <a:bodyPr/>
                    <a:lstStyle/>
                    <a:p>
                      <a:pPr algn="ctr"/>
                      <a:r>
                        <a:rPr sz="750" b="0" i="0">
                          <a:solidFill>
                            <a:srgbClr val="555555"/>
                          </a:solidFill>
                          <a:latin typeface="Calibri"/>
                        </a:rPr>
                        <a:t>XPEV.US</a:t>
                      </a:r>
                    </a:p>
                  </a:txBody>
                  <a:tcPr>
                    <a:solidFill>
                      <a:srgbClr val="FFFFFF"/>
                    </a:solidFill>
                  </a:tcPr>
                </a:tc>
                <a:tc>
                  <a:txBody>
                    <a:bodyPr/>
                    <a:lstStyle/>
                    <a:p>
                      <a:pPr algn="ctr"/>
                      <a:r>
                        <a:rPr sz="800" b="0" i="0">
                          <a:solidFill>
                            <a:srgbClr val="0D0D0D"/>
                          </a:solidFill>
                          <a:latin typeface="Calibri"/>
                        </a:rPr>
                        <a:t>8,0</a:t>
                      </a:r>
                    </a:p>
                  </a:txBody>
                  <a:tcPr>
                    <a:solidFill>
                      <a:srgbClr val="FFFFFF"/>
                    </a:solidFill>
                  </a:tcPr>
                </a:tc>
                <a:tc>
                  <a:txBody>
                    <a:bodyPr/>
                    <a:lstStyle/>
                    <a:p>
                      <a:pPr algn="ctr"/>
                      <a:r>
                        <a:rPr sz="800" b="0" i="0">
                          <a:solidFill>
                            <a:srgbClr val="0D0D0D"/>
                          </a:solidFill>
                          <a:latin typeface="Calibri"/>
                        </a:rPr>
                        <a:t>-12,0x</a:t>
                      </a:r>
                    </a:p>
                  </a:txBody>
                  <a:tcPr>
                    <a:solidFill>
                      <a:srgbClr val="FFFFFF"/>
                    </a:solidFill>
                  </a:tcPr>
                </a:tc>
                <a:tc>
                  <a:txBody>
                    <a:bodyPr/>
                    <a:lstStyle/>
                    <a:p>
                      <a:pPr algn="ctr"/>
                      <a:r>
                        <a:rPr sz="800" b="0" i="0">
                          <a:solidFill>
                            <a:srgbClr val="0D0D0D"/>
                          </a:solidFill>
                          <a:latin typeface="Calibri"/>
                        </a:rPr>
                        <a:t>2,5x</a:t>
                      </a:r>
                    </a:p>
                  </a:txBody>
                  <a:tcPr>
                    <a:solidFill>
                      <a:srgbClr val="FFFFFF"/>
                    </a:solidFill>
                  </a:tcPr>
                </a:tc>
                <a:tc>
                  <a:txBody>
                    <a:bodyPr/>
                    <a:lstStyle/>
                    <a:p>
                      <a:pPr algn="ctr"/>
                      <a:r>
                        <a:rPr sz="800" b="0" i="0">
                          <a:solidFill>
                            <a:srgbClr val="0D0D0D"/>
                          </a:solidFill>
                          <a:latin typeface="Calibri"/>
                        </a:rPr>
                        <a:t>-8,0x</a:t>
                      </a:r>
                    </a:p>
                  </a:txBody>
                  <a:tcPr>
                    <a:solidFill>
                      <a:srgbClr val="FFFFFF"/>
                    </a:solidFill>
                  </a:tcPr>
                </a:tc>
                <a:tc>
                  <a:txBody>
                    <a:bodyPr/>
                    <a:lstStyle/>
                    <a:p>
                      <a:pPr algn="ctr"/>
                      <a:r>
                        <a:rPr sz="800" b="0" i="0">
                          <a:solidFill>
                            <a:srgbClr val="0D0D0D"/>
                          </a:solidFill>
                          <a:latin typeface="Calibri"/>
                        </a:rPr>
                        <a:t>8,0 %</a:t>
                      </a:r>
                    </a:p>
                  </a:txBody>
                  <a:tcPr>
                    <a:solidFill>
                      <a:srgbClr val="FFFFFF"/>
                    </a:solidFill>
                  </a:tcPr>
                </a:tc>
                <a:tc>
                  <a:txBody>
                    <a:bodyPr/>
                    <a:lstStyle/>
                    <a:p>
                      <a:pPr algn="ctr"/>
                      <a:r>
                        <a:rPr sz="800" b="0" i="0">
                          <a:solidFill>
                            <a:srgbClr val="0D0D0D"/>
                          </a:solidFill>
                          <a:latin typeface="Calibri"/>
                        </a:rPr>
                        <a:t>-40,0 %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-12,0x</a:t>
                      </a:r>
                    </a:p>
                  </a:txBody>
                  <a:tcPr>
                    <a:solidFill>
                      <a:srgbClr val="F7F8FA"/>
                    </a:solidFill>
                  </a:tcPr>
                </a:tc>
                <a:tc>
                  <a:txBody>
                    <a:bodyPr/>
                    <a:lstStyle/>
                    <a:p>
                      <a:pPr algn="ctr"/>
                      <a:r>
                        <a:rPr sz="800" b="1" i="0">
                          <a:solidFill>
                            <a:srgbClr val="0D0D0D"/>
                          </a:solidFill>
                          <a:latin typeface="Calibri"/>
                        </a:rPr>
                        <a:t>3,8x</a:t>
                      </a:r>
                    </a:p>
                  </a:txBody>
                  <a:tcPr>
                    <a:solidFill>
                      <a:srgbClr val="F7F8FA"/>
                    </a:solidFill>
                  </a:tcPr>
                </a:tc>
                <a:tc>
                  <a:txBody>
                    <a:bodyPr/>
                    <a:lstStyle/>
                    <a:p>
                      <a:pPr algn="ctr"/>
                      <a:r>
                        <a:rPr sz="800" b="1" i="0">
                          <a:solidFill>
                            <a:srgbClr val="0D0D0D"/>
                          </a:solidFill>
                          <a:latin typeface="Calibri"/>
                        </a:rPr>
                        <a:t>-8,0x</a:t>
                      </a:r>
                    </a:p>
                  </a:txBody>
                  <a:tcPr>
                    <a:solidFill>
                      <a:srgbClr val="F7F8FA"/>
                    </a:solidFill>
                  </a:tcPr>
                </a:tc>
                <a:tc>
                  <a:txBody>
                    <a:bodyPr/>
                    <a:lstStyle/>
                    <a:p>
                      <a:pPr algn="ctr"/>
                      <a:r>
                        <a:rPr sz="800" b="1" i="0">
                          <a:solidFill>
                            <a:srgbClr val="0D0D0D"/>
                          </a:solidFill>
                          <a:latin typeface="Calibri"/>
                        </a:rPr>
                        <a:t>12,0 %</a:t>
                      </a:r>
                    </a:p>
                  </a:txBody>
                  <a:tcPr>
                    <a:solidFill>
                      <a:srgbClr val="F7F8FA"/>
                    </a:solidFill>
                  </a:tcPr>
                </a:tc>
                <a:tc>
                  <a:txBody>
                    <a:bodyPr/>
                    <a:lstStyle/>
                    <a:p>
                      <a:pPr algn="ctr"/>
                      <a:r>
                        <a:rPr sz="800" b="1" i="0">
                          <a:solidFill>
                            <a:srgbClr val="0D0D0D"/>
                          </a:solidFill>
                          <a:latin typeface="Calibri"/>
                        </a:rPr>
                        <a:t>-40,0 %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Les ratios EV/EBITDA (123x) et P/E (384x) sont largement supérieurs à ceux des concurrents directs, reflétant une prime pour l'innovation et la croissance.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1980000"/>
          </a:xfrm>
          <a:prstGeom prst="rect">
            <a:avLst/>
          </a:prstGeom>
        </p:spPr>
      </p:pic>
      <p:sp>
        <p:nvSpPr>
          <p:cNvPr id="18" name="TextBox 17"/>
          <p:cNvSpPr txBox="1"/>
          <p:nvPr/>
        </p:nvSpPr>
        <p:spPr>
          <a:xfrm>
            <a:off x="367200" y="3528000"/>
            <a:ext cx="8413200" cy="914400"/>
          </a:xfrm>
          <a:prstGeom prst="rect">
            <a:avLst/>
          </a:prstGeom>
          <a:noFill/>
        </p:spPr>
        <p:txBody>
          <a:bodyPr wrap="square">
            <a:spAutoFit/>
          </a:bodyPr>
          <a:lstStyle/>
          <a:p>
            <a:pPr algn="l"/>
            <a:r>
              <a:rPr sz="850" b="0" i="0">
                <a:solidFill>
                  <a:srgbClr val="555555"/>
                </a:solidFill>
                <a:latin typeface="Calibri"/>
              </a:rPr>
              <a:t>WACC à 14.8% reflète un coût du capital élevé pour un secteur cyclique. TGR de 2.5% implique une croissance modérée à long terme. Le DCF suggère un upside de 8% par rapport au cours actuel.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Concurrence accrue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Concurrence BYD/Chinois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Réglementation</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Risque réglementaire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Dépendance Chine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Dépendance aux subventions</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la demande VE de 20%</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de BYD et Chinois sur les prix (-30%)</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Retards majeurs dans le déploiement robotaxi ou Cybertruck</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+0,237</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51,1 %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11</a:t>
                      </a:r>
                    </a:p>
                  </a:txBody>
                  <a:tcPr>
                    <a:solidFill>
                      <a:srgbClr val="EAF4EF"/>
                    </a:solidFill>
                  </a:tcPr>
                </a:tc>
                <a:tc>
                  <a:txBody>
                    <a:bodyPr/>
                    <a:lstStyle/>
                    <a:p>
                      <a:pPr algn="ctr"/>
                      <a:r>
                        <a:rPr sz="800" b="0" i="0">
                          <a:solidFill>
                            <a:srgbClr val="0D0D0D"/>
                          </a:solidFill>
                          <a:latin typeface="Calibri"/>
                        </a:rPr>
                        <a:t>+0,363</a:t>
                      </a:r>
                    </a:p>
                  </a:txBody>
                  <a:tcPr>
                    <a:solidFill>
                      <a:srgbClr val="EAF4EF"/>
                    </a:solidFill>
                  </a:tcPr>
                </a:tc>
                <a:tc>
                  <a:txBody>
                    <a:bodyPr/>
                    <a:lstStyle/>
                    <a:p>
                      <a:pPr algn="ctr"/>
                      <a:r>
                        <a:rPr sz="800" b="0" i="0">
                          <a:solidFill>
                            <a:srgbClr val="0D0D0D"/>
                          </a:solidFill>
                          <a:latin typeface="Calibri"/>
                        </a:rPr>
                        <a:t>Expansion robotaxi 2026, Croissance marché VE Chine, Diversification énergie</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15</a:t>
                      </a:r>
                    </a:p>
                  </a:txBody>
                  <a:tcPr>
                    <a:solidFill>
                      <a:srgbClr val="FFFFFF"/>
                    </a:solidFill>
                  </a:tcPr>
                </a:tc>
                <a:tc>
                  <a:txBody>
                    <a:bodyPr/>
                    <a:lstStyle/>
                    <a:p>
                      <a:pPr algn="ctr"/>
                      <a:r>
                        <a:rPr sz="800" b="0" i="0">
                          <a:solidFill>
                            <a:srgbClr val="0D0D0D"/>
                          </a:solidFill>
                          <a:latin typeface="Calibri"/>
                        </a:rPr>
                        <a:t>+0,511</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4</a:t>
                      </a:r>
                    </a:p>
                  </a:txBody>
                  <a:tcPr>
                    <a:solidFill>
                      <a:srgbClr val="FAF0EF"/>
                    </a:solidFill>
                  </a:tcPr>
                </a:tc>
                <a:tc>
                  <a:txBody>
                    <a:bodyPr/>
                    <a:lstStyle/>
                    <a:p>
                      <a:pPr algn="ctr"/>
                      <a:r>
                        <a:rPr sz="800" b="0" i="0">
                          <a:solidFill>
                            <a:srgbClr val="0D0D0D"/>
                          </a:solidFill>
                          <a:latin typeface="Calibri"/>
                        </a:rPr>
                        <a:t>+0,126</a:t>
                      </a:r>
                    </a:p>
                  </a:txBody>
                  <a:tcPr>
                    <a:solidFill>
                      <a:srgbClr val="FAF0EF"/>
                    </a:solidFill>
                  </a:tcPr>
                </a:tc>
                <a:tc>
                  <a:txBody>
                    <a:bodyPr/>
                    <a:lstStyle/>
                    <a:p>
                      <a:pPr algn="ctr"/>
                      <a:r>
                        <a:rPr sz="800" b="0" i="0">
                          <a:solidFill>
                            <a:srgbClr val="0D0D0D"/>
                          </a:solidFill>
                          <a:latin typeface="Calibri"/>
                        </a:rPr>
                        <a:t>Concurrence BYD/Chinois, Risque réglementaire, Dépendance aux subventions</a:t>
                      </a:r>
                    </a:p>
                  </a:txBody>
                  <a:tcPr>
                    <a:solidFill>
                      <a:srgbClr val="FAF0EF"/>
                    </a:solidFill>
                  </a:tcPr>
                </a:tc>
              </a:tr>
            </a:tbl>
          </a:graphicData>
        </a:graphic>
      </p:graphicFrame>
      <p:sp>
        <p:nvSpPr>
          <p:cNvPr id="39" name="TextBox 38"/>
          <p:cNvSpPr txBox="1"/>
          <p:nvPr/>
        </p:nvSpPr>
        <p:spPr>
          <a:xfrm>
            <a:off x="367200" y="3664800"/>
            <a:ext cx="8413200" cy="914400"/>
          </a:xfrm>
          <a:prstGeom prst="rect">
            <a:avLst/>
          </a:prstGeom>
          <a:noFill/>
        </p:spPr>
        <p:txBody>
          <a:bodyPr wrap="square">
            <a:spAutoFit/>
          </a:bodyPr>
          <a:lstStyle/>
          <a:p>
            <a:pPr algn="l"/>
            <a:r>
              <a:rPr sz="850" b="0" i="0">
                <a:solidFill>
                  <a:srgbClr val="333333"/>
                </a:solidFill>
                <a:latin typeface="Calibri"/>
              </a:rPr>
              <a:t>Le sentiment neutre + (score +0.237) est basé sur 30 articles analysés sur 7 jours. Confiance IA : 51%. Cohérence avec la recommandation HOLD : surveiller.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25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La valorisation est historiquement élevée avec un P/E de 384x, bien au-dessus de la médiane sectorielle. Les multiples EV/EBITDA et EV/Revenue suggèrent une prime pour la croissance future.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  USD  ·  Au 25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388,64 $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282,16 $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+37,8 %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292282"/>
            <a:ext cx="498636" cy="60291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530080"/>
            <a:ext cx="498636" cy="36511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07612"/>
            <a:ext cx="498636" cy="28758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396236"/>
            <a:ext cx="498636" cy="49896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480961"/>
            <a:ext cx="498636" cy="141423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601099"/>
            <a:ext cx="498636" cy="12941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439677"/>
            <a:ext cx="498636" cy="145552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599117"/>
            <a:ext cx="498636" cy="12960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829484"/>
            <a:ext cx="498636" cy="1065715"/>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43594"/>
            <a:ext cx="498636" cy="951605"/>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7200" y="3751200"/>
            <a:ext cx="216000" cy="144000"/>
          </a:xfrm>
          <a:prstGeom prst="rect">
            <a:avLst/>
          </a:prstGeom>
          <a:noFill/>
        </p:spPr>
        <p:txBody>
          <a:bodyPr wrap="square">
            <a:spAutoFit/>
          </a:bodyPr>
          <a:lstStyle/>
          <a:p>
            <a:pPr algn="l"/>
            <a:r>
              <a:rPr sz="600" b="0" i="0">
                <a:solidFill>
                  <a:srgbClr val="555555"/>
                </a:solidFill>
                <a:latin typeface="Calibri"/>
              </a:rPr>
              <a:t>282</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67200" y="3276000"/>
            <a:ext cx="216000" cy="144000"/>
          </a:xfrm>
          <a:prstGeom prst="rect">
            <a:avLst/>
          </a:prstGeom>
          <a:noFill/>
        </p:spPr>
        <p:txBody>
          <a:bodyPr wrap="square">
            <a:spAutoFit/>
          </a:bodyPr>
          <a:lstStyle/>
          <a:p>
            <a:pPr algn="l"/>
            <a:r>
              <a:rPr sz="600" b="0" i="0">
                <a:solidFill>
                  <a:srgbClr val="555555"/>
                </a:solidFill>
                <a:latin typeface="Calibri"/>
              </a:rPr>
              <a:t>339</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7200" y="2786399"/>
            <a:ext cx="216000" cy="144000"/>
          </a:xfrm>
          <a:prstGeom prst="rect">
            <a:avLst/>
          </a:prstGeom>
          <a:noFill/>
        </p:spPr>
        <p:txBody>
          <a:bodyPr wrap="square">
            <a:spAutoFit/>
          </a:bodyPr>
          <a:lstStyle/>
          <a:p>
            <a:pPr algn="l"/>
            <a:r>
              <a:rPr sz="600" b="0" i="0">
                <a:solidFill>
                  <a:srgbClr val="555555"/>
                </a:solidFill>
                <a:latin typeface="Calibri"/>
              </a:rPr>
              <a:t>399</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67200" y="2311200"/>
            <a:ext cx="216000" cy="144000"/>
          </a:xfrm>
          <a:prstGeom prst="rect">
            <a:avLst/>
          </a:prstGeom>
          <a:noFill/>
        </p:spPr>
        <p:txBody>
          <a:bodyPr wrap="square">
            <a:spAutoFit/>
          </a:bodyPr>
          <a:lstStyle/>
          <a:p>
            <a:pPr algn="l"/>
            <a:r>
              <a:rPr sz="600" b="0" i="0">
                <a:solidFill>
                  <a:srgbClr val="555555"/>
                </a:solidFill>
                <a:latin typeface="Calibri"/>
              </a:rPr>
              <a:t>456</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Tesla affiche une croissance revenue négative en 2025 mais bénéficie d'une marge brute solide et d'une position dominante sur l'IA/robotique. La valorisation reste élevée malgré un ralentissement du marché des VE. Le titre est neutre avec un potentiel limité à court terme.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