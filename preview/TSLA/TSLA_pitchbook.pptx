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Tesla,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TSLA  ·  Consumer Cyclical</a:t>
            </a:r>
          </a:p>
        </p:txBody>
      </p:sp>
      <p:sp>
        <p:nvSpPr>
          <p:cNvPr id="8" name="Rectangle 7"/>
          <p:cNvSpPr/>
          <p:nvPr/>
        </p:nvSpPr>
        <p:spPr>
          <a:xfrm>
            <a:off x="457200" y="2720232"/>
            <a:ext cx="8229600" cy="475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B06000"/>
                </a:solidFill>
                <a:latin typeface="Calibri"/>
              </a:rPr>
              <a:t>● HOLD  ·  Prix cible base : 420 $  ·  Upside : +8,5 %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25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420 $  ·  Upside : +8,5 %  ·  Bear : 310 $ (-19,9 %)  ·  Bull : 510 $ (+31,8 %)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Intégration verticale</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Tesla vise 20% de part de marché mondiale en véhicules électriques d'ici 2026 avec 2M de véhicules produits</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Innovation technologique</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Le segment énergie pourrait atteindre 20% de marge EBITDA d'ici 2027 grâce à l'automatisation et aux économies d'échelle</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Marque premium</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L'IA et le FSD pourraient générer 15% de revenus additionnels d'ici 2028 via services abonnements et licences.</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Concurrence accrue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Concurrence accrue de BYD, BYD, Lucid et constructeurs traditionnels</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Marges compressées</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Baisse des subventions gouvernementales en Chine et Europe</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Risque de rappel massif lié à Autopilot</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122,7x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-0,8x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14,9 %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1,93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420 $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intrinseque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+8,5 %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+0,237</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Tesla, Inc.  ·  Consumer Cyclical</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Concurrence accrue  ·  Marges compressées</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  Presentation &amp; Positionnement strategique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Tesla conçoit, produit et vend des véhicules électriques haut de gamme et des solutions énergétiques durables. Positionnée comme leader technologique avec une intégration verticale unique (batteries, logiciels, bornes), l'entreprise cible les marchés premium et les early adopters. Ses avantages incluent une marque forte, une R&amp;D intensive et une expansion rapide dans l'IA et l'autonomie.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Automotive</a:t>
            </a:r>
          </a:p>
        </p:txBody>
      </p:sp>
      <p:sp>
        <p:nvSpPr>
          <p:cNvPr id="22" name="TextBox 21"/>
          <p:cNvSpPr txBox="1"/>
          <p:nvPr/>
        </p:nvSpPr>
        <p:spPr>
          <a:xfrm>
            <a:off x="619200" y="2714400"/>
            <a:ext cx="4338000" cy="144000"/>
          </a:xfrm>
          <a:prstGeom prst="rect">
            <a:avLst/>
          </a:prstGeom>
          <a:noFill/>
        </p:spPr>
        <p:txBody>
          <a:bodyPr wrap="square">
            <a:spAutoFit/>
          </a:bodyPr>
          <a:lstStyle/>
          <a:p>
            <a:pPr algn="l"/>
            <a:r>
              <a:rPr sz="750" b="0" i="1">
                <a:solidFill>
                  <a:srgbClr val="555555"/>
                </a:solidFill>
                <a:latin typeface="Calibri"/>
              </a:rPr>
              <a:t>Segment principal générant 85% des revenus via ventes de véhicules électriques (Model Y, Model 3,…</a:t>
            </a:r>
          </a:p>
        </p:txBody>
      </p:sp>
      <p:sp>
        <p:nvSpPr>
          <p:cNvPr id="23" name="Rectangle 22"/>
          <p:cNvSpPr/>
          <p:nvPr/>
        </p:nvSpPr>
        <p:spPr>
          <a:xfrm>
            <a:off x="503999" y="294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2897999"/>
            <a:ext cx="4338000" cy="165600"/>
          </a:xfrm>
          <a:prstGeom prst="rect">
            <a:avLst/>
          </a:prstGeom>
          <a:noFill/>
        </p:spPr>
        <p:txBody>
          <a:bodyPr wrap="square">
            <a:spAutoFit/>
          </a:bodyPr>
          <a:lstStyle/>
          <a:p>
            <a:pPr algn="l"/>
            <a:r>
              <a:rPr sz="850" b="1" i="0">
                <a:solidFill>
                  <a:srgbClr val="0D0D0D"/>
                </a:solidFill>
                <a:latin typeface="Calibri"/>
              </a:rPr>
              <a:t>Energy Generation and Storage</a:t>
            </a:r>
          </a:p>
        </p:txBody>
      </p:sp>
      <p:sp>
        <p:nvSpPr>
          <p:cNvPr id="25" name="TextBox 24"/>
          <p:cNvSpPr txBox="1"/>
          <p:nvPr/>
        </p:nvSpPr>
        <p:spPr>
          <a:xfrm>
            <a:off x="619200" y="3056399"/>
            <a:ext cx="4338000" cy="144000"/>
          </a:xfrm>
          <a:prstGeom prst="rect">
            <a:avLst/>
          </a:prstGeom>
          <a:noFill/>
        </p:spPr>
        <p:txBody>
          <a:bodyPr wrap="square">
            <a:spAutoFit/>
          </a:bodyPr>
          <a:lstStyle/>
          <a:p>
            <a:pPr algn="l"/>
            <a:r>
              <a:rPr sz="750" b="0" i="1">
                <a:solidFill>
                  <a:srgbClr val="555555"/>
                </a:solidFill>
                <a:latin typeface="Calibri"/>
              </a:rPr>
              <a:t>Vend des solutions solaires, Powerwall et Megapack pour particuliers et entreprises. Modèle basé…</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1 452,0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boursiere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94,8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386,94 $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122,7x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382,7x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Modele Economique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operationnels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85%</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Automotive</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principal générant 85% des revenus via ventes de véhicules électriques (Model Y, Model 3, Cybertruck). Cible les consommateurs premium et les flottes professionnelles. Croissance tirée par l'expansion géographique et les lancements de nouveaux modèles.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10%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Energy Generation and Storage</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Vend des solutions solaires, Powerwall et Megapack pour particuliers et entreprises. Modèle basé sur abonnements et ventes de systèmes clés en main. Croissance liée à la transition énergétique et aux incitations fiscales.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96,8</a:t>
                      </a:r>
                    </a:p>
                  </a:txBody>
                  <a:tcPr>
                    <a:solidFill>
                      <a:srgbClr val="FFFFFF"/>
                    </a:solidFill>
                  </a:tcPr>
                </a:tc>
                <a:tc>
                  <a:txBody>
                    <a:bodyPr/>
                    <a:lstStyle/>
                    <a:p>
                      <a:pPr algn="ctr"/>
                      <a:r>
                        <a:rPr sz="800" b="1" i="0">
                          <a:solidFill>
                            <a:srgbClr val="0D0D0D"/>
                          </a:solidFill>
                          <a:latin typeface="Calibri"/>
                        </a:rPr>
                        <a:t>97,7</a:t>
                      </a:r>
                    </a:p>
                  </a:txBody>
                  <a:tcPr>
                    <a:solidFill>
                      <a:srgbClr val="FFFFFF"/>
                    </a:solidFill>
                  </a:tcPr>
                </a:tc>
                <a:tc>
                  <a:txBody>
                    <a:bodyPr/>
                    <a:lstStyle/>
                    <a:p>
                      <a:pPr algn="ctr"/>
                      <a:r>
                        <a:rPr sz="800" b="1" i="0">
                          <a:solidFill>
                            <a:srgbClr val="1B3A6B"/>
                          </a:solidFill>
                          <a:latin typeface="Calibri"/>
                        </a:rPr>
                        <a:t>94,8</a:t>
                      </a:r>
                    </a:p>
                  </a:txBody>
                  <a:tcPr>
                    <a:solidFill>
                      <a:srgbClr val="DDE8F5"/>
                    </a:solidFill>
                  </a:tcPr>
                </a:tc>
                <a:tc>
                  <a:txBody>
                    <a:bodyPr/>
                    <a:lstStyle/>
                    <a:p>
                      <a:pPr algn="ctr"/>
                      <a:r>
                        <a:rPr sz="800" b="1" i="0">
                          <a:solidFill>
                            <a:srgbClr val="0D0D0D"/>
                          </a:solidFill>
                          <a:latin typeface="Calibri"/>
                        </a:rPr>
                        <a:t>108,0</a:t>
                      </a:r>
                    </a:p>
                  </a:txBody>
                  <a:tcPr>
                    <a:solidFill>
                      <a:srgbClr val="FFFFFF"/>
                    </a:solidFill>
                  </a:tcPr>
                </a:tc>
                <a:tc>
                  <a:txBody>
                    <a:bodyPr/>
                    <a:lstStyle/>
                    <a:p>
                      <a:pPr algn="ctr"/>
                      <a:r>
                        <a:rPr sz="800" b="1" i="0">
                          <a:solidFill>
                            <a:srgbClr val="0D0D0D"/>
                          </a:solidFill>
                          <a:latin typeface="Calibri"/>
                        </a:rPr>
                        <a:t>125,0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+18,8 %</a:t>
                      </a:r>
                    </a:p>
                  </a:txBody>
                  <a:tcPr>
                    <a:solidFill>
                      <a:srgbClr val="F7F8FA"/>
                    </a:solidFill>
                  </a:tcPr>
                </a:tc>
                <a:tc>
                  <a:txBody>
                    <a:bodyPr/>
                    <a:lstStyle/>
                    <a:p>
                      <a:pPr algn="ctr"/>
                      <a:r>
                        <a:rPr sz="750" b="0" i="1">
                          <a:solidFill>
                            <a:srgbClr val="555555"/>
                          </a:solidFill>
                          <a:latin typeface="Calibri"/>
                        </a:rPr>
                        <a:t>+1,0 %</a:t>
                      </a:r>
                    </a:p>
                  </a:txBody>
                  <a:tcPr>
                    <a:solidFill>
                      <a:srgbClr val="F7F8FA"/>
                    </a:solidFill>
                  </a:tcPr>
                </a:tc>
                <a:tc>
                  <a:txBody>
                    <a:bodyPr/>
                    <a:lstStyle/>
                    <a:p>
                      <a:pPr algn="ctr"/>
                      <a:r>
                        <a:rPr sz="750" b="0" i="1">
                          <a:solidFill>
                            <a:srgbClr val="555555"/>
                          </a:solidFill>
                          <a:latin typeface="Calibri"/>
                        </a:rPr>
                        <a:t>-3,0 %</a:t>
                      </a:r>
                    </a:p>
                  </a:txBody>
                  <a:tcPr>
                    <a:solidFill>
                      <a:srgbClr val="DDE8F5"/>
                    </a:solidFill>
                  </a:tcPr>
                </a:tc>
                <a:tc>
                  <a:txBody>
                    <a:bodyPr/>
                    <a:lstStyle/>
                    <a:p>
                      <a:pPr algn="ctr"/>
                      <a:r>
                        <a:rPr sz="750" b="0" i="1">
                          <a:solidFill>
                            <a:srgbClr val="555555"/>
                          </a:solidFill>
                          <a:latin typeface="Calibri"/>
                        </a:rPr>
                        <a:t>+14,0 %</a:t>
                      </a:r>
                    </a:p>
                  </a:txBody>
                  <a:tcPr>
                    <a:solidFill>
                      <a:srgbClr val="F7F8FA"/>
                    </a:solidFill>
                  </a:tcPr>
                </a:tc>
                <a:tc>
                  <a:txBody>
                    <a:bodyPr/>
                    <a:lstStyle/>
                    <a:p>
                      <a:pPr algn="ctr"/>
                      <a:r>
                        <a:rPr sz="750" b="0" i="1">
                          <a:solidFill>
                            <a:srgbClr val="555555"/>
                          </a:solidFill>
                          <a:latin typeface="Calibri"/>
                        </a:rPr>
                        <a:t>+16,0 %</a:t>
                      </a:r>
                    </a:p>
                  </a:txBody>
                  <a:tcPr>
                    <a:solidFill>
                      <a:srgbClr val="F7F8FA"/>
                    </a:solidFill>
                  </a:tcPr>
                </a:tc>
              </a:tr>
              <a:tr h="220000">
                <a:tc>
                  <a:txBody>
                    <a:bodyPr/>
                    <a:lstStyle/>
                    <a:p>
                      <a:pPr algn="l"/>
                      <a:r>
                        <a:rPr sz="800" b="1" i="0">
                          <a:solidFill>
                            <a:srgbClr val="0D0D0D"/>
                          </a:solidFill>
                          <a:latin typeface="Calibri"/>
                        </a:rPr>
                        <a:t>Resultat brut</a:t>
                      </a:r>
                    </a:p>
                  </a:txBody>
                  <a:tcPr>
                    <a:solidFill>
                      <a:srgbClr val="FFFFFF"/>
                    </a:solidFill>
                  </a:tcPr>
                </a:tc>
                <a:tc>
                  <a:txBody>
                    <a:bodyPr/>
                    <a:lstStyle/>
                    <a:p>
                      <a:pPr algn="ctr"/>
                      <a:r>
                        <a:rPr sz="800" b="1" i="0">
                          <a:solidFill>
                            <a:srgbClr val="0D0D0D"/>
                          </a:solidFill>
                          <a:latin typeface="Calibri"/>
                        </a:rPr>
                        <a:t>17,7</a:t>
                      </a:r>
                    </a:p>
                  </a:txBody>
                  <a:tcPr>
                    <a:solidFill>
                      <a:srgbClr val="FFFFFF"/>
                    </a:solidFill>
                  </a:tcPr>
                </a:tc>
                <a:tc>
                  <a:txBody>
                    <a:bodyPr/>
                    <a:lstStyle/>
                    <a:p>
                      <a:pPr algn="ctr"/>
                      <a:r>
                        <a:rPr sz="800" b="1" i="0">
                          <a:solidFill>
                            <a:srgbClr val="0D0D0D"/>
                          </a:solidFill>
                          <a:latin typeface="Calibri"/>
                        </a:rPr>
                        <a:t>17,4</a:t>
                      </a:r>
                    </a:p>
                  </a:txBody>
                  <a:tcPr>
                    <a:solidFill>
                      <a:srgbClr val="FFFFFF"/>
                    </a:solidFill>
                  </a:tcPr>
                </a:tc>
                <a:tc>
                  <a:txBody>
                    <a:bodyPr/>
                    <a:lstStyle/>
                    <a:p>
                      <a:pPr algn="ctr"/>
                      <a:r>
                        <a:rPr sz="800" b="1" i="0">
                          <a:solidFill>
                            <a:srgbClr val="1B3A6B"/>
                          </a:solidFill>
                          <a:latin typeface="Calibri"/>
                        </a:rPr>
                        <a:t>17,1</a:t>
                      </a:r>
                    </a:p>
                  </a:txBody>
                  <a:tcPr>
                    <a:solidFill>
                      <a:srgbClr val="DDE8F5"/>
                    </a:solidFill>
                  </a:tcPr>
                </a:tc>
                <a:tc>
                  <a:txBody>
                    <a:bodyPr/>
                    <a:lstStyle/>
                    <a:p>
                      <a:pPr algn="ctr"/>
                      <a:r>
                        <a:rPr sz="800" b="1" i="0">
                          <a:solidFill>
                            <a:srgbClr val="0D0D0D"/>
                          </a:solidFill>
                          <a:latin typeface="Calibri"/>
                        </a:rPr>
                        <a:t>20,5</a:t>
                      </a:r>
                    </a:p>
                  </a:txBody>
                  <a:tcPr>
                    <a:solidFill>
                      <a:srgbClr val="FFFFFF"/>
                    </a:solidFill>
                  </a:tcPr>
                </a:tc>
                <a:tc>
                  <a:txBody>
                    <a:bodyPr/>
                    <a:lstStyle/>
                    <a:p>
                      <a:pPr algn="ctr"/>
                      <a:r>
                        <a:rPr sz="800" b="1" i="0">
                          <a:solidFill>
                            <a:srgbClr val="0D0D0D"/>
                          </a:solidFill>
                          <a:latin typeface="Calibri"/>
                        </a:rPr>
                        <a:t>26,2</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18,2 %</a:t>
                      </a:r>
                    </a:p>
                  </a:txBody>
                  <a:tcPr>
                    <a:solidFill>
                      <a:srgbClr val="F7F8FA"/>
                    </a:solidFill>
                  </a:tcPr>
                </a:tc>
                <a:tc>
                  <a:txBody>
                    <a:bodyPr/>
                    <a:lstStyle/>
                    <a:p>
                      <a:pPr algn="ctr"/>
                      <a:r>
                        <a:rPr sz="750" b="0" i="1">
                          <a:solidFill>
                            <a:srgbClr val="555555"/>
                          </a:solidFill>
                          <a:latin typeface="Calibri"/>
                        </a:rPr>
                        <a:t>17,9 %</a:t>
                      </a:r>
                    </a:p>
                  </a:txBody>
                  <a:tcPr>
                    <a:solidFill>
                      <a:srgbClr val="F7F8FA"/>
                    </a:solidFill>
                  </a:tcPr>
                </a:tc>
                <a:tc>
                  <a:txBody>
                    <a:bodyPr/>
                    <a:lstStyle/>
                    <a:p>
                      <a:pPr algn="ctr"/>
                      <a:r>
                        <a:rPr sz="750" b="0" i="1">
                          <a:solidFill>
                            <a:srgbClr val="555555"/>
                          </a:solidFill>
                          <a:latin typeface="Calibri"/>
                        </a:rPr>
                        <a:t>18,0 %</a:t>
                      </a:r>
                    </a:p>
                  </a:txBody>
                  <a:tcPr>
                    <a:solidFill>
                      <a:srgbClr val="DDE8F5"/>
                    </a:solidFill>
                  </a:tcPr>
                </a:tc>
                <a:tc>
                  <a:txBody>
                    <a:bodyPr/>
                    <a:lstStyle/>
                    <a:p>
                      <a:pPr algn="ctr"/>
                      <a:r>
                        <a:rPr sz="750" b="0" i="1">
                          <a:solidFill>
                            <a:srgbClr val="555555"/>
                          </a:solidFill>
                          <a:latin typeface="Calibri"/>
                        </a:rPr>
                        <a:t>19,0 %</a:t>
                      </a:r>
                    </a:p>
                  </a:txBody>
                  <a:tcPr>
                    <a:solidFill>
                      <a:srgbClr val="F7F8FA"/>
                    </a:solidFill>
                  </a:tcPr>
                </a:tc>
                <a:tc>
                  <a:txBody>
                    <a:bodyPr/>
                    <a:lstStyle/>
                    <a:p>
                      <a:pPr algn="ctr"/>
                      <a:r>
                        <a:rPr sz="750" b="0" i="1">
                          <a:solidFill>
                            <a:srgbClr val="555555"/>
                          </a:solidFill>
                          <a:latin typeface="Calibri"/>
                        </a:rPr>
                        <a:t>21,0 %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14,8</a:t>
                      </a:r>
                    </a:p>
                  </a:txBody>
                  <a:tcPr>
                    <a:solidFill>
                      <a:srgbClr val="FFFFFF"/>
                    </a:solidFill>
                  </a:tcPr>
                </a:tc>
                <a:tc>
                  <a:txBody>
                    <a:bodyPr/>
                    <a:lstStyle/>
                    <a:p>
                      <a:pPr algn="ctr"/>
                      <a:r>
                        <a:rPr sz="800" b="1" i="0">
                          <a:solidFill>
                            <a:srgbClr val="0D0D0D"/>
                          </a:solidFill>
                          <a:latin typeface="Calibri"/>
                        </a:rPr>
                        <a:t>14,7</a:t>
                      </a:r>
                    </a:p>
                  </a:txBody>
                  <a:tcPr>
                    <a:solidFill>
                      <a:srgbClr val="FFFFFF"/>
                    </a:solidFill>
                  </a:tcPr>
                </a:tc>
                <a:tc>
                  <a:txBody>
                    <a:bodyPr/>
                    <a:lstStyle/>
                    <a:p>
                      <a:pPr algn="ctr"/>
                      <a:r>
                        <a:rPr sz="800" b="1" i="0">
                          <a:solidFill>
                            <a:srgbClr val="1B3A6B"/>
                          </a:solidFill>
                          <a:latin typeface="Calibri"/>
                        </a:rPr>
                        <a:t>11,8</a:t>
                      </a:r>
                    </a:p>
                  </a:txBody>
                  <a:tcPr>
                    <a:solidFill>
                      <a:srgbClr val="DDE8F5"/>
                    </a:solidFill>
                  </a:tcPr>
                </a:tc>
                <a:tc>
                  <a:txBody>
                    <a:bodyPr/>
                    <a:lstStyle/>
                    <a:p>
                      <a:pPr algn="ctr"/>
                      <a:r>
                        <a:rPr sz="800" b="1" i="0">
                          <a:solidFill>
                            <a:srgbClr val="0D0D0D"/>
                          </a:solidFill>
                          <a:latin typeface="Calibri"/>
                        </a:rPr>
                        <a:t>16,2</a:t>
                      </a:r>
                    </a:p>
                  </a:txBody>
                  <a:tcPr>
                    <a:solidFill>
                      <a:srgbClr val="FFFFFF"/>
                    </a:solidFill>
                  </a:tcPr>
                </a:tc>
                <a:tc>
                  <a:txBody>
                    <a:bodyPr/>
                    <a:lstStyle/>
                    <a:p>
                      <a:pPr algn="ctr"/>
                      <a:r>
                        <a:rPr sz="800" b="1" i="0">
                          <a:solidFill>
                            <a:srgbClr val="0D0D0D"/>
                          </a:solidFill>
                          <a:latin typeface="Calibri"/>
                        </a:rPr>
                        <a:t>22,5</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15,3 %</a:t>
                      </a:r>
                    </a:p>
                  </a:txBody>
                  <a:tcPr>
                    <a:solidFill>
                      <a:srgbClr val="F7F8FA"/>
                    </a:solidFill>
                  </a:tcPr>
                </a:tc>
                <a:tc>
                  <a:txBody>
                    <a:bodyPr/>
                    <a:lstStyle/>
                    <a:p>
                      <a:pPr algn="ctr"/>
                      <a:r>
                        <a:rPr sz="750" b="0" i="1">
                          <a:solidFill>
                            <a:srgbClr val="555555"/>
                          </a:solidFill>
                          <a:latin typeface="Calibri"/>
                        </a:rPr>
                        <a:t>15,1 %</a:t>
                      </a:r>
                    </a:p>
                  </a:txBody>
                  <a:tcPr>
                    <a:solidFill>
                      <a:srgbClr val="F7F8FA"/>
                    </a:solidFill>
                  </a:tcPr>
                </a:tc>
                <a:tc>
                  <a:txBody>
                    <a:bodyPr/>
                    <a:lstStyle/>
                    <a:p>
                      <a:pPr algn="ctr"/>
                      <a:r>
                        <a:rPr sz="750" b="0" i="1">
                          <a:solidFill>
                            <a:srgbClr val="555555"/>
                          </a:solidFill>
                          <a:latin typeface="Calibri"/>
                        </a:rPr>
                        <a:t>12,4 %</a:t>
                      </a:r>
                    </a:p>
                  </a:txBody>
                  <a:tcPr>
                    <a:solidFill>
                      <a:srgbClr val="DDE8F5"/>
                    </a:solidFill>
                  </a:tcPr>
                </a:tc>
                <a:tc>
                  <a:txBody>
                    <a:bodyPr/>
                    <a:lstStyle/>
                    <a:p>
                      <a:pPr algn="ctr"/>
                      <a:r>
                        <a:rPr sz="750" b="0" i="1">
                          <a:solidFill>
                            <a:srgbClr val="555555"/>
                          </a:solidFill>
                          <a:latin typeface="Calibri"/>
                        </a:rPr>
                        <a:t>15,0 %</a:t>
                      </a:r>
                    </a:p>
                  </a:txBody>
                  <a:tcPr>
                    <a:solidFill>
                      <a:srgbClr val="F7F8FA"/>
                    </a:solidFill>
                  </a:tcPr>
                </a:tc>
                <a:tc>
                  <a:txBody>
                    <a:bodyPr/>
                    <a:lstStyle/>
                    <a:p>
                      <a:pPr algn="ctr"/>
                      <a:r>
                        <a:rPr sz="750" b="0" i="1">
                          <a:solidFill>
                            <a:srgbClr val="555555"/>
                          </a:solidFill>
                          <a:latin typeface="Calibri"/>
                        </a:rPr>
                        <a:t>18,0 %</a:t>
                      </a:r>
                    </a:p>
                  </a:txBody>
                  <a:tcPr>
                    <a:solidFill>
                      <a:srgbClr val="F7F8FA"/>
                    </a:solidFill>
                  </a:tcPr>
                </a:tc>
              </a:tr>
              <a:tr h="220000">
                <a:tc>
                  <a:txBody>
                    <a:bodyPr/>
                    <a:lstStyle/>
                    <a:p>
                      <a:pPr algn="l"/>
                      <a:r>
                        <a:rPr sz="800" b="1" i="0">
                          <a:solidFill>
                            <a:srgbClr val="0D0D0D"/>
                          </a:solidFill>
                          <a:latin typeface="Calibri"/>
                        </a:rPr>
                        <a:t>Resultat net</a:t>
                      </a:r>
                    </a:p>
                  </a:txBody>
                  <a:tcPr>
                    <a:solidFill>
                      <a:srgbClr val="FFFFFF"/>
                    </a:solidFill>
                  </a:tcPr>
                </a:tc>
                <a:tc>
                  <a:txBody>
                    <a:bodyPr/>
                    <a:lstStyle/>
                    <a:p>
                      <a:pPr algn="ctr"/>
                      <a:r>
                        <a:rPr sz="800" b="1" i="0">
                          <a:solidFill>
                            <a:srgbClr val="0D0D0D"/>
                          </a:solidFill>
                          <a:latin typeface="Calibri"/>
                        </a:rPr>
                        <a:t>15,0</a:t>
                      </a:r>
                    </a:p>
                  </a:txBody>
                  <a:tcPr>
                    <a:solidFill>
                      <a:srgbClr val="FFFFFF"/>
                    </a:solidFill>
                  </a:tcPr>
                </a:tc>
                <a:tc>
                  <a:txBody>
                    <a:bodyPr/>
                    <a:lstStyle/>
                    <a:p>
                      <a:pPr algn="ctr"/>
                      <a:r>
                        <a:rPr sz="800" b="1" i="0">
                          <a:solidFill>
                            <a:srgbClr val="0D0D0D"/>
                          </a:solidFill>
                          <a:latin typeface="Calibri"/>
                        </a:rPr>
                        <a:t>7,1</a:t>
                      </a:r>
                    </a:p>
                  </a:txBody>
                  <a:tcPr>
                    <a:solidFill>
                      <a:srgbClr val="FFFFFF"/>
                    </a:solidFill>
                  </a:tcPr>
                </a:tc>
                <a:tc>
                  <a:txBody>
                    <a:bodyPr/>
                    <a:lstStyle/>
                    <a:p>
                      <a:pPr algn="ctr"/>
                      <a:r>
                        <a:rPr sz="800" b="1" i="0">
                          <a:solidFill>
                            <a:srgbClr val="1B3A6B"/>
                          </a:solidFill>
                          <a:latin typeface="Calibri"/>
                        </a:rPr>
                        <a:t>3,8</a:t>
                      </a:r>
                    </a:p>
                  </a:txBody>
                  <a:tcPr>
                    <a:solidFill>
                      <a:srgbClr val="DDE8F5"/>
                    </a:solidFill>
                  </a:tcPr>
                </a:tc>
                <a:tc>
                  <a:txBody>
                    <a:bodyPr/>
                    <a:lstStyle/>
                    <a:p>
                      <a:pPr algn="ctr"/>
                      <a:r>
                        <a:rPr sz="800" b="1" i="0">
                          <a:solidFill>
                            <a:srgbClr val="0D0D0D"/>
                          </a:solidFill>
                          <a:latin typeface="Calibri"/>
                        </a:rPr>
                        <a:t>6,5</a:t>
                      </a:r>
                    </a:p>
                  </a:txBody>
                  <a:tcPr>
                    <a:solidFill>
                      <a:srgbClr val="FFFFFF"/>
                    </a:solidFill>
                  </a:tcPr>
                </a:tc>
                <a:tc>
                  <a:txBody>
                    <a:bodyPr/>
                    <a:lstStyle/>
                    <a:p>
                      <a:pPr algn="ctr"/>
                      <a:r>
                        <a:rPr sz="800" b="1" i="0">
                          <a:solidFill>
                            <a:srgbClr val="0D0D0D"/>
                          </a:solidFill>
                          <a:latin typeface="Calibri"/>
                        </a:rPr>
                        <a:t>10,0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15,5 %</a:t>
                      </a:r>
                    </a:p>
                  </a:txBody>
                  <a:tcPr>
                    <a:solidFill>
                      <a:srgbClr val="F7F8FA"/>
                    </a:solidFill>
                  </a:tcPr>
                </a:tc>
                <a:tc>
                  <a:txBody>
                    <a:bodyPr/>
                    <a:lstStyle/>
                    <a:p>
                      <a:pPr algn="ctr"/>
                      <a:r>
                        <a:rPr sz="750" b="0" i="1">
                          <a:solidFill>
                            <a:srgbClr val="555555"/>
                          </a:solidFill>
                          <a:latin typeface="Calibri"/>
                        </a:rPr>
                        <a:t>7,3 %</a:t>
                      </a:r>
                    </a:p>
                  </a:txBody>
                  <a:tcPr>
                    <a:solidFill>
                      <a:srgbClr val="F7F8FA"/>
                    </a:solidFill>
                  </a:tcPr>
                </a:tc>
                <a:tc>
                  <a:txBody>
                    <a:bodyPr/>
                    <a:lstStyle/>
                    <a:p>
                      <a:pPr algn="ctr"/>
                      <a:r>
                        <a:rPr sz="750" b="0" i="1">
                          <a:solidFill>
                            <a:srgbClr val="555555"/>
                          </a:solidFill>
                          <a:latin typeface="Calibri"/>
                        </a:rPr>
                        <a:t>4,0 %</a:t>
                      </a:r>
                    </a:p>
                  </a:txBody>
                  <a:tcPr>
                    <a:solidFill>
                      <a:srgbClr val="DDE8F5"/>
                    </a:solidFill>
                  </a:tcPr>
                </a:tc>
                <a:tc>
                  <a:txBody>
                    <a:bodyPr/>
                    <a:lstStyle/>
                    <a:p>
                      <a:pPr algn="ctr"/>
                      <a:r>
                        <a:rPr sz="750" b="0" i="1">
                          <a:solidFill>
                            <a:srgbClr val="555555"/>
                          </a:solidFill>
                          <a:latin typeface="Calibri"/>
                        </a:rPr>
                        <a:t>6,0 %</a:t>
                      </a:r>
                    </a:p>
                  </a:txBody>
                  <a:tcPr>
                    <a:solidFill>
                      <a:srgbClr val="F7F8FA"/>
                    </a:solidFill>
                  </a:tcPr>
                </a:tc>
                <a:tc>
                  <a:txBody>
                    <a:bodyPr/>
                    <a:lstStyle/>
                    <a:p>
                      <a:pPr algn="ctr"/>
                      <a:r>
                        <a:rPr sz="750" b="0" i="1">
                          <a:solidFill>
                            <a:srgbClr val="555555"/>
                          </a:solidFill>
                          <a:latin typeface="Calibri"/>
                        </a:rPr>
                        <a:t>8,0 %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Revenue en baisse de 3% en 2025 avec marges sous pression (GM 18%, EBITDA 12.4%). Croissance future dépend de lancements produits et de la demande en énergie. Cash-flows positifs mais volatils.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16,5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6,6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-8,4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2,23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1,55</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interets</a:t>
                      </a:r>
                    </a:p>
                  </a:txBody>
                  <a:tcPr>
                    <a:solidFill>
                      <a:srgbClr val="F7F8FA"/>
                    </a:solidFill>
                  </a:tcPr>
                </a:tc>
                <a:tc>
                  <a:txBody>
                    <a:bodyPr/>
                    <a:lstStyle/>
                    <a:p>
                      <a:pPr algn="ctr"/>
                      <a:r>
                        <a:rPr sz="800" b="0" i="0">
                          <a:solidFill>
                            <a:srgbClr val="0D0D0D"/>
                          </a:solidFill>
                          <a:latin typeface="Calibri"/>
                        </a:rPr>
                        <a:t>16,6x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-0,7x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17,27</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-2,61</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Revenue en baisse de 3% en 2025 avec marges sous pression (GM 18%, EBITDA 12.4%). Croissance future dépend de lancements produits et de la demande en énergie. Cash-flows positifs mais volatils.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382,7x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Eleve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122,7x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Tres eleve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Tres eleve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Modere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17,27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ROE à 4.6% et ROIC à 6.3% sous-performent vs pairs (moyenne secteur &gt;12%). Marges EBITDA (12.4%) inférieures à la médiane des constructeurs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420 $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386,94 $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310 $</a:t>
                      </a:r>
                    </a:p>
                  </a:txBody>
                  <a:tcPr>
                    <a:solidFill>
                      <a:srgbClr val="FAF0EF"/>
                    </a:solidFill>
                  </a:tcPr>
                </a:tc>
                <a:tc>
                  <a:txBody>
                    <a:bodyPr/>
                    <a:lstStyle/>
                    <a:p>
                      <a:pPr algn="ctr"/>
                      <a:r>
                        <a:rPr sz="2000" b="1" i="0">
                          <a:solidFill>
                            <a:srgbClr val="2E5FA3"/>
                          </a:solidFill>
                          <a:latin typeface="Calibri"/>
                        </a:rPr>
                        <a:t>420 $</a:t>
                      </a:r>
                    </a:p>
                  </a:txBody>
                  <a:tcPr>
                    <a:solidFill>
                      <a:srgbClr val="EEF3FA"/>
                    </a:solidFill>
                  </a:tcPr>
                </a:tc>
                <a:tc>
                  <a:txBody>
                    <a:bodyPr/>
                    <a:lstStyle/>
                    <a:p>
                      <a:pPr algn="ctr"/>
                      <a:r>
                        <a:rPr sz="2000" b="1" i="0">
                          <a:solidFill>
                            <a:srgbClr val="1A7A4A"/>
                          </a:solidFill>
                          <a:latin typeface="Calibri"/>
                        </a:rPr>
                        <a:t>510 $</a:t>
                      </a:r>
                    </a:p>
                  </a:txBody>
                  <a:tcPr>
                    <a:solidFill>
                      <a:srgbClr val="EAF4EF"/>
                    </a:solidFill>
                  </a:tcPr>
                </a:tc>
              </a:tr>
              <a:tr h="342900">
                <a:tc>
                  <a:txBody>
                    <a:bodyPr/>
                    <a:lstStyle/>
                    <a:p>
                      <a:pPr algn="ctr"/>
                      <a:r>
                        <a:rPr sz="1200" b="1" i="0">
                          <a:solidFill>
                            <a:srgbClr val="A82020"/>
                          </a:solidFill>
                          <a:latin typeface="Calibri"/>
                        </a:rPr>
                        <a:t>-19,9 %</a:t>
                      </a:r>
                    </a:p>
                  </a:txBody>
                  <a:tcPr>
                    <a:solidFill>
                      <a:srgbClr val="FAF0EF"/>
                    </a:solidFill>
                  </a:tcPr>
                </a:tc>
                <a:tc>
                  <a:txBody>
                    <a:bodyPr/>
                    <a:lstStyle/>
                    <a:p>
                      <a:pPr algn="ctr"/>
                      <a:r>
                        <a:rPr sz="1200" b="1" i="0">
                          <a:solidFill>
                            <a:srgbClr val="2E5FA3"/>
                          </a:solidFill>
                          <a:latin typeface="Calibri"/>
                        </a:rPr>
                        <a:t>+8,5 %</a:t>
                      </a:r>
                    </a:p>
                  </a:txBody>
                  <a:tcPr>
                    <a:solidFill>
                      <a:srgbClr val="EEF3FA"/>
                    </a:solidFill>
                  </a:tcPr>
                </a:tc>
                <a:tc>
                  <a:txBody>
                    <a:bodyPr/>
                    <a:lstStyle/>
                    <a:p>
                      <a:pPr algn="ctr"/>
                      <a:r>
                        <a:rPr sz="1200" b="1" i="0">
                          <a:solidFill>
                            <a:srgbClr val="1A7A4A"/>
                          </a:solidFill>
                          <a:latin typeface="Calibri"/>
                        </a:rPr>
                        <a:t>+31,8 %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sensibilite — Valeur intrinseque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526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555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13,9%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14,9%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420</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15,9%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WACC 14.9% et TGR 2.5% impliquent un upside de 9% vs cours actuel. Scénario base valorise TSLA à 420 USD par action.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Tesla, Inc.</a:t>
                      </a:r>
                    </a:p>
                  </a:txBody>
                  <a:tcPr>
                    <a:solidFill>
                      <a:srgbClr val="DDE8F5"/>
                    </a:solidFill>
                  </a:tcPr>
                </a:tc>
                <a:tc>
                  <a:txBody>
                    <a:bodyPr/>
                    <a:lstStyle/>
                    <a:p>
                      <a:pPr algn="ctr"/>
                      <a:r>
                        <a:rPr sz="750" b="1" i="0">
                          <a:solidFill>
                            <a:srgbClr val="2E5FA3"/>
                          </a:solidFill>
                          <a:latin typeface="Calibri"/>
                        </a:rPr>
                        <a:t>TSLA</a:t>
                      </a:r>
                    </a:p>
                  </a:txBody>
                  <a:tcPr>
                    <a:solidFill>
                      <a:srgbClr val="DDE8F5"/>
                    </a:solidFill>
                  </a:tcPr>
                </a:tc>
                <a:tc>
                  <a:txBody>
                    <a:bodyPr/>
                    <a:lstStyle/>
                    <a:p>
                      <a:pPr algn="ctr"/>
                      <a:r>
                        <a:rPr sz="800" b="1" i="0">
                          <a:solidFill>
                            <a:srgbClr val="1B3A6B"/>
                          </a:solidFill>
                          <a:latin typeface="Calibri"/>
                        </a:rPr>
                        <a:t>1 452,0</a:t>
                      </a:r>
                    </a:p>
                  </a:txBody>
                  <a:tcPr>
                    <a:solidFill>
                      <a:srgbClr val="DDE8F5"/>
                    </a:solidFill>
                  </a:tcPr>
                </a:tc>
                <a:tc>
                  <a:txBody>
                    <a:bodyPr/>
                    <a:lstStyle/>
                    <a:p>
                      <a:pPr algn="ctr"/>
                      <a:r>
                        <a:rPr sz="800" b="1" i="0">
                          <a:solidFill>
                            <a:srgbClr val="1B3A6B"/>
                          </a:solidFill>
                          <a:latin typeface="Calibri"/>
                        </a:rPr>
                        <a:t>122,7x</a:t>
                      </a:r>
                    </a:p>
                  </a:txBody>
                  <a:tcPr>
                    <a:solidFill>
                      <a:srgbClr val="DDE8F5"/>
                    </a:solidFill>
                  </a:tcPr>
                </a:tc>
                <a:tc>
                  <a:txBody>
                    <a:bodyPr/>
                    <a:lstStyle/>
                    <a:p>
                      <a:pPr algn="ctr"/>
                      <a:r>
                        <a:rPr sz="800" b="1" i="0">
                          <a:solidFill>
                            <a:srgbClr val="1B3A6B"/>
                          </a:solidFill>
                          <a:latin typeface="Calibri"/>
                        </a:rPr>
                        <a:t>15,2x</a:t>
                      </a:r>
                    </a:p>
                  </a:txBody>
                  <a:tcPr>
                    <a:solidFill>
                      <a:srgbClr val="DDE8F5"/>
                    </a:solidFill>
                  </a:tcPr>
                </a:tc>
                <a:tc>
                  <a:txBody>
                    <a:bodyPr/>
                    <a:lstStyle/>
                    <a:p>
                      <a:pPr algn="ctr"/>
                      <a:r>
                        <a:rPr sz="800" b="1" i="0">
                          <a:solidFill>
                            <a:srgbClr val="1B3A6B"/>
                          </a:solidFill>
                          <a:latin typeface="Calibri"/>
                        </a:rPr>
                        <a:t>382,7x</a:t>
                      </a:r>
                    </a:p>
                  </a:txBody>
                  <a:tcPr>
                    <a:solidFill>
                      <a:srgbClr val="DDE8F5"/>
                    </a:solidFill>
                  </a:tcPr>
                </a:tc>
                <a:tc>
                  <a:txBody>
                    <a:bodyPr/>
                    <a:lstStyle/>
                    <a:p>
                      <a:pPr algn="ctr"/>
                      <a:r>
                        <a:rPr sz="800" b="1" i="0">
                          <a:solidFill>
                            <a:srgbClr val="1B3A6B"/>
                          </a:solidFill>
                          <a:latin typeface="Calibri"/>
                        </a:rPr>
                        <a:t>18,0 %</a:t>
                      </a:r>
                    </a:p>
                  </a:txBody>
                  <a:tcPr>
                    <a:solidFill>
                      <a:srgbClr val="DDE8F5"/>
                    </a:solidFill>
                  </a:tcPr>
                </a:tc>
                <a:tc>
                  <a:txBody>
                    <a:bodyPr/>
                    <a:lstStyle/>
                    <a:p>
                      <a:pPr algn="ctr"/>
                      <a:r>
                        <a:rPr sz="800" b="1" i="0">
                          <a:solidFill>
                            <a:srgbClr val="1B3A6B"/>
                          </a:solidFill>
                          <a:latin typeface="Calibri"/>
                        </a:rPr>
                        <a:t>12,4 %</a:t>
                      </a:r>
                    </a:p>
                  </a:txBody>
                  <a:tcPr>
                    <a:solidFill>
                      <a:srgbClr val="DDE8F5"/>
                    </a:solidFill>
                  </a:tcPr>
                </a:tc>
              </a:tr>
              <a:tr h="251999">
                <a:tc>
                  <a:txBody>
                    <a:bodyPr/>
                    <a:lstStyle/>
                    <a:p>
                      <a:pPr algn="l"/>
                      <a:r>
                        <a:rPr sz="800" b="0" i="0">
                          <a:solidFill>
                            <a:srgbClr val="0D0D0D"/>
                          </a:solidFill>
                          <a:latin typeface="Calibri"/>
                        </a:rPr>
                        <a:t>BYD Company</a:t>
                      </a:r>
                    </a:p>
                  </a:txBody>
                  <a:tcPr>
                    <a:solidFill>
                      <a:srgbClr val="FFFFFF"/>
                    </a:solidFill>
                  </a:tcPr>
                </a:tc>
                <a:tc>
                  <a:txBody>
                    <a:bodyPr/>
                    <a:lstStyle/>
                    <a:p>
                      <a:pPr algn="ctr"/>
                      <a:r>
                        <a:rPr sz="750" b="0" i="0">
                          <a:solidFill>
                            <a:srgbClr val="555555"/>
                          </a:solidFill>
                          <a:latin typeface="Calibri"/>
                        </a:rPr>
                        <a:t>BYD</a:t>
                      </a:r>
                    </a:p>
                  </a:txBody>
                  <a:tcPr>
                    <a:solidFill>
                      <a:srgbClr val="FFFFFF"/>
                    </a:solidFill>
                  </a:tcPr>
                </a:tc>
                <a:tc>
                  <a:txBody>
                    <a:bodyPr/>
                    <a:lstStyle/>
                    <a:p>
                      <a:pPr algn="ctr"/>
                      <a:r>
                        <a:rPr sz="800" b="0" i="0">
                          <a:solidFill>
                            <a:srgbClr val="0D0D0D"/>
                          </a:solidFill>
                          <a:latin typeface="Calibri"/>
                        </a:rPr>
                        <a:t>110,0</a:t>
                      </a:r>
                    </a:p>
                  </a:txBody>
                  <a:tcPr>
                    <a:solidFill>
                      <a:srgbClr val="FFFFFF"/>
                    </a:solidFill>
                  </a:tcPr>
                </a:tc>
                <a:tc>
                  <a:txBody>
                    <a:bodyPr/>
                    <a:lstStyle/>
                    <a:p>
                      <a:pPr algn="ctr"/>
                      <a:r>
                        <a:rPr sz="800" b="0" i="0">
                          <a:solidFill>
                            <a:srgbClr val="0D0D0D"/>
                          </a:solidFill>
                          <a:latin typeface="Calibri"/>
                        </a:rPr>
                        <a:t>22,5x</a:t>
                      </a:r>
                    </a:p>
                  </a:txBody>
                  <a:tcPr>
                    <a:solidFill>
                      <a:srgbClr val="FFFFFF"/>
                    </a:solidFill>
                  </a:tcPr>
                </a:tc>
                <a:tc>
                  <a:txBody>
                    <a:bodyPr/>
                    <a:lstStyle/>
                    <a:p>
                      <a:pPr algn="ctr"/>
                      <a:r>
                        <a:rPr sz="800" b="0" i="0">
                          <a:solidFill>
                            <a:srgbClr val="0D0D0D"/>
                          </a:solidFill>
                          <a:latin typeface="Calibri"/>
                        </a:rPr>
                        <a:t>3,2x</a:t>
                      </a:r>
                    </a:p>
                  </a:txBody>
                  <a:tcPr>
                    <a:solidFill>
                      <a:srgbClr val="FFFFFF"/>
                    </a:solidFill>
                  </a:tcPr>
                </a:tc>
                <a:tc>
                  <a:txBody>
                    <a:bodyPr/>
                    <a:lstStyle/>
                    <a:p>
                      <a:pPr algn="ctr"/>
                      <a:r>
                        <a:rPr sz="800" b="0" i="0">
                          <a:solidFill>
                            <a:srgbClr val="0D0D0D"/>
                          </a:solidFill>
                          <a:latin typeface="Calibri"/>
                        </a:rPr>
                        <a:t>45,0x</a:t>
                      </a:r>
                    </a:p>
                  </a:txBody>
                  <a:tcPr>
                    <a:solidFill>
                      <a:srgbClr val="FFFFFF"/>
                    </a:solidFill>
                  </a:tcPr>
                </a:tc>
                <a:tc>
                  <a:txBody>
                    <a:bodyPr/>
                    <a:lstStyle/>
                    <a:p>
                      <a:pPr algn="ctr"/>
                      <a:r>
                        <a:rPr sz="800" b="0" i="0">
                          <a:solidFill>
                            <a:srgbClr val="0D0D0D"/>
                          </a:solidFill>
                          <a:latin typeface="Calibri"/>
                        </a:rPr>
                        <a:t>22,0 %</a:t>
                      </a:r>
                    </a:p>
                  </a:txBody>
                  <a:tcPr>
                    <a:solidFill>
                      <a:srgbClr val="FFFFFF"/>
                    </a:solidFill>
                  </a:tcPr>
                </a:tc>
                <a:tc>
                  <a:txBody>
                    <a:bodyPr/>
                    <a:lstStyle/>
                    <a:p>
                      <a:pPr algn="ctr"/>
                      <a:r>
                        <a:rPr sz="800" b="0" i="0">
                          <a:solidFill>
                            <a:srgbClr val="0D0D0D"/>
                          </a:solidFill>
                          <a:latin typeface="Calibri"/>
                        </a:rPr>
                        <a:t>18,0 %</a:t>
                      </a:r>
                    </a:p>
                  </a:txBody>
                  <a:tcPr>
                    <a:solidFill>
                      <a:srgbClr val="FFFFFF"/>
                    </a:solidFill>
                  </a:tcPr>
                </a:tc>
              </a:tr>
              <a:tr h="251999">
                <a:tc>
                  <a:txBody>
                    <a:bodyPr/>
                    <a:lstStyle/>
                    <a:p>
                      <a:pPr algn="l"/>
                      <a:r>
                        <a:rPr sz="800" b="0" i="0">
                          <a:solidFill>
                            <a:srgbClr val="0D0D0D"/>
                          </a:solidFill>
                          <a:latin typeface="Calibri"/>
                        </a:rPr>
                        <a:t>Lucid Group</a:t>
                      </a:r>
                    </a:p>
                  </a:txBody>
                  <a:tcPr>
                    <a:solidFill>
                      <a:srgbClr val="F7F8FA"/>
                    </a:solidFill>
                  </a:tcPr>
                </a:tc>
                <a:tc>
                  <a:txBody>
                    <a:bodyPr/>
                    <a:lstStyle/>
                    <a:p>
                      <a:pPr algn="ctr"/>
                      <a:r>
                        <a:rPr sz="750" b="0" i="0">
                          <a:solidFill>
                            <a:srgbClr val="555555"/>
                          </a:solidFill>
                          <a:latin typeface="Calibri"/>
                        </a:rPr>
                        <a:t>LCID</a:t>
                      </a:r>
                    </a:p>
                  </a:txBody>
                  <a:tcPr>
                    <a:solidFill>
                      <a:srgbClr val="F7F8FA"/>
                    </a:solidFill>
                  </a:tcPr>
                </a:tc>
                <a:tc>
                  <a:txBody>
                    <a:bodyPr/>
                    <a:lstStyle/>
                    <a:p>
                      <a:pPr algn="ctr"/>
                      <a:r>
                        <a:rPr sz="800" b="0" i="0">
                          <a:solidFill>
                            <a:srgbClr val="0D0D0D"/>
                          </a:solidFill>
                          <a:latin typeface="Calibri"/>
                        </a:rPr>
                        <a:t>12,0</a:t>
                      </a:r>
                    </a:p>
                  </a:txBody>
                  <a:tcPr>
                    <a:solidFill>
                      <a:srgbClr val="F7F8FA"/>
                    </a:solidFill>
                  </a:tcPr>
                </a:tc>
                <a:tc>
                  <a:txBody>
                    <a:bodyPr/>
                    <a:lstStyle/>
                    <a:p>
                      <a:pPr algn="ctr"/>
                      <a:r>
                        <a:rPr sz="800" b="0" i="0">
                          <a:solidFill>
                            <a:srgbClr val="0D0D0D"/>
                          </a:solidFill>
                          <a:latin typeface="Calibri"/>
                        </a:rPr>
                        <a:t>-1,5x</a:t>
                      </a:r>
                    </a:p>
                  </a:txBody>
                  <a:tcPr>
                    <a:solidFill>
                      <a:srgbClr val="F7F8FA"/>
                    </a:solidFill>
                  </a:tcPr>
                </a:tc>
                <a:tc>
                  <a:txBody>
                    <a:bodyPr/>
                    <a:lstStyle/>
                    <a:p>
                      <a:pPr algn="ctr"/>
                      <a:r>
                        <a:rPr sz="800" b="0" i="0">
                          <a:solidFill>
                            <a:srgbClr val="0D0D0D"/>
                          </a:solidFill>
                          <a:latin typeface="Calibri"/>
                        </a:rPr>
                        <a:t>12,0x</a:t>
                      </a:r>
                    </a:p>
                  </a:txBody>
                  <a:tcPr>
                    <a:solidFill>
                      <a:srgbClr val="F7F8FA"/>
                    </a:solidFill>
                  </a:tcPr>
                </a:tc>
                <a:tc>
                  <a:txBody>
                    <a:bodyPr/>
                    <a:lstStyle/>
                    <a:p>
                      <a:pPr algn="ctr"/>
                      <a:r>
                        <a:rPr sz="800" b="0" i="0">
                          <a:solidFill>
                            <a:srgbClr val="0D0D0D"/>
                          </a:solidFill>
                          <a:latin typeface="Calibri"/>
                        </a:rPr>
                        <a:t>-5,0x</a:t>
                      </a:r>
                    </a:p>
                  </a:txBody>
                  <a:tcPr>
                    <a:solidFill>
                      <a:srgbClr val="F7F8FA"/>
                    </a:solidFill>
                  </a:tcPr>
                </a:tc>
                <a:tc>
                  <a:txBody>
                    <a:bodyPr/>
                    <a:lstStyle/>
                    <a:p>
                      <a:pPr algn="ctr"/>
                      <a:r>
                        <a:rPr sz="800" b="0" i="0">
                          <a:solidFill>
                            <a:srgbClr val="0D0D0D"/>
                          </a:solidFill>
                          <a:latin typeface="Calibri"/>
                        </a:rPr>
                        <a:t>15,0 %</a:t>
                      </a:r>
                    </a:p>
                  </a:txBody>
                  <a:tcPr>
                    <a:solidFill>
                      <a:srgbClr val="F7F8FA"/>
                    </a:solidFill>
                  </a:tcPr>
                </a:tc>
                <a:tc>
                  <a:txBody>
                    <a:bodyPr/>
                    <a:lstStyle/>
                    <a:p>
                      <a:pPr algn="ctr"/>
                      <a:r>
                        <a:rPr sz="800" b="0" i="0">
                          <a:solidFill>
                            <a:srgbClr val="0D0D0D"/>
                          </a:solidFill>
                          <a:latin typeface="Calibri"/>
                        </a:rPr>
                        <a:t>-25,0 %</a:t>
                      </a:r>
                    </a:p>
                  </a:txBody>
                  <a:tcPr>
                    <a:solidFill>
                      <a:srgbClr val="F7F8FA"/>
                    </a:solidFill>
                  </a:tcPr>
                </a:tc>
              </a:tr>
              <a:tr h="251999">
                <a:tc>
                  <a:txBody>
                    <a:bodyPr/>
                    <a:lstStyle/>
                    <a:p>
                      <a:pPr algn="l"/>
                      <a:r>
                        <a:rPr sz="800" b="0" i="0">
                          <a:solidFill>
                            <a:srgbClr val="0D0D0D"/>
                          </a:solidFill>
                          <a:latin typeface="Calibri"/>
                        </a:rPr>
                        <a:t>Rivian Automotive</a:t>
                      </a:r>
                    </a:p>
                  </a:txBody>
                  <a:tcPr>
                    <a:solidFill>
                      <a:srgbClr val="FFFFFF"/>
                    </a:solidFill>
                  </a:tcPr>
                </a:tc>
                <a:tc>
                  <a:txBody>
                    <a:bodyPr/>
                    <a:lstStyle/>
                    <a:p>
                      <a:pPr algn="ctr"/>
                      <a:r>
                        <a:rPr sz="750" b="0" i="0">
                          <a:solidFill>
                            <a:srgbClr val="555555"/>
                          </a:solidFill>
                          <a:latin typeface="Calibri"/>
                        </a:rPr>
                        <a:t>RIVN</a:t>
                      </a:r>
                    </a:p>
                  </a:txBody>
                  <a:tcPr>
                    <a:solidFill>
                      <a:srgbClr val="FFFFFF"/>
                    </a:solidFill>
                  </a:tcPr>
                </a:tc>
                <a:tc>
                  <a:txBody>
                    <a:bodyPr/>
                    <a:lstStyle/>
                    <a:p>
                      <a:pPr algn="ctr"/>
                      <a:r>
                        <a:rPr sz="800" b="0" i="0">
                          <a:solidFill>
                            <a:srgbClr val="0D0D0D"/>
                          </a:solidFill>
                          <a:latin typeface="Calibri"/>
                        </a:rPr>
                        <a:t>18,0</a:t>
                      </a:r>
                    </a:p>
                  </a:txBody>
                  <a:tcPr>
                    <a:solidFill>
                      <a:srgbClr val="FFFFFF"/>
                    </a:solidFill>
                  </a:tcPr>
                </a:tc>
                <a:tc>
                  <a:txBody>
                    <a:bodyPr/>
                    <a:lstStyle/>
                    <a:p>
                      <a:pPr algn="ctr"/>
                      <a:r>
                        <a:rPr sz="800" b="0" i="0">
                          <a:solidFill>
                            <a:srgbClr val="0D0D0D"/>
                          </a:solidFill>
                          <a:latin typeface="Calibri"/>
                        </a:rPr>
                        <a:t>-1,8x</a:t>
                      </a:r>
                    </a:p>
                  </a:txBody>
                  <a:tcPr>
                    <a:solidFill>
                      <a:srgbClr val="FFFFFF"/>
                    </a:solidFill>
                  </a:tcPr>
                </a:tc>
                <a:tc>
                  <a:txBody>
                    <a:bodyPr/>
                    <a:lstStyle/>
                    <a:p>
                      <a:pPr algn="ctr"/>
                      <a:r>
                        <a:rPr sz="800" b="0" i="0">
                          <a:solidFill>
                            <a:srgbClr val="0D0D0D"/>
                          </a:solidFill>
                          <a:latin typeface="Calibri"/>
                        </a:rPr>
                        <a:t>9,5x</a:t>
                      </a:r>
                    </a:p>
                  </a:txBody>
                  <a:tcPr>
                    <a:solidFill>
                      <a:srgbClr val="FFFFFF"/>
                    </a:solidFill>
                  </a:tcPr>
                </a:tc>
                <a:tc>
                  <a:txBody>
                    <a:bodyPr/>
                    <a:lstStyle/>
                    <a:p>
                      <a:pPr algn="ctr"/>
                      <a:r>
                        <a:rPr sz="800" b="0" i="0">
                          <a:solidFill>
                            <a:srgbClr val="0D0D0D"/>
                          </a:solidFill>
                          <a:latin typeface="Calibri"/>
                        </a:rPr>
                        <a:t>-3,0x</a:t>
                      </a:r>
                    </a:p>
                  </a:txBody>
                  <a:tcPr>
                    <a:solidFill>
                      <a:srgbClr val="FFFFFF"/>
                    </a:solidFill>
                  </a:tcPr>
                </a:tc>
                <a:tc>
                  <a:txBody>
                    <a:bodyPr/>
                    <a:lstStyle/>
                    <a:p>
                      <a:pPr algn="ctr"/>
                      <a:r>
                        <a:rPr sz="800" b="0" i="0">
                          <a:solidFill>
                            <a:srgbClr val="0D0D0D"/>
                          </a:solidFill>
                          <a:latin typeface="Calibri"/>
                        </a:rPr>
                        <a:t>12,0 %</a:t>
                      </a:r>
                    </a:p>
                  </a:txBody>
                  <a:tcPr>
                    <a:solidFill>
                      <a:srgbClr val="FFFFFF"/>
                    </a:solidFill>
                  </a:tcPr>
                </a:tc>
                <a:tc>
                  <a:txBody>
                    <a:bodyPr/>
                    <a:lstStyle/>
                    <a:p>
                      <a:pPr algn="ctr"/>
                      <a:r>
                        <a:rPr sz="800" b="0" i="0">
                          <a:solidFill>
                            <a:srgbClr val="0D0D0D"/>
                          </a:solidFill>
                          <a:latin typeface="Calibri"/>
                        </a:rPr>
                        <a:t>-30,0 %</a:t>
                      </a:r>
                    </a:p>
                  </a:txBody>
                  <a:tcPr>
                    <a:solidFill>
                      <a:srgbClr val="FFFFFF"/>
                    </a:solidFill>
                  </a:tcPr>
                </a:tc>
              </a:tr>
              <a:tr h="251999">
                <a:tc>
                  <a:txBody>
                    <a:bodyPr/>
                    <a:lstStyle/>
                    <a:p>
                      <a:pPr algn="l"/>
                      <a:r>
                        <a:rPr sz="800" b="0" i="0">
                          <a:solidFill>
                            <a:srgbClr val="0D0D0D"/>
                          </a:solidFill>
                          <a:latin typeface="Calibri"/>
                        </a:rPr>
                        <a:t>NIO Inc</a:t>
                      </a:r>
                    </a:p>
                  </a:txBody>
                  <a:tcPr>
                    <a:solidFill>
                      <a:srgbClr val="F7F8FA"/>
                    </a:solidFill>
                  </a:tcPr>
                </a:tc>
                <a:tc>
                  <a:txBody>
                    <a:bodyPr/>
                    <a:lstStyle/>
                    <a:p>
                      <a:pPr algn="ctr"/>
                      <a:r>
                        <a:rPr sz="750" b="0" i="0">
                          <a:solidFill>
                            <a:srgbClr val="555555"/>
                          </a:solidFill>
                          <a:latin typeface="Calibri"/>
                        </a:rPr>
                        <a:t>NIO</a:t>
                      </a:r>
                    </a:p>
                  </a:txBody>
                  <a:tcPr>
                    <a:solidFill>
                      <a:srgbClr val="F7F8FA"/>
                    </a:solidFill>
                  </a:tcPr>
                </a:tc>
                <a:tc>
                  <a:txBody>
                    <a:bodyPr/>
                    <a:lstStyle/>
                    <a:p>
                      <a:pPr algn="ctr"/>
                      <a:r>
                        <a:rPr sz="800" b="0" i="0">
                          <a:solidFill>
                            <a:srgbClr val="0D0D0D"/>
                          </a:solidFill>
                          <a:latin typeface="Calibri"/>
                        </a:rPr>
                        <a:t>25,0</a:t>
                      </a:r>
                    </a:p>
                  </a:txBody>
                  <a:tcPr>
                    <a:solidFill>
                      <a:srgbClr val="F7F8FA"/>
                    </a:solidFill>
                  </a:tcPr>
                </a:tc>
                <a:tc>
                  <a:txBody>
                    <a:bodyPr/>
                    <a:lstStyle/>
                    <a:p>
                      <a:pPr algn="ctr"/>
                      <a:r>
                        <a:rPr sz="800" b="0" i="0">
                          <a:solidFill>
                            <a:srgbClr val="0D0D0D"/>
                          </a:solidFill>
                          <a:latin typeface="Calibri"/>
                        </a:rPr>
                        <a:t>-0,8x</a:t>
                      </a:r>
                    </a:p>
                  </a:txBody>
                  <a:tcPr>
                    <a:solidFill>
                      <a:srgbClr val="F7F8FA"/>
                    </a:solidFill>
                  </a:tcPr>
                </a:tc>
                <a:tc>
                  <a:txBody>
                    <a:bodyPr/>
                    <a:lstStyle/>
                    <a:p>
                      <a:pPr algn="ctr"/>
                      <a:r>
                        <a:rPr sz="800" b="0" i="0">
                          <a:solidFill>
                            <a:srgbClr val="0D0D0D"/>
                          </a:solidFill>
                          <a:latin typeface="Calibri"/>
                        </a:rPr>
                        <a:t>4,5x</a:t>
                      </a:r>
                    </a:p>
                  </a:txBody>
                  <a:tcPr>
                    <a:solidFill>
                      <a:srgbClr val="F7F8FA"/>
                    </a:solidFill>
                  </a:tcPr>
                </a:tc>
                <a:tc>
                  <a:txBody>
                    <a:bodyPr/>
                    <a:lstStyle/>
                    <a:p>
                      <a:pPr algn="ctr"/>
                      <a:r>
                        <a:rPr sz="800" b="0" i="0">
                          <a:solidFill>
                            <a:srgbClr val="0D0D0D"/>
                          </a:solidFill>
                          <a:latin typeface="Calibri"/>
                        </a:rPr>
                        <a:t>-10,0x</a:t>
                      </a:r>
                    </a:p>
                  </a:txBody>
                  <a:tcPr>
                    <a:solidFill>
                      <a:srgbClr val="F7F8FA"/>
                    </a:solidFill>
                  </a:tcPr>
                </a:tc>
                <a:tc>
                  <a:txBody>
                    <a:bodyPr/>
                    <a:lstStyle/>
                    <a:p>
                      <a:pPr algn="ctr"/>
                      <a:r>
                        <a:rPr sz="800" b="0" i="0">
                          <a:solidFill>
                            <a:srgbClr val="0D0D0D"/>
                          </a:solidFill>
                          <a:latin typeface="Calibri"/>
                        </a:rPr>
                        <a:t>14,0 %</a:t>
                      </a:r>
                    </a:p>
                  </a:txBody>
                  <a:tcPr>
                    <a:solidFill>
                      <a:srgbClr val="F7F8FA"/>
                    </a:solidFill>
                  </a:tcPr>
                </a:tc>
                <a:tc>
                  <a:txBody>
                    <a:bodyPr/>
                    <a:lstStyle/>
                    <a:p>
                      <a:pPr algn="ctr"/>
                      <a:r>
                        <a:rPr sz="800" b="0" i="0">
                          <a:solidFill>
                            <a:srgbClr val="0D0D0D"/>
                          </a:solidFill>
                          <a:latin typeface="Calibri"/>
                        </a:rPr>
                        <a:t>-15,0 %</a:t>
                      </a:r>
                    </a:p>
                  </a:txBody>
                  <a:tcPr>
                    <a:solidFill>
                      <a:srgbClr val="F7F8FA"/>
                    </a:solidFill>
                  </a:tcPr>
                </a:tc>
              </a:tr>
              <a:tr h="251999">
                <a:tc>
                  <a:txBody>
                    <a:bodyPr/>
                    <a:lstStyle/>
                    <a:p>
                      <a:pPr algn="l"/>
                      <a:r>
                        <a:rPr sz="800" b="0" i="0">
                          <a:solidFill>
                            <a:srgbClr val="0D0D0D"/>
                          </a:solidFill>
                          <a:latin typeface="Calibri"/>
                        </a:rPr>
                        <a:t>XPeng Inc</a:t>
                      </a:r>
                    </a:p>
                  </a:txBody>
                  <a:tcPr>
                    <a:solidFill>
                      <a:srgbClr val="FFFFFF"/>
                    </a:solidFill>
                  </a:tcPr>
                </a:tc>
                <a:tc>
                  <a:txBody>
                    <a:bodyPr/>
                    <a:lstStyle/>
                    <a:p>
                      <a:pPr algn="ctr"/>
                      <a:r>
                        <a:rPr sz="750" b="0" i="0">
                          <a:solidFill>
                            <a:srgbClr val="555555"/>
                          </a:solidFill>
                          <a:latin typeface="Calibri"/>
                        </a:rPr>
                        <a:t>XPEV</a:t>
                      </a:r>
                    </a:p>
                  </a:txBody>
                  <a:tcPr>
                    <a:solidFill>
                      <a:srgbClr val="FFFFFF"/>
                    </a:solidFill>
                  </a:tcPr>
                </a:tc>
                <a:tc>
                  <a:txBody>
                    <a:bodyPr/>
                    <a:lstStyle/>
                    <a:p>
                      <a:pPr algn="ctr"/>
                      <a:r>
                        <a:rPr sz="800" b="0" i="0">
                          <a:solidFill>
                            <a:srgbClr val="0D0D0D"/>
                          </a:solidFill>
                          <a:latin typeface="Calibri"/>
                        </a:rPr>
                        <a:t>10,0</a:t>
                      </a:r>
                    </a:p>
                  </a:txBody>
                  <a:tcPr>
                    <a:solidFill>
                      <a:srgbClr val="FFFFFF"/>
                    </a:solidFill>
                  </a:tcPr>
                </a:tc>
                <a:tc>
                  <a:txBody>
                    <a:bodyPr/>
                    <a:lstStyle/>
                    <a:p>
                      <a:pPr algn="ctr"/>
                      <a:r>
                        <a:rPr sz="800" b="0" i="0">
                          <a:solidFill>
                            <a:srgbClr val="0D0D0D"/>
                          </a:solidFill>
                          <a:latin typeface="Calibri"/>
                        </a:rPr>
                        <a:t>-0,6x</a:t>
                      </a:r>
                    </a:p>
                  </a:txBody>
                  <a:tcPr>
                    <a:solidFill>
                      <a:srgbClr val="FFFFFF"/>
                    </a:solidFill>
                  </a:tcPr>
                </a:tc>
                <a:tc>
                  <a:txBody>
                    <a:bodyPr/>
                    <a:lstStyle/>
                    <a:p>
                      <a:pPr algn="ctr"/>
                      <a:r>
                        <a:rPr sz="800" b="0" i="0">
                          <a:solidFill>
                            <a:srgbClr val="0D0D0D"/>
                          </a:solidFill>
                          <a:latin typeface="Calibri"/>
                        </a:rPr>
                        <a:t>5,0x</a:t>
                      </a:r>
                    </a:p>
                  </a:txBody>
                  <a:tcPr>
                    <a:solidFill>
                      <a:srgbClr val="FFFFFF"/>
                    </a:solidFill>
                  </a:tcPr>
                </a:tc>
                <a:tc>
                  <a:txBody>
                    <a:bodyPr/>
                    <a:lstStyle/>
                    <a:p>
                      <a:pPr algn="ctr"/>
                      <a:r>
                        <a:rPr sz="800" b="0" i="0">
                          <a:solidFill>
                            <a:srgbClr val="0D0D0D"/>
                          </a:solidFill>
                          <a:latin typeface="Calibri"/>
                        </a:rPr>
                        <a:t>-8,0x</a:t>
                      </a:r>
                    </a:p>
                  </a:txBody>
                  <a:tcPr>
                    <a:solidFill>
                      <a:srgbClr val="FFFFFF"/>
                    </a:solidFill>
                  </a:tcPr>
                </a:tc>
                <a:tc>
                  <a:txBody>
                    <a:bodyPr/>
                    <a:lstStyle/>
                    <a:p>
                      <a:pPr algn="ctr"/>
                      <a:r>
                        <a:rPr sz="800" b="0" i="0">
                          <a:solidFill>
                            <a:srgbClr val="0D0D0D"/>
                          </a:solidFill>
                          <a:latin typeface="Calibri"/>
                        </a:rPr>
                        <a:t>13,0 %</a:t>
                      </a:r>
                    </a:p>
                  </a:txBody>
                  <a:tcPr>
                    <a:solidFill>
                      <a:srgbClr val="FFFFFF"/>
                    </a:solidFill>
                  </a:tcPr>
                </a:tc>
                <a:tc>
                  <a:txBody>
                    <a:bodyPr/>
                    <a:lstStyle/>
                    <a:p>
                      <a:pPr algn="ctr"/>
                      <a:r>
                        <a:rPr sz="800" b="0" i="0">
                          <a:solidFill>
                            <a:srgbClr val="0D0D0D"/>
                          </a:solidFill>
                          <a:latin typeface="Calibri"/>
                        </a:rPr>
                        <a:t>-10,0 %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-0,8x</a:t>
                      </a:r>
                    </a:p>
                  </a:txBody>
                  <a:tcPr>
                    <a:solidFill>
                      <a:srgbClr val="F7F8FA"/>
                    </a:solidFill>
                  </a:tcPr>
                </a:tc>
                <a:tc>
                  <a:txBody>
                    <a:bodyPr/>
                    <a:lstStyle/>
                    <a:p>
                      <a:pPr algn="ctr"/>
                      <a:r>
                        <a:rPr sz="800" b="1" i="0">
                          <a:solidFill>
                            <a:srgbClr val="0D0D0D"/>
                          </a:solidFill>
                          <a:latin typeface="Calibri"/>
                        </a:rPr>
                        <a:t>5,0x</a:t>
                      </a:r>
                    </a:p>
                  </a:txBody>
                  <a:tcPr>
                    <a:solidFill>
                      <a:srgbClr val="F7F8FA"/>
                    </a:solidFill>
                  </a:tcPr>
                </a:tc>
                <a:tc>
                  <a:txBody>
                    <a:bodyPr/>
                    <a:lstStyle/>
                    <a:p>
                      <a:pPr algn="ctr"/>
                      <a:r>
                        <a:rPr sz="800" b="1" i="0">
                          <a:solidFill>
                            <a:srgbClr val="0D0D0D"/>
                          </a:solidFill>
                          <a:latin typeface="Calibri"/>
                        </a:rPr>
                        <a:t>-5,0x</a:t>
                      </a:r>
                    </a:p>
                  </a:txBody>
                  <a:tcPr>
                    <a:solidFill>
                      <a:srgbClr val="F7F8FA"/>
                    </a:solidFill>
                  </a:tcPr>
                </a:tc>
                <a:tc>
                  <a:txBody>
                    <a:bodyPr/>
                    <a:lstStyle/>
                    <a:p>
                      <a:pPr algn="ctr"/>
                      <a:r>
                        <a:rPr sz="800" b="1" i="0">
                          <a:solidFill>
                            <a:srgbClr val="0D0D0D"/>
                          </a:solidFill>
                          <a:latin typeface="Calibri"/>
                        </a:rPr>
                        <a:t>14,0 %</a:t>
                      </a:r>
                    </a:p>
                  </a:txBody>
                  <a:tcPr>
                    <a:solidFill>
                      <a:srgbClr val="F7F8FA"/>
                    </a:solidFill>
                  </a:tcPr>
                </a:tc>
                <a:tc>
                  <a:txBody>
                    <a:bodyPr/>
                    <a:lstStyle/>
                    <a:p>
                      <a:pPr algn="ctr"/>
                      <a:r>
                        <a:rPr sz="800" b="1" i="0">
                          <a:solidFill>
                            <a:srgbClr val="0D0D0D"/>
                          </a:solidFill>
                          <a:latin typeface="Calibri"/>
                        </a:rPr>
                        <a:t>-15,0 %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ROE à 4.6% et ROIC à 6.3% sous-performent vs pairs (moyenne secteur &gt;12%). Marges EBITDA (12.4%) inférieures à la médiane des constructeurs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1980000"/>
          </a:xfrm>
          <a:prstGeom prst="rect">
            <a:avLst/>
          </a:prstGeom>
        </p:spPr>
      </p:pic>
      <p:sp>
        <p:nvSpPr>
          <p:cNvPr id="18" name="TextBox 17"/>
          <p:cNvSpPr txBox="1"/>
          <p:nvPr/>
        </p:nvSpPr>
        <p:spPr>
          <a:xfrm>
            <a:off x="367200" y="3528000"/>
            <a:ext cx="8413200" cy="914400"/>
          </a:xfrm>
          <a:prstGeom prst="rect">
            <a:avLst/>
          </a:prstGeom>
          <a:noFill/>
        </p:spPr>
        <p:txBody>
          <a:bodyPr wrap="square">
            <a:spAutoFit/>
          </a:bodyPr>
          <a:lstStyle/>
          <a:p>
            <a:pPr algn="l"/>
            <a:r>
              <a:rPr sz="850" b="0" i="0">
                <a:solidFill>
                  <a:srgbClr val="555555"/>
                </a:solidFill>
                <a:latin typeface="Calibri"/>
              </a:rPr>
              <a:t>WACC 14.9% et TGR 2.5% impliquent un upside de 9% vs cours actuel. Scénario base valorise TSLA à 420 USD par action.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Concurrence accrue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Concurrence accrue de BYD, BYD, Lucid et constructeurs traditionnels</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Marges compressées</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Baisse des subventions gouvernementales en Chine et Europe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Régulation</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Risque de rappel massif lié à Autopilot</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these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réduisant la demande automobile de 20%</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Baisse des subventions EV en Chine et UE de plus de 30%</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Rappel massif lié à Autopilot coûtant 5Md$</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agrege : +0,237</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analyses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Fenetre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51,1 %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Modele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Coherence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Aligne avec la these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11</a:t>
                      </a:r>
                    </a:p>
                  </a:txBody>
                  <a:tcPr>
                    <a:solidFill>
                      <a:srgbClr val="EAF4EF"/>
                    </a:solidFill>
                  </a:tcPr>
                </a:tc>
                <a:tc>
                  <a:txBody>
                    <a:bodyPr/>
                    <a:lstStyle/>
                    <a:p>
                      <a:pPr algn="ctr"/>
                      <a:r>
                        <a:rPr sz="800" b="0" i="0">
                          <a:solidFill>
                            <a:srgbClr val="0D0D0D"/>
                          </a:solidFill>
                          <a:latin typeface="Calibri"/>
                        </a:rPr>
                        <a:t>+0,363</a:t>
                      </a:r>
                    </a:p>
                  </a:txBody>
                  <a:tcPr>
                    <a:solidFill>
                      <a:srgbClr val="EAF4EF"/>
                    </a:solidFill>
                  </a:tcPr>
                </a:tc>
                <a:tc>
                  <a:txBody>
                    <a:bodyPr/>
                    <a:lstStyle/>
                    <a:p>
                      <a:pPr algn="ctr"/>
                      <a:r>
                        <a:rPr sz="800" b="0" i="0">
                          <a:solidFill>
                            <a:srgbClr val="0D0D0D"/>
                          </a:solidFill>
                          <a:latin typeface="Calibri"/>
                        </a:rPr>
                        <a:t>Lancement Cybertruck 2026 avec potentiel 500k unités/an, Déploiement FSD v14 avec abonnements à 200$/mois, Expansion marché énergie en Europe et Asie</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15</a:t>
                      </a:r>
                    </a:p>
                  </a:txBody>
                  <a:tcPr>
                    <a:solidFill>
                      <a:srgbClr val="FFFFFF"/>
                    </a:solidFill>
                  </a:tcPr>
                </a:tc>
                <a:tc>
                  <a:txBody>
                    <a:bodyPr/>
                    <a:lstStyle/>
                    <a:p>
                      <a:pPr algn="ctr"/>
                      <a:r>
                        <a:rPr sz="800" b="0" i="0">
                          <a:solidFill>
                            <a:srgbClr val="0D0D0D"/>
                          </a:solidFill>
                          <a:latin typeface="Calibri"/>
                        </a:rPr>
                        <a:t>+0,511</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4</a:t>
                      </a:r>
                    </a:p>
                  </a:txBody>
                  <a:tcPr>
                    <a:solidFill>
                      <a:srgbClr val="FAF0EF"/>
                    </a:solidFill>
                  </a:tcPr>
                </a:tc>
                <a:tc>
                  <a:txBody>
                    <a:bodyPr/>
                    <a:lstStyle/>
                    <a:p>
                      <a:pPr algn="ctr"/>
                      <a:r>
                        <a:rPr sz="800" b="0" i="0">
                          <a:solidFill>
                            <a:srgbClr val="0D0D0D"/>
                          </a:solidFill>
                          <a:latin typeface="Calibri"/>
                        </a:rPr>
                        <a:t>+0,126</a:t>
                      </a:r>
                    </a:p>
                  </a:txBody>
                  <a:tcPr>
                    <a:solidFill>
                      <a:srgbClr val="FAF0EF"/>
                    </a:solidFill>
                  </a:tcPr>
                </a:tc>
                <a:tc>
                  <a:txBody>
                    <a:bodyPr/>
                    <a:lstStyle/>
                    <a:p>
                      <a:pPr algn="ctr"/>
                      <a:r>
                        <a:rPr sz="800" b="0" i="0">
                          <a:solidFill>
                            <a:srgbClr val="0D0D0D"/>
                          </a:solidFill>
                          <a:latin typeface="Calibri"/>
                        </a:rPr>
                        <a:t>Concurrence accrue de BYD, BYD, Lucid et constructeurs traditionnels, Baisse des subventions gouvernementales en Chine et Europe, Risque de rappel massif lié à Autopilot</a:t>
                      </a:r>
                    </a:p>
                  </a:txBody>
                  <a:tcPr>
                    <a:solidFill>
                      <a:srgbClr val="FAF0EF"/>
                    </a:solidFill>
                  </a:tcPr>
                </a:tc>
              </a:tr>
            </a:tbl>
          </a:graphicData>
        </a:graphic>
      </p:graphicFrame>
      <p:sp>
        <p:nvSpPr>
          <p:cNvPr id="39" name="TextBox 38"/>
          <p:cNvSpPr txBox="1"/>
          <p:nvPr/>
        </p:nvSpPr>
        <p:spPr>
          <a:xfrm>
            <a:off x="367200" y="3664800"/>
            <a:ext cx="8413200" cy="914400"/>
          </a:xfrm>
          <a:prstGeom prst="rect">
            <a:avLst/>
          </a:prstGeom>
          <a:noFill/>
        </p:spPr>
        <p:txBody>
          <a:bodyPr wrap="square">
            <a:spAutoFit/>
          </a:bodyPr>
          <a:lstStyle/>
          <a:p>
            <a:pPr algn="l"/>
            <a:r>
              <a:rPr sz="850" b="0" i="0">
                <a:solidFill>
                  <a:srgbClr val="333333"/>
                </a:solidFill>
                <a:latin typeface="Calibri"/>
              </a:rPr>
              <a:t>Le sentiment neutre + (score +0.237) est basé sur 30 articles analysés sur 7 jours. Confiance IA : 51%. Cohérence avec la recommandation HOLD : surveiller.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25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Tesla,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Capital World Investors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Les multiples (EV/EBITDA 122.7x, P/E 382.7x) dépassent largement la médiane des pairs (EV/EBITDA ~15x). La prime reflète l'avance technologique mais semble excessive.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  USD  ·  Au 25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386,94 $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456,56 $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282,16 $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+37,1 %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292282"/>
            <a:ext cx="498636" cy="602917"/>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530080"/>
            <a:ext cx="498636" cy="36511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07612"/>
            <a:ext cx="498636" cy="28758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396236"/>
            <a:ext cx="498636" cy="49896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480961"/>
            <a:ext cx="498636" cy="141423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601099"/>
            <a:ext cx="498636" cy="12941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439677"/>
            <a:ext cx="498636" cy="1455522"/>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599117"/>
            <a:ext cx="498636" cy="12960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829484"/>
            <a:ext cx="498636" cy="1065715"/>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958126"/>
            <a:ext cx="498636" cy="937073"/>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67200" y="3751200"/>
            <a:ext cx="216000" cy="144000"/>
          </a:xfrm>
          <a:prstGeom prst="rect">
            <a:avLst/>
          </a:prstGeom>
          <a:noFill/>
        </p:spPr>
        <p:txBody>
          <a:bodyPr wrap="square">
            <a:spAutoFit/>
          </a:bodyPr>
          <a:lstStyle/>
          <a:p>
            <a:pPr algn="l"/>
            <a:r>
              <a:rPr sz="600" b="0" i="0">
                <a:solidFill>
                  <a:srgbClr val="555555"/>
                </a:solidFill>
                <a:latin typeface="Calibri"/>
              </a:rPr>
              <a:t>282</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67200" y="3276000"/>
            <a:ext cx="216000" cy="144000"/>
          </a:xfrm>
          <a:prstGeom prst="rect">
            <a:avLst/>
          </a:prstGeom>
          <a:noFill/>
        </p:spPr>
        <p:txBody>
          <a:bodyPr wrap="square">
            <a:spAutoFit/>
          </a:bodyPr>
          <a:lstStyle/>
          <a:p>
            <a:pPr algn="l"/>
            <a:r>
              <a:rPr sz="600" b="0" i="0">
                <a:solidFill>
                  <a:srgbClr val="555555"/>
                </a:solidFill>
                <a:latin typeface="Calibri"/>
              </a:rPr>
              <a:t>339</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67200" y="2786399"/>
            <a:ext cx="216000" cy="144000"/>
          </a:xfrm>
          <a:prstGeom prst="rect">
            <a:avLst/>
          </a:prstGeom>
          <a:noFill/>
        </p:spPr>
        <p:txBody>
          <a:bodyPr wrap="square">
            <a:spAutoFit/>
          </a:bodyPr>
          <a:lstStyle/>
          <a:p>
            <a:pPr algn="l"/>
            <a:r>
              <a:rPr sz="600" b="0" i="0">
                <a:solidFill>
                  <a:srgbClr val="555555"/>
                </a:solidFill>
                <a:latin typeface="Calibri"/>
              </a:rPr>
              <a:t>399</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67200" y="2311200"/>
            <a:ext cx="216000" cy="144000"/>
          </a:xfrm>
          <a:prstGeom prst="rect">
            <a:avLst/>
          </a:prstGeom>
          <a:noFill/>
        </p:spPr>
        <p:txBody>
          <a:bodyPr wrap="square">
            <a:spAutoFit/>
          </a:bodyPr>
          <a:lstStyle/>
          <a:p>
            <a:pPr algn="l"/>
            <a:r>
              <a:rPr sz="600" b="0" i="0">
                <a:solidFill>
                  <a:srgbClr val="555555"/>
                </a:solidFill>
                <a:latin typeface="Calibri"/>
              </a:rPr>
              <a:t>456</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Tesla affiche des multiples de valorisation extrêmes malgré une croissance revenue en repli et des marges sous pression. Le modèle intégré (véhicules, énergie, IA) reste disruptif mais la concurrence s'intensifie fortement.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