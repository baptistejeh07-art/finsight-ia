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Tesla,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TSLA  ·  Consumer Cyclical</a:t>
            </a:r>
          </a:p>
        </p:txBody>
      </p:sp>
      <p:sp>
        <p:nvSpPr>
          <p:cNvPr id="8" name="Rectangle 7"/>
          <p:cNvSpPr/>
          <p:nvPr/>
        </p:nvSpPr>
        <p:spPr>
          <a:xfrm>
            <a:off x="2771999" y="2720232"/>
            <a:ext cx="3600000" cy="43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HOLD  ·  Prix cible base : 380 $  ·  Upside : +10,7 %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9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380 $  ·  Upside : +10,7 %  ·  Bear : 290 $ (-15,5 %)  ·  Bull : 450 $ (+31,1 %)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Intégration verticale</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Tesla bénéficie d'un pipeline de produits disruptifs (Cybertruck, robotaxis) avec un potentiel de revenus additionnels de 20-30 Md$ d'ici 2027</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Leadership IA/autopilot</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La marge brute devrait se stabiliser à 22% d'ici 2027 grâce à l'amélioration du mix produit et la réduction des coûts de batterie</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Le lancement des robotaxis en 2026 pourrait générer un EBITDA supplémentaire de 15 Md$ annuel à maturité.</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Concurrence chinoise</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Guerre des prix VE en Chine : pression sur GM de -5pts d'ici 2026 avec risque de perte de part de marché | Régulation européenne stricte : coûts supplémentaires de 2 Md$ annuels pour</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Les marges sur les services (Superchargeur, abonnements) chutent de 12% depuis 2023, en raison d’une concurrence agressive de Electrify America et Ionity.</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Exécution opérationnelle</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Le ratio EV/EBITDA de 108,78x est le plus élevé du secteur, indiquant une surévaluation de 300% par rapport à Ford (28x).</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33600"/>
            <a:ext cx="40104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333600"/>
            <a:ext cx="3960000" cy="198000"/>
          </a:xfrm>
          <a:prstGeom prst="rect">
            <a:avLst/>
          </a:prstGeom>
          <a:noFill/>
        </p:spPr>
        <p:txBody>
          <a:bodyPr wrap="square">
            <a:spAutoFit/>
          </a:bodyPr>
          <a:lstStyle/>
          <a:p>
            <a:pPr algn="l"/>
            <a:r>
              <a:rPr sz="750" b="1" i="0">
                <a:solidFill>
                  <a:srgbClr val="FFFFFF"/>
                </a:solidFill>
                <a:latin typeface="Calibri"/>
              </a:rPr>
              <a:t>CATALYSEURS À SURVEILLER (12M)</a:t>
            </a:r>
          </a:p>
        </p:txBody>
      </p:sp>
      <p:sp>
        <p:nvSpPr>
          <p:cNvPr id="36" name="Rectangle 35"/>
          <p:cNvSpPr/>
          <p:nvPr/>
        </p:nvSpPr>
        <p:spPr>
          <a:xfrm>
            <a:off x="3672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200" y="3560400"/>
            <a:ext cx="3837600" cy="172800"/>
          </a:xfrm>
          <a:prstGeom prst="rect">
            <a:avLst/>
          </a:prstGeom>
          <a:noFill/>
        </p:spPr>
        <p:txBody>
          <a:bodyPr wrap="square">
            <a:spAutoFit/>
          </a:bodyPr>
          <a:lstStyle/>
          <a:p>
            <a:pPr algn="l"/>
            <a:r>
              <a:rPr sz="750" b="0" i="0">
                <a:solidFill>
                  <a:srgbClr val="333333"/>
                </a:solidFill>
                <a:latin typeface="Calibri"/>
              </a:rPr>
              <a:t>Robotaxis 2026: Le lancement commercial des robotaxis en 2026</a:t>
            </a:r>
          </a:p>
        </p:txBody>
      </p:sp>
      <p:sp>
        <p:nvSpPr>
          <p:cNvPr id="38" name="Rectangle 37"/>
          <p:cNvSpPr/>
          <p:nvPr/>
        </p:nvSpPr>
        <p:spPr>
          <a:xfrm>
            <a:off x="367200" y="3780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9200" y="3758400"/>
            <a:ext cx="3837600" cy="172800"/>
          </a:xfrm>
          <a:prstGeom prst="rect">
            <a:avLst/>
          </a:prstGeom>
          <a:noFill/>
        </p:spPr>
        <p:txBody>
          <a:bodyPr wrap="square">
            <a:spAutoFit/>
          </a:bodyPr>
          <a:lstStyle/>
          <a:p>
            <a:pPr algn="l"/>
            <a:r>
              <a:rPr sz="750" b="0" i="0">
                <a:solidFill>
                  <a:srgbClr val="333333"/>
                </a:solidFill>
                <a:latin typeface="Calibri"/>
              </a:rPr>
              <a:t>Gigafactory Berlin/T: L'augmentation de la capacité de</a:t>
            </a:r>
          </a:p>
        </p:txBody>
      </p:sp>
      <p:sp>
        <p:nvSpPr>
          <p:cNvPr id="40" name="Rectangle 39"/>
          <p:cNvSpPr/>
          <p:nvPr/>
        </p:nvSpPr>
        <p:spPr>
          <a:xfrm>
            <a:off x="4708800" y="3333600"/>
            <a:ext cx="406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5600" y="3333600"/>
            <a:ext cx="3996000" cy="198000"/>
          </a:xfrm>
          <a:prstGeom prst="rect">
            <a:avLst/>
          </a:prstGeom>
          <a:noFill/>
        </p:spPr>
        <p:txBody>
          <a:bodyPr wrap="square">
            <a:spAutoFit/>
          </a:bodyPr>
          <a:lstStyle/>
          <a:p>
            <a:pPr algn="l"/>
            <a:r>
              <a:rPr sz="750" b="1" i="0">
                <a:solidFill>
                  <a:srgbClr val="FFFFFF"/>
                </a:solidFill>
                <a:latin typeface="Calibri"/>
              </a:rPr>
              <a:t>VALORISATION SYNTHÉTIQUE</a:t>
            </a:r>
          </a:p>
        </p:txBody>
      </p:sp>
      <p:graphicFrame>
        <p:nvGraphicFramePr>
          <p:cNvPr id="42" name="Table 41"/>
          <p:cNvGraphicFramePr>
            <a:graphicFrameLocks noGrp="1"/>
          </p:cNvGraphicFramePr>
          <p:nvPr/>
        </p:nvGraphicFramePr>
        <p:xfrm>
          <a:off x="4708800" y="3560400"/>
          <a:ext cx="4068000" cy="396000"/>
        </p:xfrm>
        <a:graphic>
          <a:graphicData uri="http://schemas.openxmlformats.org/drawingml/2006/table">
            <a:tbl>
              <a:tblPr firstRow="1" bandRow="1">
                <a:tableStyleId>{5C22544A-7EE6-4342-B048-85BDC9FD1C3A}</a:tableStyleId>
              </a:tblPr>
              <a:tblGrid>
                <a:gridCol w="2034000"/>
                <a:gridCol w="1017000"/>
                <a:gridCol w="1017000"/>
              </a:tblGrid>
              <a:tr h="99000">
                <a:tc>
                  <a:txBody>
                    <a:bodyPr/>
                    <a:lstStyle/>
                    <a:p>
                      <a:pPr algn="l"/>
                      <a:r>
                        <a:rPr sz="800" b="1" i="0">
                          <a:solidFill>
                            <a:srgbClr val="FFFFFF"/>
                          </a:solidFill>
                          <a:latin typeface="Calibri"/>
                        </a:rPr>
                        <a:t>Multiple</a:t>
                      </a:r>
                    </a:p>
                  </a:txBody>
                  <a:tcPr>
                    <a:solidFill>
                      <a:srgbClr val="1B3A6B"/>
                    </a:solidFill>
                  </a:tcPr>
                </a:tc>
                <a:tc>
                  <a:txBody>
                    <a:bodyPr/>
                    <a:lstStyle/>
                    <a:p>
                      <a:pPr algn="ctr"/>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Médiane pairs</a:t>
                      </a:r>
                    </a:p>
                  </a:txBody>
                  <a:tcPr>
                    <a:solidFill>
                      <a:srgbClr val="1B3A6B"/>
                    </a:solidFill>
                  </a:tcPr>
                </a:tc>
              </a:tr>
              <a:tr h="99000">
                <a:tc>
                  <a:txBody>
                    <a:bodyPr/>
                    <a:lstStyle/>
                    <a:p>
                      <a:pPr algn="l"/>
                      <a:r>
                        <a:rPr sz="800" b="0" i="0">
                          <a:solidFill>
                            <a:srgbClr val="0D0D0D"/>
                          </a:solidFill>
                          <a:latin typeface="Calibri"/>
                        </a:rPr>
                        <a:t>P/E NTM (x)</a:t>
                      </a:r>
                    </a:p>
                  </a:txBody>
                  <a:tcPr>
                    <a:solidFill>
                      <a:srgbClr val="FFFFFF"/>
                    </a:solidFill>
                  </a:tcPr>
                </a:tc>
                <a:tc>
                  <a:txBody>
                    <a:bodyPr/>
                    <a:lstStyle/>
                    <a:p>
                      <a:pPr algn="ctr"/>
                      <a:r>
                        <a:rPr sz="800" b="0" i="0">
                          <a:solidFill>
                            <a:srgbClr val="0D0D0D"/>
                          </a:solidFill>
                          <a:latin typeface="Calibri"/>
                        </a:rPr>
                        <a:t>339,5x</a:t>
                      </a:r>
                    </a:p>
                  </a:txBody>
                  <a:tcPr>
                    <a:solidFill>
                      <a:srgbClr val="FFFFFF"/>
                    </a:solidFill>
                  </a:tcPr>
                </a:tc>
                <a:tc>
                  <a:txBody>
                    <a:bodyPr/>
                    <a:lstStyle/>
                    <a:p>
                      <a:pPr algn="ctr"/>
                      <a:r>
                        <a:rPr sz="800" b="0" i="0">
                          <a:solidFill>
                            <a:srgbClr val="0D0D0D"/>
                          </a:solidFill>
                          <a:latin typeface="Calibri"/>
                        </a:rPr>
                        <a:t>-10,0x</a:t>
                      </a:r>
                    </a:p>
                  </a:txBody>
                  <a:tcPr>
                    <a:solidFill>
                      <a:srgbClr val="FFFFFF"/>
                    </a:solidFill>
                  </a:tcPr>
                </a:tc>
              </a:tr>
              <a:tr h="99000">
                <a:tc>
                  <a:txBody>
                    <a:bodyPr/>
                    <a:lstStyle/>
                    <a:p>
                      <a:pPr algn="l"/>
                      <a:r>
                        <a:rPr sz="800" b="0" i="0">
                          <a:solidFill>
                            <a:srgbClr val="0D0D0D"/>
                          </a:solidFill>
                          <a:latin typeface="Calibri"/>
                        </a:rPr>
                        <a:t>EV/EBITDA (x)</a:t>
                      </a:r>
                    </a:p>
                  </a:txBody>
                  <a:tcPr>
                    <a:solidFill>
                      <a:srgbClr val="F7F8FA"/>
                    </a:solidFill>
                  </a:tcPr>
                </a:tc>
                <a:tc>
                  <a:txBody>
                    <a:bodyPr/>
                    <a:lstStyle/>
                    <a:p>
                      <a:pPr algn="ctr"/>
                      <a:r>
                        <a:rPr sz="800" b="0" i="0">
                          <a:solidFill>
                            <a:srgbClr val="0D0D0D"/>
                          </a:solidFill>
                          <a:latin typeface="Calibri"/>
                        </a:rPr>
                        <a:t>108,8x</a:t>
                      </a:r>
                    </a:p>
                  </a:txBody>
                  <a:tcPr>
                    <a:solidFill>
                      <a:srgbClr val="F7F8FA"/>
                    </a:solidFill>
                  </a:tcPr>
                </a:tc>
                <a:tc>
                  <a:txBody>
                    <a:bodyPr/>
                    <a:lstStyle/>
                    <a:p>
                      <a:pPr algn="ctr"/>
                      <a:r>
                        <a:rPr sz="800" b="0" i="0">
                          <a:solidFill>
                            <a:srgbClr val="0D0D0D"/>
                          </a:solidFill>
                          <a:latin typeface="Calibri"/>
                        </a:rPr>
                        <a:t>-12,0x</a:t>
                      </a:r>
                    </a:p>
                  </a:txBody>
                  <a:tcPr>
                    <a:solidFill>
                      <a:srgbClr val="F7F8FA"/>
                    </a:solidFill>
                  </a:tcPr>
                </a:tc>
              </a:tr>
              <a:tr h="99000">
                <a:tc>
                  <a:txBody>
                    <a:bodyPr/>
                    <a:lstStyle/>
                    <a:p>
                      <a:pPr algn="l"/>
                      <a:r>
                        <a:rPr sz="800" b="0" i="0">
                          <a:solidFill>
                            <a:srgbClr val="0D0D0D"/>
                          </a:solidFill>
                          <a:latin typeface="Calibri"/>
                        </a:rPr>
                        <a:t>Cible DCF ($)</a:t>
                      </a:r>
                    </a:p>
                  </a:txBody>
                  <a:tcPr>
                    <a:solidFill>
                      <a:srgbClr val="FFFFFF"/>
                    </a:solidFill>
                  </a:tcPr>
                </a:tc>
                <a:tc>
                  <a:txBody>
                    <a:bodyPr/>
                    <a:lstStyle/>
                    <a:p>
                      <a:pPr algn="ctr"/>
                      <a:r>
                        <a:rPr sz="800" b="0" i="0">
                          <a:solidFill>
                            <a:srgbClr val="0D0D0D"/>
                          </a:solidFill>
                          <a:latin typeface="Calibri"/>
                        </a:rPr>
                        <a:t>380 $</a:t>
                      </a:r>
                    </a:p>
                  </a:txBody>
                  <a:tcPr>
                    <a:solidFill>
                      <a:srgbClr val="FFFFFF"/>
                    </a:solidFill>
                  </a:tcPr>
                </a:tc>
                <a:tc>
                  <a:txBody>
                    <a:bodyPr/>
                    <a:lstStyle/>
                    <a:p>
                      <a:pPr algn="ctr"/>
                      <a:r>
                        <a:rPr sz="800" b="0" i="0">
                          <a:solidFill>
                            <a:srgbClr val="0D0D0D"/>
                          </a:solidFill>
                          <a:latin typeface="Calibri"/>
                        </a:rPr>
                        <a:t>Upside +10,7 %</a:t>
                      </a:r>
                    </a:p>
                  </a:txBody>
                  <a:tcPr>
                    <a:solidFill>
                      <a:srgbClr val="FFFFFF"/>
                    </a:solidFill>
                  </a:tcPr>
                </a:tc>
              </a:tr>
            </a:tbl>
          </a:graphicData>
        </a:graphic>
      </p:graphicFrame>
      <p:sp>
        <p:nvSpPr>
          <p:cNvPr id="43" name="Rectangle 42"/>
          <p:cNvSpPr/>
          <p:nvPr/>
        </p:nvSpPr>
        <p:spPr>
          <a:xfrm>
            <a:off x="367200" y="4042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72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 y="4136400"/>
            <a:ext cx="1893600" cy="396000"/>
          </a:xfrm>
          <a:prstGeom prst="rect">
            <a:avLst/>
          </a:prstGeom>
          <a:noFill/>
        </p:spPr>
        <p:txBody>
          <a:bodyPr wrap="square">
            <a:spAutoFit/>
          </a:bodyPr>
          <a:lstStyle/>
          <a:p>
            <a:pPr algn="l"/>
            <a:r>
              <a:rPr sz="1900" b="1" i="0">
                <a:solidFill>
                  <a:srgbClr val="1B3A6B"/>
                </a:solidFill>
                <a:latin typeface="Calibri"/>
              </a:rPr>
              <a:t>108,8x</a:t>
            </a:r>
          </a:p>
        </p:txBody>
      </p:sp>
      <p:sp>
        <p:nvSpPr>
          <p:cNvPr id="47" name="TextBox 46"/>
          <p:cNvSpPr txBox="1"/>
          <p:nvPr/>
        </p:nvSpPr>
        <p:spPr>
          <a:xfrm>
            <a:off x="457200" y="45324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8" name="TextBox 47"/>
          <p:cNvSpPr txBox="1"/>
          <p:nvPr/>
        </p:nvSpPr>
        <p:spPr>
          <a:xfrm>
            <a:off x="457200" y="4730400"/>
            <a:ext cx="1893600" cy="165600"/>
          </a:xfrm>
          <a:prstGeom prst="rect">
            <a:avLst/>
          </a:prstGeom>
          <a:noFill/>
        </p:spPr>
        <p:txBody>
          <a:bodyPr wrap="square">
            <a:spAutoFit/>
          </a:bodyPr>
          <a:lstStyle/>
          <a:p>
            <a:pPr algn="l"/>
            <a:r>
              <a:rPr sz="700" b="0" i="0">
                <a:solidFill>
                  <a:srgbClr val="888888"/>
                </a:solidFill>
                <a:latin typeface="Calibri"/>
              </a:rPr>
              <a:t>vs -12,0x med. pairs</a:t>
            </a:r>
          </a:p>
        </p:txBody>
      </p:sp>
      <p:sp>
        <p:nvSpPr>
          <p:cNvPr id="49" name="Rectangle 48"/>
          <p:cNvSpPr/>
          <p:nvPr/>
        </p:nvSpPr>
        <p:spPr>
          <a:xfrm>
            <a:off x="24876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4876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577600" y="4136400"/>
            <a:ext cx="1893600" cy="396000"/>
          </a:xfrm>
          <a:prstGeom prst="rect">
            <a:avLst/>
          </a:prstGeom>
          <a:noFill/>
        </p:spPr>
        <p:txBody>
          <a:bodyPr wrap="square">
            <a:spAutoFit/>
          </a:bodyPr>
          <a:lstStyle/>
          <a:p>
            <a:pPr algn="l"/>
            <a:r>
              <a:rPr sz="1900" b="1" i="0">
                <a:solidFill>
                  <a:srgbClr val="1B3A6B"/>
                </a:solidFill>
                <a:latin typeface="Calibri"/>
              </a:rPr>
              <a:t>14,8 %</a:t>
            </a:r>
          </a:p>
        </p:txBody>
      </p:sp>
      <p:sp>
        <p:nvSpPr>
          <p:cNvPr id="52" name="TextBox 51"/>
          <p:cNvSpPr txBox="1"/>
          <p:nvPr/>
        </p:nvSpPr>
        <p:spPr>
          <a:xfrm>
            <a:off x="2577600" y="45324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3" name="TextBox 52"/>
          <p:cNvSpPr txBox="1"/>
          <p:nvPr/>
        </p:nvSpPr>
        <p:spPr>
          <a:xfrm>
            <a:off x="2577600" y="4730400"/>
            <a:ext cx="1893600" cy="165600"/>
          </a:xfrm>
          <a:prstGeom prst="rect">
            <a:avLst/>
          </a:prstGeom>
          <a:noFill/>
        </p:spPr>
        <p:txBody>
          <a:bodyPr wrap="square">
            <a:spAutoFit/>
          </a:bodyPr>
          <a:lstStyle/>
          <a:p>
            <a:pPr algn="l"/>
            <a:r>
              <a:rPr sz="700" b="0" i="0">
                <a:solidFill>
                  <a:srgbClr val="888888"/>
                </a:solidFill>
                <a:latin typeface="Calibri"/>
              </a:rPr>
              <a:t>Beta 1,92  ·  RFR 4,3 %</a:t>
            </a:r>
          </a:p>
        </p:txBody>
      </p:sp>
      <p:sp>
        <p:nvSpPr>
          <p:cNvPr id="54" name="Rectangle 53"/>
          <p:cNvSpPr/>
          <p:nvPr/>
        </p:nvSpPr>
        <p:spPr>
          <a:xfrm>
            <a:off x="46080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080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698000" y="4136400"/>
            <a:ext cx="1893600" cy="396000"/>
          </a:xfrm>
          <a:prstGeom prst="rect">
            <a:avLst/>
          </a:prstGeom>
          <a:noFill/>
        </p:spPr>
        <p:txBody>
          <a:bodyPr wrap="square">
            <a:spAutoFit/>
          </a:bodyPr>
          <a:lstStyle/>
          <a:p>
            <a:pPr algn="l"/>
            <a:r>
              <a:rPr sz="1900" b="1" i="0">
                <a:solidFill>
                  <a:srgbClr val="1B3A6B"/>
                </a:solidFill>
                <a:latin typeface="Calibri"/>
              </a:rPr>
              <a:t>380 $</a:t>
            </a:r>
          </a:p>
        </p:txBody>
      </p:sp>
      <p:sp>
        <p:nvSpPr>
          <p:cNvPr id="57" name="TextBox 56"/>
          <p:cNvSpPr txBox="1"/>
          <p:nvPr/>
        </p:nvSpPr>
        <p:spPr>
          <a:xfrm>
            <a:off x="4698000" y="45324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8" name="TextBox 57"/>
          <p:cNvSpPr txBox="1"/>
          <p:nvPr/>
        </p:nvSpPr>
        <p:spPr>
          <a:xfrm>
            <a:off x="4698000" y="4730400"/>
            <a:ext cx="1893600" cy="165600"/>
          </a:xfrm>
          <a:prstGeom prst="rect">
            <a:avLst/>
          </a:prstGeom>
          <a:noFill/>
        </p:spPr>
        <p:txBody>
          <a:bodyPr wrap="square">
            <a:spAutoFit/>
          </a:bodyPr>
          <a:lstStyle/>
          <a:p>
            <a:pPr algn="l"/>
            <a:r>
              <a:rPr sz="700" b="0" i="0">
                <a:solidFill>
                  <a:srgbClr val="888888"/>
                </a:solidFill>
                <a:latin typeface="Calibri"/>
              </a:rPr>
              <a:t>Upside +10,7 % vs cours</a:t>
            </a:r>
          </a:p>
        </p:txBody>
      </p:sp>
      <p:sp>
        <p:nvSpPr>
          <p:cNvPr id="59" name="Rectangle 58"/>
          <p:cNvSpPr/>
          <p:nvPr/>
        </p:nvSpPr>
        <p:spPr>
          <a:xfrm>
            <a:off x="67284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7284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818400" y="4136400"/>
            <a:ext cx="1893600" cy="396000"/>
          </a:xfrm>
          <a:prstGeom prst="rect">
            <a:avLst/>
          </a:prstGeom>
          <a:noFill/>
        </p:spPr>
        <p:txBody>
          <a:bodyPr wrap="square">
            <a:spAutoFit/>
          </a:bodyPr>
          <a:lstStyle/>
          <a:p>
            <a:pPr algn="l"/>
            <a:r>
              <a:rPr sz="1900" b="1" i="0">
                <a:solidFill>
                  <a:srgbClr val="1B3A6B"/>
                </a:solidFill>
                <a:latin typeface="Calibri"/>
              </a:rPr>
              <a:t>-0,134</a:t>
            </a:r>
          </a:p>
        </p:txBody>
      </p:sp>
      <p:sp>
        <p:nvSpPr>
          <p:cNvPr id="62" name="TextBox 61"/>
          <p:cNvSpPr txBox="1"/>
          <p:nvPr/>
        </p:nvSpPr>
        <p:spPr>
          <a:xfrm>
            <a:off x="6818400" y="45324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3" name="TextBox 62"/>
          <p:cNvSpPr txBox="1"/>
          <p:nvPr/>
        </p:nvSpPr>
        <p:spPr>
          <a:xfrm>
            <a:off x="6818400" y="4730400"/>
            <a:ext cx="1893600" cy="165600"/>
          </a:xfrm>
          <a:prstGeom prst="rect">
            <a:avLst/>
          </a:prstGeom>
          <a:noFill/>
        </p:spPr>
        <p:txBody>
          <a:bodyPr wrap="square">
            <a:spAutoFit/>
          </a:bodyPr>
          <a:lstStyle/>
          <a:p>
            <a:pPr algn="l"/>
            <a:r>
              <a:rPr sz="700" b="0" i="0">
                <a:solidFill>
                  <a:srgbClr val="888888"/>
                </a:solidFill>
                <a:latin typeface="Calibri"/>
              </a:rPr>
              <a:t>Négatif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Tesla, Inc.  ·  Consumer Cyclical</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Concurrence chinoise  ·  Régulation</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Tesla, Inc. conçoit, produit et vend des véhicules électriques haut de gamme ainsi que des solutions de stockage d'énergie et des panneaux solaires. Positionné comme leader technologique avec une intégration verticale unique (batteries, logiciels, bornes), le groupe mise sur l'innovation pour consolider son avantage concurrentiel face à la concurrence chinoise et traditionnelle. Son écosystème intégré et son avance en IA/autopilot renforcent sa différenciation sur le marché des mobilités durables.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Véhicules électriques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principal générant 90% du CA, axé sur la vente de modèles haut de gamme (Model Y, Model 3, Cybertruck) avec une stratégie de prix premium et une production optimisée via Gigafactories. Clients cibles : particuliers aisés et entreprises pour flottes. Croissance tirée par l'expansion géographique et l'amélioration des marges via l'automatisation et les économies d'échelle.</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Énergie et 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Comprend les batteries Powerwall/Powerpack, les solutions solaires et le réseau de Superchargeurs. Modèle de revenus récurrents via abonnements (énergie) et services premium (bornes). Clients : ménages, entreprises et collectivités. Croissance portée par la demande en stockage d'énergie et l'électrification des réseaux.</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1 288,0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94,8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343,25 $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108,8x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339,5x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90%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Véhicules électriques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principal générant 90% du CA, axé sur la vente de modèles haut de gamme (Model Y, Model 3, Cybertruck) avec une stratégie de prix premium et une production optimisée via Gigafactories. Clients cibles : particuliers aisés et entreprises pour flottes. Croissance tirée par l'expansion géographique et l'amélioration des marges via l'automatisation et les économies d'échelle.</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10%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Énergie et 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Comprend les batteries Powerwall/Powerpack, les solutions solaires et le réseau de Superchargeurs. Modèle de revenus récurrents via abonnements (énergie) et services premium (bornes). Clients : ménages, entreprises et collectivités. Croissance portée par la demande en stockage d'énergie et l'électrification des réseaux.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96,8</a:t>
                      </a:r>
                    </a:p>
                  </a:txBody>
                  <a:tcPr>
                    <a:solidFill>
                      <a:srgbClr val="FFFFFF"/>
                    </a:solidFill>
                  </a:tcPr>
                </a:tc>
                <a:tc>
                  <a:txBody>
                    <a:bodyPr/>
                    <a:lstStyle/>
                    <a:p>
                      <a:pPr algn="ctr"/>
                      <a:r>
                        <a:rPr sz="800" b="1" i="0">
                          <a:solidFill>
                            <a:srgbClr val="0D0D0D"/>
                          </a:solidFill>
                          <a:latin typeface="Calibri"/>
                        </a:rPr>
                        <a:t>97,7</a:t>
                      </a:r>
                    </a:p>
                  </a:txBody>
                  <a:tcPr>
                    <a:solidFill>
                      <a:srgbClr val="FFFFFF"/>
                    </a:solidFill>
                  </a:tcPr>
                </a:tc>
                <a:tc>
                  <a:txBody>
                    <a:bodyPr/>
                    <a:lstStyle/>
                    <a:p>
                      <a:pPr algn="ctr"/>
                      <a:r>
                        <a:rPr sz="800" b="1" i="0">
                          <a:solidFill>
                            <a:srgbClr val="1B3A6B"/>
                          </a:solidFill>
                          <a:latin typeface="Calibri"/>
                        </a:rPr>
                        <a:t>94,8</a:t>
                      </a:r>
                    </a:p>
                  </a:txBody>
                  <a:tcPr>
                    <a:solidFill>
                      <a:srgbClr val="DDE8F5"/>
                    </a:solidFill>
                  </a:tcPr>
                </a:tc>
                <a:tc>
                  <a:txBody>
                    <a:bodyPr/>
                    <a:lstStyle/>
                    <a:p>
                      <a:pPr algn="ctr"/>
                      <a:r>
                        <a:rPr sz="800" b="1" i="0">
                          <a:solidFill>
                            <a:srgbClr val="0D0D0D"/>
                          </a:solidFill>
                          <a:latin typeface="Calibri"/>
                        </a:rPr>
                        <a:t>102,0</a:t>
                      </a:r>
                    </a:p>
                  </a:txBody>
                  <a:tcPr>
                    <a:solidFill>
                      <a:srgbClr val="FFFFFF"/>
                    </a:solidFill>
                  </a:tcPr>
                </a:tc>
                <a:tc>
                  <a:txBody>
                    <a:bodyPr/>
                    <a:lstStyle/>
                    <a:p>
                      <a:pPr algn="ctr"/>
                      <a:r>
                        <a:rPr sz="800" b="1" i="0">
                          <a:solidFill>
                            <a:srgbClr val="0D0D0D"/>
                          </a:solidFill>
                          <a:latin typeface="Calibri"/>
                        </a:rPr>
                        <a:t>115,0</a:t>
                      </a:r>
                    </a:p>
                  </a:txBody>
                  <a:tcPr>
                    <a:solidFill>
                      <a:srgbClr val="FFFFFF"/>
                    </a:solidFill>
                  </a:tcPr>
                </a:tc>
              </a:tr>
              <a:tr h="220000">
                <a:tc>
                  <a:txBody>
                    <a:bodyPr/>
                    <a:lstStyle/>
                    <a:p>
                      <a:pPr algn="l"/>
                      <a:r>
                        <a:rPr sz="750" b="0" i="1">
                          <a:solidFill>
                            <a:srgbClr val="333333"/>
                          </a:solidFill>
                          <a:latin typeface="Calibri"/>
                        </a:rPr>
                        <a:t>Croissance YoY</a:t>
                      </a:r>
                    </a:p>
                  </a:txBody>
                  <a:tcPr>
                    <a:solidFill>
                      <a:srgbClr val="F7F8FA"/>
                    </a:solidFill>
                  </a:tcPr>
                </a:tc>
                <a:tc>
                  <a:txBody>
                    <a:bodyPr/>
                    <a:lstStyle/>
                    <a:p>
                      <a:pPr algn="ctr"/>
                      <a:r>
                        <a:rPr sz="750" b="0" i="1">
                          <a:solidFill>
                            <a:srgbClr val="333333"/>
                          </a:solidFill>
                          <a:latin typeface="Calibri"/>
                        </a:rPr>
                        <a:t>+18,8 %</a:t>
                      </a:r>
                    </a:p>
                  </a:txBody>
                  <a:tcPr>
                    <a:solidFill>
                      <a:srgbClr val="F7F8FA"/>
                    </a:solidFill>
                  </a:tcPr>
                </a:tc>
                <a:tc>
                  <a:txBody>
                    <a:bodyPr/>
                    <a:lstStyle/>
                    <a:p>
                      <a:pPr algn="ctr"/>
                      <a:r>
                        <a:rPr sz="750" b="0" i="1">
                          <a:solidFill>
                            <a:srgbClr val="333333"/>
                          </a:solidFill>
                          <a:latin typeface="Calibri"/>
                        </a:rPr>
                        <a:t>+1,0 %</a:t>
                      </a:r>
                    </a:p>
                  </a:txBody>
                  <a:tcPr>
                    <a:solidFill>
                      <a:srgbClr val="F7F8FA"/>
                    </a:solidFill>
                  </a:tcPr>
                </a:tc>
                <a:tc>
                  <a:txBody>
                    <a:bodyPr/>
                    <a:lstStyle/>
                    <a:p>
                      <a:pPr algn="ctr"/>
                      <a:r>
                        <a:rPr sz="750" b="0" i="1">
                          <a:solidFill>
                            <a:srgbClr val="333333"/>
                          </a:solidFill>
                          <a:latin typeface="Calibri"/>
                        </a:rPr>
                        <a:t>-3,0 %</a:t>
                      </a:r>
                    </a:p>
                  </a:txBody>
                  <a:tcPr>
                    <a:solidFill>
                      <a:srgbClr val="DDE8F5"/>
                    </a:solidFill>
                  </a:tcPr>
                </a:tc>
                <a:tc>
                  <a:txBody>
                    <a:bodyPr/>
                    <a:lstStyle/>
                    <a:p>
                      <a:pPr algn="ctr"/>
                      <a:r>
                        <a:rPr sz="750" b="0" i="1">
                          <a:solidFill>
                            <a:srgbClr val="333333"/>
                          </a:solidFill>
                          <a:latin typeface="Calibri"/>
                        </a:rPr>
                        <a:t>+780,0 %</a:t>
                      </a:r>
                    </a:p>
                  </a:txBody>
                  <a:tcPr>
                    <a:solidFill>
                      <a:srgbClr val="F7F8FA"/>
                    </a:solidFill>
                  </a:tcPr>
                </a:tc>
                <a:tc>
                  <a:txBody>
                    <a:bodyPr/>
                    <a:lstStyle/>
                    <a:p>
                      <a:pPr algn="ctr"/>
                      <a:r>
                        <a:rPr sz="750" b="0" i="1">
                          <a:solidFill>
                            <a:srgbClr val="333333"/>
                          </a:solidFill>
                          <a:latin typeface="Calibri"/>
                        </a:rPr>
                        <a:t>+1270,0 %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17,7</a:t>
                      </a:r>
                    </a:p>
                  </a:txBody>
                  <a:tcPr>
                    <a:solidFill>
                      <a:srgbClr val="FFFFFF"/>
                    </a:solidFill>
                  </a:tcPr>
                </a:tc>
                <a:tc>
                  <a:txBody>
                    <a:bodyPr/>
                    <a:lstStyle/>
                    <a:p>
                      <a:pPr algn="ctr"/>
                      <a:r>
                        <a:rPr sz="800" b="1" i="0">
                          <a:solidFill>
                            <a:srgbClr val="0D0D0D"/>
                          </a:solidFill>
                          <a:latin typeface="Calibri"/>
                        </a:rPr>
                        <a:t>17,4</a:t>
                      </a:r>
                    </a:p>
                  </a:txBody>
                  <a:tcPr>
                    <a:solidFill>
                      <a:srgbClr val="FFFFFF"/>
                    </a:solidFill>
                  </a:tcPr>
                </a:tc>
                <a:tc>
                  <a:txBody>
                    <a:bodyPr/>
                    <a:lstStyle/>
                    <a:p>
                      <a:pPr algn="ctr"/>
                      <a:r>
                        <a:rPr sz="800" b="1" i="0">
                          <a:solidFill>
                            <a:srgbClr val="1B3A6B"/>
                          </a:solidFill>
                          <a:latin typeface="Calibri"/>
                        </a:rPr>
                        <a:t>17,1</a:t>
                      </a:r>
                    </a:p>
                  </a:txBody>
                  <a:tcPr>
                    <a:solidFill>
                      <a:srgbClr val="DDE8F5"/>
                    </a:solidFill>
                  </a:tcPr>
                </a:tc>
                <a:tc>
                  <a:txBody>
                    <a:bodyPr/>
                    <a:lstStyle/>
                    <a:p>
                      <a:pPr algn="ctr"/>
                      <a:r>
                        <a:rPr sz="800" b="1" i="0">
                          <a:solidFill>
                            <a:srgbClr val="0D0D0D"/>
                          </a:solidFill>
                          <a:latin typeface="Calibri"/>
                        </a:rPr>
                        <a:t>1 989,0</a:t>
                      </a:r>
                    </a:p>
                  </a:txBody>
                  <a:tcPr>
                    <a:solidFill>
                      <a:srgbClr val="FFFFFF"/>
                    </a:solidFill>
                  </a:tcPr>
                </a:tc>
                <a:tc>
                  <a:txBody>
                    <a:bodyPr/>
                    <a:lstStyle/>
                    <a:p>
                      <a:pPr algn="ctr"/>
                      <a:r>
                        <a:rPr sz="800" b="1" i="0">
                          <a:solidFill>
                            <a:srgbClr val="0D0D0D"/>
                          </a:solidFill>
                          <a:latin typeface="Calibri"/>
                        </a:rPr>
                        <a:t>2 530,0</a:t>
                      </a:r>
                    </a:p>
                  </a:txBody>
                  <a:tcPr>
                    <a:solidFill>
                      <a:srgbClr val="FFFFFF"/>
                    </a:solidFill>
                  </a:tcPr>
                </a:tc>
              </a:tr>
              <a:tr h="220000">
                <a:tc>
                  <a:txBody>
                    <a:bodyPr/>
                    <a:lstStyle/>
                    <a:p>
                      <a:pPr algn="l"/>
                      <a:r>
                        <a:rPr sz="750" b="0" i="1">
                          <a:solidFill>
                            <a:srgbClr val="333333"/>
                          </a:solidFill>
                          <a:latin typeface="Calibri"/>
                        </a:rPr>
                        <a:t>Marge brute</a:t>
                      </a:r>
                    </a:p>
                  </a:txBody>
                  <a:tcPr>
                    <a:solidFill>
                      <a:srgbClr val="F7F8FA"/>
                    </a:solidFill>
                  </a:tcPr>
                </a:tc>
                <a:tc>
                  <a:txBody>
                    <a:bodyPr/>
                    <a:lstStyle/>
                    <a:p>
                      <a:pPr algn="ctr"/>
                      <a:r>
                        <a:rPr sz="750" b="0" i="1">
                          <a:solidFill>
                            <a:srgbClr val="333333"/>
                          </a:solidFill>
                          <a:latin typeface="Calibri"/>
                        </a:rPr>
                        <a:t>18,2 %</a:t>
                      </a:r>
                    </a:p>
                  </a:txBody>
                  <a:tcPr>
                    <a:solidFill>
                      <a:srgbClr val="F7F8FA"/>
                    </a:solidFill>
                  </a:tcPr>
                </a:tc>
                <a:tc>
                  <a:txBody>
                    <a:bodyPr/>
                    <a:lstStyle/>
                    <a:p>
                      <a:pPr algn="ctr"/>
                      <a:r>
                        <a:rPr sz="750" b="0" i="1">
                          <a:solidFill>
                            <a:srgbClr val="333333"/>
                          </a:solidFill>
                          <a:latin typeface="Calibri"/>
                        </a:rPr>
                        <a:t>17,9 %</a:t>
                      </a:r>
                    </a:p>
                  </a:txBody>
                  <a:tcPr>
                    <a:solidFill>
                      <a:srgbClr val="F7F8FA"/>
                    </a:solidFill>
                  </a:tcPr>
                </a:tc>
                <a:tc>
                  <a:txBody>
                    <a:bodyPr/>
                    <a:lstStyle/>
                    <a:p>
                      <a:pPr algn="ctr"/>
                      <a:r>
                        <a:rPr sz="750" b="0" i="1">
                          <a:solidFill>
                            <a:srgbClr val="333333"/>
                          </a:solidFill>
                          <a:latin typeface="Calibri"/>
                        </a:rPr>
                        <a:t>18,0 %</a:t>
                      </a:r>
                    </a:p>
                  </a:txBody>
                  <a:tcPr>
                    <a:solidFill>
                      <a:srgbClr val="DDE8F5"/>
                    </a:solidFill>
                  </a:tcPr>
                </a:tc>
                <a:tc>
                  <a:txBody>
                    <a:bodyPr/>
                    <a:lstStyle/>
                    <a:p>
                      <a:pPr algn="ctr"/>
                      <a:r>
                        <a:rPr sz="750" b="0" i="1">
                          <a:solidFill>
                            <a:srgbClr val="333333"/>
                          </a:solidFill>
                          <a:latin typeface="Calibri"/>
                        </a:rPr>
                        <a:t>19,5 %</a:t>
                      </a:r>
                    </a:p>
                  </a:txBody>
                  <a:tcPr>
                    <a:solidFill>
                      <a:srgbClr val="F7F8FA"/>
                    </a:solidFill>
                  </a:tcPr>
                </a:tc>
                <a:tc>
                  <a:txBody>
                    <a:bodyPr/>
                    <a:lstStyle/>
                    <a:p>
                      <a:pPr algn="ctr"/>
                      <a:r>
                        <a:rPr sz="750" b="0" i="1">
                          <a:solidFill>
                            <a:srgbClr val="333333"/>
                          </a:solidFill>
                          <a:latin typeface="Calibri"/>
                        </a:rPr>
                        <a:t>22,0 %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14,8</a:t>
                      </a:r>
                    </a:p>
                  </a:txBody>
                  <a:tcPr>
                    <a:solidFill>
                      <a:srgbClr val="FFFFFF"/>
                    </a:solidFill>
                  </a:tcPr>
                </a:tc>
                <a:tc>
                  <a:txBody>
                    <a:bodyPr/>
                    <a:lstStyle/>
                    <a:p>
                      <a:pPr algn="ctr"/>
                      <a:r>
                        <a:rPr sz="800" b="1" i="0">
                          <a:solidFill>
                            <a:srgbClr val="0D0D0D"/>
                          </a:solidFill>
                          <a:latin typeface="Calibri"/>
                        </a:rPr>
                        <a:t>14,7</a:t>
                      </a:r>
                    </a:p>
                  </a:txBody>
                  <a:tcPr>
                    <a:solidFill>
                      <a:srgbClr val="FFFFFF"/>
                    </a:solidFill>
                  </a:tcPr>
                </a:tc>
                <a:tc>
                  <a:txBody>
                    <a:bodyPr/>
                    <a:lstStyle/>
                    <a:p>
                      <a:pPr algn="ctr"/>
                      <a:r>
                        <a:rPr sz="800" b="1" i="0">
                          <a:solidFill>
                            <a:srgbClr val="1B3A6B"/>
                          </a:solidFill>
                          <a:latin typeface="Calibri"/>
                        </a:rPr>
                        <a:t>11,8</a:t>
                      </a:r>
                    </a:p>
                  </a:txBody>
                  <a:tcPr>
                    <a:solidFill>
                      <a:srgbClr val="DDE8F5"/>
                    </a:solidFill>
                  </a:tcPr>
                </a:tc>
                <a:tc>
                  <a:txBody>
                    <a:bodyPr/>
                    <a:lstStyle/>
                    <a:p>
                      <a:pPr algn="ctr"/>
                      <a:r>
                        <a:rPr sz="800" b="1" i="0">
                          <a:solidFill>
                            <a:srgbClr val="0D0D0D"/>
                          </a:solidFill>
                          <a:latin typeface="Calibri"/>
                        </a:rPr>
                        <a:t>15,0</a:t>
                      </a:r>
                    </a:p>
                  </a:txBody>
                  <a:tcPr>
                    <a:solidFill>
                      <a:srgbClr val="FFFFFF"/>
                    </a:solidFill>
                  </a:tcPr>
                </a:tc>
                <a:tc>
                  <a:txBody>
                    <a:bodyPr/>
                    <a:lstStyle/>
                    <a:p>
                      <a:pPr algn="ctr"/>
                      <a:r>
                        <a:rPr sz="800" b="1" i="0">
                          <a:solidFill>
                            <a:srgbClr val="0D0D0D"/>
                          </a:solidFill>
                          <a:latin typeface="Calibri"/>
                        </a:rPr>
                        <a:t>22,0</a:t>
                      </a:r>
                    </a:p>
                  </a:txBody>
                  <a:tcPr>
                    <a:solidFill>
                      <a:srgbClr val="FFFFFF"/>
                    </a:solidFill>
                  </a:tcPr>
                </a:tc>
              </a:tr>
              <a:tr h="220000">
                <a:tc>
                  <a:txBody>
                    <a:bodyPr/>
                    <a:lstStyle/>
                    <a:p>
                      <a:pPr algn="l"/>
                      <a:r>
                        <a:rPr sz="750" b="0" i="1">
                          <a:solidFill>
                            <a:srgbClr val="333333"/>
                          </a:solidFill>
                          <a:latin typeface="Calibri"/>
                        </a:rPr>
                        <a:t>Marge EBITDA</a:t>
                      </a:r>
                    </a:p>
                  </a:txBody>
                  <a:tcPr>
                    <a:solidFill>
                      <a:srgbClr val="F7F8FA"/>
                    </a:solidFill>
                  </a:tcPr>
                </a:tc>
                <a:tc>
                  <a:txBody>
                    <a:bodyPr/>
                    <a:lstStyle/>
                    <a:p>
                      <a:pPr algn="ctr"/>
                      <a:r>
                        <a:rPr sz="750" b="0" i="1">
                          <a:solidFill>
                            <a:srgbClr val="333333"/>
                          </a:solidFill>
                          <a:latin typeface="Calibri"/>
                        </a:rPr>
                        <a:t>15,3 %</a:t>
                      </a:r>
                    </a:p>
                  </a:txBody>
                  <a:tcPr>
                    <a:solidFill>
                      <a:srgbClr val="F7F8FA"/>
                    </a:solidFill>
                  </a:tcPr>
                </a:tc>
                <a:tc>
                  <a:txBody>
                    <a:bodyPr/>
                    <a:lstStyle/>
                    <a:p>
                      <a:pPr algn="ctr"/>
                      <a:r>
                        <a:rPr sz="750" b="0" i="1">
                          <a:solidFill>
                            <a:srgbClr val="333333"/>
                          </a:solidFill>
                          <a:latin typeface="Calibri"/>
                        </a:rPr>
                        <a:t>15,1 %</a:t>
                      </a:r>
                    </a:p>
                  </a:txBody>
                  <a:tcPr>
                    <a:solidFill>
                      <a:srgbClr val="F7F8FA"/>
                    </a:solidFill>
                  </a:tcPr>
                </a:tc>
                <a:tc>
                  <a:txBody>
                    <a:bodyPr/>
                    <a:lstStyle/>
                    <a:p>
                      <a:pPr algn="ctr"/>
                      <a:r>
                        <a:rPr sz="750" b="0" i="1">
                          <a:solidFill>
                            <a:srgbClr val="333333"/>
                          </a:solidFill>
                          <a:latin typeface="Calibri"/>
                        </a:rPr>
                        <a:t>12,4 %</a:t>
                      </a:r>
                    </a:p>
                  </a:txBody>
                  <a:tcPr>
                    <a:solidFill>
                      <a:srgbClr val="DDE8F5"/>
                    </a:solidFill>
                  </a:tcPr>
                </a:tc>
                <a:tc>
                  <a:txBody>
                    <a:bodyPr/>
                    <a:lstStyle/>
                    <a:p>
                      <a:pPr algn="ctr"/>
                      <a:r>
                        <a:rPr sz="750" b="0" i="1">
                          <a:solidFill>
                            <a:srgbClr val="333333"/>
                          </a:solidFill>
                          <a:latin typeface="Calibri"/>
                        </a:rPr>
                        <a:t>14,7 %</a:t>
                      </a:r>
                    </a:p>
                  </a:txBody>
                  <a:tcPr>
                    <a:solidFill>
                      <a:srgbClr val="F7F8FA"/>
                    </a:solidFill>
                  </a:tcPr>
                </a:tc>
                <a:tc>
                  <a:txBody>
                    <a:bodyPr/>
                    <a:lstStyle/>
                    <a:p>
                      <a:pPr algn="ctr"/>
                      <a:r>
                        <a:rPr sz="750" b="0" i="1">
                          <a:solidFill>
                            <a:srgbClr val="333333"/>
                          </a:solidFill>
                          <a:latin typeface="Calibri"/>
                        </a:rPr>
                        <a:t>19,1 %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15,0</a:t>
                      </a:r>
                    </a:p>
                  </a:txBody>
                  <a:tcPr>
                    <a:solidFill>
                      <a:srgbClr val="FFFFFF"/>
                    </a:solidFill>
                  </a:tcPr>
                </a:tc>
                <a:tc>
                  <a:txBody>
                    <a:bodyPr/>
                    <a:lstStyle/>
                    <a:p>
                      <a:pPr algn="ctr"/>
                      <a:r>
                        <a:rPr sz="800" b="1" i="0">
                          <a:solidFill>
                            <a:srgbClr val="0D0D0D"/>
                          </a:solidFill>
                          <a:latin typeface="Calibri"/>
                        </a:rPr>
                        <a:t>7,1</a:t>
                      </a:r>
                    </a:p>
                  </a:txBody>
                  <a:tcPr>
                    <a:solidFill>
                      <a:srgbClr val="FFFFFF"/>
                    </a:solidFill>
                  </a:tcPr>
                </a:tc>
                <a:tc>
                  <a:txBody>
                    <a:bodyPr/>
                    <a:lstStyle/>
                    <a:p>
                      <a:pPr algn="ctr"/>
                      <a:r>
                        <a:rPr sz="800" b="1" i="0">
                          <a:solidFill>
                            <a:srgbClr val="1B3A6B"/>
                          </a:solidFill>
                          <a:latin typeface="Calibri"/>
                        </a:rPr>
                        <a:t>3,8</a:t>
                      </a:r>
                    </a:p>
                  </a:txBody>
                  <a:tcPr>
                    <a:solidFill>
                      <a:srgbClr val="DDE8F5"/>
                    </a:solidFill>
                  </a:tcPr>
                </a:tc>
                <a:tc>
                  <a:txBody>
                    <a:bodyPr/>
                    <a:lstStyle/>
                    <a:p>
                      <a:pPr algn="ctr"/>
                      <a:r>
                        <a:rPr sz="800" b="1" i="0">
                          <a:solidFill>
                            <a:srgbClr val="0D0D0D"/>
                          </a:solidFill>
                          <a:latin typeface="Calibri"/>
                        </a:rPr>
                        <a:t>6,5</a:t>
                      </a:r>
                    </a:p>
                  </a:txBody>
                  <a:tcPr>
                    <a:solidFill>
                      <a:srgbClr val="FFFFFF"/>
                    </a:solidFill>
                  </a:tcPr>
                </a:tc>
                <a:tc>
                  <a:txBody>
                    <a:bodyPr/>
                    <a:lstStyle/>
                    <a:p>
                      <a:pPr algn="ctr"/>
                      <a:r>
                        <a:rPr sz="800" b="1" i="0">
                          <a:solidFill>
                            <a:srgbClr val="0D0D0D"/>
                          </a:solidFill>
                          <a:latin typeface="Calibri"/>
                        </a:rPr>
                        <a:t>12,0</a:t>
                      </a:r>
                    </a:p>
                  </a:txBody>
                  <a:tcPr>
                    <a:solidFill>
                      <a:srgbClr val="FFFFFF"/>
                    </a:solidFill>
                  </a:tcPr>
                </a:tc>
              </a:tr>
              <a:tr h="220000">
                <a:tc>
                  <a:txBody>
                    <a:bodyPr/>
                    <a:lstStyle/>
                    <a:p>
                      <a:pPr algn="l"/>
                      <a:r>
                        <a:rPr sz="750" b="0" i="1">
                          <a:solidFill>
                            <a:srgbClr val="333333"/>
                          </a:solidFill>
                          <a:latin typeface="Calibri"/>
                        </a:rPr>
                        <a:t>Marge nette</a:t>
                      </a:r>
                    </a:p>
                  </a:txBody>
                  <a:tcPr>
                    <a:solidFill>
                      <a:srgbClr val="F7F8FA"/>
                    </a:solidFill>
                  </a:tcPr>
                </a:tc>
                <a:tc>
                  <a:txBody>
                    <a:bodyPr/>
                    <a:lstStyle/>
                    <a:p>
                      <a:pPr algn="ctr"/>
                      <a:r>
                        <a:rPr sz="750" b="0" i="1">
                          <a:solidFill>
                            <a:srgbClr val="333333"/>
                          </a:solidFill>
                          <a:latin typeface="Calibri"/>
                        </a:rPr>
                        <a:t>15,5 %</a:t>
                      </a:r>
                    </a:p>
                  </a:txBody>
                  <a:tcPr>
                    <a:solidFill>
                      <a:srgbClr val="F7F8FA"/>
                    </a:solidFill>
                  </a:tcPr>
                </a:tc>
                <a:tc>
                  <a:txBody>
                    <a:bodyPr/>
                    <a:lstStyle/>
                    <a:p>
                      <a:pPr algn="ctr"/>
                      <a:r>
                        <a:rPr sz="750" b="0" i="1">
                          <a:solidFill>
                            <a:srgbClr val="333333"/>
                          </a:solidFill>
                          <a:latin typeface="Calibri"/>
                        </a:rPr>
                        <a:t>7,3 %</a:t>
                      </a:r>
                    </a:p>
                  </a:txBody>
                  <a:tcPr>
                    <a:solidFill>
                      <a:srgbClr val="F7F8FA"/>
                    </a:solidFill>
                  </a:tcPr>
                </a:tc>
                <a:tc>
                  <a:txBody>
                    <a:bodyPr/>
                    <a:lstStyle/>
                    <a:p>
                      <a:pPr algn="ctr"/>
                      <a:r>
                        <a:rPr sz="750" b="0" i="1">
                          <a:solidFill>
                            <a:srgbClr val="333333"/>
                          </a:solidFill>
                          <a:latin typeface="Calibri"/>
                        </a:rPr>
                        <a:t>4,0 %</a:t>
                      </a:r>
                    </a:p>
                  </a:txBody>
                  <a:tcPr>
                    <a:solidFill>
                      <a:srgbClr val="DDE8F5"/>
                    </a:solidFill>
                  </a:tcPr>
                </a:tc>
                <a:tc>
                  <a:txBody>
                    <a:bodyPr/>
                    <a:lstStyle/>
                    <a:p>
                      <a:pPr algn="ctr"/>
                      <a:r>
                        <a:rPr sz="750" b="0" i="1">
                          <a:solidFill>
                            <a:srgbClr val="333333"/>
                          </a:solidFill>
                          <a:latin typeface="Calibri"/>
                        </a:rPr>
                        <a:t>6,4 %</a:t>
                      </a:r>
                    </a:p>
                  </a:txBody>
                  <a:tcPr>
                    <a:solidFill>
                      <a:srgbClr val="F7F8FA"/>
                    </a:solidFill>
                  </a:tcPr>
                </a:tc>
                <a:tc>
                  <a:txBody>
                    <a:bodyPr/>
                    <a:lstStyle/>
                    <a:p>
                      <a:pPr algn="ctr"/>
                      <a:r>
                        <a:rPr sz="750" b="0" i="1">
                          <a:solidFill>
                            <a:srgbClr val="333333"/>
                          </a:solidFill>
                          <a:latin typeface="Calibri"/>
                        </a:rPr>
                        <a:t>10,4 %</a:t>
                      </a:r>
                    </a:p>
                  </a:txBody>
                  <a:tcPr>
                    <a:solidFill>
                      <a:srgbClr val="F7F8FA"/>
                    </a:solidFill>
                  </a:tcPr>
                </a:tc>
              </a:tr>
            </a:tbl>
          </a:graphicData>
        </a:graphic>
      </p:graphicFrame>
      <p:sp>
        <p:nvSpPr>
          <p:cNvPr id="18" name="Rectangle 17"/>
          <p:cNvSpPr/>
          <p:nvPr/>
        </p:nvSpPr>
        <p:spPr>
          <a:xfrm>
            <a:off x="367200" y="3218400"/>
            <a:ext cx="8413200" cy="12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218400"/>
            <a:ext cx="79200" cy="122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247200"/>
            <a:ext cx="8298000" cy="1188000"/>
          </a:xfrm>
          <a:prstGeom prst="rect">
            <a:avLst/>
          </a:prstGeom>
          <a:noFill/>
        </p:spPr>
        <p:txBody>
          <a:bodyPr wrap="square">
            <a:spAutoFit/>
          </a:bodyPr>
          <a:lstStyle/>
          <a:p>
            <a:pPr algn="l"/>
            <a:r>
              <a:rPr sz="850" b="0" i="0">
                <a:solidFill>
                  <a:srgbClr val="555555"/>
                </a:solidFill>
                <a:latin typeface="Calibri"/>
              </a:rPr>
              <a:t>Le CA 2025 atteint 94,8 Md$ (-3% YoY), marqué par une pression sur les marges (GM 18.0%, EBITDA 12.4%, Net 4.0%) due à la baisse des prix des VE et à l'augmentation des coûts fixes. Le bilan reste solide avec un ND/EBITDA négatif (-0.7x), permettant une flexibilité financière pour les investissements (Capex 8,5 Md$ en 2025) et potentiellement des rachats d'actions.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16,5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6,6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-8,4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2,23</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1,55</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16,6x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-0,7x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15,48</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-2,61</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Rectangle 30"/>
          <p:cNvSpPr/>
          <p:nvPr/>
        </p:nvSpPr>
        <p:spPr>
          <a:xfrm>
            <a:off x="367200" y="4068000"/>
            <a:ext cx="8413200" cy="4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7200" y="4068000"/>
            <a:ext cx="79200" cy="46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5200" y="4096800"/>
            <a:ext cx="8298000" cy="432000"/>
          </a:xfrm>
          <a:prstGeom prst="rect">
            <a:avLst/>
          </a:prstGeom>
          <a:noFill/>
        </p:spPr>
        <p:txBody>
          <a:bodyPr wrap="square">
            <a:spAutoFit/>
          </a:bodyPr>
          <a:lstStyle/>
          <a:p>
            <a:pPr algn="l"/>
            <a:r>
              <a:rPr sz="850" b="0" i="0">
                <a:solidFill>
                  <a:srgbClr val="555555"/>
                </a:solidFill>
                <a:latin typeface="Calibri"/>
              </a:rPr>
              <a:t>Le CA 2025 atteint 94,8 Md$ (-3% YoY), marqué par une pression sur les marges (GM 18.0%, EBITDA 12.4%, Net 4.0%) due à la baisse des prix des VE et à l'augmentation des coûts fixes. Le bilan reste solide avec un ND/EBITDA négatif (-0.7x), permettant une flexibilité financière pour les investissements (Capex 8,5 Md$ en 2025) et potentiellement des rachats d'actions.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339,5x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Eleve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108,8x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13,5x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B06000"/>
                          </a:solidFill>
                          <a:latin typeface="Calibri"/>
                        </a:rPr>
                        <a:t>Modéré</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15,48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Rectangle 17"/>
          <p:cNvSpPr/>
          <p:nvPr/>
        </p:nvSpPr>
        <p:spPr>
          <a:xfrm>
            <a:off x="367200" y="3628800"/>
            <a:ext cx="8413200" cy="8244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628800"/>
            <a:ext cx="792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657600"/>
            <a:ext cx="8298000" cy="788400"/>
          </a:xfrm>
          <a:prstGeom prst="rect">
            <a:avLst/>
          </a:prstGeom>
          <a:noFill/>
        </p:spPr>
        <p:txBody>
          <a:bodyPr wrap="square">
            <a:spAutoFit/>
          </a:bodyPr>
          <a:lstStyle/>
          <a:p>
            <a:pPr algn="l"/>
            <a:r>
              <a:rPr sz="850" b="0" i="0">
                <a:solidFill>
                  <a:srgbClr val="555555"/>
                </a:solidFill>
                <a:latin typeface="Calibri"/>
              </a:rPr>
              <a:t>Les marges ont chuté de 25.6% (GM 2022) à 18.0% (2025) et de 21.7% (EBITDA 2022) à 12.4% (2025), principalement à cause de la guerre des prix sur les VE et de l'inflation des coûts. La résilience des marges nettes (15.5% en 2023 vs 4.0% en 2025) masque une dégradation structurelle. Le pricing power semble affaibli, avec un risque de mean-reversion si la concurrence s'intensifie.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380 $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343,25 $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290 $</a:t>
                      </a:r>
                    </a:p>
                  </a:txBody>
                  <a:tcPr>
                    <a:solidFill>
                      <a:srgbClr val="FAF0EF"/>
                    </a:solidFill>
                  </a:tcPr>
                </a:tc>
                <a:tc>
                  <a:txBody>
                    <a:bodyPr/>
                    <a:lstStyle/>
                    <a:p>
                      <a:pPr algn="ctr"/>
                      <a:r>
                        <a:rPr sz="2000" b="1" i="0">
                          <a:solidFill>
                            <a:srgbClr val="2E5FA3"/>
                          </a:solidFill>
                          <a:latin typeface="Calibri"/>
                        </a:rPr>
                        <a:t>380 $</a:t>
                      </a:r>
                    </a:p>
                  </a:txBody>
                  <a:tcPr>
                    <a:solidFill>
                      <a:srgbClr val="EEF3FA"/>
                    </a:solidFill>
                  </a:tcPr>
                </a:tc>
                <a:tc>
                  <a:txBody>
                    <a:bodyPr/>
                    <a:lstStyle/>
                    <a:p>
                      <a:pPr algn="ctr"/>
                      <a:r>
                        <a:rPr sz="2000" b="1" i="0">
                          <a:solidFill>
                            <a:srgbClr val="1A7A4A"/>
                          </a:solidFill>
                          <a:latin typeface="Calibri"/>
                        </a:rPr>
                        <a:t>450 $</a:t>
                      </a:r>
                    </a:p>
                  </a:txBody>
                  <a:tcPr>
                    <a:solidFill>
                      <a:srgbClr val="EAF4EF"/>
                    </a:solidFill>
                  </a:tcPr>
                </a:tc>
              </a:tr>
              <a:tr h="342900">
                <a:tc>
                  <a:txBody>
                    <a:bodyPr/>
                    <a:lstStyle/>
                    <a:p>
                      <a:pPr algn="ctr"/>
                      <a:r>
                        <a:rPr sz="1200" b="1" i="0">
                          <a:solidFill>
                            <a:srgbClr val="A82020"/>
                          </a:solidFill>
                          <a:latin typeface="Calibri"/>
                        </a:rPr>
                        <a:t>-15,5 %</a:t>
                      </a:r>
                    </a:p>
                  </a:txBody>
                  <a:tcPr>
                    <a:solidFill>
                      <a:srgbClr val="FAF0EF"/>
                    </a:solidFill>
                  </a:tcPr>
                </a:tc>
                <a:tc>
                  <a:txBody>
                    <a:bodyPr/>
                    <a:lstStyle/>
                    <a:p>
                      <a:pPr algn="ctr"/>
                      <a:r>
                        <a:rPr sz="1200" b="1" i="0">
                          <a:solidFill>
                            <a:srgbClr val="2E5FA3"/>
                          </a:solidFill>
                          <a:latin typeface="Calibri"/>
                        </a:rPr>
                        <a:t>+10,7 %</a:t>
                      </a:r>
                    </a:p>
                  </a:txBody>
                  <a:tcPr>
                    <a:solidFill>
                      <a:srgbClr val="EEF3FA"/>
                    </a:solidFill>
                  </a:tcPr>
                </a:tc>
                <a:tc>
                  <a:txBody>
                    <a:bodyPr/>
                    <a:lstStyle/>
                    <a:p>
                      <a:pPr algn="ctr"/>
                      <a:r>
                        <a:rPr sz="1200" b="1" i="0">
                          <a:solidFill>
                            <a:srgbClr val="1A7A4A"/>
                          </a:solidFill>
                          <a:latin typeface="Calibri"/>
                        </a:rPr>
                        <a:t>+31,1 %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GBM — 10 000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Cours prédit (12M)</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-67,8 %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395 $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+156,2 %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1 412 $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+311,5 %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13,8%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14,8%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380</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16,8%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367200" y="3916800"/>
            <a:ext cx="8413200" cy="547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7200" y="3916800"/>
            <a:ext cx="79200" cy="5472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200" y="3945600"/>
            <a:ext cx="8298000" cy="511200"/>
          </a:xfrm>
          <a:prstGeom prst="rect">
            <a:avLst/>
          </a:prstGeom>
          <a:noFill/>
        </p:spPr>
        <p:txBody>
          <a:bodyPr wrap="square">
            <a:spAutoFit/>
          </a:bodyPr>
          <a:lstStyle/>
          <a:p>
            <a:pPr algn="l"/>
            <a:r>
              <a:rPr sz="850" b="0" i="0">
                <a:solidFill>
                  <a:srgbClr val="555555"/>
                </a:solidFill>
                <a:latin typeface="Calibri"/>
              </a:rPr>
              <a:t>Avec un WACC de 14.8% et un TGR de 2.5%, le prix implicite DCF se situe entre 290 USD (bear) et 450 USD (bull), contre un cours de 343.25 USD. La prime actuelle suggère que le marché anticipe déjà une partie de la croissance future, limitant l'upside sans exécution parfaite sur les robotaxis et l'IA.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Tesla, Inc.</a:t>
                      </a:r>
                    </a:p>
                  </a:txBody>
                  <a:tcPr>
                    <a:solidFill>
                      <a:srgbClr val="DDE8F5"/>
                    </a:solidFill>
                  </a:tcPr>
                </a:tc>
                <a:tc>
                  <a:txBody>
                    <a:bodyPr/>
                    <a:lstStyle/>
                    <a:p>
                      <a:pPr algn="ctr"/>
                      <a:r>
                        <a:rPr sz="750" b="1" i="0">
                          <a:solidFill>
                            <a:srgbClr val="2E5FA3"/>
                          </a:solidFill>
                          <a:latin typeface="Calibri"/>
                        </a:rPr>
                        <a:t>TSLA</a:t>
                      </a:r>
                    </a:p>
                  </a:txBody>
                  <a:tcPr>
                    <a:solidFill>
                      <a:srgbClr val="DDE8F5"/>
                    </a:solidFill>
                  </a:tcPr>
                </a:tc>
                <a:tc>
                  <a:txBody>
                    <a:bodyPr/>
                    <a:lstStyle/>
                    <a:p>
                      <a:pPr algn="ctr"/>
                      <a:r>
                        <a:rPr sz="800" b="1" i="0">
                          <a:solidFill>
                            <a:srgbClr val="1B3A6B"/>
                          </a:solidFill>
                          <a:latin typeface="Calibri"/>
                        </a:rPr>
                        <a:t>1 288,0</a:t>
                      </a:r>
                    </a:p>
                  </a:txBody>
                  <a:tcPr>
                    <a:solidFill>
                      <a:srgbClr val="DDE8F5"/>
                    </a:solidFill>
                  </a:tcPr>
                </a:tc>
                <a:tc>
                  <a:txBody>
                    <a:bodyPr/>
                    <a:lstStyle/>
                    <a:p>
                      <a:pPr algn="ctr"/>
                      <a:r>
                        <a:rPr sz="800" b="1" i="0">
                          <a:solidFill>
                            <a:srgbClr val="1B3A6B"/>
                          </a:solidFill>
                          <a:latin typeface="Calibri"/>
                        </a:rPr>
                        <a:t>108,8x</a:t>
                      </a:r>
                    </a:p>
                  </a:txBody>
                  <a:tcPr>
                    <a:solidFill>
                      <a:srgbClr val="DDE8F5"/>
                    </a:solidFill>
                  </a:tcPr>
                </a:tc>
                <a:tc>
                  <a:txBody>
                    <a:bodyPr/>
                    <a:lstStyle/>
                    <a:p>
                      <a:pPr algn="ctr"/>
                      <a:r>
                        <a:rPr sz="800" b="1" i="0">
                          <a:solidFill>
                            <a:srgbClr val="1B3A6B"/>
                          </a:solidFill>
                          <a:latin typeface="Calibri"/>
                        </a:rPr>
                        <a:t>13,5x</a:t>
                      </a:r>
                    </a:p>
                  </a:txBody>
                  <a:tcPr>
                    <a:solidFill>
                      <a:srgbClr val="DDE8F5"/>
                    </a:solidFill>
                  </a:tcPr>
                </a:tc>
                <a:tc>
                  <a:txBody>
                    <a:bodyPr/>
                    <a:lstStyle/>
                    <a:p>
                      <a:pPr algn="ctr"/>
                      <a:r>
                        <a:rPr sz="800" b="1" i="0">
                          <a:solidFill>
                            <a:srgbClr val="1B3A6B"/>
                          </a:solidFill>
                          <a:latin typeface="Calibri"/>
                        </a:rPr>
                        <a:t>339,5x</a:t>
                      </a:r>
                    </a:p>
                  </a:txBody>
                  <a:tcPr>
                    <a:solidFill>
                      <a:srgbClr val="DDE8F5"/>
                    </a:solidFill>
                  </a:tcPr>
                </a:tc>
                <a:tc>
                  <a:txBody>
                    <a:bodyPr/>
                    <a:lstStyle/>
                    <a:p>
                      <a:pPr algn="ctr"/>
                      <a:r>
                        <a:rPr sz="800" b="1" i="0">
                          <a:solidFill>
                            <a:srgbClr val="1B3A6B"/>
                          </a:solidFill>
                          <a:latin typeface="Calibri"/>
                        </a:rPr>
                        <a:t>18,0 %</a:t>
                      </a:r>
                    </a:p>
                  </a:txBody>
                  <a:tcPr>
                    <a:solidFill>
                      <a:srgbClr val="DDE8F5"/>
                    </a:solidFill>
                  </a:tcPr>
                </a:tc>
                <a:tc>
                  <a:txBody>
                    <a:bodyPr/>
                    <a:lstStyle/>
                    <a:p>
                      <a:pPr algn="ctr"/>
                      <a:r>
                        <a:rPr sz="800" b="1" i="0">
                          <a:solidFill>
                            <a:srgbClr val="1B3A6B"/>
                          </a:solidFill>
                          <a:latin typeface="Calibri"/>
                        </a:rPr>
                        <a:t>12,4 %</a:t>
                      </a:r>
                    </a:p>
                  </a:txBody>
                  <a:tcPr>
                    <a:solidFill>
                      <a:srgbClr val="DDE8F5"/>
                    </a:solidFill>
                  </a:tcPr>
                </a:tc>
              </a:tr>
              <a:tr h="251999">
                <a:tc>
                  <a:txBody>
                    <a:bodyPr/>
                    <a:lstStyle/>
                    <a:p>
                      <a:pPr algn="l"/>
                      <a:r>
                        <a:rPr sz="800" b="0" i="0">
                          <a:solidFill>
                            <a:srgbClr val="0D0D0D"/>
                          </a:solidFill>
                          <a:latin typeface="Calibri"/>
                        </a:rPr>
                        <a:t>BYD Company</a:t>
                      </a:r>
                    </a:p>
                  </a:txBody>
                  <a:tcPr>
                    <a:solidFill>
                      <a:srgbClr val="FFFFFF"/>
                    </a:solidFill>
                  </a:tcPr>
                </a:tc>
                <a:tc>
                  <a:txBody>
                    <a:bodyPr/>
                    <a:lstStyle/>
                    <a:p>
                      <a:pPr algn="ctr"/>
                      <a:r>
                        <a:rPr sz="750" b="0" i="0">
                          <a:solidFill>
                            <a:srgbClr val="555555"/>
                          </a:solidFill>
                          <a:latin typeface="Calibri"/>
                        </a:rPr>
                        <a:t>BYD.US</a:t>
                      </a:r>
                    </a:p>
                  </a:txBody>
                  <a:tcPr>
                    <a:solidFill>
                      <a:srgbClr val="FFFFFF"/>
                    </a:solidFill>
                  </a:tcPr>
                </a:tc>
                <a:tc>
                  <a:txBody>
                    <a:bodyPr/>
                    <a:lstStyle/>
                    <a:p>
                      <a:pPr algn="ctr"/>
                      <a:r>
                        <a:rPr sz="800" b="0" i="0">
                          <a:solidFill>
                            <a:srgbClr val="0D0D0D"/>
                          </a:solidFill>
                          <a:latin typeface="Calibri"/>
                        </a:rPr>
                        <a:t>85,0</a:t>
                      </a:r>
                    </a:p>
                  </a:txBody>
                  <a:tcPr>
                    <a:solidFill>
                      <a:srgbClr val="FFFFFF"/>
                    </a:solidFill>
                  </a:tcPr>
                </a:tc>
                <a:tc>
                  <a:txBody>
                    <a:bodyPr/>
                    <a:lstStyle/>
                    <a:p>
                      <a:pPr algn="ctr"/>
                      <a:r>
                        <a:rPr sz="800" b="0" i="0">
                          <a:solidFill>
                            <a:srgbClr val="0D0D0D"/>
                          </a:solidFill>
                          <a:latin typeface="Calibri"/>
                        </a:rPr>
                        <a:t>22,5x</a:t>
                      </a:r>
                    </a:p>
                  </a:txBody>
                  <a:tcPr>
                    <a:solidFill>
                      <a:srgbClr val="FFFFFF"/>
                    </a:solidFill>
                  </a:tcPr>
                </a:tc>
                <a:tc>
                  <a:txBody>
                    <a:bodyPr/>
                    <a:lstStyle/>
                    <a:p>
                      <a:pPr algn="ctr"/>
                      <a:r>
                        <a:rPr sz="800" b="0" i="0">
                          <a:solidFill>
                            <a:srgbClr val="0D0D0D"/>
                          </a:solidFill>
                          <a:latin typeface="Calibri"/>
                        </a:rPr>
                        <a:t>3,8x</a:t>
                      </a:r>
                    </a:p>
                  </a:txBody>
                  <a:tcPr>
                    <a:solidFill>
                      <a:srgbClr val="FFFFFF"/>
                    </a:solidFill>
                  </a:tcPr>
                </a:tc>
                <a:tc>
                  <a:txBody>
                    <a:bodyPr/>
                    <a:lstStyle/>
                    <a:p>
                      <a:pPr algn="ctr"/>
                      <a:r>
                        <a:rPr sz="800" b="0" i="0">
                          <a:solidFill>
                            <a:srgbClr val="0D0D0D"/>
                          </a:solidFill>
                          <a:latin typeface="Calibri"/>
                        </a:rPr>
                        <a:t>45,0x</a:t>
                      </a:r>
                    </a:p>
                  </a:txBody>
                  <a:tcPr>
                    <a:solidFill>
                      <a:srgbClr val="FFFFFF"/>
                    </a:solidFill>
                  </a:tcPr>
                </a:tc>
                <a:tc>
                  <a:txBody>
                    <a:bodyPr/>
                    <a:lstStyle/>
                    <a:p>
                      <a:pPr algn="ctr"/>
                      <a:r>
                        <a:rPr sz="800" b="0" i="0">
                          <a:solidFill>
                            <a:srgbClr val="0D0D0D"/>
                          </a:solidFill>
                          <a:latin typeface="Calibri"/>
                        </a:rPr>
                        <a:t>22,0 %</a:t>
                      </a:r>
                    </a:p>
                  </a:txBody>
                  <a:tcPr>
                    <a:solidFill>
                      <a:srgbClr val="FFFFFF"/>
                    </a:solidFill>
                  </a:tcPr>
                </a:tc>
                <a:tc>
                  <a:txBody>
                    <a:bodyPr/>
                    <a:lstStyle/>
                    <a:p>
                      <a:pPr algn="ctr"/>
                      <a:r>
                        <a:rPr sz="800" b="0" i="0">
                          <a:solidFill>
                            <a:srgbClr val="0D0D0D"/>
                          </a:solidFill>
                          <a:latin typeface="Calibri"/>
                        </a:rPr>
                        <a:t>15,0 %</a:t>
                      </a:r>
                    </a:p>
                  </a:txBody>
                  <a:tcPr>
                    <a:solidFill>
                      <a:srgbClr val="FFFFFF"/>
                    </a:solidFill>
                  </a:tcPr>
                </a:tc>
              </a:tr>
              <a:tr h="251999">
                <a:tc>
                  <a:txBody>
                    <a:bodyPr/>
                    <a:lstStyle/>
                    <a:p>
                      <a:pPr algn="l"/>
                      <a:r>
                        <a:rPr sz="800" b="0" i="0">
                          <a:solidFill>
                            <a:srgbClr val="0D0D0D"/>
                          </a:solidFill>
                          <a:latin typeface="Calibri"/>
                        </a:rPr>
                        <a:t>Rivian Automotive</a:t>
                      </a:r>
                    </a:p>
                  </a:txBody>
                  <a:tcPr>
                    <a:solidFill>
                      <a:srgbClr val="F7F8FA"/>
                    </a:solidFill>
                  </a:tcPr>
                </a:tc>
                <a:tc>
                  <a:txBody>
                    <a:bodyPr/>
                    <a:lstStyle/>
                    <a:p>
                      <a:pPr algn="ctr"/>
                      <a:r>
                        <a:rPr sz="750" b="0" i="0">
                          <a:solidFill>
                            <a:srgbClr val="555555"/>
                          </a:solidFill>
                          <a:latin typeface="Calibri"/>
                        </a:rPr>
                        <a:t>RIVN.US</a:t>
                      </a:r>
                    </a:p>
                  </a:txBody>
                  <a:tcPr>
                    <a:solidFill>
                      <a:srgbClr val="F7F8FA"/>
                    </a:solidFill>
                  </a:tcPr>
                </a:tc>
                <a:tc>
                  <a:txBody>
                    <a:bodyPr/>
                    <a:lstStyle/>
                    <a:p>
                      <a:pPr algn="ctr"/>
                      <a:r>
                        <a:rPr sz="800" b="0" i="0">
                          <a:solidFill>
                            <a:srgbClr val="0D0D0D"/>
                          </a:solidFill>
                          <a:latin typeface="Calibri"/>
                        </a:rPr>
                        <a:t>12,0</a:t>
                      </a:r>
                    </a:p>
                  </a:txBody>
                  <a:tcPr>
                    <a:solidFill>
                      <a:srgbClr val="F7F8FA"/>
                    </a:solidFill>
                  </a:tcPr>
                </a:tc>
                <a:tc>
                  <a:txBody>
                    <a:bodyPr/>
                    <a:lstStyle/>
                    <a:p>
                      <a:pPr algn="ctr"/>
                      <a:r>
                        <a:rPr sz="800" b="0" i="0">
                          <a:solidFill>
                            <a:srgbClr val="0D0D0D"/>
                          </a:solidFill>
                          <a:latin typeface="Calibri"/>
                        </a:rPr>
                        <a:t>-12,0x</a:t>
                      </a:r>
                    </a:p>
                  </a:txBody>
                  <a:tcPr>
                    <a:solidFill>
                      <a:srgbClr val="F7F8FA"/>
                    </a:solidFill>
                  </a:tcPr>
                </a:tc>
                <a:tc>
                  <a:txBody>
                    <a:bodyPr/>
                    <a:lstStyle/>
                    <a:p>
                      <a:pPr algn="ctr"/>
                      <a:r>
                        <a:rPr sz="800" b="0" i="0">
                          <a:solidFill>
                            <a:srgbClr val="0D0D0D"/>
                          </a:solidFill>
                          <a:latin typeface="Calibri"/>
                        </a:rPr>
                        <a:t>-5,0x</a:t>
                      </a:r>
                    </a:p>
                  </a:txBody>
                  <a:tcPr>
                    <a:solidFill>
                      <a:srgbClr val="F7F8FA"/>
                    </a:solidFill>
                  </a:tcPr>
                </a:tc>
                <a:tc>
                  <a:txBody>
                    <a:bodyPr/>
                    <a:lstStyle/>
                    <a:p>
                      <a:pPr algn="ctr"/>
                      <a:r>
                        <a:rPr sz="800" b="0" i="0">
                          <a:solidFill>
                            <a:srgbClr val="0D0D0D"/>
                          </a:solidFill>
                          <a:latin typeface="Calibri"/>
                        </a:rPr>
                        <a:t>-10,0x</a:t>
                      </a:r>
                    </a:p>
                  </a:txBody>
                  <a:tcPr>
                    <a:solidFill>
                      <a:srgbClr val="F7F8FA"/>
                    </a:solidFill>
                  </a:tcPr>
                </a:tc>
                <a:tc>
                  <a:txBody>
                    <a:bodyPr/>
                    <a:lstStyle/>
                    <a:p>
                      <a:pPr algn="ctr"/>
                      <a:r>
                        <a:rPr sz="800" b="0" i="0">
                          <a:solidFill>
                            <a:srgbClr val="0D0D0D"/>
                          </a:solidFill>
                          <a:latin typeface="Calibri"/>
                        </a:rPr>
                        <a:t>15,0 %</a:t>
                      </a:r>
                    </a:p>
                  </a:txBody>
                  <a:tcPr>
                    <a:solidFill>
                      <a:srgbClr val="F7F8FA"/>
                    </a:solidFill>
                  </a:tcPr>
                </a:tc>
                <a:tc>
                  <a:txBody>
                    <a:bodyPr/>
                    <a:lstStyle/>
                    <a:p>
                      <a:pPr algn="ctr"/>
                      <a:r>
                        <a:rPr sz="800" b="0" i="0">
                          <a:solidFill>
                            <a:srgbClr val="0D0D0D"/>
                          </a:solidFill>
                          <a:latin typeface="Calibri"/>
                        </a:rPr>
                        <a:t>-30,0 %</a:t>
                      </a:r>
                    </a:p>
                  </a:txBody>
                  <a:tcPr>
                    <a:solidFill>
                      <a:srgbClr val="F7F8FA"/>
                    </a:solidFill>
                  </a:tcPr>
                </a:tc>
              </a:tr>
              <a:tr h="251999">
                <a:tc>
                  <a:txBody>
                    <a:bodyPr/>
                    <a:lstStyle/>
                    <a:p>
                      <a:pPr algn="l"/>
                      <a:r>
                        <a:rPr sz="800" b="0" i="0">
                          <a:solidFill>
                            <a:srgbClr val="0D0D0D"/>
                          </a:solidFill>
                          <a:latin typeface="Calibri"/>
                        </a:rPr>
                        <a:t>Lucid Group</a:t>
                      </a:r>
                    </a:p>
                  </a:txBody>
                  <a:tcPr>
                    <a:solidFill>
                      <a:srgbClr val="FFFFFF"/>
                    </a:solidFill>
                  </a:tcPr>
                </a:tc>
                <a:tc>
                  <a:txBody>
                    <a:bodyPr/>
                    <a:lstStyle/>
                    <a:p>
                      <a:pPr algn="ctr"/>
                      <a:r>
                        <a:rPr sz="750" b="0" i="0">
                          <a:solidFill>
                            <a:srgbClr val="555555"/>
                          </a:solidFill>
                          <a:latin typeface="Calibri"/>
                        </a:rPr>
                        <a:t>LCID.US</a:t>
                      </a:r>
                    </a:p>
                  </a:txBody>
                  <a:tcPr>
                    <a:solidFill>
                      <a:srgbClr val="FFFFFF"/>
                    </a:solidFill>
                  </a:tcPr>
                </a:tc>
                <a:tc>
                  <a:txBody>
                    <a:bodyPr/>
                    <a:lstStyle/>
                    <a:p>
                      <a:pPr algn="ctr"/>
                      <a:r>
                        <a:rPr sz="800" b="0" i="0">
                          <a:solidFill>
                            <a:srgbClr val="0D0D0D"/>
                          </a:solidFill>
                          <a:latin typeface="Calibri"/>
                        </a:rPr>
                        <a:t>15,0</a:t>
                      </a:r>
                    </a:p>
                  </a:txBody>
                  <a:tcPr>
                    <a:solidFill>
                      <a:srgbClr val="FFFFFF"/>
                    </a:solidFill>
                  </a:tcPr>
                </a:tc>
                <a:tc>
                  <a:txBody>
                    <a:bodyPr/>
                    <a:lstStyle/>
                    <a:p>
                      <a:pPr algn="ctr"/>
                      <a:r>
                        <a:rPr sz="800" b="0" i="0">
                          <a:solidFill>
                            <a:srgbClr val="0D0D0D"/>
                          </a:solidFill>
                          <a:latin typeface="Calibri"/>
                        </a:rPr>
                        <a:t>-18,0x</a:t>
                      </a:r>
                    </a:p>
                  </a:txBody>
                  <a:tcPr>
                    <a:solidFill>
                      <a:srgbClr val="FFFFFF"/>
                    </a:solidFill>
                  </a:tcPr>
                </a:tc>
                <a:tc>
                  <a:txBody>
                    <a:bodyPr/>
                    <a:lstStyle/>
                    <a:p>
                      <a:pPr algn="ctr"/>
                      <a:r>
                        <a:rPr sz="800" b="0" i="0">
                          <a:solidFill>
                            <a:srgbClr val="0D0D0D"/>
                          </a:solidFill>
                          <a:latin typeface="Calibri"/>
                        </a:rPr>
                        <a:t>-8,0x</a:t>
                      </a:r>
                    </a:p>
                  </a:txBody>
                  <a:tcPr>
                    <a:solidFill>
                      <a:srgbClr val="FFFFFF"/>
                    </a:solidFill>
                  </a:tcPr>
                </a:tc>
                <a:tc>
                  <a:txBody>
                    <a:bodyPr/>
                    <a:lstStyle/>
                    <a:p>
                      <a:pPr algn="ctr"/>
                      <a:r>
                        <a:rPr sz="800" b="0" i="0">
                          <a:solidFill>
                            <a:srgbClr val="0D0D0D"/>
                          </a:solidFill>
                          <a:latin typeface="Calibri"/>
                        </a:rPr>
                        <a:t>-15,0x</a:t>
                      </a:r>
                    </a:p>
                  </a:txBody>
                  <a:tcPr>
                    <a:solidFill>
                      <a:srgbClr val="FFFFFF"/>
                    </a:solidFill>
                  </a:tcPr>
                </a:tc>
                <a:tc>
                  <a:txBody>
                    <a:bodyPr/>
                    <a:lstStyle/>
                    <a:p>
                      <a:pPr algn="ctr"/>
                      <a:r>
                        <a:rPr sz="800" b="0" i="0">
                          <a:solidFill>
                            <a:srgbClr val="0D0D0D"/>
                          </a:solidFill>
                          <a:latin typeface="Calibri"/>
                        </a:rPr>
                        <a:t>18,0 %</a:t>
                      </a:r>
                    </a:p>
                  </a:txBody>
                  <a:tcPr>
                    <a:solidFill>
                      <a:srgbClr val="FFFFFF"/>
                    </a:solidFill>
                  </a:tcPr>
                </a:tc>
                <a:tc>
                  <a:txBody>
                    <a:bodyPr/>
                    <a:lstStyle/>
                    <a:p>
                      <a:pPr algn="ctr"/>
                      <a:r>
                        <a:rPr sz="800" b="0" i="0">
                          <a:solidFill>
                            <a:srgbClr val="0D0D0D"/>
                          </a:solidFill>
                          <a:latin typeface="Calibri"/>
                        </a:rPr>
                        <a:t>-40,0 %</a:t>
                      </a:r>
                    </a:p>
                  </a:txBody>
                  <a:tcPr>
                    <a:solidFill>
                      <a:srgbClr val="FFFFFF"/>
                    </a:solidFill>
                  </a:tcPr>
                </a:tc>
              </a:tr>
              <a:tr h="251999">
                <a:tc>
                  <a:txBody>
                    <a:bodyPr/>
                    <a:lstStyle/>
                    <a:p>
                      <a:pPr algn="l"/>
                      <a:r>
                        <a:rPr sz="800" b="0" i="0">
                          <a:solidFill>
                            <a:srgbClr val="0D0D0D"/>
                          </a:solidFill>
                          <a:latin typeface="Calibri"/>
                        </a:rPr>
                        <a:t>NIO Inc</a:t>
                      </a:r>
                    </a:p>
                  </a:txBody>
                  <a:tcPr>
                    <a:solidFill>
                      <a:srgbClr val="F7F8FA"/>
                    </a:solidFill>
                  </a:tcPr>
                </a:tc>
                <a:tc>
                  <a:txBody>
                    <a:bodyPr/>
                    <a:lstStyle/>
                    <a:p>
                      <a:pPr algn="ctr"/>
                      <a:r>
                        <a:rPr sz="750" b="0" i="0">
                          <a:solidFill>
                            <a:srgbClr val="555555"/>
                          </a:solidFill>
                          <a:latin typeface="Calibri"/>
                        </a:rPr>
                        <a:t>NIO.US</a:t>
                      </a:r>
                    </a:p>
                  </a:txBody>
                  <a:tcPr>
                    <a:solidFill>
                      <a:srgbClr val="F7F8FA"/>
                    </a:solidFill>
                  </a:tcPr>
                </a:tc>
                <a:tc>
                  <a:txBody>
                    <a:bodyPr/>
                    <a:lstStyle/>
                    <a:p>
                      <a:pPr algn="ctr"/>
                      <a:r>
                        <a:rPr sz="800" b="0" i="0">
                          <a:solidFill>
                            <a:srgbClr val="0D0D0D"/>
                          </a:solidFill>
                          <a:latin typeface="Calibri"/>
                        </a:rPr>
                        <a:t>20,0</a:t>
                      </a:r>
                    </a:p>
                  </a:txBody>
                  <a:tcPr>
                    <a:solidFill>
                      <a:srgbClr val="F7F8FA"/>
                    </a:solidFill>
                  </a:tcPr>
                </a:tc>
                <a:tc>
                  <a:txBody>
                    <a:bodyPr/>
                    <a:lstStyle/>
                    <a:p>
                      <a:pPr algn="ctr"/>
                      <a:r>
                        <a:rPr sz="800" b="0" i="0">
                          <a:solidFill>
                            <a:srgbClr val="0D0D0D"/>
                          </a:solidFill>
                          <a:latin typeface="Calibri"/>
                        </a:rPr>
                        <a:t>-25,0x</a:t>
                      </a:r>
                    </a:p>
                  </a:txBody>
                  <a:tcPr>
                    <a:solidFill>
                      <a:srgbClr val="F7F8FA"/>
                    </a:solidFill>
                  </a:tcPr>
                </a:tc>
                <a:tc>
                  <a:txBody>
                    <a:bodyPr/>
                    <a:lstStyle/>
                    <a:p>
                      <a:pPr algn="ctr"/>
                      <a:r>
                        <a:rPr sz="800" b="0" i="0">
                          <a:solidFill>
                            <a:srgbClr val="0D0D0D"/>
                          </a:solidFill>
                          <a:latin typeface="Calibri"/>
                        </a:rPr>
                        <a:t>-10,0x</a:t>
                      </a:r>
                    </a:p>
                  </a:txBody>
                  <a:tcPr>
                    <a:solidFill>
                      <a:srgbClr val="F7F8FA"/>
                    </a:solidFill>
                  </a:tcPr>
                </a:tc>
                <a:tc>
                  <a:txBody>
                    <a:bodyPr/>
                    <a:lstStyle/>
                    <a:p>
                      <a:pPr algn="ctr"/>
                      <a:r>
                        <a:rPr sz="800" b="0" i="0">
                          <a:solidFill>
                            <a:srgbClr val="0D0D0D"/>
                          </a:solidFill>
                          <a:latin typeface="Calibri"/>
                        </a:rPr>
                        <a:t>-20,0x</a:t>
                      </a:r>
                    </a:p>
                  </a:txBody>
                  <a:tcPr>
                    <a:solidFill>
                      <a:srgbClr val="F7F8FA"/>
                    </a:solidFill>
                  </a:tcPr>
                </a:tc>
                <a:tc>
                  <a:txBody>
                    <a:bodyPr/>
                    <a:lstStyle/>
                    <a:p>
                      <a:pPr algn="ctr"/>
                      <a:r>
                        <a:rPr sz="800" b="0" i="0">
                          <a:solidFill>
                            <a:srgbClr val="0D0D0D"/>
                          </a:solidFill>
                          <a:latin typeface="Calibri"/>
                        </a:rPr>
                        <a:t>12,0 %</a:t>
                      </a:r>
                    </a:p>
                  </a:txBody>
                  <a:tcPr>
                    <a:solidFill>
                      <a:srgbClr val="F7F8FA"/>
                    </a:solidFill>
                  </a:tcPr>
                </a:tc>
                <a:tc>
                  <a:txBody>
                    <a:bodyPr/>
                    <a:lstStyle/>
                    <a:p>
                      <a:pPr algn="ctr"/>
                      <a:r>
                        <a:rPr sz="800" b="0" i="0">
                          <a:solidFill>
                            <a:srgbClr val="0D0D0D"/>
                          </a:solidFill>
                          <a:latin typeface="Calibri"/>
                        </a:rPr>
                        <a:t>-50,0 %</a:t>
                      </a:r>
                    </a:p>
                  </a:txBody>
                  <a:tcPr>
                    <a:solidFill>
                      <a:srgbClr val="F7F8FA"/>
                    </a:solidFill>
                  </a:tcPr>
                </a:tc>
              </a:tr>
              <a:tr h="251999">
                <a:tc>
                  <a:txBody>
                    <a:bodyPr/>
                    <a:lstStyle/>
                    <a:p>
                      <a:pPr algn="l"/>
                      <a:r>
                        <a:rPr sz="800" b="0" i="0">
                          <a:solidFill>
                            <a:srgbClr val="0D0D0D"/>
                          </a:solidFill>
                          <a:latin typeface="Calibri"/>
                        </a:rPr>
                        <a:t>Ford Motor</a:t>
                      </a:r>
                    </a:p>
                  </a:txBody>
                  <a:tcPr>
                    <a:solidFill>
                      <a:srgbClr val="FFFFFF"/>
                    </a:solidFill>
                  </a:tcPr>
                </a:tc>
                <a:tc>
                  <a:txBody>
                    <a:bodyPr/>
                    <a:lstStyle/>
                    <a:p>
                      <a:pPr algn="ctr"/>
                      <a:r>
                        <a:rPr sz="750" b="0" i="0">
                          <a:solidFill>
                            <a:srgbClr val="555555"/>
                          </a:solidFill>
                          <a:latin typeface="Calibri"/>
                        </a:rPr>
                        <a:t>F.US</a:t>
                      </a:r>
                    </a:p>
                  </a:txBody>
                  <a:tcPr>
                    <a:solidFill>
                      <a:srgbClr val="FFFFFF"/>
                    </a:solidFill>
                  </a:tcPr>
                </a:tc>
                <a:tc>
                  <a:txBody>
                    <a:bodyPr/>
                    <a:lstStyle/>
                    <a:p>
                      <a:pPr algn="ctr"/>
                      <a:r>
                        <a:rPr sz="800" b="0" i="0">
                          <a:solidFill>
                            <a:srgbClr val="0D0D0D"/>
                          </a:solidFill>
                          <a:latin typeface="Calibri"/>
                        </a:rPr>
                        <a:t>50,0</a:t>
                      </a:r>
                    </a:p>
                  </a:txBody>
                  <a:tcPr>
                    <a:solidFill>
                      <a:srgbClr val="FFFFFF"/>
                    </a:solidFill>
                  </a:tcPr>
                </a:tc>
                <a:tc>
                  <a:txBody>
                    <a:bodyPr/>
                    <a:lstStyle/>
                    <a:p>
                      <a:pPr algn="ctr"/>
                      <a:r>
                        <a:rPr sz="800" b="0" i="0">
                          <a:solidFill>
                            <a:srgbClr val="0D0D0D"/>
                          </a:solidFill>
                          <a:latin typeface="Calibri"/>
                        </a:rPr>
                        <a:t>6,5x</a:t>
                      </a:r>
                    </a:p>
                  </a:txBody>
                  <a:tcPr>
                    <a:solidFill>
                      <a:srgbClr val="FFFFFF"/>
                    </a:solidFill>
                  </a:tcPr>
                </a:tc>
                <a:tc>
                  <a:txBody>
                    <a:bodyPr/>
                    <a:lstStyle/>
                    <a:p>
                      <a:pPr algn="ctr"/>
                      <a:r>
                        <a:rPr sz="800" b="0" i="0">
                          <a:solidFill>
                            <a:srgbClr val="0D0D0D"/>
                          </a:solidFill>
                          <a:latin typeface="Calibri"/>
                        </a:rPr>
                        <a:t>1,2x</a:t>
                      </a:r>
                    </a:p>
                  </a:txBody>
                  <a:tcPr>
                    <a:solidFill>
                      <a:srgbClr val="FFFFFF"/>
                    </a:solidFill>
                  </a:tcPr>
                </a:tc>
                <a:tc>
                  <a:txBody>
                    <a:bodyPr/>
                    <a:lstStyle/>
                    <a:p>
                      <a:pPr algn="ctr"/>
                      <a:r>
                        <a:rPr sz="800" b="0" i="0">
                          <a:solidFill>
                            <a:srgbClr val="0D0D0D"/>
                          </a:solidFill>
                          <a:latin typeface="Calibri"/>
                        </a:rPr>
                        <a:t>8,0x</a:t>
                      </a:r>
                    </a:p>
                  </a:txBody>
                  <a:tcPr>
                    <a:solidFill>
                      <a:srgbClr val="FFFFFF"/>
                    </a:solidFill>
                  </a:tcPr>
                </a:tc>
                <a:tc>
                  <a:txBody>
                    <a:bodyPr/>
                    <a:lstStyle/>
                    <a:p>
                      <a:pPr algn="ctr"/>
                      <a:r>
                        <a:rPr sz="800" b="0" i="0">
                          <a:solidFill>
                            <a:srgbClr val="0D0D0D"/>
                          </a:solidFill>
                          <a:latin typeface="Calibri"/>
                        </a:rPr>
                        <a:t>16,0 %</a:t>
                      </a:r>
                    </a:p>
                  </a:txBody>
                  <a:tcPr>
                    <a:solidFill>
                      <a:srgbClr val="FFFFFF"/>
                    </a:solidFill>
                  </a:tcPr>
                </a:tc>
                <a:tc>
                  <a:txBody>
                    <a:bodyPr/>
                    <a:lstStyle/>
                    <a:p>
                      <a:pPr algn="ctr"/>
                      <a:r>
                        <a:rPr sz="800" b="0" i="0">
                          <a:solidFill>
                            <a:srgbClr val="0D0D0D"/>
                          </a:solidFill>
                          <a:latin typeface="Calibri"/>
                        </a:rPr>
                        <a:t>10,0 %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-12,0x</a:t>
                      </a:r>
                    </a:p>
                  </a:txBody>
                  <a:tcPr>
                    <a:solidFill>
                      <a:srgbClr val="F7F8FA"/>
                    </a:solidFill>
                  </a:tcPr>
                </a:tc>
                <a:tc>
                  <a:txBody>
                    <a:bodyPr/>
                    <a:lstStyle/>
                    <a:p>
                      <a:pPr algn="ctr"/>
                      <a:r>
                        <a:rPr sz="800" b="1" i="0">
                          <a:solidFill>
                            <a:srgbClr val="0D0D0D"/>
                          </a:solidFill>
                          <a:latin typeface="Calibri"/>
                        </a:rPr>
                        <a:t>-5,0x</a:t>
                      </a:r>
                    </a:p>
                  </a:txBody>
                  <a:tcPr>
                    <a:solidFill>
                      <a:srgbClr val="F7F8FA"/>
                    </a:solidFill>
                  </a:tcPr>
                </a:tc>
                <a:tc>
                  <a:txBody>
                    <a:bodyPr/>
                    <a:lstStyle/>
                    <a:p>
                      <a:pPr algn="ctr"/>
                      <a:r>
                        <a:rPr sz="800" b="1" i="0">
                          <a:solidFill>
                            <a:srgbClr val="0D0D0D"/>
                          </a:solidFill>
                          <a:latin typeface="Calibri"/>
                        </a:rPr>
                        <a:t>-10,0x</a:t>
                      </a:r>
                    </a:p>
                  </a:txBody>
                  <a:tcPr>
                    <a:solidFill>
                      <a:srgbClr val="F7F8FA"/>
                    </a:solidFill>
                  </a:tcPr>
                </a:tc>
                <a:tc>
                  <a:txBody>
                    <a:bodyPr/>
                    <a:lstStyle/>
                    <a:p>
                      <a:pPr algn="ctr"/>
                      <a:r>
                        <a:rPr sz="800" b="1" i="0">
                          <a:solidFill>
                            <a:srgbClr val="0D0D0D"/>
                          </a:solidFill>
                          <a:latin typeface="Calibri"/>
                        </a:rPr>
                        <a:t>16,0 %</a:t>
                      </a:r>
                    </a:p>
                  </a:txBody>
                  <a:tcPr>
                    <a:solidFill>
                      <a:srgbClr val="F7F8FA"/>
                    </a:solidFill>
                  </a:tcPr>
                </a:tc>
                <a:tc>
                  <a:txBody>
                    <a:bodyPr/>
                    <a:lstStyle/>
                    <a:p>
                      <a:pPr algn="ctr"/>
                      <a:r>
                        <a:rPr sz="800" b="1" i="0">
                          <a:solidFill>
                            <a:srgbClr val="0D0D0D"/>
                          </a:solidFill>
                          <a:latin typeface="Calibri"/>
                        </a:rPr>
                        <a:t>-30,0 %</a:t>
                      </a:r>
                    </a:p>
                  </a:txBody>
                  <a:tcPr>
                    <a:solidFill>
                      <a:srgbClr val="F7F8FA"/>
                    </a:solidFill>
                  </a:tcPr>
                </a:tc>
              </a:tr>
            </a:tbl>
          </a:graphicData>
        </a:graphic>
      </p:graphicFrame>
      <p:sp>
        <p:nvSpPr>
          <p:cNvPr id="18" name="Rectangle 17"/>
          <p:cNvSpPr/>
          <p:nvPr/>
        </p:nvSpPr>
        <p:spPr>
          <a:xfrm>
            <a:off x="367200" y="3128400"/>
            <a:ext cx="84132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128400"/>
            <a:ext cx="79200" cy="15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157200"/>
            <a:ext cx="8298000" cy="1512000"/>
          </a:xfrm>
          <a:prstGeom prst="rect">
            <a:avLst/>
          </a:prstGeom>
          <a:noFill/>
        </p:spPr>
        <p:txBody>
          <a:bodyPr wrap="square">
            <a:spAutoFit/>
          </a:bodyPr>
          <a:lstStyle/>
          <a:p>
            <a:pPr algn="l"/>
            <a:r>
              <a:rPr sz="850" b="0" i="0">
                <a:solidFill>
                  <a:srgbClr val="555555"/>
                </a:solidFill>
                <a:latin typeface="Calibri"/>
              </a:rPr>
              <a:t>Tesla affiche une prime de 120% sur l'EV/EBITDA médiane peers (108.8x vs ~49x) et de 280% sur le P/E (339.5x vs ~120x), justifiée par sa croissance supérieure et son avance technologique. Une convergence vers la médiane peers impliquerait un downside de ~30%, tandis qu'une prime maintenue nécessiterait une exécution impeccable sur les nouveaux segments. Les marges ont chuté de 25.6% (GM 2022) à 18.0% (2025) et de 21.7% (EBITDA 2022) à 12.4% (2025), principalement à cause de la guerre des prix sur les VE et de l'inflation des coûts. La résilience des marges nettes (15.5% en 2023 vs 4.0% en 2025) masque une dégradation structurelle. Le pricing power semble affaibli, avec un risque de mean-reversion si la concurrence s'intensifie. Tesla se négocie à des multiples extrêmes (EV/EBITDA 108.8x, P/E 339.5x) reflétant une prime de croissance et de technologie. La décote par rapport à sa prime historique suggère une attente de catalyseurs concrets pour justifier ces niveaux.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Rectangle 17"/>
          <p:cNvSpPr/>
          <p:nvPr/>
        </p:nvSpPr>
        <p:spPr>
          <a:xfrm>
            <a:off x="367200" y="3488400"/>
            <a:ext cx="8413200" cy="1281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488400"/>
            <a:ext cx="79200" cy="128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517200"/>
            <a:ext cx="8298000" cy="1245600"/>
          </a:xfrm>
          <a:prstGeom prst="rect">
            <a:avLst/>
          </a:prstGeom>
          <a:noFill/>
        </p:spPr>
        <p:txBody>
          <a:bodyPr wrap="square">
            <a:spAutoFit/>
          </a:bodyPr>
          <a:lstStyle/>
          <a:p>
            <a:pPr algn="l"/>
            <a:r>
              <a:rPr sz="850" b="0" i="0">
                <a:solidFill>
                  <a:srgbClr val="555555"/>
                </a:solidFill>
                <a:latin typeface="Calibri"/>
              </a:rPr>
              <a:t>Avec un WACC de 14.8% et un TGR de 2.5%, le prix implicite DCF se situe entre 290 USD (bear) et 450 USD (bull), contre un cours de 343.25 USD. La prime actuelle suggère que le marché anticipe déjà une partie de la croissance future, limitant l'upside sans exécution parfaite sur les robotaxis et l'IA. Tesla se négocie à des multiples extrêmes (EV/EBITDA 108.8x, P/E 339.5x) reflétant une prime de croissance et de technologie. La décote par rapport à sa prime historique suggère une attente de catalyseurs concrets pour justifier ces niveaux.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1008000"/>
        </p:xfrm>
        <a:graphic>
          <a:graphicData uri="http://schemas.openxmlformats.org/drawingml/2006/table">
            <a:tbl>
              <a:tblPr firstRow="1" bandRow="1">
                <a:tableStyleId>{5C22544A-7EE6-4342-B048-85BDC9FD1C3A}</a:tableStyleId>
              </a:tblPr>
              <a:tblGrid>
                <a:gridCol w="777600"/>
                <a:gridCol w="570240"/>
                <a:gridCol w="673920"/>
                <a:gridCol w="570240"/>
              </a:tblGrid>
              <a:tr h="2016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102,4x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72,1x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85,9x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86,3x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20,6x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180,7x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17,7x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339,5x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108,8x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Rectangle 19"/>
          <p:cNvSpPr/>
          <p:nvPr/>
        </p:nvSpPr>
        <p:spPr>
          <a:xfrm>
            <a:off x="367200" y="3600000"/>
            <a:ext cx="8413200" cy="111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7200" y="3600000"/>
            <a:ext cx="79200" cy="111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200" y="3628800"/>
            <a:ext cx="8298000" cy="1080000"/>
          </a:xfrm>
          <a:prstGeom prst="rect">
            <a:avLst/>
          </a:prstGeom>
          <a:noFill/>
        </p:spPr>
        <p:txBody>
          <a:bodyPr wrap="square">
            <a:spAutoFit/>
          </a:bodyPr>
          <a:lstStyle/>
          <a:p>
            <a:pPr algn="l"/>
            <a:r>
              <a:rPr sz="850" b="0" i="0">
                <a:solidFill>
                  <a:srgbClr val="555555"/>
                </a:solidFill>
                <a:latin typeface="Calibri"/>
              </a:rPr>
              <a:t>Le P/E affiche une expansion multiple de 237.1x sur la période (102,4x → 339,5x), signal d’une réévaluation favorable du profil de croissance. L’EV/EBITDA diverge à 108,8x vs 72,1x historique. Le CA 2025 atteint 94,8 Md$ (-3% YoY), marqué par une pression sur les marges (GM 18.0%, EBITDA 12.4%, Net 4.0%) due à la baisse des prix des VE et à l'augmentation des coûts fixes. Le bilan reste solide avec un ND/EBITDA négatif (-0.7x), permettant une flexibilité financière pour les investissements (Capex 8,5 Md$ en 2025) et potentiellement des rachats d'actions.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0,1 %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1,4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9,0 %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1008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16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10,8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Rectangle 35"/>
          <p:cNvSpPr/>
          <p:nvPr/>
        </p:nvSpPr>
        <p:spPr>
          <a:xfrm>
            <a:off x="367200" y="3708000"/>
            <a:ext cx="84132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708000"/>
            <a:ext cx="79200" cy="100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200" y="3736800"/>
            <a:ext cx="8298000" cy="971999"/>
          </a:xfrm>
          <a:prstGeom prst="rect">
            <a:avLst/>
          </a:prstGeom>
          <a:noFill/>
        </p:spPr>
        <p:txBody>
          <a:bodyPr wrap="square">
            <a:spAutoFit/>
          </a:bodyPr>
          <a:lstStyle/>
          <a:p>
            <a:pPr algn="l"/>
            <a:r>
              <a:rPr sz="850" b="0" i="0">
                <a:solidFill>
                  <a:srgbClr val="555555"/>
                </a:solidFill>
                <a:latin typeface="Calibri"/>
              </a:rPr>
              <a:t>Le FCF affiche une contraction de 7,7 Mds$ sur la période, avec un FCF yield actuel de 0,1 % — à surveiller au regard de la valorisation de marché. L’allocation vers les dividendes est maintenue malgré la pression sur les marges. Le CA 2025 atteint 94,8 Md$ (-3% YoY), marqué par une pression sur les marges (GM 18.0%, EBITDA 12.4%, Net 4.0%) due à la baisse des prix des VE et à l'augmentation des coûts fixes. Le bilan reste solide avec un ND/EBITDA négatif (-0.7x), permettant une flexibilité financière pour les investissements (Capex 8,5 Md$ en 2025) et potentiellement des rachats d'actions.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LBO — Leveraged Buyout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Attractivité PE · Multiples d’entrée vs IRR cible</a:t>
            </a:r>
          </a:p>
        </p:txBody>
      </p:sp>
      <p:graphicFrame>
        <p:nvGraphicFramePr>
          <p:cNvPr id="17" name="Table 16"/>
          <p:cNvGraphicFramePr>
            <a:graphicFrameLocks noGrp="1"/>
          </p:cNvGraphicFramePr>
          <p:nvPr/>
        </p:nvGraphicFramePr>
        <p:xfrm>
          <a:off x="367200" y="900000"/>
          <a:ext cx="4860000" cy="1170000"/>
        </p:xfrm>
        <a:graphic>
          <a:graphicData uri="http://schemas.openxmlformats.org/drawingml/2006/table">
            <a:tbl>
              <a:tblPr firstRow="1" bandRow="1">
                <a:tableStyleId>{5C22544A-7EE6-4342-B048-85BDC9FD1C3A}</a:tableStyleId>
              </a:tblPr>
              <a:tblGrid>
                <a:gridCol w="1069200"/>
                <a:gridCol w="1263600"/>
                <a:gridCol w="1263600"/>
                <a:gridCol w="1263600"/>
              </a:tblGrid>
              <a:tr h="234000">
                <a:tc>
                  <a:txBody>
                    <a:bodyPr/>
                    <a:lstStyle/>
                    <a:p>
                      <a:pPr algn="l"/>
                      <a:r>
                        <a:rPr sz="800" b="1" i="0">
                          <a:solidFill>
                            <a:srgbClr val="FFFFFF"/>
                          </a:solidFill>
                          <a:latin typeface="Calibri"/>
                        </a:rPr>
                        <a:t>Entry mult.</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8x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12x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 2.1x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21.9% / 2.7x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27.2% / 3.3x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6.5% / 1.4x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12.4% / 1.8x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17.3% / 2.2x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0.5% / 1.0x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6.1% / 1.3x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 1.7x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 / 0.8x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 / 1.1x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5.9% / 1.3x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2592000"/>
            <a:ext cx="4860000" cy="180000"/>
          </a:xfrm>
          <a:prstGeom prst="rect">
            <a:avLst/>
          </a:prstGeom>
          <a:noFill/>
        </p:spPr>
        <p:txBody>
          <a:bodyPr wrap="square">
            <a:spAutoFit/>
          </a:bodyPr>
          <a:lstStyle/>
          <a:p>
            <a:pPr algn="l"/>
            <a:r>
              <a:rPr sz="750" b="0" i="0">
                <a:solidFill>
                  <a:srgbClr val="555555"/>
                </a:solidFill>
                <a:latin typeface="Calibri"/>
              </a:rPr>
              <a:t>Hypotheses : Levier 4x EBITDA · 5 ans holding · 50% remboursement dette · EBITDA +5%/an</a:t>
            </a:r>
          </a:p>
        </p:txBody>
      </p:sp>
      <p:sp>
        <p:nvSpPr>
          <p:cNvPr id="19" name="TextBox 18"/>
          <p:cNvSpPr txBox="1"/>
          <p:nvPr/>
        </p:nvSpPr>
        <p:spPr>
          <a:xfrm>
            <a:off x="367200" y="2754000"/>
            <a:ext cx="4860000" cy="180000"/>
          </a:xfrm>
          <a:prstGeom prst="rect">
            <a:avLst/>
          </a:prstGeom>
          <a:noFill/>
        </p:spPr>
        <p:txBody>
          <a:bodyPr wrap="square">
            <a:spAutoFit/>
          </a:bodyPr>
          <a:lstStyle/>
          <a:p>
            <a:pPr algn="l"/>
            <a:r>
              <a:rPr sz="750" b="0" i="0">
                <a:solidFill>
                  <a:srgbClr val="888888"/>
                </a:solidFill>
                <a:latin typeface="Calibri"/>
              </a:rPr>
              <a:t>Lecture : IRR / MOIC  ● vert ≥ 20%  ● ambre 15-20%  ● rouge &lt; 15%</a:t>
            </a:r>
          </a:p>
        </p:txBody>
      </p:sp>
      <p:sp>
        <p:nvSpPr>
          <p:cNvPr id="20" name="TextBox 19"/>
          <p:cNvSpPr txBox="1"/>
          <p:nvPr/>
        </p:nvSpPr>
        <p:spPr>
          <a:xfrm>
            <a:off x="5472000" y="900000"/>
            <a:ext cx="3311999" cy="180000"/>
          </a:xfrm>
          <a:prstGeom prst="rect">
            <a:avLst/>
          </a:prstGeom>
          <a:noFill/>
        </p:spPr>
        <p:txBody>
          <a:bodyPr wrap="square">
            <a:spAutoFit/>
          </a:bodyPr>
          <a:lstStyle/>
          <a:p>
            <a:pPr algn="l"/>
            <a:r>
              <a:rPr sz="800" b="1" i="0">
                <a:solidFill>
                  <a:srgbClr val="1B3A6B"/>
                </a:solidFill>
                <a:latin typeface="Calibri"/>
              </a:rPr>
              <a:t>HYPOTHÈSES &amp; STRUCTURE LBO</a:t>
            </a:r>
          </a:p>
        </p:txBody>
      </p:sp>
      <p:graphicFrame>
        <p:nvGraphicFramePr>
          <p:cNvPr id="21" name="Table 20"/>
          <p:cNvGraphicFramePr>
            <a:graphicFrameLocks noGrp="1"/>
          </p:cNvGraphicFramePr>
          <p:nvPr/>
        </p:nvGraphicFramePr>
        <p:xfrm>
          <a:off x="5472000" y="1116000"/>
          <a:ext cx="3311998" cy="1602000"/>
        </p:xfrm>
        <a:graphic>
          <a:graphicData uri="http://schemas.openxmlformats.org/drawingml/2006/table">
            <a:tbl>
              <a:tblPr firstRow="1" bandRow="1">
                <a:tableStyleId>{5C22544A-7EE6-4342-B048-85BDC9FD1C3A}</a:tableStyleId>
              </a:tblPr>
              <a:tblGrid>
                <a:gridCol w="1722239"/>
                <a:gridCol w="1589759"/>
              </a:tblGrid>
              <a:tr h="20025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LTM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11,8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FCF LTM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Levier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4x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Dette entrée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47,1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exit (est.)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15,0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Holding</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IRR cible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 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5472000" y="3096000"/>
            <a:ext cx="3311999" cy="1007999"/>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72000" y="3096000"/>
            <a:ext cx="72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80000" y="3131999"/>
            <a:ext cx="3168000" cy="162000"/>
          </a:xfrm>
          <a:prstGeom prst="rect">
            <a:avLst/>
          </a:prstGeom>
          <a:noFill/>
        </p:spPr>
        <p:txBody>
          <a:bodyPr wrap="square">
            <a:spAutoFit/>
          </a:bodyPr>
          <a:lstStyle/>
          <a:p>
            <a:pPr algn="l"/>
            <a:r>
              <a:rPr sz="750" b="1" i="0">
                <a:solidFill>
                  <a:srgbClr val="B06000"/>
                </a:solidFill>
                <a:latin typeface="Calibri"/>
              </a:rPr>
              <a:t>NOTE MÉTHODOLOGIQUE</a:t>
            </a:r>
          </a:p>
        </p:txBody>
      </p:sp>
      <p:sp>
        <p:nvSpPr>
          <p:cNvPr id="25" name="TextBox 24"/>
          <p:cNvSpPr txBox="1"/>
          <p:nvPr/>
        </p:nvSpPr>
        <p:spPr>
          <a:xfrm>
            <a:off x="5580000" y="3294000"/>
            <a:ext cx="3168000" cy="792000"/>
          </a:xfrm>
          <a:prstGeom prst="rect">
            <a:avLst/>
          </a:prstGeom>
          <a:noFill/>
        </p:spPr>
        <p:txBody>
          <a:bodyPr wrap="square">
            <a:spAutoFit/>
          </a:bodyPr>
          <a:lstStyle/>
          <a:p>
            <a:pPr algn="l"/>
            <a:r>
              <a:rPr sz="800" b="0" i="0">
                <a:solidFill>
                  <a:srgbClr val="555555"/>
                </a:solidFill>
                <a:latin typeface="Calibri"/>
              </a:rPr>
              <a:t>Analyse indicative uniquement. Le LBO assume un rachat 100% equity par un fonds PE. La dette est remboursée par le FCF de la cible. L'IRR ne tient pas compte des frais de transaction ni de la structure fiscale optimisée. Un IRR ≥ 20% est le seuil standard d'un fonds PE tier-1.</a:t>
            </a:r>
          </a:p>
        </p:txBody>
      </p:sp>
      <p:sp>
        <p:nvSpPr>
          <p:cNvPr id="26" name="Rectangle 25"/>
          <p:cNvSpPr/>
          <p:nvPr/>
        </p:nvSpPr>
        <p:spPr>
          <a:xfrm>
            <a:off x="367200" y="4176000"/>
            <a:ext cx="84132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7200" y="4176000"/>
            <a:ext cx="79200" cy="57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200" y="4204800"/>
            <a:ext cx="8298000" cy="540000"/>
          </a:xfrm>
          <a:prstGeom prst="rect">
            <a:avLst/>
          </a:prstGeom>
          <a:noFill/>
        </p:spPr>
        <p:txBody>
          <a:bodyPr wrap="square">
            <a:spAutoFit/>
          </a:bodyPr>
          <a:lstStyle/>
          <a:p>
            <a:pPr algn="l"/>
            <a:r>
              <a:rPr sz="850" b="0" i="0">
                <a:solidFill>
                  <a:srgbClr val="555555"/>
                </a:solidFill>
                <a:latin typeface="Calibri"/>
              </a:rPr>
              <a:t>A 10x EBITDA d'entrée / 10x de sortie, le LBO génère un IRR de 12.4% (MOIC 1.8x en 5 ans) — attractivité PE jugée insuffisante. Un fonds tier-1 ciblant 20%+ d'IRR doit entrer en dessous de 8x EBITDA. La génération de FCF (1,4 Mds$) est le principal levier de remboursement de la dette.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Marges en effondrement</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L’écosystème fermé de Tesla, vanté pour sa rentabilité, montre des signes de saturation avec une croissance des ventes de véhicules de -3% en 2025.</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Régulation punitive</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Les marges sur les services (Superchargeur, abonnements) chutent de 12% depuis 2023, en raison d’une concurrence agressive de Electrify America et Ionity.</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Surévaluation extrême</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Le ratio EV/EBITDA de 108,78x est le plus élevé du secteur, indiquant une surévaluation de 300% par rapport à Ford (28x).</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prolongée réduisant la demande en VE de -15%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Subventions chinoises massives pour les VE locaux réduisant la part de marché de Tesla à &lt;10% en Chine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Retards majeurs sur le robotaxi ou rappels massifs de véhicules en 2025-2026</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28/100  Peu attractive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Bear  Rec.6M:34%</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Faible (0.37x)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Saine (19% 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Négatif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-0,134</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39,2 %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7</a:t>
                      </a:r>
                    </a:p>
                  </a:txBody>
                  <a:tcPr>
                    <a:solidFill>
                      <a:srgbClr val="EAF4EF"/>
                    </a:solidFill>
                  </a:tcPr>
                </a:tc>
                <a:tc>
                  <a:txBody>
                    <a:bodyPr/>
                    <a:lstStyle/>
                    <a:p>
                      <a:pPr algn="ctr"/>
                      <a:r>
                        <a:rPr sz="800" b="0" i="0">
                          <a:solidFill>
                            <a:srgbClr val="0D0D0D"/>
                          </a:solidFill>
                          <a:latin typeface="Calibri"/>
                        </a:rPr>
                        <a:t>+0,259</a:t>
                      </a:r>
                    </a:p>
                  </a:txBody>
                  <a:tcPr>
                    <a:solidFill>
                      <a:srgbClr val="EAF4EF"/>
                    </a:solidFill>
                  </a:tcPr>
                </a:tc>
                <a:tc>
                  <a:txBody>
                    <a:bodyPr/>
                    <a:lstStyle/>
                    <a:p>
                      <a:pPr algn="ctr"/>
                      <a:r>
                        <a:rPr sz="800" b="0" i="0">
                          <a:solidFill>
                            <a:srgbClr val="0D0D0D"/>
                          </a:solidFill>
                          <a:latin typeface="Calibri"/>
                        </a:rPr>
                        <a:t>Lancement robotaxis 2026 : potentiel EBITDA de 15 Md$ annuel à maturité avec marge &gt;30% | Croissance du segment énergie : CA +25% YoY d'ici 2027 grâce aux abonnements solaires | Expansion internationale : +40% du CA hors Amérique du Nord…</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10</a:t>
                      </a:r>
                    </a:p>
                  </a:txBody>
                  <a:tcPr>
                    <a:solidFill>
                      <a:srgbClr val="FFFFFF"/>
                    </a:solidFill>
                  </a:tcPr>
                </a:tc>
                <a:tc>
                  <a:txBody>
                    <a:bodyPr/>
                    <a:lstStyle/>
                    <a:p>
                      <a:pPr algn="ctr"/>
                      <a:r>
                        <a:rPr sz="800" b="0" i="0">
                          <a:solidFill>
                            <a:srgbClr val="0D0D0D"/>
                          </a:solidFill>
                          <a:latin typeface="Calibri"/>
                        </a:rPr>
                        <a:t>+0,349</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13</a:t>
                      </a:r>
                    </a:p>
                  </a:txBody>
                  <a:tcPr>
                    <a:solidFill>
                      <a:srgbClr val="FAF0EF"/>
                    </a:solidFill>
                  </a:tcPr>
                </a:tc>
                <a:tc>
                  <a:txBody>
                    <a:bodyPr/>
                    <a:lstStyle/>
                    <a:p>
                      <a:pPr algn="ctr"/>
                      <a:r>
                        <a:rPr sz="800" b="0" i="0">
                          <a:solidFill>
                            <a:srgbClr val="0D0D0D"/>
                          </a:solidFill>
                          <a:latin typeface="Calibri"/>
                        </a:rPr>
                        <a:t>+0,393</a:t>
                      </a:r>
                    </a:p>
                  </a:txBody>
                  <a:tcPr>
                    <a:solidFill>
                      <a:srgbClr val="FAF0EF"/>
                    </a:solidFill>
                  </a:tcPr>
                </a:tc>
                <a:tc>
                  <a:txBody>
                    <a:bodyPr/>
                    <a:lstStyle/>
                    <a:p>
                      <a:pPr algn="ctr"/>
                      <a:r>
                        <a:rPr sz="800" b="0" i="0">
                          <a:solidFill>
                            <a:srgbClr val="0D0D0D"/>
                          </a:solidFill>
                          <a:latin typeface="Calibri"/>
                        </a:rPr>
                        <a:t>Guerre des prix VE en Chine : pression sur GM de -5pts d'ici 2026 avec risque de perte de part de marché | Régulation européenne stricte : coûts supplémentaires de 2 Md$ annuels pour conformité CO2 | Retards sur Cybertruck : surcoûts de 1…</a:t>
                      </a:r>
                    </a:p>
                  </a:txBody>
                  <a:tcPr>
                    <a:solidFill>
                      <a:srgbClr val="FAF0EF"/>
                    </a:solidFill>
                  </a:tcPr>
                </a:tc>
              </a:tr>
            </a:tbl>
          </a:graphicData>
        </a:graphic>
      </p:graphicFrame>
      <p:sp>
        <p:nvSpPr>
          <p:cNvPr id="39" name="TextBox 38"/>
          <p:cNvSpPr txBox="1"/>
          <p:nvPr/>
        </p:nvSpPr>
        <p:spPr>
          <a:xfrm>
            <a:off x="367200" y="4140000"/>
            <a:ext cx="8413200" cy="630000"/>
          </a:xfrm>
          <a:prstGeom prst="rect">
            <a:avLst/>
          </a:prstGeom>
          <a:noFill/>
        </p:spPr>
        <p:txBody>
          <a:bodyPr wrap="square">
            <a:spAutoFit/>
          </a:bodyPr>
          <a:lstStyle/>
          <a:p>
            <a:pPr algn="l"/>
            <a:r>
              <a:rPr sz="850" b="0" i="0">
                <a:solidFill>
                  <a:srgbClr val="333333"/>
                </a:solidFill>
                <a:latin typeface="Calibri"/>
              </a:rPr>
              <a:t>La presse financière cette semaine dresse un bilan très négatif pour Tesla, marquée par des déceptions sur les livraisons et des perspectives de flux de trésorerie fortement révisées à la baisse. Les rares éléments positifs, comme l’alliance autour du projet Terafab, peinent à contrebalancer les signaux d’alerte majeurs.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9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Tesla,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Capital World Investors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Rectangle 20"/>
          <p:cNvSpPr/>
          <p:nvPr/>
        </p:nvSpPr>
        <p:spPr>
          <a:xfrm>
            <a:off x="367200" y="3326400"/>
            <a:ext cx="8413200" cy="1443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3326400"/>
            <a:ext cx="79200" cy="144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00" y="3355200"/>
            <a:ext cx="8298000" cy="1407600"/>
          </a:xfrm>
          <a:prstGeom prst="rect">
            <a:avLst/>
          </a:prstGeom>
          <a:noFill/>
        </p:spPr>
        <p:txBody>
          <a:bodyPr wrap="square">
            <a:spAutoFit/>
          </a:bodyPr>
          <a:lstStyle/>
          <a:p>
            <a:pPr algn="l"/>
            <a:r>
              <a:rPr sz="850" b="0" i="0">
                <a:solidFill>
                  <a:srgbClr val="555555"/>
                </a:solidFill>
                <a:latin typeface="Calibri"/>
              </a:rPr>
              <a:t>Tesla se négocie à des multiples extrêmes (EV/EBITDA 108.8x, P/E 339.5x) reflétant une prime de croissance et de technologie. La décote par rapport à sa prime historique suggère une attente de catalyseurs concrets pour justifier ces niveaux. Tesla affiche une prime de 120% sur l'EV/EBITDA médiane peers (108.8x vs ~49x) et de 280% sur le P/E (339.5x vs ~120x), justifiée par sa croissance supérieure et son avance technologique. Une convergence vers la médiane peers impliquerait un downside de ~30%, tandis qu'une prime maintenue nécessiterait une exécution impeccable sur les nouveaux segments. Tesla bénéficie d'un pipeline de produits disruptifs (Cybertruck, robotaxis) avec un potentiel de revenus additionnels de 20-30 Md$ d'ici 2027 La marge brute devrait se stabiliser à 22% d'ici 2027 grâce à l'amélioration du mix produit et la réduction des coûts de batterie Le lancement des robotaxis en 2026 pourrait générer un EBITDA supplémentaire de 15 Md$ annuel à maturité. Tesla affiche une résilience opérationnelle malgré un environnement concurrentiel intense et une pression sur les marges. La valorisation reste élevée, mais des catalyseurs structurels (IA, robotaxis) pourraient justifier une prime à long terme.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USD  ·  Au 9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343,25 $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456,56 $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308,27 $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-0,9 %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stable de -0,9 %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
        <p:nvSpPr>
          <p:cNvPr id="35" name="Rectangle 34"/>
          <p:cNvSpPr/>
          <p:nvPr/>
        </p:nvSpPr>
        <p:spPr>
          <a:xfrm>
            <a:off x="367200" y="4158000"/>
            <a:ext cx="8413200" cy="6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7200" y="4158000"/>
            <a:ext cx="792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5200" y="4186800"/>
            <a:ext cx="8298000" cy="612000"/>
          </a:xfrm>
          <a:prstGeom prst="rect">
            <a:avLst/>
          </a:prstGeom>
          <a:noFill/>
        </p:spPr>
        <p:txBody>
          <a:bodyPr wrap="square">
            <a:spAutoFit/>
          </a:bodyPr>
          <a:lstStyle/>
          <a:p>
            <a:pPr algn="l"/>
            <a:r>
              <a:rPr sz="850" b="0" i="0">
                <a:solidFill>
                  <a:srgbClr val="555555"/>
                </a:solidFill>
                <a:latin typeface="Calibri"/>
              </a:rPr>
              <a:t>Tesla affiche une résilience opérationnelle malgré un environnement concurrentiel intense et une pression sur les marges. La valorisation reste élevée, mais des catalyseurs structurels (IA, robotaxis) pourraient justifier une prime à long terme.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FinSight IA  ·  Rapport 9 avril 2026</a:t>
            </a:r>
          </a:p>
        </p:txBody>
      </p:sp>
      <p:sp>
        <p:nvSpPr>
          <p:cNvPr id="17" name="Rectangle 16"/>
          <p:cNvSpPr/>
          <p:nvPr/>
        </p:nvSpPr>
        <p:spPr>
          <a:xfrm>
            <a:off x="324000" y="827999"/>
            <a:ext cx="2700000" cy="1260000"/>
          </a:xfrm>
          <a:prstGeom prst="rect">
            <a:avLst/>
          </a:prstGeom>
          <a:solidFill>
            <a:srgbClr val="FFF8E1"/>
          </a:solidFill>
          <a:ln w="25400">
            <a:solidFill>
              <a:srgbClr val="B06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B06000"/>
                </a:solidFill>
                <a:latin typeface="Calibri"/>
              </a:rPr>
              <a:t>HOLD</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55%</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9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1485000" cy="19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Rectangle 23"/>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+5% vs Avocat du Diable</a:t>
            </a:r>
          </a:p>
        </p:txBody>
      </p:sp>
      <p:sp>
        <p:nvSpPr>
          <p:cNvPr id="26" name="Rectangle 25"/>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8" name="Rectangle 27"/>
          <p:cNvSpPr/>
          <p:nvPr/>
        </p:nvSpPr>
        <p:spPr>
          <a:xfrm>
            <a:off x="3311999" y="1062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Tesla bénéficie d'un pipeline de produits disruptifs (Cybertruck, robotaxis) avec un potentiel de revenus additionnels de 20-30 Md$ d'ici 2027</a:t>
            </a:r>
          </a:p>
        </p:txBody>
      </p:sp>
      <p:sp>
        <p:nvSpPr>
          <p:cNvPr id="30" name="Rectangle 29"/>
          <p:cNvSpPr/>
          <p:nvPr/>
        </p:nvSpPr>
        <p:spPr>
          <a:xfrm>
            <a:off x="3311999" y="1404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1999" y="1422000"/>
            <a:ext cx="5346000" cy="270000"/>
          </a:xfrm>
          <a:prstGeom prst="rect">
            <a:avLst/>
          </a:prstGeom>
          <a:noFill/>
        </p:spPr>
        <p:txBody>
          <a:bodyPr wrap="square">
            <a:spAutoFit/>
          </a:bodyPr>
          <a:lstStyle/>
          <a:p>
            <a:pPr algn="l"/>
            <a:r>
              <a:rPr sz="850" b="0" i="0">
                <a:solidFill>
                  <a:srgbClr val="555555"/>
                </a:solidFill>
                <a:latin typeface="Calibri"/>
              </a:rPr>
              <a:t>La marge brute devrait se stabiliser à 22% d'ici 2027 grâce à l'amélioration du mix produit et la réduction des coûts de batterie</a:t>
            </a:r>
          </a:p>
        </p:txBody>
      </p:sp>
      <p:sp>
        <p:nvSpPr>
          <p:cNvPr id="32" name="Rectangle 31"/>
          <p:cNvSpPr/>
          <p:nvPr/>
        </p:nvSpPr>
        <p:spPr>
          <a:xfrm>
            <a:off x="3311999" y="1746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1999" y="1764000"/>
            <a:ext cx="5346000" cy="270000"/>
          </a:xfrm>
          <a:prstGeom prst="rect">
            <a:avLst/>
          </a:prstGeom>
          <a:noFill/>
        </p:spPr>
        <p:txBody>
          <a:bodyPr wrap="square">
            <a:spAutoFit/>
          </a:bodyPr>
          <a:lstStyle/>
          <a:p>
            <a:pPr algn="l"/>
            <a:r>
              <a:rPr sz="850" b="0" i="0">
                <a:solidFill>
                  <a:srgbClr val="555555"/>
                </a:solidFill>
                <a:latin typeface="Calibri"/>
              </a:rPr>
              <a:t>Le lancement des robotaxis en 2026 pourrait générer un EBITDA supplémentaire de 15 Md$ annuel à maturité.</a:t>
            </a:r>
          </a:p>
        </p:txBody>
      </p:sp>
      <p:sp>
        <p:nvSpPr>
          <p:cNvPr id="34" name="Rectangle 33"/>
          <p:cNvSpPr/>
          <p:nvPr/>
        </p:nvSpPr>
        <p:spPr>
          <a:xfrm>
            <a:off x="3311999" y="2196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66000" y="2214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6" name="TextBox 35"/>
          <p:cNvSpPr txBox="1"/>
          <p:nvPr/>
        </p:nvSpPr>
        <p:spPr>
          <a:xfrm>
            <a:off x="3401999" y="2412000"/>
            <a:ext cx="2556000" cy="234000"/>
          </a:xfrm>
          <a:prstGeom prst="rect">
            <a:avLst/>
          </a:prstGeom>
          <a:noFill/>
        </p:spPr>
        <p:txBody>
          <a:bodyPr wrap="square">
            <a:spAutoFit/>
          </a:bodyPr>
          <a:lstStyle/>
          <a:p>
            <a:pPr algn="l"/>
            <a:r>
              <a:rPr sz="700" b="0" i="0">
                <a:solidFill>
                  <a:srgbClr val="555555"/>
                </a:solidFill>
                <a:latin typeface="Calibri"/>
              </a:rPr>
              <a:t>• Lancement robotaxis 2026 : potentiel EBITDA de 15 Md$ annuel à maturité avec marge &gt;30% |</a:t>
            </a:r>
          </a:p>
        </p:txBody>
      </p:sp>
      <p:sp>
        <p:nvSpPr>
          <p:cNvPr id="37" name="Rectangle 36"/>
          <p:cNvSpPr/>
          <p:nvPr/>
        </p:nvSpPr>
        <p:spPr>
          <a:xfrm>
            <a:off x="6120000" y="2196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56000" y="2214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39" name="TextBox 38"/>
          <p:cNvSpPr txBox="1"/>
          <p:nvPr/>
        </p:nvSpPr>
        <p:spPr>
          <a:xfrm>
            <a:off x="6156000" y="2412000"/>
            <a:ext cx="2376000" cy="234000"/>
          </a:xfrm>
          <a:prstGeom prst="rect">
            <a:avLst/>
          </a:prstGeom>
          <a:noFill/>
        </p:spPr>
        <p:txBody>
          <a:bodyPr wrap="square">
            <a:spAutoFit/>
          </a:bodyPr>
          <a:lstStyle/>
          <a:p>
            <a:pPr algn="l"/>
            <a:r>
              <a:rPr sz="700" b="0" i="0">
                <a:solidFill>
                  <a:srgbClr val="555555"/>
                </a:solidFill>
                <a:latin typeface="Calibri"/>
              </a:rPr>
              <a:t>• Guerre des prix VE en Chine : pression sur GM de -5pts d'ici 2026 avec risque de perte de part de</a:t>
            </a:r>
          </a:p>
        </p:txBody>
      </p:sp>
      <p:sp>
        <p:nvSpPr>
          <p:cNvPr id="40" name="Rectangle 39"/>
          <p:cNvSpPr/>
          <p:nvPr/>
        </p:nvSpPr>
        <p:spPr>
          <a:xfrm>
            <a:off x="3311999" y="2815200"/>
            <a:ext cx="5472000" cy="2160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311999" y="2815200"/>
            <a:ext cx="36000" cy="21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01999" y="2833200"/>
            <a:ext cx="5310000" cy="180000"/>
          </a:xfrm>
          <a:prstGeom prst="rect">
            <a:avLst/>
          </a:prstGeom>
          <a:noFill/>
        </p:spPr>
        <p:txBody>
          <a:bodyPr wrap="square">
            <a:spAutoFit/>
          </a:bodyPr>
          <a:lstStyle/>
          <a:p>
            <a:pPr algn="l"/>
            <a:r>
              <a:rPr sz="750" b="0" i="0">
                <a:solidFill>
                  <a:srgbClr val="7A5000"/>
                </a:solidFill>
                <a:latin typeface="Calibri"/>
              </a:rPr>
              <a:t>⚠ Conditions d’invalidation : Macro: Récession mondiale prolongée réduisant la demande en VE de -  ·  Sectoriel: Subventions chinoises massives pour les VE locaux réduisant </a:t>
            </a:r>
          </a:p>
        </p:txBody>
      </p:sp>
      <p:sp>
        <p:nvSpPr>
          <p:cNvPr id="43" name="TextBox 42"/>
          <p:cNvSpPr txBox="1"/>
          <p:nvPr/>
        </p:nvSpPr>
        <p:spPr>
          <a:xfrm>
            <a:off x="324000" y="4662000"/>
            <a:ext cx="8496000" cy="125999"/>
          </a:xfrm>
          <a:prstGeom prst="rect">
            <a:avLst/>
          </a:prstGeom>
          <a:noFill/>
        </p:spPr>
        <p:txBody>
          <a:bodyPr wrap="square">
            <a:spAutoFit/>
          </a:bodyPr>
          <a:lstStyle/>
          <a:p>
            <a:pPr algn="l"/>
            <a:r>
              <a:rPr sz="700" b="0" i="0">
                <a:solidFill>
                  <a:srgbClr val="555555"/>
                </a:solidFill>
                <a:latin typeface="Calibri"/>
              </a:rPr>
              <a:t>FinSight IA genere cette analyse a un instant T. Pour le suivi dans le temps, comparer les rapports successifs. La conviction reflete les donnees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