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Tesla,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TSLA  ·  Consumer Cyclical</a:t>
            </a:r>
          </a:p>
        </p:txBody>
      </p:sp>
      <p:sp>
        <p:nvSpPr>
          <p:cNvPr id="8" name="Rectangle 7"/>
          <p:cNvSpPr/>
          <p:nvPr/>
        </p:nvSpPr>
        <p:spPr>
          <a:xfrm>
            <a:off x="2771999" y="2720232"/>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HOLD  ·  Prix cible base : 360 $  ·  Upside : +3,9 %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8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360 $  ·  Upside : +3,9 %  ·  Bear : 280 $ (-19,2 %)  ·  Bull : 420 $ (+21,2 %)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Leadership technologique</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Tesla bénéficie d'une avance technologique unique avec son logiciel FSD et son écosystème intégré, captant 20% du marché premium des VE en 2025</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Écosystème intégré</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La marge brute devrait rebondir à 22% d'ici 2027 grâce à la montée en puissance du segment énergie et à l'optimisation des coûts de production</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Marque premium</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Le lancement du Robotaxi en 2026 pourrait générer 15 milliards de dollars de revenus annuels d'ici 2028.</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Concurrence accrue</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Concurrence chinoise : BYD et NIO captent 30% du marché premium des VE en 2025, comprimant les prix de 8%</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Régulation européenne : normes CO2 plus strictes en 2026 pourraient coûter 1 milliard de dollars en amendes</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Coûts fixes élevés</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Risque d'exécution : délais de livraison Cybertruck dépassant 12 mois en 2025, impactant la satisfaction client</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square">
            <a:spAutoFit/>
          </a:bodyPr>
          <a:lstStyle/>
          <a:p>
            <a:pPr algn="l"/>
            <a:r>
              <a:rPr sz="750" b="0" i="0">
                <a:solidFill>
                  <a:srgbClr val="333333"/>
                </a:solidFill>
                <a:latin typeface="Calibri"/>
              </a:rPr>
              <a:t>Robotaxi 2026: Le lancement commercial du Robotaxi en 2026</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square">
            <a:spAutoFit/>
          </a:bodyPr>
          <a:lstStyle/>
          <a:p>
            <a:pPr algn="l"/>
            <a:r>
              <a:rPr sz="750" b="0" i="0">
                <a:solidFill>
                  <a:srgbClr val="333333"/>
                </a:solidFill>
                <a:latin typeface="Calibri"/>
              </a:rPr>
              <a:t>Subventions IRA: Les subventions américaines pour l'énergie</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60400"/>
          <a:ext cx="4068000" cy="396000"/>
        </p:xfrm>
        <a:graphic>
          <a:graphicData uri="http://schemas.openxmlformats.org/drawingml/2006/table">
            <a:tbl>
              <a:tblPr firstRow="1" bandRow="1">
                <a:tableStyleId>{5C22544A-7EE6-4342-B048-85BDC9FD1C3A}</a:tableStyleId>
              </a:tblPr>
              <a:tblGrid>
                <a:gridCol w="2034000"/>
                <a:gridCol w="1017000"/>
                <a:gridCol w="1017000"/>
              </a:tblGrid>
              <a:tr h="990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990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342,9x</a:t>
                      </a:r>
                    </a:p>
                  </a:txBody>
                  <a:tcPr>
                    <a:solidFill>
                      <a:srgbClr val="FFFFFF"/>
                    </a:solidFill>
                  </a:tcPr>
                </a:tc>
                <a:tc>
                  <a:txBody>
                    <a:bodyPr/>
                    <a:lstStyle/>
                    <a:p>
                      <a:pPr algn="ctr"/>
                      <a:r>
                        <a:rPr sz="800" b="0" i="0">
                          <a:solidFill>
                            <a:srgbClr val="0D0D0D"/>
                          </a:solidFill>
                          <a:latin typeface="Calibri"/>
                        </a:rPr>
                        <a:t>-10,0x</a:t>
                      </a:r>
                    </a:p>
                  </a:txBody>
                  <a:tcPr>
                    <a:solidFill>
                      <a:srgbClr val="FFFFFF"/>
                    </a:solidFill>
                  </a:tcPr>
                </a:tc>
              </a:tr>
              <a:tr h="99000">
                <a:tc>
                  <a:txBody>
                    <a:bodyPr/>
                    <a:lstStyle/>
                    <a:p>
                      <a:pPr algn="l"/>
                      <a:r>
                        <a:rPr sz="800" b="0" i="0">
                          <a:solidFill>
                            <a:srgbClr val="0D0D0D"/>
                          </a:solidFill>
                          <a:latin typeface="Calibri"/>
                        </a:rPr>
                        <a:t>EV/EBITDA (x)</a:t>
                      </a:r>
                    </a:p>
                  </a:txBody>
                  <a:tcPr>
                    <a:solidFill>
                      <a:srgbClr val="F7F8FA"/>
                    </a:solidFill>
                  </a:tcPr>
                </a:tc>
                <a:tc>
                  <a:txBody>
                    <a:bodyPr/>
                    <a:lstStyle/>
                    <a:p>
                      <a:pPr algn="ctr"/>
                      <a:r>
                        <a:rPr sz="800" b="0" i="0">
                          <a:solidFill>
                            <a:srgbClr val="0D0D0D"/>
                          </a:solidFill>
                          <a:latin typeface="Calibri"/>
                        </a:rPr>
                        <a:t>109,9x</a:t>
                      </a:r>
                    </a:p>
                  </a:txBody>
                  <a:tcPr>
                    <a:solidFill>
                      <a:srgbClr val="F7F8FA"/>
                    </a:solidFill>
                  </a:tcPr>
                </a:tc>
                <a:tc>
                  <a:txBody>
                    <a:bodyPr/>
                    <a:lstStyle/>
                    <a:p>
                      <a:pPr algn="ctr"/>
                      <a:r>
                        <a:rPr sz="800" b="0" i="0">
                          <a:solidFill>
                            <a:srgbClr val="0D0D0D"/>
                          </a:solidFill>
                          <a:latin typeface="Calibri"/>
                        </a:rPr>
                        <a:t>-8,0x</a:t>
                      </a:r>
                    </a:p>
                  </a:txBody>
                  <a:tcPr>
                    <a:solidFill>
                      <a:srgbClr val="F7F8FA"/>
                    </a:solidFill>
                  </a:tcPr>
                </a:tc>
              </a:tr>
              <a:tr h="99000">
                <a:tc>
                  <a:txBody>
                    <a:bodyPr/>
                    <a:lstStyle/>
                    <a:p>
                      <a:pPr algn="l"/>
                      <a:r>
                        <a:rPr sz="800" b="0" i="0">
                          <a:solidFill>
                            <a:srgbClr val="0D0D0D"/>
                          </a:solidFill>
                          <a:latin typeface="Calibri"/>
                        </a:rPr>
                        <a:t>Cible DCF ($)</a:t>
                      </a:r>
                    </a:p>
                  </a:txBody>
                  <a:tcPr>
                    <a:solidFill>
                      <a:srgbClr val="FFFFFF"/>
                    </a:solidFill>
                  </a:tcPr>
                </a:tc>
                <a:tc>
                  <a:txBody>
                    <a:bodyPr/>
                    <a:lstStyle/>
                    <a:p>
                      <a:pPr algn="ctr"/>
                      <a:r>
                        <a:rPr sz="800" b="0" i="0">
                          <a:solidFill>
                            <a:srgbClr val="0D0D0D"/>
                          </a:solidFill>
                          <a:latin typeface="Calibri"/>
                        </a:rPr>
                        <a:t>360 $</a:t>
                      </a:r>
                    </a:p>
                  </a:txBody>
                  <a:tcPr>
                    <a:solidFill>
                      <a:srgbClr val="FFFFFF"/>
                    </a:solidFill>
                  </a:tcPr>
                </a:tc>
                <a:tc>
                  <a:txBody>
                    <a:bodyPr/>
                    <a:lstStyle/>
                    <a:p>
                      <a:pPr algn="ctr"/>
                      <a:r>
                        <a:rPr sz="800" b="0" i="0">
                          <a:solidFill>
                            <a:srgbClr val="0D0D0D"/>
                          </a:solidFill>
                          <a:latin typeface="Calibri"/>
                        </a:rPr>
                        <a:t>Upside +3,9 %</a:t>
                      </a:r>
                    </a:p>
                  </a:txBody>
                  <a:tcPr>
                    <a:solidFill>
                      <a:srgbClr val="FFFFFF"/>
                    </a:solidFill>
                  </a:tcPr>
                </a:tc>
              </a:tr>
            </a:tbl>
          </a:graphicData>
        </a:graphic>
      </p:graphicFrame>
      <p:sp>
        <p:nvSpPr>
          <p:cNvPr id="43" name="Rectangle 42"/>
          <p:cNvSpPr/>
          <p:nvPr/>
        </p:nvSpPr>
        <p:spPr>
          <a:xfrm>
            <a:off x="4525200" y="3301200"/>
            <a:ext cx="10800" cy="720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72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109,9x</a:t>
            </a:r>
          </a:p>
        </p:txBody>
      </p:sp>
      <p:sp>
        <p:nvSpPr>
          <p:cNvPr id="48" name="TextBox 47"/>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9" name="TextBox 48"/>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-8,0x med. pairs</a:t>
            </a:r>
          </a:p>
        </p:txBody>
      </p:sp>
      <p:sp>
        <p:nvSpPr>
          <p:cNvPr id="50" name="Rectangle 49"/>
          <p:cNvSpPr/>
          <p:nvPr/>
        </p:nvSpPr>
        <p:spPr>
          <a:xfrm>
            <a:off x="24876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4876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14,8 %</a:t>
            </a:r>
          </a:p>
        </p:txBody>
      </p:sp>
      <p:sp>
        <p:nvSpPr>
          <p:cNvPr id="53" name="TextBox 52"/>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4" name="TextBox 53"/>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1,92  ·  RFR 4,3 %</a:t>
            </a:r>
          </a:p>
        </p:txBody>
      </p:sp>
      <p:sp>
        <p:nvSpPr>
          <p:cNvPr id="55" name="Rectangle 54"/>
          <p:cNvSpPr/>
          <p:nvPr/>
        </p:nvSpPr>
        <p:spPr>
          <a:xfrm>
            <a:off x="46080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080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360 $</a:t>
            </a:r>
          </a:p>
        </p:txBody>
      </p:sp>
      <p:sp>
        <p:nvSpPr>
          <p:cNvPr id="58" name="TextBox 57"/>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9" name="TextBox 58"/>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+3,9 % vs cours</a:t>
            </a:r>
          </a:p>
        </p:txBody>
      </p:sp>
      <p:sp>
        <p:nvSpPr>
          <p:cNvPr id="60" name="Rectangle 59"/>
          <p:cNvSpPr/>
          <p:nvPr/>
        </p:nvSpPr>
        <p:spPr>
          <a:xfrm>
            <a:off x="67284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84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+0,358</a:t>
            </a:r>
          </a:p>
        </p:txBody>
      </p:sp>
      <p:sp>
        <p:nvSpPr>
          <p:cNvPr id="63" name="TextBox 62"/>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4" name="TextBox 63"/>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Positif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Tesla,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accrue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Tesla, Inc. conçoit, produit et vend des véhicules électriques haut de gamme et des solutions énergétiques durables. Positionné comme leader technologique avec une intégration verticale unique (batteries, logiciels, bornes de recharge), l'entreprise cible les marchés premium et les infrastructures énergétiques. Ses avantages incluent l'innovation logicielle (FSD), une marque forte et un écosystème intégré réduisant les coûts logistiques.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Automobile</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principal générant 95% des revenus via vente de véhicules électriques (Model 3/Y, S/X, Cybertruck) et services associés (abonnements, mises à jour logicielles). Clients cibles : particuliers aisés et entreprises. Croissance portée par l'expansion géographique et la demande pour des solutions bas-carbone.</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Énergie et 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Vente de systèmes de stockage d'énergie (Powerwall, Megapack) et de panneaux solaires, avec services de maintenance et d'optimisation énergétique. Cible : particuliers, entreprises et utilities. Croissance liée à la transition énergétique et aux subventions gouvernementales.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1 300,8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94,8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346,65 $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109,9x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342,9x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95%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Automobile</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principal générant 95% des revenus via vente de véhicules électriques (Model 3/Y, S/X, Cybertruck) et services associés (abonnements, mises à jour logicielles). Clients cibles : particuliers aisés et entreprises. Croissance portée par l'expansion géographique et la demande pour des solutions bas-carbone.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5%</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Énergie et 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Vente de systèmes de stockage d'énergie (Powerwall, Megapack) et de panneaux solaires, avec services de maintenance et d'optimisation énergétique. Cible : particuliers, entreprises et utilities. Croissance liée à la transition énergétique et aux subventions gouvernementales.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96,8</a:t>
                      </a:r>
                    </a:p>
                  </a:txBody>
                  <a:tcPr>
                    <a:solidFill>
                      <a:srgbClr val="FFFFFF"/>
                    </a:solidFill>
                  </a:tcPr>
                </a:tc>
                <a:tc>
                  <a:txBody>
                    <a:bodyPr/>
                    <a:lstStyle/>
                    <a:p>
                      <a:pPr algn="ctr"/>
                      <a:r>
                        <a:rPr sz="800" b="1" i="0">
                          <a:solidFill>
                            <a:srgbClr val="0D0D0D"/>
                          </a:solidFill>
                          <a:latin typeface="Calibri"/>
                        </a:rPr>
                        <a:t>97,7</a:t>
                      </a:r>
                    </a:p>
                  </a:txBody>
                  <a:tcPr>
                    <a:solidFill>
                      <a:srgbClr val="FFFFFF"/>
                    </a:solidFill>
                  </a:tcPr>
                </a:tc>
                <a:tc>
                  <a:txBody>
                    <a:bodyPr/>
                    <a:lstStyle/>
                    <a:p>
                      <a:pPr algn="ctr"/>
                      <a:r>
                        <a:rPr sz="800" b="1" i="0">
                          <a:solidFill>
                            <a:srgbClr val="1B3A6B"/>
                          </a:solidFill>
                          <a:latin typeface="Calibri"/>
                        </a:rPr>
                        <a:t>94,8</a:t>
                      </a:r>
                    </a:p>
                  </a:txBody>
                  <a:tcPr>
                    <a:solidFill>
                      <a:srgbClr val="DDE8F5"/>
                    </a:solidFill>
                  </a:tcPr>
                </a:tc>
                <a:tc>
                  <a:txBody>
                    <a:bodyPr/>
                    <a:lstStyle/>
                    <a:p>
                      <a:pPr algn="ctr"/>
                      <a:r>
                        <a:rPr sz="800" b="1" i="0">
                          <a:solidFill>
                            <a:srgbClr val="0D0D0D"/>
                          </a:solidFill>
                          <a:latin typeface="Calibri"/>
                        </a:rPr>
                        <a:t>102,0</a:t>
                      </a:r>
                    </a:p>
                  </a:txBody>
                  <a:tcPr>
                    <a:solidFill>
                      <a:srgbClr val="FFFFFF"/>
                    </a:solidFill>
                  </a:tcPr>
                </a:tc>
                <a:tc>
                  <a:txBody>
                    <a:bodyPr/>
                    <a:lstStyle/>
                    <a:p>
                      <a:pPr algn="ctr"/>
                      <a:r>
                        <a:rPr sz="800" b="1" i="0">
                          <a:solidFill>
                            <a:srgbClr val="0D0D0D"/>
                          </a:solidFill>
                          <a:latin typeface="Calibri"/>
                        </a:rPr>
                        <a:t>115,0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+18,8 %</a:t>
                      </a:r>
                    </a:p>
                  </a:txBody>
                  <a:tcPr>
                    <a:solidFill>
                      <a:srgbClr val="F7F8FA"/>
                    </a:solidFill>
                  </a:tcPr>
                </a:tc>
                <a:tc>
                  <a:txBody>
                    <a:bodyPr/>
                    <a:lstStyle/>
                    <a:p>
                      <a:pPr algn="ctr"/>
                      <a:r>
                        <a:rPr sz="750" b="0" i="1">
                          <a:solidFill>
                            <a:srgbClr val="555555"/>
                          </a:solidFill>
                          <a:latin typeface="Calibri"/>
                        </a:rPr>
                        <a:t>+1,0 %</a:t>
                      </a:r>
                    </a:p>
                  </a:txBody>
                  <a:tcPr>
                    <a:solidFill>
                      <a:srgbClr val="F7F8FA"/>
                    </a:solidFill>
                  </a:tcPr>
                </a:tc>
                <a:tc>
                  <a:txBody>
                    <a:bodyPr/>
                    <a:lstStyle/>
                    <a:p>
                      <a:pPr algn="ctr"/>
                      <a:r>
                        <a:rPr sz="750" b="0" i="1">
                          <a:solidFill>
                            <a:srgbClr val="555555"/>
                          </a:solidFill>
                          <a:latin typeface="Calibri"/>
                        </a:rPr>
                        <a:t>-3,0 %</a:t>
                      </a:r>
                    </a:p>
                  </a:txBody>
                  <a:tcPr>
                    <a:solidFill>
                      <a:srgbClr val="DDE8F5"/>
                    </a:solidFill>
                  </a:tcPr>
                </a:tc>
                <a:tc>
                  <a:txBody>
                    <a:bodyPr/>
                    <a:lstStyle/>
                    <a:p>
                      <a:pPr algn="ctr"/>
                      <a:r>
                        <a:rPr sz="750" b="0" i="1">
                          <a:solidFill>
                            <a:srgbClr val="555555"/>
                          </a:solidFill>
                          <a:latin typeface="Calibri"/>
                        </a:rPr>
                        <a:t>+800,0 %</a:t>
                      </a:r>
                    </a:p>
                  </a:txBody>
                  <a:tcPr>
                    <a:solidFill>
                      <a:srgbClr val="F7F8FA"/>
                    </a:solidFill>
                  </a:tcPr>
                </a:tc>
                <a:tc>
                  <a:txBody>
                    <a:bodyPr/>
                    <a:lstStyle/>
                    <a:p>
                      <a:pPr algn="ctr"/>
                      <a:r>
                        <a:rPr sz="750" b="0" i="1">
                          <a:solidFill>
                            <a:srgbClr val="555555"/>
                          </a:solidFill>
                          <a:latin typeface="Calibri"/>
                        </a:rPr>
                        <a:t>+1270,0 %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17,7</a:t>
                      </a:r>
                    </a:p>
                  </a:txBody>
                  <a:tcPr>
                    <a:solidFill>
                      <a:srgbClr val="FFFFFF"/>
                    </a:solidFill>
                  </a:tcPr>
                </a:tc>
                <a:tc>
                  <a:txBody>
                    <a:bodyPr/>
                    <a:lstStyle/>
                    <a:p>
                      <a:pPr algn="ctr"/>
                      <a:r>
                        <a:rPr sz="800" b="1" i="0">
                          <a:solidFill>
                            <a:srgbClr val="0D0D0D"/>
                          </a:solidFill>
                          <a:latin typeface="Calibri"/>
                        </a:rPr>
                        <a:t>17,4</a:t>
                      </a:r>
                    </a:p>
                  </a:txBody>
                  <a:tcPr>
                    <a:solidFill>
                      <a:srgbClr val="FFFFFF"/>
                    </a:solidFill>
                  </a:tcPr>
                </a:tc>
                <a:tc>
                  <a:txBody>
                    <a:bodyPr/>
                    <a:lstStyle/>
                    <a:p>
                      <a:pPr algn="ctr"/>
                      <a:r>
                        <a:rPr sz="800" b="1" i="0">
                          <a:solidFill>
                            <a:srgbClr val="1B3A6B"/>
                          </a:solidFill>
                          <a:latin typeface="Calibri"/>
                        </a:rPr>
                        <a:t>17,1</a:t>
                      </a:r>
                    </a:p>
                  </a:txBody>
                  <a:tcPr>
                    <a:solidFill>
                      <a:srgbClr val="DDE8F5"/>
                    </a:solidFill>
                  </a:tcPr>
                </a:tc>
                <a:tc>
                  <a:txBody>
                    <a:bodyPr/>
                    <a:lstStyle/>
                    <a:p>
                      <a:pPr algn="ctr"/>
                      <a:r>
                        <a:rPr sz="800" b="1" i="0">
                          <a:solidFill>
                            <a:srgbClr val="0D0D0D"/>
                          </a:solidFill>
                          <a:latin typeface="Calibri"/>
                        </a:rPr>
                        <a:t>1 989,0</a:t>
                      </a:r>
                    </a:p>
                  </a:txBody>
                  <a:tcPr>
                    <a:solidFill>
                      <a:srgbClr val="FFFFFF"/>
                    </a:solidFill>
                  </a:tcPr>
                </a:tc>
                <a:tc>
                  <a:txBody>
                    <a:bodyPr/>
                    <a:lstStyle/>
                    <a:p>
                      <a:pPr algn="ctr"/>
                      <a:r>
                        <a:rPr sz="800" b="1" i="0">
                          <a:solidFill>
                            <a:srgbClr val="0D0D0D"/>
                          </a:solidFill>
                          <a:latin typeface="Calibri"/>
                        </a:rPr>
                        <a:t>2 530,0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18,2 %</a:t>
                      </a:r>
                    </a:p>
                  </a:txBody>
                  <a:tcPr>
                    <a:solidFill>
                      <a:srgbClr val="F7F8FA"/>
                    </a:solidFill>
                  </a:tcPr>
                </a:tc>
                <a:tc>
                  <a:txBody>
                    <a:bodyPr/>
                    <a:lstStyle/>
                    <a:p>
                      <a:pPr algn="ctr"/>
                      <a:r>
                        <a:rPr sz="750" b="0" i="1">
                          <a:solidFill>
                            <a:srgbClr val="555555"/>
                          </a:solidFill>
                          <a:latin typeface="Calibri"/>
                        </a:rPr>
                        <a:t>17,9 %</a:t>
                      </a:r>
                    </a:p>
                  </a:txBody>
                  <a:tcPr>
                    <a:solidFill>
                      <a:srgbClr val="F7F8FA"/>
                    </a:solidFill>
                  </a:tcPr>
                </a:tc>
                <a:tc>
                  <a:txBody>
                    <a:bodyPr/>
                    <a:lstStyle/>
                    <a:p>
                      <a:pPr algn="ctr"/>
                      <a:r>
                        <a:rPr sz="750" b="0" i="1">
                          <a:solidFill>
                            <a:srgbClr val="555555"/>
                          </a:solidFill>
                          <a:latin typeface="Calibri"/>
                        </a:rPr>
                        <a:t>18,0 %</a:t>
                      </a:r>
                    </a:p>
                  </a:txBody>
                  <a:tcPr>
                    <a:solidFill>
                      <a:srgbClr val="DDE8F5"/>
                    </a:solidFill>
                  </a:tcPr>
                </a:tc>
                <a:tc>
                  <a:txBody>
                    <a:bodyPr/>
                    <a:lstStyle/>
                    <a:p>
                      <a:pPr algn="ctr"/>
                      <a:r>
                        <a:rPr sz="750" b="0" i="1">
                          <a:solidFill>
                            <a:srgbClr val="555555"/>
                          </a:solidFill>
                          <a:latin typeface="Calibri"/>
                        </a:rPr>
                        <a:t>1950,0 %</a:t>
                      </a:r>
                    </a:p>
                  </a:txBody>
                  <a:tcPr>
                    <a:solidFill>
                      <a:srgbClr val="F7F8FA"/>
                    </a:solidFill>
                  </a:tcPr>
                </a:tc>
                <a:tc>
                  <a:txBody>
                    <a:bodyPr/>
                    <a:lstStyle/>
                    <a:p>
                      <a:pPr algn="ctr"/>
                      <a:r>
                        <a:rPr sz="750" b="0" i="1">
                          <a:solidFill>
                            <a:srgbClr val="555555"/>
                          </a:solidFill>
                          <a:latin typeface="Calibri"/>
                        </a:rPr>
                        <a:t>2200,0 %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14,8</a:t>
                      </a:r>
                    </a:p>
                  </a:txBody>
                  <a:tcPr>
                    <a:solidFill>
                      <a:srgbClr val="FFFFFF"/>
                    </a:solidFill>
                  </a:tcPr>
                </a:tc>
                <a:tc>
                  <a:txBody>
                    <a:bodyPr/>
                    <a:lstStyle/>
                    <a:p>
                      <a:pPr algn="ctr"/>
                      <a:r>
                        <a:rPr sz="800" b="1" i="0">
                          <a:solidFill>
                            <a:srgbClr val="0D0D0D"/>
                          </a:solidFill>
                          <a:latin typeface="Calibri"/>
                        </a:rPr>
                        <a:t>14,7</a:t>
                      </a:r>
                    </a:p>
                  </a:txBody>
                  <a:tcPr>
                    <a:solidFill>
                      <a:srgbClr val="FFFFFF"/>
                    </a:solidFill>
                  </a:tcPr>
                </a:tc>
                <a:tc>
                  <a:txBody>
                    <a:bodyPr/>
                    <a:lstStyle/>
                    <a:p>
                      <a:pPr algn="ctr"/>
                      <a:r>
                        <a:rPr sz="800" b="1" i="0">
                          <a:solidFill>
                            <a:srgbClr val="1B3A6B"/>
                          </a:solidFill>
                          <a:latin typeface="Calibri"/>
                        </a:rPr>
                        <a:t>11,8</a:t>
                      </a:r>
                    </a:p>
                  </a:txBody>
                  <a:tcPr>
                    <a:solidFill>
                      <a:srgbClr val="DDE8F5"/>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20,0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15,3 %</a:t>
                      </a:r>
                    </a:p>
                  </a:txBody>
                  <a:tcPr>
                    <a:solidFill>
                      <a:srgbClr val="F7F8FA"/>
                    </a:solidFill>
                  </a:tcPr>
                </a:tc>
                <a:tc>
                  <a:txBody>
                    <a:bodyPr/>
                    <a:lstStyle/>
                    <a:p>
                      <a:pPr algn="ctr"/>
                      <a:r>
                        <a:rPr sz="750" b="0" i="1">
                          <a:solidFill>
                            <a:srgbClr val="555555"/>
                          </a:solidFill>
                          <a:latin typeface="Calibri"/>
                        </a:rPr>
                        <a:t>15,1 %</a:t>
                      </a:r>
                    </a:p>
                  </a:txBody>
                  <a:tcPr>
                    <a:solidFill>
                      <a:srgbClr val="F7F8FA"/>
                    </a:solidFill>
                  </a:tcPr>
                </a:tc>
                <a:tc>
                  <a:txBody>
                    <a:bodyPr/>
                    <a:lstStyle/>
                    <a:p>
                      <a:pPr algn="ctr"/>
                      <a:r>
                        <a:rPr sz="750" b="0" i="1">
                          <a:solidFill>
                            <a:srgbClr val="555555"/>
                          </a:solidFill>
                          <a:latin typeface="Calibri"/>
                        </a:rPr>
                        <a:t>12,4 %</a:t>
                      </a:r>
                    </a:p>
                  </a:txBody>
                  <a:tcPr>
                    <a:solidFill>
                      <a:srgbClr val="DDE8F5"/>
                    </a:solidFill>
                  </a:tcPr>
                </a:tc>
                <a:tc>
                  <a:txBody>
                    <a:bodyPr/>
                    <a:lstStyle/>
                    <a:p>
                      <a:pPr algn="ctr"/>
                      <a:r>
                        <a:rPr sz="750" b="0" i="1">
                          <a:solidFill>
                            <a:srgbClr val="555555"/>
                          </a:solidFill>
                          <a:latin typeface="Calibri"/>
                        </a:rPr>
                        <a:t>1470,0 %</a:t>
                      </a:r>
                    </a:p>
                  </a:txBody>
                  <a:tcPr>
                    <a:solidFill>
                      <a:srgbClr val="F7F8FA"/>
                    </a:solidFill>
                  </a:tcPr>
                </a:tc>
                <a:tc>
                  <a:txBody>
                    <a:bodyPr/>
                    <a:lstStyle/>
                    <a:p>
                      <a:pPr algn="ctr"/>
                      <a:r>
                        <a:rPr sz="750" b="0" i="1">
                          <a:solidFill>
                            <a:srgbClr val="555555"/>
                          </a:solidFill>
                          <a:latin typeface="Calibri"/>
                        </a:rPr>
                        <a:t>1740,0 %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7,1</a:t>
                      </a:r>
                    </a:p>
                  </a:txBody>
                  <a:tcPr>
                    <a:solidFill>
                      <a:srgbClr val="FFFFFF"/>
                    </a:solidFill>
                  </a:tcPr>
                </a:tc>
                <a:tc>
                  <a:txBody>
                    <a:bodyPr/>
                    <a:lstStyle/>
                    <a:p>
                      <a:pPr algn="ctr"/>
                      <a:r>
                        <a:rPr sz="800" b="1" i="0">
                          <a:solidFill>
                            <a:srgbClr val="1B3A6B"/>
                          </a:solidFill>
                          <a:latin typeface="Calibri"/>
                        </a:rPr>
                        <a:t>3,8</a:t>
                      </a:r>
                    </a:p>
                  </a:txBody>
                  <a:tcPr>
                    <a:solidFill>
                      <a:srgbClr val="DDE8F5"/>
                    </a:solidFill>
                  </a:tcPr>
                </a:tc>
                <a:tc>
                  <a:txBody>
                    <a:bodyPr/>
                    <a:lstStyle/>
                    <a:p>
                      <a:pPr algn="ctr"/>
                      <a:r>
                        <a:rPr sz="800" b="1" i="0">
                          <a:solidFill>
                            <a:srgbClr val="0D0D0D"/>
                          </a:solidFill>
                          <a:latin typeface="Calibri"/>
                        </a:rPr>
                        <a:t>6,5</a:t>
                      </a:r>
                    </a:p>
                  </a:txBody>
                  <a:tcPr>
                    <a:solidFill>
                      <a:srgbClr val="FFFFFF"/>
                    </a:solidFill>
                  </a:tcPr>
                </a:tc>
                <a:tc>
                  <a:txBody>
                    <a:bodyPr/>
                    <a:lstStyle/>
                    <a:p>
                      <a:pPr algn="ctr"/>
                      <a:r>
                        <a:rPr sz="800" b="1" i="0">
                          <a:solidFill>
                            <a:srgbClr val="0D0D0D"/>
                          </a:solidFill>
                          <a:latin typeface="Calibri"/>
                        </a:rPr>
                        <a:t>10,0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15,5 %</a:t>
                      </a:r>
                    </a:p>
                  </a:txBody>
                  <a:tcPr>
                    <a:solidFill>
                      <a:srgbClr val="F7F8FA"/>
                    </a:solidFill>
                  </a:tcPr>
                </a:tc>
                <a:tc>
                  <a:txBody>
                    <a:bodyPr/>
                    <a:lstStyle/>
                    <a:p>
                      <a:pPr algn="ctr"/>
                      <a:r>
                        <a:rPr sz="750" b="0" i="1">
                          <a:solidFill>
                            <a:srgbClr val="555555"/>
                          </a:solidFill>
                          <a:latin typeface="Calibri"/>
                        </a:rPr>
                        <a:t>7,3 %</a:t>
                      </a:r>
                    </a:p>
                  </a:txBody>
                  <a:tcPr>
                    <a:solidFill>
                      <a:srgbClr val="F7F8FA"/>
                    </a:solidFill>
                  </a:tcPr>
                </a:tc>
                <a:tc>
                  <a:txBody>
                    <a:bodyPr/>
                    <a:lstStyle/>
                    <a:p>
                      <a:pPr algn="ctr"/>
                      <a:r>
                        <a:rPr sz="750" b="0" i="1">
                          <a:solidFill>
                            <a:srgbClr val="555555"/>
                          </a:solidFill>
                          <a:latin typeface="Calibri"/>
                        </a:rPr>
                        <a:t>4,0 %</a:t>
                      </a:r>
                    </a:p>
                  </a:txBody>
                  <a:tcPr>
                    <a:solidFill>
                      <a:srgbClr val="DDE8F5"/>
                    </a:solidFill>
                  </a:tcPr>
                </a:tc>
                <a:tc>
                  <a:txBody>
                    <a:bodyPr/>
                    <a:lstStyle/>
                    <a:p>
                      <a:pPr algn="ctr"/>
                      <a:r>
                        <a:rPr sz="750" b="0" i="1">
                          <a:solidFill>
                            <a:srgbClr val="555555"/>
                          </a:solidFill>
                          <a:latin typeface="Calibri"/>
                        </a:rPr>
                        <a:t>640,0 %</a:t>
                      </a:r>
                    </a:p>
                  </a:txBody>
                  <a:tcPr>
                    <a:solidFill>
                      <a:srgbClr val="F7F8FA"/>
                    </a:solidFill>
                  </a:tcPr>
                </a:tc>
                <a:tc>
                  <a:txBody>
                    <a:bodyPr/>
                    <a:lstStyle/>
                    <a:p>
                      <a:pPr algn="ctr"/>
                      <a:r>
                        <a:rPr sz="750" b="0" i="1">
                          <a:solidFill>
                            <a:srgbClr val="555555"/>
                          </a:solidFill>
                          <a:latin typeface="Calibri"/>
                        </a:rPr>
                        <a:t>870,0 %</a:t>
                      </a:r>
                    </a:p>
                  </a:txBody>
                  <a:tcPr>
                    <a:solidFill>
                      <a:srgbClr val="F7F8FA"/>
                    </a:solidFill>
                  </a:tcPr>
                </a:tc>
              </a:tr>
            </a:tbl>
          </a:graphicData>
        </a:graphic>
      </p:graphicFrame>
      <p:sp>
        <p:nvSpPr>
          <p:cNvPr id="18" name="Rectangle 17"/>
          <p:cNvSpPr/>
          <p:nvPr/>
        </p:nvSpPr>
        <p:spPr>
          <a:xfrm>
            <a:off x="367200" y="3218400"/>
            <a:ext cx="8413200" cy="12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218400"/>
            <a:ext cx="792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247200"/>
            <a:ext cx="8298000" cy="1188000"/>
          </a:xfrm>
          <a:prstGeom prst="rect">
            <a:avLst/>
          </a:prstGeom>
          <a:noFill/>
        </p:spPr>
        <p:txBody>
          <a:bodyPr wrap="square">
            <a:spAutoFit/>
          </a:bodyPr>
          <a:lstStyle/>
          <a:p>
            <a:pPr algn="l"/>
            <a:r>
              <a:rPr sz="850" b="0" i="0">
                <a:solidFill>
                  <a:srgbClr val="555555"/>
                </a:solidFill>
                <a:latin typeface="Calibri"/>
              </a:rPr>
              <a:t>Le chiffre d'affaires 2025 atteint 94,8 milliards de dollars (-3% YoY), avec une marge brute de 18% et une marge nette de 4%, en baisse de 11,4 points vs 2022. La pression sur les prix des VE et l'augmentation des coûts fixes (Capex 8,5 milliards) compriment les marges. Le ND/EBITDA négatif (-0,7x) indique une trésorerie nette positive de 25 milliards, soutenant les rachats d'actions.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16,5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6,6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-8,4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2,23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1,55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16,6x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-0,7x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15,62</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-2,61</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Rectangle 30"/>
          <p:cNvSpPr/>
          <p:nvPr/>
        </p:nvSpPr>
        <p:spPr>
          <a:xfrm>
            <a:off x="367200" y="4068000"/>
            <a:ext cx="8413200" cy="4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4068000"/>
            <a:ext cx="79200" cy="46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200" y="4096800"/>
            <a:ext cx="8298000" cy="432000"/>
          </a:xfrm>
          <a:prstGeom prst="rect">
            <a:avLst/>
          </a:prstGeom>
          <a:noFill/>
        </p:spPr>
        <p:txBody>
          <a:bodyPr wrap="square">
            <a:spAutoFit/>
          </a:bodyPr>
          <a:lstStyle/>
          <a:p>
            <a:pPr algn="l"/>
            <a:r>
              <a:rPr sz="850" b="0" i="0">
                <a:solidFill>
                  <a:srgbClr val="555555"/>
                </a:solidFill>
                <a:latin typeface="Calibri"/>
              </a:rPr>
              <a:t>Le chiffre d'affaires 2025 atteint 94,8 milliards de dollars (-3% YoY), avec une marge brute de 18% et une marge nette de 4%, en baisse de 11,4 points vs 2022. La pression sur les prix des VE et l'augmentation des coûts fixes (Capex 8,5 milliards) compriment les marges. Le ND/EBITDA négatif (-0,7x) indique une trésorerie nette positive de 25 milliards, soutenant les rachats d'actions.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342,9x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109,9x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13,6x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B06000"/>
                          </a:solidFill>
                          <a:latin typeface="Calibri"/>
                        </a:rPr>
                        <a:t>Modéré</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15,62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Rectangle 17"/>
          <p:cNvSpPr/>
          <p:nvPr/>
        </p:nvSpPr>
        <p:spPr>
          <a:xfrm>
            <a:off x="367200" y="3628800"/>
            <a:ext cx="8413200" cy="82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628800"/>
            <a:ext cx="792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657600"/>
            <a:ext cx="8298000" cy="788400"/>
          </a:xfrm>
          <a:prstGeom prst="rect">
            <a:avLst/>
          </a:prstGeom>
          <a:noFill/>
        </p:spPr>
        <p:txBody>
          <a:bodyPr wrap="square">
            <a:spAutoFit/>
          </a:bodyPr>
          <a:lstStyle/>
          <a:p>
            <a:pPr algn="l"/>
            <a:r>
              <a:rPr sz="850" b="0" i="0">
                <a:solidFill>
                  <a:srgbClr val="555555"/>
                </a:solidFill>
                <a:latin typeface="Calibri"/>
              </a:rPr>
              <a:t>La marge EBITDA chute de 21,7% en 2022 à 12,4% en 2025, reflétant une inflation des coûts (salaires, matières premières) et une concurrence accrue sur les prix. Le mix produit (baisse des Model 3/Y à marge plus faible) aggrave la pression. La durabilité du pricing power est incertaine sans relance de la demande premium ou innovation produit majeure.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360 $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346,65 $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280 $</a:t>
                      </a:r>
                    </a:p>
                  </a:txBody>
                  <a:tcPr>
                    <a:solidFill>
                      <a:srgbClr val="FAF0EF"/>
                    </a:solidFill>
                  </a:tcPr>
                </a:tc>
                <a:tc>
                  <a:txBody>
                    <a:bodyPr/>
                    <a:lstStyle/>
                    <a:p>
                      <a:pPr algn="ctr"/>
                      <a:r>
                        <a:rPr sz="2000" b="1" i="0">
                          <a:solidFill>
                            <a:srgbClr val="2E5FA3"/>
                          </a:solidFill>
                          <a:latin typeface="Calibri"/>
                        </a:rPr>
                        <a:t>360 $</a:t>
                      </a:r>
                    </a:p>
                  </a:txBody>
                  <a:tcPr>
                    <a:solidFill>
                      <a:srgbClr val="EEF3FA"/>
                    </a:solidFill>
                  </a:tcPr>
                </a:tc>
                <a:tc>
                  <a:txBody>
                    <a:bodyPr/>
                    <a:lstStyle/>
                    <a:p>
                      <a:pPr algn="ctr"/>
                      <a:r>
                        <a:rPr sz="2000" b="1" i="0">
                          <a:solidFill>
                            <a:srgbClr val="1A7A4A"/>
                          </a:solidFill>
                          <a:latin typeface="Calibri"/>
                        </a:rPr>
                        <a:t>420 $</a:t>
                      </a:r>
                    </a:p>
                  </a:txBody>
                  <a:tcPr>
                    <a:solidFill>
                      <a:srgbClr val="EAF4EF"/>
                    </a:solidFill>
                  </a:tcPr>
                </a:tc>
              </a:tr>
              <a:tr h="342900">
                <a:tc>
                  <a:txBody>
                    <a:bodyPr/>
                    <a:lstStyle/>
                    <a:p>
                      <a:pPr algn="ctr"/>
                      <a:r>
                        <a:rPr sz="1200" b="1" i="0">
                          <a:solidFill>
                            <a:srgbClr val="A82020"/>
                          </a:solidFill>
                          <a:latin typeface="Calibri"/>
                        </a:rPr>
                        <a:t>-19,2 %</a:t>
                      </a:r>
                    </a:p>
                  </a:txBody>
                  <a:tcPr>
                    <a:solidFill>
                      <a:srgbClr val="FAF0EF"/>
                    </a:solidFill>
                  </a:tcPr>
                </a:tc>
                <a:tc>
                  <a:txBody>
                    <a:bodyPr/>
                    <a:lstStyle/>
                    <a:p>
                      <a:pPr algn="ctr"/>
                      <a:r>
                        <a:rPr sz="1200" b="1" i="0">
                          <a:solidFill>
                            <a:srgbClr val="2E5FA3"/>
                          </a:solidFill>
                          <a:latin typeface="Calibri"/>
                        </a:rPr>
                        <a:t>+3,9 %</a:t>
                      </a:r>
                    </a:p>
                  </a:txBody>
                  <a:tcPr>
                    <a:solidFill>
                      <a:srgbClr val="EEF3FA"/>
                    </a:solidFill>
                  </a:tcPr>
                </a:tc>
                <a:tc>
                  <a:txBody>
                    <a:bodyPr/>
                    <a:lstStyle/>
                    <a:p>
                      <a:pPr algn="ctr"/>
                      <a:r>
                        <a:rPr sz="1200" b="1" i="0">
                          <a:solidFill>
                            <a:srgbClr val="1A7A4A"/>
                          </a:solidFill>
                          <a:latin typeface="Calibri"/>
                        </a:rPr>
                        <a:t>+21,2 %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DCF — 9 972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 / action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-96,4 %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24 $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-93,1 %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-84,6 %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13,8%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14,8%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360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367200" y="3916800"/>
            <a:ext cx="8413200" cy="547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7200" y="3916800"/>
            <a:ext cx="79200" cy="547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200" y="3945600"/>
            <a:ext cx="8298000" cy="511200"/>
          </a:xfrm>
          <a:prstGeom prst="rect">
            <a:avLst/>
          </a:prstGeom>
          <a:noFill/>
        </p:spPr>
        <p:txBody>
          <a:bodyPr wrap="square">
            <a:spAutoFit/>
          </a:bodyPr>
          <a:lstStyle/>
          <a:p>
            <a:pPr algn="l"/>
            <a:r>
              <a:rPr sz="850" b="0" i="0">
                <a:solidFill>
                  <a:srgbClr val="555555"/>
                </a:solidFill>
                <a:latin typeface="Calibri"/>
              </a:rPr>
              <a:t>Avec un WACC de 14,8% et un TGR de 2,5%, le prix implicite DCF est de 360 USD (vs cours 346,65 USD), suggérant une légère sous-valorisation. L'upside dépend de la réalisation des catalyseurs (Robotaxi, énergie) et de la reprise des marges.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Tesla, Inc.</a:t>
                      </a:r>
                    </a:p>
                  </a:txBody>
                  <a:tcPr>
                    <a:solidFill>
                      <a:srgbClr val="DDE8F5"/>
                    </a:solidFill>
                  </a:tcPr>
                </a:tc>
                <a:tc>
                  <a:txBody>
                    <a:bodyPr/>
                    <a:lstStyle/>
                    <a:p>
                      <a:pPr algn="ctr"/>
                      <a:r>
                        <a:rPr sz="750" b="1" i="0">
                          <a:solidFill>
                            <a:srgbClr val="2E5FA3"/>
                          </a:solidFill>
                          <a:latin typeface="Calibri"/>
                        </a:rPr>
                        <a:t>TSLA</a:t>
                      </a:r>
                    </a:p>
                  </a:txBody>
                  <a:tcPr>
                    <a:solidFill>
                      <a:srgbClr val="DDE8F5"/>
                    </a:solidFill>
                  </a:tcPr>
                </a:tc>
                <a:tc>
                  <a:txBody>
                    <a:bodyPr/>
                    <a:lstStyle/>
                    <a:p>
                      <a:pPr algn="ctr"/>
                      <a:r>
                        <a:rPr sz="800" b="1" i="0">
                          <a:solidFill>
                            <a:srgbClr val="1B3A6B"/>
                          </a:solidFill>
                          <a:latin typeface="Calibri"/>
                        </a:rPr>
                        <a:t>1 300,8</a:t>
                      </a:r>
                    </a:p>
                  </a:txBody>
                  <a:tcPr>
                    <a:solidFill>
                      <a:srgbClr val="DDE8F5"/>
                    </a:solidFill>
                  </a:tcPr>
                </a:tc>
                <a:tc>
                  <a:txBody>
                    <a:bodyPr/>
                    <a:lstStyle/>
                    <a:p>
                      <a:pPr algn="ctr"/>
                      <a:r>
                        <a:rPr sz="800" b="1" i="0">
                          <a:solidFill>
                            <a:srgbClr val="1B3A6B"/>
                          </a:solidFill>
                          <a:latin typeface="Calibri"/>
                        </a:rPr>
                        <a:t>109,9x</a:t>
                      </a:r>
                    </a:p>
                  </a:txBody>
                  <a:tcPr>
                    <a:solidFill>
                      <a:srgbClr val="DDE8F5"/>
                    </a:solidFill>
                  </a:tcPr>
                </a:tc>
                <a:tc>
                  <a:txBody>
                    <a:bodyPr/>
                    <a:lstStyle/>
                    <a:p>
                      <a:pPr algn="ctr"/>
                      <a:r>
                        <a:rPr sz="800" b="1" i="0">
                          <a:solidFill>
                            <a:srgbClr val="1B3A6B"/>
                          </a:solidFill>
                          <a:latin typeface="Calibri"/>
                        </a:rPr>
                        <a:t>13,6x</a:t>
                      </a:r>
                    </a:p>
                  </a:txBody>
                  <a:tcPr>
                    <a:solidFill>
                      <a:srgbClr val="DDE8F5"/>
                    </a:solidFill>
                  </a:tcPr>
                </a:tc>
                <a:tc>
                  <a:txBody>
                    <a:bodyPr/>
                    <a:lstStyle/>
                    <a:p>
                      <a:pPr algn="ctr"/>
                      <a:r>
                        <a:rPr sz="800" b="1" i="0">
                          <a:solidFill>
                            <a:srgbClr val="1B3A6B"/>
                          </a:solidFill>
                          <a:latin typeface="Calibri"/>
                        </a:rPr>
                        <a:t>342,9x</a:t>
                      </a:r>
                    </a:p>
                  </a:txBody>
                  <a:tcPr>
                    <a:solidFill>
                      <a:srgbClr val="DDE8F5"/>
                    </a:solidFill>
                  </a:tcPr>
                </a:tc>
                <a:tc>
                  <a:txBody>
                    <a:bodyPr/>
                    <a:lstStyle/>
                    <a:p>
                      <a:pPr algn="ctr"/>
                      <a:r>
                        <a:rPr sz="800" b="1" i="0">
                          <a:solidFill>
                            <a:srgbClr val="1B3A6B"/>
                          </a:solidFill>
                          <a:latin typeface="Calibri"/>
                        </a:rPr>
                        <a:t>18,0 %</a:t>
                      </a:r>
                    </a:p>
                  </a:txBody>
                  <a:tcPr>
                    <a:solidFill>
                      <a:srgbClr val="DDE8F5"/>
                    </a:solidFill>
                  </a:tcPr>
                </a:tc>
                <a:tc>
                  <a:txBody>
                    <a:bodyPr/>
                    <a:lstStyle/>
                    <a:p>
                      <a:pPr algn="ctr"/>
                      <a:r>
                        <a:rPr sz="800" b="1" i="0">
                          <a:solidFill>
                            <a:srgbClr val="1B3A6B"/>
                          </a:solidFill>
                          <a:latin typeface="Calibri"/>
                        </a:rPr>
                        <a:t>12,4 %</a:t>
                      </a:r>
                    </a:p>
                  </a:txBody>
                  <a:tcPr>
                    <a:solidFill>
                      <a:srgbClr val="DDE8F5"/>
                    </a:solidFill>
                  </a:tcPr>
                </a:tc>
              </a:tr>
              <a:tr h="251999">
                <a:tc>
                  <a:txBody>
                    <a:bodyPr/>
                    <a:lstStyle/>
                    <a:p>
                      <a:pPr algn="l"/>
                      <a:r>
                        <a:rPr sz="800" b="0" i="0">
                          <a:solidFill>
                            <a:srgbClr val="0D0D0D"/>
                          </a:solidFill>
                          <a:latin typeface="Calibri"/>
                        </a:rPr>
                        <a:t>BYD Company</a:t>
                      </a:r>
                    </a:p>
                  </a:txBody>
                  <a:tcPr>
                    <a:solidFill>
                      <a:srgbClr val="FFFFFF"/>
                    </a:solidFill>
                  </a:tcPr>
                </a:tc>
                <a:tc>
                  <a:txBody>
                    <a:bodyPr/>
                    <a:lstStyle/>
                    <a:p>
                      <a:pPr algn="ctr"/>
                      <a:r>
                        <a:rPr sz="750" b="0" i="0">
                          <a:solidFill>
                            <a:srgbClr val="555555"/>
                          </a:solidFill>
                          <a:latin typeface="Calibri"/>
                        </a:rPr>
                        <a:t>BYD.US</a:t>
                      </a:r>
                    </a:p>
                  </a:txBody>
                  <a:tcPr>
                    <a:solidFill>
                      <a:srgbClr val="FFFFFF"/>
                    </a:solidFill>
                  </a:tcPr>
                </a:tc>
                <a:tc>
                  <a:txBody>
                    <a:bodyPr/>
                    <a:lstStyle/>
                    <a:p>
                      <a:pPr algn="ctr"/>
                      <a:r>
                        <a:rPr sz="800" b="0" i="0">
                          <a:solidFill>
                            <a:srgbClr val="0D0D0D"/>
                          </a:solidFill>
                          <a:latin typeface="Calibri"/>
                        </a:rPr>
                        <a:t>95,0</a:t>
                      </a:r>
                    </a:p>
                  </a:txBody>
                  <a:tcPr>
                    <a:solidFill>
                      <a:srgbClr val="FFFFFF"/>
                    </a:solidFill>
                  </a:tcPr>
                </a:tc>
                <a:tc>
                  <a:txBody>
                    <a:bodyPr/>
                    <a:lstStyle/>
                    <a:p>
                      <a:pPr algn="ctr"/>
                      <a:r>
                        <a:rPr sz="800" b="0" i="0">
                          <a:solidFill>
                            <a:srgbClr val="0D0D0D"/>
                          </a:solidFill>
                          <a:latin typeface="Calibri"/>
                        </a:rPr>
                        <a:t>12,5x</a:t>
                      </a:r>
                    </a:p>
                  </a:txBody>
                  <a:tcPr>
                    <a:solidFill>
                      <a:srgbClr val="FFFFFF"/>
                    </a:solidFill>
                  </a:tcPr>
                </a:tc>
                <a:tc>
                  <a:txBody>
                    <a:bodyPr/>
                    <a:lstStyle/>
                    <a:p>
                      <a:pPr algn="ctr"/>
                      <a:r>
                        <a:rPr sz="800" b="0" i="0">
                          <a:solidFill>
                            <a:srgbClr val="0D0D0D"/>
                          </a:solidFill>
                          <a:latin typeface="Calibri"/>
                        </a:rPr>
                        <a:t>2,1x</a:t>
                      </a:r>
                    </a:p>
                  </a:txBody>
                  <a:tcPr>
                    <a:solidFill>
                      <a:srgbClr val="FFFFFF"/>
                    </a:solidFill>
                  </a:tcPr>
                </a:tc>
                <a:tc>
                  <a:txBody>
                    <a:bodyPr/>
                    <a:lstStyle/>
                    <a:p>
                      <a:pPr algn="ctr"/>
                      <a:r>
                        <a:rPr sz="800" b="0" i="0">
                          <a:solidFill>
                            <a:srgbClr val="0D0D0D"/>
                          </a:solidFill>
                          <a:latin typeface="Calibri"/>
                        </a:rPr>
                        <a:t>35,0x</a:t>
                      </a:r>
                    </a:p>
                  </a:txBody>
                  <a:tcPr>
                    <a:solidFill>
                      <a:srgbClr val="FFFFFF"/>
                    </a:solidFill>
                  </a:tcPr>
                </a:tc>
                <a:tc>
                  <a:txBody>
                    <a:bodyPr/>
                    <a:lstStyle/>
                    <a:p>
                      <a:pPr algn="ctr"/>
                      <a:r>
                        <a:rPr sz="800" b="0" i="0">
                          <a:solidFill>
                            <a:srgbClr val="0D0D0D"/>
                          </a:solidFill>
                          <a:latin typeface="Calibri"/>
                        </a:rPr>
                        <a:t>18,0 %</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r>
              <a:tr h="251999">
                <a:tc>
                  <a:txBody>
                    <a:bodyPr/>
                    <a:lstStyle/>
                    <a:p>
                      <a:pPr algn="l"/>
                      <a:r>
                        <a:rPr sz="800" b="0" i="0">
                          <a:solidFill>
                            <a:srgbClr val="0D0D0D"/>
                          </a:solidFill>
                          <a:latin typeface="Calibri"/>
                        </a:rPr>
                        <a:t>NIO Inc</a:t>
                      </a:r>
                    </a:p>
                  </a:txBody>
                  <a:tcPr>
                    <a:solidFill>
                      <a:srgbClr val="F7F8FA"/>
                    </a:solidFill>
                  </a:tcPr>
                </a:tc>
                <a:tc>
                  <a:txBody>
                    <a:bodyPr/>
                    <a:lstStyle/>
                    <a:p>
                      <a:pPr algn="ctr"/>
                      <a:r>
                        <a:rPr sz="750" b="0" i="0">
                          <a:solidFill>
                            <a:srgbClr val="555555"/>
                          </a:solidFill>
                          <a:latin typeface="Calibri"/>
                        </a:rPr>
                        <a:t>NIO.US</a:t>
                      </a:r>
                    </a:p>
                  </a:txBody>
                  <a:tcPr>
                    <a:solidFill>
                      <a:srgbClr val="F7F8FA"/>
                    </a:solidFill>
                  </a:tcPr>
                </a:tc>
                <a:tc>
                  <a:txBody>
                    <a:bodyPr/>
                    <a:lstStyle/>
                    <a:p>
                      <a:pPr algn="ctr"/>
                      <a:r>
                        <a:rPr sz="800" b="0" i="0">
                          <a:solidFill>
                            <a:srgbClr val="0D0D0D"/>
                          </a:solidFill>
                          <a:latin typeface="Calibri"/>
                        </a:rPr>
                        <a:t>35,0</a:t>
                      </a:r>
                    </a:p>
                  </a:txBody>
                  <a:tcPr>
                    <a:solidFill>
                      <a:srgbClr val="F7F8FA"/>
                    </a:solidFill>
                  </a:tcPr>
                </a:tc>
                <a:tc>
                  <a:txBody>
                    <a:bodyPr/>
                    <a:lstStyle/>
                    <a:p>
                      <a:pPr algn="ctr"/>
                      <a:r>
                        <a:rPr sz="800" b="0" i="0">
                          <a:solidFill>
                            <a:srgbClr val="0D0D0D"/>
                          </a:solidFill>
                          <a:latin typeface="Calibri"/>
                        </a:rPr>
                        <a:t>-15,0x</a:t>
                      </a:r>
                    </a:p>
                  </a:txBody>
                  <a:tcPr>
                    <a:solidFill>
                      <a:srgbClr val="F7F8FA"/>
                    </a:solidFill>
                  </a:tcPr>
                </a:tc>
                <a:tc>
                  <a:txBody>
                    <a:bodyPr/>
                    <a:lstStyle/>
                    <a:p>
                      <a:pPr algn="ctr"/>
                      <a:r>
                        <a:rPr sz="800" b="0" i="0">
                          <a:solidFill>
                            <a:srgbClr val="0D0D0D"/>
                          </a:solidFill>
                          <a:latin typeface="Calibri"/>
                        </a:rPr>
                        <a:t>2,8x</a:t>
                      </a:r>
                    </a:p>
                  </a:txBody>
                  <a:tcPr>
                    <a:solidFill>
                      <a:srgbClr val="F7F8FA"/>
                    </a:solidFill>
                  </a:tcPr>
                </a:tc>
                <a:tc>
                  <a:txBody>
                    <a:bodyPr/>
                    <a:lstStyle/>
                    <a:p>
                      <a:pPr algn="ctr"/>
                      <a:r>
                        <a:rPr sz="800" b="0" i="0">
                          <a:solidFill>
                            <a:srgbClr val="0D0D0D"/>
                          </a:solidFill>
                          <a:latin typeface="Calibri"/>
                        </a:rPr>
                        <a:t>-12,0x</a:t>
                      </a:r>
                    </a:p>
                  </a:txBody>
                  <a:tcPr>
                    <a:solidFill>
                      <a:srgbClr val="F7F8FA"/>
                    </a:solidFill>
                  </a:tcPr>
                </a:tc>
                <a:tc>
                  <a:txBody>
                    <a:bodyPr/>
                    <a:lstStyle/>
                    <a:p>
                      <a:pPr algn="ctr"/>
                      <a:r>
                        <a:rPr sz="800" b="0" i="0">
                          <a:solidFill>
                            <a:srgbClr val="0D0D0D"/>
                          </a:solidFill>
                          <a:latin typeface="Calibri"/>
                        </a:rPr>
                        <a:t>12,0 %</a:t>
                      </a:r>
                    </a:p>
                  </a:txBody>
                  <a:tcPr>
                    <a:solidFill>
                      <a:srgbClr val="F7F8FA"/>
                    </a:solidFill>
                  </a:tcPr>
                </a:tc>
                <a:tc>
                  <a:txBody>
                    <a:bodyPr/>
                    <a:lstStyle/>
                    <a:p>
                      <a:pPr algn="ctr"/>
                      <a:r>
                        <a:rPr sz="800" b="0" i="0">
                          <a:solidFill>
                            <a:srgbClr val="0D0D0D"/>
                          </a:solidFill>
                          <a:latin typeface="Calibri"/>
                        </a:rPr>
                        <a:t>-5,0 %</a:t>
                      </a:r>
                    </a:p>
                  </a:txBody>
                  <a:tcPr>
                    <a:solidFill>
                      <a:srgbClr val="F7F8FA"/>
                    </a:solidFill>
                  </a:tcPr>
                </a:tc>
              </a:tr>
              <a:tr h="251999">
                <a:tc>
                  <a:txBody>
                    <a:bodyPr/>
                    <a:lstStyle/>
                    <a:p>
                      <a:pPr algn="l"/>
                      <a:r>
                        <a:rPr sz="800" b="0" i="0">
                          <a:solidFill>
                            <a:srgbClr val="0D0D0D"/>
                          </a:solidFill>
                          <a:latin typeface="Calibri"/>
                        </a:rPr>
                        <a:t>Rivian Automotive</a:t>
                      </a:r>
                    </a:p>
                  </a:txBody>
                  <a:tcPr>
                    <a:solidFill>
                      <a:srgbClr val="FFFFFF"/>
                    </a:solidFill>
                  </a:tcPr>
                </a:tc>
                <a:tc>
                  <a:txBody>
                    <a:bodyPr/>
                    <a:lstStyle/>
                    <a:p>
                      <a:pPr algn="ctr"/>
                      <a:r>
                        <a:rPr sz="750" b="0" i="0">
                          <a:solidFill>
                            <a:srgbClr val="555555"/>
                          </a:solidFill>
                          <a:latin typeface="Calibri"/>
                        </a:rPr>
                        <a:t>RIVN.US</a:t>
                      </a:r>
                    </a:p>
                  </a:txBody>
                  <a:tcPr>
                    <a:solidFill>
                      <a:srgbClr val="FFFFFF"/>
                    </a:solidFill>
                  </a:tcPr>
                </a:tc>
                <a:tc>
                  <a:txBody>
                    <a:bodyPr/>
                    <a:lstStyle/>
                    <a:p>
                      <a:pPr algn="ctr"/>
                      <a:r>
                        <a:rPr sz="800" b="0" i="0">
                          <a:solidFill>
                            <a:srgbClr val="0D0D0D"/>
                          </a:solidFill>
                          <a:latin typeface="Calibri"/>
                        </a:rPr>
                        <a:t>18,0</a:t>
                      </a:r>
                    </a:p>
                  </a:txBody>
                  <a:tcPr>
                    <a:solidFill>
                      <a:srgbClr val="FFFFFF"/>
                    </a:solidFill>
                  </a:tcPr>
                </a:tc>
                <a:tc>
                  <a:txBody>
                    <a:bodyPr/>
                    <a:lstStyle/>
                    <a:p>
                      <a:pPr algn="ctr"/>
                      <a:r>
                        <a:rPr sz="800" b="0" i="0">
                          <a:solidFill>
                            <a:srgbClr val="0D0D0D"/>
                          </a:solidFill>
                          <a:latin typeface="Calibri"/>
                        </a:rPr>
                        <a:t>-4,5x</a:t>
                      </a:r>
                    </a:p>
                  </a:txBody>
                  <a:tcPr>
                    <a:solidFill>
                      <a:srgbClr val="FFFFFF"/>
                    </a:solidFill>
                  </a:tcPr>
                </a:tc>
                <a:tc>
                  <a:txBody>
                    <a:bodyPr/>
                    <a:lstStyle/>
                    <a:p>
                      <a:pPr algn="ctr"/>
                      <a:r>
                        <a:rPr sz="800" b="0" i="0">
                          <a:solidFill>
                            <a:srgbClr val="0D0D0D"/>
                          </a:solidFill>
                          <a:latin typeface="Calibri"/>
                        </a:rPr>
                        <a:t>2,5x</a:t>
                      </a:r>
                    </a:p>
                  </a:txBody>
                  <a:tcPr>
                    <a:solidFill>
                      <a:srgbClr val="FFFFFF"/>
                    </a:solidFill>
                  </a:tcPr>
                </a:tc>
                <a:tc>
                  <a:txBody>
                    <a:bodyPr/>
                    <a:lstStyle/>
                    <a:p>
                      <a:pPr algn="ctr"/>
                      <a:r>
                        <a:rPr sz="800" b="0" i="0">
                          <a:solidFill>
                            <a:srgbClr val="0D0D0D"/>
                          </a:solidFill>
                          <a:latin typeface="Calibri"/>
                        </a:rPr>
                        <a:t>-8,0x</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c>
                  <a:txBody>
                    <a:bodyPr/>
                    <a:lstStyle/>
                    <a:p>
                      <a:pPr algn="ctr"/>
                      <a:r>
                        <a:rPr sz="800" b="0" i="0">
                          <a:solidFill>
                            <a:srgbClr val="0D0D0D"/>
                          </a:solidFill>
                          <a:latin typeface="Calibri"/>
                        </a:rPr>
                        <a:t>-20,0 %</a:t>
                      </a:r>
                    </a:p>
                  </a:txBody>
                  <a:tcPr>
                    <a:solidFill>
                      <a:srgbClr val="FFFFFF"/>
                    </a:solidFill>
                  </a:tcPr>
                </a:tc>
              </a:tr>
              <a:tr h="251999">
                <a:tc>
                  <a:txBody>
                    <a:bodyPr/>
                    <a:lstStyle/>
                    <a:p>
                      <a:pPr algn="l"/>
                      <a:r>
                        <a:rPr sz="800" b="0" i="0">
                          <a:solidFill>
                            <a:srgbClr val="0D0D0D"/>
                          </a:solidFill>
                          <a:latin typeface="Calibri"/>
                        </a:rPr>
                        <a:t>Lucid Group</a:t>
                      </a:r>
                    </a:p>
                  </a:txBody>
                  <a:tcPr>
                    <a:solidFill>
                      <a:srgbClr val="F7F8FA"/>
                    </a:solidFill>
                  </a:tcPr>
                </a:tc>
                <a:tc>
                  <a:txBody>
                    <a:bodyPr/>
                    <a:lstStyle/>
                    <a:p>
                      <a:pPr algn="ctr"/>
                      <a:r>
                        <a:rPr sz="750" b="0" i="0">
                          <a:solidFill>
                            <a:srgbClr val="555555"/>
                          </a:solidFill>
                          <a:latin typeface="Calibri"/>
                        </a:rPr>
                        <a:t>LCID.US</a:t>
                      </a:r>
                    </a:p>
                  </a:txBody>
                  <a:tcPr>
                    <a:solidFill>
                      <a:srgbClr val="F7F8FA"/>
                    </a:solidFill>
                  </a:tcPr>
                </a:tc>
                <a:tc>
                  <a:txBody>
                    <a:bodyPr/>
                    <a:lstStyle/>
                    <a:p>
                      <a:pPr algn="ctr"/>
                      <a:r>
                        <a:rPr sz="800" b="0" i="0">
                          <a:solidFill>
                            <a:srgbClr val="0D0D0D"/>
                          </a:solidFill>
                          <a:latin typeface="Calibri"/>
                        </a:rPr>
                        <a:t>12,0</a:t>
                      </a:r>
                    </a:p>
                  </a:txBody>
                  <a:tcPr>
                    <a:solidFill>
                      <a:srgbClr val="F7F8FA"/>
                    </a:solidFill>
                  </a:tcPr>
                </a:tc>
                <a:tc>
                  <a:txBody>
                    <a:bodyPr/>
                    <a:lstStyle/>
                    <a:p>
                      <a:pPr algn="ctr"/>
                      <a:r>
                        <a:rPr sz="800" b="0" i="0">
                          <a:solidFill>
                            <a:srgbClr val="0D0D0D"/>
                          </a:solidFill>
                          <a:latin typeface="Calibri"/>
                        </a:rPr>
                        <a:t>-10,0x</a:t>
                      </a:r>
                    </a:p>
                  </a:txBody>
                  <a:tcPr>
                    <a:solidFill>
                      <a:srgbClr val="F7F8FA"/>
                    </a:solidFill>
                  </a:tcPr>
                </a:tc>
                <a:tc>
                  <a:txBody>
                    <a:bodyPr/>
                    <a:lstStyle/>
                    <a:p>
                      <a:pPr algn="ctr"/>
                      <a:r>
                        <a:rPr sz="800" b="0" i="0">
                          <a:solidFill>
                            <a:srgbClr val="0D0D0D"/>
                          </a:solidFill>
                          <a:latin typeface="Calibri"/>
                        </a:rPr>
                        <a:t>3,2x</a:t>
                      </a:r>
                    </a:p>
                  </a:txBody>
                  <a:tcPr>
                    <a:solidFill>
                      <a:srgbClr val="F7F8FA"/>
                    </a:solidFill>
                  </a:tcPr>
                </a:tc>
                <a:tc>
                  <a:txBody>
                    <a:bodyPr/>
                    <a:lstStyle/>
                    <a:p>
                      <a:pPr algn="ctr"/>
                      <a:r>
                        <a:rPr sz="800" b="0" i="0">
                          <a:solidFill>
                            <a:srgbClr val="0D0D0D"/>
                          </a:solidFill>
                          <a:latin typeface="Calibri"/>
                        </a:rPr>
                        <a:t>-15,0x</a:t>
                      </a:r>
                    </a:p>
                  </a:txBody>
                  <a:tcPr>
                    <a:solidFill>
                      <a:srgbClr val="F7F8FA"/>
                    </a:solidFill>
                  </a:tcPr>
                </a:tc>
                <a:tc>
                  <a:txBody>
                    <a:bodyPr/>
                    <a:lstStyle/>
                    <a:p>
                      <a:pPr algn="ctr"/>
                      <a:r>
                        <a:rPr sz="800" b="0" i="0">
                          <a:solidFill>
                            <a:srgbClr val="0D0D0D"/>
                          </a:solidFill>
                          <a:latin typeface="Calibri"/>
                        </a:rPr>
                        <a:t>20,0 %</a:t>
                      </a:r>
                    </a:p>
                  </a:txBody>
                  <a:tcPr>
                    <a:solidFill>
                      <a:srgbClr val="F7F8FA"/>
                    </a:solidFill>
                  </a:tcPr>
                </a:tc>
                <a:tc>
                  <a:txBody>
                    <a:bodyPr/>
                    <a:lstStyle/>
                    <a:p>
                      <a:pPr algn="ctr"/>
                      <a:r>
                        <a:rPr sz="800" b="0" i="0">
                          <a:solidFill>
                            <a:srgbClr val="0D0D0D"/>
                          </a:solidFill>
                          <a:latin typeface="Calibri"/>
                        </a:rPr>
                        <a:t>-15,0 %</a:t>
                      </a:r>
                    </a:p>
                  </a:txBody>
                  <a:tcPr>
                    <a:solidFill>
                      <a:srgbClr val="F7F8FA"/>
                    </a:solidFill>
                  </a:tcPr>
                </a:tc>
              </a:tr>
              <a:tr h="251999">
                <a:tc>
                  <a:txBody>
                    <a:bodyPr/>
                    <a:lstStyle/>
                    <a:p>
                      <a:pPr algn="l"/>
                      <a:r>
                        <a:rPr sz="800" b="0" i="0">
                          <a:solidFill>
                            <a:srgbClr val="0D0D0D"/>
                          </a:solidFill>
                          <a:latin typeface="Calibri"/>
                        </a:rPr>
                        <a:t>XPeng Inc</a:t>
                      </a:r>
                    </a:p>
                  </a:txBody>
                  <a:tcPr>
                    <a:solidFill>
                      <a:srgbClr val="FFFFFF"/>
                    </a:solidFill>
                  </a:tcPr>
                </a:tc>
                <a:tc>
                  <a:txBody>
                    <a:bodyPr/>
                    <a:lstStyle/>
                    <a:p>
                      <a:pPr algn="ctr"/>
                      <a:r>
                        <a:rPr sz="750" b="0" i="0">
                          <a:solidFill>
                            <a:srgbClr val="555555"/>
                          </a:solidFill>
                          <a:latin typeface="Calibri"/>
                        </a:rPr>
                        <a:t>XPEV.US</a:t>
                      </a:r>
                    </a:p>
                  </a:txBody>
                  <a:tcPr>
                    <a:solidFill>
                      <a:srgbClr val="FFFFFF"/>
                    </a:solidFill>
                  </a:tcPr>
                </a:tc>
                <a:tc>
                  <a:txBody>
                    <a:bodyPr/>
                    <a:lstStyle/>
                    <a:p>
                      <a:pPr algn="ctr"/>
                      <a:r>
                        <a:rPr sz="800" b="0" i="0">
                          <a:solidFill>
                            <a:srgbClr val="0D0D0D"/>
                          </a:solidFill>
                          <a:latin typeface="Calibri"/>
                        </a:rPr>
                        <a:t>8,0</a:t>
                      </a:r>
                    </a:p>
                  </a:txBody>
                  <a:tcPr>
                    <a:solidFill>
                      <a:srgbClr val="FFFFFF"/>
                    </a:solidFill>
                  </a:tcPr>
                </a:tc>
                <a:tc>
                  <a:txBody>
                    <a:bodyPr/>
                    <a:lstStyle/>
                    <a:p>
                      <a:pPr algn="ctr"/>
                      <a:r>
                        <a:rPr sz="800" b="0" i="0">
                          <a:solidFill>
                            <a:srgbClr val="0D0D0D"/>
                          </a:solidFill>
                          <a:latin typeface="Calibri"/>
                        </a:rPr>
                        <a:t>-8,0x</a:t>
                      </a:r>
                    </a:p>
                  </a:txBody>
                  <a:tcPr>
                    <a:solidFill>
                      <a:srgbClr val="FFFFFF"/>
                    </a:solidFill>
                  </a:tcPr>
                </a:tc>
                <a:tc>
                  <a:txBody>
                    <a:bodyPr/>
                    <a:lstStyle/>
                    <a:p>
                      <a:pPr algn="ctr"/>
                      <a:r>
                        <a:rPr sz="800" b="0" i="0">
                          <a:solidFill>
                            <a:srgbClr val="0D0D0D"/>
                          </a:solidFill>
                          <a:latin typeface="Calibri"/>
                        </a:rPr>
                        <a:t>1,5x</a:t>
                      </a:r>
                    </a:p>
                  </a:txBody>
                  <a:tcPr>
                    <a:solidFill>
                      <a:srgbClr val="FFFFFF"/>
                    </a:solidFill>
                  </a:tcPr>
                </a:tc>
                <a:tc>
                  <a:txBody>
                    <a:bodyPr/>
                    <a:lstStyle/>
                    <a:p>
                      <a:pPr algn="ctr"/>
                      <a:r>
                        <a:rPr sz="800" b="0" i="0">
                          <a:solidFill>
                            <a:srgbClr val="0D0D0D"/>
                          </a:solidFill>
                          <a:latin typeface="Calibri"/>
                        </a:rPr>
                        <a:t>-10,0x</a:t>
                      </a:r>
                    </a:p>
                  </a:txBody>
                  <a:tcPr>
                    <a:solidFill>
                      <a:srgbClr val="FFFFFF"/>
                    </a:solidFill>
                  </a:tcPr>
                </a:tc>
                <a:tc>
                  <a:txBody>
                    <a:bodyPr/>
                    <a:lstStyle/>
                    <a:p>
                      <a:pPr algn="ctr"/>
                      <a:r>
                        <a:rPr sz="800" b="0" i="0">
                          <a:solidFill>
                            <a:srgbClr val="0D0D0D"/>
                          </a:solidFill>
                          <a:latin typeface="Calibri"/>
                        </a:rPr>
                        <a:t>10,0 %</a:t>
                      </a:r>
                    </a:p>
                  </a:txBody>
                  <a:tcPr>
                    <a:solidFill>
                      <a:srgbClr val="FFFFFF"/>
                    </a:solidFill>
                  </a:tcPr>
                </a:tc>
                <a:tc>
                  <a:txBody>
                    <a:bodyPr/>
                    <a:lstStyle/>
                    <a:p>
                      <a:pPr algn="ctr"/>
                      <a:r>
                        <a:rPr sz="800" b="0" i="0">
                          <a:solidFill>
                            <a:srgbClr val="0D0D0D"/>
                          </a:solidFill>
                          <a:latin typeface="Calibri"/>
                        </a:rPr>
                        <a:t>-25,0 %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-8,0x</a:t>
                      </a:r>
                    </a:p>
                  </a:txBody>
                  <a:tcPr>
                    <a:solidFill>
                      <a:srgbClr val="F7F8FA"/>
                    </a:solidFill>
                  </a:tcPr>
                </a:tc>
                <a:tc>
                  <a:txBody>
                    <a:bodyPr/>
                    <a:lstStyle/>
                    <a:p>
                      <a:pPr algn="ctr"/>
                      <a:r>
                        <a:rPr sz="800" b="1" i="0">
                          <a:solidFill>
                            <a:srgbClr val="0D0D0D"/>
                          </a:solidFill>
                          <a:latin typeface="Calibri"/>
                        </a:rPr>
                        <a:t>2,5x</a:t>
                      </a:r>
                    </a:p>
                  </a:txBody>
                  <a:tcPr>
                    <a:solidFill>
                      <a:srgbClr val="F7F8FA"/>
                    </a:solidFill>
                  </a:tcPr>
                </a:tc>
                <a:tc>
                  <a:txBody>
                    <a:bodyPr/>
                    <a:lstStyle/>
                    <a:p>
                      <a:pPr algn="ctr"/>
                      <a:r>
                        <a:rPr sz="800" b="1" i="0">
                          <a:solidFill>
                            <a:srgbClr val="0D0D0D"/>
                          </a:solidFill>
                          <a:latin typeface="Calibri"/>
                        </a:rPr>
                        <a:t>-10,0x</a:t>
                      </a:r>
                    </a:p>
                  </a:txBody>
                  <a:tcPr>
                    <a:solidFill>
                      <a:srgbClr val="F7F8FA"/>
                    </a:solidFill>
                  </a:tcPr>
                </a:tc>
                <a:tc>
                  <a:txBody>
                    <a:bodyPr/>
                    <a:lstStyle/>
                    <a:p>
                      <a:pPr algn="ctr"/>
                      <a:r>
                        <a:rPr sz="800" b="1" i="0">
                          <a:solidFill>
                            <a:srgbClr val="0D0D0D"/>
                          </a:solidFill>
                          <a:latin typeface="Calibri"/>
                        </a:rPr>
                        <a:t>15,0 %</a:t>
                      </a:r>
                    </a:p>
                  </a:txBody>
                  <a:tcPr>
                    <a:solidFill>
                      <a:srgbClr val="F7F8FA"/>
                    </a:solidFill>
                  </a:tcPr>
                </a:tc>
                <a:tc>
                  <a:txBody>
                    <a:bodyPr/>
                    <a:lstStyle/>
                    <a:p>
                      <a:pPr algn="ctr"/>
                      <a:r>
                        <a:rPr sz="800" b="1" i="0">
                          <a:solidFill>
                            <a:srgbClr val="0D0D0D"/>
                          </a:solidFill>
                          <a:latin typeface="Calibri"/>
                        </a:rPr>
                        <a:t>-15,0 %</a:t>
                      </a:r>
                    </a:p>
                  </a:txBody>
                  <a:tcPr>
                    <a:solidFill>
                      <a:srgbClr val="F7F8FA"/>
                    </a:solidFill>
                  </a:tcPr>
                </a:tc>
              </a:tr>
            </a:tbl>
          </a:graphicData>
        </a:graphic>
      </p:graphicFrame>
      <p:sp>
        <p:nvSpPr>
          <p:cNvPr id="18" name="Rectangle 17"/>
          <p:cNvSpPr/>
          <p:nvPr/>
        </p:nvSpPr>
        <p:spPr>
          <a:xfrm>
            <a:off x="367200" y="3128400"/>
            <a:ext cx="8413200" cy="12348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128400"/>
            <a:ext cx="79200" cy="123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157200"/>
            <a:ext cx="8298000" cy="1198800"/>
          </a:xfrm>
          <a:prstGeom prst="rect">
            <a:avLst/>
          </a:prstGeom>
          <a:noFill/>
        </p:spPr>
        <p:txBody>
          <a:bodyPr wrap="square">
            <a:spAutoFit/>
          </a:bodyPr>
          <a:lstStyle/>
          <a:p>
            <a:pPr algn="l"/>
            <a:r>
              <a:rPr sz="850" b="0" i="0">
                <a:solidFill>
                  <a:srgbClr val="555555"/>
                </a:solidFill>
                <a:latin typeface="Calibri"/>
              </a:rPr>
              <a:t>Tesla affiche un EV/EBITDA de 109,9x (vs médiane peers 15x) et un P/E de 342,9x (vs médiane 25x), soit une prime de 630% et 1270% respectivement. Cette prime est justifiée par sa croissance supérieure et son écosystème intégré, mais une convergence vers la médiane peers impliquerait un downside de 85%.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Rectangle 17"/>
          <p:cNvSpPr/>
          <p:nvPr/>
        </p:nvSpPr>
        <p:spPr>
          <a:xfrm>
            <a:off x="367200" y="3488400"/>
            <a:ext cx="8413200" cy="91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488400"/>
            <a:ext cx="79200" cy="91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517200"/>
            <a:ext cx="8298000" cy="878400"/>
          </a:xfrm>
          <a:prstGeom prst="rect">
            <a:avLst/>
          </a:prstGeom>
          <a:noFill/>
        </p:spPr>
        <p:txBody>
          <a:bodyPr wrap="square">
            <a:spAutoFit/>
          </a:bodyPr>
          <a:lstStyle/>
          <a:p>
            <a:pPr algn="l"/>
            <a:r>
              <a:rPr sz="850" b="0" i="0">
                <a:solidFill>
                  <a:srgbClr val="555555"/>
                </a:solidFill>
                <a:latin typeface="Calibri"/>
              </a:rPr>
              <a:t>Avec un WACC de 14,8% et un TGR de 2,5%, le prix implicite DCF est de 360 USD (vs cours 346,65 USD), suggérant une légère sous-valorisation. L'upside dépend de la réalisation des catalyseurs (Robotaxi, énergie) et de la reprise des marges.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72,9x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182,4x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342,9x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109,9x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612000"/>
          </a:xfrm>
          <a:prstGeom prst="rect">
            <a:avLst/>
          </a:prstGeom>
          <a:noFill/>
        </p:spPr>
        <p:txBody>
          <a:bodyPr wrap="square">
            <a:spAutoFit/>
          </a:bodyPr>
          <a:lstStyle/>
          <a:p>
            <a:pPr algn="l"/>
            <a:r>
              <a:rPr sz="850" b="0" i="0">
                <a:solidFill>
                  <a:srgbClr val="555555"/>
                </a:solidFill>
                <a:latin typeface="Calibri"/>
              </a:rPr>
              <a:t>Le P/E affiche une expansion multiple de 239.5x sur la période (103,4x → 342,9x), signal d’une réévaluation favorable du profil de croissance. L’EV/EBITDA diverge à 109,9x vs 72,9x historique.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0,1 %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1,4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9,0 %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540000"/>
          </a:xfrm>
          <a:prstGeom prst="rect">
            <a:avLst/>
          </a:prstGeom>
          <a:noFill/>
        </p:spPr>
        <p:txBody>
          <a:bodyPr wrap="square">
            <a:spAutoFit/>
          </a:bodyPr>
          <a:lstStyle/>
          <a:p>
            <a:pPr algn="l"/>
            <a:r>
              <a:rPr sz="850" b="0" i="0">
                <a:solidFill>
                  <a:srgbClr val="555555"/>
                </a:solidFill>
                <a:latin typeface="Calibri"/>
              </a:rPr>
              <a:t>Le FCF affiche une contraction de 7,7 Mds$ sur la période, avec un FCF yield actuel de 0,1 % — à surveiller au regard de la valorisation de marché. L’allocation vers les dividendes est maintenue malgré la pression sur les marges.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 2.1x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21.9% / 2.7x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27.2% / 3.3x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6.5%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17.3% / 2.2x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0.5% / 1.0x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 / 1.3x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 1.7x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 / 0.8x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 1.1x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5.9% / 1.3x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+5%/an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15,0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Rectangle 25"/>
          <p:cNvSpPr/>
          <p:nvPr/>
        </p:nvSpPr>
        <p:spPr>
          <a:xfrm>
            <a:off x="367200" y="4176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7200" y="4176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200" y="4204800"/>
            <a:ext cx="8298000" cy="540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12.4% (MOIC 1.8x en 5 ans) — attractivité PE jugée insuffisante. Un fonds tier-1 ciblant 20%+ d'IRR doit entrer en dessous de 8x EBITDA. La génération de FCF (1,4 Mds$)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Marges en érosion</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Les marges de Tesla s’effritent sous pression concurrentielle : la marge brute de 18% en 2025 reste inférieure à la moyenne historique de 25% en 2022, tandis que la marge nette de 4% est inférieure à celle de BYD (5,2%). La baisse des prix de 20% en 2024 aggrave la compression des revenus, avec une croissance négative de -3% confirmant un déclin structurel.</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Surévaluation extrême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Le ratio EV/EBITDA à 109,86x est 3,5 fois supérieur à celui de Ford (31,2x), reflétant une valorisation déconnectée des fondamentaux. Le P/E de 342,85x dépasse celui de 99% des constructeurs automobiles mondiaux, indiquant un risque de correction violente.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Dette structurelle</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L’indice Altman Z à 15,62, bien que élevé, masque une dette nette de 7,1 milliards de dollars en 2024, soit 1,2 fois l’EBITDA, un niveau préoccupant pour un secteur cyclique. La trésorerie opérationnelle a chuté de 40% depuis 2022, limitant la marge de manœuvre.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en 2026 réduisant la demande de VE de 20%</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Baisse des subventions gouvernementales pour les VE en Europe et Chine (-30%)</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Retards majeurs dans le déploiement du Robotaxi ou rappel massif de véhicules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28/100  Peu attractive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Faible (0.37x)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(19% 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+0,358</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56,7 %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20</a:t>
                      </a:r>
                    </a:p>
                  </a:txBody>
                  <a:tcPr>
                    <a:solidFill>
                      <a:srgbClr val="EAF4EF"/>
                    </a:solidFill>
                  </a:tcPr>
                </a:tc>
                <a:tc>
                  <a:txBody>
                    <a:bodyPr/>
                    <a:lstStyle/>
                    <a:p>
                      <a:pPr algn="ctr"/>
                      <a:r>
                        <a:rPr sz="800" b="0" i="0">
                          <a:solidFill>
                            <a:srgbClr val="0D0D0D"/>
                          </a:solidFill>
                          <a:latin typeface="Calibri"/>
                        </a:rPr>
                        <a:t>+0,567</a:t>
                      </a:r>
                    </a:p>
                  </a:txBody>
                  <a:tcPr>
                    <a:solidFill>
                      <a:srgbClr val="EAF4EF"/>
                    </a:solidFill>
                  </a:tcPr>
                </a:tc>
                <a:tc>
                  <a:txBody>
                    <a:bodyPr/>
                    <a:lstStyle/>
                    <a:p>
                      <a:pPr algn="ctr"/>
                      <a:r>
                        <a:rPr sz="800" b="0" i="0">
                          <a:solidFill>
                            <a:srgbClr val="0D0D0D"/>
                          </a:solidFill>
                          <a:latin typeface="Calibri"/>
                        </a:rPr>
                        <a:t>Lancement Robotaxi en 2026 : potentiel de 15 milliards de dollars de revenus annuels d'ici 2028 avec une marge EBITDA de 30%</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4</a:t>
                      </a:r>
                    </a:p>
                  </a:txBody>
                  <a:tcPr>
                    <a:solidFill>
                      <a:srgbClr val="FFFFFF"/>
                    </a:solidFill>
                  </a:tcPr>
                </a:tc>
                <a:tc>
                  <a:txBody>
                    <a:bodyPr/>
                    <a:lstStyle/>
                    <a:p>
                      <a:pPr algn="ctr"/>
                      <a:r>
                        <a:rPr sz="800" b="0" i="0">
                          <a:solidFill>
                            <a:srgbClr val="0D0D0D"/>
                          </a:solidFill>
                          <a:latin typeface="Calibri"/>
                        </a:rPr>
                        <a:t>+0,224</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6</a:t>
                      </a:r>
                    </a:p>
                  </a:txBody>
                  <a:tcPr>
                    <a:solidFill>
                      <a:srgbClr val="FAF0EF"/>
                    </a:solidFill>
                  </a:tcPr>
                </a:tc>
                <a:tc>
                  <a:txBody>
                    <a:bodyPr/>
                    <a:lstStyle/>
                    <a:p>
                      <a:pPr algn="ctr"/>
                      <a:r>
                        <a:rPr sz="800" b="0" i="0">
                          <a:solidFill>
                            <a:srgbClr val="0D0D0D"/>
                          </a:solidFill>
                          <a:latin typeface="Calibri"/>
                        </a:rPr>
                        <a:t>+0,209</a:t>
                      </a:r>
                    </a:p>
                  </a:txBody>
                  <a:tcPr>
                    <a:solidFill>
                      <a:srgbClr val="FAF0EF"/>
                    </a:solidFill>
                  </a:tcPr>
                </a:tc>
                <a:tc>
                  <a:txBody>
                    <a:bodyPr/>
                    <a:lstStyle/>
                    <a:p>
                      <a:pPr algn="ctr"/>
                      <a:r>
                        <a:rPr sz="800" b="0" i="0">
                          <a:solidFill>
                            <a:srgbClr val="0D0D0D"/>
                          </a:solidFill>
                          <a:latin typeface="Calibri"/>
                        </a:rPr>
                        <a:t>Concurrence chinoise : BYD et NIO captent 30% du marché premium des VE en 2025, comprimant les prix de 8%</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affiche un optimisme marqué pour Tesla cette semaine, portée par les partenariats stratégiques et les perspectives de croissance. Cependant, les risques liés aux chaînes d'approvisionnement et à la dépendance géopolitique restent une ombre persistante.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8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Tesla,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World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Rectangle 20"/>
          <p:cNvSpPr/>
          <p:nvPr/>
        </p:nvSpPr>
        <p:spPr>
          <a:xfrm>
            <a:off x="367200" y="3326400"/>
            <a:ext cx="8413200" cy="100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3326400"/>
            <a:ext cx="792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355200"/>
            <a:ext cx="8298000" cy="968400"/>
          </a:xfrm>
          <a:prstGeom prst="rect">
            <a:avLst/>
          </a:prstGeom>
          <a:noFill/>
        </p:spPr>
        <p:txBody>
          <a:bodyPr wrap="square">
            <a:spAutoFit/>
          </a:bodyPr>
          <a:lstStyle/>
          <a:p>
            <a:pPr algn="l"/>
            <a:r>
              <a:rPr sz="850" b="0" i="0">
                <a:solidFill>
                  <a:srgbClr val="555555"/>
                </a:solidFill>
                <a:latin typeface="Calibri"/>
              </a:rPr>
              <a:t>Tesla affiche des multiples élevés (EV/EBITDA 109.9x) comparés à ses pairs, reflétant une prime de croissance. La décote actuelle suggère une attente de rebond des marges et de la croissance.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USD  ·  Au 8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346,65 $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456,56 $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308,27 $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+0,1 %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stable de +0,1 %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
        <p:nvSpPr>
          <p:cNvPr id="35" name="Rectangle 34"/>
          <p:cNvSpPr/>
          <p:nvPr/>
        </p:nvSpPr>
        <p:spPr>
          <a:xfrm>
            <a:off x="367200" y="4132800"/>
            <a:ext cx="8413200" cy="687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7200" y="4132800"/>
            <a:ext cx="79200" cy="687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200" y="4161600"/>
            <a:ext cx="8298000" cy="651599"/>
          </a:xfrm>
          <a:prstGeom prst="rect">
            <a:avLst/>
          </a:prstGeom>
          <a:noFill/>
        </p:spPr>
        <p:txBody>
          <a:bodyPr wrap="square">
            <a:spAutoFit/>
          </a:bodyPr>
          <a:lstStyle/>
          <a:p>
            <a:pPr algn="l"/>
            <a:r>
              <a:rPr sz="850" b="0" i="0">
                <a:solidFill>
                  <a:srgbClr val="555555"/>
                </a:solidFill>
                <a:latin typeface="Calibri"/>
              </a:rPr>
              <a:t>Tesla affiche une résilience opérationnelle malgré un ralentissement des revenus en 2025 (-3% YoY). Les marges se contractent fortement, reflétant des pressions concurrentielles et des coûts structurels élevés.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FinSight IA  ·  Rapport 8 avril 2026</a:t>
            </a:r>
          </a:p>
        </p:txBody>
      </p:sp>
      <p:sp>
        <p:nvSpPr>
          <p:cNvPr id="17" name="Rectangle 16"/>
          <p:cNvSpPr/>
          <p:nvPr/>
        </p:nvSpPr>
        <p:spPr>
          <a:xfrm>
            <a:off x="324000" y="827999"/>
            <a:ext cx="2700000" cy="1260000"/>
          </a:xfrm>
          <a:prstGeom prst="rect">
            <a:avLst/>
          </a:prstGeom>
          <a:solidFill>
            <a:srgbClr val="FFF8E1"/>
          </a:solidFill>
          <a:ln w="25400">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B06000"/>
                </a:solidFill>
                <a:latin typeface="Calibri"/>
              </a:rPr>
              <a:t>HOLD</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55%</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8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485000" cy="19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TextBox 23"/>
          <p:cNvSpPr txBox="1"/>
          <p:nvPr/>
        </p:nvSpPr>
        <p:spPr>
          <a:xfrm>
            <a:off x="3060000" y="2196000"/>
            <a:ext cx="432000" cy="198000"/>
          </a:xfrm>
          <a:prstGeom prst="rect">
            <a:avLst/>
          </a:prstGeom>
          <a:noFill/>
        </p:spPr>
        <p:txBody>
          <a:bodyPr wrap="square">
            <a:spAutoFit/>
          </a:bodyPr>
          <a:lstStyle/>
          <a:p>
            <a:pPr algn="l"/>
            <a:r>
              <a:rPr sz="1000" b="1" i="0">
                <a:solidFill>
                  <a:srgbClr val="1B3A6B"/>
                </a:solidFill>
                <a:latin typeface="Calibri"/>
              </a:rPr>
              <a:t>55%</a:t>
            </a:r>
          </a:p>
        </p:txBody>
      </p:sp>
      <p:sp>
        <p:nvSpPr>
          <p:cNvPr id="25" name="Rectangle 24"/>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+5% vs Avocat du Diable</a:t>
            </a:r>
          </a:p>
        </p:txBody>
      </p:sp>
      <p:sp>
        <p:nvSpPr>
          <p:cNvPr id="27" name="Rectangle 26"/>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9" name="Rectangle 28"/>
          <p:cNvSpPr/>
          <p:nvPr/>
        </p:nvSpPr>
        <p:spPr>
          <a:xfrm>
            <a:off x="3311999" y="1062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Tesla bénéficie d'une avance technologique unique avec son logiciel FSD et son écosystème intégré, captant 20% du marché premium des VE en 2025</a:t>
            </a:r>
          </a:p>
        </p:txBody>
      </p:sp>
      <p:sp>
        <p:nvSpPr>
          <p:cNvPr id="31" name="Rectangle 30"/>
          <p:cNvSpPr/>
          <p:nvPr/>
        </p:nvSpPr>
        <p:spPr>
          <a:xfrm>
            <a:off x="3311999" y="1404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La marge brute devrait rebondir à 22% d'ici 2027 grâce à la montée en puissance du segment énergie et à l'optimisation des coûts de production</a:t>
            </a:r>
          </a:p>
        </p:txBody>
      </p:sp>
      <p:sp>
        <p:nvSpPr>
          <p:cNvPr id="33" name="Rectangle 32"/>
          <p:cNvSpPr/>
          <p:nvPr/>
        </p:nvSpPr>
        <p:spPr>
          <a:xfrm>
            <a:off x="3311999" y="1746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Le lancement du Robotaxi en 2026 pourrait générer 15 milliards de dollars de revenus annuels d'ici 2028.</a:t>
            </a:r>
          </a:p>
        </p:txBody>
      </p:sp>
      <p:sp>
        <p:nvSpPr>
          <p:cNvPr id="35" name="Rectangle 34"/>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7" name="TextBox 36"/>
          <p:cNvSpPr txBox="1"/>
          <p:nvPr/>
        </p:nvSpPr>
        <p:spPr>
          <a:xfrm>
            <a:off x="3401999" y="2412000"/>
            <a:ext cx="2556000" cy="234000"/>
          </a:xfrm>
          <a:prstGeom prst="rect">
            <a:avLst/>
          </a:prstGeom>
          <a:noFill/>
        </p:spPr>
        <p:txBody>
          <a:bodyPr wrap="square">
            <a:spAutoFit/>
          </a:bodyPr>
          <a:lstStyle/>
          <a:p>
            <a:pPr algn="l"/>
            <a:r>
              <a:rPr sz="700" b="0" i="0">
                <a:solidFill>
                  <a:srgbClr val="555555"/>
                </a:solidFill>
                <a:latin typeface="Calibri"/>
              </a:rPr>
              <a:t>• Lancement Robotaxi en 2026 : potentiel de 15 milliards de dollars de revenus annuels d'ici 2028</a:t>
            </a:r>
          </a:p>
        </p:txBody>
      </p:sp>
      <p:sp>
        <p:nvSpPr>
          <p:cNvPr id="38" name="TextBox 37"/>
          <p:cNvSpPr txBox="1"/>
          <p:nvPr/>
        </p:nvSpPr>
        <p:spPr>
          <a:xfrm>
            <a:off x="3401999" y="2671200"/>
            <a:ext cx="2556000" cy="234000"/>
          </a:xfrm>
          <a:prstGeom prst="rect">
            <a:avLst/>
          </a:prstGeom>
          <a:noFill/>
        </p:spPr>
        <p:txBody>
          <a:bodyPr wrap="square">
            <a:spAutoFit/>
          </a:bodyPr>
          <a:lstStyle/>
          <a:p>
            <a:pPr algn="l"/>
            <a:r>
              <a:rPr sz="700" b="0" i="0">
                <a:solidFill>
                  <a:srgbClr val="555555"/>
                </a:solidFill>
                <a:latin typeface="Calibri"/>
              </a:rPr>
              <a:t>• Expansion du segment énergie : croissance à 2 chiffres portée par les subventions IRA aux États-Unis</a:t>
            </a:r>
          </a:p>
        </p:txBody>
      </p:sp>
      <p:sp>
        <p:nvSpPr>
          <p:cNvPr id="39" name="Rectangle 38"/>
          <p:cNvSpPr/>
          <p:nvPr/>
        </p:nvSpPr>
        <p:spPr>
          <a:xfrm>
            <a:off x="6120000" y="2196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156000" y="2214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41" name="TextBox 40"/>
          <p:cNvSpPr txBox="1"/>
          <p:nvPr/>
        </p:nvSpPr>
        <p:spPr>
          <a:xfrm>
            <a:off x="6156000" y="2412000"/>
            <a:ext cx="2376000" cy="234000"/>
          </a:xfrm>
          <a:prstGeom prst="rect">
            <a:avLst/>
          </a:prstGeom>
          <a:noFill/>
        </p:spPr>
        <p:txBody>
          <a:bodyPr wrap="square">
            <a:spAutoFit/>
          </a:bodyPr>
          <a:lstStyle/>
          <a:p>
            <a:pPr algn="l"/>
            <a:r>
              <a:rPr sz="700" b="0" i="0">
                <a:solidFill>
                  <a:srgbClr val="555555"/>
                </a:solidFill>
                <a:latin typeface="Calibri"/>
              </a:rPr>
              <a:t>• Concurrence chinoise : BYD et NIO captent 30% du marché premium des VE en 2025, comprimant les prix</a:t>
            </a:r>
          </a:p>
        </p:txBody>
      </p:sp>
      <p:sp>
        <p:nvSpPr>
          <p:cNvPr id="42" name="TextBox 41"/>
          <p:cNvSpPr txBox="1"/>
          <p:nvPr/>
        </p:nvSpPr>
        <p:spPr>
          <a:xfrm>
            <a:off x="6156000" y="2671200"/>
            <a:ext cx="2376000" cy="234000"/>
          </a:xfrm>
          <a:prstGeom prst="rect">
            <a:avLst/>
          </a:prstGeom>
          <a:noFill/>
        </p:spPr>
        <p:txBody>
          <a:bodyPr wrap="square">
            <a:spAutoFit/>
          </a:bodyPr>
          <a:lstStyle/>
          <a:p>
            <a:pPr algn="l"/>
            <a:r>
              <a:rPr sz="700" b="0" i="0">
                <a:solidFill>
                  <a:srgbClr val="555555"/>
                </a:solidFill>
                <a:latin typeface="Calibri"/>
              </a:rPr>
              <a:t>• Régulation européenne : normes CO2 plus strictes en 2026 pourraient coûter 1 milliard de dollars en</a:t>
            </a:r>
          </a:p>
        </p:txBody>
      </p:sp>
      <p:sp>
        <p:nvSpPr>
          <p:cNvPr id="43" name="Rectangle 42"/>
          <p:cNvSpPr/>
          <p:nvPr/>
        </p:nvSpPr>
        <p:spPr>
          <a:xfrm>
            <a:off x="3311999" y="3074400"/>
            <a:ext cx="5472000" cy="2160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311999" y="3074400"/>
            <a:ext cx="36000" cy="21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401999" y="3088800"/>
            <a:ext cx="5346000" cy="198000"/>
          </a:xfrm>
          <a:prstGeom prst="rect">
            <a:avLst/>
          </a:prstGeom>
          <a:noFill/>
        </p:spPr>
        <p:txBody>
          <a:bodyPr wrap="square">
            <a:spAutoFit/>
          </a:bodyPr>
          <a:lstStyle/>
          <a:p>
            <a:pPr algn="l"/>
            <a:r>
              <a:rPr sz="750" b="0" i="0">
                <a:solidFill>
                  <a:srgbClr val="7A5000"/>
                </a:solidFill>
                <a:latin typeface="Calibri"/>
              </a:rPr>
              <a:t>⚠ Conditions d’invalidation : Macro: Récession mondiale en 2026 réduisant la demande de VE de 20%  ·  Sectoriel: Baisse des subventions gouvernementales pour les VE en Europe et Chine</a:t>
            </a:r>
          </a:p>
        </p:txBody>
      </p:sp>
      <p:sp>
        <p:nvSpPr>
          <p:cNvPr id="46" name="TextBox 45"/>
          <p:cNvSpPr txBox="1"/>
          <p:nvPr/>
        </p:nvSpPr>
        <p:spPr>
          <a:xfrm>
            <a:off x="324000" y="4752000"/>
            <a:ext cx="8496000" cy="162000"/>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