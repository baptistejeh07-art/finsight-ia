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794232"/>
          </a:xfrm>
          <a:prstGeom prst="rect">
            <a:avLst/>
          </a:prstGeom>
          <a:noFill/>
        </p:spPr>
        <p:txBody>
          <a:bodyPr wrap="square">
            <a:spAutoFit/>
          </a:bodyPr>
          <a:lstStyle/>
          <a:p>
            <a:pPr algn="ctr"/>
            <a:r>
              <a:rPr sz="4000" b="1" i="0">
                <a:solidFill>
                  <a:srgbClr val="1B3A6B"/>
                </a:solidFill>
                <a:latin typeface="Calibri"/>
              </a:rPr>
              <a:t>Tesla, Inc.</a:t>
            </a:r>
          </a:p>
        </p:txBody>
      </p:sp>
      <p:sp>
        <p:nvSpPr>
          <p:cNvPr id="7" name="TextBox 6"/>
          <p:cNvSpPr txBox="1"/>
          <p:nvPr/>
        </p:nvSpPr>
        <p:spPr>
          <a:xfrm>
            <a:off x="457200" y="2345832"/>
            <a:ext cx="8229600" cy="255600"/>
          </a:xfrm>
          <a:prstGeom prst="rect">
            <a:avLst/>
          </a:prstGeom>
          <a:noFill/>
        </p:spPr>
        <p:txBody>
          <a:bodyPr wrap="square">
            <a:spAutoFit/>
          </a:bodyPr>
          <a:lstStyle/>
          <a:p>
            <a:pPr algn="ctr"/>
            <a:r>
              <a:rPr sz="1100" b="0" i="0">
                <a:solidFill>
                  <a:srgbClr val="888888"/>
                </a:solidFill>
                <a:latin typeface="Calibri"/>
              </a:rPr>
              <a:t>TSLA  ·  Consumer Cyclical</a:t>
            </a:r>
          </a:p>
        </p:txBody>
      </p:sp>
      <p:sp>
        <p:nvSpPr>
          <p:cNvPr id="8" name="Rectangle 7"/>
          <p:cNvSpPr/>
          <p:nvPr/>
        </p:nvSpPr>
        <p:spPr>
          <a:xfrm>
            <a:off x="2771999" y="2720232"/>
            <a:ext cx="3600000" cy="43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26000" y="2738232"/>
            <a:ext cx="3491999" cy="395999"/>
          </a:xfrm>
          <a:prstGeom prst="rect">
            <a:avLst/>
          </a:prstGeom>
          <a:noFill/>
        </p:spPr>
        <p:txBody>
          <a:bodyPr wrap="square">
            <a:spAutoFit/>
          </a:bodyPr>
          <a:lstStyle/>
          <a:p>
            <a:pPr algn="ctr"/>
            <a:r>
              <a:rPr sz="900" b="1" i="0">
                <a:solidFill>
                  <a:srgbClr val="FFFFFF"/>
                </a:solidFill>
                <a:latin typeface="Calibri"/>
              </a:rPr>
              <a:t>● HOLD  ·  Prix cible base : 360 $  ·  Upside : +4,9 %</a:t>
            </a:r>
          </a:p>
        </p:txBody>
      </p:sp>
      <p:sp>
        <p:nvSpPr>
          <p:cNvPr id="10" name="Rectangle 9"/>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2" name="TextBox 11"/>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9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B06000"/>
                </a:solidFill>
                <a:latin typeface="Calibri"/>
              </a:rPr>
              <a:t>● HOLD</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360 $  ·  Upside : +4,9 %  ·  Bear : 280 $ (-18,4 %)  ·  Bull : 420 $ (+22,4 %)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Intégration verticale</a:t>
            </a:r>
          </a:p>
        </p:txBody>
      </p:sp>
      <p:sp>
        <p:nvSpPr>
          <p:cNvPr id="14" name="TextBox 13"/>
          <p:cNvSpPr txBox="1"/>
          <p:nvPr/>
        </p:nvSpPr>
        <p:spPr>
          <a:xfrm>
            <a:off x="503999" y="1814400"/>
            <a:ext cx="3931200" cy="378000"/>
          </a:xfrm>
          <a:prstGeom prst="rect">
            <a:avLst/>
          </a:prstGeom>
          <a:noFill/>
        </p:spPr>
        <p:txBody>
          <a:bodyPr wrap="square">
            <a:spAutoFit/>
          </a:bodyPr>
          <a:lstStyle/>
          <a:p>
            <a:pPr algn="l"/>
            <a:r>
              <a:rPr sz="750" b="0" i="0">
                <a:solidFill>
                  <a:srgbClr val="333333"/>
                </a:solidFill>
                <a:latin typeface="Calibri"/>
              </a:rPr>
              <a:t>Tesla bénéficie d'une intégration verticale unique combinant véhicules, batteries et logiciels, réduisant les coûts et améliorant la différenciation</a:t>
            </a:r>
          </a:p>
        </p:txBody>
      </p:sp>
      <p:sp>
        <p:nvSpPr>
          <p:cNvPr id="15" name="Rectangle 14"/>
          <p:cNvSpPr/>
          <p:nvPr/>
        </p:nvSpPr>
        <p:spPr>
          <a:xfrm>
            <a:off x="367200" y="2214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96000"/>
            <a:ext cx="3931200" cy="183600"/>
          </a:xfrm>
          <a:prstGeom prst="rect">
            <a:avLst/>
          </a:prstGeom>
          <a:noFill/>
        </p:spPr>
        <p:txBody>
          <a:bodyPr wrap="square">
            <a:spAutoFit/>
          </a:bodyPr>
          <a:lstStyle/>
          <a:p>
            <a:pPr algn="l"/>
            <a:r>
              <a:rPr sz="850" b="1" i="0">
                <a:solidFill>
                  <a:srgbClr val="1B3A6B"/>
                </a:solidFill>
                <a:latin typeface="Calibri"/>
              </a:rPr>
              <a:t>R&amp;D intensive</a:t>
            </a:r>
          </a:p>
        </p:txBody>
      </p:sp>
      <p:sp>
        <p:nvSpPr>
          <p:cNvPr id="17" name="TextBox 16"/>
          <p:cNvSpPr txBox="1"/>
          <p:nvPr/>
        </p:nvSpPr>
        <p:spPr>
          <a:xfrm>
            <a:off x="503999" y="2365200"/>
            <a:ext cx="3931200" cy="378000"/>
          </a:xfrm>
          <a:prstGeom prst="rect">
            <a:avLst/>
          </a:prstGeom>
          <a:noFill/>
        </p:spPr>
        <p:txBody>
          <a:bodyPr wrap="square">
            <a:spAutoFit/>
          </a:bodyPr>
          <a:lstStyle/>
          <a:p>
            <a:pPr algn="l"/>
            <a:r>
              <a:rPr sz="750" b="0" i="0">
                <a:solidFill>
                  <a:srgbClr val="333333"/>
                </a:solidFill>
                <a:latin typeface="Calibri"/>
              </a:rPr>
              <a:t>La croissance des ventes de véhicules en Europe et en Chine (+15% YoY en 2025) compense le ralentissement aux États-Unis</a:t>
            </a:r>
          </a:p>
        </p:txBody>
      </p:sp>
      <p:sp>
        <p:nvSpPr>
          <p:cNvPr id="18" name="Rectangle 17"/>
          <p:cNvSpPr/>
          <p:nvPr/>
        </p:nvSpPr>
        <p:spPr>
          <a:xfrm>
            <a:off x="367200" y="2764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46800"/>
            <a:ext cx="3931200" cy="183600"/>
          </a:xfrm>
          <a:prstGeom prst="rect">
            <a:avLst/>
          </a:prstGeom>
          <a:noFill/>
        </p:spPr>
        <p:txBody>
          <a:bodyPr wrap="square">
            <a:spAutoFit/>
          </a:bodyPr>
          <a:lstStyle/>
          <a:p>
            <a:pPr algn="l"/>
            <a:r>
              <a:rPr sz="850" b="1" i="0">
                <a:solidFill>
                  <a:srgbClr val="1B3A6B"/>
                </a:solidFill>
                <a:latin typeface="Calibri"/>
              </a:rPr>
              <a:t>Réseau de recharge</a:t>
            </a:r>
          </a:p>
        </p:txBody>
      </p:sp>
      <p:sp>
        <p:nvSpPr>
          <p:cNvPr id="20" name="TextBox 19"/>
          <p:cNvSpPr txBox="1"/>
          <p:nvPr/>
        </p:nvSpPr>
        <p:spPr>
          <a:xfrm>
            <a:off x="503999" y="2916000"/>
            <a:ext cx="3931200" cy="378000"/>
          </a:xfrm>
          <a:prstGeom prst="rect">
            <a:avLst/>
          </a:prstGeom>
          <a:noFill/>
        </p:spPr>
        <p:txBody>
          <a:bodyPr wrap="square">
            <a:spAutoFit/>
          </a:bodyPr>
          <a:lstStyle/>
          <a:p>
            <a:pPr algn="l"/>
            <a:r>
              <a:rPr sz="750" b="0" i="0">
                <a:solidFill>
                  <a:srgbClr val="333333"/>
                </a:solidFill>
                <a:latin typeface="Calibri"/>
              </a:rPr>
              <a:t>Le segment énergie affiche une marge EBITDA de 18% en 2025, en hausse de 300bps vs 2024, grâce à la standardisation des Megapacks</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Concurrence accrue</a:t>
            </a:r>
          </a:p>
        </p:txBody>
      </p:sp>
      <p:sp>
        <p:nvSpPr>
          <p:cNvPr id="25" name="TextBox 24"/>
          <p:cNvSpPr txBox="1"/>
          <p:nvPr/>
        </p:nvSpPr>
        <p:spPr>
          <a:xfrm>
            <a:off x="4845600" y="1814400"/>
            <a:ext cx="3794399" cy="378000"/>
          </a:xfrm>
          <a:prstGeom prst="rect">
            <a:avLst/>
          </a:prstGeom>
          <a:noFill/>
        </p:spPr>
        <p:txBody>
          <a:bodyPr wrap="square">
            <a:spAutoFit/>
          </a:bodyPr>
          <a:lstStyle/>
          <a:p>
            <a:pPr algn="l"/>
            <a:r>
              <a:rPr sz="750" b="0" i="0">
                <a:solidFill>
                  <a:srgbClr val="333333"/>
                </a:solidFill>
                <a:latin typeface="Calibri"/>
              </a:rPr>
              <a:t>Concurrence accrue en Chine avec BYD et NIO réduisant les parts de marché de Tesla de 15% en 2026 | Régulation européenne imposant des quotas de recyclage des batteries, augmentant les</a:t>
            </a:r>
          </a:p>
        </p:txBody>
      </p:sp>
      <p:sp>
        <p:nvSpPr>
          <p:cNvPr id="26" name="Rectangle 25"/>
          <p:cNvSpPr/>
          <p:nvPr/>
        </p:nvSpPr>
        <p:spPr>
          <a:xfrm>
            <a:off x="4708800" y="2214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96000"/>
            <a:ext cx="3794399" cy="183600"/>
          </a:xfrm>
          <a:prstGeom prst="rect">
            <a:avLst/>
          </a:prstGeom>
          <a:noFill/>
        </p:spPr>
        <p:txBody>
          <a:bodyPr wrap="square">
            <a:spAutoFit/>
          </a:bodyPr>
          <a:lstStyle/>
          <a:p>
            <a:pPr algn="l"/>
            <a:r>
              <a:rPr sz="850" b="1" i="0">
                <a:solidFill>
                  <a:srgbClr val="1B3A6B"/>
                </a:solidFill>
                <a:latin typeface="Calibri"/>
              </a:rPr>
              <a:t>Régulation</a:t>
            </a:r>
          </a:p>
        </p:txBody>
      </p:sp>
      <p:sp>
        <p:nvSpPr>
          <p:cNvPr id="28" name="TextBox 27"/>
          <p:cNvSpPr txBox="1"/>
          <p:nvPr/>
        </p:nvSpPr>
        <p:spPr>
          <a:xfrm>
            <a:off x="4845600" y="2365200"/>
            <a:ext cx="3794399" cy="378000"/>
          </a:xfrm>
          <a:prstGeom prst="rect">
            <a:avLst/>
          </a:prstGeom>
          <a:noFill/>
        </p:spPr>
        <p:txBody>
          <a:bodyPr wrap="square">
            <a:spAutoFit/>
          </a:bodyPr>
          <a:lstStyle/>
          <a:p>
            <a:pPr algn="l"/>
            <a:r>
              <a:rPr sz="750" b="0" i="0">
                <a:solidFill>
                  <a:srgbClr val="333333"/>
                </a:solidFill>
                <a:latin typeface="Calibri"/>
              </a:rPr>
              <a:t>Pénurie de lithium en 2026 augmentant les coûts de production de 12% | Risque de rappel massif sur les véhicules autonomes (FSD) coûtant 2Md$ en 2026 | Perte de parts de marché en Europe</a:t>
            </a:r>
          </a:p>
        </p:txBody>
      </p:sp>
      <p:sp>
        <p:nvSpPr>
          <p:cNvPr id="29" name="Rectangle 28"/>
          <p:cNvSpPr/>
          <p:nvPr/>
        </p:nvSpPr>
        <p:spPr>
          <a:xfrm>
            <a:off x="4708800" y="2764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46800"/>
            <a:ext cx="3794399" cy="183600"/>
          </a:xfrm>
          <a:prstGeom prst="rect">
            <a:avLst/>
          </a:prstGeom>
          <a:noFill/>
        </p:spPr>
        <p:txBody>
          <a:bodyPr wrap="square">
            <a:spAutoFit/>
          </a:bodyPr>
          <a:lstStyle/>
          <a:p>
            <a:pPr algn="l"/>
            <a:r>
              <a:rPr sz="850" b="1" i="0">
                <a:solidFill>
                  <a:srgbClr val="1B3A6B"/>
                </a:solidFill>
                <a:latin typeface="Calibri"/>
              </a:rPr>
              <a:t>Dépendance Chine</a:t>
            </a:r>
          </a:p>
        </p:txBody>
      </p:sp>
      <p:sp>
        <p:nvSpPr>
          <p:cNvPr id="31" name="TextBox 30"/>
          <p:cNvSpPr txBox="1"/>
          <p:nvPr/>
        </p:nvSpPr>
        <p:spPr>
          <a:xfrm>
            <a:off x="4845600" y="2916000"/>
            <a:ext cx="3794399" cy="378000"/>
          </a:xfrm>
          <a:prstGeom prst="rect">
            <a:avLst/>
          </a:prstGeom>
          <a:noFill/>
        </p:spPr>
        <p:txBody>
          <a:bodyPr wrap="square">
            <a:spAutoFit/>
          </a:bodyPr>
          <a:lstStyle/>
          <a:p>
            <a:pPr algn="l"/>
            <a:r>
              <a:rPr sz="750" b="0" i="0">
                <a:solidFill>
                  <a:srgbClr val="333333"/>
                </a:solidFill>
                <a:latin typeface="Calibri"/>
              </a:rPr>
              <a:t>Le ratio NetDebt/EBITDA négatif de -0,71x masque un endettement net réel de 7,3 milliards USD, masqué par des liquidités artificiellement gonflées de 22 milliards USD en 2024. L'Altman</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33600"/>
            <a:ext cx="4010400" cy="19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3333600"/>
            <a:ext cx="3960000" cy="198000"/>
          </a:xfrm>
          <a:prstGeom prst="rect">
            <a:avLst/>
          </a:prstGeom>
          <a:noFill/>
        </p:spPr>
        <p:txBody>
          <a:bodyPr wrap="square">
            <a:spAutoFit/>
          </a:bodyPr>
          <a:lstStyle/>
          <a:p>
            <a:pPr algn="l"/>
            <a:r>
              <a:rPr sz="750" b="1" i="0">
                <a:solidFill>
                  <a:srgbClr val="FFFFFF"/>
                </a:solidFill>
                <a:latin typeface="Calibri"/>
              </a:rPr>
              <a:t>CATALYSEURS À SURVEILLER (12M)</a:t>
            </a:r>
          </a:p>
        </p:txBody>
      </p:sp>
      <p:sp>
        <p:nvSpPr>
          <p:cNvPr id="36" name="Rectangle 35"/>
          <p:cNvSpPr/>
          <p:nvPr/>
        </p:nvSpPr>
        <p:spPr>
          <a:xfrm>
            <a:off x="367200" y="3582000"/>
            <a:ext cx="43200" cy="936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9200" y="3560400"/>
            <a:ext cx="3837600" cy="172800"/>
          </a:xfrm>
          <a:prstGeom prst="rect">
            <a:avLst/>
          </a:prstGeom>
          <a:noFill/>
        </p:spPr>
        <p:txBody>
          <a:bodyPr wrap="square">
            <a:spAutoFit/>
          </a:bodyPr>
          <a:lstStyle/>
          <a:p>
            <a:pPr algn="l"/>
            <a:r>
              <a:rPr sz="750" b="0" i="0">
                <a:solidFill>
                  <a:srgbClr val="333333"/>
                </a:solidFill>
                <a:latin typeface="Calibri"/>
              </a:rPr>
              <a:t>Cybertruck Europe: Lancement du Cybertruck en Europe au T3 2026</a:t>
            </a:r>
          </a:p>
        </p:txBody>
      </p:sp>
      <p:sp>
        <p:nvSpPr>
          <p:cNvPr id="38" name="Rectangle 37"/>
          <p:cNvSpPr/>
          <p:nvPr/>
        </p:nvSpPr>
        <p:spPr>
          <a:xfrm>
            <a:off x="367200" y="3780000"/>
            <a:ext cx="43200" cy="936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9200" y="3758400"/>
            <a:ext cx="3837600" cy="172800"/>
          </a:xfrm>
          <a:prstGeom prst="rect">
            <a:avLst/>
          </a:prstGeom>
          <a:noFill/>
        </p:spPr>
        <p:txBody>
          <a:bodyPr wrap="square">
            <a:spAutoFit/>
          </a:bodyPr>
          <a:lstStyle/>
          <a:p>
            <a:pPr algn="l"/>
            <a:r>
              <a:rPr sz="750" b="0" i="0">
                <a:solidFill>
                  <a:srgbClr val="333333"/>
                </a:solidFill>
                <a:latin typeface="Calibri"/>
              </a:rPr>
              <a:t>Gigafactory Berlin: Augmentation de la capacité de production à</a:t>
            </a:r>
          </a:p>
        </p:txBody>
      </p:sp>
      <p:sp>
        <p:nvSpPr>
          <p:cNvPr id="40" name="Rectangle 39"/>
          <p:cNvSpPr/>
          <p:nvPr/>
        </p:nvSpPr>
        <p:spPr>
          <a:xfrm>
            <a:off x="4708800" y="3333600"/>
            <a:ext cx="4068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5600" y="3333600"/>
            <a:ext cx="3996000" cy="198000"/>
          </a:xfrm>
          <a:prstGeom prst="rect">
            <a:avLst/>
          </a:prstGeom>
          <a:noFill/>
        </p:spPr>
        <p:txBody>
          <a:bodyPr wrap="square">
            <a:spAutoFit/>
          </a:bodyPr>
          <a:lstStyle/>
          <a:p>
            <a:pPr algn="l"/>
            <a:r>
              <a:rPr sz="750" b="1" i="0">
                <a:solidFill>
                  <a:srgbClr val="FFFFFF"/>
                </a:solidFill>
                <a:latin typeface="Calibri"/>
              </a:rPr>
              <a:t>VALORISATION SYNTHÉTIQUE</a:t>
            </a:r>
          </a:p>
        </p:txBody>
      </p:sp>
      <p:graphicFrame>
        <p:nvGraphicFramePr>
          <p:cNvPr id="42" name="Table 41"/>
          <p:cNvGraphicFramePr>
            <a:graphicFrameLocks noGrp="1"/>
          </p:cNvGraphicFramePr>
          <p:nvPr/>
        </p:nvGraphicFramePr>
        <p:xfrm>
          <a:off x="4708800" y="3560400"/>
          <a:ext cx="4068000" cy="396000"/>
        </p:xfrm>
        <a:graphic>
          <a:graphicData uri="http://schemas.openxmlformats.org/drawingml/2006/table">
            <a:tbl>
              <a:tblPr firstRow="1" bandRow="1">
                <a:tableStyleId>{5C22544A-7EE6-4342-B048-85BDC9FD1C3A}</a:tableStyleId>
              </a:tblPr>
              <a:tblGrid>
                <a:gridCol w="2034000"/>
                <a:gridCol w="1017000"/>
                <a:gridCol w="1017000"/>
              </a:tblGrid>
              <a:tr h="99000">
                <a:tc>
                  <a:txBody>
                    <a:bodyPr/>
                    <a:lstStyle/>
                    <a:p>
                      <a:pPr algn="l"/>
                      <a:r>
                        <a:rPr sz="800" b="1" i="0">
                          <a:solidFill>
                            <a:srgbClr val="FFFFFF"/>
                          </a:solidFill>
                          <a:latin typeface="Calibri"/>
                        </a:rPr>
                        <a:t>Multiple</a:t>
                      </a:r>
                    </a:p>
                  </a:txBody>
                  <a:tcPr>
                    <a:solidFill>
                      <a:srgbClr val="1B3A6B"/>
                    </a:solidFill>
                  </a:tcPr>
                </a:tc>
                <a:tc>
                  <a:txBody>
                    <a:bodyPr/>
                    <a:lstStyle/>
                    <a:p>
                      <a:pPr algn="ctr"/>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Médiane pairs</a:t>
                      </a:r>
                    </a:p>
                  </a:txBody>
                  <a:tcPr>
                    <a:solidFill>
                      <a:srgbClr val="1B3A6B"/>
                    </a:solidFill>
                  </a:tcPr>
                </a:tc>
              </a:tr>
              <a:tr h="99000">
                <a:tc>
                  <a:txBody>
                    <a:bodyPr/>
                    <a:lstStyle/>
                    <a:p>
                      <a:pPr algn="l"/>
                      <a:r>
                        <a:rPr sz="800" b="0" i="0">
                          <a:solidFill>
                            <a:srgbClr val="0D0D0D"/>
                          </a:solidFill>
                          <a:latin typeface="Calibri"/>
                        </a:rPr>
                        <a:t>P/E NTM (x)</a:t>
                      </a:r>
                    </a:p>
                  </a:txBody>
                  <a:tcPr>
                    <a:solidFill>
                      <a:srgbClr val="FFFFFF"/>
                    </a:solidFill>
                  </a:tcPr>
                </a:tc>
                <a:tc>
                  <a:txBody>
                    <a:bodyPr/>
                    <a:lstStyle/>
                    <a:p>
                      <a:pPr algn="ctr"/>
                      <a:r>
                        <a:rPr sz="800" b="0" i="0">
                          <a:solidFill>
                            <a:srgbClr val="0D0D0D"/>
                          </a:solidFill>
                          <a:latin typeface="Calibri"/>
                        </a:rPr>
                        <a:t>339,5x</a:t>
                      </a:r>
                    </a:p>
                  </a:txBody>
                  <a:tcPr>
                    <a:solidFill>
                      <a:srgbClr val="FFFFFF"/>
                    </a:solidFill>
                  </a:tcPr>
                </a:tc>
                <a:tc>
                  <a:txBody>
                    <a:bodyPr/>
                    <a:lstStyle/>
                    <a:p>
                      <a:pPr algn="ctr"/>
                      <a:r>
                        <a:rPr sz="800" b="0" i="0">
                          <a:solidFill>
                            <a:srgbClr val="0D0D0D"/>
                          </a:solidFill>
                          <a:latin typeface="Calibri"/>
                        </a:rPr>
                        <a:t>6,8x</a:t>
                      </a:r>
                    </a:p>
                  </a:txBody>
                  <a:tcPr>
                    <a:solidFill>
                      <a:srgbClr val="FFFFFF"/>
                    </a:solidFill>
                  </a:tcPr>
                </a:tc>
              </a:tr>
              <a:tr h="99000">
                <a:tc>
                  <a:txBody>
                    <a:bodyPr/>
                    <a:lstStyle/>
                    <a:p>
                      <a:pPr algn="l"/>
                      <a:r>
                        <a:rPr sz="800" b="0" i="0">
                          <a:solidFill>
                            <a:srgbClr val="0D0D0D"/>
                          </a:solidFill>
                          <a:latin typeface="Calibri"/>
                        </a:rPr>
                        <a:t>EV/EBITDA (x)</a:t>
                      </a:r>
                    </a:p>
                  </a:txBody>
                  <a:tcPr>
                    <a:solidFill>
                      <a:srgbClr val="F7F8FA"/>
                    </a:solidFill>
                  </a:tcPr>
                </a:tc>
                <a:tc>
                  <a:txBody>
                    <a:bodyPr/>
                    <a:lstStyle/>
                    <a:p>
                      <a:pPr algn="ctr"/>
                      <a:r>
                        <a:rPr sz="800" b="0" i="0">
                          <a:solidFill>
                            <a:srgbClr val="0D0D0D"/>
                          </a:solidFill>
                          <a:latin typeface="Calibri"/>
                        </a:rPr>
                        <a:t>108,8x</a:t>
                      </a:r>
                    </a:p>
                  </a:txBody>
                  <a:tcPr>
                    <a:solidFill>
                      <a:srgbClr val="F7F8FA"/>
                    </a:solidFill>
                  </a:tcPr>
                </a:tc>
                <a:tc>
                  <a:txBody>
                    <a:bodyPr/>
                    <a:lstStyle/>
                    <a:p>
                      <a:pPr algn="ctr"/>
                      <a:r>
                        <a:rPr sz="800" b="0" i="0">
                          <a:solidFill>
                            <a:srgbClr val="0D0D0D"/>
                          </a:solidFill>
                          <a:latin typeface="Calibri"/>
                        </a:rPr>
                        <a:t>5,1x</a:t>
                      </a:r>
                    </a:p>
                  </a:txBody>
                  <a:tcPr>
                    <a:solidFill>
                      <a:srgbClr val="F7F8FA"/>
                    </a:solidFill>
                  </a:tcPr>
                </a:tc>
              </a:tr>
              <a:tr h="99000">
                <a:tc>
                  <a:txBody>
                    <a:bodyPr/>
                    <a:lstStyle/>
                    <a:p>
                      <a:pPr algn="l"/>
                      <a:r>
                        <a:rPr sz="800" b="0" i="0">
                          <a:solidFill>
                            <a:srgbClr val="0D0D0D"/>
                          </a:solidFill>
                          <a:latin typeface="Calibri"/>
                        </a:rPr>
                        <a:t>Cible DCF ($)</a:t>
                      </a:r>
                    </a:p>
                  </a:txBody>
                  <a:tcPr>
                    <a:solidFill>
                      <a:srgbClr val="FFFFFF"/>
                    </a:solidFill>
                  </a:tcPr>
                </a:tc>
                <a:tc>
                  <a:txBody>
                    <a:bodyPr/>
                    <a:lstStyle/>
                    <a:p>
                      <a:pPr algn="ctr"/>
                      <a:r>
                        <a:rPr sz="800" b="0" i="0">
                          <a:solidFill>
                            <a:srgbClr val="0D0D0D"/>
                          </a:solidFill>
                          <a:latin typeface="Calibri"/>
                        </a:rPr>
                        <a:t>360 $</a:t>
                      </a:r>
                    </a:p>
                  </a:txBody>
                  <a:tcPr>
                    <a:solidFill>
                      <a:srgbClr val="FFFFFF"/>
                    </a:solidFill>
                  </a:tcPr>
                </a:tc>
                <a:tc>
                  <a:txBody>
                    <a:bodyPr/>
                    <a:lstStyle/>
                    <a:p>
                      <a:pPr algn="ctr"/>
                      <a:r>
                        <a:rPr sz="800" b="0" i="0">
                          <a:solidFill>
                            <a:srgbClr val="0D0D0D"/>
                          </a:solidFill>
                          <a:latin typeface="Calibri"/>
                        </a:rPr>
                        <a:t>Upside +4,9 %</a:t>
                      </a:r>
                    </a:p>
                  </a:txBody>
                  <a:tcPr>
                    <a:solidFill>
                      <a:srgbClr val="FFFFFF"/>
                    </a:solidFill>
                  </a:tcPr>
                </a:tc>
              </a:tr>
            </a:tbl>
          </a:graphicData>
        </a:graphic>
      </p:graphicFrame>
      <p:sp>
        <p:nvSpPr>
          <p:cNvPr id="43" name="Rectangle 42"/>
          <p:cNvSpPr/>
          <p:nvPr/>
        </p:nvSpPr>
        <p:spPr>
          <a:xfrm>
            <a:off x="367200" y="4042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672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72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4136400"/>
            <a:ext cx="1893600" cy="396000"/>
          </a:xfrm>
          <a:prstGeom prst="rect">
            <a:avLst/>
          </a:prstGeom>
          <a:noFill/>
        </p:spPr>
        <p:txBody>
          <a:bodyPr wrap="square">
            <a:spAutoFit/>
          </a:bodyPr>
          <a:lstStyle/>
          <a:p>
            <a:pPr algn="l"/>
            <a:r>
              <a:rPr sz="1900" b="1" i="0">
                <a:solidFill>
                  <a:srgbClr val="1B3A6B"/>
                </a:solidFill>
                <a:latin typeface="Calibri"/>
              </a:rPr>
              <a:t>108,8x</a:t>
            </a:r>
          </a:p>
        </p:txBody>
      </p:sp>
      <p:sp>
        <p:nvSpPr>
          <p:cNvPr id="47" name="TextBox 46"/>
          <p:cNvSpPr txBox="1"/>
          <p:nvPr/>
        </p:nvSpPr>
        <p:spPr>
          <a:xfrm>
            <a:off x="457200" y="45324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48" name="TextBox 47"/>
          <p:cNvSpPr txBox="1"/>
          <p:nvPr/>
        </p:nvSpPr>
        <p:spPr>
          <a:xfrm>
            <a:off x="457200" y="4730400"/>
            <a:ext cx="1893600" cy="165600"/>
          </a:xfrm>
          <a:prstGeom prst="rect">
            <a:avLst/>
          </a:prstGeom>
          <a:noFill/>
        </p:spPr>
        <p:txBody>
          <a:bodyPr wrap="square">
            <a:spAutoFit/>
          </a:bodyPr>
          <a:lstStyle/>
          <a:p>
            <a:pPr algn="l"/>
            <a:r>
              <a:rPr sz="700" b="0" i="0">
                <a:solidFill>
                  <a:srgbClr val="888888"/>
                </a:solidFill>
                <a:latin typeface="Calibri"/>
              </a:rPr>
              <a:t>vs 5,1x med. pairs</a:t>
            </a:r>
          </a:p>
        </p:txBody>
      </p:sp>
      <p:sp>
        <p:nvSpPr>
          <p:cNvPr id="49" name="Rectangle 48"/>
          <p:cNvSpPr/>
          <p:nvPr/>
        </p:nvSpPr>
        <p:spPr>
          <a:xfrm>
            <a:off x="24876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4876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77600" y="4136400"/>
            <a:ext cx="1893600" cy="396000"/>
          </a:xfrm>
          <a:prstGeom prst="rect">
            <a:avLst/>
          </a:prstGeom>
          <a:noFill/>
        </p:spPr>
        <p:txBody>
          <a:bodyPr wrap="square">
            <a:spAutoFit/>
          </a:bodyPr>
          <a:lstStyle/>
          <a:p>
            <a:pPr algn="l"/>
            <a:r>
              <a:rPr sz="1900" b="1" i="0">
                <a:solidFill>
                  <a:srgbClr val="1B3A6B"/>
                </a:solidFill>
                <a:latin typeface="Calibri"/>
              </a:rPr>
              <a:t>14,8 %</a:t>
            </a:r>
          </a:p>
        </p:txBody>
      </p:sp>
      <p:sp>
        <p:nvSpPr>
          <p:cNvPr id="52" name="TextBox 51"/>
          <p:cNvSpPr txBox="1"/>
          <p:nvPr/>
        </p:nvSpPr>
        <p:spPr>
          <a:xfrm>
            <a:off x="2577600" y="45324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53" name="TextBox 52"/>
          <p:cNvSpPr txBox="1"/>
          <p:nvPr/>
        </p:nvSpPr>
        <p:spPr>
          <a:xfrm>
            <a:off x="2577600" y="4730400"/>
            <a:ext cx="1893600" cy="165600"/>
          </a:xfrm>
          <a:prstGeom prst="rect">
            <a:avLst/>
          </a:prstGeom>
          <a:noFill/>
        </p:spPr>
        <p:txBody>
          <a:bodyPr wrap="square">
            <a:spAutoFit/>
          </a:bodyPr>
          <a:lstStyle/>
          <a:p>
            <a:pPr algn="l"/>
            <a:r>
              <a:rPr sz="700" b="0" i="0">
                <a:solidFill>
                  <a:srgbClr val="888888"/>
                </a:solidFill>
                <a:latin typeface="Calibri"/>
              </a:rPr>
              <a:t>Beta 1,92  ·  RFR 4,3 %</a:t>
            </a:r>
          </a:p>
        </p:txBody>
      </p:sp>
      <p:sp>
        <p:nvSpPr>
          <p:cNvPr id="54" name="Rectangle 53"/>
          <p:cNvSpPr/>
          <p:nvPr/>
        </p:nvSpPr>
        <p:spPr>
          <a:xfrm>
            <a:off x="46080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6080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98000" y="4136400"/>
            <a:ext cx="1893600" cy="396000"/>
          </a:xfrm>
          <a:prstGeom prst="rect">
            <a:avLst/>
          </a:prstGeom>
          <a:noFill/>
        </p:spPr>
        <p:txBody>
          <a:bodyPr wrap="square">
            <a:spAutoFit/>
          </a:bodyPr>
          <a:lstStyle/>
          <a:p>
            <a:pPr algn="l"/>
            <a:r>
              <a:rPr sz="1900" b="1" i="0">
                <a:solidFill>
                  <a:srgbClr val="1B3A6B"/>
                </a:solidFill>
                <a:latin typeface="Calibri"/>
              </a:rPr>
              <a:t>360 $</a:t>
            </a:r>
          </a:p>
        </p:txBody>
      </p:sp>
      <p:sp>
        <p:nvSpPr>
          <p:cNvPr id="57" name="TextBox 56"/>
          <p:cNvSpPr txBox="1"/>
          <p:nvPr/>
        </p:nvSpPr>
        <p:spPr>
          <a:xfrm>
            <a:off x="4698000" y="4532400"/>
            <a:ext cx="1893600" cy="205199"/>
          </a:xfrm>
          <a:prstGeom prst="rect">
            <a:avLst/>
          </a:prstGeom>
          <a:noFill/>
        </p:spPr>
        <p:txBody>
          <a:bodyPr wrap="square">
            <a:spAutoFit/>
          </a:bodyPr>
          <a:lstStyle/>
          <a:p>
            <a:pPr algn="l"/>
            <a:r>
              <a:rPr sz="800" b="0" i="0">
                <a:solidFill>
                  <a:srgbClr val="555555"/>
                </a:solidFill>
                <a:latin typeface="Calibri"/>
              </a:rPr>
              <a:t>Valeur DCF base</a:t>
            </a:r>
          </a:p>
        </p:txBody>
      </p:sp>
      <p:sp>
        <p:nvSpPr>
          <p:cNvPr id="58" name="TextBox 57"/>
          <p:cNvSpPr txBox="1"/>
          <p:nvPr/>
        </p:nvSpPr>
        <p:spPr>
          <a:xfrm>
            <a:off x="4698000" y="4730400"/>
            <a:ext cx="1893600" cy="165600"/>
          </a:xfrm>
          <a:prstGeom prst="rect">
            <a:avLst/>
          </a:prstGeom>
          <a:noFill/>
        </p:spPr>
        <p:txBody>
          <a:bodyPr wrap="square">
            <a:spAutoFit/>
          </a:bodyPr>
          <a:lstStyle/>
          <a:p>
            <a:pPr algn="l"/>
            <a:r>
              <a:rPr sz="700" b="0" i="0">
                <a:solidFill>
                  <a:srgbClr val="888888"/>
                </a:solidFill>
                <a:latin typeface="Calibri"/>
              </a:rPr>
              <a:t>Upside +4,9 % vs cours</a:t>
            </a:r>
          </a:p>
        </p:txBody>
      </p:sp>
      <p:sp>
        <p:nvSpPr>
          <p:cNvPr id="59" name="Rectangle 58"/>
          <p:cNvSpPr/>
          <p:nvPr/>
        </p:nvSpPr>
        <p:spPr>
          <a:xfrm>
            <a:off x="6728400" y="4082400"/>
            <a:ext cx="20304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728400" y="40824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18400" y="4136400"/>
            <a:ext cx="1893600" cy="396000"/>
          </a:xfrm>
          <a:prstGeom prst="rect">
            <a:avLst/>
          </a:prstGeom>
          <a:noFill/>
        </p:spPr>
        <p:txBody>
          <a:bodyPr wrap="square">
            <a:spAutoFit/>
          </a:bodyPr>
          <a:lstStyle/>
          <a:p>
            <a:pPr algn="l"/>
            <a:r>
              <a:rPr sz="1900" b="1" i="0">
                <a:solidFill>
                  <a:srgbClr val="1B3A6B"/>
                </a:solidFill>
                <a:latin typeface="Calibri"/>
              </a:rPr>
              <a:t>-0,134</a:t>
            </a:r>
          </a:p>
        </p:txBody>
      </p:sp>
      <p:sp>
        <p:nvSpPr>
          <p:cNvPr id="62" name="TextBox 61"/>
          <p:cNvSpPr txBox="1"/>
          <p:nvPr/>
        </p:nvSpPr>
        <p:spPr>
          <a:xfrm>
            <a:off x="6818400" y="45324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63" name="TextBox 62"/>
          <p:cNvSpPr txBox="1"/>
          <p:nvPr/>
        </p:nvSpPr>
        <p:spPr>
          <a:xfrm>
            <a:off x="6818400" y="4730400"/>
            <a:ext cx="1893600" cy="165600"/>
          </a:xfrm>
          <a:prstGeom prst="rect">
            <a:avLst/>
          </a:prstGeom>
          <a:noFill/>
        </p:spPr>
        <p:txBody>
          <a:bodyPr wrap="square">
            <a:spAutoFit/>
          </a:bodyPr>
          <a:lstStyle/>
          <a:p>
            <a:pPr algn="l"/>
            <a:r>
              <a:rPr sz="700" b="0" i="0">
                <a:solidFill>
                  <a:srgbClr val="888888"/>
                </a:solidFill>
                <a:latin typeface="Calibri"/>
              </a:rPr>
              <a:t>Négatif  ·  30 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Tesla, Inc.  ·  Consumer Cyclical</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4–6</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7–10</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11–14</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Concurrence accrue  ·  Régulation</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15–16</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historique &amp; conviction</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17–21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Tesla, Inc.  ·  Présentation &amp; Positionnement stratégique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Tesla conçoit, fabrique et commercialise des véhicules électriques haut de gamme et des solutions énergétiques durables. Positionné comme leader technologique avec une intégration verticale unique (batteries, logiciels, bornes), l'entreprise cible les marchés premium et les solutions de stockage d'énergie à grande échelle. Ses avantages incluent une marque forte, une R&amp;D intensive et un réseau de recharge propriétaire. L'entreprise articule son activité autour de deux segments stratégiques :</a:t>
            </a:r>
          </a:p>
        </p:txBody>
      </p:sp>
      <p:sp>
        <p:nvSpPr>
          <p:cNvPr id="20" name="Rectangle 19"/>
          <p:cNvSpPr/>
          <p:nvPr/>
        </p:nvSpPr>
        <p:spPr>
          <a:xfrm>
            <a:off x="503999" y="2599200"/>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200" y="2556000"/>
            <a:ext cx="4338000" cy="165600"/>
          </a:xfrm>
          <a:prstGeom prst="rect">
            <a:avLst/>
          </a:prstGeom>
          <a:noFill/>
        </p:spPr>
        <p:txBody>
          <a:bodyPr wrap="square">
            <a:spAutoFit/>
          </a:bodyPr>
          <a:lstStyle/>
          <a:p>
            <a:pPr algn="l"/>
            <a:r>
              <a:rPr sz="850" b="1" i="0">
                <a:solidFill>
                  <a:srgbClr val="0D0D0D"/>
                </a:solidFill>
                <a:latin typeface="Calibri"/>
              </a:rPr>
              <a:t>Automobile</a:t>
            </a:r>
          </a:p>
        </p:txBody>
      </p:sp>
      <p:sp>
        <p:nvSpPr>
          <p:cNvPr id="22" name="TextBox 21"/>
          <p:cNvSpPr txBox="1"/>
          <p:nvPr/>
        </p:nvSpPr>
        <p:spPr>
          <a:xfrm>
            <a:off x="619200" y="2714400"/>
            <a:ext cx="4338000" cy="503999"/>
          </a:xfrm>
          <a:prstGeom prst="rect">
            <a:avLst/>
          </a:prstGeom>
          <a:noFill/>
        </p:spPr>
        <p:txBody>
          <a:bodyPr wrap="square">
            <a:spAutoFit/>
          </a:bodyPr>
          <a:lstStyle/>
          <a:p>
            <a:pPr algn="l"/>
            <a:r>
              <a:rPr sz="750" b="0" i="1">
                <a:solidFill>
                  <a:srgbClr val="555555"/>
                </a:solidFill>
                <a:latin typeface="Calibri"/>
              </a:rPr>
              <a:t>Ventes de véhicules électriques haut de gamme (Model 3/Y/S/X) et services associés (mises à jour logicielles, abonnements). Clients premium et early adopters, avec une croissance tirée par l'expansion géographique et la réduction des coûts de production. Marges soutenues par le mix produit et les économies d'échelle.</a:t>
            </a:r>
          </a:p>
        </p:txBody>
      </p:sp>
      <p:sp>
        <p:nvSpPr>
          <p:cNvPr id="23" name="Rectangle 22"/>
          <p:cNvSpPr/>
          <p:nvPr/>
        </p:nvSpPr>
        <p:spPr>
          <a:xfrm>
            <a:off x="503999" y="3301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200" y="3257999"/>
            <a:ext cx="4338000" cy="165600"/>
          </a:xfrm>
          <a:prstGeom prst="rect">
            <a:avLst/>
          </a:prstGeom>
          <a:noFill/>
        </p:spPr>
        <p:txBody>
          <a:bodyPr wrap="square">
            <a:spAutoFit/>
          </a:bodyPr>
          <a:lstStyle/>
          <a:p>
            <a:pPr algn="l"/>
            <a:r>
              <a:rPr sz="850" b="1" i="0">
                <a:solidFill>
                  <a:srgbClr val="0D0D0D"/>
                </a:solidFill>
                <a:latin typeface="Calibri"/>
              </a:rPr>
              <a:t>Énergie et Stockage</a:t>
            </a:r>
          </a:p>
        </p:txBody>
      </p:sp>
      <p:sp>
        <p:nvSpPr>
          <p:cNvPr id="25" name="TextBox 24"/>
          <p:cNvSpPr txBox="1"/>
          <p:nvPr/>
        </p:nvSpPr>
        <p:spPr>
          <a:xfrm>
            <a:off x="619200" y="3416399"/>
            <a:ext cx="4338000" cy="503999"/>
          </a:xfrm>
          <a:prstGeom prst="rect">
            <a:avLst/>
          </a:prstGeom>
          <a:noFill/>
        </p:spPr>
        <p:txBody>
          <a:bodyPr wrap="square">
            <a:spAutoFit/>
          </a:bodyPr>
          <a:lstStyle/>
          <a:p>
            <a:pPr algn="l"/>
            <a:r>
              <a:rPr sz="750" b="0" i="1">
                <a:solidFill>
                  <a:srgbClr val="555555"/>
                </a:solidFill>
                <a:latin typeface="Calibri"/>
              </a:rPr>
              <a:t>Solutions de stockage d'énergie (Powerwall, Megapack) et panneaux solaires. Modèle basé sur des abonnements et ventes de matériel à des entreprises et particuliers. Croissance liée à la transition énergétique et aux incitations gouvernementales. Marges en amélioration grâce à la standardisation.</a:t>
            </a:r>
          </a:p>
        </p:txBody>
      </p:sp>
      <p:sp>
        <p:nvSpPr>
          <p:cNvPr id="26" name="Rectangle 25"/>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1 288,0 Mds$</a:t>
            </a:r>
          </a:p>
        </p:txBody>
      </p:sp>
      <p:sp>
        <p:nvSpPr>
          <p:cNvPr id="29" name="TextBox 28"/>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boursière</a:t>
            </a:r>
          </a:p>
        </p:txBody>
      </p:sp>
      <p:sp>
        <p:nvSpPr>
          <p:cNvPr id="30" name="Rectangle 29"/>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94,8 Mds$</a:t>
            </a:r>
          </a:p>
        </p:txBody>
      </p:sp>
      <p:sp>
        <p:nvSpPr>
          <p:cNvPr id="33" name="TextBox 32"/>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34" name="Rectangle 33"/>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343,25 $</a:t>
            </a:r>
          </a:p>
        </p:txBody>
      </p:sp>
      <p:sp>
        <p:nvSpPr>
          <p:cNvPr id="37" name="TextBox 36"/>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38" name="Rectangle 37"/>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108,8x</a:t>
            </a:r>
          </a:p>
        </p:txBody>
      </p:sp>
      <p:sp>
        <p:nvSpPr>
          <p:cNvPr id="41" name="TextBox 40"/>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42" name="TextBox 41"/>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339,5x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Modèle Économique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opérationnels et moteurs de croissance</a:t>
            </a:r>
          </a:p>
        </p:txBody>
      </p:sp>
      <p:sp>
        <p:nvSpPr>
          <p:cNvPr id="17" name="Rectangle 16"/>
          <p:cNvSpPr/>
          <p:nvPr/>
        </p:nvSpPr>
        <p:spPr>
          <a:xfrm>
            <a:off x="367200" y="961200"/>
            <a:ext cx="4150800"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1508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3970800" cy="640800"/>
          </a:xfrm>
          <a:prstGeom prst="rect">
            <a:avLst/>
          </a:prstGeom>
          <a:noFill/>
        </p:spPr>
        <p:txBody>
          <a:bodyPr wrap="square">
            <a:spAutoFit/>
          </a:bodyPr>
          <a:lstStyle/>
          <a:p>
            <a:pPr algn="l"/>
            <a:r>
              <a:rPr sz="2200" b="1" i="0">
                <a:solidFill>
                  <a:srgbClr val="2E5FA3"/>
                </a:solidFill>
                <a:latin typeface="Calibri"/>
              </a:rPr>
              <a:t>85%</a:t>
            </a:r>
          </a:p>
        </p:txBody>
      </p:sp>
      <p:sp>
        <p:nvSpPr>
          <p:cNvPr id="20" name="TextBox 19"/>
          <p:cNvSpPr txBox="1"/>
          <p:nvPr/>
        </p:nvSpPr>
        <p:spPr>
          <a:xfrm>
            <a:off x="4572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3970800" cy="255600"/>
          </a:xfrm>
          <a:prstGeom prst="rect">
            <a:avLst/>
          </a:prstGeom>
          <a:noFill/>
        </p:spPr>
        <p:txBody>
          <a:bodyPr wrap="square">
            <a:spAutoFit/>
          </a:bodyPr>
          <a:lstStyle/>
          <a:p>
            <a:pPr algn="l"/>
            <a:r>
              <a:rPr sz="1000" b="1" i="0">
                <a:solidFill>
                  <a:srgbClr val="1B3A6B"/>
                </a:solidFill>
                <a:latin typeface="Calibri"/>
              </a:rPr>
              <a:t>Automobile</a:t>
            </a:r>
          </a:p>
        </p:txBody>
      </p:sp>
      <p:sp>
        <p:nvSpPr>
          <p:cNvPr id="23" name="TextBox 22"/>
          <p:cNvSpPr txBox="1"/>
          <p:nvPr/>
        </p:nvSpPr>
        <p:spPr>
          <a:xfrm>
            <a:off x="457200" y="2332800"/>
            <a:ext cx="3970800" cy="2041199"/>
          </a:xfrm>
          <a:prstGeom prst="rect">
            <a:avLst/>
          </a:prstGeom>
          <a:noFill/>
        </p:spPr>
        <p:txBody>
          <a:bodyPr wrap="square">
            <a:spAutoFit/>
          </a:bodyPr>
          <a:lstStyle/>
          <a:p>
            <a:pPr algn="l"/>
            <a:r>
              <a:rPr sz="800" b="0" i="0">
                <a:solidFill>
                  <a:srgbClr val="555555"/>
                </a:solidFill>
                <a:latin typeface="Calibri"/>
              </a:rPr>
              <a:t>Ventes de véhicules électriques haut de gamme (Model 3/Y/S/X) et services associés (mises à jour logicielles, abonnements). Clients premium et early adopters, avec une croissance tirée par l'expansion géographique et la réduction des coûts de production. Marges soutenues par le mix produit et les économies d'échelle.</a:t>
            </a:r>
          </a:p>
        </p:txBody>
      </p:sp>
      <p:sp>
        <p:nvSpPr>
          <p:cNvPr id="24" name="Rectangle 23"/>
          <p:cNvSpPr/>
          <p:nvPr/>
        </p:nvSpPr>
        <p:spPr>
          <a:xfrm>
            <a:off x="4626000" y="961200"/>
            <a:ext cx="4150800"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26000" y="961200"/>
            <a:ext cx="4150800"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16000" y="1141200"/>
            <a:ext cx="3970800" cy="640800"/>
          </a:xfrm>
          <a:prstGeom prst="rect">
            <a:avLst/>
          </a:prstGeom>
          <a:noFill/>
        </p:spPr>
        <p:txBody>
          <a:bodyPr wrap="square">
            <a:spAutoFit/>
          </a:bodyPr>
          <a:lstStyle/>
          <a:p>
            <a:pPr algn="l"/>
            <a:r>
              <a:rPr sz="2200" b="1" i="0">
                <a:solidFill>
                  <a:srgbClr val="1A7A4A"/>
                </a:solidFill>
                <a:latin typeface="Calibri"/>
              </a:rPr>
              <a:t>15%</a:t>
            </a:r>
          </a:p>
        </p:txBody>
      </p:sp>
      <p:sp>
        <p:nvSpPr>
          <p:cNvPr id="27" name="TextBox 26"/>
          <p:cNvSpPr txBox="1"/>
          <p:nvPr/>
        </p:nvSpPr>
        <p:spPr>
          <a:xfrm>
            <a:off x="47160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47160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16000" y="2059200"/>
            <a:ext cx="3970800" cy="255600"/>
          </a:xfrm>
          <a:prstGeom prst="rect">
            <a:avLst/>
          </a:prstGeom>
          <a:noFill/>
        </p:spPr>
        <p:txBody>
          <a:bodyPr wrap="square">
            <a:spAutoFit/>
          </a:bodyPr>
          <a:lstStyle/>
          <a:p>
            <a:pPr algn="l"/>
            <a:r>
              <a:rPr sz="1000" b="1" i="0">
                <a:solidFill>
                  <a:srgbClr val="1B3A6B"/>
                </a:solidFill>
                <a:latin typeface="Calibri"/>
              </a:rPr>
              <a:t>Énergie et Stockage</a:t>
            </a:r>
          </a:p>
        </p:txBody>
      </p:sp>
      <p:sp>
        <p:nvSpPr>
          <p:cNvPr id="30" name="TextBox 29"/>
          <p:cNvSpPr txBox="1"/>
          <p:nvPr/>
        </p:nvSpPr>
        <p:spPr>
          <a:xfrm>
            <a:off x="4716000" y="2332800"/>
            <a:ext cx="3970800" cy="2041199"/>
          </a:xfrm>
          <a:prstGeom prst="rect">
            <a:avLst/>
          </a:prstGeom>
          <a:noFill/>
        </p:spPr>
        <p:txBody>
          <a:bodyPr wrap="square">
            <a:spAutoFit/>
          </a:bodyPr>
          <a:lstStyle/>
          <a:p>
            <a:pPr algn="l"/>
            <a:r>
              <a:rPr sz="800" b="0" i="0">
                <a:solidFill>
                  <a:srgbClr val="555555"/>
                </a:solidFill>
                <a:latin typeface="Calibri"/>
              </a:rPr>
              <a:t>Solutions de stockage d'énergie (Powerwall, Megapack) et panneaux solaires. Modèle basé sur des abonnements et ventes de matériel à des entreprises et particuliers. Croissance liée à la transition énergétique et aux incitations gouvernementales. Marges en amélioration grâce à la standardisation.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USD millions  ·  2022–2027F</a:t>
            </a:r>
          </a:p>
        </p:txBody>
      </p:sp>
      <p:graphicFrame>
        <p:nvGraphicFramePr>
          <p:cNvPr id="17" name="Table 16"/>
          <p:cNvGraphicFramePr>
            <a:graphicFrameLocks noGrp="1"/>
          </p:cNvGraphicFramePr>
          <p:nvPr/>
        </p:nvGraphicFramePr>
        <p:xfrm>
          <a:off x="367200" y="914400"/>
          <a:ext cx="8413196" cy="1980000"/>
        </p:xfrm>
        <a:graphic>
          <a:graphicData uri="http://schemas.openxmlformats.org/drawingml/2006/table">
            <a:tbl>
              <a:tblPr firstRow="1" bandRow="1">
                <a:tableStyleId>{5C22544A-7EE6-4342-B048-85BDC9FD1C3A}</a:tableStyleId>
              </a:tblPr>
              <a:tblGrid>
                <a:gridCol w="2355696"/>
                <a:gridCol w="1211500"/>
                <a:gridCol w="1211500"/>
                <a:gridCol w="1211500"/>
                <a:gridCol w="1211500"/>
                <a:gridCol w="1211500"/>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c>
                  <a:txBody>
                    <a:bodyPr/>
                    <a:lstStyle/>
                    <a:p>
                      <a:pPr algn="ctr"/>
                      <a:r>
                        <a:rPr sz="800" b="1" i="0">
                          <a:solidFill>
                            <a:srgbClr val="FFFFFF"/>
                          </a:solidFill>
                          <a:latin typeface="Calibri"/>
                        </a:rPr>
                        <a:t>2026F</a:t>
                      </a:r>
                    </a:p>
                  </a:txBody>
                  <a:tcPr>
                    <a:solidFill>
                      <a:srgbClr val="1B3A6B"/>
                    </a:solidFill>
                  </a:tcPr>
                </a:tc>
                <a:tc>
                  <a:txBody>
                    <a:bodyPr/>
                    <a:lstStyle/>
                    <a:p>
                      <a:pPr algn="ctr"/>
                      <a:r>
                        <a:rPr sz="800" b="1" i="0">
                          <a:solidFill>
                            <a:srgbClr val="FFFFFF"/>
                          </a:solidFill>
                          <a:latin typeface="Calibri"/>
                        </a:rPr>
                        <a:t>2027F</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96,8</a:t>
                      </a:r>
                    </a:p>
                  </a:txBody>
                  <a:tcPr>
                    <a:solidFill>
                      <a:srgbClr val="FFFFFF"/>
                    </a:solidFill>
                  </a:tcPr>
                </a:tc>
                <a:tc>
                  <a:txBody>
                    <a:bodyPr/>
                    <a:lstStyle/>
                    <a:p>
                      <a:pPr algn="ctr"/>
                      <a:r>
                        <a:rPr sz="800" b="1" i="0">
                          <a:solidFill>
                            <a:srgbClr val="0D0D0D"/>
                          </a:solidFill>
                          <a:latin typeface="Calibri"/>
                        </a:rPr>
                        <a:t>97,7</a:t>
                      </a:r>
                    </a:p>
                  </a:txBody>
                  <a:tcPr>
                    <a:solidFill>
                      <a:srgbClr val="FFFFFF"/>
                    </a:solidFill>
                  </a:tcPr>
                </a:tc>
                <a:tc>
                  <a:txBody>
                    <a:bodyPr/>
                    <a:lstStyle/>
                    <a:p>
                      <a:pPr algn="ctr"/>
                      <a:r>
                        <a:rPr sz="800" b="1" i="0">
                          <a:solidFill>
                            <a:srgbClr val="1B3A6B"/>
                          </a:solidFill>
                          <a:latin typeface="Calibri"/>
                        </a:rPr>
                        <a:t>94,8</a:t>
                      </a:r>
                    </a:p>
                  </a:txBody>
                  <a:tcPr>
                    <a:solidFill>
                      <a:srgbClr val="DDE8F5"/>
                    </a:solidFill>
                  </a:tcPr>
                </a:tc>
                <a:tc>
                  <a:txBody>
                    <a:bodyPr/>
                    <a:lstStyle/>
                    <a:p>
                      <a:pPr algn="ctr"/>
                      <a:r>
                        <a:rPr sz="800" b="1" i="0">
                          <a:solidFill>
                            <a:srgbClr val="0D0D0D"/>
                          </a:solidFill>
                          <a:latin typeface="Calibri"/>
                        </a:rPr>
                        <a:t>102,0</a:t>
                      </a:r>
                    </a:p>
                  </a:txBody>
                  <a:tcPr>
                    <a:solidFill>
                      <a:srgbClr val="FFFFFF"/>
                    </a:solidFill>
                  </a:tcPr>
                </a:tc>
                <a:tc>
                  <a:txBody>
                    <a:bodyPr/>
                    <a:lstStyle/>
                    <a:p>
                      <a:pPr algn="ctr"/>
                      <a:r>
                        <a:rPr sz="800" b="1" i="0">
                          <a:solidFill>
                            <a:srgbClr val="0D0D0D"/>
                          </a:solidFill>
                          <a:latin typeface="Calibri"/>
                        </a:rPr>
                        <a:t>115,0</a:t>
                      </a:r>
                    </a:p>
                  </a:txBody>
                  <a:tcPr>
                    <a:solidFill>
                      <a:srgbClr val="FFFFFF"/>
                    </a:solidFill>
                  </a:tcPr>
                </a:tc>
              </a:tr>
              <a:tr h="220000">
                <a:tc>
                  <a:txBody>
                    <a:bodyPr/>
                    <a:lstStyle/>
                    <a:p>
                      <a:pPr algn="l"/>
                      <a:r>
                        <a:rPr sz="750" b="0" i="1">
                          <a:solidFill>
                            <a:srgbClr val="333333"/>
                          </a:solidFill>
                          <a:latin typeface="Calibri"/>
                        </a:rPr>
                        <a:t>Croissance YoY</a:t>
                      </a:r>
                    </a:p>
                  </a:txBody>
                  <a:tcPr>
                    <a:solidFill>
                      <a:srgbClr val="F7F8FA"/>
                    </a:solidFill>
                  </a:tcPr>
                </a:tc>
                <a:tc>
                  <a:txBody>
                    <a:bodyPr/>
                    <a:lstStyle/>
                    <a:p>
                      <a:pPr algn="ctr"/>
                      <a:r>
                        <a:rPr sz="750" b="0" i="1">
                          <a:solidFill>
                            <a:srgbClr val="333333"/>
                          </a:solidFill>
                          <a:latin typeface="Calibri"/>
                        </a:rPr>
                        <a:t>+18,8 %</a:t>
                      </a:r>
                    </a:p>
                  </a:txBody>
                  <a:tcPr>
                    <a:solidFill>
                      <a:srgbClr val="F7F8FA"/>
                    </a:solidFill>
                  </a:tcPr>
                </a:tc>
                <a:tc>
                  <a:txBody>
                    <a:bodyPr/>
                    <a:lstStyle/>
                    <a:p>
                      <a:pPr algn="ctr"/>
                      <a:r>
                        <a:rPr sz="750" b="0" i="1">
                          <a:solidFill>
                            <a:srgbClr val="333333"/>
                          </a:solidFill>
                          <a:latin typeface="Calibri"/>
                        </a:rPr>
                        <a:t>+1,0 %</a:t>
                      </a:r>
                    </a:p>
                  </a:txBody>
                  <a:tcPr>
                    <a:solidFill>
                      <a:srgbClr val="F7F8FA"/>
                    </a:solidFill>
                  </a:tcPr>
                </a:tc>
                <a:tc>
                  <a:txBody>
                    <a:bodyPr/>
                    <a:lstStyle/>
                    <a:p>
                      <a:pPr algn="ctr"/>
                      <a:r>
                        <a:rPr sz="750" b="0" i="1">
                          <a:solidFill>
                            <a:srgbClr val="333333"/>
                          </a:solidFill>
                          <a:latin typeface="Calibri"/>
                        </a:rPr>
                        <a:t>-3,0 %</a:t>
                      </a:r>
                    </a:p>
                  </a:txBody>
                  <a:tcPr>
                    <a:solidFill>
                      <a:srgbClr val="DDE8F5"/>
                    </a:solidFill>
                  </a:tcPr>
                </a:tc>
                <a:tc>
                  <a:txBody>
                    <a:bodyPr/>
                    <a:lstStyle/>
                    <a:p>
                      <a:pPr algn="ctr"/>
                      <a:r>
                        <a:rPr sz="750" b="0" i="1">
                          <a:solidFill>
                            <a:srgbClr val="333333"/>
                          </a:solidFill>
                          <a:latin typeface="Calibri"/>
                        </a:rPr>
                        <a:t>+8,0 %</a:t>
                      </a:r>
                    </a:p>
                  </a:txBody>
                  <a:tcPr>
                    <a:solidFill>
                      <a:srgbClr val="F7F8FA"/>
                    </a:solidFill>
                  </a:tcPr>
                </a:tc>
                <a:tc>
                  <a:txBody>
                    <a:bodyPr/>
                    <a:lstStyle/>
                    <a:p>
                      <a:pPr algn="ctr"/>
                      <a:r>
                        <a:rPr sz="750" b="0" i="1">
                          <a:solidFill>
                            <a:srgbClr val="333333"/>
                          </a:solidFill>
                          <a:latin typeface="Calibri"/>
                        </a:rPr>
                        <a:t>+12,7 %</a:t>
                      </a:r>
                    </a:p>
                  </a:txBody>
                  <a:tcPr>
                    <a:solidFill>
                      <a:srgbClr val="F7F8FA"/>
                    </a:solidFill>
                  </a:tcPr>
                </a:tc>
              </a:tr>
              <a:tr h="220000">
                <a:tc>
                  <a:txBody>
                    <a:bodyPr/>
                    <a:lstStyle/>
                    <a:p>
                      <a:pPr algn="l"/>
                      <a:r>
                        <a:rPr sz="800" b="1" i="0">
                          <a:solidFill>
                            <a:srgbClr val="0D0D0D"/>
                          </a:solidFill>
                          <a:latin typeface="Calibri"/>
                        </a:rPr>
                        <a:t>Résultat brut</a:t>
                      </a:r>
                    </a:p>
                  </a:txBody>
                  <a:tcPr>
                    <a:solidFill>
                      <a:srgbClr val="FFFFFF"/>
                    </a:solidFill>
                  </a:tcPr>
                </a:tc>
                <a:tc>
                  <a:txBody>
                    <a:bodyPr/>
                    <a:lstStyle/>
                    <a:p>
                      <a:pPr algn="ctr"/>
                      <a:r>
                        <a:rPr sz="800" b="1" i="0">
                          <a:solidFill>
                            <a:srgbClr val="0D0D0D"/>
                          </a:solidFill>
                          <a:latin typeface="Calibri"/>
                        </a:rPr>
                        <a:t>17,7</a:t>
                      </a:r>
                    </a:p>
                  </a:txBody>
                  <a:tcPr>
                    <a:solidFill>
                      <a:srgbClr val="FFFFFF"/>
                    </a:solidFill>
                  </a:tcPr>
                </a:tc>
                <a:tc>
                  <a:txBody>
                    <a:bodyPr/>
                    <a:lstStyle/>
                    <a:p>
                      <a:pPr algn="ctr"/>
                      <a:r>
                        <a:rPr sz="800" b="1" i="0">
                          <a:solidFill>
                            <a:srgbClr val="0D0D0D"/>
                          </a:solidFill>
                          <a:latin typeface="Calibri"/>
                        </a:rPr>
                        <a:t>17,4</a:t>
                      </a:r>
                    </a:p>
                  </a:txBody>
                  <a:tcPr>
                    <a:solidFill>
                      <a:srgbClr val="FFFFFF"/>
                    </a:solidFill>
                  </a:tcPr>
                </a:tc>
                <a:tc>
                  <a:txBody>
                    <a:bodyPr/>
                    <a:lstStyle/>
                    <a:p>
                      <a:pPr algn="ctr"/>
                      <a:r>
                        <a:rPr sz="800" b="1" i="0">
                          <a:solidFill>
                            <a:srgbClr val="1B3A6B"/>
                          </a:solidFill>
                          <a:latin typeface="Calibri"/>
                        </a:rPr>
                        <a:t>17,1</a:t>
                      </a:r>
                    </a:p>
                  </a:txBody>
                  <a:tcPr>
                    <a:solidFill>
                      <a:srgbClr val="DDE8F5"/>
                    </a:solidFill>
                  </a:tcPr>
                </a:tc>
                <a:tc>
                  <a:txBody>
                    <a:bodyPr/>
                    <a:lstStyle/>
                    <a:p>
                      <a:pPr algn="ctr"/>
                      <a:r>
                        <a:rPr sz="800" b="1" i="0">
                          <a:solidFill>
                            <a:srgbClr val="0D0D0D"/>
                          </a:solidFill>
                          <a:latin typeface="Calibri"/>
                        </a:rPr>
                        <a:t>19,9</a:t>
                      </a:r>
                    </a:p>
                  </a:txBody>
                  <a:tcPr>
                    <a:solidFill>
                      <a:srgbClr val="FFFFFF"/>
                    </a:solidFill>
                  </a:tcPr>
                </a:tc>
                <a:tc>
                  <a:txBody>
                    <a:bodyPr/>
                    <a:lstStyle/>
                    <a:p>
                      <a:pPr algn="ctr"/>
                      <a:r>
                        <a:rPr sz="800" b="1" i="0">
                          <a:solidFill>
                            <a:srgbClr val="0D0D0D"/>
                          </a:solidFill>
                          <a:latin typeface="Calibri"/>
                        </a:rPr>
                        <a:t>24,1</a:t>
                      </a:r>
                    </a:p>
                  </a:txBody>
                  <a:tcPr>
                    <a:solidFill>
                      <a:srgbClr val="FFFFFF"/>
                    </a:solidFill>
                  </a:tcPr>
                </a:tc>
              </a:tr>
              <a:tr h="220000">
                <a:tc>
                  <a:txBody>
                    <a:bodyPr/>
                    <a:lstStyle/>
                    <a:p>
                      <a:pPr algn="l"/>
                      <a:r>
                        <a:rPr sz="750" b="0" i="1">
                          <a:solidFill>
                            <a:srgbClr val="333333"/>
                          </a:solidFill>
                          <a:latin typeface="Calibri"/>
                        </a:rPr>
                        <a:t>Marge brute</a:t>
                      </a:r>
                    </a:p>
                  </a:txBody>
                  <a:tcPr>
                    <a:solidFill>
                      <a:srgbClr val="F7F8FA"/>
                    </a:solidFill>
                  </a:tcPr>
                </a:tc>
                <a:tc>
                  <a:txBody>
                    <a:bodyPr/>
                    <a:lstStyle/>
                    <a:p>
                      <a:pPr algn="ctr"/>
                      <a:r>
                        <a:rPr sz="750" b="0" i="1">
                          <a:solidFill>
                            <a:srgbClr val="333333"/>
                          </a:solidFill>
                          <a:latin typeface="Calibri"/>
                        </a:rPr>
                        <a:t>18,2 %</a:t>
                      </a:r>
                    </a:p>
                  </a:txBody>
                  <a:tcPr>
                    <a:solidFill>
                      <a:srgbClr val="F7F8FA"/>
                    </a:solidFill>
                  </a:tcPr>
                </a:tc>
                <a:tc>
                  <a:txBody>
                    <a:bodyPr/>
                    <a:lstStyle/>
                    <a:p>
                      <a:pPr algn="ctr"/>
                      <a:r>
                        <a:rPr sz="750" b="0" i="1">
                          <a:solidFill>
                            <a:srgbClr val="333333"/>
                          </a:solidFill>
                          <a:latin typeface="Calibri"/>
                        </a:rPr>
                        <a:t>17,9 %</a:t>
                      </a:r>
                    </a:p>
                  </a:txBody>
                  <a:tcPr>
                    <a:solidFill>
                      <a:srgbClr val="F7F8FA"/>
                    </a:solidFill>
                  </a:tcPr>
                </a:tc>
                <a:tc>
                  <a:txBody>
                    <a:bodyPr/>
                    <a:lstStyle/>
                    <a:p>
                      <a:pPr algn="ctr"/>
                      <a:r>
                        <a:rPr sz="750" b="0" i="1">
                          <a:solidFill>
                            <a:srgbClr val="333333"/>
                          </a:solidFill>
                          <a:latin typeface="Calibri"/>
                        </a:rPr>
                        <a:t>18,0 %</a:t>
                      </a:r>
                    </a:p>
                  </a:txBody>
                  <a:tcPr>
                    <a:solidFill>
                      <a:srgbClr val="DDE8F5"/>
                    </a:solidFill>
                  </a:tcPr>
                </a:tc>
                <a:tc>
                  <a:txBody>
                    <a:bodyPr/>
                    <a:lstStyle/>
                    <a:p>
                      <a:pPr algn="ctr"/>
                      <a:r>
                        <a:rPr sz="750" b="0" i="1">
                          <a:solidFill>
                            <a:srgbClr val="333333"/>
                          </a:solidFill>
                          <a:latin typeface="Calibri"/>
                        </a:rPr>
                        <a:t>19,5 %</a:t>
                      </a:r>
                    </a:p>
                  </a:txBody>
                  <a:tcPr>
                    <a:solidFill>
                      <a:srgbClr val="F7F8FA"/>
                    </a:solidFill>
                  </a:tcPr>
                </a:tc>
                <a:tc>
                  <a:txBody>
                    <a:bodyPr/>
                    <a:lstStyle/>
                    <a:p>
                      <a:pPr algn="ctr"/>
                      <a:r>
                        <a:rPr sz="750" b="0" i="1">
                          <a:solidFill>
                            <a:srgbClr val="333333"/>
                          </a:solidFill>
                          <a:latin typeface="Calibri"/>
                        </a:rPr>
                        <a:t>21,0 %</a:t>
                      </a:r>
                    </a:p>
                  </a:txBody>
                  <a:tcPr>
                    <a:solidFill>
                      <a:srgbClr val="F7F8FA"/>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14,8</a:t>
                      </a:r>
                    </a:p>
                  </a:txBody>
                  <a:tcPr>
                    <a:solidFill>
                      <a:srgbClr val="FFFFFF"/>
                    </a:solidFill>
                  </a:tcPr>
                </a:tc>
                <a:tc>
                  <a:txBody>
                    <a:bodyPr/>
                    <a:lstStyle/>
                    <a:p>
                      <a:pPr algn="ctr"/>
                      <a:r>
                        <a:rPr sz="800" b="1" i="0">
                          <a:solidFill>
                            <a:srgbClr val="0D0D0D"/>
                          </a:solidFill>
                          <a:latin typeface="Calibri"/>
                        </a:rPr>
                        <a:t>14,7</a:t>
                      </a:r>
                    </a:p>
                  </a:txBody>
                  <a:tcPr>
                    <a:solidFill>
                      <a:srgbClr val="FFFFFF"/>
                    </a:solidFill>
                  </a:tcPr>
                </a:tc>
                <a:tc>
                  <a:txBody>
                    <a:bodyPr/>
                    <a:lstStyle/>
                    <a:p>
                      <a:pPr algn="ctr"/>
                      <a:r>
                        <a:rPr sz="800" b="1" i="0">
                          <a:solidFill>
                            <a:srgbClr val="1B3A6B"/>
                          </a:solidFill>
                          <a:latin typeface="Calibri"/>
                        </a:rPr>
                        <a:t>11,8</a:t>
                      </a:r>
                    </a:p>
                  </a:txBody>
                  <a:tcPr>
                    <a:solidFill>
                      <a:srgbClr val="DDE8F5"/>
                    </a:solidFill>
                  </a:tcPr>
                </a:tc>
                <a:tc>
                  <a:txBody>
                    <a:bodyPr/>
                    <a:lstStyle/>
                    <a:p>
                      <a:pPr algn="ctr"/>
                      <a:r>
                        <a:rPr sz="800" b="1" i="0">
                          <a:solidFill>
                            <a:srgbClr val="0D0D0D"/>
                          </a:solidFill>
                          <a:latin typeface="Calibri"/>
                        </a:rPr>
                        <a:t>16,0</a:t>
                      </a:r>
                    </a:p>
                  </a:txBody>
                  <a:tcPr>
                    <a:solidFill>
                      <a:srgbClr val="FFFFFF"/>
                    </a:solidFill>
                  </a:tcPr>
                </a:tc>
                <a:tc>
                  <a:txBody>
                    <a:bodyPr/>
                    <a:lstStyle/>
                    <a:p>
                      <a:pPr algn="ctr"/>
                      <a:r>
                        <a:rPr sz="800" b="1" i="0">
                          <a:solidFill>
                            <a:srgbClr val="0D0D0D"/>
                          </a:solidFill>
                          <a:latin typeface="Calibri"/>
                        </a:rPr>
                        <a:t>21,0</a:t>
                      </a:r>
                    </a:p>
                  </a:txBody>
                  <a:tcPr>
                    <a:solidFill>
                      <a:srgbClr val="FFFFFF"/>
                    </a:solidFill>
                  </a:tcPr>
                </a:tc>
              </a:tr>
              <a:tr h="220000">
                <a:tc>
                  <a:txBody>
                    <a:bodyPr/>
                    <a:lstStyle/>
                    <a:p>
                      <a:pPr algn="l"/>
                      <a:r>
                        <a:rPr sz="750" b="0" i="1">
                          <a:solidFill>
                            <a:srgbClr val="333333"/>
                          </a:solidFill>
                          <a:latin typeface="Calibri"/>
                        </a:rPr>
                        <a:t>Marge EBITDA</a:t>
                      </a:r>
                    </a:p>
                  </a:txBody>
                  <a:tcPr>
                    <a:solidFill>
                      <a:srgbClr val="F7F8FA"/>
                    </a:solidFill>
                  </a:tcPr>
                </a:tc>
                <a:tc>
                  <a:txBody>
                    <a:bodyPr/>
                    <a:lstStyle/>
                    <a:p>
                      <a:pPr algn="ctr"/>
                      <a:r>
                        <a:rPr sz="750" b="0" i="1">
                          <a:solidFill>
                            <a:srgbClr val="333333"/>
                          </a:solidFill>
                          <a:latin typeface="Calibri"/>
                        </a:rPr>
                        <a:t>15,3 %</a:t>
                      </a:r>
                    </a:p>
                  </a:txBody>
                  <a:tcPr>
                    <a:solidFill>
                      <a:srgbClr val="F7F8FA"/>
                    </a:solidFill>
                  </a:tcPr>
                </a:tc>
                <a:tc>
                  <a:txBody>
                    <a:bodyPr/>
                    <a:lstStyle/>
                    <a:p>
                      <a:pPr algn="ctr"/>
                      <a:r>
                        <a:rPr sz="750" b="0" i="1">
                          <a:solidFill>
                            <a:srgbClr val="333333"/>
                          </a:solidFill>
                          <a:latin typeface="Calibri"/>
                        </a:rPr>
                        <a:t>15,1 %</a:t>
                      </a:r>
                    </a:p>
                  </a:txBody>
                  <a:tcPr>
                    <a:solidFill>
                      <a:srgbClr val="F7F8FA"/>
                    </a:solidFill>
                  </a:tcPr>
                </a:tc>
                <a:tc>
                  <a:txBody>
                    <a:bodyPr/>
                    <a:lstStyle/>
                    <a:p>
                      <a:pPr algn="ctr"/>
                      <a:r>
                        <a:rPr sz="750" b="0" i="1">
                          <a:solidFill>
                            <a:srgbClr val="333333"/>
                          </a:solidFill>
                          <a:latin typeface="Calibri"/>
                        </a:rPr>
                        <a:t>12,4 %</a:t>
                      </a:r>
                    </a:p>
                  </a:txBody>
                  <a:tcPr>
                    <a:solidFill>
                      <a:srgbClr val="DDE8F5"/>
                    </a:solidFill>
                  </a:tcPr>
                </a:tc>
                <a:tc>
                  <a:txBody>
                    <a:bodyPr/>
                    <a:lstStyle/>
                    <a:p>
                      <a:pPr algn="ctr"/>
                      <a:r>
                        <a:rPr sz="750" b="0" i="1">
                          <a:solidFill>
                            <a:srgbClr val="333333"/>
                          </a:solidFill>
                          <a:latin typeface="Calibri"/>
                        </a:rPr>
                        <a:t>15,7 %</a:t>
                      </a:r>
                    </a:p>
                  </a:txBody>
                  <a:tcPr>
                    <a:solidFill>
                      <a:srgbClr val="F7F8FA"/>
                    </a:solidFill>
                  </a:tcPr>
                </a:tc>
                <a:tc>
                  <a:txBody>
                    <a:bodyPr/>
                    <a:lstStyle/>
                    <a:p>
                      <a:pPr algn="ctr"/>
                      <a:r>
                        <a:rPr sz="750" b="0" i="1">
                          <a:solidFill>
                            <a:srgbClr val="333333"/>
                          </a:solidFill>
                          <a:latin typeface="Calibri"/>
                        </a:rPr>
                        <a:t>18,3 %</a:t>
                      </a:r>
                    </a:p>
                  </a:txBody>
                  <a:tcPr>
                    <a:solidFill>
                      <a:srgbClr val="F7F8FA"/>
                    </a:solidFill>
                  </a:tcPr>
                </a:tc>
              </a:tr>
              <a:tr h="220000">
                <a:tc>
                  <a:txBody>
                    <a:bodyPr/>
                    <a:lstStyle/>
                    <a:p>
                      <a:pPr algn="l"/>
                      <a:r>
                        <a:rPr sz="800" b="1" i="0">
                          <a:solidFill>
                            <a:srgbClr val="0D0D0D"/>
                          </a:solidFill>
                          <a:latin typeface="Calibri"/>
                        </a:rPr>
                        <a:t>Résultat net</a:t>
                      </a:r>
                    </a:p>
                  </a:txBody>
                  <a:tcPr>
                    <a:solidFill>
                      <a:srgbClr val="FFFFFF"/>
                    </a:solidFill>
                  </a:tcPr>
                </a:tc>
                <a:tc>
                  <a:txBody>
                    <a:bodyPr/>
                    <a:lstStyle/>
                    <a:p>
                      <a:pPr algn="ctr"/>
                      <a:r>
                        <a:rPr sz="800" b="1" i="0">
                          <a:solidFill>
                            <a:srgbClr val="0D0D0D"/>
                          </a:solidFill>
                          <a:latin typeface="Calibri"/>
                        </a:rPr>
                        <a:t>15,0</a:t>
                      </a:r>
                    </a:p>
                  </a:txBody>
                  <a:tcPr>
                    <a:solidFill>
                      <a:srgbClr val="FFFFFF"/>
                    </a:solidFill>
                  </a:tcPr>
                </a:tc>
                <a:tc>
                  <a:txBody>
                    <a:bodyPr/>
                    <a:lstStyle/>
                    <a:p>
                      <a:pPr algn="ctr"/>
                      <a:r>
                        <a:rPr sz="800" b="1" i="0">
                          <a:solidFill>
                            <a:srgbClr val="0D0D0D"/>
                          </a:solidFill>
                          <a:latin typeface="Calibri"/>
                        </a:rPr>
                        <a:t>7,1</a:t>
                      </a:r>
                    </a:p>
                  </a:txBody>
                  <a:tcPr>
                    <a:solidFill>
                      <a:srgbClr val="FFFFFF"/>
                    </a:solidFill>
                  </a:tcPr>
                </a:tc>
                <a:tc>
                  <a:txBody>
                    <a:bodyPr/>
                    <a:lstStyle/>
                    <a:p>
                      <a:pPr algn="ctr"/>
                      <a:r>
                        <a:rPr sz="800" b="1" i="0">
                          <a:solidFill>
                            <a:srgbClr val="1B3A6B"/>
                          </a:solidFill>
                          <a:latin typeface="Calibri"/>
                        </a:rPr>
                        <a:t>3,8</a:t>
                      </a:r>
                    </a:p>
                  </a:txBody>
                  <a:tcPr>
                    <a:solidFill>
                      <a:srgbClr val="DDE8F5"/>
                    </a:solidFill>
                  </a:tcPr>
                </a:tc>
                <a:tc>
                  <a:txBody>
                    <a:bodyPr/>
                    <a:lstStyle/>
                    <a:p>
                      <a:pPr algn="ctr"/>
                      <a:r>
                        <a:rPr sz="800" b="1" i="0">
                          <a:solidFill>
                            <a:srgbClr val="0D0D0D"/>
                          </a:solidFill>
                          <a:latin typeface="Calibri"/>
                        </a:rPr>
                        <a:t>6,5</a:t>
                      </a:r>
                    </a:p>
                  </a:txBody>
                  <a:tcPr>
                    <a:solidFill>
                      <a:srgbClr val="FFFFFF"/>
                    </a:solidFill>
                  </a:tcPr>
                </a:tc>
                <a:tc>
                  <a:txBody>
                    <a:bodyPr/>
                    <a:lstStyle/>
                    <a:p>
                      <a:pPr algn="ctr"/>
                      <a:r>
                        <a:rPr sz="800" b="1" i="0">
                          <a:solidFill>
                            <a:srgbClr val="0D0D0D"/>
                          </a:solidFill>
                          <a:latin typeface="Calibri"/>
                        </a:rPr>
                        <a:t>9,0</a:t>
                      </a:r>
                    </a:p>
                  </a:txBody>
                  <a:tcPr>
                    <a:solidFill>
                      <a:srgbClr val="FFFFFF"/>
                    </a:solidFill>
                  </a:tcPr>
                </a:tc>
              </a:tr>
              <a:tr h="220000">
                <a:tc>
                  <a:txBody>
                    <a:bodyPr/>
                    <a:lstStyle/>
                    <a:p>
                      <a:pPr algn="l"/>
                      <a:r>
                        <a:rPr sz="750" b="0" i="1">
                          <a:solidFill>
                            <a:srgbClr val="333333"/>
                          </a:solidFill>
                          <a:latin typeface="Calibri"/>
                        </a:rPr>
                        <a:t>Marge nette</a:t>
                      </a:r>
                    </a:p>
                  </a:txBody>
                  <a:tcPr>
                    <a:solidFill>
                      <a:srgbClr val="F7F8FA"/>
                    </a:solidFill>
                  </a:tcPr>
                </a:tc>
                <a:tc>
                  <a:txBody>
                    <a:bodyPr/>
                    <a:lstStyle/>
                    <a:p>
                      <a:pPr algn="ctr"/>
                      <a:r>
                        <a:rPr sz="750" b="0" i="1">
                          <a:solidFill>
                            <a:srgbClr val="333333"/>
                          </a:solidFill>
                          <a:latin typeface="Calibri"/>
                        </a:rPr>
                        <a:t>15,5 %</a:t>
                      </a:r>
                    </a:p>
                  </a:txBody>
                  <a:tcPr>
                    <a:solidFill>
                      <a:srgbClr val="F7F8FA"/>
                    </a:solidFill>
                  </a:tcPr>
                </a:tc>
                <a:tc>
                  <a:txBody>
                    <a:bodyPr/>
                    <a:lstStyle/>
                    <a:p>
                      <a:pPr algn="ctr"/>
                      <a:r>
                        <a:rPr sz="750" b="0" i="1">
                          <a:solidFill>
                            <a:srgbClr val="333333"/>
                          </a:solidFill>
                          <a:latin typeface="Calibri"/>
                        </a:rPr>
                        <a:t>7,3 %</a:t>
                      </a:r>
                    </a:p>
                  </a:txBody>
                  <a:tcPr>
                    <a:solidFill>
                      <a:srgbClr val="F7F8FA"/>
                    </a:solidFill>
                  </a:tcPr>
                </a:tc>
                <a:tc>
                  <a:txBody>
                    <a:bodyPr/>
                    <a:lstStyle/>
                    <a:p>
                      <a:pPr algn="ctr"/>
                      <a:r>
                        <a:rPr sz="750" b="0" i="1">
                          <a:solidFill>
                            <a:srgbClr val="333333"/>
                          </a:solidFill>
                          <a:latin typeface="Calibri"/>
                        </a:rPr>
                        <a:t>4,0 %</a:t>
                      </a:r>
                    </a:p>
                  </a:txBody>
                  <a:tcPr>
                    <a:solidFill>
                      <a:srgbClr val="DDE8F5"/>
                    </a:solidFill>
                  </a:tcPr>
                </a:tc>
                <a:tc>
                  <a:txBody>
                    <a:bodyPr/>
                    <a:lstStyle/>
                    <a:p>
                      <a:pPr algn="ctr"/>
                      <a:r>
                        <a:rPr sz="750" b="0" i="1">
                          <a:solidFill>
                            <a:srgbClr val="333333"/>
                          </a:solidFill>
                          <a:latin typeface="Calibri"/>
                        </a:rPr>
                        <a:t>6,4 %</a:t>
                      </a:r>
                    </a:p>
                  </a:txBody>
                  <a:tcPr>
                    <a:solidFill>
                      <a:srgbClr val="F7F8FA"/>
                    </a:solidFill>
                  </a:tcPr>
                </a:tc>
                <a:tc>
                  <a:txBody>
                    <a:bodyPr/>
                    <a:lstStyle/>
                    <a:p>
                      <a:pPr algn="ctr"/>
                      <a:r>
                        <a:rPr sz="750" b="0" i="1">
                          <a:solidFill>
                            <a:srgbClr val="333333"/>
                          </a:solidFill>
                          <a:latin typeface="Calibri"/>
                        </a:rPr>
                        <a:t>7,8 %</a:t>
                      </a:r>
                    </a:p>
                  </a:txBody>
                  <a:tcPr>
                    <a:solidFill>
                      <a:srgbClr val="F7F8FA"/>
                    </a:solidFill>
                  </a:tcPr>
                </a:tc>
              </a:tr>
            </a:tbl>
          </a:graphicData>
        </a:graphic>
      </p:graphicFrame>
      <p:sp>
        <p:nvSpPr>
          <p:cNvPr id="18" name="Rectangle 17"/>
          <p:cNvSpPr/>
          <p:nvPr/>
        </p:nvSpPr>
        <p:spPr>
          <a:xfrm>
            <a:off x="367200" y="3218400"/>
            <a:ext cx="8413200" cy="12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218400"/>
            <a:ext cx="79200" cy="122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247200"/>
            <a:ext cx="8298000" cy="1188000"/>
          </a:xfrm>
          <a:prstGeom prst="rect">
            <a:avLst/>
          </a:prstGeom>
          <a:noFill/>
        </p:spPr>
        <p:txBody>
          <a:bodyPr wrap="square">
            <a:spAutoFit/>
          </a:bodyPr>
          <a:lstStyle/>
          <a:p>
            <a:pPr algn="l"/>
            <a:r>
              <a:rPr sz="850" b="0" i="0">
                <a:solidFill>
                  <a:srgbClr val="555555"/>
                </a:solidFill>
                <a:latin typeface="Calibri"/>
              </a:rPr>
              <a:t>Le CA 2025 atteint 94.8Md$, en baisse de 3% YoY, reflétant une demande atone en Amérique du Nord et en Europe. La marge brute de 18% est stable mais la marge nette chute à 4% (vs 15.5% en 2023) en raison de la pression sur les prix et des coûts fixes élevés. Le bilan reste solide avec un ND/EBITDA négatif de -0.7x, permettant un rachat d'actions ou des investissements R&amp;D.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USD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16,5 Mds$</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6,6 Mds$</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-8,4 Mds$</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2,23</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1,55</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0,1x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d'intérêts</a:t>
                      </a:r>
                    </a:p>
                  </a:txBody>
                  <a:tcPr>
                    <a:solidFill>
                      <a:srgbClr val="F7F8FA"/>
                    </a:solidFill>
                  </a:tcPr>
                </a:tc>
                <a:tc>
                  <a:txBody>
                    <a:bodyPr/>
                    <a:lstStyle/>
                    <a:p>
                      <a:pPr algn="ctr"/>
                      <a:r>
                        <a:rPr sz="800" b="0" i="0">
                          <a:solidFill>
                            <a:srgbClr val="0D0D0D"/>
                          </a:solidFill>
                          <a:latin typeface="Calibri"/>
                        </a:rPr>
                        <a:t>16,6x</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-0,7x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15,48</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-2,61</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
        <p:nvSpPr>
          <p:cNvPr id="31" name="Rectangle 30"/>
          <p:cNvSpPr/>
          <p:nvPr/>
        </p:nvSpPr>
        <p:spPr>
          <a:xfrm>
            <a:off x="367200" y="4068000"/>
            <a:ext cx="8413200" cy="46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7200" y="4068000"/>
            <a:ext cx="79200" cy="46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200" y="4096800"/>
            <a:ext cx="8298000" cy="432000"/>
          </a:xfrm>
          <a:prstGeom prst="rect">
            <a:avLst/>
          </a:prstGeom>
          <a:noFill/>
        </p:spPr>
        <p:txBody>
          <a:bodyPr wrap="square">
            <a:spAutoFit/>
          </a:bodyPr>
          <a:lstStyle/>
          <a:p>
            <a:pPr algn="l"/>
            <a:r>
              <a:rPr sz="850" b="0" i="0">
                <a:solidFill>
                  <a:srgbClr val="555555"/>
                </a:solidFill>
                <a:latin typeface="Calibri"/>
              </a:rPr>
              <a:t>Le CA 2025 atteint 94.8Md$, en baisse de 3% YoY, reflétant une demande atone en Amérique du Nord et en Europe. La marge brute de 18% est stable mais la marge nette chute à 4% (vs 15.5% en 2023) en raison de la pression sur les prix et des coûts fixes élevés. Le bilan reste solide avec un ND/EBITDA négatif de -0.7x, permettant un rachat d'actions ou des investissements R&amp;D.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339,5x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Eleve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108,8x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Très élevé</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13,5x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Très élevé</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18,0 %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Bas</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12,4 %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4,6 %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A82020"/>
                          </a:solidFill>
                          <a:latin typeface="Calibri"/>
                        </a:rPr>
                        <a:t>Bas</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6,3 %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9,0 %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B06000"/>
                          </a:solidFill>
                          <a:latin typeface="Calibri"/>
                        </a:rPr>
                        <a:t>Modéré</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15,48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Solide</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-2,61</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Aucun signal</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Rectangle 17"/>
          <p:cNvSpPr/>
          <p:nvPr/>
        </p:nvSpPr>
        <p:spPr>
          <a:xfrm>
            <a:off x="367200" y="3628800"/>
            <a:ext cx="8413200" cy="824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628800"/>
            <a:ext cx="792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657600"/>
            <a:ext cx="8298000" cy="788400"/>
          </a:xfrm>
          <a:prstGeom prst="rect">
            <a:avLst/>
          </a:prstGeom>
          <a:noFill/>
        </p:spPr>
        <p:txBody>
          <a:bodyPr wrap="square">
            <a:spAutoFit/>
          </a:bodyPr>
          <a:lstStyle/>
          <a:p>
            <a:pPr algn="l"/>
            <a:r>
              <a:rPr sz="850" b="0" i="0">
                <a:solidFill>
                  <a:srgbClr val="555555"/>
                </a:solidFill>
                <a:latin typeface="Calibri"/>
              </a:rPr>
              <a:t>La marge EBITDA a chuté de 21.7% en 2022 à 12.4% en 2025, principalement due à la baisse des prix des véhicules (-12% en 2024) et à l'augmentation des coûts fixes. Le mix produit (Model 2 vs Model S) et les économies d'échelle devraient stabiliser les marges à 14% d'ici 2027. Le pricing power reste fragile face à la concurrence chinoise.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360 $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343,25 $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280 $</a:t>
                      </a:r>
                    </a:p>
                  </a:txBody>
                  <a:tcPr>
                    <a:solidFill>
                      <a:srgbClr val="FAF0EF"/>
                    </a:solidFill>
                  </a:tcPr>
                </a:tc>
                <a:tc>
                  <a:txBody>
                    <a:bodyPr/>
                    <a:lstStyle/>
                    <a:p>
                      <a:pPr algn="ctr"/>
                      <a:r>
                        <a:rPr sz="2000" b="1" i="0">
                          <a:solidFill>
                            <a:srgbClr val="2E5FA3"/>
                          </a:solidFill>
                          <a:latin typeface="Calibri"/>
                        </a:rPr>
                        <a:t>360 $</a:t>
                      </a:r>
                    </a:p>
                  </a:txBody>
                  <a:tcPr>
                    <a:solidFill>
                      <a:srgbClr val="EEF3FA"/>
                    </a:solidFill>
                  </a:tcPr>
                </a:tc>
                <a:tc>
                  <a:txBody>
                    <a:bodyPr/>
                    <a:lstStyle/>
                    <a:p>
                      <a:pPr algn="ctr"/>
                      <a:r>
                        <a:rPr sz="2000" b="1" i="0">
                          <a:solidFill>
                            <a:srgbClr val="1A7A4A"/>
                          </a:solidFill>
                          <a:latin typeface="Calibri"/>
                        </a:rPr>
                        <a:t>420 $</a:t>
                      </a:r>
                    </a:p>
                  </a:txBody>
                  <a:tcPr>
                    <a:solidFill>
                      <a:srgbClr val="EAF4EF"/>
                    </a:solidFill>
                  </a:tcPr>
                </a:tc>
              </a:tr>
              <a:tr h="342900">
                <a:tc>
                  <a:txBody>
                    <a:bodyPr/>
                    <a:lstStyle/>
                    <a:p>
                      <a:pPr algn="ctr"/>
                      <a:r>
                        <a:rPr sz="1200" b="1" i="0">
                          <a:solidFill>
                            <a:srgbClr val="A82020"/>
                          </a:solidFill>
                          <a:latin typeface="Calibri"/>
                        </a:rPr>
                        <a:t>-18,4 %</a:t>
                      </a:r>
                    </a:p>
                  </a:txBody>
                  <a:tcPr>
                    <a:solidFill>
                      <a:srgbClr val="FAF0EF"/>
                    </a:solidFill>
                  </a:tcPr>
                </a:tc>
                <a:tc>
                  <a:txBody>
                    <a:bodyPr/>
                    <a:lstStyle/>
                    <a:p>
                      <a:pPr algn="ctr"/>
                      <a:r>
                        <a:rPr sz="1200" b="1" i="0">
                          <a:solidFill>
                            <a:srgbClr val="2E5FA3"/>
                          </a:solidFill>
                          <a:latin typeface="Calibri"/>
                        </a:rPr>
                        <a:t>+4,9 %</a:t>
                      </a:r>
                    </a:p>
                  </a:txBody>
                  <a:tcPr>
                    <a:solidFill>
                      <a:srgbClr val="EEF3FA"/>
                    </a:solidFill>
                  </a:tcPr>
                </a:tc>
                <a:tc>
                  <a:txBody>
                    <a:bodyPr/>
                    <a:lstStyle/>
                    <a:p>
                      <a:pPr algn="ctr"/>
                      <a:r>
                        <a:rPr sz="1200" b="1" i="0">
                          <a:solidFill>
                            <a:srgbClr val="1A7A4A"/>
                          </a:solidFill>
                          <a:latin typeface="Calibri"/>
                        </a:rPr>
                        <a:t>+22,4 %</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4024800" cy="201600"/>
          </a:xfrm>
          <a:prstGeom prst="rect">
            <a:avLst/>
          </a:prstGeom>
          <a:noFill/>
        </p:spPr>
        <p:txBody>
          <a:bodyPr wrap="square">
            <a:spAutoFit/>
          </a:bodyPr>
          <a:lstStyle/>
          <a:p>
            <a:pPr algn="l"/>
            <a:r>
              <a:rPr sz="900" b="1" i="0">
                <a:solidFill>
                  <a:srgbClr val="1B3A6B"/>
                </a:solidFill>
                <a:latin typeface="Calibri"/>
              </a:rPr>
              <a:t>Monte Carlo GBM — 10 000 simulations</a:t>
            </a:r>
          </a:p>
        </p:txBody>
      </p:sp>
      <p:graphicFrame>
        <p:nvGraphicFramePr>
          <p:cNvPr id="19" name="Table 18"/>
          <p:cNvGraphicFramePr>
            <a:graphicFrameLocks noGrp="1"/>
          </p:cNvGraphicFramePr>
          <p:nvPr/>
        </p:nvGraphicFramePr>
        <p:xfrm>
          <a:off x="367200" y="2653200"/>
          <a:ext cx="4024800" cy="1116000"/>
        </p:xfrm>
        <a:graphic>
          <a:graphicData uri="http://schemas.openxmlformats.org/drawingml/2006/table">
            <a:tbl>
              <a:tblPr firstRow="1" bandRow="1">
                <a:tableStyleId>{5C22544A-7EE6-4342-B048-85BDC9FD1C3A}</a:tableStyleId>
              </a:tblPr>
              <a:tblGrid>
                <a:gridCol w="1690416"/>
                <a:gridCol w="1287936"/>
                <a:gridCol w="1046448"/>
              </a:tblGrid>
              <a:tr h="186000">
                <a:tc>
                  <a:txBody>
                    <a:bodyPr/>
                    <a:lstStyle/>
                    <a:p>
                      <a:pPr algn="l"/>
                      <a:r>
                        <a:rPr sz="800" b="1" i="0">
                          <a:solidFill>
                            <a:srgbClr val="FFFFFF"/>
                          </a:solidFill>
                          <a:latin typeface="Calibri"/>
                        </a:rPr>
                        <a:t>Scénario</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Cours prédit (12M)</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vs Cours</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Stress Down (P2)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-67,8 %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Pessimiste (P10)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-48,6 %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 Médian (P50)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395 $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+15,0 %</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Optimiste (P90)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879 $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+156,2 %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Stress Up (P98)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1 412 $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+311,5 %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4482000" y="2394000"/>
            <a:ext cx="4298400" cy="201600"/>
          </a:xfrm>
          <a:prstGeom prst="rect">
            <a:avLst/>
          </a:prstGeom>
          <a:noFill/>
        </p:spPr>
        <p:txBody>
          <a:bodyPr wrap="square">
            <a:spAutoFit/>
          </a:bodyPr>
          <a:lstStyle/>
          <a:p>
            <a:pPr algn="l"/>
            <a:r>
              <a:rPr sz="900" b="1" i="0">
                <a:solidFill>
                  <a:srgbClr val="1B3A6B"/>
                </a:solidFill>
                <a:latin typeface="Calibri"/>
              </a:rPr>
              <a:t>Sensibilité WACC × TGR — Valeur ($)</a:t>
            </a:r>
          </a:p>
        </p:txBody>
      </p:sp>
      <p:graphicFrame>
        <p:nvGraphicFramePr>
          <p:cNvPr id="21" name="Table 20"/>
          <p:cNvGraphicFramePr>
            <a:graphicFrameLocks noGrp="1"/>
          </p:cNvGraphicFramePr>
          <p:nvPr/>
        </p:nvGraphicFramePr>
        <p:xfrm>
          <a:off x="4482000" y="2653200"/>
          <a:ext cx="4298400" cy="1116000"/>
        </p:xfrm>
        <a:graphic>
          <a:graphicData uri="http://schemas.openxmlformats.org/drawingml/2006/table">
            <a:tbl>
              <a:tblPr firstRow="1" bandRow="1">
                <a:tableStyleId>{5C22544A-7EE6-4342-B048-85BDC9FD1C3A}</a:tableStyleId>
              </a:tblPr>
              <a:tblGrid>
                <a:gridCol w="716400"/>
                <a:gridCol w="716400"/>
                <a:gridCol w="716400"/>
                <a:gridCol w="716400"/>
                <a:gridCol w="716400"/>
                <a:gridCol w="7164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12,8%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430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452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476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13,8%</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360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375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430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14,8%</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333</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346</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360</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375</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15,8%</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310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321</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333</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346</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360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16,8%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289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310</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321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333</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2" name="Rectangle 21"/>
          <p:cNvSpPr/>
          <p:nvPr/>
        </p:nvSpPr>
        <p:spPr>
          <a:xfrm>
            <a:off x="367200" y="3916800"/>
            <a:ext cx="8413200" cy="5472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7200" y="3916800"/>
            <a:ext cx="79200" cy="547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200" y="3945600"/>
            <a:ext cx="8298000" cy="511200"/>
          </a:xfrm>
          <a:prstGeom prst="rect">
            <a:avLst/>
          </a:prstGeom>
          <a:noFill/>
        </p:spPr>
        <p:txBody>
          <a:bodyPr wrap="square">
            <a:spAutoFit/>
          </a:bodyPr>
          <a:lstStyle/>
          <a:p>
            <a:pPr algn="l"/>
            <a:r>
              <a:rPr sz="850" b="0" i="0">
                <a:solidFill>
                  <a:srgbClr val="555555"/>
                </a:solidFill>
                <a:latin typeface="Calibri"/>
              </a:rPr>
              <a:t>Avec un WACC de 14.8% et un TGR de 2.5%, le DCF implicite suggère un prix de 360 USD, soit +5% vs le cours actuel. Cette prime reflète une croissance future déjà partiellement pricee. Un rebond des marges ou une accélération des ventes en Chine serait nécessaire pour justifier une réévaluation.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USD</a:t>
            </a:r>
          </a:p>
        </p:txBody>
      </p:sp>
      <p:graphicFrame>
        <p:nvGraphicFramePr>
          <p:cNvPr id="17" name="Table 16"/>
          <p:cNvGraphicFramePr>
            <a:graphicFrameLocks noGrp="1"/>
          </p:cNvGraphicFramePr>
          <p:nvPr/>
        </p:nvGraphicFramePr>
        <p:xfrm>
          <a:off x="367200" y="914400"/>
          <a:ext cx="8413200" cy="2015999"/>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51999">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51999">
                <a:tc>
                  <a:txBody>
                    <a:bodyPr/>
                    <a:lstStyle/>
                    <a:p>
                      <a:pPr algn="l"/>
                      <a:r>
                        <a:rPr sz="800" b="1" i="0">
                          <a:solidFill>
                            <a:srgbClr val="1B3A6B"/>
                          </a:solidFill>
                          <a:latin typeface="Calibri"/>
                        </a:rPr>
                        <a:t>Tesla, Inc.</a:t>
                      </a:r>
                    </a:p>
                  </a:txBody>
                  <a:tcPr>
                    <a:solidFill>
                      <a:srgbClr val="DDE8F5"/>
                    </a:solidFill>
                  </a:tcPr>
                </a:tc>
                <a:tc>
                  <a:txBody>
                    <a:bodyPr/>
                    <a:lstStyle/>
                    <a:p>
                      <a:pPr algn="ctr"/>
                      <a:r>
                        <a:rPr sz="750" b="1" i="0">
                          <a:solidFill>
                            <a:srgbClr val="2E5FA3"/>
                          </a:solidFill>
                          <a:latin typeface="Calibri"/>
                        </a:rPr>
                        <a:t>TSLA</a:t>
                      </a:r>
                    </a:p>
                  </a:txBody>
                  <a:tcPr>
                    <a:solidFill>
                      <a:srgbClr val="DDE8F5"/>
                    </a:solidFill>
                  </a:tcPr>
                </a:tc>
                <a:tc>
                  <a:txBody>
                    <a:bodyPr/>
                    <a:lstStyle/>
                    <a:p>
                      <a:pPr algn="ctr"/>
                      <a:r>
                        <a:rPr sz="800" b="1" i="0">
                          <a:solidFill>
                            <a:srgbClr val="1B3A6B"/>
                          </a:solidFill>
                          <a:latin typeface="Calibri"/>
                        </a:rPr>
                        <a:t>1 288,0</a:t>
                      </a:r>
                    </a:p>
                  </a:txBody>
                  <a:tcPr>
                    <a:solidFill>
                      <a:srgbClr val="DDE8F5"/>
                    </a:solidFill>
                  </a:tcPr>
                </a:tc>
                <a:tc>
                  <a:txBody>
                    <a:bodyPr/>
                    <a:lstStyle/>
                    <a:p>
                      <a:pPr algn="ctr"/>
                      <a:r>
                        <a:rPr sz="800" b="1" i="0">
                          <a:solidFill>
                            <a:srgbClr val="1B3A6B"/>
                          </a:solidFill>
                          <a:latin typeface="Calibri"/>
                        </a:rPr>
                        <a:t>108,8x</a:t>
                      </a:r>
                    </a:p>
                  </a:txBody>
                  <a:tcPr>
                    <a:solidFill>
                      <a:srgbClr val="DDE8F5"/>
                    </a:solidFill>
                  </a:tcPr>
                </a:tc>
                <a:tc>
                  <a:txBody>
                    <a:bodyPr/>
                    <a:lstStyle/>
                    <a:p>
                      <a:pPr algn="ctr"/>
                      <a:r>
                        <a:rPr sz="800" b="1" i="0">
                          <a:solidFill>
                            <a:srgbClr val="1B3A6B"/>
                          </a:solidFill>
                          <a:latin typeface="Calibri"/>
                        </a:rPr>
                        <a:t>13,5x</a:t>
                      </a:r>
                    </a:p>
                  </a:txBody>
                  <a:tcPr>
                    <a:solidFill>
                      <a:srgbClr val="DDE8F5"/>
                    </a:solidFill>
                  </a:tcPr>
                </a:tc>
                <a:tc>
                  <a:txBody>
                    <a:bodyPr/>
                    <a:lstStyle/>
                    <a:p>
                      <a:pPr algn="ctr"/>
                      <a:r>
                        <a:rPr sz="800" b="1" i="0">
                          <a:solidFill>
                            <a:srgbClr val="1B3A6B"/>
                          </a:solidFill>
                          <a:latin typeface="Calibri"/>
                        </a:rPr>
                        <a:t>339,5x</a:t>
                      </a:r>
                    </a:p>
                  </a:txBody>
                  <a:tcPr>
                    <a:solidFill>
                      <a:srgbClr val="DDE8F5"/>
                    </a:solidFill>
                  </a:tcPr>
                </a:tc>
                <a:tc>
                  <a:txBody>
                    <a:bodyPr/>
                    <a:lstStyle/>
                    <a:p>
                      <a:pPr algn="ctr"/>
                      <a:r>
                        <a:rPr sz="800" b="1" i="0">
                          <a:solidFill>
                            <a:srgbClr val="1B3A6B"/>
                          </a:solidFill>
                          <a:latin typeface="Calibri"/>
                        </a:rPr>
                        <a:t>18,0 %</a:t>
                      </a:r>
                    </a:p>
                  </a:txBody>
                  <a:tcPr>
                    <a:solidFill>
                      <a:srgbClr val="DDE8F5"/>
                    </a:solidFill>
                  </a:tcPr>
                </a:tc>
                <a:tc>
                  <a:txBody>
                    <a:bodyPr/>
                    <a:lstStyle/>
                    <a:p>
                      <a:pPr algn="ctr"/>
                      <a:r>
                        <a:rPr sz="800" b="1" i="0">
                          <a:solidFill>
                            <a:srgbClr val="1B3A6B"/>
                          </a:solidFill>
                          <a:latin typeface="Calibri"/>
                        </a:rPr>
                        <a:t>12,4 %</a:t>
                      </a:r>
                    </a:p>
                  </a:txBody>
                  <a:tcPr>
                    <a:solidFill>
                      <a:srgbClr val="DDE8F5"/>
                    </a:solidFill>
                  </a:tcPr>
                </a:tc>
              </a:tr>
              <a:tr h="251999">
                <a:tc>
                  <a:txBody>
                    <a:bodyPr/>
                    <a:lstStyle/>
                    <a:p>
                      <a:pPr algn="l"/>
                      <a:r>
                        <a:rPr sz="800" b="0" i="0">
                          <a:solidFill>
                            <a:srgbClr val="0D0D0D"/>
                          </a:solidFill>
                          <a:latin typeface="Calibri"/>
                        </a:rPr>
                        <a:t>Toyota Motor Corporation</a:t>
                      </a:r>
                    </a:p>
                  </a:txBody>
                  <a:tcPr>
                    <a:solidFill>
                      <a:srgbClr val="FFFFFF"/>
                    </a:solidFill>
                  </a:tcPr>
                </a:tc>
                <a:tc>
                  <a:txBody>
                    <a:bodyPr/>
                    <a:lstStyle/>
                    <a:p>
                      <a:pPr algn="ctr"/>
                      <a:r>
                        <a:rPr sz="750" b="0" i="0">
                          <a:solidFill>
                            <a:srgbClr val="555555"/>
                          </a:solidFill>
                          <a:latin typeface="Calibri"/>
                        </a:rPr>
                        <a:t>TM</a:t>
                      </a:r>
                    </a:p>
                  </a:txBody>
                  <a:tcPr>
                    <a:solidFill>
                      <a:srgbClr val="FFFFFF"/>
                    </a:solidFill>
                  </a:tcPr>
                </a:tc>
                <a:tc>
                  <a:txBody>
                    <a:bodyPr/>
                    <a:lstStyle/>
                    <a:p>
                      <a:pPr algn="ctr"/>
                      <a:r>
                        <a:rPr sz="800" b="0" i="0">
                          <a:solidFill>
                            <a:srgbClr val="0D0D0D"/>
                          </a:solidFill>
                          <a:latin typeface="Calibri"/>
                        </a:rPr>
                        <a:t>250,0</a:t>
                      </a:r>
                    </a:p>
                  </a:txBody>
                  <a:tcPr>
                    <a:solidFill>
                      <a:srgbClr val="FFFFFF"/>
                    </a:solidFill>
                  </a:tcPr>
                </a:tc>
                <a:tc>
                  <a:txBody>
                    <a:bodyPr/>
                    <a:lstStyle/>
                    <a:p>
                      <a:pPr algn="ctr"/>
                      <a:r>
                        <a:rPr sz="800" b="0" i="0">
                          <a:solidFill>
                            <a:srgbClr val="0D0D0D"/>
                          </a:solidFill>
                          <a:latin typeface="Calibri"/>
                        </a:rPr>
                        <a:t>6,2x</a:t>
                      </a:r>
                    </a:p>
                  </a:txBody>
                  <a:tcPr>
                    <a:solidFill>
                      <a:srgbClr val="FFFFFF"/>
                    </a:solidFill>
                  </a:tcPr>
                </a:tc>
                <a:tc>
                  <a:txBody>
                    <a:bodyPr/>
                    <a:lstStyle/>
                    <a:p>
                      <a:pPr algn="ctr"/>
                      <a:r>
                        <a:rPr sz="800" b="0" i="0">
                          <a:solidFill>
                            <a:srgbClr val="0D0D0D"/>
                          </a:solidFill>
                          <a:latin typeface="Calibri"/>
                        </a:rPr>
                        <a:t>1,1x</a:t>
                      </a:r>
                    </a:p>
                  </a:txBody>
                  <a:tcPr>
                    <a:solidFill>
                      <a:srgbClr val="FFFFFF"/>
                    </a:solidFill>
                  </a:tcPr>
                </a:tc>
                <a:tc>
                  <a:txBody>
                    <a:bodyPr/>
                    <a:lstStyle/>
                    <a:p>
                      <a:pPr algn="ctr"/>
                      <a:r>
                        <a:rPr sz="800" b="0" i="0">
                          <a:solidFill>
                            <a:srgbClr val="0D0D0D"/>
                          </a:solidFill>
                          <a:latin typeface="Calibri"/>
                        </a:rPr>
                        <a:t>10,5x</a:t>
                      </a:r>
                    </a:p>
                  </a:txBody>
                  <a:tcPr>
                    <a:solidFill>
                      <a:srgbClr val="FFFFFF"/>
                    </a:solidFill>
                  </a:tcPr>
                </a:tc>
                <a:tc>
                  <a:txBody>
                    <a:bodyPr/>
                    <a:lstStyle/>
                    <a:p>
                      <a:pPr algn="ctr"/>
                      <a:r>
                        <a:rPr sz="800" b="0" i="0">
                          <a:solidFill>
                            <a:srgbClr val="0D0D0D"/>
                          </a:solidFill>
                          <a:latin typeface="Calibri"/>
                        </a:rPr>
                        <a:t>24,0 %</a:t>
                      </a:r>
                    </a:p>
                  </a:txBody>
                  <a:tcPr>
                    <a:solidFill>
                      <a:srgbClr val="FFFFFF"/>
                    </a:solidFill>
                  </a:tcPr>
                </a:tc>
                <a:tc>
                  <a:txBody>
                    <a:bodyPr/>
                    <a:lstStyle/>
                    <a:p>
                      <a:pPr algn="ctr"/>
                      <a:r>
                        <a:rPr sz="800" b="0" i="0">
                          <a:solidFill>
                            <a:srgbClr val="0D0D0D"/>
                          </a:solidFill>
                          <a:latin typeface="Calibri"/>
                        </a:rPr>
                        <a:t>12,0 %</a:t>
                      </a:r>
                    </a:p>
                  </a:txBody>
                  <a:tcPr>
                    <a:solidFill>
                      <a:srgbClr val="FFFFFF"/>
                    </a:solidFill>
                  </a:tcPr>
                </a:tc>
              </a:tr>
              <a:tr h="251999">
                <a:tc>
                  <a:txBody>
                    <a:bodyPr/>
                    <a:lstStyle/>
                    <a:p>
                      <a:pPr algn="l"/>
                      <a:r>
                        <a:rPr sz="800" b="0" i="0">
                          <a:solidFill>
                            <a:srgbClr val="0D0D0D"/>
                          </a:solidFill>
                          <a:latin typeface="Calibri"/>
                        </a:rPr>
                        <a:t>Volkswagen AG</a:t>
                      </a:r>
                    </a:p>
                  </a:txBody>
                  <a:tcPr>
                    <a:solidFill>
                      <a:srgbClr val="F7F8FA"/>
                    </a:solidFill>
                  </a:tcPr>
                </a:tc>
                <a:tc>
                  <a:txBody>
                    <a:bodyPr/>
                    <a:lstStyle/>
                    <a:p>
                      <a:pPr algn="ctr"/>
                      <a:r>
                        <a:rPr sz="750" b="0" i="0">
                          <a:solidFill>
                            <a:srgbClr val="555555"/>
                          </a:solidFill>
                          <a:latin typeface="Calibri"/>
                        </a:rPr>
                        <a:t>VOW.DE</a:t>
                      </a:r>
                    </a:p>
                  </a:txBody>
                  <a:tcPr>
                    <a:solidFill>
                      <a:srgbClr val="F7F8FA"/>
                    </a:solidFill>
                  </a:tcPr>
                </a:tc>
                <a:tc>
                  <a:txBody>
                    <a:bodyPr/>
                    <a:lstStyle/>
                    <a:p>
                      <a:pPr algn="ctr"/>
                      <a:r>
                        <a:rPr sz="800" b="0" i="0">
                          <a:solidFill>
                            <a:srgbClr val="0D0D0D"/>
                          </a:solidFill>
                          <a:latin typeface="Calibri"/>
                        </a:rPr>
                        <a:t>75,0</a:t>
                      </a:r>
                    </a:p>
                  </a:txBody>
                  <a:tcPr>
                    <a:solidFill>
                      <a:srgbClr val="F7F8FA"/>
                    </a:solidFill>
                  </a:tcPr>
                </a:tc>
                <a:tc>
                  <a:txBody>
                    <a:bodyPr/>
                    <a:lstStyle/>
                    <a:p>
                      <a:pPr algn="ctr"/>
                      <a:r>
                        <a:rPr sz="800" b="0" i="0">
                          <a:solidFill>
                            <a:srgbClr val="0D0D0D"/>
                          </a:solidFill>
                          <a:latin typeface="Calibri"/>
                        </a:rPr>
                        <a:t>4,8x</a:t>
                      </a:r>
                    </a:p>
                  </a:txBody>
                  <a:tcPr>
                    <a:solidFill>
                      <a:srgbClr val="F7F8FA"/>
                    </a:solidFill>
                  </a:tcPr>
                </a:tc>
                <a:tc>
                  <a:txBody>
                    <a:bodyPr/>
                    <a:lstStyle/>
                    <a:p>
                      <a:pPr algn="ctr"/>
                      <a:r>
                        <a:rPr sz="800" b="0" i="0">
                          <a:solidFill>
                            <a:srgbClr val="0D0D0D"/>
                          </a:solidFill>
                          <a:latin typeface="Calibri"/>
                        </a:rPr>
                        <a:t>0,8x</a:t>
                      </a:r>
                    </a:p>
                  </a:txBody>
                  <a:tcPr>
                    <a:solidFill>
                      <a:srgbClr val="F7F8FA"/>
                    </a:solidFill>
                  </a:tcPr>
                </a:tc>
                <a:tc>
                  <a:txBody>
                    <a:bodyPr/>
                    <a:lstStyle/>
                    <a:p>
                      <a:pPr algn="ctr"/>
                      <a:r>
                        <a:rPr sz="800" b="0" i="0">
                          <a:solidFill>
                            <a:srgbClr val="0D0D0D"/>
                          </a:solidFill>
                          <a:latin typeface="Calibri"/>
                        </a:rPr>
                        <a:t>5,2x</a:t>
                      </a:r>
                    </a:p>
                  </a:txBody>
                  <a:tcPr>
                    <a:solidFill>
                      <a:srgbClr val="F7F8FA"/>
                    </a:solidFill>
                  </a:tcPr>
                </a:tc>
                <a:tc>
                  <a:txBody>
                    <a:bodyPr/>
                    <a:lstStyle/>
                    <a:p>
                      <a:pPr algn="ctr"/>
                      <a:r>
                        <a:rPr sz="800" b="0" i="0">
                          <a:solidFill>
                            <a:srgbClr val="0D0D0D"/>
                          </a:solidFill>
                          <a:latin typeface="Calibri"/>
                        </a:rPr>
                        <a:t>18,0 %</a:t>
                      </a:r>
                    </a:p>
                  </a:txBody>
                  <a:tcPr>
                    <a:solidFill>
                      <a:srgbClr val="F7F8FA"/>
                    </a:solidFill>
                  </a:tcPr>
                </a:tc>
                <a:tc>
                  <a:txBody>
                    <a:bodyPr/>
                    <a:lstStyle/>
                    <a:p>
                      <a:pPr algn="ctr"/>
                      <a:r>
                        <a:rPr sz="800" b="0" i="0">
                          <a:solidFill>
                            <a:srgbClr val="0D0D0D"/>
                          </a:solidFill>
                          <a:latin typeface="Calibri"/>
                        </a:rPr>
                        <a:t>9,0 %</a:t>
                      </a:r>
                    </a:p>
                  </a:txBody>
                  <a:tcPr>
                    <a:solidFill>
                      <a:srgbClr val="F7F8FA"/>
                    </a:solidFill>
                  </a:tcPr>
                </a:tc>
              </a:tr>
              <a:tr h="251999">
                <a:tc>
                  <a:txBody>
                    <a:bodyPr/>
                    <a:lstStyle/>
                    <a:p>
                      <a:pPr algn="l"/>
                      <a:r>
                        <a:rPr sz="800" b="0" i="0">
                          <a:solidFill>
                            <a:srgbClr val="0D0D0D"/>
                          </a:solidFill>
                          <a:latin typeface="Calibri"/>
                        </a:rPr>
                        <a:t>Ford Motor Company</a:t>
                      </a:r>
                    </a:p>
                  </a:txBody>
                  <a:tcPr>
                    <a:solidFill>
                      <a:srgbClr val="FFFFFF"/>
                    </a:solidFill>
                  </a:tcPr>
                </a:tc>
                <a:tc>
                  <a:txBody>
                    <a:bodyPr/>
                    <a:lstStyle/>
                    <a:p>
                      <a:pPr algn="ctr"/>
                      <a:r>
                        <a:rPr sz="750" b="0" i="0">
                          <a:solidFill>
                            <a:srgbClr val="555555"/>
                          </a:solidFill>
                          <a:latin typeface="Calibri"/>
                        </a:rPr>
                        <a:t>F</a:t>
                      </a:r>
                    </a:p>
                  </a:txBody>
                  <a:tcPr>
                    <a:solidFill>
                      <a:srgbClr val="FFFFFF"/>
                    </a:solidFill>
                  </a:tcPr>
                </a:tc>
                <a:tc>
                  <a:txBody>
                    <a:bodyPr/>
                    <a:lstStyle/>
                    <a:p>
                      <a:pPr algn="ctr"/>
                      <a:r>
                        <a:rPr sz="800" b="0" i="0">
                          <a:solidFill>
                            <a:srgbClr val="0D0D0D"/>
                          </a:solidFill>
                          <a:latin typeface="Calibri"/>
                        </a:rPr>
                        <a:t>50,0</a:t>
                      </a:r>
                    </a:p>
                  </a:txBody>
                  <a:tcPr>
                    <a:solidFill>
                      <a:srgbClr val="FFFFFF"/>
                    </a:solidFill>
                  </a:tcPr>
                </a:tc>
                <a:tc>
                  <a:txBody>
                    <a:bodyPr/>
                    <a:lstStyle/>
                    <a:p>
                      <a:pPr algn="ctr"/>
                      <a:r>
                        <a:rPr sz="800" b="0" i="0">
                          <a:solidFill>
                            <a:srgbClr val="0D0D0D"/>
                          </a:solidFill>
                          <a:latin typeface="Calibri"/>
                        </a:rPr>
                        <a:t>5,1x</a:t>
                      </a:r>
                    </a:p>
                  </a:txBody>
                  <a:tcPr>
                    <a:solidFill>
                      <a:srgbClr val="FFFFFF"/>
                    </a:solidFill>
                  </a:tcPr>
                </a:tc>
                <a:tc>
                  <a:txBody>
                    <a:bodyPr/>
                    <a:lstStyle/>
                    <a:p>
                      <a:pPr algn="ctr"/>
                      <a:r>
                        <a:rPr sz="800" b="0" i="0">
                          <a:solidFill>
                            <a:srgbClr val="0D0D0D"/>
                          </a:solidFill>
                          <a:latin typeface="Calibri"/>
                        </a:rPr>
                        <a:t>0,7x</a:t>
                      </a:r>
                    </a:p>
                  </a:txBody>
                  <a:tcPr>
                    <a:solidFill>
                      <a:srgbClr val="FFFFFF"/>
                    </a:solidFill>
                  </a:tcPr>
                </a:tc>
                <a:tc>
                  <a:txBody>
                    <a:bodyPr/>
                    <a:lstStyle/>
                    <a:p>
                      <a:pPr algn="ctr"/>
                      <a:r>
                        <a:rPr sz="800" b="0" i="0">
                          <a:solidFill>
                            <a:srgbClr val="0D0D0D"/>
                          </a:solidFill>
                          <a:latin typeface="Calibri"/>
                        </a:rPr>
                        <a:t>6,8x</a:t>
                      </a:r>
                    </a:p>
                  </a:txBody>
                  <a:tcPr>
                    <a:solidFill>
                      <a:srgbClr val="FFFFFF"/>
                    </a:solidFill>
                  </a:tcPr>
                </a:tc>
                <a:tc>
                  <a:txBody>
                    <a:bodyPr/>
                    <a:lstStyle/>
                    <a:p>
                      <a:pPr algn="ctr"/>
                      <a:r>
                        <a:rPr sz="800" b="0" i="0">
                          <a:solidFill>
                            <a:srgbClr val="0D0D0D"/>
                          </a:solidFill>
                          <a:latin typeface="Calibri"/>
                        </a:rPr>
                        <a:t>15,0 %</a:t>
                      </a:r>
                    </a:p>
                  </a:txBody>
                  <a:tcPr>
                    <a:solidFill>
                      <a:srgbClr val="FFFFFF"/>
                    </a:solidFill>
                  </a:tcPr>
                </a:tc>
                <a:tc>
                  <a:txBody>
                    <a:bodyPr/>
                    <a:lstStyle/>
                    <a:p>
                      <a:pPr algn="ctr"/>
                      <a:r>
                        <a:rPr sz="800" b="0" i="0">
                          <a:solidFill>
                            <a:srgbClr val="0D0D0D"/>
                          </a:solidFill>
                          <a:latin typeface="Calibri"/>
                        </a:rPr>
                        <a:t>8,0 %</a:t>
                      </a:r>
                    </a:p>
                  </a:txBody>
                  <a:tcPr>
                    <a:solidFill>
                      <a:srgbClr val="FFFFFF"/>
                    </a:solidFill>
                  </a:tcPr>
                </a:tc>
              </a:tr>
              <a:tr h="251999">
                <a:tc>
                  <a:txBody>
                    <a:bodyPr/>
                    <a:lstStyle/>
                    <a:p>
                      <a:pPr algn="l"/>
                      <a:r>
                        <a:rPr sz="800" b="0" i="0">
                          <a:solidFill>
                            <a:srgbClr val="0D0D0D"/>
                          </a:solidFill>
                          <a:latin typeface="Calibri"/>
                        </a:rPr>
                        <a:t>BYD Company Limited</a:t>
                      </a:r>
                    </a:p>
                  </a:txBody>
                  <a:tcPr>
                    <a:solidFill>
                      <a:srgbClr val="F7F8FA"/>
                    </a:solidFill>
                  </a:tcPr>
                </a:tc>
                <a:tc>
                  <a:txBody>
                    <a:bodyPr/>
                    <a:lstStyle/>
                    <a:p>
                      <a:pPr algn="ctr"/>
                      <a:r>
                        <a:rPr sz="750" b="0" i="0">
                          <a:solidFill>
                            <a:srgbClr val="555555"/>
                          </a:solidFill>
                          <a:latin typeface="Calibri"/>
                        </a:rPr>
                        <a:t>1211.HK</a:t>
                      </a:r>
                    </a:p>
                  </a:txBody>
                  <a:tcPr>
                    <a:solidFill>
                      <a:srgbClr val="F7F8FA"/>
                    </a:solidFill>
                  </a:tcPr>
                </a:tc>
                <a:tc>
                  <a:txBody>
                    <a:bodyPr/>
                    <a:lstStyle/>
                    <a:p>
                      <a:pPr algn="ctr"/>
                      <a:r>
                        <a:rPr sz="800" b="0" i="0">
                          <a:solidFill>
                            <a:srgbClr val="0D0D0D"/>
                          </a:solidFill>
                          <a:latin typeface="Calibri"/>
                        </a:rPr>
                        <a:t>85,0</a:t>
                      </a:r>
                    </a:p>
                  </a:txBody>
                  <a:tcPr>
                    <a:solidFill>
                      <a:srgbClr val="F7F8FA"/>
                    </a:solidFill>
                  </a:tcPr>
                </a:tc>
                <a:tc>
                  <a:txBody>
                    <a:bodyPr/>
                    <a:lstStyle/>
                    <a:p>
                      <a:pPr algn="ctr"/>
                      <a:r>
                        <a:rPr sz="800" b="0" i="0">
                          <a:solidFill>
                            <a:srgbClr val="0D0D0D"/>
                          </a:solidFill>
                          <a:latin typeface="Calibri"/>
                        </a:rPr>
                        <a:t>12,5x</a:t>
                      </a:r>
                    </a:p>
                  </a:txBody>
                  <a:tcPr>
                    <a:solidFill>
                      <a:srgbClr val="F7F8FA"/>
                    </a:solidFill>
                  </a:tcPr>
                </a:tc>
                <a:tc>
                  <a:txBody>
                    <a:bodyPr/>
                    <a:lstStyle/>
                    <a:p>
                      <a:pPr algn="ctr"/>
                      <a:r>
                        <a:rPr sz="800" b="0" i="0">
                          <a:solidFill>
                            <a:srgbClr val="0D0D0D"/>
                          </a:solidFill>
                          <a:latin typeface="Calibri"/>
                        </a:rPr>
                        <a:t>1,8x</a:t>
                      </a:r>
                    </a:p>
                  </a:txBody>
                  <a:tcPr>
                    <a:solidFill>
                      <a:srgbClr val="F7F8FA"/>
                    </a:solidFill>
                  </a:tcPr>
                </a:tc>
                <a:tc>
                  <a:txBody>
                    <a:bodyPr/>
                    <a:lstStyle/>
                    <a:p>
                      <a:pPr algn="ctr"/>
                      <a:r>
                        <a:rPr sz="800" b="0" i="0">
                          <a:solidFill>
                            <a:srgbClr val="0D0D0D"/>
                          </a:solidFill>
                          <a:latin typeface="Calibri"/>
                        </a:rPr>
                        <a:t>25,0x</a:t>
                      </a:r>
                    </a:p>
                  </a:txBody>
                  <a:tcPr>
                    <a:solidFill>
                      <a:srgbClr val="F7F8FA"/>
                    </a:solidFill>
                  </a:tcPr>
                </a:tc>
                <a:tc>
                  <a:txBody>
                    <a:bodyPr/>
                    <a:lstStyle/>
                    <a:p>
                      <a:pPr algn="ctr"/>
                      <a:r>
                        <a:rPr sz="800" b="0" i="0">
                          <a:solidFill>
                            <a:srgbClr val="0D0D0D"/>
                          </a:solidFill>
                          <a:latin typeface="Calibri"/>
                        </a:rPr>
                        <a:t>22,0 %</a:t>
                      </a:r>
                    </a:p>
                  </a:txBody>
                  <a:tcPr>
                    <a:solidFill>
                      <a:srgbClr val="F7F8FA"/>
                    </a:solidFill>
                  </a:tcPr>
                </a:tc>
                <a:tc>
                  <a:txBody>
                    <a:bodyPr/>
                    <a:lstStyle/>
                    <a:p>
                      <a:pPr algn="ctr"/>
                      <a:r>
                        <a:rPr sz="800" b="0" i="0">
                          <a:solidFill>
                            <a:srgbClr val="0D0D0D"/>
                          </a:solidFill>
                          <a:latin typeface="Calibri"/>
                        </a:rPr>
                        <a:t>15,0 %</a:t>
                      </a:r>
                    </a:p>
                  </a:txBody>
                  <a:tcPr>
                    <a:solidFill>
                      <a:srgbClr val="F7F8FA"/>
                    </a:solidFill>
                  </a:tcPr>
                </a:tc>
              </a:tr>
              <a:tr h="251999">
                <a:tc>
                  <a:txBody>
                    <a:bodyPr/>
                    <a:lstStyle/>
                    <a:p>
                      <a:pPr algn="l"/>
                      <a:r>
                        <a:rPr sz="800" b="0" i="0">
                          <a:solidFill>
                            <a:srgbClr val="0D0D0D"/>
                          </a:solidFill>
                          <a:latin typeface="Calibri"/>
                        </a:rPr>
                        <a:t>Rivian Automotive, Inc.</a:t>
                      </a:r>
                    </a:p>
                  </a:txBody>
                  <a:tcPr>
                    <a:solidFill>
                      <a:srgbClr val="FFFFFF"/>
                    </a:solidFill>
                  </a:tcPr>
                </a:tc>
                <a:tc>
                  <a:txBody>
                    <a:bodyPr/>
                    <a:lstStyle/>
                    <a:p>
                      <a:pPr algn="ctr"/>
                      <a:r>
                        <a:rPr sz="750" b="0" i="0">
                          <a:solidFill>
                            <a:srgbClr val="555555"/>
                          </a:solidFill>
                          <a:latin typeface="Calibri"/>
                        </a:rPr>
                        <a:t>RIVN</a:t>
                      </a:r>
                    </a:p>
                  </a:txBody>
                  <a:tcPr>
                    <a:solidFill>
                      <a:srgbClr val="FFFFFF"/>
                    </a:solidFill>
                  </a:tcPr>
                </a:tc>
                <a:tc>
                  <a:txBody>
                    <a:bodyPr/>
                    <a:lstStyle/>
                    <a:p>
                      <a:pPr algn="ctr"/>
                      <a:r>
                        <a:rPr sz="800" b="0" i="0">
                          <a:solidFill>
                            <a:srgbClr val="0D0D0D"/>
                          </a:solidFill>
                          <a:latin typeface="Calibri"/>
                        </a:rPr>
                        <a:t>12,0</a:t>
                      </a:r>
                    </a:p>
                  </a:txBody>
                  <a:tcPr>
                    <a:solidFill>
                      <a:srgbClr val="FFFFFF"/>
                    </a:solidFill>
                  </a:tcPr>
                </a:tc>
                <a:tc>
                  <a:txBody>
                    <a:bodyPr/>
                    <a:lstStyle/>
                    <a:p>
                      <a:pPr algn="ctr"/>
                      <a:r>
                        <a:rPr sz="800" b="0" i="0">
                          <a:solidFill>
                            <a:srgbClr val="0D0D0D"/>
                          </a:solidFill>
                          <a:latin typeface="Calibri"/>
                        </a:rPr>
                        <a:t>-1,2x</a:t>
                      </a:r>
                    </a:p>
                  </a:txBody>
                  <a:tcPr>
                    <a:solidFill>
                      <a:srgbClr val="FFFFFF"/>
                    </a:solidFill>
                  </a:tcPr>
                </a:tc>
                <a:tc>
                  <a:txBody>
                    <a:bodyPr/>
                    <a:lstStyle/>
                    <a:p>
                      <a:pPr algn="ctr"/>
                      <a:r>
                        <a:rPr sz="800" b="0" i="0">
                          <a:solidFill>
                            <a:srgbClr val="0D0D0D"/>
                          </a:solidFill>
                          <a:latin typeface="Calibri"/>
                        </a:rPr>
                        <a:t>-0,3x</a:t>
                      </a:r>
                    </a:p>
                  </a:txBody>
                  <a:tcPr>
                    <a:solidFill>
                      <a:srgbClr val="FFFFFF"/>
                    </a:solidFill>
                  </a:tcPr>
                </a:tc>
                <a:tc>
                  <a:txBody>
                    <a:bodyPr/>
                    <a:lstStyle/>
                    <a:p>
                      <a:pPr algn="ctr"/>
                      <a:r>
                        <a:rPr sz="800" b="0" i="0">
                          <a:solidFill>
                            <a:srgbClr val="0D0D0D"/>
                          </a:solidFill>
                          <a:latin typeface="Calibri"/>
                        </a:rPr>
                        <a:t>-5,0x</a:t>
                      </a:r>
                    </a:p>
                  </a:txBody>
                  <a:tcPr>
                    <a:solidFill>
                      <a:srgbClr val="FFFFFF"/>
                    </a:solidFill>
                  </a:tcPr>
                </a:tc>
                <a:tc>
                  <a:txBody>
                    <a:bodyPr/>
                    <a:lstStyle/>
                    <a:p>
                      <a:pPr algn="ctr"/>
                      <a:r>
                        <a:rPr sz="800" b="0" i="0">
                          <a:solidFill>
                            <a:srgbClr val="0D0D0D"/>
                          </a:solidFill>
                          <a:latin typeface="Calibri"/>
                        </a:rPr>
                        <a:t>5,0 %</a:t>
                      </a:r>
                    </a:p>
                  </a:txBody>
                  <a:tcPr>
                    <a:solidFill>
                      <a:srgbClr val="FFFFFF"/>
                    </a:solidFill>
                  </a:tcPr>
                </a:tc>
                <a:tc>
                  <a:txBody>
                    <a:bodyPr/>
                    <a:lstStyle/>
                    <a:p>
                      <a:pPr algn="ctr"/>
                      <a:r>
                        <a:rPr sz="800" b="0" i="0">
                          <a:solidFill>
                            <a:srgbClr val="0D0D0D"/>
                          </a:solidFill>
                          <a:latin typeface="Calibri"/>
                        </a:rPr>
                        <a:t>-45,0 %</a:t>
                      </a:r>
                    </a:p>
                  </a:txBody>
                  <a:tcPr>
                    <a:solidFill>
                      <a:srgbClr val="FFFFFF"/>
                    </a:solidFill>
                  </a:tcPr>
                </a:tc>
              </a:tr>
              <a:tr h="252006">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5,1x</a:t>
                      </a:r>
                    </a:p>
                  </a:txBody>
                  <a:tcPr>
                    <a:solidFill>
                      <a:srgbClr val="F7F8FA"/>
                    </a:solidFill>
                  </a:tcPr>
                </a:tc>
                <a:tc>
                  <a:txBody>
                    <a:bodyPr/>
                    <a:lstStyle/>
                    <a:p>
                      <a:pPr algn="ctr"/>
                      <a:r>
                        <a:rPr sz="800" b="1" i="0">
                          <a:solidFill>
                            <a:srgbClr val="0D0D0D"/>
                          </a:solidFill>
                          <a:latin typeface="Calibri"/>
                        </a:rPr>
                        <a:t>0,8x</a:t>
                      </a:r>
                    </a:p>
                  </a:txBody>
                  <a:tcPr>
                    <a:solidFill>
                      <a:srgbClr val="F7F8FA"/>
                    </a:solidFill>
                  </a:tcPr>
                </a:tc>
                <a:tc>
                  <a:txBody>
                    <a:bodyPr/>
                    <a:lstStyle/>
                    <a:p>
                      <a:pPr algn="ctr"/>
                      <a:r>
                        <a:rPr sz="800" b="1" i="0">
                          <a:solidFill>
                            <a:srgbClr val="0D0D0D"/>
                          </a:solidFill>
                          <a:latin typeface="Calibri"/>
                        </a:rPr>
                        <a:t>6,8x</a:t>
                      </a:r>
                    </a:p>
                  </a:txBody>
                  <a:tcPr>
                    <a:solidFill>
                      <a:srgbClr val="F7F8FA"/>
                    </a:solidFill>
                  </a:tcPr>
                </a:tc>
                <a:tc>
                  <a:txBody>
                    <a:bodyPr/>
                    <a:lstStyle/>
                    <a:p>
                      <a:pPr algn="ctr"/>
                      <a:r>
                        <a:rPr sz="800" b="1" i="0">
                          <a:solidFill>
                            <a:srgbClr val="0D0D0D"/>
                          </a:solidFill>
                          <a:latin typeface="Calibri"/>
                        </a:rPr>
                        <a:t>18,0 %</a:t>
                      </a:r>
                    </a:p>
                  </a:txBody>
                  <a:tcPr>
                    <a:solidFill>
                      <a:srgbClr val="F7F8FA"/>
                    </a:solidFill>
                  </a:tcPr>
                </a:tc>
                <a:tc>
                  <a:txBody>
                    <a:bodyPr/>
                    <a:lstStyle/>
                    <a:p>
                      <a:pPr algn="ctr"/>
                      <a:r>
                        <a:rPr sz="800" b="1" i="0">
                          <a:solidFill>
                            <a:srgbClr val="0D0D0D"/>
                          </a:solidFill>
                          <a:latin typeface="Calibri"/>
                        </a:rPr>
                        <a:t>9,0 %</a:t>
                      </a:r>
                    </a:p>
                  </a:txBody>
                  <a:tcPr>
                    <a:solidFill>
                      <a:srgbClr val="F7F8FA"/>
                    </a:solidFill>
                  </a:tcPr>
                </a:tc>
              </a:tr>
            </a:tbl>
          </a:graphicData>
        </a:graphic>
      </p:graphicFrame>
      <p:sp>
        <p:nvSpPr>
          <p:cNvPr id="18" name="Rectangle 17"/>
          <p:cNvSpPr/>
          <p:nvPr/>
        </p:nvSpPr>
        <p:spPr>
          <a:xfrm>
            <a:off x="367200" y="3128400"/>
            <a:ext cx="84132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128400"/>
            <a:ext cx="79200" cy="15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157200"/>
            <a:ext cx="8298000" cy="1512000"/>
          </a:xfrm>
          <a:prstGeom prst="rect">
            <a:avLst/>
          </a:prstGeom>
          <a:noFill/>
        </p:spPr>
        <p:txBody>
          <a:bodyPr wrap="square">
            <a:spAutoFit/>
          </a:bodyPr>
          <a:lstStyle/>
          <a:p>
            <a:pPr algn="l"/>
            <a:r>
              <a:rPr sz="850" b="0" i="0">
                <a:solidFill>
                  <a:srgbClr val="555555"/>
                </a:solidFill>
                <a:latin typeface="Calibri"/>
              </a:rPr>
              <a:t>Tesla affiche un EV/EBITDA de 108.8x vs une médiane peers de 8.2x (Toyota, VW, Ford, BYD, Rivian), soit une prime de 1225%. Cette prime est justifiée par sa croissance supérieure et son avance technologique, mais le décote des marges réduit sa marge de manœuvre. Une convergence vers la médiane impliquerait un downside de -92%. La marge EBITDA a chuté de 21.7% en 2022 à 12.4% en 2025, principalement due à la baisse des prix des véhicules (-12% en 2024) et à l'augmentation des coûts fixes. Le mix produit (Model 2 vs Model S) et les économies d'échelle devraient stabiliser les marges à 14% d'ici 2027. Le pricing power reste fragile face à la concurrence chinoise. Tesla se négocie à 108.8x EV/EBITDA et 339.5x P/E, soit une prime de 200% vs la médiane des constructeurs automobiles. Cette décote reflète sa croissance supérieure mais limite l'upside.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USD par action</a:t>
            </a:r>
          </a:p>
        </p:txBody>
      </p:sp>
      <p:pic>
        <p:nvPicPr>
          <p:cNvPr id="17" name="Picture 16" descr="image.png"/>
          <p:cNvPicPr>
            <a:picLocks noChangeAspect="1"/>
          </p:cNvPicPr>
          <p:nvPr/>
        </p:nvPicPr>
        <p:blipFill>
          <a:blip r:embed="rId2"/>
          <a:stretch>
            <a:fillRect/>
          </a:stretch>
        </p:blipFill>
        <p:spPr>
          <a:xfrm>
            <a:off x="367200" y="914400"/>
            <a:ext cx="8413200" cy="2448000"/>
          </a:xfrm>
          <a:prstGeom prst="rect">
            <a:avLst/>
          </a:prstGeom>
        </p:spPr>
      </p:pic>
      <p:sp>
        <p:nvSpPr>
          <p:cNvPr id="18" name="Rectangle 17"/>
          <p:cNvSpPr/>
          <p:nvPr/>
        </p:nvSpPr>
        <p:spPr>
          <a:xfrm>
            <a:off x="367200" y="3488400"/>
            <a:ext cx="8413200" cy="1281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3488400"/>
            <a:ext cx="79200" cy="128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200" y="3517200"/>
            <a:ext cx="8298000" cy="1245600"/>
          </a:xfrm>
          <a:prstGeom prst="rect">
            <a:avLst/>
          </a:prstGeom>
          <a:noFill/>
        </p:spPr>
        <p:txBody>
          <a:bodyPr wrap="square">
            <a:spAutoFit/>
          </a:bodyPr>
          <a:lstStyle/>
          <a:p>
            <a:pPr algn="l"/>
            <a:r>
              <a:rPr sz="850" b="0" i="0">
                <a:solidFill>
                  <a:srgbClr val="555555"/>
                </a:solidFill>
                <a:latin typeface="Calibri"/>
              </a:rPr>
              <a:t>Avec un WACC de 14.8% et un TGR de 2.5%, le DCF implicite suggère un prix de 360 USD, soit +5% vs le cours actuel. Cette prime reflète une croissance future déjà partiellement pricee. Un rebond des marges ou une accélération des ventes en Chine serait nécessaire pour justifier une réévaluation. Tesla se négocie à 108.8x EV/EBITDA et 339.5x P/E, soit une prime de 200% vs la médiane des constructeurs automobiles. Cette décote reflète sa croissance supérieure mais limite l'upside.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Multiples de Valorisation Historiques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TSLA · P/E &amp; EV/EBITDA sur 5 ans · Standards marché</a:t>
            </a:r>
          </a:p>
        </p:txBody>
      </p:sp>
      <p:pic>
        <p:nvPicPr>
          <p:cNvPr id="17" name="Picture 16" descr="image.png"/>
          <p:cNvPicPr>
            <a:picLocks noChangeAspect="1"/>
          </p:cNvPicPr>
          <p:nvPr/>
        </p:nvPicPr>
        <p:blipFill>
          <a:blip r:embed="rId2"/>
          <a:stretch>
            <a:fillRect/>
          </a:stretch>
        </p:blipFill>
        <p:spPr>
          <a:xfrm>
            <a:off x="367200" y="864000"/>
            <a:ext cx="5688000" cy="2520000"/>
          </a:xfrm>
          <a:prstGeom prst="rect">
            <a:avLst/>
          </a:prstGeom>
        </p:spPr>
      </p:pic>
      <p:sp>
        <p:nvSpPr>
          <p:cNvPr id="18" name="TextBox 17"/>
          <p:cNvSpPr txBox="1"/>
          <p:nvPr/>
        </p:nvSpPr>
        <p:spPr>
          <a:xfrm>
            <a:off x="6192000" y="864000"/>
            <a:ext cx="2592000" cy="180000"/>
          </a:xfrm>
          <a:prstGeom prst="rect">
            <a:avLst/>
          </a:prstGeom>
          <a:noFill/>
        </p:spPr>
        <p:txBody>
          <a:bodyPr wrap="square">
            <a:spAutoFit/>
          </a:bodyPr>
          <a:lstStyle/>
          <a:p>
            <a:pPr algn="l"/>
            <a:r>
              <a:rPr sz="800" b="1" i="0">
                <a:solidFill>
                  <a:srgbClr val="1B3A6B"/>
                </a:solidFill>
                <a:latin typeface="Calibri"/>
              </a:rPr>
              <a:t>SYNTHÈSE DES MULTIPLES</a:t>
            </a:r>
          </a:p>
        </p:txBody>
      </p:sp>
      <p:graphicFrame>
        <p:nvGraphicFramePr>
          <p:cNvPr id="19" name="Table 18"/>
          <p:cNvGraphicFramePr>
            <a:graphicFrameLocks noGrp="1"/>
          </p:cNvGraphicFramePr>
          <p:nvPr/>
        </p:nvGraphicFramePr>
        <p:xfrm>
          <a:off x="6192000" y="1098000"/>
          <a:ext cx="2592000" cy="1008000"/>
        </p:xfrm>
        <a:graphic>
          <a:graphicData uri="http://schemas.openxmlformats.org/drawingml/2006/table">
            <a:tbl>
              <a:tblPr firstRow="1" bandRow="1">
                <a:tableStyleId>{5C22544A-7EE6-4342-B048-85BDC9FD1C3A}</a:tableStyleId>
              </a:tblPr>
              <a:tblGrid>
                <a:gridCol w="777600"/>
                <a:gridCol w="570240"/>
                <a:gridCol w="673920"/>
                <a:gridCol w="570240"/>
              </a:tblGrid>
              <a:tr h="201600">
                <a:tc>
                  <a:txBody>
                    <a:bodyPr/>
                    <a:lstStyle/>
                    <a:p>
                      <a:pPr algn="l"/>
                      <a:r>
                        <a:rPr sz="800" b="1" i="0">
                          <a:solidFill>
                            <a:srgbClr val="FFFFFF"/>
                          </a:solidFill>
                          <a:latin typeface="Calibri"/>
                        </a:rPr>
                        <a:t>Année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EV/EB</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P/B</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102,4x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72,1x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28,8x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85,9x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86,3x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20,6x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180,7x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87,0x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17,7x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339,5x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108,8x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15,7x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Rectangle 19"/>
          <p:cNvSpPr/>
          <p:nvPr/>
        </p:nvSpPr>
        <p:spPr>
          <a:xfrm>
            <a:off x="367200" y="3600000"/>
            <a:ext cx="8413200" cy="111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7200" y="3600000"/>
            <a:ext cx="79200" cy="111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200" y="3628800"/>
            <a:ext cx="8298000" cy="1080000"/>
          </a:xfrm>
          <a:prstGeom prst="rect">
            <a:avLst/>
          </a:prstGeom>
          <a:noFill/>
        </p:spPr>
        <p:txBody>
          <a:bodyPr wrap="square">
            <a:spAutoFit/>
          </a:bodyPr>
          <a:lstStyle/>
          <a:p>
            <a:pPr algn="l"/>
            <a:r>
              <a:rPr sz="850" b="0" i="0">
                <a:solidFill>
                  <a:srgbClr val="555555"/>
                </a:solidFill>
                <a:latin typeface="Calibri"/>
              </a:rPr>
              <a:t>Le P/E affiche une expansion multiple de 237.1x sur la période (102,4x → 339,5x), signal d’une réévaluation favorable du profil de croissance. L’EV/EBITDA diverge à 108,8x vs 72,1x historique. Le CA 2025 atteint 94.8Md$, en baisse de 3% YoY, reflétant une demande atone en Amérique du Nord et en Europe. La marge brute de 18% est stable mais la marge nette chute à 4% (vs 15.5% en 2023) en raison de la pression sur les prix et des coûts fixes élevés. Le bilan reste solide avec un ND/EBITDA négatif de -0.7x, permettant un rachat d'actions ou des investissements R&amp;D.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Capital Returns &amp; Free Cash Flow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TSLA · FCF yield, dividendes &amp; allocation du capital</a:t>
            </a:r>
          </a:p>
        </p:txBody>
      </p:sp>
      <p:sp>
        <p:nvSpPr>
          <p:cNvPr id="17" name="Rectangle 16"/>
          <p:cNvSpPr/>
          <p:nvPr/>
        </p:nvSpPr>
        <p:spPr>
          <a:xfrm>
            <a:off x="367200"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800" y="871200"/>
            <a:ext cx="1900799" cy="234000"/>
          </a:xfrm>
          <a:prstGeom prst="rect">
            <a:avLst/>
          </a:prstGeom>
          <a:noFill/>
        </p:spPr>
        <p:txBody>
          <a:bodyPr wrap="square">
            <a:spAutoFit/>
          </a:bodyPr>
          <a:lstStyle/>
          <a:p>
            <a:pPr algn="l"/>
            <a:r>
              <a:rPr sz="1600" b="1" i="0">
                <a:solidFill>
                  <a:srgbClr val="1B3A6B"/>
                </a:solidFill>
                <a:latin typeface="Calibri"/>
              </a:rPr>
              <a:t>0,1 %</a:t>
            </a:r>
          </a:p>
        </p:txBody>
      </p:sp>
      <p:sp>
        <p:nvSpPr>
          <p:cNvPr id="20" name="TextBox 19"/>
          <p:cNvSpPr txBox="1"/>
          <p:nvPr/>
        </p:nvSpPr>
        <p:spPr>
          <a:xfrm>
            <a:off x="460800" y="1098000"/>
            <a:ext cx="1900799" cy="234000"/>
          </a:xfrm>
          <a:prstGeom prst="rect">
            <a:avLst/>
          </a:prstGeom>
          <a:noFill/>
        </p:spPr>
        <p:txBody>
          <a:bodyPr wrap="square">
            <a:spAutoFit/>
          </a:bodyPr>
          <a:lstStyle/>
          <a:p>
            <a:pPr algn="l"/>
            <a:r>
              <a:rPr sz="800" b="0" i="0">
                <a:solidFill>
                  <a:srgbClr val="555555"/>
                </a:solidFill>
                <a:latin typeface="Calibri"/>
              </a:rPr>
              <a:t>FCF Yield</a:t>
            </a:r>
          </a:p>
        </p:txBody>
      </p:sp>
      <p:sp>
        <p:nvSpPr>
          <p:cNvPr id="21" name="Rectangle 20"/>
          <p:cNvSpPr/>
          <p:nvPr/>
        </p:nvSpPr>
        <p:spPr>
          <a:xfrm>
            <a:off x="24479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479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41599" y="871200"/>
            <a:ext cx="1900799" cy="234000"/>
          </a:xfrm>
          <a:prstGeom prst="rect">
            <a:avLst/>
          </a:prstGeom>
          <a:noFill/>
        </p:spPr>
        <p:txBody>
          <a:bodyPr wrap="square">
            <a:spAutoFit/>
          </a:bodyPr>
          <a:lstStyle/>
          <a:p>
            <a:pPr algn="l"/>
            <a:r>
              <a:rPr sz="1600" b="1" i="0">
                <a:solidFill>
                  <a:srgbClr val="1B3A6B"/>
                </a:solidFill>
                <a:latin typeface="Calibri"/>
              </a:rPr>
              <a:t>1,4 Mds$</a:t>
            </a:r>
          </a:p>
        </p:txBody>
      </p:sp>
      <p:sp>
        <p:nvSpPr>
          <p:cNvPr id="24" name="TextBox 23"/>
          <p:cNvSpPr txBox="1"/>
          <p:nvPr/>
        </p:nvSpPr>
        <p:spPr>
          <a:xfrm>
            <a:off x="2541599" y="1098000"/>
            <a:ext cx="1900799" cy="234000"/>
          </a:xfrm>
          <a:prstGeom prst="rect">
            <a:avLst/>
          </a:prstGeom>
          <a:noFill/>
        </p:spPr>
        <p:txBody>
          <a:bodyPr wrap="square">
            <a:spAutoFit/>
          </a:bodyPr>
          <a:lstStyle/>
          <a:p>
            <a:pPr algn="l"/>
            <a:r>
              <a:rPr sz="800" b="0" i="0">
                <a:solidFill>
                  <a:srgbClr val="555555"/>
                </a:solidFill>
                <a:latin typeface="Calibri"/>
              </a:rPr>
              <a:t>FCF (LTM)</a:t>
            </a:r>
          </a:p>
        </p:txBody>
      </p:sp>
      <p:sp>
        <p:nvSpPr>
          <p:cNvPr id="25" name="Rectangle 24"/>
          <p:cNvSpPr/>
          <p:nvPr/>
        </p:nvSpPr>
        <p:spPr>
          <a:xfrm>
            <a:off x="45287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87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22399" y="871200"/>
            <a:ext cx="1900799" cy="234000"/>
          </a:xfrm>
          <a:prstGeom prst="rect">
            <a:avLst/>
          </a:prstGeom>
          <a:noFill/>
        </p:spPr>
        <p:txBody>
          <a:bodyPr wrap="square">
            <a:spAutoFit/>
          </a:bodyPr>
          <a:lstStyle/>
          <a:p>
            <a:pPr algn="l"/>
            <a:r>
              <a:rPr sz="1600" b="1" i="0">
                <a:solidFill>
                  <a:srgbClr val="1B3A6B"/>
                </a:solidFill>
                <a:latin typeface="Calibri"/>
              </a:rPr>
              <a:t>9,0 %</a:t>
            </a:r>
          </a:p>
        </p:txBody>
      </p:sp>
      <p:sp>
        <p:nvSpPr>
          <p:cNvPr id="28" name="TextBox 27"/>
          <p:cNvSpPr txBox="1"/>
          <p:nvPr/>
        </p:nvSpPr>
        <p:spPr>
          <a:xfrm>
            <a:off x="4622399" y="1098000"/>
            <a:ext cx="1900799" cy="234000"/>
          </a:xfrm>
          <a:prstGeom prst="rect">
            <a:avLst/>
          </a:prstGeom>
          <a:noFill/>
        </p:spPr>
        <p:txBody>
          <a:bodyPr wrap="square">
            <a:spAutoFit/>
          </a:bodyPr>
          <a:lstStyle/>
          <a:p>
            <a:pPr algn="l"/>
            <a:r>
              <a:rPr sz="800" b="0" i="0">
                <a:solidFill>
                  <a:srgbClr val="555555"/>
                </a:solidFill>
                <a:latin typeface="Calibri"/>
              </a:rPr>
              <a:t>Capex / Rev</a:t>
            </a:r>
          </a:p>
        </p:txBody>
      </p:sp>
      <p:sp>
        <p:nvSpPr>
          <p:cNvPr id="29" name="Rectangle 28"/>
          <p:cNvSpPr/>
          <p:nvPr/>
        </p:nvSpPr>
        <p:spPr>
          <a:xfrm>
            <a:off x="6609599" y="824400"/>
            <a:ext cx="2015999" cy="54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09599" y="824400"/>
            <a:ext cx="64800" cy="5472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3199" y="871200"/>
            <a:ext cx="1900799" cy="234000"/>
          </a:xfrm>
          <a:prstGeom prst="rect">
            <a:avLst/>
          </a:prstGeom>
          <a:noFill/>
        </p:spPr>
        <p:txBody>
          <a:bodyPr wrap="square">
            <a:spAutoFit/>
          </a:bodyPr>
          <a:lstStyle/>
          <a:p>
            <a:pPr algn="l"/>
            <a:r>
              <a:rPr sz="1600" b="1" i="0">
                <a:solidFill>
                  <a:srgbClr val="1B3A6B"/>
                </a:solidFill>
                <a:latin typeface="Calibri"/>
              </a:rPr>
              <a:t>—</a:t>
            </a:r>
          </a:p>
        </p:txBody>
      </p:sp>
      <p:sp>
        <p:nvSpPr>
          <p:cNvPr id="32" name="TextBox 31"/>
          <p:cNvSpPr txBox="1"/>
          <p:nvPr/>
        </p:nvSpPr>
        <p:spPr>
          <a:xfrm>
            <a:off x="6703199" y="1098000"/>
            <a:ext cx="1900799" cy="234000"/>
          </a:xfrm>
          <a:prstGeom prst="rect">
            <a:avLst/>
          </a:prstGeom>
          <a:noFill/>
        </p:spPr>
        <p:txBody>
          <a:bodyPr wrap="square">
            <a:spAutoFit/>
          </a:bodyPr>
          <a:lstStyle/>
          <a:p>
            <a:pPr algn="l"/>
            <a:r>
              <a:rPr sz="800" b="0" i="0">
                <a:solidFill>
                  <a:srgbClr val="555555"/>
                </a:solidFill>
                <a:latin typeface="Calibri"/>
              </a:rPr>
              <a:t>Div. Payout</a:t>
            </a:r>
          </a:p>
        </p:txBody>
      </p:sp>
      <p:pic>
        <p:nvPicPr>
          <p:cNvPr id="33" name="Picture 32" descr="image.png"/>
          <p:cNvPicPr>
            <a:picLocks noChangeAspect="1"/>
          </p:cNvPicPr>
          <p:nvPr/>
        </p:nvPicPr>
        <p:blipFill>
          <a:blip r:embed="rId2"/>
          <a:stretch>
            <a:fillRect/>
          </a:stretch>
        </p:blipFill>
        <p:spPr>
          <a:xfrm>
            <a:off x="367200" y="1512000"/>
            <a:ext cx="5220000" cy="2088000"/>
          </a:xfrm>
          <a:prstGeom prst="rect">
            <a:avLst/>
          </a:prstGeom>
        </p:spPr>
      </p:pic>
      <p:sp>
        <p:nvSpPr>
          <p:cNvPr id="34" name="TextBox 33"/>
          <p:cNvSpPr txBox="1"/>
          <p:nvPr/>
        </p:nvSpPr>
        <p:spPr>
          <a:xfrm>
            <a:off x="5832000" y="1512000"/>
            <a:ext cx="2951999" cy="180000"/>
          </a:xfrm>
          <a:prstGeom prst="rect">
            <a:avLst/>
          </a:prstGeom>
          <a:noFill/>
        </p:spPr>
        <p:txBody>
          <a:bodyPr wrap="square">
            <a:spAutoFit/>
          </a:bodyPr>
          <a:lstStyle/>
          <a:p>
            <a:pPr algn="l"/>
            <a:r>
              <a:rPr sz="800" b="1" i="0">
                <a:solidFill>
                  <a:srgbClr val="1B3A6B"/>
                </a:solidFill>
                <a:latin typeface="Calibri"/>
              </a:rPr>
              <a:t>ALLOCATION DU CAPITAL</a:t>
            </a:r>
          </a:p>
        </p:txBody>
      </p:sp>
      <p:graphicFrame>
        <p:nvGraphicFramePr>
          <p:cNvPr id="35" name="Table 34"/>
          <p:cNvGraphicFramePr>
            <a:graphicFrameLocks noGrp="1"/>
          </p:cNvGraphicFramePr>
          <p:nvPr/>
        </p:nvGraphicFramePr>
        <p:xfrm>
          <a:off x="5832000" y="1745999"/>
          <a:ext cx="2951995" cy="1008000"/>
        </p:xfrm>
        <a:graphic>
          <a:graphicData uri="http://schemas.openxmlformats.org/drawingml/2006/table">
            <a:tbl>
              <a:tblPr firstRow="1" bandRow="1">
                <a:tableStyleId>{5C22544A-7EE6-4342-B048-85BDC9FD1C3A}</a:tableStyleId>
              </a:tblPr>
              <a:tblGrid>
                <a:gridCol w="649439"/>
                <a:gridCol w="590399"/>
                <a:gridCol w="560879"/>
                <a:gridCol w="560879"/>
                <a:gridCol w="590399"/>
              </a:tblGrid>
              <a:tr h="201600">
                <a:tc>
                  <a:txBody>
                    <a:bodyPr/>
                    <a:lstStyle/>
                    <a:p>
                      <a:pPr algn="l"/>
                      <a:r>
                        <a:rPr sz="800" b="1" i="0">
                          <a:solidFill>
                            <a:srgbClr val="FFFFFF"/>
                          </a:solidFill>
                          <a:latin typeface="Calibri"/>
                        </a:rPr>
                        <a:t>Ann.</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FCF</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Yield</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Div%</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Capex%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9,2 Mds$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10,8 Mds$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0,8 %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2024</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 Mds$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1600">
                <a:tc>
                  <a:txBody>
                    <a:bodyPr/>
                    <a:lstStyle/>
                    <a:p>
                      <a:pPr algn="l"/>
                      <a:r>
                        <a:rPr sz="800" b="0" i="0">
                          <a:solidFill>
                            <a:srgbClr val="0D0D0D"/>
                          </a:solidFill>
                          <a:latin typeface="Calibri"/>
                        </a:rPr>
                        <a:t>2025</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 Mds$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36" name="Rectangle 35"/>
          <p:cNvSpPr/>
          <p:nvPr/>
        </p:nvSpPr>
        <p:spPr>
          <a:xfrm>
            <a:off x="367200" y="3708000"/>
            <a:ext cx="84132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7200" y="3708000"/>
            <a:ext cx="79200" cy="1007999"/>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200" y="3736800"/>
            <a:ext cx="8298000" cy="971999"/>
          </a:xfrm>
          <a:prstGeom prst="rect">
            <a:avLst/>
          </a:prstGeom>
          <a:noFill/>
        </p:spPr>
        <p:txBody>
          <a:bodyPr wrap="square">
            <a:spAutoFit/>
          </a:bodyPr>
          <a:lstStyle/>
          <a:p>
            <a:pPr algn="l"/>
            <a:r>
              <a:rPr sz="850" b="0" i="0">
                <a:solidFill>
                  <a:srgbClr val="555555"/>
                </a:solidFill>
                <a:latin typeface="Calibri"/>
              </a:rPr>
              <a:t>Le FCF affiche une contraction de 7,7 Mds$ sur la période, avec un FCF yield actuel de 0,1 % — à surveiller au regard de la valorisation de marché. L’allocation vers les dividendes est maintenue malgré la pression sur les marges. Le CA 2025 atteint 94.8Md$, en baisse de 3% YoY, reflétant une demande atone en Amérique du Nord et en Europe. La marge brute de 18% est stable mais la marge nette chute à 4% (vs 15.5% en 2023) en raison de la pression sur les prix et des coûts fixes élevés. Le bilan reste solide avec un ND/EBITDA négatif de -0.7x, permettant un rachat d'actions ou des investissements R&amp;D.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LBO — Leveraged Buyout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TSLA · Attractivité PE · Multiples d’entrée vs IRR cible</a:t>
            </a:r>
          </a:p>
        </p:txBody>
      </p:sp>
      <p:graphicFrame>
        <p:nvGraphicFramePr>
          <p:cNvPr id="17" name="Table 16"/>
          <p:cNvGraphicFramePr>
            <a:graphicFrameLocks noGrp="1"/>
          </p:cNvGraphicFramePr>
          <p:nvPr/>
        </p:nvGraphicFramePr>
        <p:xfrm>
          <a:off x="367200" y="900000"/>
          <a:ext cx="4860000" cy="1170000"/>
        </p:xfrm>
        <a:graphic>
          <a:graphicData uri="http://schemas.openxmlformats.org/drawingml/2006/table">
            <a:tbl>
              <a:tblPr firstRow="1" bandRow="1">
                <a:tableStyleId>{5C22544A-7EE6-4342-B048-85BDC9FD1C3A}</a:tableStyleId>
              </a:tblPr>
              <a:tblGrid>
                <a:gridCol w="1069200"/>
                <a:gridCol w="1263600"/>
                <a:gridCol w="1263600"/>
                <a:gridCol w="1263600"/>
              </a:tblGrid>
              <a:tr h="234000">
                <a:tc>
                  <a:txBody>
                    <a:bodyPr/>
                    <a:lstStyle/>
                    <a:p>
                      <a:pPr algn="l"/>
                      <a:r>
                        <a:rPr sz="800" b="1" i="0">
                          <a:solidFill>
                            <a:srgbClr val="FFFFFF"/>
                          </a:solidFill>
                          <a:latin typeface="Calibri"/>
                        </a:rPr>
                        <a:t>Entry mult.</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8x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10x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Exit 12x</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8x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15.5% / 2.1x</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21.9% / 2.7x</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27.2% / 3.3x</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10x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6.5% / 1.4x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12.4% / 1.8x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17.3% / 2.2x</a:t>
                      </a:r>
                    </a:p>
                  </a:txBody>
                  <a:tcPr>
                    <a:solidFill>
                      <a:srgbClr val="FDF6E8"/>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12x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0.5% / 1.0x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6.1% / 1.3x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10.7% / 1.7x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r h="234000">
                <a:tc>
                  <a:txBody>
                    <a:bodyPr/>
                    <a:lstStyle/>
                    <a:p>
                      <a:pPr algn="l"/>
                      <a:r>
                        <a:rPr sz="800" b="0" i="0">
                          <a:solidFill>
                            <a:srgbClr val="0D0D0D"/>
                          </a:solidFill>
                          <a:latin typeface="Calibri"/>
                        </a:rPr>
                        <a:t>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 / 0.8x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 / 1.1x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5.9% / 1.3x</a:t>
                      </a:r>
                    </a:p>
                  </a:txBody>
                  <a:tcPr>
                    <a:solidFill>
                      <a:srgbClr val="FAF0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2592000"/>
            <a:ext cx="4860000" cy="180000"/>
          </a:xfrm>
          <a:prstGeom prst="rect">
            <a:avLst/>
          </a:prstGeom>
          <a:noFill/>
        </p:spPr>
        <p:txBody>
          <a:bodyPr wrap="square">
            <a:spAutoFit/>
          </a:bodyPr>
          <a:lstStyle/>
          <a:p>
            <a:pPr algn="l"/>
            <a:r>
              <a:rPr sz="750" b="0" i="0">
                <a:solidFill>
                  <a:srgbClr val="555555"/>
                </a:solidFill>
                <a:latin typeface="Calibri"/>
              </a:rPr>
              <a:t>Hypotheses : Levier 4x EBITDA · 5 ans holding · 50% remboursement dette · EBITDA +5%/an</a:t>
            </a:r>
          </a:p>
        </p:txBody>
      </p:sp>
      <p:sp>
        <p:nvSpPr>
          <p:cNvPr id="19" name="TextBox 18"/>
          <p:cNvSpPr txBox="1"/>
          <p:nvPr/>
        </p:nvSpPr>
        <p:spPr>
          <a:xfrm>
            <a:off x="367200" y="2754000"/>
            <a:ext cx="4860000" cy="180000"/>
          </a:xfrm>
          <a:prstGeom prst="rect">
            <a:avLst/>
          </a:prstGeom>
          <a:noFill/>
        </p:spPr>
        <p:txBody>
          <a:bodyPr wrap="square">
            <a:spAutoFit/>
          </a:bodyPr>
          <a:lstStyle/>
          <a:p>
            <a:pPr algn="l"/>
            <a:r>
              <a:rPr sz="750" b="0" i="0">
                <a:solidFill>
                  <a:srgbClr val="888888"/>
                </a:solidFill>
                <a:latin typeface="Calibri"/>
              </a:rPr>
              <a:t>Lecture : IRR / MOIC  ● vert ≥ 20%  ● ambre 15-20%  ● rouge &lt; 15%</a:t>
            </a:r>
          </a:p>
        </p:txBody>
      </p:sp>
      <p:sp>
        <p:nvSpPr>
          <p:cNvPr id="20" name="TextBox 19"/>
          <p:cNvSpPr txBox="1"/>
          <p:nvPr/>
        </p:nvSpPr>
        <p:spPr>
          <a:xfrm>
            <a:off x="5472000" y="900000"/>
            <a:ext cx="3311999" cy="180000"/>
          </a:xfrm>
          <a:prstGeom prst="rect">
            <a:avLst/>
          </a:prstGeom>
          <a:noFill/>
        </p:spPr>
        <p:txBody>
          <a:bodyPr wrap="square">
            <a:spAutoFit/>
          </a:bodyPr>
          <a:lstStyle/>
          <a:p>
            <a:pPr algn="l"/>
            <a:r>
              <a:rPr sz="800" b="1" i="0">
                <a:solidFill>
                  <a:srgbClr val="1B3A6B"/>
                </a:solidFill>
                <a:latin typeface="Calibri"/>
              </a:rPr>
              <a:t>HYPOTHÈSES &amp; STRUCTURE LBO</a:t>
            </a:r>
          </a:p>
        </p:txBody>
      </p:sp>
      <p:graphicFrame>
        <p:nvGraphicFramePr>
          <p:cNvPr id="21" name="Table 20"/>
          <p:cNvGraphicFramePr>
            <a:graphicFrameLocks noGrp="1"/>
          </p:cNvGraphicFramePr>
          <p:nvPr/>
        </p:nvGraphicFramePr>
        <p:xfrm>
          <a:off x="5472000" y="1116000"/>
          <a:ext cx="3311998" cy="1602000"/>
        </p:xfrm>
        <a:graphic>
          <a:graphicData uri="http://schemas.openxmlformats.org/drawingml/2006/table">
            <a:tbl>
              <a:tblPr firstRow="1" bandRow="1">
                <a:tableStyleId>{5C22544A-7EE6-4342-B048-85BDC9FD1C3A}</a:tableStyleId>
              </a:tblPr>
              <a:tblGrid>
                <a:gridCol w="1722239"/>
                <a:gridCol w="1589759"/>
              </a:tblGrid>
              <a:tr h="20025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EBITDA LTM</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11,8 Mds$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FCF LTM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1,4 Mds$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Levier 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4x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Dette entrée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47,1 Mds$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EBITDA exit (est.)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15,0 Mds$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Holding</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 ans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00250">
                <a:tc>
                  <a:txBody>
                    <a:bodyPr/>
                    <a:lstStyle/>
                    <a:p>
                      <a:pPr algn="l"/>
                      <a:r>
                        <a:rPr sz="800" b="0" i="0">
                          <a:solidFill>
                            <a:srgbClr val="0D0D0D"/>
                          </a:solidFill>
                          <a:latin typeface="Calibri"/>
                        </a:rPr>
                        <a:t>IRR cible 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 20%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2" name="Rectangle 21"/>
          <p:cNvSpPr/>
          <p:nvPr/>
        </p:nvSpPr>
        <p:spPr>
          <a:xfrm>
            <a:off x="5472000" y="3096000"/>
            <a:ext cx="3311999" cy="1007999"/>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72000" y="3096000"/>
            <a:ext cx="72000" cy="1007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80000" y="3131999"/>
            <a:ext cx="3168000" cy="162000"/>
          </a:xfrm>
          <a:prstGeom prst="rect">
            <a:avLst/>
          </a:prstGeom>
          <a:noFill/>
        </p:spPr>
        <p:txBody>
          <a:bodyPr wrap="square">
            <a:spAutoFit/>
          </a:bodyPr>
          <a:lstStyle/>
          <a:p>
            <a:pPr algn="l"/>
            <a:r>
              <a:rPr sz="750" b="1" i="0">
                <a:solidFill>
                  <a:srgbClr val="B06000"/>
                </a:solidFill>
                <a:latin typeface="Calibri"/>
              </a:rPr>
              <a:t>NOTE MÉTHODOLOGIQUE</a:t>
            </a:r>
          </a:p>
        </p:txBody>
      </p:sp>
      <p:sp>
        <p:nvSpPr>
          <p:cNvPr id="25" name="TextBox 24"/>
          <p:cNvSpPr txBox="1"/>
          <p:nvPr/>
        </p:nvSpPr>
        <p:spPr>
          <a:xfrm>
            <a:off x="5580000" y="3294000"/>
            <a:ext cx="3168000" cy="792000"/>
          </a:xfrm>
          <a:prstGeom prst="rect">
            <a:avLst/>
          </a:prstGeom>
          <a:noFill/>
        </p:spPr>
        <p:txBody>
          <a:bodyPr wrap="square">
            <a:spAutoFit/>
          </a:bodyPr>
          <a:lstStyle/>
          <a:p>
            <a:pPr algn="l"/>
            <a:r>
              <a:rPr sz="800" b="0" i="0">
                <a:solidFill>
                  <a:srgbClr val="555555"/>
                </a:solidFill>
                <a:latin typeface="Calibri"/>
              </a:rPr>
              <a:t>Analyse indicative uniquement. Le LBO assume un rachat 100% equity par un fonds PE. La dette est remboursée par le FCF de la cible. L'IRR ne tient pas compte des frais de transaction ni de la structure fiscale optimisée. Un IRR ≥ 20% est le seuil standard d'un fonds PE tier-1.</a:t>
            </a:r>
          </a:p>
        </p:txBody>
      </p:sp>
      <p:sp>
        <p:nvSpPr>
          <p:cNvPr id="26" name="Rectangle 25"/>
          <p:cNvSpPr/>
          <p:nvPr/>
        </p:nvSpPr>
        <p:spPr>
          <a:xfrm>
            <a:off x="367200" y="4176000"/>
            <a:ext cx="84132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7200" y="4176000"/>
            <a:ext cx="79200" cy="57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200" y="4204800"/>
            <a:ext cx="8298000" cy="540000"/>
          </a:xfrm>
          <a:prstGeom prst="rect">
            <a:avLst/>
          </a:prstGeom>
          <a:noFill/>
        </p:spPr>
        <p:txBody>
          <a:bodyPr wrap="square">
            <a:spAutoFit/>
          </a:bodyPr>
          <a:lstStyle/>
          <a:p>
            <a:pPr algn="l"/>
            <a:r>
              <a:rPr sz="850" b="0" i="0">
                <a:solidFill>
                  <a:srgbClr val="555555"/>
                </a:solidFill>
                <a:latin typeface="Calibri"/>
              </a:rPr>
              <a:t>A 10x EBITDA d'entrée / 10x de sortie, le LBO génère un IRR de 12.4% (MOIC 1.8x en 5 ans) — attractivité PE jugée insuffisante. Un fonds tier-1 ciblant 20%+ d'IRR doit entrer en dessous de 8x EBITDA. La génération de FCF (1,4 Mds$) est le principal levier de remboursement de la dette.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396000"/>
          </a:xfrm>
          <a:prstGeom prst="rect">
            <a:avLst/>
          </a:prstGeom>
          <a:noFill/>
        </p:spPr>
        <p:txBody>
          <a:bodyPr wrap="square">
            <a:spAutoFit/>
          </a:bodyPr>
          <a:lstStyle/>
          <a:p>
            <a:pPr algn="l"/>
            <a:r>
              <a:rPr sz="900" b="1" i="0">
                <a:solidFill>
                  <a:srgbClr val="A82020"/>
                </a:solidFill>
                <a:latin typeface="Calibri"/>
              </a:rPr>
              <a:t>Marges artificielles crédits</a:t>
            </a:r>
          </a:p>
        </p:txBody>
      </p:sp>
      <p:sp>
        <p:nvSpPr>
          <p:cNvPr id="20" name="TextBox 19"/>
          <p:cNvSpPr txBox="1"/>
          <p:nvPr/>
        </p:nvSpPr>
        <p:spPr>
          <a:xfrm>
            <a:off x="475200" y="1537199"/>
            <a:ext cx="2527200" cy="1260000"/>
          </a:xfrm>
          <a:prstGeom prst="rect">
            <a:avLst/>
          </a:prstGeom>
          <a:noFill/>
        </p:spPr>
        <p:txBody>
          <a:bodyPr wrap="square">
            <a:spAutoFit/>
          </a:bodyPr>
          <a:lstStyle/>
          <a:p>
            <a:pPr algn="l"/>
            <a:r>
              <a:rPr sz="800" b="0" i="0">
                <a:solidFill>
                  <a:srgbClr val="555555"/>
                </a:solidFill>
                <a:latin typeface="Calibri"/>
              </a:rPr>
              <a:t>Les marges brutes de 18% en 2025 restent artificiellement gonflées par les crédits carbone, représentant 15% du bénéfice net en 2024 ; sans eux, la marge nette chuterait à 1,5%, bien en dessous des 4% annoncés. Le réseau de recharge, souvent cité comme atout, coûte 2 milliards USD/an en maintenance et expansion, creusant les pertes opérationnelles de 12% par trimestre. Les 339,49x de P/E révèlent</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396000"/>
          </a:xfrm>
          <a:prstGeom prst="rect">
            <a:avLst/>
          </a:prstGeom>
          <a:noFill/>
        </p:spPr>
        <p:txBody>
          <a:bodyPr wrap="square">
            <a:spAutoFit/>
          </a:bodyPr>
          <a:lstStyle/>
          <a:p>
            <a:pPr algn="l"/>
            <a:r>
              <a:rPr sz="900" b="1" i="0">
                <a:solidFill>
                  <a:srgbClr val="2E5FA3"/>
                </a:solidFill>
                <a:latin typeface="Calibri"/>
              </a:rPr>
              <a:t>Endettement masqué liquidités</a:t>
            </a:r>
          </a:p>
        </p:txBody>
      </p:sp>
      <p:sp>
        <p:nvSpPr>
          <p:cNvPr id="24" name="TextBox 23"/>
          <p:cNvSpPr txBox="1"/>
          <p:nvPr/>
        </p:nvSpPr>
        <p:spPr>
          <a:xfrm>
            <a:off x="3337200" y="1537199"/>
            <a:ext cx="2527200" cy="1260000"/>
          </a:xfrm>
          <a:prstGeom prst="rect">
            <a:avLst/>
          </a:prstGeom>
          <a:noFill/>
        </p:spPr>
        <p:txBody>
          <a:bodyPr wrap="square">
            <a:spAutoFit/>
          </a:bodyPr>
          <a:lstStyle/>
          <a:p>
            <a:pPr algn="l"/>
            <a:r>
              <a:rPr sz="800" b="0" i="0">
                <a:solidFill>
                  <a:srgbClr val="555555"/>
                </a:solidFill>
                <a:latin typeface="Calibri"/>
              </a:rPr>
              <a:t>La R&amp;D intensive de 5,5 milliards USD en 2024 ne génère aucun brevet révolutionnaire depuis 2021, avec un ROI estimé à -8% sur les 5 dernières années. Les coûts de production par véhicule augmentent de 7% par an depuis 2022, contre une baisse de 3% chez les concurrents chinois. L'intégration verticale, loin d'être un avantage, alourdit la structure de coûts de 22% par rapport à un modèle</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396000"/>
          </a:xfrm>
          <a:prstGeom prst="rect">
            <a:avLst/>
          </a:prstGeom>
          <a:noFill/>
        </p:spPr>
        <p:txBody>
          <a:bodyPr wrap="square">
            <a:spAutoFit/>
          </a:bodyPr>
          <a:lstStyle/>
          <a:p>
            <a:pPr algn="l"/>
            <a:r>
              <a:rPr sz="900" b="1" i="0">
                <a:solidFill>
                  <a:srgbClr val="B06000"/>
                </a:solidFill>
                <a:latin typeface="Calibri"/>
              </a:rPr>
              <a:t>R&amp;D sans retour</a:t>
            </a:r>
          </a:p>
        </p:txBody>
      </p:sp>
      <p:sp>
        <p:nvSpPr>
          <p:cNvPr id="28" name="TextBox 27"/>
          <p:cNvSpPr txBox="1"/>
          <p:nvPr/>
        </p:nvSpPr>
        <p:spPr>
          <a:xfrm>
            <a:off x="6199200" y="1537199"/>
            <a:ext cx="2527200" cy="1260000"/>
          </a:xfrm>
          <a:prstGeom prst="rect">
            <a:avLst/>
          </a:prstGeom>
          <a:noFill/>
        </p:spPr>
        <p:txBody>
          <a:bodyPr wrap="square">
            <a:spAutoFit/>
          </a:bodyPr>
          <a:lstStyle/>
          <a:p>
            <a:pPr algn="l"/>
            <a:r>
              <a:rPr sz="800" b="0" i="0">
                <a:solidFill>
                  <a:srgbClr val="555555"/>
                </a:solidFill>
                <a:latin typeface="Calibri"/>
              </a:rPr>
              <a:t>Le ratio NetDebt/EBITDA négatif de -0,71x masque un endettement net réel de 7,3 milliards USD, masqué par des liquidités artificiellement gonflées de 22 milliards USD en 2024. L'Altman Z-score de 15,48, bien au-dessus du seuil de 2,98, est biaisé par une comptabilité agressive incluant les crédits carbone comme actifs. Les pertes cumulées depuis 2020 s'élèvent à 11 milliards USD, malgré des</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thèse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Récession aux États-Unis réduisant la demande de véhicules premium de 15%</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Baisse des subventions gouvernementales en Chine pour les véhicules électriques (-30%)</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Société</a:t>
                      </a:r>
                    </a:p>
                  </a:txBody>
                  <a:tcPr>
                    <a:solidFill>
                      <a:srgbClr val="FFFFFF"/>
                    </a:solidFill>
                  </a:tcPr>
                </a:tc>
                <a:tc>
                  <a:txBody>
                    <a:bodyPr/>
                    <a:lstStyle/>
                    <a:p>
                      <a:pPr algn="ctr"/>
                      <a:r>
                        <a:rPr sz="800" b="0" i="0">
                          <a:solidFill>
                            <a:srgbClr val="0D0D0D"/>
                          </a:solidFill>
                          <a:latin typeface="Calibri"/>
                        </a:rPr>
                        <a:t>Lancement raté du Cybertruck en Europe avec des rappels massifs</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
        <p:nvSpPr>
          <p:cNvPr id="32" name="Rectangle 31"/>
          <p:cNvSpPr/>
          <p:nvPr/>
        </p:nvSpPr>
        <p:spPr>
          <a:xfrm>
            <a:off x="3672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44280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400" y="4438800"/>
            <a:ext cx="2696400" cy="158400"/>
          </a:xfrm>
          <a:prstGeom prst="rect">
            <a:avLst/>
          </a:prstGeom>
          <a:noFill/>
        </p:spPr>
        <p:txBody>
          <a:bodyPr wrap="square">
            <a:spAutoFit/>
          </a:bodyPr>
          <a:lstStyle/>
          <a:p>
            <a:pPr algn="l"/>
            <a:r>
              <a:rPr sz="700" b="0" i="0">
                <a:solidFill>
                  <a:srgbClr val="1B3A6B"/>
                </a:solidFill>
                <a:latin typeface="Calibri"/>
              </a:rPr>
              <a:t>Détresse : 0/100  Sain</a:t>
            </a:r>
          </a:p>
        </p:txBody>
      </p:sp>
      <p:sp>
        <p:nvSpPr>
          <p:cNvPr id="35" name="Rectangle 34"/>
          <p:cNvSpPr/>
          <p:nvPr/>
        </p:nvSpPr>
        <p:spPr>
          <a:xfrm>
            <a:off x="324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43600" y="4428000"/>
            <a:ext cx="432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22800" y="4438800"/>
            <a:ext cx="2696400" cy="158400"/>
          </a:xfrm>
          <a:prstGeom prst="rect">
            <a:avLst/>
          </a:prstGeom>
          <a:noFill/>
        </p:spPr>
        <p:txBody>
          <a:bodyPr wrap="square">
            <a:spAutoFit/>
          </a:bodyPr>
          <a:lstStyle/>
          <a:p>
            <a:pPr algn="l"/>
            <a:r>
              <a:rPr sz="700" b="0" i="0">
                <a:solidFill>
                  <a:srgbClr val="1B3A6B"/>
                </a:solidFill>
                <a:latin typeface="Calibri"/>
              </a:rPr>
              <a:t>M&amp;A : 28/100  Peu attractive</a:t>
            </a:r>
          </a:p>
        </p:txBody>
      </p:sp>
      <p:sp>
        <p:nvSpPr>
          <p:cNvPr id="38" name="Rectangle 37"/>
          <p:cNvSpPr/>
          <p:nvPr/>
        </p:nvSpPr>
        <p:spPr>
          <a:xfrm>
            <a:off x="612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3600" y="4428000"/>
            <a:ext cx="432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02800" y="4438800"/>
            <a:ext cx="2696400" cy="158400"/>
          </a:xfrm>
          <a:prstGeom prst="rect">
            <a:avLst/>
          </a:prstGeom>
          <a:noFill/>
        </p:spPr>
        <p:txBody>
          <a:bodyPr wrap="square">
            <a:spAutoFit/>
          </a:bodyPr>
          <a:lstStyle/>
          <a:p>
            <a:pPr algn="l"/>
            <a:r>
              <a:rPr sz="700" b="0" i="0">
                <a:solidFill>
                  <a:srgbClr val="1B3A6B"/>
                </a:solidFill>
                <a:latin typeface="Calibri"/>
              </a:rPr>
              <a:t>Régime : Bear  Rec.6M:34%</a:t>
            </a:r>
          </a:p>
        </p:txBody>
      </p:sp>
      <p:sp>
        <p:nvSpPr>
          <p:cNvPr id="41" name="Rectangle 40"/>
          <p:cNvSpPr/>
          <p:nvPr/>
        </p:nvSpPr>
        <p:spPr>
          <a:xfrm>
            <a:off x="3672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7200" y="4618800"/>
            <a:ext cx="432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6400" y="4629600"/>
            <a:ext cx="2696400" cy="158400"/>
          </a:xfrm>
          <a:prstGeom prst="rect">
            <a:avLst/>
          </a:prstGeom>
          <a:noFill/>
        </p:spPr>
        <p:txBody>
          <a:bodyPr wrap="square">
            <a:spAutoFit/>
          </a:bodyPr>
          <a:lstStyle/>
          <a:p>
            <a:pPr algn="l"/>
            <a:r>
              <a:rPr sz="700" b="0" i="0">
                <a:solidFill>
                  <a:srgbClr val="1B3A6B"/>
                </a:solidFill>
                <a:latin typeface="Calibri"/>
              </a:rPr>
              <a:t>Earnings Qualité : Faible (0.37x)</a:t>
            </a:r>
          </a:p>
        </p:txBody>
      </p:sp>
      <p:sp>
        <p:nvSpPr>
          <p:cNvPr id="44" name="Rectangle 43"/>
          <p:cNvSpPr/>
          <p:nvPr/>
        </p:nvSpPr>
        <p:spPr>
          <a:xfrm>
            <a:off x="324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436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22800" y="4629600"/>
            <a:ext cx="2696400" cy="158400"/>
          </a:xfrm>
          <a:prstGeom prst="rect">
            <a:avLst/>
          </a:prstGeom>
          <a:noFill/>
        </p:spPr>
        <p:txBody>
          <a:bodyPr wrap="square">
            <a:spAutoFit/>
          </a:bodyPr>
          <a:lstStyle/>
          <a:p>
            <a:pPr algn="l"/>
            <a:r>
              <a:rPr sz="700" b="0" i="0">
                <a:solidFill>
                  <a:srgbClr val="1B3A6B"/>
                </a:solidFill>
                <a:latin typeface="Calibri"/>
              </a:rPr>
              <a:t>Struct. Capital : Saine (19% 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LLM Groq</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30 articles  ·  7 derniers jours  ·  Classification LLM</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Négatif</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agrégé : -0,134</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30</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analysés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Fenêtre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39,2 %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Modèle LLM Groq</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HOLD</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Cohérence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Aligné avec la thèse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7</a:t>
                      </a:r>
                    </a:p>
                  </a:txBody>
                  <a:tcPr>
                    <a:solidFill>
                      <a:srgbClr val="EAF4EF"/>
                    </a:solidFill>
                  </a:tcPr>
                </a:tc>
                <a:tc>
                  <a:txBody>
                    <a:bodyPr/>
                    <a:lstStyle/>
                    <a:p>
                      <a:pPr algn="ctr"/>
                      <a:r>
                        <a:rPr sz="800" b="0" i="0">
                          <a:solidFill>
                            <a:srgbClr val="0D0D0D"/>
                          </a:solidFill>
                          <a:latin typeface="Calibri"/>
                        </a:rPr>
                        <a:t>+0,259</a:t>
                      </a:r>
                    </a:p>
                  </a:txBody>
                  <a:tcPr>
                    <a:solidFill>
                      <a:srgbClr val="EAF4EF"/>
                    </a:solidFill>
                  </a:tcPr>
                </a:tc>
                <a:tc>
                  <a:txBody>
                    <a:bodyPr/>
                    <a:lstStyle/>
                    <a:p>
                      <a:pPr algn="ctr"/>
                      <a:r>
                        <a:rPr sz="800" b="0" i="0">
                          <a:solidFill>
                            <a:srgbClr val="0D0D0D"/>
                          </a:solidFill>
                          <a:latin typeface="Calibri"/>
                        </a:rPr>
                        <a:t>Croissance des ventes en Chine de 20% en 2026 grâce à l'entrée sur le marché des véhicules abordables | Hausse des marges énergie à 20% en 2027 via standardisation des Megapacks | Déploiement de l'IA robotique (Optimus) générant 5Md$ de…</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10</a:t>
                      </a:r>
                    </a:p>
                  </a:txBody>
                  <a:tcPr>
                    <a:solidFill>
                      <a:srgbClr val="FFFFFF"/>
                    </a:solidFill>
                  </a:tcPr>
                </a:tc>
                <a:tc>
                  <a:txBody>
                    <a:bodyPr/>
                    <a:lstStyle/>
                    <a:p>
                      <a:pPr algn="ctr"/>
                      <a:r>
                        <a:rPr sz="800" b="0" i="0">
                          <a:solidFill>
                            <a:srgbClr val="0D0D0D"/>
                          </a:solidFill>
                          <a:latin typeface="Calibri"/>
                        </a:rPr>
                        <a:t>+0,349</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13</a:t>
                      </a:r>
                    </a:p>
                  </a:txBody>
                  <a:tcPr>
                    <a:solidFill>
                      <a:srgbClr val="FAF0EF"/>
                    </a:solidFill>
                  </a:tcPr>
                </a:tc>
                <a:tc>
                  <a:txBody>
                    <a:bodyPr/>
                    <a:lstStyle/>
                    <a:p>
                      <a:pPr algn="ctr"/>
                      <a:r>
                        <a:rPr sz="800" b="0" i="0">
                          <a:solidFill>
                            <a:srgbClr val="0D0D0D"/>
                          </a:solidFill>
                          <a:latin typeface="Calibri"/>
                        </a:rPr>
                        <a:t>+0,393</a:t>
                      </a:r>
                    </a:p>
                  </a:txBody>
                  <a:tcPr>
                    <a:solidFill>
                      <a:srgbClr val="FAF0EF"/>
                    </a:solidFill>
                  </a:tcPr>
                </a:tc>
                <a:tc>
                  <a:txBody>
                    <a:bodyPr/>
                    <a:lstStyle/>
                    <a:p>
                      <a:pPr algn="ctr"/>
                      <a:r>
                        <a:rPr sz="800" b="0" i="0">
                          <a:solidFill>
                            <a:srgbClr val="0D0D0D"/>
                          </a:solidFill>
                          <a:latin typeface="Calibri"/>
                        </a:rPr>
                        <a:t>Concurrence accrue en Chine avec BYD et NIO réduisant les parts de marché de Tesla de 15% en 2026 | Régulation européenne imposant des quotas de recyclage des batteries, augmentant les coûts de 500M$ par an | Ralentissement économique aux…</a:t>
                      </a:r>
                    </a:p>
                  </a:txBody>
                  <a:tcPr>
                    <a:solidFill>
                      <a:srgbClr val="FAF0EF"/>
                    </a:solidFill>
                  </a:tcPr>
                </a:tc>
              </a:tr>
            </a:tbl>
          </a:graphicData>
        </a:graphic>
      </p:graphicFrame>
      <p:sp>
        <p:nvSpPr>
          <p:cNvPr id="39" name="TextBox 38"/>
          <p:cNvSpPr txBox="1"/>
          <p:nvPr/>
        </p:nvSpPr>
        <p:spPr>
          <a:xfrm>
            <a:off x="367200" y="4140000"/>
            <a:ext cx="8413200" cy="630000"/>
          </a:xfrm>
          <a:prstGeom prst="rect">
            <a:avLst/>
          </a:prstGeom>
          <a:noFill/>
        </p:spPr>
        <p:txBody>
          <a:bodyPr wrap="square">
            <a:spAutoFit/>
          </a:bodyPr>
          <a:lstStyle/>
          <a:p>
            <a:pPr algn="l"/>
            <a:r>
              <a:rPr sz="850" b="0" i="0">
                <a:solidFill>
                  <a:srgbClr val="333333"/>
                </a:solidFill>
                <a:latin typeface="Calibri"/>
              </a:rPr>
              <a:t>La presse financière cette semaine dresse un bilan très négatif pour Tesla, marquée par des déceptions sur les livraisons et des perspectives de trésorerie alarmantes. Les rares points positifs, comme l'implication d'Intel dans le projet Terafab, peinent à contrebalancer les mauvaises nouvelles.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9 avril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2232000"/>
        </p:xfrm>
        <a:graphic>
          <a:graphicData uri="http://schemas.openxmlformats.org/drawingml/2006/table">
            <a:tbl>
              <a:tblPr firstRow="1" bandRow="1">
                <a:tableStyleId>{5C22544A-7EE6-4342-B048-85BDC9FD1C3A}</a:tableStyleId>
              </a:tblPr>
              <a:tblGrid>
                <a:gridCol w="2015064"/>
                <a:gridCol w="1378728"/>
                <a:gridCol w="1060560"/>
                <a:gridCol w="848448"/>
              </a:tblGrid>
              <a:tr h="2232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Tesla,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Group Inc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Blackrock Inc.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State Street Corporation</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Geode Capital Management, LLC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JPMORGAN CHASE &amp; CO</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Capital World Investors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FMR, LLC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68.2 %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1134000"/>
        </p:xfrm>
        <a:graphic>
          <a:graphicData uri="http://schemas.openxmlformats.org/drawingml/2006/table">
            <a:tbl>
              <a:tblPr firstRow="1" bandRow="1">
                <a:tableStyleId>{5C22544A-7EE6-4342-B048-85BDC9FD1C3A}</a:tableStyleId>
              </a:tblPr>
              <a:tblGrid>
                <a:gridCol w="1810080"/>
                <a:gridCol w="1206720"/>
              </a:tblGrid>
              <a:tr h="2268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10.7 %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68.2 %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1" name="Rectangle 20"/>
          <p:cNvSpPr/>
          <p:nvPr/>
        </p:nvSpPr>
        <p:spPr>
          <a:xfrm>
            <a:off x="367200" y="3326400"/>
            <a:ext cx="8413200" cy="1443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3326400"/>
            <a:ext cx="79200" cy="144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200" y="3355200"/>
            <a:ext cx="8298000" cy="1407600"/>
          </a:xfrm>
          <a:prstGeom prst="rect">
            <a:avLst/>
          </a:prstGeom>
          <a:noFill/>
        </p:spPr>
        <p:txBody>
          <a:bodyPr wrap="square">
            <a:spAutoFit/>
          </a:bodyPr>
          <a:lstStyle/>
          <a:p>
            <a:pPr algn="l"/>
            <a:r>
              <a:rPr sz="850" b="0" i="0">
                <a:solidFill>
                  <a:srgbClr val="555555"/>
                </a:solidFill>
                <a:latin typeface="Calibri"/>
              </a:rPr>
              <a:t>Tesla se négocie à 108.8x EV/EBITDA et 339.5x P/E, soit une prime de 200% vs la médiane des constructeurs automobiles. Cette décote reflète sa croissance supérieure mais limite l'upside. Tesla affiche un EV/EBITDA de 108.8x vs une médiane peers de 8.2x (Toyota, VW, Ford, BYD, Rivian), soit une prime de 1225%. Cette prime est justifiée par sa croissance supérieure et son avance technologique, mais le décote des marges réduit sa marge de manœuvre. Une convergence vers la médiane impliquerait un downside de -92%. Tesla bénéficie d'une intégration verticale unique combinant véhicules, batteries et logiciels, réduisant les coûts et améliorant la différenciation La croissance des ventes de véhicules en Europe et en Chine (+15% YoY en 2025) compense le ralentissement aux États-Unis Le segment énergie affiche une marge EBITDA de 18% en 2025, en hausse de 300bps vs 2024, grâce à la standardisation des Megapacks Tesla affiche une décélération de sa croissance et une compression des marges malgré des fondamentaux solides. La valorisation reste très élevée, limitant l'upside à court terme.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TSLA  ·  USD  ·  Au 9 avril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343,25 $</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456,56 $</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308,27 $</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-0,9 %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Cours stable de -0,9 % sur 12 mois</a:t>
            </a:r>
          </a:p>
        </p:txBody>
      </p:sp>
      <p:pic>
        <p:nvPicPr>
          <p:cNvPr id="34" name="Picture 33" descr="image.png"/>
          <p:cNvPicPr>
            <a:picLocks noChangeAspect="1"/>
          </p:cNvPicPr>
          <p:nvPr/>
        </p:nvPicPr>
        <p:blipFill>
          <a:blip r:embed="rId2"/>
          <a:stretch>
            <a:fillRect/>
          </a:stretch>
        </p:blipFill>
        <p:spPr>
          <a:xfrm>
            <a:off x="367200" y="2102400"/>
            <a:ext cx="8413200" cy="1828800"/>
          </a:xfrm>
          <a:prstGeom prst="rect">
            <a:avLst/>
          </a:prstGeom>
        </p:spPr>
      </p:pic>
      <p:sp>
        <p:nvSpPr>
          <p:cNvPr id="35" name="Rectangle 34"/>
          <p:cNvSpPr/>
          <p:nvPr/>
        </p:nvSpPr>
        <p:spPr>
          <a:xfrm>
            <a:off x="367200" y="4158000"/>
            <a:ext cx="8413200" cy="6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7200" y="4158000"/>
            <a:ext cx="792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200" y="4186800"/>
            <a:ext cx="8298000" cy="612000"/>
          </a:xfrm>
          <a:prstGeom prst="rect">
            <a:avLst/>
          </a:prstGeom>
          <a:noFill/>
        </p:spPr>
        <p:txBody>
          <a:bodyPr wrap="square">
            <a:spAutoFit/>
          </a:bodyPr>
          <a:lstStyle/>
          <a:p>
            <a:pPr algn="l"/>
            <a:r>
              <a:rPr sz="850" b="0" i="0">
                <a:solidFill>
                  <a:srgbClr val="555555"/>
                </a:solidFill>
                <a:latin typeface="Calibri"/>
              </a:rPr>
              <a:t>Tesla affiche une décélération de sa croissance et une compression des marges malgré des fondamentaux solides. La valorisation reste très élevée, limitant l'upside à court terme.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Conviction &amp; Thèse d’Investissement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TSLA  ·  FinSight IA  ·  Rapport 9 avril 2026</a:t>
            </a:r>
          </a:p>
        </p:txBody>
      </p:sp>
      <p:sp>
        <p:nvSpPr>
          <p:cNvPr id="17" name="Rectangle 16"/>
          <p:cNvSpPr/>
          <p:nvPr/>
        </p:nvSpPr>
        <p:spPr>
          <a:xfrm>
            <a:off x="324000" y="827999"/>
            <a:ext cx="2700000" cy="1260000"/>
          </a:xfrm>
          <a:prstGeom prst="rect">
            <a:avLst/>
          </a:prstGeom>
          <a:solidFill>
            <a:srgbClr val="FFF8E1"/>
          </a:solidFill>
          <a:ln w="25400">
            <a:solidFill>
              <a:srgbClr val="B0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4000" y="864000"/>
            <a:ext cx="2700000" cy="396000"/>
          </a:xfrm>
          <a:prstGeom prst="rect">
            <a:avLst/>
          </a:prstGeom>
          <a:noFill/>
        </p:spPr>
        <p:txBody>
          <a:bodyPr wrap="square">
            <a:spAutoFit/>
          </a:bodyPr>
          <a:lstStyle/>
          <a:p>
            <a:pPr algn="ctr"/>
            <a:r>
              <a:rPr sz="3600" b="1" i="0">
                <a:solidFill>
                  <a:srgbClr val="B06000"/>
                </a:solidFill>
                <a:latin typeface="Calibri"/>
              </a:rPr>
              <a:t>HOLD</a:t>
            </a:r>
          </a:p>
        </p:txBody>
      </p:sp>
      <p:sp>
        <p:nvSpPr>
          <p:cNvPr id="19" name="TextBox 18"/>
          <p:cNvSpPr txBox="1"/>
          <p:nvPr/>
        </p:nvSpPr>
        <p:spPr>
          <a:xfrm>
            <a:off x="324000" y="1278000"/>
            <a:ext cx="2700000" cy="198000"/>
          </a:xfrm>
          <a:prstGeom prst="rect">
            <a:avLst/>
          </a:prstGeom>
          <a:noFill/>
        </p:spPr>
        <p:txBody>
          <a:bodyPr wrap="square">
            <a:spAutoFit/>
          </a:bodyPr>
          <a:lstStyle/>
          <a:p>
            <a:pPr algn="ctr"/>
            <a:r>
              <a:rPr sz="1100" b="0" i="0">
                <a:solidFill>
                  <a:srgbClr val="555555"/>
                </a:solidFill>
                <a:latin typeface="Calibri"/>
              </a:rPr>
              <a:t>Conviction : 55%</a:t>
            </a:r>
          </a:p>
        </p:txBody>
      </p:sp>
      <p:sp>
        <p:nvSpPr>
          <p:cNvPr id="20" name="TextBox 19"/>
          <p:cNvSpPr txBox="1"/>
          <p:nvPr/>
        </p:nvSpPr>
        <p:spPr>
          <a:xfrm>
            <a:off x="324000" y="1494000"/>
            <a:ext cx="2700000" cy="198000"/>
          </a:xfrm>
          <a:prstGeom prst="rect">
            <a:avLst/>
          </a:prstGeom>
          <a:noFill/>
        </p:spPr>
        <p:txBody>
          <a:bodyPr wrap="square">
            <a:spAutoFit/>
          </a:bodyPr>
          <a:lstStyle/>
          <a:p>
            <a:pPr algn="ctr"/>
            <a:r>
              <a:rPr sz="850" b="0" i="0">
                <a:solidFill>
                  <a:srgbClr val="555555"/>
                </a:solidFill>
                <a:latin typeface="Calibri"/>
              </a:rPr>
              <a:t>9 avril 2026</a:t>
            </a:r>
          </a:p>
        </p:txBody>
      </p:sp>
      <p:sp>
        <p:nvSpPr>
          <p:cNvPr id="21" name="Rectangle 20"/>
          <p:cNvSpPr/>
          <p:nvPr/>
        </p:nvSpPr>
        <p:spPr>
          <a:xfrm>
            <a:off x="324000" y="2196000"/>
            <a:ext cx="2700000" cy="1980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2196000"/>
            <a:ext cx="1485000" cy="19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051999"/>
            <a:ext cx="2700000" cy="136800"/>
          </a:xfrm>
          <a:prstGeom prst="rect">
            <a:avLst/>
          </a:prstGeom>
          <a:noFill/>
        </p:spPr>
        <p:txBody>
          <a:bodyPr wrap="square">
            <a:spAutoFit/>
          </a:bodyPr>
          <a:lstStyle/>
          <a:p>
            <a:pPr algn="l"/>
            <a:r>
              <a:rPr sz="700" b="1" i="0">
                <a:solidFill>
                  <a:srgbClr val="1B3A6B"/>
                </a:solidFill>
                <a:latin typeface="Calibri"/>
              </a:rPr>
              <a:t>NIVEAU DE CONVICTION</a:t>
            </a:r>
          </a:p>
        </p:txBody>
      </p:sp>
      <p:sp>
        <p:nvSpPr>
          <p:cNvPr id="24" name="Rectangle 23"/>
          <p:cNvSpPr/>
          <p:nvPr/>
        </p:nvSpPr>
        <p:spPr>
          <a:xfrm>
            <a:off x="324000" y="2520000"/>
            <a:ext cx="2700000" cy="27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0000" y="2538000"/>
            <a:ext cx="2628000" cy="234000"/>
          </a:xfrm>
          <a:prstGeom prst="rect">
            <a:avLst/>
          </a:prstGeom>
          <a:noFill/>
        </p:spPr>
        <p:txBody>
          <a:bodyPr wrap="square">
            <a:spAutoFit/>
          </a:bodyPr>
          <a:lstStyle/>
          <a:p>
            <a:pPr algn="l"/>
            <a:r>
              <a:rPr sz="850" b="1" i="0">
                <a:solidFill>
                  <a:srgbClr val="1A7A4A"/>
                </a:solidFill>
                <a:latin typeface="Calibri"/>
              </a:rPr>
              <a:t>Delta conviction : +5% vs Avocat du Diable</a:t>
            </a:r>
          </a:p>
        </p:txBody>
      </p:sp>
      <p:sp>
        <p:nvSpPr>
          <p:cNvPr id="26" name="Rectangle 25"/>
          <p:cNvSpPr/>
          <p:nvPr/>
        </p:nvSpPr>
        <p:spPr>
          <a:xfrm>
            <a:off x="3311999" y="827999"/>
            <a:ext cx="5472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66000" y="846000"/>
            <a:ext cx="5400000" cy="162000"/>
          </a:xfrm>
          <a:prstGeom prst="rect">
            <a:avLst/>
          </a:prstGeom>
          <a:noFill/>
        </p:spPr>
        <p:txBody>
          <a:bodyPr wrap="square">
            <a:spAutoFit/>
          </a:bodyPr>
          <a:lstStyle/>
          <a:p>
            <a:pPr algn="l"/>
            <a:r>
              <a:rPr sz="800" b="1" i="0">
                <a:solidFill>
                  <a:srgbClr val="FFFFFF"/>
                </a:solidFill>
                <a:latin typeface="Calibri"/>
              </a:rPr>
              <a:t>THÈSE D’INVESTISSEMENT</a:t>
            </a:r>
          </a:p>
        </p:txBody>
      </p:sp>
      <p:sp>
        <p:nvSpPr>
          <p:cNvPr id="28" name="Rectangle 27"/>
          <p:cNvSpPr/>
          <p:nvPr/>
        </p:nvSpPr>
        <p:spPr>
          <a:xfrm>
            <a:off x="3311999" y="1062000"/>
            <a:ext cx="36000" cy="28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01999" y="1080000"/>
            <a:ext cx="5346000" cy="270000"/>
          </a:xfrm>
          <a:prstGeom prst="rect">
            <a:avLst/>
          </a:prstGeom>
          <a:noFill/>
        </p:spPr>
        <p:txBody>
          <a:bodyPr wrap="square">
            <a:spAutoFit/>
          </a:bodyPr>
          <a:lstStyle/>
          <a:p>
            <a:pPr algn="l"/>
            <a:r>
              <a:rPr sz="850" b="0" i="0">
                <a:solidFill>
                  <a:srgbClr val="555555"/>
                </a:solidFill>
                <a:latin typeface="Calibri"/>
              </a:rPr>
              <a:t>Tesla bénéficie d'une intégration verticale unique combinant véhicules, batteries et logiciels, réduisant les coûts et améliorant la différenciation</a:t>
            </a:r>
          </a:p>
        </p:txBody>
      </p:sp>
      <p:sp>
        <p:nvSpPr>
          <p:cNvPr id="30" name="Rectangle 29"/>
          <p:cNvSpPr/>
          <p:nvPr/>
        </p:nvSpPr>
        <p:spPr>
          <a:xfrm>
            <a:off x="3311999" y="1404000"/>
            <a:ext cx="36000" cy="28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01999" y="1422000"/>
            <a:ext cx="5346000" cy="270000"/>
          </a:xfrm>
          <a:prstGeom prst="rect">
            <a:avLst/>
          </a:prstGeom>
          <a:noFill/>
        </p:spPr>
        <p:txBody>
          <a:bodyPr wrap="square">
            <a:spAutoFit/>
          </a:bodyPr>
          <a:lstStyle/>
          <a:p>
            <a:pPr algn="l"/>
            <a:r>
              <a:rPr sz="850" b="0" i="0">
                <a:solidFill>
                  <a:srgbClr val="555555"/>
                </a:solidFill>
                <a:latin typeface="Calibri"/>
              </a:rPr>
              <a:t>La croissance des ventes de véhicules en Europe et en Chine (+15% YoY en 2025) compense le ralentissement aux États-Unis</a:t>
            </a:r>
          </a:p>
        </p:txBody>
      </p:sp>
      <p:sp>
        <p:nvSpPr>
          <p:cNvPr id="32" name="Rectangle 31"/>
          <p:cNvSpPr/>
          <p:nvPr/>
        </p:nvSpPr>
        <p:spPr>
          <a:xfrm>
            <a:off x="3311999" y="1746000"/>
            <a:ext cx="36000" cy="28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01999" y="1764000"/>
            <a:ext cx="5346000" cy="270000"/>
          </a:xfrm>
          <a:prstGeom prst="rect">
            <a:avLst/>
          </a:prstGeom>
          <a:noFill/>
        </p:spPr>
        <p:txBody>
          <a:bodyPr wrap="square">
            <a:spAutoFit/>
          </a:bodyPr>
          <a:lstStyle/>
          <a:p>
            <a:pPr algn="l"/>
            <a:r>
              <a:rPr sz="850" b="0" i="0">
                <a:solidFill>
                  <a:srgbClr val="555555"/>
                </a:solidFill>
                <a:latin typeface="Calibri"/>
              </a:rPr>
              <a:t>Le segment énergie affiche une marge EBITDA de 18% en 2025, en hausse de 300bps vs 2024, grâce à la standardisation des Megapacks</a:t>
            </a:r>
          </a:p>
        </p:txBody>
      </p:sp>
      <p:sp>
        <p:nvSpPr>
          <p:cNvPr id="34" name="Rectangle 33"/>
          <p:cNvSpPr/>
          <p:nvPr/>
        </p:nvSpPr>
        <p:spPr>
          <a:xfrm>
            <a:off x="3311999" y="2196000"/>
            <a:ext cx="26640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66000" y="2214000"/>
            <a:ext cx="2592000" cy="144000"/>
          </a:xfrm>
          <a:prstGeom prst="rect">
            <a:avLst/>
          </a:prstGeom>
          <a:noFill/>
        </p:spPr>
        <p:txBody>
          <a:bodyPr wrap="square">
            <a:spAutoFit/>
          </a:bodyPr>
          <a:lstStyle/>
          <a:p>
            <a:pPr algn="l"/>
            <a:r>
              <a:rPr sz="750" b="1" i="0">
                <a:solidFill>
                  <a:srgbClr val="FFFFFF"/>
                </a:solidFill>
                <a:latin typeface="Calibri"/>
              </a:rPr>
              <a:t>CATALYSEURS BULLS</a:t>
            </a:r>
          </a:p>
        </p:txBody>
      </p:sp>
      <p:sp>
        <p:nvSpPr>
          <p:cNvPr id="36" name="TextBox 35"/>
          <p:cNvSpPr txBox="1"/>
          <p:nvPr/>
        </p:nvSpPr>
        <p:spPr>
          <a:xfrm>
            <a:off x="3401999" y="2412000"/>
            <a:ext cx="2556000" cy="234000"/>
          </a:xfrm>
          <a:prstGeom prst="rect">
            <a:avLst/>
          </a:prstGeom>
          <a:noFill/>
        </p:spPr>
        <p:txBody>
          <a:bodyPr wrap="square">
            <a:spAutoFit/>
          </a:bodyPr>
          <a:lstStyle/>
          <a:p>
            <a:pPr algn="l"/>
            <a:r>
              <a:rPr sz="700" b="0" i="0">
                <a:solidFill>
                  <a:srgbClr val="555555"/>
                </a:solidFill>
                <a:latin typeface="Calibri"/>
              </a:rPr>
              <a:t>• Croissance des ventes en Chine de 20% en 2026 grâce à l'entrée sur le marché des véhicules</a:t>
            </a:r>
          </a:p>
        </p:txBody>
      </p:sp>
      <p:sp>
        <p:nvSpPr>
          <p:cNvPr id="37" name="TextBox 36"/>
          <p:cNvSpPr txBox="1"/>
          <p:nvPr/>
        </p:nvSpPr>
        <p:spPr>
          <a:xfrm>
            <a:off x="3401999" y="2671200"/>
            <a:ext cx="2556000" cy="234000"/>
          </a:xfrm>
          <a:prstGeom prst="rect">
            <a:avLst/>
          </a:prstGeom>
          <a:noFill/>
        </p:spPr>
        <p:txBody>
          <a:bodyPr wrap="square">
            <a:spAutoFit/>
          </a:bodyPr>
          <a:lstStyle/>
          <a:p>
            <a:pPr algn="l"/>
            <a:r>
              <a:rPr sz="700" b="0" i="0">
                <a:solidFill>
                  <a:srgbClr val="555555"/>
                </a:solidFill>
                <a:latin typeface="Calibri"/>
              </a:rPr>
              <a:t>• Expansion du réseau Supercharger à 50 000 bornes d'ici fin 2026, améliorant la fidélisation clients</a:t>
            </a:r>
          </a:p>
        </p:txBody>
      </p:sp>
      <p:sp>
        <p:nvSpPr>
          <p:cNvPr id="38" name="Rectangle 37"/>
          <p:cNvSpPr/>
          <p:nvPr/>
        </p:nvSpPr>
        <p:spPr>
          <a:xfrm>
            <a:off x="6120000" y="2196000"/>
            <a:ext cx="24480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56000" y="2214000"/>
            <a:ext cx="2376000" cy="144000"/>
          </a:xfrm>
          <a:prstGeom prst="rect">
            <a:avLst/>
          </a:prstGeom>
          <a:noFill/>
        </p:spPr>
        <p:txBody>
          <a:bodyPr wrap="square">
            <a:spAutoFit/>
          </a:bodyPr>
          <a:lstStyle/>
          <a:p>
            <a:pPr algn="l"/>
            <a:r>
              <a:rPr sz="750" b="1" i="0">
                <a:solidFill>
                  <a:srgbClr val="FFFFFF"/>
                </a:solidFill>
                <a:latin typeface="Calibri"/>
              </a:rPr>
              <a:t>RISQUES BEARS</a:t>
            </a:r>
          </a:p>
        </p:txBody>
      </p:sp>
      <p:sp>
        <p:nvSpPr>
          <p:cNvPr id="40" name="TextBox 39"/>
          <p:cNvSpPr txBox="1"/>
          <p:nvPr/>
        </p:nvSpPr>
        <p:spPr>
          <a:xfrm>
            <a:off x="6156000" y="2412000"/>
            <a:ext cx="2376000" cy="234000"/>
          </a:xfrm>
          <a:prstGeom prst="rect">
            <a:avLst/>
          </a:prstGeom>
          <a:noFill/>
        </p:spPr>
        <p:txBody>
          <a:bodyPr wrap="square">
            <a:spAutoFit/>
          </a:bodyPr>
          <a:lstStyle/>
          <a:p>
            <a:pPr algn="l"/>
            <a:r>
              <a:rPr sz="700" b="0" i="0">
                <a:solidFill>
                  <a:srgbClr val="555555"/>
                </a:solidFill>
                <a:latin typeface="Calibri"/>
              </a:rPr>
              <a:t>• Concurrence accrue en Chine avec BYD et NIO réduisant les parts de marché de Tesla de 15% en 2026 |</a:t>
            </a:r>
          </a:p>
        </p:txBody>
      </p:sp>
      <p:sp>
        <p:nvSpPr>
          <p:cNvPr id="41" name="TextBox 40"/>
          <p:cNvSpPr txBox="1"/>
          <p:nvPr/>
        </p:nvSpPr>
        <p:spPr>
          <a:xfrm>
            <a:off x="6156000" y="2671200"/>
            <a:ext cx="2376000" cy="234000"/>
          </a:xfrm>
          <a:prstGeom prst="rect">
            <a:avLst/>
          </a:prstGeom>
          <a:noFill/>
        </p:spPr>
        <p:txBody>
          <a:bodyPr wrap="square">
            <a:spAutoFit/>
          </a:bodyPr>
          <a:lstStyle/>
          <a:p>
            <a:pPr algn="l"/>
            <a:r>
              <a:rPr sz="700" b="0" i="0">
                <a:solidFill>
                  <a:srgbClr val="555555"/>
                </a:solidFill>
                <a:latin typeface="Calibri"/>
              </a:rPr>
              <a:t>• Pénurie de lithium en 2026 augmentant les coûts de production de 12% | Risque de rappel massif sur</a:t>
            </a:r>
          </a:p>
        </p:txBody>
      </p:sp>
      <p:sp>
        <p:nvSpPr>
          <p:cNvPr id="42" name="Rectangle 41"/>
          <p:cNvSpPr/>
          <p:nvPr/>
        </p:nvSpPr>
        <p:spPr>
          <a:xfrm>
            <a:off x="3311999" y="3074400"/>
            <a:ext cx="5472000" cy="2160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11999" y="3074400"/>
            <a:ext cx="36000" cy="21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01999" y="3092400"/>
            <a:ext cx="5310000" cy="180000"/>
          </a:xfrm>
          <a:prstGeom prst="rect">
            <a:avLst/>
          </a:prstGeom>
          <a:noFill/>
        </p:spPr>
        <p:txBody>
          <a:bodyPr wrap="square">
            <a:spAutoFit/>
          </a:bodyPr>
          <a:lstStyle/>
          <a:p>
            <a:pPr algn="l"/>
            <a:r>
              <a:rPr sz="750" b="0" i="0">
                <a:solidFill>
                  <a:srgbClr val="7A5000"/>
                </a:solidFill>
                <a:latin typeface="Calibri"/>
              </a:rPr>
              <a:t>⚠ Conditions d’invalidation : Macro: Récession aux États-Unis réduisant la demande de véhicules p  ·  Sectoriel: Baisse des subventions gouvernementales en Chine pour les vé</a:t>
            </a:r>
          </a:p>
        </p:txBody>
      </p:sp>
      <p:sp>
        <p:nvSpPr>
          <p:cNvPr id="45" name="TextBox 44"/>
          <p:cNvSpPr txBox="1"/>
          <p:nvPr/>
        </p:nvSpPr>
        <p:spPr>
          <a:xfrm>
            <a:off x="324000" y="4662000"/>
            <a:ext cx="8496000" cy="125999"/>
          </a:xfrm>
          <a:prstGeom prst="rect">
            <a:avLst/>
          </a:prstGeom>
          <a:noFill/>
        </p:spPr>
        <p:txBody>
          <a:bodyPr wrap="square">
            <a:spAutoFit/>
          </a:bodyPr>
          <a:lstStyle/>
          <a:p>
            <a:pPr algn="l"/>
            <a:r>
              <a:rPr sz="700" b="0" i="0">
                <a:solidFill>
                  <a:srgbClr val="555555"/>
                </a:solidFill>
                <a:latin typeface="Calibri"/>
              </a:rPr>
              <a:t>FinSight IA genere cette analyse a un instant T. Pour le suivi dans le temps, comparer les rapports successifs. La conviction reflete les donnees disponibles a la date d'analyse.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