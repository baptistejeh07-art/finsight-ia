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457200" y="2720232"/>
            <a:ext cx="8229600" cy="475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B06000"/>
                </a:solidFill>
                <a:latin typeface="Calibri"/>
              </a:rPr>
              <a:t>● HOLD  ·  Prix cible base : — $  ·  Upside :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117,9x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1,93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+0,133</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1 395,0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371,75 $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117,9x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367,7x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16,65</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367,7x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117,9x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14,6x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16,65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371,75 $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1 395,0</a:t>
                      </a:r>
                    </a:p>
                  </a:txBody>
                  <a:tcPr>
                    <a:solidFill>
                      <a:srgbClr val="DDE8F5"/>
                    </a:solidFill>
                  </a:tcPr>
                </a:tc>
                <a:tc>
                  <a:txBody>
                    <a:bodyPr/>
                    <a:lstStyle/>
                    <a:p>
                      <a:pPr algn="ctr"/>
                      <a:r>
                        <a:rPr sz="800" b="1" i="0">
                          <a:solidFill>
                            <a:srgbClr val="1B3A6B"/>
                          </a:solidFill>
                          <a:latin typeface="Calibri"/>
                        </a:rPr>
                        <a:t>117,9x</a:t>
                      </a:r>
                    </a:p>
                  </a:txBody>
                  <a:tcPr>
                    <a:solidFill>
                      <a:srgbClr val="DDE8F5"/>
                    </a:solidFill>
                  </a:tcPr>
                </a:tc>
                <a:tc>
                  <a:txBody>
                    <a:bodyPr/>
                    <a:lstStyle/>
                    <a:p>
                      <a:pPr algn="ctr"/>
                      <a:r>
                        <a:rPr sz="800" b="1" i="0">
                          <a:solidFill>
                            <a:srgbClr val="1B3A6B"/>
                          </a:solidFill>
                          <a:latin typeface="Calibri"/>
                        </a:rPr>
                        <a:t>14,6x</a:t>
                      </a:r>
                    </a:p>
                  </a:txBody>
                  <a:tcPr>
                    <a:solidFill>
                      <a:srgbClr val="DDE8F5"/>
                    </a:solidFill>
                  </a:tcPr>
                </a:tc>
                <a:tc>
                  <a:txBody>
                    <a:bodyPr/>
                    <a:lstStyle/>
                    <a:p>
                      <a:pPr algn="ctr"/>
                      <a:r>
                        <a:rPr sz="800" b="1" i="0">
                          <a:solidFill>
                            <a:srgbClr val="1B3A6B"/>
                          </a:solidFill>
                          <a:latin typeface="Calibri"/>
                        </a:rPr>
                        <a:t>367,7x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(371,75)</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371,75</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46000"/>
            <a:ext cx="2696400" cy="288000"/>
          </a:xfrm>
          <a:prstGeom prst="rect">
            <a:avLst/>
          </a:prstGeom>
          <a:noFill/>
        </p:spPr>
        <p:txBody>
          <a:bodyPr wrap="square">
            <a:spAutoFit/>
          </a:bodyPr>
          <a:lstStyle/>
          <a:p>
            <a:pPr algn="l"/>
            <a:r>
              <a:rPr sz="750" b="0" i="0">
                <a:solidFill>
                  <a:srgbClr val="1B3A6B"/>
                </a:solidFill>
                <a:latin typeface="Calibri"/>
              </a:rPr>
              <a:t>Detresse : 0/100 — Sain</a:t>
            </a:r>
          </a:p>
        </p:txBody>
      </p:sp>
      <p:sp>
        <p:nvSpPr>
          <p:cNvPr id="35" name="Rectangle 34"/>
          <p:cNvSpPr/>
          <p:nvPr/>
        </p:nvSpPr>
        <p:spPr>
          <a:xfrm>
            <a:off x="324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32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46000"/>
            <a:ext cx="2696400" cy="288000"/>
          </a:xfrm>
          <a:prstGeom prst="rect">
            <a:avLst/>
          </a:prstGeom>
          <a:noFill/>
        </p:spPr>
        <p:txBody>
          <a:bodyPr wrap="square">
            <a:spAutoFit/>
          </a:bodyPr>
          <a:lstStyle/>
          <a:p>
            <a:pPr algn="l"/>
            <a:r>
              <a:rPr sz="750" b="0" i="0">
                <a:solidFill>
                  <a:srgbClr val="1B3A6B"/>
                </a:solidFill>
                <a:latin typeface="Calibri"/>
              </a:rPr>
              <a:t>M&amp;A : 28/100 — Peu attractive</a:t>
            </a:r>
          </a:p>
        </p:txBody>
      </p:sp>
      <p:sp>
        <p:nvSpPr>
          <p:cNvPr id="38" name="Rectangle 37"/>
          <p:cNvSpPr/>
          <p:nvPr/>
        </p:nvSpPr>
        <p:spPr>
          <a:xfrm>
            <a:off x="612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46000"/>
            <a:ext cx="2696400" cy="288000"/>
          </a:xfrm>
          <a:prstGeom prst="rect">
            <a:avLst/>
          </a:prstGeom>
          <a:noFill/>
        </p:spPr>
        <p:txBody>
          <a:bodyPr wrap="square">
            <a:spAutoFit/>
          </a:bodyPr>
          <a:lstStyle/>
          <a:p>
            <a:pPr algn="l"/>
            <a:r>
              <a:rPr sz="750" b="0" i="0">
                <a:solidFill>
                  <a:srgbClr val="1B3A6B"/>
                </a:solidFill>
                <a:latin typeface="Calibri"/>
              </a:rPr>
              <a:t>Regime : Volatile  Rec.6M:26%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+0,133</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40,1 %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12</a:t>
                      </a:r>
                    </a:p>
                  </a:txBody>
                  <a:tcPr>
                    <a:solidFill>
                      <a:srgbClr val="EAF4EF"/>
                    </a:solidFill>
                  </a:tcPr>
                </a:tc>
                <a:tc>
                  <a:txBody>
                    <a:bodyPr/>
                    <a:lstStyle/>
                    <a:p>
                      <a:pPr algn="ctr"/>
                      <a:r>
                        <a:rPr sz="800" b="0" i="0">
                          <a:solidFill>
                            <a:srgbClr val="0D0D0D"/>
                          </a:solidFill>
                          <a:latin typeface="Calibri"/>
                        </a:rPr>
                        <a:t>+0,401</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10</a:t>
                      </a:r>
                    </a:p>
                  </a:txBody>
                  <a:tcPr>
                    <a:solidFill>
                      <a:srgbClr val="FFFFFF"/>
                    </a:solidFill>
                  </a:tcPr>
                </a:tc>
                <a:tc>
                  <a:txBody>
                    <a:bodyPr/>
                    <a:lstStyle/>
                    <a:p>
                      <a:pPr algn="ctr"/>
                      <a:r>
                        <a:rPr sz="800" b="0" i="0">
                          <a:solidFill>
                            <a:srgbClr val="0D0D0D"/>
                          </a:solidFill>
                          <a:latin typeface="Calibri"/>
                        </a:rPr>
                        <a:t>+0,331</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8</a:t>
                      </a:r>
                    </a:p>
                  </a:txBody>
                  <a:tcPr>
                    <a:solidFill>
                      <a:srgbClr val="FAF0EF"/>
                    </a:solidFill>
                  </a:tcPr>
                </a:tc>
                <a:tc>
                  <a:txBody>
                    <a:bodyPr/>
                    <a:lstStyle/>
                    <a:p>
                      <a:pPr algn="ctr"/>
                      <a:r>
                        <a:rPr sz="800" b="0" i="0">
                          <a:solidFill>
                            <a:srgbClr val="0D0D0D"/>
                          </a:solidFill>
                          <a:latin typeface="Calibri"/>
                        </a:rPr>
                        <a:t>+0,269</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cette semaine montre un sentiment contrasté sur Tesla, avec des signaux positifs sur les immatriculations en Europe mais des inquiétudes persistantes sur les livraisons et la stratégie de diversification. Les investisseurs restent prudents face aux défis de la demande en véhicules électriques et à la concurrence accrue dans les robotaxis.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371,75 $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282,16 $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+31,8 %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292282"/>
            <a:ext cx="498636" cy="60291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530080"/>
            <a:ext cx="498636" cy="36511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07612"/>
            <a:ext cx="498636" cy="2875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396236"/>
            <a:ext cx="498636" cy="49896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480961"/>
            <a:ext cx="498636" cy="141423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601099"/>
            <a:ext cx="498636" cy="12941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439677"/>
            <a:ext cx="498636" cy="145552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599117"/>
            <a:ext cx="498636" cy="12960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829484"/>
            <a:ext cx="498636" cy="106571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083466"/>
            <a:ext cx="498636" cy="811733"/>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282</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339</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399</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456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