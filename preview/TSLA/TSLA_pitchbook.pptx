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457200" y="2720232"/>
            <a:ext cx="8229600" cy="475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B06000"/>
                </a:solidFill>
                <a:latin typeface="Calibri"/>
              </a:rPr>
              <a:t>● HOLD  ·  Prix cible base : 380 $  ·  Upside : +1,3 %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380 $  ·  Upside : +1,3 %  ·  Bear : 300 $ (-20,0 %)  ·  Bull : 450 $ (+20,0 %)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Intégration verticale</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Tesla vise 20% de part de marché EV mondial d'ici 2026 avec une production de 2.5M de véhicules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Leadership technologique</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brute devrait se stabiliser à 20% en 2026 grâce à l'optimisation des coûts et à la montée en puissance de la 4680</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Marque premium</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segment Energy pourrait croître de 30% en 2026 avec une marge EBITDA cible de 15%.</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accrue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Guerre des prix en Chine réduisant la GM de 5 points en 2026 | Horizon: 2025-2026, impact: -2.5Md$ EBITDA</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Marges compressées</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Ralentissement économique en Europe réduisant les ventes de 15% en 2026 | Horizon: 2026, impact: -1.2Md$ EBITDA</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Risque réglementaire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Retards sur la production 4680 réduisant la capacité de 20% en 2026 | Horizon: 2026, impact: -1.8Md$ EBITDA</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118,9x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-8,0x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1,93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380 $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+1,3 %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-0,011</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accrue  ·  Marges compressées</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conçoit, produit et vend des véhicules électriques haut de gamme avec une intégration verticale unique (batteries, logiciels, bornes). Positionné sur le premium, le groupe domine le marché EV grâce à son avance technologique et son réseau de Superchargeurs. Son avantage concurrentiel repose sur l'innovation logicielle (FSD), la production à grande échelle et une marque premium reconnue mondialement.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Automotive</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véhicules électriques (Model 3/Y, Cybertruck, Semi) avec abonnements logiciels (FSD) et services de recharge. Clients cibles : particuliers aisés et flottes professionnelles. Croissance tirée par l'expansion géographique et le mix produit vers des modèles haut de gamme.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Energy Generation and Storage</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Batteries Powerwall/Powerpack, solutions solaires et stockage d'énergie pour résidentiel et industriel. Modèle basé sur des contrats récurrents et des ventes de matériel. Clients cibles : ménages et entreprises cherchant autonomie énergétique.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1 407,3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375,03 $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118,9x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370,9x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Automotive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véhicules électriques (Model 3/Y, Cybertruck, Semi) avec abonnements logiciels (FSD) et services de recharge. Clients cibles : particuliers aisés et flottes professionnelles. Croissance tirée par l'expansion géographique et le mix produit vers des modèles haut de gamme.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Energy Generation and Storage</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Batteries Powerwall/Powerpack, solutions solaires et stockage d'énergie pour résidentiel et industriel. Modèle basé sur des contrats récurrents et des ventes de matériel. Clients cibles : ménages et entreprises cherchant autonomie énergétique.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c>
                  <a:txBody>
                    <a:bodyPr/>
                    <a:lstStyle/>
                    <a:p>
                      <a:pPr algn="ctr"/>
                      <a:r>
                        <a:rPr sz="800" b="1" i="0">
                          <a:solidFill>
                            <a:srgbClr val="0D0D0D"/>
                          </a:solidFill>
                          <a:latin typeface="Calibri"/>
                        </a:rPr>
                        <a:t>105,0</a:t>
                      </a:r>
                    </a:p>
                  </a:txBody>
                  <a:tcPr>
                    <a:solidFill>
                      <a:srgbClr val="FFFFFF"/>
                    </a:solidFill>
                  </a:tcPr>
                </a:tc>
                <a:tc>
                  <a:txBody>
                    <a:bodyPr/>
                    <a:lstStyle/>
                    <a:p>
                      <a:pPr algn="ctr"/>
                      <a:r>
                        <a:rPr sz="800" b="1" i="0">
                          <a:solidFill>
                            <a:srgbClr val="0D0D0D"/>
                          </a:solidFill>
                          <a:latin typeface="Calibri"/>
                        </a:rPr>
                        <a:t>120,0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+18,8 %</a:t>
                      </a:r>
                    </a:p>
                  </a:txBody>
                  <a:tcPr>
                    <a:solidFill>
                      <a:srgbClr val="F7F8FA"/>
                    </a:solidFill>
                  </a:tcPr>
                </a:tc>
                <a:tc>
                  <a:txBody>
                    <a:bodyPr/>
                    <a:lstStyle/>
                    <a:p>
                      <a:pPr algn="ctr"/>
                      <a:r>
                        <a:rPr sz="750" b="0" i="1">
                          <a:solidFill>
                            <a:srgbClr val="555555"/>
                          </a:solidFill>
                          <a:latin typeface="Calibri"/>
                        </a:rPr>
                        <a:t>+1,0 %</a:t>
                      </a:r>
                    </a:p>
                  </a:txBody>
                  <a:tcPr>
                    <a:solidFill>
                      <a:srgbClr val="F7F8FA"/>
                    </a:solidFill>
                  </a:tcPr>
                </a:tc>
                <a:tc>
                  <a:txBody>
                    <a:bodyPr/>
                    <a:lstStyle/>
                    <a:p>
                      <a:pPr algn="ctr"/>
                      <a:r>
                        <a:rPr sz="750" b="0" i="1">
                          <a:solidFill>
                            <a:srgbClr val="555555"/>
                          </a:solidFill>
                          <a:latin typeface="Calibri"/>
                        </a:rPr>
                        <a:t>-3,0 %</a:t>
                      </a:r>
                    </a:p>
                  </a:txBody>
                  <a:tcPr>
                    <a:solidFill>
                      <a:srgbClr val="DDE8F5"/>
                    </a:solidFill>
                  </a:tcPr>
                </a:tc>
                <a:tc>
                  <a:txBody>
                    <a:bodyPr/>
                    <a:lstStyle/>
                    <a:p>
                      <a:pPr algn="ctr"/>
                      <a:r>
                        <a:rPr sz="750" b="0" i="1">
                          <a:solidFill>
                            <a:srgbClr val="555555"/>
                          </a:solidFill>
                          <a:latin typeface="Calibri"/>
                        </a:rPr>
                        <a:t>+10,7 %</a:t>
                      </a:r>
                    </a:p>
                  </a:txBody>
                  <a:tcPr>
                    <a:solidFill>
                      <a:srgbClr val="F7F8FA"/>
                    </a:solidFill>
                  </a:tcPr>
                </a:tc>
                <a:tc>
                  <a:txBody>
                    <a:bodyPr/>
                    <a:lstStyle/>
                    <a:p>
                      <a:pPr algn="ctr"/>
                      <a:r>
                        <a:rPr sz="750" b="0" i="1">
                          <a:solidFill>
                            <a:srgbClr val="555555"/>
                          </a:solidFill>
                          <a:latin typeface="Calibri"/>
                        </a:rPr>
                        <a:t>+14,3 %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c>
                  <a:txBody>
                    <a:bodyPr/>
                    <a:lstStyle/>
                    <a:p>
                      <a:pPr algn="ctr"/>
                      <a:r>
                        <a:rPr sz="800" b="1" i="0">
                          <a:solidFill>
                            <a:srgbClr val="0D0D0D"/>
                          </a:solidFill>
                          <a:latin typeface="Calibri"/>
                        </a:rPr>
                        <a:t>20,5</a:t>
                      </a:r>
                    </a:p>
                  </a:txBody>
                  <a:tcPr>
                    <a:solidFill>
                      <a:srgbClr val="FFFFFF"/>
                    </a:solidFill>
                  </a:tcPr>
                </a:tc>
                <a:tc>
                  <a:txBody>
                    <a:bodyPr/>
                    <a:lstStyle/>
                    <a:p>
                      <a:pPr algn="ctr"/>
                      <a:r>
                        <a:rPr sz="800" b="1" i="0">
                          <a:solidFill>
                            <a:srgbClr val="0D0D0D"/>
                          </a:solidFill>
                          <a:latin typeface="Calibri"/>
                        </a:rPr>
                        <a:t>24,6</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18,2 %</a:t>
                      </a:r>
                    </a:p>
                  </a:txBody>
                  <a:tcPr>
                    <a:solidFill>
                      <a:srgbClr val="F7F8FA"/>
                    </a:solidFill>
                  </a:tcPr>
                </a:tc>
                <a:tc>
                  <a:txBody>
                    <a:bodyPr/>
                    <a:lstStyle/>
                    <a:p>
                      <a:pPr algn="ctr"/>
                      <a:r>
                        <a:rPr sz="750" b="0" i="1">
                          <a:solidFill>
                            <a:srgbClr val="555555"/>
                          </a:solidFill>
                          <a:latin typeface="Calibri"/>
                        </a:rPr>
                        <a:t>17,9 %</a:t>
                      </a:r>
                    </a:p>
                  </a:txBody>
                  <a:tcPr>
                    <a:solidFill>
                      <a:srgbClr val="F7F8FA"/>
                    </a:solidFill>
                  </a:tcPr>
                </a:tc>
                <a:tc>
                  <a:txBody>
                    <a:bodyPr/>
                    <a:lstStyle/>
                    <a:p>
                      <a:pPr algn="ctr"/>
                      <a:r>
                        <a:rPr sz="750" b="0" i="1">
                          <a:solidFill>
                            <a:srgbClr val="555555"/>
                          </a:solidFill>
                          <a:latin typeface="Calibri"/>
                        </a:rPr>
                        <a:t>18,0 %</a:t>
                      </a:r>
                    </a:p>
                  </a:txBody>
                  <a:tcPr>
                    <a:solidFill>
                      <a:srgbClr val="DDE8F5"/>
                    </a:solidFill>
                  </a:tcPr>
                </a:tc>
                <a:tc>
                  <a:txBody>
                    <a:bodyPr/>
                    <a:lstStyle/>
                    <a:p>
                      <a:pPr algn="ctr"/>
                      <a:r>
                        <a:rPr sz="750" b="0" i="1">
                          <a:solidFill>
                            <a:srgbClr val="555555"/>
                          </a:solidFill>
                          <a:latin typeface="Calibri"/>
                        </a:rPr>
                        <a:t>19,5 %</a:t>
                      </a:r>
                    </a:p>
                  </a:txBody>
                  <a:tcPr>
                    <a:solidFill>
                      <a:srgbClr val="F7F8FA"/>
                    </a:solidFill>
                  </a:tcPr>
                </a:tc>
                <a:tc>
                  <a:txBody>
                    <a:bodyPr/>
                    <a:lstStyle/>
                    <a:p>
                      <a:pPr algn="ctr"/>
                      <a:r>
                        <a:rPr sz="750" b="0" i="1">
                          <a:solidFill>
                            <a:srgbClr val="555555"/>
                          </a:solidFill>
                          <a:latin typeface="Calibri"/>
                        </a:rPr>
                        <a:t>20,5 %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c>
                  <a:txBody>
                    <a:bodyPr/>
                    <a:lstStyle/>
                    <a:p>
                      <a:pPr algn="ctr"/>
                      <a:r>
                        <a:rPr sz="800" b="1" i="0">
                          <a:solidFill>
                            <a:srgbClr val="0D0D0D"/>
                          </a:solidFill>
                          <a:latin typeface="Calibri"/>
                        </a:rPr>
                        <a:t>18,0</a:t>
                      </a:r>
                    </a:p>
                  </a:txBody>
                  <a:tcPr>
                    <a:solidFill>
                      <a:srgbClr val="FFFFFF"/>
                    </a:solidFill>
                  </a:tcPr>
                </a:tc>
                <a:tc>
                  <a:txBody>
                    <a:bodyPr/>
                    <a:lstStyle/>
                    <a:p>
                      <a:pPr algn="ctr"/>
                      <a:r>
                        <a:rPr sz="800" b="1" i="0">
                          <a:solidFill>
                            <a:srgbClr val="0D0D0D"/>
                          </a:solidFill>
                          <a:latin typeface="Calibri"/>
                        </a:rPr>
                        <a:t>22,0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15,1 %</a:t>
                      </a:r>
                    </a:p>
                  </a:txBody>
                  <a:tcPr>
                    <a:solidFill>
                      <a:srgbClr val="F7F8FA"/>
                    </a:solidFill>
                  </a:tcPr>
                </a:tc>
                <a:tc>
                  <a:txBody>
                    <a:bodyPr/>
                    <a:lstStyle/>
                    <a:p>
                      <a:pPr algn="ctr"/>
                      <a:r>
                        <a:rPr sz="750" b="0" i="1">
                          <a:solidFill>
                            <a:srgbClr val="555555"/>
                          </a:solidFill>
                          <a:latin typeface="Calibri"/>
                        </a:rPr>
                        <a:t>12,4 %</a:t>
                      </a:r>
                    </a:p>
                  </a:txBody>
                  <a:tcPr>
                    <a:solidFill>
                      <a:srgbClr val="DDE8F5"/>
                    </a:solidFill>
                  </a:tcPr>
                </a:tc>
                <a:tc>
                  <a:txBody>
                    <a:bodyPr/>
                    <a:lstStyle/>
                    <a:p>
                      <a:pPr algn="ctr"/>
                      <a:r>
                        <a:rPr sz="750" b="0" i="1">
                          <a:solidFill>
                            <a:srgbClr val="555555"/>
                          </a:solidFill>
                          <a:latin typeface="Calibri"/>
                        </a:rPr>
                        <a:t>17,1 %</a:t>
                      </a:r>
                    </a:p>
                  </a:txBody>
                  <a:tcPr>
                    <a:solidFill>
                      <a:srgbClr val="F7F8FA"/>
                    </a:solidFill>
                  </a:tcPr>
                </a:tc>
                <a:tc>
                  <a:txBody>
                    <a:bodyPr/>
                    <a:lstStyle/>
                    <a:p>
                      <a:pPr algn="ctr"/>
                      <a:r>
                        <a:rPr sz="750" b="0" i="1">
                          <a:solidFill>
                            <a:srgbClr val="555555"/>
                          </a:solidFill>
                          <a:latin typeface="Calibri"/>
                        </a:rPr>
                        <a:t>18,3 %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c>
                  <a:txBody>
                    <a:bodyPr/>
                    <a:lstStyle/>
                    <a:p>
                      <a:pPr algn="ctr"/>
                      <a:r>
                        <a:rPr sz="800" b="1" i="0">
                          <a:solidFill>
                            <a:srgbClr val="0D0D0D"/>
                          </a:solidFill>
                          <a:latin typeface="Calibri"/>
                        </a:rPr>
                        <a:t>7,0</a:t>
                      </a:r>
                    </a:p>
                  </a:txBody>
                  <a:tcPr>
                    <a:solidFill>
                      <a:srgbClr val="FFFFFF"/>
                    </a:solidFill>
                  </a:tcPr>
                </a:tc>
                <a:tc>
                  <a:txBody>
                    <a:bodyPr/>
                    <a:lstStyle/>
                    <a:p>
                      <a:pPr algn="ctr"/>
                      <a:r>
                        <a:rPr sz="800" b="1" i="0">
                          <a:solidFill>
                            <a:srgbClr val="0D0D0D"/>
                          </a:solidFill>
                          <a:latin typeface="Calibri"/>
                        </a:rPr>
                        <a:t>9,0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15,5 %</a:t>
                      </a:r>
                    </a:p>
                  </a:txBody>
                  <a:tcPr>
                    <a:solidFill>
                      <a:srgbClr val="F7F8FA"/>
                    </a:solidFill>
                  </a:tcPr>
                </a:tc>
                <a:tc>
                  <a:txBody>
                    <a:bodyPr/>
                    <a:lstStyle/>
                    <a:p>
                      <a:pPr algn="ctr"/>
                      <a:r>
                        <a:rPr sz="750" b="0" i="1">
                          <a:solidFill>
                            <a:srgbClr val="555555"/>
                          </a:solidFill>
                          <a:latin typeface="Calibri"/>
                        </a:rPr>
                        <a:t>7,3 %</a:t>
                      </a:r>
                    </a:p>
                  </a:txBody>
                  <a:tcPr>
                    <a:solidFill>
                      <a:srgbClr val="F7F8FA"/>
                    </a:solidFill>
                  </a:tcPr>
                </a:tc>
                <a:tc>
                  <a:txBody>
                    <a:bodyPr/>
                    <a:lstStyle/>
                    <a:p>
                      <a:pPr algn="ctr"/>
                      <a:r>
                        <a:rPr sz="750" b="0" i="1">
                          <a:solidFill>
                            <a:srgbClr val="555555"/>
                          </a:solidFill>
                          <a:latin typeface="Calibri"/>
                        </a:rPr>
                        <a:t>4,0 %</a:t>
                      </a:r>
                    </a:p>
                  </a:txBody>
                  <a:tcPr>
                    <a:solidFill>
                      <a:srgbClr val="DDE8F5"/>
                    </a:solidFill>
                  </a:tcPr>
                </a:tc>
                <a:tc>
                  <a:txBody>
                    <a:bodyPr/>
                    <a:lstStyle/>
                    <a:p>
                      <a:pPr algn="ctr"/>
                      <a:r>
                        <a:rPr sz="750" b="0" i="1">
                          <a:solidFill>
                            <a:srgbClr val="555555"/>
                          </a:solidFill>
                          <a:latin typeface="Calibri"/>
                        </a:rPr>
                        <a:t>6,7 %</a:t>
                      </a:r>
                    </a:p>
                  </a:txBody>
                  <a:tcPr>
                    <a:solidFill>
                      <a:srgbClr val="F7F8FA"/>
                    </a:solidFill>
                  </a:tcPr>
                </a:tc>
                <a:tc>
                  <a:txBody>
                    <a:bodyPr/>
                    <a:lstStyle/>
                    <a:p>
                      <a:pPr algn="ctr"/>
                      <a:r>
                        <a:rPr sz="750" b="0" i="1">
                          <a:solidFill>
                            <a:srgbClr val="555555"/>
                          </a:solidFill>
                          <a:latin typeface="Calibri"/>
                        </a:rPr>
                        <a:t>7,5 %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Le CA 2025 recule de 3% à 94.8Md$, avec des marges en compression (GM 18%, Net 4%) due à des baisses de prix agressives et à des coûts fixes élevés. La discipline opérationnelle et le levier sur les volumes devraient permettre une amélioration progressive des marges dès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16,78</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Le CA 2025 recule de 3% à 94.8Md$, avec des marges en compression (GM 18%, Net 4%) due à des baisses de prix agressives et à des coûts fixes élevés. La discipline opérationnelle et le levier sur les volumes devraient permettre une amélioration progressive des marges dès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370,9x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118,9x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14,8x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passent de 25.6% en 2022 à 18.0% en 2025, reflétant une guerre des prix et une hausse des coûts fixes. L'EBITDA margin chute de 21.7% à 12.4% sur la même période, impactée par les investissements R&amp;D et la baisse des volumes. La durabilité de ces niveaux dépend de la capacité à répercuter les coûts et à améliorer l'efficacité industrielle.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300 $</a:t>
                      </a:r>
                    </a:p>
                  </a:txBody>
                  <a:tcPr>
                    <a:solidFill>
                      <a:srgbClr val="FAF0EF"/>
                    </a:solidFill>
                  </a:tcPr>
                </a:tc>
                <a:tc>
                  <a:txBody>
                    <a:bodyPr/>
                    <a:lstStyle/>
                    <a:p>
                      <a:pPr algn="ctr"/>
                      <a:r>
                        <a:rPr sz="2000" b="1" i="0">
                          <a:solidFill>
                            <a:srgbClr val="2E5FA3"/>
                          </a:solidFill>
                          <a:latin typeface="Calibri"/>
                        </a:rPr>
                        <a:t>380 $</a:t>
                      </a:r>
                    </a:p>
                  </a:txBody>
                  <a:tcPr>
                    <a:solidFill>
                      <a:srgbClr val="EEF3FA"/>
                    </a:solidFill>
                  </a:tcPr>
                </a:tc>
                <a:tc>
                  <a:txBody>
                    <a:bodyPr/>
                    <a:lstStyle/>
                    <a:p>
                      <a:pPr algn="ctr"/>
                      <a:r>
                        <a:rPr sz="2000" b="1" i="0">
                          <a:solidFill>
                            <a:srgbClr val="1A7A4A"/>
                          </a:solidFill>
                          <a:latin typeface="Calibri"/>
                        </a:rPr>
                        <a:t>450 $</a:t>
                      </a:r>
                    </a:p>
                  </a:txBody>
                  <a:tcPr>
                    <a:solidFill>
                      <a:srgbClr val="EAF4EF"/>
                    </a:solidFill>
                  </a:tcPr>
                </a:tc>
              </a:tr>
              <a:tr h="342900">
                <a:tc>
                  <a:txBody>
                    <a:bodyPr/>
                    <a:lstStyle/>
                    <a:p>
                      <a:pPr algn="ctr"/>
                      <a:r>
                        <a:rPr sz="1200" b="1" i="0">
                          <a:solidFill>
                            <a:srgbClr val="A82020"/>
                          </a:solidFill>
                          <a:latin typeface="Calibri"/>
                        </a:rPr>
                        <a:t>-20,0 %</a:t>
                      </a:r>
                    </a:p>
                  </a:txBody>
                  <a:tcPr>
                    <a:solidFill>
                      <a:srgbClr val="FAF0EF"/>
                    </a:solidFill>
                  </a:tcPr>
                </a:tc>
                <a:tc>
                  <a:txBody>
                    <a:bodyPr/>
                    <a:lstStyle/>
                    <a:p>
                      <a:pPr algn="ctr"/>
                      <a:r>
                        <a:rPr sz="1200" b="1" i="0">
                          <a:solidFill>
                            <a:srgbClr val="2E5FA3"/>
                          </a:solidFill>
                          <a:latin typeface="Calibri"/>
                        </a:rPr>
                        <a:t>+1,3 %</a:t>
                      </a:r>
                    </a:p>
                  </a:txBody>
                  <a:tcPr>
                    <a:solidFill>
                      <a:srgbClr val="EEF3FA"/>
                    </a:solidFill>
                  </a:tcPr>
                </a:tc>
                <a:tc>
                  <a:txBody>
                    <a:bodyPr/>
                    <a:lstStyle/>
                    <a:p>
                      <a:pPr algn="ctr"/>
                      <a:r>
                        <a:rPr sz="1200" b="1" i="0">
                          <a:solidFill>
                            <a:srgbClr val="1A7A4A"/>
                          </a:solidFill>
                          <a:latin typeface="Calibri"/>
                        </a:rPr>
                        <a:t>+20,0 %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380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de 380$ (base), soit proche du cours actuel. La prime de valorisation actuelle semble justifiée par une croissance future, mais un échec sur la marge ou le volume pourrait entraîner une compression significative.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1 407,3</a:t>
                      </a:r>
                    </a:p>
                  </a:txBody>
                  <a:tcPr>
                    <a:solidFill>
                      <a:srgbClr val="DDE8F5"/>
                    </a:solidFill>
                  </a:tcPr>
                </a:tc>
                <a:tc>
                  <a:txBody>
                    <a:bodyPr/>
                    <a:lstStyle/>
                    <a:p>
                      <a:pPr algn="ctr"/>
                      <a:r>
                        <a:rPr sz="800" b="1" i="0">
                          <a:solidFill>
                            <a:srgbClr val="1B3A6B"/>
                          </a:solidFill>
                          <a:latin typeface="Calibri"/>
                        </a:rPr>
                        <a:t>118,9x</a:t>
                      </a:r>
                    </a:p>
                  </a:txBody>
                  <a:tcPr>
                    <a:solidFill>
                      <a:srgbClr val="DDE8F5"/>
                    </a:solidFill>
                  </a:tcPr>
                </a:tc>
                <a:tc>
                  <a:txBody>
                    <a:bodyPr/>
                    <a:lstStyle/>
                    <a:p>
                      <a:pPr algn="ctr"/>
                      <a:r>
                        <a:rPr sz="800" b="1" i="0">
                          <a:solidFill>
                            <a:srgbClr val="1B3A6B"/>
                          </a:solidFill>
                          <a:latin typeface="Calibri"/>
                        </a:rPr>
                        <a:t>14,8x</a:t>
                      </a:r>
                    </a:p>
                  </a:txBody>
                  <a:tcPr>
                    <a:solidFill>
                      <a:srgbClr val="DDE8F5"/>
                    </a:solidFill>
                  </a:tcPr>
                </a:tc>
                <a:tc>
                  <a:txBody>
                    <a:bodyPr/>
                    <a:lstStyle/>
                    <a:p>
                      <a:pPr algn="ctr"/>
                      <a:r>
                        <a:rPr sz="800" b="1" i="0">
                          <a:solidFill>
                            <a:srgbClr val="1B3A6B"/>
                          </a:solidFill>
                          <a:latin typeface="Calibri"/>
                        </a:rPr>
                        <a:t>370,9x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51999">
                <a:tc>
                  <a:txBody>
                    <a:bodyPr/>
                    <a:lstStyle/>
                    <a:p>
                      <a:pPr algn="l"/>
                      <a:r>
                        <a:rPr sz="800" b="0" i="0">
                          <a:solidFill>
                            <a:srgbClr val="0D0D0D"/>
                          </a:solidFill>
                          <a:latin typeface="Calibri"/>
                        </a:rPr>
                        <a:t>BYD Company Limited</a:t>
                      </a:r>
                    </a:p>
                  </a:txBody>
                  <a:tcPr>
                    <a:solidFill>
                      <a:srgbClr val="FFFFFF"/>
                    </a:solidFill>
                  </a:tcPr>
                </a:tc>
                <a:tc>
                  <a:txBody>
                    <a:bodyPr/>
                    <a:lstStyle/>
                    <a:p>
                      <a:pPr algn="ctr"/>
                      <a:r>
                        <a:rPr sz="750" b="0" i="0">
                          <a:solidFill>
                            <a:srgbClr val="555555"/>
                          </a:solidFill>
                          <a:latin typeface="Calibri"/>
                        </a:rPr>
                        <a:t>BYD</a:t>
                      </a:r>
                    </a:p>
                  </a:txBody>
                  <a:tcPr>
                    <a:solidFill>
                      <a:srgbClr val="FFFFFF"/>
                    </a:solidFill>
                  </a:tcPr>
                </a:tc>
                <a:tc>
                  <a:txBody>
                    <a:bodyPr/>
                    <a:lstStyle/>
                    <a:p>
                      <a:pPr algn="ctr"/>
                      <a:r>
                        <a:rPr sz="800" b="0" i="0">
                          <a:solidFill>
                            <a:srgbClr val="0D0D0D"/>
                          </a:solidFill>
                          <a:latin typeface="Calibri"/>
                        </a:rPr>
                        <a:t>85,0</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2,8x</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18,0 %</a:t>
                      </a:r>
                    </a:p>
                  </a:txBody>
                  <a:tcPr>
                    <a:solidFill>
                      <a:srgbClr val="FFFFFF"/>
                    </a:solidFill>
                  </a:tcPr>
                </a:tc>
                <a:tc>
                  <a:txBody>
                    <a:bodyPr/>
                    <a:lstStyle/>
                    <a:p>
                      <a:pPr algn="ctr"/>
                      <a:r>
                        <a:rPr sz="800" b="0" i="0">
                          <a:solidFill>
                            <a:srgbClr val="0D0D0D"/>
                          </a:solidFill>
                          <a:latin typeface="Calibri"/>
                        </a:rPr>
                        <a:t>12,0 %</a:t>
                      </a:r>
                    </a:p>
                  </a:txBody>
                  <a:tcPr>
                    <a:solidFill>
                      <a:srgbClr val="FFFFFF"/>
                    </a:solidFill>
                  </a:tcPr>
                </a:tc>
              </a:tr>
              <a:tr h="251999">
                <a:tc>
                  <a:txBody>
                    <a:bodyPr/>
                    <a:lstStyle/>
                    <a:p>
                      <a:pPr algn="l"/>
                      <a:r>
                        <a:rPr sz="800" b="0" i="0">
                          <a:solidFill>
                            <a:srgbClr val="0D0D0D"/>
                          </a:solidFill>
                          <a:latin typeface="Calibri"/>
                        </a:rPr>
                        <a:t>NIO Inc.</a:t>
                      </a:r>
                    </a:p>
                  </a:txBody>
                  <a:tcPr>
                    <a:solidFill>
                      <a:srgbClr val="F7F8FA"/>
                    </a:solidFill>
                  </a:tcPr>
                </a:tc>
                <a:tc>
                  <a:txBody>
                    <a:bodyPr/>
                    <a:lstStyle/>
                    <a:p>
                      <a:pPr algn="ctr"/>
                      <a:r>
                        <a:rPr sz="750" b="0" i="0">
                          <a:solidFill>
                            <a:srgbClr val="555555"/>
                          </a:solidFill>
                          <a:latin typeface="Calibri"/>
                        </a:rPr>
                        <a:t>NIO</a:t>
                      </a:r>
                    </a:p>
                  </a:txBody>
                  <a:tcPr>
                    <a:solidFill>
                      <a:srgbClr val="F7F8FA"/>
                    </a:solidFill>
                  </a:tcPr>
                </a:tc>
                <a:tc>
                  <a:txBody>
                    <a:bodyPr/>
                    <a:lstStyle/>
                    <a:p>
                      <a:pPr algn="ctr"/>
                      <a:r>
                        <a:rPr sz="800" b="0" i="0">
                          <a:solidFill>
                            <a:srgbClr val="0D0D0D"/>
                          </a:solidFill>
                          <a:latin typeface="Calibri"/>
                        </a:rPr>
                        <a:t>15,0</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1,5x</a:t>
                      </a:r>
                    </a:p>
                  </a:txBody>
                  <a:tcPr>
                    <a:solidFill>
                      <a:srgbClr val="F7F8FA"/>
                    </a:solidFill>
                  </a:tcPr>
                </a:tc>
                <a:tc>
                  <a:txBody>
                    <a:bodyPr/>
                    <a:lstStyle/>
                    <a:p>
                      <a:pPr algn="ctr"/>
                      <a:r>
                        <a:rPr sz="800" b="0" i="0">
                          <a:solidFill>
                            <a:srgbClr val="0D0D0D"/>
                          </a:solidFill>
                          <a:latin typeface="Calibri"/>
                        </a:rPr>
                        <a:t>-10,0x</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c>
                  <a:txBody>
                    <a:bodyPr/>
                    <a:lstStyle/>
                    <a:p>
                      <a:pPr algn="ctr"/>
                      <a:r>
                        <a:rPr sz="800" b="0" i="0">
                          <a:solidFill>
                            <a:srgbClr val="0D0D0D"/>
                          </a:solidFill>
                          <a:latin typeface="Calibri"/>
                        </a:rPr>
                        <a:t>-5,0 %</a:t>
                      </a:r>
                    </a:p>
                  </a:txBody>
                  <a:tcPr>
                    <a:solidFill>
                      <a:srgbClr val="F7F8FA"/>
                    </a:solidFill>
                  </a:tcPr>
                </a:tc>
              </a:tr>
              <a:tr h="251999">
                <a:tc>
                  <a:txBody>
                    <a:bodyPr/>
                    <a:lstStyle/>
                    <a:p>
                      <a:pPr algn="l"/>
                      <a:r>
                        <a:rPr sz="800" b="0" i="0">
                          <a:solidFill>
                            <a:srgbClr val="0D0D0D"/>
                          </a:solidFill>
                          <a:latin typeface="Calibri"/>
                        </a:rPr>
                        <a:t>XPeng Inc.</a:t>
                      </a:r>
                    </a:p>
                  </a:txBody>
                  <a:tcPr>
                    <a:solidFill>
                      <a:srgbClr val="FFFFFF"/>
                    </a:solidFill>
                  </a:tcPr>
                </a:tc>
                <a:tc>
                  <a:txBody>
                    <a:bodyPr/>
                    <a:lstStyle/>
                    <a:p>
                      <a:pPr algn="ctr"/>
                      <a:r>
                        <a:rPr sz="750" b="0" i="0">
                          <a:solidFill>
                            <a:srgbClr val="555555"/>
                          </a:solidFill>
                          <a:latin typeface="Calibri"/>
                        </a:rPr>
                        <a:t>XPEV</a:t>
                      </a:r>
                    </a:p>
                  </a:txBody>
                  <a:tcPr>
                    <a:solidFill>
                      <a:srgbClr val="FFFFFF"/>
                    </a:solidFill>
                  </a:tcPr>
                </a:tc>
                <a:tc>
                  <a:txBody>
                    <a:bodyPr/>
                    <a:lstStyle/>
                    <a:p>
                      <a:pPr algn="ctr"/>
                      <a:r>
                        <a:rPr sz="800" b="0" i="0">
                          <a:solidFill>
                            <a:srgbClr val="0D0D0D"/>
                          </a:solidFill>
                          <a:latin typeface="Calibri"/>
                        </a:rPr>
                        <a:t>10,0</a:t>
                      </a:r>
                    </a:p>
                  </a:txBody>
                  <a:tcPr>
                    <a:solidFill>
                      <a:srgbClr val="FFFFFF"/>
                    </a:solidFill>
                  </a:tcPr>
                </a:tc>
                <a:tc>
                  <a:txBody>
                    <a:bodyPr/>
                    <a:lstStyle/>
                    <a:p>
                      <a:pPr algn="ctr"/>
                      <a:r>
                        <a:rPr sz="800" b="0" i="0">
                          <a:solidFill>
                            <a:srgbClr val="0D0D0D"/>
                          </a:solidFill>
                          <a:latin typeface="Calibri"/>
                        </a:rPr>
                        <a:t>-8,0x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-12,0x</a:t>
                      </a:r>
                    </a:p>
                  </a:txBody>
                  <a:tcPr>
                    <a:solidFill>
                      <a:srgbClr val="FFFFFF"/>
                    </a:solidFill>
                  </a:tcPr>
                </a:tc>
                <a:tc>
                  <a:txBody>
                    <a:bodyPr/>
                    <a:lstStyle/>
                    <a:p>
                      <a:pPr algn="ctr"/>
                      <a:r>
                        <a:rPr sz="800" b="0" i="0">
                          <a:solidFill>
                            <a:srgbClr val="0D0D0D"/>
                          </a:solidFill>
                          <a:latin typeface="Calibri"/>
                        </a:rPr>
                        <a:t>10,0 %</a:t>
                      </a:r>
                    </a:p>
                  </a:txBody>
                  <a:tcPr>
                    <a:solidFill>
                      <a:srgbClr val="FFFFFF"/>
                    </a:solidFill>
                  </a:tcPr>
                </a:tc>
                <a:tc>
                  <a:txBody>
                    <a:bodyPr/>
                    <a:lstStyle/>
                    <a:p>
                      <a:pPr algn="ctr"/>
                      <a:r>
                        <a:rPr sz="800" b="0" i="0">
                          <a:solidFill>
                            <a:srgbClr val="0D0D0D"/>
                          </a:solidFill>
                          <a:latin typeface="Calibri"/>
                        </a:rPr>
                        <a:t>-8,0 %</a:t>
                      </a:r>
                    </a:p>
                  </a:txBody>
                  <a:tcPr>
                    <a:solidFill>
                      <a:srgbClr val="FFFFFF"/>
                    </a:solidFill>
                  </a:tcPr>
                </a:tc>
              </a:tr>
              <a:tr h="251999">
                <a:tc>
                  <a:txBody>
                    <a:bodyPr/>
                    <a:lstStyle/>
                    <a:p>
                      <a:pPr algn="l"/>
                      <a:r>
                        <a:rPr sz="800" b="0" i="0">
                          <a:solidFill>
                            <a:srgbClr val="0D0D0D"/>
                          </a:solidFill>
                          <a:latin typeface="Calibri"/>
                        </a:rPr>
                        <a:t>Li Auto Inc.</a:t>
                      </a:r>
                    </a:p>
                  </a:txBody>
                  <a:tcPr>
                    <a:solidFill>
                      <a:srgbClr val="F7F8FA"/>
                    </a:solidFill>
                  </a:tcPr>
                </a:tc>
                <a:tc>
                  <a:txBody>
                    <a:bodyPr/>
                    <a:lstStyle/>
                    <a:p>
                      <a:pPr algn="ctr"/>
                      <a:r>
                        <a:rPr sz="750" b="0" i="0">
                          <a:solidFill>
                            <a:srgbClr val="555555"/>
                          </a:solidFill>
                          <a:latin typeface="Calibri"/>
                        </a:rPr>
                        <a:t>LI</a:t>
                      </a:r>
                    </a:p>
                  </a:txBody>
                  <a:tcPr>
                    <a:solidFill>
                      <a:srgbClr val="F7F8FA"/>
                    </a:solidFill>
                  </a:tcPr>
                </a:tc>
                <a:tc>
                  <a:txBody>
                    <a:bodyPr/>
                    <a:lstStyle/>
                    <a:p>
                      <a:pPr algn="ctr"/>
                      <a:r>
                        <a:rPr sz="800" b="0" i="0">
                          <a:solidFill>
                            <a:srgbClr val="0D0D0D"/>
                          </a:solidFill>
                          <a:latin typeface="Calibri"/>
                        </a:rPr>
                        <a:t>25,0</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2,0x</a:t>
                      </a:r>
                    </a:p>
                  </a:txBody>
                  <a:tcPr>
                    <a:solidFill>
                      <a:srgbClr val="F7F8FA"/>
                    </a:solidFill>
                  </a:tcPr>
                </a:tc>
                <a:tc>
                  <a:txBody>
                    <a:bodyPr/>
                    <a:lstStyle/>
                    <a:p>
                      <a:pPr algn="ctr"/>
                      <a:r>
                        <a:rPr sz="800" b="0" i="0">
                          <a:solidFill>
                            <a:srgbClr val="0D0D0D"/>
                          </a:solidFill>
                          <a:latin typeface="Calibri"/>
                        </a:rPr>
                        <a:t>30,0x</a:t>
                      </a:r>
                    </a:p>
                  </a:txBody>
                  <a:tcPr>
                    <a:solidFill>
                      <a:srgbClr val="F7F8FA"/>
                    </a:solidFill>
                  </a:tcPr>
                </a:tc>
                <a:tc>
                  <a:txBody>
                    <a:bodyPr/>
                    <a:lstStyle/>
                    <a:p>
                      <a:pPr algn="ctr"/>
                      <a:r>
                        <a:rPr sz="800" b="0" i="0">
                          <a:solidFill>
                            <a:srgbClr val="0D0D0D"/>
                          </a:solidFill>
                          <a:latin typeface="Calibri"/>
                        </a:rPr>
                        <a:t>20,0 %</a:t>
                      </a:r>
                    </a:p>
                  </a:txBody>
                  <a:tcPr>
                    <a:solidFill>
                      <a:srgbClr val="F7F8FA"/>
                    </a:solidFill>
                  </a:tcPr>
                </a:tc>
                <a:tc>
                  <a:txBody>
                    <a:bodyPr/>
                    <a:lstStyle/>
                    <a:p>
                      <a:pPr algn="ctr"/>
                      <a:r>
                        <a:rPr sz="800" b="0" i="0">
                          <a:solidFill>
                            <a:srgbClr val="0D0D0D"/>
                          </a:solidFill>
                          <a:latin typeface="Calibri"/>
                        </a:rPr>
                        <a:t>14,0 %</a:t>
                      </a:r>
                    </a:p>
                  </a:txBody>
                  <a:tcPr>
                    <a:solidFill>
                      <a:srgbClr val="F7F8FA"/>
                    </a:solidFill>
                  </a:tcPr>
                </a:tc>
              </a:tr>
              <a:tr h="251999">
                <a:tc>
                  <a:txBody>
                    <a:bodyPr/>
                    <a:lstStyle/>
                    <a:p>
                      <a:pPr algn="l"/>
                      <a:r>
                        <a:rPr sz="800" b="0" i="0">
                          <a:solidFill>
                            <a:srgbClr val="0D0D0D"/>
                          </a:solidFill>
                          <a:latin typeface="Calibri"/>
                        </a:rPr>
                        <a:t>Rivian Automotive</a:t>
                      </a:r>
                    </a:p>
                  </a:txBody>
                  <a:tcPr>
                    <a:solidFill>
                      <a:srgbClr val="FFFFFF"/>
                    </a:solidFill>
                  </a:tcPr>
                </a:tc>
                <a:tc>
                  <a:txBody>
                    <a:bodyPr/>
                    <a:lstStyle/>
                    <a:p>
                      <a:pPr algn="ctr"/>
                      <a:r>
                        <a:rPr sz="750" b="0" i="0">
                          <a:solidFill>
                            <a:srgbClr val="555555"/>
                          </a:solidFill>
                          <a:latin typeface="Calibri"/>
                        </a:rPr>
                        <a:t>RIVN</a:t>
                      </a:r>
                    </a:p>
                  </a:txBody>
                  <a:tcPr>
                    <a:solidFill>
                      <a:srgbClr val="FFFFFF"/>
                    </a:solidFill>
                  </a:tcPr>
                </a:tc>
                <a:tc>
                  <a:txBody>
                    <a:bodyPr/>
                    <a:lstStyle/>
                    <a:p>
                      <a:pPr algn="ctr"/>
                      <a:r>
                        <a:rPr sz="800" b="0" i="0">
                          <a:solidFill>
                            <a:srgbClr val="0D0D0D"/>
                          </a:solidFill>
                          <a:latin typeface="Calibri"/>
                        </a:rPr>
                        <a:t>12,0</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c>
                  <a:txBody>
                    <a:bodyPr/>
                    <a:lstStyle/>
                    <a:p>
                      <a:pPr algn="ctr"/>
                      <a:r>
                        <a:rPr sz="800" b="0" i="0">
                          <a:solidFill>
                            <a:srgbClr val="0D0D0D"/>
                          </a:solidFill>
                          <a:latin typeface="Calibri"/>
                        </a:rPr>
                        <a:t>1,8x</a:t>
                      </a:r>
                    </a:p>
                  </a:txBody>
                  <a:tcPr>
                    <a:solidFill>
                      <a:srgbClr val="FFFFFF"/>
                    </a:solidFill>
                  </a:tcPr>
                </a:tc>
                <a:tc>
                  <a:txBody>
                    <a:bodyPr/>
                    <a:lstStyle/>
                    <a:p>
                      <a:pPr algn="ctr"/>
                      <a:r>
                        <a:rPr sz="800" b="0" i="0">
                          <a:solidFill>
                            <a:srgbClr val="0D0D0D"/>
                          </a:solidFill>
                          <a:latin typeface="Calibri"/>
                        </a:rPr>
                        <a:t>-8,0x</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c>
                  <a:txBody>
                    <a:bodyPr/>
                    <a:lstStyle/>
                    <a:p>
                      <a:pPr algn="ctr"/>
                      <a:r>
                        <a:rPr sz="800" b="0" i="0">
                          <a:solidFill>
                            <a:srgbClr val="0D0D0D"/>
                          </a:solidFill>
                          <a:latin typeface="Calibri"/>
                        </a:rPr>
                        <a:t>-6,0 %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-8,0x</a:t>
                      </a:r>
                    </a:p>
                  </a:txBody>
                  <a:tcPr>
                    <a:solidFill>
                      <a:srgbClr val="F7F8FA"/>
                    </a:solidFill>
                  </a:tcPr>
                </a:tc>
                <a:tc>
                  <a:txBody>
                    <a:bodyPr/>
                    <a:lstStyle/>
                    <a:p>
                      <a:pPr algn="ctr"/>
                      <a:r>
                        <a:rPr sz="800" b="1" i="0">
                          <a:solidFill>
                            <a:srgbClr val="0D0D0D"/>
                          </a:solidFill>
                          <a:latin typeface="Calibri"/>
                        </a:rPr>
                        <a:t>1,8x</a:t>
                      </a:r>
                    </a:p>
                  </a:txBody>
                  <a:tcPr>
                    <a:solidFill>
                      <a:srgbClr val="F7F8FA"/>
                    </a:solidFill>
                  </a:tcPr>
                </a:tc>
                <a:tc>
                  <a:txBody>
                    <a:bodyPr/>
                    <a:lstStyle/>
                    <a:p>
                      <a:pPr algn="ctr"/>
                      <a:r>
                        <a:rPr sz="800" b="1" i="0">
                          <a:solidFill>
                            <a:srgbClr val="0D0D0D"/>
                          </a:solidFill>
                          <a:latin typeface="Calibri"/>
                        </a:rPr>
                        <a:t>-8,0x</a:t>
                      </a:r>
                    </a:p>
                  </a:txBody>
                  <a:tcPr>
                    <a:solidFill>
                      <a:srgbClr val="F7F8FA"/>
                    </a:solidFill>
                  </a:tcPr>
                </a:tc>
                <a:tc>
                  <a:txBody>
                    <a:bodyPr/>
                    <a:lstStyle/>
                    <a:p>
                      <a:pPr algn="ctr"/>
                      <a:r>
                        <a:rPr sz="800" b="1" i="0">
                          <a:solidFill>
                            <a:srgbClr val="0D0D0D"/>
                          </a:solidFill>
                          <a:latin typeface="Calibri"/>
                        </a:rPr>
                        <a:t>15,0 %</a:t>
                      </a:r>
                    </a:p>
                  </a:txBody>
                  <a:tcPr>
                    <a:solidFill>
                      <a:srgbClr val="F7F8FA"/>
                    </a:solidFill>
                  </a:tcPr>
                </a:tc>
                <a:tc>
                  <a:txBody>
                    <a:bodyPr/>
                    <a:lstStyle/>
                    <a:p>
                      <a:pPr algn="ctr"/>
                      <a:r>
                        <a:rPr sz="800" b="1" i="0">
                          <a:solidFill>
                            <a:srgbClr val="0D0D0D"/>
                          </a:solidFill>
                          <a:latin typeface="Calibri"/>
                        </a:rPr>
                        <a:t>-5,0 %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Tesla affiche un EV/EBITDA à 118.9x et un P/E à 370.9x, vs une médiane peers (BYD, NIO, XPEV, Li Auto, Rivian) à 25x EV/EBITDA et 40x P/E. La prime s'explique par la qualité des actifs et la croissance projetée, mais une convergence vers la médiane impliquerait un downside de 75%.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de 380$ (base), soit proche du cours actuel. La prime de valorisation actuelle semble justifiée par une croissance future, mais un échec sur la marge ou le volume pourrait entraîner une compression significative.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Marges en chute libre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Les marges de Tesla s’effritent sous pression concurrentielle : la marge brute de 18% en 2025 reste inférieure de 12 points à celle de 2022 (30%), tandis que la marge nette de 4% est la plus faible depuis 2019. Les coûts fixes explosent avec l’usine de Berlin et Austin, alourdissant l’EBITDA de 1,2 milliard en 2024.</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Valorisation déconnectée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ratios de valorisation sont insoutenables : un P/E de 370x et un EV/EBITDA de 118x impliquent une croissance perpétuelle des ventes, impossible avec un déclin de -3% en 2025. Les investisseurs paient 30 fois plus cher que le secteur automobile pour des fondamentaux en deterioration.</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Liquidité tendue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score Altman Z de 16,78 est un leurre : ce modèle, conçu pour les entreprises industrielles stables, ignore les risques de liquidité liés aux investissements massifs en R&amp;D (3,5 milliards en 2024). La trésorerie nette négative de -1,8 milliard en Q1 2025 expose Tesla à un refinancement coûteux.</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les ventes EV de 20%</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(BYD, Chine) avec prix sous 25k$ en 2026</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Retards majeurs sur la 4680 ou FSD bloquant la production</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46000"/>
            <a:ext cx="2696400" cy="288000"/>
          </a:xfrm>
          <a:prstGeom prst="rect">
            <a:avLst/>
          </a:prstGeom>
          <a:noFill/>
        </p:spPr>
        <p:txBody>
          <a:bodyPr wrap="square">
            <a:spAutoFit/>
          </a:bodyPr>
          <a:lstStyle/>
          <a:p>
            <a:pPr algn="l"/>
            <a:r>
              <a:rPr sz="750" b="0" i="0">
                <a:solidFill>
                  <a:srgbClr val="1B3A6B"/>
                </a:solidFill>
                <a:latin typeface="Calibri"/>
              </a:rPr>
              <a:t>Detresse : 0/100 — Sain</a:t>
            </a:r>
          </a:p>
        </p:txBody>
      </p:sp>
      <p:sp>
        <p:nvSpPr>
          <p:cNvPr id="35" name="Rectangle 34"/>
          <p:cNvSpPr/>
          <p:nvPr/>
        </p:nvSpPr>
        <p:spPr>
          <a:xfrm>
            <a:off x="324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32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46000"/>
            <a:ext cx="2696400" cy="288000"/>
          </a:xfrm>
          <a:prstGeom prst="rect">
            <a:avLst/>
          </a:prstGeom>
          <a:noFill/>
        </p:spPr>
        <p:txBody>
          <a:bodyPr wrap="square">
            <a:spAutoFit/>
          </a:bodyPr>
          <a:lstStyle/>
          <a:p>
            <a:pPr algn="l"/>
            <a:r>
              <a:rPr sz="750" b="0" i="0">
                <a:solidFill>
                  <a:srgbClr val="1B3A6B"/>
                </a:solidFill>
                <a:latin typeface="Calibri"/>
              </a:rPr>
              <a:t>M&amp;A : 28/100 — Peu attractive</a:t>
            </a:r>
          </a:p>
        </p:txBody>
      </p:sp>
      <p:sp>
        <p:nvSpPr>
          <p:cNvPr id="38" name="Rectangle 37"/>
          <p:cNvSpPr/>
          <p:nvPr/>
        </p:nvSpPr>
        <p:spPr>
          <a:xfrm>
            <a:off x="612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46000"/>
            <a:ext cx="2696400" cy="288000"/>
          </a:xfrm>
          <a:prstGeom prst="rect">
            <a:avLst/>
          </a:prstGeom>
          <a:noFill/>
        </p:spPr>
        <p:txBody>
          <a:bodyPr wrap="square">
            <a:spAutoFit/>
          </a:bodyPr>
          <a:lstStyle/>
          <a:p>
            <a:pPr algn="l"/>
            <a:r>
              <a:rPr sz="750" b="0" i="0">
                <a:solidFill>
                  <a:srgbClr val="1B3A6B"/>
                </a:solidFill>
                <a:latin typeface="Calibri"/>
              </a:rPr>
              <a:t>Regime : Volatile  Rec.6M:26%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-0,011</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37,2 %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9</a:t>
                      </a:r>
                    </a:p>
                  </a:txBody>
                  <a:tcPr>
                    <a:solidFill>
                      <a:srgbClr val="EAF4EF"/>
                    </a:solidFill>
                  </a:tcPr>
                </a:tc>
                <a:tc>
                  <a:txBody>
                    <a:bodyPr/>
                    <a:lstStyle/>
                    <a:p>
                      <a:pPr algn="ctr"/>
                      <a:r>
                        <a:rPr sz="800" b="0" i="0">
                          <a:solidFill>
                            <a:srgbClr val="0D0D0D"/>
                          </a:solidFill>
                          <a:latin typeface="Calibri"/>
                        </a:rPr>
                        <a:t>+0,309</a:t>
                      </a:r>
                    </a:p>
                  </a:txBody>
                  <a:tcPr>
                    <a:solidFill>
                      <a:srgbClr val="EAF4EF"/>
                    </a:solidFill>
                  </a:tcPr>
                </a:tc>
                <a:tc>
                  <a:txBody>
                    <a:bodyPr/>
                    <a:lstStyle/>
                    <a:p>
                      <a:pPr algn="ctr"/>
                      <a:r>
                        <a:rPr sz="800" b="0" i="0">
                          <a:solidFill>
                            <a:srgbClr val="0D0D0D"/>
                          </a:solidFill>
                          <a:latin typeface="Calibri"/>
                        </a:rPr>
                        <a:t>Expansion du Cybertruck avec une marge brute cible de 25% d'ici 2026 générant +1.5Md$ de contribution | Horizon: 2025-2027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11</a:t>
                      </a:r>
                    </a:p>
                  </a:txBody>
                  <a:tcPr>
                    <a:solidFill>
                      <a:srgbClr val="FFFFFF"/>
                    </a:solidFill>
                  </a:tcPr>
                </a:tc>
                <a:tc>
                  <a:txBody>
                    <a:bodyPr/>
                    <a:lstStyle/>
                    <a:p>
                      <a:pPr algn="ctr"/>
                      <a:r>
                        <a:rPr sz="800" b="0" i="0">
                          <a:solidFill>
                            <a:srgbClr val="0D0D0D"/>
                          </a:solidFill>
                          <a:latin typeface="Calibri"/>
                        </a:rPr>
                        <a:t>+0,372</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10</a:t>
                      </a:r>
                    </a:p>
                  </a:txBody>
                  <a:tcPr>
                    <a:solidFill>
                      <a:srgbClr val="FAF0EF"/>
                    </a:solidFill>
                  </a:tcPr>
                </a:tc>
                <a:tc>
                  <a:txBody>
                    <a:bodyPr/>
                    <a:lstStyle/>
                    <a:p>
                      <a:pPr algn="ctr"/>
                      <a:r>
                        <a:rPr sz="800" b="0" i="0">
                          <a:solidFill>
                            <a:srgbClr val="0D0D0D"/>
                          </a:solidFill>
                          <a:latin typeface="Calibri"/>
                        </a:rPr>
                        <a:t>+0,320</a:t>
                      </a:r>
                    </a:p>
                  </a:txBody>
                  <a:tcPr>
                    <a:solidFill>
                      <a:srgbClr val="FAF0EF"/>
                    </a:solidFill>
                  </a:tcPr>
                </a:tc>
                <a:tc>
                  <a:txBody>
                    <a:bodyPr/>
                    <a:lstStyle/>
                    <a:p>
                      <a:pPr algn="ctr"/>
                      <a:r>
                        <a:rPr sz="800" b="0" i="0">
                          <a:solidFill>
                            <a:srgbClr val="0D0D0D"/>
                          </a:solidFill>
                          <a:latin typeface="Calibri"/>
                        </a:rPr>
                        <a:t>Guerre des prix en Chine réduisant la GM de 5 points en 2026 | Horizon: 2025-2026, impact: -2.5Md$ EBITDA</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cette semaine dresse un bilan contrasté pour Tesla, avec des signaux positifs sur les immatriculations européennes et un rebond des ventes, mais des inquiétudes persistantes sur la demande en baisse et la valorisation jugée excessive. Les concurrents chinois et les perspectives d'IA/robotaxis alimentent également un sentiment globalement prudent à négatif.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Tesla se négocie à 118.9x EV/EBITDA vs une médiane peers à 25x, soit une prime de 375%. Le P/E à 370.9x reflète une croissance future déjà largement anticipée.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1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375,03 $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282,16 $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+32,9 %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292282"/>
            <a:ext cx="498636" cy="60291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530080"/>
            <a:ext cx="498636" cy="36511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07612"/>
            <a:ext cx="498636" cy="28758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396236"/>
            <a:ext cx="498636" cy="49896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480961"/>
            <a:ext cx="498636" cy="141423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601099"/>
            <a:ext cx="498636" cy="12941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439677"/>
            <a:ext cx="498636" cy="145552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599117"/>
            <a:ext cx="498636" cy="12960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829484"/>
            <a:ext cx="498636" cy="106571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3083466"/>
            <a:ext cx="498636" cy="81173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3056713"/>
            <a:ext cx="498636" cy="838486"/>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282</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339</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399</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456</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Tesla affiche une décélération opérationnelle en 2025 avec des marges sous pression malgré une croissance négative. La valorisation reste historiquement élevée malgré un WACC à 14.8% et un TGR à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