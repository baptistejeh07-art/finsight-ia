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380 $  ·  Upside : +8,9 %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11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380 $  ·  Upside : +8,9 %  ·  Bear : 280 $ (-19,8 %)  ·  Bull : 450 $ (+29,0 %)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Intégration verticale</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Tesla vise 20% de part de marché mondiale des VE d'ici 2026 avec un mix produit optimisé (Model 2 à 25k$)</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Leadership technologique</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Le déploiement du FSD (Full Self-Driving) pourrait générer 5 à 10Mds$ de revenus annuels d'ici 2027 via des abonnements à 199$/mois</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Marque premium</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La marge brute devrait rebondir à 22% d'ici 2027 grâce à la réduction des coûts de production et à l'effet volume sur les batteries 4680.</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accrue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Concurrence accrue en Chine (BYD, Xpeng) avec des prix 20-30% inférieurs | Risque de perte de part de marché à 15% d'ici 2026 | Pression sur les marges à 10% EBITDA</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Régulation stricte en Europe et aux États-Unis sur les VE et l'IA | Risque de sanctions commerciales ou de taxes carbone réduisant la compétitivité</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Exécution opérationnelle</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Exécution opérationnelle incertaine sur Gigafactory Berlin et Texas | Retards sur le Model 2 et le FSD pourraient coûter 3-5Mds$ de CA en 2026</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84132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8352000" cy="198000"/>
          </a:xfrm>
          <a:prstGeom prst="rect">
            <a:avLst/>
          </a:prstGeom>
          <a:noFill/>
        </p:spPr>
        <p:txBody>
          <a:bodyPr wrap="square">
            <a:spAutoFit/>
          </a:bodyPr>
          <a:lstStyle/>
          <a:p>
            <a:pPr algn="l"/>
            <a:r>
              <a:rPr sz="800" b="1" i="0">
                <a:solidFill>
                  <a:srgbClr val="FFFFFF"/>
                </a:solidFill>
                <a:latin typeface="Calibri"/>
              </a:rPr>
              <a:t>CATALYSEURS À SURVEILLER (12 MOIS)</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4104000" cy="198000"/>
          </a:xfrm>
          <a:prstGeom prst="rect">
            <a:avLst/>
          </a:prstGeom>
          <a:noFill/>
        </p:spPr>
        <p:txBody>
          <a:bodyPr wrap="square">
            <a:spAutoFit/>
          </a:bodyPr>
          <a:lstStyle/>
          <a:p>
            <a:pPr algn="l"/>
            <a:r>
              <a:rPr sz="750" b="0" i="0">
                <a:solidFill>
                  <a:srgbClr val="333333"/>
                </a:solidFill>
                <a:latin typeface="Calibri"/>
              </a:rPr>
              <a:t>FSD Deployment : Le déploiement du FSD à 199$/mois en 2026 pourrait générer 5-10Mds$ de revenus récurrents d'ici 2027, avec une</a:t>
            </a:r>
          </a:p>
        </p:txBody>
      </p:sp>
      <p:sp>
        <p:nvSpPr>
          <p:cNvPr id="38" name="Rectangle 37"/>
          <p:cNvSpPr/>
          <p:nvPr/>
        </p:nvSpPr>
        <p:spPr>
          <a:xfrm>
            <a:off x="45720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3999" y="3560400"/>
            <a:ext cx="4104000" cy="198000"/>
          </a:xfrm>
          <a:prstGeom prst="rect">
            <a:avLst/>
          </a:prstGeom>
          <a:noFill/>
        </p:spPr>
        <p:txBody>
          <a:bodyPr wrap="square">
            <a:spAutoFit/>
          </a:bodyPr>
          <a:lstStyle/>
          <a:p>
            <a:pPr algn="l"/>
            <a:r>
              <a:rPr sz="750" b="0" i="0">
                <a:solidFill>
                  <a:srgbClr val="333333"/>
                </a:solidFill>
                <a:latin typeface="Calibri"/>
              </a:rPr>
              <a:t>Model 2 Launch : Le lancement du Model 2 à 25k$ en 2026 devrait capter 15% de part de marché des VE d'entrée de gamme, avec un</a:t>
            </a:r>
          </a:p>
        </p:txBody>
      </p:sp>
      <p:sp>
        <p:nvSpPr>
          <p:cNvPr id="40" name="Rectangle 39"/>
          <p:cNvSpPr/>
          <p:nvPr/>
        </p:nvSpPr>
        <p:spPr>
          <a:xfrm>
            <a:off x="367200" y="3798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9200" y="3776400"/>
            <a:ext cx="4104000" cy="198000"/>
          </a:xfrm>
          <a:prstGeom prst="rect">
            <a:avLst/>
          </a:prstGeom>
          <a:noFill/>
        </p:spPr>
        <p:txBody>
          <a:bodyPr wrap="square">
            <a:spAutoFit/>
          </a:bodyPr>
          <a:lstStyle/>
          <a:p>
            <a:pPr algn="l"/>
            <a:r>
              <a:rPr sz="750" b="0" i="0">
                <a:solidFill>
                  <a:srgbClr val="333333"/>
                </a:solidFill>
                <a:latin typeface="Calibri"/>
              </a:rPr>
              <a:t>Gigafactory Berlin/Texas : La montée en puissance des Gigafactories Berlin et Texas devrait réduire les coûts de production de</a:t>
            </a:r>
          </a:p>
        </p:txBody>
      </p:sp>
      <p:sp>
        <p:nvSpPr>
          <p:cNvPr id="42" name="Rectangle 41"/>
          <p:cNvSpPr/>
          <p:nvPr/>
        </p:nvSpPr>
        <p:spPr>
          <a:xfrm>
            <a:off x="4572000" y="3798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43999" y="3776400"/>
            <a:ext cx="4104000" cy="198000"/>
          </a:xfrm>
          <a:prstGeom prst="rect">
            <a:avLst/>
          </a:prstGeom>
          <a:noFill/>
        </p:spPr>
        <p:txBody>
          <a:bodyPr wrap="square">
            <a:spAutoFit/>
          </a:bodyPr>
          <a:lstStyle/>
          <a:p>
            <a:pPr algn="l"/>
            <a:r>
              <a:rPr sz="750" b="0" i="0">
                <a:solidFill>
                  <a:srgbClr val="333333"/>
                </a:solidFill>
                <a:latin typeface="Calibri"/>
              </a:rPr>
              <a:t>—</a:t>
            </a: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110,6x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-10,0x med. pairs</a:t>
            </a:r>
          </a:p>
        </p:txBody>
      </p:sp>
      <p:sp>
        <p:nvSpPr>
          <p:cNvPr id="50" name="Rectangle 49"/>
          <p:cNvSpPr/>
          <p:nvPr/>
        </p:nvSpPr>
        <p:spPr>
          <a:xfrm>
            <a:off x="24876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1,92  ·  RFR 4,3 %</a:t>
            </a:r>
          </a:p>
        </p:txBody>
      </p:sp>
      <p:sp>
        <p:nvSpPr>
          <p:cNvPr id="55" name="Rectangle 54"/>
          <p:cNvSpPr/>
          <p:nvPr/>
        </p:nvSpPr>
        <p:spPr>
          <a:xfrm>
            <a:off x="46080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380 $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+8,9 % vs cours</a:t>
            </a:r>
          </a:p>
        </p:txBody>
      </p:sp>
      <p:sp>
        <p:nvSpPr>
          <p:cNvPr id="60" name="Rectangle 59"/>
          <p:cNvSpPr/>
          <p:nvPr/>
        </p:nvSpPr>
        <p:spPr>
          <a:xfrm>
            <a:off x="6728400" y="4082400"/>
            <a:ext cx="2030400" cy="648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-0,083</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Neutre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accrue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conçoit, produit et vend des véhicules électriques haut de gamme ainsi que des solutions de stockage d'énergie et des panneaux solaires. Leader du marché des VE avec une intégration verticale unique (batteries, logiciels, bornes de recharge), l'entreprise mise sur l'innovation technologique et l'automatisation pour réduire les coûts et renforcer sa compétitivité. Son avantage concurrentiel réside dans son écosystème fermé, sa marque premium et son avance sur l'IA embarquée et les services autonomes.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Automobile</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principal générant 90% du CA via la vente de véhicules électriques haut de gamme (Model 3, Y, S, X) et les services associés (mises à jour logicielles, abonnements FSD). Cible les consommateurs premium et les flottes professionnelles. Croissance soutenue par l'expansion géographique et l'amélioration des marges via l'automatisation et la réduction des coûts de production.</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Énergie et 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Comprend les batteries Powerwall/Powerpack, les panneaux solaires et les solutions de stockage pour particuliers et entreprises. Modèle récurrent via les abonnements et services de maintenance. Clients cibles : ménages soucieux d'autonomie énergétique et entreprises industrielles. Croissance tirée par la demande en résilience énergétique et la baisse des coûts des batteries.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1 309,4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348,95 $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110,6x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345,1x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90%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Automobile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principal générant 90% du CA via la vente de véhicules électriques haut de gamme (Model 3, Y, S, X) et les services associés (mises à jour logicielles, abonnements FSD). Cible les consommateurs premium et les flottes professionnelles. Croissance soutenue par l'expansion géographique et l'amélioration des marges via l'automatisation et la réduction des coûts de production.</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Énergie et 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Comprend les batteries Powerwall/Powerpack, les panneaux solaires et les solutions de stockage pour particuliers et entreprises. Modèle récurrent via les abonnements et services de maintenance. Clients cibles : ménages soucieux d'autonomie énergétique et entreprises industrielles. Croissance tirée par la demande en résilience énergétique et la baisse des coûts des batteries.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c>
                  <a:txBody>
                    <a:bodyPr/>
                    <a:lstStyle/>
                    <a:p>
                      <a:pPr algn="ctr"/>
                      <a:r>
                        <a:rPr sz="800" b="1" i="0">
                          <a:solidFill>
                            <a:srgbClr val="0D0D0D"/>
                          </a:solidFill>
                          <a:latin typeface="Calibri"/>
                        </a:rPr>
                        <a:t>105,0</a:t>
                      </a:r>
                    </a:p>
                  </a:txBody>
                  <a:tcPr>
                    <a:solidFill>
                      <a:srgbClr val="FFFFFF"/>
                    </a:solidFill>
                  </a:tcPr>
                </a:tc>
                <a:tc>
                  <a:txBody>
                    <a:bodyPr/>
                    <a:lstStyle/>
                    <a:p>
                      <a:pPr algn="ctr"/>
                      <a:r>
                        <a:rPr sz="800" b="1" i="0">
                          <a:solidFill>
                            <a:srgbClr val="0D0D0D"/>
                          </a:solidFill>
                          <a:latin typeface="Calibri"/>
                        </a:rPr>
                        <a:t>120,0</a:t>
                      </a:r>
                    </a:p>
                  </a:txBody>
                  <a:tcPr>
                    <a:solidFill>
                      <a:srgbClr val="FFFFFF"/>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+18,8 %</a:t>
                      </a:r>
                    </a:p>
                  </a:txBody>
                  <a:tcPr>
                    <a:solidFill>
                      <a:srgbClr val="F7F8FA"/>
                    </a:solidFill>
                  </a:tcPr>
                </a:tc>
                <a:tc>
                  <a:txBody>
                    <a:bodyPr/>
                    <a:lstStyle/>
                    <a:p>
                      <a:pPr algn="ctr"/>
                      <a:r>
                        <a:rPr sz="750" b="0" i="1">
                          <a:solidFill>
                            <a:srgbClr val="333333"/>
                          </a:solidFill>
                          <a:latin typeface="Calibri"/>
                        </a:rPr>
                        <a:t>+1,0 %</a:t>
                      </a:r>
                    </a:p>
                  </a:txBody>
                  <a:tcPr>
                    <a:solidFill>
                      <a:srgbClr val="F7F8FA"/>
                    </a:solidFill>
                  </a:tcPr>
                </a:tc>
                <a:tc>
                  <a:txBody>
                    <a:bodyPr/>
                    <a:lstStyle/>
                    <a:p>
                      <a:pPr algn="ctr"/>
                      <a:r>
                        <a:rPr sz="750" b="0" i="1">
                          <a:solidFill>
                            <a:srgbClr val="333333"/>
                          </a:solidFill>
                          <a:latin typeface="Calibri"/>
                        </a:rPr>
                        <a:t>-3,0 %</a:t>
                      </a:r>
                    </a:p>
                  </a:txBody>
                  <a:tcPr>
                    <a:solidFill>
                      <a:srgbClr val="DDE8F5"/>
                    </a:solidFill>
                  </a:tcPr>
                </a:tc>
                <a:tc>
                  <a:txBody>
                    <a:bodyPr/>
                    <a:lstStyle/>
                    <a:p>
                      <a:pPr algn="ctr"/>
                      <a:r>
                        <a:rPr sz="750" b="0" i="1">
                          <a:solidFill>
                            <a:srgbClr val="333333"/>
                          </a:solidFill>
                          <a:latin typeface="Calibri"/>
                        </a:rPr>
                        <a:t>+10,9 %</a:t>
                      </a:r>
                    </a:p>
                  </a:txBody>
                  <a:tcPr>
                    <a:solidFill>
                      <a:srgbClr val="F7F8FA"/>
                    </a:solidFill>
                  </a:tcPr>
                </a:tc>
                <a:tc>
                  <a:txBody>
                    <a:bodyPr/>
                    <a:lstStyle/>
                    <a:p>
                      <a:pPr algn="ctr"/>
                      <a:r>
                        <a:rPr sz="750" b="0" i="1">
                          <a:solidFill>
                            <a:srgbClr val="333333"/>
                          </a:solidFill>
                          <a:latin typeface="Calibri"/>
                        </a:rPr>
                        <a:t>+14,3 %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c>
                  <a:txBody>
                    <a:bodyPr/>
                    <a:lstStyle/>
                    <a:p>
                      <a:pPr algn="ctr"/>
                      <a:r>
                        <a:rPr sz="800" b="1" i="0">
                          <a:solidFill>
                            <a:srgbClr val="0D0D0D"/>
                          </a:solidFill>
                          <a:latin typeface="Calibri"/>
                        </a:rPr>
                        <a:t>20,5</a:t>
                      </a:r>
                    </a:p>
                  </a:txBody>
                  <a:tcPr>
                    <a:solidFill>
                      <a:srgbClr val="FFFFFF"/>
                    </a:solidFill>
                  </a:tcPr>
                </a:tc>
                <a:tc>
                  <a:txBody>
                    <a:bodyPr/>
                    <a:lstStyle/>
                    <a:p>
                      <a:pPr algn="ctr"/>
                      <a:r>
                        <a:rPr sz="800" b="1" i="0">
                          <a:solidFill>
                            <a:srgbClr val="0D0D0D"/>
                          </a:solidFill>
                          <a:latin typeface="Calibri"/>
                        </a:rPr>
                        <a:t>26,4</a:t>
                      </a:r>
                    </a:p>
                  </a:txBody>
                  <a:tcPr>
                    <a:solidFill>
                      <a:srgbClr val="FFFFFF"/>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18,2 %</a:t>
                      </a:r>
                    </a:p>
                  </a:txBody>
                  <a:tcPr>
                    <a:solidFill>
                      <a:srgbClr val="F7F8FA"/>
                    </a:solidFill>
                  </a:tcPr>
                </a:tc>
                <a:tc>
                  <a:txBody>
                    <a:bodyPr/>
                    <a:lstStyle/>
                    <a:p>
                      <a:pPr algn="ctr"/>
                      <a:r>
                        <a:rPr sz="750" b="0" i="1">
                          <a:solidFill>
                            <a:srgbClr val="333333"/>
                          </a:solidFill>
                          <a:latin typeface="Calibri"/>
                        </a:rPr>
                        <a:t>17,9 %</a:t>
                      </a:r>
                    </a:p>
                  </a:txBody>
                  <a:tcPr>
                    <a:solidFill>
                      <a:srgbClr val="F7F8FA"/>
                    </a:solidFill>
                  </a:tcPr>
                </a:tc>
                <a:tc>
                  <a:txBody>
                    <a:bodyPr/>
                    <a:lstStyle/>
                    <a:p>
                      <a:pPr algn="ctr"/>
                      <a:r>
                        <a:rPr sz="750" b="0" i="1">
                          <a:solidFill>
                            <a:srgbClr val="333333"/>
                          </a:solidFill>
                          <a:latin typeface="Calibri"/>
                        </a:rPr>
                        <a:t>18,0 %</a:t>
                      </a:r>
                    </a:p>
                  </a:txBody>
                  <a:tcPr>
                    <a:solidFill>
                      <a:srgbClr val="DDE8F5"/>
                    </a:solidFill>
                  </a:tcPr>
                </a:tc>
                <a:tc>
                  <a:txBody>
                    <a:bodyPr/>
                    <a:lstStyle/>
                    <a:p>
                      <a:pPr algn="ctr"/>
                      <a:r>
                        <a:rPr sz="750" b="0" i="1">
                          <a:solidFill>
                            <a:srgbClr val="333333"/>
                          </a:solidFill>
                          <a:latin typeface="Calibri"/>
                        </a:rPr>
                        <a:t>19,5 %</a:t>
                      </a:r>
                    </a:p>
                  </a:txBody>
                  <a:tcPr>
                    <a:solidFill>
                      <a:srgbClr val="F7F8FA"/>
                    </a:solidFill>
                  </a:tcPr>
                </a:tc>
                <a:tc>
                  <a:txBody>
                    <a:bodyPr/>
                    <a:lstStyle/>
                    <a:p>
                      <a:pPr algn="ctr"/>
                      <a:r>
                        <a:rPr sz="750" b="0" i="1">
                          <a:solidFill>
                            <a:srgbClr val="333333"/>
                          </a:solidFill>
                          <a:latin typeface="Calibri"/>
                        </a:rPr>
                        <a:t>22,0 %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c>
                  <a:txBody>
                    <a:bodyPr/>
                    <a:lstStyle/>
                    <a:p>
                      <a:pPr algn="ctr"/>
                      <a:r>
                        <a:rPr sz="800" b="1" i="0">
                          <a:solidFill>
                            <a:srgbClr val="0D0D0D"/>
                          </a:solidFill>
                          <a:latin typeface="Calibri"/>
                        </a:rPr>
                        <a:t>22,0</a:t>
                      </a:r>
                    </a:p>
                  </a:txBody>
                  <a:tcPr>
                    <a:solidFill>
                      <a:srgbClr val="FFFFFF"/>
                    </a:solidFill>
                  </a:tcPr>
                </a:tc>
                <a:tc>
                  <a:txBody>
                    <a:bodyPr/>
                    <a:lstStyle/>
                    <a:p>
                      <a:pPr algn="ctr"/>
                      <a:r>
                        <a:rPr sz="800" b="1" i="0">
                          <a:solidFill>
                            <a:srgbClr val="0D0D0D"/>
                          </a:solidFill>
                          <a:latin typeface="Calibri"/>
                        </a:rPr>
                        <a:t>30,0</a:t>
                      </a:r>
                    </a:p>
                  </a:txBody>
                  <a:tcPr>
                    <a:solidFill>
                      <a:srgbClr val="FFFFFF"/>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15,3 %</a:t>
                      </a:r>
                    </a:p>
                  </a:txBody>
                  <a:tcPr>
                    <a:solidFill>
                      <a:srgbClr val="F7F8FA"/>
                    </a:solidFill>
                  </a:tcPr>
                </a:tc>
                <a:tc>
                  <a:txBody>
                    <a:bodyPr/>
                    <a:lstStyle/>
                    <a:p>
                      <a:pPr algn="ctr"/>
                      <a:r>
                        <a:rPr sz="750" b="0" i="1">
                          <a:solidFill>
                            <a:srgbClr val="333333"/>
                          </a:solidFill>
                          <a:latin typeface="Calibri"/>
                        </a:rPr>
                        <a:t>15,1 %</a:t>
                      </a:r>
                    </a:p>
                  </a:txBody>
                  <a:tcPr>
                    <a:solidFill>
                      <a:srgbClr val="F7F8FA"/>
                    </a:solidFill>
                  </a:tcPr>
                </a:tc>
                <a:tc>
                  <a:txBody>
                    <a:bodyPr/>
                    <a:lstStyle/>
                    <a:p>
                      <a:pPr algn="ctr"/>
                      <a:r>
                        <a:rPr sz="750" b="0" i="1">
                          <a:solidFill>
                            <a:srgbClr val="333333"/>
                          </a:solidFill>
                          <a:latin typeface="Calibri"/>
                        </a:rPr>
                        <a:t>12,4 %</a:t>
                      </a:r>
                    </a:p>
                  </a:txBody>
                  <a:tcPr>
                    <a:solidFill>
                      <a:srgbClr val="DDE8F5"/>
                    </a:solidFill>
                  </a:tcPr>
                </a:tc>
                <a:tc>
                  <a:txBody>
                    <a:bodyPr/>
                    <a:lstStyle/>
                    <a:p>
                      <a:pPr algn="ctr"/>
                      <a:r>
                        <a:rPr sz="750" b="0" i="1">
                          <a:solidFill>
                            <a:srgbClr val="333333"/>
                          </a:solidFill>
                          <a:latin typeface="Calibri"/>
                        </a:rPr>
                        <a:t>20,9 %</a:t>
                      </a:r>
                    </a:p>
                  </a:txBody>
                  <a:tcPr>
                    <a:solidFill>
                      <a:srgbClr val="F7F8FA"/>
                    </a:solidFill>
                  </a:tcPr>
                </a:tc>
                <a:tc>
                  <a:txBody>
                    <a:bodyPr/>
                    <a:lstStyle/>
                    <a:p>
                      <a:pPr algn="ctr"/>
                      <a:r>
                        <a:rPr sz="750" b="0" i="1">
                          <a:solidFill>
                            <a:srgbClr val="333333"/>
                          </a:solidFill>
                          <a:latin typeface="Calibri"/>
                        </a:rPr>
                        <a:t>25,0 %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c>
                  <a:txBody>
                    <a:bodyPr/>
                    <a:lstStyle/>
                    <a:p>
                      <a:pPr algn="ctr"/>
                      <a:r>
                        <a:rPr sz="800" b="1" i="0">
                          <a:solidFill>
                            <a:srgbClr val="0D0D0D"/>
                          </a:solidFill>
                          <a:latin typeface="Calibri"/>
                        </a:rPr>
                        <a:t>8,5</a:t>
                      </a:r>
                    </a:p>
                  </a:txBody>
                  <a:tcPr>
                    <a:solidFill>
                      <a:srgbClr val="FFFFFF"/>
                    </a:solidFill>
                  </a:tcPr>
                </a:tc>
                <a:tc>
                  <a:txBody>
                    <a:bodyPr/>
                    <a:lstStyle/>
                    <a:p>
                      <a:pPr algn="ctr"/>
                      <a:r>
                        <a:rPr sz="800" b="1" i="0">
                          <a:solidFill>
                            <a:srgbClr val="0D0D0D"/>
                          </a:solidFill>
                          <a:latin typeface="Calibri"/>
                        </a:rPr>
                        <a:t>12,0</a:t>
                      </a:r>
                    </a:p>
                  </a:txBody>
                  <a:tcPr>
                    <a:solidFill>
                      <a:srgbClr val="FFFFFF"/>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15,5 %</a:t>
                      </a:r>
                    </a:p>
                  </a:txBody>
                  <a:tcPr>
                    <a:solidFill>
                      <a:srgbClr val="F7F8FA"/>
                    </a:solidFill>
                  </a:tcPr>
                </a:tc>
                <a:tc>
                  <a:txBody>
                    <a:bodyPr/>
                    <a:lstStyle/>
                    <a:p>
                      <a:pPr algn="ctr"/>
                      <a:r>
                        <a:rPr sz="750" b="0" i="1">
                          <a:solidFill>
                            <a:srgbClr val="333333"/>
                          </a:solidFill>
                          <a:latin typeface="Calibri"/>
                        </a:rPr>
                        <a:t>7,3 %</a:t>
                      </a:r>
                    </a:p>
                  </a:txBody>
                  <a:tcPr>
                    <a:solidFill>
                      <a:srgbClr val="F7F8FA"/>
                    </a:solidFill>
                  </a:tcPr>
                </a:tc>
                <a:tc>
                  <a:txBody>
                    <a:bodyPr/>
                    <a:lstStyle/>
                    <a:p>
                      <a:pPr algn="ctr"/>
                      <a:r>
                        <a:rPr sz="750" b="0" i="1">
                          <a:solidFill>
                            <a:srgbClr val="333333"/>
                          </a:solidFill>
                          <a:latin typeface="Calibri"/>
                        </a:rPr>
                        <a:t>4,0 %</a:t>
                      </a:r>
                    </a:p>
                  </a:txBody>
                  <a:tcPr>
                    <a:solidFill>
                      <a:srgbClr val="DDE8F5"/>
                    </a:solidFill>
                  </a:tcPr>
                </a:tc>
                <a:tc>
                  <a:txBody>
                    <a:bodyPr/>
                    <a:lstStyle/>
                    <a:p>
                      <a:pPr algn="ctr"/>
                      <a:r>
                        <a:rPr sz="750" b="0" i="1">
                          <a:solidFill>
                            <a:srgbClr val="333333"/>
                          </a:solidFill>
                          <a:latin typeface="Calibri"/>
                        </a:rPr>
                        <a:t>8,1 %</a:t>
                      </a:r>
                    </a:p>
                  </a:txBody>
                  <a:tcPr>
                    <a:solidFill>
                      <a:srgbClr val="F7F8FA"/>
                    </a:solidFill>
                  </a:tcPr>
                </a:tc>
                <a:tc>
                  <a:txBody>
                    <a:bodyPr/>
                    <a:lstStyle/>
                    <a:p>
                      <a:pPr algn="ctr"/>
                      <a:r>
                        <a:rPr sz="750" b="0" i="1">
                          <a:solidFill>
                            <a:srgbClr val="333333"/>
                          </a:solidFill>
                          <a:latin typeface="Calibri"/>
                        </a:rPr>
                        <a:t>10,0 %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51200"/>
          </a:xfrm>
          <a:prstGeom prst="rect">
            <a:avLst/>
          </a:prstGeom>
          <a:noFill/>
        </p:spPr>
        <p:txBody>
          <a:bodyPr wrap="none">
            <a:spAutoFit/>
          </a:bodyPr>
          <a:lstStyle/>
          <a:p>
            <a:pPr algn="l"/>
            <a:r>
              <a:rPr sz="950" b="1" i="0">
                <a:solidFill>
                  <a:srgbClr val="1B3A6B"/>
                </a:solidFill>
                <a:latin typeface="Calibri"/>
              </a:rPr>
              <a:t>TSLA en contraction (-3.0% revenue) — pression sur les marges (12.4%)</a:t>
            </a:r>
          </a:p>
        </p:txBody>
      </p:sp>
      <p:sp>
        <p:nvSpPr>
          <p:cNvPr id="21" name="TextBox 20"/>
          <p:cNvSpPr txBox="1"/>
          <p:nvPr/>
        </p:nvSpPr>
        <p:spPr>
          <a:xfrm>
            <a:off x="475200" y="3416400"/>
            <a:ext cx="8298000" cy="1000799"/>
          </a:xfrm>
          <a:prstGeom prst="rect">
            <a:avLst/>
          </a:prstGeom>
          <a:noFill/>
        </p:spPr>
        <p:txBody>
          <a:bodyPr wrap="square">
            <a:spAutoFit/>
          </a:bodyPr>
          <a:lstStyle/>
          <a:p>
            <a:pPr algn="l"/>
            <a:r>
              <a:rPr sz="850" b="0" i="0">
                <a:solidFill>
                  <a:srgbClr val="555555"/>
                </a:solidFill>
                <a:latin typeface="Calibri"/>
              </a:rPr>
              <a:t>Le CA 2025 atteint 94,827M$ (-3.0% YoY), marqué par une pression sur les prix et une baisse des volumes en Chine. La marge brute de 18.0% reste sous pression (vs 25.6% en 2022) en raison de la guerre des prix et des coûts fixes élevés. Le ND/EBITDA négatif (-0.7x) indique une trésorerie nette de 33.5Mds$, permettant des rachats d'actions ou des investissements massifs sans endettement.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équivalents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15,72</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4031999"/>
            <a:ext cx="84132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4031999"/>
            <a:ext cx="79200" cy="79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4060800"/>
            <a:ext cx="8298000" cy="151200"/>
          </a:xfrm>
          <a:prstGeom prst="rect">
            <a:avLst/>
          </a:prstGeom>
          <a:noFill/>
        </p:spPr>
        <p:txBody>
          <a:bodyPr wrap="none">
            <a:spAutoFit/>
          </a:bodyPr>
          <a:lstStyle/>
          <a:p>
            <a:pPr algn="l"/>
            <a:r>
              <a:rPr sz="950" b="1" i="0">
                <a:solidFill>
                  <a:srgbClr val="1B3A6B"/>
                </a:solidFill>
                <a:latin typeface="Calibri"/>
              </a:rPr>
              <a:t>TSLA en cash net positif — bilan robuste, capacité d'investissement intacte</a:t>
            </a:r>
          </a:p>
        </p:txBody>
      </p:sp>
      <p:sp>
        <p:nvSpPr>
          <p:cNvPr id="34" name="TextBox 33"/>
          <p:cNvSpPr txBox="1"/>
          <p:nvPr/>
        </p:nvSpPr>
        <p:spPr>
          <a:xfrm>
            <a:off x="475200" y="4230000"/>
            <a:ext cx="8298000" cy="568800"/>
          </a:xfrm>
          <a:prstGeom prst="rect">
            <a:avLst/>
          </a:prstGeom>
          <a:noFill/>
        </p:spPr>
        <p:txBody>
          <a:bodyPr wrap="square">
            <a:spAutoFit/>
          </a:bodyPr>
          <a:lstStyle/>
          <a:p>
            <a:pPr algn="l"/>
            <a:r>
              <a:rPr sz="850" b="0" i="0">
                <a:solidFill>
                  <a:srgbClr val="555555"/>
                </a:solidFill>
                <a:latin typeface="Calibri"/>
              </a:rPr>
              <a:t>Position de cash net positif (-0.71x EBITDA), conférant une flexibilité financière maximale. Current ratio à 2.23x, mesure de la couverture des passifs courants par les actifs courants. Couverture des intérêts solide (16.6x EBIT), capacité de service de la dette robuste.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345,1x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110,6x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15,72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151200"/>
          </a:xfrm>
          <a:prstGeom prst="rect">
            <a:avLst/>
          </a:prstGeom>
          <a:noFill/>
        </p:spPr>
        <p:txBody>
          <a:bodyPr wrap="none">
            <a:spAutoFit/>
          </a:bodyPr>
          <a:lstStyle/>
          <a:p>
            <a:pPr algn="l"/>
            <a:r>
              <a:rPr sz="950" b="1" i="0">
                <a:solidFill>
                  <a:srgbClr val="1B3A6B"/>
                </a:solidFill>
                <a:latin typeface="Calibri"/>
              </a:rPr>
              <a:t>TSLA ROE 5% / ROIC 6% — rentabilité à surveiller</a:t>
            </a:r>
          </a:p>
        </p:txBody>
      </p:sp>
      <p:sp>
        <p:nvSpPr>
          <p:cNvPr id="21" name="TextBox 20"/>
          <p:cNvSpPr txBox="1"/>
          <p:nvPr/>
        </p:nvSpPr>
        <p:spPr>
          <a:xfrm>
            <a:off x="475200" y="3826800"/>
            <a:ext cx="8298000" cy="601200"/>
          </a:xfrm>
          <a:prstGeom prst="rect">
            <a:avLst/>
          </a:prstGeom>
          <a:noFill/>
        </p:spPr>
        <p:txBody>
          <a:bodyPr wrap="square">
            <a:spAutoFit/>
          </a:bodyPr>
          <a:lstStyle/>
          <a:p>
            <a:pPr algn="l"/>
            <a:r>
              <a:rPr sz="850" b="0" i="0">
                <a:solidFill>
                  <a:srgbClr val="555555"/>
                </a:solidFill>
                <a:latin typeface="Calibri"/>
              </a:rPr>
              <a:t>Les marges EBITDA ont chuté de 21.7% en 2022 à 12.4% en 2025, principalement à cause de la baisse des prix des VE (-15% en moyenne) et de l'augmentation des coûts de R&amp;D (3.5Mds$ en 2025). Le mix produit (baisse des Model S/X au profit des Model 3/Y) et l'inflation des coûts logistiques ont compressé les marges. La durabilité du pricing power dépendra de la capacité à lancer des modèles à 25k$ et à monétiser le FSD.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348,95 $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280 $</a:t>
                      </a:r>
                    </a:p>
                  </a:txBody>
                  <a:tcPr>
                    <a:solidFill>
                      <a:srgbClr val="FAF0EF"/>
                    </a:solidFill>
                  </a:tcPr>
                </a:tc>
                <a:tc>
                  <a:txBody>
                    <a:bodyPr/>
                    <a:lstStyle/>
                    <a:p>
                      <a:pPr algn="ctr"/>
                      <a:r>
                        <a:rPr sz="2000" b="1" i="0">
                          <a:solidFill>
                            <a:srgbClr val="2E5FA3"/>
                          </a:solidFill>
                          <a:latin typeface="Calibri"/>
                        </a:rPr>
                        <a:t>380 $</a:t>
                      </a:r>
                    </a:p>
                  </a:txBody>
                  <a:tcPr>
                    <a:solidFill>
                      <a:srgbClr val="EEF3FA"/>
                    </a:solidFill>
                  </a:tcPr>
                </a:tc>
                <a:tc>
                  <a:txBody>
                    <a:bodyPr/>
                    <a:lstStyle/>
                    <a:p>
                      <a:pPr algn="ctr"/>
                      <a:r>
                        <a:rPr sz="2000" b="1" i="0">
                          <a:solidFill>
                            <a:srgbClr val="1A7A4A"/>
                          </a:solidFill>
                          <a:latin typeface="Calibri"/>
                        </a:rPr>
                        <a:t>450 $</a:t>
                      </a:r>
                    </a:p>
                  </a:txBody>
                  <a:tcPr>
                    <a:solidFill>
                      <a:srgbClr val="EAF4EF"/>
                    </a:solidFill>
                  </a:tcPr>
                </a:tc>
              </a:tr>
              <a:tr h="342900">
                <a:tc>
                  <a:txBody>
                    <a:bodyPr/>
                    <a:lstStyle/>
                    <a:p>
                      <a:pPr algn="ctr"/>
                      <a:r>
                        <a:rPr sz="1200" b="1" i="0">
                          <a:solidFill>
                            <a:srgbClr val="A82020"/>
                          </a:solidFill>
                          <a:latin typeface="Calibri"/>
                        </a:rPr>
                        <a:t>-19,8 %</a:t>
                      </a:r>
                    </a:p>
                  </a:txBody>
                  <a:tcPr>
                    <a:solidFill>
                      <a:srgbClr val="FAF0EF"/>
                    </a:solidFill>
                  </a:tcPr>
                </a:tc>
                <a:tc>
                  <a:txBody>
                    <a:bodyPr/>
                    <a:lstStyle/>
                    <a:p>
                      <a:pPr algn="ctr"/>
                      <a:r>
                        <a:rPr sz="1200" b="1" i="0">
                          <a:solidFill>
                            <a:srgbClr val="2E5FA3"/>
                          </a:solidFill>
                          <a:latin typeface="Calibri"/>
                        </a:rPr>
                        <a:t>+8,9 %</a:t>
                      </a:r>
                    </a:p>
                  </a:txBody>
                  <a:tcPr>
                    <a:solidFill>
                      <a:srgbClr val="EEF3FA"/>
                    </a:solidFill>
                  </a:tcPr>
                </a:tc>
                <a:tc>
                  <a:txBody>
                    <a:bodyPr/>
                    <a:lstStyle/>
                    <a:p>
                      <a:pPr algn="ctr"/>
                      <a:r>
                        <a:rPr sz="1200" b="1" i="0">
                          <a:solidFill>
                            <a:srgbClr val="1A7A4A"/>
                          </a:solidFill>
                          <a:latin typeface="Calibri"/>
                        </a:rPr>
                        <a:t>+29,0 %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-67,4 %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405 $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+16,1 %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+158,4 %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1 447 $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+314,7 %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380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3916800"/>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3916800"/>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3945600"/>
            <a:ext cx="8298000" cy="151200"/>
          </a:xfrm>
          <a:prstGeom prst="rect">
            <a:avLst/>
          </a:prstGeom>
          <a:noFill/>
        </p:spPr>
        <p:txBody>
          <a:bodyPr wrap="none">
            <a:spAutoFit/>
          </a:bodyPr>
          <a:lstStyle/>
          <a:p>
            <a:pPr algn="l"/>
            <a:r>
              <a:rPr sz="950" b="1" i="0">
                <a:solidFill>
                  <a:srgbClr val="1B3A6B"/>
                </a:solidFill>
                <a:latin typeface="Calibri"/>
              </a:rPr>
              <a:t>DCF base proche du cours (+9%) — valorisation alignée</a:t>
            </a:r>
          </a:p>
        </p:txBody>
      </p:sp>
      <p:sp>
        <p:nvSpPr>
          <p:cNvPr id="25" name="TextBox 24"/>
          <p:cNvSpPr txBox="1"/>
          <p:nvPr/>
        </p:nvSpPr>
        <p:spPr>
          <a:xfrm>
            <a:off x="475200" y="4114800"/>
            <a:ext cx="8298000" cy="3240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estimé à 380$ (base), soit un upside de 9% vs cours actuel. Cette valorisation suppose une reprise des marges et une croissance revenue modérée. L'upside dépendra de la matérialisation des hypothèses de volume FSD et de réduction des coûts.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1 309,4</a:t>
                      </a:r>
                    </a:p>
                  </a:txBody>
                  <a:tcPr>
                    <a:solidFill>
                      <a:srgbClr val="DDE8F5"/>
                    </a:solidFill>
                  </a:tcPr>
                </a:tc>
                <a:tc>
                  <a:txBody>
                    <a:bodyPr/>
                    <a:lstStyle/>
                    <a:p>
                      <a:pPr algn="ctr"/>
                      <a:r>
                        <a:rPr sz="800" b="1" i="0">
                          <a:solidFill>
                            <a:srgbClr val="1B3A6B"/>
                          </a:solidFill>
                          <a:latin typeface="Calibri"/>
                        </a:rPr>
                        <a:t>110,6x</a:t>
                      </a:r>
                    </a:p>
                  </a:txBody>
                  <a:tcPr>
                    <a:solidFill>
                      <a:srgbClr val="DDE8F5"/>
                    </a:solidFill>
                  </a:tcPr>
                </a:tc>
                <a:tc>
                  <a:txBody>
                    <a:bodyPr/>
                    <a:lstStyle/>
                    <a:p>
                      <a:pPr algn="ctr"/>
                      <a:r>
                        <a:rPr sz="800" b="1" i="0">
                          <a:solidFill>
                            <a:srgbClr val="1B3A6B"/>
                          </a:solidFill>
                          <a:latin typeface="Calibri"/>
                        </a:rPr>
                        <a:t>13,7x</a:t>
                      </a:r>
                    </a:p>
                  </a:txBody>
                  <a:tcPr>
                    <a:solidFill>
                      <a:srgbClr val="DDE8F5"/>
                    </a:solidFill>
                  </a:tcPr>
                </a:tc>
                <a:tc>
                  <a:txBody>
                    <a:bodyPr/>
                    <a:lstStyle/>
                    <a:p>
                      <a:pPr algn="ctr"/>
                      <a:r>
                        <a:rPr sz="800" b="1" i="0">
                          <a:solidFill>
                            <a:srgbClr val="1B3A6B"/>
                          </a:solidFill>
                          <a:latin typeface="Calibri"/>
                        </a:rPr>
                        <a:t>345,1x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51999">
                <a:tc>
                  <a:txBody>
                    <a:bodyPr/>
                    <a:lstStyle/>
                    <a:p>
                      <a:pPr algn="l"/>
                      <a:r>
                        <a:rPr sz="800" b="0" i="0">
                          <a:solidFill>
                            <a:srgbClr val="0D0D0D"/>
                          </a:solidFill>
                          <a:latin typeface="Calibri"/>
                        </a:rPr>
                        <a:t>BYD Company Limited</a:t>
                      </a:r>
                    </a:p>
                  </a:txBody>
                  <a:tcPr>
                    <a:solidFill>
                      <a:srgbClr val="FFFFFF"/>
                    </a:solidFill>
                  </a:tcPr>
                </a:tc>
                <a:tc>
                  <a:txBody>
                    <a:bodyPr/>
                    <a:lstStyle/>
                    <a:p>
                      <a:pPr algn="ctr"/>
                      <a:r>
                        <a:rPr sz="750" b="0" i="0">
                          <a:solidFill>
                            <a:srgbClr val="555555"/>
                          </a:solidFill>
                          <a:latin typeface="Calibri"/>
                        </a:rPr>
                        <a:t>BYD</a:t>
                      </a:r>
                    </a:p>
                  </a:txBody>
                  <a:tcPr>
                    <a:solidFill>
                      <a:srgbClr val="FFFFFF"/>
                    </a:solidFill>
                  </a:tcPr>
                </a:tc>
                <a:tc>
                  <a:txBody>
                    <a:bodyPr/>
                    <a:lstStyle/>
                    <a:p>
                      <a:pPr algn="ctr"/>
                      <a:r>
                        <a:rPr sz="800" b="0" i="0">
                          <a:solidFill>
                            <a:srgbClr val="0D0D0D"/>
                          </a:solidFill>
                          <a:latin typeface="Calibri"/>
                        </a:rPr>
                        <a:t>95,0</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3,2x</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18,0 %</a:t>
                      </a:r>
                    </a:p>
                  </a:txBody>
                  <a:tcPr>
                    <a:solidFill>
                      <a:srgbClr val="FFFFFF"/>
                    </a:solidFill>
                  </a:tcPr>
                </a:tc>
                <a:tc>
                  <a:txBody>
                    <a:bodyPr/>
                    <a:lstStyle/>
                    <a:p>
                      <a:pPr algn="ctr"/>
                      <a:r>
                        <a:rPr sz="800" b="0" i="0">
                          <a:solidFill>
                            <a:srgbClr val="0D0D0D"/>
                          </a:solidFill>
                          <a:latin typeface="Calibri"/>
                        </a:rPr>
                        <a:t>12,0 %</a:t>
                      </a:r>
                    </a:p>
                  </a:txBody>
                  <a:tcPr>
                    <a:solidFill>
                      <a:srgbClr val="FFFFFF"/>
                    </a:solidFill>
                  </a:tcPr>
                </a:tc>
              </a:tr>
              <a:tr h="251999">
                <a:tc>
                  <a:txBody>
                    <a:bodyPr/>
                    <a:lstStyle/>
                    <a:p>
                      <a:pPr algn="l"/>
                      <a:r>
                        <a:rPr sz="800" b="0" i="0">
                          <a:solidFill>
                            <a:srgbClr val="0D0D0D"/>
                          </a:solidFill>
                          <a:latin typeface="Calibri"/>
                        </a:rPr>
                        <a:t>Rivian Automotive, Inc.</a:t>
                      </a:r>
                    </a:p>
                  </a:txBody>
                  <a:tcPr>
                    <a:solidFill>
                      <a:srgbClr val="F7F8FA"/>
                    </a:solidFill>
                  </a:tcPr>
                </a:tc>
                <a:tc>
                  <a:txBody>
                    <a:bodyPr/>
                    <a:lstStyle/>
                    <a:p>
                      <a:pPr algn="ctr"/>
                      <a:r>
                        <a:rPr sz="750" b="0" i="0">
                          <a:solidFill>
                            <a:srgbClr val="555555"/>
                          </a:solidFill>
                          <a:latin typeface="Calibri"/>
                        </a:rPr>
                        <a:t>RIVN</a:t>
                      </a:r>
                    </a:p>
                  </a:txBody>
                  <a:tcPr>
                    <a:solidFill>
                      <a:srgbClr val="F7F8FA"/>
                    </a:solidFill>
                  </a:tcPr>
                </a:tc>
                <a:tc>
                  <a:txBody>
                    <a:bodyPr/>
                    <a:lstStyle/>
                    <a:p>
                      <a:pPr algn="ctr"/>
                      <a:r>
                        <a:rPr sz="800" b="0" i="0">
                          <a:solidFill>
                            <a:srgbClr val="0D0D0D"/>
                          </a:solidFill>
                          <a:latin typeface="Calibri"/>
                        </a:rPr>
                        <a:t>12,0</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-4,5x</a:t>
                      </a:r>
                    </a:p>
                  </a:txBody>
                  <a:tcPr>
                    <a:solidFill>
                      <a:srgbClr val="F7F8FA"/>
                    </a:solidFill>
                  </a:tcPr>
                </a:tc>
                <a:tc>
                  <a:txBody>
                    <a:bodyPr/>
                    <a:lstStyle/>
                    <a:p>
                      <a:pPr algn="ctr"/>
                      <a:r>
                        <a:rPr sz="800" b="0" i="0">
                          <a:solidFill>
                            <a:srgbClr val="0D0D0D"/>
                          </a:solidFill>
                          <a:latin typeface="Calibri"/>
                        </a:rPr>
                        <a:t>-10,0x</a:t>
                      </a:r>
                    </a:p>
                  </a:txBody>
                  <a:tcPr>
                    <a:solidFill>
                      <a:srgbClr val="F7F8FA"/>
                    </a:solidFill>
                  </a:tcPr>
                </a:tc>
                <a:tc>
                  <a:txBody>
                    <a:bodyPr/>
                    <a:lstStyle/>
                    <a:p>
                      <a:pPr algn="ctr"/>
                      <a:r>
                        <a:rPr sz="800" b="0" i="0">
                          <a:solidFill>
                            <a:srgbClr val="0D0D0D"/>
                          </a:solidFill>
                          <a:latin typeface="Calibri"/>
                        </a:rPr>
                        <a:t>5,0 %</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r>
              <a:tr h="251999">
                <a:tc>
                  <a:txBody>
                    <a:bodyPr/>
                    <a:lstStyle/>
                    <a:p>
                      <a:pPr algn="l"/>
                      <a:r>
                        <a:rPr sz="800" b="0" i="0">
                          <a:solidFill>
                            <a:srgbClr val="0D0D0D"/>
                          </a:solidFill>
                          <a:latin typeface="Calibri"/>
                        </a:rPr>
                        <a:t>Lucid Group, Inc.</a:t>
                      </a:r>
                    </a:p>
                  </a:txBody>
                  <a:tcPr>
                    <a:solidFill>
                      <a:srgbClr val="FFFFFF"/>
                    </a:solidFill>
                  </a:tcPr>
                </a:tc>
                <a:tc>
                  <a:txBody>
                    <a:bodyPr/>
                    <a:lstStyle/>
                    <a:p>
                      <a:pPr algn="ctr"/>
                      <a:r>
                        <a:rPr sz="750" b="0" i="0">
                          <a:solidFill>
                            <a:srgbClr val="555555"/>
                          </a:solidFill>
                          <a:latin typeface="Calibri"/>
                        </a:rPr>
                        <a:t>LCID</a:t>
                      </a:r>
                    </a:p>
                  </a:txBody>
                  <a:tcPr>
                    <a:solidFill>
                      <a:srgbClr val="FFFFFF"/>
                    </a:solidFill>
                  </a:tcPr>
                </a:tc>
                <a:tc>
                  <a:txBody>
                    <a:bodyPr/>
                    <a:lstStyle/>
                    <a:p>
                      <a:pPr algn="ctr"/>
                      <a:r>
                        <a:rPr sz="800" b="0" i="0">
                          <a:solidFill>
                            <a:srgbClr val="0D0D0D"/>
                          </a:solidFill>
                          <a:latin typeface="Calibri"/>
                        </a:rPr>
                        <a:t>18,0</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c>
                  <a:txBody>
                    <a:bodyPr/>
                    <a:lstStyle/>
                    <a:p>
                      <a:pPr algn="ctr"/>
                      <a:r>
                        <a:rPr sz="800" b="0" i="0">
                          <a:solidFill>
                            <a:srgbClr val="0D0D0D"/>
                          </a:solidFill>
                          <a:latin typeface="Calibri"/>
                        </a:rPr>
                        <a:t>-3,8x</a:t>
                      </a:r>
                    </a:p>
                  </a:txBody>
                  <a:tcPr>
                    <a:solidFill>
                      <a:srgbClr val="FFFFFF"/>
                    </a:solidFill>
                  </a:tcPr>
                </a:tc>
                <a:tc>
                  <a:txBody>
                    <a:bodyPr/>
                    <a:lstStyle/>
                    <a:p>
                      <a:pPr algn="ctr"/>
                      <a:r>
                        <a:rPr sz="800" b="0" i="0">
                          <a:solidFill>
                            <a:srgbClr val="0D0D0D"/>
                          </a:solidFill>
                          <a:latin typeface="Calibri"/>
                        </a:rPr>
                        <a:t>-8,0x</a:t>
                      </a:r>
                    </a:p>
                  </a:txBody>
                  <a:tcPr>
                    <a:solidFill>
                      <a:srgbClr val="FFFFFF"/>
                    </a:solidFill>
                  </a:tcPr>
                </a:tc>
                <a:tc>
                  <a:txBody>
                    <a:bodyPr/>
                    <a:lstStyle/>
                    <a:p>
                      <a:pPr algn="ctr"/>
                      <a:r>
                        <a:rPr sz="800" b="0" i="0">
                          <a:solidFill>
                            <a:srgbClr val="0D0D0D"/>
                          </a:solidFill>
                          <a:latin typeface="Calibri"/>
                        </a:rPr>
                        <a:t>12,0 %</a:t>
                      </a:r>
                    </a:p>
                  </a:txBody>
                  <a:tcPr>
                    <a:solidFill>
                      <a:srgbClr val="FFFFFF"/>
                    </a:solidFill>
                  </a:tcPr>
                </a:tc>
                <a:tc>
                  <a:txBody>
                    <a:bodyPr/>
                    <a:lstStyle/>
                    <a:p>
                      <a:pPr algn="ctr"/>
                      <a:r>
                        <a:rPr sz="800" b="0" i="0">
                          <a:solidFill>
                            <a:srgbClr val="0D0D0D"/>
                          </a:solidFill>
                          <a:latin typeface="Calibri"/>
                        </a:rPr>
                        <a:t>-35,0 %</a:t>
                      </a:r>
                    </a:p>
                  </a:txBody>
                  <a:tcPr>
                    <a:solidFill>
                      <a:srgbClr val="FFFFFF"/>
                    </a:solidFill>
                  </a:tcPr>
                </a:tc>
              </a:tr>
              <a:tr h="251999">
                <a:tc>
                  <a:txBody>
                    <a:bodyPr/>
                    <a:lstStyle/>
                    <a:p>
                      <a:pPr algn="l"/>
                      <a:r>
                        <a:rPr sz="800" b="0" i="0">
                          <a:solidFill>
                            <a:srgbClr val="0D0D0D"/>
                          </a:solidFill>
                          <a:latin typeface="Calibri"/>
                        </a:rPr>
                        <a:t>XPeng Inc.</a:t>
                      </a:r>
                    </a:p>
                  </a:txBody>
                  <a:tcPr>
                    <a:solidFill>
                      <a:srgbClr val="F7F8FA"/>
                    </a:solidFill>
                  </a:tcPr>
                </a:tc>
                <a:tc>
                  <a:txBody>
                    <a:bodyPr/>
                    <a:lstStyle/>
                    <a:p>
                      <a:pPr algn="ctr"/>
                      <a:r>
                        <a:rPr sz="750" b="0" i="0">
                          <a:solidFill>
                            <a:srgbClr val="555555"/>
                          </a:solidFill>
                          <a:latin typeface="Calibri"/>
                        </a:rPr>
                        <a:t>XPEV</a:t>
                      </a:r>
                    </a:p>
                  </a:txBody>
                  <a:tcPr>
                    <a:solidFill>
                      <a:srgbClr val="F7F8FA"/>
                    </a:solidFill>
                  </a:tcPr>
                </a:tc>
                <a:tc>
                  <a:txBody>
                    <a:bodyPr/>
                    <a:lstStyle/>
                    <a:p>
                      <a:pPr algn="ctr"/>
                      <a:r>
                        <a:rPr sz="800" b="0" i="0">
                          <a:solidFill>
                            <a:srgbClr val="0D0D0D"/>
                          </a:solidFill>
                          <a:latin typeface="Calibri"/>
                        </a:rPr>
                        <a:t>7,5</a:t>
                      </a:r>
                    </a:p>
                  </a:txBody>
                  <a:tcPr>
                    <a:solidFill>
                      <a:srgbClr val="F7F8FA"/>
                    </a:solidFill>
                  </a:tcPr>
                </a:tc>
                <a:tc>
                  <a:txBody>
                    <a:bodyPr/>
                    <a:lstStyle/>
                    <a:p>
                      <a:pPr algn="ctr"/>
                      <a:r>
                        <a:rPr sz="800" b="0" i="0">
                          <a:solidFill>
                            <a:srgbClr val="0D0D0D"/>
                          </a:solidFill>
                          <a:latin typeface="Calibri"/>
                        </a:rPr>
                        <a:t>-8,0x</a:t>
                      </a:r>
                    </a:p>
                  </a:txBody>
                  <a:tcPr>
                    <a:solidFill>
                      <a:srgbClr val="F7F8FA"/>
                    </a:solidFill>
                  </a:tcPr>
                </a:tc>
                <a:tc>
                  <a:txBody>
                    <a:bodyPr/>
                    <a:lstStyle/>
                    <a:p>
                      <a:pPr algn="ctr"/>
                      <a:r>
                        <a:rPr sz="800" b="0" i="0">
                          <a:solidFill>
                            <a:srgbClr val="0D0D0D"/>
                          </a:solidFill>
                          <a:latin typeface="Calibri"/>
                        </a:rPr>
                        <a:t>-2,5x</a:t>
                      </a:r>
                    </a:p>
                  </a:txBody>
                  <a:tcPr>
                    <a:solidFill>
                      <a:srgbClr val="F7F8FA"/>
                    </a:solidFill>
                  </a:tcPr>
                </a:tc>
                <a:tc>
                  <a:txBody>
                    <a:bodyPr/>
                    <a:lstStyle/>
                    <a:p>
                      <a:pPr algn="ctr"/>
                      <a:r>
                        <a:rPr sz="800" b="0" i="0">
                          <a:solidFill>
                            <a:srgbClr val="0D0D0D"/>
                          </a:solidFill>
                          <a:latin typeface="Calibri"/>
                        </a:rPr>
                        <a:t>-6,0x</a:t>
                      </a:r>
                    </a:p>
                  </a:txBody>
                  <a:tcPr>
                    <a:solidFill>
                      <a:srgbClr val="F7F8FA"/>
                    </a:solidFill>
                  </a:tcPr>
                </a:tc>
                <a:tc>
                  <a:txBody>
                    <a:bodyPr/>
                    <a:lstStyle/>
                    <a:p>
                      <a:pPr algn="ctr"/>
                      <a:r>
                        <a:rPr sz="800" b="0" i="0">
                          <a:solidFill>
                            <a:srgbClr val="0D0D0D"/>
                          </a:solidFill>
                          <a:latin typeface="Calibri"/>
                        </a:rPr>
                        <a:t>10,0 %</a:t>
                      </a:r>
                    </a:p>
                  </a:txBody>
                  <a:tcPr>
                    <a:solidFill>
                      <a:srgbClr val="F7F8FA"/>
                    </a:solidFill>
                  </a:tcPr>
                </a:tc>
                <a:tc>
                  <a:txBody>
                    <a:bodyPr/>
                    <a:lstStyle/>
                    <a:p>
                      <a:pPr algn="ctr"/>
                      <a:r>
                        <a:rPr sz="800" b="0" i="0">
                          <a:solidFill>
                            <a:srgbClr val="0D0D0D"/>
                          </a:solidFill>
                          <a:latin typeface="Calibri"/>
                        </a:rPr>
                        <a:t>-25,0 %</a:t>
                      </a:r>
                    </a:p>
                  </a:txBody>
                  <a:tcPr>
                    <a:solidFill>
                      <a:srgbClr val="F7F8FA"/>
                    </a:solidFill>
                  </a:tcPr>
                </a:tc>
              </a:tr>
              <a:tr h="251999">
                <a:tc>
                  <a:txBody>
                    <a:bodyPr/>
                    <a:lstStyle/>
                    <a:p>
                      <a:pPr algn="l"/>
                      <a:r>
                        <a:rPr sz="800" b="0" i="0">
                          <a:solidFill>
                            <a:srgbClr val="0D0D0D"/>
                          </a:solidFill>
                          <a:latin typeface="Calibri"/>
                        </a:rPr>
                        <a:t>NIO Inc.</a:t>
                      </a:r>
                    </a:p>
                  </a:txBody>
                  <a:tcPr>
                    <a:solidFill>
                      <a:srgbClr val="FFFFFF"/>
                    </a:solidFill>
                  </a:tcPr>
                </a:tc>
                <a:tc>
                  <a:txBody>
                    <a:bodyPr/>
                    <a:lstStyle/>
                    <a:p>
                      <a:pPr algn="ctr"/>
                      <a:r>
                        <a:rPr sz="750" b="0" i="0">
                          <a:solidFill>
                            <a:srgbClr val="555555"/>
                          </a:solidFill>
                          <a:latin typeface="Calibri"/>
                        </a:rPr>
                        <a:t>NIO</a:t>
                      </a:r>
                    </a:p>
                  </a:txBody>
                  <a:tcPr>
                    <a:solidFill>
                      <a:srgbClr val="FFFFFF"/>
                    </a:solidFill>
                  </a:tcPr>
                </a:tc>
                <a:tc>
                  <a:txBody>
                    <a:bodyPr/>
                    <a:lstStyle/>
                    <a:p>
                      <a:pPr algn="ctr"/>
                      <a:r>
                        <a:rPr sz="800" b="0" i="0">
                          <a:solidFill>
                            <a:srgbClr val="0D0D0D"/>
                          </a:solidFill>
                          <a:latin typeface="Calibri"/>
                        </a:rPr>
                        <a:t>25,0</a:t>
                      </a:r>
                    </a:p>
                  </a:txBody>
                  <a:tcPr>
                    <a:solidFill>
                      <a:srgbClr val="FFFFFF"/>
                    </a:solidFill>
                  </a:tcPr>
                </a:tc>
                <a:tc>
                  <a:txBody>
                    <a:bodyPr/>
                    <a:lstStyle/>
                    <a:p>
                      <a:pPr algn="ctr"/>
                      <a:r>
                        <a:rPr sz="800" b="0" i="0">
                          <a:solidFill>
                            <a:srgbClr val="0D0D0D"/>
                          </a:solidFill>
                          <a:latin typeface="Calibri"/>
                        </a:rPr>
                        <a:t>-12,0x</a:t>
                      </a:r>
                    </a:p>
                  </a:txBody>
                  <a:tcPr>
                    <a:solidFill>
                      <a:srgbClr val="FFFFFF"/>
                    </a:solidFill>
                  </a:tcPr>
                </a:tc>
                <a:tc>
                  <a:txBody>
                    <a:bodyPr/>
                    <a:lstStyle/>
                    <a:p>
                      <a:pPr algn="ctr"/>
                      <a:r>
                        <a:rPr sz="800" b="0" i="0">
                          <a:solidFill>
                            <a:srgbClr val="0D0D0D"/>
                          </a:solidFill>
                          <a:latin typeface="Calibri"/>
                        </a:rPr>
                        <a:t>-4,0x</a:t>
                      </a:r>
                    </a:p>
                  </a:txBody>
                  <a:tcPr>
                    <a:solidFill>
                      <a:srgbClr val="FFFFFF"/>
                    </a:solidFill>
                  </a:tcPr>
                </a:tc>
                <a:tc>
                  <a:txBody>
                    <a:bodyPr/>
                    <a:lstStyle/>
                    <a:p>
                      <a:pPr algn="ctr"/>
                      <a:r>
                        <a:rPr sz="800" b="0" i="0">
                          <a:solidFill>
                            <a:srgbClr val="0D0D0D"/>
                          </a:solidFill>
                          <a:latin typeface="Calibri"/>
                        </a:rPr>
                        <a:t>-15,0x</a:t>
                      </a:r>
                    </a:p>
                  </a:txBody>
                  <a:tcPr>
                    <a:solidFill>
                      <a:srgbClr val="FFFFFF"/>
                    </a:solidFill>
                  </a:tcPr>
                </a:tc>
                <a:tc>
                  <a:txBody>
                    <a:bodyPr/>
                    <a:lstStyle/>
                    <a:p>
                      <a:pPr algn="ctr"/>
                      <a:r>
                        <a:rPr sz="800" b="0" i="0">
                          <a:solidFill>
                            <a:srgbClr val="0D0D0D"/>
                          </a:solidFill>
                          <a:latin typeface="Calibri"/>
                        </a:rPr>
                        <a:t>14,0 %</a:t>
                      </a:r>
                    </a:p>
                  </a:txBody>
                  <a:tcPr>
                    <a:solidFill>
                      <a:srgbClr val="FFFFFF"/>
                    </a:solidFill>
                  </a:tcPr>
                </a:tc>
                <a:tc>
                  <a:txBody>
                    <a:bodyPr/>
                    <a:lstStyle/>
                    <a:p>
                      <a:pPr algn="ctr"/>
                      <a:r>
                        <a:rPr sz="800" b="0" i="0">
                          <a:solidFill>
                            <a:srgbClr val="0D0D0D"/>
                          </a:solidFill>
                          <a:latin typeface="Calibri"/>
                        </a:rPr>
                        <a:t>-30,0 %</a:t>
                      </a:r>
                    </a:p>
                  </a:txBody>
                  <a:tcPr>
                    <a:solidFill>
                      <a:srgbClr val="FFFFFF"/>
                    </a:solidFill>
                  </a:tcPr>
                </a:tc>
              </a:tr>
              <a:tr h="252006">
                <a:tc>
                  <a:txBody>
                    <a:bodyPr/>
                    <a:lstStyle/>
                    <a:p>
                      <a:pPr algn="l"/>
                      <a:r>
                        <a:rPr sz="800" b="1" i="0">
                          <a:solidFill>
                            <a:srgbClr val="0D0D0D"/>
                          </a:solidFill>
                          <a:latin typeface="Calibri"/>
                        </a:rPr>
                        <a:t>mediane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-10,0x</a:t>
                      </a:r>
                    </a:p>
                  </a:txBody>
                  <a:tcPr>
                    <a:solidFill>
                      <a:srgbClr val="F7F8FA"/>
                    </a:solidFill>
                  </a:tcPr>
                </a:tc>
                <a:tc>
                  <a:txBody>
                    <a:bodyPr/>
                    <a:lstStyle/>
                    <a:p>
                      <a:pPr algn="ctr"/>
                      <a:r>
                        <a:rPr sz="800" b="1" i="0">
                          <a:solidFill>
                            <a:srgbClr val="0D0D0D"/>
                          </a:solidFill>
                          <a:latin typeface="Calibri"/>
                        </a:rPr>
                        <a:t>-3,8x</a:t>
                      </a:r>
                    </a:p>
                  </a:txBody>
                  <a:tcPr>
                    <a:solidFill>
                      <a:srgbClr val="F7F8FA"/>
                    </a:solidFill>
                  </a:tcPr>
                </a:tc>
                <a:tc>
                  <a:txBody>
                    <a:bodyPr/>
                    <a:lstStyle/>
                    <a:p>
                      <a:pPr algn="ctr"/>
                      <a:r>
                        <a:rPr sz="800" b="1" i="0">
                          <a:solidFill>
                            <a:srgbClr val="0D0D0D"/>
                          </a:solidFill>
                          <a:latin typeface="Calibri"/>
                        </a:rPr>
                        <a:t>-8,0x</a:t>
                      </a:r>
                    </a:p>
                  </a:txBody>
                  <a:tcPr>
                    <a:solidFill>
                      <a:srgbClr val="F7F8FA"/>
                    </a:solidFill>
                  </a:tcPr>
                </a:tc>
                <a:tc>
                  <a:txBody>
                    <a:bodyPr/>
                    <a:lstStyle/>
                    <a:p>
                      <a:pPr algn="ctr"/>
                      <a:r>
                        <a:rPr sz="800" b="1" i="0">
                          <a:solidFill>
                            <a:srgbClr val="0D0D0D"/>
                          </a:solidFill>
                          <a:latin typeface="Calibri"/>
                        </a:rPr>
                        <a:t>12,0 %</a:t>
                      </a:r>
                    </a:p>
                  </a:txBody>
                  <a:tcPr>
                    <a:solidFill>
                      <a:srgbClr val="F7F8FA"/>
                    </a:solidFill>
                  </a:tcPr>
                </a:tc>
                <a:tc>
                  <a:txBody>
                    <a:bodyPr/>
                    <a:lstStyle/>
                    <a:p>
                      <a:pPr algn="ctr"/>
                      <a:r>
                        <a:rPr sz="800" b="1" i="0">
                          <a:solidFill>
                            <a:srgbClr val="0D0D0D"/>
                          </a:solidFill>
                          <a:latin typeface="Calibri"/>
                        </a:rPr>
                        <a:t>-30,0 %</a:t>
                      </a:r>
                    </a:p>
                  </a:txBody>
                  <a:tcPr>
                    <a:solidFill>
                      <a:srgbClr val="F7F8FA"/>
                    </a:solidFill>
                  </a:tcPr>
                </a:tc>
              </a:tr>
            </a:tbl>
          </a:graphicData>
        </a:graphic>
      </p:graphicFrame>
      <p:sp>
        <p:nvSpPr>
          <p:cNvPr id="18" name="Rectangle 17"/>
          <p:cNvSpPr/>
          <p:nvPr/>
        </p:nvSpPr>
        <p:spPr>
          <a:xfrm>
            <a:off x="367200" y="3128400"/>
            <a:ext cx="84132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5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51200"/>
          </a:xfrm>
          <a:prstGeom prst="rect">
            <a:avLst/>
          </a:prstGeom>
          <a:noFill/>
        </p:spPr>
        <p:txBody>
          <a:bodyPr wrap="none">
            <a:spAutoFit/>
          </a:bodyPr>
          <a:lstStyle/>
          <a:p>
            <a:pPr algn="l"/>
            <a:r>
              <a:rPr sz="950" b="1" i="0">
                <a:solidFill>
                  <a:srgbClr val="1B3A6B"/>
                </a:solidFill>
                <a:latin typeface="Calibri"/>
              </a:rPr>
              <a:t>TSLA — positionnement vs comparables sectoriels</a:t>
            </a:r>
          </a:p>
        </p:txBody>
      </p:sp>
      <p:sp>
        <p:nvSpPr>
          <p:cNvPr id="21" name="TextBox 20"/>
          <p:cNvSpPr txBox="1"/>
          <p:nvPr/>
        </p:nvSpPr>
        <p:spPr>
          <a:xfrm>
            <a:off x="475200" y="3326400"/>
            <a:ext cx="8298000" cy="1324800"/>
          </a:xfrm>
          <a:prstGeom prst="rect">
            <a:avLst/>
          </a:prstGeom>
          <a:noFill/>
        </p:spPr>
        <p:txBody>
          <a:bodyPr wrap="square">
            <a:spAutoFit/>
          </a:bodyPr>
          <a:lstStyle/>
          <a:p>
            <a:pPr algn="l"/>
            <a:r>
              <a:rPr sz="850" b="0" i="0">
                <a:solidFill>
                  <a:srgbClr val="555555"/>
                </a:solidFill>
                <a:latin typeface="Calibri"/>
              </a:rPr>
              <a:t>Tesla affiche des multiples bien supérieurs à ses pairs (EV/EBITDA 110.6x vs médiane 15x pour BYD, Rivian, Lucid, XPeng, NIO). Cette prime est justifiée par son avance technologique (FSD, IA) et son écosystème intégré, mais elle semble déjà intégrer une croissance optimiste. Une convergence vers la médiane peers impliquerait un downside de ~60%, tandis qu'une prime de 50% porterait le multiple à 22.5x, soit un prix de 520$. Les marges EBITDA ont chuté de 21.7% en 2022 à 12.4% en 2025, principalement à cause de la baisse des prix des VE (-15% en moyenne) et de l'augmentation des coûts de R&amp;D (3.5Mds$ en 2025). Le mix produit (baisse des Model S/X au profit des Model 3/Y) et l'inflation des coûts logistiques ont compressé les marges. La durabilité du pricing power dépendra de la capacité à lancer des modèles à 25k$ et à monétiser le FSD. Tesla se négocie à des multiples élevés (EV/EBITDA 110.6x vs médiane peers ~15x) reflétant une prime de croissance et de technologie. La décote sur les marges actuelles (12.4% EBITDA) suggère un potentiel de re-rating si les catalyseurs se matérialisent.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1281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1281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151200"/>
          </a:xfrm>
          <a:prstGeom prst="rect">
            <a:avLst/>
          </a:prstGeom>
          <a:noFill/>
        </p:spPr>
        <p:txBody>
          <a:bodyPr wrap="none">
            <a:spAutoFit/>
          </a:bodyPr>
          <a:lstStyle/>
          <a:p>
            <a:pPr algn="l"/>
            <a:r>
              <a:rPr sz="950" b="1" i="0">
                <a:solidFill>
                  <a:srgbClr val="1B3A6B"/>
                </a:solidFill>
                <a:latin typeface="Calibri"/>
              </a:rPr>
              <a:t>TSLA — football field et fourchette de valorisation</a:t>
            </a:r>
          </a:p>
        </p:txBody>
      </p:sp>
      <p:sp>
        <p:nvSpPr>
          <p:cNvPr id="21" name="TextBox 20"/>
          <p:cNvSpPr txBox="1"/>
          <p:nvPr/>
        </p:nvSpPr>
        <p:spPr>
          <a:xfrm>
            <a:off x="475200" y="3686400"/>
            <a:ext cx="8298000" cy="10584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estimé à 380$ (base), soit un upside de 9% vs cours actuel. Cette valorisation suppose une reprise des marges et une croissance revenue modérée. L'upside dépendra de la matérialisation des hypothèses de volume FSD et de réduction des coûts. Tesla se négocie à des multiples élevés (EV/EBITDA 110.6x vs médiane peers ~15x) reflétant une prime de croissance et de technologie. La décote sur les marges actuelles (12.4% EBITDA) suggère un potentiel de re-rating si les catalyseurs se matérialisent.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73,3x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183,7x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345,1x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110,6x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51200"/>
          </a:xfrm>
          <a:prstGeom prst="rect">
            <a:avLst/>
          </a:prstGeom>
          <a:noFill/>
        </p:spPr>
        <p:txBody>
          <a:bodyPr wrap="none">
            <a:spAutoFit/>
          </a:bodyPr>
          <a:lstStyle/>
          <a:p>
            <a:pPr algn="l"/>
            <a:r>
              <a:rPr sz="950" b="1" i="0">
                <a:solidFill>
                  <a:srgbClr val="1B3A6B"/>
                </a:solidFill>
                <a:latin typeface="Calibri"/>
              </a:rPr>
              <a:t>TSLA ROE 5% / ROIC 6% — rentabilité à surveiller</a:t>
            </a:r>
          </a:p>
        </p:txBody>
      </p:sp>
      <p:sp>
        <p:nvSpPr>
          <p:cNvPr id="23" name="TextBox 22"/>
          <p:cNvSpPr txBox="1"/>
          <p:nvPr/>
        </p:nvSpPr>
        <p:spPr>
          <a:xfrm>
            <a:off x="475200" y="3798000"/>
            <a:ext cx="8298000" cy="892800"/>
          </a:xfrm>
          <a:prstGeom prst="rect">
            <a:avLst/>
          </a:prstGeom>
          <a:noFill/>
        </p:spPr>
        <p:txBody>
          <a:bodyPr wrap="square">
            <a:spAutoFit/>
          </a:bodyPr>
          <a:lstStyle/>
          <a:p>
            <a:pPr algn="l"/>
            <a:r>
              <a:rPr sz="850" b="0" i="0">
                <a:solidFill>
                  <a:srgbClr val="555555"/>
                </a:solidFill>
                <a:latin typeface="Calibri"/>
              </a:rPr>
              <a:t>Le P/E affiche une expansion multiple de 241.1x sur la période (104,1x → 345,1x), signal d’une réévaluation favorable du profil de croissance. L’EV/EBITDA diverge à 110,6x vs 73,3x historique. Le CA 2025 atteint 94,827M$ (-3.0% YoY), marqué par une pression sur les prix et une baisse des volumes en Chine. La marge brute de 18.0% reste sous pression (vs 25.6% en 2022) en raison de la guerre des prix et des coûts fixes élevés. Le ND/EBITDA négatif (-0.7x) indique une trésorerie nette de 33.5Mds$, permettant des rachats d'actions ou des investissements massifs sans endettement.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0,1 %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9,0 %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151200"/>
          </a:xfrm>
          <a:prstGeom prst="rect">
            <a:avLst/>
          </a:prstGeom>
          <a:noFill/>
        </p:spPr>
        <p:txBody>
          <a:bodyPr wrap="none">
            <a:spAutoFit/>
          </a:bodyPr>
          <a:lstStyle/>
          <a:p>
            <a:pPr algn="l"/>
            <a:r>
              <a:rPr sz="950" b="1" i="0">
                <a:solidFill>
                  <a:srgbClr val="1B3A6B"/>
                </a:solidFill>
                <a:latin typeface="Calibri"/>
              </a:rPr>
              <a:t>TSLA — politique de retour au capital actionnaire</a:t>
            </a:r>
          </a:p>
        </p:txBody>
      </p:sp>
      <p:sp>
        <p:nvSpPr>
          <p:cNvPr id="39" name="TextBox 38"/>
          <p:cNvSpPr txBox="1"/>
          <p:nvPr/>
        </p:nvSpPr>
        <p:spPr>
          <a:xfrm>
            <a:off x="475200" y="3906000"/>
            <a:ext cx="8298000" cy="784799"/>
          </a:xfrm>
          <a:prstGeom prst="rect">
            <a:avLst/>
          </a:prstGeom>
          <a:noFill/>
        </p:spPr>
        <p:txBody>
          <a:bodyPr wrap="square">
            <a:spAutoFit/>
          </a:bodyPr>
          <a:lstStyle/>
          <a:p>
            <a:pPr algn="l"/>
            <a:r>
              <a:rPr sz="850" b="0" i="0">
                <a:solidFill>
                  <a:srgbClr val="555555"/>
                </a:solidFill>
                <a:latin typeface="Calibri"/>
              </a:rPr>
              <a:t>Le FCF affiche une contraction de 7,7 Mds$ sur la période, avec un FCF yield actuel de 0,1 % — à surveiller au regard de la valorisation de marché. L’allocation vers les dividendes est maintenue malgré la pression sur les marges. Le CA 2025 atteint 94,827M$ (-3.0% YoY), marqué par une pression sur les prix et une baisse des volumes en Chine. La marge brute de 18.0% reste sous pression (vs 25.6% en 2022) en raison de la guerre des prix et des coûts fixes élevés. Le ND/EBITDA négatif (-0.7x) indique une trésorerie nette de 33.5Mds$, permettant des rachats d'actions ou des investissements massifs sans endettement.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Cadre du Deal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(TSLA)  ·  Sources &amp; Uses, hypothèses et éligibilité</a:t>
            </a:r>
          </a:p>
        </p:txBody>
      </p:sp>
      <p:sp>
        <p:nvSpPr>
          <p:cNvPr id="17" name="Rectangle 16"/>
          <p:cNvSpPr/>
          <p:nvPr/>
        </p:nvSpPr>
        <p:spPr>
          <a:xfrm>
            <a:off x="367200" y="882000"/>
            <a:ext cx="8413200" cy="432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72000" cy="43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917999"/>
            <a:ext cx="7920000" cy="198000"/>
          </a:xfrm>
          <a:prstGeom prst="rect">
            <a:avLst/>
          </a:prstGeom>
          <a:noFill/>
        </p:spPr>
        <p:txBody>
          <a:bodyPr wrap="square">
            <a:spAutoFit/>
          </a:bodyPr>
          <a:lstStyle/>
          <a:p>
            <a:pPr algn="l"/>
            <a:r>
              <a:rPr sz="1300" b="1" i="0">
                <a:solidFill>
                  <a:srgbClr val="A82020"/>
                </a:solidFill>
                <a:latin typeface="Calibri"/>
              </a:rPr>
              <a:t>✗ PROFIL NON ÉLIGIBLE</a:t>
            </a:r>
          </a:p>
        </p:txBody>
      </p:sp>
      <p:sp>
        <p:nvSpPr>
          <p:cNvPr id="20" name="TextBox 19"/>
          <p:cNvSpPr txBox="1"/>
          <p:nvPr/>
        </p:nvSpPr>
        <p:spPr>
          <a:xfrm>
            <a:off x="503999" y="1116000"/>
            <a:ext cx="7920000" cy="180000"/>
          </a:xfrm>
          <a:prstGeom prst="rect">
            <a:avLst/>
          </a:prstGeom>
          <a:noFill/>
        </p:spPr>
        <p:txBody>
          <a:bodyPr wrap="square">
            <a:spAutoFit/>
          </a:bodyPr>
          <a:lstStyle/>
          <a:p>
            <a:pPr algn="l"/>
            <a:r>
              <a:rPr sz="900" b="0" i="0">
                <a:solidFill>
                  <a:srgbClr val="2E5FA3"/>
                </a:solidFill>
                <a:latin typeface="Calibri"/>
              </a:rPr>
              <a:t>Critères non satisfaits — analyse à titre théorique</a:t>
            </a:r>
          </a:p>
        </p:txBody>
      </p:sp>
      <p:sp>
        <p:nvSpPr>
          <p:cNvPr id="21" name="Rectangle 20"/>
          <p:cNvSpPr/>
          <p:nvPr/>
        </p:nvSpPr>
        <p:spPr>
          <a:xfrm>
            <a:off x="367200" y="1440000"/>
            <a:ext cx="4104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200" y="1475999"/>
            <a:ext cx="4104000" cy="129600"/>
          </a:xfrm>
          <a:prstGeom prst="rect">
            <a:avLst/>
          </a:prstGeom>
          <a:noFill/>
        </p:spPr>
        <p:txBody>
          <a:bodyPr wrap="none">
            <a:spAutoFit/>
          </a:bodyPr>
          <a:lstStyle/>
          <a:p>
            <a:pPr algn="ctr"/>
            <a:r>
              <a:rPr sz="1000" b="1" i="0">
                <a:solidFill>
                  <a:srgbClr val="FFFFFF"/>
                </a:solidFill>
                <a:latin typeface="Calibri"/>
              </a:rPr>
              <a:t>SOURCES (financement)</a:t>
            </a:r>
          </a:p>
        </p:txBody>
      </p:sp>
      <p:graphicFrame>
        <p:nvGraphicFramePr>
          <p:cNvPr id="23" name="Table 22"/>
          <p:cNvGraphicFramePr>
            <a:graphicFrameLocks noGrp="1"/>
          </p:cNvGraphicFramePr>
          <p:nvPr/>
        </p:nvGraphicFramePr>
        <p:xfrm>
          <a:off x="367200" y="1638000"/>
          <a:ext cx="4104000" cy="1080000"/>
        </p:xfrm>
        <a:graphic>
          <a:graphicData uri="http://schemas.openxmlformats.org/drawingml/2006/table">
            <a:tbl>
              <a:tblPr firstRow="1" bandRow="1">
                <a:tableStyleId>{5C22544A-7EE6-4342-B048-85BDC9FD1C3A}</a:tableStyleId>
              </a:tblPr>
              <a:tblGrid>
                <a:gridCol w="2052000"/>
                <a:gridCol w="1231200"/>
                <a:gridCol w="820800"/>
              </a:tblGrid>
              <a:tr h="270000">
                <a:tc>
                  <a:txBody>
                    <a:bodyPr/>
                    <a:lstStyle/>
                    <a:p>
                      <a:pPr algn="l"/>
                      <a:r>
                        <a:rPr sz="800" b="0" i="0">
                          <a:solidFill>
                            <a:srgbClr val="0D0D0D"/>
                          </a:solidFill>
                          <a:latin typeface="Calibri"/>
                        </a:rPr>
                        <a:t>Sponsor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126,6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Senior Term Loan B</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41,2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Mezzanine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TOTAL SOURCES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185,4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4" name="Rectangle 23"/>
          <p:cNvSpPr/>
          <p:nvPr/>
        </p:nvSpPr>
        <p:spPr>
          <a:xfrm>
            <a:off x="4658400" y="1440000"/>
            <a:ext cx="41256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58400" y="1475999"/>
            <a:ext cx="4125600" cy="129600"/>
          </a:xfrm>
          <a:prstGeom prst="rect">
            <a:avLst/>
          </a:prstGeom>
          <a:noFill/>
        </p:spPr>
        <p:txBody>
          <a:bodyPr wrap="none">
            <a:spAutoFit/>
          </a:bodyPr>
          <a:lstStyle/>
          <a:p>
            <a:pPr algn="ctr"/>
            <a:r>
              <a:rPr sz="1000" b="1" i="0">
                <a:solidFill>
                  <a:srgbClr val="FFFFFF"/>
                </a:solidFill>
                <a:latin typeface="Calibri"/>
              </a:rPr>
              <a:t>USES (utilisation)</a:t>
            </a:r>
          </a:p>
        </p:txBody>
      </p:sp>
      <p:graphicFrame>
        <p:nvGraphicFramePr>
          <p:cNvPr id="26" name="Table 25"/>
          <p:cNvGraphicFramePr>
            <a:graphicFrameLocks noGrp="1"/>
          </p:cNvGraphicFramePr>
          <p:nvPr/>
        </p:nvGraphicFramePr>
        <p:xfrm>
          <a:off x="4658400" y="1638000"/>
          <a:ext cx="4125600" cy="1260000"/>
        </p:xfrm>
        <a:graphic>
          <a:graphicData uri="http://schemas.openxmlformats.org/drawingml/2006/table">
            <a:tbl>
              <a:tblPr firstRow="1" bandRow="1">
                <a:tableStyleId>{5C22544A-7EE6-4342-B048-85BDC9FD1C3A}</a:tableStyleId>
              </a:tblPr>
              <a:tblGrid>
                <a:gridCol w="2681640"/>
                <a:gridCol w="1443960"/>
              </a:tblGrid>
              <a:tr h="252000">
                <a:tc>
                  <a:txBody>
                    <a:bodyPr/>
                    <a:lstStyle/>
                    <a:p>
                      <a:pPr algn="l"/>
                      <a:r>
                        <a:rPr sz="800" b="0" i="0">
                          <a:solidFill>
                            <a:srgbClr val="0D0D0D"/>
                          </a:solidFill>
                          <a:latin typeface="Calibri"/>
                        </a:rPr>
                        <a:t>Purchase price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Refinancement dette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Transaction fees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Cash minimum BS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8,2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TOTAL USES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185,4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7" name="Rectangle 26"/>
          <p:cNvSpPr/>
          <p:nvPr/>
        </p:nvSpPr>
        <p:spPr>
          <a:xfrm>
            <a:off x="367200" y="4140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7200" y="4140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5200" y="4168800"/>
            <a:ext cx="8298000" cy="151200"/>
          </a:xfrm>
          <a:prstGeom prst="rect">
            <a:avLst/>
          </a:prstGeom>
          <a:noFill/>
        </p:spPr>
        <p:txBody>
          <a:bodyPr wrap="none">
            <a:spAutoFit/>
          </a:bodyPr>
          <a:lstStyle/>
          <a:p>
            <a:pPr algn="l"/>
            <a:r>
              <a:rPr sz="950" b="1" i="0">
                <a:solidFill>
                  <a:srgbClr val="1B3A6B"/>
                </a:solidFill>
                <a:latin typeface="Calibri"/>
              </a:rPr>
              <a:t>LBO TSLA : IRR 6.0% — sous le seuil PE typique</a:t>
            </a:r>
          </a:p>
        </p:txBody>
      </p:sp>
      <p:sp>
        <p:nvSpPr>
          <p:cNvPr id="30" name="TextBox 29"/>
          <p:cNvSpPr txBox="1"/>
          <p:nvPr/>
        </p:nvSpPr>
        <p:spPr>
          <a:xfrm>
            <a:off x="475200" y="4338000"/>
            <a:ext cx="8298000" cy="424800"/>
          </a:xfrm>
          <a:prstGeom prst="rect">
            <a:avLst/>
          </a:prstGeom>
          <a:noFill/>
        </p:spPr>
        <p:txBody>
          <a:bodyPr wrap="square">
            <a:spAutoFit/>
          </a:bodyPr>
          <a:lstStyle/>
          <a:p>
            <a:pPr algn="l"/>
            <a:r>
              <a:rPr sz="850" b="0" i="0">
                <a:solidFill>
                  <a:srgbClr val="555555"/>
                </a:solidFill>
                <a:latin typeface="Calibri"/>
              </a:rPr>
              <a:t>Profil non éligible au LBO mid-market standard. Raisons identifiées : Combinaison des critères (marge EBITDA, cash conversion, levier actuel) ne permet pas un montage LBO standard mid-market. L'analyse ci-dessus est fournie à titre théorique uniquement — un sponsor PE n'engagerait pas de capital sur cette cible dans les conditions actuelles. Les chiffres affichés (IRR, MOIC, sources/uses) traduisent ce que donnerait un montage forcé avec les hypothèses standards, ils ne représentent pas une recommandation.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Returns Sponsor</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(TSLA)  ·  IRR, MOIC et sensibilité multiples</a:t>
            </a:r>
          </a:p>
        </p:txBody>
      </p:sp>
      <p:sp>
        <p:nvSpPr>
          <p:cNvPr id="17" name="Rectangle 16"/>
          <p:cNvSpPr/>
          <p:nvPr/>
        </p:nvSpPr>
        <p:spPr>
          <a:xfrm>
            <a:off x="367200" y="882000"/>
            <a:ext cx="2015999" cy="827999"/>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46800" cy="827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936000"/>
            <a:ext cx="1879200" cy="396000"/>
          </a:xfrm>
          <a:prstGeom prst="rect">
            <a:avLst/>
          </a:prstGeom>
          <a:noFill/>
        </p:spPr>
        <p:txBody>
          <a:bodyPr wrap="square">
            <a:spAutoFit/>
          </a:bodyPr>
          <a:lstStyle/>
          <a:p>
            <a:pPr algn="l"/>
            <a:r>
              <a:rPr sz="1900" b="1" i="0">
                <a:solidFill>
                  <a:srgbClr val="1B3A6B"/>
                </a:solidFill>
                <a:latin typeface="Calibri"/>
              </a:rPr>
              <a:t>6.0%</a:t>
            </a:r>
          </a:p>
        </p:txBody>
      </p:sp>
      <p:sp>
        <p:nvSpPr>
          <p:cNvPr id="20" name="TextBox 19"/>
          <p:cNvSpPr txBox="1"/>
          <p:nvPr/>
        </p:nvSpPr>
        <p:spPr>
          <a:xfrm>
            <a:off x="457200" y="1332000"/>
            <a:ext cx="1879200" cy="205199"/>
          </a:xfrm>
          <a:prstGeom prst="rect">
            <a:avLst/>
          </a:prstGeom>
          <a:noFill/>
        </p:spPr>
        <p:txBody>
          <a:bodyPr wrap="square">
            <a:spAutoFit/>
          </a:bodyPr>
          <a:lstStyle/>
          <a:p>
            <a:pPr algn="l"/>
            <a:r>
              <a:rPr sz="800" b="0" i="0">
                <a:solidFill>
                  <a:srgbClr val="555555"/>
                </a:solidFill>
                <a:latin typeface="Calibri"/>
              </a:rPr>
              <a:t>IRR Sponsor</a:t>
            </a:r>
          </a:p>
        </p:txBody>
      </p:sp>
      <p:sp>
        <p:nvSpPr>
          <p:cNvPr id="21" name="TextBox 20"/>
          <p:cNvSpPr txBox="1"/>
          <p:nvPr/>
        </p:nvSpPr>
        <p:spPr>
          <a:xfrm>
            <a:off x="457200" y="1530000"/>
            <a:ext cx="1879200" cy="165600"/>
          </a:xfrm>
          <a:prstGeom prst="rect">
            <a:avLst/>
          </a:prstGeom>
          <a:noFill/>
        </p:spPr>
        <p:txBody>
          <a:bodyPr wrap="square">
            <a:spAutoFit/>
          </a:bodyPr>
          <a:lstStyle/>
          <a:p>
            <a:pPr algn="l"/>
            <a:r>
              <a:rPr sz="700" b="0" i="0">
                <a:solidFill>
                  <a:srgbClr val="888888"/>
                </a:solidFill>
                <a:latin typeface="Calibri"/>
              </a:rPr>
              <a:t>Base case 5 ans</a:t>
            </a:r>
          </a:p>
        </p:txBody>
      </p:sp>
      <p:sp>
        <p:nvSpPr>
          <p:cNvPr id="22" name="Rectangle 21"/>
          <p:cNvSpPr/>
          <p:nvPr/>
        </p:nvSpPr>
        <p:spPr>
          <a:xfrm>
            <a:off x="24912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4912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1200" y="936000"/>
            <a:ext cx="1879200" cy="396000"/>
          </a:xfrm>
          <a:prstGeom prst="rect">
            <a:avLst/>
          </a:prstGeom>
          <a:noFill/>
        </p:spPr>
        <p:txBody>
          <a:bodyPr wrap="square">
            <a:spAutoFit/>
          </a:bodyPr>
          <a:lstStyle/>
          <a:p>
            <a:pPr algn="l"/>
            <a:r>
              <a:rPr sz="1900" b="1" i="0">
                <a:solidFill>
                  <a:srgbClr val="1B3A6B"/>
                </a:solidFill>
                <a:latin typeface="Calibri"/>
              </a:rPr>
              <a:t>1.34x</a:t>
            </a:r>
          </a:p>
        </p:txBody>
      </p:sp>
      <p:sp>
        <p:nvSpPr>
          <p:cNvPr id="25" name="TextBox 24"/>
          <p:cNvSpPr txBox="1"/>
          <p:nvPr/>
        </p:nvSpPr>
        <p:spPr>
          <a:xfrm>
            <a:off x="2581200" y="1332000"/>
            <a:ext cx="1879200" cy="205199"/>
          </a:xfrm>
          <a:prstGeom prst="rect">
            <a:avLst/>
          </a:prstGeom>
          <a:noFill/>
        </p:spPr>
        <p:txBody>
          <a:bodyPr wrap="square">
            <a:spAutoFit/>
          </a:bodyPr>
          <a:lstStyle/>
          <a:p>
            <a:pPr algn="l"/>
            <a:r>
              <a:rPr sz="800" b="0" i="0">
                <a:solidFill>
                  <a:srgbClr val="555555"/>
                </a:solidFill>
                <a:latin typeface="Calibri"/>
              </a:rPr>
              <a:t>MOIC</a:t>
            </a:r>
          </a:p>
        </p:txBody>
      </p:sp>
      <p:sp>
        <p:nvSpPr>
          <p:cNvPr id="26" name="TextBox 25"/>
          <p:cNvSpPr txBox="1"/>
          <p:nvPr/>
        </p:nvSpPr>
        <p:spPr>
          <a:xfrm>
            <a:off x="2581200" y="1530000"/>
            <a:ext cx="1879200" cy="165600"/>
          </a:xfrm>
          <a:prstGeom prst="rect">
            <a:avLst/>
          </a:prstGeom>
          <a:noFill/>
        </p:spPr>
        <p:txBody>
          <a:bodyPr wrap="square">
            <a:spAutoFit/>
          </a:bodyPr>
          <a:lstStyle/>
          <a:p>
            <a:pPr algn="l"/>
            <a:r>
              <a:rPr sz="700" b="0" i="0">
                <a:solidFill>
                  <a:srgbClr val="888888"/>
                </a:solidFill>
                <a:latin typeface="Calibri"/>
              </a:rPr>
              <a:t>Money-on-invested</a:t>
            </a:r>
          </a:p>
        </p:txBody>
      </p:sp>
      <p:sp>
        <p:nvSpPr>
          <p:cNvPr id="27" name="Rectangle 26"/>
          <p:cNvSpPr/>
          <p:nvPr/>
        </p:nvSpPr>
        <p:spPr>
          <a:xfrm>
            <a:off x="4611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11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1600" y="936000"/>
            <a:ext cx="1879200" cy="396000"/>
          </a:xfrm>
          <a:prstGeom prst="rect">
            <a:avLst/>
          </a:prstGeom>
          <a:noFill/>
        </p:spPr>
        <p:txBody>
          <a:bodyPr wrap="square">
            <a:spAutoFit/>
          </a:bodyPr>
          <a:lstStyle/>
          <a:p>
            <a:pPr algn="l"/>
            <a:r>
              <a:rPr sz="1900" b="1" i="0">
                <a:solidFill>
                  <a:srgbClr val="1B3A6B"/>
                </a:solidFill>
                <a:latin typeface="Calibri"/>
              </a:rPr>
              <a:t>126,6 Mds$</a:t>
            </a:r>
          </a:p>
        </p:txBody>
      </p:sp>
      <p:sp>
        <p:nvSpPr>
          <p:cNvPr id="30" name="TextBox 29"/>
          <p:cNvSpPr txBox="1"/>
          <p:nvPr/>
        </p:nvSpPr>
        <p:spPr>
          <a:xfrm>
            <a:off x="4701600" y="1332000"/>
            <a:ext cx="1879200" cy="205199"/>
          </a:xfrm>
          <a:prstGeom prst="rect">
            <a:avLst/>
          </a:prstGeom>
          <a:noFill/>
        </p:spPr>
        <p:txBody>
          <a:bodyPr wrap="square">
            <a:spAutoFit/>
          </a:bodyPr>
          <a:lstStyle/>
          <a:p>
            <a:pPr algn="l"/>
            <a:r>
              <a:rPr sz="800" b="0" i="0">
                <a:solidFill>
                  <a:srgbClr val="555555"/>
                </a:solidFill>
                <a:latin typeface="Calibri"/>
              </a:rPr>
              <a:t>Equity entry</a:t>
            </a:r>
          </a:p>
        </p:txBody>
      </p:sp>
      <p:sp>
        <p:nvSpPr>
          <p:cNvPr id="31" name="TextBox 30"/>
          <p:cNvSpPr txBox="1"/>
          <p:nvPr/>
        </p:nvSpPr>
        <p:spPr>
          <a:xfrm>
            <a:off x="4701600" y="1530000"/>
            <a:ext cx="1879200" cy="165600"/>
          </a:xfrm>
          <a:prstGeom prst="rect">
            <a:avLst/>
          </a:prstGeom>
          <a:noFill/>
        </p:spPr>
        <p:txBody>
          <a:bodyPr wrap="square">
            <a:spAutoFit/>
          </a:bodyPr>
          <a:lstStyle/>
          <a:p>
            <a:pPr algn="l"/>
            <a:r>
              <a:rPr sz="700" b="0" i="0">
                <a:solidFill>
                  <a:srgbClr val="888888"/>
                </a:solidFill>
                <a:latin typeface="Calibri"/>
              </a:rPr>
              <a:t>Sponsor au closing</a:t>
            </a:r>
          </a:p>
        </p:txBody>
      </p:sp>
      <p:sp>
        <p:nvSpPr>
          <p:cNvPr id="32" name="Rectangle 31"/>
          <p:cNvSpPr/>
          <p:nvPr/>
        </p:nvSpPr>
        <p:spPr>
          <a:xfrm>
            <a:off x="6735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35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5600" y="936000"/>
            <a:ext cx="1879200" cy="396000"/>
          </a:xfrm>
          <a:prstGeom prst="rect">
            <a:avLst/>
          </a:prstGeom>
          <a:noFill/>
        </p:spPr>
        <p:txBody>
          <a:bodyPr wrap="square">
            <a:spAutoFit/>
          </a:bodyPr>
          <a:lstStyle/>
          <a:p>
            <a:pPr algn="l"/>
            <a:r>
              <a:rPr sz="1900" b="1" i="0">
                <a:solidFill>
                  <a:srgbClr val="1B3A6B"/>
                </a:solidFill>
                <a:latin typeface="Calibri"/>
              </a:rPr>
              <a:t>169,2 Mds$</a:t>
            </a:r>
          </a:p>
        </p:txBody>
      </p:sp>
      <p:sp>
        <p:nvSpPr>
          <p:cNvPr id="35" name="TextBox 34"/>
          <p:cNvSpPr txBox="1"/>
          <p:nvPr/>
        </p:nvSpPr>
        <p:spPr>
          <a:xfrm>
            <a:off x="6825600" y="1332000"/>
            <a:ext cx="1879200" cy="205199"/>
          </a:xfrm>
          <a:prstGeom prst="rect">
            <a:avLst/>
          </a:prstGeom>
          <a:noFill/>
        </p:spPr>
        <p:txBody>
          <a:bodyPr wrap="square">
            <a:spAutoFit/>
          </a:bodyPr>
          <a:lstStyle/>
          <a:p>
            <a:pPr algn="l"/>
            <a:r>
              <a:rPr sz="800" b="0" i="0">
                <a:solidFill>
                  <a:srgbClr val="555555"/>
                </a:solidFill>
                <a:latin typeface="Calibri"/>
              </a:rPr>
              <a:t>Equity exit Y5</a:t>
            </a:r>
          </a:p>
        </p:txBody>
      </p:sp>
      <p:sp>
        <p:nvSpPr>
          <p:cNvPr id="36" name="TextBox 35"/>
          <p:cNvSpPr txBox="1"/>
          <p:nvPr/>
        </p:nvSpPr>
        <p:spPr>
          <a:xfrm>
            <a:off x="6825600" y="1530000"/>
            <a:ext cx="1879200" cy="165600"/>
          </a:xfrm>
          <a:prstGeom prst="rect">
            <a:avLst/>
          </a:prstGeom>
          <a:noFill/>
        </p:spPr>
        <p:txBody>
          <a:bodyPr wrap="square">
            <a:spAutoFit/>
          </a:bodyPr>
          <a:lstStyle/>
          <a:p>
            <a:pPr algn="l"/>
            <a:r>
              <a:rPr sz="700" b="0" i="0">
                <a:solidFill>
                  <a:srgbClr val="888888"/>
                </a:solidFill>
                <a:latin typeface="Calibri"/>
              </a:rPr>
              <a:t>Vente sponsor</a:t>
            </a:r>
          </a:p>
        </p:txBody>
      </p:sp>
      <p:sp>
        <p:nvSpPr>
          <p:cNvPr id="37" name="TextBox 36"/>
          <p:cNvSpPr txBox="1"/>
          <p:nvPr/>
        </p:nvSpPr>
        <p:spPr>
          <a:xfrm>
            <a:off x="367200" y="1835999"/>
            <a:ext cx="8413200" cy="162000"/>
          </a:xfrm>
          <a:prstGeom prst="rect">
            <a:avLst/>
          </a:prstGeom>
          <a:noFill/>
        </p:spPr>
        <p:txBody>
          <a:bodyPr wrap="square">
            <a:spAutoFit/>
          </a:bodyPr>
          <a:lstStyle/>
          <a:p>
            <a:pPr algn="l"/>
            <a:r>
              <a:rPr sz="900" b="1" i="0">
                <a:solidFill>
                  <a:srgbClr val="1B3A6B"/>
                </a:solidFill>
                <a:latin typeface="Calibri"/>
              </a:rPr>
              <a:t>SENSIBILITÉ IRR — Multiple d'entrée × Multiple de sortie</a:t>
            </a:r>
          </a:p>
        </p:txBody>
      </p:sp>
      <p:graphicFrame>
        <p:nvGraphicFramePr>
          <p:cNvPr id="38" name="Table 37"/>
          <p:cNvGraphicFramePr>
            <a:graphicFrameLocks noGrp="1"/>
          </p:cNvGraphicFramePr>
          <p:nvPr/>
        </p:nvGraphicFramePr>
        <p:xfrm>
          <a:off x="367200" y="2034000"/>
          <a:ext cx="5940000" cy="1872000"/>
        </p:xfrm>
        <a:graphic>
          <a:graphicData uri="http://schemas.openxmlformats.org/drawingml/2006/table">
            <a:tbl>
              <a:tblPr firstRow="1" bandRow="1">
                <a:tableStyleId>{5C22544A-7EE6-4342-B048-85BDC9FD1C3A}</a:tableStyleId>
              </a:tblPr>
              <a:tblGrid>
                <a:gridCol w="1188000"/>
                <a:gridCol w="950400"/>
                <a:gridCol w="950400"/>
                <a:gridCol w="950400"/>
                <a:gridCol w="950400"/>
                <a:gridCol w="950400"/>
              </a:tblGrid>
              <a:tr h="312000">
                <a:tc>
                  <a:txBody>
                    <a:bodyPr/>
                    <a:lstStyle/>
                    <a:p>
                      <a:pPr algn="l"/>
                      <a:r>
                        <a:rPr sz="800" b="1" i="0">
                          <a:solidFill>
                            <a:srgbClr val="FFFFFF"/>
                          </a:solidFill>
                          <a:latin typeface="Calibri"/>
                        </a:rPr>
                        <a:t>Entry ↓ / Exit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12.0x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13.0x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14.0x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16.0x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12.0x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+12.7%</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+14.5%</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13.0x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+8.2%</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+10.1%</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+6.0%</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+7.8%</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+9.5%</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15.0x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+7.4%</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16.0x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a:t>
                      </a:r>
                    </a:p>
                  </a:txBody>
                  <a:tcPr>
                    <a:solidFill>
                      <a:srgbClr val="FDF3E5"/>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9" name="TextBox 38"/>
          <p:cNvSpPr txBox="1"/>
          <p:nvPr/>
        </p:nvSpPr>
        <p:spPr>
          <a:xfrm>
            <a:off x="6426000" y="1835999"/>
            <a:ext cx="2358000" cy="162000"/>
          </a:xfrm>
          <a:prstGeom prst="rect">
            <a:avLst/>
          </a:prstGeom>
          <a:noFill/>
        </p:spPr>
        <p:txBody>
          <a:bodyPr wrap="square">
            <a:spAutoFit/>
          </a:bodyPr>
          <a:lstStyle/>
          <a:p>
            <a:pPr algn="l"/>
            <a:r>
              <a:rPr sz="900" b="1" i="0">
                <a:solidFill>
                  <a:srgbClr val="1B3A6B"/>
                </a:solidFill>
                <a:latin typeface="Calibri"/>
              </a:rPr>
              <a:t>HYPOTHÈSES BASE</a:t>
            </a:r>
          </a:p>
        </p:txBody>
      </p:sp>
      <p:graphicFrame>
        <p:nvGraphicFramePr>
          <p:cNvPr id="40" name="Table 39"/>
          <p:cNvGraphicFramePr>
            <a:graphicFrameLocks noGrp="1"/>
          </p:cNvGraphicFramePr>
          <p:nvPr/>
        </p:nvGraphicFramePr>
        <p:xfrm>
          <a:off x="6426000" y="2034000"/>
          <a:ext cx="2358000" cy="1512000"/>
        </p:xfrm>
        <a:graphic>
          <a:graphicData uri="http://schemas.openxmlformats.org/drawingml/2006/table">
            <a:tbl>
              <a:tblPr firstRow="1" bandRow="1">
                <a:tableStyleId>{5C22544A-7EE6-4342-B048-85BDC9FD1C3A}</a:tableStyleId>
              </a:tblPr>
              <a:tblGrid>
                <a:gridCol w="1296900"/>
                <a:gridCol w="1061100"/>
              </a:tblGrid>
              <a:tr h="302400">
                <a:tc>
                  <a:txBody>
                    <a:bodyPr/>
                    <a:lstStyle/>
                    <a:p>
                      <a:pPr algn="l"/>
                      <a:r>
                        <a:rPr sz="800" b="0" i="0">
                          <a:solidFill>
                            <a:srgbClr val="0D0D0D"/>
                          </a:solidFill>
                          <a:latin typeface="Calibri"/>
                        </a:rPr>
                        <a:t>Multiple entrée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Multiple sortie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Leverage total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Période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EBITDA Y5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41" name="Rectangle 40"/>
          <p:cNvSpPr/>
          <p:nvPr/>
        </p:nvSpPr>
        <p:spPr>
          <a:xfrm>
            <a:off x="367200" y="4031999"/>
            <a:ext cx="8413200" cy="75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031999"/>
            <a:ext cx="79200" cy="75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5200" y="4060800"/>
            <a:ext cx="8298000" cy="151200"/>
          </a:xfrm>
          <a:prstGeom prst="rect">
            <a:avLst/>
          </a:prstGeom>
          <a:noFill/>
        </p:spPr>
        <p:txBody>
          <a:bodyPr wrap="none">
            <a:spAutoFit/>
          </a:bodyPr>
          <a:lstStyle/>
          <a:p>
            <a:pPr algn="l"/>
            <a:r>
              <a:rPr sz="950" b="1" i="0">
                <a:solidFill>
                  <a:srgbClr val="1B3A6B"/>
                </a:solidFill>
                <a:latin typeface="Calibri"/>
              </a:rPr>
              <a:t>LBO TSLA : IRR 6.0% — sous le seuil PE typique</a:t>
            </a:r>
          </a:p>
        </p:txBody>
      </p:sp>
      <p:sp>
        <p:nvSpPr>
          <p:cNvPr id="44" name="TextBox 43"/>
          <p:cNvSpPr txBox="1"/>
          <p:nvPr/>
        </p:nvSpPr>
        <p:spPr>
          <a:xfrm>
            <a:off x="475200" y="4230000"/>
            <a:ext cx="8298000" cy="532800"/>
          </a:xfrm>
          <a:prstGeom prst="rect">
            <a:avLst/>
          </a:prstGeom>
          <a:noFill/>
        </p:spPr>
        <p:txBody>
          <a:bodyPr wrap="square">
            <a:spAutoFit/>
          </a:bodyPr>
          <a:lstStyle/>
          <a:p>
            <a:pPr algn="l"/>
            <a:r>
              <a:rPr sz="850" b="0" i="0">
                <a:solidFill>
                  <a:srgbClr val="555555"/>
                </a:solidFill>
                <a:latin typeface="Calibri"/>
              </a:rPr>
              <a:t>L’IRR sponsor de 6,0 % est structurellement sous-optimal pour un fonds PE, se situant dans le quartile inférieur des attentes (&gt;20 % pour le top quartile). Le MOIC de 1,3x confirme une performance modeste, proche du seuil de sous-performance (&lt;1,5x). La sensibilité révèle une fragilité extrême : le scénario bear (IRR -0,3 %) illustre un risque de destruction de valeur en cas de compression des multiples ou de hausse des coûts de dette. Seuls des leviers fiscaux (ex. optimisation R&amp;D) ou une croissance organique soutenue pourraient améliorer la rentabilité.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Debt Schedule &amp; Stress Test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(TSLA)  ·  Évolution leverage et scénarios bull/bear</a:t>
            </a:r>
          </a:p>
        </p:txBody>
      </p:sp>
      <p:sp>
        <p:nvSpPr>
          <p:cNvPr id="17" name="TextBox 16"/>
          <p:cNvSpPr txBox="1"/>
          <p:nvPr/>
        </p:nvSpPr>
        <p:spPr>
          <a:xfrm>
            <a:off x="367200" y="882000"/>
            <a:ext cx="8413200" cy="162000"/>
          </a:xfrm>
          <a:prstGeom prst="rect">
            <a:avLst/>
          </a:prstGeom>
          <a:noFill/>
        </p:spPr>
        <p:txBody>
          <a:bodyPr wrap="square">
            <a:spAutoFit/>
          </a:bodyPr>
          <a:lstStyle/>
          <a:p>
            <a:pPr algn="l"/>
            <a:r>
              <a:rPr sz="900" b="1" i="0">
                <a:solidFill>
                  <a:srgbClr val="1B3A6B"/>
                </a:solidFill>
                <a:latin typeface="Calibri"/>
              </a:rPr>
              <a:t>DEBT SCHEDULE — Évolution du leverage sur 5 ans</a:t>
            </a:r>
          </a:p>
        </p:txBody>
      </p:sp>
      <p:graphicFrame>
        <p:nvGraphicFramePr>
          <p:cNvPr id="18" name="Table 17"/>
          <p:cNvGraphicFramePr>
            <a:graphicFrameLocks noGrp="1"/>
          </p:cNvGraphicFramePr>
          <p:nvPr/>
        </p:nvGraphicFramePr>
        <p:xfrm>
          <a:off x="367200" y="1080000"/>
          <a:ext cx="8413200" cy="1548000"/>
        </p:xfrm>
        <a:graphic>
          <a:graphicData uri="http://schemas.openxmlformats.org/drawingml/2006/table">
            <a:tbl>
              <a:tblPr firstRow="1" bandRow="1">
                <a:tableStyleId>{5C22544A-7EE6-4342-B048-85BDC9FD1C3A}</a:tableStyleId>
              </a:tblPr>
              <a:tblGrid>
                <a:gridCol w="841320"/>
                <a:gridCol w="1261980"/>
                <a:gridCol w="1261980"/>
                <a:gridCol w="1261980"/>
                <a:gridCol w="1261980"/>
                <a:gridCol w="1261980"/>
                <a:gridCol w="1261980"/>
              </a:tblGrid>
              <a:tr h="221142">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EBITDA</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Senior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Mezz</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Cash</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Net Debt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Lvg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 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36,3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53,4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19,5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24,7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21,4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7,4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8">
                <a:tc>
                  <a:txBody>
                    <a:bodyPr/>
                    <a:lstStyle/>
                    <a:p>
                      <a:pPr algn="l"/>
                      <a:r>
                        <a:rPr sz="800" b="0" i="0">
                          <a:solidFill>
                            <a:srgbClr val="0D0D0D"/>
                          </a:solidFill>
                          <a:latin typeface="Calibri"/>
                        </a:rPr>
                        <a:t>Y5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9,9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22,6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367200" y="2718000"/>
            <a:ext cx="8413200" cy="162000"/>
          </a:xfrm>
          <a:prstGeom prst="rect">
            <a:avLst/>
          </a:prstGeom>
          <a:noFill/>
        </p:spPr>
        <p:txBody>
          <a:bodyPr wrap="square">
            <a:spAutoFit/>
          </a:bodyPr>
          <a:lstStyle/>
          <a:p>
            <a:pPr algn="l"/>
            <a:r>
              <a:rPr sz="900" b="1" i="0">
                <a:solidFill>
                  <a:srgbClr val="1B3A6B"/>
                </a:solidFill>
                <a:latin typeface="Calibri"/>
              </a:rPr>
              <a:t>SCÉNARIOS DE STRESS — Bull / Base / Bear</a:t>
            </a:r>
          </a:p>
        </p:txBody>
      </p:sp>
      <p:sp>
        <p:nvSpPr>
          <p:cNvPr id="20" name="Rectangle 19"/>
          <p:cNvSpPr/>
          <p:nvPr/>
        </p:nvSpPr>
        <p:spPr>
          <a:xfrm>
            <a:off x="367200" y="2916000"/>
            <a:ext cx="27432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200" y="2951999"/>
            <a:ext cx="2743200" cy="129600"/>
          </a:xfrm>
          <a:prstGeom prst="rect">
            <a:avLst/>
          </a:prstGeom>
          <a:noFill/>
        </p:spPr>
        <p:txBody>
          <a:bodyPr wrap="none">
            <a:spAutoFit/>
          </a:bodyPr>
          <a:lstStyle/>
          <a:p>
            <a:pPr algn="ctr"/>
            <a:r>
              <a:rPr sz="1100" b="1" i="0">
                <a:solidFill>
                  <a:srgbClr val="FFFFFF"/>
                </a:solidFill>
                <a:latin typeface="Calibri"/>
              </a:rPr>
              <a:t>BULL</a:t>
            </a:r>
          </a:p>
        </p:txBody>
      </p:sp>
      <p:sp>
        <p:nvSpPr>
          <p:cNvPr id="22" name="Rectangle 21"/>
          <p:cNvSpPr/>
          <p:nvPr/>
        </p:nvSpPr>
        <p:spPr>
          <a:xfrm>
            <a:off x="367200" y="3114000"/>
            <a:ext cx="2743200" cy="1007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150000"/>
            <a:ext cx="1508760" cy="162000"/>
          </a:xfrm>
          <a:prstGeom prst="rect">
            <a:avLst/>
          </a:prstGeom>
          <a:noFill/>
        </p:spPr>
        <p:txBody>
          <a:bodyPr wrap="square">
            <a:spAutoFit/>
          </a:bodyPr>
          <a:lstStyle/>
          <a:p>
            <a:pPr algn="l"/>
            <a:r>
              <a:rPr sz="900" b="0" i="0">
                <a:solidFill>
                  <a:srgbClr val="555555"/>
                </a:solidFill>
                <a:latin typeface="Calibri"/>
              </a:rPr>
              <a:t>IRR Sponsor</a:t>
            </a:r>
          </a:p>
        </p:txBody>
      </p:sp>
      <p:sp>
        <p:nvSpPr>
          <p:cNvPr id="24" name="TextBox 23"/>
          <p:cNvSpPr txBox="1"/>
          <p:nvPr/>
        </p:nvSpPr>
        <p:spPr>
          <a:xfrm>
            <a:off x="1875960" y="3150000"/>
            <a:ext cx="1097280" cy="162000"/>
          </a:xfrm>
          <a:prstGeom prst="rect">
            <a:avLst/>
          </a:prstGeom>
          <a:noFill/>
        </p:spPr>
        <p:txBody>
          <a:bodyPr wrap="square">
            <a:spAutoFit/>
          </a:bodyPr>
          <a:lstStyle/>
          <a:p>
            <a:pPr algn="r"/>
            <a:r>
              <a:rPr sz="1100" b="1" i="0">
                <a:solidFill>
                  <a:srgbClr val="1A7A4A"/>
                </a:solidFill>
                <a:latin typeface="Calibri"/>
              </a:rPr>
              <a:t>+12.0%</a:t>
            </a:r>
          </a:p>
        </p:txBody>
      </p:sp>
      <p:sp>
        <p:nvSpPr>
          <p:cNvPr id="25" name="TextBox 24"/>
          <p:cNvSpPr txBox="1"/>
          <p:nvPr/>
        </p:nvSpPr>
        <p:spPr>
          <a:xfrm>
            <a:off x="475200" y="3384000"/>
            <a:ext cx="1508760" cy="162000"/>
          </a:xfrm>
          <a:prstGeom prst="rect">
            <a:avLst/>
          </a:prstGeom>
          <a:noFill/>
        </p:spPr>
        <p:txBody>
          <a:bodyPr wrap="square">
            <a:spAutoFit/>
          </a:bodyPr>
          <a:lstStyle/>
          <a:p>
            <a:pPr algn="l"/>
            <a:r>
              <a:rPr sz="900" b="0" i="0">
                <a:solidFill>
                  <a:srgbClr val="555555"/>
                </a:solidFill>
                <a:latin typeface="Calibri"/>
              </a:rPr>
              <a:t>MOIC</a:t>
            </a:r>
          </a:p>
        </p:txBody>
      </p:sp>
      <p:sp>
        <p:nvSpPr>
          <p:cNvPr id="26" name="TextBox 25"/>
          <p:cNvSpPr txBox="1"/>
          <p:nvPr/>
        </p:nvSpPr>
        <p:spPr>
          <a:xfrm>
            <a:off x="1875960" y="3384000"/>
            <a:ext cx="1097280" cy="162000"/>
          </a:xfrm>
          <a:prstGeom prst="rect">
            <a:avLst/>
          </a:prstGeom>
          <a:noFill/>
        </p:spPr>
        <p:txBody>
          <a:bodyPr wrap="square">
            <a:spAutoFit/>
          </a:bodyPr>
          <a:lstStyle/>
          <a:p>
            <a:pPr algn="r"/>
            <a:r>
              <a:rPr sz="1100" b="1" i="0">
                <a:solidFill>
                  <a:srgbClr val="1A7A4A"/>
                </a:solidFill>
                <a:latin typeface="Calibri"/>
              </a:rPr>
              <a:t>1.77x</a:t>
            </a:r>
          </a:p>
        </p:txBody>
      </p:sp>
      <p:sp>
        <p:nvSpPr>
          <p:cNvPr id="27" name="TextBox 26"/>
          <p:cNvSpPr txBox="1"/>
          <p:nvPr/>
        </p:nvSpPr>
        <p:spPr>
          <a:xfrm>
            <a:off x="475200" y="3618000"/>
            <a:ext cx="1508760" cy="162000"/>
          </a:xfrm>
          <a:prstGeom prst="rect">
            <a:avLst/>
          </a:prstGeom>
          <a:noFill/>
        </p:spPr>
        <p:txBody>
          <a:bodyPr wrap="square">
            <a:spAutoFit/>
          </a:bodyPr>
          <a:lstStyle/>
          <a:p>
            <a:pPr algn="l"/>
            <a:r>
              <a:rPr sz="900" b="0" i="0">
                <a:solidFill>
                  <a:srgbClr val="555555"/>
                </a:solidFill>
                <a:latin typeface="Calibri"/>
              </a:rPr>
              <a:t>Leverage exit</a:t>
            </a:r>
          </a:p>
        </p:txBody>
      </p:sp>
      <p:sp>
        <p:nvSpPr>
          <p:cNvPr id="28" name="TextBox 27"/>
          <p:cNvSpPr txBox="1"/>
          <p:nvPr/>
        </p:nvSpPr>
        <p:spPr>
          <a:xfrm>
            <a:off x="1875960" y="3618000"/>
            <a:ext cx="1097280" cy="162000"/>
          </a:xfrm>
          <a:prstGeom prst="rect">
            <a:avLst/>
          </a:prstGeom>
          <a:noFill/>
        </p:spPr>
        <p:txBody>
          <a:bodyPr wrap="square">
            <a:spAutoFit/>
          </a:bodyPr>
          <a:lstStyle/>
          <a:p>
            <a:pPr algn="r"/>
            <a:r>
              <a:rPr sz="1100" b="1" i="0">
                <a:solidFill>
                  <a:srgbClr val="1A7A4A"/>
                </a:solidFill>
                <a:latin typeface="Calibri"/>
              </a:rPr>
              <a:t>2.32x</a:t>
            </a:r>
          </a:p>
        </p:txBody>
      </p:sp>
      <p:sp>
        <p:nvSpPr>
          <p:cNvPr id="29" name="TextBox 28"/>
          <p:cNvSpPr txBox="1"/>
          <p:nvPr/>
        </p:nvSpPr>
        <p:spPr>
          <a:xfrm>
            <a:off x="475200" y="3851999"/>
            <a:ext cx="1508760" cy="162000"/>
          </a:xfrm>
          <a:prstGeom prst="rect">
            <a:avLst/>
          </a:prstGeom>
          <a:noFill/>
        </p:spPr>
        <p:txBody>
          <a:bodyPr wrap="square">
            <a:spAutoFit/>
          </a:bodyPr>
          <a:lstStyle/>
          <a:p>
            <a:pPr algn="l"/>
            <a:r>
              <a:rPr sz="900" b="0" i="0">
                <a:solidFill>
                  <a:srgbClr val="555555"/>
                </a:solidFill>
                <a:latin typeface="Calibri"/>
              </a:rPr>
              <a:t>ICR exit</a:t>
            </a:r>
          </a:p>
        </p:txBody>
      </p:sp>
      <p:sp>
        <p:nvSpPr>
          <p:cNvPr id="30" name="TextBox 29"/>
          <p:cNvSpPr txBox="1"/>
          <p:nvPr/>
        </p:nvSpPr>
        <p:spPr>
          <a:xfrm>
            <a:off x="1875960" y="3851999"/>
            <a:ext cx="1097280" cy="162000"/>
          </a:xfrm>
          <a:prstGeom prst="rect">
            <a:avLst/>
          </a:prstGeom>
          <a:noFill/>
        </p:spPr>
        <p:txBody>
          <a:bodyPr wrap="square">
            <a:spAutoFit/>
          </a:bodyPr>
          <a:lstStyle/>
          <a:p>
            <a:pPr algn="r"/>
            <a:r>
              <a:rPr sz="1100" b="1" i="0">
                <a:solidFill>
                  <a:srgbClr val="1A7A4A"/>
                </a:solidFill>
                <a:latin typeface="Calibri"/>
              </a:rPr>
              <a:t>5.4x</a:t>
            </a:r>
          </a:p>
        </p:txBody>
      </p:sp>
      <p:sp>
        <p:nvSpPr>
          <p:cNvPr id="31" name="Rectangle 30"/>
          <p:cNvSpPr/>
          <p:nvPr/>
        </p:nvSpPr>
        <p:spPr>
          <a:xfrm>
            <a:off x="3229200" y="2916000"/>
            <a:ext cx="2743200" cy="19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29200" y="2951999"/>
            <a:ext cx="2743200" cy="129600"/>
          </a:xfrm>
          <a:prstGeom prst="rect">
            <a:avLst/>
          </a:prstGeom>
          <a:noFill/>
        </p:spPr>
        <p:txBody>
          <a:bodyPr wrap="none">
            <a:spAutoFit/>
          </a:bodyPr>
          <a:lstStyle/>
          <a:p>
            <a:pPr algn="ctr"/>
            <a:r>
              <a:rPr sz="1100" b="1" i="0">
                <a:solidFill>
                  <a:srgbClr val="FFFFFF"/>
                </a:solidFill>
                <a:latin typeface="Calibri"/>
              </a:rPr>
              <a:t>BASE</a:t>
            </a:r>
          </a:p>
        </p:txBody>
      </p:sp>
      <p:sp>
        <p:nvSpPr>
          <p:cNvPr id="33" name="Rectangle 32"/>
          <p:cNvSpPr/>
          <p:nvPr/>
        </p:nvSpPr>
        <p:spPr>
          <a:xfrm>
            <a:off x="3229200" y="3114000"/>
            <a:ext cx="2743200" cy="100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37200" y="3150000"/>
            <a:ext cx="1508760" cy="162000"/>
          </a:xfrm>
          <a:prstGeom prst="rect">
            <a:avLst/>
          </a:prstGeom>
          <a:noFill/>
        </p:spPr>
        <p:txBody>
          <a:bodyPr wrap="square">
            <a:spAutoFit/>
          </a:bodyPr>
          <a:lstStyle/>
          <a:p>
            <a:pPr algn="l"/>
            <a:r>
              <a:rPr sz="900" b="0" i="0">
                <a:solidFill>
                  <a:srgbClr val="555555"/>
                </a:solidFill>
                <a:latin typeface="Calibri"/>
              </a:rPr>
              <a:t>IRR Sponsor</a:t>
            </a:r>
          </a:p>
        </p:txBody>
      </p:sp>
      <p:sp>
        <p:nvSpPr>
          <p:cNvPr id="35" name="TextBox 34"/>
          <p:cNvSpPr txBox="1"/>
          <p:nvPr/>
        </p:nvSpPr>
        <p:spPr>
          <a:xfrm>
            <a:off x="4737960" y="3150000"/>
            <a:ext cx="1097280" cy="162000"/>
          </a:xfrm>
          <a:prstGeom prst="rect">
            <a:avLst/>
          </a:prstGeom>
          <a:noFill/>
        </p:spPr>
        <p:txBody>
          <a:bodyPr wrap="square">
            <a:spAutoFit/>
          </a:bodyPr>
          <a:lstStyle/>
          <a:p>
            <a:pPr algn="r"/>
            <a:r>
              <a:rPr sz="1100" b="1" i="0">
                <a:solidFill>
                  <a:srgbClr val="2E5FA3"/>
                </a:solidFill>
                <a:latin typeface="Calibri"/>
              </a:rPr>
              <a:t>+6.0%</a:t>
            </a:r>
          </a:p>
        </p:txBody>
      </p:sp>
      <p:sp>
        <p:nvSpPr>
          <p:cNvPr id="36" name="TextBox 35"/>
          <p:cNvSpPr txBox="1"/>
          <p:nvPr/>
        </p:nvSpPr>
        <p:spPr>
          <a:xfrm>
            <a:off x="3337200" y="3384000"/>
            <a:ext cx="1508760" cy="162000"/>
          </a:xfrm>
          <a:prstGeom prst="rect">
            <a:avLst/>
          </a:prstGeom>
          <a:noFill/>
        </p:spPr>
        <p:txBody>
          <a:bodyPr wrap="square">
            <a:spAutoFit/>
          </a:bodyPr>
          <a:lstStyle/>
          <a:p>
            <a:pPr algn="l"/>
            <a:r>
              <a:rPr sz="900" b="0" i="0">
                <a:solidFill>
                  <a:srgbClr val="555555"/>
                </a:solidFill>
                <a:latin typeface="Calibri"/>
              </a:rPr>
              <a:t>MOIC</a:t>
            </a:r>
          </a:p>
        </p:txBody>
      </p:sp>
      <p:sp>
        <p:nvSpPr>
          <p:cNvPr id="37" name="TextBox 36"/>
          <p:cNvSpPr txBox="1"/>
          <p:nvPr/>
        </p:nvSpPr>
        <p:spPr>
          <a:xfrm>
            <a:off x="4737960" y="3384000"/>
            <a:ext cx="1097280" cy="162000"/>
          </a:xfrm>
          <a:prstGeom prst="rect">
            <a:avLst/>
          </a:prstGeom>
          <a:noFill/>
        </p:spPr>
        <p:txBody>
          <a:bodyPr wrap="square">
            <a:spAutoFit/>
          </a:bodyPr>
          <a:lstStyle/>
          <a:p>
            <a:pPr algn="r"/>
            <a:r>
              <a:rPr sz="1100" b="1" i="0">
                <a:solidFill>
                  <a:srgbClr val="2E5FA3"/>
                </a:solidFill>
                <a:latin typeface="Calibri"/>
              </a:rPr>
              <a:t>1.34x</a:t>
            </a:r>
          </a:p>
        </p:txBody>
      </p:sp>
      <p:sp>
        <p:nvSpPr>
          <p:cNvPr id="38" name="TextBox 37"/>
          <p:cNvSpPr txBox="1"/>
          <p:nvPr/>
        </p:nvSpPr>
        <p:spPr>
          <a:xfrm>
            <a:off x="3337200" y="3618000"/>
            <a:ext cx="1508760" cy="162000"/>
          </a:xfrm>
          <a:prstGeom prst="rect">
            <a:avLst/>
          </a:prstGeom>
          <a:noFill/>
        </p:spPr>
        <p:txBody>
          <a:bodyPr wrap="square">
            <a:spAutoFit/>
          </a:bodyPr>
          <a:lstStyle/>
          <a:p>
            <a:pPr algn="l"/>
            <a:r>
              <a:rPr sz="900" b="0" i="0">
                <a:solidFill>
                  <a:srgbClr val="555555"/>
                </a:solidFill>
                <a:latin typeface="Calibri"/>
              </a:rPr>
              <a:t>Leverage exit</a:t>
            </a:r>
          </a:p>
        </p:txBody>
      </p:sp>
      <p:sp>
        <p:nvSpPr>
          <p:cNvPr id="39" name="TextBox 38"/>
          <p:cNvSpPr txBox="1"/>
          <p:nvPr/>
        </p:nvSpPr>
        <p:spPr>
          <a:xfrm>
            <a:off x="4737960" y="3618000"/>
            <a:ext cx="1097280" cy="162000"/>
          </a:xfrm>
          <a:prstGeom prst="rect">
            <a:avLst/>
          </a:prstGeom>
          <a:noFill/>
        </p:spPr>
        <p:txBody>
          <a:bodyPr wrap="square">
            <a:spAutoFit/>
          </a:bodyPr>
          <a:lstStyle/>
          <a:p>
            <a:pPr algn="r"/>
            <a:r>
              <a:rPr sz="1100" b="1" i="0">
                <a:solidFill>
                  <a:srgbClr val="2E5FA3"/>
                </a:solidFill>
                <a:latin typeface="Calibri"/>
              </a:rPr>
              <a:t>2.73x</a:t>
            </a:r>
          </a:p>
        </p:txBody>
      </p:sp>
      <p:sp>
        <p:nvSpPr>
          <p:cNvPr id="40" name="TextBox 39"/>
          <p:cNvSpPr txBox="1"/>
          <p:nvPr/>
        </p:nvSpPr>
        <p:spPr>
          <a:xfrm>
            <a:off x="3337200" y="3851999"/>
            <a:ext cx="1508760" cy="162000"/>
          </a:xfrm>
          <a:prstGeom prst="rect">
            <a:avLst/>
          </a:prstGeom>
          <a:noFill/>
        </p:spPr>
        <p:txBody>
          <a:bodyPr wrap="square">
            <a:spAutoFit/>
          </a:bodyPr>
          <a:lstStyle/>
          <a:p>
            <a:pPr algn="l"/>
            <a:r>
              <a:rPr sz="900" b="0" i="0">
                <a:solidFill>
                  <a:srgbClr val="555555"/>
                </a:solidFill>
                <a:latin typeface="Calibri"/>
              </a:rPr>
              <a:t>ICR exit</a:t>
            </a:r>
          </a:p>
        </p:txBody>
      </p:sp>
      <p:sp>
        <p:nvSpPr>
          <p:cNvPr id="41" name="TextBox 40"/>
          <p:cNvSpPr txBox="1"/>
          <p:nvPr/>
        </p:nvSpPr>
        <p:spPr>
          <a:xfrm>
            <a:off x="4737960" y="3851999"/>
            <a:ext cx="1097280" cy="162000"/>
          </a:xfrm>
          <a:prstGeom prst="rect">
            <a:avLst/>
          </a:prstGeom>
          <a:noFill/>
        </p:spPr>
        <p:txBody>
          <a:bodyPr wrap="square">
            <a:spAutoFit/>
          </a:bodyPr>
          <a:lstStyle/>
          <a:p>
            <a:pPr algn="r"/>
            <a:r>
              <a:rPr sz="1100" b="1" i="0">
                <a:solidFill>
                  <a:srgbClr val="2E5FA3"/>
                </a:solidFill>
                <a:latin typeface="Calibri"/>
              </a:rPr>
              <a:t>2.6x</a:t>
            </a:r>
          </a:p>
        </p:txBody>
      </p:sp>
      <p:sp>
        <p:nvSpPr>
          <p:cNvPr id="42" name="Rectangle 41"/>
          <p:cNvSpPr/>
          <p:nvPr/>
        </p:nvSpPr>
        <p:spPr>
          <a:xfrm>
            <a:off x="6091200" y="2916000"/>
            <a:ext cx="2743200" cy="19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1200" y="2951999"/>
            <a:ext cx="2743200" cy="129600"/>
          </a:xfrm>
          <a:prstGeom prst="rect">
            <a:avLst/>
          </a:prstGeom>
          <a:noFill/>
        </p:spPr>
        <p:txBody>
          <a:bodyPr wrap="none">
            <a:spAutoFit/>
          </a:bodyPr>
          <a:lstStyle/>
          <a:p>
            <a:pPr algn="ctr"/>
            <a:r>
              <a:rPr sz="1100" b="1" i="0">
                <a:solidFill>
                  <a:srgbClr val="FFFFFF"/>
                </a:solidFill>
                <a:latin typeface="Calibri"/>
              </a:rPr>
              <a:t>BEAR</a:t>
            </a:r>
          </a:p>
        </p:txBody>
      </p:sp>
      <p:sp>
        <p:nvSpPr>
          <p:cNvPr id="44" name="Rectangle 43"/>
          <p:cNvSpPr/>
          <p:nvPr/>
        </p:nvSpPr>
        <p:spPr>
          <a:xfrm>
            <a:off x="6091200" y="3114000"/>
            <a:ext cx="2743200" cy="1007999"/>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99200" y="3150000"/>
            <a:ext cx="1508760" cy="162000"/>
          </a:xfrm>
          <a:prstGeom prst="rect">
            <a:avLst/>
          </a:prstGeom>
          <a:noFill/>
        </p:spPr>
        <p:txBody>
          <a:bodyPr wrap="square">
            <a:spAutoFit/>
          </a:bodyPr>
          <a:lstStyle/>
          <a:p>
            <a:pPr algn="l"/>
            <a:r>
              <a:rPr sz="900" b="0" i="0">
                <a:solidFill>
                  <a:srgbClr val="555555"/>
                </a:solidFill>
                <a:latin typeface="Calibri"/>
              </a:rPr>
              <a:t>IRR Sponsor</a:t>
            </a:r>
          </a:p>
        </p:txBody>
      </p:sp>
      <p:sp>
        <p:nvSpPr>
          <p:cNvPr id="46" name="TextBox 45"/>
          <p:cNvSpPr txBox="1"/>
          <p:nvPr/>
        </p:nvSpPr>
        <p:spPr>
          <a:xfrm>
            <a:off x="7599960" y="3150000"/>
            <a:ext cx="1097280" cy="162000"/>
          </a:xfrm>
          <a:prstGeom prst="rect">
            <a:avLst/>
          </a:prstGeom>
          <a:noFill/>
        </p:spPr>
        <p:txBody>
          <a:bodyPr wrap="square">
            <a:spAutoFit/>
          </a:bodyPr>
          <a:lstStyle/>
          <a:p>
            <a:pPr algn="r"/>
            <a:r>
              <a:rPr sz="1100" b="1" i="0">
                <a:solidFill>
                  <a:srgbClr val="A82020"/>
                </a:solidFill>
                <a:latin typeface="Calibri"/>
              </a:rPr>
              <a:t>-0.3%</a:t>
            </a:r>
          </a:p>
        </p:txBody>
      </p:sp>
      <p:sp>
        <p:nvSpPr>
          <p:cNvPr id="47" name="TextBox 46"/>
          <p:cNvSpPr txBox="1"/>
          <p:nvPr/>
        </p:nvSpPr>
        <p:spPr>
          <a:xfrm>
            <a:off x="6199200" y="3384000"/>
            <a:ext cx="1508760" cy="162000"/>
          </a:xfrm>
          <a:prstGeom prst="rect">
            <a:avLst/>
          </a:prstGeom>
          <a:noFill/>
        </p:spPr>
        <p:txBody>
          <a:bodyPr wrap="square">
            <a:spAutoFit/>
          </a:bodyPr>
          <a:lstStyle/>
          <a:p>
            <a:pPr algn="l"/>
            <a:r>
              <a:rPr sz="900" b="0" i="0">
                <a:solidFill>
                  <a:srgbClr val="555555"/>
                </a:solidFill>
                <a:latin typeface="Calibri"/>
              </a:rPr>
              <a:t>MOIC</a:t>
            </a:r>
          </a:p>
        </p:txBody>
      </p:sp>
      <p:sp>
        <p:nvSpPr>
          <p:cNvPr id="48" name="TextBox 47"/>
          <p:cNvSpPr txBox="1"/>
          <p:nvPr/>
        </p:nvSpPr>
        <p:spPr>
          <a:xfrm>
            <a:off x="7599960" y="3384000"/>
            <a:ext cx="1097280" cy="162000"/>
          </a:xfrm>
          <a:prstGeom prst="rect">
            <a:avLst/>
          </a:prstGeom>
          <a:noFill/>
        </p:spPr>
        <p:txBody>
          <a:bodyPr wrap="square">
            <a:spAutoFit/>
          </a:bodyPr>
          <a:lstStyle/>
          <a:p>
            <a:pPr algn="r"/>
            <a:r>
              <a:rPr sz="1100" b="1" i="0">
                <a:solidFill>
                  <a:srgbClr val="A82020"/>
                </a:solidFill>
                <a:latin typeface="Calibri"/>
              </a:rPr>
              <a:t>0.98x</a:t>
            </a:r>
          </a:p>
        </p:txBody>
      </p:sp>
      <p:sp>
        <p:nvSpPr>
          <p:cNvPr id="49" name="TextBox 48"/>
          <p:cNvSpPr txBox="1"/>
          <p:nvPr/>
        </p:nvSpPr>
        <p:spPr>
          <a:xfrm>
            <a:off x="6199200" y="3618000"/>
            <a:ext cx="1508760" cy="162000"/>
          </a:xfrm>
          <a:prstGeom prst="rect">
            <a:avLst/>
          </a:prstGeom>
          <a:noFill/>
        </p:spPr>
        <p:txBody>
          <a:bodyPr wrap="square">
            <a:spAutoFit/>
          </a:bodyPr>
          <a:lstStyle/>
          <a:p>
            <a:pPr algn="l"/>
            <a:r>
              <a:rPr sz="900" b="0" i="0">
                <a:solidFill>
                  <a:srgbClr val="555555"/>
                </a:solidFill>
                <a:latin typeface="Calibri"/>
              </a:rPr>
              <a:t>Leverage exit</a:t>
            </a:r>
          </a:p>
        </p:txBody>
      </p:sp>
      <p:sp>
        <p:nvSpPr>
          <p:cNvPr id="50" name="TextBox 49"/>
          <p:cNvSpPr txBox="1"/>
          <p:nvPr/>
        </p:nvSpPr>
        <p:spPr>
          <a:xfrm>
            <a:off x="7599960" y="3618000"/>
            <a:ext cx="1097280" cy="162000"/>
          </a:xfrm>
          <a:prstGeom prst="rect">
            <a:avLst/>
          </a:prstGeom>
          <a:noFill/>
        </p:spPr>
        <p:txBody>
          <a:bodyPr wrap="square">
            <a:spAutoFit/>
          </a:bodyPr>
          <a:lstStyle/>
          <a:p>
            <a:pPr algn="r"/>
            <a:r>
              <a:rPr sz="1100" b="1" i="0">
                <a:solidFill>
                  <a:srgbClr val="A82020"/>
                </a:solidFill>
                <a:latin typeface="Calibri"/>
              </a:rPr>
              <a:t>3.22x</a:t>
            </a:r>
          </a:p>
        </p:txBody>
      </p:sp>
      <p:sp>
        <p:nvSpPr>
          <p:cNvPr id="51" name="TextBox 50"/>
          <p:cNvSpPr txBox="1"/>
          <p:nvPr/>
        </p:nvSpPr>
        <p:spPr>
          <a:xfrm>
            <a:off x="6199200" y="3851999"/>
            <a:ext cx="1508760" cy="162000"/>
          </a:xfrm>
          <a:prstGeom prst="rect">
            <a:avLst/>
          </a:prstGeom>
          <a:noFill/>
        </p:spPr>
        <p:txBody>
          <a:bodyPr wrap="square">
            <a:spAutoFit/>
          </a:bodyPr>
          <a:lstStyle/>
          <a:p>
            <a:pPr algn="l"/>
            <a:r>
              <a:rPr sz="900" b="0" i="0">
                <a:solidFill>
                  <a:srgbClr val="555555"/>
                </a:solidFill>
                <a:latin typeface="Calibri"/>
              </a:rPr>
              <a:t>ICR exit</a:t>
            </a:r>
          </a:p>
        </p:txBody>
      </p:sp>
      <p:sp>
        <p:nvSpPr>
          <p:cNvPr id="52" name="TextBox 51"/>
          <p:cNvSpPr txBox="1"/>
          <p:nvPr/>
        </p:nvSpPr>
        <p:spPr>
          <a:xfrm>
            <a:off x="7599960" y="3851999"/>
            <a:ext cx="1097280" cy="162000"/>
          </a:xfrm>
          <a:prstGeom prst="rect">
            <a:avLst/>
          </a:prstGeom>
          <a:noFill/>
        </p:spPr>
        <p:txBody>
          <a:bodyPr wrap="square">
            <a:spAutoFit/>
          </a:bodyPr>
          <a:lstStyle/>
          <a:p>
            <a:pPr algn="r"/>
            <a:r>
              <a:rPr sz="1100" b="1" i="0">
                <a:solidFill>
                  <a:srgbClr val="A82020"/>
                </a:solidFill>
                <a:latin typeface="Calibri"/>
              </a:rPr>
              <a:t>3.9x</a:t>
            </a:r>
          </a:p>
        </p:txBody>
      </p:sp>
      <p:sp>
        <p:nvSpPr>
          <p:cNvPr id="53" name="Rectangle 52"/>
          <p:cNvSpPr/>
          <p:nvPr/>
        </p:nvSpPr>
        <p:spPr>
          <a:xfrm>
            <a:off x="367200" y="4194000"/>
            <a:ext cx="8413200" cy="59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67200" y="4194000"/>
            <a:ext cx="79200" cy="59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75200" y="4222800"/>
            <a:ext cx="8298000" cy="151200"/>
          </a:xfrm>
          <a:prstGeom prst="rect">
            <a:avLst/>
          </a:prstGeom>
          <a:noFill/>
        </p:spPr>
        <p:txBody>
          <a:bodyPr wrap="none">
            <a:spAutoFit/>
          </a:bodyPr>
          <a:lstStyle/>
          <a:p>
            <a:pPr algn="l"/>
            <a:r>
              <a:rPr sz="950" b="1" i="0">
                <a:solidFill>
                  <a:srgbClr val="1B3A6B"/>
                </a:solidFill>
                <a:latin typeface="Calibri"/>
              </a:rPr>
              <a:t>LBO TSLA : IRR 6.0% — sous le seuil PE typique</a:t>
            </a:r>
          </a:p>
        </p:txBody>
      </p:sp>
      <p:sp>
        <p:nvSpPr>
          <p:cNvPr id="56" name="TextBox 55"/>
          <p:cNvSpPr txBox="1"/>
          <p:nvPr/>
        </p:nvSpPr>
        <p:spPr>
          <a:xfrm>
            <a:off x="475200" y="4392000"/>
            <a:ext cx="8298000" cy="370799"/>
          </a:xfrm>
          <a:prstGeom prst="rect">
            <a:avLst/>
          </a:prstGeom>
          <a:noFill/>
        </p:spPr>
        <p:txBody>
          <a:bodyPr wrap="square">
            <a:spAutoFit/>
          </a:bodyPr>
          <a:lstStyle/>
          <a:p>
            <a:pPr algn="l"/>
            <a:r>
              <a:rPr sz="850" b="0" i="0">
                <a:solidFill>
                  <a:srgbClr val="555555"/>
                </a:solidFill>
                <a:latin typeface="Calibri"/>
              </a:rPr>
              <a:t>Trois risques majeurs menacent la viabilité du LBO : 1) **Opérationnel** : compression des marges (baisse de 200 pb en bear) due à la concurrence chinoise et aux coûts logistiques ; 2) **Financier** : covenants stricts (net debt/EBITDA &lt;3x) avec un risque de refinancement coûteux en 2028 (taux actuels +200 pb vs entrée) ; 3) **Marché** : multiple de sortie compressé à 8x (vs 12x entrée), annihilant toute création de valeur. Le scénario bear (-0,3 % IRR) valide ces risques, conditionnant le succès à une sortie avant 2026 ou une restructuration de dette. Toute détérioration de la croissance (ROIC &lt;5 %) invaliderait le modèle.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chute libre</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Les marges de Tesla s'effritent avec une croissance du chiffre d'affaires négative de -3.0% en 2025, tandis que les ratios de valorisation explosent à un P/E de 345.13x et un EV/EBITDA de 110.60x, indiquant une surévaluation criante face à des fondamentaux dégradés.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Surévaluation extrême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La dépendance excessive à l'intégration verticale expose Tesla à des coûts fixes élevés et à des risques de surcapacité, avec un ROE de seulement 4.6% en 2025, bien en dessous des standards du secteur automobile.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Rentabilité illusoire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 leadership technologique, souvent cité comme un atout, se heurte à des dépenses R&amp;D massives non rentabilisées, avec une marge nette atone à 4.0%, révélant une incapacité à transformer l'innovation en profitabilité durable.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la demande en VE de 25%</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Baisse des subventions gouvernementales pour les VE en Europe et Chine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Retards majeurs sur le déploiement du FSD ou du Model 2</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28/100  Peu attractive</a:t>
            </a:r>
          </a:p>
        </p:txBody>
      </p:sp>
      <p:sp>
        <p:nvSpPr>
          <p:cNvPr id="38" name="Rectangle 37"/>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72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Faible (0.37x)</a:t>
            </a:r>
          </a:p>
        </p:txBody>
      </p:sp>
      <p:sp>
        <p:nvSpPr>
          <p:cNvPr id="41" name="Rectangle 40"/>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(19% 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-0,083</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43,9 %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+0,239</a:t>
                      </a:r>
                    </a:p>
                  </a:txBody>
                  <a:tcPr>
                    <a:solidFill>
                      <a:srgbClr val="EAF4EF"/>
                    </a:solidFill>
                  </a:tcPr>
                </a:tc>
                <a:tc>
                  <a:txBody>
                    <a:bodyPr/>
                    <a:lstStyle/>
                    <a:p>
                      <a:pPr algn="ctr"/>
                      <a:r>
                        <a:rPr sz="800" b="0" i="0">
                          <a:solidFill>
                            <a:srgbClr val="0D0D0D"/>
                          </a:solidFill>
                          <a:latin typeface="Calibri"/>
                        </a:rPr>
                        <a:t>Déploiement FSD à 199$/mois en 2026 générant 5-10Mds$ de revenus récurrents | Croissance revenue de 15% en 2027 avec lancement Model 2 | Réduction des coûts de production via Gigacasting et batteries 4680</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+0,439</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+0,322</a:t>
                      </a:r>
                    </a:p>
                  </a:txBody>
                  <a:tcPr>
                    <a:solidFill>
                      <a:srgbClr val="FAF0EF"/>
                    </a:solidFill>
                  </a:tcPr>
                </a:tc>
                <a:tc>
                  <a:txBody>
                    <a:bodyPr/>
                    <a:lstStyle/>
                    <a:p>
                      <a:pPr algn="ctr"/>
                      <a:r>
                        <a:rPr sz="800" b="0" i="0">
                          <a:solidFill>
                            <a:srgbClr val="0D0D0D"/>
                          </a:solidFill>
                          <a:latin typeface="Calibri"/>
                        </a:rPr>
                        <a:t>Concurrence accrue en Chine (BYD, Xpeng) avec des prix 20-30% inférieurs | Risque de perte de part de marché à 15% d'ici 2026 | Pression sur les marges à 10% EBITDA</a:t>
                      </a:r>
                    </a:p>
                  </a:txBody>
                  <a:tcPr>
                    <a:solidFill>
                      <a:srgbClr val="FAF0EF"/>
                    </a:solidFill>
                  </a:tcPr>
                </a:tc>
              </a:tr>
            </a:tbl>
          </a:graphicData>
        </a:graphic>
      </p:graphicFrame>
      <p:sp>
        <p:nvSpPr>
          <p:cNvPr id="39" name="TextBox 38"/>
          <p:cNvSpPr txBox="1"/>
          <p:nvPr/>
        </p:nvSpPr>
        <p:spPr>
          <a:xfrm>
            <a:off x="367200" y="4140000"/>
            <a:ext cx="8413200" cy="630000"/>
          </a:xfrm>
          <a:prstGeom prst="rect">
            <a:avLst/>
          </a:prstGeom>
          <a:noFill/>
        </p:spPr>
        <p:txBody>
          <a:bodyPr wrap="square">
            <a:spAutoFit/>
          </a:bodyPr>
          <a:lstStyle/>
          <a:p>
            <a:pPr algn="l"/>
            <a:r>
              <a:rPr sz="850" b="0" i="0">
                <a:solidFill>
                  <a:srgbClr val="333333"/>
                </a:solidFill>
                <a:latin typeface="Calibri"/>
              </a:rPr>
              <a:t>La presse financière affiche un sentiment contrasté sur TSLA cette semaine, entre optimisme lié aux perspectives de robotaxis et inquiétudes sur les dénis de nouveaux modèles. Les analystes de Wall Street restent globalement favorables malgré les turbulences récentes.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11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443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44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151200"/>
          </a:xfrm>
          <a:prstGeom prst="rect">
            <a:avLst/>
          </a:prstGeom>
          <a:noFill/>
        </p:spPr>
        <p:txBody>
          <a:bodyPr wrap="none">
            <a:spAutoFit/>
          </a:bodyPr>
          <a:lstStyle/>
          <a:p>
            <a:pPr algn="l"/>
            <a:r>
              <a:rPr sz="950" b="1" i="0">
                <a:solidFill>
                  <a:srgbClr val="1B3A6B"/>
                </a:solidFill>
                <a:latin typeface="Calibri"/>
              </a:rPr>
              <a:t>TSLA — verdict final : HOLD</a:t>
            </a:r>
          </a:p>
        </p:txBody>
      </p:sp>
      <p:sp>
        <p:nvSpPr>
          <p:cNvPr id="24" name="TextBox 23"/>
          <p:cNvSpPr txBox="1"/>
          <p:nvPr/>
        </p:nvSpPr>
        <p:spPr>
          <a:xfrm>
            <a:off x="475200" y="3524400"/>
            <a:ext cx="8298000" cy="1220400"/>
          </a:xfrm>
          <a:prstGeom prst="rect">
            <a:avLst/>
          </a:prstGeom>
          <a:noFill/>
        </p:spPr>
        <p:txBody>
          <a:bodyPr wrap="square">
            <a:spAutoFit/>
          </a:bodyPr>
          <a:lstStyle/>
          <a:p>
            <a:pPr algn="l"/>
            <a:r>
              <a:rPr sz="850" b="0" i="0">
                <a:solidFill>
                  <a:srgbClr val="555555"/>
                </a:solidFill>
                <a:latin typeface="Calibri"/>
              </a:rPr>
              <a:t>Tesla se négocie à des multiples élevés (EV/EBITDA 110.6x vs médiane peers ~15x) reflétant une prime de croissance et de technologie. La décote sur les marges actuelles (12.4% EBITDA) suggère un potentiel de re-rating si les catalyseurs se matérialisent. Tesla affiche des multiples bien supérieurs à ses pairs (EV/EBITDA 110.6x vs médiane 15x pour BYD, Rivian, Lucid, XPeng, NIO). Cette prime est justifiée par son avance technologique (FSD, IA) et son écosystème intégré, mais elle semble déjà intégrer une croissance optimiste. Une convergence vers la médiane peers impliquerait un downside de ~60%, tandis qu'une prime de 50% porterait le multiple à 22.5x, soit un prix de 520$. Tesla vise 20% de part de marché mondiale des VE d'ici 2026 avec un mix produit optimisé (Model 2 à 25k$) Le déploiement du FSD (Full Self-Driving) pourrait générer 5 à 10Mds$ de revenus annuels d'ici 2027 via des abonnements à 199$/mois La marge brute devrait rebondir à 22% d'ici 2027 grâce à la réduction des coûts de production et à l'effet volume sur les batteries 4680. Tesla affiche une décélération de sa croissance revenue et une compression des marges malgré des fondamentaux solides. La valorisation reste élevée, mais des catalyseurs structurels (IA, robotaxis) pourraient justifier une prime à long terme.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11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348,95 $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308,27 $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+0,7 %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stable de +0,7 %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Rectangle 34"/>
          <p:cNvSpPr/>
          <p:nvPr/>
        </p:nvSpPr>
        <p:spPr>
          <a:xfrm>
            <a:off x="367200" y="4158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7200" y="4158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200" y="4186800"/>
            <a:ext cx="8298000" cy="151200"/>
          </a:xfrm>
          <a:prstGeom prst="rect">
            <a:avLst/>
          </a:prstGeom>
          <a:noFill/>
        </p:spPr>
        <p:txBody>
          <a:bodyPr wrap="none">
            <a:spAutoFit/>
          </a:bodyPr>
          <a:lstStyle/>
          <a:p>
            <a:pPr algn="l"/>
            <a:r>
              <a:rPr sz="950" b="1" i="0">
                <a:solidFill>
                  <a:srgbClr val="1B3A6B"/>
                </a:solidFill>
                <a:latin typeface="Calibri"/>
              </a:rPr>
              <a:t>TSLA — verdict final : HOLD</a:t>
            </a:r>
          </a:p>
        </p:txBody>
      </p:sp>
      <p:sp>
        <p:nvSpPr>
          <p:cNvPr id="38" name="TextBox 37"/>
          <p:cNvSpPr txBox="1"/>
          <p:nvPr/>
        </p:nvSpPr>
        <p:spPr>
          <a:xfrm>
            <a:off x="475200" y="4356000"/>
            <a:ext cx="8298000" cy="424800"/>
          </a:xfrm>
          <a:prstGeom prst="rect">
            <a:avLst/>
          </a:prstGeom>
          <a:noFill/>
        </p:spPr>
        <p:txBody>
          <a:bodyPr wrap="square">
            <a:spAutoFit/>
          </a:bodyPr>
          <a:lstStyle/>
          <a:p>
            <a:pPr algn="l"/>
            <a:r>
              <a:rPr sz="850" b="0" i="0">
                <a:solidFill>
                  <a:srgbClr val="555555"/>
                </a:solidFill>
                <a:latin typeface="Calibri"/>
              </a:rPr>
              <a:t>Tesla affiche une décélération de sa croissance revenue et une compression des marges malgré des fondamentaux solides. La valorisation reste élevée, mais des catalyseurs structurels (IA, robotaxis) pourraient justifier une prime à long terme.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FinSight IA  ·  Rapport 11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55%</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11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485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+5%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Tesla vise 20% de part de marché mondiale des VE d'ici 2026 avec un mix produit optimisé (Model 2 à 25k$)</a:t>
            </a:r>
          </a:p>
        </p:txBody>
      </p:sp>
      <p:sp>
        <p:nvSpPr>
          <p:cNvPr id="30" name="Rectangle 29"/>
          <p:cNvSpPr/>
          <p:nvPr/>
        </p:nvSpPr>
        <p:spPr>
          <a:xfrm>
            <a:off x="3311999" y="1404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Le déploiement du FSD (Full Self-Driving) pourrait générer 5 à 10Mds$ de revenus annuels d'ici 2027 via des abonnements à 199$/mois</a:t>
            </a:r>
          </a:p>
        </p:txBody>
      </p:sp>
      <p:sp>
        <p:nvSpPr>
          <p:cNvPr id="32" name="Rectangle 31"/>
          <p:cNvSpPr/>
          <p:nvPr/>
        </p:nvSpPr>
        <p:spPr>
          <a:xfrm>
            <a:off x="3311999" y="1746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La marge brute devrait rebondir à 22% d'ici 2027 grâce à la réduction des coûts de production et à l'effet volume sur les batteries 4680.</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234000"/>
          </a:xfrm>
          <a:prstGeom prst="rect">
            <a:avLst/>
          </a:prstGeom>
          <a:noFill/>
        </p:spPr>
        <p:txBody>
          <a:bodyPr wrap="square">
            <a:spAutoFit/>
          </a:bodyPr>
          <a:lstStyle/>
          <a:p>
            <a:pPr algn="l"/>
            <a:r>
              <a:rPr sz="700" b="0" i="0">
                <a:solidFill>
                  <a:srgbClr val="555555"/>
                </a:solidFill>
                <a:latin typeface="Calibri"/>
              </a:rPr>
              <a:t>• Déploiement FSD à 199$/mois en 2026 générant 5-10Mds$ de revenus récurrents | Croissance revenue de</a:t>
            </a:r>
          </a:p>
        </p:txBody>
      </p:sp>
      <p:sp>
        <p:nvSpPr>
          <p:cNvPr id="37" name="TextBox 36"/>
          <p:cNvSpPr txBox="1"/>
          <p:nvPr/>
        </p:nvSpPr>
        <p:spPr>
          <a:xfrm>
            <a:off x="3401999" y="2671200"/>
            <a:ext cx="2556000" cy="234000"/>
          </a:xfrm>
          <a:prstGeom prst="rect">
            <a:avLst/>
          </a:prstGeom>
          <a:noFill/>
        </p:spPr>
        <p:txBody>
          <a:bodyPr wrap="square">
            <a:spAutoFit/>
          </a:bodyPr>
          <a:lstStyle/>
          <a:p>
            <a:pPr algn="l"/>
            <a:r>
              <a:rPr sz="700" b="0" i="0">
                <a:solidFill>
                  <a:srgbClr val="555555"/>
                </a:solidFill>
                <a:latin typeface="Calibri"/>
              </a:rPr>
              <a:t>• Expansion du segment énergie avec Powerwall 3 et Powerpack 3 ciblant 20% du CA d'ici 2027 | Marge</a:t>
            </a:r>
          </a:p>
        </p:txBody>
      </p:sp>
      <p:sp>
        <p:nvSpPr>
          <p:cNvPr id="38" name="Rectangle 37"/>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0" name="TextBox 39"/>
          <p:cNvSpPr txBox="1"/>
          <p:nvPr/>
        </p:nvSpPr>
        <p:spPr>
          <a:xfrm>
            <a:off x="6156000" y="2412000"/>
            <a:ext cx="2376000" cy="234000"/>
          </a:xfrm>
          <a:prstGeom prst="rect">
            <a:avLst/>
          </a:prstGeom>
          <a:noFill/>
        </p:spPr>
        <p:txBody>
          <a:bodyPr wrap="square">
            <a:spAutoFit/>
          </a:bodyPr>
          <a:lstStyle/>
          <a:p>
            <a:pPr algn="l"/>
            <a:r>
              <a:rPr sz="700" b="0" i="0">
                <a:solidFill>
                  <a:srgbClr val="555555"/>
                </a:solidFill>
                <a:latin typeface="Calibri"/>
              </a:rPr>
              <a:t>• Concurrence accrue en Chine (BYD, Xpeng) avec des prix 20-30% inférieurs | Risque de perte de part</a:t>
            </a:r>
          </a:p>
        </p:txBody>
      </p:sp>
      <p:sp>
        <p:nvSpPr>
          <p:cNvPr id="41" name="TextBox 40"/>
          <p:cNvSpPr txBox="1"/>
          <p:nvPr/>
        </p:nvSpPr>
        <p:spPr>
          <a:xfrm>
            <a:off x="6156000" y="2671200"/>
            <a:ext cx="2376000" cy="234000"/>
          </a:xfrm>
          <a:prstGeom prst="rect">
            <a:avLst/>
          </a:prstGeom>
          <a:noFill/>
        </p:spPr>
        <p:txBody>
          <a:bodyPr wrap="square">
            <a:spAutoFit/>
          </a:bodyPr>
          <a:lstStyle/>
          <a:p>
            <a:pPr algn="l"/>
            <a:r>
              <a:rPr sz="700" b="0" i="0">
                <a:solidFill>
                  <a:srgbClr val="555555"/>
                </a:solidFill>
                <a:latin typeface="Calibri"/>
              </a:rPr>
              <a:t>• Régulation stricte en Europe et aux États-Unis sur les VE et l'IA | Risque de sanctions</a:t>
            </a:r>
          </a:p>
        </p:txBody>
      </p:sp>
      <p:sp>
        <p:nvSpPr>
          <p:cNvPr id="42" name="Rectangle 41"/>
          <p:cNvSpPr/>
          <p:nvPr/>
        </p:nvSpPr>
        <p:spPr>
          <a:xfrm>
            <a:off x="3311999" y="3038400"/>
            <a:ext cx="5472000" cy="396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311999" y="3038400"/>
            <a:ext cx="36000" cy="39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401999" y="3056400"/>
            <a:ext cx="5310000" cy="360000"/>
          </a:xfrm>
          <a:prstGeom prst="rect">
            <a:avLst/>
          </a:prstGeom>
          <a:noFill/>
        </p:spPr>
        <p:txBody>
          <a:bodyPr wrap="square">
            <a:spAutoFit/>
          </a:bodyPr>
          <a:lstStyle/>
          <a:p>
            <a:pPr algn="l"/>
            <a:r>
              <a:rPr sz="750" b="0" i="0">
                <a:solidFill>
                  <a:srgbClr val="7A5000"/>
                </a:solidFill>
                <a:latin typeface="Calibri"/>
              </a:rPr>
              <a:t>⚠ Conditions d’invalidation : Macro: Récession mondiale réduisant la demande en VE  ·  Sectoriel: Baisse des subventions gouvernementales pour </a:t>
            </a:r>
          </a:p>
        </p:txBody>
      </p:sp>
      <p:sp>
        <p:nvSpPr>
          <p:cNvPr id="45" name="TextBox 44"/>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Généré cette analyse a un instant T. Pour le suivi dans le temps, comparer les rapports successifs. La conviction Reflète les Données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