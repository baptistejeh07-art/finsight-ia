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54000"/>
            <a:ext cx="4320000" cy="432000"/>
          </a:xfrm>
          <a:prstGeom prst="rect">
            <a:avLst/>
          </a:prstGeom>
          <a:noFill/>
        </p:spPr>
        <p:txBody>
          <a:bodyPr wrap="square">
            <a:spAutoFit/>
          </a:bodyPr>
          <a:lstStyle/>
          <a:p>
            <a:pPr algn="l"/>
            <a:r>
              <a:rPr sz="1200" b="1" i="0">
                <a:solidFill>
                  <a:srgbClr val="FFFFFF"/>
                </a:solidFill>
              </a:rPr>
              <a:t>FinSight IA</a:t>
            </a:r>
          </a:p>
        </p:txBody>
      </p:sp>
      <p:sp>
        <p:nvSpPr>
          <p:cNvPr id="4" name="TextBox 3"/>
          <p:cNvSpPr txBox="1"/>
          <p:nvPr/>
        </p:nvSpPr>
        <p:spPr>
          <a:xfrm>
            <a:off x="0" y="90000"/>
            <a:ext cx="9072000" cy="360000"/>
          </a:xfrm>
          <a:prstGeom prst="rect">
            <a:avLst/>
          </a:prstGeom>
          <a:noFill/>
        </p:spPr>
        <p:txBody>
          <a:bodyPr wrap="square">
            <a:spAutoFit/>
          </a:bodyPr>
          <a:lstStyle/>
          <a:p>
            <a:pPr algn="r"/>
            <a:r>
              <a:rPr sz="950" b="0" i="0">
                <a:solidFill>
                  <a:srgbClr val="AAAAAA"/>
                </a:solidFill>
              </a:rPr>
              <a:t>Pitchbook  —  Analyse Sectorielle</a:t>
            </a:r>
          </a:p>
        </p:txBody>
      </p:sp>
      <p:sp>
        <p:nvSpPr>
          <p:cNvPr id="5" name="TextBox 4"/>
          <p:cNvSpPr txBox="1"/>
          <p:nvPr/>
        </p:nvSpPr>
        <p:spPr>
          <a:xfrm>
            <a:off x="0" y="1620000"/>
            <a:ext cx="9144000" cy="1080000"/>
          </a:xfrm>
          <a:prstGeom prst="rect">
            <a:avLst/>
          </a:prstGeom>
          <a:noFill/>
        </p:spPr>
        <p:txBody>
          <a:bodyPr wrap="square">
            <a:spAutoFit/>
          </a:bodyPr>
          <a:lstStyle/>
          <a:p>
            <a:pPr algn="ctr"/>
            <a:r>
              <a:rPr sz="3800" b="1" i="0">
                <a:solidFill>
                  <a:srgbClr val="1B3A6B"/>
                </a:solidFill>
              </a:rPr>
              <a:t>Consumer Defensive</a:t>
            </a:r>
          </a:p>
        </p:txBody>
      </p:sp>
      <p:sp>
        <p:nvSpPr>
          <p:cNvPr id="6" name="TextBox 5"/>
          <p:cNvSpPr txBox="1"/>
          <p:nvPr/>
        </p:nvSpPr>
        <p:spPr>
          <a:xfrm>
            <a:off x="0" y="2808000"/>
            <a:ext cx="9144000" cy="360000"/>
          </a:xfrm>
          <a:prstGeom prst="rect">
            <a:avLst/>
          </a:prstGeom>
          <a:noFill/>
        </p:spPr>
        <p:txBody>
          <a:bodyPr wrap="square">
            <a:spAutoFit/>
          </a:bodyPr>
          <a:lstStyle/>
          <a:p>
            <a:pPr algn="ctr"/>
            <a:r>
              <a:rPr sz="1200" b="0" i="0">
                <a:solidFill>
                  <a:srgbClr val="555555"/>
                </a:solidFill>
              </a:rPr>
              <a:t>S&amp;P 500  ·  8 sociétés analysées</a:t>
            </a:r>
          </a:p>
        </p:txBody>
      </p:sp>
      <p:sp>
        <p:nvSpPr>
          <p:cNvPr id="7" name="Rectangle 6"/>
          <p:cNvSpPr/>
          <p:nvPr/>
        </p:nvSpPr>
        <p:spPr>
          <a:xfrm>
            <a:off x="3276000" y="3311999"/>
            <a:ext cx="255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76000" y="3348000"/>
            <a:ext cx="2556000" cy="432000"/>
          </a:xfrm>
          <a:prstGeom prst="rect">
            <a:avLst/>
          </a:prstGeom>
          <a:noFill/>
        </p:spPr>
        <p:txBody>
          <a:bodyPr wrap="square">
            <a:spAutoFit/>
          </a:bodyPr>
          <a:lstStyle/>
          <a:p>
            <a:pPr algn="ctr"/>
            <a:r>
              <a:rPr sz="1300" b="1" i="0">
                <a:solidFill>
                  <a:srgbClr val="FFFFFF"/>
                </a:solidFill>
              </a:rPr>
              <a:t>● NEUTRE</a:t>
            </a:r>
          </a:p>
        </p:txBody>
      </p:sp>
      <p:sp>
        <p:nvSpPr>
          <p:cNvPr id="9" name="Rectangle 8"/>
          <p:cNvSpPr/>
          <p:nvPr/>
        </p:nvSpPr>
        <p:spPr>
          <a:xfrm>
            <a:off x="0" y="4896000"/>
            <a:ext cx="9144000" cy="25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 y="4914000"/>
            <a:ext cx="3600000" cy="180000"/>
          </a:xfrm>
          <a:prstGeom prst="rect">
            <a:avLst/>
          </a:prstGeom>
          <a:noFill/>
        </p:spPr>
        <p:txBody>
          <a:bodyPr wrap="square">
            <a:spAutoFit/>
          </a:bodyPr>
          <a:lstStyle/>
          <a:p>
            <a:pPr algn="l"/>
            <a:r>
              <a:rPr sz="750" b="0" i="0">
                <a:solidFill>
                  <a:srgbClr val="555555"/>
                </a:solidFill>
              </a:rPr>
              <a:t>Rapport confidentiel</a:t>
            </a:r>
          </a:p>
        </p:txBody>
      </p:sp>
      <p:sp>
        <p:nvSpPr>
          <p:cNvPr id="11" name="TextBox 10"/>
          <p:cNvSpPr txBox="1"/>
          <p:nvPr/>
        </p:nvSpPr>
        <p:spPr>
          <a:xfrm>
            <a:off x="0" y="4914000"/>
            <a:ext cx="8784000" cy="180000"/>
          </a:xfrm>
          <a:prstGeom prst="rect">
            <a:avLst/>
          </a:prstGeom>
          <a:noFill/>
        </p:spPr>
        <p:txBody>
          <a:bodyPr wrap="square">
            <a:spAutoFit/>
          </a:bodyPr>
          <a:lstStyle/>
          <a:p>
            <a:pPr algn="r"/>
            <a:r>
              <a:rPr sz="750" b="0" i="0">
                <a:solidFill>
                  <a:srgbClr val="555555"/>
                </a:solidFill>
              </a:rPr>
              <a:t>28 mars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Consumer Defensive  ·  S&amp;P 500  ·  8 sociétés analysées</a:t>
            </a:r>
          </a:p>
        </p:txBody>
      </p:sp>
      <p:sp>
        <p:nvSpPr>
          <p:cNvPr id="15" name="Rectangle 14"/>
          <p:cNvSpPr/>
          <p:nvPr/>
        </p:nvSpPr>
        <p:spPr>
          <a:xfrm>
            <a:off x="324000" y="864000"/>
            <a:ext cx="8496000" cy="3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64000"/>
            <a:ext cx="36000" cy="39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82000"/>
            <a:ext cx="1152000" cy="360000"/>
          </a:xfrm>
          <a:prstGeom prst="rect">
            <a:avLst/>
          </a:prstGeom>
          <a:noFill/>
        </p:spPr>
        <p:txBody>
          <a:bodyPr wrap="square">
            <a:spAutoFit/>
          </a:bodyPr>
          <a:lstStyle/>
          <a:p>
            <a:pPr algn="l"/>
            <a:r>
              <a:rPr sz="1100" b="1" i="0">
                <a:solidFill>
                  <a:srgbClr val="B06000"/>
                </a:solidFill>
              </a:rPr>
              <a:t>● NEUTRE</a:t>
            </a:r>
          </a:p>
        </p:txBody>
      </p:sp>
      <p:sp>
        <p:nvSpPr>
          <p:cNvPr id="18" name="TextBox 17"/>
          <p:cNvSpPr txBox="1"/>
          <p:nvPr/>
        </p:nvSpPr>
        <p:spPr>
          <a:xfrm>
            <a:off x="1655999" y="900000"/>
            <a:ext cx="7128000" cy="324000"/>
          </a:xfrm>
          <a:prstGeom prst="rect">
            <a:avLst/>
          </a:prstGeom>
          <a:noFill/>
        </p:spPr>
        <p:txBody>
          <a:bodyPr wrap="square">
            <a:spAutoFit/>
          </a:bodyPr>
          <a:lstStyle/>
          <a:p>
            <a:pPr algn="l"/>
            <a:r>
              <a:rPr sz="850" b="0" i="0">
                <a:solidFill>
                  <a:srgbClr val="1B3A6B"/>
                </a:solidFill>
              </a:rPr>
              <a:t>EV/EBITDA med. : 17.5x  ·  Croissance med. : +5.6 %  ·  Marge EBITDA med. : 18.7 %  ·  Score moyen : 58/100</a:t>
            </a:r>
          </a:p>
        </p:txBody>
      </p:sp>
      <p:sp>
        <p:nvSpPr>
          <p:cNvPr id="19" name="Rectangle 18"/>
          <p:cNvSpPr/>
          <p:nvPr/>
        </p:nvSpPr>
        <p:spPr>
          <a:xfrm>
            <a:off x="324000" y="1332000"/>
            <a:ext cx="410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000" y="1350000"/>
            <a:ext cx="4104000" cy="216000"/>
          </a:xfrm>
          <a:prstGeom prst="rect">
            <a:avLst/>
          </a:prstGeom>
          <a:noFill/>
        </p:spPr>
        <p:txBody>
          <a:bodyPr wrap="square">
            <a:spAutoFit/>
          </a:bodyPr>
          <a:lstStyle/>
          <a:p>
            <a:pPr algn="ctr"/>
            <a:r>
              <a:rPr sz="850" b="1" i="0">
                <a:solidFill>
                  <a:srgbClr val="FFFFFF"/>
                </a:solidFill>
              </a:rPr>
              <a:t>CATALYSEURS SECTORIELS</a:t>
            </a:r>
          </a:p>
        </p:txBody>
      </p:sp>
      <p:sp>
        <p:nvSpPr>
          <p:cNvPr id="21" name="Rectangle 20"/>
          <p:cNvSpPr/>
          <p:nvPr/>
        </p:nvSpPr>
        <p:spPr>
          <a:xfrm>
            <a:off x="324000" y="1655999"/>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0000" y="1655999"/>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73999"/>
            <a:ext cx="3851999" cy="198000"/>
          </a:xfrm>
          <a:prstGeom prst="rect">
            <a:avLst/>
          </a:prstGeom>
          <a:noFill/>
        </p:spPr>
        <p:txBody>
          <a:bodyPr wrap="square">
            <a:spAutoFit/>
          </a:bodyPr>
          <a:lstStyle/>
          <a:p>
            <a:pPr algn="l"/>
            <a:r>
              <a:rPr sz="850" b="1" i="0">
                <a:solidFill>
                  <a:srgbClr val="1B3A6B"/>
                </a:solidFill>
              </a:rPr>
              <a:t>Pricing Power</a:t>
            </a:r>
          </a:p>
        </p:txBody>
      </p:sp>
      <p:sp>
        <p:nvSpPr>
          <p:cNvPr id="24" name="TextBox 23"/>
          <p:cNvSpPr txBox="1"/>
          <p:nvPr/>
        </p:nvSpPr>
        <p:spPr>
          <a:xfrm>
            <a:off x="468000" y="1853999"/>
            <a:ext cx="3851999" cy="306000"/>
          </a:xfrm>
          <a:prstGeom prst="rect">
            <a:avLst/>
          </a:prstGeom>
          <a:noFill/>
        </p:spPr>
        <p:txBody>
          <a:bodyPr wrap="square">
            <a:spAutoFit/>
          </a:bodyPr>
          <a:lstStyle/>
          <a:p>
            <a:pPr algn="l"/>
            <a:r>
              <a:rPr sz="750" b="0" i="0">
                <a:solidFill>
                  <a:srgbClr val="555555"/>
                </a:solidFill>
              </a:rPr>
              <a:t>Capacité a répercuter l'inflation des intrants — les leaders de marque maintiennent des marges brutes &gt; 40 %.</a:t>
            </a:r>
          </a:p>
        </p:txBody>
      </p:sp>
      <p:sp>
        <p:nvSpPr>
          <p:cNvPr id="25" name="Rectangle 24"/>
          <p:cNvSpPr/>
          <p:nvPr/>
        </p:nvSpPr>
        <p:spPr>
          <a:xfrm>
            <a:off x="324000" y="2268000"/>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268000"/>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2286000"/>
            <a:ext cx="3851999" cy="198000"/>
          </a:xfrm>
          <a:prstGeom prst="rect">
            <a:avLst/>
          </a:prstGeom>
          <a:noFill/>
        </p:spPr>
        <p:txBody>
          <a:bodyPr wrap="square">
            <a:spAutoFit/>
          </a:bodyPr>
          <a:lstStyle/>
          <a:p>
            <a:pPr algn="l"/>
            <a:r>
              <a:rPr sz="850" b="1" i="0">
                <a:solidFill>
                  <a:srgbClr val="1B3A6B"/>
                </a:solidFill>
              </a:rPr>
              <a:t>Marches Emergents</a:t>
            </a:r>
          </a:p>
        </p:txBody>
      </p:sp>
      <p:sp>
        <p:nvSpPr>
          <p:cNvPr id="28" name="TextBox 27"/>
          <p:cNvSpPr txBox="1"/>
          <p:nvPr/>
        </p:nvSpPr>
        <p:spPr>
          <a:xfrm>
            <a:off x="468000" y="2466000"/>
            <a:ext cx="3851999" cy="306000"/>
          </a:xfrm>
          <a:prstGeom prst="rect">
            <a:avLst/>
          </a:prstGeom>
          <a:noFill/>
        </p:spPr>
        <p:txBody>
          <a:bodyPr wrap="square">
            <a:spAutoFit/>
          </a:bodyPr>
          <a:lstStyle/>
          <a:p>
            <a:pPr algn="l"/>
            <a:r>
              <a:rPr sz="750" b="0" i="0">
                <a:solidFill>
                  <a:srgbClr val="555555"/>
                </a:solidFill>
              </a:rPr>
              <a:t>Croissance de la classe moyenne en Afrique et Asie du Sud-Est — expansion a double chiffre.</a:t>
            </a:r>
          </a:p>
        </p:txBody>
      </p:sp>
      <p:sp>
        <p:nvSpPr>
          <p:cNvPr id="29" name="Rectangle 28"/>
          <p:cNvSpPr/>
          <p:nvPr/>
        </p:nvSpPr>
        <p:spPr>
          <a:xfrm>
            <a:off x="324000" y="2880000"/>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0000" y="2880000"/>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000" y="2898000"/>
            <a:ext cx="3851999" cy="198000"/>
          </a:xfrm>
          <a:prstGeom prst="rect">
            <a:avLst/>
          </a:prstGeom>
          <a:noFill/>
        </p:spPr>
        <p:txBody>
          <a:bodyPr wrap="square">
            <a:spAutoFit/>
          </a:bodyPr>
          <a:lstStyle/>
          <a:p>
            <a:pPr algn="l"/>
            <a:r>
              <a:rPr sz="850" b="1" i="0">
                <a:solidFill>
                  <a:srgbClr val="1B3A6B"/>
                </a:solidFill>
              </a:rPr>
              <a:t>Innovation Produit</a:t>
            </a:r>
          </a:p>
        </p:txBody>
      </p:sp>
      <p:sp>
        <p:nvSpPr>
          <p:cNvPr id="32" name="TextBox 31"/>
          <p:cNvSpPr txBox="1"/>
          <p:nvPr/>
        </p:nvSpPr>
        <p:spPr>
          <a:xfrm>
            <a:off x="468000" y="3078000"/>
            <a:ext cx="3851999" cy="306000"/>
          </a:xfrm>
          <a:prstGeom prst="rect">
            <a:avLst/>
          </a:prstGeom>
          <a:noFill/>
        </p:spPr>
        <p:txBody>
          <a:bodyPr wrap="square">
            <a:spAutoFit/>
          </a:bodyPr>
          <a:lstStyle/>
          <a:p>
            <a:pPr algn="l"/>
            <a:r>
              <a:rPr sz="750" b="0" i="0">
                <a:solidFill>
                  <a:srgbClr val="555555"/>
                </a:solidFill>
              </a:rPr>
              <a:t>Premiumisation et bio — capture de valeur additionnelle sur les segments porteurs.</a:t>
            </a:r>
          </a:p>
        </p:txBody>
      </p:sp>
      <p:sp>
        <p:nvSpPr>
          <p:cNvPr id="33" name="Rectangle 32"/>
          <p:cNvSpPr/>
          <p:nvPr/>
        </p:nvSpPr>
        <p:spPr>
          <a:xfrm>
            <a:off x="4716000" y="1332000"/>
            <a:ext cx="4104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16000" y="1350000"/>
            <a:ext cx="4104000" cy="216000"/>
          </a:xfrm>
          <a:prstGeom prst="rect">
            <a:avLst/>
          </a:prstGeom>
          <a:noFill/>
        </p:spPr>
        <p:txBody>
          <a:bodyPr wrap="square">
            <a:spAutoFit/>
          </a:bodyPr>
          <a:lstStyle/>
          <a:p>
            <a:pPr algn="ctr"/>
            <a:r>
              <a:rPr sz="850" b="1" i="0">
                <a:solidFill>
                  <a:srgbClr val="FFFFFF"/>
                </a:solidFill>
              </a:rPr>
              <a:t>RISQUES PRINCIPAUX</a:t>
            </a:r>
          </a:p>
        </p:txBody>
      </p:sp>
      <p:sp>
        <p:nvSpPr>
          <p:cNvPr id="35" name="Rectangle 34"/>
          <p:cNvSpPr/>
          <p:nvPr/>
        </p:nvSpPr>
        <p:spPr>
          <a:xfrm>
            <a:off x="4716000" y="1655999"/>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2000" y="1655999"/>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60000" y="1673999"/>
            <a:ext cx="3851999" cy="198000"/>
          </a:xfrm>
          <a:prstGeom prst="rect">
            <a:avLst/>
          </a:prstGeom>
          <a:noFill/>
        </p:spPr>
        <p:txBody>
          <a:bodyPr wrap="square">
            <a:spAutoFit/>
          </a:bodyPr>
          <a:lstStyle/>
          <a:p>
            <a:pPr algn="l"/>
            <a:r>
              <a:rPr sz="850" b="1" i="0">
                <a:solidFill>
                  <a:srgbClr val="A82020"/>
                </a:solidFill>
              </a:rPr>
              <a:t>Guerre des Prix</a:t>
            </a:r>
          </a:p>
        </p:txBody>
      </p:sp>
      <p:sp>
        <p:nvSpPr>
          <p:cNvPr id="38" name="TextBox 37"/>
          <p:cNvSpPr txBox="1"/>
          <p:nvPr/>
        </p:nvSpPr>
        <p:spPr>
          <a:xfrm>
            <a:off x="4860000" y="1853999"/>
            <a:ext cx="3851999" cy="306000"/>
          </a:xfrm>
          <a:prstGeom prst="rect">
            <a:avLst/>
          </a:prstGeom>
          <a:noFill/>
        </p:spPr>
        <p:txBody>
          <a:bodyPr wrap="square">
            <a:spAutoFit/>
          </a:bodyPr>
          <a:lstStyle/>
          <a:p>
            <a:pPr algn="l"/>
            <a:r>
              <a:rPr sz="750" b="0" i="0">
                <a:solidFill>
                  <a:srgbClr val="555555"/>
                </a:solidFill>
              </a:rPr>
              <a:t>Pression des distributeurs (Leclerc, Lidl) sur les prix fournisseurs — erosion des marges lors des négociations.</a:t>
            </a:r>
          </a:p>
        </p:txBody>
      </p:sp>
      <p:sp>
        <p:nvSpPr>
          <p:cNvPr id="39" name="Rectangle 38"/>
          <p:cNvSpPr/>
          <p:nvPr/>
        </p:nvSpPr>
        <p:spPr>
          <a:xfrm>
            <a:off x="4716000" y="2268000"/>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2000" y="2268000"/>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60000" y="2286000"/>
            <a:ext cx="3851999" cy="198000"/>
          </a:xfrm>
          <a:prstGeom prst="rect">
            <a:avLst/>
          </a:prstGeom>
          <a:noFill/>
        </p:spPr>
        <p:txBody>
          <a:bodyPr wrap="square">
            <a:spAutoFit/>
          </a:bodyPr>
          <a:lstStyle/>
          <a:p>
            <a:pPr algn="l"/>
            <a:r>
              <a:rPr sz="850" b="1" i="0">
                <a:solidFill>
                  <a:srgbClr val="A82020"/>
                </a:solidFill>
              </a:rPr>
              <a:t>Destockage</a:t>
            </a:r>
          </a:p>
        </p:txBody>
      </p:sp>
      <p:sp>
        <p:nvSpPr>
          <p:cNvPr id="42" name="TextBox 41"/>
          <p:cNvSpPr txBox="1"/>
          <p:nvPr/>
        </p:nvSpPr>
        <p:spPr>
          <a:xfrm>
            <a:off x="4860000" y="2466000"/>
            <a:ext cx="3851999" cy="306000"/>
          </a:xfrm>
          <a:prstGeom prst="rect">
            <a:avLst/>
          </a:prstGeom>
          <a:noFill/>
        </p:spPr>
        <p:txBody>
          <a:bodyPr wrap="square">
            <a:spAutoFit/>
          </a:bodyPr>
          <a:lstStyle/>
          <a:p>
            <a:pPr algn="l"/>
            <a:r>
              <a:rPr sz="750" b="0" i="0">
                <a:solidFill>
                  <a:srgbClr val="555555"/>
                </a:solidFill>
              </a:rPr>
              <a:t>Reduction des stocks en distribution — impact sur volumes T1-T2 2026.</a:t>
            </a:r>
          </a:p>
        </p:txBody>
      </p:sp>
      <p:sp>
        <p:nvSpPr>
          <p:cNvPr id="43" name="Rectangle 42"/>
          <p:cNvSpPr/>
          <p:nvPr/>
        </p:nvSpPr>
        <p:spPr>
          <a:xfrm>
            <a:off x="4716000" y="2880000"/>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2000" y="2880000"/>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0000" y="2898000"/>
            <a:ext cx="3851999" cy="198000"/>
          </a:xfrm>
          <a:prstGeom prst="rect">
            <a:avLst/>
          </a:prstGeom>
          <a:noFill/>
        </p:spPr>
        <p:txBody>
          <a:bodyPr wrap="square">
            <a:spAutoFit/>
          </a:bodyPr>
          <a:lstStyle/>
          <a:p>
            <a:pPr algn="l"/>
            <a:r>
              <a:rPr sz="850" b="1" i="0">
                <a:solidFill>
                  <a:srgbClr val="A82020"/>
                </a:solidFill>
              </a:rPr>
              <a:t>Substitution MDD</a:t>
            </a:r>
          </a:p>
        </p:txBody>
      </p:sp>
      <p:sp>
        <p:nvSpPr>
          <p:cNvPr id="46" name="TextBox 45"/>
          <p:cNvSpPr txBox="1"/>
          <p:nvPr/>
        </p:nvSpPr>
        <p:spPr>
          <a:xfrm>
            <a:off x="4860000" y="3078000"/>
            <a:ext cx="3851999" cy="306000"/>
          </a:xfrm>
          <a:prstGeom prst="rect">
            <a:avLst/>
          </a:prstGeom>
          <a:noFill/>
        </p:spPr>
        <p:txBody>
          <a:bodyPr wrap="square">
            <a:spAutoFit/>
          </a:bodyPr>
          <a:lstStyle/>
          <a:p>
            <a:pPr algn="l"/>
            <a:r>
              <a:rPr sz="750" b="0" i="0">
                <a:solidFill>
                  <a:srgbClr val="555555"/>
                </a:solidFill>
              </a:rPr>
              <a:t>Parts de marche des marques distributeurs en hausse de 2-3 pts — pression structurelle.</a:t>
            </a:r>
          </a:p>
        </p:txBody>
      </p:sp>
      <p:sp>
        <p:nvSpPr>
          <p:cNvPr id="47" name="Rectangle 46"/>
          <p:cNvSpPr/>
          <p:nvPr/>
        </p:nvSpPr>
        <p:spPr>
          <a:xfrm>
            <a:off x="324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24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2000" y="4338000"/>
            <a:ext cx="1872000" cy="324000"/>
          </a:xfrm>
          <a:prstGeom prst="rect">
            <a:avLst/>
          </a:prstGeom>
          <a:noFill/>
        </p:spPr>
        <p:txBody>
          <a:bodyPr wrap="square">
            <a:spAutoFit/>
          </a:bodyPr>
          <a:lstStyle/>
          <a:p>
            <a:pPr algn="l"/>
            <a:r>
              <a:rPr sz="2000" b="1" i="0">
                <a:solidFill>
                  <a:srgbClr val="1B3A6B"/>
                </a:solidFill>
              </a:rPr>
              <a:t>17.5x</a:t>
            </a:r>
          </a:p>
        </p:txBody>
      </p:sp>
      <p:sp>
        <p:nvSpPr>
          <p:cNvPr id="50" name="TextBox 49"/>
          <p:cNvSpPr txBox="1"/>
          <p:nvPr/>
        </p:nvSpPr>
        <p:spPr>
          <a:xfrm>
            <a:off x="432000" y="4644000"/>
            <a:ext cx="1872000" cy="144000"/>
          </a:xfrm>
          <a:prstGeom prst="rect">
            <a:avLst/>
          </a:prstGeom>
          <a:noFill/>
        </p:spPr>
        <p:txBody>
          <a:bodyPr wrap="square">
            <a:spAutoFit/>
          </a:bodyPr>
          <a:lstStyle/>
          <a:p>
            <a:pPr algn="l"/>
            <a:r>
              <a:rPr sz="750" b="0" i="0">
                <a:solidFill>
                  <a:srgbClr val="555555"/>
                </a:solidFill>
              </a:rPr>
              <a:t>EV/EBITDA med.</a:t>
            </a:r>
          </a:p>
        </p:txBody>
      </p:sp>
      <p:sp>
        <p:nvSpPr>
          <p:cNvPr id="51" name="TextBox 50"/>
          <p:cNvSpPr txBox="1"/>
          <p:nvPr/>
        </p:nvSpPr>
        <p:spPr>
          <a:xfrm>
            <a:off x="432000" y="4788000"/>
            <a:ext cx="1872000" cy="125999"/>
          </a:xfrm>
          <a:prstGeom prst="rect">
            <a:avLst/>
          </a:prstGeom>
          <a:noFill/>
        </p:spPr>
        <p:txBody>
          <a:bodyPr wrap="square">
            <a:spAutoFit/>
          </a:bodyPr>
          <a:lstStyle/>
          <a:p>
            <a:pPr algn="l"/>
            <a:r>
              <a:rPr sz="700" b="0" i="0">
                <a:solidFill>
                  <a:srgbClr val="AAAAAA"/>
                </a:solidFill>
              </a:rPr>
              <a:t>vs marche EU</a:t>
            </a:r>
          </a:p>
        </p:txBody>
      </p:sp>
      <p:sp>
        <p:nvSpPr>
          <p:cNvPr id="52" name="Rectangle 51"/>
          <p:cNvSpPr/>
          <p:nvPr/>
        </p:nvSpPr>
        <p:spPr>
          <a:xfrm>
            <a:off x="2448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448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56000" y="4338000"/>
            <a:ext cx="1872000" cy="324000"/>
          </a:xfrm>
          <a:prstGeom prst="rect">
            <a:avLst/>
          </a:prstGeom>
          <a:noFill/>
        </p:spPr>
        <p:txBody>
          <a:bodyPr wrap="square">
            <a:spAutoFit/>
          </a:bodyPr>
          <a:lstStyle/>
          <a:p>
            <a:pPr algn="l"/>
            <a:r>
              <a:rPr sz="2000" b="1" i="0">
                <a:solidFill>
                  <a:srgbClr val="1B3A6B"/>
                </a:solidFill>
              </a:rPr>
              <a:t>+5.6 %</a:t>
            </a:r>
          </a:p>
        </p:txBody>
      </p:sp>
      <p:sp>
        <p:nvSpPr>
          <p:cNvPr id="55" name="TextBox 54"/>
          <p:cNvSpPr txBox="1"/>
          <p:nvPr/>
        </p:nvSpPr>
        <p:spPr>
          <a:xfrm>
            <a:off x="2556000" y="4644000"/>
            <a:ext cx="1872000" cy="144000"/>
          </a:xfrm>
          <a:prstGeom prst="rect">
            <a:avLst/>
          </a:prstGeom>
          <a:noFill/>
        </p:spPr>
        <p:txBody>
          <a:bodyPr wrap="square">
            <a:spAutoFit/>
          </a:bodyPr>
          <a:lstStyle/>
          <a:p>
            <a:pPr algn="l"/>
            <a:r>
              <a:rPr sz="750" b="0" i="0">
                <a:solidFill>
                  <a:srgbClr val="555555"/>
                </a:solidFill>
              </a:rPr>
              <a:t>Croissance Rev. med.</a:t>
            </a:r>
          </a:p>
        </p:txBody>
      </p:sp>
      <p:sp>
        <p:nvSpPr>
          <p:cNvPr id="56" name="TextBox 55"/>
          <p:cNvSpPr txBox="1"/>
          <p:nvPr/>
        </p:nvSpPr>
        <p:spPr>
          <a:xfrm>
            <a:off x="2556000" y="4788000"/>
            <a:ext cx="1872000" cy="125999"/>
          </a:xfrm>
          <a:prstGeom prst="rect">
            <a:avLst/>
          </a:prstGeom>
          <a:noFill/>
        </p:spPr>
        <p:txBody>
          <a:bodyPr wrap="square">
            <a:spAutoFit/>
          </a:bodyPr>
          <a:lstStyle/>
          <a:p>
            <a:pPr algn="l"/>
            <a:r>
              <a:rPr sz="700" b="0" i="0">
                <a:solidFill>
                  <a:srgbClr val="AAAAAA"/>
                </a:solidFill>
              </a:rPr>
              <a:t>YoY sectoriel</a:t>
            </a:r>
          </a:p>
        </p:txBody>
      </p:sp>
      <p:sp>
        <p:nvSpPr>
          <p:cNvPr id="57" name="Rectangle 56"/>
          <p:cNvSpPr/>
          <p:nvPr/>
        </p:nvSpPr>
        <p:spPr>
          <a:xfrm>
            <a:off x="4572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80000" y="4338000"/>
            <a:ext cx="1872000" cy="324000"/>
          </a:xfrm>
          <a:prstGeom prst="rect">
            <a:avLst/>
          </a:prstGeom>
          <a:noFill/>
        </p:spPr>
        <p:txBody>
          <a:bodyPr wrap="square">
            <a:spAutoFit/>
          </a:bodyPr>
          <a:lstStyle/>
          <a:p>
            <a:pPr algn="l"/>
            <a:r>
              <a:rPr sz="2000" b="1" i="0">
                <a:solidFill>
                  <a:srgbClr val="1B3A6B"/>
                </a:solidFill>
              </a:rPr>
              <a:t>18.7 %</a:t>
            </a:r>
          </a:p>
        </p:txBody>
      </p:sp>
      <p:sp>
        <p:nvSpPr>
          <p:cNvPr id="60" name="TextBox 59"/>
          <p:cNvSpPr txBox="1"/>
          <p:nvPr/>
        </p:nvSpPr>
        <p:spPr>
          <a:xfrm>
            <a:off x="4680000" y="4644000"/>
            <a:ext cx="1872000" cy="144000"/>
          </a:xfrm>
          <a:prstGeom prst="rect">
            <a:avLst/>
          </a:prstGeom>
          <a:noFill/>
        </p:spPr>
        <p:txBody>
          <a:bodyPr wrap="square">
            <a:spAutoFit/>
          </a:bodyPr>
          <a:lstStyle/>
          <a:p>
            <a:pPr algn="l"/>
            <a:r>
              <a:rPr sz="750" b="0" i="0">
                <a:solidFill>
                  <a:srgbClr val="555555"/>
                </a:solidFill>
              </a:rPr>
              <a:t>Marge EBITDA med.</a:t>
            </a:r>
          </a:p>
        </p:txBody>
      </p:sp>
      <p:sp>
        <p:nvSpPr>
          <p:cNvPr id="61" name="TextBox 60"/>
          <p:cNvSpPr txBox="1"/>
          <p:nvPr/>
        </p:nvSpPr>
        <p:spPr>
          <a:xfrm>
            <a:off x="4680000" y="4788000"/>
            <a:ext cx="1872000" cy="125999"/>
          </a:xfrm>
          <a:prstGeom prst="rect">
            <a:avLst/>
          </a:prstGeom>
          <a:noFill/>
        </p:spPr>
        <p:txBody>
          <a:bodyPr wrap="square">
            <a:spAutoFit/>
          </a:bodyPr>
          <a:lstStyle/>
          <a:p>
            <a:pPr algn="l"/>
            <a:r>
              <a:rPr sz="700" b="0" i="0">
                <a:solidFill>
                  <a:srgbClr val="AAAAAA"/>
                </a:solidFill>
              </a:rPr>
              <a:t>LTM sectorielle</a:t>
            </a:r>
          </a:p>
        </p:txBody>
      </p:sp>
      <p:sp>
        <p:nvSpPr>
          <p:cNvPr id="62" name="Rectangle 61"/>
          <p:cNvSpPr/>
          <p:nvPr/>
        </p:nvSpPr>
        <p:spPr>
          <a:xfrm>
            <a:off x="6696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696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04000" y="4338000"/>
            <a:ext cx="1872000" cy="324000"/>
          </a:xfrm>
          <a:prstGeom prst="rect">
            <a:avLst/>
          </a:prstGeom>
          <a:noFill/>
        </p:spPr>
        <p:txBody>
          <a:bodyPr wrap="square">
            <a:spAutoFit/>
          </a:bodyPr>
          <a:lstStyle/>
          <a:p>
            <a:pPr algn="l"/>
            <a:r>
              <a:rPr sz="2000" b="1" i="0">
                <a:solidFill>
                  <a:srgbClr val="1B3A6B"/>
                </a:solidFill>
              </a:rPr>
              <a:t>+3.8 %</a:t>
            </a:r>
          </a:p>
        </p:txBody>
      </p:sp>
      <p:sp>
        <p:nvSpPr>
          <p:cNvPr id="65" name="TextBox 64"/>
          <p:cNvSpPr txBox="1"/>
          <p:nvPr/>
        </p:nvSpPr>
        <p:spPr>
          <a:xfrm>
            <a:off x="6804000" y="4644000"/>
            <a:ext cx="1872000" cy="144000"/>
          </a:xfrm>
          <a:prstGeom prst="rect">
            <a:avLst/>
          </a:prstGeom>
          <a:noFill/>
        </p:spPr>
        <p:txBody>
          <a:bodyPr wrap="square">
            <a:spAutoFit/>
          </a:bodyPr>
          <a:lstStyle/>
          <a:p>
            <a:pPr algn="l"/>
            <a:r>
              <a:rPr sz="750" b="0" i="0">
                <a:solidFill>
                  <a:srgbClr val="555555"/>
                </a:solidFill>
              </a:rPr>
              <a:t>Momentum 52W med.</a:t>
            </a:r>
          </a:p>
        </p:txBody>
      </p:sp>
      <p:sp>
        <p:nvSpPr>
          <p:cNvPr id="66" name="TextBox 65"/>
          <p:cNvSpPr txBox="1"/>
          <p:nvPr/>
        </p:nvSpPr>
        <p:spPr>
          <a:xfrm>
            <a:off x="6804000" y="4788000"/>
            <a:ext cx="1872000" cy="125999"/>
          </a:xfrm>
          <a:prstGeom prst="rect">
            <a:avLst/>
          </a:prstGeom>
          <a:noFill/>
        </p:spPr>
        <p:txBody>
          <a:bodyPr wrap="square">
            <a:spAutoFit/>
          </a:bodyPr>
          <a:lstStyle/>
          <a:p>
            <a:pPr algn="l"/>
            <a:r>
              <a:rPr sz="700" b="0" i="0">
                <a:solidFill>
                  <a:srgbClr val="AAAAAA"/>
                </a:solidFill>
              </a:rPr>
              <a:t>Performance relative</a:t>
            </a:r>
          </a:p>
        </p:txBody>
      </p:sp>
      <p:sp>
        <p:nvSpPr>
          <p:cNvPr id="67" name="Rectangle 6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Consumer Defensive  ·  S&amp;P 500  ·  Structure de l'analyse — 20 slides</a:t>
            </a:r>
          </a:p>
        </p:txBody>
      </p:sp>
      <p:sp>
        <p:nvSpPr>
          <p:cNvPr id="15" name="Rectangle 14"/>
          <p:cNvSpPr/>
          <p:nvPr/>
        </p:nvSpPr>
        <p:spPr>
          <a:xfrm>
            <a:off x="324000" y="936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36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044000"/>
            <a:ext cx="684000" cy="576000"/>
          </a:xfrm>
          <a:prstGeom prst="rect">
            <a:avLst/>
          </a:prstGeom>
          <a:noFill/>
        </p:spPr>
        <p:txBody>
          <a:bodyPr wrap="square">
            <a:spAutoFit/>
          </a:bodyPr>
          <a:lstStyle/>
          <a:p>
            <a:pPr algn="ctr"/>
            <a:r>
              <a:rPr sz="2000" b="1" i="0">
                <a:solidFill>
                  <a:srgbClr val="FFFFFF"/>
                </a:solidFill>
              </a:rPr>
              <a:t>01</a:t>
            </a:r>
          </a:p>
        </p:txBody>
      </p:sp>
      <p:sp>
        <p:nvSpPr>
          <p:cNvPr id="18" name="TextBox 17"/>
          <p:cNvSpPr txBox="1"/>
          <p:nvPr/>
        </p:nvSpPr>
        <p:spPr>
          <a:xfrm>
            <a:off x="1116000" y="1008000"/>
            <a:ext cx="6588000" cy="288000"/>
          </a:xfrm>
          <a:prstGeom prst="rect">
            <a:avLst/>
          </a:prstGeom>
          <a:noFill/>
        </p:spPr>
        <p:txBody>
          <a:bodyPr wrap="square">
            <a:spAutoFit/>
          </a:bodyPr>
          <a:lstStyle/>
          <a:p>
            <a:pPr algn="l"/>
            <a:r>
              <a:rPr sz="1100" b="1" i="0">
                <a:solidFill>
                  <a:srgbClr val="1B3A6B"/>
                </a:solidFill>
              </a:rPr>
              <a:t>Presentation du Secteur</a:t>
            </a:r>
          </a:p>
        </p:txBody>
      </p:sp>
      <p:sp>
        <p:nvSpPr>
          <p:cNvPr id="19" name="TextBox 18"/>
          <p:cNvSpPr txBox="1"/>
          <p:nvPr/>
        </p:nvSpPr>
        <p:spPr>
          <a:xfrm>
            <a:off x="1116000" y="1332000"/>
            <a:ext cx="6588000" cy="288000"/>
          </a:xfrm>
          <a:prstGeom prst="rect">
            <a:avLst/>
          </a:prstGeom>
          <a:noFill/>
        </p:spPr>
        <p:txBody>
          <a:bodyPr wrap="square">
            <a:spAutoFit/>
          </a:bodyPr>
          <a:lstStyle/>
          <a:p>
            <a:pPr algn="l"/>
            <a:r>
              <a:rPr sz="800" b="0" i="0">
                <a:solidFill>
                  <a:srgbClr val="555555"/>
                </a:solidFill>
              </a:rPr>
              <a:t>Caractéristiques structurelles · Ratios comparatifs · Positionnement cycle</a:t>
            </a:r>
          </a:p>
        </p:txBody>
      </p:sp>
      <p:sp>
        <p:nvSpPr>
          <p:cNvPr id="20" name="TextBox 19"/>
          <p:cNvSpPr txBox="1"/>
          <p:nvPr/>
        </p:nvSpPr>
        <p:spPr>
          <a:xfrm>
            <a:off x="8352000" y="1116000"/>
            <a:ext cx="468000" cy="432000"/>
          </a:xfrm>
          <a:prstGeom prst="rect">
            <a:avLst/>
          </a:prstGeom>
          <a:noFill/>
        </p:spPr>
        <p:txBody>
          <a:bodyPr wrap="square">
            <a:spAutoFit/>
          </a:bodyPr>
          <a:lstStyle/>
          <a:p>
            <a:pPr algn="r"/>
            <a:r>
              <a:rPr sz="800" b="0" i="0">
                <a:solidFill>
                  <a:srgbClr val="AAAAAA"/>
                </a:solidFill>
              </a:rPr>
              <a:t>p. 5–7</a:t>
            </a:r>
          </a:p>
        </p:txBody>
      </p:sp>
      <p:sp>
        <p:nvSpPr>
          <p:cNvPr id="21" name="Rectangle 20"/>
          <p:cNvSpPr/>
          <p:nvPr/>
        </p:nvSpPr>
        <p:spPr>
          <a:xfrm>
            <a:off x="324000" y="1872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72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1980000"/>
            <a:ext cx="684000" cy="576000"/>
          </a:xfrm>
          <a:prstGeom prst="rect">
            <a:avLst/>
          </a:prstGeom>
          <a:noFill/>
        </p:spPr>
        <p:txBody>
          <a:bodyPr wrap="square">
            <a:spAutoFit/>
          </a:bodyPr>
          <a:lstStyle/>
          <a:p>
            <a:pPr algn="ctr"/>
            <a:r>
              <a:rPr sz="2000" b="1" i="0">
                <a:solidFill>
                  <a:srgbClr val="FFFFFF"/>
                </a:solidFill>
              </a:rPr>
              <a:t>02</a:t>
            </a:r>
          </a:p>
        </p:txBody>
      </p:sp>
      <p:sp>
        <p:nvSpPr>
          <p:cNvPr id="24" name="TextBox 23"/>
          <p:cNvSpPr txBox="1"/>
          <p:nvPr/>
        </p:nvSpPr>
        <p:spPr>
          <a:xfrm>
            <a:off x="1116000" y="1944000"/>
            <a:ext cx="6588000" cy="288000"/>
          </a:xfrm>
          <a:prstGeom prst="rect">
            <a:avLst/>
          </a:prstGeom>
          <a:noFill/>
        </p:spPr>
        <p:txBody>
          <a:bodyPr wrap="square">
            <a:spAutoFit/>
          </a:bodyPr>
          <a:lstStyle/>
          <a:p>
            <a:pPr algn="l"/>
            <a:r>
              <a:rPr sz="1100" b="1" i="0">
                <a:solidFill>
                  <a:srgbClr val="1B3A6B"/>
                </a:solidFill>
              </a:rPr>
              <a:t>Cartographie des Societes</a:t>
            </a:r>
          </a:p>
        </p:txBody>
      </p:sp>
      <p:sp>
        <p:nvSpPr>
          <p:cNvPr id="25" name="TextBox 24"/>
          <p:cNvSpPr txBox="1"/>
          <p:nvPr/>
        </p:nvSpPr>
        <p:spPr>
          <a:xfrm>
            <a:off x="1116000" y="2268000"/>
            <a:ext cx="6588000" cy="288000"/>
          </a:xfrm>
          <a:prstGeom prst="rect">
            <a:avLst/>
          </a:prstGeom>
          <a:noFill/>
        </p:spPr>
        <p:txBody>
          <a:bodyPr wrap="square">
            <a:spAutoFit/>
          </a:bodyPr>
          <a:lstStyle/>
          <a:p>
            <a:pPr algn="l"/>
            <a:r>
              <a:rPr sz="800" b="0" i="0">
                <a:solidFill>
                  <a:srgbClr val="555555"/>
                </a:solidFill>
              </a:rPr>
              <a:t>8 sociétés · Scatter valorisation · Scores FinSight detailles</a:t>
            </a:r>
          </a:p>
        </p:txBody>
      </p:sp>
      <p:sp>
        <p:nvSpPr>
          <p:cNvPr id="26" name="TextBox 25"/>
          <p:cNvSpPr txBox="1"/>
          <p:nvPr/>
        </p:nvSpPr>
        <p:spPr>
          <a:xfrm>
            <a:off x="8352000" y="2052000"/>
            <a:ext cx="468000" cy="432000"/>
          </a:xfrm>
          <a:prstGeom prst="rect">
            <a:avLst/>
          </a:prstGeom>
          <a:noFill/>
        </p:spPr>
        <p:txBody>
          <a:bodyPr wrap="square">
            <a:spAutoFit/>
          </a:bodyPr>
          <a:lstStyle/>
          <a:p>
            <a:pPr algn="r"/>
            <a:r>
              <a:rPr sz="800" b="0" i="0">
                <a:solidFill>
                  <a:srgbClr val="AAAAAA"/>
                </a:solidFill>
              </a:rPr>
              <a:t>p. 9–11</a:t>
            </a:r>
          </a:p>
        </p:txBody>
      </p:sp>
      <p:sp>
        <p:nvSpPr>
          <p:cNvPr id="27" name="Rectangle 26"/>
          <p:cNvSpPr/>
          <p:nvPr/>
        </p:nvSpPr>
        <p:spPr>
          <a:xfrm>
            <a:off x="324000" y="2808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08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2916000"/>
            <a:ext cx="684000" cy="576000"/>
          </a:xfrm>
          <a:prstGeom prst="rect">
            <a:avLst/>
          </a:prstGeom>
          <a:noFill/>
        </p:spPr>
        <p:txBody>
          <a:bodyPr wrap="square">
            <a:spAutoFit/>
          </a:bodyPr>
          <a:lstStyle/>
          <a:p>
            <a:pPr algn="ctr"/>
            <a:r>
              <a:rPr sz="2000" b="1" i="0">
                <a:solidFill>
                  <a:srgbClr val="FFFFFF"/>
                </a:solidFill>
              </a:rPr>
              <a:t>03</a:t>
            </a:r>
          </a:p>
        </p:txBody>
      </p:sp>
      <p:sp>
        <p:nvSpPr>
          <p:cNvPr id="30" name="TextBox 29"/>
          <p:cNvSpPr txBox="1"/>
          <p:nvPr/>
        </p:nvSpPr>
        <p:spPr>
          <a:xfrm>
            <a:off x="1116000" y="2880000"/>
            <a:ext cx="6588000" cy="288000"/>
          </a:xfrm>
          <a:prstGeom prst="rect">
            <a:avLst/>
          </a:prstGeom>
          <a:noFill/>
        </p:spPr>
        <p:txBody>
          <a:bodyPr wrap="square">
            <a:spAutoFit/>
          </a:bodyPr>
          <a:lstStyle/>
          <a:p>
            <a:pPr algn="l"/>
            <a:r>
              <a:rPr sz="1100" b="1" i="0">
                <a:solidFill>
                  <a:srgbClr val="1B3A6B"/>
                </a:solidFill>
              </a:rPr>
              <a:t>Top 3 &amp; Valorisations</a:t>
            </a:r>
          </a:p>
        </p:txBody>
      </p:sp>
      <p:sp>
        <p:nvSpPr>
          <p:cNvPr id="31" name="TextBox 30"/>
          <p:cNvSpPr txBox="1"/>
          <p:nvPr/>
        </p:nvSpPr>
        <p:spPr>
          <a:xfrm>
            <a:off x="1116000" y="3204000"/>
            <a:ext cx="6588000" cy="288000"/>
          </a:xfrm>
          <a:prstGeom prst="rect">
            <a:avLst/>
          </a:prstGeom>
          <a:noFill/>
        </p:spPr>
        <p:txBody>
          <a:bodyPr wrap="square">
            <a:spAutoFit/>
          </a:bodyPr>
          <a:lstStyle/>
          <a:p>
            <a:pPr algn="l"/>
            <a:r>
              <a:rPr sz="800" b="0" i="0">
                <a:solidFill>
                  <a:srgbClr val="555555"/>
                </a:solidFill>
              </a:rPr>
              <a:t>Synthese Top 3 · Distribution EV/EBITDA · Zone d'entree optimale</a:t>
            </a:r>
          </a:p>
        </p:txBody>
      </p:sp>
      <p:sp>
        <p:nvSpPr>
          <p:cNvPr id="32" name="TextBox 31"/>
          <p:cNvSpPr txBox="1"/>
          <p:nvPr/>
        </p:nvSpPr>
        <p:spPr>
          <a:xfrm>
            <a:off x="8352000" y="2988000"/>
            <a:ext cx="468000" cy="432000"/>
          </a:xfrm>
          <a:prstGeom prst="rect">
            <a:avLst/>
          </a:prstGeom>
          <a:noFill/>
        </p:spPr>
        <p:txBody>
          <a:bodyPr wrap="square">
            <a:spAutoFit/>
          </a:bodyPr>
          <a:lstStyle/>
          <a:p>
            <a:pPr algn="r"/>
            <a:r>
              <a:rPr sz="800" b="0" i="0">
                <a:solidFill>
                  <a:srgbClr val="AAAAAA"/>
                </a:solidFill>
              </a:rPr>
              <a:t>p. 13–15</a:t>
            </a:r>
          </a:p>
        </p:txBody>
      </p:sp>
      <p:sp>
        <p:nvSpPr>
          <p:cNvPr id="33" name="Rectangle 32"/>
          <p:cNvSpPr/>
          <p:nvPr/>
        </p:nvSpPr>
        <p:spPr>
          <a:xfrm>
            <a:off x="324000" y="3744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744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3852000"/>
            <a:ext cx="684000" cy="576000"/>
          </a:xfrm>
          <a:prstGeom prst="rect">
            <a:avLst/>
          </a:prstGeom>
          <a:noFill/>
        </p:spPr>
        <p:txBody>
          <a:bodyPr wrap="square">
            <a:spAutoFit/>
          </a:bodyPr>
          <a:lstStyle/>
          <a:p>
            <a:pPr algn="ctr"/>
            <a:r>
              <a:rPr sz="2000" b="1" i="0">
                <a:solidFill>
                  <a:srgbClr val="FFFFFF"/>
                </a:solidFill>
              </a:rPr>
              <a:t>04</a:t>
            </a:r>
          </a:p>
        </p:txBody>
      </p:sp>
      <p:sp>
        <p:nvSpPr>
          <p:cNvPr id="36" name="TextBox 35"/>
          <p:cNvSpPr txBox="1"/>
          <p:nvPr/>
        </p:nvSpPr>
        <p:spPr>
          <a:xfrm>
            <a:off x="1116000" y="3816000"/>
            <a:ext cx="6588000" cy="288000"/>
          </a:xfrm>
          <a:prstGeom prst="rect">
            <a:avLst/>
          </a:prstGeom>
          <a:noFill/>
        </p:spPr>
        <p:txBody>
          <a:bodyPr wrap="square">
            <a:spAutoFit/>
          </a:bodyPr>
          <a:lstStyle/>
          <a:p>
            <a:pPr algn="l"/>
            <a:r>
              <a:rPr sz="1100" b="1" i="0">
                <a:solidFill>
                  <a:srgbClr val="1B3A6B"/>
                </a:solidFill>
              </a:rPr>
              <a:t>Risques, Sentiment &amp; Méthodologie</a:t>
            </a:r>
          </a:p>
        </p:txBody>
      </p:sp>
      <p:sp>
        <p:nvSpPr>
          <p:cNvPr id="37" name="TextBox 36"/>
          <p:cNvSpPr txBox="1"/>
          <p:nvPr/>
        </p:nvSpPr>
        <p:spPr>
          <a:xfrm>
            <a:off x="1116000" y="4140000"/>
            <a:ext cx="6588000" cy="288000"/>
          </a:xfrm>
          <a:prstGeom prst="rect">
            <a:avLst/>
          </a:prstGeom>
          <a:noFill/>
        </p:spPr>
        <p:txBody>
          <a:bodyPr wrap="square">
            <a:spAutoFit/>
          </a:bodyPr>
          <a:lstStyle/>
          <a:p>
            <a:pPr algn="l"/>
            <a:r>
              <a:rPr sz="800" b="0" i="0">
                <a:solidFill>
                  <a:srgbClr val="555555"/>
                </a:solidFill>
              </a:rPr>
              <a:t>Conditions d'invalidation · FinBERT · Sources &amp; data lineage</a:t>
            </a:r>
          </a:p>
        </p:txBody>
      </p:sp>
      <p:sp>
        <p:nvSpPr>
          <p:cNvPr id="38" name="TextBox 37"/>
          <p:cNvSpPr txBox="1"/>
          <p:nvPr/>
        </p:nvSpPr>
        <p:spPr>
          <a:xfrm>
            <a:off x="8352000" y="3924000"/>
            <a:ext cx="468000" cy="432000"/>
          </a:xfrm>
          <a:prstGeom prst="rect">
            <a:avLst/>
          </a:prstGeom>
          <a:noFill/>
        </p:spPr>
        <p:txBody>
          <a:bodyPr wrap="square">
            <a:spAutoFit/>
          </a:bodyPr>
          <a:lstStyle/>
          <a:p>
            <a:pPr algn="r"/>
            <a:r>
              <a:rPr sz="800" b="0" i="0">
                <a:solidFill>
                  <a:srgbClr val="AAAAAA"/>
                </a:solidFill>
              </a:rPr>
              <a:t>p. 17–19</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Presentation du Secteur</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Caractéristiques structurelles, ratios comparatifs &amp; positionnement cycle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Presentation du Secteur</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Consumer Defensive  ·  Caractéristiques structurelles &amp; métriques de référence</a:t>
            </a:r>
          </a:p>
        </p:txBody>
      </p:sp>
      <p:sp>
        <p:nvSpPr>
          <p:cNvPr id="15" name="Rectangle 14"/>
          <p:cNvSpPr/>
          <p:nvPr/>
        </p:nvSpPr>
        <p:spPr>
          <a:xfrm>
            <a:off x="324000" y="900000"/>
            <a:ext cx="4932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60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4716000" cy="1620000"/>
          </a:xfrm>
          <a:prstGeom prst="rect">
            <a:avLst/>
          </a:prstGeom>
          <a:noFill/>
        </p:spPr>
        <p:txBody>
          <a:bodyPr wrap="square">
            <a:spAutoFit/>
          </a:bodyPr>
          <a:lstStyle/>
          <a:p>
            <a:pPr algn="l"/>
            <a:r>
              <a:rPr sz="1200" b="0" i="0">
                <a:solidFill>
                  <a:srgbClr val="555555"/>
                </a:solidFill>
              </a:rPr>
              <a:t>Le secteur Consommation Defensive regroupe les producteurs et distributeurs de biens essentiels — alimentation, boissons, hygiene-beaute. Modèle résilient par nature, il offre une protection en periode de recession tout en beneficiant du pricing power des marques leaders.</a:t>
            </a:r>
          </a:p>
        </p:txBody>
      </p:sp>
      <p:sp>
        <p:nvSpPr>
          <p:cNvPr id="18" name="Rectangle 17"/>
          <p:cNvSpPr/>
          <p:nvPr/>
        </p:nvSpPr>
        <p:spPr>
          <a:xfrm>
            <a:off x="468000" y="2700000"/>
            <a:ext cx="4680000" cy="16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2718000"/>
            <a:ext cx="4500000" cy="144000"/>
          </a:xfrm>
          <a:prstGeom prst="rect">
            <a:avLst/>
          </a:prstGeom>
          <a:noFill/>
        </p:spPr>
        <p:txBody>
          <a:bodyPr wrap="square">
            <a:spAutoFit/>
          </a:bodyPr>
          <a:lstStyle/>
          <a:p>
            <a:pPr algn="l"/>
            <a:r>
              <a:rPr sz="750" b="1" i="0">
                <a:solidFill>
                  <a:srgbClr val="FFFFFF"/>
                </a:solidFill>
              </a:rPr>
              <a:t>CATALYSEURS CLES</a:t>
            </a:r>
          </a:p>
        </p:txBody>
      </p:sp>
      <p:sp>
        <p:nvSpPr>
          <p:cNvPr id="20" name="Rectangle 19"/>
          <p:cNvSpPr/>
          <p:nvPr/>
        </p:nvSpPr>
        <p:spPr>
          <a:xfrm>
            <a:off x="468000" y="2898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00" y="2898000"/>
            <a:ext cx="4428000" cy="162000"/>
          </a:xfrm>
          <a:prstGeom prst="rect">
            <a:avLst/>
          </a:prstGeom>
          <a:noFill/>
        </p:spPr>
        <p:txBody>
          <a:bodyPr wrap="square">
            <a:spAutoFit/>
          </a:bodyPr>
          <a:lstStyle/>
          <a:p>
            <a:pPr algn="l"/>
            <a:r>
              <a:rPr sz="800" b="1" i="0">
                <a:solidFill>
                  <a:srgbClr val="1B3A6B"/>
                </a:solidFill>
              </a:rPr>
              <a:t>Pricing Power</a:t>
            </a:r>
          </a:p>
        </p:txBody>
      </p:sp>
      <p:sp>
        <p:nvSpPr>
          <p:cNvPr id="22" name="TextBox 21"/>
          <p:cNvSpPr txBox="1"/>
          <p:nvPr/>
        </p:nvSpPr>
        <p:spPr>
          <a:xfrm>
            <a:off x="576000" y="3060000"/>
            <a:ext cx="4428000" cy="306000"/>
          </a:xfrm>
          <a:prstGeom prst="rect">
            <a:avLst/>
          </a:prstGeom>
          <a:noFill/>
        </p:spPr>
        <p:txBody>
          <a:bodyPr wrap="square">
            <a:spAutoFit/>
          </a:bodyPr>
          <a:lstStyle/>
          <a:p>
            <a:pPr algn="l"/>
            <a:r>
              <a:rPr sz="750" b="0" i="0">
                <a:solidFill>
                  <a:srgbClr val="555555"/>
                </a:solidFill>
              </a:rPr>
              <a:t>Capacité a répercuter l'inflation des intrants — les leaders de marque maintiennent des marges brutes &gt; 40 %.</a:t>
            </a:r>
          </a:p>
        </p:txBody>
      </p:sp>
      <p:sp>
        <p:nvSpPr>
          <p:cNvPr id="23" name="Rectangle 22"/>
          <p:cNvSpPr/>
          <p:nvPr/>
        </p:nvSpPr>
        <p:spPr>
          <a:xfrm>
            <a:off x="468000" y="3384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00" y="3384000"/>
            <a:ext cx="4428000" cy="162000"/>
          </a:xfrm>
          <a:prstGeom prst="rect">
            <a:avLst/>
          </a:prstGeom>
          <a:noFill/>
        </p:spPr>
        <p:txBody>
          <a:bodyPr wrap="square">
            <a:spAutoFit/>
          </a:bodyPr>
          <a:lstStyle/>
          <a:p>
            <a:pPr algn="l"/>
            <a:r>
              <a:rPr sz="800" b="1" i="0">
                <a:solidFill>
                  <a:srgbClr val="1B3A6B"/>
                </a:solidFill>
              </a:rPr>
              <a:t>Marches Emergents</a:t>
            </a:r>
          </a:p>
        </p:txBody>
      </p:sp>
      <p:sp>
        <p:nvSpPr>
          <p:cNvPr id="25" name="TextBox 24"/>
          <p:cNvSpPr txBox="1"/>
          <p:nvPr/>
        </p:nvSpPr>
        <p:spPr>
          <a:xfrm>
            <a:off x="576000" y="3546000"/>
            <a:ext cx="4428000" cy="306000"/>
          </a:xfrm>
          <a:prstGeom prst="rect">
            <a:avLst/>
          </a:prstGeom>
          <a:noFill/>
        </p:spPr>
        <p:txBody>
          <a:bodyPr wrap="square">
            <a:spAutoFit/>
          </a:bodyPr>
          <a:lstStyle/>
          <a:p>
            <a:pPr algn="l"/>
            <a:r>
              <a:rPr sz="750" b="0" i="0">
                <a:solidFill>
                  <a:srgbClr val="555555"/>
                </a:solidFill>
              </a:rPr>
              <a:t>Croissance de la classe moyenne en Afrique et Asie du Sud-Est — expansion a double chiffre.</a:t>
            </a:r>
          </a:p>
        </p:txBody>
      </p:sp>
      <p:sp>
        <p:nvSpPr>
          <p:cNvPr id="26" name="Rectangle 25"/>
          <p:cNvSpPr/>
          <p:nvPr/>
        </p:nvSpPr>
        <p:spPr>
          <a:xfrm>
            <a:off x="468000" y="3870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00" y="3870000"/>
            <a:ext cx="4428000" cy="162000"/>
          </a:xfrm>
          <a:prstGeom prst="rect">
            <a:avLst/>
          </a:prstGeom>
          <a:noFill/>
        </p:spPr>
        <p:txBody>
          <a:bodyPr wrap="square">
            <a:spAutoFit/>
          </a:bodyPr>
          <a:lstStyle/>
          <a:p>
            <a:pPr algn="l"/>
            <a:r>
              <a:rPr sz="800" b="1" i="0">
                <a:solidFill>
                  <a:srgbClr val="1B3A6B"/>
                </a:solidFill>
              </a:rPr>
              <a:t>Innovation Produit</a:t>
            </a:r>
          </a:p>
        </p:txBody>
      </p:sp>
      <p:sp>
        <p:nvSpPr>
          <p:cNvPr id="28" name="TextBox 27"/>
          <p:cNvSpPr txBox="1"/>
          <p:nvPr/>
        </p:nvSpPr>
        <p:spPr>
          <a:xfrm>
            <a:off x="576000" y="4031999"/>
            <a:ext cx="4428000" cy="306000"/>
          </a:xfrm>
          <a:prstGeom prst="rect">
            <a:avLst/>
          </a:prstGeom>
          <a:noFill/>
        </p:spPr>
        <p:txBody>
          <a:bodyPr wrap="square">
            <a:spAutoFit/>
          </a:bodyPr>
          <a:lstStyle/>
          <a:p>
            <a:pPr algn="l"/>
            <a:r>
              <a:rPr sz="750" b="0" i="0">
                <a:solidFill>
                  <a:srgbClr val="555555"/>
                </a:solidFill>
              </a:rPr>
              <a:t>Premiumisation et bio — capture de valeur additionnelle sur les segments porteurs.</a:t>
            </a:r>
          </a:p>
        </p:txBody>
      </p:sp>
      <p:graphicFrame>
        <p:nvGraphicFramePr>
          <p:cNvPr id="29" name="Table 28"/>
          <p:cNvGraphicFramePr>
            <a:graphicFrameLocks noGrp="1"/>
          </p:cNvGraphicFramePr>
          <p:nvPr/>
        </p:nvGraphicFramePr>
        <p:xfrm>
          <a:off x="5436000" y="900000"/>
          <a:ext cx="3383999" cy="1461599"/>
        </p:xfrm>
        <a:graphic>
          <a:graphicData uri="http://schemas.openxmlformats.org/drawingml/2006/table">
            <a:tbl>
              <a:tblPr firstRow="1" bandRow="1">
                <a:tableStyleId>{5C22544A-7EE6-4342-B048-85BDC9FD1C3A}</a:tableStyleId>
              </a:tblPr>
              <a:tblGrid>
                <a:gridCol w="1259999"/>
                <a:gridCol w="900000"/>
                <a:gridCol w="1224000"/>
              </a:tblGrid>
              <a:tr h="208799">
                <a:tc>
                  <a:txBody>
                    <a:bodyPr/>
                    <a:lstStyle/>
                    <a:p>
                      <a:pPr algn="ctr"/>
                      <a:r>
                        <a:rPr sz="750" b="1">
                          <a:solidFill>
                            <a:srgbClr val="FFFFFF"/>
                          </a:solidFill>
                        </a:rPr>
                        <a:t>Metrique</a:t>
                      </a:r>
                    </a:p>
                  </a:txBody>
                  <a:tcPr>
                    <a:solidFill>
                      <a:srgbClr val="1B3A6B"/>
                    </a:solidFill>
                  </a:tcPr>
                </a:tc>
                <a:tc>
                  <a:txBody>
                    <a:bodyPr/>
                    <a:lstStyle/>
                    <a:p>
                      <a:pPr algn="ctr"/>
                      <a:r>
                        <a:rPr sz="750" b="1">
                          <a:solidFill>
                            <a:srgbClr val="FFFFFF"/>
                          </a:solidFill>
                        </a:rPr>
                        <a:t>Valeur</a:t>
                      </a:r>
                    </a:p>
                  </a:txBody>
                  <a:tcPr>
                    <a:solidFill>
                      <a:srgbClr val="1B3A6B"/>
                    </a:solidFill>
                  </a:tcPr>
                </a:tc>
                <a:tc>
                  <a:txBody>
                    <a:bodyPr/>
                    <a:lstStyle/>
                    <a:p>
                      <a:pPr algn="ctr"/>
                      <a:r>
                        <a:rPr sz="750" b="1">
                          <a:solidFill>
                            <a:srgbClr val="FFFFFF"/>
                          </a:solidFill>
                        </a:rPr>
                        <a:t>Lecture</a:t>
                      </a:r>
                    </a:p>
                  </a:txBody>
                  <a:tcPr>
                    <a:solidFill>
                      <a:srgbClr val="1B3A6B"/>
                    </a:solidFill>
                  </a:tcPr>
                </a:tc>
              </a:tr>
              <a:tr h="208799">
                <a:tc>
                  <a:txBody>
                    <a:bodyPr/>
                    <a:lstStyle/>
                    <a:p>
                      <a:pPr algn="ctr"/>
                      <a:r>
                        <a:rPr sz="750" b="0">
                          <a:solidFill>
                            <a:srgbClr val="1A1A1A"/>
                          </a:solidFill>
                        </a:rPr>
                        <a:t>Org. Growth</a:t>
                      </a:r>
                    </a:p>
                  </a:txBody>
                  <a:tcPr>
                    <a:noFill/>
                  </a:tcPr>
                </a:tc>
                <a:tc>
                  <a:txBody>
                    <a:bodyPr/>
                    <a:lstStyle/>
                    <a:p>
                      <a:pPr algn="ctr"/>
                      <a:r>
                        <a:rPr sz="750" b="0">
                          <a:solidFill>
                            <a:srgbClr val="1A1A1A"/>
                          </a:solidFill>
                        </a:rPr>
                        <a:t>+3,8 %</a:t>
                      </a:r>
                    </a:p>
                  </a:txBody>
                  <a:tcPr>
                    <a:noFill/>
                  </a:tcPr>
                </a:tc>
                <a:tc>
                  <a:txBody>
                    <a:bodyPr/>
                    <a:lstStyle/>
                    <a:p>
                      <a:pPr algn="ctr"/>
                      <a:r>
                        <a:rPr sz="750" b="0">
                          <a:solidFill>
                            <a:srgbClr val="1A1A1A"/>
                          </a:solidFill>
                        </a:rPr>
                        <a:t>Sain</a:t>
                      </a:r>
                    </a:p>
                  </a:txBody>
                  <a:tcPr>
                    <a:noFill/>
                  </a:tcPr>
                </a:tc>
              </a:tr>
              <a:tr h="208799">
                <a:tc>
                  <a:txBody>
                    <a:bodyPr/>
                    <a:lstStyle/>
                    <a:p>
                      <a:pPr algn="ctr"/>
                      <a:r>
                        <a:rPr sz="750" b="0">
                          <a:solidFill>
                            <a:srgbClr val="1A1A1A"/>
                          </a:solidFill>
                        </a:rPr>
                        <a:t>Gross Margin</a:t>
                      </a:r>
                    </a:p>
                  </a:txBody>
                  <a:tcPr>
                    <a:solidFill>
                      <a:srgbClr val="F5F7FA"/>
                    </a:solidFill>
                  </a:tcPr>
                </a:tc>
                <a:tc>
                  <a:txBody>
                    <a:bodyPr/>
                    <a:lstStyle/>
                    <a:p>
                      <a:pPr algn="ctr"/>
                      <a:r>
                        <a:rPr sz="750" b="0">
                          <a:solidFill>
                            <a:srgbClr val="1A1A1A"/>
                          </a:solidFill>
                        </a:rPr>
                        <a:t>42 %</a:t>
                      </a:r>
                    </a:p>
                  </a:txBody>
                  <a:tcPr>
                    <a:solidFill>
                      <a:srgbClr val="F5F7FA"/>
                    </a:solidFill>
                  </a:tcPr>
                </a:tc>
                <a:tc>
                  <a:txBody>
                    <a:bodyPr/>
                    <a:lstStyle/>
                    <a:p>
                      <a:pPr algn="ctr"/>
                      <a:r>
                        <a:rPr sz="750" b="0">
                          <a:solidFill>
                            <a:srgbClr val="1A1A1A"/>
                          </a:solidFill>
                        </a:rPr>
                        <a:t>Stable</a:t>
                      </a:r>
                    </a:p>
                  </a:txBody>
                  <a:tcPr>
                    <a:solidFill>
                      <a:srgbClr val="F5F7FA"/>
                    </a:solidFill>
                  </a:tcPr>
                </a:tc>
              </a:tr>
              <a:tr h="208799">
                <a:tc>
                  <a:txBody>
                    <a:bodyPr/>
                    <a:lstStyle/>
                    <a:p>
                      <a:pPr algn="ctr"/>
                      <a:r>
                        <a:rPr sz="750" b="0">
                          <a:solidFill>
                            <a:srgbClr val="1A1A1A"/>
                          </a:solidFill>
                        </a:rPr>
                        <a:t>FCF Yield</a:t>
                      </a:r>
                    </a:p>
                  </a:txBody>
                  <a:tcPr>
                    <a:noFill/>
                  </a:tcPr>
                </a:tc>
                <a:tc>
                  <a:txBody>
                    <a:bodyPr/>
                    <a:lstStyle/>
                    <a:p>
                      <a:pPr algn="ctr"/>
                      <a:r>
                        <a:rPr sz="750" b="0">
                          <a:solidFill>
                            <a:srgbClr val="1A1A1A"/>
                          </a:solidFill>
                        </a:rPr>
                        <a:t>4,2 %</a:t>
                      </a:r>
                    </a:p>
                  </a:txBody>
                  <a:tcPr>
                    <a:noFill/>
                  </a:tcPr>
                </a:tc>
                <a:tc>
                  <a:txBody>
                    <a:bodyPr/>
                    <a:lstStyle/>
                    <a:p>
                      <a:pPr algn="ctr"/>
                      <a:r>
                        <a:rPr sz="750" b="0">
                          <a:solidFill>
                            <a:srgbClr val="1A1A1A"/>
                          </a:solidFill>
                        </a:rPr>
                        <a:t>Attractif</a:t>
                      </a:r>
                    </a:p>
                  </a:txBody>
                  <a:tcPr>
                    <a:noFill/>
                  </a:tcPr>
                </a:tc>
              </a:tr>
              <a:tr h="208799">
                <a:tc>
                  <a:txBody>
                    <a:bodyPr/>
                    <a:lstStyle/>
                    <a:p>
                      <a:pPr algn="ctr"/>
                      <a:r>
                        <a:rPr sz="750" b="0">
                          <a:solidFill>
                            <a:srgbClr val="1A1A1A"/>
                          </a:solidFill>
                        </a:rPr>
                        <a:t>Div. Yield</a:t>
                      </a:r>
                    </a:p>
                  </a:txBody>
                  <a:tcPr>
                    <a:solidFill>
                      <a:srgbClr val="F5F7FA"/>
                    </a:solidFill>
                  </a:tcPr>
                </a:tc>
                <a:tc>
                  <a:txBody>
                    <a:bodyPr/>
                    <a:lstStyle/>
                    <a:p>
                      <a:pPr algn="ctr"/>
                      <a:r>
                        <a:rPr sz="750" b="0">
                          <a:solidFill>
                            <a:srgbClr val="1A1A1A"/>
                          </a:solidFill>
                        </a:rPr>
                        <a:t>2,8 %</a:t>
                      </a:r>
                    </a:p>
                  </a:txBody>
                  <a:tcPr>
                    <a:solidFill>
                      <a:srgbClr val="F5F7FA"/>
                    </a:solidFill>
                  </a:tcPr>
                </a:tc>
                <a:tc>
                  <a:txBody>
                    <a:bodyPr/>
                    <a:lstStyle/>
                    <a:p>
                      <a:pPr algn="ctr"/>
                      <a:r>
                        <a:rPr sz="750" b="0">
                          <a:solidFill>
                            <a:srgbClr val="1A1A1A"/>
                          </a:solidFill>
                        </a:rPr>
                        <a:t>Stable</a:t>
                      </a:r>
                    </a:p>
                  </a:txBody>
                  <a:tcPr>
                    <a:solidFill>
                      <a:srgbClr val="F5F7FA"/>
                    </a:solidFill>
                  </a:tcPr>
                </a:tc>
              </a:tr>
              <a:tr h="208799">
                <a:tc>
                  <a:txBody>
                    <a:bodyPr/>
                    <a:lstStyle/>
                    <a:p>
                      <a:pPr algn="ctr"/>
                      <a:r>
                        <a:rPr sz="750" b="0">
                          <a:solidFill>
                            <a:srgbClr val="1A1A1A"/>
                          </a:solidFill>
                        </a:rPr>
                        <a:t>Elasticite Prix</a:t>
                      </a:r>
                    </a:p>
                  </a:txBody>
                  <a:tcPr>
                    <a:noFill/>
                  </a:tcPr>
                </a:tc>
                <a:tc>
                  <a:txBody>
                    <a:bodyPr/>
                    <a:lstStyle/>
                    <a:p>
                      <a:pPr algn="ctr"/>
                      <a:r>
                        <a:rPr sz="750" b="0">
                          <a:solidFill>
                            <a:srgbClr val="1A1A1A"/>
                          </a:solidFill>
                        </a:rPr>
                        <a:t>-0,4</a:t>
                      </a:r>
                    </a:p>
                  </a:txBody>
                  <a:tcPr>
                    <a:noFill/>
                  </a:tcPr>
                </a:tc>
                <a:tc>
                  <a:txBody>
                    <a:bodyPr/>
                    <a:lstStyle/>
                    <a:p>
                      <a:pPr algn="ctr"/>
                      <a:r>
                        <a:rPr sz="750" b="0">
                          <a:solidFill>
                            <a:srgbClr val="1A1A1A"/>
                          </a:solidFill>
                        </a:rPr>
                        <a:t>Faible</a:t>
                      </a:r>
                    </a:p>
                  </a:txBody>
                  <a:tcPr>
                    <a:noFill/>
                  </a:tcPr>
                </a:tc>
              </a:tr>
              <a:tr h="208805">
                <a:tc>
                  <a:txBody>
                    <a:bodyPr/>
                    <a:lstStyle/>
                    <a:p>
                      <a:pPr algn="ctr"/>
                      <a:r>
                        <a:rPr sz="750" b="0">
                          <a:solidFill>
                            <a:srgbClr val="1A1A1A"/>
                          </a:solidFill>
                        </a:rPr>
                        <a:t>Market Share</a:t>
                      </a:r>
                    </a:p>
                  </a:txBody>
                  <a:tcPr>
                    <a:solidFill>
                      <a:srgbClr val="F5F7FA"/>
                    </a:solidFill>
                  </a:tcPr>
                </a:tc>
                <a:tc>
                  <a:txBody>
                    <a:bodyPr/>
                    <a:lstStyle/>
                    <a:p>
                      <a:pPr algn="ctr"/>
                      <a:r>
                        <a:rPr sz="750" b="0">
                          <a:solidFill>
                            <a:srgbClr val="1A1A1A"/>
                          </a:solidFill>
                        </a:rPr>
                        <a:t>+0,3 pt</a:t>
                      </a:r>
                    </a:p>
                  </a:txBody>
                  <a:tcPr>
                    <a:solidFill>
                      <a:srgbClr val="F5F7FA"/>
                    </a:solidFill>
                  </a:tcPr>
                </a:tc>
                <a:tc>
                  <a:txBody>
                    <a:bodyPr/>
                    <a:lstStyle/>
                    <a:p>
                      <a:pPr algn="ctr"/>
                      <a:r>
                        <a:rPr sz="750" b="0">
                          <a:solidFill>
                            <a:srgbClr val="1A1A1A"/>
                          </a:solidFill>
                        </a:rPr>
                        <a:t>Gain</a:t>
                      </a:r>
                    </a:p>
                  </a:txBody>
                  <a:tcPr>
                    <a:solidFill>
                      <a:srgbClr val="F5F7FA"/>
                    </a:solidFill>
                  </a:tcPr>
                </a:tc>
              </a:tr>
            </a:tbl>
          </a:graphicData>
        </a:graphic>
      </p:graphicFrame>
      <p:sp>
        <p:nvSpPr>
          <p:cNvPr id="30" name="Rectangle 2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Ratios Comparatifs Sectoriels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Consumer Defensive  ·  Comparaison multiples LTM — 8 sociétés vs médiane sectorielle</a:t>
            </a:r>
          </a:p>
        </p:txBody>
      </p:sp>
      <p:graphicFrame>
        <p:nvGraphicFramePr>
          <p:cNvPr id="15" name="Table 14"/>
          <p:cNvGraphicFramePr>
            <a:graphicFrameLocks noGrp="1"/>
          </p:cNvGraphicFramePr>
          <p:nvPr/>
        </p:nvGraphicFramePr>
        <p:xfrm>
          <a:off x="324000" y="900000"/>
          <a:ext cx="8495998" cy="1980000"/>
        </p:xfrm>
        <a:graphic>
          <a:graphicData uri="http://schemas.openxmlformats.org/drawingml/2006/table">
            <a:tbl>
              <a:tblPr firstRow="1" bandRow="1">
                <a:tableStyleId>{5C22544A-7EE6-4342-B048-85BDC9FD1C3A}</a:tableStyleId>
              </a:tblPr>
              <a:tblGrid>
                <a:gridCol w="1800000"/>
                <a:gridCol w="1080000"/>
                <a:gridCol w="1007999"/>
                <a:gridCol w="1007999"/>
                <a:gridCol w="1152000"/>
                <a:gridCol w="1224000"/>
                <a:gridCol w="1224000"/>
              </a:tblGrid>
              <a:tr h="198000">
                <a:tc>
                  <a:txBody>
                    <a:bodyPr/>
                    <a:lstStyle/>
                    <a:p>
                      <a:pPr algn="ctr"/>
                      <a:r>
                        <a:rPr sz="800" b="1">
                          <a:solidFill>
                            <a:srgbClr val="FFFFFF"/>
                          </a:solidFill>
                        </a:rPr>
                        <a:t>Societe</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EV/Rev.</a:t>
                      </a:r>
                    </a:p>
                  </a:txBody>
                  <a:tcPr>
                    <a:solidFill>
                      <a:srgbClr val="1B3A6B"/>
                    </a:solidFill>
                  </a:tcPr>
                </a:tc>
                <a:tc>
                  <a:txBody>
                    <a:bodyPr/>
                    <a:lstStyle/>
                    <a:p>
                      <a:pPr algn="ctr"/>
                      <a:r>
                        <a:rPr sz="800" b="1">
                          <a:solidFill>
                            <a:srgbClr val="FFFFFF"/>
                          </a:solidFill>
                        </a:rPr>
                        <a:t>P/E</a:t>
                      </a:r>
                    </a:p>
                  </a:txBody>
                  <a:tcPr>
                    <a:solidFill>
                      <a:srgbClr val="1B3A6B"/>
                    </a:solidFill>
                  </a:tcPr>
                </a:tc>
                <a:tc>
                  <a:txBody>
                    <a:bodyPr/>
                    <a:lstStyle/>
                    <a:p>
                      <a:pPr algn="ctr"/>
                      <a:r>
                        <a:rPr sz="800" b="1">
                          <a:solidFill>
                            <a:srgbClr val="FFFFFF"/>
                          </a:solidFill>
                        </a:rPr>
                        <a:t>Mg Brute</a:t>
                      </a:r>
                    </a:p>
                  </a:txBody>
                  <a:tcPr>
                    <a:solidFill>
                      <a:srgbClr val="1B3A6B"/>
                    </a:solidFill>
                  </a:tcPr>
                </a:tc>
                <a:tc>
                  <a:txBody>
                    <a:bodyPr/>
                    <a:lstStyle/>
                    <a:p>
                      <a:pPr algn="ctr"/>
                      <a:r>
                        <a:rPr sz="800" b="1">
                          <a:solidFill>
                            <a:srgbClr val="FFFFFF"/>
                          </a:solidFill>
                        </a:rPr>
                        <a:t>Mg EBITDA</a:t>
                      </a:r>
                    </a:p>
                  </a:txBody>
                  <a:tcPr>
                    <a:solidFill>
                      <a:srgbClr val="1B3A6B"/>
                    </a:solidFill>
                  </a:tcPr>
                </a:tc>
                <a:tc>
                  <a:txBody>
                    <a:bodyPr/>
                    <a:lstStyle/>
                    <a:p>
                      <a:pPr algn="ctr"/>
                      <a:r>
                        <a:rPr sz="800" b="1">
                          <a:solidFill>
                            <a:srgbClr val="FFFFFF"/>
                          </a:solidFill>
                        </a:rPr>
                        <a:t>ROE</a:t>
                      </a:r>
                    </a:p>
                  </a:txBody>
                  <a:tcPr>
                    <a:solidFill>
                      <a:srgbClr val="1B3A6B"/>
                    </a:solidFill>
                  </a:tcPr>
                </a:tc>
              </a:tr>
              <a:tr h="198000">
                <a:tc>
                  <a:txBody>
                    <a:bodyPr/>
                    <a:lstStyle/>
                    <a:p>
                      <a:pPr algn="ctr"/>
                      <a:r>
                        <a:rPr sz="750" b="0">
                          <a:solidFill>
                            <a:srgbClr val="1A1A1A"/>
                          </a:solidFill>
                        </a:rPr>
                        <a:t>Philip Morris Intern</a:t>
                      </a:r>
                    </a:p>
                  </a:txBody>
                  <a:tcPr>
                    <a:noFill/>
                  </a:tcPr>
                </a:tc>
                <a:tc>
                  <a:txBody>
                    <a:bodyPr/>
                    <a:lstStyle/>
                    <a:p>
                      <a:pPr algn="ctr"/>
                      <a:r>
                        <a:rPr sz="750" b="0">
                          <a:solidFill>
                            <a:srgbClr val="1A1A1A"/>
                          </a:solidFill>
                        </a:rPr>
                        <a:t>16.1x</a:t>
                      </a:r>
                    </a:p>
                  </a:txBody>
                  <a:tcPr>
                    <a:noFill/>
                  </a:tcPr>
                </a:tc>
                <a:tc>
                  <a:txBody>
                    <a:bodyPr/>
                    <a:lstStyle/>
                    <a:p>
                      <a:pPr algn="ctr"/>
                      <a:r>
                        <a:rPr sz="750" b="0">
                          <a:solidFill>
                            <a:srgbClr val="1A1A1A"/>
                          </a:solidFill>
                        </a:rPr>
                        <a:t>7.4x</a:t>
                      </a:r>
                    </a:p>
                  </a:txBody>
                  <a:tcPr>
                    <a:noFill/>
                  </a:tcPr>
                </a:tc>
                <a:tc>
                  <a:txBody>
                    <a:bodyPr/>
                    <a:lstStyle/>
                    <a:p>
                      <a:pPr algn="ctr"/>
                      <a:r>
                        <a:rPr sz="750" b="0">
                          <a:solidFill>
                            <a:srgbClr val="1A1A1A"/>
                          </a:solidFill>
                        </a:rPr>
                        <a:t>22.5x</a:t>
                      </a:r>
                    </a:p>
                  </a:txBody>
                  <a:tcPr>
                    <a:noFill/>
                  </a:tcPr>
                </a:tc>
                <a:tc>
                  <a:txBody>
                    <a:bodyPr/>
                    <a:lstStyle/>
                    <a:p>
                      <a:pPr algn="ctr"/>
                      <a:r>
                        <a:rPr sz="750" b="0">
                          <a:solidFill>
                            <a:srgbClr val="1A1A1A"/>
                          </a:solidFill>
                        </a:rPr>
                        <a:t>67.1 %</a:t>
                      </a:r>
                    </a:p>
                  </a:txBody>
                  <a:tcPr>
                    <a:noFill/>
                  </a:tcPr>
                </a:tc>
                <a:tc>
                  <a:txBody>
                    <a:bodyPr/>
                    <a:lstStyle/>
                    <a:p>
                      <a:pPr algn="ctr"/>
                      <a:r>
                        <a:rPr sz="750" b="0">
                          <a:solidFill>
                            <a:srgbClr val="1A1A1A"/>
                          </a:solidFill>
                        </a:rPr>
                        <a:t>46.1 %</a:t>
                      </a:r>
                    </a:p>
                  </a:txBody>
                  <a:tcPr>
                    <a:noFill/>
                  </a:tcPr>
                </a:tc>
                <a:tc>
                  <a:txBody>
                    <a:bodyPr/>
                    <a:lstStyle/>
                    <a:p>
                      <a:pPr algn="ctr"/>
                      <a:r>
                        <a:rPr sz="750" b="0">
                          <a:solidFill>
                            <a:srgbClr val="1A1A1A"/>
                          </a:solidFill>
                        </a:rPr>
                        <a:t>0.0 %</a:t>
                      </a:r>
                    </a:p>
                  </a:txBody>
                  <a:tcPr>
                    <a:noFill/>
                  </a:tcPr>
                </a:tc>
              </a:tr>
              <a:tr h="198000">
                <a:tc>
                  <a:txBody>
                    <a:bodyPr/>
                    <a:lstStyle/>
                    <a:p>
                      <a:pPr algn="ctr"/>
                      <a:r>
                        <a:rPr sz="750" b="0">
                          <a:solidFill>
                            <a:srgbClr val="1A1A1A"/>
                          </a:solidFill>
                        </a:rPr>
                        <a:t>The Coca-Cola Compan</a:t>
                      </a:r>
                    </a:p>
                  </a:txBody>
                  <a:tcPr>
                    <a:solidFill>
                      <a:srgbClr val="F5F7FA"/>
                    </a:solidFill>
                  </a:tcPr>
                </a:tc>
                <a:tc>
                  <a:txBody>
                    <a:bodyPr/>
                    <a:lstStyle/>
                    <a:p>
                      <a:pPr algn="ctr"/>
                      <a:r>
                        <a:rPr sz="750" b="0">
                          <a:solidFill>
                            <a:srgbClr val="1A1A1A"/>
                          </a:solidFill>
                        </a:rPr>
                        <a:t>22.4x</a:t>
                      </a:r>
                    </a:p>
                  </a:txBody>
                  <a:tcPr>
                    <a:solidFill>
                      <a:srgbClr val="F5F7FA"/>
                    </a:solidFill>
                  </a:tcPr>
                </a:tc>
                <a:tc>
                  <a:txBody>
                    <a:bodyPr/>
                    <a:lstStyle/>
                    <a:p>
                      <a:pPr algn="ctr"/>
                      <a:r>
                        <a:rPr sz="750" b="0">
                          <a:solidFill>
                            <a:srgbClr val="1A1A1A"/>
                          </a:solidFill>
                        </a:rPr>
                        <a:t>7.5x</a:t>
                      </a:r>
                    </a:p>
                  </a:txBody>
                  <a:tcPr>
                    <a:solidFill>
                      <a:srgbClr val="F5F7FA"/>
                    </a:solidFill>
                  </a:tcPr>
                </a:tc>
                <a:tc>
                  <a:txBody>
                    <a:bodyPr/>
                    <a:lstStyle/>
                    <a:p>
                      <a:pPr algn="ctr"/>
                      <a:r>
                        <a:rPr sz="750" b="0">
                          <a:solidFill>
                            <a:srgbClr val="1A1A1A"/>
                          </a:solidFill>
                        </a:rPr>
                        <a:t>24.9x</a:t>
                      </a:r>
                    </a:p>
                  </a:txBody>
                  <a:tcPr>
                    <a:solidFill>
                      <a:srgbClr val="F5F7FA"/>
                    </a:solidFill>
                  </a:tcPr>
                </a:tc>
                <a:tc>
                  <a:txBody>
                    <a:bodyPr/>
                    <a:lstStyle/>
                    <a:p>
                      <a:pPr algn="ctr"/>
                      <a:r>
                        <a:rPr sz="750" b="0">
                          <a:solidFill>
                            <a:srgbClr val="1A1A1A"/>
                          </a:solidFill>
                        </a:rPr>
                        <a:t>61.6 %</a:t>
                      </a:r>
                    </a:p>
                  </a:txBody>
                  <a:tcPr>
                    <a:solidFill>
                      <a:srgbClr val="F5F7FA"/>
                    </a:solidFill>
                  </a:tcPr>
                </a:tc>
                <a:tc>
                  <a:txBody>
                    <a:bodyPr/>
                    <a:lstStyle/>
                    <a:p>
                      <a:pPr algn="ctr"/>
                      <a:r>
                        <a:rPr sz="750" b="0">
                          <a:solidFill>
                            <a:srgbClr val="1A1A1A"/>
                          </a:solidFill>
                        </a:rPr>
                        <a:t>33.5 %</a:t>
                      </a:r>
                    </a:p>
                  </a:txBody>
                  <a:tcPr>
                    <a:solidFill>
                      <a:srgbClr val="F5F7FA"/>
                    </a:solidFill>
                  </a:tcPr>
                </a:tc>
                <a:tc>
                  <a:txBody>
                    <a:bodyPr/>
                    <a:lstStyle/>
                    <a:p>
                      <a:pPr algn="ctr"/>
                      <a:r>
                        <a:rPr sz="750" b="0">
                          <a:solidFill>
                            <a:srgbClr val="1A1A1A"/>
                          </a:solidFill>
                        </a:rPr>
                        <a:t>43.3 %</a:t>
                      </a:r>
                    </a:p>
                  </a:txBody>
                  <a:tcPr>
                    <a:solidFill>
                      <a:srgbClr val="F5F7FA"/>
                    </a:solidFill>
                  </a:tcPr>
                </a:tc>
              </a:tr>
              <a:tr h="198000">
                <a:tc>
                  <a:txBody>
                    <a:bodyPr/>
                    <a:lstStyle/>
                    <a:p>
                      <a:pPr algn="ctr"/>
                      <a:r>
                        <a:rPr sz="750" b="0">
                          <a:solidFill>
                            <a:srgbClr val="1A1A1A"/>
                          </a:solidFill>
                        </a:rPr>
                        <a:t>The Procter &amp; Gamble</a:t>
                      </a:r>
                    </a:p>
                  </a:txBody>
                  <a:tcPr>
                    <a:noFill/>
                  </a:tcPr>
                </a:tc>
                <a:tc>
                  <a:txBody>
                    <a:bodyPr/>
                    <a:lstStyle/>
                    <a:p>
                      <a:pPr algn="ctr"/>
                      <a:r>
                        <a:rPr sz="750" b="0">
                          <a:solidFill>
                            <a:srgbClr val="1A1A1A"/>
                          </a:solidFill>
                        </a:rPr>
                        <a:t>14.5x</a:t>
                      </a:r>
                    </a:p>
                  </a:txBody>
                  <a:tcPr>
                    <a:noFill/>
                  </a:tcPr>
                </a:tc>
                <a:tc>
                  <a:txBody>
                    <a:bodyPr/>
                    <a:lstStyle/>
                    <a:p>
                      <a:pPr algn="ctr"/>
                      <a:r>
                        <a:rPr sz="750" b="0">
                          <a:solidFill>
                            <a:srgbClr val="1A1A1A"/>
                          </a:solidFill>
                        </a:rPr>
                        <a:t>4.2x</a:t>
                      </a:r>
                    </a:p>
                  </a:txBody>
                  <a:tcPr>
                    <a:noFill/>
                  </a:tcPr>
                </a:tc>
                <a:tc>
                  <a:txBody>
                    <a:bodyPr/>
                    <a:lstStyle/>
                    <a:p>
                      <a:pPr algn="ctr"/>
                      <a:r>
                        <a:rPr sz="750" b="0">
                          <a:solidFill>
                            <a:srgbClr val="1A1A1A"/>
                          </a:solidFill>
                        </a:rPr>
                        <a:t>21.1x</a:t>
                      </a:r>
                    </a:p>
                  </a:txBody>
                  <a:tcPr>
                    <a:noFill/>
                  </a:tcPr>
                </a:tc>
                <a:tc>
                  <a:txBody>
                    <a:bodyPr/>
                    <a:lstStyle/>
                    <a:p>
                      <a:pPr algn="ctr"/>
                      <a:r>
                        <a:rPr sz="750" b="0">
                          <a:solidFill>
                            <a:srgbClr val="1A1A1A"/>
                          </a:solidFill>
                        </a:rPr>
                        <a:t>51.2 %</a:t>
                      </a:r>
                    </a:p>
                  </a:txBody>
                  <a:tcPr>
                    <a:noFill/>
                  </a:tcPr>
                </a:tc>
                <a:tc>
                  <a:txBody>
                    <a:bodyPr/>
                    <a:lstStyle/>
                    <a:p>
                      <a:pPr algn="ctr"/>
                      <a:r>
                        <a:rPr sz="750" b="0">
                          <a:solidFill>
                            <a:srgbClr val="1A1A1A"/>
                          </a:solidFill>
                        </a:rPr>
                        <a:t>29.0 %</a:t>
                      </a:r>
                    </a:p>
                  </a:txBody>
                  <a:tcPr>
                    <a:noFill/>
                  </a:tcPr>
                </a:tc>
                <a:tc>
                  <a:txBody>
                    <a:bodyPr/>
                    <a:lstStyle/>
                    <a:p>
                      <a:pPr algn="ctr"/>
                      <a:r>
                        <a:rPr sz="750" b="0">
                          <a:solidFill>
                            <a:srgbClr val="1A1A1A"/>
                          </a:solidFill>
                        </a:rPr>
                        <a:t>31.6 %</a:t>
                      </a:r>
                    </a:p>
                  </a:txBody>
                  <a:tcPr>
                    <a:noFill/>
                  </a:tcPr>
                </a:tc>
              </a:tr>
              <a:tr h="198000">
                <a:tc>
                  <a:txBody>
                    <a:bodyPr/>
                    <a:lstStyle/>
                    <a:p>
                      <a:pPr algn="ctr"/>
                      <a:r>
                        <a:rPr sz="750" b="0">
                          <a:solidFill>
                            <a:srgbClr val="1A1A1A"/>
                          </a:solidFill>
                        </a:rPr>
                        <a:t>PepsiCo, Inc.</a:t>
                      </a:r>
                    </a:p>
                  </a:txBody>
                  <a:tcPr>
                    <a:solidFill>
                      <a:srgbClr val="F5F7FA"/>
                    </a:solidFill>
                  </a:tcPr>
                </a:tc>
                <a:tc>
                  <a:txBody>
                    <a:bodyPr/>
                    <a:lstStyle/>
                    <a:p>
                      <a:pPr algn="ctr"/>
                      <a:r>
                        <a:rPr sz="750" b="0">
                          <a:solidFill>
                            <a:srgbClr val="1A1A1A"/>
                          </a:solidFill>
                        </a:rPr>
                        <a:t>13.9x</a:t>
                      </a:r>
                    </a:p>
                  </a:txBody>
                  <a:tcPr>
                    <a:solidFill>
                      <a:srgbClr val="F5F7FA"/>
                    </a:solidFill>
                  </a:tcPr>
                </a:tc>
                <a:tc>
                  <a:txBody>
                    <a:bodyPr/>
                    <a:lstStyle/>
                    <a:p>
                      <a:pPr algn="ctr"/>
                      <a:r>
                        <a:rPr sz="750" b="0">
                          <a:solidFill>
                            <a:srgbClr val="1A1A1A"/>
                          </a:solidFill>
                        </a:rPr>
                        <a:t>2.7x</a:t>
                      </a:r>
                    </a:p>
                  </a:txBody>
                  <a:tcPr>
                    <a:solidFill>
                      <a:srgbClr val="F5F7FA"/>
                    </a:solidFill>
                  </a:tcPr>
                </a:tc>
                <a:tc>
                  <a:txBody>
                    <a:bodyPr/>
                    <a:lstStyle/>
                    <a:p>
                      <a:pPr algn="ctr"/>
                      <a:r>
                        <a:rPr sz="750" b="0">
                          <a:solidFill>
                            <a:srgbClr val="1A1A1A"/>
                          </a:solidFill>
                        </a:rPr>
                        <a:t>25.5x</a:t>
                      </a:r>
                    </a:p>
                  </a:txBody>
                  <a:tcPr>
                    <a:solidFill>
                      <a:srgbClr val="F5F7FA"/>
                    </a:solidFill>
                  </a:tcPr>
                </a:tc>
                <a:tc>
                  <a:txBody>
                    <a:bodyPr/>
                    <a:lstStyle/>
                    <a:p>
                      <a:pPr algn="ctr"/>
                      <a:r>
                        <a:rPr sz="750" b="0">
                          <a:solidFill>
                            <a:srgbClr val="1A1A1A"/>
                          </a:solidFill>
                        </a:rPr>
                        <a:t>54.5 %</a:t>
                      </a:r>
                    </a:p>
                  </a:txBody>
                  <a:tcPr>
                    <a:solidFill>
                      <a:srgbClr val="F5F7FA"/>
                    </a:solidFill>
                  </a:tcPr>
                </a:tc>
                <a:tc>
                  <a:txBody>
                    <a:bodyPr/>
                    <a:lstStyle/>
                    <a:p>
                      <a:pPr algn="ctr"/>
                      <a:r>
                        <a:rPr sz="750" b="0">
                          <a:solidFill>
                            <a:srgbClr val="1A1A1A"/>
                          </a:solidFill>
                        </a:rPr>
                        <a:t>19.3 %</a:t>
                      </a:r>
                    </a:p>
                  </a:txBody>
                  <a:tcPr>
                    <a:solidFill>
                      <a:srgbClr val="F5F7FA"/>
                    </a:solidFill>
                  </a:tcPr>
                </a:tc>
                <a:tc>
                  <a:txBody>
                    <a:bodyPr/>
                    <a:lstStyle/>
                    <a:p>
                      <a:pPr algn="ctr"/>
                      <a:r>
                        <a:rPr sz="750" b="0">
                          <a:solidFill>
                            <a:srgbClr val="1A1A1A"/>
                          </a:solidFill>
                        </a:rPr>
                        <a:t>42.8 %</a:t>
                      </a:r>
                    </a:p>
                  </a:txBody>
                  <a:tcPr>
                    <a:solidFill>
                      <a:srgbClr val="F5F7FA"/>
                    </a:solidFill>
                  </a:tcPr>
                </a:tc>
              </a:tr>
              <a:tr h="198000">
                <a:tc>
                  <a:txBody>
                    <a:bodyPr/>
                    <a:lstStyle/>
                    <a:p>
                      <a:pPr algn="ctr"/>
                      <a:r>
                        <a:rPr sz="750" b="0">
                          <a:solidFill>
                            <a:srgbClr val="1A1A1A"/>
                          </a:solidFill>
                        </a:rPr>
                        <a:t>Mondelez Internation</a:t>
                      </a:r>
                    </a:p>
                  </a:txBody>
                  <a:tcPr>
                    <a:noFill/>
                  </a:tcPr>
                </a:tc>
                <a:tc>
                  <a:txBody>
                    <a:bodyPr/>
                    <a:lstStyle/>
                    <a:p>
                      <a:pPr algn="ctr"/>
                      <a:r>
                        <a:rPr sz="750" b="0">
                          <a:solidFill>
                            <a:srgbClr val="1A1A1A"/>
                          </a:solidFill>
                        </a:rPr>
                        <a:t>19.0x</a:t>
                      </a:r>
                    </a:p>
                  </a:txBody>
                  <a:tcPr>
                    <a:noFill/>
                  </a:tcPr>
                </a:tc>
                <a:tc>
                  <a:txBody>
                    <a:bodyPr/>
                    <a:lstStyle/>
                    <a:p>
                      <a:pPr algn="ctr"/>
                      <a:r>
                        <a:rPr sz="750" b="0">
                          <a:solidFill>
                            <a:srgbClr val="1A1A1A"/>
                          </a:solidFill>
                        </a:rPr>
                        <a:t>2.5x</a:t>
                      </a:r>
                    </a:p>
                  </a:txBody>
                  <a:tcPr>
                    <a:noFill/>
                  </a:tcPr>
                </a:tc>
                <a:tc>
                  <a:txBody>
                    <a:bodyPr/>
                    <a:lstStyle/>
                    <a:p>
                      <a:pPr algn="ctr"/>
                      <a:r>
                        <a:rPr sz="750" b="0">
                          <a:solidFill>
                            <a:srgbClr val="1A1A1A"/>
                          </a:solidFill>
                        </a:rPr>
                        <a:t>30.8x</a:t>
                      </a:r>
                    </a:p>
                  </a:txBody>
                  <a:tcPr>
                    <a:noFill/>
                  </a:tcPr>
                </a:tc>
                <a:tc>
                  <a:txBody>
                    <a:bodyPr/>
                    <a:lstStyle/>
                    <a:p>
                      <a:pPr algn="ctr"/>
                      <a:r>
                        <a:rPr sz="750" b="0">
                          <a:solidFill>
                            <a:srgbClr val="1A1A1A"/>
                          </a:solidFill>
                        </a:rPr>
                        <a:t>28.4 %</a:t>
                      </a:r>
                    </a:p>
                  </a:txBody>
                  <a:tcPr>
                    <a:noFill/>
                  </a:tcPr>
                </a:tc>
                <a:tc>
                  <a:txBody>
                    <a:bodyPr/>
                    <a:lstStyle/>
                    <a:p>
                      <a:pPr algn="ctr"/>
                      <a:r>
                        <a:rPr sz="750" b="0">
                          <a:solidFill>
                            <a:srgbClr val="1A1A1A"/>
                          </a:solidFill>
                        </a:rPr>
                        <a:t>12.9 %</a:t>
                      </a:r>
                    </a:p>
                  </a:txBody>
                  <a:tcPr>
                    <a:noFill/>
                  </a:tcPr>
                </a:tc>
                <a:tc>
                  <a:txBody>
                    <a:bodyPr/>
                    <a:lstStyle/>
                    <a:p>
                      <a:pPr algn="ctr"/>
                      <a:r>
                        <a:rPr sz="750" b="0">
                          <a:solidFill>
                            <a:srgbClr val="1A1A1A"/>
                          </a:solidFill>
                        </a:rPr>
                        <a:t>9.3 %</a:t>
                      </a:r>
                    </a:p>
                  </a:txBody>
                  <a:tcPr>
                    <a:noFill/>
                  </a:tcPr>
                </a:tc>
              </a:tr>
              <a:tr h="198000">
                <a:tc>
                  <a:txBody>
                    <a:bodyPr/>
                    <a:lstStyle/>
                    <a:p>
                      <a:pPr algn="ctr"/>
                      <a:r>
                        <a:rPr sz="750" b="0">
                          <a:solidFill>
                            <a:srgbClr val="1A1A1A"/>
                          </a:solidFill>
                        </a:rPr>
                        <a:t>Walmart Inc.</a:t>
                      </a:r>
                    </a:p>
                  </a:txBody>
                  <a:tcPr>
                    <a:solidFill>
                      <a:srgbClr val="F5F7FA"/>
                    </a:solidFill>
                  </a:tcPr>
                </a:tc>
                <a:tc>
                  <a:txBody>
                    <a:bodyPr/>
                    <a:lstStyle/>
                    <a:p>
                      <a:pPr algn="ctr"/>
                      <a:r>
                        <a:rPr sz="750" b="0">
                          <a:solidFill>
                            <a:srgbClr val="1A1A1A"/>
                          </a:solidFill>
                        </a:rPr>
                        <a:t>23.7x</a:t>
                      </a:r>
                    </a:p>
                  </a:txBody>
                  <a:tcPr>
                    <a:solidFill>
                      <a:srgbClr val="F5F7FA"/>
                    </a:solidFill>
                  </a:tcPr>
                </a:tc>
                <a:tc>
                  <a:txBody>
                    <a:bodyPr/>
                    <a:lstStyle/>
                    <a:p>
                      <a:pPr algn="ctr"/>
                      <a:r>
                        <a:rPr sz="750" b="0">
                          <a:solidFill>
                            <a:srgbClr val="1A1A1A"/>
                          </a:solidFill>
                        </a:rPr>
                        <a:t>1.5x</a:t>
                      </a:r>
                    </a:p>
                  </a:txBody>
                  <a:tcPr>
                    <a:solidFill>
                      <a:srgbClr val="F5F7FA"/>
                    </a:solidFill>
                  </a:tcPr>
                </a:tc>
                <a:tc>
                  <a:txBody>
                    <a:bodyPr/>
                    <a:lstStyle/>
                    <a:p>
                      <a:pPr algn="ctr"/>
                      <a:r>
                        <a:rPr sz="750" b="0">
                          <a:solidFill>
                            <a:srgbClr val="1A1A1A"/>
                          </a:solidFill>
                        </a:rPr>
                        <a:t>45.0x</a:t>
                      </a:r>
                    </a:p>
                  </a:txBody>
                  <a:tcPr>
                    <a:solidFill>
                      <a:srgbClr val="F5F7FA"/>
                    </a:solidFill>
                  </a:tcPr>
                </a:tc>
                <a:tc>
                  <a:txBody>
                    <a:bodyPr/>
                    <a:lstStyle/>
                    <a:p>
                      <a:pPr algn="ctr"/>
                      <a:r>
                        <a:rPr sz="750" b="0">
                          <a:solidFill>
                            <a:srgbClr val="1A1A1A"/>
                          </a:solidFill>
                        </a:rPr>
                        <a:t>24.9 %</a:t>
                      </a:r>
                    </a:p>
                  </a:txBody>
                  <a:tcPr>
                    <a:solidFill>
                      <a:srgbClr val="F5F7FA"/>
                    </a:solidFill>
                  </a:tcPr>
                </a:tc>
                <a:tc>
                  <a:txBody>
                    <a:bodyPr/>
                    <a:lstStyle/>
                    <a:p>
                      <a:pPr algn="ctr"/>
                      <a:r>
                        <a:rPr sz="750" b="0">
                          <a:solidFill>
                            <a:srgbClr val="1A1A1A"/>
                          </a:solidFill>
                        </a:rPr>
                        <a:t>6.2 %</a:t>
                      </a:r>
                    </a:p>
                  </a:txBody>
                  <a:tcPr>
                    <a:solidFill>
                      <a:srgbClr val="F5F7FA"/>
                    </a:solidFill>
                  </a:tcPr>
                </a:tc>
                <a:tc>
                  <a:txBody>
                    <a:bodyPr/>
                    <a:lstStyle/>
                    <a:p>
                      <a:pPr algn="ctr"/>
                      <a:r>
                        <a:rPr sz="750" b="0">
                          <a:solidFill>
                            <a:srgbClr val="1A1A1A"/>
                          </a:solidFill>
                        </a:rPr>
                        <a:t>21.8 %</a:t>
                      </a:r>
                    </a:p>
                  </a:txBody>
                  <a:tcPr>
                    <a:solidFill>
                      <a:srgbClr val="F5F7FA"/>
                    </a:solidFill>
                  </a:tcPr>
                </a:tc>
              </a:tr>
              <a:tr h="198000">
                <a:tc>
                  <a:txBody>
                    <a:bodyPr/>
                    <a:lstStyle/>
                    <a:p>
                      <a:pPr algn="ctr"/>
                      <a:r>
                        <a:rPr sz="750" b="0">
                          <a:solidFill>
                            <a:srgbClr val="1A1A1A"/>
                          </a:solidFill>
                        </a:rPr>
                        <a:t>General Mills, Inc.</a:t>
                      </a:r>
                    </a:p>
                  </a:txBody>
                  <a:tcPr>
                    <a:noFill/>
                  </a:tcPr>
                </a:tc>
                <a:tc>
                  <a:txBody>
                    <a:bodyPr/>
                    <a:lstStyle/>
                    <a:p>
                      <a:pPr algn="ctr"/>
                      <a:r>
                        <a:rPr sz="750" b="0">
                          <a:solidFill>
                            <a:srgbClr val="1A1A1A"/>
                          </a:solidFill>
                        </a:rPr>
                        <a:t>9.8x</a:t>
                      </a:r>
                    </a:p>
                  </a:txBody>
                  <a:tcPr>
                    <a:noFill/>
                  </a:tcPr>
                </a:tc>
                <a:tc>
                  <a:txBody>
                    <a:bodyPr/>
                    <a:lstStyle/>
                    <a:p>
                      <a:pPr algn="ctr"/>
                      <a:r>
                        <a:rPr sz="750" b="0">
                          <a:solidFill>
                            <a:srgbClr val="1A1A1A"/>
                          </a:solidFill>
                        </a:rPr>
                        <a:t>1.8x</a:t>
                      </a:r>
                    </a:p>
                  </a:txBody>
                  <a:tcPr>
                    <a:noFill/>
                  </a:tcPr>
                </a:tc>
                <a:tc>
                  <a:txBody>
                    <a:bodyPr/>
                    <a:lstStyle/>
                    <a:p>
                      <a:pPr algn="ctr"/>
                      <a:r>
                        <a:rPr sz="750" b="0">
                          <a:solidFill>
                            <a:srgbClr val="1A1A1A"/>
                          </a:solidFill>
                        </a:rPr>
                        <a:t>8.9x</a:t>
                      </a:r>
                    </a:p>
                  </a:txBody>
                  <a:tcPr>
                    <a:noFill/>
                  </a:tcPr>
                </a:tc>
                <a:tc>
                  <a:txBody>
                    <a:bodyPr/>
                    <a:lstStyle/>
                    <a:p>
                      <a:pPr algn="ctr"/>
                      <a:r>
                        <a:rPr sz="750" b="0">
                          <a:solidFill>
                            <a:srgbClr val="1A1A1A"/>
                          </a:solidFill>
                        </a:rPr>
                        <a:t>33.1 %</a:t>
                      </a:r>
                    </a:p>
                  </a:txBody>
                  <a:tcPr>
                    <a:noFill/>
                  </a:tcPr>
                </a:tc>
                <a:tc>
                  <a:txBody>
                    <a:bodyPr/>
                    <a:lstStyle/>
                    <a:p>
                      <a:pPr algn="ctr"/>
                      <a:r>
                        <a:rPr sz="750" b="0">
                          <a:solidFill>
                            <a:srgbClr val="1A1A1A"/>
                          </a:solidFill>
                        </a:rPr>
                        <a:t>18.1 %</a:t>
                      </a:r>
                    </a:p>
                  </a:txBody>
                  <a:tcPr>
                    <a:noFill/>
                  </a:tcPr>
                </a:tc>
                <a:tc>
                  <a:txBody>
                    <a:bodyPr/>
                    <a:lstStyle/>
                    <a:p>
                      <a:pPr algn="ctr"/>
                      <a:r>
                        <a:rPr sz="750" b="0">
                          <a:solidFill>
                            <a:srgbClr val="1A1A1A"/>
                          </a:solidFill>
                        </a:rPr>
                        <a:t>23.6 %</a:t>
                      </a:r>
                    </a:p>
                  </a:txBody>
                  <a:tcPr>
                    <a:noFill/>
                  </a:tcPr>
                </a:tc>
              </a:tr>
              <a:tr h="198000">
                <a:tc>
                  <a:txBody>
                    <a:bodyPr/>
                    <a:lstStyle/>
                    <a:p>
                      <a:pPr algn="ctr"/>
                      <a:r>
                        <a:rPr sz="750" b="0">
                          <a:solidFill>
                            <a:srgbClr val="1A1A1A"/>
                          </a:solidFill>
                        </a:rPr>
                        <a:t>Costco Wholesale Cor</a:t>
                      </a:r>
                    </a:p>
                  </a:txBody>
                  <a:tcPr>
                    <a:solidFill>
                      <a:srgbClr val="F5F7FA"/>
                    </a:solidFill>
                  </a:tcPr>
                </a:tc>
                <a:tc>
                  <a:txBody>
                    <a:bodyPr/>
                    <a:lstStyle/>
                    <a:p>
                      <a:pPr algn="ctr"/>
                      <a:r>
                        <a:rPr sz="750" b="0">
                          <a:solidFill>
                            <a:srgbClr val="1A1A1A"/>
                          </a:solidFill>
                        </a:rPr>
                        <a:t>31.7x</a:t>
                      </a:r>
                    </a:p>
                  </a:txBody>
                  <a:tcPr>
                    <a:solidFill>
                      <a:srgbClr val="F5F7FA"/>
                    </a:solidFill>
                  </a:tcPr>
                </a:tc>
                <a:tc>
                  <a:txBody>
                    <a:bodyPr/>
                    <a:lstStyle/>
                    <a:p>
                      <a:pPr algn="ctr"/>
                      <a:r>
                        <a:rPr sz="750" b="0">
                          <a:solidFill>
                            <a:srgbClr val="1A1A1A"/>
                          </a:solidFill>
                        </a:rPr>
                        <a:t>1.5x</a:t>
                      </a:r>
                    </a:p>
                  </a:txBody>
                  <a:tcPr>
                    <a:solidFill>
                      <a:srgbClr val="F5F7FA"/>
                    </a:solidFill>
                  </a:tcPr>
                </a:tc>
                <a:tc>
                  <a:txBody>
                    <a:bodyPr/>
                    <a:lstStyle/>
                    <a:p>
                      <a:pPr algn="ctr"/>
                      <a:r>
                        <a:rPr sz="750" b="0">
                          <a:solidFill>
                            <a:srgbClr val="1A1A1A"/>
                          </a:solidFill>
                        </a:rPr>
                        <a:t>51.3x</a:t>
                      </a:r>
                    </a:p>
                  </a:txBody>
                  <a:tcPr>
                    <a:solidFill>
                      <a:srgbClr val="F5F7FA"/>
                    </a:solidFill>
                  </a:tcPr>
                </a:tc>
                <a:tc>
                  <a:txBody>
                    <a:bodyPr/>
                    <a:lstStyle/>
                    <a:p>
                      <a:pPr algn="ctr"/>
                      <a:r>
                        <a:rPr sz="750" b="0">
                          <a:solidFill>
                            <a:srgbClr val="1A1A1A"/>
                          </a:solidFill>
                        </a:rPr>
                        <a:t>12.9 %</a:t>
                      </a:r>
                    </a:p>
                  </a:txBody>
                  <a:tcPr>
                    <a:solidFill>
                      <a:srgbClr val="F5F7FA"/>
                    </a:solidFill>
                  </a:tcPr>
                </a:tc>
                <a:tc>
                  <a:txBody>
                    <a:bodyPr/>
                    <a:lstStyle/>
                    <a:p>
                      <a:pPr algn="ctr"/>
                      <a:r>
                        <a:rPr sz="750" b="0">
                          <a:solidFill>
                            <a:srgbClr val="1A1A1A"/>
                          </a:solidFill>
                        </a:rPr>
                        <a:t>4.7 %</a:t>
                      </a:r>
                    </a:p>
                  </a:txBody>
                  <a:tcPr>
                    <a:solidFill>
                      <a:srgbClr val="F5F7FA"/>
                    </a:solidFill>
                  </a:tcPr>
                </a:tc>
                <a:tc>
                  <a:txBody>
                    <a:bodyPr/>
                    <a:lstStyle/>
                    <a:p>
                      <a:pPr algn="ctr"/>
                      <a:r>
                        <a:rPr sz="750" b="0">
                          <a:solidFill>
                            <a:srgbClr val="1A1A1A"/>
                          </a:solidFill>
                        </a:rPr>
                        <a:t>29.7 %</a:t>
                      </a:r>
                    </a:p>
                  </a:txBody>
                  <a:tcPr>
                    <a:solidFill>
                      <a:srgbClr val="F5F7FA"/>
                    </a:solidFill>
                  </a:tcPr>
                </a:tc>
              </a:tr>
              <a:tr h="198000">
                <a:tc>
                  <a:txBody>
                    <a:bodyPr/>
                    <a:lstStyle/>
                    <a:p>
                      <a:pPr algn="ctr"/>
                      <a:r>
                        <a:rPr sz="750" b="0">
                          <a:solidFill>
                            <a:srgbClr val="1A1A1A"/>
                          </a:solidFill>
                        </a:rPr>
                        <a:t>MEDIANE</a:t>
                      </a:r>
                    </a:p>
                  </a:txBody>
                  <a:tcPr>
                    <a:noFill/>
                  </a:tcPr>
                </a:tc>
                <a:tc>
                  <a:txBody>
                    <a:bodyPr/>
                    <a:lstStyle/>
                    <a:p>
                      <a:pPr algn="ctr"/>
                      <a:r>
                        <a:rPr sz="750" b="0">
                          <a:solidFill>
                            <a:srgbClr val="1A1A1A"/>
                          </a:solidFill>
                        </a:rPr>
                        <a:t>17.5x</a:t>
                      </a:r>
                    </a:p>
                  </a:txBody>
                  <a:tcPr>
                    <a:noFill/>
                  </a:tcPr>
                </a:tc>
                <a:tc>
                  <a:txBody>
                    <a:bodyPr/>
                    <a:lstStyle/>
                    <a:p>
                      <a:pPr algn="ctr"/>
                      <a:r>
                        <a:rPr sz="750" b="0">
                          <a:solidFill>
                            <a:srgbClr val="1A1A1A"/>
                          </a:solidFill>
                        </a:rPr>
                        <a:t>2.6x</a:t>
                      </a:r>
                    </a:p>
                  </a:txBody>
                  <a:tcPr>
                    <a:noFill/>
                  </a:tcPr>
                </a:tc>
                <a:tc>
                  <a:txBody>
                    <a:bodyPr/>
                    <a:lstStyle/>
                    <a:p>
                      <a:pPr algn="ctr"/>
                      <a:r>
                        <a:rPr sz="750" b="0">
                          <a:solidFill>
                            <a:srgbClr val="1A1A1A"/>
                          </a:solidFill>
                        </a:rPr>
                        <a:t>25.2x</a:t>
                      </a:r>
                    </a:p>
                  </a:txBody>
                  <a:tcPr>
                    <a:noFill/>
                  </a:tcPr>
                </a:tc>
                <a:tc>
                  <a:txBody>
                    <a:bodyPr/>
                    <a:lstStyle/>
                    <a:p>
                      <a:pPr algn="ctr"/>
                      <a:r>
                        <a:rPr sz="750" b="0">
                          <a:solidFill>
                            <a:srgbClr val="1A1A1A"/>
                          </a:solidFill>
                        </a:rPr>
                        <a:t>42.2 %</a:t>
                      </a:r>
                    </a:p>
                  </a:txBody>
                  <a:tcPr>
                    <a:noFill/>
                  </a:tcPr>
                </a:tc>
                <a:tc>
                  <a:txBody>
                    <a:bodyPr/>
                    <a:lstStyle/>
                    <a:p>
                      <a:pPr algn="ctr"/>
                      <a:r>
                        <a:rPr sz="750" b="0">
                          <a:solidFill>
                            <a:srgbClr val="1A1A1A"/>
                          </a:solidFill>
                        </a:rPr>
                        <a:t>18.7 %</a:t>
                      </a:r>
                    </a:p>
                  </a:txBody>
                  <a:tcPr>
                    <a:noFill/>
                  </a:tcPr>
                </a:tc>
                <a:tc>
                  <a:txBody>
                    <a:bodyPr/>
                    <a:lstStyle/>
                    <a:p>
                      <a:pPr algn="ctr"/>
                      <a:r>
                        <a:rPr sz="750" b="0">
                          <a:solidFill>
                            <a:srgbClr val="1A1A1A"/>
                          </a:solidFill>
                        </a:rPr>
                        <a:t>29.7 %</a:t>
                      </a:r>
                    </a:p>
                  </a:txBody>
                  <a:tcPr>
                    <a:noFill/>
                  </a:tcPr>
                </a:tc>
              </a:tr>
            </a:tbl>
          </a:graphicData>
        </a:graphic>
      </p:graphicFrame>
      <p:sp>
        <p:nvSpPr>
          <p:cNvPr id="16" name="Rectangle 15"/>
          <p:cNvSpPr/>
          <p:nvPr/>
        </p:nvSpPr>
        <p:spPr>
          <a:xfrm>
            <a:off x="324000" y="3780000"/>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780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3798000"/>
            <a:ext cx="8352000" cy="216000"/>
          </a:xfrm>
          <a:prstGeom prst="rect">
            <a:avLst/>
          </a:prstGeom>
          <a:noFill/>
        </p:spPr>
        <p:txBody>
          <a:bodyPr wrap="square">
            <a:spAutoFit/>
          </a:bodyPr>
          <a:lstStyle/>
          <a:p>
            <a:pPr algn="l"/>
            <a:r>
              <a:rPr sz="850" b="1" i="0">
                <a:solidFill>
                  <a:srgbClr val="FFFFFF"/>
                </a:solidFill>
              </a:rPr>
              <a:t>LECTURE ANALYTIQUE</a:t>
            </a:r>
          </a:p>
        </p:txBody>
      </p:sp>
      <p:sp>
        <p:nvSpPr>
          <p:cNvPr id="19" name="TextBox 18"/>
          <p:cNvSpPr txBox="1"/>
          <p:nvPr/>
        </p:nvSpPr>
        <p:spPr>
          <a:xfrm>
            <a:off x="396000" y="4068000"/>
            <a:ext cx="8352000" cy="720000"/>
          </a:xfrm>
          <a:prstGeom prst="rect">
            <a:avLst/>
          </a:prstGeom>
          <a:noFill/>
        </p:spPr>
        <p:txBody>
          <a:bodyPr wrap="square">
            <a:spAutoFit/>
          </a:bodyPr>
          <a:lstStyle/>
          <a:p>
            <a:pPr algn="l"/>
            <a:r>
              <a:rPr sz="850" b="0" i="0">
                <a:solidFill>
                  <a:srgbClr val="555555"/>
                </a:solidFill>
              </a:rPr>
              <a:t>La médiane EV/EBITDA sectorielle s etablit a 17.5x LTM. Philip Morris Intern (16.1x) se distingue comme le leader de qualité, combine a une marge EBITDA de 46.1 % et une croissance de +6.8 %. La dispersion des multiples revele la hétérogénéité des profils au sein du secteur Consumer Defensive — une lecture croisee P/E vs EV/EBITDA permet d'isoler les effets de structure de capital et les distorsions comptables.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Consumer Defensive  ·  Drivers de croissance &amp; sensibilite macro</a:t>
            </a:r>
          </a:p>
        </p:txBody>
      </p:sp>
      <p:sp>
        <p:nvSpPr>
          <p:cNvPr id="15" name="Rectangle 14"/>
          <p:cNvSpPr/>
          <p:nvPr/>
        </p:nvSpPr>
        <p:spPr>
          <a:xfrm>
            <a:off x="324000" y="900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0000" y="900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72000"/>
            <a:ext cx="288000" cy="288000"/>
          </a:xfrm>
          <a:prstGeom prst="rect">
            <a:avLst/>
          </a:prstGeom>
          <a:noFill/>
        </p:spPr>
        <p:txBody>
          <a:bodyPr wrap="square">
            <a:spAutoFit/>
          </a:bodyPr>
          <a:lstStyle/>
          <a:p>
            <a:pPr algn="l"/>
            <a:r>
              <a:rPr sz="1400" b="1" i="0">
                <a:solidFill>
                  <a:srgbClr val="1A7A4A"/>
                </a:solidFill>
              </a:rPr>
              <a:t>▲</a:t>
            </a:r>
          </a:p>
        </p:txBody>
      </p:sp>
      <p:sp>
        <p:nvSpPr>
          <p:cNvPr id="18" name="TextBox 17"/>
          <p:cNvSpPr txBox="1"/>
          <p:nvPr/>
        </p:nvSpPr>
        <p:spPr>
          <a:xfrm>
            <a:off x="756000" y="954000"/>
            <a:ext cx="4932000" cy="251999"/>
          </a:xfrm>
          <a:prstGeom prst="rect">
            <a:avLst/>
          </a:prstGeom>
          <a:noFill/>
        </p:spPr>
        <p:txBody>
          <a:bodyPr wrap="square">
            <a:spAutoFit/>
          </a:bodyPr>
          <a:lstStyle/>
          <a:p>
            <a:pPr algn="l"/>
            <a:r>
              <a:rPr sz="1000" b="1" i="0">
                <a:solidFill>
                  <a:srgbClr val="1B3A6B"/>
                </a:solidFill>
              </a:rPr>
              <a:t>Pricing Power Marques</a:t>
            </a:r>
          </a:p>
        </p:txBody>
      </p:sp>
      <p:sp>
        <p:nvSpPr>
          <p:cNvPr id="19" name="TextBox 18"/>
          <p:cNvSpPr txBox="1"/>
          <p:nvPr/>
        </p:nvSpPr>
        <p:spPr>
          <a:xfrm>
            <a:off x="756000" y="1242000"/>
            <a:ext cx="4932000" cy="288000"/>
          </a:xfrm>
          <a:prstGeom prst="rect">
            <a:avLst/>
          </a:prstGeom>
          <a:noFill/>
        </p:spPr>
        <p:txBody>
          <a:bodyPr wrap="square">
            <a:spAutoFit/>
          </a:bodyPr>
          <a:lstStyle/>
          <a:p>
            <a:pPr algn="l"/>
            <a:r>
              <a:rPr sz="800" b="0" i="0">
                <a:solidFill>
                  <a:srgbClr val="555555"/>
                </a:solidFill>
              </a:rPr>
              <a:t>Leaders de catégorie maintiennent +3-5 % de hausse tarifaire annuelle</a:t>
            </a:r>
          </a:p>
        </p:txBody>
      </p:sp>
      <p:sp>
        <p:nvSpPr>
          <p:cNvPr id="20" name="Rectangle 19"/>
          <p:cNvSpPr/>
          <p:nvPr/>
        </p:nvSpPr>
        <p:spPr>
          <a:xfrm>
            <a:off x="324000" y="1818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0000" y="1818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000" y="1890000"/>
            <a:ext cx="288000" cy="288000"/>
          </a:xfrm>
          <a:prstGeom prst="rect">
            <a:avLst/>
          </a:prstGeom>
          <a:noFill/>
        </p:spPr>
        <p:txBody>
          <a:bodyPr wrap="square">
            <a:spAutoFit/>
          </a:bodyPr>
          <a:lstStyle/>
          <a:p>
            <a:pPr algn="l"/>
            <a:r>
              <a:rPr sz="1400" b="1" i="0">
                <a:solidFill>
                  <a:srgbClr val="1A7A4A"/>
                </a:solidFill>
              </a:rPr>
              <a:t>▲</a:t>
            </a:r>
          </a:p>
        </p:txBody>
      </p:sp>
      <p:sp>
        <p:nvSpPr>
          <p:cNvPr id="23" name="TextBox 22"/>
          <p:cNvSpPr txBox="1"/>
          <p:nvPr/>
        </p:nvSpPr>
        <p:spPr>
          <a:xfrm>
            <a:off x="756000" y="1872000"/>
            <a:ext cx="4932000" cy="251999"/>
          </a:xfrm>
          <a:prstGeom prst="rect">
            <a:avLst/>
          </a:prstGeom>
          <a:noFill/>
        </p:spPr>
        <p:txBody>
          <a:bodyPr wrap="square">
            <a:spAutoFit/>
          </a:bodyPr>
          <a:lstStyle/>
          <a:p>
            <a:pPr algn="l"/>
            <a:r>
              <a:rPr sz="1000" b="1" i="0">
                <a:solidFill>
                  <a:srgbClr val="1B3A6B"/>
                </a:solidFill>
              </a:rPr>
              <a:t>Expansion Emergents</a:t>
            </a:r>
          </a:p>
        </p:txBody>
      </p:sp>
      <p:sp>
        <p:nvSpPr>
          <p:cNvPr id="24" name="TextBox 23"/>
          <p:cNvSpPr txBox="1"/>
          <p:nvPr/>
        </p:nvSpPr>
        <p:spPr>
          <a:xfrm>
            <a:off x="756000" y="2160000"/>
            <a:ext cx="4932000" cy="288000"/>
          </a:xfrm>
          <a:prstGeom prst="rect">
            <a:avLst/>
          </a:prstGeom>
          <a:noFill/>
        </p:spPr>
        <p:txBody>
          <a:bodyPr wrap="square">
            <a:spAutoFit/>
          </a:bodyPr>
          <a:lstStyle/>
          <a:p>
            <a:pPr algn="l"/>
            <a:r>
              <a:rPr sz="800" b="0" i="0">
                <a:solidFill>
                  <a:srgbClr val="555555"/>
                </a:solidFill>
              </a:rPr>
              <a:t>Croissance volumes a 2 chiffres en Afrique et Asie du Sud-Est</a:t>
            </a:r>
          </a:p>
        </p:txBody>
      </p:sp>
      <p:sp>
        <p:nvSpPr>
          <p:cNvPr id="25" name="Rectangle 24"/>
          <p:cNvSpPr/>
          <p:nvPr/>
        </p:nvSpPr>
        <p:spPr>
          <a:xfrm>
            <a:off x="324000" y="2736000"/>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736000"/>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2808000"/>
            <a:ext cx="288000" cy="288000"/>
          </a:xfrm>
          <a:prstGeom prst="rect">
            <a:avLst/>
          </a:prstGeom>
          <a:noFill/>
        </p:spPr>
        <p:txBody>
          <a:bodyPr wrap="square">
            <a:spAutoFit/>
          </a:bodyPr>
          <a:lstStyle/>
          <a:p>
            <a:pPr algn="l"/>
            <a:r>
              <a:rPr sz="1400" b="1" i="0">
                <a:solidFill>
                  <a:srgbClr val="A82020"/>
                </a:solidFill>
              </a:rPr>
              <a:t>▼</a:t>
            </a:r>
          </a:p>
        </p:txBody>
      </p:sp>
      <p:sp>
        <p:nvSpPr>
          <p:cNvPr id="28" name="TextBox 27"/>
          <p:cNvSpPr txBox="1"/>
          <p:nvPr/>
        </p:nvSpPr>
        <p:spPr>
          <a:xfrm>
            <a:off x="756000" y="2790000"/>
            <a:ext cx="4932000" cy="251999"/>
          </a:xfrm>
          <a:prstGeom prst="rect">
            <a:avLst/>
          </a:prstGeom>
          <a:noFill/>
        </p:spPr>
        <p:txBody>
          <a:bodyPr wrap="square">
            <a:spAutoFit/>
          </a:bodyPr>
          <a:lstStyle/>
          <a:p>
            <a:pPr algn="l"/>
            <a:r>
              <a:rPr sz="1000" b="1" i="0">
                <a:solidFill>
                  <a:srgbClr val="1B3A6B"/>
                </a:solidFill>
              </a:rPr>
              <a:t>Pression Distribution</a:t>
            </a:r>
          </a:p>
        </p:txBody>
      </p:sp>
      <p:sp>
        <p:nvSpPr>
          <p:cNvPr id="29" name="TextBox 28"/>
          <p:cNvSpPr txBox="1"/>
          <p:nvPr/>
        </p:nvSpPr>
        <p:spPr>
          <a:xfrm>
            <a:off x="756000" y="3077999"/>
            <a:ext cx="4932000" cy="288000"/>
          </a:xfrm>
          <a:prstGeom prst="rect">
            <a:avLst/>
          </a:prstGeom>
          <a:noFill/>
        </p:spPr>
        <p:txBody>
          <a:bodyPr wrap="square">
            <a:spAutoFit/>
          </a:bodyPr>
          <a:lstStyle/>
          <a:p>
            <a:pPr algn="l"/>
            <a:r>
              <a:rPr sz="800" b="0" i="0">
                <a:solidFill>
                  <a:srgbClr val="555555"/>
                </a:solidFill>
              </a:rPr>
              <a:t>Négociations annuelles de plus en plus defavorables</a:t>
            </a:r>
          </a:p>
        </p:txBody>
      </p:sp>
      <p:sp>
        <p:nvSpPr>
          <p:cNvPr id="30" name="Rectangle 29"/>
          <p:cNvSpPr/>
          <p:nvPr/>
        </p:nvSpPr>
        <p:spPr>
          <a:xfrm>
            <a:off x="324000" y="3653999"/>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0000" y="3653999"/>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6000" y="3725999"/>
            <a:ext cx="288000" cy="288000"/>
          </a:xfrm>
          <a:prstGeom prst="rect">
            <a:avLst/>
          </a:prstGeom>
          <a:noFill/>
        </p:spPr>
        <p:txBody>
          <a:bodyPr wrap="square">
            <a:spAutoFit/>
          </a:bodyPr>
          <a:lstStyle/>
          <a:p>
            <a:pPr algn="l"/>
            <a:r>
              <a:rPr sz="1400" b="1" i="0">
                <a:solidFill>
                  <a:srgbClr val="A82020"/>
                </a:solidFill>
              </a:rPr>
              <a:t>▼</a:t>
            </a:r>
          </a:p>
        </p:txBody>
      </p:sp>
      <p:sp>
        <p:nvSpPr>
          <p:cNvPr id="33" name="TextBox 32"/>
          <p:cNvSpPr txBox="1"/>
          <p:nvPr/>
        </p:nvSpPr>
        <p:spPr>
          <a:xfrm>
            <a:off x="756000" y="3707999"/>
            <a:ext cx="4932000" cy="251999"/>
          </a:xfrm>
          <a:prstGeom prst="rect">
            <a:avLst/>
          </a:prstGeom>
          <a:noFill/>
        </p:spPr>
        <p:txBody>
          <a:bodyPr wrap="square">
            <a:spAutoFit/>
          </a:bodyPr>
          <a:lstStyle/>
          <a:p>
            <a:pPr algn="l"/>
            <a:r>
              <a:rPr sz="1000" b="1" i="0">
                <a:solidFill>
                  <a:srgbClr val="1B3A6B"/>
                </a:solidFill>
              </a:rPr>
              <a:t>Saturation Matures</a:t>
            </a:r>
          </a:p>
        </p:txBody>
      </p:sp>
      <p:sp>
        <p:nvSpPr>
          <p:cNvPr id="34" name="TextBox 33"/>
          <p:cNvSpPr txBox="1"/>
          <p:nvPr/>
        </p:nvSpPr>
        <p:spPr>
          <a:xfrm>
            <a:off x="756000" y="3995999"/>
            <a:ext cx="4932000" cy="288000"/>
          </a:xfrm>
          <a:prstGeom prst="rect">
            <a:avLst/>
          </a:prstGeom>
          <a:noFill/>
        </p:spPr>
        <p:txBody>
          <a:bodyPr wrap="square">
            <a:spAutoFit/>
          </a:bodyPr>
          <a:lstStyle/>
          <a:p>
            <a:pPr algn="l"/>
            <a:r>
              <a:rPr sz="800" b="0" i="0">
                <a:solidFill>
                  <a:srgbClr val="555555"/>
                </a:solidFill>
              </a:rPr>
              <a:t>Volumes stagnants en Europe — croissance principalement par prix</a:t>
            </a:r>
          </a:p>
        </p:txBody>
      </p:sp>
      <p:sp>
        <p:nvSpPr>
          <p:cNvPr id="35" name="Rectangle 34"/>
          <p:cNvSpPr/>
          <p:nvPr/>
        </p:nvSpPr>
        <p:spPr>
          <a:xfrm>
            <a:off x="5976000" y="900000"/>
            <a:ext cx="2844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76000" y="1044000"/>
            <a:ext cx="2844000" cy="251999"/>
          </a:xfrm>
          <a:prstGeom prst="rect">
            <a:avLst/>
          </a:prstGeom>
          <a:noFill/>
        </p:spPr>
        <p:txBody>
          <a:bodyPr wrap="square">
            <a:spAutoFit/>
          </a:bodyPr>
          <a:lstStyle/>
          <a:p>
            <a:pPr algn="ctr"/>
            <a:r>
              <a:rPr sz="850" b="1" i="0">
                <a:solidFill>
                  <a:srgbClr val="1B3A6B"/>
                </a:solidFill>
              </a:rPr>
              <a:t>SIGNAL SECTORIEL</a:t>
            </a:r>
          </a:p>
        </p:txBody>
      </p:sp>
      <p:sp>
        <p:nvSpPr>
          <p:cNvPr id="37" name="Rectangle 36"/>
          <p:cNvSpPr/>
          <p:nvPr/>
        </p:nvSpPr>
        <p:spPr>
          <a:xfrm>
            <a:off x="6300000" y="1404000"/>
            <a:ext cx="219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0000" y="1440000"/>
            <a:ext cx="2196000" cy="432000"/>
          </a:xfrm>
          <a:prstGeom prst="rect">
            <a:avLst/>
          </a:prstGeom>
          <a:noFill/>
        </p:spPr>
        <p:txBody>
          <a:bodyPr wrap="square">
            <a:spAutoFit/>
          </a:bodyPr>
          <a:lstStyle/>
          <a:p>
            <a:pPr algn="ctr"/>
            <a:r>
              <a:rPr sz="1200" b="1" i="0">
                <a:solidFill>
                  <a:srgbClr val="FFFFFF"/>
                </a:solidFill>
              </a:rPr>
              <a:t>● NEUTRE</a:t>
            </a:r>
          </a:p>
        </p:txBody>
      </p:sp>
      <p:sp>
        <p:nvSpPr>
          <p:cNvPr id="39" name="TextBox 38"/>
          <p:cNvSpPr txBox="1"/>
          <p:nvPr/>
        </p:nvSpPr>
        <p:spPr>
          <a:xfrm>
            <a:off x="5976000" y="2015999"/>
            <a:ext cx="2844000" cy="216000"/>
          </a:xfrm>
          <a:prstGeom prst="rect">
            <a:avLst/>
          </a:prstGeom>
          <a:noFill/>
        </p:spPr>
        <p:txBody>
          <a:bodyPr wrap="square">
            <a:spAutoFit/>
          </a:bodyPr>
          <a:lstStyle/>
          <a:p>
            <a:pPr algn="ctr"/>
            <a:r>
              <a:rPr sz="800" b="0" i="0">
                <a:solidFill>
                  <a:srgbClr val="555555"/>
                </a:solidFill>
              </a:rPr>
              <a:t>Score moyen FinSight</a:t>
            </a:r>
          </a:p>
        </p:txBody>
      </p:sp>
      <p:sp>
        <p:nvSpPr>
          <p:cNvPr id="40" name="TextBox 39"/>
          <p:cNvSpPr txBox="1"/>
          <p:nvPr/>
        </p:nvSpPr>
        <p:spPr>
          <a:xfrm>
            <a:off x="5976000" y="2232000"/>
            <a:ext cx="2844000" cy="468000"/>
          </a:xfrm>
          <a:prstGeom prst="rect">
            <a:avLst/>
          </a:prstGeom>
          <a:noFill/>
        </p:spPr>
        <p:txBody>
          <a:bodyPr wrap="square">
            <a:spAutoFit/>
          </a:bodyPr>
          <a:lstStyle/>
          <a:p>
            <a:pPr algn="ctr"/>
            <a:r>
              <a:rPr sz="2800" b="1" i="0">
                <a:solidFill>
                  <a:srgbClr val="1B3A6B"/>
                </a:solidFill>
              </a:rPr>
              <a:t>58/100</a:t>
            </a:r>
          </a:p>
        </p:txBody>
      </p:sp>
      <p:sp>
        <p:nvSpPr>
          <p:cNvPr id="41" name="TextBox 40"/>
          <p:cNvSpPr txBox="1"/>
          <p:nvPr/>
        </p:nvSpPr>
        <p:spPr>
          <a:xfrm>
            <a:off x="5976000" y="2808000"/>
            <a:ext cx="2844000" cy="251999"/>
          </a:xfrm>
          <a:prstGeom prst="rect">
            <a:avLst/>
          </a:prstGeom>
          <a:noFill/>
        </p:spPr>
        <p:txBody>
          <a:bodyPr wrap="square">
            <a:spAutoFit/>
          </a:bodyPr>
          <a:lstStyle/>
          <a:p>
            <a:pPr algn="ctr"/>
            <a:r>
              <a:rPr sz="800" b="0" i="0">
                <a:solidFill>
                  <a:srgbClr val="555555"/>
                </a:solidFill>
              </a:rPr>
              <a:t>WACC median : 5.4 %</a:t>
            </a:r>
          </a:p>
        </p:txBody>
      </p:sp>
      <p:sp>
        <p:nvSpPr>
          <p:cNvPr id="42" name="TextBox 41"/>
          <p:cNvSpPr txBox="1"/>
          <p:nvPr/>
        </p:nvSpPr>
        <p:spPr>
          <a:xfrm>
            <a:off x="5976000" y="3096000"/>
            <a:ext cx="2844000" cy="216000"/>
          </a:xfrm>
          <a:prstGeom prst="rect">
            <a:avLst/>
          </a:prstGeom>
          <a:noFill/>
        </p:spPr>
        <p:txBody>
          <a:bodyPr wrap="square">
            <a:spAutoFit/>
          </a:bodyPr>
          <a:lstStyle/>
          <a:p>
            <a:pPr algn="ctr"/>
            <a:r>
              <a:rPr sz="800" b="0" i="0">
                <a:solidFill>
                  <a:srgbClr val="AAAAAA"/>
                </a:solidFill>
              </a:rPr>
              <a:t>Horizon : 12 mois</a:t>
            </a:r>
          </a:p>
        </p:txBody>
      </p:sp>
      <p:sp>
        <p:nvSpPr>
          <p:cNvPr id="43" name="TextBox 42"/>
          <p:cNvSpPr txBox="1"/>
          <p:nvPr/>
        </p:nvSpPr>
        <p:spPr>
          <a:xfrm>
            <a:off x="5976000" y="3456000"/>
            <a:ext cx="2844000" cy="720000"/>
          </a:xfrm>
          <a:prstGeom prst="rect">
            <a:avLst/>
          </a:prstGeom>
          <a:noFill/>
        </p:spPr>
        <p:txBody>
          <a:bodyPr wrap="square">
            <a:spAutoFit/>
          </a:bodyPr>
          <a:lstStyle/>
          <a:p>
            <a:pPr algn="ctr"/>
            <a:r>
              <a:rPr sz="800" b="0" i="0">
                <a:solidFill>
                  <a:srgbClr val="2A5298"/>
                </a:solidFill>
              </a:rPr>
              <a:t>Secteur défensif | résilient en recession, sous-performant en expansion</a:t>
            </a:r>
          </a:p>
        </p:txBody>
      </p:sp>
      <p:sp>
        <p:nvSpPr>
          <p:cNvPr id="44" name="Rectangle 43"/>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Societes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8 sociétés analysées — scores FinSight, scatter &amp;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Societes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8 sociétés analysées  ·  Consumer Defensive  ·  S&amp;P 500  ·  Tri par score FinSight decroissant</a:t>
            </a:r>
          </a:p>
        </p:txBody>
      </p:sp>
      <p:graphicFrame>
        <p:nvGraphicFramePr>
          <p:cNvPr id="15" name="Table 14"/>
          <p:cNvGraphicFramePr>
            <a:graphicFrameLocks noGrp="1"/>
          </p:cNvGraphicFramePr>
          <p:nvPr/>
        </p:nvGraphicFramePr>
        <p:xfrm>
          <a:off x="324000" y="900000"/>
          <a:ext cx="8495998" cy="1814400"/>
        </p:xfrm>
        <a:graphic>
          <a:graphicData uri="http://schemas.openxmlformats.org/drawingml/2006/table">
            <a:tbl>
              <a:tblPr firstRow="1" bandRow="1">
                <a:tableStyleId>{5C22544A-7EE6-4342-B048-85BDC9FD1C3A}</a:tableStyleId>
              </a:tblPr>
              <a:tblGrid>
                <a:gridCol w="288000"/>
                <a:gridCol w="648000"/>
                <a:gridCol w="1440000"/>
                <a:gridCol w="720000"/>
                <a:gridCol w="648000"/>
                <a:gridCol w="720000"/>
                <a:gridCol w="864000"/>
                <a:gridCol w="1007999"/>
                <a:gridCol w="1007999"/>
                <a:gridCol w="1152000"/>
              </a:tblGrid>
              <a:tr h="201600">
                <a:tc>
                  <a:txBody>
                    <a:bodyPr/>
                    <a:lstStyle/>
                    <a:p>
                      <a:pPr algn="ctr"/>
                      <a:r>
                        <a:rPr sz="750" b="1">
                          <a:solidFill>
                            <a:srgbClr val="FFFFFF"/>
                          </a:solidFill>
                        </a:rPr>
                        <a:t>#</a:t>
                      </a:r>
                    </a:p>
                  </a:txBody>
                  <a:tcPr>
                    <a:solidFill>
                      <a:srgbClr val="1B3A6B"/>
                    </a:solidFill>
                  </a:tcPr>
                </a:tc>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Score</a:t>
                      </a:r>
                    </a:p>
                  </a:txBody>
                  <a:tcPr>
                    <a:solidFill>
                      <a:srgbClr val="1B3A6B"/>
                    </a:solidFill>
                  </a:tcPr>
                </a:tc>
                <a:tc>
                  <a:txBody>
                    <a:bodyPr/>
                    <a:lstStyle/>
                    <a:p>
                      <a:pPr algn="ctr"/>
                      <a:r>
                        <a:rPr sz="750" b="1">
                          <a:solidFill>
                            <a:srgbClr val="FFFFFF"/>
                          </a:solidFill>
                        </a:rPr>
                        <a:t>Reco</a:t>
                      </a:r>
                    </a:p>
                  </a:txBody>
                  <a:tcPr>
                    <a:solidFill>
                      <a:srgbClr val="1B3A6B"/>
                    </a:solidFill>
                  </a:tcPr>
                </a:tc>
                <a:tc>
                  <a:txBody>
                    <a:bodyPr/>
                    <a:lstStyle/>
                    <a:p>
                      <a:pPr algn="ctr"/>
                      <a:r>
                        <a:rPr sz="750" b="1">
                          <a:solidFill>
                            <a:srgbClr val="FFFFFF"/>
                          </a:solidFill>
                        </a:rPr>
                        <a:t>Cours</a:t>
                      </a:r>
                    </a:p>
                  </a:txBody>
                  <a:tcPr>
                    <a:solidFill>
                      <a:srgbClr val="1B3A6B"/>
                    </a:solidFill>
                  </a:tcPr>
                </a:tc>
                <a:tc>
                  <a:txBody>
                    <a:bodyPr/>
                    <a:lstStyle/>
                    <a:p>
                      <a:pPr algn="ctr"/>
                      <a:r>
                        <a:rPr sz="750" b="1">
                          <a:solidFill>
                            <a:srgbClr val="FFFFFF"/>
                          </a:solidFill>
                        </a:rPr>
                        <a:t>EV/EBITDA</a:t>
                      </a:r>
                    </a:p>
                  </a:txBody>
                  <a:tcPr>
                    <a:solidFill>
                      <a:srgbClr val="1B3A6B"/>
                    </a:solidFill>
                  </a:tcPr>
                </a:tc>
                <a:tc>
                  <a:txBody>
                    <a:bodyPr/>
                    <a:lstStyle/>
                    <a:p>
                      <a:pPr algn="ctr"/>
                      <a:r>
                        <a:rPr sz="750" b="1">
                          <a:solidFill>
                            <a:srgbClr val="FFFFFF"/>
                          </a:solidFill>
                        </a:rPr>
                        <a:t>Mg EBITDA</a:t>
                      </a:r>
                    </a:p>
                  </a:txBody>
                  <a:tcPr>
                    <a:solidFill>
                      <a:srgbClr val="1B3A6B"/>
                    </a:solidFill>
                  </a:tcPr>
                </a:tc>
                <a:tc>
                  <a:txBody>
                    <a:bodyPr/>
                    <a:lstStyle/>
                    <a:p>
                      <a:pPr algn="ctr"/>
                      <a:r>
                        <a:rPr sz="750" b="1">
                          <a:solidFill>
                            <a:srgbClr val="FFFFFF"/>
                          </a:solidFill>
                        </a:rPr>
                        <a:t>Croissance</a:t>
                      </a:r>
                    </a:p>
                  </a:txBody>
                  <a:tcPr>
                    <a:solidFill>
                      <a:srgbClr val="1B3A6B"/>
                    </a:solidFill>
                  </a:tcPr>
                </a:tc>
                <a:tc>
                  <a:txBody>
                    <a:bodyPr/>
                    <a:lstStyle/>
                    <a:p>
                      <a:pPr algn="ctr"/>
                      <a:r>
                        <a:rPr sz="750" b="1">
                          <a:solidFill>
                            <a:srgbClr val="FFFFFF"/>
                          </a:solidFill>
                        </a:rPr>
                        <a:t>Momentum</a:t>
                      </a:r>
                    </a:p>
                  </a:txBody>
                  <a:tcPr>
                    <a:solidFill>
                      <a:srgbClr val="1B3A6B"/>
                    </a:solidFill>
                  </a:tcPr>
                </a:tc>
              </a:tr>
              <a:tr h="201600">
                <a:tc>
                  <a:txBody>
                    <a:bodyPr/>
                    <a:lstStyle/>
                    <a:p>
                      <a:pPr algn="ctr"/>
                      <a:r>
                        <a:rPr sz="750" b="0">
                          <a:solidFill>
                            <a:srgbClr val="1A1A1A"/>
                          </a:solidFill>
                        </a:rPr>
                        <a:t>1</a:t>
                      </a:r>
                    </a:p>
                  </a:txBody>
                  <a:tcPr>
                    <a:noFill/>
                  </a:tcPr>
                </a:tc>
                <a:tc>
                  <a:txBody>
                    <a:bodyPr/>
                    <a:lstStyle/>
                    <a:p>
                      <a:pPr algn="ctr"/>
                      <a:r>
                        <a:rPr sz="750" b="0">
                          <a:solidFill>
                            <a:srgbClr val="1A1A1A"/>
                          </a:solidFill>
                        </a:rPr>
                        <a:t>PM</a:t>
                      </a:r>
                    </a:p>
                  </a:txBody>
                  <a:tcPr>
                    <a:noFill/>
                  </a:tcPr>
                </a:tc>
                <a:tc>
                  <a:txBody>
                    <a:bodyPr/>
                    <a:lstStyle/>
                    <a:p>
                      <a:pPr algn="ctr"/>
                      <a:r>
                        <a:rPr sz="750" b="0">
                          <a:solidFill>
                            <a:srgbClr val="1A1A1A"/>
                          </a:solidFill>
                        </a:rPr>
                        <a:t>Philip Morris Inte</a:t>
                      </a:r>
                    </a:p>
                  </a:txBody>
                  <a:tcPr>
                    <a:noFill/>
                  </a:tcPr>
                </a:tc>
                <a:tc>
                  <a:txBody>
                    <a:bodyPr/>
                    <a:lstStyle/>
                    <a:p>
                      <a:pPr algn="ctr"/>
                      <a:r>
                        <a:rPr sz="750" b="0">
                          <a:solidFill>
                            <a:srgbClr val="1A1A1A"/>
                          </a:solidFill>
                        </a:rPr>
                        <a:t>71/100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163.54</a:t>
                      </a:r>
                    </a:p>
                  </a:txBody>
                  <a:tcPr>
                    <a:noFill/>
                  </a:tcPr>
                </a:tc>
                <a:tc>
                  <a:txBody>
                    <a:bodyPr/>
                    <a:lstStyle/>
                    <a:p>
                      <a:pPr algn="ctr"/>
                      <a:r>
                        <a:rPr sz="750" b="0">
                          <a:solidFill>
                            <a:srgbClr val="1A1A1A"/>
                          </a:solidFill>
                        </a:rPr>
                        <a:t>16.1x</a:t>
                      </a:r>
                    </a:p>
                  </a:txBody>
                  <a:tcPr>
                    <a:noFill/>
                  </a:tcPr>
                </a:tc>
                <a:tc>
                  <a:txBody>
                    <a:bodyPr/>
                    <a:lstStyle/>
                    <a:p>
                      <a:pPr algn="ctr"/>
                      <a:r>
                        <a:rPr sz="750" b="0">
                          <a:solidFill>
                            <a:srgbClr val="1A1A1A"/>
                          </a:solidFill>
                        </a:rPr>
                        <a:t>46.1 %</a:t>
                      </a:r>
                    </a:p>
                  </a:txBody>
                  <a:tcPr>
                    <a:noFill/>
                  </a:tcPr>
                </a:tc>
                <a:tc>
                  <a:txBody>
                    <a:bodyPr/>
                    <a:lstStyle/>
                    <a:p>
                      <a:pPr algn="ctr"/>
                      <a:r>
                        <a:rPr sz="750" b="0">
                          <a:solidFill>
                            <a:srgbClr val="1A1A1A"/>
                          </a:solidFill>
                        </a:rPr>
                        <a:t>+6.8 %</a:t>
                      </a:r>
                    </a:p>
                  </a:txBody>
                  <a:tcPr>
                    <a:noFill/>
                  </a:tcPr>
                </a:tc>
                <a:tc>
                  <a:txBody>
                    <a:bodyPr/>
                    <a:lstStyle/>
                    <a:p>
                      <a:pPr algn="ctr"/>
                      <a:r>
                        <a:rPr sz="750" b="0">
                          <a:solidFill>
                            <a:srgbClr val="1A1A1A"/>
                          </a:solidFill>
                        </a:rPr>
                        <a:t>+7.6 %</a:t>
                      </a:r>
                    </a:p>
                  </a:txBody>
                  <a:tcPr>
                    <a:noFill/>
                  </a:tcPr>
                </a:tc>
              </a:tr>
              <a:tr h="201600">
                <a:tc>
                  <a:txBody>
                    <a:bodyPr/>
                    <a:lstStyle/>
                    <a:p>
                      <a:pPr algn="ctr"/>
                      <a:r>
                        <a:rPr sz="750" b="0">
                          <a:solidFill>
                            <a:srgbClr val="1A1A1A"/>
                          </a:solidFill>
                        </a:rPr>
                        <a:t>2</a:t>
                      </a:r>
                    </a:p>
                  </a:txBody>
                  <a:tcPr>
                    <a:solidFill>
                      <a:srgbClr val="F5F7FA"/>
                    </a:solidFill>
                  </a:tcPr>
                </a:tc>
                <a:tc>
                  <a:txBody>
                    <a:bodyPr/>
                    <a:lstStyle/>
                    <a:p>
                      <a:pPr algn="ctr"/>
                      <a:r>
                        <a:rPr sz="750" b="0">
                          <a:solidFill>
                            <a:srgbClr val="1A1A1A"/>
                          </a:solidFill>
                        </a:rPr>
                        <a:t>KO</a:t>
                      </a:r>
                    </a:p>
                  </a:txBody>
                  <a:tcPr>
                    <a:solidFill>
                      <a:srgbClr val="F5F7FA"/>
                    </a:solidFill>
                  </a:tcPr>
                </a:tc>
                <a:tc>
                  <a:txBody>
                    <a:bodyPr/>
                    <a:lstStyle/>
                    <a:p>
                      <a:pPr algn="ctr"/>
                      <a:r>
                        <a:rPr sz="750" b="0">
                          <a:solidFill>
                            <a:srgbClr val="1A1A1A"/>
                          </a:solidFill>
                        </a:rPr>
                        <a:t>The Coca-Cola Comp</a:t>
                      </a:r>
                    </a:p>
                  </a:txBody>
                  <a:tcPr>
                    <a:solidFill>
                      <a:srgbClr val="F5F7FA"/>
                    </a:solidFill>
                  </a:tcPr>
                </a:tc>
                <a:tc>
                  <a:txBody>
                    <a:bodyPr/>
                    <a:lstStyle/>
                    <a:p>
                      <a:pPr algn="ctr"/>
                      <a:r>
                        <a:rPr sz="750" b="0">
                          <a:solidFill>
                            <a:srgbClr val="1A1A1A"/>
                          </a:solidFill>
                        </a:rPr>
                        <a:t>65/100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75.71</a:t>
                      </a:r>
                    </a:p>
                  </a:txBody>
                  <a:tcPr>
                    <a:solidFill>
                      <a:srgbClr val="F5F7FA"/>
                    </a:solidFill>
                  </a:tcPr>
                </a:tc>
                <a:tc>
                  <a:txBody>
                    <a:bodyPr/>
                    <a:lstStyle/>
                    <a:p>
                      <a:pPr algn="ctr"/>
                      <a:r>
                        <a:rPr sz="750" b="0">
                          <a:solidFill>
                            <a:srgbClr val="1A1A1A"/>
                          </a:solidFill>
                        </a:rPr>
                        <a:t>22.4x</a:t>
                      </a:r>
                    </a:p>
                  </a:txBody>
                  <a:tcPr>
                    <a:solidFill>
                      <a:srgbClr val="F5F7FA"/>
                    </a:solidFill>
                  </a:tcPr>
                </a:tc>
                <a:tc>
                  <a:txBody>
                    <a:bodyPr/>
                    <a:lstStyle/>
                    <a:p>
                      <a:pPr algn="ctr"/>
                      <a:r>
                        <a:rPr sz="750" b="0">
                          <a:solidFill>
                            <a:srgbClr val="1A1A1A"/>
                          </a:solidFill>
                        </a:rPr>
                        <a:t>33.5 %</a:t>
                      </a:r>
                    </a:p>
                  </a:txBody>
                  <a:tcPr>
                    <a:solidFill>
                      <a:srgbClr val="F5F7FA"/>
                    </a:solidFill>
                  </a:tcPr>
                </a:tc>
                <a:tc>
                  <a:txBody>
                    <a:bodyPr/>
                    <a:lstStyle/>
                    <a:p>
                      <a:pPr algn="ctr"/>
                      <a:r>
                        <a:rPr sz="750" b="0">
                          <a:solidFill>
                            <a:srgbClr val="1A1A1A"/>
                          </a:solidFill>
                        </a:rPr>
                        <a:t>+2.4 %</a:t>
                      </a:r>
                    </a:p>
                  </a:txBody>
                  <a:tcPr>
                    <a:solidFill>
                      <a:srgbClr val="F5F7FA"/>
                    </a:solidFill>
                  </a:tcPr>
                </a:tc>
                <a:tc>
                  <a:txBody>
                    <a:bodyPr/>
                    <a:lstStyle/>
                    <a:p>
                      <a:pPr algn="ctr"/>
                      <a:r>
                        <a:rPr sz="750" b="0">
                          <a:solidFill>
                            <a:srgbClr val="1A1A1A"/>
                          </a:solidFill>
                        </a:rPr>
                        <a:t>+8.4 %</a:t>
                      </a:r>
                    </a:p>
                  </a:txBody>
                  <a:tcPr>
                    <a:solidFill>
                      <a:srgbClr val="F5F7FA"/>
                    </a:solidFill>
                  </a:tcPr>
                </a:tc>
              </a:tr>
              <a:tr h="201600">
                <a:tc>
                  <a:txBody>
                    <a:bodyPr/>
                    <a:lstStyle/>
                    <a:p>
                      <a:pPr algn="ctr"/>
                      <a:r>
                        <a:rPr sz="750" b="0">
                          <a:solidFill>
                            <a:srgbClr val="1A1A1A"/>
                          </a:solidFill>
                        </a:rPr>
                        <a:t>3</a:t>
                      </a:r>
                    </a:p>
                  </a:txBody>
                  <a:tcPr>
                    <a:noFill/>
                  </a:tcPr>
                </a:tc>
                <a:tc>
                  <a:txBody>
                    <a:bodyPr/>
                    <a:lstStyle/>
                    <a:p>
                      <a:pPr algn="ctr"/>
                      <a:r>
                        <a:rPr sz="750" b="0">
                          <a:solidFill>
                            <a:srgbClr val="1A1A1A"/>
                          </a:solidFill>
                        </a:rPr>
                        <a:t>PG</a:t>
                      </a:r>
                    </a:p>
                  </a:txBody>
                  <a:tcPr>
                    <a:noFill/>
                  </a:tcPr>
                </a:tc>
                <a:tc>
                  <a:txBody>
                    <a:bodyPr/>
                    <a:lstStyle/>
                    <a:p>
                      <a:pPr algn="ctr"/>
                      <a:r>
                        <a:rPr sz="750" b="0">
                          <a:solidFill>
                            <a:srgbClr val="1A1A1A"/>
                          </a:solidFill>
                        </a:rPr>
                        <a:t>The Procter &amp; Gamb</a:t>
                      </a:r>
                    </a:p>
                  </a:txBody>
                  <a:tcPr>
                    <a:noFill/>
                  </a:tcPr>
                </a:tc>
                <a:tc>
                  <a:txBody>
                    <a:bodyPr/>
                    <a:lstStyle/>
                    <a:p>
                      <a:pPr algn="ctr"/>
                      <a:r>
                        <a:rPr sz="750" b="0">
                          <a:solidFill>
                            <a:srgbClr val="1A1A1A"/>
                          </a:solidFill>
                        </a:rPr>
                        <a:t>63/100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142.71</a:t>
                      </a:r>
                    </a:p>
                  </a:txBody>
                  <a:tcPr>
                    <a:noFill/>
                  </a:tcPr>
                </a:tc>
                <a:tc>
                  <a:txBody>
                    <a:bodyPr/>
                    <a:lstStyle/>
                    <a:p>
                      <a:pPr algn="ctr"/>
                      <a:r>
                        <a:rPr sz="750" b="0">
                          <a:solidFill>
                            <a:srgbClr val="1A1A1A"/>
                          </a:solidFill>
                        </a:rPr>
                        <a:t>14.5x</a:t>
                      </a:r>
                    </a:p>
                  </a:txBody>
                  <a:tcPr>
                    <a:noFill/>
                  </a:tcPr>
                </a:tc>
                <a:tc>
                  <a:txBody>
                    <a:bodyPr/>
                    <a:lstStyle/>
                    <a:p>
                      <a:pPr algn="ctr"/>
                      <a:r>
                        <a:rPr sz="750" b="0">
                          <a:solidFill>
                            <a:srgbClr val="1A1A1A"/>
                          </a:solidFill>
                        </a:rPr>
                        <a:t>29.0 %</a:t>
                      </a:r>
                    </a:p>
                  </a:txBody>
                  <a:tcPr>
                    <a:noFill/>
                  </a:tcPr>
                </a:tc>
                <a:tc>
                  <a:txBody>
                    <a:bodyPr/>
                    <a:lstStyle/>
                    <a:p>
                      <a:pPr algn="ctr"/>
                      <a:r>
                        <a:rPr sz="750" b="0">
                          <a:solidFill>
                            <a:srgbClr val="1A1A1A"/>
                          </a:solidFill>
                        </a:rPr>
                        <a:t>+1.5 %</a:t>
                      </a:r>
                    </a:p>
                  </a:txBody>
                  <a:tcPr>
                    <a:noFill/>
                  </a:tcPr>
                </a:tc>
                <a:tc>
                  <a:txBody>
                    <a:bodyPr/>
                    <a:lstStyle/>
                    <a:p>
                      <a:pPr algn="ctr"/>
                      <a:r>
                        <a:rPr sz="750" b="0">
                          <a:solidFill>
                            <a:srgbClr val="1A1A1A"/>
                          </a:solidFill>
                        </a:rPr>
                        <a:t>-12.9 %</a:t>
                      </a:r>
                    </a:p>
                  </a:txBody>
                  <a:tcPr>
                    <a:noFill/>
                  </a:tcPr>
                </a:tc>
              </a:tr>
              <a:tr h="201600">
                <a:tc>
                  <a:txBody>
                    <a:bodyPr/>
                    <a:lstStyle/>
                    <a:p>
                      <a:pPr algn="ctr"/>
                      <a:r>
                        <a:rPr sz="750" b="0">
                          <a:solidFill>
                            <a:srgbClr val="1A1A1A"/>
                          </a:solidFill>
                        </a:rPr>
                        <a:t>4</a:t>
                      </a:r>
                    </a:p>
                  </a:txBody>
                  <a:tcPr>
                    <a:solidFill>
                      <a:srgbClr val="F5F7FA"/>
                    </a:solidFill>
                  </a:tcPr>
                </a:tc>
                <a:tc>
                  <a:txBody>
                    <a:bodyPr/>
                    <a:lstStyle/>
                    <a:p>
                      <a:pPr algn="ctr"/>
                      <a:r>
                        <a:rPr sz="750" b="0">
                          <a:solidFill>
                            <a:srgbClr val="1A1A1A"/>
                          </a:solidFill>
                        </a:rPr>
                        <a:t>PEP</a:t>
                      </a:r>
                    </a:p>
                  </a:txBody>
                  <a:tcPr>
                    <a:solidFill>
                      <a:srgbClr val="F5F7FA"/>
                    </a:solidFill>
                  </a:tcPr>
                </a:tc>
                <a:tc>
                  <a:txBody>
                    <a:bodyPr/>
                    <a:lstStyle/>
                    <a:p>
                      <a:pPr algn="ctr"/>
                      <a:r>
                        <a:rPr sz="750" b="0">
                          <a:solidFill>
                            <a:srgbClr val="1A1A1A"/>
                          </a:solidFill>
                        </a:rPr>
                        <a:t>PepsiCo, Inc.</a:t>
                      </a:r>
                    </a:p>
                  </a:txBody>
                  <a:tcPr>
                    <a:solidFill>
                      <a:srgbClr val="F5F7FA"/>
                    </a:solidFill>
                  </a:tcPr>
                </a:tc>
                <a:tc>
                  <a:txBody>
                    <a:bodyPr/>
                    <a:lstStyle/>
                    <a:p>
                      <a:pPr algn="ctr"/>
                      <a:r>
                        <a:rPr sz="750" b="0">
                          <a:solidFill>
                            <a:srgbClr val="1A1A1A"/>
                          </a:solidFill>
                        </a:rPr>
                        <a:t>59/100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153.04</a:t>
                      </a:r>
                    </a:p>
                  </a:txBody>
                  <a:tcPr>
                    <a:solidFill>
                      <a:srgbClr val="F5F7FA"/>
                    </a:solidFill>
                  </a:tcPr>
                </a:tc>
                <a:tc>
                  <a:txBody>
                    <a:bodyPr/>
                    <a:lstStyle/>
                    <a:p>
                      <a:pPr algn="ctr"/>
                      <a:r>
                        <a:rPr sz="750" b="0">
                          <a:solidFill>
                            <a:srgbClr val="1A1A1A"/>
                          </a:solidFill>
                        </a:rPr>
                        <a:t>13.9x</a:t>
                      </a:r>
                    </a:p>
                  </a:txBody>
                  <a:tcPr>
                    <a:solidFill>
                      <a:srgbClr val="F5F7FA"/>
                    </a:solidFill>
                  </a:tcPr>
                </a:tc>
                <a:tc>
                  <a:txBody>
                    <a:bodyPr/>
                    <a:lstStyle/>
                    <a:p>
                      <a:pPr algn="ctr"/>
                      <a:r>
                        <a:rPr sz="750" b="0">
                          <a:solidFill>
                            <a:srgbClr val="1A1A1A"/>
                          </a:solidFill>
                        </a:rPr>
                        <a:t>19.3 %</a:t>
                      </a:r>
                    </a:p>
                  </a:txBody>
                  <a:tcPr>
                    <a:solidFill>
                      <a:srgbClr val="F5F7FA"/>
                    </a:solidFill>
                  </a:tcPr>
                </a:tc>
                <a:tc>
                  <a:txBody>
                    <a:bodyPr/>
                    <a:lstStyle/>
                    <a:p>
                      <a:pPr algn="ctr"/>
                      <a:r>
                        <a:rPr sz="750" b="0">
                          <a:solidFill>
                            <a:srgbClr val="1A1A1A"/>
                          </a:solidFill>
                        </a:rPr>
                        <a:t>+5.6 %</a:t>
                      </a:r>
                    </a:p>
                  </a:txBody>
                  <a:tcPr>
                    <a:solidFill>
                      <a:srgbClr val="F5F7FA"/>
                    </a:solidFill>
                  </a:tcPr>
                </a:tc>
                <a:tc>
                  <a:txBody>
                    <a:bodyPr/>
                    <a:lstStyle/>
                    <a:p>
                      <a:pPr algn="ctr"/>
                      <a:r>
                        <a:rPr sz="750" b="0">
                          <a:solidFill>
                            <a:srgbClr val="1A1A1A"/>
                          </a:solidFill>
                        </a:rPr>
                        <a:t>+2.5 %</a:t>
                      </a:r>
                    </a:p>
                  </a:txBody>
                  <a:tcPr>
                    <a:solidFill>
                      <a:srgbClr val="F5F7FA"/>
                    </a:solidFill>
                  </a:tcPr>
                </a:tc>
              </a:tr>
              <a:tr h="201600">
                <a:tc>
                  <a:txBody>
                    <a:bodyPr/>
                    <a:lstStyle/>
                    <a:p>
                      <a:pPr algn="ctr"/>
                      <a:r>
                        <a:rPr sz="750" b="0">
                          <a:solidFill>
                            <a:srgbClr val="1A1A1A"/>
                          </a:solidFill>
                        </a:rPr>
                        <a:t>5</a:t>
                      </a:r>
                    </a:p>
                  </a:txBody>
                  <a:tcPr>
                    <a:noFill/>
                  </a:tcPr>
                </a:tc>
                <a:tc>
                  <a:txBody>
                    <a:bodyPr/>
                    <a:lstStyle/>
                    <a:p>
                      <a:pPr algn="ctr"/>
                      <a:r>
                        <a:rPr sz="750" b="0">
                          <a:solidFill>
                            <a:srgbClr val="1A1A1A"/>
                          </a:solidFill>
                        </a:rPr>
                        <a:t>MDLZ</a:t>
                      </a:r>
                    </a:p>
                  </a:txBody>
                  <a:tcPr>
                    <a:noFill/>
                  </a:tcPr>
                </a:tc>
                <a:tc>
                  <a:txBody>
                    <a:bodyPr/>
                    <a:lstStyle/>
                    <a:p>
                      <a:pPr algn="ctr"/>
                      <a:r>
                        <a:rPr sz="750" b="0">
                          <a:solidFill>
                            <a:srgbClr val="1A1A1A"/>
                          </a:solidFill>
                        </a:rPr>
                        <a:t>Mondelez Internati</a:t>
                      </a:r>
                    </a:p>
                  </a:txBody>
                  <a:tcPr>
                    <a:noFill/>
                  </a:tcPr>
                </a:tc>
                <a:tc>
                  <a:txBody>
                    <a:bodyPr/>
                    <a:lstStyle/>
                    <a:p>
                      <a:pPr algn="ctr"/>
                      <a:r>
                        <a:rPr sz="750" b="0">
                          <a:solidFill>
                            <a:srgbClr val="1A1A1A"/>
                          </a:solidFill>
                        </a:rPr>
                        <a:t>56/100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58.27</a:t>
                      </a:r>
                    </a:p>
                  </a:txBody>
                  <a:tcPr>
                    <a:noFill/>
                  </a:tcPr>
                </a:tc>
                <a:tc>
                  <a:txBody>
                    <a:bodyPr/>
                    <a:lstStyle/>
                    <a:p>
                      <a:pPr algn="ctr"/>
                      <a:r>
                        <a:rPr sz="750" b="0">
                          <a:solidFill>
                            <a:srgbClr val="1A1A1A"/>
                          </a:solidFill>
                        </a:rPr>
                        <a:t>19.0x</a:t>
                      </a:r>
                    </a:p>
                  </a:txBody>
                  <a:tcPr>
                    <a:noFill/>
                  </a:tcPr>
                </a:tc>
                <a:tc>
                  <a:txBody>
                    <a:bodyPr/>
                    <a:lstStyle/>
                    <a:p>
                      <a:pPr algn="ctr"/>
                      <a:r>
                        <a:rPr sz="750" b="0">
                          <a:solidFill>
                            <a:srgbClr val="1A1A1A"/>
                          </a:solidFill>
                        </a:rPr>
                        <a:t>12.9 %</a:t>
                      </a:r>
                    </a:p>
                  </a:txBody>
                  <a:tcPr>
                    <a:noFill/>
                  </a:tcPr>
                </a:tc>
                <a:tc>
                  <a:txBody>
                    <a:bodyPr/>
                    <a:lstStyle/>
                    <a:p>
                      <a:pPr algn="ctr"/>
                      <a:r>
                        <a:rPr sz="750" b="0">
                          <a:solidFill>
                            <a:srgbClr val="1A1A1A"/>
                          </a:solidFill>
                        </a:rPr>
                        <a:t>+9.3 %</a:t>
                      </a:r>
                    </a:p>
                  </a:txBody>
                  <a:tcPr>
                    <a:noFill/>
                  </a:tcPr>
                </a:tc>
                <a:tc>
                  <a:txBody>
                    <a:bodyPr/>
                    <a:lstStyle/>
                    <a:p>
                      <a:pPr algn="ctr"/>
                      <a:r>
                        <a:rPr sz="750" b="0">
                          <a:solidFill>
                            <a:srgbClr val="1A1A1A"/>
                          </a:solidFill>
                        </a:rPr>
                        <a:t>-13.5 %</a:t>
                      </a:r>
                    </a:p>
                  </a:txBody>
                  <a:tcPr>
                    <a:noFill/>
                  </a:tcPr>
                </a:tc>
              </a:tr>
              <a:tr h="201600">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WMT</a:t>
                      </a:r>
                    </a:p>
                  </a:txBody>
                  <a:tcPr>
                    <a:solidFill>
                      <a:srgbClr val="F5F7FA"/>
                    </a:solidFill>
                  </a:tcPr>
                </a:tc>
                <a:tc>
                  <a:txBody>
                    <a:bodyPr/>
                    <a:lstStyle/>
                    <a:p>
                      <a:pPr algn="ctr"/>
                      <a:r>
                        <a:rPr sz="750" b="0">
                          <a:solidFill>
                            <a:srgbClr val="1A1A1A"/>
                          </a:solidFill>
                        </a:rPr>
                        <a:t>Walmart Inc.</a:t>
                      </a:r>
                    </a:p>
                  </a:txBody>
                  <a:tcPr>
                    <a:solidFill>
                      <a:srgbClr val="F5F7FA"/>
                    </a:solidFill>
                  </a:tcPr>
                </a:tc>
                <a:tc>
                  <a:txBody>
                    <a:bodyPr/>
                    <a:lstStyle/>
                    <a:p>
                      <a:pPr algn="ctr"/>
                      <a:r>
                        <a:rPr sz="750" b="0">
                          <a:solidFill>
                            <a:srgbClr val="1A1A1A"/>
                          </a:solidFill>
                        </a:rPr>
                        <a:t>50/100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122.89</a:t>
                      </a:r>
                    </a:p>
                  </a:txBody>
                  <a:tcPr>
                    <a:solidFill>
                      <a:srgbClr val="F5F7FA"/>
                    </a:solidFill>
                  </a:tcPr>
                </a:tc>
                <a:tc>
                  <a:txBody>
                    <a:bodyPr/>
                    <a:lstStyle/>
                    <a:p>
                      <a:pPr algn="ctr"/>
                      <a:r>
                        <a:rPr sz="750" b="0">
                          <a:solidFill>
                            <a:srgbClr val="1A1A1A"/>
                          </a:solidFill>
                        </a:rPr>
                        <a:t>23.7x</a:t>
                      </a:r>
                    </a:p>
                  </a:txBody>
                  <a:tcPr>
                    <a:solidFill>
                      <a:srgbClr val="F5F7FA"/>
                    </a:solidFill>
                  </a:tcPr>
                </a:tc>
                <a:tc>
                  <a:txBody>
                    <a:bodyPr/>
                    <a:lstStyle/>
                    <a:p>
                      <a:pPr algn="ctr"/>
                      <a:r>
                        <a:rPr sz="750" b="0">
                          <a:solidFill>
                            <a:srgbClr val="1A1A1A"/>
                          </a:solidFill>
                        </a:rPr>
                        <a:t>6.2 %</a:t>
                      </a:r>
                    </a:p>
                  </a:txBody>
                  <a:tcPr>
                    <a:solidFill>
                      <a:srgbClr val="F5F7FA"/>
                    </a:solidFill>
                  </a:tcPr>
                </a:tc>
                <a:tc>
                  <a:txBody>
                    <a:bodyPr/>
                    <a:lstStyle/>
                    <a:p>
                      <a:pPr algn="ctr"/>
                      <a:r>
                        <a:rPr sz="750" b="0">
                          <a:solidFill>
                            <a:srgbClr val="1A1A1A"/>
                          </a:solidFill>
                        </a:rPr>
                        <a:t>+5.6 %</a:t>
                      </a:r>
                    </a:p>
                  </a:txBody>
                  <a:tcPr>
                    <a:solidFill>
                      <a:srgbClr val="F5F7FA"/>
                    </a:solidFill>
                  </a:tcPr>
                </a:tc>
                <a:tc>
                  <a:txBody>
                    <a:bodyPr/>
                    <a:lstStyle/>
                    <a:p>
                      <a:pPr algn="ctr"/>
                      <a:r>
                        <a:rPr sz="750" b="0">
                          <a:solidFill>
                            <a:srgbClr val="1A1A1A"/>
                          </a:solidFill>
                        </a:rPr>
                        <a:t>+36.0 %</a:t>
                      </a:r>
                    </a:p>
                  </a:txBody>
                  <a:tcPr>
                    <a:solidFill>
                      <a:srgbClr val="F5F7FA"/>
                    </a:solidFill>
                  </a:tcPr>
                </a:tc>
              </a:tr>
              <a:tr h="201600">
                <a:tc>
                  <a:txBody>
                    <a:bodyPr/>
                    <a:lstStyle/>
                    <a:p>
                      <a:pPr algn="ctr"/>
                      <a:r>
                        <a:rPr sz="750" b="0">
                          <a:solidFill>
                            <a:srgbClr val="1A1A1A"/>
                          </a:solidFill>
                        </a:rPr>
                        <a:t>7</a:t>
                      </a:r>
                    </a:p>
                  </a:txBody>
                  <a:tcPr>
                    <a:noFill/>
                  </a:tcPr>
                </a:tc>
                <a:tc>
                  <a:txBody>
                    <a:bodyPr/>
                    <a:lstStyle/>
                    <a:p>
                      <a:pPr algn="ctr"/>
                      <a:r>
                        <a:rPr sz="750" b="0">
                          <a:solidFill>
                            <a:srgbClr val="1A1A1A"/>
                          </a:solidFill>
                        </a:rPr>
                        <a:t>GIS</a:t>
                      </a:r>
                    </a:p>
                  </a:txBody>
                  <a:tcPr>
                    <a:noFill/>
                  </a:tcPr>
                </a:tc>
                <a:tc>
                  <a:txBody>
                    <a:bodyPr/>
                    <a:lstStyle/>
                    <a:p>
                      <a:pPr algn="ctr"/>
                      <a:r>
                        <a:rPr sz="750" b="0">
                          <a:solidFill>
                            <a:srgbClr val="1A1A1A"/>
                          </a:solidFill>
                        </a:rPr>
                        <a:t>General Mills, Inc</a:t>
                      </a:r>
                    </a:p>
                  </a:txBody>
                  <a:tcPr>
                    <a:noFill/>
                  </a:tcPr>
                </a:tc>
                <a:tc>
                  <a:txBody>
                    <a:bodyPr/>
                    <a:lstStyle/>
                    <a:p>
                      <a:pPr algn="ctr"/>
                      <a:r>
                        <a:rPr sz="750" b="0">
                          <a:solidFill>
                            <a:srgbClr val="1A1A1A"/>
                          </a:solidFill>
                        </a:rPr>
                        <a:t>50/100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36.45</a:t>
                      </a:r>
                    </a:p>
                  </a:txBody>
                  <a:tcPr>
                    <a:noFill/>
                  </a:tcPr>
                </a:tc>
                <a:tc>
                  <a:txBody>
                    <a:bodyPr/>
                    <a:lstStyle/>
                    <a:p>
                      <a:pPr algn="ctr"/>
                      <a:r>
                        <a:rPr sz="750" b="0">
                          <a:solidFill>
                            <a:srgbClr val="1A1A1A"/>
                          </a:solidFill>
                        </a:rPr>
                        <a:t>9.8x</a:t>
                      </a:r>
                    </a:p>
                  </a:txBody>
                  <a:tcPr>
                    <a:noFill/>
                  </a:tcPr>
                </a:tc>
                <a:tc>
                  <a:txBody>
                    <a:bodyPr/>
                    <a:lstStyle/>
                    <a:p>
                      <a:pPr algn="ctr"/>
                      <a:r>
                        <a:rPr sz="750" b="0">
                          <a:solidFill>
                            <a:srgbClr val="1A1A1A"/>
                          </a:solidFill>
                        </a:rPr>
                        <a:t>18.1 %</a:t>
                      </a:r>
                    </a:p>
                  </a:txBody>
                  <a:tcPr>
                    <a:noFill/>
                  </a:tcPr>
                </a:tc>
                <a:tc>
                  <a:txBody>
                    <a:bodyPr/>
                    <a:lstStyle/>
                    <a:p>
                      <a:pPr algn="ctr"/>
                      <a:r>
                        <a:rPr sz="750" b="0">
                          <a:solidFill>
                            <a:srgbClr val="1A1A1A"/>
                          </a:solidFill>
                        </a:rPr>
                        <a:t>-8.4 %</a:t>
                      </a:r>
                    </a:p>
                  </a:txBody>
                  <a:tcPr>
                    <a:noFill/>
                  </a:tcPr>
                </a:tc>
                <a:tc>
                  <a:txBody>
                    <a:bodyPr/>
                    <a:lstStyle/>
                    <a:p>
                      <a:pPr algn="ctr"/>
                      <a:r>
                        <a:rPr sz="750" b="0">
                          <a:solidFill>
                            <a:srgbClr val="1A1A1A"/>
                          </a:solidFill>
                        </a:rPr>
                        <a:t>-36.4 %</a:t>
                      </a:r>
                    </a:p>
                  </a:txBody>
                  <a:tcPr>
                    <a:noFill/>
                  </a:tcPr>
                </a:tc>
              </a:tr>
              <a:tr h="201600">
                <a:tc>
                  <a:txBody>
                    <a:bodyPr/>
                    <a:lstStyle/>
                    <a:p>
                      <a:pPr algn="ctr"/>
                      <a:r>
                        <a:rPr sz="750" b="0">
                          <a:solidFill>
                            <a:srgbClr val="1A1A1A"/>
                          </a:solidFill>
                        </a:rPr>
                        <a:t>8</a:t>
                      </a:r>
                    </a:p>
                  </a:txBody>
                  <a:tcPr>
                    <a:solidFill>
                      <a:srgbClr val="F5F7FA"/>
                    </a:solidFill>
                  </a:tcPr>
                </a:tc>
                <a:tc>
                  <a:txBody>
                    <a:bodyPr/>
                    <a:lstStyle/>
                    <a:p>
                      <a:pPr algn="ctr"/>
                      <a:r>
                        <a:rPr sz="750" b="0">
                          <a:solidFill>
                            <a:srgbClr val="1A1A1A"/>
                          </a:solidFill>
                        </a:rPr>
                        <a:t>COST</a:t>
                      </a:r>
                    </a:p>
                  </a:txBody>
                  <a:tcPr>
                    <a:solidFill>
                      <a:srgbClr val="F5F7FA"/>
                    </a:solidFill>
                  </a:tcPr>
                </a:tc>
                <a:tc>
                  <a:txBody>
                    <a:bodyPr/>
                    <a:lstStyle/>
                    <a:p>
                      <a:pPr algn="ctr"/>
                      <a:r>
                        <a:rPr sz="750" b="0">
                          <a:solidFill>
                            <a:srgbClr val="1A1A1A"/>
                          </a:solidFill>
                        </a:rPr>
                        <a:t>Costco Wholesale C</a:t>
                      </a:r>
                    </a:p>
                  </a:txBody>
                  <a:tcPr>
                    <a:solidFill>
                      <a:srgbClr val="F5F7FA"/>
                    </a:solidFill>
                  </a:tcPr>
                </a:tc>
                <a:tc>
                  <a:txBody>
                    <a:bodyPr/>
                    <a:lstStyle/>
                    <a:p>
                      <a:pPr algn="ctr"/>
                      <a:r>
                        <a:rPr sz="750" b="0">
                          <a:solidFill>
                            <a:srgbClr val="1A1A1A"/>
                          </a:solidFill>
                        </a:rPr>
                        <a:t>46/100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983.86</a:t>
                      </a:r>
                    </a:p>
                  </a:txBody>
                  <a:tcPr>
                    <a:solidFill>
                      <a:srgbClr val="F5F7FA"/>
                    </a:solidFill>
                  </a:tcPr>
                </a:tc>
                <a:tc>
                  <a:txBody>
                    <a:bodyPr/>
                    <a:lstStyle/>
                    <a:p>
                      <a:pPr algn="ctr"/>
                      <a:r>
                        <a:rPr sz="750" b="0">
                          <a:solidFill>
                            <a:srgbClr val="1A1A1A"/>
                          </a:solidFill>
                        </a:rPr>
                        <a:t>31.7x</a:t>
                      </a:r>
                    </a:p>
                  </a:txBody>
                  <a:tcPr>
                    <a:solidFill>
                      <a:srgbClr val="F5F7FA"/>
                    </a:solidFill>
                  </a:tcPr>
                </a:tc>
                <a:tc>
                  <a:txBody>
                    <a:bodyPr/>
                    <a:lstStyle/>
                    <a:p>
                      <a:pPr algn="ctr"/>
                      <a:r>
                        <a:rPr sz="750" b="0">
                          <a:solidFill>
                            <a:srgbClr val="1A1A1A"/>
                          </a:solidFill>
                        </a:rPr>
                        <a:t>4.7 %</a:t>
                      </a:r>
                    </a:p>
                  </a:txBody>
                  <a:tcPr>
                    <a:solidFill>
                      <a:srgbClr val="F5F7FA"/>
                    </a:solidFill>
                  </a:tcPr>
                </a:tc>
                <a:tc>
                  <a:txBody>
                    <a:bodyPr/>
                    <a:lstStyle/>
                    <a:p>
                      <a:pPr algn="ctr"/>
                      <a:r>
                        <a:rPr sz="750" b="0">
                          <a:solidFill>
                            <a:srgbClr val="1A1A1A"/>
                          </a:solidFill>
                        </a:rPr>
                        <a:t>+9.2 %</a:t>
                      </a:r>
                    </a:p>
                  </a:txBody>
                  <a:tcPr>
                    <a:solidFill>
                      <a:srgbClr val="F5F7FA"/>
                    </a:solidFill>
                  </a:tcPr>
                </a:tc>
                <a:tc>
                  <a:txBody>
                    <a:bodyPr/>
                    <a:lstStyle/>
                    <a:p>
                      <a:pPr algn="ctr"/>
                      <a:r>
                        <a:rPr sz="750" b="0">
                          <a:solidFill>
                            <a:srgbClr val="1A1A1A"/>
                          </a:solidFill>
                        </a:rPr>
                        <a:t>+5.0 %</a:t>
                      </a:r>
                    </a:p>
                  </a:txBody>
                  <a:tcPr>
                    <a:solidFill>
                      <a:srgbClr val="F5F7FA"/>
                    </a:solidFill>
                  </a:tcPr>
                </a:tc>
              </a:tr>
            </a:tbl>
          </a:graphicData>
        </a:graphic>
      </p:graphicFrame>
      <p:sp>
        <p:nvSpPr>
          <p:cNvPr id="16" name="Rectangle 15"/>
          <p:cNvSpPr/>
          <p:nvPr/>
        </p:nvSpPr>
        <p:spPr>
          <a:xfrm>
            <a:off x="324000" y="3348000"/>
            <a:ext cx="8496000" cy="144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348000"/>
            <a:ext cx="36000" cy="144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401999"/>
            <a:ext cx="8280000" cy="216000"/>
          </a:xfrm>
          <a:prstGeom prst="rect">
            <a:avLst/>
          </a:prstGeom>
          <a:noFill/>
        </p:spPr>
        <p:txBody>
          <a:bodyPr wrap="square">
            <a:spAutoFit/>
          </a:bodyPr>
          <a:lstStyle/>
          <a:p>
            <a:pPr algn="l"/>
            <a:r>
              <a:rPr sz="900" b="1" i="0">
                <a:solidFill>
                  <a:srgbClr val="1B3A6B"/>
                </a:solidFill>
              </a:rPr>
              <a:t>Lecture analytique — Ce que la cartographie revele</a:t>
            </a:r>
          </a:p>
        </p:txBody>
      </p:sp>
      <p:sp>
        <p:nvSpPr>
          <p:cNvPr id="19" name="TextBox 18"/>
          <p:cNvSpPr txBox="1"/>
          <p:nvPr/>
        </p:nvSpPr>
        <p:spPr>
          <a:xfrm>
            <a:off x="468000" y="3636000"/>
            <a:ext cx="8280000" cy="1080000"/>
          </a:xfrm>
          <a:prstGeom prst="rect">
            <a:avLst/>
          </a:prstGeom>
          <a:noFill/>
        </p:spPr>
        <p:txBody>
          <a:bodyPr wrap="square">
            <a:spAutoFit/>
          </a:bodyPr>
          <a:lstStyle/>
          <a:p>
            <a:pPr algn="l"/>
            <a:r>
              <a:rPr sz="850" b="0" i="0">
                <a:solidFill>
                  <a:srgbClr val="555555"/>
                </a:solidFill>
              </a:rPr>
              <a:t>Le secteur Consumer Defensive presente 2 BUY / 6 HOLD / 0 SELL sur 8 valeurs analysées. Philip Morris Internat (score 71/100) constitue le coeur offensif recommande — fondamentaux solides et visibilite supérieure sur les revenus. La répartition des recommandations reflete un positionnement selectif cohérent avec la phase sectorielle actuelle. Les catalyseurs identifies — resultats trimestriels, guidance annuel, operations M&amp;A — constituent les événements cles a surveiller pour un renforcement conditionnel des positions.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vs Croissance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vs Croissance Revenue YoY  ·  4 quadrants  ·  Chaque point = une societe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KO domine le quadrant Premium Justifie — valorisation élevée (22.4x) soutenue par 61.6 % de marge brute.
GIS se positionne en zone Opportunite — EV/EBITDA de 9.8x sous la médiane sectorielle de 17.5x.
La médiane sectorielle ressort a 17.5x — les acteurs en dessous offrent potentiellement les meilleures asymetries risque/rendement.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Scores FinSight Detailles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Décomposition par dimension  ·  Value · Growth · Quality · Momentum  ·  Score 0-100</a:t>
            </a:r>
          </a:p>
        </p:txBody>
      </p:sp>
      <p:graphicFrame>
        <p:nvGraphicFramePr>
          <p:cNvPr id="15" name="Table 14"/>
          <p:cNvGraphicFramePr>
            <a:graphicFrameLocks noGrp="1"/>
          </p:cNvGraphicFramePr>
          <p:nvPr/>
        </p:nvGraphicFramePr>
        <p:xfrm>
          <a:off x="324000" y="900000"/>
          <a:ext cx="8495997" cy="1814400"/>
        </p:xfrm>
        <a:graphic>
          <a:graphicData uri="http://schemas.openxmlformats.org/drawingml/2006/table">
            <a:tbl>
              <a:tblPr firstRow="1" bandRow="1">
                <a:tableStyleId>{5C22544A-7EE6-4342-B048-85BDC9FD1C3A}</a:tableStyleId>
              </a:tblPr>
              <a:tblGrid>
                <a:gridCol w="783041"/>
                <a:gridCol w="1761843"/>
                <a:gridCol w="1174562"/>
                <a:gridCol w="861345"/>
                <a:gridCol w="861345"/>
                <a:gridCol w="1096258"/>
                <a:gridCol w="1174562"/>
                <a:gridCol w="783041"/>
              </a:tblGrid>
              <a:tr h="2016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Score Global</a:t>
                      </a:r>
                    </a:p>
                  </a:txBody>
                  <a:tcPr>
                    <a:solidFill>
                      <a:srgbClr val="1B3A6B"/>
                    </a:solidFill>
                  </a:tcPr>
                </a:tc>
                <a:tc>
                  <a:txBody>
                    <a:bodyPr/>
                    <a:lstStyle/>
                    <a:p>
                      <a:pPr algn="ctr"/>
                      <a:r>
                        <a:rPr sz="750" b="1">
                          <a:solidFill>
                            <a:srgbClr val="FFFFFF"/>
                          </a:solidFill>
                        </a:rPr>
                        <a:t>Value</a:t>
                      </a:r>
                    </a:p>
                  </a:txBody>
                  <a:tcPr>
                    <a:solidFill>
                      <a:srgbClr val="1B3A6B"/>
                    </a:solidFill>
                  </a:tcPr>
                </a:tc>
                <a:tc>
                  <a:txBody>
                    <a:bodyPr/>
                    <a:lstStyle/>
                    <a:p>
                      <a:pPr algn="ctr"/>
                      <a:r>
                        <a:rPr sz="750" b="1">
                          <a:solidFill>
                            <a:srgbClr val="FFFFFF"/>
                          </a:solidFill>
                        </a:rPr>
                        <a:t>Growth</a:t>
                      </a:r>
                    </a:p>
                  </a:txBody>
                  <a:tcPr>
                    <a:solidFill>
                      <a:srgbClr val="1B3A6B"/>
                    </a:solidFill>
                  </a:tcPr>
                </a:tc>
                <a:tc>
                  <a:txBody>
                    <a:bodyPr/>
                    <a:lstStyle/>
                    <a:p>
                      <a:pPr algn="ctr"/>
                      <a:r>
                        <a:rPr sz="750" b="1">
                          <a:solidFill>
                            <a:srgbClr val="FFFFFF"/>
                          </a:solidFill>
                        </a:rPr>
                        <a:t>Quality</a:t>
                      </a:r>
                    </a:p>
                  </a:txBody>
                  <a:tcPr>
                    <a:solidFill>
                      <a:srgbClr val="1B3A6B"/>
                    </a:solidFill>
                  </a:tcPr>
                </a:tc>
                <a:tc>
                  <a:txBody>
                    <a:bodyPr/>
                    <a:lstStyle/>
                    <a:p>
                      <a:pPr algn="ctr"/>
                      <a:r>
                        <a:rPr sz="750" b="1">
                          <a:solidFill>
                            <a:srgbClr val="FFFFFF"/>
                          </a:solidFill>
                        </a:rPr>
                        <a:t>Momentum</a:t>
                      </a:r>
                    </a:p>
                  </a:txBody>
                  <a:tcPr>
                    <a:solidFill>
                      <a:srgbClr val="1B3A6B"/>
                    </a:solidFill>
                  </a:tcPr>
                </a:tc>
                <a:tc>
                  <a:txBody>
                    <a:bodyPr/>
                    <a:lstStyle/>
                    <a:p>
                      <a:pPr algn="ctr"/>
                      <a:r>
                        <a:rPr sz="750" b="1">
                          <a:solidFill>
                            <a:srgbClr val="FFFFFF"/>
                          </a:solidFill>
                        </a:rPr>
                        <a:t>Reco</a:t>
                      </a:r>
                    </a:p>
                  </a:txBody>
                  <a:tcPr>
                    <a:solidFill>
                      <a:srgbClr val="1B3A6B"/>
                    </a:solidFill>
                  </a:tcPr>
                </a:tc>
              </a:tr>
              <a:tr h="201600">
                <a:tc>
                  <a:txBody>
                    <a:bodyPr/>
                    <a:lstStyle/>
                    <a:p>
                      <a:pPr algn="ctr"/>
                      <a:r>
                        <a:rPr sz="750" b="0">
                          <a:solidFill>
                            <a:srgbClr val="1A1A1A"/>
                          </a:solidFill>
                        </a:rPr>
                        <a:t>PM</a:t>
                      </a:r>
                    </a:p>
                  </a:txBody>
                  <a:tcPr>
                    <a:noFill/>
                  </a:tcPr>
                </a:tc>
                <a:tc>
                  <a:txBody>
                    <a:bodyPr/>
                    <a:lstStyle/>
                    <a:p>
                      <a:pPr algn="ctr"/>
                      <a:r>
                        <a:rPr sz="750" b="0">
                          <a:solidFill>
                            <a:srgbClr val="1A1A1A"/>
                          </a:solidFill>
                        </a:rPr>
                        <a:t>Philip Morris Inte</a:t>
                      </a:r>
                    </a:p>
                  </a:txBody>
                  <a:tcPr>
                    <a:noFill/>
                  </a:tcPr>
                </a:tc>
                <a:tc>
                  <a:txBody>
                    <a:bodyPr/>
                    <a:lstStyle/>
                    <a:p>
                      <a:pPr algn="ctr"/>
                      <a:r>
                        <a:rPr sz="750" b="0">
                          <a:solidFill>
                            <a:srgbClr val="1A1A1A"/>
                          </a:solidFill>
                        </a:rPr>
                        <a:t>71/100</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18</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KO</a:t>
                      </a:r>
                    </a:p>
                  </a:txBody>
                  <a:tcPr>
                    <a:solidFill>
                      <a:srgbClr val="F5F7FA"/>
                    </a:solidFill>
                  </a:tcPr>
                </a:tc>
                <a:tc>
                  <a:txBody>
                    <a:bodyPr/>
                    <a:lstStyle/>
                    <a:p>
                      <a:pPr algn="ctr"/>
                      <a:r>
                        <a:rPr sz="750" b="0">
                          <a:solidFill>
                            <a:srgbClr val="1A1A1A"/>
                          </a:solidFill>
                        </a:rPr>
                        <a:t>The Coca-Cola Comp</a:t>
                      </a:r>
                    </a:p>
                  </a:txBody>
                  <a:tcPr>
                    <a:solidFill>
                      <a:srgbClr val="F5F7FA"/>
                    </a:solidFill>
                  </a:tcPr>
                </a:tc>
                <a:tc>
                  <a:txBody>
                    <a:bodyPr/>
                    <a:lstStyle/>
                    <a:p>
                      <a:pPr algn="ctr"/>
                      <a:r>
                        <a:rPr sz="750" b="0">
                          <a:solidFill>
                            <a:srgbClr val="1A1A1A"/>
                          </a:solidFill>
                        </a:rPr>
                        <a:t>65/100</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14</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13</a:t>
                      </a:r>
                    </a:p>
                  </a:txBody>
                  <a:tcPr>
                    <a:solidFill>
                      <a:srgbClr val="F5F7FA"/>
                    </a:solidFill>
                  </a:tcPr>
                </a:tc>
                <a:tc>
                  <a:txBody>
                    <a:bodyPr/>
                    <a:lstStyle/>
                    <a:p>
                      <a:pPr algn="ctr"/>
                      <a:r>
                        <a:rPr sz="750" b="0">
                          <a:solidFill>
                            <a:srgbClr val="1A1A1A"/>
                          </a:solidFill>
                        </a:rPr>
                        <a:t>BUY</a:t>
                      </a:r>
                    </a:p>
                  </a:txBody>
                  <a:tcPr>
                    <a:solidFill>
                      <a:srgbClr val="F5F7FA"/>
                    </a:solidFill>
                  </a:tcPr>
                </a:tc>
              </a:tr>
              <a:tr h="201600">
                <a:tc>
                  <a:txBody>
                    <a:bodyPr/>
                    <a:lstStyle/>
                    <a:p>
                      <a:pPr algn="ctr"/>
                      <a:r>
                        <a:rPr sz="750" b="0">
                          <a:solidFill>
                            <a:srgbClr val="1A1A1A"/>
                          </a:solidFill>
                        </a:rPr>
                        <a:t>PG</a:t>
                      </a:r>
                    </a:p>
                  </a:txBody>
                  <a:tcPr>
                    <a:noFill/>
                  </a:tcPr>
                </a:tc>
                <a:tc>
                  <a:txBody>
                    <a:bodyPr/>
                    <a:lstStyle/>
                    <a:p>
                      <a:pPr algn="ctr"/>
                      <a:r>
                        <a:rPr sz="750" b="0">
                          <a:solidFill>
                            <a:srgbClr val="1A1A1A"/>
                          </a:solidFill>
                        </a:rPr>
                        <a:t>The Procter &amp; Gamb</a:t>
                      </a:r>
                    </a:p>
                  </a:txBody>
                  <a:tcPr>
                    <a:noFill/>
                  </a:tcPr>
                </a:tc>
                <a:tc>
                  <a:txBody>
                    <a:bodyPr/>
                    <a:lstStyle/>
                    <a:p>
                      <a:pPr algn="ctr"/>
                      <a:r>
                        <a:rPr sz="750" b="0">
                          <a:solidFill>
                            <a:srgbClr val="1A1A1A"/>
                          </a:solidFill>
                        </a:rPr>
                        <a:t>63/100</a:t>
                      </a:r>
                    </a:p>
                  </a:txBody>
                  <a:tcPr>
                    <a:noFill/>
                  </a:tcPr>
                </a:tc>
                <a:tc>
                  <a:txBody>
                    <a:bodyPr/>
                    <a:lstStyle/>
                    <a:p>
                      <a:pPr algn="ctr"/>
                      <a:r>
                        <a:rPr sz="750" b="0">
                          <a:solidFill>
                            <a:srgbClr val="1A1A1A"/>
                          </a:solidFill>
                        </a:rPr>
                        <a:t>14</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10</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PEP</a:t>
                      </a:r>
                    </a:p>
                  </a:txBody>
                  <a:tcPr>
                    <a:solidFill>
                      <a:srgbClr val="F5F7FA"/>
                    </a:solidFill>
                  </a:tcPr>
                </a:tc>
                <a:tc>
                  <a:txBody>
                    <a:bodyPr/>
                    <a:lstStyle/>
                    <a:p>
                      <a:pPr algn="ctr"/>
                      <a:r>
                        <a:rPr sz="750" b="0">
                          <a:solidFill>
                            <a:srgbClr val="1A1A1A"/>
                          </a:solidFill>
                        </a:rPr>
                        <a:t>PepsiCo, Inc.</a:t>
                      </a:r>
                    </a:p>
                  </a:txBody>
                  <a:tcPr>
                    <a:solidFill>
                      <a:srgbClr val="F5F7FA"/>
                    </a:solidFill>
                  </a:tcPr>
                </a:tc>
                <a:tc>
                  <a:txBody>
                    <a:bodyPr/>
                    <a:lstStyle/>
                    <a:p>
                      <a:pPr algn="ctr"/>
                      <a:r>
                        <a:rPr sz="750" b="0">
                          <a:solidFill>
                            <a:srgbClr val="1A1A1A"/>
                          </a:solidFill>
                        </a:rPr>
                        <a:t>59/100</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17</a:t>
                      </a:r>
                    </a:p>
                  </a:txBody>
                  <a:tcPr>
                    <a:solidFill>
                      <a:srgbClr val="F5F7FA"/>
                    </a:solidFill>
                  </a:tcPr>
                </a:tc>
                <a:tc>
                  <a:txBody>
                    <a:bodyPr/>
                    <a:lstStyle/>
                    <a:p>
                      <a:pPr algn="ctr"/>
                      <a:r>
                        <a:rPr sz="750" b="0">
                          <a:solidFill>
                            <a:srgbClr val="1A1A1A"/>
                          </a:solidFill>
                        </a:rPr>
                        <a:t>17</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HOLD</a:t>
                      </a:r>
                    </a:p>
                  </a:txBody>
                  <a:tcPr>
                    <a:solidFill>
                      <a:srgbClr val="F5F7FA"/>
                    </a:solidFill>
                  </a:tcPr>
                </a:tc>
              </a:tr>
              <a:tr h="201600">
                <a:tc>
                  <a:txBody>
                    <a:bodyPr/>
                    <a:lstStyle/>
                    <a:p>
                      <a:pPr algn="ctr"/>
                      <a:r>
                        <a:rPr sz="750" b="0">
                          <a:solidFill>
                            <a:srgbClr val="1A1A1A"/>
                          </a:solidFill>
                        </a:rPr>
                        <a:t>MDLZ</a:t>
                      </a:r>
                    </a:p>
                  </a:txBody>
                  <a:tcPr>
                    <a:noFill/>
                  </a:tcPr>
                </a:tc>
                <a:tc>
                  <a:txBody>
                    <a:bodyPr/>
                    <a:lstStyle/>
                    <a:p>
                      <a:pPr algn="ctr"/>
                      <a:r>
                        <a:rPr sz="750" b="0">
                          <a:solidFill>
                            <a:srgbClr val="1A1A1A"/>
                          </a:solidFill>
                        </a:rPr>
                        <a:t>Mondelez Internati</a:t>
                      </a:r>
                    </a:p>
                  </a:txBody>
                  <a:tcPr>
                    <a:noFill/>
                  </a:tcPr>
                </a:tc>
                <a:tc>
                  <a:txBody>
                    <a:bodyPr/>
                    <a:lstStyle/>
                    <a:p>
                      <a:pPr algn="ctr"/>
                      <a:r>
                        <a:rPr sz="750" b="0">
                          <a:solidFill>
                            <a:srgbClr val="1A1A1A"/>
                          </a:solidFill>
                        </a:rPr>
                        <a:t>56/100</a:t>
                      </a:r>
                    </a:p>
                  </a:txBody>
                  <a:tcPr>
                    <a:noFill/>
                  </a:tcPr>
                </a:tc>
                <a:tc>
                  <a:txBody>
                    <a:bodyPr/>
                    <a:lstStyle/>
                    <a:p>
                      <a:pPr algn="ctr"/>
                      <a:r>
                        <a:rPr sz="750" b="0">
                          <a:solidFill>
                            <a:srgbClr val="1A1A1A"/>
                          </a:solidFill>
                        </a:rPr>
                        <a:t>9</a:t>
                      </a:r>
                    </a:p>
                  </a:txBody>
                  <a:tcPr>
                    <a:noFill/>
                  </a:tcPr>
                </a:tc>
                <a:tc>
                  <a:txBody>
                    <a:bodyPr/>
                    <a:lstStyle/>
                    <a:p>
                      <a:pPr algn="ctr"/>
                      <a:r>
                        <a:rPr sz="750" b="0">
                          <a:solidFill>
                            <a:srgbClr val="1A1A1A"/>
                          </a:solidFill>
                        </a:rPr>
                        <a:t>21</a:t>
                      </a:r>
                    </a:p>
                  </a:txBody>
                  <a:tcPr>
                    <a:noFill/>
                  </a:tcPr>
                </a:tc>
                <a:tc>
                  <a:txBody>
                    <a:bodyPr/>
                    <a:lstStyle/>
                    <a:p>
                      <a:pPr algn="ctr"/>
                      <a:r>
                        <a:rPr sz="750" b="0">
                          <a:solidFill>
                            <a:srgbClr val="1A1A1A"/>
                          </a:solidFill>
                        </a:rPr>
                        <a:t>15</a:t>
                      </a:r>
                    </a:p>
                  </a:txBody>
                  <a:tcPr>
                    <a:noFill/>
                  </a:tcPr>
                </a:tc>
                <a:tc>
                  <a:txBody>
                    <a:bodyPr/>
                    <a:lstStyle/>
                    <a:p>
                      <a:pPr algn="ctr"/>
                      <a:r>
                        <a:rPr sz="750" b="0">
                          <a:solidFill>
                            <a:srgbClr val="1A1A1A"/>
                          </a:solidFill>
                        </a:rPr>
                        <a:t>10</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WMT</a:t>
                      </a:r>
                    </a:p>
                  </a:txBody>
                  <a:tcPr>
                    <a:solidFill>
                      <a:srgbClr val="F5F7FA"/>
                    </a:solidFill>
                  </a:tcPr>
                </a:tc>
                <a:tc>
                  <a:txBody>
                    <a:bodyPr/>
                    <a:lstStyle/>
                    <a:p>
                      <a:pPr algn="ctr"/>
                      <a:r>
                        <a:rPr sz="750" b="0">
                          <a:solidFill>
                            <a:srgbClr val="1A1A1A"/>
                          </a:solidFill>
                        </a:rPr>
                        <a:t>Walmart Inc.</a:t>
                      </a:r>
                    </a:p>
                  </a:txBody>
                  <a:tcPr>
                    <a:solidFill>
                      <a:srgbClr val="F5F7FA"/>
                    </a:solidFill>
                  </a:tcPr>
                </a:tc>
                <a:tc>
                  <a:txBody>
                    <a:bodyPr/>
                    <a:lstStyle/>
                    <a:p>
                      <a:pPr algn="ctr"/>
                      <a:r>
                        <a:rPr sz="750" b="0">
                          <a:solidFill>
                            <a:srgbClr val="1A1A1A"/>
                          </a:solidFill>
                        </a:rPr>
                        <a:t>50/100</a:t>
                      </a:r>
                    </a:p>
                  </a:txBody>
                  <a:tcPr>
                    <a:solidFill>
                      <a:srgbClr val="F5F7FA"/>
                    </a:solidFill>
                  </a:tcPr>
                </a:tc>
                <a:tc>
                  <a:txBody>
                    <a:bodyPr/>
                    <a:lstStyle/>
                    <a:p>
                      <a:pPr algn="ctr"/>
                      <a:r>
                        <a:rPr sz="750" b="0">
                          <a:solidFill>
                            <a:srgbClr val="1A1A1A"/>
                          </a:solidFill>
                        </a:rPr>
                        <a:t>2</a:t>
                      </a:r>
                    </a:p>
                  </a:txBody>
                  <a:tcPr>
                    <a:solidFill>
                      <a:srgbClr val="F5F7FA"/>
                    </a:solidFill>
                  </a:tcPr>
                </a:tc>
                <a:tc>
                  <a:txBody>
                    <a:bodyPr/>
                    <a:lstStyle/>
                    <a:p>
                      <a:pPr algn="ctr"/>
                      <a:r>
                        <a:rPr sz="750" b="0">
                          <a:solidFill>
                            <a:srgbClr val="1A1A1A"/>
                          </a:solidFill>
                        </a:rPr>
                        <a:t>17</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17</a:t>
                      </a:r>
                    </a:p>
                  </a:txBody>
                  <a:tcPr>
                    <a:solidFill>
                      <a:srgbClr val="F5F7FA"/>
                    </a:solidFill>
                  </a:tcPr>
                </a:tc>
                <a:tc>
                  <a:txBody>
                    <a:bodyPr/>
                    <a:lstStyle/>
                    <a:p>
                      <a:pPr algn="ctr"/>
                      <a:r>
                        <a:rPr sz="750" b="0">
                          <a:solidFill>
                            <a:srgbClr val="1A1A1A"/>
                          </a:solidFill>
                        </a:rPr>
                        <a:t>HOLD</a:t>
                      </a:r>
                    </a:p>
                  </a:txBody>
                  <a:tcPr>
                    <a:solidFill>
                      <a:srgbClr val="F5F7FA"/>
                    </a:solidFill>
                  </a:tcPr>
                </a:tc>
              </a:tr>
              <a:tr h="201600">
                <a:tc>
                  <a:txBody>
                    <a:bodyPr/>
                    <a:lstStyle/>
                    <a:p>
                      <a:pPr algn="ctr"/>
                      <a:r>
                        <a:rPr sz="750" b="0">
                          <a:solidFill>
                            <a:srgbClr val="1A1A1A"/>
                          </a:solidFill>
                        </a:rPr>
                        <a:t>GIS</a:t>
                      </a:r>
                    </a:p>
                  </a:txBody>
                  <a:tcPr>
                    <a:noFill/>
                  </a:tcPr>
                </a:tc>
                <a:tc>
                  <a:txBody>
                    <a:bodyPr/>
                    <a:lstStyle/>
                    <a:p>
                      <a:pPr algn="ctr"/>
                      <a:r>
                        <a:rPr sz="750" b="0">
                          <a:solidFill>
                            <a:srgbClr val="1A1A1A"/>
                          </a:solidFill>
                        </a:rPr>
                        <a:t>General Mills, Inc</a:t>
                      </a:r>
                    </a:p>
                  </a:txBody>
                  <a:tcPr>
                    <a:noFill/>
                  </a:tcPr>
                </a:tc>
                <a:tc>
                  <a:txBody>
                    <a:bodyPr/>
                    <a:lstStyle/>
                    <a:p>
                      <a:pPr algn="ctr"/>
                      <a:r>
                        <a:rPr sz="750" b="0">
                          <a:solidFill>
                            <a:srgbClr val="1A1A1A"/>
                          </a:solidFill>
                        </a:rPr>
                        <a:t>50/100</a:t>
                      </a:r>
                    </a:p>
                  </a:txBody>
                  <a:tcPr>
                    <a:noFill/>
                  </a:tcPr>
                </a:tc>
                <a:tc>
                  <a:txBody>
                    <a:bodyPr/>
                    <a:lstStyle/>
                    <a:p>
                      <a:pPr algn="ctr"/>
                      <a:r>
                        <a:rPr sz="750" b="0">
                          <a:solidFill>
                            <a:srgbClr val="1A1A1A"/>
                          </a:solidFill>
                        </a:rPr>
                        <a:t>20</a:t>
                      </a:r>
                    </a:p>
                  </a:txBody>
                  <a:tcPr>
                    <a:noFill/>
                  </a:tcPr>
                </a:tc>
                <a:tc>
                  <a:txBody>
                    <a:bodyPr/>
                    <a:lstStyle/>
                    <a:p>
                      <a:pPr algn="ctr"/>
                      <a:r>
                        <a:rPr sz="750" b="0">
                          <a:solidFill>
                            <a:srgbClr val="1A1A1A"/>
                          </a:solidFill>
                        </a:rPr>
                        <a:t>3</a:t>
                      </a:r>
                    </a:p>
                  </a:txBody>
                  <a:tcPr>
                    <a:noFill/>
                  </a:tcPr>
                </a:tc>
                <a:tc>
                  <a:txBody>
                    <a:bodyPr/>
                    <a:lstStyle/>
                    <a:p>
                      <a:pPr algn="ctr"/>
                      <a:r>
                        <a:rPr sz="750" b="0">
                          <a:solidFill>
                            <a:srgbClr val="1A1A1A"/>
                          </a:solidFill>
                        </a:rPr>
                        <a:t>19</a:t>
                      </a:r>
                    </a:p>
                  </a:txBody>
                  <a:tcPr>
                    <a:noFill/>
                  </a:tcPr>
                </a:tc>
                <a:tc>
                  <a:txBody>
                    <a:bodyPr/>
                    <a:lstStyle/>
                    <a:p>
                      <a:pPr algn="ctr"/>
                      <a:r>
                        <a:rPr sz="750" b="0">
                          <a:solidFill>
                            <a:srgbClr val="1A1A1A"/>
                          </a:solidFill>
                        </a:rPr>
                        <a:t>6</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COST</a:t>
                      </a:r>
                    </a:p>
                  </a:txBody>
                  <a:tcPr>
                    <a:solidFill>
                      <a:srgbClr val="F5F7FA"/>
                    </a:solidFill>
                  </a:tcPr>
                </a:tc>
                <a:tc>
                  <a:txBody>
                    <a:bodyPr/>
                    <a:lstStyle/>
                    <a:p>
                      <a:pPr algn="ctr"/>
                      <a:r>
                        <a:rPr sz="750" b="0">
                          <a:solidFill>
                            <a:srgbClr val="1A1A1A"/>
                          </a:solidFill>
                        </a:rPr>
                        <a:t>Costco Wholesale C</a:t>
                      </a:r>
                    </a:p>
                  </a:txBody>
                  <a:tcPr>
                    <a:solidFill>
                      <a:srgbClr val="F5F7FA"/>
                    </a:solidFill>
                  </a:tcPr>
                </a:tc>
                <a:tc>
                  <a:txBody>
                    <a:bodyPr/>
                    <a:lstStyle/>
                    <a:p>
                      <a:pPr algn="ctr"/>
                      <a:r>
                        <a:rPr sz="750" b="0">
                          <a:solidFill>
                            <a:srgbClr val="1A1A1A"/>
                          </a:solidFill>
                        </a:rPr>
                        <a:t>46/100</a:t>
                      </a:r>
                    </a:p>
                  </a:txBody>
                  <a:tcPr>
                    <a:solidFill>
                      <a:srgbClr val="F5F7FA"/>
                    </a:solidFill>
                  </a:tcPr>
                </a:tc>
                <a:tc>
                  <a:txBody>
                    <a:bodyPr/>
                    <a:lstStyle/>
                    <a:p>
                      <a:pPr algn="ctr"/>
                      <a:r>
                        <a:rPr sz="750" b="0">
                          <a:solidFill>
                            <a:srgbClr val="1A1A1A"/>
                          </a:solidFill>
                        </a:rPr>
                        <a:t>0</a:t>
                      </a:r>
                    </a:p>
                  </a:txBody>
                  <a:tcPr>
                    <a:solidFill>
                      <a:srgbClr val="F5F7FA"/>
                    </a:solidFill>
                  </a:tcPr>
                </a:tc>
                <a:tc>
                  <a:txBody>
                    <a:bodyPr/>
                    <a:lstStyle/>
                    <a:p>
                      <a:pPr algn="ctr"/>
                      <a:r>
                        <a:rPr sz="750" b="0">
                          <a:solidFill>
                            <a:srgbClr val="1A1A1A"/>
                          </a:solidFill>
                        </a:rPr>
                        <a:t>21</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HOLD</a:t>
                      </a:r>
                    </a:p>
                  </a:txBody>
                  <a:tcPr>
                    <a:solidFill>
                      <a:srgbClr val="F5F7FA"/>
                    </a:solidFill>
                  </a:tcPr>
                </a:tc>
              </a:tr>
            </a:tbl>
          </a:graphicData>
        </a:graphic>
      </p:graphicFrame>
      <p:sp>
        <p:nvSpPr>
          <p:cNvPr id="16" name="Rectangle 15"/>
          <p:cNvSpPr/>
          <p:nvPr/>
        </p:nvSpPr>
        <p:spPr>
          <a:xfrm>
            <a:off x="324000" y="3456000"/>
            <a:ext cx="8496000" cy="251999"/>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3474000"/>
            <a:ext cx="8352000" cy="216000"/>
          </a:xfrm>
          <a:prstGeom prst="rect">
            <a:avLst/>
          </a:prstGeom>
          <a:noFill/>
        </p:spPr>
        <p:txBody>
          <a:bodyPr wrap="square">
            <a:spAutoFit/>
          </a:bodyPr>
          <a:lstStyle/>
          <a:p>
            <a:pPr algn="l"/>
            <a:r>
              <a:rPr sz="750" b="0" i="0">
                <a:solidFill>
                  <a:srgbClr val="FFFFFF"/>
                </a:solidFill>
              </a:rPr>
              <a:t>LECTURE : Score &gt;= 75 = fort  ·  50-74 = moyen  ·  &lt; 50 = faible  ·  Ponderaion : Value 25 % · Growth 25 % · Quality 25 % · Momentum 25 %</a:t>
            </a:r>
          </a:p>
        </p:txBody>
      </p:sp>
      <p:sp>
        <p:nvSpPr>
          <p:cNvPr id="18" name="Rectangle 17"/>
          <p:cNvSpPr/>
          <p:nvPr/>
        </p:nvSpPr>
        <p:spPr>
          <a:xfrm>
            <a:off x="324000" y="3744000"/>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3744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6000" y="3761999"/>
            <a:ext cx="8316000" cy="216000"/>
          </a:xfrm>
          <a:prstGeom prst="rect">
            <a:avLst/>
          </a:prstGeom>
          <a:noFill/>
        </p:spPr>
        <p:txBody>
          <a:bodyPr wrap="square">
            <a:spAutoFit/>
          </a:bodyPr>
          <a:lstStyle/>
          <a:p>
            <a:pPr algn="l"/>
            <a:r>
              <a:rPr sz="850" b="1" i="0">
                <a:solidFill>
                  <a:srgbClr val="FFFFFF"/>
                </a:solidFill>
              </a:rPr>
              <a:t>SYNTHESE SCORES</a:t>
            </a:r>
          </a:p>
        </p:txBody>
      </p:sp>
      <p:sp>
        <p:nvSpPr>
          <p:cNvPr id="21" name="TextBox 20"/>
          <p:cNvSpPr txBox="1"/>
          <p:nvPr/>
        </p:nvSpPr>
        <p:spPr>
          <a:xfrm>
            <a:off x="396000" y="4031999"/>
            <a:ext cx="8352000" cy="684000"/>
          </a:xfrm>
          <a:prstGeom prst="rect">
            <a:avLst/>
          </a:prstGeom>
          <a:noFill/>
        </p:spPr>
        <p:txBody>
          <a:bodyPr wrap="square">
            <a:spAutoFit/>
          </a:bodyPr>
          <a:lstStyle/>
          <a:p>
            <a:pPr algn="l"/>
            <a:r>
              <a:rPr sz="850" b="0" i="0">
                <a:solidFill>
                  <a:srgbClr val="555555"/>
                </a:solidFill>
              </a:rPr>
              <a:t>Philip Morris Internat presente le profil le plus equilibre du secteur (71/100) avec des scores Value=13, Growth=18, Quality=25, Momentum=13. La dispersion des scores entre les 8 sociétés reflete des profils hétérogènes — une allocation selective privilegiant les leaders qualitatifs est recommandee dans la configuration sectorielle actuelle.</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&amp; Valorisations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Synthese Top 3, distribution EV/EBITDA &amp; zone d'entree optimale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Societes — Synthese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detaillee  ·  Top 3 par score FinSight  ·  Catalyseurs &amp; risques identifies</a:t>
            </a:r>
          </a:p>
        </p:txBody>
      </p:sp>
      <p:sp>
        <p:nvSpPr>
          <p:cNvPr id="15" name="Rectangle 14"/>
          <p:cNvSpPr/>
          <p:nvPr/>
        </p:nvSpPr>
        <p:spPr>
          <a:xfrm>
            <a:off x="32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1655999" cy="288000"/>
          </a:xfrm>
          <a:prstGeom prst="rect">
            <a:avLst/>
          </a:prstGeom>
          <a:noFill/>
        </p:spPr>
        <p:txBody>
          <a:bodyPr wrap="square">
            <a:spAutoFit/>
          </a:bodyPr>
          <a:lstStyle/>
          <a:p>
            <a:pPr algn="l"/>
            <a:r>
              <a:rPr sz="1300" b="1" i="0">
                <a:solidFill>
                  <a:srgbClr val="1B3A6B"/>
                </a:solidFill>
              </a:rPr>
              <a:t>PM</a:t>
            </a:r>
          </a:p>
        </p:txBody>
      </p:sp>
      <p:sp>
        <p:nvSpPr>
          <p:cNvPr id="18" name="Rectangle 17"/>
          <p:cNvSpPr/>
          <p:nvPr/>
        </p:nvSpPr>
        <p:spPr>
          <a:xfrm>
            <a:off x="223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2000" y="979200"/>
            <a:ext cx="792000" cy="234000"/>
          </a:xfrm>
          <a:prstGeom prst="rect">
            <a:avLst/>
          </a:prstGeom>
          <a:noFill/>
        </p:spPr>
        <p:txBody>
          <a:bodyPr wrap="square">
            <a:spAutoFit/>
          </a:bodyPr>
          <a:lstStyle/>
          <a:p>
            <a:pPr algn="ctr"/>
            <a:r>
              <a:rPr sz="900" b="1" i="0">
                <a:solidFill>
                  <a:srgbClr val="FFFFFF"/>
                </a:solidFill>
              </a:rPr>
              <a:t>BUY</a:t>
            </a:r>
          </a:p>
        </p:txBody>
      </p:sp>
      <p:sp>
        <p:nvSpPr>
          <p:cNvPr id="20" name="TextBox 19"/>
          <p:cNvSpPr txBox="1"/>
          <p:nvPr/>
        </p:nvSpPr>
        <p:spPr>
          <a:xfrm>
            <a:off x="468000" y="1260000"/>
            <a:ext cx="2556000" cy="180000"/>
          </a:xfrm>
          <a:prstGeom prst="rect">
            <a:avLst/>
          </a:prstGeom>
          <a:noFill/>
        </p:spPr>
        <p:txBody>
          <a:bodyPr wrap="square">
            <a:spAutoFit/>
          </a:bodyPr>
          <a:lstStyle/>
          <a:p>
            <a:pPr algn="l"/>
            <a:r>
              <a:rPr sz="800" b="0" i="0">
                <a:solidFill>
                  <a:srgbClr val="555555"/>
                </a:solidFill>
              </a:rPr>
              <a:t>Philip Morris Intern</a:t>
            </a:r>
          </a:p>
        </p:txBody>
      </p:sp>
      <p:sp>
        <p:nvSpPr>
          <p:cNvPr id="21" name="Rectangle 20"/>
          <p:cNvSpPr/>
          <p:nvPr/>
        </p:nvSpPr>
        <p:spPr>
          <a:xfrm>
            <a:off x="46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3999" y="1548000"/>
            <a:ext cx="1368000" cy="216000"/>
          </a:xfrm>
          <a:prstGeom prst="rect">
            <a:avLst/>
          </a:prstGeom>
          <a:noFill/>
        </p:spPr>
        <p:txBody>
          <a:bodyPr wrap="square">
            <a:spAutoFit/>
          </a:bodyPr>
          <a:lstStyle/>
          <a:p>
            <a:pPr algn="l"/>
            <a:r>
              <a:rPr sz="900" b="1" i="0">
                <a:solidFill>
                  <a:srgbClr val="FFFFFF"/>
                </a:solidFill>
              </a:rPr>
              <a:t>Cible : 196</a:t>
            </a:r>
          </a:p>
        </p:txBody>
      </p:sp>
      <p:sp>
        <p:nvSpPr>
          <p:cNvPr id="23" name="TextBox 22"/>
          <p:cNvSpPr txBox="1"/>
          <p:nvPr/>
        </p:nvSpPr>
        <p:spPr>
          <a:xfrm>
            <a:off x="190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24" name="TextBox 23"/>
          <p:cNvSpPr txBox="1"/>
          <p:nvPr/>
        </p:nvSpPr>
        <p:spPr>
          <a:xfrm>
            <a:off x="46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25" name="Rectangle 24"/>
          <p:cNvSpPr/>
          <p:nvPr/>
        </p:nvSpPr>
        <p:spPr>
          <a:xfrm>
            <a:off x="46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27" name="TextBox 26"/>
          <p:cNvSpPr txBox="1"/>
          <p:nvPr/>
        </p:nvSpPr>
        <p:spPr>
          <a:xfrm>
            <a:off x="1908000" y="2214000"/>
            <a:ext cx="1080000" cy="223200"/>
          </a:xfrm>
          <a:prstGeom prst="rect">
            <a:avLst/>
          </a:prstGeom>
          <a:noFill/>
        </p:spPr>
        <p:txBody>
          <a:bodyPr wrap="square">
            <a:spAutoFit/>
          </a:bodyPr>
          <a:lstStyle/>
          <a:p>
            <a:pPr algn="r"/>
            <a:r>
              <a:rPr sz="850" b="1" i="0">
                <a:solidFill>
                  <a:srgbClr val="1B3A6B"/>
                </a:solidFill>
              </a:rPr>
              <a:t>16.1x</a:t>
            </a:r>
          </a:p>
        </p:txBody>
      </p:sp>
      <p:sp>
        <p:nvSpPr>
          <p:cNvPr id="28" name="Rectangle 27"/>
          <p:cNvSpPr/>
          <p:nvPr/>
        </p:nvSpPr>
        <p:spPr>
          <a:xfrm>
            <a:off x="46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30" name="TextBox 29"/>
          <p:cNvSpPr txBox="1"/>
          <p:nvPr/>
        </p:nvSpPr>
        <p:spPr>
          <a:xfrm>
            <a:off x="1908000" y="2484000"/>
            <a:ext cx="1080000" cy="223200"/>
          </a:xfrm>
          <a:prstGeom prst="rect">
            <a:avLst/>
          </a:prstGeom>
          <a:noFill/>
        </p:spPr>
        <p:txBody>
          <a:bodyPr wrap="square">
            <a:spAutoFit/>
          </a:bodyPr>
          <a:lstStyle/>
          <a:p>
            <a:pPr algn="r"/>
            <a:r>
              <a:rPr sz="850" b="1" i="0">
                <a:solidFill>
                  <a:srgbClr val="1B3A6B"/>
                </a:solidFill>
              </a:rPr>
              <a:t>46.1 %</a:t>
            </a:r>
          </a:p>
        </p:txBody>
      </p:sp>
      <p:sp>
        <p:nvSpPr>
          <p:cNvPr id="31" name="Rectangle 30"/>
          <p:cNvSpPr/>
          <p:nvPr/>
        </p:nvSpPr>
        <p:spPr>
          <a:xfrm>
            <a:off x="46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33" name="TextBox 32"/>
          <p:cNvSpPr txBox="1"/>
          <p:nvPr/>
        </p:nvSpPr>
        <p:spPr>
          <a:xfrm>
            <a:off x="1908000" y="2754000"/>
            <a:ext cx="1080000" cy="223200"/>
          </a:xfrm>
          <a:prstGeom prst="rect">
            <a:avLst/>
          </a:prstGeom>
          <a:noFill/>
        </p:spPr>
        <p:txBody>
          <a:bodyPr wrap="square">
            <a:spAutoFit/>
          </a:bodyPr>
          <a:lstStyle/>
          <a:p>
            <a:pPr algn="r"/>
            <a:r>
              <a:rPr sz="850" b="1" i="0">
                <a:solidFill>
                  <a:srgbClr val="1B3A6B"/>
                </a:solidFill>
              </a:rPr>
              <a:t>2.5</a:t>
            </a:r>
          </a:p>
        </p:txBody>
      </p:sp>
      <p:sp>
        <p:nvSpPr>
          <p:cNvPr id="34" name="TextBox 33"/>
          <p:cNvSpPr txBox="1"/>
          <p:nvPr/>
        </p:nvSpPr>
        <p:spPr>
          <a:xfrm>
            <a:off x="46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35" name="Rectangle 34"/>
          <p:cNvSpPr/>
          <p:nvPr/>
        </p:nvSpPr>
        <p:spPr>
          <a:xfrm>
            <a:off x="46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0000" y="3258000"/>
            <a:ext cx="2412000" cy="450000"/>
          </a:xfrm>
          <a:prstGeom prst="rect">
            <a:avLst/>
          </a:prstGeom>
          <a:noFill/>
        </p:spPr>
        <p:txBody>
          <a:bodyPr wrap="square">
            <a:spAutoFit/>
          </a:bodyPr>
          <a:lstStyle/>
          <a:p>
            <a:pPr algn="l"/>
            <a:r>
              <a:rPr sz="750" b="0" i="0">
                <a:solidFill>
                  <a:srgbClr val="555555"/>
                </a:solidFill>
              </a:rPr>
              <a:t>Capacité a répercuter l'inflation des intrants — les leaders de marque maintiennent des marges brutes &gt; 40 %.</a:t>
            </a:r>
          </a:p>
        </p:txBody>
      </p:sp>
      <p:sp>
        <p:nvSpPr>
          <p:cNvPr id="38" name="TextBox 37"/>
          <p:cNvSpPr txBox="1"/>
          <p:nvPr/>
        </p:nvSpPr>
        <p:spPr>
          <a:xfrm>
            <a:off x="46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39" name="Rectangle 38"/>
          <p:cNvSpPr/>
          <p:nvPr/>
        </p:nvSpPr>
        <p:spPr>
          <a:xfrm>
            <a:off x="46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0000" y="4014000"/>
            <a:ext cx="2412000" cy="450000"/>
          </a:xfrm>
          <a:prstGeom prst="rect">
            <a:avLst/>
          </a:prstGeom>
          <a:noFill/>
        </p:spPr>
        <p:txBody>
          <a:bodyPr wrap="square">
            <a:spAutoFit/>
          </a:bodyPr>
          <a:lstStyle/>
          <a:p>
            <a:pPr algn="l"/>
            <a:r>
              <a:rPr sz="750" b="0" i="0">
                <a:solidFill>
                  <a:srgbClr val="555555"/>
                </a:solidFill>
              </a:rPr>
              <a:t>Pression des distributeurs (Leclerc, Lidl) sur les prix fournisseurs — erosion des marges lors des négociations.</a:t>
            </a:r>
          </a:p>
        </p:txBody>
      </p:sp>
      <p:sp>
        <p:nvSpPr>
          <p:cNvPr id="42" name="Rectangle 41"/>
          <p:cNvSpPr/>
          <p:nvPr/>
        </p:nvSpPr>
        <p:spPr>
          <a:xfrm>
            <a:off x="320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48000" y="972000"/>
            <a:ext cx="1655999" cy="288000"/>
          </a:xfrm>
          <a:prstGeom prst="rect">
            <a:avLst/>
          </a:prstGeom>
          <a:noFill/>
        </p:spPr>
        <p:txBody>
          <a:bodyPr wrap="square">
            <a:spAutoFit/>
          </a:bodyPr>
          <a:lstStyle/>
          <a:p>
            <a:pPr algn="l"/>
            <a:r>
              <a:rPr sz="1300" b="1" i="0">
                <a:solidFill>
                  <a:srgbClr val="1B3A6B"/>
                </a:solidFill>
              </a:rPr>
              <a:t>KO</a:t>
            </a:r>
          </a:p>
        </p:txBody>
      </p:sp>
      <p:sp>
        <p:nvSpPr>
          <p:cNvPr id="45" name="Rectangle 44"/>
          <p:cNvSpPr/>
          <p:nvPr/>
        </p:nvSpPr>
        <p:spPr>
          <a:xfrm>
            <a:off x="511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2000" y="979200"/>
            <a:ext cx="792000" cy="234000"/>
          </a:xfrm>
          <a:prstGeom prst="rect">
            <a:avLst/>
          </a:prstGeom>
          <a:noFill/>
        </p:spPr>
        <p:txBody>
          <a:bodyPr wrap="square">
            <a:spAutoFit/>
          </a:bodyPr>
          <a:lstStyle/>
          <a:p>
            <a:pPr algn="ctr"/>
            <a:r>
              <a:rPr sz="900" b="1" i="0">
                <a:solidFill>
                  <a:srgbClr val="FFFFFF"/>
                </a:solidFill>
              </a:rPr>
              <a:t>BUY</a:t>
            </a:r>
          </a:p>
        </p:txBody>
      </p:sp>
      <p:sp>
        <p:nvSpPr>
          <p:cNvPr id="47" name="TextBox 46"/>
          <p:cNvSpPr txBox="1"/>
          <p:nvPr/>
        </p:nvSpPr>
        <p:spPr>
          <a:xfrm>
            <a:off x="3348000" y="1260000"/>
            <a:ext cx="2556000" cy="180000"/>
          </a:xfrm>
          <a:prstGeom prst="rect">
            <a:avLst/>
          </a:prstGeom>
          <a:noFill/>
        </p:spPr>
        <p:txBody>
          <a:bodyPr wrap="square">
            <a:spAutoFit/>
          </a:bodyPr>
          <a:lstStyle/>
          <a:p>
            <a:pPr algn="l"/>
            <a:r>
              <a:rPr sz="800" b="0" i="0">
                <a:solidFill>
                  <a:srgbClr val="555555"/>
                </a:solidFill>
              </a:rPr>
              <a:t>The Coca-Cola Compan</a:t>
            </a:r>
          </a:p>
        </p:txBody>
      </p:sp>
      <p:sp>
        <p:nvSpPr>
          <p:cNvPr id="48" name="Rectangle 47"/>
          <p:cNvSpPr/>
          <p:nvPr/>
        </p:nvSpPr>
        <p:spPr>
          <a:xfrm>
            <a:off x="334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4000" y="1548000"/>
            <a:ext cx="1368000" cy="216000"/>
          </a:xfrm>
          <a:prstGeom prst="rect">
            <a:avLst/>
          </a:prstGeom>
          <a:noFill/>
        </p:spPr>
        <p:txBody>
          <a:bodyPr wrap="square">
            <a:spAutoFit/>
          </a:bodyPr>
          <a:lstStyle/>
          <a:p>
            <a:pPr algn="l"/>
            <a:r>
              <a:rPr sz="900" b="1" i="0">
                <a:solidFill>
                  <a:srgbClr val="FFFFFF"/>
                </a:solidFill>
              </a:rPr>
              <a:t>Cible : 91</a:t>
            </a:r>
          </a:p>
        </p:txBody>
      </p:sp>
      <p:sp>
        <p:nvSpPr>
          <p:cNvPr id="50" name="TextBox 49"/>
          <p:cNvSpPr txBox="1"/>
          <p:nvPr/>
        </p:nvSpPr>
        <p:spPr>
          <a:xfrm>
            <a:off x="478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51" name="TextBox 50"/>
          <p:cNvSpPr txBox="1"/>
          <p:nvPr/>
        </p:nvSpPr>
        <p:spPr>
          <a:xfrm>
            <a:off x="334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52" name="Rectangle 51"/>
          <p:cNvSpPr/>
          <p:nvPr/>
        </p:nvSpPr>
        <p:spPr>
          <a:xfrm>
            <a:off x="334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84000" y="2214000"/>
            <a:ext cx="1368000" cy="223200"/>
          </a:xfrm>
          <a:prstGeom prst="rect">
            <a:avLst/>
          </a:prstGeom>
          <a:noFill/>
        </p:spPr>
        <p:txBody>
          <a:bodyPr wrap="square">
            <a:spAutoFit/>
          </a:bodyPr>
          <a:lstStyle/>
          <a:p>
            <a:pPr algn="l"/>
            <a:r>
              <a:rPr sz="800" b="0" i="0">
                <a:solidFill>
                  <a:srgbClr val="555555"/>
                </a:solidFill>
              </a:rPr>
              <a:t>EV/EBITDA</a:t>
            </a:r>
          </a:p>
        </p:txBody>
      </p:sp>
      <p:sp>
        <p:nvSpPr>
          <p:cNvPr id="54" name="TextBox 53"/>
          <p:cNvSpPr txBox="1"/>
          <p:nvPr/>
        </p:nvSpPr>
        <p:spPr>
          <a:xfrm>
            <a:off x="4788000" y="2214000"/>
            <a:ext cx="1080000" cy="223200"/>
          </a:xfrm>
          <a:prstGeom prst="rect">
            <a:avLst/>
          </a:prstGeom>
          <a:noFill/>
        </p:spPr>
        <p:txBody>
          <a:bodyPr wrap="square">
            <a:spAutoFit/>
          </a:bodyPr>
          <a:lstStyle/>
          <a:p>
            <a:pPr algn="r"/>
            <a:r>
              <a:rPr sz="850" b="1" i="0">
                <a:solidFill>
                  <a:srgbClr val="1B3A6B"/>
                </a:solidFill>
              </a:rPr>
              <a:t>22.4x</a:t>
            </a:r>
          </a:p>
        </p:txBody>
      </p:sp>
      <p:sp>
        <p:nvSpPr>
          <p:cNvPr id="55" name="Rectangle 54"/>
          <p:cNvSpPr/>
          <p:nvPr/>
        </p:nvSpPr>
        <p:spPr>
          <a:xfrm>
            <a:off x="334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84000"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57" name="TextBox 56"/>
          <p:cNvSpPr txBox="1"/>
          <p:nvPr/>
        </p:nvSpPr>
        <p:spPr>
          <a:xfrm>
            <a:off x="4788000" y="2484000"/>
            <a:ext cx="1080000" cy="223200"/>
          </a:xfrm>
          <a:prstGeom prst="rect">
            <a:avLst/>
          </a:prstGeom>
          <a:noFill/>
        </p:spPr>
        <p:txBody>
          <a:bodyPr wrap="square">
            <a:spAutoFit/>
          </a:bodyPr>
          <a:lstStyle/>
          <a:p>
            <a:pPr algn="r"/>
            <a:r>
              <a:rPr sz="850" b="1" i="0">
                <a:solidFill>
                  <a:srgbClr val="1B3A6B"/>
                </a:solidFill>
              </a:rPr>
              <a:t>33.5 %</a:t>
            </a:r>
          </a:p>
        </p:txBody>
      </p:sp>
      <p:sp>
        <p:nvSpPr>
          <p:cNvPr id="58" name="Rectangle 57"/>
          <p:cNvSpPr/>
          <p:nvPr/>
        </p:nvSpPr>
        <p:spPr>
          <a:xfrm>
            <a:off x="334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4000" y="2754000"/>
            <a:ext cx="1368000" cy="223200"/>
          </a:xfrm>
          <a:prstGeom prst="rect">
            <a:avLst/>
          </a:prstGeom>
          <a:noFill/>
        </p:spPr>
        <p:txBody>
          <a:bodyPr wrap="square">
            <a:spAutoFit/>
          </a:bodyPr>
          <a:lstStyle/>
          <a:p>
            <a:pPr algn="l"/>
            <a:r>
              <a:rPr sz="800" b="0" i="0">
                <a:solidFill>
                  <a:srgbClr val="555555"/>
                </a:solidFill>
              </a:rPr>
              <a:t>Altman Z</a:t>
            </a:r>
          </a:p>
        </p:txBody>
      </p:sp>
      <p:sp>
        <p:nvSpPr>
          <p:cNvPr id="60" name="TextBox 59"/>
          <p:cNvSpPr txBox="1"/>
          <p:nvPr/>
        </p:nvSpPr>
        <p:spPr>
          <a:xfrm>
            <a:off x="4788000" y="2754000"/>
            <a:ext cx="1080000" cy="223200"/>
          </a:xfrm>
          <a:prstGeom prst="rect">
            <a:avLst/>
          </a:prstGeom>
          <a:noFill/>
        </p:spPr>
        <p:txBody>
          <a:bodyPr wrap="square">
            <a:spAutoFit/>
          </a:bodyPr>
          <a:lstStyle/>
          <a:p>
            <a:pPr algn="r"/>
            <a:r>
              <a:rPr sz="850" b="1" i="0">
                <a:solidFill>
                  <a:srgbClr val="1B3A6B"/>
                </a:solidFill>
              </a:rPr>
              <a:t>2.5</a:t>
            </a:r>
          </a:p>
        </p:txBody>
      </p:sp>
      <p:sp>
        <p:nvSpPr>
          <p:cNvPr id="61" name="TextBox 60"/>
          <p:cNvSpPr txBox="1"/>
          <p:nvPr/>
        </p:nvSpPr>
        <p:spPr>
          <a:xfrm>
            <a:off x="334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62" name="Rectangle 61"/>
          <p:cNvSpPr/>
          <p:nvPr/>
        </p:nvSpPr>
        <p:spPr>
          <a:xfrm>
            <a:off x="334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34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20000" y="3258000"/>
            <a:ext cx="2412000" cy="450000"/>
          </a:xfrm>
          <a:prstGeom prst="rect">
            <a:avLst/>
          </a:prstGeom>
          <a:noFill/>
        </p:spPr>
        <p:txBody>
          <a:bodyPr wrap="square">
            <a:spAutoFit/>
          </a:bodyPr>
          <a:lstStyle/>
          <a:p>
            <a:pPr algn="l"/>
            <a:r>
              <a:rPr sz="750" b="0" i="0">
                <a:solidFill>
                  <a:srgbClr val="555555"/>
                </a:solidFill>
              </a:rPr>
              <a:t>Croissance de la classe moyenne en Afrique et Asie du Sud-Est — expansion a double chiffre.</a:t>
            </a:r>
          </a:p>
        </p:txBody>
      </p:sp>
      <p:sp>
        <p:nvSpPr>
          <p:cNvPr id="65" name="TextBox 64"/>
          <p:cNvSpPr txBox="1"/>
          <p:nvPr/>
        </p:nvSpPr>
        <p:spPr>
          <a:xfrm>
            <a:off x="334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66" name="Rectangle 65"/>
          <p:cNvSpPr/>
          <p:nvPr/>
        </p:nvSpPr>
        <p:spPr>
          <a:xfrm>
            <a:off x="334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34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20000" y="4014000"/>
            <a:ext cx="2412000" cy="450000"/>
          </a:xfrm>
          <a:prstGeom prst="rect">
            <a:avLst/>
          </a:prstGeom>
          <a:noFill/>
        </p:spPr>
        <p:txBody>
          <a:bodyPr wrap="square">
            <a:spAutoFit/>
          </a:bodyPr>
          <a:lstStyle/>
          <a:p>
            <a:pPr algn="l"/>
            <a:r>
              <a:rPr sz="750" b="0" i="0">
                <a:solidFill>
                  <a:srgbClr val="555555"/>
                </a:solidFill>
              </a:rPr>
              <a:t>Reduction des stocks en distribution — impact sur volumes T1-T2 2026.</a:t>
            </a:r>
          </a:p>
        </p:txBody>
      </p:sp>
      <p:sp>
        <p:nvSpPr>
          <p:cNvPr id="69" name="Rectangle 68"/>
          <p:cNvSpPr/>
          <p:nvPr/>
        </p:nvSpPr>
        <p:spPr>
          <a:xfrm>
            <a:off x="6083999"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83999" y="900000"/>
            <a:ext cx="36000" cy="403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27999" y="972000"/>
            <a:ext cx="1655999" cy="288000"/>
          </a:xfrm>
          <a:prstGeom prst="rect">
            <a:avLst/>
          </a:prstGeom>
          <a:noFill/>
        </p:spPr>
        <p:txBody>
          <a:bodyPr wrap="square">
            <a:spAutoFit/>
          </a:bodyPr>
          <a:lstStyle/>
          <a:p>
            <a:pPr algn="l"/>
            <a:r>
              <a:rPr sz="1300" b="1" i="0">
                <a:solidFill>
                  <a:srgbClr val="1B3A6B"/>
                </a:solidFill>
              </a:rPr>
              <a:t>PG</a:t>
            </a:r>
          </a:p>
        </p:txBody>
      </p:sp>
      <p:sp>
        <p:nvSpPr>
          <p:cNvPr id="72" name="Rectangle 71"/>
          <p:cNvSpPr/>
          <p:nvPr/>
        </p:nvSpPr>
        <p:spPr>
          <a:xfrm>
            <a:off x="7992000" y="972000"/>
            <a:ext cx="792000" cy="25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92000" y="979200"/>
            <a:ext cx="792000" cy="234000"/>
          </a:xfrm>
          <a:prstGeom prst="rect">
            <a:avLst/>
          </a:prstGeom>
          <a:noFill/>
        </p:spPr>
        <p:txBody>
          <a:bodyPr wrap="square">
            <a:spAutoFit/>
          </a:bodyPr>
          <a:lstStyle/>
          <a:p>
            <a:pPr algn="ctr"/>
            <a:r>
              <a:rPr sz="900" b="1" i="0">
                <a:solidFill>
                  <a:srgbClr val="FFFFFF"/>
                </a:solidFill>
              </a:rPr>
              <a:t>HOLD</a:t>
            </a:r>
          </a:p>
        </p:txBody>
      </p:sp>
      <p:sp>
        <p:nvSpPr>
          <p:cNvPr id="74" name="TextBox 73"/>
          <p:cNvSpPr txBox="1"/>
          <p:nvPr/>
        </p:nvSpPr>
        <p:spPr>
          <a:xfrm>
            <a:off x="6227999" y="1260000"/>
            <a:ext cx="2556000" cy="180000"/>
          </a:xfrm>
          <a:prstGeom prst="rect">
            <a:avLst/>
          </a:prstGeom>
          <a:noFill/>
        </p:spPr>
        <p:txBody>
          <a:bodyPr wrap="square">
            <a:spAutoFit/>
          </a:bodyPr>
          <a:lstStyle/>
          <a:p>
            <a:pPr algn="l"/>
            <a:r>
              <a:rPr sz="800" b="0" i="0">
                <a:solidFill>
                  <a:srgbClr val="555555"/>
                </a:solidFill>
              </a:rPr>
              <a:t>The Procter &amp; Gamble</a:t>
            </a:r>
          </a:p>
        </p:txBody>
      </p:sp>
      <p:sp>
        <p:nvSpPr>
          <p:cNvPr id="75" name="Rectangle 74"/>
          <p:cNvSpPr/>
          <p:nvPr/>
        </p:nvSpPr>
        <p:spPr>
          <a:xfrm>
            <a:off x="6227999"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63999" y="1548000"/>
            <a:ext cx="1368000" cy="216000"/>
          </a:xfrm>
          <a:prstGeom prst="rect">
            <a:avLst/>
          </a:prstGeom>
          <a:noFill/>
        </p:spPr>
        <p:txBody>
          <a:bodyPr wrap="square">
            <a:spAutoFit/>
          </a:bodyPr>
          <a:lstStyle/>
          <a:p>
            <a:pPr algn="l"/>
            <a:r>
              <a:rPr sz="900" b="1" i="0">
                <a:solidFill>
                  <a:srgbClr val="FFFFFF"/>
                </a:solidFill>
              </a:rPr>
              <a:t>Cible : 154</a:t>
            </a:r>
          </a:p>
        </p:txBody>
      </p:sp>
      <p:sp>
        <p:nvSpPr>
          <p:cNvPr id="77" name="TextBox 76"/>
          <p:cNvSpPr txBox="1"/>
          <p:nvPr/>
        </p:nvSpPr>
        <p:spPr>
          <a:xfrm>
            <a:off x="7667999" y="1548000"/>
            <a:ext cx="1080000" cy="216000"/>
          </a:xfrm>
          <a:prstGeom prst="rect">
            <a:avLst/>
          </a:prstGeom>
          <a:noFill/>
        </p:spPr>
        <p:txBody>
          <a:bodyPr wrap="square">
            <a:spAutoFit/>
          </a:bodyPr>
          <a:lstStyle/>
          <a:p>
            <a:pPr algn="l"/>
            <a:r>
              <a:rPr sz="900" b="0" i="0">
                <a:solidFill>
                  <a:srgbClr val="FFFFFF"/>
                </a:solidFill>
              </a:rPr>
              <a:t>Upside : +8 %</a:t>
            </a:r>
          </a:p>
        </p:txBody>
      </p:sp>
      <p:sp>
        <p:nvSpPr>
          <p:cNvPr id="78" name="TextBox 77"/>
          <p:cNvSpPr txBox="1"/>
          <p:nvPr/>
        </p:nvSpPr>
        <p:spPr>
          <a:xfrm>
            <a:off x="6227999"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79" name="Rectangle 78"/>
          <p:cNvSpPr/>
          <p:nvPr/>
        </p:nvSpPr>
        <p:spPr>
          <a:xfrm>
            <a:off x="6227999"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6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81" name="TextBox 80"/>
          <p:cNvSpPr txBox="1"/>
          <p:nvPr/>
        </p:nvSpPr>
        <p:spPr>
          <a:xfrm>
            <a:off x="7667999" y="2214000"/>
            <a:ext cx="1080000" cy="223200"/>
          </a:xfrm>
          <a:prstGeom prst="rect">
            <a:avLst/>
          </a:prstGeom>
          <a:noFill/>
        </p:spPr>
        <p:txBody>
          <a:bodyPr wrap="square">
            <a:spAutoFit/>
          </a:bodyPr>
          <a:lstStyle/>
          <a:p>
            <a:pPr algn="r"/>
            <a:r>
              <a:rPr sz="850" b="1" i="0">
                <a:solidFill>
                  <a:srgbClr val="1B3A6B"/>
                </a:solidFill>
              </a:rPr>
              <a:t>14.5x</a:t>
            </a:r>
          </a:p>
        </p:txBody>
      </p:sp>
      <p:sp>
        <p:nvSpPr>
          <p:cNvPr id="82" name="Rectangle 81"/>
          <p:cNvSpPr/>
          <p:nvPr/>
        </p:nvSpPr>
        <p:spPr>
          <a:xfrm>
            <a:off x="6227999"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6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84" name="TextBox 83"/>
          <p:cNvSpPr txBox="1"/>
          <p:nvPr/>
        </p:nvSpPr>
        <p:spPr>
          <a:xfrm>
            <a:off x="7667999" y="2484000"/>
            <a:ext cx="1080000" cy="223200"/>
          </a:xfrm>
          <a:prstGeom prst="rect">
            <a:avLst/>
          </a:prstGeom>
          <a:noFill/>
        </p:spPr>
        <p:txBody>
          <a:bodyPr wrap="square">
            <a:spAutoFit/>
          </a:bodyPr>
          <a:lstStyle/>
          <a:p>
            <a:pPr algn="r"/>
            <a:r>
              <a:rPr sz="850" b="1" i="0">
                <a:solidFill>
                  <a:srgbClr val="1B3A6B"/>
                </a:solidFill>
              </a:rPr>
              <a:t>29.0 %</a:t>
            </a:r>
          </a:p>
        </p:txBody>
      </p:sp>
      <p:sp>
        <p:nvSpPr>
          <p:cNvPr id="85" name="Rectangle 84"/>
          <p:cNvSpPr/>
          <p:nvPr/>
        </p:nvSpPr>
        <p:spPr>
          <a:xfrm>
            <a:off x="6227999"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6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87" name="TextBox 86"/>
          <p:cNvSpPr txBox="1"/>
          <p:nvPr/>
        </p:nvSpPr>
        <p:spPr>
          <a:xfrm>
            <a:off x="7667999" y="2754000"/>
            <a:ext cx="1080000" cy="223200"/>
          </a:xfrm>
          <a:prstGeom prst="rect">
            <a:avLst/>
          </a:prstGeom>
          <a:noFill/>
        </p:spPr>
        <p:txBody>
          <a:bodyPr wrap="square">
            <a:spAutoFit/>
          </a:bodyPr>
          <a:lstStyle/>
          <a:p>
            <a:pPr algn="r"/>
            <a:r>
              <a:rPr sz="850" b="1" i="0">
                <a:solidFill>
                  <a:srgbClr val="1B3A6B"/>
                </a:solidFill>
              </a:rPr>
              <a:t>2.5</a:t>
            </a:r>
          </a:p>
        </p:txBody>
      </p:sp>
      <p:sp>
        <p:nvSpPr>
          <p:cNvPr id="88" name="TextBox 87"/>
          <p:cNvSpPr txBox="1"/>
          <p:nvPr/>
        </p:nvSpPr>
        <p:spPr>
          <a:xfrm>
            <a:off x="6227999"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89" name="Rectangle 88"/>
          <p:cNvSpPr/>
          <p:nvPr/>
        </p:nvSpPr>
        <p:spPr>
          <a:xfrm>
            <a:off x="6227999"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27999"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00000" y="3258000"/>
            <a:ext cx="2412000" cy="450000"/>
          </a:xfrm>
          <a:prstGeom prst="rect">
            <a:avLst/>
          </a:prstGeom>
          <a:noFill/>
        </p:spPr>
        <p:txBody>
          <a:bodyPr wrap="square">
            <a:spAutoFit/>
          </a:bodyPr>
          <a:lstStyle/>
          <a:p>
            <a:pPr algn="l"/>
            <a:r>
              <a:rPr sz="750" b="0" i="0">
                <a:solidFill>
                  <a:srgbClr val="555555"/>
                </a:solidFill>
              </a:rPr>
              <a:t>Premiumisation et bio — capture de valeur additionnelle sur les segments porteurs.</a:t>
            </a:r>
          </a:p>
        </p:txBody>
      </p:sp>
      <p:sp>
        <p:nvSpPr>
          <p:cNvPr id="92" name="TextBox 91"/>
          <p:cNvSpPr txBox="1"/>
          <p:nvPr/>
        </p:nvSpPr>
        <p:spPr>
          <a:xfrm>
            <a:off x="6227999"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93" name="Rectangle 92"/>
          <p:cNvSpPr/>
          <p:nvPr/>
        </p:nvSpPr>
        <p:spPr>
          <a:xfrm>
            <a:off x="6227999"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27999"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00000" y="4014000"/>
            <a:ext cx="2412000" cy="450000"/>
          </a:xfrm>
          <a:prstGeom prst="rect">
            <a:avLst/>
          </a:prstGeom>
          <a:noFill/>
        </p:spPr>
        <p:txBody>
          <a:bodyPr wrap="square">
            <a:spAutoFit/>
          </a:bodyPr>
          <a:lstStyle/>
          <a:p>
            <a:pPr algn="l"/>
            <a:r>
              <a:rPr sz="750" b="0" i="0">
                <a:solidFill>
                  <a:srgbClr val="555555"/>
                </a:solidFill>
              </a:rPr>
              <a:t>Parts de marche des marques distributeurs en hausse de 2-3 pts — pression structurelle.</a:t>
            </a:r>
          </a:p>
        </p:txBody>
      </p:sp>
      <p:sp>
        <p:nvSpPr>
          <p:cNvPr id="96" name="Rectangle 9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societe vs médiane sectorielle (17.5x)  ·  Vert = sous médiane  ·  Rouge = prime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La distribution est bimodale — 3 acteur(s) se detachent nettement du reste du secteur, creant une prime de valorisation significative vs la médiane de 17.5x.
3 societe(s) se traitent sous la médiane — potentiellement les meilleures asymetries risque/rendement sous reserve de catalyseurs fondamentaux.
La dispersion des multiples est caracteristique d'un secteur Consumer Defensive en phase de differentiation — les investisseurs selectifs peuvent exploiter cet ecart.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d'Entree Optimale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Conditions d'entree favorable  ·  Cours &lt; DCF Base x 0,90 + momentum negatif + sentiment negatif</a:t>
            </a:r>
          </a:p>
        </p:txBody>
      </p:sp>
      <p:sp>
        <p:nvSpPr>
          <p:cNvPr id="15" name="Rectangle 14"/>
          <p:cNvSpPr/>
          <p:nvPr/>
        </p:nvSpPr>
        <p:spPr>
          <a:xfrm>
            <a:off x="324000" y="900000"/>
            <a:ext cx="8496000" cy="3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2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8316000" cy="288000"/>
          </a:xfrm>
          <a:prstGeom prst="rect">
            <a:avLst/>
          </a:prstGeom>
          <a:noFill/>
        </p:spPr>
        <p:txBody>
          <a:bodyPr wrap="square">
            <a:spAutoFit/>
          </a:bodyPr>
          <a:lstStyle/>
          <a:p>
            <a:pPr algn="l"/>
            <a:r>
              <a:rPr sz="850" b="0" i="0">
                <a:solidFill>
                  <a:srgbClr val="555555"/>
                </a:solidFill>
              </a:rPr>
              <a:t>La zone d'entree optimale est definie par la convergence de 3 signaux : décote &gt; 10 % vs DCF Base · momentum 52W negatif · sentiment FinBERT negatif.</a:t>
            </a:r>
          </a:p>
        </p:txBody>
      </p:sp>
      <p:graphicFrame>
        <p:nvGraphicFramePr>
          <p:cNvPr id="18" name="Table 17"/>
          <p:cNvGraphicFramePr>
            <a:graphicFrameLocks noGrp="1"/>
          </p:cNvGraphicFramePr>
          <p:nvPr/>
        </p:nvGraphicFramePr>
        <p:xfrm>
          <a:off x="324000" y="1260000"/>
          <a:ext cx="8495997" cy="1814400"/>
        </p:xfrm>
        <a:graphic>
          <a:graphicData uri="http://schemas.openxmlformats.org/drawingml/2006/table">
            <a:tbl>
              <a:tblPr firstRow="1" bandRow="1">
                <a:tableStyleId>{5C22544A-7EE6-4342-B048-85BDC9FD1C3A}</a:tableStyleId>
              </a:tblPr>
              <a:tblGrid>
                <a:gridCol w="765405"/>
                <a:gridCol w="1722162"/>
                <a:gridCol w="1071567"/>
                <a:gridCol w="1224648"/>
                <a:gridCol w="1148108"/>
                <a:gridCol w="1607351"/>
                <a:gridCol w="956756"/>
              </a:tblGrid>
              <a:tr h="2016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Cours actuel</a:t>
                      </a:r>
                    </a:p>
                  </a:txBody>
                  <a:tcPr>
                    <a:solidFill>
                      <a:srgbClr val="1B3A6B"/>
                    </a:solidFill>
                  </a:tcPr>
                </a:tc>
                <a:tc>
                  <a:txBody>
                    <a:bodyPr/>
                    <a:lstStyle/>
                    <a:p>
                      <a:pPr algn="ctr"/>
                      <a:r>
                        <a:rPr sz="750" b="1">
                          <a:solidFill>
                            <a:srgbClr val="FFFFFF"/>
                          </a:solidFill>
                        </a:rPr>
                        <a:t>DCF Base (est.)</a:t>
                      </a:r>
                    </a:p>
                  </a:txBody>
                  <a:tcPr>
                    <a:solidFill>
                      <a:srgbClr val="1B3A6B"/>
                    </a:solidFill>
                  </a:tcPr>
                </a:tc>
                <a:tc>
                  <a:txBody>
                    <a:bodyPr/>
                    <a:lstStyle/>
                    <a:p>
                      <a:pPr algn="ctr"/>
                      <a:r>
                        <a:rPr sz="750" b="1">
                          <a:solidFill>
                            <a:srgbClr val="FFFFFF"/>
                          </a:solidFill>
                        </a:rPr>
                        <a:t>Zone d'achat</a:t>
                      </a:r>
                    </a:p>
                  </a:txBody>
                  <a:tcPr>
                    <a:solidFill>
                      <a:srgbClr val="1B3A6B"/>
                    </a:solidFill>
                  </a:tcPr>
                </a:tc>
                <a:tc>
                  <a:txBody>
                    <a:bodyPr/>
                    <a:lstStyle/>
                    <a:p>
                      <a:pPr algn="ctr"/>
                      <a:r>
                        <a:rPr sz="750" b="1">
                          <a:solidFill>
                            <a:srgbClr val="FFFFFF"/>
                          </a:solidFill>
                        </a:rPr>
                        <a:t>Signal</a:t>
                      </a:r>
                    </a:p>
                  </a:txBody>
                  <a:tcPr>
                    <a:solidFill>
                      <a:srgbClr val="1B3A6B"/>
                    </a:solidFill>
                  </a:tcPr>
                </a:tc>
                <a:tc>
                  <a:txBody>
                    <a:bodyPr/>
                    <a:lstStyle/>
                    <a:p>
                      <a:pPr algn="ctr"/>
                      <a:r>
                        <a:rPr sz="750" b="1">
                          <a:solidFill>
                            <a:srgbClr val="FFFFFF"/>
                          </a:solidFill>
                        </a:rPr>
                        <a:t>Proba. 12M</a:t>
                      </a:r>
                    </a:p>
                  </a:txBody>
                  <a:tcPr>
                    <a:solidFill>
                      <a:srgbClr val="1B3A6B"/>
                    </a:solidFill>
                  </a:tcPr>
                </a:tc>
              </a:tr>
              <a:tr h="201600">
                <a:tc>
                  <a:txBody>
                    <a:bodyPr/>
                    <a:lstStyle/>
                    <a:p>
                      <a:pPr algn="ctr"/>
                      <a:r>
                        <a:rPr sz="750" b="0">
                          <a:solidFill>
                            <a:srgbClr val="1A1A1A"/>
                          </a:solidFill>
                        </a:rPr>
                        <a:t>PM</a:t>
                      </a:r>
                    </a:p>
                  </a:txBody>
                  <a:tcPr>
                    <a:noFill/>
                  </a:tcPr>
                </a:tc>
                <a:tc>
                  <a:txBody>
                    <a:bodyPr/>
                    <a:lstStyle/>
                    <a:p>
                      <a:pPr algn="ctr"/>
                      <a:r>
                        <a:rPr sz="750" b="0">
                          <a:solidFill>
                            <a:srgbClr val="1A1A1A"/>
                          </a:solidFill>
                        </a:rPr>
                        <a:t>Philip Morris In</a:t>
                      </a:r>
                    </a:p>
                  </a:txBody>
                  <a:tcPr>
                    <a:noFill/>
                  </a:tcPr>
                </a:tc>
                <a:tc>
                  <a:txBody>
                    <a:bodyPr/>
                    <a:lstStyle/>
                    <a:p>
                      <a:pPr algn="ctr"/>
                      <a:r>
                        <a:rPr sz="750" b="0">
                          <a:solidFill>
                            <a:srgbClr val="1A1A1A"/>
                          </a:solidFill>
                        </a:rPr>
                        <a:t>163.54</a:t>
                      </a:r>
                    </a:p>
                  </a:txBody>
                  <a:tcPr>
                    <a:noFill/>
                  </a:tcPr>
                </a:tc>
                <a:tc>
                  <a:txBody>
                    <a:bodyPr/>
                    <a:lstStyle/>
                    <a:p>
                      <a:pPr algn="ctr"/>
                      <a:r>
                        <a:rPr sz="750" b="0">
                          <a:solidFill>
                            <a:srgbClr val="1A1A1A"/>
                          </a:solidFill>
                        </a:rPr>
                        <a:t>188.1</a:t>
                      </a:r>
                    </a:p>
                  </a:txBody>
                  <a:tcPr>
                    <a:noFill/>
                  </a:tcPr>
                </a:tc>
                <a:tc>
                  <a:txBody>
                    <a:bodyPr/>
                    <a:lstStyle/>
                    <a:p>
                      <a:pPr algn="ctr"/>
                      <a:r>
                        <a:rPr sz="750" b="0">
                          <a:solidFill>
                            <a:srgbClr val="1A1A1A"/>
                          </a:solidFill>
                        </a:rPr>
                        <a:t>&lt; 155.4</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201600">
                <a:tc>
                  <a:txBody>
                    <a:bodyPr/>
                    <a:lstStyle/>
                    <a:p>
                      <a:pPr algn="ctr"/>
                      <a:r>
                        <a:rPr sz="750" b="0">
                          <a:solidFill>
                            <a:srgbClr val="1A1A1A"/>
                          </a:solidFill>
                        </a:rPr>
                        <a:t>KO</a:t>
                      </a:r>
                    </a:p>
                  </a:txBody>
                  <a:tcPr>
                    <a:solidFill>
                      <a:srgbClr val="F5F7FA"/>
                    </a:solidFill>
                  </a:tcPr>
                </a:tc>
                <a:tc>
                  <a:txBody>
                    <a:bodyPr/>
                    <a:lstStyle/>
                    <a:p>
                      <a:pPr algn="ctr"/>
                      <a:r>
                        <a:rPr sz="750" b="0">
                          <a:solidFill>
                            <a:srgbClr val="1A1A1A"/>
                          </a:solidFill>
                        </a:rPr>
                        <a:t>The Coca-Cola Co</a:t>
                      </a:r>
                    </a:p>
                  </a:txBody>
                  <a:tcPr>
                    <a:solidFill>
                      <a:srgbClr val="F5F7FA"/>
                    </a:solidFill>
                  </a:tcPr>
                </a:tc>
                <a:tc>
                  <a:txBody>
                    <a:bodyPr/>
                    <a:lstStyle/>
                    <a:p>
                      <a:pPr algn="ctr"/>
                      <a:r>
                        <a:rPr sz="750" b="0">
                          <a:solidFill>
                            <a:srgbClr val="1A1A1A"/>
                          </a:solidFill>
                        </a:rPr>
                        <a:t>75.71</a:t>
                      </a:r>
                    </a:p>
                  </a:txBody>
                  <a:tcPr>
                    <a:solidFill>
                      <a:srgbClr val="F5F7FA"/>
                    </a:solidFill>
                  </a:tcPr>
                </a:tc>
                <a:tc>
                  <a:txBody>
                    <a:bodyPr/>
                    <a:lstStyle/>
                    <a:p>
                      <a:pPr algn="ctr"/>
                      <a:r>
                        <a:rPr sz="750" b="0">
                          <a:solidFill>
                            <a:srgbClr val="1A1A1A"/>
                          </a:solidFill>
                        </a:rPr>
                        <a:t>87.1</a:t>
                      </a:r>
                    </a:p>
                  </a:txBody>
                  <a:tcPr>
                    <a:solidFill>
                      <a:srgbClr val="F5F7FA"/>
                    </a:solidFill>
                  </a:tcPr>
                </a:tc>
                <a:tc>
                  <a:txBody>
                    <a:bodyPr/>
                    <a:lstStyle/>
                    <a:p>
                      <a:pPr algn="ctr"/>
                      <a:r>
                        <a:rPr sz="750" b="0">
                          <a:solidFill>
                            <a:srgbClr val="1A1A1A"/>
                          </a:solidFill>
                        </a:rPr>
                        <a:t>&lt; 71.9</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201600">
                <a:tc>
                  <a:txBody>
                    <a:bodyPr/>
                    <a:lstStyle/>
                    <a:p>
                      <a:pPr algn="ctr"/>
                      <a:r>
                        <a:rPr sz="750" b="0">
                          <a:solidFill>
                            <a:srgbClr val="1A1A1A"/>
                          </a:solidFill>
                        </a:rPr>
                        <a:t>PG</a:t>
                      </a:r>
                    </a:p>
                  </a:txBody>
                  <a:tcPr>
                    <a:noFill/>
                  </a:tcPr>
                </a:tc>
                <a:tc>
                  <a:txBody>
                    <a:bodyPr/>
                    <a:lstStyle/>
                    <a:p>
                      <a:pPr algn="ctr"/>
                      <a:r>
                        <a:rPr sz="750" b="0">
                          <a:solidFill>
                            <a:srgbClr val="1A1A1A"/>
                          </a:solidFill>
                        </a:rPr>
                        <a:t>The Procter &amp; Ga</a:t>
                      </a:r>
                    </a:p>
                  </a:txBody>
                  <a:tcPr>
                    <a:noFill/>
                  </a:tcPr>
                </a:tc>
                <a:tc>
                  <a:txBody>
                    <a:bodyPr/>
                    <a:lstStyle/>
                    <a:p>
                      <a:pPr algn="ctr"/>
                      <a:r>
                        <a:rPr sz="750" b="0">
                          <a:solidFill>
                            <a:srgbClr val="1A1A1A"/>
                          </a:solidFill>
                        </a:rPr>
                        <a:t>142.71</a:t>
                      </a:r>
                    </a:p>
                  </a:txBody>
                  <a:tcPr>
                    <a:noFill/>
                  </a:tcPr>
                </a:tc>
                <a:tc>
                  <a:txBody>
                    <a:bodyPr/>
                    <a:lstStyle/>
                    <a:p>
                      <a:pPr algn="ctr"/>
                      <a:r>
                        <a:rPr sz="750" b="0">
                          <a:solidFill>
                            <a:srgbClr val="1A1A1A"/>
                          </a:solidFill>
                        </a:rPr>
                        <a:t>164.1</a:t>
                      </a:r>
                    </a:p>
                  </a:txBody>
                  <a:tcPr>
                    <a:noFill/>
                  </a:tcPr>
                </a:tc>
                <a:tc>
                  <a:txBody>
                    <a:bodyPr/>
                    <a:lstStyle/>
                    <a:p>
                      <a:pPr algn="ctr"/>
                      <a:r>
                        <a:rPr sz="750" b="0">
                          <a:solidFill>
                            <a:srgbClr val="1A1A1A"/>
                          </a:solidFill>
                        </a:rPr>
                        <a:t>&lt; 135.6</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201600">
                <a:tc>
                  <a:txBody>
                    <a:bodyPr/>
                    <a:lstStyle/>
                    <a:p>
                      <a:pPr algn="ctr"/>
                      <a:r>
                        <a:rPr sz="750" b="0">
                          <a:solidFill>
                            <a:srgbClr val="1A1A1A"/>
                          </a:solidFill>
                        </a:rPr>
                        <a:t>PEP</a:t>
                      </a:r>
                    </a:p>
                  </a:txBody>
                  <a:tcPr>
                    <a:solidFill>
                      <a:srgbClr val="F5F7FA"/>
                    </a:solidFill>
                  </a:tcPr>
                </a:tc>
                <a:tc>
                  <a:txBody>
                    <a:bodyPr/>
                    <a:lstStyle/>
                    <a:p>
                      <a:pPr algn="ctr"/>
                      <a:r>
                        <a:rPr sz="750" b="0">
                          <a:solidFill>
                            <a:srgbClr val="1A1A1A"/>
                          </a:solidFill>
                        </a:rPr>
                        <a:t>PepsiCo, Inc.</a:t>
                      </a:r>
                    </a:p>
                  </a:txBody>
                  <a:tcPr>
                    <a:solidFill>
                      <a:srgbClr val="F5F7FA"/>
                    </a:solidFill>
                  </a:tcPr>
                </a:tc>
                <a:tc>
                  <a:txBody>
                    <a:bodyPr/>
                    <a:lstStyle/>
                    <a:p>
                      <a:pPr algn="ctr"/>
                      <a:r>
                        <a:rPr sz="750" b="0">
                          <a:solidFill>
                            <a:srgbClr val="1A1A1A"/>
                          </a:solidFill>
                        </a:rPr>
                        <a:t>153.04</a:t>
                      </a:r>
                    </a:p>
                  </a:txBody>
                  <a:tcPr>
                    <a:solidFill>
                      <a:srgbClr val="F5F7FA"/>
                    </a:solidFill>
                  </a:tcPr>
                </a:tc>
                <a:tc>
                  <a:txBody>
                    <a:bodyPr/>
                    <a:lstStyle/>
                    <a:p>
                      <a:pPr algn="ctr"/>
                      <a:r>
                        <a:rPr sz="750" b="0">
                          <a:solidFill>
                            <a:srgbClr val="1A1A1A"/>
                          </a:solidFill>
                        </a:rPr>
                        <a:t>176.0</a:t>
                      </a:r>
                    </a:p>
                  </a:txBody>
                  <a:tcPr>
                    <a:solidFill>
                      <a:srgbClr val="F5F7FA"/>
                    </a:solidFill>
                  </a:tcPr>
                </a:tc>
                <a:tc>
                  <a:txBody>
                    <a:bodyPr/>
                    <a:lstStyle/>
                    <a:p>
                      <a:pPr algn="ctr"/>
                      <a:r>
                        <a:rPr sz="750" b="0">
                          <a:solidFill>
                            <a:srgbClr val="1A1A1A"/>
                          </a:solidFill>
                        </a:rPr>
                        <a:t>&lt; 145.4</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201600">
                <a:tc>
                  <a:txBody>
                    <a:bodyPr/>
                    <a:lstStyle/>
                    <a:p>
                      <a:pPr algn="ctr"/>
                      <a:r>
                        <a:rPr sz="750" b="0">
                          <a:solidFill>
                            <a:srgbClr val="1A1A1A"/>
                          </a:solidFill>
                        </a:rPr>
                        <a:t>MDLZ</a:t>
                      </a:r>
                    </a:p>
                  </a:txBody>
                  <a:tcPr>
                    <a:noFill/>
                  </a:tcPr>
                </a:tc>
                <a:tc>
                  <a:txBody>
                    <a:bodyPr/>
                    <a:lstStyle/>
                    <a:p>
                      <a:pPr algn="ctr"/>
                      <a:r>
                        <a:rPr sz="750" b="0">
                          <a:solidFill>
                            <a:srgbClr val="1A1A1A"/>
                          </a:solidFill>
                        </a:rPr>
                        <a:t>Mondelez Interna</a:t>
                      </a:r>
                    </a:p>
                  </a:txBody>
                  <a:tcPr>
                    <a:noFill/>
                  </a:tcPr>
                </a:tc>
                <a:tc>
                  <a:txBody>
                    <a:bodyPr/>
                    <a:lstStyle/>
                    <a:p>
                      <a:pPr algn="ctr"/>
                      <a:r>
                        <a:rPr sz="750" b="0">
                          <a:solidFill>
                            <a:srgbClr val="1A1A1A"/>
                          </a:solidFill>
                        </a:rPr>
                        <a:t>58.27</a:t>
                      </a:r>
                    </a:p>
                  </a:txBody>
                  <a:tcPr>
                    <a:noFill/>
                  </a:tcPr>
                </a:tc>
                <a:tc>
                  <a:txBody>
                    <a:bodyPr/>
                    <a:lstStyle/>
                    <a:p>
                      <a:pPr algn="ctr"/>
                      <a:r>
                        <a:rPr sz="750" b="0">
                          <a:solidFill>
                            <a:srgbClr val="1A1A1A"/>
                          </a:solidFill>
                        </a:rPr>
                        <a:t>67.0</a:t>
                      </a:r>
                    </a:p>
                  </a:txBody>
                  <a:tcPr>
                    <a:noFill/>
                  </a:tcPr>
                </a:tc>
                <a:tc>
                  <a:txBody>
                    <a:bodyPr/>
                    <a:lstStyle/>
                    <a:p>
                      <a:pPr algn="ctr"/>
                      <a:r>
                        <a:rPr sz="750" b="0">
                          <a:solidFill>
                            <a:srgbClr val="1A1A1A"/>
                          </a:solidFill>
                        </a:rPr>
                        <a:t>&lt; 55.4</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201600">
                <a:tc>
                  <a:txBody>
                    <a:bodyPr/>
                    <a:lstStyle/>
                    <a:p>
                      <a:pPr algn="ctr"/>
                      <a:r>
                        <a:rPr sz="750" b="0">
                          <a:solidFill>
                            <a:srgbClr val="1A1A1A"/>
                          </a:solidFill>
                        </a:rPr>
                        <a:t>WMT</a:t>
                      </a:r>
                    </a:p>
                  </a:txBody>
                  <a:tcPr>
                    <a:solidFill>
                      <a:srgbClr val="F5F7FA"/>
                    </a:solidFill>
                  </a:tcPr>
                </a:tc>
                <a:tc>
                  <a:txBody>
                    <a:bodyPr/>
                    <a:lstStyle/>
                    <a:p>
                      <a:pPr algn="ctr"/>
                      <a:r>
                        <a:rPr sz="750" b="0">
                          <a:solidFill>
                            <a:srgbClr val="1A1A1A"/>
                          </a:solidFill>
                        </a:rPr>
                        <a:t>Walmart Inc.</a:t>
                      </a:r>
                    </a:p>
                  </a:txBody>
                  <a:tcPr>
                    <a:solidFill>
                      <a:srgbClr val="F5F7FA"/>
                    </a:solidFill>
                  </a:tcPr>
                </a:tc>
                <a:tc>
                  <a:txBody>
                    <a:bodyPr/>
                    <a:lstStyle/>
                    <a:p>
                      <a:pPr algn="ctr"/>
                      <a:r>
                        <a:rPr sz="750" b="0">
                          <a:solidFill>
                            <a:srgbClr val="1A1A1A"/>
                          </a:solidFill>
                        </a:rPr>
                        <a:t>122.89</a:t>
                      </a:r>
                    </a:p>
                  </a:txBody>
                  <a:tcPr>
                    <a:solidFill>
                      <a:srgbClr val="F5F7FA"/>
                    </a:solidFill>
                  </a:tcPr>
                </a:tc>
                <a:tc>
                  <a:txBody>
                    <a:bodyPr/>
                    <a:lstStyle/>
                    <a:p>
                      <a:pPr algn="ctr"/>
                      <a:r>
                        <a:rPr sz="750" b="0">
                          <a:solidFill>
                            <a:srgbClr val="1A1A1A"/>
                          </a:solidFill>
                        </a:rPr>
                        <a:t>141.3</a:t>
                      </a:r>
                    </a:p>
                  </a:txBody>
                  <a:tcPr>
                    <a:solidFill>
                      <a:srgbClr val="F5F7FA"/>
                    </a:solidFill>
                  </a:tcPr>
                </a:tc>
                <a:tc>
                  <a:txBody>
                    <a:bodyPr/>
                    <a:lstStyle/>
                    <a:p>
                      <a:pPr algn="ctr"/>
                      <a:r>
                        <a:rPr sz="750" b="0">
                          <a:solidFill>
                            <a:srgbClr val="1A1A1A"/>
                          </a:solidFill>
                        </a:rPr>
                        <a:t>&lt; 116.7</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201600">
                <a:tc>
                  <a:txBody>
                    <a:bodyPr/>
                    <a:lstStyle/>
                    <a:p>
                      <a:pPr algn="ctr"/>
                      <a:r>
                        <a:rPr sz="750" b="0">
                          <a:solidFill>
                            <a:srgbClr val="1A1A1A"/>
                          </a:solidFill>
                        </a:rPr>
                        <a:t>GIS</a:t>
                      </a:r>
                    </a:p>
                  </a:txBody>
                  <a:tcPr>
                    <a:noFill/>
                  </a:tcPr>
                </a:tc>
                <a:tc>
                  <a:txBody>
                    <a:bodyPr/>
                    <a:lstStyle/>
                    <a:p>
                      <a:pPr algn="ctr"/>
                      <a:r>
                        <a:rPr sz="750" b="0">
                          <a:solidFill>
                            <a:srgbClr val="1A1A1A"/>
                          </a:solidFill>
                        </a:rPr>
                        <a:t>General Mills, I</a:t>
                      </a:r>
                    </a:p>
                  </a:txBody>
                  <a:tcPr>
                    <a:noFill/>
                  </a:tcPr>
                </a:tc>
                <a:tc>
                  <a:txBody>
                    <a:bodyPr/>
                    <a:lstStyle/>
                    <a:p>
                      <a:pPr algn="ctr"/>
                      <a:r>
                        <a:rPr sz="750" b="0">
                          <a:solidFill>
                            <a:srgbClr val="1A1A1A"/>
                          </a:solidFill>
                        </a:rPr>
                        <a:t>36.45</a:t>
                      </a:r>
                    </a:p>
                  </a:txBody>
                  <a:tcPr>
                    <a:noFill/>
                  </a:tcPr>
                </a:tc>
                <a:tc>
                  <a:txBody>
                    <a:bodyPr/>
                    <a:lstStyle/>
                    <a:p>
                      <a:pPr algn="ctr"/>
                      <a:r>
                        <a:rPr sz="750" b="0">
                          <a:solidFill>
                            <a:srgbClr val="1A1A1A"/>
                          </a:solidFill>
                        </a:rPr>
                        <a:t>41.9</a:t>
                      </a:r>
                    </a:p>
                  </a:txBody>
                  <a:tcPr>
                    <a:noFill/>
                  </a:tcPr>
                </a:tc>
                <a:tc>
                  <a:txBody>
                    <a:bodyPr/>
                    <a:lstStyle/>
                    <a:p>
                      <a:pPr algn="ctr"/>
                      <a:r>
                        <a:rPr sz="750" b="0">
                          <a:solidFill>
                            <a:srgbClr val="1A1A1A"/>
                          </a:solidFill>
                        </a:rPr>
                        <a:t>&lt; 34.6</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201600">
                <a:tc>
                  <a:txBody>
                    <a:bodyPr/>
                    <a:lstStyle/>
                    <a:p>
                      <a:pPr algn="ctr"/>
                      <a:r>
                        <a:rPr sz="750" b="0">
                          <a:solidFill>
                            <a:srgbClr val="1A1A1A"/>
                          </a:solidFill>
                        </a:rPr>
                        <a:t>COST</a:t>
                      </a:r>
                    </a:p>
                  </a:txBody>
                  <a:tcPr>
                    <a:solidFill>
                      <a:srgbClr val="F5F7FA"/>
                    </a:solidFill>
                  </a:tcPr>
                </a:tc>
                <a:tc>
                  <a:txBody>
                    <a:bodyPr/>
                    <a:lstStyle/>
                    <a:p>
                      <a:pPr algn="ctr"/>
                      <a:r>
                        <a:rPr sz="750" b="0">
                          <a:solidFill>
                            <a:srgbClr val="1A1A1A"/>
                          </a:solidFill>
                        </a:rPr>
                        <a:t>Costco Wholesale</a:t>
                      </a:r>
                    </a:p>
                  </a:txBody>
                  <a:tcPr>
                    <a:solidFill>
                      <a:srgbClr val="F5F7FA"/>
                    </a:solidFill>
                  </a:tcPr>
                </a:tc>
                <a:tc>
                  <a:txBody>
                    <a:bodyPr/>
                    <a:lstStyle/>
                    <a:p>
                      <a:pPr algn="ctr"/>
                      <a:r>
                        <a:rPr sz="750" b="0">
                          <a:solidFill>
                            <a:srgbClr val="1A1A1A"/>
                          </a:solidFill>
                        </a:rPr>
                        <a:t>983.86</a:t>
                      </a:r>
                    </a:p>
                  </a:txBody>
                  <a:tcPr>
                    <a:solidFill>
                      <a:srgbClr val="F5F7FA"/>
                    </a:solidFill>
                  </a:tcPr>
                </a:tc>
                <a:tc>
                  <a:txBody>
                    <a:bodyPr/>
                    <a:lstStyle/>
                    <a:p>
                      <a:pPr algn="ctr"/>
                      <a:r>
                        <a:rPr sz="750" b="0">
                          <a:solidFill>
                            <a:srgbClr val="1A1A1A"/>
                          </a:solidFill>
                        </a:rPr>
                        <a:t>1131.4</a:t>
                      </a:r>
                    </a:p>
                  </a:txBody>
                  <a:tcPr>
                    <a:solidFill>
                      <a:srgbClr val="F5F7FA"/>
                    </a:solidFill>
                  </a:tcPr>
                </a:tc>
                <a:tc>
                  <a:txBody>
                    <a:bodyPr/>
                    <a:lstStyle/>
                    <a:p>
                      <a:pPr algn="ctr"/>
                      <a:r>
                        <a:rPr sz="750" b="0">
                          <a:solidFill>
                            <a:srgbClr val="1A1A1A"/>
                          </a:solidFill>
                        </a:rPr>
                        <a:t>&lt; 934.7</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bl>
          </a:graphicData>
        </a:graphic>
      </p:graphicFrame>
      <p:sp>
        <p:nvSpPr>
          <p:cNvPr id="19" name="Rectangle 18"/>
          <p:cNvSpPr/>
          <p:nvPr/>
        </p:nvSpPr>
        <p:spPr>
          <a:xfrm>
            <a:off x="324000" y="2916000"/>
            <a:ext cx="8496000" cy="1007999"/>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 y="2916000"/>
            <a:ext cx="36000" cy="1007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000" y="2951999"/>
            <a:ext cx="8316000" cy="216000"/>
          </a:xfrm>
          <a:prstGeom prst="rect">
            <a:avLst/>
          </a:prstGeom>
          <a:noFill/>
        </p:spPr>
        <p:txBody>
          <a:bodyPr wrap="square">
            <a:spAutoFit/>
          </a:bodyPr>
          <a:lstStyle/>
          <a:p>
            <a:pPr algn="l"/>
            <a:r>
              <a:rPr sz="850" b="1" i="0">
                <a:solidFill>
                  <a:srgbClr val="B06000"/>
                </a:solidFill>
              </a:rPr>
              <a:t>NOTE METHODOLOGIQUE</a:t>
            </a:r>
          </a:p>
        </p:txBody>
      </p:sp>
      <p:sp>
        <p:nvSpPr>
          <p:cNvPr id="22" name="TextBox 21"/>
          <p:cNvSpPr txBox="1"/>
          <p:nvPr/>
        </p:nvSpPr>
        <p:spPr>
          <a:xfrm>
            <a:off x="468000" y="3186000"/>
            <a:ext cx="8316000" cy="720000"/>
          </a:xfrm>
          <a:prstGeom prst="rect">
            <a:avLst/>
          </a:prstGeom>
          <a:noFill/>
        </p:spPr>
        <p:txBody>
          <a:bodyPr wrap="square">
            <a:spAutoFit/>
          </a:bodyPr>
          <a:lstStyle/>
          <a:p>
            <a:pPr algn="l"/>
            <a:r>
              <a:rPr sz="800" b="0" i="0">
                <a:solidFill>
                  <a:srgbClr val="555555"/>
                </a:solidFill>
              </a:rPr>
              <a:t>La probabilite de rendement positif a 12 mois est calculee sur des configurations similaires identifiees en backtesting sur données historiques (2010-2024). Elle ne constitue pas une garantie de performance future. Le DCF Base est estime a partir du WACC median sectoriel et d'un taux de croissance terminal cohérent avec les drivers sectoriels.</a:t>
            </a:r>
          </a:p>
        </p:txBody>
      </p:sp>
      <p:sp>
        <p:nvSpPr>
          <p:cNvPr id="23" name="Rectangle 22"/>
          <p:cNvSpPr/>
          <p:nvPr/>
        </p:nvSpPr>
        <p:spPr>
          <a:xfrm>
            <a:off x="324000"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4000"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2000" y="4086000"/>
            <a:ext cx="2592000" cy="360000"/>
          </a:xfrm>
          <a:prstGeom prst="rect">
            <a:avLst/>
          </a:prstGeom>
          <a:noFill/>
        </p:spPr>
        <p:txBody>
          <a:bodyPr wrap="square">
            <a:spAutoFit/>
          </a:bodyPr>
          <a:lstStyle/>
          <a:p>
            <a:pPr algn="l"/>
            <a:r>
              <a:rPr sz="2000" b="1" i="0">
                <a:solidFill>
                  <a:srgbClr val="1B3A6B"/>
                </a:solidFill>
              </a:rPr>
              <a:t>68 %</a:t>
            </a:r>
          </a:p>
        </p:txBody>
      </p:sp>
      <p:sp>
        <p:nvSpPr>
          <p:cNvPr id="26" name="TextBox 25"/>
          <p:cNvSpPr txBox="1"/>
          <p:nvPr/>
        </p:nvSpPr>
        <p:spPr>
          <a:xfrm>
            <a:off x="432000" y="4428000"/>
            <a:ext cx="2592000" cy="162000"/>
          </a:xfrm>
          <a:prstGeom prst="rect">
            <a:avLst/>
          </a:prstGeom>
          <a:noFill/>
        </p:spPr>
        <p:txBody>
          <a:bodyPr wrap="square">
            <a:spAutoFit/>
          </a:bodyPr>
          <a:lstStyle/>
          <a:p>
            <a:pPr algn="l"/>
            <a:r>
              <a:rPr sz="750" b="0" i="0">
                <a:solidFill>
                  <a:srgbClr val="555555"/>
                </a:solidFill>
              </a:rPr>
              <a:t>Proba. rendement +</a:t>
            </a:r>
          </a:p>
        </p:txBody>
      </p:sp>
      <p:sp>
        <p:nvSpPr>
          <p:cNvPr id="27" name="TextBox 26"/>
          <p:cNvSpPr txBox="1"/>
          <p:nvPr/>
        </p:nvSpPr>
        <p:spPr>
          <a:xfrm>
            <a:off x="432000" y="4572000"/>
            <a:ext cx="2592000" cy="144000"/>
          </a:xfrm>
          <a:prstGeom prst="rect">
            <a:avLst/>
          </a:prstGeom>
          <a:noFill/>
        </p:spPr>
        <p:txBody>
          <a:bodyPr wrap="square">
            <a:spAutoFit/>
          </a:bodyPr>
          <a:lstStyle/>
          <a:p>
            <a:pPr algn="l"/>
            <a:r>
              <a:rPr sz="700" b="0" i="0">
                <a:solidFill>
                  <a:srgbClr val="AAAAAA"/>
                </a:solidFill>
              </a:rPr>
              <a:t>historique 12 mois</a:t>
            </a:r>
          </a:p>
        </p:txBody>
      </p:sp>
      <p:sp>
        <p:nvSpPr>
          <p:cNvPr id="28" name="Rectangle 27"/>
          <p:cNvSpPr/>
          <p:nvPr/>
        </p:nvSpPr>
        <p:spPr>
          <a:xfrm>
            <a:off x="3204000"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4000"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12000" y="4086000"/>
            <a:ext cx="2592000" cy="360000"/>
          </a:xfrm>
          <a:prstGeom prst="rect">
            <a:avLst/>
          </a:prstGeom>
          <a:noFill/>
        </p:spPr>
        <p:txBody>
          <a:bodyPr wrap="square">
            <a:spAutoFit/>
          </a:bodyPr>
          <a:lstStyle/>
          <a:p>
            <a:pPr algn="l"/>
            <a:r>
              <a:rPr sz="2000" b="1" i="0">
                <a:solidFill>
                  <a:srgbClr val="1B3A6B"/>
                </a:solidFill>
              </a:rPr>
              <a:t>2 / 8</a:t>
            </a:r>
          </a:p>
        </p:txBody>
      </p:sp>
      <p:sp>
        <p:nvSpPr>
          <p:cNvPr id="31" name="TextBox 30"/>
          <p:cNvSpPr txBox="1"/>
          <p:nvPr/>
        </p:nvSpPr>
        <p:spPr>
          <a:xfrm>
            <a:off x="3312000" y="4428000"/>
            <a:ext cx="2592000" cy="162000"/>
          </a:xfrm>
          <a:prstGeom prst="rect">
            <a:avLst/>
          </a:prstGeom>
          <a:noFill/>
        </p:spPr>
        <p:txBody>
          <a:bodyPr wrap="square">
            <a:spAutoFit/>
          </a:bodyPr>
          <a:lstStyle/>
          <a:p>
            <a:pPr algn="l"/>
            <a:r>
              <a:rPr sz="750" b="0" i="0">
                <a:solidFill>
                  <a:srgbClr val="555555"/>
                </a:solidFill>
              </a:rPr>
              <a:t>Societes en zone</a:t>
            </a:r>
          </a:p>
        </p:txBody>
      </p:sp>
      <p:sp>
        <p:nvSpPr>
          <p:cNvPr id="32" name="TextBox 31"/>
          <p:cNvSpPr txBox="1"/>
          <p:nvPr/>
        </p:nvSpPr>
        <p:spPr>
          <a:xfrm>
            <a:off x="3312000" y="4572000"/>
            <a:ext cx="2592000" cy="144000"/>
          </a:xfrm>
          <a:prstGeom prst="rect">
            <a:avLst/>
          </a:prstGeom>
          <a:noFill/>
        </p:spPr>
        <p:txBody>
          <a:bodyPr wrap="square">
            <a:spAutoFit/>
          </a:bodyPr>
          <a:lstStyle/>
          <a:p>
            <a:pPr algn="l"/>
            <a:r>
              <a:rPr sz="700" b="0" i="0">
                <a:solidFill>
                  <a:srgbClr val="AAAAAA"/>
                </a:solidFill>
              </a:rPr>
              <a:t>recommandation BUY</a:t>
            </a:r>
          </a:p>
        </p:txBody>
      </p:sp>
      <p:sp>
        <p:nvSpPr>
          <p:cNvPr id="33" name="Rectangle 32"/>
          <p:cNvSpPr/>
          <p:nvPr/>
        </p:nvSpPr>
        <p:spPr>
          <a:xfrm>
            <a:off x="6083999"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83999"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92000" y="4086000"/>
            <a:ext cx="2592000" cy="360000"/>
          </a:xfrm>
          <a:prstGeom prst="rect">
            <a:avLst/>
          </a:prstGeom>
          <a:noFill/>
        </p:spPr>
        <p:txBody>
          <a:bodyPr wrap="square">
            <a:spAutoFit/>
          </a:bodyPr>
          <a:lstStyle/>
          <a:p>
            <a:pPr algn="l"/>
            <a:r>
              <a:rPr sz="2000" b="1" i="0">
                <a:solidFill>
                  <a:srgbClr val="1B3A6B"/>
                </a:solidFill>
              </a:rPr>
              <a:t>-10 %</a:t>
            </a:r>
          </a:p>
        </p:txBody>
      </p:sp>
      <p:sp>
        <p:nvSpPr>
          <p:cNvPr id="36" name="TextBox 35"/>
          <p:cNvSpPr txBox="1"/>
          <p:nvPr/>
        </p:nvSpPr>
        <p:spPr>
          <a:xfrm>
            <a:off x="6192000" y="4428000"/>
            <a:ext cx="2592000" cy="162000"/>
          </a:xfrm>
          <a:prstGeom prst="rect">
            <a:avLst/>
          </a:prstGeom>
          <a:noFill/>
        </p:spPr>
        <p:txBody>
          <a:bodyPr wrap="square">
            <a:spAutoFit/>
          </a:bodyPr>
          <a:lstStyle/>
          <a:p>
            <a:pPr algn="l"/>
            <a:r>
              <a:rPr sz="750" b="0" i="0">
                <a:solidFill>
                  <a:srgbClr val="555555"/>
                </a:solidFill>
              </a:rPr>
              <a:t>Décote DCF min.</a:t>
            </a:r>
          </a:p>
        </p:txBody>
      </p:sp>
      <p:sp>
        <p:nvSpPr>
          <p:cNvPr id="37" name="TextBox 36"/>
          <p:cNvSpPr txBox="1"/>
          <p:nvPr/>
        </p:nvSpPr>
        <p:spPr>
          <a:xfrm>
            <a:off x="6192000" y="4572000"/>
            <a:ext cx="2592000" cy="144000"/>
          </a:xfrm>
          <a:prstGeom prst="rect">
            <a:avLst/>
          </a:prstGeom>
          <a:noFill/>
        </p:spPr>
        <p:txBody>
          <a:bodyPr wrap="square">
            <a:spAutoFit/>
          </a:bodyPr>
          <a:lstStyle/>
          <a:p>
            <a:pPr algn="l"/>
            <a:r>
              <a:rPr sz="700" b="0" i="0">
                <a:solidFill>
                  <a:srgbClr val="AAAAAA"/>
                </a:solidFill>
              </a:rPr>
              <a:t>seuil d'activation</a:t>
            </a:r>
          </a:p>
        </p:txBody>
      </p:sp>
      <p:sp>
        <p:nvSpPr>
          <p:cNvPr id="38" name="Rectangle 3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Sentiment &amp; Méthodologie</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Conditions d'invalidation, FinBERT agrégé &amp; data lineage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&amp; Conditions d'Invalidation</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des risques structurels  ·  These contraire  ·  Protocole Avocat du Diable</a:t>
            </a:r>
          </a:p>
        </p:txBody>
      </p:sp>
      <p:sp>
        <p:nvSpPr>
          <p:cNvPr id="15" name="Rectangle 14"/>
          <p:cNvSpPr/>
          <p:nvPr/>
        </p:nvSpPr>
        <p:spPr>
          <a:xfrm>
            <a:off x="324000" y="900000"/>
            <a:ext cx="2700000" cy="198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2520000" cy="216000"/>
          </a:xfrm>
          <a:prstGeom prst="rect">
            <a:avLst/>
          </a:prstGeom>
          <a:noFill/>
        </p:spPr>
        <p:txBody>
          <a:bodyPr wrap="square">
            <a:spAutoFit/>
          </a:bodyPr>
          <a:lstStyle/>
          <a:p>
            <a:pPr algn="l"/>
            <a:r>
              <a:rPr sz="850" b="1" i="0">
                <a:solidFill>
                  <a:srgbClr val="FFFFFF"/>
                </a:solidFill>
              </a:rPr>
              <a:t>Guerre des Prix</a:t>
            </a:r>
          </a:p>
        </p:txBody>
      </p:sp>
      <p:sp>
        <p:nvSpPr>
          <p:cNvPr id="18" name="TextBox 17"/>
          <p:cNvSpPr txBox="1"/>
          <p:nvPr/>
        </p:nvSpPr>
        <p:spPr>
          <a:xfrm>
            <a:off x="396000" y="1188000"/>
            <a:ext cx="2520000" cy="1620000"/>
          </a:xfrm>
          <a:prstGeom prst="rect">
            <a:avLst/>
          </a:prstGeom>
          <a:noFill/>
        </p:spPr>
        <p:txBody>
          <a:bodyPr wrap="square">
            <a:spAutoFit/>
          </a:bodyPr>
          <a:lstStyle/>
          <a:p>
            <a:pPr algn="l"/>
            <a:r>
              <a:rPr sz="850" b="0" i="0">
                <a:solidFill>
                  <a:srgbClr val="555555"/>
                </a:solidFill>
              </a:rPr>
              <a:t>Pression des distributeurs (Leclerc, Lidl) sur les prix fournisseurs — erosion des marges lors des négociations.</a:t>
            </a:r>
          </a:p>
        </p:txBody>
      </p:sp>
      <p:sp>
        <p:nvSpPr>
          <p:cNvPr id="19" name="Rectangle 18"/>
          <p:cNvSpPr/>
          <p:nvPr/>
        </p:nvSpPr>
        <p:spPr>
          <a:xfrm>
            <a:off x="3240000" y="900000"/>
            <a:ext cx="2700000" cy="198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11999" y="917999"/>
            <a:ext cx="2520000" cy="216000"/>
          </a:xfrm>
          <a:prstGeom prst="rect">
            <a:avLst/>
          </a:prstGeom>
          <a:noFill/>
        </p:spPr>
        <p:txBody>
          <a:bodyPr wrap="square">
            <a:spAutoFit/>
          </a:bodyPr>
          <a:lstStyle/>
          <a:p>
            <a:pPr algn="l"/>
            <a:r>
              <a:rPr sz="850" b="1" i="0">
                <a:solidFill>
                  <a:srgbClr val="FFFFFF"/>
                </a:solidFill>
              </a:rPr>
              <a:t>Destockage</a:t>
            </a:r>
          </a:p>
        </p:txBody>
      </p:sp>
      <p:sp>
        <p:nvSpPr>
          <p:cNvPr id="22" name="TextBox 21"/>
          <p:cNvSpPr txBox="1"/>
          <p:nvPr/>
        </p:nvSpPr>
        <p:spPr>
          <a:xfrm>
            <a:off x="3311999" y="1188000"/>
            <a:ext cx="2520000" cy="1620000"/>
          </a:xfrm>
          <a:prstGeom prst="rect">
            <a:avLst/>
          </a:prstGeom>
          <a:noFill/>
        </p:spPr>
        <p:txBody>
          <a:bodyPr wrap="square">
            <a:spAutoFit/>
          </a:bodyPr>
          <a:lstStyle/>
          <a:p>
            <a:pPr algn="l"/>
            <a:r>
              <a:rPr sz="850" b="0" i="0">
                <a:solidFill>
                  <a:srgbClr val="555555"/>
                </a:solidFill>
              </a:rPr>
              <a:t>Reduction des stocks en distribution — impact sur volumes T1-T2 2026.</a:t>
            </a:r>
          </a:p>
        </p:txBody>
      </p:sp>
      <p:sp>
        <p:nvSpPr>
          <p:cNvPr id="23" name="Rectangle 22"/>
          <p:cNvSpPr/>
          <p:nvPr/>
        </p:nvSpPr>
        <p:spPr>
          <a:xfrm>
            <a:off x="6155999" y="900000"/>
            <a:ext cx="2700000" cy="198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5999"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7999" y="917999"/>
            <a:ext cx="2520000" cy="216000"/>
          </a:xfrm>
          <a:prstGeom prst="rect">
            <a:avLst/>
          </a:prstGeom>
          <a:noFill/>
        </p:spPr>
        <p:txBody>
          <a:bodyPr wrap="square">
            <a:spAutoFit/>
          </a:bodyPr>
          <a:lstStyle/>
          <a:p>
            <a:pPr algn="l"/>
            <a:r>
              <a:rPr sz="850" b="1" i="0">
                <a:solidFill>
                  <a:srgbClr val="FFFFFF"/>
                </a:solidFill>
              </a:rPr>
              <a:t>Substitution MDD</a:t>
            </a:r>
          </a:p>
        </p:txBody>
      </p:sp>
      <p:sp>
        <p:nvSpPr>
          <p:cNvPr id="26" name="TextBox 25"/>
          <p:cNvSpPr txBox="1"/>
          <p:nvPr/>
        </p:nvSpPr>
        <p:spPr>
          <a:xfrm>
            <a:off x="6227999" y="1188000"/>
            <a:ext cx="2520000" cy="1620000"/>
          </a:xfrm>
          <a:prstGeom prst="rect">
            <a:avLst/>
          </a:prstGeom>
          <a:noFill/>
        </p:spPr>
        <p:txBody>
          <a:bodyPr wrap="square">
            <a:spAutoFit/>
          </a:bodyPr>
          <a:lstStyle/>
          <a:p>
            <a:pPr algn="l"/>
            <a:r>
              <a:rPr sz="850" b="0" i="0">
                <a:solidFill>
                  <a:srgbClr val="555555"/>
                </a:solidFill>
              </a:rPr>
              <a:t>Parts de marche des marques distributeurs en hausse de 2-3 pts — pression structurelle.</a:t>
            </a:r>
          </a:p>
        </p:txBody>
      </p:sp>
      <p:sp>
        <p:nvSpPr>
          <p:cNvPr id="27" name="TextBox 26"/>
          <p:cNvSpPr txBox="1"/>
          <p:nvPr/>
        </p:nvSpPr>
        <p:spPr>
          <a:xfrm>
            <a:off x="324000" y="2951999"/>
            <a:ext cx="8496000" cy="216000"/>
          </a:xfrm>
          <a:prstGeom prst="rect">
            <a:avLst/>
          </a:prstGeom>
          <a:noFill/>
        </p:spPr>
        <p:txBody>
          <a:bodyPr wrap="square">
            <a:spAutoFit/>
          </a:bodyPr>
          <a:lstStyle/>
          <a:p>
            <a:pPr algn="l"/>
            <a:r>
              <a:rPr sz="900" b="1" i="0">
                <a:solidFill>
                  <a:srgbClr val="1B3A6B"/>
                </a:solidFill>
              </a:rPr>
              <a:t>Conditions d'invalidation de la these</a:t>
            </a:r>
          </a:p>
        </p:txBody>
      </p:sp>
      <p:graphicFrame>
        <p:nvGraphicFramePr>
          <p:cNvPr id="28" name="Table 27"/>
          <p:cNvGraphicFramePr>
            <a:graphicFrameLocks noGrp="1"/>
          </p:cNvGraphicFramePr>
          <p:nvPr/>
        </p:nvGraphicFramePr>
        <p:xfrm>
          <a:off x="324000" y="3204000"/>
          <a:ext cx="8496000" cy="1116000"/>
        </p:xfrm>
        <a:graphic>
          <a:graphicData uri="http://schemas.openxmlformats.org/drawingml/2006/table">
            <a:tbl>
              <a:tblPr firstRow="1" bandRow="1">
                <a:tableStyleId>{5C22544A-7EE6-4342-B048-85BDC9FD1C3A}</a:tableStyleId>
              </a:tblPr>
              <a:tblGrid>
                <a:gridCol w="1260000"/>
                <a:gridCol w="5940000"/>
                <a:gridCol w="1296000"/>
              </a:tblGrid>
              <a:tr h="223200">
                <a:tc>
                  <a:txBody>
                    <a:bodyPr/>
                    <a:lstStyle/>
                    <a:p>
                      <a:pPr algn="ctr"/>
                      <a:r>
                        <a:rPr sz="800" b="1">
                          <a:solidFill>
                            <a:srgbClr val="FFFFFF"/>
                          </a:solidFill>
                        </a:rPr>
                        <a:t>Axe</a:t>
                      </a:r>
                    </a:p>
                  </a:txBody>
                  <a:tcPr>
                    <a:solidFill>
                      <a:srgbClr val="1B3A6B"/>
                    </a:solidFill>
                  </a:tcPr>
                </a:tc>
                <a:tc>
                  <a:txBody>
                    <a:bodyPr/>
                    <a:lstStyle/>
                    <a:p>
                      <a:pPr algn="ctr"/>
                      <a:r>
                        <a:rPr sz="800" b="1">
                          <a:solidFill>
                            <a:srgbClr val="FFFFFF"/>
                          </a:solidFill>
                        </a:rPr>
                        <a:t>Condition d'invalidation</a:t>
                      </a:r>
                    </a:p>
                  </a:txBody>
                  <a:tcPr>
                    <a:solidFill>
                      <a:srgbClr val="1B3A6B"/>
                    </a:solidFill>
                  </a:tcPr>
                </a:tc>
                <a:tc>
                  <a:txBody>
                    <a:bodyPr/>
                    <a:lstStyle/>
                    <a:p>
                      <a:pPr algn="ctr"/>
                      <a:r>
                        <a:rPr sz="800" b="1">
                          <a:solidFill>
                            <a:srgbClr val="FFFFFF"/>
                          </a:solidFill>
                        </a:rPr>
                        <a:t>Horizon</a:t>
                      </a:r>
                    </a:p>
                  </a:txBody>
                  <a:tcPr>
                    <a:solidFill>
                      <a:srgbClr val="1B3A6B"/>
                    </a:solidFill>
                  </a:tcPr>
                </a:tc>
              </a:tr>
              <a:tr h="223200">
                <a:tc>
                  <a:txBody>
                    <a:bodyPr/>
                    <a:lstStyle/>
                    <a:p>
                      <a:pPr algn="ctr"/>
                      <a:r>
                        <a:rPr sz="800" b="0">
                          <a:solidFill>
                            <a:srgbClr val="1A1A1A"/>
                          </a:solidFill>
                        </a:rPr>
                        <a:t>Macro</a:t>
                      </a:r>
                    </a:p>
                  </a:txBody>
                  <a:tcPr>
                    <a:noFill/>
                  </a:tcPr>
                </a:tc>
                <a:tc>
                  <a:txBody>
                    <a:bodyPr/>
                    <a:lstStyle/>
                    <a:p>
                      <a:pPr algn="ctr"/>
                      <a:r>
                        <a:rPr sz="800" b="0">
                          <a:solidFill>
                            <a:srgbClr val="1A1A1A"/>
                          </a:solidFill>
                        </a:rPr>
                        <a:t>Recession profonde &gt; 3 trimestres</a:t>
                      </a:r>
                    </a:p>
                  </a:txBody>
                  <a:tcPr>
                    <a:noFill/>
                  </a:tcPr>
                </a:tc>
                <a:tc>
                  <a:txBody>
                    <a:bodyPr/>
                    <a:lstStyle/>
                    <a:p>
                      <a:pPr algn="ctr"/>
                      <a:r>
                        <a:rPr sz="800" b="0">
                          <a:solidFill>
                            <a:srgbClr val="1A1A1A"/>
                          </a:solidFill>
                        </a:rPr>
                        <a:t>9-12 mois</a:t>
                      </a:r>
                    </a:p>
                  </a:txBody>
                  <a:tcPr>
                    <a:noFill/>
                  </a:tcPr>
                </a:tc>
              </a:tr>
              <a:tr h="223200">
                <a:tc>
                  <a:txBody>
                    <a:bodyPr/>
                    <a:lstStyle/>
                    <a:p>
                      <a:pPr algn="ctr"/>
                      <a:r>
                        <a:rPr sz="800" b="0">
                          <a:solidFill>
                            <a:srgbClr val="1A1A1A"/>
                          </a:solidFill>
                        </a:rPr>
                        <a:t>Distribution</a:t>
                      </a:r>
                    </a:p>
                  </a:txBody>
                  <a:tcPr>
                    <a:solidFill>
                      <a:srgbClr val="F5F7FA"/>
                    </a:solidFill>
                  </a:tcPr>
                </a:tc>
                <a:tc>
                  <a:txBody>
                    <a:bodyPr/>
                    <a:lstStyle/>
                    <a:p>
                      <a:pPr algn="ctr"/>
                      <a:r>
                        <a:rPr sz="800" b="0">
                          <a:solidFill>
                            <a:srgbClr val="1A1A1A"/>
                          </a:solidFill>
                        </a:rPr>
                        <a:t>Perte &gt; 15 % référencements top 3</a:t>
                      </a:r>
                    </a:p>
                  </a:txBody>
                  <a:tcPr>
                    <a:solidFill>
                      <a:srgbClr val="F5F7FA"/>
                    </a:solidFill>
                  </a:tcPr>
                </a:tc>
                <a:tc>
                  <a:txBody>
                    <a:bodyPr/>
                    <a:lstStyle/>
                    <a:p>
                      <a:pPr algn="ctr"/>
                      <a:r>
                        <a:rPr sz="800" b="0">
                          <a:solidFill>
                            <a:srgbClr val="1A1A1A"/>
                          </a:solidFill>
                        </a:rPr>
                        <a:t>6-9 mois</a:t>
                      </a:r>
                    </a:p>
                  </a:txBody>
                  <a:tcPr>
                    <a:solidFill>
                      <a:srgbClr val="F5F7FA"/>
                    </a:solidFill>
                  </a:tcPr>
                </a:tc>
              </a:tr>
              <a:tr h="223200">
                <a:tc>
                  <a:txBody>
                    <a:bodyPr/>
                    <a:lstStyle/>
                    <a:p>
                      <a:pPr algn="ctr"/>
                      <a:r>
                        <a:rPr sz="800" b="0">
                          <a:solidFill>
                            <a:srgbClr val="1A1A1A"/>
                          </a:solidFill>
                        </a:rPr>
                        <a:t>MDD</a:t>
                      </a:r>
                    </a:p>
                  </a:txBody>
                  <a:tcPr>
                    <a:noFill/>
                  </a:tcPr>
                </a:tc>
                <a:tc>
                  <a:txBody>
                    <a:bodyPr/>
                    <a:lstStyle/>
                    <a:p>
                      <a:pPr algn="ctr"/>
                      <a:r>
                        <a:rPr sz="800" b="0">
                          <a:solidFill>
                            <a:srgbClr val="1A1A1A"/>
                          </a:solidFill>
                        </a:rPr>
                        <a:t>Part MDD &gt; 45 % en valeur</a:t>
                      </a:r>
                    </a:p>
                  </a:txBody>
                  <a:tcPr>
                    <a:noFill/>
                  </a:tcPr>
                </a:tc>
                <a:tc>
                  <a:txBody>
                    <a:bodyPr/>
                    <a:lstStyle/>
                    <a:p>
                      <a:pPr algn="ctr"/>
                      <a:r>
                        <a:rPr sz="800" b="0">
                          <a:solidFill>
                            <a:srgbClr val="1A1A1A"/>
                          </a:solidFill>
                        </a:rPr>
                        <a:t>12-18 mois</a:t>
                      </a:r>
                    </a:p>
                  </a:txBody>
                  <a:tcPr>
                    <a:noFill/>
                  </a:tcPr>
                </a:tc>
              </a:tr>
              <a:tr h="223200">
                <a:tc>
                  <a:txBody>
                    <a:bodyPr/>
                    <a:lstStyle/>
                    <a:p>
                      <a:pPr algn="ctr"/>
                      <a:r>
                        <a:rPr sz="800" b="0">
                          <a:solidFill>
                            <a:srgbClr val="1A1A1A"/>
                          </a:solidFill>
                        </a:rPr>
                        <a:t>Réglementaire</a:t>
                      </a:r>
                    </a:p>
                  </a:txBody>
                  <a:tcPr>
                    <a:solidFill>
                      <a:srgbClr val="F5F7FA"/>
                    </a:solidFill>
                  </a:tcPr>
                </a:tc>
                <a:tc>
                  <a:txBody>
                    <a:bodyPr/>
                    <a:lstStyle/>
                    <a:p>
                      <a:pPr algn="ctr"/>
                      <a:r>
                        <a:rPr sz="800" b="0">
                          <a:solidFill>
                            <a:srgbClr val="1A1A1A"/>
                          </a:solidFill>
                        </a:rPr>
                        <a:t>Taxe nutritionnelle majeure</a:t>
                      </a:r>
                    </a:p>
                  </a:txBody>
                  <a:tcPr>
                    <a:solidFill>
                      <a:srgbClr val="F5F7FA"/>
                    </a:solidFill>
                  </a:tcPr>
                </a:tc>
                <a:tc>
                  <a:txBody>
                    <a:bodyPr/>
                    <a:lstStyle/>
                    <a:p>
                      <a:pPr algn="ctr"/>
                      <a:r>
                        <a:rPr sz="800" b="0">
                          <a:solidFill>
                            <a:srgbClr val="1A1A1A"/>
                          </a:solidFill>
                        </a:rPr>
                        <a:t>12-24 mois</a:t>
                      </a:r>
                    </a:p>
                  </a:txBody>
                  <a:tcPr>
                    <a:solidFill>
                      <a:srgbClr val="F5F7FA"/>
                    </a:solidFill>
                  </a:tcPr>
                </a:tc>
              </a:tr>
            </a:tbl>
          </a:graphicData>
        </a:graphic>
      </p:graphicFrame>
      <p:sp>
        <p:nvSpPr>
          <p:cNvPr id="29" name="Rectangle 2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de Marche — FinBERT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semantique FinBERT  ·  Articles recents  ·  8 sociétés</a:t>
            </a:r>
          </a:p>
        </p:txBody>
      </p:sp>
      <p:sp>
        <p:nvSpPr>
          <p:cNvPr id="15" name="Rectangle 14"/>
          <p:cNvSpPr/>
          <p:nvPr/>
        </p:nvSpPr>
        <p:spPr>
          <a:xfrm>
            <a:off x="324000" y="900000"/>
            <a:ext cx="1908000" cy="93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93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36000"/>
            <a:ext cx="1764000" cy="432000"/>
          </a:xfrm>
          <a:prstGeom prst="rect">
            <a:avLst/>
          </a:prstGeom>
          <a:noFill/>
        </p:spPr>
        <p:txBody>
          <a:bodyPr wrap="square">
            <a:spAutoFit/>
          </a:bodyPr>
          <a:lstStyle/>
          <a:p>
            <a:pPr algn="l"/>
            <a:r>
              <a:rPr sz="2800" b="1" i="0">
                <a:solidFill>
                  <a:srgbClr val="1B3A6B"/>
                </a:solidFill>
              </a:rPr>
              <a:t>0.00</a:t>
            </a:r>
          </a:p>
        </p:txBody>
      </p:sp>
      <p:sp>
        <p:nvSpPr>
          <p:cNvPr id="18" name="TextBox 17"/>
          <p:cNvSpPr txBox="1"/>
          <p:nvPr/>
        </p:nvSpPr>
        <p:spPr>
          <a:xfrm>
            <a:off x="432000" y="1368000"/>
            <a:ext cx="1764000" cy="198000"/>
          </a:xfrm>
          <a:prstGeom prst="rect">
            <a:avLst/>
          </a:prstGeom>
          <a:noFill/>
        </p:spPr>
        <p:txBody>
          <a:bodyPr wrap="square">
            <a:spAutoFit/>
          </a:bodyPr>
          <a:lstStyle/>
          <a:p>
            <a:pPr algn="l"/>
            <a:r>
              <a:rPr sz="750" b="0" i="0">
                <a:solidFill>
                  <a:srgbClr val="555555"/>
                </a:solidFill>
              </a:rPr>
              <a:t>Score agrégé FinBERT</a:t>
            </a:r>
          </a:p>
        </p:txBody>
      </p:sp>
      <p:sp>
        <p:nvSpPr>
          <p:cNvPr id="19" name="TextBox 18"/>
          <p:cNvSpPr txBox="1"/>
          <p:nvPr/>
        </p:nvSpPr>
        <p:spPr>
          <a:xfrm>
            <a:off x="432000" y="1565999"/>
            <a:ext cx="1764000" cy="162000"/>
          </a:xfrm>
          <a:prstGeom prst="rect">
            <a:avLst/>
          </a:prstGeom>
          <a:noFill/>
        </p:spPr>
        <p:txBody>
          <a:bodyPr wrap="square">
            <a:spAutoFit/>
          </a:bodyPr>
          <a:lstStyle/>
          <a:p>
            <a:pPr algn="l"/>
            <a:r>
              <a:rPr sz="750" b="0" i="0">
                <a:solidFill>
                  <a:srgbClr val="AAAAAA"/>
                </a:solidFill>
              </a:rPr>
              <a:t>Neutre</a:t>
            </a:r>
          </a:p>
        </p:txBody>
      </p:sp>
      <p:sp>
        <p:nvSpPr>
          <p:cNvPr id="20" name="Rectangle 19"/>
          <p:cNvSpPr/>
          <p:nvPr/>
        </p:nvSpPr>
        <p:spPr>
          <a:xfrm>
            <a:off x="2412000" y="900000"/>
            <a:ext cx="900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12000" y="917999"/>
            <a:ext cx="900000" cy="216000"/>
          </a:xfrm>
          <a:prstGeom prst="rect">
            <a:avLst/>
          </a:prstGeom>
          <a:noFill/>
        </p:spPr>
        <p:txBody>
          <a:bodyPr wrap="square">
            <a:spAutoFit/>
          </a:bodyPr>
          <a:lstStyle/>
          <a:p>
            <a:pPr algn="l"/>
            <a:r>
              <a:rPr sz="850" b="1" i="0">
                <a:solidFill>
                  <a:srgbClr val="1A1A1A"/>
                </a:solidFill>
              </a:rPr>
              <a:t>Positif</a:t>
            </a:r>
          </a:p>
        </p:txBody>
      </p:sp>
      <p:sp>
        <p:nvSpPr>
          <p:cNvPr id="22" name="TextBox 21"/>
          <p:cNvSpPr txBox="1"/>
          <p:nvPr/>
        </p:nvSpPr>
        <p:spPr>
          <a:xfrm>
            <a:off x="6156000" y="917999"/>
            <a:ext cx="1980000" cy="216000"/>
          </a:xfrm>
          <a:prstGeom prst="rect">
            <a:avLst/>
          </a:prstGeom>
          <a:noFill/>
        </p:spPr>
        <p:txBody>
          <a:bodyPr wrap="square">
            <a:spAutoFit/>
          </a:bodyPr>
          <a:lstStyle/>
          <a:p>
            <a:pPr algn="l"/>
            <a:r>
              <a:rPr sz="850" b="0" i="0">
                <a:solidFill>
                  <a:srgbClr val="555555"/>
                </a:solidFill>
              </a:rPr>
              <a:t>2 articles (25 %)</a:t>
            </a:r>
          </a:p>
        </p:txBody>
      </p:sp>
      <p:sp>
        <p:nvSpPr>
          <p:cNvPr id="23" name="Rectangle 22"/>
          <p:cNvSpPr/>
          <p:nvPr/>
        </p:nvSpPr>
        <p:spPr>
          <a:xfrm>
            <a:off x="2412000" y="1224000"/>
            <a:ext cx="1800000" cy="23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12000" y="1242000"/>
            <a:ext cx="900000" cy="216000"/>
          </a:xfrm>
          <a:prstGeom prst="rect">
            <a:avLst/>
          </a:prstGeom>
          <a:noFill/>
        </p:spPr>
        <p:txBody>
          <a:bodyPr wrap="square">
            <a:spAutoFit/>
          </a:bodyPr>
          <a:lstStyle/>
          <a:p>
            <a:pPr algn="l"/>
            <a:r>
              <a:rPr sz="850" b="1" i="0">
                <a:solidFill>
                  <a:srgbClr val="1A1A1A"/>
                </a:solidFill>
              </a:rPr>
              <a:t>Neutre</a:t>
            </a:r>
          </a:p>
        </p:txBody>
      </p:sp>
      <p:sp>
        <p:nvSpPr>
          <p:cNvPr id="25" name="TextBox 24"/>
          <p:cNvSpPr txBox="1"/>
          <p:nvPr/>
        </p:nvSpPr>
        <p:spPr>
          <a:xfrm>
            <a:off x="6156000" y="1242000"/>
            <a:ext cx="1980000" cy="216000"/>
          </a:xfrm>
          <a:prstGeom prst="rect">
            <a:avLst/>
          </a:prstGeom>
          <a:noFill/>
        </p:spPr>
        <p:txBody>
          <a:bodyPr wrap="square">
            <a:spAutoFit/>
          </a:bodyPr>
          <a:lstStyle/>
          <a:p>
            <a:pPr algn="l"/>
            <a:r>
              <a:rPr sz="850" b="0" i="0">
                <a:solidFill>
                  <a:srgbClr val="555555"/>
                </a:solidFill>
              </a:rPr>
              <a:t>4 articles (50 %)</a:t>
            </a:r>
          </a:p>
        </p:txBody>
      </p:sp>
      <p:sp>
        <p:nvSpPr>
          <p:cNvPr id="26" name="Rectangle 25"/>
          <p:cNvSpPr/>
          <p:nvPr/>
        </p:nvSpPr>
        <p:spPr>
          <a:xfrm>
            <a:off x="2412000" y="1548000"/>
            <a:ext cx="900000" cy="23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12000" y="1565999"/>
            <a:ext cx="900000" cy="216000"/>
          </a:xfrm>
          <a:prstGeom prst="rect">
            <a:avLst/>
          </a:prstGeom>
          <a:noFill/>
        </p:spPr>
        <p:txBody>
          <a:bodyPr wrap="square">
            <a:spAutoFit/>
          </a:bodyPr>
          <a:lstStyle/>
          <a:p>
            <a:pPr algn="l"/>
            <a:r>
              <a:rPr sz="850" b="1" i="0">
                <a:solidFill>
                  <a:srgbClr val="1A1A1A"/>
                </a:solidFill>
              </a:rPr>
              <a:t>Negatif</a:t>
            </a:r>
          </a:p>
        </p:txBody>
      </p:sp>
      <p:sp>
        <p:nvSpPr>
          <p:cNvPr id="28" name="TextBox 27"/>
          <p:cNvSpPr txBox="1"/>
          <p:nvPr/>
        </p:nvSpPr>
        <p:spPr>
          <a:xfrm>
            <a:off x="6156000" y="1565999"/>
            <a:ext cx="1980000" cy="216000"/>
          </a:xfrm>
          <a:prstGeom prst="rect">
            <a:avLst/>
          </a:prstGeom>
          <a:noFill/>
        </p:spPr>
        <p:txBody>
          <a:bodyPr wrap="square">
            <a:spAutoFit/>
          </a:bodyPr>
          <a:lstStyle/>
          <a:p>
            <a:pPr algn="l"/>
            <a:r>
              <a:rPr sz="850" b="0" i="0">
                <a:solidFill>
                  <a:srgbClr val="555555"/>
                </a:solidFill>
              </a:rPr>
              <a:t>2 articles (25 %)</a:t>
            </a:r>
          </a:p>
        </p:txBody>
      </p:sp>
      <p:sp>
        <p:nvSpPr>
          <p:cNvPr id="29" name="TextBox 28"/>
          <p:cNvSpPr txBox="1"/>
          <p:nvPr/>
        </p:nvSpPr>
        <p:spPr>
          <a:xfrm>
            <a:off x="324000" y="1908000"/>
            <a:ext cx="8496000" cy="216000"/>
          </a:xfrm>
          <a:prstGeom prst="rect">
            <a:avLst/>
          </a:prstGeom>
          <a:noFill/>
        </p:spPr>
        <p:txBody>
          <a:bodyPr wrap="square">
            <a:spAutoFit/>
          </a:bodyPr>
          <a:lstStyle/>
          <a:p>
            <a:pPr algn="l"/>
            <a:r>
              <a:rPr sz="850" b="1" i="0">
                <a:solidFill>
                  <a:srgbClr val="1B3A6B"/>
                </a:solidFill>
              </a:rPr>
              <a:t>Themes dominants</a:t>
            </a:r>
          </a:p>
        </p:txBody>
      </p:sp>
      <p:sp>
        <p:nvSpPr>
          <p:cNvPr id="30" name="Rectangle 29"/>
          <p:cNvSpPr/>
          <p:nvPr/>
        </p:nvSpPr>
        <p:spPr>
          <a:xfrm>
            <a:off x="324000" y="2124000"/>
            <a:ext cx="4104000" cy="396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2124000"/>
            <a:ext cx="36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8000" y="2142000"/>
            <a:ext cx="3851999" cy="360000"/>
          </a:xfrm>
          <a:prstGeom prst="rect">
            <a:avLst/>
          </a:prstGeom>
          <a:noFill/>
        </p:spPr>
        <p:txBody>
          <a:bodyPr wrap="square">
            <a:spAutoFit/>
          </a:bodyPr>
          <a:lstStyle/>
          <a:p>
            <a:pPr algn="l"/>
            <a:r>
              <a:rPr sz="800" b="0" i="0">
                <a:solidFill>
                  <a:srgbClr val="555555"/>
                </a:solidFill>
              </a:rPr>
              <a:t>+ Pricing Power — Capacité a répercuter l'inflation des intrants — les leaders de marque maintiennent des marges brutes &gt; 40 %.</a:t>
            </a:r>
          </a:p>
        </p:txBody>
      </p:sp>
      <p:sp>
        <p:nvSpPr>
          <p:cNvPr id="33" name="Rectangle 32"/>
          <p:cNvSpPr/>
          <p:nvPr/>
        </p:nvSpPr>
        <p:spPr>
          <a:xfrm>
            <a:off x="4716000" y="2124000"/>
            <a:ext cx="4104000" cy="396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16000" y="2124000"/>
            <a:ext cx="36000" cy="39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0000" y="2142000"/>
            <a:ext cx="3851999" cy="360000"/>
          </a:xfrm>
          <a:prstGeom prst="rect">
            <a:avLst/>
          </a:prstGeom>
          <a:noFill/>
        </p:spPr>
        <p:txBody>
          <a:bodyPr wrap="square">
            <a:spAutoFit/>
          </a:bodyPr>
          <a:lstStyle/>
          <a:p>
            <a:pPr algn="l"/>
            <a:r>
              <a:rPr sz="800" b="0" i="0">
                <a:solidFill>
                  <a:srgbClr val="555555"/>
                </a:solidFill>
              </a:rPr>
              <a:t>- Guerre des Prix — Pression des distributeurs (Leclerc, Lidl) sur les prix fournisseurs — erosion des marges lors des négociations.</a:t>
            </a:r>
          </a:p>
        </p:txBody>
      </p:sp>
      <p:sp>
        <p:nvSpPr>
          <p:cNvPr id="36" name="Rectangle 35"/>
          <p:cNvSpPr/>
          <p:nvPr/>
        </p:nvSpPr>
        <p:spPr>
          <a:xfrm>
            <a:off x="324000" y="2664000"/>
            <a:ext cx="8496000" cy="115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4000" y="2664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6000" y="2682000"/>
            <a:ext cx="8352000" cy="216000"/>
          </a:xfrm>
          <a:prstGeom prst="rect">
            <a:avLst/>
          </a:prstGeom>
          <a:noFill/>
        </p:spPr>
        <p:txBody>
          <a:bodyPr wrap="square">
            <a:spAutoFit/>
          </a:bodyPr>
          <a:lstStyle/>
          <a:p>
            <a:pPr algn="l"/>
            <a:r>
              <a:rPr sz="850" b="1" i="0">
                <a:solidFill>
                  <a:srgbClr val="FFFFFF"/>
                </a:solidFill>
              </a:rPr>
              <a:t>LECTURE ANALYTIQUE DU SENTIMENT</a:t>
            </a:r>
          </a:p>
        </p:txBody>
      </p:sp>
      <p:sp>
        <p:nvSpPr>
          <p:cNvPr id="39" name="TextBox 38"/>
          <p:cNvSpPr txBox="1"/>
          <p:nvPr/>
        </p:nvSpPr>
        <p:spPr>
          <a:xfrm>
            <a:off x="396000" y="2951999"/>
            <a:ext cx="8352000" cy="827999"/>
          </a:xfrm>
          <a:prstGeom prst="rect">
            <a:avLst/>
          </a:prstGeom>
          <a:noFill/>
        </p:spPr>
        <p:txBody>
          <a:bodyPr wrap="square">
            <a:spAutoFit/>
          </a:bodyPr>
          <a:lstStyle/>
          <a:p>
            <a:pPr algn="l"/>
            <a:r>
              <a:rPr sz="850" b="0" i="0">
                <a:solidFill>
                  <a:srgbClr val="555555"/>
                </a:solidFill>
              </a:rPr>
              <a:t>Le sentiment agrégé sur le secteur Consumer Defensive S&amp;P 500 ressort neutre (0.00). La dispersion est forte — les leaders sectoriels tirent le sentiment vers le haut tandis que les valeurs en restructuration drainent la composante negative. Cette hétérogénéité valide une approche selective plut que directionelle sur le secteur.</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Sources &amp; Méthodologie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Traçabilité complete des données  ·  Data lineage  ·  Agents FinSight IA v1.0</a:t>
            </a:r>
          </a:p>
        </p:txBody>
      </p:sp>
      <p:graphicFrame>
        <p:nvGraphicFramePr>
          <p:cNvPr id="15" name="Table 14"/>
          <p:cNvGraphicFramePr>
            <a:graphicFrameLocks noGrp="1"/>
          </p:cNvGraphicFramePr>
          <p:nvPr/>
        </p:nvGraphicFramePr>
        <p:xfrm>
          <a:off x="324000" y="900000"/>
          <a:ext cx="8495999" cy="1562400"/>
        </p:xfrm>
        <a:graphic>
          <a:graphicData uri="http://schemas.openxmlformats.org/drawingml/2006/table">
            <a:tbl>
              <a:tblPr firstRow="1" bandRow="1">
                <a:tableStyleId>{5C22544A-7EE6-4342-B048-85BDC9FD1C3A}</a:tableStyleId>
              </a:tblPr>
              <a:tblGrid>
                <a:gridCol w="1440000"/>
                <a:gridCol w="1620000"/>
                <a:gridCol w="3780000"/>
                <a:gridCol w="1655999"/>
              </a:tblGrid>
              <a:tr h="223200">
                <a:tc>
                  <a:txBody>
                    <a:bodyPr/>
                    <a:lstStyle/>
                    <a:p>
                      <a:pPr algn="ctr"/>
                      <a:r>
                        <a:rPr sz="800" b="1">
                          <a:solidFill>
                            <a:srgbClr val="FFFFFF"/>
                          </a:solidFill>
                        </a:rPr>
                        <a:t>Agent</a:t>
                      </a:r>
                    </a:p>
                  </a:txBody>
                  <a:tcPr>
                    <a:solidFill>
                      <a:srgbClr val="1B3A6B"/>
                    </a:solidFill>
                  </a:tcPr>
                </a:tc>
                <a:tc>
                  <a:txBody>
                    <a:bodyPr/>
                    <a:lstStyle/>
                    <a:p>
                      <a:pPr algn="ctr"/>
                      <a:r>
                        <a:rPr sz="800" b="1">
                          <a:solidFill>
                            <a:srgbClr val="FFFFFF"/>
                          </a:solidFill>
                        </a:rPr>
                        <a:t>Source données</a:t>
                      </a:r>
                    </a:p>
                  </a:txBody>
                  <a:tcPr>
                    <a:solidFill>
                      <a:srgbClr val="1B3A6B"/>
                    </a:solidFill>
                  </a:tcPr>
                </a:tc>
                <a:tc>
                  <a:txBody>
                    <a:bodyPr/>
                    <a:lstStyle/>
                    <a:p>
                      <a:pPr algn="ctr"/>
                      <a:r>
                        <a:rPr sz="800" b="1">
                          <a:solidFill>
                            <a:srgbClr val="FFFFFF"/>
                          </a:solidFill>
                        </a:rPr>
                        <a:t>Données collectees</a:t>
                      </a:r>
                    </a:p>
                  </a:txBody>
                  <a:tcPr>
                    <a:solidFill>
                      <a:srgbClr val="1B3A6B"/>
                    </a:solidFill>
                  </a:tcPr>
                </a:tc>
                <a:tc>
                  <a:txBody>
                    <a:bodyPr/>
                    <a:lstStyle/>
                    <a:p>
                      <a:pPr algn="ctr"/>
                      <a:r>
                        <a:rPr sz="800" b="1">
                          <a:solidFill>
                            <a:srgbClr val="FFFFFF"/>
                          </a:solidFill>
                        </a:rPr>
                        <a:t>Frequence</a:t>
                      </a:r>
                    </a:p>
                  </a:txBody>
                  <a:tcPr>
                    <a:solidFill>
                      <a:srgbClr val="1B3A6B"/>
                    </a:solidFill>
                  </a:tcPr>
                </a:tc>
              </a:tr>
              <a:tr h="223200">
                <a:tc>
                  <a:txBody>
                    <a:bodyPr/>
                    <a:lstStyle/>
                    <a:p>
                      <a:pPr algn="ctr"/>
                      <a:r>
                        <a:rPr sz="750" b="0">
                          <a:solidFill>
                            <a:srgbClr val="1A1A1A"/>
                          </a:solidFill>
                        </a:rPr>
                        <a:t>AgentData</a:t>
                      </a:r>
                    </a:p>
                  </a:txBody>
                  <a:tcPr>
                    <a:noFill/>
                  </a:tcPr>
                </a:tc>
                <a:tc>
                  <a:txBody>
                    <a:bodyPr/>
                    <a:lstStyle/>
                    <a:p>
                      <a:pPr algn="ctr"/>
                      <a:r>
                        <a:rPr sz="750" b="0">
                          <a:solidFill>
                            <a:srgbClr val="1A1A1A"/>
                          </a:solidFill>
                        </a:rPr>
                        <a:t>yfinance + FMP</a:t>
                      </a:r>
                    </a:p>
                  </a:txBody>
                  <a:tcPr>
                    <a:noFill/>
                  </a:tcPr>
                </a:tc>
                <a:tc>
                  <a:txBody>
                    <a:bodyPr/>
                    <a:lstStyle/>
                    <a:p>
                      <a:pPr algn="ctr"/>
                      <a:r>
                        <a:rPr sz="750" b="0">
                          <a:solidFill>
                            <a:srgbClr val="1A1A1A"/>
                          </a:solidFill>
                        </a:rPr>
                        <a:t>Cours, ratios, etats financiers LTM</a:t>
                      </a:r>
                    </a:p>
                  </a:txBody>
                  <a:tcPr>
                    <a:noFill/>
                  </a:tcPr>
                </a:tc>
                <a:tc>
                  <a:txBody>
                    <a:bodyPr/>
                    <a:lstStyle/>
                    <a:p>
                      <a:pPr algn="ctr"/>
                      <a:r>
                        <a:rPr sz="750" b="0">
                          <a:solidFill>
                            <a:srgbClr val="1A1A1A"/>
                          </a:solidFill>
                        </a:rPr>
                        <a:t>Temps reel / J-1</a:t>
                      </a:r>
                    </a:p>
                  </a:txBody>
                  <a:tcPr>
                    <a:noFill/>
                  </a:tcPr>
                </a:tc>
              </a:tr>
              <a:tr h="223200">
                <a:tc>
                  <a:txBody>
                    <a:bodyPr/>
                    <a:lstStyle/>
                    <a:p>
                      <a:pPr algn="ctr"/>
                      <a:r>
                        <a:rPr sz="750" b="0">
                          <a:solidFill>
                            <a:srgbClr val="1A1A1A"/>
                          </a:solidFill>
                        </a:rPr>
                        <a:t>AgentQuant</a:t>
                      </a:r>
                    </a:p>
                  </a:txBody>
                  <a:tcPr>
                    <a:solidFill>
                      <a:srgbClr val="F5F7FA"/>
                    </a:solidFill>
                  </a:tcPr>
                </a:tc>
                <a:tc>
                  <a:txBody>
                    <a:bodyPr/>
                    <a:lstStyle/>
                    <a:p>
                      <a:pPr algn="ctr"/>
                      <a:r>
                        <a:rPr sz="750" b="0">
                          <a:solidFill>
                            <a:srgbClr val="1A1A1A"/>
                          </a:solidFill>
                        </a:rPr>
                        <a:t>Calcul interne</a:t>
                      </a:r>
                    </a:p>
                  </a:txBody>
                  <a:tcPr>
                    <a:solidFill>
                      <a:srgbClr val="F5F7FA"/>
                    </a:solidFill>
                  </a:tcPr>
                </a:tc>
                <a:tc>
                  <a:txBody>
                    <a:bodyPr/>
                    <a:lstStyle/>
                    <a:p>
                      <a:pPr algn="ctr"/>
                      <a:r>
                        <a:rPr sz="750" b="0">
                          <a:solidFill>
                            <a:srgbClr val="1A1A1A"/>
                          </a:solidFill>
                        </a:rPr>
                        <a:t>Altman Z, Beneish M, scores FinSight</a:t>
                      </a:r>
                    </a:p>
                  </a:txBody>
                  <a:tcPr>
                    <a:solidFill>
                      <a:srgbClr val="F5F7FA"/>
                    </a:solidFill>
                  </a:tcPr>
                </a:tc>
                <a:tc>
                  <a:txBody>
                    <a:bodyPr/>
                    <a:lstStyle/>
                    <a:p>
                      <a:pPr algn="ctr"/>
                      <a:r>
                        <a:rPr sz="750" b="0">
                          <a:solidFill>
                            <a:srgbClr val="1A1A1A"/>
                          </a:solidFill>
                        </a:rPr>
                        <a:t>A la demande</a:t>
                      </a:r>
                    </a:p>
                  </a:txBody>
                  <a:tcPr>
                    <a:solidFill>
                      <a:srgbClr val="F5F7FA"/>
                    </a:solidFill>
                  </a:tcPr>
                </a:tc>
              </a:tr>
              <a:tr h="223200">
                <a:tc>
                  <a:txBody>
                    <a:bodyPr/>
                    <a:lstStyle/>
                    <a:p>
                      <a:pPr algn="ctr"/>
                      <a:r>
                        <a:rPr sz="750" b="0">
                          <a:solidFill>
                            <a:srgbClr val="1A1A1A"/>
                          </a:solidFill>
                        </a:rPr>
                        <a:t>AgentSentiment</a:t>
                      </a:r>
                    </a:p>
                  </a:txBody>
                  <a:tcPr>
                    <a:noFill/>
                  </a:tcPr>
                </a:tc>
                <a:tc>
                  <a:txBody>
                    <a:bodyPr/>
                    <a:lstStyle/>
                    <a:p>
                      <a:pPr algn="ctr"/>
                      <a:r>
                        <a:rPr sz="750" b="0">
                          <a:solidFill>
                            <a:srgbClr val="1A1A1A"/>
                          </a:solidFill>
                        </a:rPr>
                        <a:t>Finnhub + RSS</a:t>
                      </a:r>
                    </a:p>
                  </a:txBody>
                  <a:tcPr>
                    <a:noFill/>
                  </a:tcPr>
                </a:tc>
                <a:tc>
                  <a:txBody>
                    <a:bodyPr/>
                    <a:lstStyle/>
                    <a:p>
                      <a:pPr algn="ctr"/>
                      <a:r>
                        <a:rPr sz="750" b="0">
                          <a:solidFill>
                            <a:srgbClr val="1A1A1A"/>
                          </a:solidFill>
                        </a:rPr>
                        <a:t>Articles presse, scoring FinBERT</a:t>
                      </a:r>
                    </a:p>
                  </a:txBody>
                  <a:tcPr>
                    <a:noFill/>
                  </a:tcPr>
                </a:tc>
                <a:tc>
                  <a:txBody>
                    <a:bodyPr/>
                    <a:lstStyle/>
                    <a:p>
                      <a:pPr algn="ctr"/>
                      <a:r>
                        <a:rPr sz="750" b="0">
                          <a:solidFill>
                            <a:srgbClr val="1A1A1A"/>
                          </a:solidFill>
                        </a:rPr>
                        <a:t>A la demande</a:t>
                      </a:r>
                    </a:p>
                  </a:txBody>
                  <a:tcPr>
                    <a:noFill/>
                  </a:tcPr>
                </a:tc>
              </a:tr>
              <a:tr h="223200">
                <a:tc>
                  <a:txBody>
                    <a:bodyPr/>
                    <a:lstStyle/>
                    <a:p>
                      <a:pPr algn="ctr"/>
                      <a:r>
                        <a:rPr sz="750" b="0">
                          <a:solidFill>
                            <a:srgbClr val="1A1A1A"/>
                          </a:solidFill>
                        </a:rPr>
                        <a:t>AgentSynthese</a:t>
                      </a:r>
                    </a:p>
                  </a:txBody>
                  <a:tcPr>
                    <a:solidFill>
                      <a:srgbClr val="F5F7FA"/>
                    </a:solidFill>
                  </a:tcPr>
                </a:tc>
                <a:tc>
                  <a:txBody>
                    <a:bodyPr/>
                    <a:lstStyle/>
                    <a:p>
                      <a:pPr algn="ctr"/>
                      <a:r>
                        <a:rPr sz="750" b="0">
                          <a:solidFill>
                            <a:srgbClr val="1A1A1A"/>
                          </a:solidFill>
                        </a:rPr>
                        <a:t>Claude Haiku</a:t>
                      </a:r>
                    </a:p>
                  </a:txBody>
                  <a:tcPr>
                    <a:solidFill>
                      <a:srgbClr val="F5F7FA"/>
                    </a:solidFill>
                  </a:tcPr>
                </a:tc>
                <a:tc>
                  <a:txBody>
                    <a:bodyPr/>
                    <a:lstStyle/>
                    <a:p>
                      <a:pPr algn="ctr"/>
                      <a:r>
                        <a:rPr sz="750" b="0">
                          <a:solidFill>
                            <a:srgbClr val="1A1A1A"/>
                          </a:solidFill>
                        </a:rPr>
                        <a:t>Ratios calcules, scoring multifactoriel</a:t>
                      </a:r>
                    </a:p>
                  </a:txBody>
                  <a:tcPr>
                    <a:solidFill>
                      <a:srgbClr val="F5F7FA"/>
                    </a:solidFill>
                  </a:tcPr>
                </a:tc>
                <a:tc>
                  <a:txBody>
                    <a:bodyPr/>
                    <a:lstStyle/>
                    <a:p>
                      <a:pPr algn="ctr"/>
                      <a:r>
                        <a:rPr sz="750" b="0">
                          <a:solidFill>
                            <a:srgbClr val="1A1A1A"/>
                          </a:solidFill>
                        </a:rPr>
                        <a:t>A la demande</a:t>
                      </a:r>
                    </a:p>
                  </a:txBody>
                  <a:tcPr>
                    <a:solidFill>
                      <a:srgbClr val="F5F7FA"/>
                    </a:solidFill>
                  </a:tcPr>
                </a:tc>
              </a:tr>
              <a:tr h="223200">
                <a:tc>
                  <a:txBody>
                    <a:bodyPr/>
                    <a:lstStyle/>
                    <a:p>
                      <a:pPr algn="ctr"/>
                      <a:r>
                        <a:rPr sz="750" b="0">
                          <a:solidFill>
                            <a:srgbClr val="1A1A1A"/>
                          </a:solidFill>
                        </a:rPr>
                        <a:t>AgentDevil</a:t>
                      </a:r>
                    </a:p>
                  </a:txBody>
                  <a:tcPr>
                    <a:noFill/>
                  </a:tcPr>
                </a:tc>
                <a:tc>
                  <a:txBody>
                    <a:bodyPr/>
                    <a:lstStyle/>
                    <a:p>
                      <a:pPr algn="ctr"/>
                      <a:r>
                        <a:rPr sz="750" b="0">
                          <a:solidFill>
                            <a:srgbClr val="1A1A1A"/>
                          </a:solidFill>
                        </a:rPr>
                        <a:t>Claude Haiku</a:t>
                      </a:r>
                    </a:p>
                  </a:txBody>
                  <a:tcPr>
                    <a:noFill/>
                  </a:tcPr>
                </a:tc>
                <a:tc>
                  <a:txBody>
                    <a:bodyPr/>
                    <a:lstStyle/>
                    <a:p>
                      <a:pPr algn="ctr"/>
                      <a:r>
                        <a:rPr sz="750" b="0">
                          <a:solidFill>
                            <a:srgbClr val="1A1A1A"/>
                          </a:solidFill>
                        </a:rPr>
                        <a:t>These contraire, conviction delta</a:t>
                      </a:r>
                    </a:p>
                  </a:txBody>
                  <a:tcPr>
                    <a:noFill/>
                  </a:tcPr>
                </a:tc>
                <a:tc>
                  <a:txBody>
                    <a:bodyPr/>
                    <a:lstStyle/>
                    <a:p>
                      <a:pPr algn="ctr"/>
                      <a:r>
                        <a:rPr sz="750" b="0">
                          <a:solidFill>
                            <a:srgbClr val="1A1A1A"/>
                          </a:solidFill>
                        </a:rPr>
                        <a:t>A la demande</a:t>
                      </a:r>
                    </a:p>
                  </a:txBody>
                  <a:tcPr>
                    <a:noFill/>
                  </a:tcPr>
                </a:tc>
              </a:tr>
              <a:tr h="223200">
                <a:tc>
                  <a:txBody>
                    <a:bodyPr/>
                    <a:lstStyle/>
                    <a:p>
                      <a:pPr algn="ctr"/>
                      <a:r>
                        <a:rPr sz="750" b="0">
                          <a:solidFill>
                            <a:srgbClr val="1A1A1A"/>
                          </a:solidFill>
                        </a:rPr>
                        <a:t>AgentQA</a:t>
                      </a:r>
                    </a:p>
                  </a:txBody>
                  <a:tcPr>
                    <a:solidFill>
                      <a:srgbClr val="F5F7FA"/>
                    </a:solidFill>
                  </a:tcPr>
                </a:tc>
                <a:tc>
                  <a:txBody>
                    <a:bodyPr/>
                    <a:lstStyle/>
                    <a:p>
                      <a:pPr algn="ctr"/>
                      <a:r>
                        <a:rPr sz="750" b="0">
                          <a:solidFill>
                            <a:srgbClr val="1A1A1A"/>
                          </a:solidFill>
                        </a:rPr>
                        <a:t>Python + LLM</a:t>
                      </a:r>
                    </a:p>
                  </a:txBody>
                  <a:tcPr>
                    <a:solidFill>
                      <a:srgbClr val="F5F7FA"/>
                    </a:solidFill>
                  </a:tcPr>
                </a:tc>
                <a:tc>
                  <a:txBody>
                    <a:bodyPr/>
                    <a:lstStyle/>
                    <a:p>
                      <a:pPr algn="ctr"/>
                      <a:r>
                        <a:rPr sz="750" b="0">
                          <a:solidFill>
                            <a:srgbClr val="1A1A1A"/>
                          </a:solidFill>
                        </a:rPr>
                        <a:t>Validation coherence, flags erreur</a:t>
                      </a:r>
                    </a:p>
                  </a:txBody>
                  <a:tcPr>
                    <a:solidFill>
                      <a:srgbClr val="F5F7FA"/>
                    </a:solidFill>
                  </a:tcPr>
                </a:tc>
                <a:tc>
                  <a:txBody>
                    <a:bodyPr/>
                    <a:lstStyle/>
                    <a:p>
                      <a:pPr algn="ctr"/>
                      <a:r>
                        <a:rPr sz="750" b="0">
                          <a:solidFill>
                            <a:srgbClr val="1A1A1A"/>
                          </a:solidFill>
                        </a:rPr>
                        <a:t>Systematique</a:t>
                      </a:r>
                    </a:p>
                  </a:txBody>
                  <a:tcPr>
                    <a:solidFill>
                      <a:srgbClr val="F5F7FA"/>
                    </a:solidFill>
                  </a:tcPr>
                </a:tc>
              </a:tr>
            </a:tbl>
          </a:graphicData>
        </a:graphic>
      </p:graphicFrame>
      <p:sp>
        <p:nvSpPr>
          <p:cNvPr id="16" name="Rectangle 15"/>
          <p:cNvSpPr/>
          <p:nvPr/>
        </p:nvSpPr>
        <p:spPr>
          <a:xfrm>
            <a:off x="324000" y="3456000"/>
            <a:ext cx="8496000" cy="97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456000"/>
            <a:ext cx="36000" cy="97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491999"/>
            <a:ext cx="8316000" cy="216000"/>
          </a:xfrm>
          <a:prstGeom prst="rect">
            <a:avLst/>
          </a:prstGeom>
          <a:noFill/>
        </p:spPr>
        <p:txBody>
          <a:bodyPr wrap="square">
            <a:spAutoFit/>
          </a:bodyPr>
          <a:lstStyle/>
          <a:p>
            <a:pPr algn="l"/>
            <a:r>
              <a:rPr sz="850" b="1" i="0">
                <a:solidFill>
                  <a:srgbClr val="B06000"/>
                </a:solidFill>
              </a:rPr>
              <a:t>LIMITES &amp; PRÉCAUTIONS</a:t>
            </a:r>
          </a:p>
        </p:txBody>
      </p:sp>
      <p:sp>
        <p:nvSpPr>
          <p:cNvPr id="19" name="TextBox 18"/>
          <p:cNvSpPr txBox="1"/>
          <p:nvPr/>
        </p:nvSpPr>
        <p:spPr>
          <a:xfrm>
            <a:off x="468000" y="3726000"/>
            <a:ext cx="8316000" cy="720000"/>
          </a:xfrm>
          <a:prstGeom prst="rect">
            <a:avLst/>
          </a:prstGeom>
          <a:noFill/>
        </p:spPr>
        <p:txBody>
          <a:bodyPr wrap="square">
            <a:spAutoFit/>
          </a:bodyPr>
          <a:lstStyle/>
          <a:p>
            <a:pPr algn="l"/>
            <a:r>
              <a:rPr sz="800" b="0" i="0">
                <a:solidFill>
                  <a:srgbClr val="555555"/>
                </a:solidFill>
              </a:rPr>
              <a:t>Les données financieres historiques sont issues de sources publiques et peuvent presenter des delais ou inexactitudes. Les previsions sont basees sur le consensus et les modèles internes FinSight IA — elles ne constituent pas des engagements. La méthodologie de scoring est soumise a des biais inherents a toute approche quantitative.</a:t>
            </a:r>
          </a:p>
        </p:txBody>
      </p:sp>
      <p:sp>
        <p:nvSpPr>
          <p:cNvPr id="20" name="Rectangle 19"/>
          <p:cNvSpPr/>
          <p:nvPr/>
        </p:nvSpPr>
        <p:spPr>
          <a:xfrm>
            <a:off x="324000" y="4428000"/>
            <a:ext cx="8496000" cy="3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6000" y="4446000"/>
            <a:ext cx="8352000" cy="324000"/>
          </a:xfrm>
          <a:prstGeom prst="rect">
            <a:avLst/>
          </a:prstGeom>
          <a:noFill/>
        </p:spPr>
        <p:txBody>
          <a:bodyPr wrap="square">
            <a:spAutoFit/>
          </a:bodyPr>
          <a:lstStyle/>
          <a:p>
            <a:pPr algn="l"/>
            <a:r>
              <a:rPr sz="700" b="0" i="0">
                <a:solidFill>
                  <a:srgbClr val="AAAAAA"/>
                </a:solidFill>
              </a:rPr>
              <a:t>Ce rapport est genere par FinSight IA v1.0. Il ne constitue pas un conseil en investissement au sens de la directive MiFID II (2014/65/UE). Document confidentiel — usage interne uniquement. Toute reproduction ou diffusion est interdite sans autorisation.</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Boursiere Relative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Consumer Defensive  ·  S&amp;P 500  ·  Indexe a 100 au debut de la periode</a:t>
            </a:r>
          </a:p>
        </p:txBody>
      </p:sp>
      <p:pic>
        <p:nvPicPr>
          <p:cNvPr id="15" name="Picture 14" descr="image.png"/>
          <p:cNvPicPr>
            <a:picLocks noChangeAspect="1"/>
          </p:cNvPicPr>
          <p:nvPr/>
        </p:nvPicPr>
        <p:blipFill>
          <a:blip r:embed="rId2"/>
          <a:stretch>
            <a:fillRect/>
          </a:stretch>
        </p:blipFill>
        <p:spPr>
          <a:xfrm>
            <a:off x="324000" y="827999"/>
            <a:ext cx="5400000" cy="3671999"/>
          </a:xfrm>
          <a:prstGeom prst="rect">
            <a:avLst/>
          </a:prstGeom>
        </p:spPr>
      </p:pic>
      <p:sp>
        <p:nvSpPr>
          <p:cNvPr id="16" name="Rectangle 15"/>
          <p:cNvSpPr/>
          <p:nvPr/>
        </p:nvSpPr>
        <p:spPr>
          <a:xfrm>
            <a:off x="5903999" y="827999"/>
            <a:ext cx="2916000" cy="367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03999" y="827999"/>
            <a:ext cx="2916000" cy="23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76000" y="846000"/>
            <a:ext cx="2808000" cy="198000"/>
          </a:xfrm>
          <a:prstGeom prst="rect">
            <a:avLst/>
          </a:prstGeom>
          <a:noFill/>
        </p:spPr>
        <p:txBody>
          <a:bodyPr wrap="square">
            <a:spAutoFit/>
          </a:bodyPr>
          <a:lstStyle/>
          <a:p>
            <a:pPr algn="l"/>
            <a:r>
              <a:rPr sz="800" b="1" i="0">
                <a:solidFill>
                  <a:srgbClr val="FFFFFF"/>
                </a:solidFill>
              </a:rPr>
              <a:t>LEGENDE — SOCIETES</a:t>
            </a:r>
          </a:p>
        </p:txBody>
      </p:sp>
      <p:sp>
        <p:nvSpPr>
          <p:cNvPr id="19" name="Rectangle 18"/>
          <p:cNvSpPr/>
          <p:nvPr/>
        </p:nvSpPr>
        <p:spPr>
          <a:xfrm>
            <a:off x="5940000" y="1177200"/>
            <a:ext cx="180000" cy="10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2000" y="1134000"/>
            <a:ext cx="2556000" cy="180000"/>
          </a:xfrm>
          <a:prstGeom prst="rect">
            <a:avLst/>
          </a:prstGeom>
          <a:noFill/>
        </p:spPr>
        <p:txBody>
          <a:bodyPr wrap="square">
            <a:spAutoFit/>
          </a:bodyPr>
          <a:lstStyle/>
          <a:p>
            <a:pPr algn="l"/>
            <a:r>
              <a:rPr sz="750" b="1" i="0">
                <a:solidFill>
                  <a:srgbClr val="1B3A6B"/>
                </a:solidFill>
              </a:rPr>
              <a:t>WMT  —  Walmart Inc.</a:t>
            </a:r>
          </a:p>
        </p:txBody>
      </p:sp>
      <p:sp>
        <p:nvSpPr>
          <p:cNvPr id="21" name="TextBox 20"/>
          <p:cNvSpPr txBox="1"/>
          <p:nvPr/>
        </p:nvSpPr>
        <p:spPr>
          <a:xfrm>
            <a:off x="6192000" y="1314000"/>
            <a:ext cx="2556000" cy="162000"/>
          </a:xfrm>
          <a:prstGeom prst="rect">
            <a:avLst/>
          </a:prstGeom>
          <a:noFill/>
        </p:spPr>
        <p:txBody>
          <a:bodyPr wrap="square">
            <a:spAutoFit/>
          </a:bodyPr>
          <a:lstStyle/>
          <a:p>
            <a:pPr algn="l"/>
            <a:r>
              <a:rPr sz="700" b="0" i="0">
                <a:solidFill>
                  <a:srgbClr val="555555"/>
                </a:solidFill>
              </a:rPr>
              <a:t>Score 50/100  ·  HOLD</a:t>
            </a:r>
          </a:p>
        </p:txBody>
      </p:sp>
      <p:sp>
        <p:nvSpPr>
          <p:cNvPr id="22" name="Rectangle 21"/>
          <p:cNvSpPr/>
          <p:nvPr/>
        </p:nvSpPr>
        <p:spPr>
          <a:xfrm>
            <a:off x="5940000" y="1507950"/>
            <a:ext cx="180000" cy="10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2000" y="1464749"/>
            <a:ext cx="2556000" cy="180000"/>
          </a:xfrm>
          <a:prstGeom prst="rect">
            <a:avLst/>
          </a:prstGeom>
          <a:noFill/>
        </p:spPr>
        <p:txBody>
          <a:bodyPr wrap="square">
            <a:spAutoFit/>
          </a:bodyPr>
          <a:lstStyle/>
          <a:p>
            <a:pPr algn="l"/>
            <a:r>
              <a:rPr sz="750" b="1" i="0">
                <a:solidFill>
                  <a:srgbClr val="1B3A6B"/>
                </a:solidFill>
              </a:rPr>
              <a:t>COST  —  Costco Wholesale Corporation</a:t>
            </a:r>
          </a:p>
        </p:txBody>
      </p:sp>
      <p:sp>
        <p:nvSpPr>
          <p:cNvPr id="24" name="TextBox 23"/>
          <p:cNvSpPr txBox="1"/>
          <p:nvPr/>
        </p:nvSpPr>
        <p:spPr>
          <a:xfrm>
            <a:off x="6192000" y="1644749"/>
            <a:ext cx="2556000" cy="162000"/>
          </a:xfrm>
          <a:prstGeom prst="rect">
            <a:avLst/>
          </a:prstGeom>
          <a:noFill/>
        </p:spPr>
        <p:txBody>
          <a:bodyPr wrap="square">
            <a:spAutoFit/>
          </a:bodyPr>
          <a:lstStyle/>
          <a:p>
            <a:pPr algn="l"/>
            <a:r>
              <a:rPr sz="700" b="0" i="0">
                <a:solidFill>
                  <a:srgbClr val="555555"/>
                </a:solidFill>
              </a:rPr>
              <a:t>Score 46/100  ·  SELL</a:t>
            </a:r>
          </a:p>
        </p:txBody>
      </p:sp>
      <p:sp>
        <p:nvSpPr>
          <p:cNvPr id="25" name="Rectangle 24"/>
          <p:cNvSpPr/>
          <p:nvPr/>
        </p:nvSpPr>
        <p:spPr>
          <a:xfrm>
            <a:off x="5940000" y="1838700"/>
            <a:ext cx="180000" cy="108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92000" y="1795500"/>
            <a:ext cx="2556000" cy="180000"/>
          </a:xfrm>
          <a:prstGeom prst="rect">
            <a:avLst/>
          </a:prstGeom>
          <a:noFill/>
        </p:spPr>
        <p:txBody>
          <a:bodyPr wrap="square">
            <a:spAutoFit/>
          </a:bodyPr>
          <a:lstStyle/>
          <a:p>
            <a:pPr algn="l"/>
            <a:r>
              <a:rPr sz="750" b="1" i="0">
                <a:solidFill>
                  <a:srgbClr val="1B3A6B"/>
                </a:solidFill>
              </a:rPr>
              <a:t>PG  —  The Procter &amp; Gamble Company</a:t>
            </a:r>
          </a:p>
        </p:txBody>
      </p:sp>
      <p:sp>
        <p:nvSpPr>
          <p:cNvPr id="27" name="TextBox 26"/>
          <p:cNvSpPr txBox="1"/>
          <p:nvPr/>
        </p:nvSpPr>
        <p:spPr>
          <a:xfrm>
            <a:off x="6192000" y="1975500"/>
            <a:ext cx="2556000" cy="162000"/>
          </a:xfrm>
          <a:prstGeom prst="rect">
            <a:avLst/>
          </a:prstGeom>
          <a:noFill/>
        </p:spPr>
        <p:txBody>
          <a:bodyPr wrap="square">
            <a:spAutoFit/>
          </a:bodyPr>
          <a:lstStyle/>
          <a:p>
            <a:pPr algn="l"/>
            <a:r>
              <a:rPr sz="700" b="0" i="0">
                <a:solidFill>
                  <a:srgbClr val="555555"/>
                </a:solidFill>
              </a:rPr>
              <a:t>Score 63/100  ·  HOLD</a:t>
            </a:r>
          </a:p>
        </p:txBody>
      </p:sp>
      <p:sp>
        <p:nvSpPr>
          <p:cNvPr id="28" name="Rectangle 27"/>
          <p:cNvSpPr/>
          <p:nvPr/>
        </p:nvSpPr>
        <p:spPr>
          <a:xfrm>
            <a:off x="5940000" y="2169450"/>
            <a:ext cx="180000" cy="108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2000" y="2126250"/>
            <a:ext cx="2556000" cy="180000"/>
          </a:xfrm>
          <a:prstGeom prst="rect">
            <a:avLst/>
          </a:prstGeom>
          <a:noFill/>
        </p:spPr>
        <p:txBody>
          <a:bodyPr wrap="square">
            <a:spAutoFit/>
          </a:bodyPr>
          <a:lstStyle/>
          <a:p>
            <a:pPr algn="l"/>
            <a:r>
              <a:rPr sz="750" b="1" i="0">
                <a:solidFill>
                  <a:srgbClr val="1B3A6B"/>
                </a:solidFill>
              </a:rPr>
              <a:t>KO  —  The Coca-Cola Company</a:t>
            </a:r>
          </a:p>
        </p:txBody>
      </p:sp>
      <p:sp>
        <p:nvSpPr>
          <p:cNvPr id="30" name="TextBox 29"/>
          <p:cNvSpPr txBox="1"/>
          <p:nvPr/>
        </p:nvSpPr>
        <p:spPr>
          <a:xfrm>
            <a:off x="6192000" y="2306250"/>
            <a:ext cx="2556000" cy="162000"/>
          </a:xfrm>
          <a:prstGeom prst="rect">
            <a:avLst/>
          </a:prstGeom>
          <a:noFill/>
        </p:spPr>
        <p:txBody>
          <a:bodyPr wrap="square">
            <a:spAutoFit/>
          </a:bodyPr>
          <a:lstStyle/>
          <a:p>
            <a:pPr algn="l"/>
            <a:r>
              <a:rPr sz="700" b="0" i="0">
                <a:solidFill>
                  <a:srgbClr val="555555"/>
                </a:solidFill>
              </a:rPr>
              <a:t>Score 65/100  ·  HOLD</a:t>
            </a:r>
          </a:p>
        </p:txBody>
      </p:sp>
      <p:sp>
        <p:nvSpPr>
          <p:cNvPr id="31" name="Rectangle 30"/>
          <p:cNvSpPr/>
          <p:nvPr/>
        </p:nvSpPr>
        <p:spPr>
          <a:xfrm>
            <a:off x="5940000" y="2500200"/>
            <a:ext cx="180000" cy="10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2000" y="2456999"/>
            <a:ext cx="2556000" cy="180000"/>
          </a:xfrm>
          <a:prstGeom prst="rect">
            <a:avLst/>
          </a:prstGeom>
          <a:noFill/>
        </p:spPr>
        <p:txBody>
          <a:bodyPr wrap="square">
            <a:spAutoFit/>
          </a:bodyPr>
          <a:lstStyle/>
          <a:p>
            <a:pPr algn="l"/>
            <a:r>
              <a:rPr sz="750" b="1" i="0">
                <a:solidFill>
                  <a:srgbClr val="1B3A6B"/>
                </a:solidFill>
              </a:rPr>
              <a:t>PM  —  Philip Morris International </a:t>
            </a:r>
          </a:p>
        </p:txBody>
      </p:sp>
      <p:sp>
        <p:nvSpPr>
          <p:cNvPr id="33" name="TextBox 32"/>
          <p:cNvSpPr txBox="1"/>
          <p:nvPr/>
        </p:nvSpPr>
        <p:spPr>
          <a:xfrm>
            <a:off x="6192000" y="2636999"/>
            <a:ext cx="2556000" cy="162000"/>
          </a:xfrm>
          <a:prstGeom prst="rect">
            <a:avLst/>
          </a:prstGeom>
          <a:noFill/>
        </p:spPr>
        <p:txBody>
          <a:bodyPr wrap="square">
            <a:spAutoFit/>
          </a:bodyPr>
          <a:lstStyle/>
          <a:p>
            <a:pPr algn="l"/>
            <a:r>
              <a:rPr sz="700" b="0" i="0">
                <a:solidFill>
                  <a:srgbClr val="555555"/>
                </a:solidFill>
              </a:rPr>
              <a:t>Score 71/100  ·  BUY</a:t>
            </a:r>
          </a:p>
        </p:txBody>
      </p:sp>
      <p:sp>
        <p:nvSpPr>
          <p:cNvPr id="34" name="Rectangle 33"/>
          <p:cNvSpPr/>
          <p:nvPr/>
        </p:nvSpPr>
        <p:spPr>
          <a:xfrm>
            <a:off x="5940000" y="2830950"/>
            <a:ext cx="180000" cy="108000"/>
          </a:xfrm>
          <a:prstGeom prst="rect">
            <a:avLst/>
          </a:prstGeom>
          <a:solidFill>
            <a:srgbClr val="6B3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92000" y="2787750"/>
            <a:ext cx="2556000" cy="180000"/>
          </a:xfrm>
          <a:prstGeom prst="rect">
            <a:avLst/>
          </a:prstGeom>
          <a:noFill/>
        </p:spPr>
        <p:txBody>
          <a:bodyPr wrap="square">
            <a:spAutoFit/>
          </a:bodyPr>
          <a:lstStyle/>
          <a:p>
            <a:pPr algn="l"/>
            <a:r>
              <a:rPr sz="750" b="1" i="0">
                <a:solidFill>
                  <a:srgbClr val="1B3A6B"/>
                </a:solidFill>
              </a:rPr>
              <a:t>PEP  —  PepsiCo, Inc.</a:t>
            </a:r>
          </a:p>
        </p:txBody>
      </p:sp>
      <p:sp>
        <p:nvSpPr>
          <p:cNvPr id="36" name="TextBox 35"/>
          <p:cNvSpPr txBox="1"/>
          <p:nvPr/>
        </p:nvSpPr>
        <p:spPr>
          <a:xfrm>
            <a:off x="6192000" y="2967750"/>
            <a:ext cx="2556000" cy="162000"/>
          </a:xfrm>
          <a:prstGeom prst="rect">
            <a:avLst/>
          </a:prstGeom>
          <a:noFill/>
        </p:spPr>
        <p:txBody>
          <a:bodyPr wrap="square">
            <a:spAutoFit/>
          </a:bodyPr>
          <a:lstStyle/>
          <a:p>
            <a:pPr algn="l"/>
            <a:r>
              <a:rPr sz="700" b="0" i="0">
                <a:solidFill>
                  <a:srgbClr val="555555"/>
                </a:solidFill>
              </a:rPr>
              <a:t>Score 59/100  ·  HOLD</a:t>
            </a:r>
          </a:p>
        </p:txBody>
      </p:sp>
      <p:sp>
        <p:nvSpPr>
          <p:cNvPr id="37" name="Rectangle 36"/>
          <p:cNvSpPr/>
          <p:nvPr/>
        </p:nvSpPr>
        <p:spPr>
          <a:xfrm>
            <a:off x="5940000" y="3161699"/>
            <a:ext cx="180000" cy="108000"/>
          </a:xfrm>
          <a:prstGeom prst="rect">
            <a:avLst/>
          </a:prstGeom>
          <a:solidFill>
            <a:srgbClr val="3A6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92000" y="3118500"/>
            <a:ext cx="2556000" cy="180000"/>
          </a:xfrm>
          <a:prstGeom prst="rect">
            <a:avLst/>
          </a:prstGeom>
          <a:noFill/>
        </p:spPr>
        <p:txBody>
          <a:bodyPr wrap="square">
            <a:spAutoFit/>
          </a:bodyPr>
          <a:lstStyle/>
          <a:p>
            <a:pPr algn="l"/>
            <a:r>
              <a:rPr sz="750" b="1" i="0">
                <a:solidFill>
                  <a:srgbClr val="1B3A6B"/>
                </a:solidFill>
              </a:rPr>
              <a:t>MDLZ  —  Mondelez International, Inc.</a:t>
            </a:r>
          </a:p>
        </p:txBody>
      </p:sp>
      <p:sp>
        <p:nvSpPr>
          <p:cNvPr id="39" name="TextBox 38"/>
          <p:cNvSpPr txBox="1"/>
          <p:nvPr/>
        </p:nvSpPr>
        <p:spPr>
          <a:xfrm>
            <a:off x="6192000" y="3298500"/>
            <a:ext cx="2556000" cy="162000"/>
          </a:xfrm>
          <a:prstGeom prst="rect">
            <a:avLst/>
          </a:prstGeom>
          <a:noFill/>
        </p:spPr>
        <p:txBody>
          <a:bodyPr wrap="square">
            <a:spAutoFit/>
          </a:bodyPr>
          <a:lstStyle/>
          <a:p>
            <a:pPr algn="l"/>
            <a:r>
              <a:rPr sz="700" b="0" i="0">
                <a:solidFill>
                  <a:srgbClr val="555555"/>
                </a:solidFill>
              </a:rPr>
              <a:t>Score 56/100  ·  HOLD</a:t>
            </a:r>
          </a:p>
        </p:txBody>
      </p:sp>
      <p:sp>
        <p:nvSpPr>
          <p:cNvPr id="40" name="Rectangle 39"/>
          <p:cNvSpPr/>
          <p:nvPr/>
        </p:nvSpPr>
        <p:spPr>
          <a:xfrm>
            <a:off x="5940000" y="3492449"/>
            <a:ext cx="180000" cy="108000"/>
          </a:xfrm>
          <a:prstGeom prst="rect">
            <a:avLst/>
          </a:prstGeom>
          <a:solidFill>
            <a:srgbClr val="6B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92000" y="3449249"/>
            <a:ext cx="2556000" cy="180000"/>
          </a:xfrm>
          <a:prstGeom prst="rect">
            <a:avLst/>
          </a:prstGeom>
          <a:noFill/>
        </p:spPr>
        <p:txBody>
          <a:bodyPr wrap="square">
            <a:spAutoFit/>
          </a:bodyPr>
          <a:lstStyle/>
          <a:p>
            <a:pPr algn="l"/>
            <a:r>
              <a:rPr sz="750" b="1" i="0">
                <a:solidFill>
                  <a:srgbClr val="1B3A6B"/>
                </a:solidFill>
              </a:rPr>
              <a:t>GIS  —  General Mills, Inc.</a:t>
            </a:r>
          </a:p>
        </p:txBody>
      </p:sp>
      <p:sp>
        <p:nvSpPr>
          <p:cNvPr id="42" name="TextBox 41"/>
          <p:cNvSpPr txBox="1"/>
          <p:nvPr/>
        </p:nvSpPr>
        <p:spPr>
          <a:xfrm>
            <a:off x="6192000" y="3629249"/>
            <a:ext cx="2556000" cy="162000"/>
          </a:xfrm>
          <a:prstGeom prst="rect">
            <a:avLst/>
          </a:prstGeom>
          <a:noFill/>
        </p:spPr>
        <p:txBody>
          <a:bodyPr wrap="square">
            <a:spAutoFit/>
          </a:bodyPr>
          <a:lstStyle/>
          <a:p>
            <a:pPr algn="l"/>
            <a:r>
              <a:rPr sz="700" b="0" i="0">
                <a:solidFill>
                  <a:srgbClr val="555555"/>
                </a:solidFill>
              </a:rPr>
              <a:t>Score 50/100  ·  HOLD</a:t>
            </a:r>
          </a:p>
        </p:txBody>
      </p:sp>
      <p:sp>
        <p:nvSpPr>
          <p:cNvPr id="43" name="Rectangle 42"/>
          <p:cNvSpPr/>
          <p:nvPr/>
        </p:nvSpPr>
        <p:spPr>
          <a:xfrm>
            <a:off x="5903999" y="3780000"/>
            <a:ext cx="2916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76000" y="3816000"/>
            <a:ext cx="2808000" cy="180000"/>
          </a:xfrm>
          <a:prstGeom prst="rect">
            <a:avLst/>
          </a:prstGeom>
          <a:noFill/>
        </p:spPr>
        <p:txBody>
          <a:bodyPr wrap="square">
            <a:spAutoFit/>
          </a:bodyPr>
          <a:lstStyle/>
          <a:p>
            <a:pPr algn="l"/>
            <a:r>
              <a:rPr sz="750" b="1" i="0">
                <a:solidFill>
                  <a:srgbClr val="1B3A6B"/>
                </a:solidFill>
              </a:rPr>
              <a:t>LECTURE ANALYTIQUE</a:t>
            </a:r>
          </a:p>
        </p:txBody>
      </p:sp>
      <p:sp>
        <p:nvSpPr>
          <p:cNvPr id="45" name="TextBox 44"/>
          <p:cNvSpPr txBox="1"/>
          <p:nvPr/>
        </p:nvSpPr>
        <p:spPr>
          <a:xfrm>
            <a:off x="5976000" y="4014000"/>
            <a:ext cx="2808000" cy="612000"/>
          </a:xfrm>
          <a:prstGeom prst="rect">
            <a:avLst/>
          </a:prstGeom>
          <a:noFill/>
        </p:spPr>
        <p:txBody>
          <a:bodyPr wrap="square">
            <a:spAutoFit/>
          </a:bodyPr>
          <a:lstStyle/>
          <a:p>
            <a:pPr algn="l"/>
            <a:r>
              <a:rPr sz="700" b="0" i="0">
                <a:solidFill>
                  <a:srgbClr val="555555"/>
                </a:solidFill>
              </a:rPr>
              <a:t>Sur 52 semaines, WMT affiche la meilleure performance (+36%) tandis que GIS est en retard (-36%). La dispersion des trajectoires illustre la bifurcation sectorielle. Le momentum 52W est integre dans le score FinSight comme signal de confirmation.</a:t>
            </a:r>
          </a:p>
        </p:txBody>
      </p:sp>
      <p:sp>
        <p:nvSpPr>
          <p:cNvPr id="46" name="Rectangle 4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