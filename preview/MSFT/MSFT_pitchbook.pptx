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457200" y="2617297"/>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617297"/>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635297"/>
            <a:ext cx="8063999" cy="439200"/>
          </a:xfrm>
          <a:prstGeom prst="rect">
            <a:avLst/>
          </a:prstGeom>
          <a:noFill/>
        </p:spPr>
        <p:txBody>
          <a:bodyPr wrap="square">
            <a:spAutoFit/>
          </a:bodyPr>
          <a:lstStyle/>
          <a:p>
            <a:pPr algn="ctr"/>
            <a:r>
              <a:rPr sz="900" b="1" i="0">
                <a:solidFill>
                  <a:srgbClr val="1A7A4A"/>
                </a:solidFill>
                <a:latin typeface="Calibri"/>
              </a:rPr>
              <a:t>● BUY  ·  Prix cible base : 385 $  ·  Upside : +7,9 %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385 $  ·  Upside : +7,9 %  ·  Bear : 340 $ (-4,7 %)  ·  Bull : 420 $ (+17,7 %)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cloud</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Croissance du CA cloud accélérée à 25% YoY grâce à l'adoption de l'IA générative dans Azure</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Effets réseau</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Marges EBITDA en hausse à 58% avec effet de levier opérationnel sur les coûts fixes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Marges durables</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Génération de cash libre de 70Mds$ en 2025, renforçant la capacité d'investissement et les rachats d'actions</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antitrust sur les pratiques cloud en UE/US | Amendes potentielles de 10-15Mds$ | Horizon 12-18 mois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sur l'IA avec Google Cloud et AWS | Perte de parts de marché de 5-8% | Horizon 2026-2027</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Dépendance cloud</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réduisant les dépenses IT des entreprises | Baisse des revenus cloud de 10% | Horizon 2025-2026</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16,6x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15,8x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385 $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+7,9 %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+0,082</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IA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domine les logiciels d'entreprise et le cloud avec Azure, Office 365 et Dynamics 365. Son écosystème intégré (Windows, LinkedIn, GitHub) crée des effets de réseau puissants et une fidélisation client élevée. L'IA générative et les solutions hybrides renforcent son avantage concurrentiel face à AWS et Google Cloud.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Productivity and Business Processes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Ce segment génère 30% des revenus via Office 365, LinkedIn et Dynamics 365. Les abonnements récurrents assurent une visibilité à long terme avec une croissance annuelle de 12-15%. Les entreprises adoptent massivement les outils collaboratifs et CRM cloud, boostant les marges à 45%. La monétisation des données LinkedIn et l'automatisation des processus métiers sont des leviers clés.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Intelligent Cloud</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leader avec 40% des revenus, porté par Azure et les services cloud. La croissance YoY de 25% est tirée par l'IA, le stockage et les solutions hybrides. Les marges EBITDA de 58% reflètent l'effet d'échelle et la faible intensité capitalistique. Les contrats multi-annuels avec les entreprises assurent une récurrence forte.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2 649,2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356,77 $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16,6x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26,0x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30%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Productivity and Business Processes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Ce segment génère 30% des revenus via Office 365, LinkedIn et Dynamics 365. Les abonnements récurrents assurent une visibilité à long terme avec une croissance annuelle de 12-15%. Les entreprises adoptent massivement les outils collaboratifs et CRM cloud, boostant les marges à 45%. La monétisation des données LinkedIn et l'automatisation des processus métiers sont des leviers clés.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40%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Intelligent Cloud</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leader avec 40% des revenus, porté par Azure et les services cloud. La croissance YoY de 25% est tirée par l'IA, le stockage et les solutions hybrides. Les marges EBITDA de 58% reflètent l'effet d'échelle et la faible intensité capitalistique. Les contrats multi-annuels avec les entreprises assurent une récurrence forte.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c>
                  <a:txBody>
                    <a:bodyPr/>
                    <a:lstStyle/>
                    <a:p>
                      <a:pPr algn="ctr"/>
                      <a:r>
                        <a:rPr sz="800" b="1" i="0">
                          <a:solidFill>
                            <a:srgbClr val="0D0D0D"/>
                          </a:solidFill>
                          <a:latin typeface="Calibri"/>
                        </a:rPr>
                        <a:t>320,0</a:t>
                      </a:r>
                    </a:p>
                  </a:txBody>
                  <a:tcPr>
                    <a:solidFill>
                      <a:srgbClr val="FFFFFF"/>
                    </a:solidFill>
                  </a:tcPr>
                </a:tc>
                <a:tc>
                  <a:txBody>
                    <a:bodyPr/>
                    <a:lstStyle/>
                    <a:p>
                      <a:pPr algn="ctr"/>
                      <a:r>
                        <a:rPr sz="800" b="1" i="0">
                          <a:solidFill>
                            <a:srgbClr val="0D0D0D"/>
                          </a:solidFill>
                          <a:latin typeface="Calibri"/>
                        </a:rPr>
                        <a:t>360,0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c>
                  <a:txBody>
                    <a:bodyPr/>
                    <a:lstStyle/>
                    <a:p>
                      <a:pPr algn="ctr"/>
                      <a:r>
                        <a:rPr sz="750" b="0" i="1">
                          <a:solidFill>
                            <a:srgbClr val="555555"/>
                          </a:solidFill>
                          <a:latin typeface="Calibri"/>
                        </a:rPr>
                        <a:t>+13,6 %</a:t>
                      </a:r>
                    </a:p>
                  </a:txBody>
                  <a:tcPr>
                    <a:solidFill>
                      <a:srgbClr val="F7F8FA"/>
                    </a:solidFill>
                  </a:tcPr>
                </a:tc>
                <a:tc>
                  <a:txBody>
                    <a:bodyPr/>
                    <a:lstStyle/>
                    <a:p>
                      <a:pPr algn="ctr"/>
                      <a:r>
                        <a:rPr sz="750" b="0" i="1">
                          <a:solidFill>
                            <a:srgbClr val="555555"/>
                          </a:solidFill>
                          <a:latin typeface="Calibri"/>
                        </a:rPr>
                        <a:t>+12,5 %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c>
                  <a:txBody>
                    <a:bodyPr/>
                    <a:lstStyle/>
                    <a:p>
                      <a:pPr algn="ctr"/>
                      <a:r>
                        <a:rPr sz="800" b="1" i="0">
                          <a:solidFill>
                            <a:srgbClr val="0D0D0D"/>
                          </a:solidFill>
                          <a:latin typeface="Calibri"/>
                        </a:rPr>
                        <a:t>220,8</a:t>
                      </a:r>
                    </a:p>
                  </a:txBody>
                  <a:tcPr>
                    <a:solidFill>
                      <a:srgbClr val="FFFFFF"/>
                    </a:solidFill>
                  </a:tcPr>
                </a:tc>
                <a:tc>
                  <a:txBody>
                    <a:bodyPr/>
                    <a:lstStyle/>
                    <a:p>
                      <a:pPr algn="ctr"/>
                      <a:r>
                        <a:rPr sz="800" b="1" i="0">
                          <a:solidFill>
                            <a:srgbClr val="0D0D0D"/>
                          </a:solidFill>
                          <a:latin typeface="Calibri"/>
                        </a:rPr>
                        <a:t>250,2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c>
                  <a:txBody>
                    <a:bodyPr/>
                    <a:lstStyle/>
                    <a:p>
                      <a:pPr algn="ctr"/>
                      <a:r>
                        <a:rPr sz="750" b="0" i="1">
                          <a:solidFill>
                            <a:srgbClr val="555555"/>
                          </a:solidFill>
                          <a:latin typeface="Calibri"/>
                        </a:rPr>
                        <a:t>69,0 %</a:t>
                      </a:r>
                    </a:p>
                  </a:txBody>
                  <a:tcPr>
                    <a:solidFill>
                      <a:srgbClr val="F7F8FA"/>
                    </a:solidFill>
                  </a:tcPr>
                </a:tc>
                <a:tc>
                  <a:txBody>
                    <a:bodyPr/>
                    <a:lstStyle/>
                    <a:p>
                      <a:pPr algn="ctr"/>
                      <a:r>
                        <a:rPr sz="750" b="0" i="1">
                          <a:solidFill>
                            <a:srgbClr val="555555"/>
                          </a:solidFill>
                          <a:latin typeface="Calibri"/>
                        </a:rPr>
                        <a:t>69,5 %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c>
                  <a:txBody>
                    <a:bodyPr/>
                    <a:lstStyle/>
                    <a:p>
                      <a:pPr algn="ctr"/>
                      <a:r>
                        <a:rPr sz="800" b="1" i="0">
                          <a:solidFill>
                            <a:srgbClr val="0D0D0D"/>
                          </a:solidFill>
                          <a:latin typeface="Calibri"/>
                        </a:rPr>
                        <a:t>185,0</a:t>
                      </a:r>
                    </a:p>
                  </a:txBody>
                  <a:tcPr>
                    <a:solidFill>
                      <a:srgbClr val="FFFFFF"/>
                    </a:solidFill>
                  </a:tcPr>
                </a:tc>
                <a:tc>
                  <a:txBody>
                    <a:bodyPr/>
                    <a:lstStyle/>
                    <a:p>
                      <a:pPr algn="ctr"/>
                      <a:r>
                        <a:rPr sz="800" b="1" i="0">
                          <a:solidFill>
                            <a:srgbClr val="0D0D0D"/>
                          </a:solidFill>
                          <a:latin typeface="Calibri"/>
                        </a:rPr>
                        <a:t>210,0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c>
                  <a:txBody>
                    <a:bodyPr/>
                    <a:lstStyle/>
                    <a:p>
                      <a:pPr algn="ctr"/>
                      <a:r>
                        <a:rPr sz="750" b="0" i="1">
                          <a:solidFill>
                            <a:srgbClr val="555555"/>
                          </a:solidFill>
                          <a:latin typeface="Calibri"/>
                        </a:rPr>
                        <a:t>57,8 %</a:t>
                      </a:r>
                    </a:p>
                  </a:txBody>
                  <a:tcPr>
                    <a:solidFill>
                      <a:srgbClr val="F7F8FA"/>
                    </a:solidFill>
                  </a:tcPr>
                </a:tc>
                <a:tc>
                  <a:txBody>
                    <a:bodyPr/>
                    <a:lstStyle/>
                    <a:p>
                      <a:pPr algn="ctr"/>
                      <a:r>
                        <a:rPr sz="750" b="0" i="1">
                          <a:solidFill>
                            <a:srgbClr val="555555"/>
                          </a:solidFill>
                          <a:latin typeface="Calibri"/>
                        </a:rPr>
                        <a:t>58,3 %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c>
                  <a:txBody>
                    <a:bodyPr/>
                    <a:lstStyle/>
                    <a:p>
                      <a:pPr algn="ctr"/>
                      <a:r>
                        <a:rPr sz="750" b="0" i="1">
                          <a:solidFill>
                            <a:srgbClr val="555555"/>
                          </a:solidFill>
                          <a:latin typeface="Calibri"/>
                        </a:rPr>
                        <a:t>35,9 %</a:t>
                      </a:r>
                    </a:p>
                  </a:txBody>
                  <a:tcPr>
                    <a:solidFill>
                      <a:srgbClr val="F7F8FA"/>
                    </a:solidFill>
                  </a:tcPr>
                </a:tc>
                <a:tc>
                  <a:txBody>
                    <a:bodyPr/>
                    <a:lstStyle/>
                    <a:p>
                      <a:pPr algn="ctr"/>
                      <a:r>
                        <a:rPr sz="750" b="0" i="1">
                          <a:solidFill>
                            <a:srgbClr val="555555"/>
                          </a:solidFill>
                          <a:latin typeface="Calibri"/>
                        </a:rPr>
                        <a:t>36,1 %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du CA de 14.9% en 2025 portée par le cloud (+25%) et les abonnements récurrents (+12%). Les marges nettes stables à 36% reflètent une discipline opérationnelle et un mix produit favorable. La génération de cash libre de 70Mds$ et un ROIC de 30% soulignent la solidité financière et la capacité à réinvestir dans l'innovation.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7,56</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du CA de 14.9% en 2025 portée par le cloud (+25%) et les abonnements récurrents (+12%). Les marges nettes stables à 36% reflètent une discipline opérationnelle et un mix produit favorable. La génération de cash libre de 70Mds$ et un ROIC de 30% soulignent la solidité financière et la capacité à réinvestir dans l'innovation.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16,6x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7,56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progressent de 68.4% en 2022 à 68.8% en 2025, avec un pic à 69.8% en 2024. Cette stabilité résulte d'un mix produit favorable (cloud à haute marge) et d'une optimisation des coûts fixes. La durabilité des marges à 68%+ est soutenue par le pricing power et l'effet d'échelle, limitant les risques de compression.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385 $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356,77 $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340 $</a:t>
                      </a:r>
                    </a:p>
                  </a:txBody>
                  <a:tcPr>
                    <a:solidFill>
                      <a:srgbClr val="FAF0EF"/>
                    </a:solidFill>
                  </a:tcPr>
                </a:tc>
                <a:tc>
                  <a:txBody>
                    <a:bodyPr/>
                    <a:lstStyle/>
                    <a:p>
                      <a:pPr algn="ctr"/>
                      <a:r>
                        <a:rPr sz="2000" b="1" i="0">
                          <a:solidFill>
                            <a:srgbClr val="2E5FA3"/>
                          </a:solidFill>
                          <a:latin typeface="Calibri"/>
                        </a:rPr>
                        <a:t>385 $</a:t>
                      </a:r>
                    </a:p>
                  </a:txBody>
                  <a:tcPr>
                    <a:solidFill>
                      <a:srgbClr val="EEF3FA"/>
                    </a:solidFill>
                  </a:tcPr>
                </a:tc>
                <a:tc>
                  <a:txBody>
                    <a:bodyPr/>
                    <a:lstStyle/>
                    <a:p>
                      <a:pPr algn="ctr"/>
                      <a:r>
                        <a:rPr sz="2000" b="1" i="0">
                          <a:solidFill>
                            <a:srgbClr val="1A7A4A"/>
                          </a:solidFill>
                          <a:latin typeface="Calibri"/>
                        </a:rPr>
                        <a:t>420 $</a:t>
                      </a:r>
                    </a:p>
                  </a:txBody>
                  <a:tcPr>
                    <a:solidFill>
                      <a:srgbClr val="EAF4EF"/>
                    </a:solidFill>
                  </a:tcPr>
                </a:tc>
              </a:tr>
              <a:tr h="342900">
                <a:tc>
                  <a:txBody>
                    <a:bodyPr/>
                    <a:lstStyle/>
                    <a:p>
                      <a:pPr algn="ctr"/>
                      <a:r>
                        <a:rPr sz="1200" b="1" i="0">
                          <a:solidFill>
                            <a:srgbClr val="A82020"/>
                          </a:solidFill>
                          <a:latin typeface="Calibri"/>
                        </a:rPr>
                        <a:t>-4,7 %</a:t>
                      </a:r>
                    </a:p>
                  </a:txBody>
                  <a:tcPr>
                    <a:solidFill>
                      <a:srgbClr val="FAF0EF"/>
                    </a:solidFill>
                  </a:tcPr>
                </a:tc>
                <a:tc>
                  <a:txBody>
                    <a:bodyPr/>
                    <a:lstStyle/>
                    <a:p>
                      <a:pPr algn="ctr"/>
                      <a:r>
                        <a:rPr sz="1200" b="1" i="0">
                          <a:solidFill>
                            <a:srgbClr val="2E5FA3"/>
                          </a:solidFill>
                          <a:latin typeface="Calibri"/>
                        </a:rPr>
                        <a:t>+7,9 %</a:t>
                      </a:r>
                    </a:p>
                  </a:txBody>
                  <a:tcPr>
                    <a:solidFill>
                      <a:srgbClr val="EEF3FA"/>
                    </a:solidFill>
                  </a:tcPr>
                </a:tc>
                <a:tc>
                  <a:txBody>
                    <a:bodyPr/>
                    <a:lstStyle/>
                    <a:p>
                      <a:pPr algn="ctr"/>
                      <a:r>
                        <a:rPr sz="1200" b="1" i="0">
                          <a:solidFill>
                            <a:srgbClr val="1A7A4A"/>
                          </a:solidFill>
                          <a:latin typeface="Calibri"/>
                        </a:rPr>
                        <a:t>+17,7 %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385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10.4% et une TGR de 3.0%, le prix implicite DCF est de 395$ (base), soit un upside de 11% vs le cours actuel. L'upside reflète une sous-valorisation structurelle liée à la croissance durable du cloud et à la génération de cash exceptionnelle.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2 649,2</a:t>
                      </a:r>
                    </a:p>
                  </a:txBody>
                  <a:tcPr>
                    <a:solidFill>
                      <a:srgbClr val="DDE8F5"/>
                    </a:solidFill>
                  </a:tcPr>
                </a:tc>
                <a:tc>
                  <a:txBody>
                    <a:bodyPr/>
                    <a:lstStyle/>
                    <a:p>
                      <a:pPr algn="ctr"/>
                      <a:r>
                        <a:rPr sz="800" b="1" i="0">
                          <a:solidFill>
                            <a:srgbClr val="1B3A6B"/>
                          </a:solidFill>
                          <a:latin typeface="Calibri"/>
                        </a:rPr>
                        <a:t>16,6x</a:t>
                      </a:r>
                    </a:p>
                  </a:txBody>
                  <a:tcPr>
                    <a:solidFill>
                      <a:srgbClr val="DDE8F5"/>
                    </a:solidFill>
                  </a:tcPr>
                </a:tc>
                <a:tc>
                  <a:txBody>
                    <a:bodyPr/>
                    <a:lstStyle/>
                    <a:p>
                      <a:pPr algn="ctr"/>
                      <a:r>
                        <a:rPr sz="800" b="1" i="0">
                          <a:solidFill>
                            <a:srgbClr val="1B3A6B"/>
                          </a:solidFill>
                          <a:latin typeface="Calibri"/>
                        </a:rPr>
                        <a:t>9,4x</a:t>
                      </a:r>
                    </a:p>
                  </a:txBody>
                  <a:tcPr>
                    <a:solidFill>
                      <a:srgbClr val="DDE8F5"/>
                    </a:solidFill>
                  </a:tcPr>
                </a:tc>
                <a:tc>
                  <a:txBody>
                    <a:bodyPr/>
                    <a:lstStyle/>
                    <a:p>
                      <a:pPr algn="ctr"/>
                      <a:r>
                        <a:rPr sz="800" b="1" i="0">
                          <a:solidFill>
                            <a:srgbClr val="1B3A6B"/>
                          </a:solidFill>
                          <a:latin typeface="Calibri"/>
                        </a:rPr>
                        <a:t>26,0x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51999">
                <a:tc>
                  <a:txBody>
                    <a:bodyPr/>
                    <a:lstStyle/>
                    <a:p>
                      <a:pPr algn="l"/>
                      <a:r>
                        <a:rPr sz="800" b="0" i="0">
                          <a:solidFill>
                            <a:srgbClr val="0D0D0D"/>
                          </a:solidFill>
                          <a:latin typeface="Calibri"/>
                        </a:rPr>
                        <a:t>Amazon Web Services</a:t>
                      </a:r>
                    </a:p>
                  </a:txBody>
                  <a:tcPr>
                    <a:solidFill>
                      <a:srgbClr val="FFFFFF"/>
                    </a:solidFill>
                  </a:tcPr>
                </a:tc>
                <a:tc>
                  <a:txBody>
                    <a:bodyPr/>
                    <a:lstStyle/>
                    <a:p>
                      <a:pPr algn="ctr"/>
                      <a:r>
                        <a:rPr sz="750" b="0" i="0">
                          <a:solidFill>
                            <a:srgbClr val="555555"/>
                          </a:solidFill>
                          <a:latin typeface="Calibri"/>
                        </a:rPr>
                        <a:t>AMZN</a:t>
                      </a:r>
                    </a:p>
                  </a:txBody>
                  <a:tcPr>
                    <a:solidFill>
                      <a:srgbClr val="FFFFFF"/>
                    </a:solidFill>
                  </a:tcPr>
                </a:tc>
                <a:tc>
                  <a:txBody>
                    <a:bodyPr/>
                    <a:lstStyle/>
                    <a:p>
                      <a:pPr algn="ctr"/>
                      <a:r>
                        <a:rPr sz="800" b="0" i="0">
                          <a:solidFill>
                            <a:srgbClr val="0D0D0D"/>
                          </a:solidFill>
                          <a:latin typeface="Calibri"/>
                        </a:rPr>
                        <a:t>1 850,0</a:t>
                      </a:r>
                    </a:p>
                  </a:txBody>
                  <a:tcPr>
                    <a:solidFill>
                      <a:srgbClr val="FFFFFF"/>
                    </a:solidFill>
                  </a:tcPr>
                </a:tc>
                <a:tc>
                  <a:txBody>
                    <a:bodyPr/>
                    <a:lstStyle/>
                    <a:p>
                      <a:pPr algn="ctr"/>
                      <a:r>
                        <a:rPr sz="800" b="0" i="0">
                          <a:solidFill>
                            <a:srgbClr val="0D0D0D"/>
                          </a:solidFill>
                          <a:latin typeface="Calibri"/>
                        </a:rPr>
                        <a:t>15,8x</a:t>
                      </a:r>
                    </a:p>
                  </a:txBody>
                  <a:tcPr>
                    <a:solidFill>
                      <a:srgbClr val="FFFFFF"/>
                    </a:solidFill>
                  </a:tcPr>
                </a:tc>
                <a:tc>
                  <a:txBody>
                    <a:bodyPr/>
                    <a:lstStyle/>
                    <a:p>
                      <a:pPr algn="ctr"/>
                      <a:r>
                        <a:rPr sz="800" b="0" i="0">
                          <a:solidFill>
                            <a:srgbClr val="0D0D0D"/>
                          </a:solidFill>
                          <a:latin typeface="Calibri"/>
                        </a:rPr>
                        <a:t>3,2x</a:t>
                      </a:r>
                    </a:p>
                  </a:txBody>
                  <a:tcPr>
                    <a:solidFill>
                      <a:srgbClr val="FFFFFF"/>
                    </a:solidFill>
                  </a:tcPr>
                </a:tc>
                <a:tc>
                  <a:txBody>
                    <a:bodyPr/>
                    <a:lstStyle/>
                    <a:p>
                      <a:pPr algn="ctr"/>
                      <a:r>
                        <a:rPr sz="800" b="0" i="0">
                          <a:solidFill>
                            <a:srgbClr val="0D0D0D"/>
                          </a:solidFill>
                          <a:latin typeface="Calibri"/>
                        </a:rPr>
                        <a:t>60,0x</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c>
                  <a:txBody>
                    <a:bodyPr/>
                    <a:lstStyle/>
                    <a:p>
                      <a:pPr algn="ctr"/>
                      <a:r>
                        <a:rPr sz="800" b="0" i="0">
                          <a:solidFill>
                            <a:srgbClr val="0D0D0D"/>
                          </a:solidFill>
                          <a:latin typeface="Calibri"/>
                        </a:rPr>
                        <a:t>28,0 %</a:t>
                      </a:r>
                    </a:p>
                  </a:txBody>
                  <a:tcPr>
                    <a:solidFill>
                      <a:srgbClr val="FFFFFF"/>
                    </a:solidFill>
                  </a:tcPr>
                </a:tc>
              </a:tr>
              <a:tr h="251999">
                <a:tc>
                  <a:txBody>
                    <a:bodyPr/>
                    <a:lstStyle/>
                    <a:p>
                      <a:pPr algn="l"/>
                      <a:r>
                        <a:rPr sz="800" b="0" i="0">
                          <a:solidFill>
                            <a:srgbClr val="0D0D0D"/>
                          </a:solidFill>
                          <a:latin typeface="Calibri"/>
                        </a:rPr>
                        <a:t>Google Cloud</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1 750,0</a:t>
                      </a:r>
                    </a:p>
                  </a:txBody>
                  <a:tcPr>
                    <a:solidFill>
                      <a:srgbClr val="F7F8FA"/>
                    </a:solidFill>
                  </a:tcPr>
                </a:tc>
                <a:tc>
                  <a:txBody>
                    <a:bodyPr/>
                    <a:lstStyle/>
                    <a:p>
                      <a:pPr algn="ctr"/>
                      <a:r>
                        <a:rPr sz="800" b="0" i="0">
                          <a:solidFill>
                            <a:srgbClr val="0D0D0D"/>
                          </a:solidFill>
                          <a:latin typeface="Calibri"/>
                        </a:rPr>
                        <a:t>14,2x</a:t>
                      </a:r>
                    </a:p>
                  </a:txBody>
                  <a:tcPr>
                    <a:solidFill>
                      <a:srgbClr val="F7F8FA"/>
                    </a:solidFill>
                  </a:tcPr>
                </a:tc>
                <a:tc>
                  <a:txBody>
                    <a:bodyPr/>
                    <a:lstStyle/>
                    <a:p>
                      <a:pPr algn="ctr"/>
                      <a:r>
                        <a:rPr sz="800" b="0" i="0">
                          <a:solidFill>
                            <a:srgbClr val="0D0D0D"/>
                          </a:solidFill>
                          <a:latin typeface="Calibri"/>
                        </a:rPr>
                        <a:t>3,5x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c>
                  <a:txBody>
                    <a:bodyPr/>
                    <a:lstStyle/>
                    <a:p>
                      <a:pPr algn="ctr"/>
                      <a:r>
                        <a:rPr sz="800" b="0" i="0">
                          <a:solidFill>
                            <a:srgbClr val="0D0D0D"/>
                          </a:solidFill>
                          <a:latin typeface="Calibri"/>
                        </a:rPr>
                        <a:t>32,0 %</a:t>
                      </a:r>
                    </a:p>
                  </a:txBody>
                  <a:tcPr>
                    <a:solidFill>
                      <a:srgbClr val="F7F8FA"/>
                    </a:solidFill>
                  </a:tcPr>
                </a:tc>
              </a:tr>
              <a:tr h="251999">
                <a:tc>
                  <a:txBody>
                    <a:bodyPr/>
                    <a:lstStyle/>
                    <a:p>
                      <a:pPr algn="l"/>
                      <a:r>
                        <a:rPr sz="800" b="0" i="0">
                          <a:solidFill>
                            <a:srgbClr val="0D0D0D"/>
                          </a:solidFill>
                          <a:latin typeface="Calibri"/>
                        </a:rPr>
                        <a:t>Oracle</a:t>
                      </a:r>
                    </a:p>
                  </a:txBody>
                  <a:tcPr>
                    <a:solidFill>
                      <a:srgbClr val="FFFFFF"/>
                    </a:solidFill>
                  </a:tcPr>
                </a:tc>
                <a:tc>
                  <a:txBody>
                    <a:bodyPr/>
                    <a:lstStyle/>
                    <a:p>
                      <a:pPr algn="ctr"/>
                      <a:r>
                        <a:rPr sz="750" b="0" i="0">
                          <a:solidFill>
                            <a:srgbClr val="555555"/>
                          </a:solidFill>
                          <a:latin typeface="Calibri"/>
                        </a:rPr>
                        <a:t>ORCL</a:t>
                      </a:r>
                    </a:p>
                  </a:txBody>
                  <a:tcPr>
                    <a:solidFill>
                      <a:srgbClr val="FFFFFF"/>
                    </a:solidFill>
                  </a:tcPr>
                </a:tc>
                <a:tc>
                  <a:txBody>
                    <a:bodyPr/>
                    <a:lstStyle/>
                    <a:p>
                      <a:pPr algn="ctr"/>
                      <a:r>
                        <a:rPr sz="800" b="0" i="0">
                          <a:solidFill>
                            <a:srgbClr val="0D0D0D"/>
                          </a:solidFill>
                          <a:latin typeface="Calibri"/>
                        </a:rPr>
                        <a:t>320,0</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5,1x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78,0 %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1999">
                <a:tc>
                  <a:txBody>
                    <a:bodyPr/>
                    <a:lstStyle/>
                    <a:p>
                      <a:pPr algn="l"/>
                      <a:r>
                        <a:rPr sz="800" b="0" i="0">
                          <a:solidFill>
                            <a:srgbClr val="0D0D0D"/>
                          </a:solidFill>
                          <a:latin typeface="Calibri"/>
                        </a:rPr>
                        <a:t>Salesforce</a:t>
                      </a:r>
                    </a:p>
                  </a:txBody>
                  <a:tcPr>
                    <a:solidFill>
                      <a:srgbClr val="F7F8FA"/>
                    </a:solidFill>
                  </a:tcPr>
                </a:tc>
                <a:tc>
                  <a:txBody>
                    <a:bodyPr/>
                    <a:lstStyle/>
                    <a:p>
                      <a:pPr algn="ctr"/>
                      <a:r>
                        <a:rPr sz="750" b="0" i="0">
                          <a:solidFill>
                            <a:srgbClr val="555555"/>
                          </a:solidFill>
                          <a:latin typeface="Calibri"/>
                        </a:rPr>
                        <a:t>CRM</a:t>
                      </a:r>
                    </a:p>
                  </a:txBody>
                  <a:tcPr>
                    <a:solidFill>
                      <a:srgbClr val="F7F8FA"/>
                    </a:solidFill>
                  </a:tcPr>
                </a:tc>
                <a:tc>
                  <a:txBody>
                    <a:bodyPr/>
                    <a:lstStyle/>
                    <a:p>
                      <a:pPr algn="ctr"/>
                      <a:r>
                        <a:rPr sz="800" b="0" i="0">
                          <a:solidFill>
                            <a:srgbClr val="0D0D0D"/>
                          </a:solidFill>
                          <a:latin typeface="Calibri"/>
                        </a:rPr>
                        <a:t>280,0</a:t>
                      </a:r>
                    </a:p>
                  </a:txBody>
                  <a:tcPr>
                    <a:solidFill>
                      <a:srgbClr val="F7F8FA"/>
                    </a:solidFill>
                  </a:tcPr>
                </a:tc>
                <a:tc>
                  <a:txBody>
                    <a:bodyPr/>
                    <a:lstStyle/>
                    <a:p>
                      <a:pPr algn="ctr"/>
                      <a:r>
                        <a:rPr sz="800" b="0" i="0">
                          <a:solidFill>
                            <a:srgbClr val="0D0D0D"/>
                          </a:solidFill>
                          <a:latin typeface="Calibri"/>
                        </a:rPr>
                        <a:t>22,0x</a:t>
                      </a:r>
                    </a:p>
                  </a:txBody>
                  <a:tcPr>
                    <a:solidFill>
                      <a:srgbClr val="F7F8FA"/>
                    </a:solidFill>
                  </a:tcPr>
                </a:tc>
                <a:tc>
                  <a:txBody>
                    <a:bodyPr/>
                    <a:lstStyle/>
                    <a:p>
                      <a:pPr algn="ctr"/>
                      <a:r>
                        <a:rPr sz="800" b="0" i="0">
                          <a:solidFill>
                            <a:srgbClr val="0D0D0D"/>
                          </a:solidFill>
                          <a:latin typeface="Calibri"/>
                        </a:rPr>
                        <a:t>5,8x</a:t>
                      </a:r>
                    </a:p>
                  </a:txBody>
                  <a:tcPr>
                    <a:solidFill>
                      <a:srgbClr val="F7F8FA"/>
                    </a:solidFill>
                  </a:tcPr>
                </a:tc>
                <a:tc>
                  <a:txBody>
                    <a:bodyPr/>
                    <a:lstStyle/>
                    <a:p>
                      <a:pPr algn="ctr"/>
                      <a:r>
                        <a:rPr sz="800" b="0" i="0">
                          <a:solidFill>
                            <a:srgbClr val="0D0D0D"/>
                          </a:solidFill>
                          <a:latin typeface="Calibri"/>
                        </a:rPr>
                        <a:t>45,0x</a:t>
                      </a:r>
                    </a:p>
                  </a:txBody>
                  <a:tcPr>
                    <a:solidFill>
                      <a:srgbClr val="F7F8FA"/>
                    </a:solidFill>
                  </a:tcPr>
                </a:tc>
                <a:tc>
                  <a:txBody>
                    <a:bodyPr/>
                    <a:lstStyle/>
                    <a:p>
                      <a:pPr algn="ctr"/>
                      <a:r>
                        <a:rPr sz="800" b="0" i="0">
                          <a:solidFill>
                            <a:srgbClr val="0D0D0D"/>
                          </a:solidFill>
                          <a:latin typeface="Calibri"/>
                        </a:rPr>
                        <a:t>73,0 %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Adobe</a:t>
                      </a:r>
                    </a:p>
                  </a:txBody>
                  <a:tcPr>
                    <a:solidFill>
                      <a:srgbClr val="FFFFFF"/>
                    </a:solidFill>
                  </a:tcPr>
                </a:tc>
                <a:tc>
                  <a:txBody>
                    <a:bodyPr/>
                    <a:lstStyle/>
                    <a:p>
                      <a:pPr algn="ctr"/>
                      <a:r>
                        <a:rPr sz="750" b="0" i="0">
                          <a:solidFill>
                            <a:srgbClr val="555555"/>
                          </a:solidFill>
                          <a:latin typeface="Calibri"/>
                        </a:rPr>
                        <a:t>ADBE</a:t>
                      </a:r>
                    </a:p>
                  </a:txBody>
                  <a:tcPr>
                    <a:solidFill>
                      <a:srgbClr val="FFFFFF"/>
                    </a:solidFill>
                  </a:tcPr>
                </a:tc>
                <a:tc>
                  <a:txBody>
                    <a:bodyPr/>
                    <a:lstStyle/>
                    <a:p>
                      <a:pPr algn="ctr"/>
                      <a:r>
                        <a:rPr sz="800" b="0" i="0">
                          <a:solidFill>
                            <a:srgbClr val="0D0D0D"/>
                          </a:solidFill>
                          <a:latin typeface="Calibri"/>
                        </a:rPr>
                        <a:t>220,0</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38,0x</a:t>
                      </a:r>
                    </a:p>
                  </a:txBody>
                  <a:tcPr>
                    <a:solidFill>
                      <a:srgbClr val="FFFFFF"/>
                    </a:solidFill>
                  </a:tcPr>
                </a:tc>
                <a:tc>
                  <a:txBody>
                    <a:bodyPr/>
                    <a:lstStyle/>
                    <a:p>
                      <a:pPr algn="ctr"/>
                      <a:r>
                        <a:rPr sz="800" b="0" i="0">
                          <a:solidFill>
                            <a:srgbClr val="0D0D0D"/>
                          </a:solidFill>
                          <a:latin typeface="Calibri"/>
                        </a:rPr>
                        <a:t>85,0 %</a:t>
                      </a:r>
                    </a:p>
                  </a:txBody>
                  <a:tcPr>
                    <a:solidFill>
                      <a:srgbClr val="FFFFFF"/>
                    </a:solidFill>
                  </a:tcPr>
                </a:tc>
                <a:tc>
                  <a:txBody>
                    <a:bodyPr/>
                    <a:lstStyle/>
                    <a:p>
                      <a:pPr algn="ctr"/>
                      <a:r>
                        <a:rPr sz="800" b="0" i="0">
                          <a:solidFill>
                            <a:srgbClr val="0D0D0D"/>
                          </a:solidFill>
                          <a:latin typeface="Calibri"/>
                        </a:rPr>
                        <a:t>42,0 %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15,8x</a:t>
                      </a:r>
                    </a:p>
                  </a:txBody>
                  <a:tcPr>
                    <a:solidFill>
                      <a:srgbClr val="F7F8FA"/>
                    </a:solidFill>
                  </a:tcPr>
                </a:tc>
                <a:tc>
                  <a:txBody>
                    <a:bodyPr/>
                    <a:lstStyle/>
                    <a:p>
                      <a:pPr algn="ctr"/>
                      <a:r>
                        <a:rPr sz="800" b="1" i="0">
                          <a:solidFill>
                            <a:srgbClr val="0D0D0D"/>
                          </a:solidFill>
                          <a:latin typeface="Calibri"/>
                        </a:rPr>
                        <a:t>5,1x</a:t>
                      </a:r>
                    </a:p>
                  </a:txBody>
                  <a:tcPr>
                    <a:solidFill>
                      <a:srgbClr val="F7F8FA"/>
                    </a:solidFill>
                  </a:tcPr>
                </a:tc>
                <a:tc>
                  <a:txBody>
                    <a:bodyPr/>
                    <a:lstStyle/>
                    <a:p>
                      <a:pPr algn="ctr"/>
                      <a:r>
                        <a:rPr sz="800" b="1" i="0">
                          <a:solidFill>
                            <a:srgbClr val="0D0D0D"/>
                          </a:solidFill>
                          <a:latin typeface="Calibri"/>
                        </a:rPr>
                        <a:t>38,0x</a:t>
                      </a:r>
                    </a:p>
                  </a:txBody>
                  <a:tcPr>
                    <a:solidFill>
                      <a:srgbClr val="F7F8FA"/>
                    </a:solidFill>
                  </a:tcPr>
                </a:tc>
                <a:tc>
                  <a:txBody>
                    <a:bodyPr/>
                    <a:lstStyle/>
                    <a:p>
                      <a:pPr algn="ctr"/>
                      <a:r>
                        <a:rPr sz="800" b="1" i="0">
                          <a:solidFill>
                            <a:srgbClr val="0D0D0D"/>
                          </a:solidFill>
                          <a:latin typeface="Calibri"/>
                        </a:rPr>
                        <a:t>73,0 %</a:t>
                      </a:r>
                    </a:p>
                  </a:txBody>
                  <a:tcPr>
                    <a:solidFill>
                      <a:srgbClr val="F7F8FA"/>
                    </a:solidFill>
                  </a:tcPr>
                </a:tc>
                <a:tc>
                  <a:txBody>
                    <a:bodyPr/>
                    <a:lstStyle/>
                    <a:p>
                      <a:pPr algn="ctr"/>
                      <a:r>
                        <a:rPr sz="800" b="1" i="0">
                          <a:solidFill>
                            <a:srgbClr val="0D0D0D"/>
                          </a:solidFill>
                          <a:latin typeface="Calibri"/>
                        </a:rPr>
                        <a:t>32,0 %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Microsoft se traite à 16.6x EV/EBITDA vs 18.2x pour la médiane peers (AWS, Google Cloud, Oracle, Salesforce, Adobe). La prime de 10% est justifiée par une croissance supérieure (+25% vs +18% peers) et une qualité de revenus récurrents. Une convergence vers la médiane impliquerait un downside de 8%, peu probable compte tenu des fondamentaux.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10.4% et une TGR de 3.0%, le prix implicite DCF est de 395$ (base), soit un upside de 11% vs le cours actuel. L'upside reflète une sous-valorisation structurelle liée à la croissance durable du cloud et à la génération de cash exceptionnelle.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Marges en compression</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La marge nette de 36.1% repose sur des coûts de R&amp;D en hausse de 15% en 2024, absorbant 4.2 points de marge brute; une inversion de cette tendance réduirait le ROE sous 25% d'ici 2026. Le leadership cloud d'Azure est menacé par AWS qui maintient 34% de parts de marché avec des prix 18% inférieurs, érodant les volumes de MSFT. Les effets réseau de LinkedIn et GitHub s'affaiblissent avec une croissance utilisateurs stagnante à +2% en 2024, limitant les revenus récurrents.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Survalorisation critique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ratios de valorisation sont historiquement élevés : le P/E de 26.02x dépasse la moyenne décennale de 22.3x, avec un premium de 15% non justifié par la croissance future. L'EV/EBITDA de 16.62x est supérieur à celui des géants technologiques comme AAPL (14.2x) et GOOGL (15.8x), malgré une croissance des revenus inférieure de 3 points. Les investisseurs paient pour des marges qui pourraient se contracter sous la pression concurrentielle et réglementaire.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Dette latente explosive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La dette nette/EBITDA de 0.08x masque un endettement latent de 78 milliards de dollars en obligations à long terme, avec un coût moyen de 3.8% qui pourrait exploser si les taux remontent à 5%. Le ratio Altman Z de 7.56 est artificiellement gonflé par des actifs incorporels surévalués; une correction comptable réduirait ce score sous 4, signalant un risque de faillite. Les marges durables sont un mirage tant que la capex cloud dépasse 20 milliards par an sans retour sur…</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les dépenses IT des entreprises de 15%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sur l'IA cloud avec AWS et Google Cloud gagnant 10% de parts de marché</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Régulation antitrust en UE imposant des restrictions majeures sur les pratiques cloud</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+0,082</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50,4 %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+0,289</a:t>
                      </a:r>
                    </a:p>
                  </a:txBody>
                  <a:tcPr>
                    <a:solidFill>
                      <a:srgbClr val="EAF4EF"/>
                    </a:solidFill>
                  </a:tcPr>
                </a:tc>
                <a:tc>
                  <a:txBody>
                    <a:bodyPr/>
                    <a:lstStyle/>
                    <a:p>
                      <a:pPr algn="ctr"/>
                      <a:r>
                        <a:rPr sz="800" b="0" i="0">
                          <a:solidFill>
                            <a:srgbClr val="0D0D0D"/>
                          </a:solidFill>
                          <a:latin typeface="Calibri"/>
                        </a:rPr>
                        <a:t>Adoption massive de l'IA dans Azure avec +40% de contrats incluant des services IA en 2025 | Impact sur les revenus cloud et marges | Horizon 2026-2027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18</a:t>
                      </a:r>
                    </a:p>
                  </a:txBody>
                  <a:tcPr>
                    <a:solidFill>
                      <a:srgbClr val="FFFFFF"/>
                    </a:solidFill>
                  </a:tcPr>
                </a:tc>
                <a:tc>
                  <a:txBody>
                    <a:bodyPr/>
                    <a:lstStyle/>
                    <a:p>
                      <a:pPr algn="ctr"/>
                      <a:r>
                        <a:rPr sz="800" b="0" i="0">
                          <a:solidFill>
                            <a:srgbClr val="0D0D0D"/>
                          </a:solidFill>
                          <a:latin typeface="Calibri"/>
                        </a:rPr>
                        <a:t>+0,504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+0,207</a:t>
                      </a:r>
                    </a:p>
                  </a:txBody>
                  <a:tcPr>
                    <a:solidFill>
                      <a:srgbClr val="FAF0EF"/>
                    </a:solidFill>
                  </a:tcPr>
                </a:tc>
                <a:tc>
                  <a:txBody>
                    <a:bodyPr/>
                    <a:lstStyle/>
                    <a:p>
                      <a:pPr algn="ctr"/>
                      <a:r>
                        <a:rPr sz="800" b="0" i="0">
                          <a:solidFill>
                            <a:srgbClr val="0D0D0D"/>
                          </a:solidFill>
                          <a:latin typeface="Calibri"/>
                        </a:rPr>
                        <a:t>Régulation antitrust sur les pratiques cloud en UE/US | Amendes potentielles de 10-15Mds$ | Horizon 12-18 mois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Microsoft est perçu positivement cette semaine grâce à son initiative d'IA nationale renforçant son écosystème. Les annonces liées à l'IA et aux partenariats technologiques dominent le sentiment global, malgré quelques titres neutres ou négatifs marginaux.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106799"/>
            <a:ext cx="8413200" cy="1004400"/>
          </a:xfrm>
          <a:prstGeom prst="rect">
            <a:avLst/>
          </a:prstGeom>
          <a:noFill/>
        </p:spPr>
        <p:txBody>
          <a:bodyPr wrap="square">
            <a:spAutoFit/>
          </a:bodyPr>
          <a:lstStyle/>
          <a:p>
            <a:pPr algn="l"/>
            <a:r>
              <a:rPr sz="850" b="0" i="0">
                <a:solidFill>
                  <a:srgbClr val="555555"/>
                </a:solidFill>
                <a:latin typeface="Calibri"/>
              </a:rPr>
              <a:t>Microsoft se traite à 16.6x EV/EBITDA vs 18.2x pour la médiane des peers technologiques. La prime de 10% se justifie par la qualité des actifs et la croissance supérieure.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356,77 $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356,77 $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-9,0 %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528897"/>
            <a:ext cx="498636" cy="36630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2993199"/>
            <a:ext cx="498636" cy="90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2680736"/>
            <a:ext cx="498636" cy="121446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2604279"/>
            <a:ext cx="498636" cy="129092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504354"/>
            <a:ext cx="498636" cy="139084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05515"/>
            <a:ext cx="498636" cy="138968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718633"/>
            <a:ext cx="498636" cy="1176566"/>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780412"/>
            <a:ext cx="498636" cy="111478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3221658"/>
            <a:ext cx="498636" cy="67354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3532297"/>
            <a:ext cx="498636" cy="36290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823200"/>
            <a:ext cx="498636" cy="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356</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414</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473</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530</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Microsoft affiche une croissance robuste et des marges solides, soutenue par l'adoption massive de l'IA et du cloud. Le positionnement stratégique dans les infrastructures critiques et les logiciels d'entreprise renforce sa résilience. La valorisation reste attractive malgré une prime modérée aux 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