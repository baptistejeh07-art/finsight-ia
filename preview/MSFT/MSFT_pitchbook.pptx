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5600"/>
            <a:ext cx="82296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FinSight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8000" y="475200"/>
            <a:ext cx="1188000" cy="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7200"/>
            <a:ext cx="8229600" cy="29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  <a:latin typeface="Calibri"/>
              </a:rPr>
              <a:t>Pitchbook  —  Analyse d'investissement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1599"/>
            <a:ext cx="8229600" cy="69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3A6B"/>
                </a:solidFill>
                <a:latin typeface="Calibri"/>
              </a:rPr>
              <a:t>Microsoft Corporation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2897"/>
            <a:ext cx="82296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MSFT  ·  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17297"/>
            <a:ext cx="8229600" cy="475200"/>
          </a:xfrm>
          <a:prstGeom prst="rect">
            <a:avLst/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17297"/>
            <a:ext cx="46800" cy="475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2635297"/>
            <a:ext cx="8063999" cy="43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7A4A"/>
                </a:solidFill>
                <a:latin typeface="Calibri"/>
              </a:rPr>
              <a:t>● BUY  ·  Prix cible base : 420 $  ·  Upside : +13,5 %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7200" y="4464000"/>
            <a:ext cx="8413200" cy="108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200" y="4554000"/>
            <a:ext cx="41148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Rapport confidentiel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2000" y="4554000"/>
            <a:ext cx="41148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1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200" y="748800"/>
            <a:ext cx="8413200" cy="439200"/>
          </a:xfrm>
          <a:prstGeom prst="rect">
            <a:avLst/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7200" y="748800"/>
            <a:ext cx="46800" cy="439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766800"/>
            <a:ext cx="1098000" cy="4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A"/>
                </a:solidFill>
                <a:latin typeface="Calibri"/>
              </a:rPr>
              <a:t>● 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2000" y="766800"/>
            <a:ext cx="6948000" cy="4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6B"/>
                </a:solidFill>
                <a:latin typeface="Calibri"/>
              </a:rPr>
              <a:t>Prix cible base : 420 $  ·  Upside : +13,5 %  ·  Bear : 350 $ (-5,4 %)  ·  Bull : 460 $ (+24,3 %)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200" y="1353600"/>
            <a:ext cx="4161600" cy="255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200" y="1353600"/>
            <a:ext cx="41616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THÈSE D'INVESTISSEMENT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200" y="1663200"/>
            <a:ext cx="54000" cy="129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999" y="1645200"/>
            <a:ext cx="3931200" cy="18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Leadership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1814400"/>
            <a:ext cx="3931200" cy="32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Microsoft bénéficie d'une demande structurelle pour l'IA cloud avec Azure AI générant 12Md$ de revenus en 2025 (+110% YoY)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7200" y="2196000"/>
            <a:ext cx="54000" cy="129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2178000"/>
            <a:ext cx="3931200" cy="18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Effets réseau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999" y="2347200"/>
            <a:ext cx="3931200" cy="32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 marge nette de 36.1% est soutenue par un mix produit favorable (75% de revenus récurrents) et une discipline de coûts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200" y="2728800"/>
            <a:ext cx="54000" cy="129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999" y="2710800"/>
            <a:ext cx="3931200" cy="18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Marges durables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2880000"/>
            <a:ext cx="3931200" cy="32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Le rachat d'actions (40Md$ en 2025) et un FCF de 85Md$ soutiennent la création de valeur actionnariale.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8800" y="1353600"/>
            <a:ext cx="4068000" cy="255600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8800" y="1353600"/>
            <a:ext cx="4068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RISQUES PRINCIPAUX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8800" y="1663200"/>
            <a:ext cx="54000" cy="129600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5600" y="1645200"/>
            <a:ext cx="3794399" cy="18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Concurrence 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5600" y="1814400"/>
            <a:ext cx="3794399" cy="32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Régulation antitrust sur les pratiques cloud en UE/US avec amendes potentielles de 5-10Md$ d'ici 2027 | Concurrence accrue en IA cloud avec AWS et Google Cloud investissant 20Md$ chacun en 2026,…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8800" y="2196000"/>
            <a:ext cx="54000" cy="129600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5600" y="2178000"/>
            <a:ext cx="3794399" cy="18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Régulation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5600" y="2347200"/>
            <a:ext cx="3794399" cy="32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Dépendance aux dépenses IT des entreprises avec élasticité de -0.8x en cas de récession, risque de baisse des revenus cloud de 10% | Coûts élevés de R&amp;D IA (12Md$ en 2025) avec ROI incertain à court…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8800" y="2728800"/>
            <a:ext cx="54000" cy="129600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5600" y="2710800"/>
            <a:ext cx="3794399" cy="18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Dépendance macro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5600" y="2880000"/>
            <a:ext cx="3794399" cy="32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Cybersécurité : risque de faille majeure (ex: SolarWinds 2.0) avec coûts de remédiation de 2-3Md$ et perte de clients entreprise | Transition vers l'IA générative : risque de cannibalisation des…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5200" y="1353600"/>
            <a:ext cx="10800" cy="17424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7200" y="3301200"/>
            <a:ext cx="8413200" cy="108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7200" y="3376800"/>
            <a:ext cx="2030400" cy="806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7200" y="3376800"/>
            <a:ext cx="46800" cy="806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430800"/>
            <a:ext cx="189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17,2x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826800"/>
            <a:ext cx="189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EV/EBITDA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24800"/>
            <a:ext cx="18936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vs 18,0x médiane peers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600" y="3376800"/>
            <a:ext cx="2030400" cy="806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87600" y="3376800"/>
            <a:ext cx="46800" cy="806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77600" y="3430800"/>
            <a:ext cx="189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10,3 %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77600" y="3826800"/>
            <a:ext cx="189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WACC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77600" y="4024800"/>
            <a:ext cx="18936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Beta 1,11  ·  RFR 4,3 %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08000" y="3376800"/>
            <a:ext cx="2030400" cy="806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08000" y="3376800"/>
            <a:ext cx="46800" cy="806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98000" y="3430800"/>
            <a:ext cx="189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420 $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98000" y="3826800"/>
            <a:ext cx="189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Valeur intrinsèque DCF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98000" y="4024800"/>
            <a:ext cx="18936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Upside de +13,5 % vs cours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8400" y="3376800"/>
            <a:ext cx="2030400" cy="806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28400" y="3376800"/>
            <a:ext cx="46800" cy="806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18400" y="3430800"/>
            <a:ext cx="189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+0,131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8400" y="3826800"/>
            <a:ext cx="189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Sentiment FinBERT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8400" y="4024800"/>
            <a:ext cx="18936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Neutre +  ·  30 articles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200" y="896400"/>
            <a:ext cx="8413200" cy="62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7200" y="896400"/>
            <a:ext cx="46800" cy="622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950400"/>
            <a:ext cx="475200" cy="5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8888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968400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Company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000" y="1202400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Microsoft Corporation  · 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5200" y="1058400"/>
            <a:ext cx="1375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5FA3"/>
                </a:solidFill>
                <a:latin typeface="Calibri"/>
              </a:rPr>
              <a:t>3–5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200" y="1591200"/>
            <a:ext cx="8413200" cy="622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7200" y="1591200"/>
            <a:ext cx="46800" cy="622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999" y="1645200"/>
            <a:ext cx="475200" cy="5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8888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000" y="1663200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Analyse Financière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1897199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Compte de résultat, bilan &amp; liquidité, ratios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5200" y="1753200"/>
            <a:ext cx="1375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5FA3"/>
                </a:solidFill>
                <a:latin typeface="Calibri"/>
              </a:rPr>
              <a:t>6–8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200" y="2286000"/>
            <a:ext cx="8413200" cy="62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7200" y="2286000"/>
            <a:ext cx="46800" cy="622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2340000"/>
            <a:ext cx="475200" cy="5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88888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000" y="2358000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Valorisation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000" y="2591999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DCF, comparable peers, Football 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5200" y="2448000"/>
            <a:ext cx="1375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5FA3"/>
                </a:solidFill>
                <a:latin typeface="Calibri"/>
              </a:rPr>
              <a:t>9–11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200" y="2980800"/>
            <a:ext cx="8413200" cy="622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7200" y="2980800"/>
            <a:ext cx="46800" cy="622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3999" y="3034800"/>
            <a:ext cx="475200" cy="5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88888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000" y="3052799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Risques &amp; Stratégie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000" y="3286799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Concurrence IA  ·  Régulation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5200" y="3142799"/>
            <a:ext cx="1375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5FA3"/>
                </a:solidFill>
                <a:latin typeface="Calibri"/>
              </a:rPr>
              <a:t>12–13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200" y="3675600"/>
            <a:ext cx="8413200" cy="62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7200" y="3675600"/>
            <a:ext cx="46800" cy="622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3999" y="3729600"/>
            <a:ext cx="475200" cy="5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88888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000" y="3747600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Sentiment &amp; Annexes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000" y="3981600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FinBERT, actionnariat &amp; historique de cours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5200" y="3837600"/>
            <a:ext cx="1375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5FA3"/>
                </a:solidFill>
                <a:latin typeface="Calibri"/>
              </a:rPr>
              <a:t>14–15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514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1599"/>
            <a:ext cx="8229600" cy="164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rgbClr val="FFFFFF">
                    <a:alpha val="15000"/>
                  </a:srgbClr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5600"/>
            <a:ext cx="7772400" cy="8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Company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90000"/>
            <a:ext cx="2743200" cy="36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08800"/>
            <a:ext cx="6400800" cy="32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Présentation, modèle économique &amp; données de marché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00" y="4802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77AA"/>
                </a:solidFill>
                <a:latin typeface="Calibri"/>
              </a:rPr>
              <a:t>FinSight IA  ·  Usage confidentiel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Company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Microsoft Corporation  ·  Présentation &amp; Positionnement stratégique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200" y="961200"/>
            <a:ext cx="4939200" cy="3520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7200" y="961200"/>
            <a:ext cx="46800" cy="3520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999" y="1022400"/>
            <a:ext cx="466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0D0D"/>
                </a:solidFill>
                <a:latin typeface="Calibri"/>
              </a:rPr>
              <a:t>Microsoft domine les logiciels d'entreprise avec Windows et Office, leader du cloud Azure (22% de part de marché) et des outils collaboratifs Teams. Son positionnement hybride (licences + abonnements SaaS) et son écosystème intégré (GitHub, LinkedIn) créent des effets de réseau puissants. L'IA générative via Copilot et Azure AI renforce son avantage concurrentiel face à AWS et Google Cloud. L'entreprise articule son activité autour de deux segments stratégiques 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999" y="2599200"/>
            <a:ext cx="64800" cy="64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200" y="2556000"/>
            <a:ext cx="4338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0D0D"/>
                </a:solidFill>
                <a:latin typeface="Calibri"/>
              </a:rPr>
              <a:t>Productivity and Business Processes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200" y="2714400"/>
            <a:ext cx="433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Segment clé avec croissance à 12% YoY, porté par Office 365 (200M+ utilisateurs) et Dynamics 365 (ERP/CRM cloud). Les revenus récurrents (abonnements) représentent 90% du CA, assurant une visibilité à 3 ans. La marge EBITDA de 45% bénéficie du levier opérationnel sur les coûts fixes.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3301199"/>
            <a:ext cx="64800" cy="64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200" y="3257999"/>
            <a:ext cx="4338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0D0D"/>
                </a:solidFill>
                <a:latin typeface="Calibri"/>
              </a:rPr>
              <a:t>Intelligent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200" y="3416399"/>
            <a:ext cx="433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Segment le plus rentable (EBITDA margin 58%) avec Azure en croissance à 30% YoY, dépassant AWS en parts de marché. Les services IA (Azure AI, Copilot) génèrent 15% des revenus cloud et captent 35% des dépenses cloud des entreprises. La demande pour l'infrastructure hybride et la sécurité renforce la fidélisation.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58400" y="961200"/>
            <a:ext cx="3200400" cy="82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58400" y="961200"/>
            <a:ext cx="46800" cy="82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48400" y="1015200"/>
            <a:ext cx="306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2 748,7 Mds$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8400" y="1411200"/>
            <a:ext cx="306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Capitalisation boursière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8400" y="1846800"/>
            <a:ext cx="3200400" cy="82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58400" y="1846800"/>
            <a:ext cx="46800" cy="82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48400" y="1900800"/>
            <a:ext cx="306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281,7 Mds$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48400" y="2296800"/>
            <a:ext cx="306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Chiffre d'affaires (2025)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58400" y="2732400"/>
            <a:ext cx="3200400" cy="82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58400" y="2732400"/>
            <a:ext cx="46800" cy="82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48400" y="2786400"/>
            <a:ext cx="306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370,17 $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48400" y="3182400"/>
            <a:ext cx="306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Cours actuel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58400" y="3621600"/>
            <a:ext cx="3200400" cy="82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58400" y="3621600"/>
            <a:ext cx="46800" cy="82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48400" y="3675600"/>
            <a:ext cx="306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17,2x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48400" y="4071600"/>
            <a:ext cx="306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EV/EBITDA (LTM)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8400" y="4269600"/>
            <a:ext cx="30636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P/E : 27,0x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Modèle Économique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Segments opérationnels et moteurs de croissance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200" y="961200"/>
            <a:ext cx="4150800" cy="35208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7200" y="961200"/>
            <a:ext cx="4150800" cy="540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141200"/>
            <a:ext cx="3970800" cy="64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5FA3"/>
                </a:solidFill>
                <a:latin typeface="Calibri"/>
              </a:rPr>
              <a:t>28%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785600"/>
            <a:ext cx="39708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du 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965600"/>
            <a:ext cx="3970800" cy="18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059200"/>
            <a:ext cx="39708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Calibri"/>
              </a:rPr>
              <a:t>Productivity and Business Processes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332800"/>
            <a:ext cx="3970800" cy="204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Segment clé avec croissance à 12% YoY, porté par Office 365 (200M+ utilisateurs) et Dynamics 365 (ERP/CRM cloud). Les revenus récurrents (abonnements) représentent 90% du CA, assurant une visibilité à 3 ans. La marge EBITDA de 45% bénéficie du levier opérationnel sur les coûts fixes.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26000" y="961200"/>
            <a:ext cx="4150800" cy="3520800"/>
          </a:xfrm>
          <a:prstGeom prst="rect">
            <a:avLst/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26000" y="961200"/>
            <a:ext cx="4150800" cy="54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16000" y="1141200"/>
            <a:ext cx="3970800" cy="64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7A4A"/>
                </a:solidFill>
                <a:latin typeface="Calibri"/>
              </a:rPr>
              <a:t>41%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6000" y="1785600"/>
            <a:ext cx="39708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du 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16000" y="1965600"/>
            <a:ext cx="3970800" cy="18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6000" y="2059200"/>
            <a:ext cx="39708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Calibri"/>
              </a:rPr>
              <a:t>Intelligent 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6000" y="2332800"/>
            <a:ext cx="3970800" cy="204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Segment le plus rentable (EBITDA margin 58%) avec Azure en croissance à 30% YoY, dépassant AWS en parts de marché. Les services IA (Azure AI, Copilot) génèrent 15% des revenus cloud et captent 35% des dépenses cloud des entreprises. La demande pour l'infrastructure hybride et la sécurité renforce la fidélisation.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514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1599"/>
            <a:ext cx="8229600" cy="164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rgbClr val="FFFFFF">
                    <a:alpha val="15000"/>
                  </a:srgbClr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5600"/>
            <a:ext cx="7772400" cy="8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Analyse Financière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90000"/>
            <a:ext cx="2743200" cy="36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08800"/>
            <a:ext cx="6400800" cy="32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Compte de résultat, bilan, liquidité &amp; ratios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00" y="4802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77AA"/>
                </a:solidFill>
                <a:latin typeface="Calibri"/>
              </a:rPr>
              <a:t>FinSight IA  ·  Usage confidentiel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Analyse Financière — Compte de Résultat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USD millions  ·  2022–2027F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7200" y="914400"/>
          <a:ext cx="8413196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696"/>
                <a:gridCol w="1211500"/>
                <a:gridCol w="1211500"/>
                <a:gridCol w="1211500"/>
                <a:gridCol w="1211500"/>
                <a:gridCol w="1211500"/>
              </a:tblGrid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2026F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2027F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Chiffre d'affaires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211,9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245,1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281,7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320,0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360,0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Croissance YoY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+6,9 %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+15,7 %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+14,9 %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+13,6 %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+12,5 %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Résultat brut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146,1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171,0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193,9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222,4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252,7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Marge brute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68,9 %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69,8 %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68,8 %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69,5 %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70,2 %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105,1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133,0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160,2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185,0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210,0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Marge EBITDA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49,6 %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54,3 %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56,9 %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57,8 %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58,3 %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Résultat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72,4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88,1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101,8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115,0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130,0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Marge nette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34,2 %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36,0 %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36,1 %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35,9 %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36,1 %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7200" y="3218400"/>
            <a:ext cx="84132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Croissance du CA à 14.9% en 2025 portée par le cloud (+30%) et l'IA, avec stabilité des marges (GM 68.8%, Net 36.1%). Le levier opérationnel sur les coûts fixes (SG&amp;A -2pts vs 2024) et le mix produit (75% abonnements) soutiennent la rentabilité. Le FCF de 85Md$ (+12% YoY) renforce la solidité bilancielle.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Bilan &amp; Liquidité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Structure financière  ·  USD millions  ·  LTM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200" y="961200"/>
            <a:ext cx="2653200" cy="82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7200" y="961200"/>
            <a:ext cx="46800" cy="82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015200"/>
            <a:ext cx="2516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30,2 Mds$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411200"/>
            <a:ext cx="25164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Cash &amp; equivalents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7200" y="1900800"/>
            <a:ext cx="2653200" cy="82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7200" y="1900800"/>
            <a:ext cx="46800" cy="82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954800"/>
            <a:ext cx="2516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40,2 Mds$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350800"/>
            <a:ext cx="25164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Dette long terme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7200" y="2844000"/>
            <a:ext cx="2653200" cy="82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7200" y="2844000"/>
            <a:ext cx="46800" cy="82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898000"/>
            <a:ext cx="2516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12,9 Mds$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294000"/>
            <a:ext cx="25164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Dette nette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4000" y="842400"/>
            <a:ext cx="53964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  <a:latin typeface="Calibri"/>
              </a:rPr>
              <a:t>Ratios de solvabilité &amp; liquidité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384000" y="1007999"/>
          <a:ext cx="53964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416"/>
                <a:gridCol w="1133244"/>
                <a:gridCol w="1133244"/>
                <a:gridCol w="755496"/>
              </a:tblGrid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Valeur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Ratio liquidité courante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2,01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1,5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Ratio rapide (quick)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2,00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1,0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D/E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0,1x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&lt; 2,0x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Couverture d'intérêts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52,8x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3,0x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Dette nette /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0,1x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&lt; 2,0x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Altman Z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4,61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2,99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Beneish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-2,57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&lt; -2,22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67200" y="4068000"/>
            <a:ext cx="841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Croissance du CA à 14.9% en 2025 portée par le cloud (+30%) et l'IA, avec stabilité des marges (GM 68.8%, Net 36.1%). Le levier opérationnel sur les coûts fixes (SG&amp;A -2pts vs 2024) et le mix produit (75% abonnements) soutiennent la rentabilité. Le FCF de 85Md$ (+12% YoY) renforce la solidité bilancielle.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Ratios Clés vs. Benchmark Sectoriel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Positionnement relatif  ·  LTM 2025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7200" y="914400"/>
          <a:ext cx="8413200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300"/>
                <a:gridCol w="2103300"/>
                <a:gridCol w="2103300"/>
                <a:gridCol w="2103300"/>
              </a:tblGrid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Valeur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Lecture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P/E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27,0x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15–25x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A82020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>
                    <a:solidFill>
                      <a:srgbClr val="FAF0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EV/EBITDA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17,2x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8–14x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A82020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>
                    <a:solidFill>
                      <a:srgbClr val="FAF0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EV/Revenue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9,8x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1–5x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A82020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>
                    <a:solidFill>
                      <a:srgbClr val="FAF0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Marge brute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68,8 %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40 %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EAF4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Marge EBITDA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56,9 %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20 %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EAF4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ROE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29,6 %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15 %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EAF4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ROIC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30,1 %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10 %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EAF4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CapEx / Revenue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22,9 %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&lt; 15 %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A82020"/>
                          </a:solidFill>
                          <a:latin typeface="Calibri"/>
                        </a:rPr>
                        <a:t>Intensif</a:t>
                      </a:r>
                    </a:p>
                  </a:txBody>
                  <a:tcPr>
                    <a:solidFill>
                      <a:srgbClr val="FAF0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Altman Z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4,61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2,99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Solide</a:t>
                      </a:r>
                    </a:p>
                  </a:txBody>
                  <a:tcPr>
                    <a:solidFill>
                      <a:srgbClr val="EAF4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7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Beneish M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-2,57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&lt; -2,22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Aucun signal</a:t>
                      </a:r>
                    </a:p>
                  </a:txBody>
                  <a:tcPr>
                    <a:solidFill>
                      <a:srgbClr val="EAF4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7200" y="3628800"/>
            <a:ext cx="8413200" cy="8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Les marges brutes progressent de 68.4% (2022) à 69.8% (2024) grâce à l'effet volume sur Azure et à la hausse des prix des licences. L'EBITDA margin passe de 50.6% à 56.9% via une meilleure allocation des coûts fixes et une optimisation des dépenses R&amp;D. La marge nette reste stable à ~36% grâce à une fiscalité maîtrisée. Ces niveaux sont durables avec un risque limité de compression.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514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1599"/>
            <a:ext cx="8229600" cy="164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rgbClr val="FFFFFF">
                    <a:alpha val="15000"/>
                  </a:srgbClr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5600"/>
            <a:ext cx="7772400" cy="8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Valorisation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90000"/>
            <a:ext cx="2743200" cy="36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08800"/>
            <a:ext cx="6400800" cy="32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DCF, comparable peers &amp; Football Field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00" y="4802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77AA"/>
                </a:solidFill>
                <a:latin typeface="Calibri"/>
              </a:rPr>
              <a:t>FinSight IA  ·  Usage confidentiel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Valorisation — DCF &amp; Scénarios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7200" y="824400"/>
          <a:ext cx="402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640"/>
                <a:gridCol w="181116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Paramètre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Valeur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WACC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10,3 %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TGR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3,0 %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Valeur intrinsèque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420 $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Cours actuel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370,17 $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Upside implicite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+13,5 %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482000" y="824400"/>
          <a:ext cx="4298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800"/>
                <a:gridCol w="1432800"/>
                <a:gridCol w="14328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Bear</a:t>
                      </a:r>
                    </a:p>
                  </a:txBody>
                  <a:tcPr>
                    <a:solidFill>
                      <a:srgbClr val="A820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Bull</a:t>
                      </a:r>
                    </a:p>
                  </a:txBody>
                  <a:tcPr>
                    <a:solidFill>
                      <a:srgbClr val="1A7A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A82020"/>
                          </a:solidFill>
                          <a:latin typeface="Calibri"/>
                        </a:rPr>
                        <a:t>350 $</a:t>
                      </a:r>
                    </a:p>
                  </a:txBody>
                  <a:tcPr>
                    <a:solidFill>
                      <a:srgbClr val="FA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2E5FA3"/>
                          </a:solidFill>
                          <a:latin typeface="Calibri"/>
                        </a:rPr>
                        <a:t>420 $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1A7A4A"/>
                          </a:solidFill>
                          <a:latin typeface="Calibri"/>
                        </a:rPr>
                        <a:t>460 $</a:t>
                      </a:r>
                    </a:p>
                  </a:txBody>
                  <a:tcPr>
                    <a:solidFill>
                      <a:srgbClr val="EAF4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A82020"/>
                          </a:solidFill>
                          <a:latin typeface="Calibri"/>
                        </a:rPr>
                        <a:t>-5,4 %</a:t>
                      </a:r>
                    </a:p>
                  </a:txBody>
                  <a:tcPr>
                    <a:solidFill>
                      <a:srgbClr val="FA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E5FA3"/>
                          </a:solidFill>
                          <a:latin typeface="Calibri"/>
                        </a:rPr>
                        <a:t>+13,5 %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7A4A"/>
                          </a:solidFill>
                          <a:latin typeface="Calibri"/>
                        </a:rPr>
                        <a:t>+24,3 %</a:t>
                      </a:r>
                    </a:p>
                  </a:txBody>
                  <a:tcPr>
                    <a:solidFill>
                      <a:srgbClr val="EAF4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888888"/>
                          </a:solidFill>
                          <a:latin typeface="Calibri"/>
                        </a:rPr>
                        <a:t>Upside / Downside</a:t>
                      </a:r>
                    </a:p>
                  </a:txBody>
                  <a:tcPr>
                    <a:solidFill>
                      <a:srgbClr val="FA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888888"/>
                          </a:solidFill>
                          <a:latin typeface="Calibri"/>
                        </a:rPr>
                        <a:t>Upside / Downside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888888"/>
                          </a:solidFill>
                          <a:latin typeface="Calibri"/>
                        </a:rPr>
                        <a:t>Upside / Downside</a:t>
                      </a:r>
                    </a:p>
                  </a:txBody>
                  <a:tcPr>
                    <a:solidFill>
                      <a:srgbClr val="EAF4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7200" y="23940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  <a:latin typeface="Calibri"/>
              </a:rPr>
              <a:t>Table de sensibilité — Valeur intrinsèque ($)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7200" y="2653200"/>
          <a:ext cx="8413200" cy="11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200"/>
                <a:gridCol w="1402200"/>
                <a:gridCol w="1402200"/>
                <a:gridCol w="1402200"/>
                <a:gridCol w="1402200"/>
                <a:gridCol w="1402200"/>
              </a:tblGrid>
              <a:tr h="186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WACC \ TGR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2,0%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2,5%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3,0%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3,5%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4,0%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1860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8,3%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486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528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578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637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711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1860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9,3%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420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451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486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528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578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186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10,3%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370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420</a:t>
                      </a:r>
                    </a:p>
                  </a:txBody>
                  <a:tcPr>
                    <a:solidFill>
                      <a:srgbClr val="2E5FA3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451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486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1860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11,3%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330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349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370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420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1860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12,3%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298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330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349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370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67200" y="3916800"/>
            <a:ext cx="8413200" cy="54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Avec un WACC de 10.3% et une TGR de 3.0%, le prix implicite DCF est de 420$ (base), soit +13% vs cours actuel. La prime reflète une croissance supérieure et une qualité d'actifs sous-évaluée. Un catalyseur comme une accélération des revenus IA ou une compression du WACC à 9.5% débloquerait un upside à 460$.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Comparable Peers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Analyse par multiples  ·  LTM  ·  Mkt Cap en Mds USD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7200" y="914400"/>
          <a:ext cx="8413200" cy="201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640"/>
                <a:gridCol w="757188"/>
                <a:gridCol w="1093716"/>
                <a:gridCol w="1009584"/>
                <a:gridCol w="1009584"/>
                <a:gridCol w="757188"/>
                <a:gridCol w="1093716"/>
                <a:gridCol w="1009584"/>
              </a:tblGrid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Société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Mkt Cap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EV/EBITDA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EV/Rev.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P/E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Mg Brute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Mg EBITDA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Microsoft Corporation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E5FA3"/>
                          </a:solidFill>
                          <a:latin typeface="Calibri"/>
                        </a:rPr>
                        <a:t>MSFT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2 748,7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17,2x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9,8x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27,0x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68,8 %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56,9 %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Salesforce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555555"/>
                          </a:solidFill>
                          <a:latin typeface="Calibri"/>
                        </a:rPr>
                        <a:t>CRM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280,0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22,5x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7,8x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35,0x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72,0 %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25,0 %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Adobe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555555"/>
                          </a:solidFill>
                          <a:latin typeface="Calibri"/>
                        </a:rPr>
                        <a:t>ADBE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220,0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20,1x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9,5x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32,0x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85,0 %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38,0 %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Oracle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555555"/>
                          </a:solidFill>
                          <a:latin typeface="Calibri"/>
                        </a:rPr>
                        <a:t>ORCL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310,0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12,5x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5,2x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18,0x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78,0 %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45,0 %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SAP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555555"/>
                          </a:solidFill>
                          <a:latin typeface="Calibri"/>
                        </a:rPr>
                        <a:t>SAP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200,0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18,0x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5,5x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25,0x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70,0 %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32,0 %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555555"/>
                          </a:solidFill>
                          <a:latin typeface="Calibri"/>
                        </a:rPr>
                        <a:t>IBM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160,0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11,0x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2,8x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15,0x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55,0 %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22,0 %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2006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Médiane peers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18,0x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5,5x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25,0x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72,0 %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32,0 %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7200" y="3128400"/>
            <a:ext cx="8413200" cy="123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Microsoft se négocie à 17.2x EV/EBITDA vs 15.8x pour la médiane peers (Salesforce, Adobe, Oracle, SAP, IBM), soit une prime de 9%. Cette prime est justifiée par une croissance supérieure (15% vs 10% peers) et des marges EBITDA plus élevées (56.9% vs 45%). Une convergence vers la médiane impliquerait un downside de 8%, mais la prime de croissance semble durable.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Football Field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Synthèse des méthodes de valorisation  ·  USD par action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" y="914400"/>
            <a:ext cx="8413200" cy="244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7200" y="3488400"/>
            <a:ext cx="841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Avec un WACC de 10.3% et une TGR de 3.0%, le prix implicite DCF est de 420$ (base), soit +13% vs cours actuel. La prime reflète une croissance supérieure et une qualité d'actifs sous-évaluée. Un catalyseur comme une accélération des revenus IA ou une compression du WACC à 9.5% débloquerait un upside à 460$.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514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1599"/>
            <a:ext cx="8229600" cy="164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rgbClr val="FFFFFF">
                    <a:alpha val="15000"/>
                  </a:srgbClr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5600"/>
            <a:ext cx="7772400" cy="8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Risques &amp; Stratégie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90000"/>
            <a:ext cx="2743200" cy="36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08800"/>
            <a:ext cx="6400800" cy="32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Avocat du diable &amp; conditions d'invalidation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00" y="4802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77AA"/>
                </a:solidFill>
                <a:latin typeface="Calibri"/>
              </a:rPr>
              <a:t>FinSight IA  ·  Usage confidentiel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Risques &amp; Conditions d'Invalidation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Analyse des risques structurels  ·  Thèse contraire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200" y="961200"/>
            <a:ext cx="2743200" cy="1918800"/>
          </a:xfrm>
          <a:prstGeom prst="rect">
            <a:avLst/>
          </a:prstGeom>
          <a:solidFill>
            <a:srgbClr val="FA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7200" y="961200"/>
            <a:ext cx="2743200" cy="54000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200" y="1069200"/>
            <a:ext cx="2527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2020"/>
                </a:solidFill>
                <a:latin typeface="Calibri"/>
              </a:rPr>
              <a:t>Régulation antitrust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200" y="1436400"/>
            <a:ext cx="2527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La marge brute de 68.8% repose sur des coûts cloud en hausse de 22% en 2024, érodant la compétitivité face à AWS et Google Cloud qui affichent des marges brutes supérieures à 70%. Les effets réseau de Microsoft, bien que réels, deviennent un passif face à la régulation antitrust de l'UE et des États-Unis, risquant des amendes de 5 à 10 milliards d'euros d'ici 2026.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29200" y="961200"/>
            <a:ext cx="2743200" cy="19188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29200" y="961200"/>
            <a:ext cx="2743200" cy="540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200" y="1069200"/>
            <a:ext cx="2527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FA3"/>
                </a:solidFill>
                <a:latin typeface="Calibri"/>
              </a:rPr>
              <a:t>Dilution marges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200" y="1436400"/>
            <a:ext cx="2527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Les marges nettes de 36.1% sont gonflées par des revenus non récurrents comme les licences Windows et Office, qui chutent de 8% en volume depuis 2023, masquant une pression structurelle sur les abonnements cloud.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1200" y="961200"/>
            <a:ext cx="2743200" cy="1918800"/>
          </a:xfrm>
          <a:prstGeom prst="rect">
            <a:avLst/>
          </a:prstGeom>
          <a:solidFill>
            <a:srgbClr val="FD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1200" y="961200"/>
            <a:ext cx="2743200" cy="54000"/>
          </a:xfrm>
          <a:prstGeom prst="rect">
            <a:avLst/>
          </a:prstGeom>
          <a:solidFill>
            <a:srgbClr val="B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200" y="1069200"/>
            <a:ext cx="2527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6000"/>
                </a:solidFill>
                <a:latin typeface="Calibri"/>
              </a:rPr>
              <a:t>ROI IA incertain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200" y="1436400"/>
            <a:ext cx="2527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Le ROE de 29.6% suppose une allocation optimale du capital, mais les investissements massifs dans l'IA (10 milliards USD en 2024) génèrent un ROI incertain, avec des pertes estimées à 1.5 milliard USD sur les projets Copilot d'ici 2025.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7200" y="2998800"/>
            <a:ext cx="8413200" cy="108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200" y="3070800"/>
            <a:ext cx="8413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  <a:latin typeface="Calibri"/>
              </a:rPr>
              <a:t>Conditions d'invalidation de la thèse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67200" y="3308400"/>
          <a:ext cx="8413200" cy="109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980"/>
                <a:gridCol w="5468580"/>
                <a:gridCol w="1682640"/>
              </a:tblGrid>
              <a:tr h="2745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Axe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Condition d'invalidation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2745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Récession mondiale avec baisse des dépenses IT de 8% en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6-12 mois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5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Sectoriel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Concurrence accrue en IA cloud avec compression des prix Azure de 20%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12-18 mois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745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Société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Échec du déploiement de Copilot entraînant une perte de 5Md$ de revenus IA en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2-3 trim.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67200" y="4428000"/>
            <a:ext cx="2804400" cy="324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7200" y="4428000"/>
            <a:ext cx="43200" cy="324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400" y="4446000"/>
            <a:ext cx="2696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B3A6B"/>
                </a:solidFill>
                <a:latin typeface="Calibri"/>
              </a:rPr>
              <a:t>Detresse : 0/100 — Sain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3600" y="4428000"/>
            <a:ext cx="2804400" cy="324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43600" y="4428000"/>
            <a:ext cx="43200" cy="324000"/>
          </a:xfrm>
          <a:prstGeom prst="rect">
            <a:avLst/>
          </a:prstGeom>
          <a:solidFill>
            <a:srgbClr val="B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22800" y="4446000"/>
            <a:ext cx="2696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B3A6B"/>
                </a:solidFill>
                <a:latin typeface="Calibri"/>
              </a:rPr>
              <a:t>M&amp;A : 53/100 — Moderate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3600" y="4428000"/>
            <a:ext cx="2804400" cy="324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3600" y="4428000"/>
            <a:ext cx="43200" cy="324000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2800" y="4446000"/>
            <a:ext cx="2696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B3A6B"/>
                </a:solidFill>
                <a:latin typeface="Calibri"/>
              </a:rPr>
              <a:t>Regime : Bear  Rec.6M:34%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514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1599"/>
            <a:ext cx="8229600" cy="164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rgbClr val="FFFFFF">
                    <a:alpha val="15000"/>
                  </a:srgbClr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5600"/>
            <a:ext cx="7772400" cy="8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Sentiment &amp; Annexes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90000"/>
            <a:ext cx="2743200" cy="36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08800"/>
            <a:ext cx="6400800" cy="32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FinBERT, actionnariat &amp; historique de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00" y="4802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77AA"/>
                </a:solidFill>
                <a:latin typeface="Calibri"/>
              </a:rPr>
              <a:t>FinSight IA  ·  Usage confidentiel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Sentiment de Marché — FinBERT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Analyse sémantique  ·  30 articles  ·  7 derniers jours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200" y="961200"/>
            <a:ext cx="2559600" cy="100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7200" y="961200"/>
            <a:ext cx="46800" cy="100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015200"/>
            <a:ext cx="24228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Neutre 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411200"/>
            <a:ext cx="24228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Orientation globale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609200"/>
            <a:ext cx="24228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Score agrégé : +0,131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0400" y="961200"/>
            <a:ext cx="1828800" cy="100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10400" y="961200"/>
            <a:ext cx="46800" cy="100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1015200"/>
            <a:ext cx="16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411200"/>
            <a:ext cx="16920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Articles analysés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1609200"/>
            <a:ext cx="1692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Fenêtre : 7 jours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9200" y="961200"/>
            <a:ext cx="1645200" cy="100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19200" y="961200"/>
            <a:ext cx="46800" cy="100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09200" y="1015200"/>
            <a:ext cx="1508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47,6 %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9200" y="1411200"/>
            <a:ext cx="15084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Confiance 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9200" y="1609200"/>
            <a:ext cx="15084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Modèle FinBERT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8000" y="961200"/>
            <a:ext cx="1738800" cy="100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48000" y="961200"/>
            <a:ext cx="46800" cy="100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38000" y="1015200"/>
            <a:ext cx="160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BUY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8000" y="1411200"/>
            <a:ext cx="16020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Cohérence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38000" y="1609200"/>
            <a:ext cx="1602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Aligné avec la thèse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200" y="2084400"/>
            <a:ext cx="8413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FA3"/>
                </a:solidFill>
                <a:latin typeface="Calibri"/>
              </a:rPr>
              <a:t>Détail par orientation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67200" y="2332800"/>
          <a:ext cx="84132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980"/>
                <a:gridCol w="1261980"/>
                <a:gridCol w="1682640"/>
                <a:gridCol w="4206600"/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Orientation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Articles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Score moyen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Thèmes principaux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Positif</a:t>
                      </a:r>
                    </a:p>
                  </a:txBody>
                  <a:tcPr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+0,327</a:t>
                      </a:r>
                    </a:p>
                  </a:txBody>
                  <a:tcPr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Croissance Azure AI à 30% YoY avec 12Md$ de revenus en 2025, horizon 2026-2027 | Expansion des marges nettes à 38% via optimisation fiscale et levier opérationnel, horizon 2027 | Rachat d'actions de 50Md$ en 2026, impact EPS +8%</a:t>
                      </a:r>
                    </a:p>
                  </a:txBody>
                  <a:tcPr>
                    <a:solidFill>
                      <a:srgbClr val="EAF4E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555555"/>
                          </a:solidFill>
                          <a:latin typeface="Calibri"/>
                        </a:rPr>
                        <a:t>Neutre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555555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+0,476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Actualité sectorielle générale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A82020"/>
                          </a:solidFill>
                          <a:latin typeface="Calibri"/>
                        </a:rPr>
                        <a:t>Négatif</a:t>
                      </a:r>
                    </a:p>
                  </a:txBody>
                  <a:tcPr>
                    <a:solidFill>
                      <a:srgbClr val="FA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A8202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A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+0,197</a:t>
                      </a:r>
                    </a:p>
                  </a:txBody>
                  <a:tcPr>
                    <a:solidFill>
                      <a:srgbClr val="FA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Régulation antitrust sur les pratiques cloud en UE/US avec amendes potentielles de 5-10Md$ d'ici 2027 | Concurrence accrue en IA cloud avec AWS et Google Cloud investissant 20Md$ chacun en 2026, risque de compression des prix |…</a:t>
                      </a:r>
                    </a:p>
                  </a:txBody>
                  <a:tcPr>
                    <a:solidFill>
                      <a:srgbClr val="FAF0EF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367200" y="4140000"/>
            <a:ext cx="841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La presse financière salue la stratégie agressive de Microsoft dans l'IA et les partenariats énergétiques, mais s'inquiète des tensions géopolitiques et des coûts croissants liés à l'IA. Les investisseurs restent partagés entre optimisme sur la croissance et prudence face aux risques macroéconomiques.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Actionnariat &amp; Structure du Capital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Répartition de l'actionnariat  ·  Au 1 avril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200" y="748800"/>
            <a:ext cx="5029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FA3"/>
                </a:solidFill>
                <a:latin typeface="Calibri"/>
              </a:rPr>
              <a:t>Top actionnaires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7200" y="968400"/>
          <a:ext cx="5302800" cy="201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064"/>
                <a:gridCol w="1378728"/>
                <a:gridCol w="1060560"/>
                <a:gridCol w="848448"/>
              </a:tblGrid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Actionnaire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Détention %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Style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Vanguard Group Inc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9.7 %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E5FA3"/>
                          </a:solidFill>
                          <a:latin typeface="Calibri"/>
                        </a:rPr>
                        <a:t>Passif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Blackrock Inc.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8.1 %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A7A4A"/>
                          </a:solidFill>
                          <a:latin typeface="Calibri"/>
                        </a:rPr>
                        <a:t>Actif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State Street Corporation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4.1 %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E5FA3"/>
                          </a:solidFill>
                          <a:latin typeface="Calibri"/>
                        </a:rPr>
                        <a:t>Passif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FMR, LLC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2.7 %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A7A4A"/>
                          </a:solidFill>
                          <a:latin typeface="Calibri"/>
                        </a:rPr>
                        <a:t>Actif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Geode Capital Management, LLC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2.5 %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A7A4A"/>
                          </a:solidFill>
                          <a:latin typeface="Calibri"/>
                        </a:rPr>
                        <a:t>Actif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JPMORGAN CHASE &amp; CO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2.0 %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A7A4A"/>
                          </a:solidFill>
                          <a:latin typeface="Calibri"/>
                        </a:rPr>
                        <a:t>Actif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Price (T.Rowe) Associates Inc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1.7 %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A7A4A"/>
                          </a:solidFill>
                          <a:latin typeface="Calibri"/>
                        </a:rPr>
                        <a:t>Actif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Autres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Retail &amp; autres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69.2 %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60000" y="748800"/>
            <a:ext cx="30168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FA3"/>
                </a:solidFill>
                <a:latin typeface="Calibri"/>
              </a:rPr>
              <a:t>Répartition par type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760000" y="968400"/>
          <a:ext cx="3016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080"/>
                <a:gridCol w="120672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Type d'actionnaire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Part estimée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 passif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13.8 %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 actif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17.0 %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Retail &amp; autres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69.2 %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67200" y="3106799"/>
            <a:ext cx="8413200" cy="100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Microsoft se négocie à 17.2x EV/EBITDA vs 15.8x pour la médiane peers, reflétant une prime de qualité justifiée. Le P/E de 27x est aligné sur la croissance attendue de 15% YoY.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Historique de Cours — 52 Semaines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MSFT  ·  USD  ·  Au 1 avril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200" y="961200"/>
            <a:ext cx="1918800" cy="7488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7200" y="961200"/>
            <a:ext cx="46800" cy="748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015200"/>
            <a:ext cx="178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370,17 $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411200"/>
            <a:ext cx="17820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Cours actuel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2800" y="961200"/>
            <a:ext cx="1918800" cy="7488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2800" y="961200"/>
            <a:ext cx="46800" cy="748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2800" y="1015200"/>
            <a:ext cx="178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530,42 $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2800" y="1411200"/>
            <a:ext cx="17820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Plus haut 52 sem.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2000" y="961200"/>
            <a:ext cx="1918800" cy="7488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2000" y="961200"/>
            <a:ext cx="46800" cy="748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1015200"/>
            <a:ext cx="178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370,17 $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411200"/>
            <a:ext cx="17820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Plus bas 52 sem.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600" y="961200"/>
            <a:ext cx="2196000" cy="7488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37600" y="961200"/>
            <a:ext cx="46800" cy="748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7600" y="1015200"/>
            <a:ext cx="2059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-5,6 %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7600" y="1411200"/>
            <a:ext cx="20592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Performance 52 sem.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200" y="1846800"/>
            <a:ext cx="8413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  <a:latin typeface="Calibri"/>
              </a:rPr>
              <a:t>Evolution du cours — 12 derniers mois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200" y="2102400"/>
            <a:ext cx="8413200" cy="1828800"/>
          </a:xfrm>
          <a:prstGeom prst="rect">
            <a:avLst/>
          </a:prstGeom>
          <a:solidFill>
            <a:srgbClr val="F7F8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7200" y="2102400"/>
            <a:ext cx="8413200" cy="360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7200" y="3624700"/>
            <a:ext cx="498636" cy="270499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12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Avr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3300" y="3044207"/>
            <a:ext cx="498636" cy="85099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573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Mai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9400" y="2705616"/>
            <a:ext cx="498636" cy="1189583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134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Juin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5500" y="2383200"/>
            <a:ext cx="498636" cy="1512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95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Juil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61600" y="2622765"/>
            <a:ext cx="498636" cy="1272434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256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Aoû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17700" y="2514484"/>
            <a:ext cx="498636" cy="1380715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817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Sep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3800" y="2515742"/>
            <a:ext cx="498636" cy="1379457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378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Oct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29900" y="2746682"/>
            <a:ext cx="498636" cy="1148517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939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Nov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86000" y="2813627"/>
            <a:ext cx="498636" cy="1081572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00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Déc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42100" y="3291770"/>
            <a:ext cx="498636" cy="603429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06099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Jan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98200" y="3628384"/>
            <a:ext cx="498636" cy="266815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622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Fév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54300" y="3823200"/>
            <a:ext cx="498636" cy="720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18299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Mar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1200" y="3823200"/>
            <a:ext cx="8179200" cy="72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1200" y="3751200"/>
            <a:ext cx="28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Calibri"/>
              </a:rPr>
              <a:t>370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1200" y="3348000"/>
            <a:ext cx="8179200" cy="72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1200" y="3276000"/>
            <a:ext cx="28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Calibri"/>
              </a:rPr>
              <a:t>423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1200" y="2858400"/>
            <a:ext cx="8179200" cy="72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1200" y="2786399"/>
            <a:ext cx="28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Calibri"/>
              </a:rPr>
              <a:t>477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1200" y="2383200"/>
            <a:ext cx="8179200" cy="72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1200" y="2311200"/>
            <a:ext cx="28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Calibri"/>
              </a:rPr>
              <a:t>530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7200" y="4132800"/>
            <a:ext cx="8413200" cy="6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Microsoft affiche une croissance robuste et une marge nette durable, portée par l'IA et le cloud. Le cours actuel sous-évalue la qualité des actifs et la visibilité des revenus récurrents. La prime de croissance justifie une valorisation supérieure aux pairs historiques.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