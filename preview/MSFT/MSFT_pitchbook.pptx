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2771999" y="2617297"/>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HOLD  ·  Prix cible base : — $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none">
            <a:spAutoFit/>
          </a:bodyPr>
          <a:lstStyle/>
          <a:p>
            <a:pPr algn="l"/>
            <a:r>
              <a:rPr sz="750" b="0" i="0">
                <a:solidFill>
                  <a:srgbClr val="333333"/>
                </a:solidFill>
                <a:latin typeface="Calibri"/>
              </a:rPr>
              <a:t>—</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none">
            <a:spAutoFit/>
          </a:bodyPr>
          <a:lstStyle/>
          <a:p>
            <a:pPr algn="l"/>
            <a:r>
              <a:rPr sz="750" b="0" i="0">
                <a:solidFill>
                  <a:srgbClr val="333333"/>
                </a:solidFill>
                <a:latin typeface="Calibri"/>
              </a:rPr>
              <a: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27,1x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17,3x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 $</a:t>
                      </a:r>
                    </a:p>
                  </a:txBody>
                  <a:tcPr>
                    <a:solidFill>
                      <a:srgbClr val="FFFFFF"/>
                    </a:solidFill>
                  </a:tcPr>
                </a:tc>
                <a:tc>
                  <a:txBody>
                    <a:bodyPr/>
                    <a:lstStyle/>
                    <a:p>
                      <a:pPr algn="ctr"/>
                      <a:r>
                        <a:rPr sz="800" b="0" i="0">
                          <a:solidFill>
                            <a:srgbClr val="0D0D0D"/>
                          </a:solidFill>
                          <a:latin typeface="Calibri"/>
                        </a:rPr>
                        <a:t>Upside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17,3x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+0,361</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2 764,5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372,29 $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17,3x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27,1x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2 764,5</a:t>
                      </a:r>
                    </a:p>
                  </a:txBody>
                  <a:tcPr>
                    <a:solidFill>
                      <a:srgbClr val="DDE8F5"/>
                    </a:solidFill>
                  </a:tcPr>
                </a:tc>
                <a:tc>
                  <a:txBody>
                    <a:bodyPr/>
                    <a:lstStyle/>
                    <a:p>
                      <a:pPr algn="ctr"/>
                      <a:r>
                        <a:rPr sz="800" b="1" i="0">
                          <a:solidFill>
                            <a:srgbClr val="1B3A6B"/>
                          </a:solidFill>
                          <a:latin typeface="Calibri"/>
                        </a:rPr>
                        <a:t>17,3x</a:t>
                      </a:r>
                    </a:p>
                  </a:txBody>
                  <a:tcPr>
                    <a:solidFill>
                      <a:srgbClr val="DDE8F5"/>
                    </a:solidFill>
                  </a:tcPr>
                </a:tc>
                <a:tc>
                  <a:txBody>
                    <a:bodyPr/>
                    <a:lstStyle/>
                    <a:p>
                      <a:pPr algn="ctr"/>
                      <a:r>
                        <a:rPr sz="800" b="1" i="0">
                          <a:solidFill>
                            <a:srgbClr val="1B3A6B"/>
                          </a:solidFill>
                          <a:latin typeface="Calibri"/>
                        </a:rPr>
                        <a:t>9,9x</a:t>
                      </a:r>
                    </a:p>
                  </a:txBody>
                  <a:tcPr>
                    <a:solidFill>
                      <a:srgbClr val="DDE8F5"/>
                    </a:solidFill>
                  </a:tcPr>
                </a:tc>
                <a:tc>
                  <a:txBody>
                    <a:bodyPr/>
                    <a:lstStyle/>
                    <a:p>
                      <a:pPr algn="ctr"/>
                      <a:r>
                        <a:rPr sz="800" b="1" i="0">
                          <a:solidFill>
                            <a:srgbClr val="1B3A6B"/>
                          </a:solidFill>
                          <a:latin typeface="Calibri"/>
                        </a:rPr>
                        <a:t>27,1x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(372,29)</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372,29</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53/100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Bear  Rec.6M:34%</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(0.70x)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(7%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(3.9x)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+0,361</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55,8 %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20</a:t>
                      </a:r>
                    </a:p>
                  </a:txBody>
                  <a:tcPr>
                    <a:solidFill>
                      <a:srgbClr val="EAF4EF"/>
                    </a:solidFill>
                  </a:tcPr>
                </a:tc>
                <a:tc>
                  <a:txBody>
                    <a:bodyPr/>
                    <a:lstStyle/>
                    <a:p>
                      <a:pPr algn="ctr"/>
                      <a:r>
                        <a:rPr sz="800" b="0" i="0">
                          <a:solidFill>
                            <a:srgbClr val="0D0D0D"/>
                          </a:solidFill>
                          <a:latin typeface="Calibri"/>
                        </a:rPr>
                        <a:t>+0,558</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5</a:t>
                      </a:r>
                    </a:p>
                  </a:txBody>
                  <a:tcPr>
                    <a:solidFill>
                      <a:srgbClr val="FFFFFF"/>
                    </a:solidFill>
                  </a:tcPr>
                </a:tc>
                <a:tc>
                  <a:txBody>
                    <a:bodyPr/>
                    <a:lstStyle/>
                    <a:p>
                      <a:pPr algn="ctr"/>
                      <a:r>
                        <a:rPr sz="800" b="0" i="0">
                          <a:solidFill>
                            <a:srgbClr val="0D0D0D"/>
                          </a:solidFill>
                          <a:latin typeface="Calibri"/>
                        </a:rPr>
                        <a:t>+0,246</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+0,196</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salue massivement les partenariats stratégiques et l’avancée technologique d’Anthropic, où Microsoft joue un rôle clé. Cependant, la tendance baissière récente du titre et les incertitudes géopolitiques freinent l’enthousiasme global.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7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7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372,29 $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370,17 $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-18,5 %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-18,5 %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FinSight IA  ·  Rapport 7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7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TextBox 23"/>
          <p:cNvSpPr txBox="1"/>
          <p:nvPr/>
        </p:nvSpPr>
        <p:spPr>
          <a:xfrm>
            <a:off x="3060000" y="2196000"/>
            <a:ext cx="432000" cy="198000"/>
          </a:xfrm>
          <a:prstGeom prst="rect">
            <a:avLst/>
          </a:prstGeom>
          <a:noFill/>
        </p:spPr>
        <p:txBody>
          <a:bodyPr wrap="square">
            <a:spAutoFit/>
          </a:bodyPr>
          <a:lstStyle/>
          <a:p>
            <a:pPr algn="l"/>
            <a:r>
              <a:rPr sz="1000" b="1" i="0">
                <a:solidFill>
                  <a:srgbClr val="1B3A6B"/>
                </a:solidFill>
                <a:latin typeface="Calibri"/>
              </a:rPr>
              <a:t>50%</a:t>
            </a:r>
          </a:p>
        </p:txBody>
      </p:sp>
      <p:sp>
        <p:nvSpPr>
          <p:cNvPr id="25" name="Rectangle 24"/>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7" name="Rectangle 26"/>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9" name="Rectangle 28"/>
          <p:cNvSpPr/>
          <p:nvPr/>
        </p:nvSpPr>
        <p:spPr>
          <a:xfrm>
            <a:off x="3311999" y="2142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6000" y="2160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1" name="TextBox 30"/>
          <p:cNvSpPr txBox="1"/>
          <p:nvPr/>
        </p:nvSpPr>
        <p:spPr>
          <a:xfrm>
            <a:off x="3401999" y="2358000"/>
            <a:ext cx="2556000" cy="162000"/>
          </a:xfrm>
          <a:prstGeom prst="rect">
            <a:avLst/>
          </a:prstGeom>
          <a:noFill/>
        </p:spPr>
        <p:txBody>
          <a:bodyPr wrap="none">
            <a:spAutoFit/>
          </a:bodyPr>
          <a:lstStyle/>
          <a:p>
            <a:pPr algn="l"/>
            <a:r>
              <a:rPr sz="700" b="0" i="0">
                <a:solidFill>
                  <a:srgbClr val="555555"/>
                </a:solidFill>
                <a:latin typeface="Calibri"/>
              </a:rPr>
              <a:t>• N/D</a:t>
            </a:r>
          </a:p>
        </p:txBody>
      </p:sp>
      <p:sp>
        <p:nvSpPr>
          <p:cNvPr id="32" name="Rectangle 31"/>
          <p:cNvSpPr/>
          <p:nvPr/>
        </p:nvSpPr>
        <p:spPr>
          <a:xfrm>
            <a:off x="6120000" y="2142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6000" y="2160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4" name="TextBox 33"/>
          <p:cNvSpPr txBox="1"/>
          <p:nvPr/>
        </p:nvSpPr>
        <p:spPr>
          <a:xfrm>
            <a:off x="6156000" y="2358000"/>
            <a:ext cx="2376000" cy="162000"/>
          </a:xfrm>
          <a:prstGeom prst="rect">
            <a:avLst/>
          </a:prstGeom>
          <a:noFill/>
        </p:spPr>
        <p:txBody>
          <a:bodyPr wrap="none">
            <a:spAutoFit/>
          </a:bodyPr>
          <a:lstStyle/>
          <a:p>
            <a:pPr algn="l"/>
            <a:r>
              <a:rPr sz="700" b="0" i="0">
                <a:solidFill>
                  <a:srgbClr val="555555"/>
                </a:solidFill>
                <a:latin typeface="Calibri"/>
              </a:rPr>
              <a:t>• N/D</a:t>
            </a:r>
          </a:p>
        </p:txBody>
      </p:sp>
      <p:sp>
        <p:nvSpPr>
          <p:cNvPr id="35" name="TextBox 34"/>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