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457200" y="2617297"/>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617297"/>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635297"/>
            <a:ext cx="8063999" cy="439200"/>
          </a:xfrm>
          <a:prstGeom prst="rect">
            <a:avLst/>
          </a:prstGeom>
          <a:noFill/>
        </p:spPr>
        <p:txBody>
          <a:bodyPr wrap="square">
            <a:spAutoFit/>
          </a:bodyPr>
          <a:lstStyle/>
          <a:p>
            <a:pPr algn="ctr"/>
            <a:r>
              <a:rPr sz="900" b="1" i="0">
                <a:solidFill>
                  <a:srgbClr val="1A7A4A"/>
                </a:solidFill>
                <a:latin typeface="Calibri"/>
              </a:rPr>
              <a:t>● BUY  ·  Prix cible base : 410 $  ·  Upside : +10,0 %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25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410 $  ·  Upside : +10,0 %  ·  Bear : 320 $ (-14,1 %)  ·  Bull : 450 $ (+20,7 %)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 du marche</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La croissance de Microsoft sera catalysee par l'adoption du cloud et de l'intelligence artificielle</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Innovation</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Les marges elevees de la societe seront maintenues grace a son efficacite operationnelle</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Echelle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Les investissements dans la recherche et le developpement stimuleront l'innovation et la croissance a long terme</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Microsoft face une concurrence accrue avec 15% de parts de marche en baisse</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Dependance du cloud</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Les marges bénéficiaires de 36,1% pourraient chuter de 10% en raison des coûts de R&amp;D</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Regulation</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Le ratio EV/EBITDA de 17,36x est surévalué, avec un risque de correction de 20%</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17,4x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15,0x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410 $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+10,0 %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+0,095</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  Dependance du cloud</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est leader dans le logiciel et les services cloud. La societe offre des solutions de productivite et de gestion de donnees. Ses avantages competitifs incluent son echelle et son innovation.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Productivite et Logiciel</a:t>
            </a:r>
          </a:p>
        </p:txBody>
      </p:sp>
      <p:sp>
        <p:nvSpPr>
          <p:cNvPr id="22" name="TextBox 21"/>
          <p:cNvSpPr txBox="1"/>
          <p:nvPr/>
        </p:nvSpPr>
        <p:spPr>
          <a:xfrm>
            <a:off x="619200" y="2714400"/>
            <a:ext cx="4338000" cy="144000"/>
          </a:xfrm>
          <a:prstGeom prst="rect">
            <a:avLst/>
          </a:prstGeom>
          <a:noFill/>
        </p:spPr>
        <p:txBody>
          <a:bodyPr wrap="square">
            <a:spAutoFit/>
          </a:bodyPr>
          <a:lstStyle/>
          <a:p>
            <a:pPr algn="l"/>
            <a:r>
              <a:rPr sz="750" b="0" i="1">
                <a:solidFill>
                  <a:srgbClr val="555555"/>
                </a:solidFill>
                <a:latin typeface="Calibri"/>
              </a:rPr>
              <a:t>Modele de revenus base sur les abonnements et les ventes de licences. Produits phares tels que…</a:t>
            </a:r>
          </a:p>
        </p:txBody>
      </p:sp>
      <p:sp>
        <p:nvSpPr>
          <p:cNvPr id="23" name="Rectangle 22"/>
          <p:cNvSpPr/>
          <p:nvPr/>
        </p:nvSpPr>
        <p:spPr>
          <a:xfrm>
            <a:off x="503999" y="294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2897999"/>
            <a:ext cx="4338000" cy="165600"/>
          </a:xfrm>
          <a:prstGeom prst="rect">
            <a:avLst/>
          </a:prstGeom>
          <a:noFill/>
        </p:spPr>
        <p:txBody>
          <a:bodyPr wrap="square">
            <a:spAutoFit/>
          </a:bodyPr>
          <a:lstStyle/>
          <a:p>
            <a:pPr algn="l"/>
            <a:r>
              <a:rPr sz="850" b="1" i="0">
                <a:solidFill>
                  <a:srgbClr val="0D0D0D"/>
                </a:solidFill>
                <a:latin typeface="Calibri"/>
              </a:rPr>
              <a:t>Services Cloud</a:t>
            </a:r>
          </a:p>
        </p:txBody>
      </p:sp>
      <p:sp>
        <p:nvSpPr>
          <p:cNvPr id="25" name="TextBox 24"/>
          <p:cNvSpPr txBox="1"/>
          <p:nvPr/>
        </p:nvSpPr>
        <p:spPr>
          <a:xfrm>
            <a:off x="619200" y="3056399"/>
            <a:ext cx="4338000" cy="144000"/>
          </a:xfrm>
          <a:prstGeom prst="rect">
            <a:avLst/>
          </a:prstGeom>
          <a:noFill/>
        </p:spPr>
        <p:txBody>
          <a:bodyPr wrap="square">
            <a:spAutoFit/>
          </a:bodyPr>
          <a:lstStyle/>
          <a:p>
            <a:pPr algn="l"/>
            <a:r>
              <a:rPr sz="750" b="0" i="1">
                <a:solidFill>
                  <a:srgbClr val="555555"/>
                </a:solidFill>
                <a:latin typeface="Calibri"/>
              </a:rPr>
              <a:t>Modele de revenus base sur les services de cloud computing et de stockage. Produits phares tels que…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2 767,8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372,74 $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17,4x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27,2x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60%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Productivite et Logiciel</a:t>
            </a:r>
          </a:p>
        </p:txBody>
      </p:sp>
      <p:sp>
        <p:nvSpPr>
          <p:cNvPr id="23" name="TextBox 22"/>
          <p:cNvSpPr txBox="1"/>
          <p:nvPr/>
        </p:nvSpPr>
        <p:spPr>
          <a:xfrm>
            <a:off x="457200" y="2332800"/>
            <a:ext cx="3970800" cy="1800000"/>
          </a:xfrm>
          <a:prstGeom prst="rect">
            <a:avLst/>
          </a:prstGeom>
          <a:noFill/>
        </p:spPr>
        <p:txBody>
          <a:bodyPr wrap="square">
            <a:spAutoFit/>
          </a:bodyPr>
          <a:lstStyle/>
          <a:p>
            <a:pPr algn="l"/>
            <a:r>
              <a:rPr sz="800" b="0" i="0">
                <a:solidFill>
                  <a:srgbClr val="555555"/>
                </a:solidFill>
                <a:latin typeface="Calibri"/>
              </a:rPr>
              <a:t>Modele de revenus base sur les abonnements et les ventes de licences. Produits phares tels que Office 365 et Windows. Clients cibles : entreprises et particuliers. Moteurs de croissance : adoption du cloud et de l'intelligence artificielle.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30%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 Cloud</a:t>
            </a:r>
          </a:p>
        </p:txBody>
      </p:sp>
      <p:sp>
        <p:nvSpPr>
          <p:cNvPr id="30" name="TextBox 29"/>
          <p:cNvSpPr txBox="1"/>
          <p:nvPr/>
        </p:nvSpPr>
        <p:spPr>
          <a:xfrm>
            <a:off x="4716000" y="2332800"/>
            <a:ext cx="3970800" cy="1800000"/>
          </a:xfrm>
          <a:prstGeom prst="rect">
            <a:avLst/>
          </a:prstGeom>
          <a:noFill/>
        </p:spPr>
        <p:txBody>
          <a:bodyPr wrap="square">
            <a:spAutoFit/>
          </a:bodyPr>
          <a:lstStyle/>
          <a:p>
            <a:pPr algn="l"/>
            <a:r>
              <a:rPr sz="800" b="0" i="0">
                <a:solidFill>
                  <a:srgbClr val="555555"/>
                </a:solidFill>
                <a:latin typeface="Calibri"/>
              </a:rPr>
              <a:t>Modele de revenus base sur les services de cloud computing et de stockage. Produits phares tels que Azure et Dynamics 365. Clients cibles : entreprises et developpeurs. Moteurs de croissance : demande croissante de services cloud et de solutions 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c>
                  <a:txBody>
                    <a:bodyPr/>
                    <a:lstStyle/>
                    <a:p>
                      <a:pPr algn="ctr"/>
                      <a:r>
                        <a:rPr sz="800" b="1" i="0">
                          <a:solidFill>
                            <a:srgbClr val="0D0D0D"/>
                          </a:solidFill>
                          <a:latin typeface="Calibri"/>
                        </a:rPr>
                        <a:t>310,0</a:t>
                      </a:r>
                    </a:p>
                  </a:txBody>
                  <a:tcPr>
                    <a:solidFill>
                      <a:srgbClr val="FFFFFF"/>
                    </a:solidFill>
                  </a:tcPr>
                </a:tc>
                <a:tc>
                  <a:txBody>
                    <a:bodyPr/>
                    <a:lstStyle/>
                    <a:p>
                      <a:pPr algn="ctr"/>
                      <a:r>
                        <a:rPr sz="800" b="1" i="0">
                          <a:solidFill>
                            <a:srgbClr val="0D0D0D"/>
                          </a:solidFill>
                          <a:latin typeface="Calibri"/>
                        </a:rPr>
                        <a:t>335,0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c>
                  <a:txBody>
                    <a:bodyPr/>
                    <a:lstStyle/>
                    <a:p>
                      <a:pPr algn="ctr"/>
                      <a:r>
                        <a:rPr sz="750" b="0" i="1">
                          <a:solidFill>
                            <a:srgbClr val="555555"/>
                          </a:solidFill>
                          <a:latin typeface="Calibri"/>
                        </a:rPr>
                        <a:t>+14,9 %</a:t>
                      </a:r>
                    </a:p>
                  </a:txBody>
                  <a:tcPr>
                    <a:solidFill>
                      <a:srgbClr val="DDE8F5"/>
                    </a:solidFill>
                  </a:tcPr>
                </a:tc>
                <a:tc>
                  <a:txBody>
                    <a:bodyPr/>
                    <a:lstStyle/>
                    <a:p>
                      <a:pPr algn="ctr"/>
                      <a:r>
                        <a:rPr sz="750" b="0" i="1">
                          <a:solidFill>
                            <a:srgbClr val="555555"/>
                          </a:solidFill>
                          <a:latin typeface="Calibri"/>
                        </a:rPr>
                        <a:t>+10,0 %</a:t>
                      </a:r>
                    </a:p>
                  </a:txBody>
                  <a:tcPr>
                    <a:solidFill>
                      <a:srgbClr val="F7F8FA"/>
                    </a:solidFill>
                  </a:tcPr>
                </a:tc>
                <a:tc>
                  <a:txBody>
                    <a:bodyPr/>
                    <a:lstStyle/>
                    <a:p>
                      <a:pPr algn="ctr"/>
                      <a:r>
                        <a:rPr sz="750" b="0" i="1">
                          <a:solidFill>
                            <a:srgbClr val="555555"/>
                          </a:solidFill>
                          <a:latin typeface="Calibri"/>
                        </a:rPr>
                        <a:t>+8,0 %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c>
                  <a:txBody>
                    <a:bodyPr/>
                    <a:lstStyle/>
                    <a:p>
                      <a:pPr algn="ctr"/>
                      <a:r>
                        <a:rPr sz="800" b="1" i="0">
                          <a:solidFill>
                            <a:srgbClr val="0D0D0D"/>
                          </a:solidFill>
                          <a:latin typeface="Calibri"/>
                        </a:rPr>
                        <a:t>213,9</a:t>
                      </a:r>
                    </a:p>
                  </a:txBody>
                  <a:tcPr>
                    <a:solidFill>
                      <a:srgbClr val="FFFFFF"/>
                    </a:solidFill>
                  </a:tcPr>
                </a:tc>
                <a:tc>
                  <a:txBody>
                    <a:bodyPr/>
                    <a:lstStyle/>
                    <a:p>
                      <a:pPr algn="ctr"/>
                      <a:r>
                        <a:rPr sz="800" b="1" i="0">
                          <a:solidFill>
                            <a:srgbClr val="0D0D0D"/>
                          </a:solidFill>
                          <a:latin typeface="Calibri"/>
                        </a:rPr>
                        <a:t>234,5</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68,9 %</a:t>
                      </a:r>
                    </a:p>
                  </a:txBody>
                  <a:tcPr>
                    <a:solidFill>
                      <a:srgbClr val="F7F8FA"/>
                    </a:solidFill>
                  </a:tcPr>
                </a:tc>
                <a:tc>
                  <a:txBody>
                    <a:bodyPr/>
                    <a:lstStyle/>
                    <a:p>
                      <a:pPr algn="ctr"/>
                      <a:r>
                        <a:rPr sz="750" b="0" i="1">
                          <a:solidFill>
                            <a:srgbClr val="555555"/>
                          </a:solidFill>
                          <a:latin typeface="Calibri"/>
                        </a:rPr>
                        <a:t>69,8 %</a:t>
                      </a:r>
                    </a:p>
                  </a:txBody>
                  <a:tcPr>
                    <a:solidFill>
                      <a:srgbClr val="F7F8FA"/>
                    </a:solidFill>
                  </a:tcPr>
                </a:tc>
                <a:tc>
                  <a:txBody>
                    <a:bodyPr/>
                    <a:lstStyle/>
                    <a:p>
                      <a:pPr algn="ctr"/>
                      <a:r>
                        <a:rPr sz="750" b="0" i="1">
                          <a:solidFill>
                            <a:srgbClr val="555555"/>
                          </a:solidFill>
                          <a:latin typeface="Calibri"/>
                        </a:rPr>
                        <a:t>68,8 %</a:t>
                      </a:r>
                    </a:p>
                  </a:txBody>
                  <a:tcPr>
                    <a:solidFill>
                      <a:srgbClr val="DDE8F5"/>
                    </a:solidFill>
                  </a:tcPr>
                </a:tc>
                <a:tc>
                  <a:txBody>
                    <a:bodyPr/>
                    <a:lstStyle/>
                    <a:p>
                      <a:pPr algn="ctr"/>
                      <a:r>
                        <a:rPr sz="750" b="0" i="1">
                          <a:solidFill>
                            <a:srgbClr val="555555"/>
                          </a:solidFill>
                          <a:latin typeface="Calibri"/>
                        </a:rPr>
                        <a:t>69,0 %</a:t>
                      </a:r>
                    </a:p>
                  </a:txBody>
                  <a:tcPr>
                    <a:solidFill>
                      <a:srgbClr val="F7F8FA"/>
                    </a:solidFill>
                  </a:tcPr>
                </a:tc>
                <a:tc>
                  <a:txBody>
                    <a:bodyPr/>
                    <a:lstStyle/>
                    <a:p>
                      <a:pPr algn="ctr"/>
                      <a:r>
                        <a:rPr sz="750" b="0" i="1">
                          <a:solidFill>
                            <a:srgbClr val="555555"/>
                          </a:solidFill>
                          <a:latin typeface="Calibri"/>
                        </a:rPr>
                        <a:t>70,0 %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c>
                  <a:txBody>
                    <a:bodyPr/>
                    <a:lstStyle/>
                    <a:p>
                      <a:pPr algn="ctr"/>
                      <a:r>
                        <a:rPr sz="800" b="1" i="0">
                          <a:solidFill>
                            <a:srgbClr val="0D0D0D"/>
                          </a:solidFill>
                          <a:latin typeface="Calibri"/>
                        </a:rPr>
                        <a:t>185,0</a:t>
                      </a:r>
                    </a:p>
                  </a:txBody>
                  <a:tcPr>
                    <a:solidFill>
                      <a:srgbClr val="FFFFFF"/>
                    </a:solidFill>
                  </a:tcPr>
                </a:tc>
                <a:tc>
                  <a:txBody>
                    <a:bodyPr/>
                    <a:lstStyle/>
                    <a:p>
                      <a:pPr algn="ctr"/>
                      <a:r>
                        <a:rPr sz="800" b="1" i="0">
                          <a:solidFill>
                            <a:srgbClr val="0D0D0D"/>
                          </a:solidFill>
                          <a:latin typeface="Calibri"/>
                        </a:rPr>
                        <a:t>200,0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49,6 %</a:t>
                      </a:r>
                    </a:p>
                  </a:txBody>
                  <a:tcPr>
                    <a:solidFill>
                      <a:srgbClr val="F7F8FA"/>
                    </a:solidFill>
                  </a:tcPr>
                </a:tc>
                <a:tc>
                  <a:txBody>
                    <a:bodyPr/>
                    <a:lstStyle/>
                    <a:p>
                      <a:pPr algn="ctr"/>
                      <a:r>
                        <a:rPr sz="750" b="0" i="1">
                          <a:solidFill>
                            <a:srgbClr val="555555"/>
                          </a:solidFill>
                          <a:latin typeface="Calibri"/>
                        </a:rPr>
                        <a:t>54,3 %</a:t>
                      </a:r>
                    </a:p>
                  </a:txBody>
                  <a:tcPr>
                    <a:solidFill>
                      <a:srgbClr val="F7F8FA"/>
                    </a:solidFill>
                  </a:tcPr>
                </a:tc>
                <a:tc>
                  <a:txBody>
                    <a:bodyPr/>
                    <a:lstStyle/>
                    <a:p>
                      <a:pPr algn="ctr"/>
                      <a:r>
                        <a:rPr sz="750" b="0" i="1">
                          <a:solidFill>
                            <a:srgbClr val="555555"/>
                          </a:solidFill>
                          <a:latin typeface="Calibri"/>
                        </a:rPr>
                        <a:t>56,9 %</a:t>
                      </a:r>
                    </a:p>
                  </a:txBody>
                  <a:tcPr>
                    <a:solidFill>
                      <a:srgbClr val="DDE8F5"/>
                    </a:solidFill>
                  </a:tcPr>
                </a:tc>
                <a:tc>
                  <a:txBody>
                    <a:bodyPr/>
                    <a:lstStyle/>
                    <a:p>
                      <a:pPr algn="ctr"/>
                      <a:r>
                        <a:rPr sz="750" b="0" i="1">
                          <a:solidFill>
                            <a:srgbClr val="555555"/>
                          </a:solidFill>
                          <a:latin typeface="Calibri"/>
                        </a:rPr>
                        <a:t>60,0 %</a:t>
                      </a:r>
                    </a:p>
                  </a:txBody>
                  <a:tcPr>
                    <a:solidFill>
                      <a:srgbClr val="F7F8FA"/>
                    </a:solidFill>
                  </a:tcPr>
                </a:tc>
                <a:tc>
                  <a:txBody>
                    <a:bodyPr/>
                    <a:lstStyle/>
                    <a:p>
                      <a:pPr algn="ctr"/>
                      <a:r>
                        <a:rPr sz="750" b="0" i="1">
                          <a:solidFill>
                            <a:srgbClr val="555555"/>
                          </a:solidFill>
                          <a:latin typeface="Calibri"/>
                        </a:rPr>
                        <a:t>60,0 %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c>
                  <a:txBody>
                    <a:bodyPr/>
                    <a:lstStyle/>
                    <a:p>
                      <a:pPr algn="ctr"/>
                      <a:r>
                        <a:rPr sz="800" b="1" i="0">
                          <a:solidFill>
                            <a:srgbClr val="0D0D0D"/>
                          </a:solidFill>
                          <a:latin typeface="Calibri"/>
                        </a:rPr>
                        <a:t>105,0</a:t>
                      </a:r>
                    </a:p>
                  </a:txBody>
                  <a:tcPr>
                    <a:solidFill>
                      <a:srgbClr val="FFFFFF"/>
                    </a:solidFill>
                  </a:tcPr>
                </a:tc>
                <a:tc>
                  <a:txBody>
                    <a:bodyPr/>
                    <a:lstStyle/>
                    <a:p>
                      <a:pPr algn="ctr"/>
                      <a:r>
                        <a:rPr sz="800" b="1" i="0">
                          <a:solidFill>
                            <a:srgbClr val="0D0D0D"/>
                          </a:solidFill>
                          <a:latin typeface="Calibri"/>
                        </a:rPr>
                        <a:t>115,0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34,2 %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36,1 %</a:t>
                      </a:r>
                    </a:p>
                  </a:txBody>
                  <a:tcPr>
                    <a:solidFill>
                      <a:srgbClr val="DDE8F5"/>
                    </a:solidFill>
                  </a:tcPr>
                </a:tc>
                <a:tc>
                  <a:txBody>
                    <a:bodyPr/>
                    <a:lstStyle/>
                    <a:p>
                      <a:pPr algn="ctr"/>
                      <a:r>
                        <a:rPr sz="750" b="0" i="1">
                          <a:solidFill>
                            <a:srgbClr val="555555"/>
                          </a:solidFill>
                          <a:latin typeface="Calibri"/>
                        </a:rPr>
                        <a:t>34,0 %</a:t>
                      </a:r>
                    </a:p>
                  </a:txBody>
                  <a:tcPr>
                    <a:solidFill>
                      <a:srgbClr val="F7F8FA"/>
                    </a:solidFill>
                  </a:tcPr>
                </a:tc>
                <a:tc>
                  <a:txBody>
                    <a:bodyPr/>
                    <a:lstStyle/>
                    <a:p>
                      <a:pPr algn="ctr"/>
                      <a:r>
                        <a:rPr sz="750" b="0" i="1">
                          <a:solidFill>
                            <a:srgbClr val="555555"/>
                          </a:solidFill>
                          <a:latin typeface="Calibri"/>
                        </a:rPr>
                        <a:t>34,0 %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La societe affiche une croissance solide du chiffre d'affaires et des marges elevees. Le flux de trésorerie disponible est important.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7,82</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La societe affiche une croissance solide du chiffre d'affaires et des marges elevees. Le flux de trésorerie disponible est important.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7,82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ratios de la societe sont solides, avec un EV/EBITDA de 17,4x et un P/E de 27,2x.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410 $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372,74 $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320 $</a:t>
                      </a:r>
                    </a:p>
                  </a:txBody>
                  <a:tcPr>
                    <a:solidFill>
                      <a:srgbClr val="FAF0EF"/>
                    </a:solidFill>
                  </a:tcPr>
                </a:tc>
                <a:tc>
                  <a:txBody>
                    <a:bodyPr/>
                    <a:lstStyle/>
                    <a:p>
                      <a:pPr algn="ctr"/>
                      <a:r>
                        <a:rPr sz="2000" b="1" i="0">
                          <a:solidFill>
                            <a:srgbClr val="2E5FA3"/>
                          </a:solidFill>
                          <a:latin typeface="Calibri"/>
                        </a:rPr>
                        <a:t>410 $</a:t>
                      </a:r>
                    </a:p>
                  </a:txBody>
                  <a:tcPr>
                    <a:solidFill>
                      <a:srgbClr val="EEF3FA"/>
                    </a:solidFill>
                  </a:tcPr>
                </a:tc>
                <a:tc>
                  <a:txBody>
                    <a:bodyPr/>
                    <a:lstStyle/>
                    <a:p>
                      <a:pPr algn="ctr"/>
                      <a:r>
                        <a:rPr sz="2000" b="1" i="0">
                          <a:solidFill>
                            <a:srgbClr val="1A7A4A"/>
                          </a:solidFill>
                          <a:latin typeface="Calibri"/>
                        </a:rPr>
                        <a:t>450 $</a:t>
                      </a:r>
                    </a:p>
                  </a:txBody>
                  <a:tcPr>
                    <a:solidFill>
                      <a:srgbClr val="EAF4EF"/>
                    </a:solidFill>
                  </a:tcPr>
                </a:tc>
              </a:tr>
              <a:tr h="342900">
                <a:tc>
                  <a:txBody>
                    <a:bodyPr/>
                    <a:lstStyle/>
                    <a:p>
                      <a:pPr algn="ctr"/>
                      <a:r>
                        <a:rPr sz="1200" b="1" i="0">
                          <a:solidFill>
                            <a:srgbClr val="A82020"/>
                          </a:solidFill>
                          <a:latin typeface="Calibri"/>
                        </a:rPr>
                        <a:t>-14,1 %</a:t>
                      </a:r>
                    </a:p>
                  </a:txBody>
                  <a:tcPr>
                    <a:solidFill>
                      <a:srgbClr val="FAF0EF"/>
                    </a:solidFill>
                  </a:tcPr>
                </a:tc>
                <a:tc>
                  <a:txBody>
                    <a:bodyPr/>
                    <a:lstStyle/>
                    <a:p>
                      <a:pPr algn="ctr"/>
                      <a:r>
                        <a:rPr sz="1200" b="1" i="0">
                          <a:solidFill>
                            <a:srgbClr val="2E5FA3"/>
                          </a:solidFill>
                          <a:latin typeface="Calibri"/>
                        </a:rPr>
                        <a:t>+10,0 %</a:t>
                      </a:r>
                    </a:p>
                  </a:txBody>
                  <a:tcPr>
                    <a:solidFill>
                      <a:srgbClr val="EEF3FA"/>
                    </a:solidFill>
                  </a:tcPr>
                </a:tc>
                <a:tc>
                  <a:txBody>
                    <a:bodyPr/>
                    <a:lstStyle/>
                    <a:p>
                      <a:pPr algn="ctr"/>
                      <a:r>
                        <a:rPr sz="1200" b="1" i="0">
                          <a:solidFill>
                            <a:srgbClr val="1A7A4A"/>
                          </a:solidFill>
                          <a:latin typeface="Calibri"/>
                        </a:rPr>
                        <a:t>+20,7 %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410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La valeur actualisee de la societe est superieure a son cours actuel, avec un WACC de 10,3% et un TGR de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2 767,8</a:t>
                      </a:r>
                    </a:p>
                  </a:txBody>
                  <a:tcPr>
                    <a:solidFill>
                      <a:srgbClr val="DDE8F5"/>
                    </a:solidFill>
                  </a:tcPr>
                </a:tc>
                <a:tc>
                  <a:txBody>
                    <a:bodyPr/>
                    <a:lstStyle/>
                    <a:p>
                      <a:pPr algn="ctr"/>
                      <a:r>
                        <a:rPr sz="800" b="1" i="0">
                          <a:solidFill>
                            <a:srgbClr val="1B3A6B"/>
                          </a:solidFill>
                          <a:latin typeface="Calibri"/>
                        </a:rPr>
                        <a:t>17,4x</a:t>
                      </a:r>
                    </a:p>
                  </a:txBody>
                  <a:tcPr>
                    <a:solidFill>
                      <a:srgbClr val="DDE8F5"/>
                    </a:solidFill>
                  </a:tcPr>
                </a:tc>
                <a:tc>
                  <a:txBody>
                    <a:bodyPr/>
                    <a:lstStyle/>
                    <a:p>
                      <a:pPr algn="ctr"/>
                      <a:r>
                        <a:rPr sz="800" b="1" i="0">
                          <a:solidFill>
                            <a:srgbClr val="1B3A6B"/>
                          </a:solidFill>
                          <a:latin typeface="Calibri"/>
                        </a:rPr>
                        <a:t>9,9x</a:t>
                      </a:r>
                    </a:p>
                  </a:txBody>
                  <a:tcPr>
                    <a:solidFill>
                      <a:srgbClr val="DDE8F5"/>
                    </a:solidFill>
                  </a:tcPr>
                </a:tc>
                <a:tc>
                  <a:txBody>
                    <a:bodyPr/>
                    <a:lstStyle/>
                    <a:p>
                      <a:pPr algn="ctr"/>
                      <a:r>
                        <a:rPr sz="800" b="1" i="0">
                          <a:solidFill>
                            <a:srgbClr val="1B3A6B"/>
                          </a:solidFill>
                          <a:latin typeface="Calibri"/>
                        </a:rPr>
                        <a:t>27,2x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1 500,0</a:t>
                      </a:r>
                    </a:p>
                  </a:txBody>
                  <a:tcPr>
                    <a:solidFill>
                      <a:srgbClr val="FFFFFF"/>
                    </a:solidFill>
                  </a:tcPr>
                </a:tc>
                <a:tc>
                  <a:txBody>
                    <a:bodyPr/>
                    <a:lstStyle/>
                    <a:p>
                      <a:pPr algn="ctr"/>
                      <a:r>
                        <a:rPr sz="800" b="0" i="0">
                          <a:solidFill>
                            <a:srgbClr val="0D0D0D"/>
                          </a:solidFill>
                          <a:latin typeface="Calibri"/>
                        </a:rPr>
                        <a:t>20,0x</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30,0x</a:t>
                      </a:r>
                    </a:p>
                  </a:txBody>
                  <a:tcPr>
                    <a:solidFill>
                      <a:srgbClr val="FFFFFF"/>
                    </a:solidFill>
                  </a:tcPr>
                </a:tc>
                <a:tc>
                  <a:txBody>
                    <a:bodyPr/>
                    <a:lstStyle/>
                    <a:p>
                      <a:pPr algn="ctr"/>
                      <a:r>
                        <a:rPr sz="800" b="0" i="0">
                          <a:solidFill>
                            <a:srgbClr val="0D0D0D"/>
                          </a:solidFill>
                          <a:latin typeface="Calibri"/>
                        </a:rPr>
                        <a:t>60,0 %</a:t>
                      </a:r>
                    </a:p>
                  </a:txBody>
                  <a:tcPr>
                    <a:solidFill>
                      <a:srgbClr val="FFFFFF"/>
                    </a:solidFill>
                  </a:tcPr>
                </a:tc>
                <a:tc>
                  <a:txBody>
                    <a:bodyPr/>
                    <a:lstStyle/>
                    <a:p>
                      <a:pPr algn="ctr"/>
                      <a:r>
                        <a:rPr sz="800" b="0" i="0">
                          <a:solidFill>
                            <a:srgbClr val="0D0D0D"/>
                          </a:solidFill>
                          <a:latin typeface="Calibri"/>
                        </a:rPr>
                        <a:t>50,0 %</a:t>
                      </a:r>
                    </a:p>
                  </a:txBody>
                  <a:tcPr>
                    <a:solidFill>
                      <a:srgbClr val="FFFFFF"/>
                    </a:solidFill>
                  </a:tcPr>
                </a:tc>
              </a:tr>
              <a:tr h="251999">
                <a:tc>
                  <a:txBody>
                    <a:bodyPr/>
                    <a:lstStyle/>
                    <a:p>
                      <a:pPr algn="l"/>
                      <a:r>
                        <a:rPr sz="800" b="0" i="0">
                          <a:solidFill>
                            <a:srgbClr val="0D0D0D"/>
                          </a:solidFill>
                          <a:latin typeface="Calibri"/>
                        </a:rPr>
                        <a:t>Amazon</a:t>
                      </a:r>
                    </a:p>
                  </a:txBody>
                  <a:tcPr>
                    <a:solidFill>
                      <a:srgbClr val="F7F8FA"/>
                    </a:solidFill>
                  </a:tcPr>
                </a:tc>
                <a:tc>
                  <a:txBody>
                    <a:bodyPr/>
                    <a:lstStyle/>
                    <a:p>
                      <a:pPr algn="ctr"/>
                      <a:r>
                        <a:rPr sz="750" b="0" i="0">
                          <a:solidFill>
                            <a:srgbClr val="555555"/>
                          </a:solidFill>
                          <a:latin typeface="Calibri"/>
                        </a:rPr>
                        <a:t>AMZN</a:t>
                      </a:r>
                    </a:p>
                  </a:txBody>
                  <a:tcPr>
                    <a:solidFill>
                      <a:srgbClr val="F7F8FA"/>
                    </a:solidFill>
                  </a:tcPr>
                </a:tc>
                <a:tc>
                  <a:txBody>
                    <a:bodyPr/>
                    <a:lstStyle/>
                    <a:p>
                      <a:pPr algn="ctr"/>
                      <a:r>
                        <a:rPr sz="800" b="0" i="0">
                          <a:solidFill>
                            <a:srgbClr val="0D0D0D"/>
                          </a:solidFill>
                          <a:latin typeface="Calibri"/>
                        </a:rPr>
                        <a:t>1 200,0</a:t>
                      </a:r>
                    </a:p>
                  </a:txBody>
                  <a:tcPr>
                    <a:solidFill>
                      <a:srgbClr val="F7F8FA"/>
                    </a:solidFill>
                  </a:tcPr>
                </a:tc>
                <a:tc>
                  <a:txBody>
                    <a:bodyPr/>
                    <a:lstStyle/>
                    <a:p>
                      <a:pPr algn="ctr"/>
                      <a:r>
                        <a:rPr sz="800" b="0" i="0">
                          <a:solidFill>
                            <a:srgbClr val="0D0D0D"/>
                          </a:solidFill>
                          <a:latin typeface="Calibri"/>
                        </a:rPr>
                        <a:t>18,0x</a:t>
                      </a:r>
                    </a:p>
                  </a:txBody>
                  <a:tcPr>
                    <a:solidFill>
                      <a:srgbClr val="F7F8FA"/>
                    </a:solidFill>
                  </a:tcPr>
                </a:tc>
                <a:tc>
                  <a:txBody>
                    <a:bodyPr/>
                    <a:lstStyle/>
                    <a:p>
                      <a:pPr algn="ctr"/>
                      <a:r>
                        <a:rPr sz="800" b="0" i="0">
                          <a:solidFill>
                            <a:srgbClr val="0D0D0D"/>
                          </a:solidFill>
                          <a:latin typeface="Calibri"/>
                        </a:rPr>
                        <a:t>9,0x</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55,0 %</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r>
              <a:tr h="251999">
                <a:tc>
                  <a:txBody>
                    <a:bodyPr/>
                    <a:lstStyle/>
                    <a:p>
                      <a:pPr algn="l"/>
                      <a:r>
                        <a:rPr sz="800" b="0" i="0">
                          <a:solidFill>
                            <a:srgbClr val="0D0D0D"/>
                          </a:solidFill>
                          <a:latin typeface="Calibri"/>
                        </a:rPr>
                        <a:t>Facebook</a:t>
                      </a:r>
                    </a:p>
                  </a:txBody>
                  <a:tcPr>
                    <a:solidFill>
                      <a:srgbClr val="FFFFFF"/>
                    </a:solidFill>
                  </a:tcPr>
                </a:tc>
                <a:tc>
                  <a:txBody>
                    <a:bodyPr/>
                    <a:lstStyle/>
                    <a:p>
                      <a:pPr algn="ctr"/>
                      <a:r>
                        <a:rPr sz="750" b="0" i="0">
                          <a:solidFill>
                            <a:srgbClr val="555555"/>
                          </a:solidFill>
                          <a:latin typeface="Calibri"/>
                        </a:rPr>
                        <a:t>FB</a:t>
                      </a:r>
                    </a:p>
                  </a:txBody>
                  <a:tcPr>
                    <a:solidFill>
                      <a:srgbClr val="FFFFFF"/>
                    </a:solidFill>
                  </a:tcPr>
                </a:tc>
                <a:tc>
                  <a:txBody>
                    <a:bodyPr/>
                    <a:lstStyle/>
                    <a:p>
                      <a:pPr algn="ctr"/>
                      <a:r>
                        <a:rPr sz="800" b="0" i="0">
                          <a:solidFill>
                            <a:srgbClr val="0D0D0D"/>
                          </a:solidFill>
                          <a:latin typeface="Calibri"/>
                        </a:rPr>
                        <a:t>800,0</a:t>
                      </a:r>
                    </a:p>
                  </a:txBody>
                  <a:tcPr>
                    <a:solidFill>
                      <a:srgbClr val="FFFFFF"/>
                    </a:solidFill>
                  </a:tcPr>
                </a:tc>
                <a:tc>
                  <a:txBody>
                    <a:bodyPr/>
                    <a:lstStyle/>
                    <a:p>
                      <a:pPr algn="ctr"/>
                      <a:r>
                        <a:rPr sz="800" b="0" i="0">
                          <a:solidFill>
                            <a:srgbClr val="0D0D0D"/>
                          </a:solidFill>
                          <a:latin typeface="Calibri"/>
                        </a:rPr>
                        <a:t>15,0x</a:t>
                      </a:r>
                    </a:p>
                  </a:txBody>
                  <a:tcPr>
                    <a:solidFill>
                      <a:srgbClr val="FFFFFF"/>
                    </a:solidFill>
                  </a:tcPr>
                </a:tc>
                <a:tc>
                  <a:txBody>
                    <a:bodyPr/>
                    <a:lstStyle/>
                    <a:p>
                      <a:pPr algn="ctr"/>
                      <a:r>
                        <a:rPr sz="800" b="0" i="0">
                          <a:solidFill>
                            <a:srgbClr val="0D0D0D"/>
                          </a:solidFill>
                          <a:latin typeface="Calibri"/>
                        </a:rPr>
                        <a:t>7,0x</a:t>
                      </a:r>
                    </a:p>
                  </a:txBody>
                  <a:tcPr>
                    <a:solidFill>
                      <a:srgbClr val="FFFFFF"/>
                    </a:solidFill>
                  </a:tcPr>
                </a:tc>
                <a:tc>
                  <a:txBody>
                    <a:bodyPr/>
                    <a:lstStyle/>
                    <a:p>
                      <a:pPr algn="ctr"/>
                      <a:r>
                        <a:rPr sz="800" b="0" i="0">
                          <a:solidFill>
                            <a:srgbClr val="0D0D0D"/>
                          </a:solidFill>
                          <a:latin typeface="Calibri"/>
                        </a:rPr>
                        <a:t>20,0x</a:t>
                      </a:r>
                    </a:p>
                  </a:txBody>
                  <a:tcPr>
                    <a:solidFill>
                      <a:srgbClr val="FFFFFF"/>
                    </a:solidFill>
                  </a:tcPr>
                </a:tc>
                <a:tc>
                  <a:txBody>
                    <a:bodyPr/>
                    <a:lstStyle/>
                    <a:p>
                      <a:pPr algn="ctr"/>
                      <a:r>
                        <a:rPr sz="800" b="0" i="0">
                          <a:solidFill>
                            <a:srgbClr val="0D0D0D"/>
                          </a:solidFill>
                          <a:latin typeface="Calibri"/>
                        </a:rPr>
                        <a:t>50,0 %</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r>
              <a:tr h="251999">
                <a:tc>
                  <a:txBody>
                    <a:bodyPr/>
                    <a:lstStyle/>
                    <a:p>
                      <a:pPr algn="l"/>
                      <a:r>
                        <a:rPr sz="800" b="0" i="0">
                          <a:solidFill>
                            <a:srgbClr val="0D0D0D"/>
                          </a:solidFill>
                          <a:latin typeface="Calibri"/>
                        </a:rPr>
                        <a:t>Apple</a:t>
                      </a:r>
                    </a:p>
                  </a:txBody>
                  <a:tcPr>
                    <a:solidFill>
                      <a:srgbClr val="F7F8FA"/>
                    </a:solidFill>
                  </a:tcPr>
                </a:tc>
                <a:tc>
                  <a:txBody>
                    <a:bodyPr/>
                    <a:lstStyle/>
                    <a:p>
                      <a:pPr algn="ctr"/>
                      <a:r>
                        <a:rPr sz="750" b="0" i="0">
                          <a:solidFill>
                            <a:srgbClr val="555555"/>
                          </a:solidFill>
                          <a:latin typeface="Calibri"/>
                        </a:rPr>
                        <a:t>AAPL</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6,0x</a:t>
                      </a:r>
                    </a:p>
                  </a:txBody>
                  <a:tcPr>
                    <a:solidFill>
                      <a:srgbClr val="F7F8FA"/>
                    </a:solidFill>
                  </a:tcPr>
                </a:tc>
                <a:tc>
                  <a:txBody>
                    <a:bodyPr/>
                    <a:lstStyle/>
                    <a:p>
                      <a:pPr algn="ctr"/>
                      <a:r>
                        <a:rPr sz="800" b="0" i="0">
                          <a:solidFill>
                            <a:srgbClr val="0D0D0D"/>
                          </a:solidFill>
                          <a:latin typeface="Calibri"/>
                        </a:rPr>
                        <a:t>20,0x</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c>
                  <a:txBody>
                    <a:bodyPr/>
                    <a:lstStyle/>
                    <a:p>
                      <a:pPr algn="ctr"/>
                      <a:r>
                        <a:rPr sz="800" b="0" i="0">
                          <a:solidFill>
                            <a:srgbClr val="0D0D0D"/>
                          </a:solidFill>
                          <a:latin typeface="Calibri"/>
                        </a:rPr>
                        <a:t>35,0 %</a:t>
                      </a:r>
                    </a:p>
                  </a:txBody>
                  <a:tcPr>
                    <a:solidFill>
                      <a:srgbClr val="F7F8FA"/>
                    </a:solidFill>
                  </a:tcPr>
                </a:tc>
              </a:tr>
              <a:tr h="251999">
                <a:tc>
                  <a:txBody>
                    <a:bodyPr/>
                    <a:lstStyle/>
                    <a:p>
                      <a:pPr algn="l"/>
                      <a:r>
                        <a:rPr sz="800" b="0" i="0">
                          <a:solidFill>
                            <a:srgbClr val="0D0D0D"/>
                          </a:solidFill>
                          <a:latin typeface="Calibri"/>
                        </a:rPr>
                        <a:t>IBM</a:t>
                      </a:r>
                    </a:p>
                  </a:txBody>
                  <a:tcPr>
                    <a:solidFill>
                      <a:srgbClr val="FFFFFF"/>
                    </a:solidFill>
                  </a:tcPr>
                </a:tc>
                <a:tc>
                  <a:txBody>
                    <a:bodyPr/>
                    <a:lstStyle/>
                    <a:p>
                      <a:pPr algn="ctr"/>
                      <a:r>
                        <a:rPr sz="750" b="0" i="0">
                          <a:solidFill>
                            <a:srgbClr val="555555"/>
                          </a:solidFill>
                          <a:latin typeface="Calibri"/>
                        </a:rPr>
                        <a:t>IBM</a:t>
                      </a:r>
                    </a:p>
                  </a:txBody>
                  <a:tcPr>
                    <a:solidFill>
                      <a:srgbClr val="FFFFFF"/>
                    </a:solidFill>
                  </a:tcPr>
                </a:tc>
                <a:tc>
                  <a:txBody>
                    <a:bodyPr/>
                    <a:lstStyle/>
                    <a:p>
                      <a:pPr algn="ctr"/>
                      <a:r>
                        <a:rPr sz="800" b="0" i="0">
                          <a:solidFill>
                            <a:srgbClr val="0D0D0D"/>
                          </a:solidFill>
                          <a:latin typeface="Calibri"/>
                        </a:rPr>
                        <a:t>100,0</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5,0x</a:t>
                      </a:r>
                    </a:p>
                  </a:txBody>
                  <a:tcPr>
                    <a:solidFill>
                      <a:srgbClr val="FFFFFF"/>
                    </a:solidFill>
                  </a:tcPr>
                </a:tc>
                <a:tc>
                  <a:txBody>
                    <a:bodyPr/>
                    <a:lstStyle/>
                    <a:p>
                      <a:pPr algn="ctr"/>
                      <a:r>
                        <a:rPr sz="800" b="0" i="0">
                          <a:solidFill>
                            <a:srgbClr val="0D0D0D"/>
                          </a:solidFill>
                          <a:latin typeface="Calibri"/>
                        </a:rPr>
                        <a:t>15,0x</a:t>
                      </a:r>
                    </a:p>
                  </a:txBody>
                  <a:tcPr>
                    <a:solidFill>
                      <a:srgbClr val="FFFFFF"/>
                    </a:solidFill>
                  </a:tcPr>
                </a:tc>
                <a:tc>
                  <a:txBody>
                    <a:bodyPr/>
                    <a:lstStyle/>
                    <a:p>
                      <a:pPr algn="ctr"/>
                      <a:r>
                        <a:rPr sz="800" b="0" i="0">
                          <a:solidFill>
                            <a:srgbClr val="0D0D0D"/>
                          </a:solidFill>
                          <a:latin typeface="Calibri"/>
                        </a:rPr>
                        <a:t>40,0 %</a:t>
                      </a:r>
                    </a:p>
                  </a:txBody>
                  <a:tcPr>
                    <a:solidFill>
                      <a:srgbClr val="FFFFFF"/>
                    </a:solidFill>
                  </a:tcPr>
                </a:tc>
                <a:tc>
                  <a:txBody>
                    <a:bodyPr/>
                    <a:lstStyle/>
                    <a:p>
                      <a:pPr algn="ctr"/>
                      <a:r>
                        <a:rPr sz="800" b="0" i="0">
                          <a:solidFill>
                            <a:srgbClr val="0D0D0D"/>
                          </a:solidFill>
                          <a:latin typeface="Calibri"/>
                        </a:rPr>
                        <a:t>30,0 %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15,0x</a:t>
                      </a:r>
                    </a:p>
                  </a:txBody>
                  <a:tcPr>
                    <a:solidFill>
                      <a:srgbClr val="F7F8FA"/>
                    </a:solidFill>
                  </a:tcPr>
                </a:tc>
                <a:tc>
                  <a:txBody>
                    <a:bodyPr/>
                    <a:lstStyle/>
                    <a:p>
                      <a:pPr algn="ctr"/>
                      <a:r>
                        <a:rPr sz="800" b="1" i="0">
                          <a:solidFill>
                            <a:srgbClr val="0D0D0D"/>
                          </a:solidFill>
                          <a:latin typeface="Calibri"/>
                        </a:rPr>
                        <a:t>7,0x</a:t>
                      </a:r>
                    </a:p>
                  </a:txBody>
                  <a:tcPr>
                    <a:solidFill>
                      <a:srgbClr val="F7F8FA"/>
                    </a:solidFill>
                  </a:tcPr>
                </a:tc>
                <a:tc>
                  <a:txBody>
                    <a:bodyPr/>
                    <a:lstStyle/>
                    <a:p>
                      <a:pPr algn="ctr"/>
                      <a:r>
                        <a:rPr sz="800" b="1" i="0">
                          <a:solidFill>
                            <a:srgbClr val="0D0D0D"/>
                          </a:solidFill>
                          <a:latin typeface="Calibri"/>
                        </a:rPr>
                        <a:t>20,0x</a:t>
                      </a:r>
                    </a:p>
                  </a:txBody>
                  <a:tcPr>
                    <a:solidFill>
                      <a:srgbClr val="F7F8FA"/>
                    </a:solidFill>
                  </a:tcPr>
                </a:tc>
                <a:tc>
                  <a:txBody>
                    <a:bodyPr/>
                    <a:lstStyle/>
                    <a:p>
                      <a:pPr algn="ctr"/>
                      <a:r>
                        <a:rPr sz="800" b="1" i="0">
                          <a:solidFill>
                            <a:srgbClr val="0D0D0D"/>
                          </a:solidFill>
                          <a:latin typeface="Calibri"/>
                        </a:rPr>
                        <a:t>50,0 %</a:t>
                      </a:r>
                    </a:p>
                  </a:txBody>
                  <a:tcPr>
                    <a:solidFill>
                      <a:srgbClr val="F7F8FA"/>
                    </a:solidFill>
                  </a:tcPr>
                </a:tc>
                <a:tc>
                  <a:txBody>
                    <a:bodyPr/>
                    <a:lstStyle/>
                    <a:p>
                      <a:pPr algn="ctr"/>
                      <a:r>
                        <a:rPr sz="800" b="1" i="0">
                          <a:solidFill>
                            <a:srgbClr val="0D0D0D"/>
                          </a:solidFill>
                          <a:latin typeface="Calibri"/>
                        </a:rPr>
                        <a:t>40,0 %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Les ratios de la societe sont solides, avec un EV/EBITDA de 17,4x et un P/E de 27,2x.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2149200"/>
        </p:xfrm>
        <a:graphic>
          <a:graphicData uri="http://schemas.openxmlformats.org/drawingml/2006/table">
            <a:tbl>
              <a:tblPr firstRow="1" bandRow="1">
                <a:tableStyleId>{5C22544A-7EE6-4342-B048-85BDC9FD1C3A}</a:tableStyleId>
              </a:tblPr>
              <a:tblGrid>
                <a:gridCol w="2944620"/>
                <a:gridCol w="1682640"/>
                <a:gridCol w="1682640"/>
                <a:gridCol w="2103300"/>
              </a:tblGrid>
              <a:tr h="268650">
                <a:tc>
                  <a:txBody>
                    <a:bodyPr/>
                    <a:lstStyle/>
                    <a:p>
                      <a:pPr algn="l"/>
                      <a:r>
                        <a:rPr sz="800" b="1" i="0">
                          <a:solidFill>
                            <a:srgbClr val="FFFFFF"/>
                          </a:solidFill>
                          <a:latin typeface="Calibri"/>
                        </a:rPr>
                        <a:t>Methode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268650">
                <a:tc>
                  <a:txBody>
                    <a:bodyPr/>
                    <a:lstStyle/>
                    <a:p>
                      <a:pPr algn="l"/>
                      <a:r>
                        <a:rPr sz="800" b="0" i="0">
                          <a:solidFill>
                            <a:srgbClr val="0D0D0D"/>
                          </a:solidFill>
                          <a:latin typeface="Calibri"/>
                        </a:rPr>
                        <a:t>DCF - Bear</a:t>
                      </a:r>
                    </a:p>
                  </a:txBody>
                  <a:tcPr>
                    <a:solidFill>
                      <a:srgbClr val="FAF0EF"/>
                    </a:solidFill>
                  </a:tcPr>
                </a:tc>
                <a:tc>
                  <a:txBody>
                    <a:bodyPr/>
                    <a:lstStyle/>
                    <a:p>
                      <a:pPr algn="ctr"/>
                      <a:r>
                        <a:rPr sz="800" b="0" i="0">
                          <a:solidFill>
                            <a:srgbClr val="0D0D0D"/>
                          </a:solidFill>
                          <a:latin typeface="Calibri"/>
                        </a:rPr>
                        <a:t>280</a:t>
                      </a:r>
                    </a:p>
                  </a:txBody>
                  <a:tcPr>
                    <a:solidFill>
                      <a:srgbClr val="FAF0EF"/>
                    </a:solidFill>
                  </a:tcPr>
                </a:tc>
                <a:tc>
                  <a:txBody>
                    <a:bodyPr/>
                    <a:lstStyle/>
                    <a:p>
                      <a:pPr algn="ctr"/>
                      <a:r>
                        <a:rPr sz="800" b="0" i="0">
                          <a:solidFill>
                            <a:srgbClr val="0D0D0D"/>
                          </a:solidFill>
                          <a:latin typeface="Calibri"/>
                        </a:rPr>
                        <a:t>300</a:t>
                      </a:r>
                    </a:p>
                  </a:txBody>
                  <a:tcPr>
                    <a:solidFill>
                      <a:srgbClr val="FAF0EF"/>
                    </a:solidFill>
                  </a:tcPr>
                </a:tc>
                <a:tc>
                  <a:txBody>
                    <a:bodyPr/>
                    <a:lstStyle/>
                    <a:p>
                      <a:pPr algn="ctr"/>
                      <a:r>
                        <a:rPr sz="800" b="0" i="0">
                          <a:solidFill>
                            <a:srgbClr val="0D0D0D"/>
                          </a:solidFill>
                          <a:latin typeface="Calibri"/>
                        </a:rPr>
                        <a:t>290</a:t>
                      </a:r>
                    </a:p>
                  </a:txBody>
                  <a:tcPr>
                    <a:solidFill>
                      <a:srgbClr val="FAF0EF"/>
                    </a:solidFill>
                  </a:tcPr>
                </a:tc>
              </a:tr>
              <a:tr h="268650">
                <a:tc>
                  <a:txBody>
                    <a:bodyPr/>
                    <a:lstStyle/>
                    <a:p>
                      <a:pPr algn="l"/>
                      <a:r>
                        <a:rPr sz="800" b="0" i="0">
                          <a:solidFill>
                            <a:srgbClr val="0D0D0D"/>
                          </a:solidFill>
                          <a:latin typeface="Calibri"/>
                        </a:rPr>
                        <a:t>DCF - Base</a:t>
                      </a:r>
                    </a:p>
                  </a:txBody>
                  <a:tcPr>
                    <a:solidFill>
                      <a:srgbClr val="EEF3FA"/>
                    </a:solidFill>
                  </a:tcPr>
                </a:tc>
                <a:tc>
                  <a:txBody>
                    <a:bodyPr/>
                    <a:lstStyle/>
                    <a:p>
                      <a:pPr algn="ctr"/>
                      <a:r>
                        <a:rPr sz="800" b="0" i="0">
                          <a:solidFill>
                            <a:srgbClr val="0D0D0D"/>
                          </a:solidFill>
                          <a:latin typeface="Calibri"/>
                        </a:rPr>
                        <a:t>380</a:t>
                      </a:r>
                    </a:p>
                  </a:txBody>
                  <a:tcPr>
                    <a:solidFill>
                      <a:srgbClr val="EEF3FA"/>
                    </a:solidFill>
                  </a:tcPr>
                </a:tc>
                <a:tc>
                  <a:txBody>
                    <a:bodyPr/>
                    <a:lstStyle/>
                    <a:p>
                      <a:pPr algn="ctr"/>
                      <a:r>
                        <a:rPr sz="800" b="0" i="0">
                          <a:solidFill>
                            <a:srgbClr val="0D0D0D"/>
                          </a:solidFill>
                          <a:latin typeface="Calibri"/>
                        </a:rPr>
                        <a:t>420</a:t>
                      </a:r>
                    </a:p>
                  </a:txBody>
                  <a:tcPr>
                    <a:solidFill>
                      <a:srgbClr val="EEF3FA"/>
                    </a:solidFill>
                  </a:tcPr>
                </a:tc>
                <a:tc>
                  <a:txBody>
                    <a:bodyPr/>
                    <a:lstStyle/>
                    <a:p>
                      <a:pPr algn="ctr"/>
                      <a:r>
                        <a:rPr sz="800" b="0" i="0">
                          <a:solidFill>
                            <a:srgbClr val="0D0D0D"/>
                          </a:solidFill>
                          <a:latin typeface="Calibri"/>
                        </a:rPr>
                        <a:t>400</a:t>
                      </a:r>
                    </a:p>
                  </a:txBody>
                  <a:tcPr>
                    <a:solidFill>
                      <a:srgbClr val="EEF3FA"/>
                    </a:solidFill>
                  </a:tcPr>
                </a:tc>
              </a:tr>
              <a:tr h="268650">
                <a:tc>
                  <a:txBody>
                    <a:bodyPr/>
                    <a:lstStyle/>
                    <a:p>
                      <a:pPr algn="l"/>
                      <a:r>
                        <a:rPr sz="800" b="0" i="0">
                          <a:solidFill>
                            <a:srgbClr val="0D0D0D"/>
                          </a:solidFill>
                          <a:latin typeface="Calibri"/>
                        </a:rPr>
                        <a:t>DCF - Bull</a:t>
                      </a:r>
                    </a:p>
                  </a:txBody>
                  <a:tcPr>
                    <a:solidFill>
                      <a:srgbClr val="EAF4EF"/>
                    </a:solidFill>
                  </a:tcPr>
                </a:tc>
                <a:tc>
                  <a:txBody>
                    <a:bodyPr/>
                    <a:lstStyle/>
                    <a:p>
                      <a:pPr algn="ctr"/>
                      <a:r>
                        <a:rPr sz="800" b="0" i="0">
                          <a:solidFill>
                            <a:srgbClr val="0D0D0D"/>
                          </a:solidFill>
                          <a:latin typeface="Calibri"/>
                        </a:rPr>
                        <a:t>450</a:t>
                      </a:r>
                    </a:p>
                  </a:txBody>
                  <a:tcPr>
                    <a:solidFill>
                      <a:srgbClr val="EAF4EF"/>
                    </a:solidFill>
                  </a:tcPr>
                </a:tc>
                <a:tc>
                  <a:txBody>
                    <a:bodyPr/>
                    <a:lstStyle/>
                    <a:p>
                      <a:pPr algn="ctr"/>
                      <a:r>
                        <a:rPr sz="800" b="0" i="0">
                          <a:solidFill>
                            <a:srgbClr val="0D0D0D"/>
                          </a:solidFill>
                          <a:latin typeface="Calibri"/>
                        </a:rPr>
                        <a:t>500</a:t>
                      </a:r>
                    </a:p>
                  </a:txBody>
                  <a:tcPr>
                    <a:solidFill>
                      <a:srgbClr val="EAF4EF"/>
                    </a:solidFill>
                  </a:tcPr>
                </a:tc>
                <a:tc>
                  <a:txBody>
                    <a:bodyPr/>
                    <a:lstStyle/>
                    <a:p>
                      <a:pPr algn="ctr"/>
                      <a:r>
                        <a:rPr sz="800" b="0" i="0">
                          <a:solidFill>
                            <a:srgbClr val="0D0D0D"/>
                          </a:solidFill>
                          <a:latin typeface="Calibri"/>
                        </a:rPr>
                        <a:t>475</a:t>
                      </a:r>
                    </a:p>
                  </a:txBody>
                  <a:tcPr>
                    <a:solidFill>
                      <a:srgbClr val="EAF4EF"/>
                    </a:solidFill>
                  </a:tcPr>
                </a:tc>
              </a:tr>
              <a:tr h="268650">
                <a:tc>
                  <a:txBody>
                    <a:bodyPr/>
                    <a:lstStyle/>
                    <a:p>
                      <a:pPr algn="l"/>
                      <a:r>
                        <a:rPr sz="800" b="0" i="0">
                          <a:solidFill>
                            <a:srgbClr val="0D0D0D"/>
                          </a:solidFill>
                          <a:latin typeface="Calibri"/>
                        </a:rPr>
                        <a:t>EV/EBITDA - Mediane peers</a:t>
                      </a:r>
                    </a:p>
                  </a:txBody>
                  <a:tcPr>
                    <a:solidFill>
                      <a:srgbClr val="F7F8FA"/>
                    </a:solidFill>
                  </a:tcPr>
                </a:tc>
                <a:tc>
                  <a:txBody>
                    <a:bodyPr/>
                    <a:lstStyle/>
                    <a:p>
                      <a:pPr algn="ctr"/>
                      <a:r>
                        <a:rPr sz="800" b="0" i="0">
                          <a:solidFill>
                            <a:srgbClr val="0D0D0D"/>
                          </a:solidFill>
                          <a:latin typeface="Calibri"/>
                        </a:rPr>
                        <a:t>350</a:t>
                      </a:r>
                    </a:p>
                  </a:txBody>
                  <a:tcPr>
                    <a:solidFill>
                      <a:srgbClr val="F7F8FA"/>
                    </a:solidFill>
                  </a:tcPr>
                </a:tc>
                <a:tc>
                  <a:txBody>
                    <a:bodyPr/>
                    <a:lstStyle/>
                    <a:p>
                      <a:pPr algn="ctr"/>
                      <a:r>
                        <a:rPr sz="800" b="0" i="0">
                          <a:solidFill>
                            <a:srgbClr val="0D0D0D"/>
                          </a:solidFill>
                          <a:latin typeface="Calibri"/>
                        </a:rPr>
                        <a:t>400</a:t>
                      </a:r>
                    </a:p>
                  </a:txBody>
                  <a:tcPr>
                    <a:solidFill>
                      <a:srgbClr val="F7F8FA"/>
                    </a:solidFill>
                  </a:tcPr>
                </a:tc>
                <a:tc>
                  <a:txBody>
                    <a:bodyPr/>
                    <a:lstStyle/>
                    <a:p>
                      <a:pPr algn="ctr"/>
                      <a:r>
                        <a:rPr sz="800" b="0" i="0">
                          <a:solidFill>
                            <a:srgbClr val="0D0D0D"/>
                          </a:solidFill>
                          <a:latin typeface="Calibri"/>
                        </a:rPr>
                        <a:t>375</a:t>
                      </a:r>
                    </a:p>
                  </a:txBody>
                  <a:tcPr>
                    <a:solidFill>
                      <a:srgbClr val="F7F8FA"/>
                    </a:solidFill>
                  </a:tcPr>
                </a:tc>
              </a:tr>
              <a:tr h="268650">
                <a:tc>
                  <a:txBody>
                    <a:bodyPr/>
                    <a:lstStyle/>
                    <a:p>
                      <a:pPr algn="l"/>
                      <a:r>
                        <a:rPr sz="800" b="0" i="0">
                          <a:solidFill>
                            <a:srgbClr val="0D0D0D"/>
                          </a:solidFill>
                          <a:latin typeface="Calibri"/>
                        </a:rPr>
                        <a:t>EV/EBITDA - Prime tech +50 %</a:t>
                      </a:r>
                    </a:p>
                  </a:txBody>
                  <a:tcPr>
                    <a:solidFill>
                      <a:srgbClr val="F7F8FA"/>
                    </a:solidFill>
                  </a:tcPr>
                </a:tc>
                <a:tc>
                  <a:txBody>
                    <a:bodyPr/>
                    <a:lstStyle/>
                    <a:p>
                      <a:pPr algn="ctr"/>
                      <a:r>
                        <a:rPr sz="800" b="0" i="0">
                          <a:solidFill>
                            <a:srgbClr val="0D0D0D"/>
                          </a:solidFill>
                          <a:latin typeface="Calibri"/>
                        </a:rPr>
                        <a:t>420</a:t>
                      </a:r>
                    </a:p>
                  </a:txBody>
                  <a:tcPr>
                    <a:solidFill>
                      <a:srgbClr val="F7F8FA"/>
                    </a:solidFill>
                  </a:tcPr>
                </a:tc>
                <a:tc>
                  <a:txBody>
                    <a:bodyPr/>
                    <a:lstStyle/>
                    <a:p>
                      <a:pPr algn="ctr"/>
                      <a:r>
                        <a:rPr sz="800" b="0" i="0">
                          <a:solidFill>
                            <a:srgbClr val="0D0D0D"/>
                          </a:solidFill>
                          <a:latin typeface="Calibri"/>
                        </a:rPr>
                        <a:t>480</a:t>
                      </a:r>
                    </a:p>
                  </a:txBody>
                  <a:tcPr>
                    <a:solidFill>
                      <a:srgbClr val="F7F8FA"/>
                    </a:solidFill>
                  </a:tcPr>
                </a:tc>
                <a:tc>
                  <a:txBody>
                    <a:bodyPr/>
                    <a:lstStyle/>
                    <a:p>
                      <a:pPr algn="ctr"/>
                      <a:r>
                        <a:rPr sz="800" b="0" i="0">
                          <a:solidFill>
                            <a:srgbClr val="0D0D0D"/>
                          </a:solidFill>
                          <a:latin typeface="Calibri"/>
                        </a:rPr>
                        <a:t>450</a:t>
                      </a:r>
                    </a:p>
                  </a:txBody>
                  <a:tcPr>
                    <a:solidFill>
                      <a:srgbClr val="F7F8FA"/>
                    </a:solidFill>
                  </a:tcPr>
                </a:tc>
              </a:tr>
              <a:tr h="268650">
                <a:tc>
                  <a:txBody>
                    <a:bodyPr/>
                    <a:lstStyle/>
                    <a:p>
                      <a:pPr algn="l"/>
                      <a:r>
                        <a:rPr sz="800" b="0" i="0">
                          <a:solidFill>
                            <a:srgbClr val="0D0D0D"/>
                          </a:solidFill>
                          <a:latin typeface="Calibri"/>
                        </a:rPr>
                        <a:t>EV/Revenue - Mediane peers</a:t>
                      </a:r>
                    </a:p>
                  </a:txBody>
                  <a:tcPr>
                    <a:solidFill>
                      <a:srgbClr val="F7F8FA"/>
                    </a:solidFill>
                  </a:tcPr>
                </a:tc>
                <a:tc>
                  <a:txBody>
                    <a:bodyPr/>
                    <a:lstStyle/>
                    <a:p>
                      <a:pPr algn="ctr"/>
                      <a:r>
                        <a:rPr sz="800" b="0" i="0">
                          <a:solidFill>
                            <a:srgbClr val="0D0D0D"/>
                          </a:solidFill>
                          <a:latin typeface="Calibri"/>
                        </a:rPr>
                        <a:t>300</a:t>
                      </a:r>
                    </a:p>
                  </a:txBody>
                  <a:tcPr>
                    <a:solidFill>
                      <a:srgbClr val="F7F8FA"/>
                    </a:solidFill>
                  </a:tcPr>
                </a:tc>
                <a:tc>
                  <a:txBody>
                    <a:bodyPr/>
                    <a:lstStyle/>
                    <a:p>
                      <a:pPr algn="ctr"/>
                      <a:r>
                        <a:rPr sz="800" b="0" i="0">
                          <a:solidFill>
                            <a:srgbClr val="0D0D0D"/>
                          </a:solidFill>
                          <a:latin typeface="Calibri"/>
                        </a:rPr>
                        <a:t>350</a:t>
                      </a:r>
                    </a:p>
                  </a:txBody>
                  <a:tcPr>
                    <a:solidFill>
                      <a:srgbClr val="F7F8FA"/>
                    </a:solidFill>
                  </a:tcPr>
                </a:tc>
                <a:tc>
                  <a:txBody>
                    <a:bodyPr/>
                    <a:lstStyle/>
                    <a:p>
                      <a:pPr algn="ctr"/>
                      <a:r>
                        <a:rPr sz="800" b="0" i="0">
                          <a:solidFill>
                            <a:srgbClr val="0D0D0D"/>
                          </a:solidFill>
                          <a:latin typeface="Calibri"/>
                        </a:rPr>
                        <a:t>325</a:t>
                      </a:r>
                    </a:p>
                  </a:txBody>
                  <a:tcPr>
                    <a:solidFill>
                      <a:srgbClr val="F7F8FA"/>
                    </a:solidFill>
                  </a:tcPr>
                </a:tc>
              </a:tr>
              <a:tr h="268650">
                <a:tc>
                  <a:txBody>
                    <a:bodyPr/>
                    <a:lstStyle/>
                    <a:p>
                      <a:pPr algn="l"/>
                      <a:r>
                        <a:rPr sz="800" b="0" i="0">
                          <a:solidFill>
                            <a:srgbClr val="0D0D0D"/>
                          </a:solidFill>
                          <a:latin typeface="Calibri"/>
                        </a:rPr>
                        <a:t>Cours actuel (372,74)</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372,74</a:t>
                      </a:r>
                    </a:p>
                  </a:txBody>
                  <a:tcPr>
                    <a:solidFill>
                      <a:srgbClr val="EEF3FA"/>
                    </a:solidFill>
                  </a:tcPr>
                </a:tc>
              </a:tr>
            </a:tbl>
          </a:graphicData>
        </a:graphic>
      </p:graphicFrame>
      <p:sp>
        <p:nvSpPr>
          <p:cNvPr id="18" name="TextBox 17"/>
          <p:cNvSpPr txBox="1"/>
          <p:nvPr/>
        </p:nvSpPr>
        <p:spPr>
          <a:xfrm>
            <a:off x="367200" y="3528000"/>
            <a:ext cx="8413200" cy="914400"/>
          </a:xfrm>
          <a:prstGeom prst="rect">
            <a:avLst/>
          </a:prstGeom>
          <a:noFill/>
        </p:spPr>
        <p:txBody>
          <a:bodyPr wrap="square">
            <a:spAutoFit/>
          </a:bodyPr>
          <a:lstStyle/>
          <a:p>
            <a:pPr algn="l"/>
            <a:r>
              <a:rPr sz="850" b="0" i="0">
                <a:solidFill>
                  <a:srgbClr val="555555"/>
                </a:solidFill>
                <a:latin typeface="Calibri"/>
              </a:rPr>
              <a:t>La valeur actualisee de la societe est superieure a son cours actuel, avec un WACC de 10,3% et un TGR de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Concurrence accrue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Microsoft face une concurrence accrue avec 15% de parts de marche en baisse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Marges en baisse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marges bénéficiaires de 36,1% pourraient chuter de 10% en raison des coûts de R&amp;D</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Surévaluation</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ratio EV/EBITDA de 17,36x est surévalué, avec un risque de correction de 20%</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Recession economique</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Changement dans les tendances technologiques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Problemes de gouvernance</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+0,095</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45,1 %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9</a:t>
                      </a:r>
                    </a:p>
                  </a:txBody>
                  <a:tcPr>
                    <a:solidFill>
                      <a:srgbClr val="EAF4EF"/>
                    </a:solidFill>
                  </a:tcPr>
                </a:tc>
                <a:tc>
                  <a:txBody>
                    <a:bodyPr/>
                    <a:lstStyle/>
                    <a:p>
                      <a:pPr algn="ctr"/>
                      <a:r>
                        <a:rPr sz="800" b="0" i="0">
                          <a:solidFill>
                            <a:srgbClr val="0D0D0D"/>
                          </a:solidFill>
                          <a:latin typeface="Calibri"/>
                        </a:rPr>
                        <a:t>+0,322</a:t>
                      </a:r>
                    </a:p>
                  </a:txBody>
                  <a:tcPr>
                    <a:solidFill>
                      <a:srgbClr val="EAF4EF"/>
                    </a:solidFill>
                  </a:tcPr>
                </a:tc>
                <a:tc>
                  <a:txBody>
                    <a:bodyPr/>
                    <a:lstStyle/>
                    <a:p>
                      <a:pPr algn="ctr"/>
                      <a:r>
                        <a:rPr sz="800" b="0" i="0">
                          <a:solidFill>
                            <a:srgbClr val="0D0D0D"/>
                          </a:solidFill>
                          <a:latin typeface="Calibri"/>
                        </a:rPr>
                        <a:t>Adoption du cloud, Innovation, Echelle</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15</a:t>
                      </a:r>
                    </a:p>
                  </a:txBody>
                  <a:tcPr>
                    <a:solidFill>
                      <a:srgbClr val="FFFFFF"/>
                    </a:solidFill>
                  </a:tcPr>
                </a:tc>
                <a:tc>
                  <a:txBody>
                    <a:bodyPr/>
                    <a:lstStyle/>
                    <a:p>
                      <a:pPr algn="ctr"/>
                      <a:r>
                        <a:rPr sz="800" b="0" i="0">
                          <a:solidFill>
                            <a:srgbClr val="0D0D0D"/>
                          </a:solidFill>
                          <a:latin typeface="Calibri"/>
                        </a:rPr>
                        <a:t>+0,451</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+0,227</a:t>
                      </a:r>
                    </a:p>
                  </a:txBody>
                  <a:tcPr>
                    <a:solidFill>
                      <a:srgbClr val="FAF0EF"/>
                    </a:solidFill>
                  </a:tcPr>
                </a:tc>
                <a:tc>
                  <a:txBody>
                    <a:bodyPr/>
                    <a:lstStyle/>
                    <a:p>
                      <a:pPr algn="ctr"/>
                      <a:r>
                        <a:rPr sz="800" b="0" i="0">
                          <a:solidFill>
                            <a:srgbClr val="0D0D0D"/>
                          </a:solidFill>
                          <a:latin typeface="Calibri"/>
                        </a:rPr>
                        <a:t>Concurrence, Dependance du cloud, Regulation</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global de la presse financiere sur MSFT cette semaine est plutôt positif, avec des articles soulignant la solidité de l'entreprise et son potentiel de croissance. Les analystes semblent être optimistes quant à l'avenir de Microsoft, notant son bilan solide et son potentiel de valorisation à long terme.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25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106799"/>
            <a:ext cx="8413200" cy="1004400"/>
          </a:xfrm>
          <a:prstGeom prst="rect">
            <a:avLst/>
          </a:prstGeom>
          <a:noFill/>
        </p:spPr>
        <p:txBody>
          <a:bodyPr wrap="square">
            <a:spAutoFit/>
          </a:bodyPr>
          <a:lstStyle/>
          <a:p>
            <a:pPr algn="l"/>
            <a:r>
              <a:rPr sz="850" b="0" i="0">
                <a:solidFill>
                  <a:srgbClr val="555555"/>
                </a:solidFill>
                <a:latin typeface="Calibri"/>
              </a:rPr>
              <a:t>La valorisation de Microsoft est raisonnable par rapport a ses pairs. Le multiple EV/EBITDA est de 17,4x, ce qui est inferieur a la mediane du secteur.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  USD  ·  Au 25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372,74 $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372,74 $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-5,0 %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44935"/>
            <a:ext cx="498636" cy="25026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054980"/>
            <a:ext cx="498636" cy="84021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2710871"/>
            <a:ext cx="498636" cy="118432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2626670"/>
            <a:ext cx="498636" cy="126852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516624"/>
            <a:ext cx="498636" cy="1378575"/>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17903"/>
            <a:ext cx="498636" cy="1377296"/>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752606"/>
            <a:ext cx="498636" cy="1142593"/>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820642"/>
            <a:ext cx="498636" cy="1074557"/>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3306578"/>
            <a:ext cx="498636" cy="58862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3648679"/>
            <a:ext cx="498636" cy="24652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3823200"/>
            <a:ext cx="498636" cy="72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TextBox 59"/>
          <p:cNvSpPr txBox="1"/>
          <p:nvPr/>
        </p:nvSpPr>
        <p:spPr>
          <a:xfrm>
            <a:off x="439200" y="2174400"/>
            <a:ext cx="1800000" cy="144000"/>
          </a:xfrm>
          <a:prstGeom prst="rect">
            <a:avLst/>
          </a:prstGeom>
          <a:noFill/>
        </p:spPr>
        <p:txBody>
          <a:bodyPr wrap="square">
            <a:spAutoFit/>
          </a:bodyPr>
          <a:lstStyle/>
          <a:p>
            <a:pPr algn="l"/>
            <a:r>
              <a:rPr sz="700" b="0" i="0">
                <a:solidFill>
                  <a:srgbClr val="2E5FA3"/>
                </a:solidFill>
                <a:latin typeface="Calibri"/>
              </a:rPr>
              <a:t>▲ Max : 530,42 $</a:t>
            </a:r>
          </a:p>
        </p:txBody>
      </p:sp>
      <p:sp>
        <p:nvSpPr>
          <p:cNvPr id="61" name="TextBox 60"/>
          <p:cNvSpPr txBox="1"/>
          <p:nvPr/>
        </p:nvSpPr>
        <p:spPr>
          <a:xfrm>
            <a:off x="439200" y="3643199"/>
            <a:ext cx="1800000" cy="144000"/>
          </a:xfrm>
          <a:prstGeom prst="rect">
            <a:avLst/>
          </a:prstGeom>
          <a:noFill/>
        </p:spPr>
        <p:txBody>
          <a:bodyPr wrap="square">
            <a:spAutoFit/>
          </a:bodyPr>
          <a:lstStyle/>
          <a:p>
            <a:pPr algn="l"/>
            <a:r>
              <a:rPr sz="700" b="0" i="0">
                <a:solidFill>
                  <a:srgbClr val="555555"/>
                </a:solidFill>
                <a:latin typeface="Calibri"/>
              </a:rPr>
              <a:t>▼ Min : 372,74 $</a:t>
            </a:r>
          </a:p>
        </p:txBody>
      </p:sp>
      <p:sp>
        <p:nvSpPr>
          <p:cNvPr id="62" name="TextBox 61"/>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Microsoft Corporation presente une croissance solide et des marges elevees. La societe beneficie d'un positionnement fort dans le secteur du logiciel et des services cloud.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