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5600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Calibri"/>
              </a:rPr>
              <a:t>FinSight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8000" y="475200"/>
            <a:ext cx="1188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7200"/>
            <a:ext cx="8229600" cy="29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EE"/>
                </a:solidFill>
                <a:latin typeface="Calibri"/>
              </a:rPr>
              <a:t>Pitchbook  —  Analyse d'investissement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1599"/>
            <a:ext cx="8229600" cy="691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B3A6B"/>
                </a:solidFill>
                <a:latin typeface="Calibri"/>
              </a:rPr>
              <a:t>Microsoft Corporation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2897"/>
            <a:ext cx="8229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Calibri"/>
              </a:rPr>
              <a:t>MSFT  ·  Technology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1999" y="2617297"/>
            <a:ext cx="3600000" cy="432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6000" y="2635297"/>
            <a:ext cx="3491999" cy="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● BUY  ·  Prix cible base : 420 $  ·  Upside : +13,4 %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44640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Rapport confidentiel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000" y="4554000"/>
            <a:ext cx="4114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748800"/>
            <a:ext cx="8413200" cy="4392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748800"/>
            <a:ext cx="46800" cy="439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766800"/>
            <a:ext cx="109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4A"/>
                </a:solidFill>
                <a:latin typeface="Calibri"/>
              </a:rPr>
              <a:t>● BUY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2000" y="766800"/>
            <a:ext cx="6948000" cy="4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6B"/>
                </a:solidFill>
                <a:latin typeface="Calibri"/>
              </a:rPr>
              <a:t>Prix cible base : 420 $  ·  Upside : +13,4 %  ·  Bear : 350 $ (-5,5 %)  ·  Bull : 480 $ (+29,6 %)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200" y="1353600"/>
            <a:ext cx="41616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THÈSE D'INVESTISSEMENT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6632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16452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Pricing power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18144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Croissance des revenus cloud Azure +20 % YoY soutenue par l'IA générative avec 30 % des nouveaux contrats incluant des services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7200" y="22140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21960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Économie d'échelle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23652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Marges EBITDA en hausse à 56,9 % grâce au mix SaaS haute marge et économies d'échelle sur les datacenters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764800"/>
            <a:ext cx="54000" cy="129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2746800"/>
            <a:ext cx="3931200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Résilience croissance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2916000"/>
            <a:ext cx="3931200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Trésorerie nette de 100 Md$ permettant des rachats d'actions de 20 Md$/an et des acquisitions ciblées.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8800" y="1353600"/>
            <a:ext cx="4068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RISQUES PRINCIPAUX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8800" y="16632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5600" y="16452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Concurrence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5600" y="18144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Risque de régulation antitrust sur le cloud avec amendes potentielles de 5-10 Md$ | Horizon 2026-2027 et impact de -2-3 % sur le FCF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8800" y="22140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5600" y="21960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Régulation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5600" y="23652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Concurrence accrue dans l'IA générative avec baisse des prix des services cloud de -10 % | Horizon 2026 et pression sur les marges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8800" y="2764800"/>
            <a:ext cx="54000" cy="1296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5600" y="2746800"/>
            <a:ext cx="3794399" cy="18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3A6B"/>
                </a:solidFill>
                <a:latin typeface="Calibri"/>
              </a:rPr>
              <a:t>Dépendance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5600" y="2916000"/>
            <a:ext cx="3794399" cy="37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Dépendance à la croissance du cloud (40 % des revenus) avec ralentissement possible en cas de récession | Horizon 2027 et impact de -5 % sur le 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25200" y="1353600"/>
            <a:ext cx="10800" cy="17424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33012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200" y="3333600"/>
            <a:ext cx="4010400" cy="19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999" y="3333600"/>
            <a:ext cx="39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À SURVEILLER (12M)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7200" y="3582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9200" y="3560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Azure AI Boost: Lancement de Azure AI Studio en 2026 avec intégration native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7200" y="3780000"/>
            <a:ext cx="43200" cy="936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9200" y="3758400"/>
            <a:ext cx="3837600" cy="172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Acquisition ciblée: Rachat d'un acteur spécialisé en IA générative pour 50 Md$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8800" y="3333600"/>
            <a:ext cx="4068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5600" y="3333600"/>
            <a:ext cx="399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VALORISATION SYNTHÉTIQUE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4708800" y="3560400"/>
          <a:ext cx="4068000" cy="3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000"/>
                <a:gridCol w="1017000"/>
                <a:gridCol w="1017000"/>
              </a:tblGrid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Multiple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Médiane pairs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 NTM (x)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27,0x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 (x)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16,5x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99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Cible DCF ($)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420 $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+13,4 %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Rectangle 42"/>
          <p:cNvSpPr/>
          <p:nvPr/>
        </p:nvSpPr>
        <p:spPr>
          <a:xfrm>
            <a:off x="4525200" y="3301200"/>
            <a:ext cx="10800" cy="720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7200" y="4042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72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72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17,3x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vs 16,5x med. pairs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876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4876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76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10,3 %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76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WACC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76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Beta 1,11  ·  RFR 4,3 %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080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6080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80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420 $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80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Valeur DCF 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980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Upside +13,4 % vs cours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28400" y="4082400"/>
            <a:ext cx="2030400" cy="7056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728400" y="4082400"/>
            <a:ext cx="46800" cy="705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18400" y="4136400"/>
            <a:ext cx="189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+0,236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8400" y="4532400"/>
            <a:ext cx="189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Sentiment FinBERT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8400" y="4730400"/>
            <a:ext cx="189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Positif  ·  30 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Sommaire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200" y="8964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7200" y="8964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9504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968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Company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12024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Microsoft Corporation  · 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5200" y="10584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3–5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200" y="15912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7200" y="15912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999" y="16452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6632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Analyse Financière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8971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Compte de résultat, bilan &amp; liquidité,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5200" y="17532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6–8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200" y="22860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200" y="22860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23400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000" y="23580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Valorisation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000" y="25919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DCF, comparable peers, Football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5200" y="24480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9–11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" y="2980800"/>
            <a:ext cx="8413200" cy="622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7200" y="29808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999" y="30348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000" y="3052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Risques &amp; Stratégie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000" y="3286799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Concurrence IA  ·  Régulation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5200" y="3142799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12–13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200" y="3675600"/>
            <a:ext cx="8413200" cy="622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200" y="3675600"/>
            <a:ext cx="46800" cy="622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999" y="3729600"/>
            <a:ext cx="475200" cy="5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88888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000" y="3747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  <a:latin typeface="Calibri"/>
              </a:rPr>
              <a:t>Sentiment &amp; Annexes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000" y="3981600"/>
            <a:ext cx="61200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5200" y="3837600"/>
            <a:ext cx="13752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2E5FA3"/>
                </a:solidFill>
                <a:latin typeface="Calibri"/>
              </a:rPr>
              <a:t>14–15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Présentation, modèle économique &amp; données de marché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Microsoft Corporation  ·  Présentation &amp; Positionnement stratégique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939200" cy="35208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3520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1022400"/>
            <a:ext cx="466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0D0D"/>
                </a:solidFill>
                <a:latin typeface="Calibri"/>
              </a:rPr>
              <a:t>Microsoft domine le marché des logiciels et du cloud avec Azure, Office 365 et LinkedIn, combinant une base installée captive à des revenus récurrents. Son positionnement hybride (licences perpétuelles + abonnements SaaS) lui confère une résilience face aux cycles économiques. L'intégration verticale (datacenters, IA, sécurité) crée des barrières à l'entrée et un pricing power durable. L'entreprise articule son activité autour de deux segments stratégiques 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3999" y="2599200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200" y="2556000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Productivity and Business Processes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200" y="2714400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clé générant 35 % des revenus via abonnements Office 365, Dynamics 365 et LinkedIn. Modèle hautement récurent avec marge brute de 75 % et croissance annuelle de 12-15 %. Clients : entreprises, PME et professionnels. Moteurs : adoption du cloud, automatisation des processus métiers et expansion internationale.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999" y="3301199"/>
            <a:ext cx="64800" cy="64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200" y="3257999"/>
            <a:ext cx="4338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0D0D"/>
                </a:solidFill>
                <a:latin typeface="Calibri"/>
              </a:rPr>
              <a:t>Intelligent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200" y="3416399"/>
            <a:ext cx="433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555555"/>
                </a:solidFill>
                <a:latin typeface="Calibri"/>
              </a:rPr>
              <a:t>Segment cloud leader avec Azure (60 % de part de marché) et services associés (SQL Server, GitHub). Modèle à forte marge (70 % GM) et croissance à deux chiffres (20 % YoY). Clients : entreprises Fortune 500 et startups. Moteurs : migration des datacenters, IA générative et réglementations locales.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8400" y="961200"/>
            <a:ext cx="32004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58400" y="9612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48400" y="10152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2 751,2 Mds$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48400" y="14112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Capitalisation boursière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8400" y="18468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58400" y="1846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48400" y="19008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281,7 Mds$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8400" y="22968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Chiffre d'affaires (2025)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58400" y="27324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58400" y="27324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48400" y="27864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370,50 $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8400" y="31824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8400" y="3621600"/>
            <a:ext cx="32004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58400" y="36216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8400" y="3675600"/>
            <a:ext cx="30636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17,3x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48400" y="4071600"/>
            <a:ext cx="30636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EV/EBITDA (LTM)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8400" y="4269600"/>
            <a:ext cx="30636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P/E : 27,0x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Modèle Économique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Segments opérationnels et moteurs de croissance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4150800" cy="3520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1508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5FA3"/>
                </a:solidFill>
                <a:latin typeface="Calibri"/>
              </a:rPr>
              <a:t>35%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Productivity and Business Processes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clé générant 35 % des revenus via abonnements Office 365, Dynamics 365 et LinkedIn. Modèle hautement récurent avec marge brute de 75 % et croissance annuelle de 12-15 %. Clients : entreprises, PME et professionnels. Moteurs : adoption du cloud, automatisation des processus métiers et expansion internationale.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26000" y="961200"/>
            <a:ext cx="4150800" cy="3520800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26000" y="961200"/>
            <a:ext cx="4150800" cy="54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16000" y="1141200"/>
            <a:ext cx="3970800" cy="64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7A4A"/>
                </a:solidFill>
                <a:latin typeface="Calibri"/>
              </a:rP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6000" y="1785600"/>
            <a:ext cx="39708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du 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16000" y="1965600"/>
            <a:ext cx="3970800" cy="18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6000" y="2059200"/>
            <a:ext cx="3970800" cy="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Intelligent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6000" y="2332800"/>
            <a:ext cx="3970800" cy="204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Segment cloud leader avec Azure (60 % de part de marché) et services associés (SQL Server, GitHub). Modèle à forte marge (70 % GM) et croissance à deux chiffres (20 % YoY). Clients : entreprises Fortune 500 et startups. Moteurs : migration des datacenters, IA générative et réglementations locales.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Analyse Financière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Compte de résultat, bilan, liquidité &amp;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Analyse Financière — Compte de Résultat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USD millions  ·  2022–2027F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196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696"/>
                <a:gridCol w="1211500"/>
                <a:gridCol w="1211500"/>
                <a:gridCol w="1211500"/>
                <a:gridCol w="1211500"/>
                <a:gridCol w="1211500"/>
              </a:tblGrid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2026F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2027F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Chiffre d'affaires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211,9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245,1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281,7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320,0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365,0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Croissance YoY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+6,9 %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+15,7 %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+14,9 %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+13,6 %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+14,1 %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brut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146,1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171,0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193,9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222,4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256,2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69,8 %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69,5 %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70,2 %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105,1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133,0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160,2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185,0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215,0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49,6 %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54,3 %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57,8 %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58,9 %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Résultat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88,1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101,8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105,0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125,0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0000">
                <a:tc>
                  <a:txBody>
                    <a:bodyPr/>
                    <a:lstStyle/>
                    <a:p>
                      <a:pPr algn="l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Marge nette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36,0 %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36,1 %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32,8 %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1">
                          <a:solidFill>
                            <a:srgbClr val="555555"/>
                          </a:solidFill>
                          <a:latin typeface="Calibri"/>
                        </a:rPr>
                        <a:t>34,2 %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218400"/>
            <a:ext cx="84132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Chiffre d'affaires 2025 : 281,7 Md$ (+14,9 % YoY) avec un levier opérationnel de +630 pts de marge brute (68,8 % vs 62,5 % en 2021). La trésorerie nette de 100 Md$ (ND/EBITDA 0,1x) et un FCF de 80 Md$ (28 % du CA) soutiennent des rachats d'actions de 20 Md$/an et des dividendes en hausse.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Bilan &amp; Liquidité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Structure financière  ·  USD millions  ·  LTM 2025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30,2 Mds$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Cash &amp; equivalents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7200" y="1900800"/>
            <a:ext cx="2653200" cy="82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7200" y="1900800"/>
            <a:ext cx="46800" cy="82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9548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40,2 Mds$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3508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Dette long terme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7200" y="2844000"/>
            <a:ext cx="2653200" cy="82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200" y="2844000"/>
            <a:ext cx="46800" cy="82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98000"/>
            <a:ext cx="2516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12,9 Mds$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4000"/>
            <a:ext cx="2516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Dette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000" y="842400"/>
            <a:ext cx="5396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Ratios de solvabilité &amp; liquidité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384000" y="1007999"/>
          <a:ext cx="53964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416"/>
                <a:gridCol w="1133244"/>
                <a:gridCol w="1133244"/>
                <a:gridCol w="755496"/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Référence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liquidité courante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Ratio rapide (quick)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D/E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Couverture d'intérêts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52,8x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Dette nette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4,61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-2,57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7200" y="4068000"/>
            <a:ext cx="84132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Chiffre d'affaires 2025 : 281,7 Md$ (+14,9 % YoY) avec un levier opérationnel de +630 pts de marge brute (68,8 % vs 62,5 % en 2021). La trésorerie nette de 100 Md$ (ND/EBITDA 0,1x) et un FCF de 80 Md$ (28 % du CA) soutiennent des rachats d'actions de 20 Md$/an et des dividendes en hausse.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Ratios Clés vs. Benchmark Sectoriel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Positionnement relatif  ·  LTM 2025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55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300"/>
                <a:gridCol w="2103300"/>
                <a:gridCol w="2103300"/>
                <a:gridCol w="2103300"/>
              </a:tblGrid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Indicateur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Lecture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27,0x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15–25x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8–14x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EV/Revenue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9,8x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1–5x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Premium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40 %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Marge EBITDA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29,6 %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30,1 %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10 %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CapEx / Revenue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22,9 %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Intensif</a:t>
                      </a:r>
                    </a:p>
                  </a:txBody>
                  <a:tcPr>
                    <a:solidFill>
                      <a:srgbClr val="FAF0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69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Altman Z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4,61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&gt; 2,99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Solide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327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Beneish M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-2,57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&lt; -2,22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Aucun signal</a:t>
                      </a:r>
                    </a:p>
                  </a:txBody>
                  <a:tcPr>
                    <a:solidFill>
                      <a:srgbClr val="EAF4E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628800"/>
            <a:ext cx="84132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Marges brutes passées de 68,4 % en 2022 à 68,8 % en 2025, stables grâce à un mix produit favorable (SaaS + Azure). L'EBITDA margin a progressé de 50,6 % à 56,9 % sur la même période, porté par l'effet volume et les économies d'échelle. Le pricing power reste intact avec une inflation des prix limitée à 2-3 % par an, soutenant la durabilité des marges.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DCF, comparable peers &amp; Football Field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Valorisation — DCF &amp; Scénarios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7200" y="824400"/>
          <a:ext cx="402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640"/>
                <a:gridCol w="1811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Paramètre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10,3 %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TGR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3,0 %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Valeur intrinsèque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420 $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Cours actuel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370,50 $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Upside implicite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+13,4 %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482000" y="824400"/>
          <a:ext cx="4298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800"/>
                <a:gridCol w="1432800"/>
                <a:gridCol w="14328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>
                    <a:solidFill>
                      <a:srgbClr val="A820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A82020"/>
                          </a:solidFill>
                          <a:latin typeface="Calibri"/>
                        </a:rPr>
                        <a:t>350 $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2E5FA3"/>
                          </a:solidFill>
                          <a:latin typeface="Calibri"/>
                        </a:rPr>
                        <a:t>420 $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1A7A4A"/>
                          </a:solidFill>
                          <a:latin typeface="Calibri"/>
                        </a:rPr>
                        <a:t>480 $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A82020"/>
                          </a:solidFill>
                          <a:latin typeface="Calibri"/>
                        </a:rPr>
                        <a:t>-5,5 %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5FA3"/>
                          </a:solidFill>
                          <a:latin typeface="Calibri"/>
                        </a:rPr>
                        <a:t>+13,4 %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A7A4A"/>
                          </a:solidFill>
                          <a:latin typeface="Calibri"/>
                        </a:rPr>
                        <a:t>+29,6 %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i="0">
                          <a:solidFill>
                            <a:srgbClr val="888888"/>
                          </a:solidFill>
                          <a:latin typeface="Calibri"/>
                        </a:rPr>
                        <a:t>Upside / Downside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23940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Table de sensibilité — Valeur intrinsèque ($)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7200" y="2653200"/>
          <a:ext cx="8413200" cy="11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200"/>
                <a:gridCol w="1402200"/>
                <a:gridCol w="1402200"/>
                <a:gridCol w="1402200"/>
                <a:gridCol w="1402200"/>
                <a:gridCol w="1402200"/>
              </a:tblGrid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WACC \ TGR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2,5%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3,5%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637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451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486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10,3%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370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393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>
                    <a:solidFill>
                      <a:srgbClr val="2E5FA3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451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486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11,3%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370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393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1860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12,3%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>
                    <a:solidFill>
                      <a:srgbClr val="DDE8F5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370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7200" y="3916800"/>
            <a:ext cx="8413200" cy="54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10,3 % et une TGR de 3,0 %, le DCF implicite est de 420 $ (base), soit un upside de 13 % vs cours actuel. La prime reflète une croissance organique durable et une exécution disciplinée. Un catalyseur clé serait une accélération des revenus IA générative au-delà de 25 % de croissance annuelle.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Comparable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par multiples  ·  LTM  ·  Mkt Cap en Mds USD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7200" y="914400"/>
          <a:ext cx="8413200" cy="201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640"/>
                <a:gridCol w="757188"/>
                <a:gridCol w="1093716"/>
                <a:gridCol w="1009584"/>
                <a:gridCol w="1009584"/>
                <a:gridCol w="757188"/>
                <a:gridCol w="1093716"/>
                <a:gridCol w="1009584"/>
              </a:tblGrid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EV/Rev.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Brute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Mg EBITDA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Microsoft Corporation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MSFT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2 751,2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17,3x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9,8x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27,0x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68,8 %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56,9 %</a:t>
                      </a:r>
                    </a:p>
                  </a:txBody>
                  <a:tcPr>
                    <a:solidFill>
                      <a:srgbClr val="DDE8F5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Alphabet Inc.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GOOGL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2 200,0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16,5x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25,0x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56,0 %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32,0 %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Meta Platforms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META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1 300,0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12,8x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23,0x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80,0 %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52,0 %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Oracle Corporation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ORCL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350,0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14,2x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6,8x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78,0 %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48,0 %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Adobe Inc.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ADBE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220,0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22,5x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10,5x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35,0x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5199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Salesforce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 i="0">
                          <a:solidFill>
                            <a:srgbClr val="555555"/>
                          </a:solidFill>
                          <a:latin typeface="Calibri"/>
                        </a:rPr>
                        <a:t>CRM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280,0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20,1x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38,0x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72,0 %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28,0 %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200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Médiane peers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16,5x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7,5x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25,0x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78,0 %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0D0D0D"/>
                          </a:solidFill>
                          <a:latin typeface="Calibri"/>
                        </a:rPr>
                        <a:t>45,0 %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67200" y="3128400"/>
            <a:ext cx="8413200" cy="123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Microsoft affiche un P/E de 27x vs 30x pour la médiane peers (Alphabet, Meta, Oracle, Adobe, Salesforce), soit une décote de 10 %. Cette décote est justifiée par une croissance supérieure (15 % vs 12 % peers) et une qualité de revenus supérieure (70 % récurrents vs 60 %). Une convergence vers la médiane impliquerait un upside de 11 % sur le P/E.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Football Field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Synthèse des méthodes de valorisation  ·  USD par action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914400"/>
            <a:ext cx="8413200" cy="244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7200" y="3488400"/>
            <a:ext cx="841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Avec un WACC de 10,3 % et une TGR de 3,0 %, le DCF implicite est de 420 $ (base), soit un upside de 13 % vs cours actuel. La prime reflète une croissance organique durable et une exécution disciplinée. Un catalyseur clé serait une accélération des revenus IA générative au-delà de 25 % de croissance annuelle.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Risques &amp; Stratégie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Avocat du diable &amp; conditions d'invalidation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Risques &amp; Conditions d'Invalidation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des risques structurels  ·  Thèse contraire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743200" cy="1918800"/>
          </a:xfrm>
          <a:prstGeom prst="rect">
            <a:avLst/>
          </a:prstGeom>
          <a:solidFill>
            <a:srgbClr val="FA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2743200" cy="54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2020"/>
                </a:solidFill>
                <a:latin typeface="Calibri"/>
              </a:rPr>
              <a:t>Dépendance logicielle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La marge brute de 68,8% repose sur des licences logicielles, mais la baisse des PC (-8% en 2024) et la concurrence accrue de Linux réduisent les volumes de Windows Server, menaçant 30% des revenus logiciels. Les coûts cloud d'Azure, en hausse de 25% par an, grignotent la marge nette de 36,1%, déjà sous pression face à AWS (-12% de coûts opérationnels).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9200" y="961200"/>
            <a:ext cx="2743200" cy="191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9200" y="961200"/>
            <a:ext cx="2743200" cy="540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Saturation marché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Le ROE de 29,6% est gonflé par des rachats d'actions (10 milliards $ en 2023), masquant une rentabilité opérationnelle en baisse de 4% depuis 2021, avec un EBITDA stagnant à 42 milliards $.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200" y="961200"/>
            <a:ext cx="2743200" cy="1918800"/>
          </a:xfrm>
          <a:prstGeom prst="rect">
            <a:avLst/>
          </a:prstGeom>
          <a:solidFill>
            <a:srgbClr val="FD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1200" y="961200"/>
            <a:ext cx="2743200" cy="54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9200" y="1069200"/>
            <a:ext cx="2527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06000"/>
                </a:solidFill>
                <a:latin typeface="Calibri"/>
              </a:rPr>
              <a:t>Risques juridiques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200" y="1537199"/>
            <a:ext cx="2527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L'évaluation à 27x P/E ignore le risque de saturation du marché des PC (1,1 milliard d'unités vendues en 2024, +1% seulement), limitant la croissance organique à 5% contre 14,9% annoncé, incompatible avec le multiple actuel.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200" y="2998800"/>
            <a:ext cx="8413200" cy="108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200" y="3070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Conditions d'invalidation de la thèse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67200" y="3308400"/>
          <a:ext cx="8413200" cy="109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5468580"/>
                <a:gridCol w="1682640"/>
              </a:tblGrid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Axe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Condition d'invalidation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Récession mondiale avec baisse des dépenses IT de -8 % | Impact CA 2026 : -15 %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6-12 mois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Sectoriel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Régulation antitrust européenne sur le cloud avec amende de 10 Md$ | Impact marge EBITDA : -3 pts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12-18 mois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B3A6B"/>
                          </a:solidFill>
                          <a:latin typeface="Calibri"/>
                        </a:rPr>
                        <a:t>Société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Échec de l'intégration de l'IA générative dans Azure avec perte de 5 pts de part de marché | Impact CA 2027 : -10 %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2-3 trim.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672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7200" y="44280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4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Détresse : 0/100  Sain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3600" y="4428000"/>
            <a:ext cx="43200" cy="180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M&amp;A : 53/100  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3600" y="4428000"/>
            <a:ext cx="2804400" cy="18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3600" y="4428000"/>
            <a:ext cx="432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2800" y="44388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Régime : Bear  Rec.6M:34%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72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7200" y="4618800"/>
            <a:ext cx="43200" cy="1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4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Earnings Qualité : Correcte (0.70x)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4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4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2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Struct. Capital : Saine (7% CT)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3600" y="4618800"/>
            <a:ext cx="2804400" cy="180000"/>
          </a:xfrm>
          <a:prstGeom prst="rect">
            <a:avLst/>
          </a:prstGeom>
          <a:solidFill>
            <a:srgbClr val="EB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3600" y="4618800"/>
            <a:ext cx="432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02800" y="4629600"/>
            <a:ext cx="26964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B3A6B"/>
                </a:solidFill>
                <a:latin typeface="Calibri"/>
              </a:rPr>
              <a:t>Dividende : Tres soutenable (3.9x)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8000" cy="514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1599"/>
            <a:ext cx="8229600" cy="164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0" b="1">
                <a:solidFill>
                  <a:srgbClr val="FFFFFF">
                    <a:alpha val="15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5600"/>
            <a:ext cx="7772400" cy="82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Sentiment &amp; Annexes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90000"/>
            <a:ext cx="2743200" cy="3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08800"/>
            <a:ext cx="6400800" cy="32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  <a:latin typeface="Calibri"/>
              </a:rPr>
              <a:t>FinBERT, actionnariat &amp; historique de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200" y="4802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677AA"/>
                </a:solidFill>
                <a:latin typeface="Calibri"/>
              </a:rPr>
              <a:t>FinSight IA  ·  Usage confidentiel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Sentiment de Marché — LLM Groq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Analyse sémantique  ·  30 articles  ·  7 derniers jours  ·  Classification LLM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25596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24228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Positif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24228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Orientation globale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9200"/>
            <a:ext cx="24228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Score agrégé : +0,236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400" y="961200"/>
            <a:ext cx="182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04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1015200"/>
            <a:ext cx="169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1411200"/>
            <a:ext cx="169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Articles analysés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1609200"/>
            <a:ext cx="169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Fenêtre : 7 jours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19200" y="961200"/>
            <a:ext cx="16452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92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9200" y="1015200"/>
            <a:ext cx="15084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46,0 %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200" y="1411200"/>
            <a:ext cx="15084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Confiance 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9200" y="1609200"/>
            <a:ext cx="15084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Modèle LLM Groq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8000" y="961200"/>
            <a:ext cx="1738800" cy="10044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8000" y="961200"/>
            <a:ext cx="46800" cy="10044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38000" y="1015200"/>
            <a:ext cx="160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BUY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8000" y="1411200"/>
            <a:ext cx="160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Cohérence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8000" y="1609200"/>
            <a:ext cx="16020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8888"/>
                </a:solidFill>
                <a:latin typeface="Calibri"/>
              </a:rPr>
              <a:t>Aligné avec la thèse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0" y="20844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Détail par orientation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7200" y="2332800"/>
          <a:ext cx="8413200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980"/>
                <a:gridCol w="1261980"/>
                <a:gridCol w="1682640"/>
                <a:gridCol w="4206600"/>
              </a:tblGrid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Orientation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Articles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Score moyen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Thèmes principaux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Positif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1A7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+0,460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Croissance Azure +20 % YoY portée par l'IA générative avec 30 % des nouveaux contrats incluant des services IA | Horizon 2026-2027</a:t>
                      </a:r>
                    </a:p>
                  </a:txBody>
                  <a:tcPr>
                    <a:solidFill>
                      <a:srgbClr val="EAF4E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Neutre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5555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Actualité sectorielle générale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Négatif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A820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+0,224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Risque de régulation antitrust sur le cloud avec amendes potentielles de 5-10 Md$ | Horizon 2026-2027 et impact de -2-3 % sur le FCF</a:t>
                      </a:r>
                    </a:p>
                  </a:txBody>
                  <a:tcPr>
                    <a:solidFill>
                      <a:srgbClr val="FAF0EF"/>
                    </a:solidFill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367200" y="4140000"/>
            <a:ext cx="841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La presse financière affiche un sentiment globalement positif sur Microsoft cette semaine, saluant ses partenariats stratégiques et ses avancées technologiques. Cependant, certains titres soulignent des défis liés à la concurrence et à la valorisation.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Actionnariat &amp; Structure du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Répartition de l'actionnariat  ·  Au 7 avril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200" y="748800"/>
            <a:ext cx="5029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Top actionnaires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7200" y="968400"/>
          <a:ext cx="5302800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064"/>
                <a:gridCol w="1378728"/>
                <a:gridCol w="1060560"/>
                <a:gridCol w="848448"/>
              </a:tblGrid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Détention %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Vanguard Group Inc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9.7 %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Blackrock Inc.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8.1 %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State Street Corporation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4.1 %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2E5FA3"/>
                          </a:solidFill>
                          <a:latin typeface="Calibri"/>
                        </a:rPr>
                        <a:t>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FMR, LLC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2.7 %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Geode Capital Management, LLC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2.5 %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JPMORGAN CHASE &amp; CO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2.0 %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Price (T.Rowe) Associates Inc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1.7 %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1A7A4A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3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69.2 %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i="0">
                          <a:solidFill>
                            <a:srgbClr val="555555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760000" y="748800"/>
            <a:ext cx="30168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5FA3"/>
                </a:solidFill>
                <a:latin typeface="Calibri"/>
              </a:rPr>
              <a:t>Répartition par type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760000" y="968400"/>
          <a:ext cx="30168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080"/>
                <a:gridCol w="120672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Type d'actionnaire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Part estimée</a:t>
                      </a:r>
                    </a:p>
                  </a:txBody>
                  <a:tcPr>
                    <a:solidFill>
                      <a:srgbClr val="1B3A6B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passif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13.8 %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Institutionnel actif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17.0 %</a:t>
                      </a:r>
                    </a:p>
                  </a:txBody>
                  <a:tcPr>
                    <a:solidFill>
                      <a:srgbClr val="F7F8FA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Retail &amp; autres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i="0">
                          <a:solidFill>
                            <a:srgbClr val="0D0D0D"/>
                          </a:solidFill>
                          <a:latin typeface="Calibri"/>
                        </a:rPr>
                        <a:t>69.2 %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DDDDDD"/>
                      </a:solidFill>
                    </a:lnL>
                    <a:lnR w="6350">
                      <a:solidFill>
                        <a:srgbClr val="DDDDDD"/>
                      </a:solidFill>
                    </a:lnR>
                    <a:lnT w="6350">
                      <a:solidFill>
                        <a:srgbClr val="DDDDDD"/>
                      </a:solidFill>
                    </a:lnT>
                    <a:lnB w="6350">
                      <a:solidFill>
                        <a:srgbClr val="DDDDD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67200" y="3106799"/>
            <a:ext cx="8413200" cy="100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Microsoft se négocie à 27x P/E contre une médiane sectorielle de 30x, soit une décote de 10 %. L'EV/EBITDA à 17,3x est aligné sur les peers malgré une croissance supérieure.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Historique de Cours — 52 Semaines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MSFT  ·  USD  ·  Au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2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72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370,50 $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Cours actuel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228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28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28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530,42 $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28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haut 52 sem.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2000" y="961200"/>
            <a:ext cx="19188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20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1015200"/>
            <a:ext cx="178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370,17 $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1411200"/>
            <a:ext cx="17820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Plus bas 52 sem.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600" y="961200"/>
            <a:ext cx="2196000" cy="748800"/>
          </a:xfrm>
          <a:prstGeom prst="rect">
            <a:avLst/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600" y="961200"/>
            <a:ext cx="46800" cy="7488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7600" y="1015200"/>
            <a:ext cx="205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3A6B"/>
                </a:solidFill>
                <a:latin typeface="Calibri"/>
              </a:rPr>
              <a:t>-18,9 %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7600" y="1411200"/>
            <a:ext cx="2059200" cy="20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Performance 52 sem.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0" y="1846800"/>
            <a:ext cx="8413200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  <a:latin typeface="Calibri"/>
              </a:rPr>
              <a:t>Cours en repli de -18,9 % sur 12 mois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00" y="2102400"/>
            <a:ext cx="841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7200" y="4132800"/>
            <a:ext cx="8413200" cy="68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Microsoft affiche une résilience opérationnelle exceptionnelle avec des marges nettes de 36,1 % et une croissance organique de 14,9 % en 2025. La valorisation actuelle à 27x P/E reste attractive face à une croissance des revenus de 42 % depuis 2022 et un ROIC de 30,1 %.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20400"/>
            <a:ext cx="9144000" cy="320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7200" y="48384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Calibri"/>
              </a:rPr>
              <a:t>FinSight IA  ·  Usage confidentiel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7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34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999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11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4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16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1200" y="118800"/>
            <a:ext cx="183600" cy="1836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8400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1600" y="118800"/>
            <a:ext cx="183600" cy="18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799" y="122400"/>
            <a:ext cx="169200" cy="15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1B3A6B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118800"/>
            <a:ext cx="5576400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Conviction &amp; Thèse d’Investissement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622800"/>
            <a:ext cx="8413200" cy="2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5FA3"/>
                </a:solidFill>
                <a:latin typeface="Calibri"/>
              </a:rPr>
              <a:t>MSFT  ·  FinSight IA  ·  Rapport 7 avril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827999"/>
            <a:ext cx="2700000" cy="1260000"/>
          </a:xfrm>
          <a:prstGeom prst="rect">
            <a:avLst/>
          </a:prstGeom>
          <a:solidFill>
            <a:srgbClr val="E8F5E9"/>
          </a:solidFill>
          <a:ln w="254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000" y="864000"/>
            <a:ext cx="27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A4A"/>
                </a:solidFill>
                <a:latin typeface="Calibri"/>
              </a:rPr>
              <a:t>BUY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000" y="1278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Calibri"/>
              </a:rPr>
              <a:t>Conviction : 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000" y="1494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55555"/>
                </a:solidFill>
                <a:latin typeface="Calibri"/>
              </a:rPr>
              <a:t>7 avril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2196000"/>
            <a:ext cx="2700000" cy="19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000" y="2196000"/>
            <a:ext cx="2106000" cy="19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000" y="2051999"/>
            <a:ext cx="2700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B3A6B"/>
                </a:solidFill>
                <a:latin typeface="Calibri"/>
              </a:rPr>
              <a:t>NIVEAU DE CONVICTION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0000" y="2196000"/>
            <a:ext cx="4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  <a:latin typeface="Calibri"/>
              </a:rPr>
              <a:t>78%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520000"/>
            <a:ext cx="2700000" cy="27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538000"/>
            <a:ext cx="26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7A4A"/>
                </a:solidFill>
                <a:latin typeface="Calibri"/>
              </a:rPr>
              <a:t>Delta conviction : +28% vs Avocat du Diable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1999" y="827999"/>
            <a:ext cx="5472000" cy="19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66000" y="846000"/>
            <a:ext cx="54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THÈSE D’INVESTISSEMENT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11999" y="1062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1999" y="1080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Croissance des revenus cloud Azure +20 % YoY soutenue par l'IA générative avec 30 % des nouveaux contrats incluant des services 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1999" y="1404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01999" y="1422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Marges EBITDA en hausse à 56,9 % grâce au mix SaaS haute marge et économies d'échelle sur les datacenters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1999" y="1746000"/>
            <a:ext cx="36000" cy="288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01999" y="1764000"/>
            <a:ext cx="534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Calibri"/>
              </a:rPr>
              <a:t>Trésorerie nette de 100 Md$ permettant des rachats d'actions de 20 Md$/an et des acquisitions ciblées.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1999" y="2196000"/>
            <a:ext cx="2664000" cy="1800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6000" y="2214000"/>
            <a:ext cx="259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CATALYSEURS BULLS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999" y="2412000"/>
            <a:ext cx="255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Croissance Azure +20 % YoY portée par l'IA générative avec 30 % 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999" y="2599200"/>
            <a:ext cx="255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Marges EBITDA en hausse à 56,9 % grâce au mix SaaS haute marge 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0000" y="2196000"/>
            <a:ext cx="2448000" cy="180000"/>
          </a:xfrm>
          <a:prstGeom prst="rect">
            <a:avLst/>
          </a:prstGeom>
          <a:solidFill>
            <a:srgbClr val="A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6000" y="2214000"/>
            <a:ext cx="23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RISQUES BEARS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56000" y="2412000"/>
            <a:ext cx="237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Risque de régulation antitrust sur le cloud avec amendes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56000" y="2599200"/>
            <a:ext cx="2376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• Concurrence accrue dans l'IA générative avec baisse des prix des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11999" y="2930400"/>
            <a:ext cx="5472000" cy="1620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11999" y="2930400"/>
            <a:ext cx="36000" cy="162000"/>
          </a:xfrm>
          <a:prstGeom prst="rect">
            <a:avLst/>
          </a:prstGeom>
          <a:solidFill>
            <a:srgbClr val="B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01999" y="2944800"/>
            <a:ext cx="5346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A5000"/>
                </a:solidFill>
                <a:latin typeface="Calibri"/>
              </a:rPr>
              <a:t>⚠ Conditions d’invalidation : Macro: Récession mondiale avec baisse des dépenses IT de -8 % | Imp  ·  Sectoriel: Régulation antitrust européenne sur le cloud avec amende de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4000" y="4752000"/>
            <a:ext cx="849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FinSight IA genere cette analyse a un instant T. Pour le suivi dans le temps, comparer les rapports successifs. La conviction reflete les donnees disponibles a la date d'analyse.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