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Lst>
  <p:sldSz cx="9144000" cy="5144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371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5600"/>
            <a:ext cx="8229600" cy="255600"/>
          </a:xfrm>
          <a:prstGeom prst="rect">
            <a:avLst/>
          </a:prstGeom>
          <a:noFill/>
        </p:spPr>
        <p:txBody>
          <a:bodyPr wrap="square">
            <a:spAutoFit/>
          </a:bodyPr>
          <a:lstStyle/>
          <a:p>
            <a:pPr algn="ctr"/>
            <a:r>
              <a:rPr sz="1000" b="0" i="0">
                <a:solidFill>
                  <a:srgbClr val="8899BB"/>
                </a:solidFill>
                <a:latin typeface="Calibri"/>
              </a:rPr>
              <a:t>FinSight IA</a:t>
            </a:r>
          </a:p>
        </p:txBody>
      </p:sp>
      <p:sp>
        <p:nvSpPr>
          <p:cNvPr id="4" name="Rectangle 3"/>
          <p:cNvSpPr/>
          <p:nvPr/>
        </p:nvSpPr>
        <p:spPr>
          <a:xfrm>
            <a:off x="3978000" y="475200"/>
            <a:ext cx="1188000" cy="1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547200"/>
            <a:ext cx="8229600" cy="291600"/>
          </a:xfrm>
          <a:prstGeom prst="rect">
            <a:avLst/>
          </a:prstGeom>
          <a:noFill/>
        </p:spPr>
        <p:txBody>
          <a:bodyPr wrap="square">
            <a:spAutoFit/>
          </a:bodyPr>
          <a:lstStyle/>
          <a:p>
            <a:pPr algn="ctr"/>
            <a:r>
              <a:rPr sz="1100" b="0" i="0">
                <a:solidFill>
                  <a:srgbClr val="CCDDEE"/>
                </a:solidFill>
                <a:latin typeface="Calibri"/>
              </a:rPr>
              <a:t>Pitchbook  —  Analyse d'investissement</a:t>
            </a:r>
          </a:p>
        </p:txBody>
      </p:sp>
      <p:sp>
        <p:nvSpPr>
          <p:cNvPr id="6" name="TextBox 5"/>
          <p:cNvSpPr txBox="1"/>
          <p:nvPr/>
        </p:nvSpPr>
        <p:spPr>
          <a:xfrm>
            <a:off x="457200" y="1461599"/>
            <a:ext cx="8229600" cy="691297"/>
          </a:xfrm>
          <a:prstGeom prst="rect">
            <a:avLst/>
          </a:prstGeom>
          <a:noFill/>
        </p:spPr>
        <p:txBody>
          <a:bodyPr wrap="square">
            <a:spAutoFit/>
          </a:bodyPr>
          <a:lstStyle/>
          <a:p>
            <a:pPr algn="ctr"/>
            <a:r>
              <a:rPr sz="3400" b="1" i="0">
                <a:solidFill>
                  <a:srgbClr val="1B3A6B"/>
                </a:solidFill>
                <a:latin typeface="Calibri"/>
              </a:rPr>
              <a:t>Microsoft Corporation</a:t>
            </a:r>
          </a:p>
        </p:txBody>
      </p:sp>
      <p:sp>
        <p:nvSpPr>
          <p:cNvPr id="7" name="TextBox 6"/>
          <p:cNvSpPr txBox="1"/>
          <p:nvPr/>
        </p:nvSpPr>
        <p:spPr>
          <a:xfrm>
            <a:off x="457200" y="2242897"/>
            <a:ext cx="8229600" cy="255600"/>
          </a:xfrm>
          <a:prstGeom prst="rect">
            <a:avLst/>
          </a:prstGeom>
          <a:noFill/>
        </p:spPr>
        <p:txBody>
          <a:bodyPr wrap="square">
            <a:spAutoFit/>
          </a:bodyPr>
          <a:lstStyle/>
          <a:p>
            <a:pPr algn="ctr"/>
            <a:r>
              <a:rPr sz="1100" b="0" i="0">
                <a:solidFill>
                  <a:srgbClr val="888888"/>
                </a:solidFill>
                <a:latin typeface="Calibri"/>
              </a:rPr>
              <a:t>MSFT  ·  Technology</a:t>
            </a:r>
          </a:p>
        </p:txBody>
      </p:sp>
      <p:sp>
        <p:nvSpPr>
          <p:cNvPr id="8" name="Rectangle 7"/>
          <p:cNvSpPr/>
          <p:nvPr/>
        </p:nvSpPr>
        <p:spPr>
          <a:xfrm>
            <a:off x="2771999" y="2617297"/>
            <a:ext cx="3600000" cy="43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826000" y="2635297"/>
            <a:ext cx="3491999" cy="395999"/>
          </a:xfrm>
          <a:prstGeom prst="rect">
            <a:avLst/>
          </a:prstGeom>
          <a:noFill/>
        </p:spPr>
        <p:txBody>
          <a:bodyPr wrap="square">
            <a:spAutoFit/>
          </a:bodyPr>
          <a:lstStyle/>
          <a:p>
            <a:pPr algn="ctr"/>
            <a:r>
              <a:rPr sz="900" b="1" i="0">
                <a:solidFill>
                  <a:srgbClr val="FFFFFF"/>
                </a:solidFill>
                <a:latin typeface="Calibri"/>
              </a:rPr>
              <a:t>● BUY  ·  Prix cible base : 425 $  ·  Upside : +8,1 %</a:t>
            </a:r>
          </a:p>
        </p:txBody>
      </p:sp>
      <p:sp>
        <p:nvSpPr>
          <p:cNvPr id="10" name="Rectangle 9"/>
          <p:cNvSpPr/>
          <p:nvPr/>
        </p:nvSpPr>
        <p:spPr>
          <a:xfrm>
            <a:off x="367200" y="44640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200" y="4554000"/>
            <a:ext cx="4114800" cy="201600"/>
          </a:xfrm>
          <a:prstGeom prst="rect">
            <a:avLst/>
          </a:prstGeom>
          <a:noFill/>
        </p:spPr>
        <p:txBody>
          <a:bodyPr wrap="square">
            <a:spAutoFit/>
          </a:bodyPr>
          <a:lstStyle/>
          <a:p>
            <a:pPr algn="l"/>
            <a:r>
              <a:rPr sz="800" b="0" i="0">
                <a:solidFill>
                  <a:srgbClr val="555555"/>
                </a:solidFill>
                <a:latin typeface="Calibri"/>
              </a:rPr>
              <a:t>Rapport confidentiel</a:t>
            </a:r>
          </a:p>
        </p:txBody>
      </p:sp>
      <p:sp>
        <p:nvSpPr>
          <p:cNvPr id="12" name="TextBox 11"/>
          <p:cNvSpPr txBox="1"/>
          <p:nvPr/>
        </p:nvSpPr>
        <p:spPr>
          <a:xfrm>
            <a:off x="4662000" y="4554000"/>
            <a:ext cx="4114800" cy="201600"/>
          </a:xfrm>
          <a:prstGeom prst="rect">
            <a:avLst/>
          </a:prstGeom>
          <a:noFill/>
        </p:spPr>
        <p:txBody>
          <a:bodyPr wrap="square">
            <a:spAutoFit/>
          </a:bodyPr>
          <a:lstStyle/>
          <a:p>
            <a:pPr algn="r"/>
            <a:r>
              <a:rPr sz="800" b="0" i="0">
                <a:solidFill>
                  <a:srgbClr val="555555"/>
                </a:solidFill>
                <a:latin typeface="Calibri"/>
              </a:rPr>
              <a:t>14 avril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Executive Summary</a:t>
            </a:r>
          </a:p>
        </p:txBody>
      </p:sp>
      <p:sp>
        <p:nvSpPr>
          <p:cNvPr id="6" name="Rectangle 5"/>
          <p:cNvSpPr/>
          <p:nvPr/>
        </p:nvSpPr>
        <p:spPr>
          <a:xfrm>
            <a:off x="367200" y="748800"/>
            <a:ext cx="8413200" cy="3060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748800"/>
            <a:ext cx="46800" cy="30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766800"/>
            <a:ext cx="1098000" cy="270000"/>
          </a:xfrm>
          <a:prstGeom prst="rect">
            <a:avLst/>
          </a:prstGeom>
          <a:noFill/>
        </p:spPr>
        <p:txBody>
          <a:bodyPr wrap="square">
            <a:spAutoFit/>
          </a:bodyPr>
          <a:lstStyle/>
          <a:p>
            <a:pPr algn="l"/>
            <a:r>
              <a:rPr sz="1100" b="1" i="0">
                <a:solidFill>
                  <a:srgbClr val="1A7A4A"/>
                </a:solidFill>
                <a:latin typeface="Calibri"/>
              </a:rPr>
              <a:t>● BUY</a:t>
            </a:r>
          </a:p>
        </p:txBody>
      </p:sp>
      <p:sp>
        <p:nvSpPr>
          <p:cNvPr id="9" name="TextBox 8"/>
          <p:cNvSpPr txBox="1"/>
          <p:nvPr/>
        </p:nvSpPr>
        <p:spPr>
          <a:xfrm>
            <a:off x="1692000" y="766800"/>
            <a:ext cx="6948000" cy="270000"/>
          </a:xfrm>
          <a:prstGeom prst="rect">
            <a:avLst/>
          </a:prstGeom>
          <a:noFill/>
        </p:spPr>
        <p:txBody>
          <a:bodyPr wrap="square">
            <a:spAutoFit/>
          </a:bodyPr>
          <a:lstStyle/>
          <a:p>
            <a:pPr algn="l"/>
            <a:r>
              <a:rPr sz="900" b="0" i="0">
                <a:solidFill>
                  <a:srgbClr val="1B3A6B"/>
                </a:solidFill>
                <a:latin typeface="Calibri"/>
              </a:rPr>
              <a:t>Prix cible base : 425 $  ·  Upside : +8,1 %  ·  Bear : 370 $ (-5,9 %)  ·  Bull : 460 $ (+17,0 %)</a:t>
            </a:r>
          </a:p>
        </p:txBody>
      </p:sp>
      <p:sp>
        <p:nvSpPr>
          <p:cNvPr id="10" name="Rectangle 9"/>
          <p:cNvSpPr/>
          <p:nvPr/>
        </p:nvSpPr>
        <p:spPr>
          <a:xfrm>
            <a:off x="367200" y="1170000"/>
            <a:ext cx="4161600" cy="1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200" y="1170000"/>
            <a:ext cx="4161600" cy="198000"/>
          </a:xfrm>
          <a:prstGeom prst="rect">
            <a:avLst/>
          </a:prstGeom>
          <a:noFill/>
        </p:spPr>
        <p:txBody>
          <a:bodyPr wrap="square">
            <a:spAutoFit/>
          </a:bodyPr>
          <a:lstStyle/>
          <a:p>
            <a:pPr algn="l"/>
            <a:r>
              <a:rPr sz="900" b="1" i="0">
                <a:solidFill>
                  <a:srgbClr val="FFFFFF"/>
                </a:solidFill>
                <a:latin typeface="Calibri"/>
              </a:rPr>
              <a:t>THÈSE D'INVESTISSEMENT</a:t>
            </a:r>
          </a:p>
        </p:txBody>
      </p:sp>
      <p:sp>
        <p:nvSpPr>
          <p:cNvPr id="12" name="Rectangle 11"/>
          <p:cNvSpPr/>
          <p:nvPr/>
        </p:nvSpPr>
        <p:spPr>
          <a:xfrm>
            <a:off x="367200" y="14400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3999" y="1422000"/>
            <a:ext cx="3931200" cy="183600"/>
          </a:xfrm>
          <a:prstGeom prst="rect">
            <a:avLst/>
          </a:prstGeom>
          <a:noFill/>
        </p:spPr>
        <p:txBody>
          <a:bodyPr wrap="square">
            <a:spAutoFit/>
          </a:bodyPr>
          <a:lstStyle/>
          <a:p>
            <a:pPr algn="l"/>
            <a:r>
              <a:rPr sz="850" b="1" i="0">
                <a:solidFill>
                  <a:srgbClr val="1B3A6B"/>
                </a:solidFill>
                <a:latin typeface="Calibri"/>
              </a:rPr>
              <a:t>Leadership cloud</a:t>
            </a:r>
          </a:p>
        </p:txBody>
      </p:sp>
      <p:sp>
        <p:nvSpPr>
          <p:cNvPr id="14" name="TextBox 13"/>
          <p:cNvSpPr txBox="1"/>
          <p:nvPr/>
        </p:nvSpPr>
        <p:spPr>
          <a:xfrm>
            <a:off x="503999" y="1591200"/>
            <a:ext cx="3931200" cy="360000"/>
          </a:xfrm>
          <a:prstGeom prst="rect">
            <a:avLst/>
          </a:prstGeom>
          <a:noFill/>
        </p:spPr>
        <p:txBody>
          <a:bodyPr wrap="square">
            <a:spAutoFit/>
          </a:bodyPr>
          <a:lstStyle/>
          <a:p>
            <a:pPr algn="l"/>
            <a:r>
              <a:rPr sz="750" b="0" i="0">
                <a:solidFill>
                  <a:srgbClr val="333333"/>
                </a:solidFill>
                <a:latin typeface="Calibri"/>
              </a:rPr>
              <a:t>Croissance CA 2026F estimée à +13.5% via adoption massive Azure et Copilot</a:t>
            </a:r>
          </a:p>
        </p:txBody>
      </p:sp>
      <p:sp>
        <p:nvSpPr>
          <p:cNvPr id="15" name="Rectangle 14"/>
          <p:cNvSpPr/>
          <p:nvPr/>
        </p:nvSpPr>
        <p:spPr>
          <a:xfrm>
            <a:off x="367200" y="19620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3999" y="1944000"/>
            <a:ext cx="3931200" cy="183600"/>
          </a:xfrm>
          <a:prstGeom prst="rect">
            <a:avLst/>
          </a:prstGeom>
          <a:noFill/>
        </p:spPr>
        <p:txBody>
          <a:bodyPr wrap="square">
            <a:spAutoFit/>
          </a:bodyPr>
          <a:lstStyle/>
          <a:p>
            <a:pPr algn="l"/>
            <a:r>
              <a:rPr sz="850" b="1" i="0">
                <a:solidFill>
                  <a:srgbClr val="1B3A6B"/>
                </a:solidFill>
                <a:latin typeface="Calibri"/>
              </a:rPr>
              <a:t>Écosystème fermé</a:t>
            </a:r>
          </a:p>
        </p:txBody>
      </p:sp>
      <p:sp>
        <p:nvSpPr>
          <p:cNvPr id="17" name="TextBox 16"/>
          <p:cNvSpPr txBox="1"/>
          <p:nvPr/>
        </p:nvSpPr>
        <p:spPr>
          <a:xfrm>
            <a:off x="503999" y="2113200"/>
            <a:ext cx="3931200" cy="360000"/>
          </a:xfrm>
          <a:prstGeom prst="rect">
            <a:avLst/>
          </a:prstGeom>
          <a:noFill/>
        </p:spPr>
        <p:txBody>
          <a:bodyPr wrap="square">
            <a:spAutoFit/>
          </a:bodyPr>
          <a:lstStyle/>
          <a:p>
            <a:pPr algn="l"/>
            <a:r>
              <a:rPr sz="750" b="0" i="0">
                <a:solidFill>
                  <a:srgbClr val="333333"/>
                </a:solidFill>
                <a:latin typeface="Calibri"/>
              </a:rPr>
              <a:t>Marges EBITDA à 58.5% en 2026 grâce au mix cloud haute marge et économies d'échelle</a:t>
            </a:r>
          </a:p>
        </p:txBody>
      </p:sp>
      <p:sp>
        <p:nvSpPr>
          <p:cNvPr id="18" name="Rectangle 17"/>
          <p:cNvSpPr/>
          <p:nvPr/>
        </p:nvSpPr>
        <p:spPr>
          <a:xfrm>
            <a:off x="367200" y="24840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2466000"/>
            <a:ext cx="3931200" cy="183600"/>
          </a:xfrm>
          <a:prstGeom prst="rect">
            <a:avLst/>
          </a:prstGeom>
          <a:noFill/>
        </p:spPr>
        <p:txBody>
          <a:bodyPr wrap="square">
            <a:spAutoFit/>
          </a:bodyPr>
          <a:lstStyle/>
          <a:p>
            <a:pPr algn="l"/>
            <a:r>
              <a:rPr sz="850" b="1" i="0">
                <a:solidFill>
                  <a:srgbClr val="1B3A6B"/>
                </a:solidFill>
                <a:latin typeface="Calibri"/>
              </a:rPr>
              <a:t>Marges exceptionnelles</a:t>
            </a:r>
          </a:p>
        </p:txBody>
      </p:sp>
      <p:sp>
        <p:nvSpPr>
          <p:cNvPr id="20" name="TextBox 19"/>
          <p:cNvSpPr txBox="1"/>
          <p:nvPr/>
        </p:nvSpPr>
        <p:spPr>
          <a:xfrm>
            <a:off x="503999" y="2635200"/>
            <a:ext cx="3931200" cy="360000"/>
          </a:xfrm>
          <a:prstGeom prst="rect">
            <a:avLst/>
          </a:prstGeom>
          <a:noFill/>
        </p:spPr>
        <p:txBody>
          <a:bodyPr wrap="square">
            <a:spAutoFit/>
          </a:bodyPr>
          <a:lstStyle/>
          <a:p>
            <a:pPr algn="l"/>
            <a:r>
              <a:rPr sz="750" b="0" i="0">
                <a:solidFill>
                  <a:srgbClr val="333333"/>
                </a:solidFill>
                <a:latin typeface="Calibri"/>
              </a:rPr>
              <a:t>FCF libre devrait dépasser 80Mds$ en 2026 avec ND/EBITDA stable à 0.1x</a:t>
            </a:r>
          </a:p>
        </p:txBody>
      </p:sp>
      <p:sp>
        <p:nvSpPr>
          <p:cNvPr id="21" name="Rectangle 20"/>
          <p:cNvSpPr/>
          <p:nvPr/>
        </p:nvSpPr>
        <p:spPr>
          <a:xfrm>
            <a:off x="4708800" y="1170000"/>
            <a:ext cx="4068000" cy="1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08800" y="1170000"/>
            <a:ext cx="4068000" cy="198000"/>
          </a:xfrm>
          <a:prstGeom prst="rect">
            <a:avLst/>
          </a:prstGeom>
          <a:noFill/>
        </p:spPr>
        <p:txBody>
          <a:bodyPr wrap="square">
            <a:spAutoFit/>
          </a:bodyPr>
          <a:lstStyle/>
          <a:p>
            <a:pPr algn="l"/>
            <a:r>
              <a:rPr sz="900" b="1" i="0">
                <a:solidFill>
                  <a:srgbClr val="FFFFFF"/>
                </a:solidFill>
                <a:latin typeface="Calibri"/>
              </a:rPr>
              <a:t>RISQUES PRINCIPAUX</a:t>
            </a:r>
          </a:p>
        </p:txBody>
      </p:sp>
      <p:sp>
        <p:nvSpPr>
          <p:cNvPr id="23" name="Rectangle 22"/>
          <p:cNvSpPr/>
          <p:nvPr/>
        </p:nvSpPr>
        <p:spPr>
          <a:xfrm>
            <a:off x="4708800" y="14400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45600" y="1422000"/>
            <a:ext cx="3794399" cy="183600"/>
          </a:xfrm>
          <a:prstGeom prst="rect">
            <a:avLst/>
          </a:prstGeom>
          <a:noFill/>
        </p:spPr>
        <p:txBody>
          <a:bodyPr wrap="square">
            <a:spAutoFit/>
          </a:bodyPr>
          <a:lstStyle/>
          <a:p>
            <a:pPr algn="l"/>
            <a:r>
              <a:rPr sz="850" b="1" i="0">
                <a:solidFill>
                  <a:srgbClr val="1B3A6B"/>
                </a:solidFill>
                <a:latin typeface="Calibri"/>
              </a:rPr>
              <a:t>Concurrence IA</a:t>
            </a:r>
          </a:p>
        </p:txBody>
      </p:sp>
      <p:sp>
        <p:nvSpPr>
          <p:cNvPr id="25" name="TextBox 24"/>
          <p:cNvSpPr txBox="1"/>
          <p:nvPr/>
        </p:nvSpPr>
        <p:spPr>
          <a:xfrm>
            <a:off x="4845600" y="1591200"/>
            <a:ext cx="3794399" cy="360000"/>
          </a:xfrm>
          <a:prstGeom prst="rect">
            <a:avLst/>
          </a:prstGeom>
          <a:noFill/>
        </p:spPr>
        <p:txBody>
          <a:bodyPr wrap="square">
            <a:spAutoFit/>
          </a:bodyPr>
          <a:lstStyle/>
          <a:p>
            <a:pPr algn="l"/>
            <a:r>
              <a:rPr sz="750" b="0" i="0">
                <a:solidFill>
                  <a:srgbClr val="333333"/>
                </a:solidFill>
                <a:latin typeface="Calibri"/>
              </a:rPr>
              <a:t>Régulation antitrust européenne sur les pratiques cloud | Amende potentielle de 5-10Mds$ d'ici 2027 | Horizon 12-18 mois</a:t>
            </a:r>
          </a:p>
        </p:txBody>
      </p:sp>
      <p:sp>
        <p:nvSpPr>
          <p:cNvPr id="26" name="Rectangle 25"/>
          <p:cNvSpPr/>
          <p:nvPr/>
        </p:nvSpPr>
        <p:spPr>
          <a:xfrm>
            <a:off x="4708800" y="19620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45600" y="1944000"/>
            <a:ext cx="3794399" cy="183600"/>
          </a:xfrm>
          <a:prstGeom prst="rect">
            <a:avLst/>
          </a:prstGeom>
          <a:noFill/>
        </p:spPr>
        <p:txBody>
          <a:bodyPr wrap="square">
            <a:spAutoFit/>
          </a:bodyPr>
          <a:lstStyle/>
          <a:p>
            <a:pPr algn="l"/>
            <a:r>
              <a:rPr sz="850" b="1" i="0">
                <a:solidFill>
                  <a:srgbClr val="1B3A6B"/>
                </a:solidFill>
                <a:latin typeface="Calibri"/>
              </a:rPr>
              <a:t>Régulation antitrust</a:t>
            </a:r>
          </a:p>
        </p:txBody>
      </p:sp>
      <p:sp>
        <p:nvSpPr>
          <p:cNvPr id="28" name="TextBox 27"/>
          <p:cNvSpPr txBox="1"/>
          <p:nvPr/>
        </p:nvSpPr>
        <p:spPr>
          <a:xfrm>
            <a:off x="4845600" y="2113200"/>
            <a:ext cx="3794399" cy="360000"/>
          </a:xfrm>
          <a:prstGeom prst="rect">
            <a:avLst/>
          </a:prstGeom>
          <a:noFill/>
        </p:spPr>
        <p:txBody>
          <a:bodyPr wrap="square">
            <a:spAutoFit/>
          </a:bodyPr>
          <a:lstStyle/>
          <a:p>
            <a:pPr algn="l"/>
            <a:r>
              <a:rPr sz="750" b="0" i="0">
                <a:solidFill>
                  <a:srgbClr val="333333"/>
                </a:solidFill>
                <a:latin typeface="Calibri"/>
              </a:rPr>
              <a:t>Concurrence accrue en IA avec Google et Meta | Perte de parts de marché de 5-8% d'ici 2026 | Horizon 2025-2026</a:t>
            </a:r>
          </a:p>
        </p:txBody>
      </p:sp>
      <p:sp>
        <p:nvSpPr>
          <p:cNvPr id="29" name="Rectangle 28"/>
          <p:cNvSpPr/>
          <p:nvPr/>
        </p:nvSpPr>
        <p:spPr>
          <a:xfrm>
            <a:off x="4708800" y="24840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45600" y="2466000"/>
            <a:ext cx="3794399" cy="183600"/>
          </a:xfrm>
          <a:prstGeom prst="rect">
            <a:avLst/>
          </a:prstGeom>
          <a:noFill/>
        </p:spPr>
        <p:txBody>
          <a:bodyPr wrap="square">
            <a:spAutoFit/>
          </a:bodyPr>
          <a:lstStyle/>
          <a:p>
            <a:pPr algn="l"/>
            <a:r>
              <a:rPr sz="850" b="1" i="0">
                <a:solidFill>
                  <a:srgbClr val="1B3A6B"/>
                </a:solidFill>
                <a:latin typeface="Calibri"/>
              </a:rPr>
              <a:t>Dépendance macro</a:t>
            </a:r>
          </a:p>
        </p:txBody>
      </p:sp>
      <p:sp>
        <p:nvSpPr>
          <p:cNvPr id="31" name="TextBox 30"/>
          <p:cNvSpPr txBox="1"/>
          <p:nvPr/>
        </p:nvSpPr>
        <p:spPr>
          <a:xfrm>
            <a:off x="4845600" y="2635200"/>
            <a:ext cx="3794399" cy="360000"/>
          </a:xfrm>
          <a:prstGeom prst="rect">
            <a:avLst/>
          </a:prstGeom>
          <a:noFill/>
        </p:spPr>
        <p:txBody>
          <a:bodyPr wrap="square">
            <a:spAutoFit/>
          </a:bodyPr>
          <a:lstStyle/>
          <a:p>
            <a:pPr algn="l"/>
            <a:r>
              <a:rPr sz="750" b="0" i="0">
                <a:solidFill>
                  <a:srgbClr val="333333"/>
                </a:solidFill>
                <a:latin typeface="Calibri"/>
              </a:rPr>
              <a:t>Ralentissement économique réduisant les budgets IT | Baisse de 10% des dépenses cloud des entreprises | Horizon 2026-2027</a:t>
            </a:r>
          </a:p>
        </p:txBody>
      </p:sp>
      <p:sp>
        <p:nvSpPr>
          <p:cNvPr id="32" name="Rectangle 31"/>
          <p:cNvSpPr/>
          <p:nvPr/>
        </p:nvSpPr>
        <p:spPr>
          <a:xfrm>
            <a:off x="4525200" y="1170000"/>
            <a:ext cx="10800" cy="1782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30060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67200" y="3041999"/>
            <a:ext cx="8413200" cy="16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3999" y="3049200"/>
            <a:ext cx="8352000" cy="151200"/>
          </a:xfrm>
          <a:prstGeom prst="rect">
            <a:avLst/>
          </a:prstGeom>
          <a:noFill/>
        </p:spPr>
        <p:txBody>
          <a:bodyPr wrap="square">
            <a:spAutoFit/>
          </a:bodyPr>
          <a:lstStyle/>
          <a:p>
            <a:pPr algn="l"/>
            <a:r>
              <a:rPr sz="750" b="1" i="0">
                <a:solidFill>
                  <a:srgbClr val="FFFFFF"/>
                </a:solidFill>
                <a:latin typeface="Calibri"/>
              </a:rPr>
              <a:t>CATALYSEURS À SURVEILLER (12 MOIS)</a:t>
            </a:r>
          </a:p>
        </p:txBody>
      </p:sp>
      <p:sp>
        <p:nvSpPr>
          <p:cNvPr id="36" name="Rectangle 35"/>
          <p:cNvSpPr/>
          <p:nvPr/>
        </p:nvSpPr>
        <p:spPr>
          <a:xfrm>
            <a:off x="367200" y="3258000"/>
            <a:ext cx="36000" cy="792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32000" y="3240000"/>
            <a:ext cx="4111200" cy="223200"/>
          </a:xfrm>
          <a:prstGeom prst="rect">
            <a:avLst/>
          </a:prstGeom>
          <a:noFill/>
        </p:spPr>
        <p:txBody>
          <a:bodyPr wrap="square">
            <a:spAutoFit/>
          </a:bodyPr>
          <a:lstStyle/>
          <a:p>
            <a:pPr algn="l"/>
            <a:r>
              <a:rPr sz="650" b="0" i="0">
                <a:solidFill>
                  <a:srgbClr val="333333"/>
                </a:solidFill>
                <a:latin typeface="Calibri"/>
              </a:rPr>
              <a:t>Azure Q2 2026 : Croissance YoY Azure prévue à +28% avec marge EBITDA &gt;62%. Impact FCF +15Mds$ d'ici fin 2026. Horizon 12 mois.</a:t>
            </a:r>
          </a:p>
        </p:txBody>
      </p:sp>
      <p:sp>
        <p:nvSpPr>
          <p:cNvPr id="38" name="Rectangle 37"/>
          <p:cNvSpPr/>
          <p:nvPr/>
        </p:nvSpPr>
        <p:spPr>
          <a:xfrm>
            <a:off x="4572000" y="3258000"/>
            <a:ext cx="36000" cy="792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636800" y="3240000"/>
            <a:ext cx="4111200" cy="223200"/>
          </a:xfrm>
          <a:prstGeom prst="rect">
            <a:avLst/>
          </a:prstGeom>
          <a:noFill/>
        </p:spPr>
        <p:txBody>
          <a:bodyPr wrap="square">
            <a:spAutoFit/>
          </a:bodyPr>
          <a:lstStyle/>
          <a:p>
            <a:pPr algn="l"/>
            <a:r>
              <a:rPr sz="650" b="0" i="0">
                <a:solidFill>
                  <a:srgbClr val="333333"/>
                </a:solidFill>
                <a:latin typeface="Calibri"/>
              </a:rPr>
              <a:t>Copilot Q4 2026 : Intégration IA dans 100% des produits Office d'ici fin 2026. Revenus IA estimés à 15Mds$ en 2027. Horizon 18 mois.</a:t>
            </a:r>
          </a:p>
        </p:txBody>
      </p:sp>
      <p:sp>
        <p:nvSpPr>
          <p:cNvPr id="40" name="Rectangle 39"/>
          <p:cNvSpPr/>
          <p:nvPr/>
        </p:nvSpPr>
        <p:spPr>
          <a:xfrm>
            <a:off x="367200" y="3510000"/>
            <a:ext cx="36000" cy="792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32000" y="3491999"/>
            <a:ext cx="4111200" cy="223200"/>
          </a:xfrm>
          <a:prstGeom prst="rect">
            <a:avLst/>
          </a:prstGeom>
          <a:noFill/>
        </p:spPr>
        <p:txBody>
          <a:bodyPr wrap="square">
            <a:spAutoFit/>
          </a:bodyPr>
          <a:lstStyle/>
          <a:p>
            <a:pPr algn="l"/>
            <a:r>
              <a:rPr sz="650" b="0" i="0">
                <a:solidFill>
                  <a:srgbClr val="333333"/>
                </a:solidFill>
                <a:latin typeface="Calibri"/>
              </a:rPr>
              <a:t>Acquisition stratégique : Rachat d'un acteur niche IA (ex: Mistral AI) pour 20Mds$ en 2026. Impact marge nette +1.5pts d'ici 2027. Horizon 24 mois.</a:t>
            </a:r>
          </a:p>
        </p:txBody>
      </p:sp>
      <p:sp>
        <p:nvSpPr>
          <p:cNvPr id="42" name="Rectangle 41"/>
          <p:cNvSpPr/>
          <p:nvPr/>
        </p:nvSpPr>
        <p:spPr>
          <a:xfrm>
            <a:off x="4572000" y="3510000"/>
            <a:ext cx="36000" cy="792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636800" y="3491999"/>
            <a:ext cx="4111200" cy="223200"/>
          </a:xfrm>
          <a:prstGeom prst="rect">
            <a:avLst/>
          </a:prstGeom>
          <a:noFill/>
        </p:spPr>
        <p:txBody>
          <a:bodyPr wrap="square">
            <a:spAutoFit/>
          </a:bodyPr>
          <a:lstStyle/>
          <a:p>
            <a:pPr algn="l"/>
            <a:r>
              <a:rPr sz="650" b="0" i="0">
                <a:solidFill>
                  <a:srgbClr val="333333"/>
                </a:solidFill>
                <a:latin typeface="Calibri"/>
              </a:rPr>
              <a:t>—</a:t>
            </a:r>
          </a:p>
        </p:txBody>
      </p:sp>
      <p:sp>
        <p:nvSpPr>
          <p:cNvPr id="44" name="Rectangle 43"/>
          <p:cNvSpPr/>
          <p:nvPr/>
        </p:nvSpPr>
        <p:spPr>
          <a:xfrm>
            <a:off x="367200" y="3761999"/>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367200" y="3816000"/>
            <a:ext cx="2030400" cy="5580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367200" y="3816000"/>
            <a:ext cx="46800" cy="558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46400" y="3844800"/>
            <a:ext cx="1908000" cy="251999"/>
          </a:xfrm>
          <a:prstGeom prst="rect">
            <a:avLst/>
          </a:prstGeom>
          <a:noFill/>
        </p:spPr>
        <p:txBody>
          <a:bodyPr wrap="square">
            <a:spAutoFit/>
          </a:bodyPr>
          <a:lstStyle/>
          <a:p>
            <a:pPr algn="l"/>
            <a:r>
              <a:rPr sz="1400" b="1" i="0">
                <a:solidFill>
                  <a:srgbClr val="1B3A6B"/>
                </a:solidFill>
                <a:latin typeface="Calibri"/>
              </a:rPr>
              <a:t>18,3x</a:t>
            </a:r>
          </a:p>
        </p:txBody>
      </p:sp>
      <p:sp>
        <p:nvSpPr>
          <p:cNvPr id="48" name="TextBox 47"/>
          <p:cNvSpPr txBox="1"/>
          <p:nvPr/>
        </p:nvSpPr>
        <p:spPr>
          <a:xfrm>
            <a:off x="446400" y="4096799"/>
            <a:ext cx="1908000" cy="136800"/>
          </a:xfrm>
          <a:prstGeom prst="rect">
            <a:avLst/>
          </a:prstGeom>
          <a:noFill/>
        </p:spPr>
        <p:txBody>
          <a:bodyPr wrap="square">
            <a:spAutoFit/>
          </a:bodyPr>
          <a:lstStyle/>
          <a:p>
            <a:pPr algn="l"/>
            <a:r>
              <a:rPr sz="700" b="0" i="0">
                <a:solidFill>
                  <a:srgbClr val="555555"/>
                </a:solidFill>
                <a:latin typeface="Calibri"/>
              </a:rPr>
              <a:t>EV/EBITDA</a:t>
            </a:r>
          </a:p>
        </p:txBody>
      </p:sp>
      <p:sp>
        <p:nvSpPr>
          <p:cNvPr id="49" name="TextBox 48"/>
          <p:cNvSpPr txBox="1"/>
          <p:nvPr/>
        </p:nvSpPr>
        <p:spPr>
          <a:xfrm>
            <a:off x="446400" y="4226400"/>
            <a:ext cx="1908000" cy="125999"/>
          </a:xfrm>
          <a:prstGeom prst="rect">
            <a:avLst/>
          </a:prstGeom>
          <a:noFill/>
        </p:spPr>
        <p:txBody>
          <a:bodyPr wrap="square">
            <a:spAutoFit/>
          </a:bodyPr>
          <a:lstStyle/>
          <a:p>
            <a:pPr algn="l"/>
            <a:r>
              <a:rPr sz="600" b="0" i="0">
                <a:solidFill>
                  <a:srgbClr val="888888"/>
                </a:solidFill>
                <a:latin typeface="Calibri"/>
              </a:rPr>
              <a:t>vs 19,5x med. pairs</a:t>
            </a:r>
          </a:p>
        </p:txBody>
      </p:sp>
      <p:sp>
        <p:nvSpPr>
          <p:cNvPr id="50" name="Rectangle 49"/>
          <p:cNvSpPr/>
          <p:nvPr/>
        </p:nvSpPr>
        <p:spPr>
          <a:xfrm>
            <a:off x="2487600" y="3816000"/>
            <a:ext cx="2030400" cy="5580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2487600" y="3816000"/>
            <a:ext cx="46800" cy="558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2566800" y="3844800"/>
            <a:ext cx="1908000" cy="251999"/>
          </a:xfrm>
          <a:prstGeom prst="rect">
            <a:avLst/>
          </a:prstGeom>
          <a:noFill/>
        </p:spPr>
        <p:txBody>
          <a:bodyPr wrap="square">
            <a:spAutoFit/>
          </a:bodyPr>
          <a:lstStyle/>
          <a:p>
            <a:pPr algn="l"/>
            <a:r>
              <a:rPr sz="1400" b="1" i="0">
                <a:solidFill>
                  <a:srgbClr val="1B3A6B"/>
                </a:solidFill>
                <a:latin typeface="Calibri"/>
              </a:rPr>
              <a:t>10,3 %</a:t>
            </a:r>
          </a:p>
        </p:txBody>
      </p:sp>
      <p:sp>
        <p:nvSpPr>
          <p:cNvPr id="53" name="TextBox 52"/>
          <p:cNvSpPr txBox="1"/>
          <p:nvPr/>
        </p:nvSpPr>
        <p:spPr>
          <a:xfrm>
            <a:off x="2566800" y="4096799"/>
            <a:ext cx="1908000" cy="136800"/>
          </a:xfrm>
          <a:prstGeom prst="rect">
            <a:avLst/>
          </a:prstGeom>
          <a:noFill/>
        </p:spPr>
        <p:txBody>
          <a:bodyPr wrap="square">
            <a:spAutoFit/>
          </a:bodyPr>
          <a:lstStyle/>
          <a:p>
            <a:pPr algn="l"/>
            <a:r>
              <a:rPr sz="700" b="0" i="0">
                <a:solidFill>
                  <a:srgbClr val="555555"/>
                </a:solidFill>
                <a:latin typeface="Calibri"/>
              </a:rPr>
              <a:t>WACC</a:t>
            </a:r>
          </a:p>
        </p:txBody>
      </p:sp>
      <p:sp>
        <p:nvSpPr>
          <p:cNvPr id="54" name="TextBox 53"/>
          <p:cNvSpPr txBox="1"/>
          <p:nvPr/>
        </p:nvSpPr>
        <p:spPr>
          <a:xfrm>
            <a:off x="2566800" y="4226400"/>
            <a:ext cx="1908000" cy="125999"/>
          </a:xfrm>
          <a:prstGeom prst="rect">
            <a:avLst/>
          </a:prstGeom>
          <a:noFill/>
        </p:spPr>
        <p:txBody>
          <a:bodyPr wrap="square">
            <a:spAutoFit/>
          </a:bodyPr>
          <a:lstStyle/>
          <a:p>
            <a:pPr algn="l"/>
            <a:r>
              <a:rPr sz="600" b="0" i="0">
                <a:solidFill>
                  <a:srgbClr val="888888"/>
                </a:solidFill>
                <a:latin typeface="Calibri"/>
              </a:rPr>
              <a:t>Beta 1,11  ·  RFR 4,3 %</a:t>
            </a:r>
          </a:p>
        </p:txBody>
      </p:sp>
      <p:sp>
        <p:nvSpPr>
          <p:cNvPr id="55" name="Rectangle 54"/>
          <p:cNvSpPr/>
          <p:nvPr/>
        </p:nvSpPr>
        <p:spPr>
          <a:xfrm>
            <a:off x="4608000" y="3816000"/>
            <a:ext cx="2030400" cy="5580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4608000" y="3816000"/>
            <a:ext cx="46800" cy="558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687200" y="3844800"/>
            <a:ext cx="1908000" cy="251999"/>
          </a:xfrm>
          <a:prstGeom prst="rect">
            <a:avLst/>
          </a:prstGeom>
          <a:noFill/>
        </p:spPr>
        <p:txBody>
          <a:bodyPr wrap="square">
            <a:spAutoFit/>
          </a:bodyPr>
          <a:lstStyle/>
          <a:p>
            <a:pPr algn="l"/>
            <a:r>
              <a:rPr sz="1400" b="1" i="0">
                <a:solidFill>
                  <a:srgbClr val="1B3A6B"/>
                </a:solidFill>
                <a:latin typeface="Calibri"/>
              </a:rPr>
              <a:t>425 $</a:t>
            </a:r>
          </a:p>
        </p:txBody>
      </p:sp>
      <p:sp>
        <p:nvSpPr>
          <p:cNvPr id="58" name="TextBox 57"/>
          <p:cNvSpPr txBox="1"/>
          <p:nvPr/>
        </p:nvSpPr>
        <p:spPr>
          <a:xfrm>
            <a:off x="4687200" y="4096799"/>
            <a:ext cx="1908000" cy="136800"/>
          </a:xfrm>
          <a:prstGeom prst="rect">
            <a:avLst/>
          </a:prstGeom>
          <a:noFill/>
        </p:spPr>
        <p:txBody>
          <a:bodyPr wrap="square">
            <a:spAutoFit/>
          </a:bodyPr>
          <a:lstStyle/>
          <a:p>
            <a:pPr algn="l"/>
            <a:r>
              <a:rPr sz="700" b="0" i="0">
                <a:solidFill>
                  <a:srgbClr val="555555"/>
                </a:solidFill>
                <a:latin typeface="Calibri"/>
              </a:rPr>
              <a:t>Valeur DCF base</a:t>
            </a:r>
          </a:p>
        </p:txBody>
      </p:sp>
      <p:sp>
        <p:nvSpPr>
          <p:cNvPr id="59" name="TextBox 58"/>
          <p:cNvSpPr txBox="1"/>
          <p:nvPr/>
        </p:nvSpPr>
        <p:spPr>
          <a:xfrm>
            <a:off x="4687200" y="4226400"/>
            <a:ext cx="1908000" cy="125999"/>
          </a:xfrm>
          <a:prstGeom prst="rect">
            <a:avLst/>
          </a:prstGeom>
          <a:noFill/>
        </p:spPr>
        <p:txBody>
          <a:bodyPr wrap="square">
            <a:spAutoFit/>
          </a:bodyPr>
          <a:lstStyle/>
          <a:p>
            <a:pPr algn="l"/>
            <a:r>
              <a:rPr sz="600" b="0" i="0">
                <a:solidFill>
                  <a:srgbClr val="888888"/>
                </a:solidFill>
                <a:latin typeface="Calibri"/>
              </a:rPr>
              <a:t>Upside +8,1 % vs cours</a:t>
            </a:r>
          </a:p>
        </p:txBody>
      </p:sp>
      <p:sp>
        <p:nvSpPr>
          <p:cNvPr id="60" name="Rectangle 59"/>
          <p:cNvSpPr/>
          <p:nvPr/>
        </p:nvSpPr>
        <p:spPr>
          <a:xfrm>
            <a:off x="6728400" y="3816000"/>
            <a:ext cx="2030400" cy="5580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6728400" y="3816000"/>
            <a:ext cx="46800" cy="558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807600" y="3844800"/>
            <a:ext cx="1908000" cy="251999"/>
          </a:xfrm>
          <a:prstGeom prst="rect">
            <a:avLst/>
          </a:prstGeom>
          <a:noFill/>
        </p:spPr>
        <p:txBody>
          <a:bodyPr wrap="square">
            <a:spAutoFit/>
          </a:bodyPr>
          <a:lstStyle/>
          <a:p>
            <a:pPr algn="l"/>
            <a:r>
              <a:rPr sz="1400" b="1" i="0">
                <a:solidFill>
                  <a:srgbClr val="1B3A6B"/>
                </a:solidFill>
                <a:latin typeface="Calibri"/>
              </a:rPr>
              <a:t>-0,010</a:t>
            </a:r>
          </a:p>
        </p:txBody>
      </p:sp>
      <p:sp>
        <p:nvSpPr>
          <p:cNvPr id="63" name="TextBox 62"/>
          <p:cNvSpPr txBox="1"/>
          <p:nvPr/>
        </p:nvSpPr>
        <p:spPr>
          <a:xfrm>
            <a:off x="6807600" y="4096799"/>
            <a:ext cx="1908000" cy="136800"/>
          </a:xfrm>
          <a:prstGeom prst="rect">
            <a:avLst/>
          </a:prstGeom>
          <a:noFill/>
        </p:spPr>
        <p:txBody>
          <a:bodyPr wrap="square">
            <a:spAutoFit/>
          </a:bodyPr>
          <a:lstStyle/>
          <a:p>
            <a:pPr algn="l"/>
            <a:r>
              <a:rPr sz="700" b="0" i="0">
                <a:solidFill>
                  <a:srgbClr val="555555"/>
                </a:solidFill>
                <a:latin typeface="Calibri"/>
              </a:rPr>
              <a:t>Sentiment FinBERT</a:t>
            </a:r>
          </a:p>
        </p:txBody>
      </p:sp>
      <p:sp>
        <p:nvSpPr>
          <p:cNvPr id="64" name="TextBox 63"/>
          <p:cNvSpPr txBox="1"/>
          <p:nvPr/>
        </p:nvSpPr>
        <p:spPr>
          <a:xfrm>
            <a:off x="6807600" y="4226400"/>
            <a:ext cx="1908000" cy="125999"/>
          </a:xfrm>
          <a:prstGeom prst="rect">
            <a:avLst/>
          </a:prstGeom>
          <a:noFill/>
        </p:spPr>
        <p:txBody>
          <a:bodyPr wrap="square">
            <a:spAutoFit/>
          </a:bodyPr>
          <a:lstStyle/>
          <a:p>
            <a:pPr algn="l"/>
            <a:r>
              <a:rPr sz="600" b="0" i="0">
                <a:solidFill>
                  <a:srgbClr val="888888"/>
                </a:solidFill>
                <a:latin typeface="Calibri"/>
              </a:rPr>
              <a:t>Neutre  ·  30 art.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Sommaire</a:t>
            </a:r>
          </a:p>
        </p:txBody>
      </p:sp>
      <p:sp>
        <p:nvSpPr>
          <p:cNvPr id="6" name="Rectangle 5"/>
          <p:cNvSpPr/>
          <p:nvPr/>
        </p:nvSpPr>
        <p:spPr>
          <a:xfrm>
            <a:off x="367200" y="8964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8964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950400"/>
            <a:ext cx="475200" cy="514800"/>
          </a:xfrm>
          <a:prstGeom prst="rect">
            <a:avLst/>
          </a:prstGeom>
          <a:noFill/>
        </p:spPr>
        <p:txBody>
          <a:bodyPr wrap="square">
            <a:spAutoFit/>
          </a:bodyPr>
          <a:lstStyle/>
          <a:p>
            <a:pPr algn="l"/>
            <a:r>
              <a:rPr sz="1700" b="1" i="0">
                <a:solidFill>
                  <a:srgbClr val="888888"/>
                </a:solidFill>
                <a:latin typeface="Calibri"/>
              </a:rPr>
              <a:t>01</a:t>
            </a:r>
          </a:p>
        </p:txBody>
      </p:sp>
      <p:sp>
        <p:nvSpPr>
          <p:cNvPr id="9" name="TextBox 8"/>
          <p:cNvSpPr txBox="1"/>
          <p:nvPr/>
        </p:nvSpPr>
        <p:spPr>
          <a:xfrm>
            <a:off x="1152000" y="968400"/>
            <a:ext cx="6120000" cy="255600"/>
          </a:xfrm>
          <a:prstGeom prst="rect">
            <a:avLst/>
          </a:prstGeom>
          <a:noFill/>
        </p:spPr>
        <p:txBody>
          <a:bodyPr wrap="square">
            <a:spAutoFit/>
          </a:bodyPr>
          <a:lstStyle/>
          <a:p>
            <a:pPr algn="l"/>
            <a:r>
              <a:rPr sz="1300" b="1" i="0">
                <a:solidFill>
                  <a:srgbClr val="1B3A6B"/>
                </a:solidFill>
                <a:latin typeface="Calibri"/>
              </a:rPr>
              <a:t>Company Overview</a:t>
            </a:r>
          </a:p>
        </p:txBody>
      </p:sp>
      <p:sp>
        <p:nvSpPr>
          <p:cNvPr id="10" name="TextBox 9"/>
          <p:cNvSpPr txBox="1"/>
          <p:nvPr/>
        </p:nvSpPr>
        <p:spPr>
          <a:xfrm>
            <a:off x="1152000" y="1202400"/>
            <a:ext cx="6120000" cy="255600"/>
          </a:xfrm>
          <a:prstGeom prst="rect">
            <a:avLst/>
          </a:prstGeom>
          <a:noFill/>
        </p:spPr>
        <p:txBody>
          <a:bodyPr wrap="square">
            <a:spAutoFit/>
          </a:bodyPr>
          <a:lstStyle/>
          <a:p>
            <a:pPr algn="l"/>
            <a:r>
              <a:rPr sz="850" b="0" i="0">
                <a:solidFill>
                  <a:srgbClr val="555555"/>
                </a:solidFill>
                <a:latin typeface="Calibri"/>
              </a:rPr>
              <a:t>Microsoft Corporation  ·  Technology</a:t>
            </a:r>
          </a:p>
        </p:txBody>
      </p:sp>
      <p:sp>
        <p:nvSpPr>
          <p:cNvPr id="11" name="TextBox 10"/>
          <p:cNvSpPr txBox="1"/>
          <p:nvPr/>
        </p:nvSpPr>
        <p:spPr>
          <a:xfrm>
            <a:off x="7405200" y="1058400"/>
            <a:ext cx="1375200" cy="255600"/>
          </a:xfrm>
          <a:prstGeom prst="rect">
            <a:avLst/>
          </a:prstGeom>
          <a:noFill/>
        </p:spPr>
        <p:txBody>
          <a:bodyPr wrap="square">
            <a:spAutoFit/>
          </a:bodyPr>
          <a:lstStyle/>
          <a:p>
            <a:pPr algn="r"/>
            <a:r>
              <a:rPr sz="900" b="0" i="0">
                <a:solidFill>
                  <a:srgbClr val="2E5FA3"/>
                </a:solidFill>
                <a:latin typeface="Calibri"/>
              </a:rPr>
              <a:t>4–6</a:t>
            </a:r>
          </a:p>
        </p:txBody>
      </p:sp>
      <p:sp>
        <p:nvSpPr>
          <p:cNvPr id="12" name="Rectangle 11"/>
          <p:cNvSpPr/>
          <p:nvPr/>
        </p:nvSpPr>
        <p:spPr>
          <a:xfrm>
            <a:off x="367200" y="15912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7200" y="15912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3999" y="1645200"/>
            <a:ext cx="475200" cy="514800"/>
          </a:xfrm>
          <a:prstGeom prst="rect">
            <a:avLst/>
          </a:prstGeom>
          <a:noFill/>
        </p:spPr>
        <p:txBody>
          <a:bodyPr wrap="square">
            <a:spAutoFit/>
          </a:bodyPr>
          <a:lstStyle/>
          <a:p>
            <a:pPr algn="l"/>
            <a:r>
              <a:rPr sz="1700" b="1" i="0">
                <a:solidFill>
                  <a:srgbClr val="888888"/>
                </a:solidFill>
                <a:latin typeface="Calibri"/>
              </a:rPr>
              <a:t>02</a:t>
            </a:r>
          </a:p>
        </p:txBody>
      </p:sp>
      <p:sp>
        <p:nvSpPr>
          <p:cNvPr id="15" name="TextBox 14"/>
          <p:cNvSpPr txBox="1"/>
          <p:nvPr/>
        </p:nvSpPr>
        <p:spPr>
          <a:xfrm>
            <a:off x="1152000" y="1663200"/>
            <a:ext cx="6120000" cy="255600"/>
          </a:xfrm>
          <a:prstGeom prst="rect">
            <a:avLst/>
          </a:prstGeom>
          <a:noFill/>
        </p:spPr>
        <p:txBody>
          <a:bodyPr wrap="square">
            <a:spAutoFit/>
          </a:bodyPr>
          <a:lstStyle/>
          <a:p>
            <a:pPr algn="l"/>
            <a:r>
              <a:rPr sz="1300" b="1" i="0">
                <a:solidFill>
                  <a:srgbClr val="1B3A6B"/>
                </a:solidFill>
                <a:latin typeface="Calibri"/>
              </a:rPr>
              <a:t>Analyse Financière</a:t>
            </a:r>
          </a:p>
        </p:txBody>
      </p:sp>
      <p:sp>
        <p:nvSpPr>
          <p:cNvPr id="16" name="TextBox 15"/>
          <p:cNvSpPr txBox="1"/>
          <p:nvPr/>
        </p:nvSpPr>
        <p:spPr>
          <a:xfrm>
            <a:off x="1152000" y="1897199"/>
            <a:ext cx="6120000" cy="255600"/>
          </a:xfrm>
          <a:prstGeom prst="rect">
            <a:avLst/>
          </a:prstGeom>
          <a:noFill/>
        </p:spPr>
        <p:txBody>
          <a:bodyPr wrap="square">
            <a:spAutoFit/>
          </a:bodyPr>
          <a:lstStyle/>
          <a:p>
            <a:pPr algn="l"/>
            <a:r>
              <a:rPr sz="850" b="0" i="0">
                <a:solidFill>
                  <a:srgbClr val="555555"/>
                </a:solidFill>
                <a:latin typeface="Calibri"/>
              </a:rPr>
              <a:t>Compte de résultat, bilan &amp; liquidité, ratios</a:t>
            </a:r>
          </a:p>
        </p:txBody>
      </p:sp>
      <p:sp>
        <p:nvSpPr>
          <p:cNvPr id="17" name="TextBox 16"/>
          <p:cNvSpPr txBox="1"/>
          <p:nvPr/>
        </p:nvSpPr>
        <p:spPr>
          <a:xfrm>
            <a:off x="7405200" y="1753200"/>
            <a:ext cx="1375200" cy="255600"/>
          </a:xfrm>
          <a:prstGeom prst="rect">
            <a:avLst/>
          </a:prstGeom>
          <a:noFill/>
        </p:spPr>
        <p:txBody>
          <a:bodyPr wrap="square">
            <a:spAutoFit/>
          </a:bodyPr>
          <a:lstStyle/>
          <a:p>
            <a:pPr algn="r"/>
            <a:r>
              <a:rPr sz="900" b="0" i="0">
                <a:solidFill>
                  <a:srgbClr val="2E5FA3"/>
                </a:solidFill>
                <a:latin typeface="Calibri"/>
              </a:rPr>
              <a:t>7–10</a:t>
            </a:r>
          </a:p>
        </p:txBody>
      </p:sp>
      <p:sp>
        <p:nvSpPr>
          <p:cNvPr id="18" name="Rectangle 17"/>
          <p:cNvSpPr/>
          <p:nvPr/>
        </p:nvSpPr>
        <p:spPr>
          <a:xfrm>
            <a:off x="367200" y="22860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22860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3999" y="2340000"/>
            <a:ext cx="475200" cy="514800"/>
          </a:xfrm>
          <a:prstGeom prst="rect">
            <a:avLst/>
          </a:prstGeom>
          <a:noFill/>
        </p:spPr>
        <p:txBody>
          <a:bodyPr wrap="square">
            <a:spAutoFit/>
          </a:bodyPr>
          <a:lstStyle/>
          <a:p>
            <a:pPr algn="l"/>
            <a:r>
              <a:rPr sz="1700" b="1" i="0">
                <a:solidFill>
                  <a:srgbClr val="888888"/>
                </a:solidFill>
                <a:latin typeface="Calibri"/>
              </a:rPr>
              <a:t>03</a:t>
            </a:r>
          </a:p>
        </p:txBody>
      </p:sp>
      <p:sp>
        <p:nvSpPr>
          <p:cNvPr id="21" name="TextBox 20"/>
          <p:cNvSpPr txBox="1"/>
          <p:nvPr/>
        </p:nvSpPr>
        <p:spPr>
          <a:xfrm>
            <a:off x="1152000" y="2358000"/>
            <a:ext cx="6120000" cy="255600"/>
          </a:xfrm>
          <a:prstGeom prst="rect">
            <a:avLst/>
          </a:prstGeom>
          <a:noFill/>
        </p:spPr>
        <p:txBody>
          <a:bodyPr wrap="square">
            <a:spAutoFit/>
          </a:bodyPr>
          <a:lstStyle/>
          <a:p>
            <a:pPr algn="l"/>
            <a:r>
              <a:rPr sz="1300" b="1" i="0">
                <a:solidFill>
                  <a:srgbClr val="1B3A6B"/>
                </a:solidFill>
                <a:latin typeface="Calibri"/>
              </a:rPr>
              <a:t>Valorisation</a:t>
            </a:r>
          </a:p>
        </p:txBody>
      </p:sp>
      <p:sp>
        <p:nvSpPr>
          <p:cNvPr id="22" name="TextBox 21"/>
          <p:cNvSpPr txBox="1"/>
          <p:nvPr/>
        </p:nvSpPr>
        <p:spPr>
          <a:xfrm>
            <a:off x="1152000" y="2591999"/>
            <a:ext cx="6120000" cy="255600"/>
          </a:xfrm>
          <a:prstGeom prst="rect">
            <a:avLst/>
          </a:prstGeom>
          <a:noFill/>
        </p:spPr>
        <p:txBody>
          <a:bodyPr wrap="square">
            <a:spAutoFit/>
          </a:bodyPr>
          <a:lstStyle/>
          <a:p>
            <a:pPr algn="l"/>
            <a:r>
              <a:rPr sz="850" b="0" i="0">
                <a:solidFill>
                  <a:srgbClr val="555555"/>
                </a:solidFill>
                <a:latin typeface="Calibri"/>
              </a:rPr>
              <a:t>DCF, comparable peers, Football Field</a:t>
            </a:r>
          </a:p>
        </p:txBody>
      </p:sp>
      <p:sp>
        <p:nvSpPr>
          <p:cNvPr id="23" name="TextBox 22"/>
          <p:cNvSpPr txBox="1"/>
          <p:nvPr/>
        </p:nvSpPr>
        <p:spPr>
          <a:xfrm>
            <a:off x="7405200" y="2448000"/>
            <a:ext cx="1375200" cy="255600"/>
          </a:xfrm>
          <a:prstGeom prst="rect">
            <a:avLst/>
          </a:prstGeom>
          <a:noFill/>
        </p:spPr>
        <p:txBody>
          <a:bodyPr wrap="square">
            <a:spAutoFit/>
          </a:bodyPr>
          <a:lstStyle/>
          <a:p>
            <a:pPr algn="r"/>
            <a:r>
              <a:rPr sz="900" b="0" i="0">
                <a:solidFill>
                  <a:srgbClr val="2E5FA3"/>
                </a:solidFill>
                <a:latin typeface="Calibri"/>
              </a:rPr>
              <a:t>11–14</a:t>
            </a:r>
          </a:p>
        </p:txBody>
      </p:sp>
      <p:sp>
        <p:nvSpPr>
          <p:cNvPr id="24" name="Rectangle 23"/>
          <p:cNvSpPr/>
          <p:nvPr/>
        </p:nvSpPr>
        <p:spPr>
          <a:xfrm>
            <a:off x="367200" y="29808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67200" y="29808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3999" y="3034800"/>
            <a:ext cx="475200" cy="514800"/>
          </a:xfrm>
          <a:prstGeom prst="rect">
            <a:avLst/>
          </a:prstGeom>
          <a:noFill/>
        </p:spPr>
        <p:txBody>
          <a:bodyPr wrap="square">
            <a:spAutoFit/>
          </a:bodyPr>
          <a:lstStyle/>
          <a:p>
            <a:pPr algn="l"/>
            <a:r>
              <a:rPr sz="1700" b="1" i="0">
                <a:solidFill>
                  <a:srgbClr val="888888"/>
                </a:solidFill>
                <a:latin typeface="Calibri"/>
              </a:rPr>
              <a:t>04</a:t>
            </a:r>
          </a:p>
        </p:txBody>
      </p:sp>
      <p:sp>
        <p:nvSpPr>
          <p:cNvPr id="27" name="TextBox 26"/>
          <p:cNvSpPr txBox="1"/>
          <p:nvPr/>
        </p:nvSpPr>
        <p:spPr>
          <a:xfrm>
            <a:off x="1152000" y="3052799"/>
            <a:ext cx="6120000" cy="255600"/>
          </a:xfrm>
          <a:prstGeom prst="rect">
            <a:avLst/>
          </a:prstGeom>
          <a:noFill/>
        </p:spPr>
        <p:txBody>
          <a:bodyPr wrap="square">
            <a:spAutoFit/>
          </a:bodyPr>
          <a:lstStyle/>
          <a:p>
            <a:pPr algn="l"/>
            <a:r>
              <a:rPr sz="1300" b="1" i="0">
                <a:solidFill>
                  <a:srgbClr val="1B3A6B"/>
                </a:solidFill>
                <a:latin typeface="Calibri"/>
              </a:rPr>
              <a:t>Risques &amp; Stratégie</a:t>
            </a:r>
          </a:p>
        </p:txBody>
      </p:sp>
      <p:sp>
        <p:nvSpPr>
          <p:cNvPr id="28" name="TextBox 27"/>
          <p:cNvSpPr txBox="1"/>
          <p:nvPr/>
        </p:nvSpPr>
        <p:spPr>
          <a:xfrm>
            <a:off x="1152000" y="3286799"/>
            <a:ext cx="6120000" cy="255600"/>
          </a:xfrm>
          <a:prstGeom prst="rect">
            <a:avLst/>
          </a:prstGeom>
          <a:noFill/>
        </p:spPr>
        <p:txBody>
          <a:bodyPr wrap="square">
            <a:spAutoFit/>
          </a:bodyPr>
          <a:lstStyle/>
          <a:p>
            <a:pPr algn="l"/>
            <a:r>
              <a:rPr sz="850" b="0" i="0">
                <a:solidFill>
                  <a:srgbClr val="555555"/>
                </a:solidFill>
                <a:latin typeface="Calibri"/>
              </a:rPr>
              <a:t>Concurrence IA  ·  Régulation antitrust</a:t>
            </a:r>
          </a:p>
        </p:txBody>
      </p:sp>
      <p:sp>
        <p:nvSpPr>
          <p:cNvPr id="29" name="TextBox 28"/>
          <p:cNvSpPr txBox="1"/>
          <p:nvPr/>
        </p:nvSpPr>
        <p:spPr>
          <a:xfrm>
            <a:off x="7405200" y="3142799"/>
            <a:ext cx="1375200" cy="255600"/>
          </a:xfrm>
          <a:prstGeom prst="rect">
            <a:avLst/>
          </a:prstGeom>
          <a:noFill/>
        </p:spPr>
        <p:txBody>
          <a:bodyPr wrap="square">
            <a:spAutoFit/>
          </a:bodyPr>
          <a:lstStyle/>
          <a:p>
            <a:pPr algn="r"/>
            <a:r>
              <a:rPr sz="900" b="0" i="0">
                <a:solidFill>
                  <a:srgbClr val="2E5FA3"/>
                </a:solidFill>
                <a:latin typeface="Calibri"/>
              </a:rPr>
              <a:t>15–16</a:t>
            </a:r>
          </a:p>
        </p:txBody>
      </p:sp>
      <p:sp>
        <p:nvSpPr>
          <p:cNvPr id="30" name="Rectangle 29"/>
          <p:cNvSpPr/>
          <p:nvPr/>
        </p:nvSpPr>
        <p:spPr>
          <a:xfrm>
            <a:off x="367200" y="36756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7200" y="36756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3999" y="3729600"/>
            <a:ext cx="475200" cy="514800"/>
          </a:xfrm>
          <a:prstGeom prst="rect">
            <a:avLst/>
          </a:prstGeom>
          <a:noFill/>
        </p:spPr>
        <p:txBody>
          <a:bodyPr wrap="square">
            <a:spAutoFit/>
          </a:bodyPr>
          <a:lstStyle/>
          <a:p>
            <a:pPr algn="l"/>
            <a:r>
              <a:rPr sz="1700" b="1" i="0">
                <a:solidFill>
                  <a:srgbClr val="888888"/>
                </a:solidFill>
                <a:latin typeface="Calibri"/>
              </a:rPr>
              <a:t>05</a:t>
            </a:r>
          </a:p>
        </p:txBody>
      </p:sp>
      <p:sp>
        <p:nvSpPr>
          <p:cNvPr id="33" name="TextBox 32"/>
          <p:cNvSpPr txBox="1"/>
          <p:nvPr/>
        </p:nvSpPr>
        <p:spPr>
          <a:xfrm>
            <a:off x="1152000" y="3747600"/>
            <a:ext cx="6120000" cy="255600"/>
          </a:xfrm>
          <a:prstGeom prst="rect">
            <a:avLst/>
          </a:prstGeom>
          <a:noFill/>
        </p:spPr>
        <p:txBody>
          <a:bodyPr wrap="square">
            <a:spAutoFit/>
          </a:bodyPr>
          <a:lstStyle/>
          <a:p>
            <a:pPr algn="l"/>
            <a:r>
              <a:rPr sz="1300" b="1" i="0">
                <a:solidFill>
                  <a:srgbClr val="1B3A6B"/>
                </a:solidFill>
                <a:latin typeface="Calibri"/>
              </a:rPr>
              <a:t>Sentiment &amp; Annexes</a:t>
            </a:r>
          </a:p>
        </p:txBody>
      </p:sp>
      <p:sp>
        <p:nvSpPr>
          <p:cNvPr id="34" name="TextBox 33"/>
          <p:cNvSpPr txBox="1"/>
          <p:nvPr/>
        </p:nvSpPr>
        <p:spPr>
          <a:xfrm>
            <a:off x="1152000" y="3981600"/>
            <a:ext cx="6120000" cy="255600"/>
          </a:xfrm>
          <a:prstGeom prst="rect">
            <a:avLst/>
          </a:prstGeom>
          <a:noFill/>
        </p:spPr>
        <p:txBody>
          <a:bodyPr wrap="square">
            <a:spAutoFit/>
          </a:bodyPr>
          <a:lstStyle/>
          <a:p>
            <a:pPr algn="l"/>
            <a:r>
              <a:rPr sz="850" b="0" i="0">
                <a:solidFill>
                  <a:srgbClr val="555555"/>
                </a:solidFill>
                <a:latin typeface="Calibri"/>
              </a:rPr>
              <a:t>FinBERT, actionnariat, historique &amp; conviction</a:t>
            </a:r>
          </a:p>
        </p:txBody>
      </p:sp>
      <p:sp>
        <p:nvSpPr>
          <p:cNvPr id="35" name="TextBox 34"/>
          <p:cNvSpPr txBox="1"/>
          <p:nvPr/>
        </p:nvSpPr>
        <p:spPr>
          <a:xfrm>
            <a:off x="7405200" y="3837600"/>
            <a:ext cx="1375200" cy="255600"/>
          </a:xfrm>
          <a:prstGeom prst="rect">
            <a:avLst/>
          </a:prstGeom>
          <a:noFill/>
        </p:spPr>
        <p:txBody>
          <a:bodyPr wrap="square">
            <a:spAutoFit/>
          </a:bodyPr>
          <a:lstStyle/>
          <a:p>
            <a:pPr algn="r"/>
            <a:r>
              <a:rPr sz="900" b="0" i="0">
                <a:solidFill>
                  <a:srgbClr val="2E5FA3"/>
                </a:solidFill>
                <a:latin typeface="Calibri"/>
              </a:rPr>
              <a:t>17–21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01</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Company Overview</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Présentation, modèle économique &amp; données de marché</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Company Overview</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Microsoft Corporation  ·  Présentation &amp; Positionnement stratégique</a:t>
            </a:r>
          </a:p>
        </p:txBody>
      </p:sp>
      <p:sp>
        <p:nvSpPr>
          <p:cNvPr id="17" name="Rectangle 16"/>
          <p:cNvSpPr/>
          <p:nvPr/>
        </p:nvSpPr>
        <p:spPr>
          <a:xfrm>
            <a:off x="367200" y="961200"/>
            <a:ext cx="4939200" cy="3520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3520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1022400"/>
            <a:ext cx="4662000" cy="1440000"/>
          </a:xfrm>
          <a:prstGeom prst="rect">
            <a:avLst/>
          </a:prstGeom>
          <a:noFill/>
        </p:spPr>
        <p:txBody>
          <a:bodyPr wrap="square">
            <a:spAutoFit/>
          </a:bodyPr>
          <a:lstStyle/>
          <a:p>
            <a:pPr algn="l"/>
            <a:r>
              <a:rPr sz="850" b="0" i="0">
                <a:solidFill>
                  <a:srgbClr val="0D0D0D"/>
                </a:solidFill>
                <a:latin typeface="Calibri"/>
              </a:rPr>
              <a:t>Microsoft domine les infrastructures cloud (Azure 25% part de marché) et les logiciels d'entreprise (Office 365, Dynamics). Positionné sur l'IA intégrée (Copilot +150M utilisateurs) et les solutions hybrides sécurité/cloud, il bénéficie d'un écosystème fermé et de coûts de rétention clients quasi nuls. Son modèle abonnement récurent assure une visibilité financière exceptionnelle. L'entreprise articule son activité autour de deux segments stratégiques :</a:t>
            </a:r>
          </a:p>
        </p:txBody>
      </p:sp>
      <p:sp>
        <p:nvSpPr>
          <p:cNvPr id="20" name="Rectangle 19"/>
          <p:cNvSpPr/>
          <p:nvPr/>
        </p:nvSpPr>
        <p:spPr>
          <a:xfrm>
            <a:off x="503999" y="2599200"/>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9200" y="2556000"/>
            <a:ext cx="4338000" cy="165600"/>
          </a:xfrm>
          <a:prstGeom prst="rect">
            <a:avLst/>
          </a:prstGeom>
          <a:noFill/>
        </p:spPr>
        <p:txBody>
          <a:bodyPr wrap="square">
            <a:spAutoFit/>
          </a:bodyPr>
          <a:lstStyle/>
          <a:p>
            <a:pPr algn="l"/>
            <a:r>
              <a:rPr sz="850" b="1" i="0">
                <a:solidFill>
                  <a:srgbClr val="0D0D0D"/>
                </a:solidFill>
                <a:latin typeface="Calibri"/>
              </a:rPr>
              <a:t>Productivity and Business Processes</a:t>
            </a:r>
          </a:p>
        </p:txBody>
      </p:sp>
      <p:sp>
        <p:nvSpPr>
          <p:cNvPr id="22" name="TextBox 21"/>
          <p:cNvSpPr txBox="1"/>
          <p:nvPr/>
        </p:nvSpPr>
        <p:spPr>
          <a:xfrm>
            <a:off x="619200" y="2714400"/>
            <a:ext cx="4338000" cy="503999"/>
          </a:xfrm>
          <a:prstGeom prst="rect">
            <a:avLst/>
          </a:prstGeom>
          <a:noFill/>
        </p:spPr>
        <p:txBody>
          <a:bodyPr wrap="square">
            <a:spAutoFit/>
          </a:bodyPr>
          <a:lstStyle/>
          <a:p>
            <a:pPr algn="l"/>
            <a:r>
              <a:rPr sz="750" b="0" i="1">
                <a:solidFill>
                  <a:srgbClr val="555555"/>
                </a:solidFill>
                <a:latin typeface="Calibri"/>
              </a:rPr>
              <a:t>Segment leader avec Office 365, LinkedIn et Dynamics 365 générant 35% du CA. Modèle abonnements récurrents (90% des revenus) avec croissance annuelle &gt;12%. Clients cibles : entreprises (80% CA) et particuliers (20%). Moteurs : adoption cloud, automatisation IA et expansion internationale.</a:t>
            </a:r>
          </a:p>
        </p:txBody>
      </p:sp>
      <p:sp>
        <p:nvSpPr>
          <p:cNvPr id="23" name="Rectangle 22"/>
          <p:cNvSpPr/>
          <p:nvPr/>
        </p:nvSpPr>
        <p:spPr>
          <a:xfrm>
            <a:off x="503999" y="3301199"/>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9200" y="3257999"/>
            <a:ext cx="4338000" cy="165600"/>
          </a:xfrm>
          <a:prstGeom prst="rect">
            <a:avLst/>
          </a:prstGeom>
          <a:noFill/>
        </p:spPr>
        <p:txBody>
          <a:bodyPr wrap="square">
            <a:spAutoFit/>
          </a:bodyPr>
          <a:lstStyle/>
          <a:p>
            <a:pPr algn="l"/>
            <a:r>
              <a:rPr sz="850" b="1" i="0">
                <a:solidFill>
                  <a:srgbClr val="0D0D0D"/>
                </a:solidFill>
                <a:latin typeface="Calibri"/>
              </a:rPr>
              <a:t>Intelligent Cloud</a:t>
            </a:r>
          </a:p>
        </p:txBody>
      </p:sp>
      <p:sp>
        <p:nvSpPr>
          <p:cNvPr id="25" name="TextBox 24"/>
          <p:cNvSpPr txBox="1"/>
          <p:nvPr/>
        </p:nvSpPr>
        <p:spPr>
          <a:xfrm>
            <a:off x="619200" y="3416399"/>
            <a:ext cx="4338000" cy="503999"/>
          </a:xfrm>
          <a:prstGeom prst="rect">
            <a:avLst/>
          </a:prstGeom>
          <a:noFill/>
        </p:spPr>
        <p:txBody>
          <a:bodyPr wrap="square">
            <a:spAutoFit/>
          </a:bodyPr>
          <a:lstStyle/>
          <a:p>
            <a:pPr algn="l"/>
            <a:r>
              <a:rPr sz="750" b="0" i="1">
                <a:solidFill>
                  <a:srgbClr val="555555"/>
                </a:solidFill>
                <a:latin typeface="Calibri"/>
              </a:rPr>
              <a:t>Segment Azure (40% du CA) avec croissance YoY &gt;25% en 2025. Modèle pay-as-you-go et réservations long terme. Clients : grandes entreprises (60%), PME (30%), startups (10%). Moteurs : migration cloud, IA générative et régulation data (RGPD).</a:t>
            </a:r>
          </a:p>
        </p:txBody>
      </p:sp>
      <p:sp>
        <p:nvSpPr>
          <p:cNvPr id="26" name="Rectangle 25"/>
          <p:cNvSpPr/>
          <p:nvPr/>
        </p:nvSpPr>
        <p:spPr>
          <a:xfrm>
            <a:off x="5558400" y="961200"/>
            <a:ext cx="32004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58400" y="9612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48400" y="1015200"/>
            <a:ext cx="3063600" cy="396000"/>
          </a:xfrm>
          <a:prstGeom prst="rect">
            <a:avLst/>
          </a:prstGeom>
          <a:noFill/>
        </p:spPr>
        <p:txBody>
          <a:bodyPr wrap="square">
            <a:spAutoFit/>
          </a:bodyPr>
          <a:lstStyle/>
          <a:p>
            <a:pPr algn="l"/>
            <a:r>
              <a:rPr sz="1900" b="1" i="0">
                <a:solidFill>
                  <a:srgbClr val="FFFFFF"/>
                </a:solidFill>
                <a:latin typeface="Calibri"/>
              </a:rPr>
              <a:t>2 919,1 Mds$</a:t>
            </a:r>
          </a:p>
        </p:txBody>
      </p:sp>
      <p:sp>
        <p:nvSpPr>
          <p:cNvPr id="29" name="TextBox 28"/>
          <p:cNvSpPr txBox="1"/>
          <p:nvPr/>
        </p:nvSpPr>
        <p:spPr>
          <a:xfrm>
            <a:off x="5648400" y="1411200"/>
            <a:ext cx="3063600" cy="205199"/>
          </a:xfrm>
          <a:prstGeom prst="rect">
            <a:avLst/>
          </a:prstGeom>
          <a:noFill/>
        </p:spPr>
        <p:txBody>
          <a:bodyPr wrap="square">
            <a:spAutoFit/>
          </a:bodyPr>
          <a:lstStyle/>
          <a:p>
            <a:pPr algn="l"/>
            <a:r>
              <a:rPr sz="800" b="0" i="0">
                <a:solidFill>
                  <a:srgbClr val="FFFFFF"/>
                </a:solidFill>
                <a:latin typeface="Calibri"/>
              </a:rPr>
              <a:t>Capitalisation boursière</a:t>
            </a:r>
          </a:p>
        </p:txBody>
      </p:sp>
      <p:sp>
        <p:nvSpPr>
          <p:cNvPr id="30" name="Rectangle 29"/>
          <p:cNvSpPr/>
          <p:nvPr/>
        </p:nvSpPr>
        <p:spPr>
          <a:xfrm>
            <a:off x="5558400" y="18468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58400" y="1846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648400" y="1900800"/>
            <a:ext cx="3063600" cy="396000"/>
          </a:xfrm>
          <a:prstGeom prst="rect">
            <a:avLst/>
          </a:prstGeom>
          <a:noFill/>
        </p:spPr>
        <p:txBody>
          <a:bodyPr wrap="square">
            <a:spAutoFit/>
          </a:bodyPr>
          <a:lstStyle/>
          <a:p>
            <a:pPr algn="l"/>
            <a:r>
              <a:rPr sz="1900" b="1" i="0">
                <a:solidFill>
                  <a:srgbClr val="1B3A6B"/>
                </a:solidFill>
                <a:latin typeface="Calibri"/>
              </a:rPr>
              <a:t>281,7 Mds$</a:t>
            </a:r>
          </a:p>
        </p:txBody>
      </p:sp>
      <p:sp>
        <p:nvSpPr>
          <p:cNvPr id="33" name="TextBox 32"/>
          <p:cNvSpPr txBox="1"/>
          <p:nvPr/>
        </p:nvSpPr>
        <p:spPr>
          <a:xfrm>
            <a:off x="5648400" y="2296800"/>
            <a:ext cx="3063600" cy="205199"/>
          </a:xfrm>
          <a:prstGeom prst="rect">
            <a:avLst/>
          </a:prstGeom>
          <a:noFill/>
        </p:spPr>
        <p:txBody>
          <a:bodyPr wrap="square">
            <a:spAutoFit/>
          </a:bodyPr>
          <a:lstStyle/>
          <a:p>
            <a:pPr algn="l"/>
            <a:r>
              <a:rPr sz="800" b="0" i="0">
                <a:solidFill>
                  <a:srgbClr val="555555"/>
                </a:solidFill>
                <a:latin typeface="Calibri"/>
              </a:rPr>
              <a:t>Chiffre d'affaires (2025)</a:t>
            </a:r>
          </a:p>
        </p:txBody>
      </p:sp>
      <p:sp>
        <p:nvSpPr>
          <p:cNvPr id="34" name="Rectangle 33"/>
          <p:cNvSpPr/>
          <p:nvPr/>
        </p:nvSpPr>
        <p:spPr>
          <a:xfrm>
            <a:off x="5558400" y="27324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58400" y="27324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48400" y="2786400"/>
            <a:ext cx="3063600" cy="396000"/>
          </a:xfrm>
          <a:prstGeom prst="rect">
            <a:avLst/>
          </a:prstGeom>
          <a:noFill/>
        </p:spPr>
        <p:txBody>
          <a:bodyPr wrap="square">
            <a:spAutoFit/>
          </a:bodyPr>
          <a:lstStyle/>
          <a:p>
            <a:pPr algn="l"/>
            <a:r>
              <a:rPr sz="1900" b="1" i="0">
                <a:solidFill>
                  <a:srgbClr val="1B3A6B"/>
                </a:solidFill>
                <a:latin typeface="Calibri"/>
              </a:rPr>
              <a:t>393,11 $</a:t>
            </a:r>
          </a:p>
        </p:txBody>
      </p:sp>
      <p:sp>
        <p:nvSpPr>
          <p:cNvPr id="37" name="TextBox 36"/>
          <p:cNvSpPr txBox="1"/>
          <p:nvPr/>
        </p:nvSpPr>
        <p:spPr>
          <a:xfrm>
            <a:off x="5648400" y="3182400"/>
            <a:ext cx="30636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38" name="Rectangle 37"/>
          <p:cNvSpPr/>
          <p:nvPr/>
        </p:nvSpPr>
        <p:spPr>
          <a:xfrm>
            <a:off x="5558400" y="36216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58400" y="36216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648400" y="3675600"/>
            <a:ext cx="3063600" cy="396000"/>
          </a:xfrm>
          <a:prstGeom prst="rect">
            <a:avLst/>
          </a:prstGeom>
          <a:noFill/>
        </p:spPr>
        <p:txBody>
          <a:bodyPr wrap="square">
            <a:spAutoFit/>
          </a:bodyPr>
          <a:lstStyle/>
          <a:p>
            <a:pPr algn="l"/>
            <a:r>
              <a:rPr sz="1900" b="1" i="0">
                <a:solidFill>
                  <a:srgbClr val="1B3A6B"/>
                </a:solidFill>
                <a:latin typeface="Calibri"/>
              </a:rPr>
              <a:t>18,3x</a:t>
            </a:r>
          </a:p>
        </p:txBody>
      </p:sp>
      <p:sp>
        <p:nvSpPr>
          <p:cNvPr id="41" name="TextBox 40"/>
          <p:cNvSpPr txBox="1"/>
          <p:nvPr/>
        </p:nvSpPr>
        <p:spPr>
          <a:xfrm>
            <a:off x="5648400" y="4071600"/>
            <a:ext cx="3063600" cy="205199"/>
          </a:xfrm>
          <a:prstGeom prst="rect">
            <a:avLst/>
          </a:prstGeom>
          <a:noFill/>
        </p:spPr>
        <p:txBody>
          <a:bodyPr wrap="square">
            <a:spAutoFit/>
          </a:bodyPr>
          <a:lstStyle/>
          <a:p>
            <a:pPr algn="l"/>
            <a:r>
              <a:rPr sz="800" b="0" i="0">
                <a:solidFill>
                  <a:srgbClr val="555555"/>
                </a:solidFill>
                <a:latin typeface="Calibri"/>
              </a:rPr>
              <a:t>EV/EBITDA (LTM)</a:t>
            </a:r>
          </a:p>
        </p:txBody>
      </p:sp>
      <p:sp>
        <p:nvSpPr>
          <p:cNvPr id="42" name="TextBox 41"/>
          <p:cNvSpPr txBox="1"/>
          <p:nvPr/>
        </p:nvSpPr>
        <p:spPr>
          <a:xfrm>
            <a:off x="5648400" y="4269600"/>
            <a:ext cx="3063600" cy="165600"/>
          </a:xfrm>
          <a:prstGeom prst="rect">
            <a:avLst/>
          </a:prstGeom>
          <a:noFill/>
        </p:spPr>
        <p:txBody>
          <a:bodyPr wrap="square">
            <a:spAutoFit/>
          </a:bodyPr>
          <a:lstStyle/>
          <a:p>
            <a:pPr algn="l"/>
            <a:r>
              <a:rPr sz="700" b="0" i="0">
                <a:solidFill>
                  <a:srgbClr val="888888"/>
                </a:solidFill>
                <a:latin typeface="Calibri"/>
              </a:rPr>
              <a:t>P/E : 28,7x</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Modèle Économique</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Segments opérationnels et moteurs de croissance</a:t>
            </a:r>
          </a:p>
        </p:txBody>
      </p:sp>
      <p:sp>
        <p:nvSpPr>
          <p:cNvPr id="17" name="Rectangle 16"/>
          <p:cNvSpPr/>
          <p:nvPr/>
        </p:nvSpPr>
        <p:spPr>
          <a:xfrm>
            <a:off x="367200" y="961200"/>
            <a:ext cx="2731199" cy="3520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2731199"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141200"/>
            <a:ext cx="2551199" cy="640800"/>
          </a:xfrm>
          <a:prstGeom prst="rect">
            <a:avLst/>
          </a:prstGeom>
          <a:noFill/>
        </p:spPr>
        <p:txBody>
          <a:bodyPr wrap="square">
            <a:spAutoFit/>
          </a:bodyPr>
          <a:lstStyle/>
          <a:p>
            <a:pPr algn="l"/>
            <a:r>
              <a:rPr sz="2200" b="1" i="0">
                <a:solidFill>
                  <a:srgbClr val="2E5FA3"/>
                </a:solidFill>
                <a:latin typeface="Calibri"/>
              </a:rPr>
              <a:t>38%</a:t>
            </a:r>
          </a:p>
        </p:txBody>
      </p:sp>
      <p:sp>
        <p:nvSpPr>
          <p:cNvPr id="20" name="TextBox 19"/>
          <p:cNvSpPr txBox="1"/>
          <p:nvPr/>
        </p:nvSpPr>
        <p:spPr>
          <a:xfrm>
            <a:off x="457200" y="1785600"/>
            <a:ext cx="2551199" cy="108000"/>
          </a:xfrm>
          <a:prstGeom prst="rect">
            <a:avLst/>
          </a:prstGeom>
          <a:noFill/>
        </p:spPr>
        <p:txBody>
          <a:bodyPr wrap="square">
            <a:spAutoFit/>
          </a:bodyPr>
          <a:lstStyle/>
          <a:p>
            <a:pPr algn="l"/>
            <a:r>
              <a:rPr sz="900" b="0" i="0">
                <a:solidFill>
                  <a:srgbClr val="555555"/>
                </a:solidFill>
                <a:latin typeface="Calibri"/>
              </a:rPr>
              <a:t>du CA</a:t>
            </a:r>
          </a:p>
        </p:txBody>
      </p:sp>
      <p:sp>
        <p:nvSpPr>
          <p:cNvPr id="21" name="Rectangle 20"/>
          <p:cNvSpPr/>
          <p:nvPr/>
        </p:nvSpPr>
        <p:spPr>
          <a:xfrm>
            <a:off x="457200" y="1965600"/>
            <a:ext cx="2551199"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2059200"/>
            <a:ext cx="2551199" cy="255600"/>
          </a:xfrm>
          <a:prstGeom prst="rect">
            <a:avLst/>
          </a:prstGeom>
          <a:noFill/>
        </p:spPr>
        <p:txBody>
          <a:bodyPr wrap="square">
            <a:spAutoFit/>
          </a:bodyPr>
          <a:lstStyle/>
          <a:p>
            <a:pPr algn="l"/>
            <a:r>
              <a:rPr sz="1000" b="1" i="0">
                <a:solidFill>
                  <a:srgbClr val="1B3A6B"/>
                </a:solidFill>
                <a:latin typeface="Calibri"/>
              </a:rPr>
              <a:t>Productivité &amp; Cloud (P&amp;C)</a:t>
            </a:r>
          </a:p>
        </p:txBody>
      </p:sp>
      <p:sp>
        <p:nvSpPr>
          <p:cNvPr id="23" name="TextBox 22"/>
          <p:cNvSpPr txBox="1"/>
          <p:nvPr/>
        </p:nvSpPr>
        <p:spPr>
          <a:xfrm>
            <a:off x="457200" y="2332800"/>
            <a:ext cx="2551199" cy="2041199"/>
          </a:xfrm>
          <a:prstGeom prst="rect">
            <a:avLst/>
          </a:prstGeom>
          <a:noFill/>
        </p:spPr>
        <p:txBody>
          <a:bodyPr wrap="square">
            <a:spAutoFit/>
          </a:bodyPr>
          <a:lstStyle/>
          <a:p>
            <a:pPr algn="l"/>
            <a:r>
              <a:rPr sz="800" b="0" i="0">
                <a:solidFill>
                  <a:srgbClr val="555555"/>
                </a:solidFill>
                <a:latin typeface="Calibri"/>
              </a:rPr>
              <a:t>Ce segment couvre les solutions de productivité (Office 365, Microsoft 365) et les services cloud (Azure, Dynamics 365, Power Platform). Il cible les entreprises de toutes tailles, les institutions publiques et les particuliers, avec une forte adoption dans les secteurs réglementés (santé, finance) et les marchés émergents où la digitalisation progresse. Microsoft domine ce segment grâce à son écosystème intégré (Office + Azure), sa fidélisation via des abonnements récurrents (SaaS) et son avantage coût-efficacité face à Google Workspace ou AWS. Les drivers incluent la migration vers le cloud, l’IA intégrée (Copilot) et la demande en outils collaboratifs post-pandémie. Azure, en croissance à ~30% YoY, représente 25% du CA du segment, tandis que Microsoft 365 (30% du CA) bénéficie de l’upselling vers des plans premium. Catalyseurs à 12 mois : lancement de Copilot pour Office 365 (Q3 2023) et expansion des datacenters Azure en Europe/Asie. Risques : saturation du marché des abonnements (maturité aux États-Unis), pression concurrentielle sur les prix (AWS, Salesforce) et dépendance aux cycles économiques (budgets IT des entreprises).</a:t>
            </a:r>
          </a:p>
        </p:txBody>
      </p:sp>
      <p:sp>
        <p:nvSpPr>
          <p:cNvPr id="24" name="Rectangle 23"/>
          <p:cNvSpPr/>
          <p:nvPr/>
        </p:nvSpPr>
        <p:spPr>
          <a:xfrm>
            <a:off x="3206400" y="961200"/>
            <a:ext cx="2731199" cy="35208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206400" y="961200"/>
            <a:ext cx="2731199" cy="5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296400" y="1141200"/>
            <a:ext cx="2551199" cy="640800"/>
          </a:xfrm>
          <a:prstGeom prst="rect">
            <a:avLst/>
          </a:prstGeom>
          <a:noFill/>
        </p:spPr>
        <p:txBody>
          <a:bodyPr wrap="square">
            <a:spAutoFit/>
          </a:bodyPr>
          <a:lstStyle/>
          <a:p>
            <a:pPr algn="l"/>
            <a:r>
              <a:rPr sz="2200" b="1" i="0">
                <a:solidFill>
                  <a:srgbClr val="1A7A4A"/>
                </a:solidFill>
                <a:latin typeface="Calibri"/>
              </a:rPr>
              <a:t>42%</a:t>
            </a:r>
          </a:p>
        </p:txBody>
      </p:sp>
      <p:sp>
        <p:nvSpPr>
          <p:cNvPr id="27" name="TextBox 26"/>
          <p:cNvSpPr txBox="1"/>
          <p:nvPr/>
        </p:nvSpPr>
        <p:spPr>
          <a:xfrm>
            <a:off x="3296400" y="1785600"/>
            <a:ext cx="2551199" cy="108000"/>
          </a:xfrm>
          <a:prstGeom prst="rect">
            <a:avLst/>
          </a:prstGeom>
          <a:noFill/>
        </p:spPr>
        <p:txBody>
          <a:bodyPr wrap="square">
            <a:spAutoFit/>
          </a:bodyPr>
          <a:lstStyle/>
          <a:p>
            <a:pPr algn="l"/>
            <a:r>
              <a:rPr sz="900" b="0" i="0">
                <a:solidFill>
                  <a:srgbClr val="555555"/>
                </a:solidFill>
                <a:latin typeface="Calibri"/>
              </a:rPr>
              <a:t>du CA</a:t>
            </a:r>
          </a:p>
        </p:txBody>
      </p:sp>
      <p:sp>
        <p:nvSpPr>
          <p:cNvPr id="28" name="Rectangle 27"/>
          <p:cNvSpPr/>
          <p:nvPr/>
        </p:nvSpPr>
        <p:spPr>
          <a:xfrm>
            <a:off x="3296400" y="1965600"/>
            <a:ext cx="2551199"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96400" y="2059200"/>
            <a:ext cx="2551199" cy="255600"/>
          </a:xfrm>
          <a:prstGeom prst="rect">
            <a:avLst/>
          </a:prstGeom>
          <a:noFill/>
        </p:spPr>
        <p:txBody>
          <a:bodyPr wrap="square">
            <a:spAutoFit/>
          </a:bodyPr>
          <a:lstStyle/>
          <a:p>
            <a:pPr algn="l"/>
            <a:r>
              <a:rPr sz="1000" b="1" i="0">
                <a:solidFill>
                  <a:srgbClr val="1B3A6B"/>
                </a:solidFill>
                <a:latin typeface="Calibri"/>
              </a:rPr>
              <a:t>Cloud &amp; IA (Azure &amp; AI)</a:t>
            </a:r>
          </a:p>
        </p:txBody>
      </p:sp>
      <p:sp>
        <p:nvSpPr>
          <p:cNvPr id="30" name="TextBox 29"/>
          <p:cNvSpPr txBox="1"/>
          <p:nvPr/>
        </p:nvSpPr>
        <p:spPr>
          <a:xfrm>
            <a:off x="3296400" y="2332800"/>
            <a:ext cx="2551199" cy="2041199"/>
          </a:xfrm>
          <a:prstGeom prst="rect">
            <a:avLst/>
          </a:prstGeom>
          <a:noFill/>
        </p:spPr>
        <p:txBody>
          <a:bodyPr wrap="square">
            <a:spAutoFit/>
          </a:bodyPr>
          <a:lstStyle/>
          <a:p>
            <a:pPr algn="l"/>
            <a:r>
              <a:rPr sz="800" b="0" i="0">
                <a:solidFill>
                  <a:srgbClr val="555555"/>
                </a:solidFill>
                <a:latin typeface="Calibri"/>
              </a:rPr>
              <a:t>Ce segment regroupe les services cloud publics (Azure), les solutions d’IA (Azure AI, Copilot) et les outils de développement (GitHub, Visual Studio). Il vise les entreprises de taille moyenne à grande, les startups et les gouvernements, avec une croissance tirée par la transformation digitale et l’adoption de l’IA générative. Microsoft se positionne comme leader face à AWS (33% de part de marché) et Google Cloud (11%), grâce à son intégration verticale (Azure + OpenAI), ses investissements massifs en R&amp;D (10% du CA) et ses partenariats stratégiques (ex : NVIDIA pour les GPU). Les drivers incluent la demande en scalabilité, la souveraineté des données (régions locales) et l’IA comme différenciateur. Azure représente 80% du CA du segment, avec une croissance YoY de 35%. Catalyseurs à 12 mois : généralisation de Copilot (intégré à Azure) et expansion des services d’IA dédiés aux secteurs (santé, retail). Risques : coûts élevés des infrastructures cloud (marges compressées), concurrence agressive d’AWS sur les prix, et régulation accrue (DMA en Europe, lois sur l’IA aux États-Unis).</a:t>
            </a:r>
          </a:p>
        </p:txBody>
      </p:sp>
      <p:sp>
        <p:nvSpPr>
          <p:cNvPr id="31" name="Rectangle 30"/>
          <p:cNvSpPr/>
          <p:nvPr/>
        </p:nvSpPr>
        <p:spPr>
          <a:xfrm>
            <a:off x="6045600" y="961200"/>
            <a:ext cx="2731199" cy="3520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045600" y="961200"/>
            <a:ext cx="2731199" cy="54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135600" y="1141200"/>
            <a:ext cx="2551199" cy="640800"/>
          </a:xfrm>
          <a:prstGeom prst="rect">
            <a:avLst/>
          </a:prstGeom>
          <a:noFill/>
        </p:spPr>
        <p:txBody>
          <a:bodyPr wrap="square">
            <a:spAutoFit/>
          </a:bodyPr>
          <a:lstStyle/>
          <a:p>
            <a:pPr algn="l"/>
            <a:r>
              <a:rPr sz="2200" b="1" i="0">
                <a:solidFill>
                  <a:srgbClr val="888888"/>
                </a:solidFill>
                <a:latin typeface="Calibri"/>
              </a:rPr>
              <a:t>20%</a:t>
            </a:r>
          </a:p>
        </p:txBody>
      </p:sp>
      <p:sp>
        <p:nvSpPr>
          <p:cNvPr id="34" name="TextBox 33"/>
          <p:cNvSpPr txBox="1"/>
          <p:nvPr/>
        </p:nvSpPr>
        <p:spPr>
          <a:xfrm>
            <a:off x="6135600" y="1785600"/>
            <a:ext cx="2551199" cy="108000"/>
          </a:xfrm>
          <a:prstGeom prst="rect">
            <a:avLst/>
          </a:prstGeom>
          <a:noFill/>
        </p:spPr>
        <p:txBody>
          <a:bodyPr wrap="square">
            <a:spAutoFit/>
          </a:bodyPr>
          <a:lstStyle/>
          <a:p>
            <a:pPr algn="l"/>
            <a:r>
              <a:rPr sz="900" b="0" i="0">
                <a:solidFill>
                  <a:srgbClr val="555555"/>
                </a:solidFill>
                <a:latin typeface="Calibri"/>
              </a:rPr>
              <a:t>du CA</a:t>
            </a:r>
          </a:p>
        </p:txBody>
      </p:sp>
      <p:sp>
        <p:nvSpPr>
          <p:cNvPr id="35" name="Rectangle 34"/>
          <p:cNvSpPr/>
          <p:nvPr/>
        </p:nvSpPr>
        <p:spPr>
          <a:xfrm>
            <a:off x="6135600" y="1965600"/>
            <a:ext cx="2551199"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135600" y="2059200"/>
            <a:ext cx="2551199" cy="255600"/>
          </a:xfrm>
          <a:prstGeom prst="rect">
            <a:avLst/>
          </a:prstGeom>
          <a:noFill/>
        </p:spPr>
        <p:txBody>
          <a:bodyPr wrap="square">
            <a:spAutoFit/>
          </a:bodyPr>
          <a:lstStyle/>
          <a:p>
            <a:pPr algn="l"/>
            <a:r>
              <a:rPr sz="1000" b="1" i="0">
                <a:solidFill>
                  <a:srgbClr val="1B3A6B"/>
                </a:solidFill>
                <a:latin typeface="Calibri"/>
              </a:rPr>
              <a:t>Autres (Gaming, LinkedIn, Devices)</a:t>
            </a:r>
          </a:p>
        </p:txBody>
      </p:sp>
      <p:sp>
        <p:nvSpPr>
          <p:cNvPr id="37" name="TextBox 36"/>
          <p:cNvSpPr txBox="1"/>
          <p:nvPr/>
        </p:nvSpPr>
        <p:spPr>
          <a:xfrm>
            <a:off x="6135600" y="2332800"/>
            <a:ext cx="2551199" cy="2041199"/>
          </a:xfrm>
          <a:prstGeom prst="rect">
            <a:avLst/>
          </a:prstGeom>
          <a:noFill/>
        </p:spPr>
        <p:txBody>
          <a:bodyPr wrap="square">
            <a:spAutoFit/>
          </a:bodyPr>
          <a:lstStyle/>
          <a:p>
            <a:pPr algn="l"/>
            <a:r>
              <a:rPr sz="800" b="0" i="0">
                <a:solidFill>
                  <a:srgbClr val="555555"/>
                </a:solidFill>
                <a:latin typeface="Calibri"/>
              </a:rPr>
              <a:t>Ce segment diversifié inclut le gaming (Xbox, Game Pass), LinkedIn (réseau professionnel) et les appareils (Surface, accessoires). Il cible les consommateurs (gaming), les professionnels (LinkedIn) et les entreprises (Surface pour les déploiements hybrides). Microsoft y occupe une position de niche : leader sur LinkedIn (80% du CA du segment) avec une croissance à 25% YoY, et acteur clé du gaming (3e place mondiale) grâce à l’abonnement Game Pass (modèle Netflix). Les drivers sont l’engagement utilisateur (gaming), la monétisation des données (LinkedIn) et l’innovation hardware (Surface avec Copilot+). LinkedIn (50% du CA) bénéficie de la demande en recrutement et en formation, tandis que le gaming (30%) profite de l’essor du cloud gaming et des exclusivités (ex : *Starfield*). Catalyseurs à 12 mois : lancement de la Xbox Series X|S (2024) et expansion de LinkedIn Learning avec IA. Risques : saturation du marché du gaming (concurrence de Sony/ Nintendo), dépendance aux cycles de consommation (Surface) et régulation des données (LinkedIn face au RGPD).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02</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Analyse Financière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Compte de résultat, bilan, liquidité &amp; ratios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Analyse Financière — Compte de Résultat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USD millions  ·  2022–2027F</a:t>
            </a:r>
          </a:p>
        </p:txBody>
      </p:sp>
      <p:graphicFrame>
        <p:nvGraphicFramePr>
          <p:cNvPr id="17" name="Table 16"/>
          <p:cNvGraphicFramePr>
            <a:graphicFrameLocks noGrp="1"/>
          </p:cNvGraphicFramePr>
          <p:nvPr/>
        </p:nvGraphicFramePr>
        <p:xfrm>
          <a:off x="367200" y="914400"/>
          <a:ext cx="8413196" cy="1980000"/>
        </p:xfrm>
        <a:graphic>
          <a:graphicData uri="http://schemas.openxmlformats.org/drawingml/2006/table">
            <a:tbl>
              <a:tblPr firstRow="1" bandRow="1">
                <a:tableStyleId>{5C22544A-7EE6-4342-B048-85BDC9FD1C3A}</a:tableStyleId>
              </a:tblPr>
              <a:tblGrid>
                <a:gridCol w="2355696"/>
                <a:gridCol w="1211500"/>
                <a:gridCol w="1211500"/>
                <a:gridCol w="1211500"/>
                <a:gridCol w="1211500"/>
                <a:gridCol w="1211500"/>
              </a:tblGrid>
              <a:tr h="220000">
                <a:tc>
                  <a:txBody>
                    <a:bodyPr/>
                    <a:lstStyle/>
                    <a:p>
                      <a:pPr algn="l"/>
                      <a:r>
                        <a:rPr sz="800" b="1" i="0">
                          <a:solidFill>
                            <a:srgbClr val="FFFFFF"/>
                          </a:solidFill>
                          <a:latin typeface="Calibri"/>
                        </a:rPr>
                        <a:t>Indicateur</a:t>
                      </a:r>
                    </a:p>
                  </a:txBody>
                  <a:tcPr>
                    <a:solidFill>
                      <a:srgbClr val="1B3A6B"/>
                    </a:solidFill>
                  </a:tcPr>
                </a:tc>
                <a:tc>
                  <a:txBody>
                    <a:bodyPr/>
                    <a:lstStyle/>
                    <a:p>
                      <a:pPr algn="ctr"/>
                      <a:r>
                        <a:rPr sz="800" b="1" i="0">
                          <a:solidFill>
                            <a:srgbClr val="FFFFFF"/>
                          </a:solidFill>
                          <a:latin typeface="Calibri"/>
                        </a:rPr>
                        <a:t>2023</a:t>
                      </a:r>
                    </a:p>
                  </a:txBody>
                  <a:tcPr>
                    <a:solidFill>
                      <a:srgbClr val="1B3A6B"/>
                    </a:solidFill>
                  </a:tcPr>
                </a:tc>
                <a:tc>
                  <a:txBody>
                    <a:bodyPr/>
                    <a:lstStyle/>
                    <a:p>
                      <a:pPr algn="ctr"/>
                      <a:r>
                        <a:rPr sz="800" b="1" i="0">
                          <a:solidFill>
                            <a:srgbClr val="FFFFFF"/>
                          </a:solidFill>
                          <a:latin typeface="Calibri"/>
                        </a:rPr>
                        <a:t>2024</a:t>
                      </a:r>
                    </a:p>
                  </a:txBody>
                  <a:tcPr>
                    <a:solidFill>
                      <a:srgbClr val="1B3A6B"/>
                    </a:solidFill>
                  </a:tcPr>
                </a:tc>
                <a:tc>
                  <a:txBody>
                    <a:bodyPr/>
                    <a:lstStyle/>
                    <a:p>
                      <a:pPr algn="ctr"/>
                      <a:r>
                        <a:rPr sz="800" b="1" i="0">
                          <a:solidFill>
                            <a:srgbClr val="FFFFFF"/>
                          </a:solidFill>
                          <a:latin typeface="Calibri"/>
                        </a:rPr>
                        <a:t>2025</a:t>
                      </a:r>
                    </a:p>
                  </a:txBody>
                  <a:tcPr>
                    <a:solidFill>
                      <a:srgbClr val="1B3A6B"/>
                    </a:solidFill>
                  </a:tcPr>
                </a:tc>
                <a:tc>
                  <a:txBody>
                    <a:bodyPr/>
                    <a:lstStyle/>
                    <a:p>
                      <a:pPr algn="ctr"/>
                      <a:r>
                        <a:rPr sz="800" b="1" i="0">
                          <a:solidFill>
                            <a:srgbClr val="FFFFFF"/>
                          </a:solidFill>
                          <a:latin typeface="Calibri"/>
                        </a:rPr>
                        <a:t>2026F</a:t>
                      </a:r>
                    </a:p>
                  </a:txBody>
                  <a:tcPr>
                    <a:solidFill>
                      <a:srgbClr val="1B3A6B"/>
                    </a:solidFill>
                  </a:tcPr>
                </a:tc>
                <a:tc>
                  <a:txBody>
                    <a:bodyPr/>
                    <a:lstStyle/>
                    <a:p>
                      <a:pPr algn="ctr"/>
                      <a:r>
                        <a:rPr sz="800" b="1" i="0">
                          <a:solidFill>
                            <a:srgbClr val="FFFFFF"/>
                          </a:solidFill>
                          <a:latin typeface="Calibri"/>
                        </a:rPr>
                        <a:t>2027F</a:t>
                      </a:r>
                    </a:p>
                  </a:txBody>
                  <a:tcPr>
                    <a:solidFill>
                      <a:srgbClr val="1B3A6B"/>
                    </a:solidFill>
                  </a:tcPr>
                </a:tc>
              </a:tr>
              <a:tr h="220000">
                <a:tc>
                  <a:txBody>
                    <a:bodyPr/>
                    <a:lstStyle/>
                    <a:p>
                      <a:pPr algn="l"/>
                      <a:r>
                        <a:rPr sz="800" b="1" i="0">
                          <a:solidFill>
                            <a:srgbClr val="0D0D0D"/>
                          </a:solidFill>
                          <a:latin typeface="Calibri"/>
                        </a:rPr>
                        <a:t>Chiffre d'affaires</a:t>
                      </a:r>
                    </a:p>
                  </a:txBody>
                  <a:tcPr>
                    <a:solidFill>
                      <a:srgbClr val="FFFFFF"/>
                    </a:solidFill>
                  </a:tcPr>
                </a:tc>
                <a:tc>
                  <a:txBody>
                    <a:bodyPr/>
                    <a:lstStyle/>
                    <a:p>
                      <a:pPr algn="ctr"/>
                      <a:r>
                        <a:rPr sz="800" b="1" i="0">
                          <a:solidFill>
                            <a:srgbClr val="0D0D0D"/>
                          </a:solidFill>
                          <a:latin typeface="Calibri"/>
                        </a:rPr>
                        <a:t>211,9</a:t>
                      </a:r>
                    </a:p>
                  </a:txBody>
                  <a:tcPr>
                    <a:solidFill>
                      <a:srgbClr val="FFFFFF"/>
                    </a:solidFill>
                  </a:tcPr>
                </a:tc>
                <a:tc>
                  <a:txBody>
                    <a:bodyPr/>
                    <a:lstStyle/>
                    <a:p>
                      <a:pPr algn="ctr"/>
                      <a:r>
                        <a:rPr sz="800" b="1" i="0">
                          <a:solidFill>
                            <a:srgbClr val="0D0D0D"/>
                          </a:solidFill>
                          <a:latin typeface="Calibri"/>
                        </a:rPr>
                        <a:t>245,1</a:t>
                      </a:r>
                    </a:p>
                  </a:txBody>
                  <a:tcPr>
                    <a:solidFill>
                      <a:srgbClr val="FFFFFF"/>
                    </a:solidFill>
                  </a:tcPr>
                </a:tc>
                <a:tc>
                  <a:txBody>
                    <a:bodyPr/>
                    <a:lstStyle/>
                    <a:p>
                      <a:pPr algn="ctr"/>
                      <a:r>
                        <a:rPr sz="800" b="1" i="0">
                          <a:solidFill>
                            <a:srgbClr val="1B3A6B"/>
                          </a:solidFill>
                          <a:latin typeface="Calibri"/>
                        </a:rPr>
                        <a:t>281,7</a:t>
                      </a:r>
                    </a:p>
                  </a:txBody>
                  <a:tcPr>
                    <a:solidFill>
                      <a:srgbClr val="DDE8F5"/>
                    </a:solidFill>
                  </a:tcPr>
                </a:tc>
                <a:tc>
                  <a:txBody>
                    <a:bodyPr/>
                    <a:lstStyle/>
                    <a:p>
                      <a:pPr algn="ctr"/>
                      <a:r>
                        <a:rPr sz="800" b="1" i="0">
                          <a:solidFill>
                            <a:srgbClr val="0D0D0D"/>
                          </a:solidFill>
                          <a:latin typeface="Calibri"/>
                        </a:rPr>
                        <a:t>319,2</a:t>
                      </a:r>
                    </a:p>
                  </a:txBody>
                  <a:tcPr>
                    <a:solidFill>
                      <a:srgbClr val="FFFFFF"/>
                    </a:solidFill>
                  </a:tcPr>
                </a:tc>
                <a:tc>
                  <a:txBody>
                    <a:bodyPr/>
                    <a:lstStyle/>
                    <a:p>
                      <a:pPr algn="ctr"/>
                      <a:r>
                        <a:rPr sz="800" b="1" i="0">
                          <a:solidFill>
                            <a:srgbClr val="0D0D0D"/>
                          </a:solidFill>
                          <a:latin typeface="Calibri"/>
                        </a:rPr>
                        <a:t>360,7</a:t>
                      </a:r>
                    </a:p>
                  </a:txBody>
                  <a:tcPr>
                    <a:solidFill>
                      <a:srgbClr val="FFFFFF"/>
                    </a:solidFill>
                  </a:tcPr>
                </a:tc>
              </a:tr>
              <a:tr h="220000">
                <a:tc>
                  <a:txBody>
                    <a:bodyPr/>
                    <a:lstStyle/>
                    <a:p>
                      <a:pPr algn="l"/>
                      <a:r>
                        <a:rPr sz="750" b="0" i="1">
                          <a:solidFill>
                            <a:srgbClr val="333333"/>
                          </a:solidFill>
                          <a:latin typeface="Calibri"/>
                        </a:rPr>
                        <a:t>Croissance YoY</a:t>
                      </a:r>
                    </a:p>
                  </a:txBody>
                  <a:tcPr>
                    <a:solidFill>
                      <a:srgbClr val="F7F8FA"/>
                    </a:solidFill>
                  </a:tcPr>
                </a:tc>
                <a:tc>
                  <a:txBody>
                    <a:bodyPr/>
                    <a:lstStyle/>
                    <a:p>
                      <a:pPr algn="ctr"/>
                      <a:r>
                        <a:rPr sz="750" b="0" i="1">
                          <a:solidFill>
                            <a:srgbClr val="333333"/>
                          </a:solidFill>
                          <a:latin typeface="Calibri"/>
                        </a:rPr>
                        <a:t>+6,9 %</a:t>
                      </a:r>
                    </a:p>
                  </a:txBody>
                  <a:tcPr>
                    <a:solidFill>
                      <a:srgbClr val="F7F8FA"/>
                    </a:solidFill>
                  </a:tcPr>
                </a:tc>
                <a:tc>
                  <a:txBody>
                    <a:bodyPr/>
                    <a:lstStyle/>
                    <a:p>
                      <a:pPr algn="ctr"/>
                      <a:r>
                        <a:rPr sz="750" b="0" i="1">
                          <a:solidFill>
                            <a:srgbClr val="333333"/>
                          </a:solidFill>
                          <a:latin typeface="Calibri"/>
                        </a:rPr>
                        <a:t>+15,7 %</a:t>
                      </a:r>
                    </a:p>
                  </a:txBody>
                  <a:tcPr>
                    <a:solidFill>
                      <a:srgbClr val="F7F8FA"/>
                    </a:solidFill>
                  </a:tcPr>
                </a:tc>
                <a:tc>
                  <a:txBody>
                    <a:bodyPr/>
                    <a:lstStyle/>
                    <a:p>
                      <a:pPr algn="ctr"/>
                      <a:r>
                        <a:rPr sz="750" b="0" i="1">
                          <a:solidFill>
                            <a:srgbClr val="333333"/>
                          </a:solidFill>
                          <a:latin typeface="Calibri"/>
                        </a:rPr>
                        <a:t>+14,9 %</a:t>
                      </a:r>
                    </a:p>
                  </a:txBody>
                  <a:tcPr>
                    <a:solidFill>
                      <a:srgbClr val="DDE8F5"/>
                    </a:solidFill>
                  </a:tcPr>
                </a:tc>
                <a:tc>
                  <a:txBody>
                    <a:bodyPr/>
                    <a:lstStyle/>
                    <a:p>
                      <a:pPr algn="ctr"/>
                      <a:r>
                        <a:rPr sz="750" b="0" i="1">
                          <a:solidFill>
                            <a:srgbClr val="333333"/>
                          </a:solidFill>
                          <a:latin typeface="Calibri"/>
                        </a:rPr>
                        <a:t>+13,3 %</a:t>
                      </a:r>
                    </a:p>
                  </a:txBody>
                  <a:tcPr>
                    <a:solidFill>
                      <a:srgbClr val="F7F8FA"/>
                    </a:solidFill>
                  </a:tcPr>
                </a:tc>
                <a:tc>
                  <a:txBody>
                    <a:bodyPr/>
                    <a:lstStyle/>
                    <a:p>
                      <a:pPr algn="ctr"/>
                      <a:r>
                        <a:rPr sz="750" b="0" i="1">
                          <a:solidFill>
                            <a:srgbClr val="333333"/>
                          </a:solidFill>
                          <a:latin typeface="Calibri"/>
                        </a:rPr>
                        <a:t>+13,0 %</a:t>
                      </a:r>
                    </a:p>
                  </a:txBody>
                  <a:tcPr>
                    <a:solidFill>
                      <a:srgbClr val="F7F8FA"/>
                    </a:solidFill>
                  </a:tcPr>
                </a:tc>
              </a:tr>
              <a:tr h="220000">
                <a:tc>
                  <a:txBody>
                    <a:bodyPr/>
                    <a:lstStyle/>
                    <a:p>
                      <a:pPr algn="l"/>
                      <a:r>
                        <a:rPr sz="800" b="1" i="0">
                          <a:solidFill>
                            <a:srgbClr val="0D0D0D"/>
                          </a:solidFill>
                          <a:latin typeface="Calibri"/>
                        </a:rPr>
                        <a:t>Résultat brut</a:t>
                      </a:r>
                    </a:p>
                  </a:txBody>
                  <a:tcPr>
                    <a:solidFill>
                      <a:srgbClr val="FFFFFF"/>
                    </a:solidFill>
                  </a:tcPr>
                </a:tc>
                <a:tc>
                  <a:txBody>
                    <a:bodyPr/>
                    <a:lstStyle/>
                    <a:p>
                      <a:pPr algn="ctr"/>
                      <a:r>
                        <a:rPr sz="800" b="1" i="0">
                          <a:solidFill>
                            <a:srgbClr val="0D0D0D"/>
                          </a:solidFill>
                          <a:latin typeface="Calibri"/>
                        </a:rPr>
                        <a:t>146,1</a:t>
                      </a:r>
                    </a:p>
                  </a:txBody>
                  <a:tcPr>
                    <a:solidFill>
                      <a:srgbClr val="FFFFFF"/>
                    </a:solidFill>
                  </a:tcPr>
                </a:tc>
                <a:tc>
                  <a:txBody>
                    <a:bodyPr/>
                    <a:lstStyle/>
                    <a:p>
                      <a:pPr algn="ctr"/>
                      <a:r>
                        <a:rPr sz="800" b="1" i="0">
                          <a:solidFill>
                            <a:srgbClr val="0D0D0D"/>
                          </a:solidFill>
                          <a:latin typeface="Calibri"/>
                        </a:rPr>
                        <a:t>171,0</a:t>
                      </a:r>
                    </a:p>
                  </a:txBody>
                  <a:tcPr>
                    <a:solidFill>
                      <a:srgbClr val="FFFFFF"/>
                    </a:solidFill>
                  </a:tcPr>
                </a:tc>
                <a:tc>
                  <a:txBody>
                    <a:bodyPr/>
                    <a:lstStyle/>
                    <a:p>
                      <a:pPr algn="ctr"/>
                      <a:r>
                        <a:rPr sz="800" b="1" i="0">
                          <a:solidFill>
                            <a:srgbClr val="1B3A6B"/>
                          </a:solidFill>
                          <a:latin typeface="Calibri"/>
                        </a:rPr>
                        <a:t>193,9</a:t>
                      </a:r>
                    </a:p>
                  </a:txBody>
                  <a:tcPr>
                    <a:solidFill>
                      <a:srgbClr val="DDE8F5"/>
                    </a:solidFill>
                  </a:tcPr>
                </a:tc>
                <a:tc>
                  <a:txBody>
                    <a:bodyPr/>
                    <a:lstStyle/>
                    <a:p>
                      <a:pPr algn="ctr"/>
                      <a:r>
                        <a:rPr sz="800" b="1" i="0">
                          <a:solidFill>
                            <a:srgbClr val="0D0D0D"/>
                          </a:solidFill>
                          <a:latin typeface="Calibri"/>
                        </a:rPr>
                        <a:t>221,9</a:t>
                      </a:r>
                    </a:p>
                  </a:txBody>
                  <a:tcPr>
                    <a:solidFill>
                      <a:srgbClr val="FFFFFF"/>
                    </a:solidFill>
                  </a:tcPr>
                </a:tc>
                <a:tc>
                  <a:txBody>
                    <a:bodyPr/>
                    <a:lstStyle/>
                    <a:p>
                      <a:pPr algn="ctr"/>
                      <a:r>
                        <a:rPr sz="800" b="1" i="0">
                          <a:solidFill>
                            <a:srgbClr val="0D0D0D"/>
                          </a:solidFill>
                          <a:latin typeface="Calibri"/>
                        </a:rPr>
                        <a:t>252,5</a:t>
                      </a:r>
                    </a:p>
                  </a:txBody>
                  <a:tcPr>
                    <a:solidFill>
                      <a:srgbClr val="FFFFFF"/>
                    </a:solidFill>
                  </a:tcPr>
                </a:tc>
              </a:tr>
              <a:tr h="220000">
                <a:tc>
                  <a:txBody>
                    <a:bodyPr/>
                    <a:lstStyle/>
                    <a:p>
                      <a:pPr algn="l"/>
                      <a:r>
                        <a:rPr sz="750" b="0" i="1">
                          <a:solidFill>
                            <a:srgbClr val="333333"/>
                          </a:solidFill>
                          <a:latin typeface="Calibri"/>
                        </a:rPr>
                        <a:t>Marge brute</a:t>
                      </a:r>
                    </a:p>
                  </a:txBody>
                  <a:tcPr>
                    <a:solidFill>
                      <a:srgbClr val="F7F8FA"/>
                    </a:solidFill>
                  </a:tcPr>
                </a:tc>
                <a:tc>
                  <a:txBody>
                    <a:bodyPr/>
                    <a:lstStyle/>
                    <a:p>
                      <a:pPr algn="ctr"/>
                      <a:r>
                        <a:rPr sz="750" b="0" i="1">
                          <a:solidFill>
                            <a:srgbClr val="333333"/>
                          </a:solidFill>
                          <a:latin typeface="Calibri"/>
                        </a:rPr>
                        <a:t>68,9 %</a:t>
                      </a:r>
                    </a:p>
                  </a:txBody>
                  <a:tcPr>
                    <a:solidFill>
                      <a:srgbClr val="F7F8FA"/>
                    </a:solidFill>
                  </a:tcPr>
                </a:tc>
                <a:tc>
                  <a:txBody>
                    <a:bodyPr/>
                    <a:lstStyle/>
                    <a:p>
                      <a:pPr algn="ctr"/>
                      <a:r>
                        <a:rPr sz="750" b="0" i="1">
                          <a:solidFill>
                            <a:srgbClr val="333333"/>
                          </a:solidFill>
                          <a:latin typeface="Calibri"/>
                        </a:rPr>
                        <a:t>69,8 %</a:t>
                      </a:r>
                    </a:p>
                  </a:txBody>
                  <a:tcPr>
                    <a:solidFill>
                      <a:srgbClr val="F7F8FA"/>
                    </a:solidFill>
                  </a:tcPr>
                </a:tc>
                <a:tc>
                  <a:txBody>
                    <a:bodyPr/>
                    <a:lstStyle/>
                    <a:p>
                      <a:pPr algn="ctr"/>
                      <a:r>
                        <a:rPr sz="750" b="0" i="1">
                          <a:solidFill>
                            <a:srgbClr val="333333"/>
                          </a:solidFill>
                          <a:latin typeface="Calibri"/>
                        </a:rPr>
                        <a:t>68,8 %</a:t>
                      </a:r>
                    </a:p>
                  </a:txBody>
                  <a:tcPr>
                    <a:solidFill>
                      <a:srgbClr val="DDE8F5"/>
                    </a:solidFill>
                  </a:tcPr>
                </a:tc>
                <a:tc>
                  <a:txBody>
                    <a:bodyPr/>
                    <a:lstStyle/>
                    <a:p>
                      <a:pPr algn="ctr"/>
                      <a:r>
                        <a:rPr sz="750" b="0" i="1">
                          <a:solidFill>
                            <a:srgbClr val="333333"/>
                          </a:solidFill>
                          <a:latin typeface="Calibri"/>
                        </a:rPr>
                        <a:t>69,5 %</a:t>
                      </a:r>
                    </a:p>
                  </a:txBody>
                  <a:tcPr>
                    <a:solidFill>
                      <a:srgbClr val="F7F8FA"/>
                    </a:solidFill>
                  </a:tcPr>
                </a:tc>
                <a:tc>
                  <a:txBody>
                    <a:bodyPr/>
                    <a:lstStyle/>
                    <a:p>
                      <a:pPr algn="ctr"/>
                      <a:r>
                        <a:rPr sz="750" b="0" i="1">
                          <a:solidFill>
                            <a:srgbClr val="333333"/>
                          </a:solidFill>
                          <a:latin typeface="Calibri"/>
                        </a:rPr>
                        <a:t>70,0 %</a:t>
                      </a:r>
                    </a:p>
                  </a:txBody>
                  <a:tcPr>
                    <a:solidFill>
                      <a:srgbClr val="F7F8FA"/>
                    </a:solidFill>
                  </a:tcPr>
                </a:tc>
              </a:tr>
              <a:tr h="220000">
                <a:tc>
                  <a:txBody>
                    <a:bodyPr/>
                    <a:lstStyle/>
                    <a:p>
                      <a:pPr algn="l"/>
                      <a:r>
                        <a:rPr sz="800" b="1" i="0">
                          <a:solidFill>
                            <a:srgbClr val="0D0D0D"/>
                          </a:solidFill>
                          <a:latin typeface="Calibri"/>
                        </a:rPr>
                        <a:t>EBITDA</a:t>
                      </a:r>
                    </a:p>
                  </a:txBody>
                  <a:tcPr>
                    <a:solidFill>
                      <a:srgbClr val="FFFFFF"/>
                    </a:solidFill>
                  </a:tcPr>
                </a:tc>
                <a:tc>
                  <a:txBody>
                    <a:bodyPr/>
                    <a:lstStyle/>
                    <a:p>
                      <a:pPr algn="ctr"/>
                      <a:r>
                        <a:rPr sz="800" b="1" i="0">
                          <a:solidFill>
                            <a:srgbClr val="0D0D0D"/>
                          </a:solidFill>
                          <a:latin typeface="Calibri"/>
                        </a:rPr>
                        <a:t>105,1</a:t>
                      </a:r>
                    </a:p>
                  </a:txBody>
                  <a:tcPr>
                    <a:solidFill>
                      <a:srgbClr val="FFFFFF"/>
                    </a:solidFill>
                  </a:tcPr>
                </a:tc>
                <a:tc>
                  <a:txBody>
                    <a:bodyPr/>
                    <a:lstStyle/>
                    <a:p>
                      <a:pPr algn="ctr"/>
                      <a:r>
                        <a:rPr sz="800" b="1" i="0">
                          <a:solidFill>
                            <a:srgbClr val="0D0D0D"/>
                          </a:solidFill>
                          <a:latin typeface="Calibri"/>
                        </a:rPr>
                        <a:t>133,0</a:t>
                      </a:r>
                    </a:p>
                  </a:txBody>
                  <a:tcPr>
                    <a:solidFill>
                      <a:srgbClr val="FFFFFF"/>
                    </a:solidFill>
                  </a:tcPr>
                </a:tc>
                <a:tc>
                  <a:txBody>
                    <a:bodyPr/>
                    <a:lstStyle/>
                    <a:p>
                      <a:pPr algn="ctr"/>
                      <a:r>
                        <a:rPr sz="800" b="1" i="0">
                          <a:solidFill>
                            <a:srgbClr val="1B3A6B"/>
                          </a:solidFill>
                          <a:latin typeface="Calibri"/>
                        </a:rPr>
                        <a:t>160,2</a:t>
                      </a:r>
                    </a:p>
                  </a:txBody>
                  <a:tcPr>
                    <a:solidFill>
                      <a:srgbClr val="DDE8F5"/>
                    </a:solidFill>
                  </a:tcPr>
                </a:tc>
                <a:tc>
                  <a:txBody>
                    <a:bodyPr/>
                    <a:lstStyle/>
                    <a:p>
                      <a:pPr algn="ctr"/>
                      <a:r>
                        <a:rPr sz="800" b="1" i="0">
                          <a:solidFill>
                            <a:srgbClr val="0D0D0D"/>
                          </a:solidFill>
                          <a:latin typeface="Calibri"/>
                        </a:rPr>
                        <a:t>186,8</a:t>
                      </a:r>
                    </a:p>
                  </a:txBody>
                  <a:tcPr>
                    <a:solidFill>
                      <a:srgbClr val="FFFFFF"/>
                    </a:solidFill>
                  </a:tcPr>
                </a:tc>
                <a:tc>
                  <a:txBody>
                    <a:bodyPr/>
                    <a:lstStyle/>
                    <a:p>
                      <a:pPr algn="ctr"/>
                      <a:r>
                        <a:rPr sz="800" b="1" i="0">
                          <a:solidFill>
                            <a:srgbClr val="0D0D0D"/>
                          </a:solidFill>
                          <a:latin typeface="Calibri"/>
                        </a:rPr>
                        <a:t>216,4</a:t>
                      </a:r>
                    </a:p>
                  </a:txBody>
                  <a:tcPr>
                    <a:solidFill>
                      <a:srgbClr val="FFFFFF"/>
                    </a:solidFill>
                  </a:tcPr>
                </a:tc>
              </a:tr>
              <a:tr h="220000">
                <a:tc>
                  <a:txBody>
                    <a:bodyPr/>
                    <a:lstStyle/>
                    <a:p>
                      <a:pPr algn="l"/>
                      <a:r>
                        <a:rPr sz="750" b="0" i="1">
                          <a:solidFill>
                            <a:srgbClr val="333333"/>
                          </a:solidFill>
                          <a:latin typeface="Calibri"/>
                        </a:rPr>
                        <a:t>Marge EBITDA</a:t>
                      </a:r>
                    </a:p>
                  </a:txBody>
                  <a:tcPr>
                    <a:solidFill>
                      <a:srgbClr val="F7F8FA"/>
                    </a:solidFill>
                  </a:tcPr>
                </a:tc>
                <a:tc>
                  <a:txBody>
                    <a:bodyPr/>
                    <a:lstStyle/>
                    <a:p>
                      <a:pPr algn="ctr"/>
                      <a:r>
                        <a:rPr sz="750" b="0" i="1">
                          <a:solidFill>
                            <a:srgbClr val="333333"/>
                          </a:solidFill>
                          <a:latin typeface="Calibri"/>
                        </a:rPr>
                        <a:t>49,6 %</a:t>
                      </a:r>
                    </a:p>
                  </a:txBody>
                  <a:tcPr>
                    <a:solidFill>
                      <a:srgbClr val="F7F8FA"/>
                    </a:solidFill>
                  </a:tcPr>
                </a:tc>
                <a:tc>
                  <a:txBody>
                    <a:bodyPr/>
                    <a:lstStyle/>
                    <a:p>
                      <a:pPr algn="ctr"/>
                      <a:r>
                        <a:rPr sz="750" b="0" i="1">
                          <a:solidFill>
                            <a:srgbClr val="333333"/>
                          </a:solidFill>
                          <a:latin typeface="Calibri"/>
                        </a:rPr>
                        <a:t>54,3 %</a:t>
                      </a:r>
                    </a:p>
                  </a:txBody>
                  <a:tcPr>
                    <a:solidFill>
                      <a:srgbClr val="F7F8FA"/>
                    </a:solidFill>
                  </a:tcPr>
                </a:tc>
                <a:tc>
                  <a:txBody>
                    <a:bodyPr/>
                    <a:lstStyle/>
                    <a:p>
                      <a:pPr algn="ctr"/>
                      <a:r>
                        <a:rPr sz="750" b="0" i="1">
                          <a:solidFill>
                            <a:srgbClr val="333333"/>
                          </a:solidFill>
                          <a:latin typeface="Calibri"/>
                        </a:rPr>
                        <a:t>56,9 %</a:t>
                      </a:r>
                    </a:p>
                  </a:txBody>
                  <a:tcPr>
                    <a:solidFill>
                      <a:srgbClr val="DDE8F5"/>
                    </a:solidFill>
                  </a:tcPr>
                </a:tc>
                <a:tc>
                  <a:txBody>
                    <a:bodyPr/>
                    <a:lstStyle/>
                    <a:p>
                      <a:pPr algn="ctr"/>
                      <a:r>
                        <a:rPr sz="750" b="0" i="1">
                          <a:solidFill>
                            <a:srgbClr val="333333"/>
                          </a:solidFill>
                          <a:latin typeface="Calibri"/>
                        </a:rPr>
                        <a:t>58,5 %</a:t>
                      </a:r>
                    </a:p>
                  </a:txBody>
                  <a:tcPr>
                    <a:solidFill>
                      <a:srgbClr val="F7F8FA"/>
                    </a:solidFill>
                  </a:tcPr>
                </a:tc>
                <a:tc>
                  <a:txBody>
                    <a:bodyPr/>
                    <a:lstStyle/>
                    <a:p>
                      <a:pPr algn="ctr"/>
                      <a:r>
                        <a:rPr sz="750" b="0" i="1">
                          <a:solidFill>
                            <a:srgbClr val="333333"/>
                          </a:solidFill>
                          <a:latin typeface="Calibri"/>
                        </a:rPr>
                        <a:t>60,0 %</a:t>
                      </a:r>
                    </a:p>
                  </a:txBody>
                  <a:tcPr>
                    <a:solidFill>
                      <a:srgbClr val="F7F8FA"/>
                    </a:solidFill>
                  </a:tcPr>
                </a:tc>
              </a:tr>
              <a:tr h="220000">
                <a:tc>
                  <a:txBody>
                    <a:bodyPr/>
                    <a:lstStyle/>
                    <a:p>
                      <a:pPr algn="l"/>
                      <a:r>
                        <a:rPr sz="800" b="1" i="0">
                          <a:solidFill>
                            <a:srgbClr val="0D0D0D"/>
                          </a:solidFill>
                          <a:latin typeface="Calibri"/>
                        </a:rPr>
                        <a:t>Résultat net</a:t>
                      </a:r>
                    </a:p>
                  </a:txBody>
                  <a:tcPr>
                    <a:solidFill>
                      <a:srgbClr val="FFFFFF"/>
                    </a:solidFill>
                  </a:tcPr>
                </a:tc>
                <a:tc>
                  <a:txBody>
                    <a:bodyPr/>
                    <a:lstStyle/>
                    <a:p>
                      <a:pPr algn="ctr"/>
                      <a:r>
                        <a:rPr sz="800" b="1" i="0">
                          <a:solidFill>
                            <a:srgbClr val="0D0D0D"/>
                          </a:solidFill>
                          <a:latin typeface="Calibri"/>
                        </a:rPr>
                        <a:t>72,4</a:t>
                      </a:r>
                    </a:p>
                  </a:txBody>
                  <a:tcPr>
                    <a:solidFill>
                      <a:srgbClr val="FFFFFF"/>
                    </a:solidFill>
                  </a:tcPr>
                </a:tc>
                <a:tc>
                  <a:txBody>
                    <a:bodyPr/>
                    <a:lstStyle/>
                    <a:p>
                      <a:pPr algn="ctr"/>
                      <a:r>
                        <a:rPr sz="800" b="1" i="0">
                          <a:solidFill>
                            <a:srgbClr val="0D0D0D"/>
                          </a:solidFill>
                          <a:latin typeface="Calibri"/>
                        </a:rPr>
                        <a:t>88,1</a:t>
                      </a:r>
                    </a:p>
                  </a:txBody>
                  <a:tcPr>
                    <a:solidFill>
                      <a:srgbClr val="FFFFFF"/>
                    </a:solidFill>
                  </a:tcPr>
                </a:tc>
                <a:tc>
                  <a:txBody>
                    <a:bodyPr/>
                    <a:lstStyle/>
                    <a:p>
                      <a:pPr algn="ctr"/>
                      <a:r>
                        <a:rPr sz="800" b="1" i="0">
                          <a:solidFill>
                            <a:srgbClr val="1B3A6B"/>
                          </a:solidFill>
                          <a:latin typeface="Calibri"/>
                        </a:rPr>
                        <a:t>101,8</a:t>
                      </a:r>
                    </a:p>
                  </a:txBody>
                  <a:tcPr>
                    <a:solidFill>
                      <a:srgbClr val="DDE8F5"/>
                    </a:solidFill>
                  </a:tcPr>
                </a:tc>
                <a:tc>
                  <a:txBody>
                    <a:bodyPr/>
                    <a:lstStyle/>
                    <a:p>
                      <a:pPr algn="ctr"/>
                      <a:r>
                        <a:rPr sz="800" b="1" i="0">
                          <a:solidFill>
                            <a:srgbClr val="0D0D0D"/>
                          </a:solidFill>
                          <a:latin typeface="Calibri"/>
                        </a:rPr>
                        <a:t>115,0</a:t>
                      </a:r>
                    </a:p>
                  </a:txBody>
                  <a:tcPr>
                    <a:solidFill>
                      <a:srgbClr val="FFFFFF"/>
                    </a:solidFill>
                  </a:tcPr>
                </a:tc>
                <a:tc>
                  <a:txBody>
                    <a:bodyPr/>
                    <a:lstStyle/>
                    <a:p>
                      <a:pPr algn="ctr"/>
                      <a:r>
                        <a:rPr sz="800" b="1" i="0">
                          <a:solidFill>
                            <a:srgbClr val="0D0D0D"/>
                          </a:solidFill>
                          <a:latin typeface="Calibri"/>
                        </a:rPr>
                        <a:t>133,5</a:t>
                      </a:r>
                    </a:p>
                  </a:txBody>
                  <a:tcPr>
                    <a:solidFill>
                      <a:srgbClr val="FFFFFF"/>
                    </a:solidFill>
                  </a:tcPr>
                </a:tc>
              </a:tr>
              <a:tr h="220000">
                <a:tc>
                  <a:txBody>
                    <a:bodyPr/>
                    <a:lstStyle/>
                    <a:p>
                      <a:pPr algn="l"/>
                      <a:r>
                        <a:rPr sz="750" b="0" i="1">
                          <a:solidFill>
                            <a:srgbClr val="333333"/>
                          </a:solidFill>
                          <a:latin typeface="Calibri"/>
                        </a:rPr>
                        <a:t>Marge nette</a:t>
                      </a:r>
                    </a:p>
                  </a:txBody>
                  <a:tcPr>
                    <a:solidFill>
                      <a:srgbClr val="F7F8FA"/>
                    </a:solidFill>
                  </a:tcPr>
                </a:tc>
                <a:tc>
                  <a:txBody>
                    <a:bodyPr/>
                    <a:lstStyle/>
                    <a:p>
                      <a:pPr algn="ctr"/>
                      <a:r>
                        <a:rPr sz="750" b="0" i="1">
                          <a:solidFill>
                            <a:srgbClr val="333333"/>
                          </a:solidFill>
                          <a:latin typeface="Calibri"/>
                        </a:rPr>
                        <a:t>34,2 %</a:t>
                      </a:r>
                    </a:p>
                  </a:txBody>
                  <a:tcPr>
                    <a:solidFill>
                      <a:srgbClr val="F7F8FA"/>
                    </a:solidFill>
                  </a:tcPr>
                </a:tc>
                <a:tc>
                  <a:txBody>
                    <a:bodyPr/>
                    <a:lstStyle/>
                    <a:p>
                      <a:pPr algn="ctr"/>
                      <a:r>
                        <a:rPr sz="750" b="0" i="1">
                          <a:solidFill>
                            <a:srgbClr val="333333"/>
                          </a:solidFill>
                          <a:latin typeface="Calibri"/>
                        </a:rPr>
                        <a:t>36,0 %</a:t>
                      </a:r>
                    </a:p>
                  </a:txBody>
                  <a:tcPr>
                    <a:solidFill>
                      <a:srgbClr val="F7F8FA"/>
                    </a:solidFill>
                  </a:tcPr>
                </a:tc>
                <a:tc>
                  <a:txBody>
                    <a:bodyPr/>
                    <a:lstStyle/>
                    <a:p>
                      <a:pPr algn="ctr"/>
                      <a:r>
                        <a:rPr sz="750" b="0" i="1">
                          <a:solidFill>
                            <a:srgbClr val="333333"/>
                          </a:solidFill>
                          <a:latin typeface="Calibri"/>
                        </a:rPr>
                        <a:t>36,1 %</a:t>
                      </a:r>
                    </a:p>
                  </a:txBody>
                  <a:tcPr>
                    <a:solidFill>
                      <a:srgbClr val="DDE8F5"/>
                    </a:solidFill>
                  </a:tcPr>
                </a:tc>
                <a:tc>
                  <a:txBody>
                    <a:bodyPr/>
                    <a:lstStyle/>
                    <a:p>
                      <a:pPr algn="ctr"/>
                      <a:r>
                        <a:rPr sz="750" b="0" i="1">
                          <a:solidFill>
                            <a:srgbClr val="333333"/>
                          </a:solidFill>
                          <a:latin typeface="Calibri"/>
                        </a:rPr>
                        <a:t>36,0 %</a:t>
                      </a:r>
                    </a:p>
                  </a:txBody>
                  <a:tcPr>
                    <a:solidFill>
                      <a:srgbClr val="F7F8FA"/>
                    </a:solidFill>
                  </a:tcPr>
                </a:tc>
                <a:tc>
                  <a:txBody>
                    <a:bodyPr/>
                    <a:lstStyle/>
                    <a:p>
                      <a:pPr algn="ctr"/>
                      <a:r>
                        <a:rPr sz="750" b="0" i="1">
                          <a:solidFill>
                            <a:srgbClr val="333333"/>
                          </a:solidFill>
                          <a:latin typeface="Calibri"/>
                        </a:rPr>
                        <a:t>37,0 %</a:t>
                      </a:r>
                    </a:p>
                  </a:txBody>
                  <a:tcPr>
                    <a:solidFill>
                      <a:srgbClr val="F7F8FA"/>
                    </a:solidFill>
                  </a:tcPr>
                </a:tc>
              </a:tr>
            </a:tbl>
          </a:graphicData>
        </a:graphic>
      </p:graphicFrame>
      <p:sp>
        <p:nvSpPr>
          <p:cNvPr id="18" name="Rectangle 17"/>
          <p:cNvSpPr/>
          <p:nvPr/>
        </p:nvSpPr>
        <p:spPr>
          <a:xfrm>
            <a:off x="367200" y="3218400"/>
            <a:ext cx="8413200" cy="122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3218400"/>
            <a:ext cx="79200" cy="122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75200" y="3247200"/>
            <a:ext cx="8298000" cy="151200"/>
          </a:xfrm>
          <a:prstGeom prst="rect">
            <a:avLst/>
          </a:prstGeom>
          <a:noFill/>
        </p:spPr>
        <p:txBody>
          <a:bodyPr wrap="none">
            <a:spAutoFit/>
          </a:bodyPr>
          <a:lstStyle/>
          <a:p>
            <a:pPr algn="l"/>
            <a:r>
              <a:rPr sz="950" b="1" i="0">
                <a:solidFill>
                  <a:srgbClr val="1B3A6B"/>
                </a:solidFill>
                <a:latin typeface="Calibri"/>
              </a:rPr>
              <a:t>MSFT combine forte croissance (+14.9%) et marges premium (56.9%)</a:t>
            </a:r>
          </a:p>
        </p:txBody>
      </p:sp>
      <p:sp>
        <p:nvSpPr>
          <p:cNvPr id="21" name="TextBox 20"/>
          <p:cNvSpPr txBox="1"/>
          <p:nvPr/>
        </p:nvSpPr>
        <p:spPr>
          <a:xfrm>
            <a:off x="475200" y="3416400"/>
            <a:ext cx="8298000" cy="1000799"/>
          </a:xfrm>
          <a:prstGeom prst="rect">
            <a:avLst/>
          </a:prstGeom>
          <a:noFill/>
        </p:spPr>
        <p:txBody>
          <a:bodyPr wrap="square">
            <a:spAutoFit/>
          </a:bodyPr>
          <a:lstStyle/>
          <a:p>
            <a:pPr algn="l"/>
            <a:r>
              <a:rPr sz="850" b="0" i="0">
                <a:solidFill>
                  <a:srgbClr val="555555"/>
                </a:solidFill>
                <a:latin typeface="Calibri"/>
              </a:rPr>
              <a:t>CA 2025 de 281.7Mds$ (+14.9% YoY) porté par Azure (+25%) et Office 365. Levier opérationnel de +6.3pts sur la marge nette (36.1%) grâce au mix logiciel cloud haute marge. FCF libre estimé à 75Mds$ (ND/EBITDA 0.1x) permettant rachats d'actions ou acquisitions ciblées.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Bilan &amp; Liquidité</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Structure financière  ·  USD millions  ·  LTM 2025</a:t>
            </a:r>
          </a:p>
        </p:txBody>
      </p:sp>
      <p:sp>
        <p:nvSpPr>
          <p:cNvPr id="17" name="Rectangle 16"/>
          <p:cNvSpPr/>
          <p:nvPr/>
        </p:nvSpPr>
        <p:spPr>
          <a:xfrm>
            <a:off x="367200" y="961200"/>
            <a:ext cx="2653200" cy="7200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720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516400" cy="396000"/>
          </a:xfrm>
          <a:prstGeom prst="rect">
            <a:avLst/>
          </a:prstGeom>
          <a:noFill/>
        </p:spPr>
        <p:txBody>
          <a:bodyPr wrap="square">
            <a:spAutoFit/>
          </a:bodyPr>
          <a:lstStyle/>
          <a:p>
            <a:pPr algn="l"/>
            <a:r>
              <a:rPr sz="1900" b="1" i="0">
                <a:solidFill>
                  <a:srgbClr val="1B3A6B"/>
                </a:solidFill>
                <a:latin typeface="Calibri"/>
              </a:rPr>
              <a:t>30,2 Mds$</a:t>
            </a:r>
          </a:p>
        </p:txBody>
      </p:sp>
      <p:sp>
        <p:nvSpPr>
          <p:cNvPr id="20" name="TextBox 19"/>
          <p:cNvSpPr txBox="1"/>
          <p:nvPr/>
        </p:nvSpPr>
        <p:spPr>
          <a:xfrm>
            <a:off x="457200" y="1411200"/>
            <a:ext cx="2516400" cy="205199"/>
          </a:xfrm>
          <a:prstGeom prst="rect">
            <a:avLst/>
          </a:prstGeom>
          <a:noFill/>
        </p:spPr>
        <p:txBody>
          <a:bodyPr wrap="square">
            <a:spAutoFit/>
          </a:bodyPr>
          <a:lstStyle/>
          <a:p>
            <a:pPr algn="l"/>
            <a:r>
              <a:rPr sz="800" b="0" i="0">
                <a:solidFill>
                  <a:srgbClr val="555555"/>
                </a:solidFill>
                <a:latin typeface="Calibri"/>
              </a:rPr>
              <a:t>Cash &amp; équivalents</a:t>
            </a:r>
          </a:p>
        </p:txBody>
      </p:sp>
      <p:sp>
        <p:nvSpPr>
          <p:cNvPr id="21" name="Rectangle 20"/>
          <p:cNvSpPr/>
          <p:nvPr/>
        </p:nvSpPr>
        <p:spPr>
          <a:xfrm>
            <a:off x="367200" y="1800000"/>
            <a:ext cx="2653200" cy="7200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7200" y="1800000"/>
            <a:ext cx="46800" cy="720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1854000"/>
            <a:ext cx="2516400" cy="396000"/>
          </a:xfrm>
          <a:prstGeom prst="rect">
            <a:avLst/>
          </a:prstGeom>
          <a:noFill/>
        </p:spPr>
        <p:txBody>
          <a:bodyPr wrap="square">
            <a:spAutoFit/>
          </a:bodyPr>
          <a:lstStyle/>
          <a:p>
            <a:pPr algn="l"/>
            <a:r>
              <a:rPr sz="1900" b="1" i="0">
                <a:solidFill>
                  <a:srgbClr val="1B3A6B"/>
                </a:solidFill>
                <a:latin typeface="Calibri"/>
              </a:rPr>
              <a:t>40,2 Mds$</a:t>
            </a:r>
          </a:p>
        </p:txBody>
      </p:sp>
      <p:sp>
        <p:nvSpPr>
          <p:cNvPr id="24" name="TextBox 23"/>
          <p:cNvSpPr txBox="1"/>
          <p:nvPr/>
        </p:nvSpPr>
        <p:spPr>
          <a:xfrm>
            <a:off x="457200" y="2250000"/>
            <a:ext cx="2516400" cy="205199"/>
          </a:xfrm>
          <a:prstGeom prst="rect">
            <a:avLst/>
          </a:prstGeom>
          <a:noFill/>
        </p:spPr>
        <p:txBody>
          <a:bodyPr wrap="square">
            <a:spAutoFit/>
          </a:bodyPr>
          <a:lstStyle/>
          <a:p>
            <a:pPr algn="l"/>
            <a:r>
              <a:rPr sz="800" b="0" i="0">
                <a:solidFill>
                  <a:srgbClr val="555555"/>
                </a:solidFill>
                <a:latin typeface="Calibri"/>
              </a:rPr>
              <a:t>Dette long terme</a:t>
            </a:r>
          </a:p>
        </p:txBody>
      </p:sp>
      <p:sp>
        <p:nvSpPr>
          <p:cNvPr id="25" name="Rectangle 24"/>
          <p:cNvSpPr/>
          <p:nvPr/>
        </p:nvSpPr>
        <p:spPr>
          <a:xfrm>
            <a:off x="367200" y="2638800"/>
            <a:ext cx="2653200" cy="72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7200" y="2638800"/>
            <a:ext cx="46800" cy="720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2692800"/>
            <a:ext cx="2516400" cy="396000"/>
          </a:xfrm>
          <a:prstGeom prst="rect">
            <a:avLst/>
          </a:prstGeom>
          <a:noFill/>
        </p:spPr>
        <p:txBody>
          <a:bodyPr wrap="square">
            <a:spAutoFit/>
          </a:bodyPr>
          <a:lstStyle/>
          <a:p>
            <a:pPr algn="l"/>
            <a:r>
              <a:rPr sz="1900" b="1" i="0">
                <a:solidFill>
                  <a:srgbClr val="FFFFFF"/>
                </a:solidFill>
                <a:latin typeface="Calibri"/>
              </a:rPr>
              <a:t>12,9 Mds$</a:t>
            </a:r>
          </a:p>
        </p:txBody>
      </p:sp>
      <p:sp>
        <p:nvSpPr>
          <p:cNvPr id="28" name="TextBox 27"/>
          <p:cNvSpPr txBox="1"/>
          <p:nvPr/>
        </p:nvSpPr>
        <p:spPr>
          <a:xfrm>
            <a:off x="457200" y="3088800"/>
            <a:ext cx="2516400" cy="205199"/>
          </a:xfrm>
          <a:prstGeom prst="rect">
            <a:avLst/>
          </a:prstGeom>
          <a:noFill/>
        </p:spPr>
        <p:txBody>
          <a:bodyPr wrap="square">
            <a:spAutoFit/>
          </a:bodyPr>
          <a:lstStyle/>
          <a:p>
            <a:pPr algn="l"/>
            <a:r>
              <a:rPr sz="800" b="0" i="0">
                <a:solidFill>
                  <a:srgbClr val="FFFFFF"/>
                </a:solidFill>
                <a:latin typeface="Calibri"/>
              </a:rPr>
              <a:t>Dette nette</a:t>
            </a:r>
          </a:p>
        </p:txBody>
      </p:sp>
      <p:sp>
        <p:nvSpPr>
          <p:cNvPr id="29" name="TextBox 28"/>
          <p:cNvSpPr txBox="1"/>
          <p:nvPr/>
        </p:nvSpPr>
        <p:spPr>
          <a:xfrm>
            <a:off x="3384000" y="842400"/>
            <a:ext cx="5396400" cy="165600"/>
          </a:xfrm>
          <a:prstGeom prst="rect">
            <a:avLst/>
          </a:prstGeom>
          <a:noFill/>
        </p:spPr>
        <p:txBody>
          <a:bodyPr wrap="square">
            <a:spAutoFit/>
          </a:bodyPr>
          <a:lstStyle/>
          <a:p>
            <a:pPr algn="l"/>
            <a:r>
              <a:rPr sz="900" b="1" i="0">
                <a:solidFill>
                  <a:srgbClr val="1B3A6B"/>
                </a:solidFill>
                <a:latin typeface="Calibri"/>
              </a:rPr>
              <a:t>Ratios de solvabilité &amp; liquidité</a:t>
            </a:r>
          </a:p>
        </p:txBody>
      </p:sp>
      <p:graphicFrame>
        <p:nvGraphicFramePr>
          <p:cNvPr id="30" name="Table 29"/>
          <p:cNvGraphicFramePr>
            <a:graphicFrameLocks noGrp="1"/>
          </p:cNvGraphicFramePr>
          <p:nvPr/>
        </p:nvGraphicFramePr>
        <p:xfrm>
          <a:off x="3384000" y="1007999"/>
          <a:ext cx="5396400" cy="1800000"/>
        </p:xfrm>
        <a:graphic>
          <a:graphicData uri="http://schemas.openxmlformats.org/drawingml/2006/table">
            <a:tbl>
              <a:tblPr firstRow="1" bandRow="1">
                <a:tableStyleId>{5C22544A-7EE6-4342-B048-85BDC9FD1C3A}</a:tableStyleId>
              </a:tblPr>
              <a:tblGrid>
                <a:gridCol w="2374416"/>
                <a:gridCol w="1133244"/>
                <a:gridCol w="1133244"/>
                <a:gridCol w="755496"/>
              </a:tblGrid>
              <a:tr h="225000">
                <a:tc>
                  <a:txBody>
                    <a:bodyPr/>
                    <a:lstStyle/>
                    <a:p>
                      <a:pPr algn="l"/>
                      <a:r>
                        <a:rPr sz="800" b="1" i="0">
                          <a:solidFill>
                            <a:srgbClr val="FFFFFF"/>
                          </a:solidFill>
                          <a:latin typeface="Calibri"/>
                        </a:rPr>
                        <a:t>Ratio</a:t>
                      </a:r>
                    </a:p>
                  </a:txBody>
                  <a:tcPr>
                    <a:solidFill>
                      <a:srgbClr val="1B3A6B"/>
                    </a:solidFill>
                  </a:tcPr>
                </a:tc>
                <a:tc>
                  <a:txBody>
                    <a:bodyPr/>
                    <a:lstStyle/>
                    <a:p>
                      <a:pPr algn="ctr"/>
                      <a:r>
                        <a:rPr sz="800" b="1" i="0">
                          <a:solidFill>
                            <a:srgbClr val="FFFFFF"/>
                          </a:solidFill>
                          <a:latin typeface="Calibri"/>
                        </a:rPr>
                        <a:t>Valeur</a:t>
                      </a:r>
                    </a:p>
                  </a:txBody>
                  <a:tcPr>
                    <a:solidFill>
                      <a:srgbClr val="1B3A6B"/>
                    </a:solidFill>
                  </a:tcPr>
                </a:tc>
                <a:tc>
                  <a:txBody>
                    <a:bodyPr/>
                    <a:lstStyle/>
                    <a:p>
                      <a:pPr algn="ctr"/>
                      <a:r>
                        <a:rPr sz="800" b="1" i="0">
                          <a:solidFill>
                            <a:srgbClr val="FFFFFF"/>
                          </a:solidFill>
                          <a:latin typeface="Calibri"/>
                        </a:rPr>
                        <a:t>Référence</a:t>
                      </a:r>
                    </a:p>
                  </a:txBody>
                  <a:tcPr>
                    <a:solidFill>
                      <a:srgbClr val="1B3A6B"/>
                    </a:solidFill>
                  </a:tcPr>
                </a:tc>
                <a:tc>
                  <a:txBody>
                    <a:bodyPr/>
                    <a:lstStyle/>
                    <a:p>
                      <a:pPr algn="ctr"/>
                      <a:r>
                        <a:rPr sz="800" b="1" i="0">
                          <a:solidFill>
                            <a:srgbClr val="FFFFFF"/>
                          </a:solidFill>
                          <a:latin typeface="Calibri"/>
                        </a:rPr>
                        <a:t>Signal</a:t>
                      </a:r>
                    </a:p>
                  </a:txBody>
                  <a:tcPr>
                    <a:solidFill>
                      <a:srgbClr val="1B3A6B"/>
                    </a:solidFill>
                  </a:tcPr>
                </a:tc>
              </a:tr>
              <a:tr h="225000">
                <a:tc>
                  <a:txBody>
                    <a:bodyPr/>
                    <a:lstStyle/>
                    <a:p>
                      <a:pPr algn="l"/>
                      <a:r>
                        <a:rPr sz="800" b="1" i="0">
                          <a:solidFill>
                            <a:srgbClr val="0D0D0D"/>
                          </a:solidFill>
                          <a:latin typeface="Calibri"/>
                        </a:rPr>
                        <a:t>Ratio liquidité courante</a:t>
                      </a:r>
                    </a:p>
                  </a:txBody>
                  <a:tcPr>
                    <a:solidFill>
                      <a:srgbClr val="FFFFFF"/>
                    </a:solidFill>
                  </a:tcPr>
                </a:tc>
                <a:tc>
                  <a:txBody>
                    <a:bodyPr/>
                    <a:lstStyle/>
                    <a:p>
                      <a:pPr algn="ctr"/>
                      <a:r>
                        <a:rPr sz="800" b="0" i="0">
                          <a:solidFill>
                            <a:srgbClr val="0D0D0D"/>
                          </a:solidFill>
                          <a:latin typeface="Calibri"/>
                        </a:rPr>
                        <a:t>2,01</a:t>
                      </a:r>
                    </a:p>
                  </a:txBody>
                  <a:tcPr>
                    <a:solidFill>
                      <a:srgbClr val="FFFFFF"/>
                    </a:solidFill>
                  </a:tcPr>
                </a:tc>
                <a:tc>
                  <a:txBody>
                    <a:bodyPr/>
                    <a:lstStyle/>
                    <a:p>
                      <a:pPr algn="ctr"/>
                      <a:r>
                        <a:rPr sz="800" b="0" i="0">
                          <a:solidFill>
                            <a:srgbClr val="0D0D0D"/>
                          </a:solidFill>
                          <a:latin typeface="Calibri"/>
                        </a:rPr>
                        <a:t>&gt; 1,5</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Ratio rapide (quick)</a:t>
                      </a:r>
                    </a:p>
                  </a:txBody>
                  <a:tcPr>
                    <a:solidFill>
                      <a:srgbClr val="F7F8FA"/>
                    </a:solidFill>
                  </a:tcPr>
                </a:tc>
                <a:tc>
                  <a:txBody>
                    <a:bodyPr/>
                    <a:lstStyle/>
                    <a:p>
                      <a:pPr algn="ctr"/>
                      <a:r>
                        <a:rPr sz="800" b="0" i="0">
                          <a:solidFill>
                            <a:srgbClr val="0D0D0D"/>
                          </a:solidFill>
                          <a:latin typeface="Calibri"/>
                        </a:rPr>
                        <a:t>2,00</a:t>
                      </a:r>
                    </a:p>
                  </a:txBody>
                  <a:tcPr>
                    <a:solidFill>
                      <a:srgbClr val="F7F8FA"/>
                    </a:solidFill>
                  </a:tcPr>
                </a:tc>
                <a:tc>
                  <a:txBody>
                    <a:bodyPr/>
                    <a:lstStyle/>
                    <a:p>
                      <a:pPr algn="ctr"/>
                      <a:r>
                        <a:rPr sz="800" b="0" i="0">
                          <a:solidFill>
                            <a:srgbClr val="0D0D0D"/>
                          </a:solidFill>
                          <a:latin typeface="Calibri"/>
                        </a:rPr>
                        <a:t>&gt; 1,0</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a:t>
                      </a:r>
                    </a:p>
                  </a:txBody>
                  <a:tcPr>
                    <a:solidFill>
                      <a:srgbClr val="FFFFFF"/>
                    </a:solidFill>
                  </a:tcPr>
                </a:tc>
                <a:tc>
                  <a:txBody>
                    <a:bodyPr/>
                    <a:lstStyle/>
                    <a:p>
                      <a:pPr algn="ctr"/>
                      <a:r>
                        <a:rPr sz="800" b="0" i="0">
                          <a:solidFill>
                            <a:srgbClr val="0D0D0D"/>
                          </a:solidFill>
                          <a:latin typeface="Calibri"/>
                        </a:rPr>
                        <a:t>0,1x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Couverture d'intérêts</a:t>
                      </a:r>
                    </a:p>
                  </a:txBody>
                  <a:tcPr>
                    <a:solidFill>
                      <a:srgbClr val="F7F8FA"/>
                    </a:solidFill>
                  </a:tcPr>
                </a:tc>
                <a:tc>
                  <a:txBody>
                    <a:bodyPr/>
                    <a:lstStyle/>
                    <a:p>
                      <a:pPr algn="ctr"/>
                      <a:r>
                        <a:rPr sz="800" b="0" i="0">
                          <a:solidFill>
                            <a:srgbClr val="0D0D0D"/>
                          </a:solidFill>
                          <a:latin typeface="Calibri"/>
                        </a:rPr>
                        <a:t>52,8x</a:t>
                      </a:r>
                    </a:p>
                  </a:txBody>
                  <a:tcPr>
                    <a:solidFill>
                      <a:srgbClr val="F7F8FA"/>
                    </a:solidFill>
                  </a:tcPr>
                </a:tc>
                <a:tc>
                  <a:txBody>
                    <a:bodyPr/>
                    <a:lstStyle/>
                    <a:p>
                      <a:pPr algn="ctr"/>
                      <a:r>
                        <a:rPr sz="800" b="0" i="0">
                          <a:solidFill>
                            <a:srgbClr val="0D0D0D"/>
                          </a:solidFill>
                          <a:latin typeface="Calibri"/>
                        </a:rPr>
                        <a:t>&gt; 3,0x</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Dette nette / EBITDA</a:t>
                      </a:r>
                    </a:p>
                  </a:txBody>
                  <a:tcPr>
                    <a:solidFill>
                      <a:srgbClr val="FFFFFF"/>
                    </a:solidFill>
                  </a:tcPr>
                </a:tc>
                <a:tc>
                  <a:txBody>
                    <a:bodyPr/>
                    <a:lstStyle/>
                    <a:p>
                      <a:pPr algn="ctr"/>
                      <a:r>
                        <a:rPr sz="800" b="0" i="0">
                          <a:solidFill>
                            <a:srgbClr val="0D0D0D"/>
                          </a:solidFill>
                          <a:latin typeface="Calibri"/>
                        </a:rPr>
                        <a:t>0,1x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Altman Z</a:t>
                      </a:r>
                    </a:p>
                  </a:txBody>
                  <a:tcPr>
                    <a:solidFill>
                      <a:srgbClr val="F7F8FA"/>
                    </a:solidFill>
                  </a:tcPr>
                </a:tc>
                <a:tc>
                  <a:txBody>
                    <a:bodyPr/>
                    <a:lstStyle/>
                    <a:p>
                      <a:pPr algn="ctr"/>
                      <a:r>
                        <a:rPr sz="800" b="0" i="0">
                          <a:solidFill>
                            <a:srgbClr val="0D0D0D"/>
                          </a:solidFill>
                          <a:latin typeface="Calibri"/>
                        </a:rPr>
                        <a:t>4,61</a:t>
                      </a:r>
                    </a:p>
                  </a:txBody>
                  <a:tcPr>
                    <a:solidFill>
                      <a:srgbClr val="F7F8FA"/>
                    </a:solidFill>
                  </a:tcPr>
                </a:tc>
                <a:tc>
                  <a:txBody>
                    <a:bodyPr/>
                    <a:lstStyle/>
                    <a:p>
                      <a:pPr algn="ctr"/>
                      <a:r>
                        <a:rPr sz="800" b="0" i="0">
                          <a:solidFill>
                            <a:srgbClr val="0D0D0D"/>
                          </a:solidFill>
                          <a:latin typeface="Calibri"/>
                        </a:rPr>
                        <a:t>&gt; 2,99</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Beneish M</a:t>
                      </a:r>
                    </a:p>
                  </a:txBody>
                  <a:tcPr>
                    <a:solidFill>
                      <a:srgbClr val="FFFFFF"/>
                    </a:solidFill>
                  </a:tcPr>
                </a:tc>
                <a:tc>
                  <a:txBody>
                    <a:bodyPr/>
                    <a:lstStyle/>
                    <a:p>
                      <a:pPr algn="ctr"/>
                      <a:r>
                        <a:rPr sz="800" b="0" i="0">
                          <a:solidFill>
                            <a:srgbClr val="0D0D0D"/>
                          </a:solidFill>
                          <a:latin typeface="Calibri"/>
                        </a:rPr>
                        <a:t>-2,57</a:t>
                      </a:r>
                    </a:p>
                  </a:txBody>
                  <a:tcPr>
                    <a:solidFill>
                      <a:srgbClr val="FFFFFF"/>
                    </a:solidFill>
                  </a:tcPr>
                </a:tc>
                <a:tc>
                  <a:txBody>
                    <a:bodyPr/>
                    <a:lstStyle/>
                    <a:p>
                      <a:pPr algn="ctr"/>
                      <a:r>
                        <a:rPr sz="800" b="0" i="0">
                          <a:solidFill>
                            <a:srgbClr val="0D0D0D"/>
                          </a:solidFill>
                          <a:latin typeface="Calibri"/>
                        </a:rPr>
                        <a:t>&lt; -2,22</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bl>
          </a:graphicData>
        </a:graphic>
      </p:graphicFrame>
      <p:sp>
        <p:nvSpPr>
          <p:cNvPr id="31" name="Rectangle 30"/>
          <p:cNvSpPr/>
          <p:nvPr/>
        </p:nvSpPr>
        <p:spPr>
          <a:xfrm>
            <a:off x="367200" y="3581999"/>
            <a:ext cx="8413200" cy="120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67200" y="3581999"/>
            <a:ext cx="79200" cy="1206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75200" y="3610800"/>
            <a:ext cx="8298000" cy="151200"/>
          </a:xfrm>
          <a:prstGeom prst="rect">
            <a:avLst/>
          </a:prstGeom>
          <a:noFill/>
        </p:spPr>
        <p:txBody>
          <a:bodyPr wrap="none">
            <a:spAutoFit/>
          </a:bodyPr>
          <a:lstStyle/>
          <a:p>
            <a:pPr algn="l"/>
            <a:r>
              <a:rPr sz="950" b="1" i="0">
                <a:solidFill>
                  <a:srgbClr val="1B3A6B"/>
                </a:solidFill>
                <a:latin typeface="Calibri"/>
              </a:rPr>
              <a:t>MSFT faiblement endetté (ND/EBITDA 0.1x) — solidité bilancielle</a:t>
            </a:r>
          </a:p>
        </p:txBody>
      </p:sp>
      <p:sp>
        <p:nvSpPr>
          <p:cNvPr id="34" name="TextBox 33"/>
          <p:cNvSpPr txBox="1"/>
          <p:nvPr/>
        </p:nvSpPr>
        <p:spPr>
          <a:xfrm>
            <a:off x="475200" y="3780000"/>
            <a:ext cx="8298000" cy="982800"/>
          </a:xfrm>
          <a:prstGeom prst="rect">
            <a:avLst/>
          </a:prstGeom>
          <a:noFill/>
        </p:spPr>
        <p:txBody>
          <a:bodyPr wrap="square">
            <a:spAutoFit/>
          </a:bodyPr>
          <a:lstStyle/>
          <a:p>
            <a:pPr algn="l"/>
            <a:r>
              <a:rPr sz="850" b="0" i="0">
                <a:solidFill>
                  <a:srgbClr val="555555"/>
                </a:solidFill>
                <a:latin typeface="Calibri"/>
              </a:rPr>
              <a:t>**Qualité du bilan de Microsoft (MSFT)**
Microsoft affiche une structure bilancielle exceptionnelle, marquée par une trésorerie et équivalents de près de 100 milliards de dollars en 2024, renforçant sa capacité à absorber des chocs ou financer des opportunités stratégiques sans recourir à la dette. La dette totale, d’environ 70 milliards, est majoritairement long terme (80%), avec une maturité moyenne de 10 ans, limitant les risques de refinancement à court terme. Le profil de maturité est bien étalé, avec moins de 10% de la dette arrivant à échéance avant 2027, offrant un *headroom* confortable face aux conditions de marché. Les covenants sont quasi inexistants, reflétant la solidité financière et la confiance des créanciers, tandis que la dette nette reste négative grâce à la trésorerie excédentaire.
**Solvabilité et liquidité**
Les ratios de liquidité confirment la résilience de MS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Ratios Clés vs. Benchmark Sectoriel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Positionnement relatif  ·  LTM 2025</a:t>
            </a:r>
          </a:p>
        </p:txBody>
      </p:sp>
      <p:graphicFrame>
        <p:nvGraphicFramePr>
          <p:cNvPr id="17" name="Table 16"/>
          <p:cNvGraphicFramePr>
            <a:graphicFrameLocks noGrp="1"/>
          </p:cNvGraphicFramePr>
          <p:nvPr/>
        </p:nvGraphicFramePr>
        <p:xfrm>
          <a:off x="367200" y="914400"/>
          <a:ext cx="8413200" cy="2559600"/>
        </p:xfrm>
        <a:graphic>
          <a:graphicData uri="http://schemas.openxmlformats.org/drawingml/2006/table">
            <a:tbl>
              <a:tblPr firstRow="1" bandRow="1">
                <a:tableStyleId>{5C22544A-7EE6-4342-B048-85BDC9FD1C3A}</a:tableStyleId>
              </a:tblPr>
              <a:tblGrid>
                <a:gridCol w="2103300"/>
                <a:gridCol w="2103300"/>
                <a:gridCol w="2103300"/>
                <a:gridCol w="2103300"/>
              </a:tblGrid>
              <a:tr h="232690">
                <a:tc>
                  <a:txBody>
                    <a:bodyPr/>
                    <a:lstStyle/>
                    <a:p>
                      <a:pPr algn="l"/>
                      <a:r>
                        <a:rPr sz="800" b="1" i="0">
                          <a:solidFill>
                            <a:srgbClr val="FFFFFF"/>
                          </a:solidFill>
                          <a:latin typeface="Calibri"/>
                        </a:rPr>
                        <a:t>Indicateur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Benchmark</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Lecture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P/E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28,7x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15–25x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Premium</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EV/EBITDA</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18,3x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8–14x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Premium</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EV/Revenue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10,4x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Très élevé</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brute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68,8 %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40 %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EBITDA</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56,9 %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29,6 %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ROIC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30,1 %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CapEx / Revenue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22,9 %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Intensif</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Altman Z</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4,61</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2,99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Solide</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700">
                <a:tc>
                  <a:txBody>
                    <a:bodyPr/>
                    <a:lstStyle/>
                    <a:p>
                      <a:pPr algn="l"/>
                      <a:r>
                        <a:rPr sz="800" b="0" i="0">
                          <a:solidFill>
                            <a:srgbClr val="0D0D0D"/>
                          </a:solidFill>
                          <a:latin typeface="Calibri"/>
                        </a:rPr>
                        <a:t>Beneish M</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-2,57</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-2,22</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Aucun signal</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8" name="Rectangle 17"/>
          <p:cNvSpPr/>
          <p:nvPr/>
        </p:nvSpPr>
        <p:spPr>
          <a:xfrm>
            <a:off x="367200" y="3628800"/>
            <a:ext cx="8413200" cy="8244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3628800"/>
            <a:ext cx="792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75200" y="3657600"/>
            <a:ext cx="8298000" cy="151200"/>
          </a:xfrm>
          <a:prstGeom prst="rect">
            <a:avLst/>
          </a:prstGeom>
          <a:noFill/>
        </p:spPr>
        <p:txBody>
          <a:bodyPr wrap="none">
            <a:spAutoFit/>
          </a:bodyPr>
          <a:lstStyle/>
          <a:p>
            <a:pPr algn="l"/>
            <a:r>
              <a:rPr sz="950" b="1" i="0">
                <a:solidFill>
                  <a:srgbClr val="1B3A6B"/>
                </a:solidFill>
                <a:latin typeface="Calibri"/>
              </a:rPr>
              <a:t>MSFT génère ROE 30% / ROIC 30% — création de valeur premium</a:t>
            </a:r>
          </a:p>
        </p:txBody>
      </p:sp>
      <p:sp>
        <p:nvSpPr>
          <p:cNvPr id="21" name="TextBox 20"/>
          <p:cNvSpPr txBox="1"/>
          <p:nvPr/>
        </p:nvSpPr>
        <p:spPr>
          <a:xfrm>
            <a:off x="475200" y="3826800"/>
            <a:ext cx="8298000" cy="601200"/>
          </a:xfrm>
          <a:prstGeom prst="rect">
            <a:avLst/>
          </a:prstGeom>
          <a:noFill/>
        </p:spPr>
        <p:txBody>
          <a:bodyPr wrap="square">
            <a:spAutoFit/>
          </a:bodyPr>
          <a:lstStyle/>
          <a:p>
            <a:pPr algn="l"/>
            <a:r>
              <a:rPr sz="850" b="0" i="0">
                <a:solidFill>
                  <a:srgbClr val="555555"/>
                </a:solidFill>
                <a:latin typeface="Calibri"/>
              </a:rPr>
              <a:t>Marge brute passée de 68.4% (2022) à 68.8% (2025) malgré inflation des coûts cloud, grâce à l'effet volume et mix produit (Azure +30pts contribution). EBITDA margin a progressé de 50.6% à 56.9% sur la période, reflétant l'amélioration de l'efficacité opérationnelle et la scalabilité du modèle SaaS. La durabilité du pricing power est confirmée par des contrats long terme (&gt;3 ans) à tarifs indexés inflation.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03</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Valorisation</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DCF, comparable peers &amp; Football Field Chart</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Valorisation — DCF &amp; Scénarios</a:t>
            </a:r>
          </a:p>
        </p:txBody>
      </p:sp>
      <p:graphicFrame>
        <p:nvGraphicFramePr>
          <p:cNvPr id="16" name="Table 15"/>
          <p:cNvGraphicFramePr>
            <a:graphicFrameLocks noGrp="1"/>
          </p:cNvGraphicFramePr>
          <p:nvPr/>
        </p:nvGraphicFramePr>
        <p:xfrm>
          <a:off x="367200" y="824400"/>
          <a:ext cx="4024800" cy="1371600"/>
        </p:xfrm>
        <a:graphic>
          <a:graphicData uri="http://schemas.openxmlformats.org/drawingml/2006/table">
            <a:tbl>
              <a:tblPr firstRow="1" bandRow="1">
                <a:tableStyleId>{5C22544A-7EE6-4342-B048-85BDC9FD1C3A}</a:tableStyleId>
              </a:tblPr>
              <a:tblGrid>
                <a:gridCol w="2213640"/>
                <a:gridCol w="1811160"/>
              </a:tblGrid>
              <a:tr h="228600">
                <a:tc>
                  <a:txBody>
                    <a:bodyPr/>
                    <a:lstStyle/>
                    <a:p>
                      <a:pPr algn="l"/>
                      <a:r>
                        <a:rPr sz="800" b="1" i="0">
                          <a:solidFill>
                            <a:srgbClr val="FFFFFF"/>
                          </a:solidFill>
                          <a:latin typeface="Calibri"/>
                        </a:rPr>
                        <a:t>Paramètre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WACC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10,3 %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TGR</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1" i="0">
                          <a:solidFill>
                            <a:srgbClr val="1B3A6B"/>
                          </a:solidFill>
                          <a:latin typeface="Calibri"/>
                        </a:rPr>
                        <a:t>Valeur intrinsèque</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425 $</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Cours actuel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393,11 $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Upside implicite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graphicFrame>
        <p:nvGraphicFramePr>
          <p:cNvPr id="17" name="Table 16"/>
          <p:cNvGraphicFramePr>
            <a:graphicFrameLocks noGrp="1"/>
          </p:cNvGraphicFramePr>
          <p:nvPr/>
        </p:nvGraphicFramePr>
        <p:xfrm>
          <a:off x="4482000" y="824400"/>
          <a:ext cx="4298400" cy="1371600"/>
        </p:xfrm>
        <a:graphic>
          <a:graphicData uri="http://schemas.openxmlformats.org/drawingml/2006/table">
            <a:tbl>
              <a:tblPr firstRow="1" bandRow="1">
                <a:tableStyleId>{5C22544A-7EE6-4342-B048-85BDC9FD1C3A}</a:tableStyleId>
              </a:tblPr>
              <a:tblGrid>
                <a:gridCol w="1432800"/>
                <a:gridCol w="1432800"/>
                <a:gridCol w="1432800"/>
              </a:tblGrid>
              <a:tr h="342900">
                <a:tc>
                  <a:txBody>
                    <a:bodyPr/>
                    <a:lstStyle/>
                    <a:p>
                      <a:pPr algn="ctr"/>
                      <a:r>
                        <a:rPr sz="1000" b="1" i="0">
                          <a:solidFill>
                            <a:srgbClr val="FFFFFF"/>
                          </a:solidFill>
                          <a:latin typeface="Calibri"/>
                        </a:rPr>
                        <a:t>Bear</a:t>
                      </a:r>
                    </a:p>
                  </a:txBody>
                  <a:tcPr>
                    <a:solidFill>
                      <a:srgbClr val="A82020"/>
                    </a:solidFill>
                  </a:tcPr>
                </a:tc>
                <a:tc>
                  <a:txBody>
                    <a:bodyPr/>
                    <a:lstStyle/>
                    <a:p>
                      <a:pPr algn="ctr"/>
                      <a:r>
                        <a:rPr sz="1000" b="1" i="0">
                          <a:solidFill>
                            <a:srgbClr val="FFFFFF"/>
                          </a:solidFill>
                          <a:latin typeface="Calibri"/>
                        </a:rPr>
                        <a:t>Base</a:t>
                      </a:r>
                    </a:p>
                  </a:txBody>
                  <a:tcPr>
                    <a:solidFill>
                      <a:srgbClr val="2E5FA3"/>
                    </a:solidFill>
                  </a:tcPr>
                </a:tc>
                <a:tc>
                  <a:txBody>
                    <a:bodyPr/>
                    <a:lstStyle/>
                    <a:p>
                      <a:pPr algn="ctr"/>
                      <a:r>
                        <a:rPr sz="1000" b="1" i="0">
                          <a:solidFill>
                            <a:srgbClr val="FFFFFF"/>
                          </a:solidFill>
                          <a:latin typeface="Calibri"/>
                        </a:rPr>
                        <a:t>Bull</a:t>
                      </a:r>
                    </a:p>
                  </a:txBody>
                  <a:tcPr>
                    <a:solidFill>
                      <a:srgbClr val="1A7A4A"/>
                    </a:solidFill>
                  </a:tcPr>
                </a:tc>
              </a:tr>
              <a:tr h="342900">
                <a:tc>
                  <a:txBody>
                    <a:bodyPr/>
                    <a:lstStyle/>
                    <a:p>
                      <a:pPr algn="ctr"/>
                      <a:r>
                        <a:rPr sz="2000" b="1" i="0">
                          <a:solidFill>
                            <a:srgbClr val="A82020"/>
                          </a:solidFill>
                          <a:latin typeface="Calibri"/>
                        </a:rPr>
                        <a:t>370 $</a:t>
                      </a:r>
                    </a:p>
                  </a:txBody>
                  <a:tcPr>
                    <a:solidFill>
                      <a:srgbClr val="FAF0EF"/>
                    </a:solidFill>
                  </a:tcPr>
                </a:tc>
                <a:tc>
                  <a:txBody>
                    <a:bodyPr/>
                    <a:lstStyle/>
                    <a:p>
                      <a:pPr algn="ctr"/>
                      <a:r>
                        <a:rPr sz="2000" b="1" i="0">
                          <a:solidFill>
                            <a:srgbClr val="2E5FA3"/>
                          </a:solidFill>
                          <a:latin typeface="Calibri"/>
                        </a:rPr>
                        <a:t>425 $</a:t>
                      </a:r>
                    </a:p>
                  </a:txBody>
                  <a:tcPr>
                    <a:solidFill>
                      <a:srgbClr val="EEF3FA"/>
                    </a:solidFill>
                  </a:tcPr>
                </a:tc>
                <a:tc>
                  <a:txBody>
                    <a:bodyPr/>
                    <a:lstStyle/>
                    <a:p>
                      <a:pPr algn="ctr"/>
                      <a:r>
                        <a:rPr sz="2000" b="1" i="0">
                          <a:solidFill>
                            <a:srgbClr val="1A7A4A"/>
                          </a:solidFill>
                          <a:latin typeface="Calibri"/>
                        </a:rPr>
                        <a:t>460 $</a:t>
                      </a:r>
                    </a:p>
                  </a:txBody>
                  <a:tcPr>
                    <a:solidFill>
                      <a:srgbClr val="EAF4EF"/>
                    </a:solidFill>
                  </a:tcPr>
                </a:tc>
              </a:tr>
              <a:tr h="342900">
                <a:tc>
                  <a:txBody>
                    <a:bodyPr/>
                    <a:lstStyle/>
                    <a:p>
                      <a:pPr algn="ctr"/>
                      <a:r>
                        <a:rPr sz="1200" b="1" i="0">
                          <a:solidFill>
                            <a:srgbClr val="A82020"/>
                          </a:solidFill>
                          <a:latin typeface="Calibri"/>
                        </a:rPr>
                        <a:t>-5,9 %</a:t>
                      </a:r>
                    </a:p>
                  </a:txBody>
                  <a:tcPr>
                    <a:solidFill>
                      <a:srgbClr val="FAF0EF"/>
                    </a:solidFill>
                  </a:tcPr>
                </a:tc>
                <a:tc>
                  <a:txBody>
                    <a:bodyPr/>
                    <a:lstStyle/>
                    <a:p>
                      <a:pPr algn="ctr"/>
                      <a:r>
                        <a:rPr sz="1200" b="1" i="0">
                          <a:solidFill>
                            <a:srgbClr val="2E5FA3"/>
                          </a:solidFill>
                          <a:latin typeface="Calibri"/>
                        </a:rPr>
                        <a:t>+8,1 %</a:t>
                      </a:r>
                    </a:p>
                  </a:txBody>
                  <a:tcPr>
                    <a:solidFill>
                      <a:srgbClr val="EEF3FA"/>
                    </a:solidFill>
                  </a:tcPr>
                </a:tc>
                <a:tc>
                  <a:txBody>
                    <a:bodyPr/>
                    <a:lstStyle/>
                    <a:p>
                      <a:pPr algn="ctr"/>
                      <a:r>
                        <a:rPr sz="1200" b="1" i="0">
                          <a:solidFill>
                            <a:srgbClr val="1A7A4A"/>
                          </a:solidFill>
                          <a:latin typeface="Calibri"/>
                        </a:rPr>
                        <a:t>+17,0 %</a:t>
                      </a:r>
                    </a:p>
                  </a:txBody>
                  <a:tcPr>
                    <a:solidFill>
                      <a:srgbClr val="EAF4EF"/>
                    </a:solidFill>
                  </a:tcPr>
                </a:tc>
              </a:tr>
              <a:tr h="342900">
                <a:tc>
                  <a:txBody>
                    <a:bodyPr/>
                    <a:lstStyle/>
                    <a:p>
                      <a:pPr algn="ctr"/>
                      <a:r>
                        <a:rPr sz="700" b="0" i="0">
                          <a:solidFill>
                            <a:srgbClr val="888888"/>
                          </a:solidFill>
                          <a:latin typeface="Calibri"/>
                        </a:rPr>
                        <a:t>Upside / Downside</a:t>
                      </a:r>
                    </a:p>
                  </a:txBody>
                  <a:tcPr>
                    <a:solidFill>
                      <a:srgbClr val="FAF0EF"/>
                    </a:solidFill>
                  </a:tcPr>
                </a:tc>
                <a:tc>
                  <a:txBody>
                    <a:bodyPr/>
                    <a:lstStyle/>
                    <a:p>
                      <a:pPr algn="ctr"/>
                      <a:r>
                        <a:rPr sz="700" b="0" i="0">
                          <a:solidFill>
                            <a:srgbClr val="888888"/>
                          </a:solidFill>
                          <a:latin typeface="Calibri"/>
                        </a:rPr>
                        <a:t>Upside / Downside</a:t>
                      </a:r>
                    </a:p>
                  </a:txBody>
                  <a:tcPr>
                    <a:solidFill>
                      <a:srgbClr val="EEF3FA"/>
                    </a:solidFill>
                  </a:tcPr>
                </a:tc>
                <a:tc>
                  <a:txBody>
                    <a:bodyPr/>
                    <a:lstStyle/>
                    <a:p>
                      <a:pPr algn="ctr"/>
                      <a:r>
                        <a:rPr sz="700" b="0" i="0">
                          <a:solidFill>
                            <a:srgbClr val="888888"/>
                          </a:solidFill>
                          <a:latin typeface="Calibri"/>
                        </a:rPr>
                        <a:t>Upside / Downside</a:t>
                      </a:r>
                    </a:p>
                  </a:txBody>
                  <a:tcPr>
                    <a:solidFill>
                      <a:srgbClr val="EAF4EF"/>
                    </a:solidFill>
                  </a:tcPr>
                </a:tc>
              </a:tr>
            </a:tbl>
          </a:graphicData>
        </a:graphic>
      </p:graphicFrame>
      <p:sp>
        <p:nvSpPr>
          <p:cNvPr id="18" name="TextBox 17"/>
          <p:cNvSpPr txBox="1"/>
          <p:nvPr/>
        </p:nvSpPr>
        <p:spPr>
          <a:xfrm>
            <a:off x="367200" y="2394000"/>
            <a:ext cx="4024800" cy="201600"/>
          </a:xfrm>
          <a:prstGeom prst="rect">
            <a:avLst/>
          </a:prstGeom>
          <a:noFill/>
        </p:spPr>
        <p:txBody>
          <a:bodyPr wrap="square">
            <a:spAutoFit/>
          </a:bodyPr>
          <a:lstStyle/>
          <a:p>
            <a:pPr algn="l"/>
            <a:r>
              <a:rPr sz="900" b="1" i="0">
                <a:solidFill>
                  <a:srgbClr val="1B3A6B"/>
                </a:solidFill>
                <a:latin typeface="Calibri"/>
              </a:rPr>
              <a:t>Monte Carlo GBM — 10 000 simulations</a:t>
            </a:r>
          </a:p>
        </p:txBody>
      </p:sp>
      <p:graphicFrame>
        <p:nvGraphicFramePr>
          <p:cNvPr id="19" name="Table 18"/>
          <p:cNvGraphicFramePr>
            <a:graphicFrameLocks noGrp="1"/>
          </p:cNvGraphicFramePr>
          <p:nvPr/>
        </p:nvGraphicFramePr>
        <p:xfrm>
          <a:off x="367200" y="2653200"/>
          <a:ext cx="4024800" cy="1116000"/>
        </p:xfrm>
        <a:graphic>
          <a:graphicData uri="http://schemas.openxmlformats.org/drawingml/2006/table">
            <a:tbl>
              <a:tblPr firstRow="1" bandRow="1">
                <a:tableStyleId>{5C22544A-7EE6-4342-B048-85BDC9FD1C3A}</a:tableStyleId>
              </a:tblPr>
              <a:tblGrid>
                <a:gridCol w="1690416"/>
                <a:gridCol w="1287936"/>
                <a:gridCol w="1046448"/>
              </a:tblGrid>
              <a:tr h="186000">
                <a:tc>
                  <a:txBody>
                    <a:bodyPr/>
                    <a:lstStyle/>
                    <a:p>
                      <a:pPr algn="l"/>
                      <a:r>
                        <a:rPr sz="800" b="1" i="0">
                          <a:solidFill>
                            <a:srgbClr val="FFFFFF"/>
                          </a:solidFill>
                          <a:latin typeface="Calibri"/>
                        </a:rPr>
                        <a:t>Scénario</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Cours prédit (12M)</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vs Cours</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Stress Down (P2)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227 $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-42,4 %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Pessimiste (P10)</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272 $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-30,7 %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1" i="0">
                          <a:solidFill>
                            <a:srgbClr val="1B3A6B"/>
                          </a:solidFill>
                          <a:latin typeface="Calibri"/>
                        </a:rPr>
                        <a:t>● Médian (P50)</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374 $</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-5,0 %</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Optimiste (P90)</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512 $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+30,2 %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Stress Up (P98)</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616 $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+56,8 %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0" name="TextBox 19"/>
          <p:cNvSpPr txBox="1"/>
          <p:nvPr/>
        </p:nvSpPr>
        <p:spPr>
          <a:xfrm>
            <a:off x="4482000" y="2394000"/>
            <a:ext cx="4298400" cy="201600"/>
          </a:xfrm>
          <a:prstGeom prst="rect">
            <a:avLst/>
          </a:prstGeom>
          <a:noFill/>
        </p:spPr>
        <p:txBody>
          <a:bodyPr wrap="square">
            <a:spAutoFit/>
          </a:bodyPr>
          <a:lstStyle/>
          <a:p>
            <a:pPr algn="l"/>
            <a:r>
              <a:rPr sz="900" b="1" i="0">
                <a:solidFill>
                  <a:srgbClr val="1B3A6B"/>
                </a:solidFill>
                <a:latin typeface="Calibri"/>
              </a:rPr>
              <a:t>Sensibilité WACC × TGR — Valeur ($)</a:t>
            </a:r>
          </a:p>
        </p:txBody>
      </p:sp>
      <p:graphicFrame>
        <p:nvGraphicFramePr>
          <p:cNvPr id="21" name="Table 20"/>
          <p:cNvGraphicFramePr>
            <a:graphicFrameLocks noGrp="1"/>
          </p:cNvGraphicFramePr>
          <p:nvPr/>
        </p:nvGraphicFramePr>
        <p:xfrm>
          <a:off x="4482000" y="2653200"/>
          <a:ext cx="4298400" cy="1116000"/>
        </p:xfrm>
        <a:graphic>
          <a:graphicData uri="http://schemas.openxmlformats.org/drawingml/2006/table">
            <a:tbl>
              <a:tblPr firstRow="1" bandRow="1">
                <a:tableStyleId>{5C22544A-7EE6-4342-B048-85BDC9FD1C3A}</a:tableStyleId>
              </a:tblPr>
              <a:tblGrid>
                <a:gridCol w="716400"/>
                <a:gridCol w="716400"/>
                <a:gridCol w="716400"/>
                <a:gridCol w="716400"/>
                <a:gridCol w="716400"/>
                <a:gridCol w="716400"/>
              </a:tblGrid>
              <a:tr h="186000">
                <a:tc>
                  <a:txBody>
                    <a:bodyPr/>
                    <a:lstStyle/>
                    <a:p>
                      <a:pPr algn="l"/>
                      <a:r>
                        <a:rPr sz="800" b="1" i="0">
                          <a:solidFill>
                            <a:srgbClr val="FFFFFF"/>
                          </a:solidFill>
                          <a:latin typeface="Calibri"/>
                        </a:rPr>
                        <a:t>WACC \ TGR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4,0%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8,3%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493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536</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587</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648</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724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9,3%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425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456</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493</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536</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587</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1" i="0">
                          <a:solidFill>
                            <a:srgbClr val="1B3A6B"/>
                          </a:solidFill>
                          <a:latin typeface="Calibri"/>
                        </a:rPr>
                        <a:t>10,3%</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374</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398</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425</a:t>
                      </a:r>
                    </a:p>
                  </a:txBody>
                  <a:tcPr>
                    <a:solidFill>
                      <a:srgbClr val="2E5FA3"/>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456</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493</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11,3%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333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352</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374</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398</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425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12,3%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301</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316</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333</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352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374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2" name="Rectangle 21"/>
          <p:cNvSpPr/>
          <p:nvPr/>
        </p:nvSpPr>
        <p:spPr>
          <a:xfrm>
            <a:off x="367200" y="4031999"/>
            <a:ext cx="8413200" cy="5472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67200" y="4031999"/>
            <a:ext cx="79200" cy="5472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5200" y="4060800"/>
            <a:ext cx="8298000" cy="151200"/>
          </a:xfrm>
          <a:prstGeom prst="rect">
            <a:avLst/>
          </a:prstGeom>
          <a:noFill/>
        </p:spPr>
        <p:txBody>
          <a:bodyPr wrap="none">
            <a:spAutoFit/>
          </a:bodyPr>
          <a:lstStyle/>
          <a:p>
            <a:pPr algn="l"/>
            <a:r>
              <a:rPr sz="950" b="1" i="0">
                <a:solidFill>
                  <a:srgbClr val="1B3A6B"/>
                </a:solidFill>
                <a:latin typeface="Calibri"/>
              </a:rPr>
              <a:t>DCF base proche du cours (+8%) — valorisation alignée</a:t>
            </a:r>
          </a:p>
        </p:txBody>
      </p:sp>
      <p:sp>
        <p:nvSpPr>
          <p:cNvPr id="25" name="TextBox 24"/>
          <p:cNvSpPr txBox="1"/>
          <p:nvPr/>
        </p:nvSpPr>
        <p:spPr>
          <a:xfrm>
            <a:off x="475200" y="4230000"/>
            <a:ext cx="8298000" cy="324000"/>
          </a:xfrm>
          <a:prstGeom prst="rect">
            <a:avLst/>
          </a:prstGeom>
          <a:noFill/>
        </p:spPr>
        <p:txBody>
          <a:bodyPr wrap="square">
            <a:spAutoFit/>
          </a:bodyPr>
          <a:lstStyle/>
          <a:p>
            <a:pPr algn="l"/>
            <a:r>
              <a:rPr sz="850" b="0" i="0">
                <a:solidFill>
                  <a:srgbClr val="555555"/>
                </a:solidFill>
                <a:latin typeface="Calibri"/>
              </a:rPr>
              <a:t>WACC 10.3% et TGR 3.0% impliquent un prix DCF implicite de 425$ (+8% vs cours). L'upside reflète une sous-valorisation structurelle liée à la qualité des flux récurrents et à la résilience face aux cycles économiques. Un catalyseur clé serait une accélération des revenus IA (Copilot) au-delà des attentes.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Comparable Peers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par multiples  ·  LTM  ·  Mkt Cap en Mds USD</a:t>
            </a:r>
          </a:p>
        </p:txBody>
      </p:sp>
      <p:graphicFrame>
        <p:nvGraphicFramePr>
          <p:cNvPr id="17" name="Table 16"/>
          <p:cNvGraphicFramePr>
            <a:graphicFrameLocks noGrp="1"/>
          </p:cNvGraphicFramePr>
          <p:nvPr/>
        </p:nvGraphicFramePr>
        <p:xfrm>
          <a:off x="367200" y="914400"/>
          <a:ext cx="8413200" cy="2015999"/>
        </p:xfrm>
        <a:graphic>
          <a:graphicData uri="http://schemas.openxmlformats.org/drawingml/2006/table">
            <a:tbl>
              <a:tblPr firstRow="1" bandRow="1">
                <a:tableStyleId>{5C22544A-7EE6-4342-B048-85BDC9FD1C3A}</a:tableStyleId>
              </a:tblPr>
              <a:tblGrid>
                <a:gridCol w="1682640"/>
                <a:gridCol w="757188"/>
                <a:gridCol w="1093716"/>
                <a:gridCol w="1009584"/>
                <a:gridCol w="1009584"/>
                <a:gridCol w="757188"/>
                <a:gridCol w="1093716"/>
                <a:gridCol w="1009584"/>
              </a:tblGrid>
              <a:tr h="251999">
                <a:tc>
                  <a:txBody>
                    <a:bodyPr/>
                    <a:lstStyle/>
                    <a:p>
                      <a:pPr algn="l"/>
                      <a:r>
                        <a:rPr sz="800" b="1" i="0">
                          <a:solidFill>
                            <a:srgbClr val="FFFFFF"/>
                          </a:solidFill>
                          <a:latin typeface="Calibri"/>
                        </a:rPr>
                        <a:t>Société</a:t>
                      </a:r>
                    </a:p>
                  </a:txBody>
                  <a:tcPr>
                    <a:solidFill>
                      <a:srgbClr val="1B3A6B"/>
                    </a:solidFill>
                  </a:tcPr>
                </a:tc>
                <a:tc>
                  <a:txBody>
                    <a:bodyPr/>
                    <a:lstStyle/>
                    <a:p>
                      <a:pPr algn="ctr"/>
                      <a:r>
                        <a:rPr sz="800" b="1" i="0">
                          <a:solidFill>
                            <a:srgbClr val="FFFFFF"/>
                          </a:solidFill>
                          <a:latin typeface="Calibri"/>
                        </a:rPr>
                        <a:t>Ticker</a:t>
                      </a:r>
                    </a:p>
                  </a:txBody>
                  <a:tcPr>
                    <a:solidFill>
                      <a:srgbClr val="1B3A6B"/>
                    </a:solidFill>
                  </a:tcPr>
                </a:tc>
                <a:tc>
                  <a:txBody>
                    <a:bodyPr/>
                    <a:lstStyle/>
                    <a:p>
                      <a:pPr algn="ctr"/>
                      <a:r>
                        <a:rPr sz="800" b="1" i="0">
                          <a:solidFill>
                            <a:srgbClr val="FFFFFF"/>
                          </a:solidFill>
                          <a:latin typeface="Calibri"/>
                        </a:rPr>
                        <a:t>Mkt Cap</a:t>
                      </a:r>
                    </a:p>
                  </a:txBody>
                  <a:tcPr>
                    <a:solidFill>
                      <a:srgbClr val="1B3A6B"/>
                    </a:solidFill>
                  </a:tcPr>
                </a:tc>
                <a:tc>
                  <a:txBody>
                    <a:bodyPr/>
                    <a:lstStyle/>
                    <a:p>
                      <a:pPr algn="ctr"/>
                      <a:r>
                        <a:rPr sz="800" b="1" i="0">
                          <a:solidFill>
                            <a:srgbClr val="FFFFFF"/>
                          </a:solidFill>
                          <a:latin typeface="Calibri"/>
                        </a:rPr>
                        <a:t>EV/EBITDA</a:t>
                      </a:r>
                    </a:p>
                  </a:txBody>
                  <a:tcPr>
                    <a:solidFill>
                      <a:srgbClr val="1B3A6B"/>
                    </a:solidFill>
                  </a:tcPr>
                </a:tc>
                <a:tc>
                  <a:txBody>
                    <a:bodyPr/>
                    <a:lstStyle/>
                    <a:p>
                      <a:pPr algn="ctr"/>
                      <a:r>
                        <a:rPr sz="800" b="1" i="0">
                          <a:solidFill>
                            <a:srgbClr val="FFFFFF"/>
                          </a:solidFill>
                          <a:latin typeface="Calibri"/>
                        </a:rPr>
                        <a:t>EV/Rev.</a:t>
                      </a:r>
                    </a:p>
                  </a:txBody>
                  <a:tcPr>
                    <a:solidFill>
                      <a:srgbClr val="1B3A6B"/>
                    </a:solidFill>
                  </a:tcPr>
                </a:tc>
                <a:tc>
                  <a:txBody>
                    <a:bodyPr/>
                    <a:lstStyle/>
                    <a:p>
                      <a:pPr algn="ctr"/>
                      <a:r>
                        <a:rPr sz="800" b="1" i="0">
                          <a:solidFill>
                            <a:srgbClr val="FFFFFF"/>
                          </a:solidFill>
                          <a:latin typeface="Calibri"/>
                        </a:rPr>
                        <a:t>P/E</a:t>
                      </a:r>
                    </a:p>
                  </a:txBody>
                  <a:tcPr>
                    <a:solidFill>
                      <a:srgbClr val="1B3A6B"/>
                    </a:solidFill>
                  </a:tcPr>
                </a:tc>
                <a:tc>
                  <a:txBody>
                    <a:bodyPr/>
                    <a:lstStyle/>
                    <a:p>
                      <a:pPr algn="ctr"/>
                      <a:r>
                        <a:rPr sz="800" b="1" i="0">
                          <a:solidFill>
                            <a:srgbClr val="FFFFFF"/>
                          </a:solidFill>
                          <a:latin typeface="Calibri"/>
                        </a:rPr>
                        <a:t>Mg Brute</a:t>
                      </a:r>
                    </a:p>
                  </a:txBody>
                  <a:tcPr>
                    <a:solidFill>
                      <a:srgbClr val="1B3A6B"/>
                    </a:solidFill>
                  </a:tcPr>
                </a:tc>
                <a:tc>
                  <a:txBody>
                    <a:bodyPr/>
                    <a:lstStyle/>
                    <a:p>
                      <a:pPr algn="ctr"/>
                      <a:r>
                        <a:rPr sz="800" b="1" i="0">
                          <a:solidFill>
                            <a:srgbClr val="FFFFFF"/>
                          </a:solidFill>
                          <a:latin typeface="Calibri"/>
                        </a:rPr>
                        <a:t>Mg EBITDA</a:t>
                      </a:r>
                    </a:p>
                  </a:txBody>
                  <a:tcPr>
                    <a:solidFill>
                      <a:srgbClr val="1B3A6B"/>
                    </a:solidFill>
                  </a:tcPr>
                </a:tc>
              </a:tr>
              <a:tr h="251999">
                <a:tc>
                  <a:txBody>
                    <a:bodyPr/>
                    <a:lstStyle/>
                    <a:p>
                      <a:pPr algn="l"/>
                      <a:r>
                        <a:rPr sz="800" b="1" i="0">
                          <a:solidFill>
                            <a:srgbClr val="1B3A6B"/>
                          </a:solidFill>
                          <a:latin typeface="Calibri"/>
                        </a:rPr>
                        <a:t>Microsoft Corporation</a:t>
                      </a:r>
                    </a:p>
                  </a:txBody>
                  <a:tcPr>
                    <a:solidFill>
                      <a:srgbClr val="DDE8F5"/>
                    </a:solidFill>
                  </a:tcPr>
                </a:tc>
                <a:tc>
                  <a:txBody>
                    <a:bodyPr/>
                    <a:lstStyle/>
                    <a:p>
                      <a:pPr algn="ctr"/>
                      <a:r>
                        <a:rPr sz="750" b="1" i="0">
                          <a:solidFill>
                            <a:srgbClr val="2E5FA3"/>
                          </a:solidFill>
                          <a:latin typeface="Calibri"/>
                        </a:rPr>
                        <a:t>MSFT</a:t>
                      </a:r>
                    </a:p>
                  </a:txBody>
                  <a:tcPr>
                    <a:solidFill>
                      <a:srgbClr val="DDE8F5"/>
                    </a:solidFill>
                  </a:tcPr>
                </a:tc>
                <a:tc>
                  <a:txBody>
                    <a:bodyPr/>
                    <a:lstStyle/>
                    <a:p>
                      <a:pPr algn="ctr"/>
                      <a:r>
                        <a:rPr sz="800" b="1" i="0">
                          <a:solidFill>
                            <a:srgbClr val="1B3A6B"/>
                          </a:solidFill>
                          <a:latin typeface="Calibri"/>
                        </a:rPr>
                        <a:t>2 919,1</a:t>
                      </a:r>
                    </a:p>
                  </a:txBody>
                  <a:tcPr>
                    <a:solidFill>
                      <a:srgbClr val="DDE8F5"/>
                    </a:solidFill>
                  </a:tcPr>
                </a:tc>
                <a:tc>
                  <a:txBody>
                    <a:bodyPr/>
                    <a:lstStyle/>
                    <a:p>
                      <a:pPr algn="ctr"/>
                      <a:r>
                        <a:rPr sz="800" b="1" i="0">
                          <a:solidFill>
                            <a:srgbClr val="1B3A6B"/>
                          </a:solidFill>
                          <a:latin typeface="Calibri"/>
                        </a:rPr>
                        <a:t>18,3x</a:t>
                      </a:r>
                    </a:p>
                  </a:txBody>
                  <a:tcPr>
                    <a:solidFill>
                      <a:srgbClr val="DDE8F5"/>
                    </a:solidFill>
                  </a:tcPr>
                </a:tc>
                <a:tc>
                  <a:txBody>
                    <a:bodyPr/>
                    <a:lstStyle/>
                    <a:p>
                      <a:pPr algn="ctr"/>
                      <a:r>
                        <a:rPr sz="800" b="1" i="0">
                          <a:solidFill>
                            <a:srgbClr val="1B3A6B"/>
                          </a:solidFill>
                          <a:latin typeface="Calibri"/>
                        </a:rPr>
                        <a:t>10,4x</a:t>
                      </a:r>
                    </a:p>
                  </a:txBody>
                  <a:tcPr>
                    <a:solidFill>
                      <a:srgbClr val="DDE8F5"/>
                    </a:solidFill>
                  </a:tcPr>
                </a:tc>
                <a:tc>
                  <a:txBody>
                    <a:bodyPr/>
                    <a:lstStyle/>
                    <a:p>
                      <a:pPr algn="ctr"/>
                      <a:r>
                        <a:rPr sz="800" b="1" i="0">
                          <a:solidFill>
                            <a:srgbClr val="1B3A6B"/>
                          </a:solidFill>
                          <a:latin typeface="Calibri"/>
                        </a:rPr>
                        <a:t>28,7x</a:t>
                      </a:r>
                    </a:p>
                  </a:txBody>
                  <a:tcPr>
                    <a:solidFill>
                      <a:srgbClr val="DDE8F5"/>
                    </a:solidFill>
                  </a:tcPr>
                </a:tc>
                <a:tc>
                  <a:txBody>
                    <a:bodyPr/>
                    <a:lstStyle/>
                    <a:p>
                      <a:pPr algn="ctr"/>
                      <a:r>
                        <a:rPr sz="800" b="1" i="0">
                          <a:solidFill>
                            <a:srgbClr val="1B3A6B"/>
                          </a:solidFill>
                          <a:latin typeface="Calibri"/>
                        </a:rPr>
                        <a:t>68,8 %</a:t>
                      </a:r>
                    </a:p>
                  </a:txBody>
                  <a:tcPr>
                    <a:solidFill>
                      <a:srgbClr val="DDE8F5"/>
                    </a:solidFill>
                  </a:tcPr>
                </a:tc>
                <a:tc>
                  <a:txBody>
                    <a:bodyPr/>
                    <a:lstStyle/>
                    <a:p>
                      <a:pPr algn="ctr"/>
                      <a:r>
                        <a:rPr sz="800" b="1" i="0">
                          <a:solidFill>
                            <a:srgbClr val="1B3A6B"/>
                          </a:solidFill>
                          <a:latin typeface="Calibri"/>
                        </a:rPr>
                        <a:t>56,9 %</a:t>
                      </a:r>
                    </a:p>
                  </a:txBody>
                  <a:tcPr>
                    <a:solidFill>
                      <a:srgbClr val="DDE8F5"/>
                    </a:solidFill>
                  </a:tcPr>
                </a:tc>
              </a:tr>
              <a:tr h="251999">
                <a:tc>
                  <a:txBody>
                    <a:bodyPr/>
                    <a:lstStyle/>
                    <a:p>
                      <a:pPr algn="l"/>
                      <a:r>
                        <a:rPr sz="800" b="0" i="0">
                          <a:solidFill>
                            <a:srgbClr val="0D0D0D"/>
                          </a:solidFill>
                          <a:latin typeface="Calibri"/>
                        </a:rPr>
                        <a:t>Alphabet</a:t>
                      </a:r>
                    </a:p>
                  </a:txBody>
                  <a:tcPr>
                    <a:solidFill>
                      <a:srgbClr val="FFFFFF"/>
                    </a:solidFill>
                  </a:tcPr>
                </a:tc>
                <a:tc>
                  <a:txBody>
                    <a:bodyPr/>
                    <a:lstStyle/>
                    <a:p>
                      <a:pPr algn="ctr"/>
                      <a:r>
                        <a:rPr sz="750" b="0" i="0">
                          <a:solidFill>
                            <a:srgbClr val="555555"/>
                          </a:solidFill>
                          <a:latin typeface="Calibri"/>
                        </a:rPr>
                        <a:t>GOOGL</a:t>
                      </a:r>
                    </a:p>
                  </a:txBody>
                  <a:tcPr>
                    <a:solidFill>
                      <a:srgbClr val="FFFFFF"/>
                    </a:solidFill>
                  </a:tcPr>
                </a:tc>
                <a:tc>
                  <a:txBody>
                    <a:bodyPr/>
                    <a:lstStyle/>
                    <a:p>
                      <a:pPr algn="ctr"/>
                      <a:r>
                        <a:rPr sz="800" b="0" i="0">
                          <a:solidFill>
                            <a:srgbClr val="0D0D0D"/>
                          </a:solidFill>
                          <a:latin typeface="Calibri"/>
                        </a:rPr>
                        <a:t>2 200,0</a:t>
                      </a:r>
                    </a:p>
                  </a:txBody>
                  <a:tcPr>
                    <a:solidFill>
                      <a:srgbClr val="FFFFFF"/>
                    </a:solidFill>
                  </a:tcPr>
                </a:tc>
                <a:tc>
                  <a:txBody>
                    <a:bodyPr/>
                    <a:lstStyle/>
                    <a:p>
                      <a:pPr algn="ctr"/>
                      <a:r>
                        <a:rPr sz="800" b="0" i="0">
                          <a:solidFill>
                            <a:srgbClr val="0D0D0D"/>
                          </a:solidFill>
                          <a:latin typeface="Calibri"/>
                        </a:rPr>
                        <a:t>17,8x</a:t>
                      </a:r>
                    </a:p>
                  </a:txBody>
                  <a:tcPr>
                    <a:solidFill>
                      <a:srgbClr val="FFFFFF"/>
                    </a:solidFill>
                  </a:tcPr>
                </a:tc>
                <a:tc>
                  <a:txBody>
                    <a:bodyPr/>
                    <a:lstStyle/>
                    <a:p>
                      <a:pPr algn="ctr"/>
                      <a:r>
                        <a:rPr sz="800" b="0" i="0">
                          <a:solidFill>
                            <a:srgbClr val="0D0D0D"/>
                          </a:solidFill>
                          <a:latin typeface="Calibri"/>
                        </a:rPr>
                        <a:t>8,2x</a:t>
                      </a:r>
                    </a:p>
                  </a:txBody>
                  <a:tcPr>
                    <a:solidFill>
                      <a:srgbClr val="FFFFFF"/>
                    </a:solidFill>
                  </a:tcPr>
                </a:tc>
                <a:tc>
                  <a:txBody>
                    <a:bodyPr/>
                    <a:lstStyle/>
                    <a:p>
                      <a:pPr algn="ctr"/>
                      <a:r>
                        <a:rPr sz="800" b="0" i="0">
                          <a:solidFill>
                            <a:srgbClr val="0D0D0D"/>
                          </a:solidFill>
                          <a:latin typeface="Calibri"/>
                        </a:rPr>
                        <a:t>25,1x</a:t>
                      </a:r>
                    </a:p>
                  </a:txBody>
                  <a:tcPr>
                    <a:solidFill>
                      <a:srgbClr val="FFFFFF"/>
                    </a:solidFill>
                  </a:tcPr>
                </a:tc>
                <a:tc>
                  <a:txBody>
                    <a:bodyPr/>
                    <a:lstStyle/>
                    <a:p>
                      <a:pPr algn="ctr"/>
                      <a:r>
                        <a:rPr sz="800" b="0" i="0">
                          <a:solidFill>
                            <a:srgbClr val="0D0D0D"/>
                          </a:solidFill>
                          <a:latin typeface="Calibri"/>
                        </a:rPr>
                        <a:t>56,2 %</a:t>
                      </a:r>
                    </a:p>
                  </a:txBody>
                  <a:tcPr>
                    <a:solidFill>
                      <a:srgbClr val="FFFFFF"/>
                    </a:solidFill>
                  </a:tcPr>
                </a:tc>
                <a:tc>
                  <a:txBody>
                    <a:bodyPr/>
                    <a:lstStyle/>
                    <a:p>
                      <a:pPr algn="ctr"/>
                      <a:r>
                        <a:rPr sz="800" b="0" i="0">
                          <a:solidFill>
                            <a:srgbClr val="0D0D0D"/>
                          </a:solidFill>
                          <a:latin typeface="Calibri"/>
                        </a:rPr>
                        <a:t>29,5 %</a:t>
                      </a:r>
                    </a:p>
                  </a:txBody>
                  <a:tcPr>
                    <a:solidFill>
                      <a:srgbClr val="FFFFFF"/>
                    </a:solidFill>
                  </a:tcPr>
                </a:tc>
              </a:tr>
              <a:tr h="251999">
                <a:tc>
                  <a:txBody>
                    <a:bodyPr/>
                    <a:lstStyle/>
                    <a:p>
                      <a:pPr algn="l"/>
                      <a:r>
                        <a:rPr sz="800" b="0" i="0">
                          <a:solidFill>
                            <a:srgbClr val="0D0D0D"/>
                          </a:solidFill>
                          <a:latin typeface="Calibri"/>
                        </a:rPr>
                        <a:t>Amazon Web Services</a:t>
                      </a:r>
                    </a:p>
                  </a:txBody>
                  <a:tcPr>
                    <a:solidFill>
                      <a:srgbClr val="F7F8FA"/>
                    </a:solidFill>
                  </a:tcPr>
                </a:tc>
                <a:tc>
                  <a:txBody>
                    <a:bodyPr/>
                    <a:lstStyle/>
                    <a:p>
                      <a:pPr algn="ctr"/>
                      <a:r>
                        <a:rPr sz="750" b="0" i="0">
                          <a:solidFill>
                            <a:srgbClr val="555555"/>
                          </a:solidFill>
                          <a:latin typeface="Calibri"/>
                        </a:rPr>
                        <a:t>AMZN</a:t>
                      </a:r>
                    </a:p>
                  </a:txBody>
                  <a:tcPr>
                    <a:solidFill>
                      <a:srgbClr val="F7F8FA"/>
                    </a:solidFill>
                  </a:tcPr>
                </a:tc>
                <a:tc>
                  <a:txBody>
                    <a:bodyPr/>
                    <a:lstStyle/>
                    <a:p>
                      <a:pPr algn="ctr"/>
                      <a:r>
                        <a:rPr sz="800" b="0" i="0">
                          <a:solidFill>
                            <a:srgbClr val="0D0D0D"/>
                          </a:solidFill>
                          <a:latin typeface="Calibri"/>
                        </a:rPr>
                        <a:t>1 850,0</a:t>
                      </a:r>
                    </a:p>
                  </a:txBody>
                  <a:tcPr>
                    <a:solidFill>
                      <a:srgbClr val="F7F8FA"/>
                    </a:solidFill>
                  </a:tcPr>
                </a:tc>
                <a:tc>
                  <a:txBody>
                    <a:bodyPr/>
                    <a:lstStyle/>
                    <a:p>
                      <a:pPr algn="ctr"/>
                      <a:r>
                        <a:rPr sz="800" b="0" i="0">
                          <a:solidFill>
                            <a:srgbClr val="0D0D0D"/>
                          </a:solidFill>
                          <a:latin typeface="Calibri"/>
                        </a:rPr>
                        <a:t>19,5x</a:t>
                      </a:r>
                    </a:p>
                  </a:txBody>
                  <a:tcPr>
                    <a:solidFill>
                      <a:srgbClr val="F7F8FA"/>
                    </a:solidFill>
                  </a:tcPr>
                </a:tc>
                <a:tc>
                  <a:txBody>
                    <a:bodyPr/>
                    <a:lstStyle/>
                    <a:p>
                      <a:pPr algn="ctr"/>
                      <a:r>
                        <a:rPr sz="800" b="0" i="0">
                          <a:solidFill>
                            <a:srgbClr val="0D0D0D"/>
                          </a:solidFill>
                          <a:latin typeface="Calibri"/>
                        </a:rPr>
                        <a:t>3,1x</a:t>
                      </a:r>
                    </a:p>
                  </a:txBody>
                  <a:tcPr>
                    <a:solidFill>
                      <a:srgbClr val="F7F8FA"/>
                    </a:solidFill>
                  </a:tcPr>
                </a:tc>
                <a:tc>
                  <a:txBody>
                    <a:bodyPr/>
                    <a:lstStyle/>
                    <a:p>
                      <a:pPr algn="ctr"/>
                      <a:r>
                        <a:rPr sz="800" b="0" i="0">
                          <a:solidFill>
                            <a:srgbClr val="0D0D0D"/>
                          </a:solidFill>
                          <a:latin typeface="Calibri"/>
                        </a:rPr>
                        <a:t>62,3x</a:t>
                      </a:r>
                    </a:p>
                  </a:txBody>
                  <a:tcPr>
                    <a:solidFill>
                      <a:srgbClr val="F7F8FA"/>
                    </a:solidFill>
                  </a:tcPr>
                </a:tc>
                <a:tc>
                  <a:txBody>
                    <a:bodyPr/>
                    <a:lstStyle/>
                    <a:p>
                      <a:pPr algn="ctr"/>
                      <a:r>
                        <a:rPr sz="800" b="0" i="0">
                          <a:solidFill>
                            <a:srgbClr val="0D0D0D"/>
                          </a:solidFill>
                          <a:latin typeface="Calibri"/>
                        </a:rPr>
                        <a:t>45,1 %</a:t>
                      </a:r>
                    </a:p>
                  </a:txBody>
                  <a:tcPr>
                    <a:solidFill>
                      <a:srgbClr val="F7F8FA"/>
                    </a:solidFill>
                  </a:tcPr>
                </a:tc>
                <a:tc>
                  <a:txBody>
                    <a:bodyPr/>
                    <a:lstStyle/>
                    <a:p>
                      <a:pPr algn="ctr"/>
                      <a:r>
                        <a:rPr sz="800" b="0" i="0">
                          <a:solidFill>
                            <a:srgbClr val="0D0D0D"/>
                          </a:solidFill>
                          <a:latin typeface="Calibri"/>
                        </a:rPr>
                        <a:t>22,1 %</a:t>
                      </a:r>
                    </a:p>
                  </a:txBody>
                  <a:tcPr>
                    <a:solidFill>
                      <a:srgbClr val="F7F8FA"/>
                    </a:solidFill>
                  </a:tcPr>
                </a:tc>
              </a:tr>
              <a:tr h="251999">
                <a:tc>
                  <a:txBody>
                    <a:bodyPr/>
                    <a:lstStyle/>
                    <a:p>
                      <a:pPr algn="l"/>
                      <a:r>
                        <a:rPr sz="800" b="0" i="0">
                          <a:solidFill>
                            <a:srgbClr val="0D0D0D"/>
                          </a:solidFill>
                          <a:latin typeface="Calibri"/>
                        </a:rPr>
                        <a:t>Salesforce</a:t>
                      </a:r>
                    </a:p>
                  </a:txBody>
                  <a:tcPr>
                    <a:solidFill>
                      <a:srgbClr val="FFFFFF"/>
                    </a:solidFill>
                  </a:tcPr>
                </a:tc>
                <a:tc>
                  <a:txBody>
                    <a:bodyPr/>
                    <a:lstStyle/>
                    <a:p>
                      <a:pPr algn="ctr"/>
                      <a:r>
                        <a:rPr sz="750" b="0" i="0">
                          <a:solidFill>
                            <a:srgbClr val="555555"/>
                          </a:solidFill>
                          <a:latin typeface="Calibri"/>
                        </a:rPr>
                        <a:t>CRM</a:t>
                      </a:r>
                    </a:p>
                  </a:txBody>
                  <a:tcPr>
                    <a:solidFill>
                      <a:srgbClr val="FFFFFF"/>
                    </a:solidFill>
                  </a:tcPr>
                </a:tc>
                <a:tc>
                  <a:txBody>
                    <a:bodyPr/>
                    <a:lstStyle/>
                    <a:p>
                      <a:pPr algn="ctr"/>
                      <a:r>
                        <a:rPr sz="800" b="0" i="0">
                          <a:solidFill>
                            <a:srgbClr val="0D0D0D"/>
                          </a:solidFill>
                          <a:latin typeface="Calibri"/>
                        </a:rPr>
                        <a:t>280,0</a:t>
                      </a:r>
                    </a:p>
                  </a:txBody>
                  <a:tcPr>
                    <a:solidFill>
                      <a:srgbClr val="FFFFFF"/>
                    </a:solidFill>
                  </a:tcPr>
                </a:tc>
                <a:tc>
                  <a:txBody>
                    <a:bodyPr/>
                    <a:lstStyle/>
                    <a:p>
                      <a:pPr algn="ctr"/>
                      <a:r>
                        <a:rPr sz="800" b="0" i="0">
                          <a:solidFill>
                            <a:srgbClr val="0D0D0D"/>
                          </a:solidFill>
                          <a:latin typeface="Calibri"/>
                        </a:rPr>
                        <a:t>22,4x</a:t>
                      </a:r>
                    </a:p>
                  </a:txBody>
                  <a:tcPr>
                    <a:solidFill>
                      <a:srgbClr val="FFFFFF"/>
                    </a:solidFill>
                  </a:tcPr>
                </a:tc>
                <a:tc>
                  <a:txBody>
                    <a:bodyPr/>
                    <a:lstStyle/>
                    <a:p>
                      <a:pPr algn="ctr"/>
                      <a:r>
                        <a:rPr sz="800" b="0" i="0">
                          <a:solidFill>
                            <a:srgbClr val="0D0D0D"/>
                          </a:solidFill>
                          <a:latin typeface="Calibri"/>
                        </a:rPr>
                        <a:t>6,5x</a:t>
                      </a:r>
                    </a:p>
                  </a:txBody>
                  <a:tcPr>
                    <a:solidFill>
                      <a:srgbClr val="FFFFFF"/>
                    </a:solidFill>
                  </a:tcPr>
                </a:tc>
                <a:tc>
                  <a:txBody>
                    <a:bodyPr/>
                    <a:lstStyle/>
                    <a:p>
                      <a:pPr algn="ctr"/>
                      <a:r>
                        <a:rPr sz="800" b="0" i="0">
                          <a:solidFill>
                            <a:srgbClr val="0D0D0D"/>
                          </a:solidFill>
                          <a:latin typeface="Calibri"/>
                        </a:rPr>
                        <a:t>38,7x</a:t>
                      </a:r>
                    </a:p>
                  </a:txBody>
                  <a:tcPr>
                    <a:solidFill>
                      <a:srgbClr val="FFFFFF"/>
                    </a:solidFill>
                  </a:tcPr>
                </a:tc>
                <a:tc>
                  <a:txBody>
                    <a:bodyPr/>
                    <a:lstStyle/>
                    <a:p>
                      <a:pPr algn="ctr"/>
                      <a:r>
                        <a:rPr sz="800" b="0" i="0">
                          <a:solidFill>
                            <a:srgbClr val="0D0D0D"/>
                          </a:solidFill>
                          <a:latin typeface="Calibri"/>
                        </a:rPr>
                        <a:t>74,5 %</a:t>
                      </a:r>
                    </a:p>
                  </a:txBody>
                  <a:tcPr>
                    <a:solidFill>
                      <a:srgbClr val="FFFFFF"/>
                    </a:solidFill>
                  </a:tcPr>
                </a:tc>
                <a:tc>
                  <a:txBody>
                    <a:bodyPr/>
                    <a:lstStyle/>
                    <a:p>
                      <a:pPr algn="ctr"/>
                      <a:r>
                        <a:rPr sz="800" b="0" i="0">
                          <a:solidFill>
                            <a:srgbClr val="0D0D0D"/>
                          </a:solidFill>
                          <a:latin typeface="Calibri"/>
                        </a:rPr>
                        <a:t>25,1 %</a:t>
                      </a:r>
                    </a:p>
                  </a:txBody>
                  <a:tcPr>
                    <a:solidFill>
                      <a:srgbClr val="FFFFFF"/>
                    </a:solidFill>
                  </a:tcPr>
                </a:tc>
              </a:tr>
              <a:tr h="251999">
                <a:tc>
                  <a:txBody>
                    <a:bodyPr/>
                    <a:lstStyle/>
                    <a:p>
                      <a:pPr algn="l"/>
                      <a:r>
                        <a:rPr sz="800" b="0" i="0">
                          <a:solidFill>
                            <a:srgbClr val="0D0D0D"/>
                          </a:solidFill>
                          <a:latin typeface="Calibri"/>
                        </a:rPr>
                        <a:t>Oracle</a:t>
                      </a:r>
                    </a:p>
                  </a:txBody>
                  <a:tcPr>
                    <a:solidFill>
                      <a:srgbClr val="F7F8FA"/>
                    </a:solidFill>
                  </a:tcPr>
                </a:tc>
                <a:tc>
                  <a:txBody>
                    <a:bodyPr/>
                    <a:lstStyle/>
                    <a:p>
                      <a:pPr algn="ctr"/>
                      <a:r>
                        <a:rPr sz="750" b="0" i="0">
                          <a:solidFill>
                            <a:srgbClr val="555555"/>
                          </a:solidFill>
                          <a:latin typeface="Calibri"/>
                        </a:rPr>
                        <a:t>ORCL</a:t>
                      </a:r>
                    </a:p>
                  </a:txBody>
                  <a:tcPr>
                    <a:solidFill>
                      <a:srgbClr val="F7F8FA"/>
                    </a:solidFill>
                  </a:tcPr>
                </a:tc>
                <a:tc>
                  <a:txBody>
                    <a:bodyPr/>
                    <a:lstStyle/>
                    <a:p>
                      <a:pPr algn="ctr"/>
                      <a:r>
                        <a:rPr sz="800" b="0" i="0">
                          <a:solidFill>
                            <a:srgbClr val="0D0D0D"/>
                          </a:solidFill>
                          <a:latin typeface="Calibri"/>
                        </a:rPr>
                        <a:t>350,0</a:t>
                      </a:r>
                    </a:p>
                  </a:txBody>
                  <a:tcPr>
                    <a:solidFill>
                      <a:srgbClr val="F7F8FA"/>
                    </a:solidFill>
                  </a:tcPr>
                </a:tc>
                <a:tc>
                  <a:txBody>
                    <a:bodyPr/>
                    <a:lstStyle/>
                    <a:p>
                      <a:pPr algn="ctr"/>
                      <a:r>
                        <a:rPr sz="800" b="0" i="0">
                          <a:solidFill>
                            <a:srgbClr val="0D0D0D"/>
                          </a:solidFill>
                          <a:latin typeface="Calibri"/>
                        </a:rPr>
                        <a:t>14,2x</a:t>
                      </a:r>
                    </a:p>
                  </a:txBody>
                  <a:tcPr>
                    <a:solidFill>
                      <a:srgbClr val="F7F8FA"/>
                    </a:solidFill>
                  </a:tcPr>
                </a:tc>
                <a:tc>
                  <a:txBody>
                    <a:bodyPr/>
                    <a:lstStyle/>
                    <a:p>
                      <a:pPr algn="ctr"/>
                      <a:r>
                        <a:rPr sz="800" b="0" i="0">
                          <a:solidFill>
                            <a:srgbClr val="0D0D0D"/>
                          </a:solidFill>
                          <a:latin typeface="Calibri"/>
                        </a:rPr>
                        <a:t>6,8x</a:t>
                      </a:r>
                    </a:p>
                  </a:txBody>
                  <a:tcPr>
                    <a:solidFill>
                      <a:srgbClr val="F7F8FA"/>
                    </a:solidFill>
                  </a:tcPr>
                </a:tc>
                <a:tc>
                  <a:txBody>
                    <a:bodyPr/>
                    <a:lstStyle/>
                    <a:p>
                      <a:pPr algn="ctr"/>
                      <a:r>
                        <a:rPr sz="800" b="0" i="0">
                          <a:solidFill>
                            <a:srgbClr val="0D0D0D"/>
                          </a:solidFill>
                          <a:latin typeface="Calibri"/>
                        </a:rPr>
                        <a:t>22,8x</a:t>
                      </a:r>
                    </a:p>
                  </a:txBody>
                  <a:tcPr>
                    <a:solidFill>
                      <a:srgbClr val="F7F8FA"/>
                    </a:solidFill>
                  </a:tcPr>
                </a:tc>
                <a:tc>
                  <a:txBody>
                    <a:bodyPr/>
                    <a:lstStyle/>
                    <a:p>
                      <a:pPr algn="ctr"/>
                      <a:r>
                        <a:rPr sz="800" b="0" i="0">
                          <a:solidFill>
                            <a:srgbClr val="0D0D0D"/>
                          </a:solidFill>
                          <a:latin typeface="Calibri"/>
                        </a:rPr>
                        <a:t>78,2 %</a:t>
                      </a:r>
                    </a:p>
                  </a:txBody>
                  <a:tcPr>
                    <a:solidFill>
                      <a:srgbClr val="F7F8FA"/>
                    </a:solidFill>
                  </a:tcPr>
                </a:tc>
                <a:tc>
                  <a:txBody>
                    <a:bodyPr/>
                    <a:lstStyle/>
                    <a:p>
                      <a:pPr algn="ctr"/>
                      <a:r>
                        <a:rPr sz="800" b="0" i="0">
                          <a:solidFill>
                            <a:srgbClr val="0D0D0D"/>
                          </a:solidFill>
                          <a:latin typeface="Calibri"/>
                        </a:rPr>
                        <a:t>45,3 %</a:t>
                      </a:r>
                    </a:p>
                  </a:txBody>
                  <a:tcPr>
                    <a:solidFill>
                      <a:srgbClr val="F7F8FA"/>
                    </a:solidFill>
                  </a:tcPr>
                </a:tc>
              </a:tr>
              <a:tr h="251999">
                <a:tc>
                  <a:txBody>
                    <a:bodyPr/>
                    <a:lstStyle/>
                    <a:p>
                      <a:pPr algn="l"/>
                      <a:r>
                        <a:rPr sz="800" b="0" i="0">
                          <a:solidFill>
                            <a:srgbClr val="0D0D0D"/>
                          </a:solidFill>
                          <a:latin typeface="Calibri"/>
                        </a:rPr>
                        <a:t>Adobe</a:t>
                      </a:r>
                    </a:p>
                  </a:txBody>
                  <a:tcPr>
                    <a:solidFill>
                      <a:srgbClr val="FFFFFF"/>
                    </a:solidFill>
                  </a:tcPr>
                </a:tc>
                <a:tc>
                  <a:txBody>
                    <a:bodyPr/>
                    <a:lstStyle/>
                    <a:p>
                      <a:pPr algn="ctr"/>
                      <a:r>
                        <a:rPr sz="750" b="0" i="0">
                          <a:solidFill>
                            <a:srgbClr val="555555"/>
                          </a:solidFill>
                          <a:latin typeface="Calibri"/>
                        </a:rPr>
                        <a:t>ADBE</a:t>
                      </a:r>
                    </a:p>
                  </a:txBody>
                  <a:tcPr>
                    <a:solidFill>
                      <a:srgbClr val="FFFFFF"/>
                    </a:solidFill>
                  </a:tcPr>
                </a:tc>
                <a:tc>
                  <a:txBody>
                    <a:bodyPr/>
                    <a:lstStyle/>
                    <a:p>
                      <a:pPr algn="ctr"/>
                      <a:r>
                        <a:rPr sz="800" b="0" i="0">
                          <a:solidFill>
                            <a:srgbClr val="0D0D0D"/>
                          </a:solidFill>
                          <a:latin typeface="Calibri"/>
                        </a:rPr>
                        <a:t>220,0</a:t>
                      </a:r>
                    </a:p>
                  </a:txBody>
                  <a:tcPr>
                    <a:solidFill>
                      <a:srgbClr val="FFFFFF"/>
                    </a:solidFill>
                  </a:tcPr>
                </a:tc>
                <a:tc>
                  <a:txBody>
                    <a:bodyPr/>
                    <a:lstStyle/>
                    <a:p>
                      <a:pPr algn="ctr"/>
                      <a:r>
                        <a:rPr sz="800" b="0" i="0">
                          <a:solidFill>
                            <a:srgbClr val="0D0D0D"/>
                          </a:solidFill>
                          <a:latin typeface="Calibri"/>
                        </a:rPr>
                        <a:t>28,5x</a:t>
                      </a:r>
                    </a:p>
                  </a:txBody>
                  <a:tcPr>
                    <a:solidFill>
                      <a:srgbClr val="FFFFFF"/>
                    </a:solidFill>
                  </a:tcPr>
                </a:tc>
                <a:tc>
                  <a:txBody>
                    <a:bodyPr/>
                    <a:lstStyle/>
                    <a:p>
                      <a:pPr algn="ctr"/>
                      <a:r>
                        <a:rPr sz="800" b="0" i="0">
                          <a:solidFill>
                            <a:srgbClr val="0D0D0D"/>
                          </a:solidFill>
                          <a:latin typeface="Calibri"/>
                        </a:rPr>
                        <a:t>12,1x</a:t>
                      </a:r>
                    </a:p>
                  </a:txBody>
                  <a:tcPr>
                    <a:solidFill>
                      <a:srgbClr val="FFFFFF"/>
                    </a:solidFill>
                  </a:tcPr>
                </a:tc>
                <a:tc>
                  <a:txBody>
                    <a:bodyPr/>
                    <a:lstStyle/>
                    <a:p>
                      <a:pPr algn="ctr"/>
                      <a:r>
                        <a:rPr sz="800" b="0" i="0">
                          <a:solidFill>
                            <a:srgbClr val="0D0D0D"/>
                          </a:solidFill>
                          <a:latin typeface="Calibri"/>
                        </a:rPr>
                        <a:t>35,2x</a:t>
                      </a:r>
                    </a:p>
                  </a:txBody>
                  <a:tcPr>
                    <a:solidFill>
                      <a:srgbClr val="FFFFFF"/>
                    </a:solidFill>
                  </a:tcPr>
                </a:tc>
                <a:tc>
                  <a:txBody>
                    <a:bodyPr/>
                    <a:lstStyle/>
                    <a:p>
                      <a:pPr algn="ctr"/>
                      <a:r>
                        <a:rPr sz="800" b="0" i="0">
                          <a:solidFill>
                            <a:srgbClr val="0D0D0D"/>
                          </a:solidFill>
                          <a:latin typeface="Calibri"/>
                        </a:rPr>
                        <a:t>85,6 %</a:t>
                      </a:r>
                    </a:p>
                  </a:txBody>
                  <a:tcPr>
                    <a:solidFill>
                      <a:srgbClr val="FFFFFF"/>
                    </a:solidFill>
                  </a:tcPr>
                </a:tc>
                <a:tc>
                  <a:txBody>
                    <a:bodyPr/>
                    <a:lstStyle/>
                    <a:p>
                      <a:pPr algn="ctr"/>
                      <a:r>
                        <a:rPr sz="800" b="0" i="0">
                          <a:solidFill>
                            <a:srgbClr val="0D0D0D"/>
                          </a:solidFill>
                          <a:latin typeface="Calibri"/>
                        </a:rPr>
                        <a:t>42,1 %</a:t>
                      </a:r>
                    </a:p>
                  </a:txBody>
                  <a:tcPr>
                    <a:solidFill>
                      <a:srgbClr val="FFFFFF"/>
                    </a:solidFill>
                  </a:tcPr>
                </a:tc>
              </a:tr>
              <a:tr h="252006">
                <a:tc>
                  <a:txBody>
                    <a:bodyPr/>
                    <a:lstStyle/>
                    <a:p>
                      <a:pPr algn="l"/>
                      <a:r>
                        <a:rPr sz="800" b="1" i="0">
                          <a:solidFill>
                            <a:srgbClr val="0D0D0D"/>
                          </a:solidFill>
                          <a:latin typeface="Calibri"/>
                        </a:rPr>
                        <a:t>Médiane peers</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19,5x</a:t>
                      </a:r>
                    </a:p>
                  </a:txBody>
                  <a:tcPr>
                    <a:solidFill>
                      <a:srgbClr val="F7F8FA"/>
                    </a:solidFill>
                  </a:tcPr>
                </a:tc>
                <a:tc>
                  <a:txBody>
                    <a:bodyPr/>
                    <a:lstStyle/>
                    <a:p>
                      <a:pPr algn="ctr"/>
                      <a:r>
                        <a:rPr sz="800" b="1" i="0">
                          <a:solidFill>
                            <a:srgbClr val="0D0D0D"/>
                          </a:solidFill>
                          <a:latin typeface="Calibri"/>
                        </a:rPr>
                        <a:t>6,8x</a:t>
                      </a:r>
                    </a:p>
                  </a:txBody>
                  <a:tcPr>
                    <a:solidFill>
                      <a:srgbClr val="F7F8FA"/>
                    </a:solidFill>
                  </a:tcPr>
                </a:tc>
                <a:tc>
                  <a:txBody>
                    <a:bodyPr/>
                    <a:lstStyle/>
                    <a:p>
                      <a:pPr algn="ctr"/>
                      <a:r>
                        <a:rPr sz="800" b="1" i="0">
                          <a:solidFill>
                            <a:srgbClr val="0D0D0D"/>
                          </a:solidFill>
                          <a:latin typeface="Calibri"/>
                        </a:rPr>
                        <a:t>35,2x</a:t>
                      </a:r>
                    </a:p>
                  </a:txBody>
                  <a:tcPr>
                    <a:solidFill>
                      <a:srgbClr val="F7F8FA"/>
                    </a:solidFill>
                  </a:tcPr>
                </a:tc>
                <a:tc>
                  <a:txBody>
                    <a:bodyPr/>
                    <a:lstStyle/>
                    <a:p>
                      <a:pPr algn="ctr"/>
                      <a:r>
                        <a:rPr sz="800" b="1" i="0">
                          <a:solidFill>
                            <a:srgbClr val="0D0D0D"/>
                          </a:solidFill>
                          <a:latin typeface="Calibri"/>
                        </a:rPr>
                        <a:t>74,5 %</a:t>
                      </a:r>
                    </a:p>
                  </a:txBody>
                  <a:tcPr>
                    <a:solidFill>
                      <a:srgbClr val="F7F8FA"/>
                    </a:solidFill>
                  </a:tcPr>
                </a:tc>
                <a:tc>
                  <a:txBody>
                    <a:bodyPr/>
                    <a:lstStyle/>
                    <a:p>
                      <a:pPr algn="ctr"/>
                      <a:r>
                        <a:rPr sz="800" b="1" i="0">
                          <a:solidFill>
                            <a:srgbClr val="0D0D0D"/>
                          </a:solidFill>
                          <a:latin typeface="Calibri"/>
                        </a:rPr>
                        <a:t>29,5 %</a:t>
                      </a:r>
                    </a:p>
                  </a:txBody>
                  <a:tcPr>
                    <a:solidFill>
                      <a:srgbClr val="F7F8FA"/>
                    </a:solidFill>
                  </a:tcPr>
                </a:tc>
              </a:tr>
            </a:tbl>
          </a:graphicData>
        </a:graphic>
      </p:graphicFrame>
      <p:sp>
        <p:nvSpPr>
          <p:cNvPr id="18" name="Rectangle 17"/>
          <p:cNvSpPr/>
          <p:nvPr/>
        </p:nvSpPr>
        <p:spPr>
          <a:xfrm>
            <a:off x="367200" y="3128400"/>
            <a:ext cx="8413200" cy="15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3128400"/>
            <a:ext cx="79200" cy="1548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75200" y="3157200"/>
            <a:ext cx="8298000" cy="151200"/>
          </a:xfrm>
          <a:prstGeom prst="rect">
            <a:avLst/>
          </a:prstGeom>
          <a:noFill/>
        </p:spPr>
        <p:txBody>
          <a:bodyPr wrap="none">
            <a:spAutoFit/>
          </a:bodyPr>
          <a:lstStyle/>
          <a:p>
            <a:pPr algn="l"/>
            <a:r>
              <a:rPr sz="950" b="1" i="0">
                <a:solidFill>
                  <a:srgbClr val="1B3A6B"/>
                </a:solidFill>
                <a:latin typeface="Calibri"/>
              </a:rPr>
              <a:t>MSFT — positionnément vs comparables sectoriels</a:t>
            </a:r>
          </a:p>
        </p:txBody>
      </p:sp>
      <p:sp>
        <p:nvSpPr>
          <p:cNvPr id="21" name="TextBox 20"/>
          <p:cNvSpPr txBox="1"/>
          <p:nvPr/>
        </p:nvSpPr>
        <p:spPr>
          <a:xfrm>
            <a:off x="475200" y="3326400"/>
            <a:ext cx="8298000" cy="1324800"/>
          </a:xfrm>
          <a:prstGeom prst="rect">
            <a:avLst/>
          </a:prstGeom>
          <a:noFill/>
        </p:spPr>
        <p:txBody>
          <a:bodyPr wrap="square">
            <a:spAutoFit/>
          </a:bodyPr>
          <a:lstStyle/>
          <a:p>
            <a:pPr algn="l"/>
            <a:r>
              <a:rPr sz="850" b="0" i="0">
                <a:solidFill>
                  <a:srgbClr val="555555"/>
                </a:solidFill>
                <a:latin typeface="Calibri"/>
              </a:rPr>
              <a:t>Microsoft affiche un P/E de 28.7x vs médiane peers 30x (-7%), justifié par une croissance CA 2025 de 14.9% vs 10% pour la médiane. EV/EBITDA à 18.3x vs 17.5x médiane (+5%) reflète sa prime de qualité (marges supérieures, leadership cloud). Une convergence vers la médiane impliquerait un upside de 5-8% sur les multiples. Marge brute passée de 68.4% (2022) à 68.8% (2025) malgré inflation des coûts cloud, grâce à l'effet volume et mix produit (Azure +30pts contribution). EBITDA margin a progressé de 50.6% à 56.9% sur la période, reflétant l'amélioration de l'efficacité opérationnelle et la scalabilité du modèle SaaS. La durabilité du pricing power est confirmée par des contrats long terme (&gt;3 ans) à tarifs indexés inflation. Valorisation à 28.7x P/E vs médiane sectorielle 30x, soit une décote de 4%. EV/EBITDA à 18.3x justifiée par croissance supérieure et qualité des actifs.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Football Field Chart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Synthèse des méthodes de valorisation  ·  USD par action</a:t>
            </a:r>
          </a:p>
        </p:txBody>
      </p:sp>
      <p:pic>
        <p:nvPicPr>
          <p:cNvPr id="17" name="Picture 16" descr="image.png"/>
          <p:cNvPicPr>
            <a:picLocks noChangeAspect="1"/>
          </p:cNvPicPr>
          <p:nvPr/>
        </p:nvPicPr>
        <p:blipFill>
          <a:blip r:embed="rId2"/>
          <a:stretch>
            <a:fillRect/>
          </a:stretch>
        </p:blipFill>
        <p:spPr>
          <a:xfrm>
            <a:off x="367200" y="914400"/>
            <a:ext cx="8413200" cy="2448000"/>
          </a:xfrm>
          <a:prstGeom prst="rect">
            <a:avLst/>
          </a:prstGeom>
        </p:spPr>
      </p:pic>
      <p:sp>
        <p:nvSpPr>
          <p:cNvPr id="18" name="Rectangle 17"/>
          <p:cNvSpPr/>
          <p:nvPr/>
        </p:nvSpPr>
        <p:spPr>
          <a:xfrm>
            <a:off x="367200" y="3488400"/>
            <a:ext cx="8413200" cy="12816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3488400"/>
            <a:ext cx="79200" cy="1281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75200" y="3517200"/>
            <a:ext cx="8298000" cy="151200"/>
          </a:xfrm>
          <a:prstGeom prst="rect">
            <a:avLst/>
          </a:prstGeom>
          <a:noFill/>
        </p:spPr>
        <p:txBody>
          <a:bodyPr wrap="none">
            <a:spAutoFit/>
          </a:bodyPr>
          <a:lstStyle/>
          <a:p>
            <a:pPr algn="l"/>
            <a:r>
              <a:rPr sz="950" b="1" i="0">
                <a:solidFill>
                  <a:srgbClr val="1B3A6B"/>
                </a:solidFill>
                <a:latin typeface="Calibri"/>
              </a:rPr>
              <a:t>MSFT — football field et fourchette de valorisation</a:t>
            </a:r>
          </a:p>
        </p:txBody>
      </p:sp>
      <p:sp>
        <p:nvSpPr>
          <p:cNvPr id="21" name="TextBox 20"/>
          <p:cNvSpPr txBox="1"/>
          <p:nvPr/>
        </p:nvSpPr>
        <p:spPr>
          <a:xfrm>
            <a:off x="475200" y="3686400"/>
            <a:ext cx="8298000" cy="1058400"/>
          </a:xfrm>
          <a:prstGeom prst="rect">
            <a:avLst/>
          </a:prstGeom>
          <a:noFill/>
        </p:spPr>
        <p:txBody>
          <a:bodyPr wrap="square">
            <a:spAutoFit/>
          </a:bodyPr>
          <a:lstStyle/>
          <a:p>
            <a:pPr algn="l"/>
            <a:r>
              <a:rPr sz="850" b="0" i="0">
                <a:solidFill>
                  <a:srgbClr val="555555"/>
                </a:solidFill>
                <a:latin typeface="Calibri"/>
              </a:rPr>
              <a:t>WACC 10.3% et TGR 3.0% impliquent un prix DCF implicite de 425$ (+8% vs cours). L'upside reflète une sous-valorisation structurelle liée à la qualité des flux récurrents et à la résilience face aux cycles économiques. Un catalyseur clé serait une accélération des revenus IA (Copilot) au-delà des attentes. Valorisation à 28.7x P/E vs médiane sectorielle 30x, soit une décote de 4%. EV/EBITDA à 18.3x justifiée par croissance supérieure et qualité des actifs.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Multiples de Valorisation Historiques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MSFT · P/E &amp; EV/EBITDA sur 5 ans · Standards marché</a:t>
            </a:r>
          </a:p>
        </p:txBody>
      </p:sp>
      <p:pic>
        <p:nvPicPr>
          <p:cNvPr id="17" name="Picture 16" descr="image.png"/>
          <p:cNvPicPr>
            <a:picLocks noChangeAspect="1"/>
          </p:cNvPicPr>
          <p:nvPr/>
        </p:nvPicPr>
        <p:blipFill>
          <a:blip r:embed="rId2"/>
          <a:stretch>
            <a:fillRect/>
          </a:stretch>
        </p:blipFill>
        <p:spPr>
          <a:xfrm>
            <a:off x="367200" y="864000"/>
            <a:ext cx="5688000" cy="2520000"/>
          </a:xfrm>
          <a:prstGeom prst="rect">
            <a:avLst/>
          </a:prstGeom>
        </p:spPr>
      </p:pic>
      <p:sp>
        <p:nvSpPr>
          <p:cNvPr id="18" name="TextBox 17"/>
          <p:cNvSpPr txBox="1"/>
          <p:nvPr/>
        </p:nvSpPr>
        <p:spPr>
          <a:xfrm>
            <a:off x="6192000" y="864000"/>
            <a:ext cx="2592000" cy="180000"/>
          </a:xfrm>
          <a:prstGeom prst="rect">
            <a:avLst/>
          </a:prstGeom>
          <a:noFill/>
        </p:spPr>
        <p:txBody>
          <a:bodyPr wrap="square">
            <a:spAutoFit/>
          </a:bodyPr>
          <a:lstStyle/>
          <a:p>
            <a:pPr algn="l"/>
            <a:r>
              <a:rPr sz="800" b="1" i="0">
                <a:solidFill>
                  <a:srgbClr val="1B3A6B"/>
                </a:solidFill>
                <a:latin typeface="Calibri"/>
              </a:rPr>
              <a:t>SYNTHÈSE DES MULTIPLES</a:t>
            </a:r>
          </a:p>
        </p:txBody>
      </p:sp>
      <p:graphicFrame>
        <p:nvGraphicFramePr>
          <p:cNvPr id="19" name="Table 18"/>
          <p:cNvGraphicFramePr>
            <a:graphicFrameLocks noGrp="1"/>
          </p:cNvGraphicFramePr>
          <p:nvPr/>
        </p:nvGraphicFramePr>
        <p:xfrm>
          <a:off x="6192000" y="1098000"/>
          <a:ext cx="2592000" cy="1008000"/>
        </p:xfrm>
        <a:graphic>
          <a:graphicData uri="http://schemas.openxmlformats.org/drawingml/2006/table">
            <a:tbl>
              <a:tblPr firstRow="1" bandRow="1">
                <a:tableStyleId>{5C22544A-7EE6-4342-B048-85BDC9FD1C3A}</a:tableStyleId>
              </a:tblPr>
              <a:tblGrid>
                <a:gridCol w="777600"/>
                <a:gridCol w="570240"/>
                <a:gridCol w="673920"/>
                <a:gridCol w="570240"/>
              </a:tblGrid>
              <a:tr h="201600">
                <a:tc>
                  <a:txBody>
                    <a:bodyPr/>
                    <a:lstStyle/>
                    <a:p>
                      <a:pPr algn="l"/>
                      <a:r>
                        <a:rPr sz="800" b="1" i="0">
                          <a:solidFill>
                            <a:srgbClr val="FFFFFF"/>
                          </a:solidFill>
                          <a:latin typeface="Calibri"/>
                        </a:rPr>
                        <a:t>Année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EV/EB</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P/B</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40,1x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29,5x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17,5x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40,3x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27,9x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14,2x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33,1x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22,2x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10,9x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28,7x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18,3x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8,5x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0" name="Rectangle 19"/>
          <p:cNvSpPr/>
          <p:nvPr/>
        </p:nvSpPr>
        <p:spPr>
          <a:xfrm>
            <a:off x="367200" y="3600000"/>
            <a:ext cx="8413200" cy="111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67200" y="3600000"/>
            <a:ext cx="79200" cy="1116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5200" y="3628800"/>
            <a:ext cx="8298000" cy="151200"/>
          </a:xfrm>
          <a:prstGeom prst="rect">
            <a:avLst/>
          </a:prstGeom>
          <a:noFill/>
        </p:spPr>
        <p:txBody>
          <a:bodyPr wrap="none">
            <a:spAutoFit/>
          </a:bodyPr>
          <a:lstStyle/>
          <a:p>
            <a:pPr algn="l"/>
            <a:r>
              <a:rPr sz="950" b="1" i="0">
                <a:solidFill>
                  <a:srgbClr val="1B3A6B"/>
                </a:solidFill>
                <a:latin typeface="Calibri"/>
              </a:rPr>
              <a:t>MSFT génère ROE 30% / ROIC 30% — création de valeur premium</a:t>
            </a:r>
          </a:p>
        </p:txBody>
      </p:sp>
      <p:sp>
        <p:nvSpPr>
          <p:cNvPr id="23" name="TextBox 22"/>
          <p:cNvSpPr txBox="1"/>
          <p:nvPr/>
        </p:nvSpPr>
        <p:spPr>
          <a:xfrm>
            <a:off x="475200" y="3798000"/>
            <a:ext cx="8298000" cy="892800"/>
          </a:xfrm>
          <a:prstGeom prst="rect">
            <a:avLst/>
          </a:prstGeom>
          <a:noFill/>
        </p:spPr>
        <p:txBody>
          <a:bodyPr wrap="square">
            <a:spAutoFit/>
          </a:bodyPr>
          <a:lstStyle/>
          <a:p>
            <a:pPr algn="l"/>
            <a:r>
              <a:rPr sz="850" b="0" i="0">
                <a:solidFill>
                  <a:srgbClr val="555555"/>
                </a:solidFill>
                <a:latin typeface="Calibri"/>
              </a:rPr>
              <a:t>Le P/E affiche une compression multiple de 11.5x sur la période (40,1x → 28,7x), signal d’une réévaluation négative du profil de croissance. L’EV/EBITDA diverge à 18,3x vs 29,5x historique. CA 2025 de 281.7Mds$ (+14.9% YoY) porté par Azure (+25%) et Office 365. Levier opérationnel de +6.3pts sur la marge nette (36.1%) grâce au mix logiciel cloud haute marge. FCF libre estimé à 75Mds$ (ND/EBITDA 0.1x) permettant rachats d'actions ou acquisitions ciblées.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Capital Returns &amp; Free Cash Flow</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MSFT · FCF yield, dividendes &amp; allocation du capital</a:t>
            </a:r>
          </a:p>
        </p:txBody>
      </p:sp>
      <p:sp>
        <p:nvSpPr>
          <p:cNvPr id="17" name="Rectangle 16"/>
          <p:cNvSpPr/>
          <p:nvPr/>
        </p:nvSpPr>
        <p:spPr>
          <a:xfrm>
            <a:off x="367200" y="824400"/>
            <a:ext cx="2015999" cy="5472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824400"/>
            <a:ext cx="64800" cy="5472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0800" y="871200"/>
            <a:ext cx="1900799" cy="234000"/>
          </a:xfrm>
          <a:prstGeom prst="rect">
            <a:avLst/>
          </a:prstGeom>
          <a:noFill/>
        </p:spPr>
        <p:txBody>
          <a:bodyPr wrap="square">
            <a:spAutoFit/>
          </a:bodyPr>
          <a:lstStyle/>
          <a:p>
            <a:pPr algn="l"/>
            <a:r>
              <a:rPr sz="1600" b="1" i="0">
                <a:solidFill>
                  <a:srgbClr val="1B3A6B"/>
                </a:solidFill>
                <a:latin typeface="Calibri"/>
              </a:rPr>
              <a:t>2,5 %</a:t>
            </a:r>
          </a:p>
        </p:txBody>
      </p:sp>
      <p:sp>
        <p:nvSpPr>
          <p:cNvPr id="20" name="TextBox 19"/>
          <p:cNvSpPr txBox="1"/>
          <p:nvPr/>
        </p:nvSpPr>
        <p:spPr>
          <a:xfrm>
            <a:off x="460800" y="1098000"/>
            <a:ext cx="1900799" cy="234000"/>
          </a:xfrm>
          <a:prstGeom prst="rect">
            <a:avLst/>
          </a:prstGeom>
          <a:noFill/>
        </p:spPr>
        <p:txBody>
          <a:bodyPr wrap="square">
            <a:spAutoFit/>
          </a:bodyPr>
          <a:lstStyle/>
          <a:p>
            <a:pPr algn="l"/>
            <a:r>
              <a:rPr sz="800" b="0" i="0">
                <a:solidFill>
                  <a:srgbClr val="555555"/>
                </a:solidFill>
                <a:latin typeface="Calibri"/>
              </a:rPr>
              <a:t>FCF Yield</a:t>
            </a:r>
          </a:p>
        </p:txBody>
      </p:sp>
      <p:sp>
        <p:nvSpPr>
          <p:cNvPr id="21" name="Rectangle 20"/>
          <p:cNvSpPr/>
          <p:nvPr/>
        </p:nvSpPr>
        <p:spPr>
          <a:xfrm>
            <a:off x="2447999" y="824400"/>
            <a:ext cx="2015999" cy="5472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447999" y="824400"/>
            <a:ext cx="64800" cy="5472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41599" y="871200"/>
            <a:ext cx="1900799" cy="234000"/>
          </a:xfrm>
          <a:prstGeom prst="rect">
            <a:avLst/>
          </a:prstGeom>
          <a:noFill/>
        </p:spPr>
        <p:txBody>
          <a:bodyPr wrap="square">
            <a:spAutoFit/>
          </a:bodyPr>
          <a:lstStyle/>
          <a:p>
            <a:pPr algn="l"/>
            <a:r>
              <a:rPr sz="1600" b="1" i="0">
                <a:solidFill>
                  <a:srgbClr val="1B3A6B"/>
                </a:solidFill>
                <a:latin typeface="Calibri"/>
              </a:rPr>
              <a:t>71,4 Mds$</a:t>
            </a:r>
          </a:p>
        </p:txBody>
      </p:sp>
      <p:sp>
        <p:nvSpPr>
          <p:cNvPr id="24" name="TextBox 23"/>
          <p:cNvSpPr txBox="1"/>
          <p:nvPr/>
        </p:nvSpPr>
        <p:spPr>
          <a:xfrm>
            <a:off x="2541599" y="1098000"/>
            <a:ext cx="1900799" cy="234000"/>
          </a:xfrm>
          <a:prstGeom prst="rect">
            <a:avLst/>
          </a:prstGeom>
          <a:noFill/>
        </p:spPr>
        <p:txBody>
          <a:bodyPr wrap="square">
            <a:spAutoFit/>
          </a:bodyPr>
          <a:lstStyle/>
          <a:p>
            <a:pPr algn="l"/>
            <a:r>
              <a:rPr sz="800" b="0" i="0">
                <a:solidFill>
                  <a:srgbClr val="555555"/>
                </a:solidFill>
                <a:latin typeface="Calibri"/>
              </a:rPr>
              <a:t>FCF (LTM)</a:t>
            </a:r>
          </a:p>
        </p:txBody>
      </p:sp>
      <p:sp>
        <p:nvSpPr>
          <p:cNvPr id="25" name="Rectangle 24"/>
          <p:cNvSpPr/>
          <p:nvPr/>
        </p:nvSpPr>
        <p:spPr>
          <a:xfrm>
            <a:off x="4528799" y="824400"/>
            <a:ext cx="2015999" cy="5472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528799" y="824400"/>
            <a:ext cx="64800" cy="5472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22399" y="871200"/>
            <a:ext cx="1900799" cy="234000"/>
          </a:xfrm>
          <a:prstGeom prst="rect">
            <a:avLst/>
          </a:prstGeom>
          <a:noFill/>
        </p:spPr>
        <p:txBody>
          <a:bodyPr wrap="square">
            <a:spAutoFit/>
          </a:bodyPr>
          <a:lstStyle/>
          <a:p>
            <a:pPr algn="l"/>
            <a:r>
              <a:rPr sz="1600" b="1" i="0">
                <a:solidFill>
                  <a:srgbClr val="1B3A6B"/>
                </a:solidFill>
                <a:latin typeface="Calibri"/>
              </a:rPr>
              <a:t>22,9 %</a:t>
            </a:r>
          </a:p>
        </p:txBody>
      </p:sp>
      <p:sp>
        <p:nvSpPr>
          <p:cNvPr id="28" name="TextBox 27"/>
          <p:cNvSpPr txBox="1"/>
          <p:nvPr/>
        </p:nvSpPr>
        <p:spPr>
          <a:xfrm>
            <a:off x="4622399" y="1098000"/>
            <a:ext cx="1900799" cy="234000"/>
          </a:xfrm>
          <a:prstGeom prst="rect">
            <a:avLst/>
          </a:prstGeom>
          <a:noFill/>
        </p:spPr>
        <p:txBody>
          <a:bodyPr wrap="square">
            <a:spAutoFit/>
          </a:bodyPr>
          <a:lstStyle/>
          <a:p>
            <a:pPr algn="l"/>
            <a:r>
              <a:rPr sz="800" b="0" i="0">
                <a:solidFill>
                  <a:srgbClr val="555555"/>
                </a:solidFill>
                <a:latin typeface="Calibri"/>
              </a:rPr>
              <a:t>Capex / Rev</a:t>
            </a:r>
          </a:p>
        </p:txBody>
      </p:sp>
      <p:sp>
        <p:nvSpPr>
          <p:cNvPr id="29" name="Rectangle 28"/>
          <p:cNvSpPr/>
          <p:nvPr/>
        </p:nvSpPr>
        <p:spPr>
          <a:xfrm>
            <a:off x="6609599" y="824400"/>
            <a:ext cx="2015999" cy="5472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609599" y="824400"/>
            <a:ext cx="64800" cy="5472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703199" y="871200"/>
            <a:ext cx="1900799" cy="234000"/>
          </a:xfrm>
          <a:prstGeom prst="rect">
            <a:avLst/>
          </a:prstGeom>
          <a:noFill/>
        </p:spPr>
        <p:txBody>
          <a:bodyPr wrap="square">
            <a:spAutoFit/>
          </a:bodyPr>
          <a:lstStyle/>
          <a:p>
            <a:pPr algn="l"/>
            <a:r>
              <a:rPr sz="1600" b="1" i="0">
                <a:solidFill>
                  <a:srgbClr val="1B3A6B"/>
                </a:solidFill>
                <a:latin typeface="Calibri"/>
              </a:rPr>
              <a:t>18,1 %</a:t>
            </a:r>
          </a:p>
        </p:txBody>
      </p:sp>
      <p:sp>
        <p:nvSpPr>
          <p:cNvPr id="32" name="TextBox 31"/>
          <p:cNvSpPr txBox="1"/>
          <p:nvPr/>
        </p:nvSpPr>
        <p:spPr>
          <a:xfrm>
            <a:off x="6703199" y="1098000"/>
            <a:ext cx="1900799" cy="234000"/>
          </a:xfrm>
          <a:prstGeom prst="rect">
            <a:avLst/>
          </a:prstGeom>
          <a:noFill/>
        </p:spPr>
        <p:txBody>
          <a:bodyPr wrap="square">
            <a:spAutoFit/>
          </a:bodyPr>
          <a:lstStyle/>
          <a:p>
            <a:pPr algn="l"/>
            <a:r>
              <a:rPr sz="800" b="0" i="0">
                <a:solidFill>
                  <a:srgbClr val="555555"/>
                </a:solidFill>
                <a:latin typeface="Calibri"/>
              </a:rPr>
              <a:t>Div. Payout</a:t>
            </a:r>
          </a:p>
        </p:txBody>
      </p:sp>
      <p:pic>
        <p:nvPicPr>
          <p:cNvPr id="33" name="Picture 32" descr="image.png"/>
          <p:cNvPicPr>
            <a:picLocks noChangeAspect="1"/>
          </p:cNvPicPr>
          <p:nvPr/>
        </p:nvPicPr>
        <p:blipFill>
          <a:blip r:embed="rId2"/>
          <a:stretch>
            <a:fillRect/>
          </a:stretch>
        </p:blipFill>
        <p:spPr>
          <a:xfrm>
            <a:off x="367200" y="1512000"/>
            <a:ext cx="5220000" cy="2088000"/>
          </a:xfrm>
          <a:prstGeom prst="rect">
            <a:avLst/>
          </a:prstGeom>
        </p:spPr>
      </p:pic>
      <p:sp>
        <p:nvSpPr>
          <p:cNvPr id="34" name="TextBox 33"/>
          <p:cNvSpPr txBox="1"/>
          <p:nvPr/>
        </p:nvSpPr>
        <p:spPr>
          <a:xfrm>
            <a:off x="5832000" y="1512000"/>
            <a:ext cx="2951999" cy="180000"/>
          </a:xfrm>
          <a:prstGeom prst="rect">
            <a:avLst/>
          </a:prstGeom>
          <a:noFill/>
        </p:spPr>
        <p:txBody>
          <a:bodyPr wrap="square">
            <a:spAutoFit/>
          </a:bodyPr>
          <a:lstStyle/>
          <a:p>
            <a:pPr algn="l"/>
            <a:r>
              <a:rPr sz="800" b="1" i="0">
                <a:solidFill>
                  <a:srgbClr val="1B3A6B"/>
                </a:solidFill>
                <a:latin typeface="Calibri"/>
              </a:rPr>
              <a:t>ALLOCATION DU CAPITAL</a:t>
            </a:r>
          </a:p>
        </p:txBody>
      </p:sp>
      <p:graphicFrame>
        <p:nvGraphicFramePr>
          <p:cNvPr id="35" name="Table 34"/>
          <p:cNvGraphicFramePr>
            <a:graphicFrameLocks noGrp="1"/>
          </p:cNvGraphicFramePr>
          <p:nvPr/>
        </p:nvGraphicFramePr>
        <p:xfrm>
          <a:off x="5832000" y="1745999"/>
          <a:ext cx="2951995" cy="1008000"/>
        </p:xfrm>
        <a:graphic>
          <a:graphicData uri="http://schemas.openxmlformats.org/drawingml/2006/table">
            <a:tbl>
              <a:tblPr firstRow="1" bandRow="1">
                <a:tableStyleId>{5C22544A-7EE6-4342-B048-85BDC9FD1C3A}</a:tableStyleId>
              </a:tblPr>
              <a:tblGrid>
                <a:gridCol w="649439"/>
                <a:gridCol w="590399"/>
                <a:gridCol w="560879"/>
                <a:gridCol w="560879"/>
                <a:gridCol w="590399"/>
              </a:tblGrid>
              <a:tr h="201600">
                <a:tc>
                  <a:txBody>
                    <a:bodyPr/>
                    <a:lstStyle/>
                    <a:p>
                      <a:pPr algn="l"/>
                      <a:r>
                        <a:rPr sz="800" b="1" i="0">
                          <a:solidFill>
                            <a:srgbClr val="FFFFFF"/>
                          </a:solidFill>
                          <a:latin typeface="Calibri"/>
                        </a:rPr>
                        <a:t>Ann.</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FCF</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Yield</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Div%</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Capex%</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63,3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2,2 %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45,0 %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12,0 %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58,1 Mds$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30,7 %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13,3 %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65,9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2,3 %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19,6 %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18,1 %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71,4 Mds$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18,1 %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22,9 %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36" name="Rectangle 35"/>
          <p:cNvSpPr/>
          <p:nvPr/>
        </p:nvSpPr>
        <p:spPr>
          <a:xfrm>
            <a:off x="367200" y="3708000"/>
            <a:ext cx="8413200" cy="1007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367200" y="3708000"/>
            <a:ext cx="79200" cy="1007999"/>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75200" y="3736800"/>
            <a:ext cx="8298000" cy="151200"/>
          </a:xfrm>
          <a:prstGeom prst="rect">
            <a:avLst/>
          </a:prstGeom>
          <a:noFill/>
        </p:spPr>
        <p:txBody>
          <a:bodyPr wrap="none">
            <a:spAutoFit/>
          </a:bodyPr>
          <a:lstStyle/>
          <a:p>
            <a:pPr algn="l"/>
            <a:r>
              <a:rPr sz="950" b="1" i="0">
                <a:solidFill>
                  <a:srgbClr val="1B3A6B"/>
                </a:solidFill>
                <a:latin typeface="Calibri"/>
              </a:rPr>
              <a:t>MSFT — politique de retour au capital actionnaire</a:t>
            </a:r>
          </a:p>
        </p:txBody>
      </p:sp>
      <p:sp>
        <p:nvSpPr>
          <p:cNvPr id="39" name="TextBox 38"/>
          <p:cNvSpPr txBox="1"/>
          <p:nvPr/>
        </p:nvSpPr>
        <p:spPr>
          <a:xfrm>
            <a:off x="475200" y="3906000"/>
            <a:ext cx="8298000" cy="784799"/>
          </a:xfrm>
          <a:prstGeom prst="rect">
            <a:avLst/>
          </a:prstGeom>
          <a:noFill/>
        </p:spPr>
        <p:txBody>
          <a:bodyPr wrap="square">
            <a:spAutoFit/>
          </a:bodyPr>
          <a:lstStyle/>
          <a:p>
            <a:pPr algn="l"/>
            <a:r>
              <a:rPr sz="850" b="0" i="0">
                <a:solidFill>
                  <a:srgbClr val="555555"/>
                </a:solidFill>
                <a:latin typeface="Calibri"/>
              </a:rPr>
              <a:t>Le FCF affiche une croissance de 8,1 Mds$ sur la période, avec un FCF yield actuel de 2,5 % — à surveiller au regard de la valorisation de marché. L’allocation vers les dividendes est maintenue malgré la pression sur les marges. CA 2025 de 281.7Mds$ (+14.9% YoY) porté par Azure (+25%) et Office 365. Levier opérationnel de +6.3pts sur la marge nette (36.1%) grâce au mix logiciel cloud haute marge. FCF libre estimé à 75Mds$ (ND/EBITDA 0.1x) permettant rachats d'actions ou acquisitions ciblées.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Modèle LBO — Cadre du Deal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Microsoft Corporation (MSFT)  ·  Sources &amp; Uses, hypothèses et éligibilité</a:t>
            </a:r>
          </a:p>
        </p:txBody>
      </p:sp>
      <p:sp>
        <p:nvSpPr>
          <p:cNvPr id="17" name="Rectangle 16"/>
          <p:cNvSpPr/>
          <p:nvPr/>
        </p:nvSpPr>
        <p:spPr>
          <a:xfrm>
            <a:off x="367200" y="882000"/>
            <a:ext cx="8413200" cy="432000"/>
          </a:xfrm>
          <a:prstGeom prst="rect">
            <a:avLst/>
          </a:prstGeom>
          <a:solidFill>
            <a:srgbClr val="FA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882000"/>
            <a:ext cx="72000" cy="432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917999"/>
            <a:ext cx="7920000" cy="198000"/>
          </a:xfrm>
          <a:prstGeom prst="rect">
            <a:avLst/>
          </a:prstGeom>
          <a:noFill/>
        </p:spPr>
        <p:txBody>
          <a:bodyPr wrap="square">
            <a:spAutoFit/>
          </a:bodyPr>
          <a:lstStyle/>
          <a:p>
            <a:pPr algn="l"/>
            <a:r>
              <a:rPr sz="1300" b="1" i="0">
                <a:solidFill>
                  <a:srgbClr val="A82020"/>
                </a:solidFill>
                <a:latin typeface="Calibri"/>
              </a:rPr>
              <a:t>✗ PROFIL NON ÉLIGIBLE</a:t>
            </a:r>
          </a:p>
        </p:txBody>
      </p:sp>
      <p:sp>
        <p:nvSpPr>
          <p:cNvPr id="20" name="TextBox 19"/>
          <p:cNvSpPr txBox="1"/>
          <p:nvPr/>
        </p:nvSpPr>
        <p:spPr>
          <a:xfrm>
            <a:off x="503999" y="1116000"/>
            <a:ext cx="7920000" cy="180000"/>
          </a:xfrm>
          <a:prstGeom prst="rect">
            <a:avLst/>
          </a:prstGeom>
          <a:noFill/>
        </p:spPr>
        <p:txBody>
          <a:bodyPr wrap="square">
            <a:spAutoFit/>
          </a:bodyPr>
          <a:lstStyle/>
          <a:p>
            <a:pPr algn="l"/>
            <a:r>
              <a:rPr sz="900" b="0" i="0">
                <a:solidFill>
                  <a:srgbClr val="2E5FA3"/>
                </a:solidFill>
                <a:latin typeface="Calibri"/>
              </a:rPr>
              <a:t>Critères non satisfaits — analyse à titre théorique</a:t>
            </a:r>
          </a:p>
        </p:txBody>
      </p:sp>
      <p:sp>
        <p:nvSpPr>
          <p:cNvPr id="21" name="Rectangle 20"/>
          <p:cNvSpPr/>
          <p:nvPr/>
        </p:nvSpPr>
        <p:spPr>
          <a:xfrm>
            <a:off x="367200" y="1440000"/>
            <a:ext cx="4104000" cy="1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32000" y="1475999"/>
            <a:ext cx="3974399" cy="136800"/>
          </a:xfrm>
          <a:prstGeom prst="rect">
            <a:avLst/>
          </a:prstGeom>
          <a:noFill/>
        </p:spPr>
        <p:txBody>
          <a:bodyPr wrap="none">
            <a:spAutoFit/>
          </a:bodyPr>
          <a:lstStyle/>
          <a:p>
            <a:pPr algn="ctr"/>
            <a:r>
              <a:rPr sz="950" b="1" i="0">
                <a:solidFill>
                  <a:srgbClr val="FFFFFF"/>
                </a:solidFill>
                <a:latin typeface="Calibri"/>
              </a:rPr>
              <a:t>SOURCES (financement)</a:t>
            </a:r>
          </a:p>
        </p:txBody>
      </p:sp>
      <p:graphicFrame>
        <p:nvGraphicFramePr>
          <p:cNvPr id="23" name="Table 22"/>
          <p:cNvGraphicFramePr>
            <a:graphicFrameLocks noGrp="1"/>
          </p:cNvGraphicFramePr>
          <p:nvPr/>
        </p:nvGraphicFramePr>
        <p:xfrm>
          <a:off x="367200" y="1663200"/>
          <a:ext cx="4104000" cy="1080000"/>
        </p:xfrm>
        <a:graphic>
          <a:graphicData uri="http://schemas.openxmlformats.org/drawingml/2006/table">
            <a:tbl>
              <a:tblPr firstRow="1" bandRow="1">
                <a:tableStyleId>{5C22544A-7EE6-4342-B048-85BDC9FD1C3A}</a:tableStyleId>
              </a:tblPr>
              <a:tblGrid>
                <a:gridCol w="2052000"/>
                <a:gridCol w="1231200"/>
                <a:gridCol w="820800"/>
              </a:tblGrid>
              <a:tr h="270000">
                <a:tc>
                  <a:txBody>
                    <a:bodyPr/>
                    <a:lstStyle/>
                    <a:p>
                      <a:pPr algn="l"/>
                      <a:r>
                        <a:rPr sz="800" b="0" i="0">
                          <a:solidFill>
                            <a:srgbClr val="0D0D0D"/>
                          </a:solidFill>
                          <a:latin typeface="Calibri"/>
                        </a:rPr>
                        <a:t>Sponsor Equity</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1 609,7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66.8 %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70000">
                <a:tc>
                  <a:txBody>
                    <a:bodyPr/>
                    <a:lstStyle/>
                    <a:p>
                      <a:pPr algn="l"/>
                      <a:r>
                        <a:rPr sz="800" b="0" i="0">
                          <a:solidFill>
                            <a:srgbClr val="0D0D0D"/>
                          </a:solidFill>
                          <a:latin typeface="Calibri"/>
                        </a:rPr>
                        <a:t>Senior Term Loan B</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560,6 Mds$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23.3 %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70000">
                <a:tc>
                  <a:txBody>
                    <a:bodyPr/>
                    <a:lstStyle/>
                    <a:p>
                      <a:pPr algn="l"/>
                      <a:r>
                        <a:rPr sz="800" b="0" i="0">
                          <a:solidFill>
                            <a:srgbClr val="0D0D0D"/>
                          </a:solidFill>
                          <a:latin typeface="Calibri"/>
                        </a:rPr>
                        <a:t>Mezzanine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240,2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70000">
                <a:tc>
                  <a:txBody>
                    <a:bodyPr/>
                    <a:lstStyle/>
                    <a:p>
                      <a:pPr algn="l"/>
                      <a:r>
                        <a:rPr sz="800" b="0" i="0">
                          <a:solidFill>
                            <a:srgbClr val="0D0D0D"/>
                          </a:solidFill>
                          <a:latin typeface="Calibri"/>
                        </a:rPr>
                        <a:t>TOTAL SOURCES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2 410,5 Mds$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100,0 %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4" name="Rectangle 23"/>
          <p:cNvSpPr/>
          <p:nvPr/>
        </p:nvSpPr>
        <p:spPr>
          <a:xfrm>
            <a:off x="4658400" y="1440000"/>
            <a:ext cx="4125600" cy="1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723200" y="1475999"/>
            <a:ext cx="3996000" cy="136800"/>
          </a:xfrm>
          <a:prstGeom prst="rect">
            <a:avLst/>
          </a:prstGeom>
          <a:noFill/>
        </p:spPr>
        <p:txBody>
          <a:bodyPr wrap="none">
            <a:spAutoFit/>
          </a:bodyPr>
          <a:lstStyle/>
          <a:p>
            <a:pPr algn="ctr"/>
            <a:r>
              <a:rPr sz="950" b="1" i="0">
                <a:solidFill>
                  <a:srgbClr val="FFFFFF"/>
                </a:solidFill>
                <a:latin typeface="Calibri"/>
              </a:rPr>
              <a:t>USES (utilisation)</a:t>
            </a:r>
          </a:p>
        </p:txBody>
      </p:sp>
      <p:graphicFrame>
        <p:nvGraphicFramePr>
          <p:cNvPr id="26" name="Table 25"/>
          <p:cNvGraphicFramePr>
            <a:graphicFrameLocks noGrp="1"/>
          </p:cNvGraphicFramePr>
          <p:nvPr/>
        </p:nvGraphicFramePr>
        <p:xfrm>
          <a:off x="4658400" y="1663200"/>
          <a:ext cx="4125600" cy="1260000"/>
        </p:xfrm>
        <a:graphic>
          <a:graphicData uri="http://schemas.openxmlformats.org/drawingml/2006/table">
            <a:tbl>
              <a:tblPr firstRow="1" bandRow="1">
                <a:tableStyleId>{5C22544A-7EE6-4342-B048-85BDC9FD1C3A}</a:tableStyleId>
              </a:tblPr>
              <a:tblGrid>
                <a:gridCol w="2681640"/>
                <a:gridCol w="1443960"/>
              </a:tblGrid>
              <a:tr h="252000">
                <a:tc>
                  <a:txBody>
                    <a:bodyPr/>
                    <a:lstStyle/>
                    <a:p>
                      <a:pPr algn="l"/>
                      <a:r>
                        <a:rPr sz="800" b="0" i="0">
                          <a:solidFill>
                            <a:srgbClr val="0D0D0D"/>
                          </a:solidFill>
                          <a:latin typeface="Calibri"/>
                        </a:rPr>
                        <a:t>Purchase price equity</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2 229,4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52000">
                <a:tc>
                  <a:txBody>
                    <a:bodyPr/>
                    <a:lstStyle/>
                    <a:p>
                      <a:pPr algn="l"/>
                      <a:r>
                        <a:rPr sz="800" b="0" i="0">
                          <a:solidFill>
                            <a:srgbClr val="0D0D0D"/>
                          </a:solidFill>
                          <a:latin typeface="Calibri"/>
                        </a:rPr>
                        <a:t>Refinancement dette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12,9 Mds$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52000">
                <a:tc>
                  <a:txBody>
                    <a:bodyPr/>
                    <a:lstStyle/>
                    <a:p>
                      <a:pPr algn="l"/>
                      <a:r>
                        <a:rPr sz="800" b="0" i="0">
                          <a:solidFill>
                            <a:srgbClr val="0D0D0D"/>
                          </a:solidFill>
                          <a:latin typeface="Calibri"/>
                        </a:rPr>
                        <a:t>Transaction fees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56,1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52000">
                <a:tc>
                  <a:txBody>
                    <a:bodyPr/>
                    <a:lstStyle/>
                    <a:p>
                      <a:pPr algn="l"/>
                      <a:r>
                        <a:rPr sz="800" b="0" i="0">
                          <a:solidFill>
                            <a:srgbClr val="0D0D0D"/>
                          </a:solidFill>
                          <a:latin typeface="Calibri"/>
                        </a:rPr>
                        <a:t>Cash minimum BS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112,1 Mds$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52000">
                <a:tc>
                  <a:txBody>
                    <a:bodyPr/>
                    <a:lstStyle/>
                    <a:p>
                      <a:pPr algn="l"/>
                      <a:r>
                        <a:rPr sz="800" b="0" i="0">
                          <a:solidFill>
                            <a:srgbClr val="0D0D0D"/>
                          </a:solidFill>
                          <a:latin typeface="Calibri"/>
                        </a:rPr>
                        <a:t>TOTAL USES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2 410,5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7" name="Rectangle 26"/>
          <p:cNvSpPr/>
          <p:nvPr/>
        </p:nvSpPr>
        <p:spPr>
          <a:xfrm>
            <a:off x="367200" y="3131999"/>
            <a:ext cx="8413200" cy="163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67200" y="3131999"/>
            <a:ext cx="79200" cy="1638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75200" y="3160800"/>
            <a:ext cx="8298000" cy="151200"/>
          </a:xfrm>
          <a:prstGeom prst="rect">
            <a:avLst/>
          </a:prstGeom>
          <a:noFill/>
        </p:spPr>
        <p:txBody>
          <a:bodyPr wrap="none">
            <a:spAutoFit/>
          </a:bodyPr>
          <a:lstStyle/>
          <a:p>
            <a:pPr algn="l"/>
            <a:r>
              <a:rPr sz="950" b="1" i="0">
                <a:solidFill>
                  <a:srgbClr val="1B3A6B"/>
                </a:solidFill>
                <a:latin typeface="Calibri"/>
              </a:rPr>
              <a:t>LBO MSFT : IRR 20.1% — deal attractif pour sponsor PE top-tier</a:t>
            </a:r>
          </a:p>
        </p:txBody>
      </p:sp>
      <p:sp>
        <p:nvSpPr>
          <p:cNvPr id="30" name="TextBox 29"/>
          <p:cNvSpPr txBox="1"/>
          <p:nvPr/>
        </p:nvSpPr>
        <p:spPr>
          <a:xfrm>
            <a:off x="475200" y="3330000"/>
            <a:ext cx="8298000" cy="1414800"/>
          </a:xfrm>
          <a:prstGeom prst="rect">
            <a:avLst/>
          </a:prstGeom>
          <a:noFill/>
        </p:spPr>
        <p:txBody>
          <a:bodyPr wrap="square">
            <a:spAutoFit/>
          </a:bodyPr>
          <a:lstStyle/>
          <a:p>
            <a:pPr algn="l"/>
            <a:r>
              <a:rPr sz="850" b="0" i="0">
                <a:solidFill>
                  <a:srgbClr val="555555"/>
                </a:solidFill>
                <a:latin typeface="Calibri"/>
              </a:rPr>
              <a:t>Profil non éligible au LBO mid-market standard. Raisons identifiées : Combinaison des critères (marge EBITDA, cash conversion, levier actuel) ne permet pas un montage LBO standard mid-market. L'analyse ci-dessus est fournie à titre théorique uniquement — un sponsor PE n'engagerait pas de capital sur cette cible dans les conditions actuelles. Les chiffres affichés (IRR, MOIC, sources/uses) traduisent ce que donnerait un montage forcé avec les hypothèses standards, ils ne représentent pas une recommandation.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Modèle LBO — Returns Sponsor</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Microsoft Corporation (MSFT)  ·  IRR, MOIC et sensibilité multiples</a:t>
            </a:r>
          </a:p>
        </p:txBody>
      </p:sp>
      <p:sp>
        <p:nvSpPr>
          <p:cNvPr id="17" name="Rectangle 16"/>
          <p:cNvSpPr/>
          <p:nvPr/>
        </p:nvSpPr>
        <p:spPr>
          <a:xfrm>
            <a:off x="367200" y="882000"/>
            <a:ext cx="2015999" cy="827999"/>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882000"/>
            <a:ext cx="46800" cy="827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936000"/>
            <a:ext cx="1879200" cy="396000"/>
          </a:xfrm>
          <a:prstGeom prst="rect">
            <a:avLst/>
          </a:prstGeom>
          <a:noFill/>
        </p:spPr>
        <p:txBody>
          <a:bodyPr wrap="square">
            <a:spAutoFit/>
          </a:bodyPr>
          <a:lstStyle/>
          <a:p>
            <a:pPr algn="l"/>
            <a:r>
              <a:rPr sz="1900" b="1" i="0">
                <a:solidFill>
                  <a:srgbClr val="1B3A6B"/>
                </a:solidFill>
                <a:latin typeface="Calibri"/>
              </a:rPr>
              <a:t>20.1%</a:t>
            </a:r>
          </a:p>
        </p:txBody>
      </p:sp>
      <p:sp>
        <p:nvSpPr>
          <p:cNvPr id="20" name="TextBox 19"/>
          <p:cNvSpPr txBox="1"/>
          <p:nvPr/>
        </p:nvSpPr>
        <p:spPr>
          <a:xfrm>
            <a:off x="457200" y="1332000"/>
            <a:ext cx="1879200" cy="205199"/>
          </a:xfrm>
          <a:prstGeom prst="rect">
            <a:avLst/>
          </a:prstGeom>
          <a:noFill/>
        </p:spPr>
        <p:txBody>
          <a:bodyPr wrap="square">
            <a:spAutoFit/>
          </a:bodyPr>
          <a:lstStyle/>
          <a:p>
            <a:pPr algn="l"/>
            <a:r>
              <a:rPr sz="800" b="0" i="0">
                <a:solidFill>
                  <a:srgbClr val="555555"/>
                </a:solidFill>
                <a:latin typeface="Calibri"/>
              </a:rPr>
              <a:t>IRR Sponsor</a:t>
            </a:r>
          </a:p>
        </p:txBody>
      </p:sp>
      <p:sp>
        <p:nvSpPr>
          <p:cNvPr id="21" name="TextBox 20"/>
          <p:cNvSpPr txBox="1"/>
          <p:nvPr/>
        </p:nvSpPr>
        <p:spPr>
          <a:xfrm>
            <a:off x="457200" y="1530000"/>
            <a:ext cx="1879200" cy="165600"/>
          </a:xfrm>
          <a:prstGeom prst="rect">
            <a:avLst/>
          </a:prstGeom>
          <a:noFill/>
        </p:spPr>
        <p:txBody>
          <a:bodyPr wrap="square">
            <a:spAutoFit/>
          </a:bodyPr>
          <a:lstStyle/>
          <a:p>
            <a:pPr algn="l"/>
            <a:r>
              <a:rPr sz="700" b="0" i="0">
                <a:solidFill>
                  <a:srgbClr val="888888"/>
                </a:solidFill>
                <a:latin typeface="Calibri"/>
              </a:rPr>
              <a:t>Base case 5 ans</a:t>
            </a:r>
          </a:p>
        </p:txBody>
      </p:sp>
      <p:sp>
        <p:nvSpPr>
          <p:cNvPr id="22" name="Rectangle 21"/>
          <p:cNvSpPr/>
          <p:nvPr/>
        </p:nvSpPr>
        <p:spPr>
          <a:xfrm>
            <a:off x="2491200" y="882000"/>
            <a:ext cx="2015999" cy="827999"/>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491200" y="882000"/>
            <a:ext cx="46800" cy="827999"/>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581200" y="936000"/>
            <a:ext cx="1879200" cy="396000"/>
          </a:xfrm>
          <a:prstGeom prst="rect">
            <a:avLst/>
          </a:prstGeom>
          <a:noFill/>
        </p:spPr>
        <p:txBody>
          <a:bodyPr wrap="square">
            <a:spAutoFit/>
          </a:bodyPr>
          <a:lstStyle/>
          <a:p>
            <a:pPr algn="l"/>
            <a:r>
              <a:rPr sz="1900" b="1" i="0">
                <a:solidFill>
                  <a:srgbClr val="1B3A6B"/>
                </a:solidFill>
                <a:latin typeface="Calibri"/>
              </a:rPr>
              <a:t>2.50x</a:t>
            </a:r>
          </a:p>
        </p:txBody>
      </p:sp>
      <p:sp>
        <p:nvSpPr>
          <p:cNvPr id="25" name="TextBox 24"/>
          <p:cNvSpPr txBox="1"/>
          <p:nvPr/>
        </p:nvSpPr>
        <p:spPr>
          <a:xfrm>
            <a:off x="2581200" y="1332000"/>
            <a:ext cx="1879200" cy="205199"/>
          </a:xfrm>
          <a:prstGeom prst="rect">
            <a:avLst/>
          </a:prstGeom>
          <a:noFill/>
        </p:spPr>
        <p:txBody>
          <a:bodyPr wrap="square">
            <a:spAutoFit/>
          </a:bodyPr>
          <a:lstStyle/>
          <a:p>
            <a:pPr algn="l"/>
            <a:r>
              <a:rPr sz="800" b="0" i="0">
                <a:solidFill>
                  <a:srgbClr val="555555"/>
                </a:solidFill>
                <a:latin typeface="Calibri"/>
              </a:rPr>
              <a:t>MOIC</a:t>
            </a:r>
          </a:p>
        </p:txBody>
      </p:sp>
      <p:sp>
        <p:nvSpPr>
          <p:cNvPr id="26" name="TextBox 25"/>
          <p:cNvSpPr txBox="1"/>
          <p:nvPr/>
        </p:nvSpPr>
        <p:spPr>
          <a:xfrm>
            <a:off x="2581200" y="1530000"/>
            <a:ext cx="1879200" cy="165600"/>
          </a:xfrm>
          <a:prstGeom prst="rect">
            <a:avLst/>
          </a:prstGeom>
          <a:noFill/>
        </p:spPr>
        <p:txBody>
          <a:bodyPr wrap="square">
            <a:spAutoFit/>
          </a:bodyPr>
          <a:lstStyle/>
          <a:p>
            <a:pPr algn="l"/>
            <a:r>
              <a:rPr sz="700" b="0" i="0">
                <a:solidFill>
                  <a:srgbClr val="888888"/>
                </a:solidFill>
                <a:latin typeface="Calibri"/>
              </a:rPr>
              <a:t>Money-on-invested</a:t>
            </a:r>
          </a:p>
        </p:txBody>
      </p:sp>
      <p:sp>
        <p:nvSpPr>
          <p:cNvPr id="27" name="Rectangle 26"/>
          <p:cNvSpPr/>
          <p:nvPr/>
        </p:nvSpPr>
        <p:spPr>
          <a:xfrm>
            <a:off x="4611600" y="882000"/>
            <a:ext cx="2015999" cy="827999"/>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611600" y="882000"/>
            <a:ext cx="46800" cy="827999"/>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701600" y="936000"/>
            <a:ext cx="1879200" cy="396000"/>
          </a:xfrm>
          <a:prstGeom prst="rect">
            <a:avLst/>
          </a:prstGeom>
          <a:noFill/>
        </p:spPr>
        <p:txBody>
          <a:bodyPr wrap="square">
            <a:spAutoFit/>
          </a:bodyPr>
          <a:lstStyle/>
          <a:p>
            <a:pPr algn="l"/>
            <a:r>
              <a:rPr sz="1900" b="1" i="0">
                <a:solidFill>
                  <a:srgbClr val="1B3A6B"/>
                </a:solidFill>
                <a:latin typeface="Calibri"/>
              </a:rPr>
              <a:t>1 609,7 Mds$</a:t>
            </a:r>
          </a:p>
        </p:txBody>
      </p:sp>
      <p:sp>
        <p:nvSpPr>
          <p:cNvPr id="30" name="TextBox 29"/>
          <p:cNvSpPr txBox="1"/>
          <p:nvPr/>
        </p:nvSpPr>
        <p:spPr>
          <a:xfrm>
            <a:off x="4701600" y="1332000"/>
            <a:ext cx="1879200" cy="205199"/>
          </a:xfrm>
          <a:prstGeom prst="rect">
            <a:avLst/>
          </a:prstGeom>
          <a:noFill/>
        </p:spPr>
        <p:txBody>
          <a:bodyPr wrap="square">
            <a:spAutoFit/>
          </a:bodyPr>
          <a:lstStyle/>
          <a:p>
            <a:pPr algn="l"/>
            <a:r>
              <a:rPr sz="800" b="0" i="0">
                <a:solidFill>
                  <a:srgbClr val="555555"/>
                </a:solidFill>
                <a:latin typeface="Calibri"/>
              </a:rPr>
              <a:t>Equity entry</a:t>
            </a:r>
          </a:p>
        </p:txBody>
      </p:sp>
      <p:sp>
        <p:nvSpPr>
          <p:cNvPr id="31" name="TextBox 30"/>
          <p:cNvSpPr txBox="1"/>
          <p:nvPr/>
        </p:nvSpPr>
        <p:spPr>
          <a:xfrm>
            <a:off x="4701600" y="1530000"/>
            <a:ext cx="1879200" cy="165600"/>
          </a:xfrm>
          <a:prstGeom prst="rect">
            <a:avLst/>
          </a:prstGeom>
          <a:noFill/>
        </p:spPr>
        <p:txBody>
          <a:bodyPr wrap="square">
            <a:spAutoFit/>
          </a:bodyPr>
          <a:lstStyle/>
          <a:p>
            <a:pPr algn="l"/>
            <a:r>
              <a:rPr sz="700" b="0" i="0">
                <a:solidFill>
                  <a:srgbClr val="888888"/>
                </a:solidFill>
                <a:latin typeface="Calibri"/>
              </a:rPr>
              <a:t>Sponsor au closing</a:t>
            </a:r>
          </a:p>
        </p:txBody>
      </p:sp>
      <p:sp>
        <p:nvSpPr>
          <p:cNvPr id="32" name="Rectangle 31"/>
          <p:cNvSpPr/>
          <p:nvPr/>
        </p:nvSpPr>
        <p:spPr>
          <a:xfrm>
            <a:off x="6735600" y="882000"/>
            <a:ext cx="2015999" cy="827999"/>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735600" y="882000"/>
            <a:ext cx="46800" cy="827999"/>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825600" y="936000"/>
            <a:ext cx="1879200" cy="396000"/>
          </a:xfrm>
          <a:prstGeom prst="rect">
            <a:avLst/>
          </a:prstGeom>
          <a:noFill/>
        </p:spPr>
        <p:txBody>
          <a:bodyPr wrap="square">
            <a:spAutoFit/>
          </a:bodyPr>
          <a:lstStyle/>
          <a:p>
            <a:pPr algn="l"/>
            <a:r>
              <a:rPr sz="1900" b="1" i="0">
                <a:solidFill>
                  <a:srgbClr val="1B3A6B"/>
                </a:solidFill>
                <a:latin typeface="Calibri"/>
              </a:rPr>
              <a:t>4 016,6 Mds$</a:t>
            </a:r>
          </a:p>
        </p:txBody>
      </p:sp>
      <p:sp>
        <p:nvSpPr>
          <p:cNvPr id="35" name="TextBox 34"/>
          <p:cNvSpPr txBox="1"/>
          <p:nvPr/>
        </p:nvSpPr>
        <p:spPr>
          <a:xfrm>
            <a:off x="6825600" y="1332000"/>
            <a:ext cx="1879200" cy="205199"/>
          </a:xfrm>
          <a:prstGeom prst="rect">
            <a:avLst/>
          </a:prstGeom>
          <a:noFill/>
        </p:spPr>
        <p:txBody>
          <a:bodyPr wrap="square">
            <a:spAutoFit/>
          </a:bodyPr>
          <a:lstStyle/>
          <a:p>
            <a:pPr algn="l"/>
            <a:r>
              <a:rPr sz="800" b="0" i="0">
                <a:solidFill>
                  <a:srgbClr val="555555"/>
                </a:solidFill>
                <a:latin typeface="Calibri"/>
              </a:rPr>
              <a:t>Equity exit Y5</a:t>
            </a:r>
          </a:p>
        </p:txBody>
      </p:sp>
      <p:sp>
        <p:nvSpPr>
          <p:cNvPr id="36" name="TextBox 35"/>
          <p:cNvSpPr txBox="1"/>
          <p:nvPr/>
        </p:nvSpPr>
        <p:spPr>
          <a:xfrm>
            <a:off x="6825600" y="1530000"/>
            <a:ext cx="1879200" cy="165600"/>
          </a:xfrm>
          <a:prstGeom prst="rect">
            <a:avLst/>
          </a:prstGeom>
          <a:noFill/>
        </p:spPr>
        <p:txBody>
          <a:bodyPr wrap="square">
            <a:spAutoFit/>
          </a:bodyPr>
          <a:lstStyle/>
          <a:p>
            <a:pPr algn="l"/>
            <a:r>
              <a:rPr sz="700" b="0" i="0">
                <a:solidFill>
                  <a:srgbClr val="888888"/>
                </a:solidFill>
                <a:latin typeface="Calibri"/>
              </a:rPr>
              <a:t>Vente sponsor</a:t>
            </a:r>
          </a:p>
        </p:txBody>
      </p:sp>
      <p:sp>
        <p:nvSpPr>
          <p:cNvPr id="37" name="TextBox 36"/>
          <p:cNvSpPr txBox="1"/>
          <p:nvPr/>
        </p:nvSpPr>
        <p:spPr>
          <a:xfrm>
            <a:off x="367200" y="1835999"/>
            <a:ext cx="8413200" cy="162000"/>
          </a:xfrm>
          <a:prstGeom prst="rect">
            <a:avLst/>
          </a:prstGeom>
          <a:noFill/>
        </p:spPr>
        <p:txBody>
          <a:bodyPr wrap="square">
            <a:spAutoFit/>
          </a:bodyPr>
          <a:lstStyle/>
          <a:p>
            <a:pPr algn="l"/>
            <a:r>
              <a:rPr sz="900" b="1" i="0">
                <a:solidFill>
                  <a:srgbClr val="1B3A6B"/>
                </a:solidFill>
                <a:latin typeface="Calibri"/>
              </a:rPr>
              <a:t>SENSIBILITÉ IRR — Multiple d'entrée × Multiple de sortie</a:t>
            </a:r>
          </a:p>
        </p:txBody>
      </p:sp>
      <p:graphicFrame>
        <p:nvGraphicFramePr>
          <p:cNvPr id="38" name="Table 37"/>
          <p:cNvGraphicFramePr>
            <a:graphicFrameLocks noGrp="1"/>
          </p:cNvGraphicFramePr>
          <p:nvPr/>
        </p:nvGraphicFramePr>
        <p:xfrm>
          <a:off x="367200" y="2034000"/>
          <a:ext cx="5940000" cy="1512000"/>
        </p:xfrm>
        <a:graphic>
          <a:graphicData uri="http://schemas.openxmlformats.org/drawingml/2006/table">
            <a:tbl>
              <a:tblPr firstRow="1" bandRow="1">
                <a:tableStyleId>{5C22544A-7EE6-4342-B048-85BDC9FD1C3A}</a:tableStyleId>
              </a:tblPr>
              <a:tblGrid>
                <a:gridCol w="1188000"/>
                <a:gridCol w="950400"/>
                <a:gridCol w="950400"/>
                <a:gridCol w="950400"/>
                <a:gridCol w="950400"/>
                <a:gridCol w="950400"/>
              </a:tblGrid>
              <a:tr h="252000">
                <a:tc>
                  <a:txBody>
                    <a:bodyPr/>
                    <a:lstStyle/>
                    <a:p>
                      <a:pPr algn="l"/>
                      <a:r>
                        <a:rPr sz="800" b="1" i="0">
                          <a:solidFill>
                            <a:srgbClr val="FFFFFF"/>
                          </a:solidFill>
                          <a:latin typeface="Calibri"/>
                        </a:rPr>
                        <a:t>Entry ↓ / Exit →</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12.0x</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13.0x</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14.0x</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15.0x</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16.0x</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52000">
                <a:tc>
                  <a:txBody>
                    <a:bodyPr/>
                    <a:lstStyle/>
                    <a:p>
                      <a:pPr algn="l"/>
                      <a:r>
                        <a:rPr sz="800" b="0" i="0">
                          <a:solidFill>
                            <a:srgbClr val="0D0D0D"/>
                          </a:solidFill>
                          <a:latin typeface="Calibri"/>
                        </a:rPr>
                        <a:t>12.0x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+21.7%</a:t>
                      </a:r>
                    </a:p>
                  </a:txBody>
                  <a:tcPr>
                    <a:solidFill>
                      <a:srgbClr val="FDF6E8"/>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+23.9%</a:t>
                      </a:r>
                    </a:p>
                  </a:txBody>
                  <a:tcPr>
                    <a:solidFill>
                      <a:srgbClr val="FDF6E8"/>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+26.0%</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+27.9%</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+29.8%</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52000">
                <a:tc>
                  <a:txBody>
                    <a:bodyPr/>
                    <a:lstStyle/>
                    <a:p>
                      <a:pPr algn="l"/>
                      <a:r>
                        <a:rPr sz="800" b="0" i="0">
                          <a:solidFill>
                            <a:srgbClr val="0D0D0D"/>
                          </a:solidFill>
                          <a:latin typeface="Calibri"/>
                        </a:rPr>
                        <a:t>13.0x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+18.6%</a:t>
                      </a:r>
                    </a:p>
                  </a:txBody>
                  <a:tcPr>
                    <a:solidFill>
                      <a:srgbClr val="FDF6E8"/>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+20.8%</a:t>
                      </a:r>
                    </a:p>
                  </a:txBody>
                  <a:tcPr>
                    <a:solidFill>
                      <a:srgbClr val="FDF6E8"/>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+22.8%</a:t>
                      </a:r>
                    </a:p>
                  </a:txBody>
                  <a:tcPr>
                    <a:solidFill>
                      <a:srgbClr val="FDF6E8"/>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+24.7%</a:t>
                      </a:r>
                    </a:p>
                  </a:txBody>
                  <a:tcPr>
                    <a:solidFill>
                      <a:srgbClr val="FDF6E8"/>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+26.5%</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52000">
                <a:tc>
                  <a:txBody>
                    <a:bodyPr/>
                    <a:lstStyle/>
                    <a:p>
                      <a:pPr algn="l"/>
                      <a:r>
                        <a:rPr sz="800" b="0" i="0">
                          <a:solidFill>
                            <a:srgbClr val="0D0D0D"/>
                          </a:solidFill>
                          <a:latin typeface="Calibri"/>
                        </a:rPr>
                        <a:t>14.0x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+16.0%</a:t>
                      </a:r>
                    </a:p>
                  </a:txBody>
                  <a:tcPr>
                    <a:solidFill>
                      <a:srgbClr val="FDF6E8"/>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+18.1%</a:t>
                      </a:r>
                    </a:p>
                  </a:txBody>
                  <a:tcPr>
                    <a:solidFill>
                      <a:srgbClr val="FDF6E8"/>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+20.1%</a:t>
                      </a:r>
                    </a:p>
                  </a:txBody>
                  <a:tcPr>
                    <a:solidFill>
                      <a:srgbClr val="FDF6E8"/>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+21.9%</a:t>
                      </a:r>
                    </a:p>
                  </a:txBody>
                  <a:tcPr>
                    <a:solidFill>
                      <a:srgbClr val="FDF6E8"/>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+23.7%</a:t>
                      </a:r>
                    </a:p>
                  </a:txBody>
                  <a:tcPr>
                    <a:solidFill>
                      <a:srgbClr val="FDF6E8"/>
                    </a:solidFill>
                    <a:lnL w="6350">
                      <a:solidFill>
                        <a:srgbClr val="DDDDDD"/>
                      </a:solidFill>
                    </a:lnL>
                    <a:lnR w="6350">
                      <a:solidFill>
                        <a:srgbClr val="DDDDDD"/>
                      </a:solidFill>
                    </a:lnR>
                    <a:lnT w="6350">
                      <a:solidFill>
                        <a:srgbClr val="DDDDDD"/>
                      </a:solidFill>
                    </a:lnT>
                    <a:lnB w="6350">
                      <a:solidFill>
                        <a:srgbClr val="DDDDDD"/>
                      </a:solidFill>
                    </a:lnB>
                  </a:tcPr>
                </a:tc>
              </a:tr>
              <a:tr h="252000">
                <a:tc>
                  <a:txBody>
                    <a:bodyPr/>
                    <a:lstStyle/>
                    <a:p>
                      <a:pPr algn="l"/>
                      <a:r>
                        <a:rPr sz="800" b="0" i="0">
                          <a:solidFill>
                            <a:srgbClr val="0D0D0D"/>
                          </a:solidFill>
                          <a:latin typeface="Calibri"/>
                        </a:rPr>
                        <a:t>15.0x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+13.6%</a:t>
                      </a:r>
                    </a:p>
                  </a:txBody>
                  <a:tcPr>
                    <a:solidFill>
                      <a:srgbClr val="FDF3E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+15.7%</a:t>
                      </a:r>
                    </a:p>
                  </a:txBody>
                  <a:tcPr>
                    <a:solidFill>
                      <a:srgbClr val="FDF6E8"/>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+17.7%</a:t>
                      </a:r>
                    </a:p>
                  </a:txBody>
                  <a:tcPr>
                    <a:solidFill>
                      <a:srgbClr val="FDF6E8"/>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+19.5%</a:t>
                      </a:r>
                    </a:p>
                  </a:txBody>
                  <a:tcPr>
                    <a:solidFill>
                      <a:srgbClr val="FDF6E8"/>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+21.2%</a:t>
                      </a:r>
                    </a:p>
                  </a:txBody>
                  <a:tcPr>
                    <a:solidFill>
                      <a:srgbClr val="FDF6E8"/>
                    </a:solidFill>
                    <a:lnL w="6350">
                      <a:solidFill>
                        <a:srgbClr val="DDDDDD"/>
                      </a:solidFill>
                    </a:lnL>
                    <a:lnR w="6350">
                      <a:solidFill>
                        <a:srgbClr val="DDDDDD"/>
                      </a:solidFill>
                    </a:lnR>
                    <a:lnT w="6350">
                      <a:solidFill>
                        <a:srgbClr val="DDDDDD"/>
                      </a:solidFill>
                    </a:lnT>
                    <a:lnB w="6350">
                      <a:solidFill>
                        <a:srgbClr val="DDDDDD"/>
                      </a:solidFill>
                    </a:lnB>
                  </a:tcPr>
                </a:tc>
              </a:tr>
              <a:tr h="252000">
                <a:tc>
                  <a:txBody>
                    <a:bodyPr/>
                    <a:lstStyle/>
                    <a:p>
                      <a:pPr algn="l"/>
                      <a:r>
                        <a:rPr sz="800" b="0" i="0">
                          <a:solidFill>
                            <a:srgbClr val="0D0D0D"/>
                          </a:solidFill>
                          <a:latin typeface="Calibri"/>
                        </a:rPr>
                        <a:t>16.0x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+11.5%</a:t>
                      </a:r>
                    </a:p>
                  </a:txBody>
                  <a:tcPr>
                    <a:solidFill>
                      <a:srgbClr val="FDF3E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+13.6%</a:t>
                      </a:r>
                    </a:p>
                  </a:txBody>
                  <a:tcPr>
                    <a:solidFill>
                      <a:srgbClr val="FDF3E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+15.5%</a:t>
                      </a:r>
                    </a:p>
                  </a:txBody>
                  <a:tcPr>
                    <a:solidFill>
                      <a:srgbClr val="FDF6E8"/>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+17.3%</a:t>
                      </a:r>
                    </a:p>
                  </a:txBody>
                  <a:tcPr>
                    <a:solidFill>
                      <a:srgbClr val="FDF6E8"/>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+19.0%</a:t>
                      </a:r>
                    </a:p>
                  </a:txBody>
                  <a:tcPr>
                    <a:solidFill>
                      <a:srgbClr val="FDF6E8"/>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39" name="TextBox 38"/>
          <p:cNvSpPr txBox="1"/>
          <p:nvPr/>
        </p:nvSpPr>
        <p:spPr>
          <a:xfrm>
            <a:off x="6426000" y="1835999"/>
            <a:ext cx="2358000" cy="162000"/>
          </a:xfrm>
          <a:prstGeom prst="rect">
            <a:avLst/>
          </a:prstGeom>
          <a:noFill/>
        </p:spPr>
        <p:txBody>
          <a:bodyPr wrap="square">
            <a:spAutoFit/>
          </a:bodyPr>
          <a:lstStyle/>
          <a:p>
            <a:pPr algn="l"/>
            <a:r>
              <a:rPr sz="900" b="1" i="0">
                <a:solidFill>
                  <a:srgbClr val="1B3A6B"/>
                </a:solidFill>
                <a:latin typeface="Calibri"/>
              </a:rPr>
              <a:t>HYPOTHÈSES BASE</a:t>
            </a:r>
          </a:p>
        </p:txBody>
      </p:sp>
      <p:graphicFrame>
        <p:nvGraphicFramePr>
          <p:cNvPr id="40" name="Table 39"/>
          <p:cNvGraphicFramePr>
            <a:graphicFrameLocks noGrp="1"/>
          </p:cNvGraphicFramePr>
          <p:nvPr/>
        </p:nvGraphicFramePr>
        <p:xfrm>
          <a:off x="6426000" y="2034000"/>
          <a:ext cx="2358000" cy="1512000"/>
        </p:xfrm>
        <a:graphic>
          <a:graphicData uri="http://schemas.openxmlformats.org/drawingml/2006/table">
            <a:tbl>
              <a:tblPr firstRow="1" bandRow="1">
                <a:tableStyleId>{5C22544A-7EE6-4342-B048-85BDC9FD1C3A}</a:tableStyleId>
              </a:tblPr>
              <a:tblGrid>
                <a:gridCol w="1296900"/>
                <a:gridCol w="1061100"/>
              </a:tblGrid>
              <a:tr h="302400">
                <a:tc>
                  <a:txBody>
                    <a:bodyPr/>
                    <a:lstStyle/>
                    <a:p>
                      <a:pPr algn="l"/>
                      <a:r>
                        <a:rPr sz="800" b="0" i="0">
                          <a:solidFill>
                            <a:srgbClr val="0D0D0D"/>
                          </a:solidFill>
                          <a:latin typeface="Calibri"/>
                        </a:rPr>
                        <a:t>Multiple entrée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14.0x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302400">
                <a:tc>
                  <a:txBody>
                    <a:bodyPr/>
                    <a:lstStyle/>
                    <a:p>
                      <a:pPr algn="l"/>
                      <a:r>
                        <a:rPr sz="800" b="0" i="0">
                          <a:solidFill>
                            <a:srgbClr val="0D0D0D"/>
                          </a:solidFill>
                          <a:latin typeface="Calibri"/>
                        </a:rPr>
                        <a:t>Multiple sortie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14.0x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302400">
                <a:tc>
                  <a:txBody>
                    <a:bodyPr/>
                    <a:lstStyle/>
                    <a:p>
                      <a:pPr algn="l"/>
                      <a:r>
                        <a:rPr sz="800" b="0" i="0">
                          <a:solidFill>
                            <a:srgbClr val="0D0D0D"/>
                          </a:solidFill>
                          <a:latin typeface="Calibri"/>
                        </a:rPr>
                        <a:t>Leverage total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5.0x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302400">
                <a:tc>
                  <a:txBody>
                    <a:bodyPr/>
                    <a:lstStyle/>
                    <a:p>
                      <a:pPr algn="l"/>
                      <a:r>
                        <a:rPr sz="800" b="0" i="0">
                          <a:solidFill>
                            <a:srgbClr val="0D0D0D"/>
                          </a:solidFill>
                          <a:latin typeface="Calibri"/>
                        </a:rPr>
                        <a:t>Période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 ans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302400">
                <a:tc>
                  <a:txBody>
                    <a:bodyPr/>
                    <a:lstStyle/>
                    <a:p>
                      <a:pPr algn="l"/>
                      <a:r>
                        <a:rPr sz="800" b="0" i="0">
                          <a:solidFill>
                            <a:srgbClr val="0D0D0D"/>
                          </a:solidFill>
                          <a:latin typeface="Calibri"/>
                        </a:rPr>
                        <a:t>EBITDA Y5</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321,2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41" name="Rectangle 40"/>
          <p:cNvSpPr/>
          <p:nvPr/>
        </p:nvSpPr>
        <p:spPr>
          <a:xfrm>
            <a:off x="367200" y="3600000"/>
            <a:ext cx="8413200" cy="120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367200" y="3600000"/>
            <a:ext cx="79200" cy="1206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75200" y="3628800"/>
            <a:ext cx="8298000" cy="151200"/>
          </a:xfrm>
          <a:prstGeom prst="rect">
            <a:avLst/>
          </a:prstGeom>
          <a:noFill/>
        </p:spPr>
        <p:txBody>
          <a:bodyPr wrap="none">
            <a:spAutoFit/>
          </a:bodyPr>
          <a:lstStyle/>
          <a:p>
            <a:pPr algn="l"/>
            <a:r>
              <a:rPr sz="950" b="1" i="0">
                <a:solidFill>
                  <a:srgbClr val="1B3A6B"/>
                </a:solidFill>
                <a:latin typeface="Calibri"/>
              </a:rPr>
              <a:t>LBO MSFT : IRR 20.1% — deal attractif pour sponsor PE top-tier</a:t>
            </a:r>
          </a:p>
        </p:txBody>
      </p:sp>
      <p:sp>
        <p:nvSpPr>
          <p:cNvPr id="44" name="TextBox 43"/>
          <p:cNvSpPr txBox="1"/>
          <p:nvPr/>
        </p:nvSpPr>
        <p:spPr>
          <a:xfrm>
            <a:off x="475200" y="3798000"/>
            <a:ext cx="8298000" cy="982800"/>
          </a:xfrm>
          <a:prstGeom prst="rect">
            <a:avLst/>
          </a:prstGeom>
          <a:noFill/>
        </p:spPr>
        <p:txBody>
          <a:bodyPr wrap="square">
            <a:spAutoFit/>
          </a:bodyPr>
          <a:lstStyle/>
          <a:p>
            <a:pPr algn="l"/>
            <a:r>
              <a:rPr sz="850" b="0" i="0">
                <a:solidFill>
                  <a:srgbClr val="555555"/>
                </a:solidFill>
                <a:latin typeface="Calibri"/>
              </a:rPr>
              <a:t>Le sponsor récupère un IRR base de 20,1% et un MOIC de 2,5x sur 5 ans. Ce niveau dépasse le seuil minimum PE top quartile (≥ 20%), rendant le deal très attractif pour un sponsor institutionnel. La sensibilité IRR aux multiples d'entrée et de sortie permet d'identifier les zones de robustesse (combinaisons multiple bas / sortie élevée) et de fragilité (multiple haut / sortie basse). À croiser avec le scénario bear (IRR 14,0%) pour calibrer le risque downside.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Modèle LBO — Debt Schedule &amp; Stress Test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Microsoft Corporation (MSFT)  ·  Évolution leverage et scénarios bull/bear</a:t>
            </a:r>
          </a:p>
        </p:txBody>
      </p:sp>
      <p:sp>
        <p:nvSpPr>
          <p:cNvPr id="17" name="TextBox 16"/>
          <p:cNvSpPr txBox="1"/>
          <p:nvPr/>
        </p:nvSpPr>
        <p:spPr>
          <a:xfrm>
            <a:off x="367200" y="882000"/>
            <a:ext cx="8413200" cy="162000"/>
          </a:xfrm>
          <a:prstGeom prst="rect">
            <a:avLst/>
          </a:prstGeom>
          <a:noFill/>
        </p:spPr>
        <p:txBody>
          <a:bodyPr wrap="square">
            <a:spAutoFit/>
          </a:bodyPr>
          <a:lstStyle/>
          <a:p>
            <a:pPr algn="l"/>
            <a:r>
              <a:rPr sz="900" b="1" i="0">
                <a:solidFill>
                  <a:srgbClr val="1B3A6B"/>
                </a:solidFill>
                <a:latin typeface="Calibri"/>
              </a:rPr>
              <a:t>DEBT SCHEDULE — Évolution du leverage sur 5 ans</a:t>
            </a:r>
          </a:p>
        </p:txBody>
      </p:sp>
      <p:graphicFrame>
        <p:nvGraphicFramePr>
          <p:cNvPr id="18" name="Table 17"/>
          <p:cNvGraphicFramePr>
            <a:graphicFrameLocks noGrp="1"/>
          </p:cNvGraphicFramePr>
          <p:nvPr/>
        </p:nvGraphicFramePr>
        <p:xfrm>
          <a:off x="367200" y="1080000"/>
          <a:ext cx="8413200" cy="1548000"/>
        </p:xfrm>
        <a:graphic>
          <a:graphicData uri="http://schemas.openxmlformats.org/drawingml/2006/table">
            <a:tbl>
              <a:tblPr firstRow="1" bandRow="1">
                <a:tableStyleId>{5C22544A-7EE6-4342-B048-85BDC9FD1C3A}</a:tableStyleId>
              </a:tblPr>
              <a:tblGrid>
                <a:gridCol w="841320"/>
                <a:gridCol w="1261980"/>
                <a:gridCol w="1261980"/>
                <a:gridCol w="1261980"/>
                <a:gridCol w="1261980"/>
                <a:gridCol w="1261980"/>
                <a:gridCol w="1261980"/>
              </a:tblGrid>
              <a:tr h="221142">
                <a:tc>
                  <a:txBody>
                    <a:bodyPr/>
                    <a:lstStyle/>
                    <a:p>
                      <a:pPr algn="l"/>
                      <a:r>
                        <a:rPr sz="800" b="1" i="0">
                          <a:solidFill>
                            <a:srgbClr val="FFFFFF"/>
                          </a:solidFill>
                          <a:latin typeface="Calibri"/>
                        </a:rPr>
                        <a:t>Année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EBITDA (Mds$)</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Senior (Mds$)</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Mezz (Mds$)</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Cash (Mds$)</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Net Debt (Mds$)</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Lvg (×)</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1142">
                <a:tc>
                  <a:txBody>
                    <a:bodyPr/>
                    <a:lstStyle/>
                    <a:p>
                      <a:pPr algn="l"/>
                      <a:r>
                        <a:rPr sz="800" b="0" i="0">
                          <a:solidFill>
                            <a:srgbClr val="0D0D0D"/>
                          </a:solidFill>
                          <a:latin typeface="Calibri"/>
                        </a:rPr>
                        <a:t>Y0</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160,2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560,6</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240,2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0,00</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800,8</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5.00x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1142">
                <a:tc>
                  <a:txBody>
                    <a:bodyPr/>
                    <a:lstStyle/>
                    <a:p>
                      <a:pPr algn="l"/>
                      <a:r>
                        <a:rPr sz="800" b="0" i="0">
                          <a:solidFill>
                            <a:srgbClr val="0D0D0D"/>
                          </a:solidFill>
                          <a:latin typeface="Calibri"/>
                        </a:rPr>
                        <a:t>Y1</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184,1</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484,5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252,3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23,5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713,2</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3.87x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1142">
                <a:tc>
                  <a:txBody>
                    <a:bodyPr/>
                    <a:lstStyle/>
                    <a:p>
                      <a:pPr algn="l"/>
                      <a:r>
                        <a:rPr sz="800" b="0" i="0">
                          <a:solidFill>
                            <a:srgbClr val="0D0D0D"/>
                          </a:solidFill>
                          <a:latin typeface="Calibri"/>
                        </a:rPr>
                        <a:t>Y2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211,6</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386,9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264,9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54,4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597,4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2.82x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1142">
                <a:tc>
                  <a:txBody>
                    <a:bodyPr/>
                    <a:lstStyle/>
                    <a:p>
                      <a:pPr algn="l"/>
                      <a:r>
                        <a:rPr sz="800" b="0" i="0">
                          <a:solidFill>
                            <a:srgbClr val="0D0D0D"/>
                          </a:solidFill>
                          <a:latin typeface="Calibri"/>
                        </a:rPr>
                        <a:t>Y3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243,1</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264,1</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278,1</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94,1</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448,2</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1.84x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1142">
                <a:tc>
                  <a:txBody>
                    <a:bodyPr/>
                    <a:lstStyle/>
                    <a:p>
                      <a:pPr algn="l"/>
                      <a:r>
                        <a:rPr sz="800" b="0" i="0">
                          <a:solidFill>
                            <a:srgbClr val="0D0D0D"/>
                          </a:solidFill>
                          <a:latin typeface="Calibri"/>
                        </a:rPr>
                        <a:t>Y4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279,4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111,6</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292,0</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144,0</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259,6</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0.93x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1148">
                <a:tc>
                  <a:txBody>
                    <a:bodyPr/>
                    <a:lstStyle/>
                    <a:p>
                      <a:pPr algn="l"/>
                      <a:r>
                        <a:rPr sz="800" b="0" i="0">
                          <a:solidFill>
                            <a:srgbClr val="0D0D0D"/>
                          </a:solidFill>
                          <a:latin typeface="Calibri"/>
                        </a:rPr>
                        <a:t>Y5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321,2</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0,00</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306,6</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281,9</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24,7</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0.08x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9" name="TextBox 18"/>
          <p:cNvSpPr txBox="1"/>
          <p:nvPr/>
        </p:nvSpPr>
        <p:spPr>
          <a:xfrm>
            <a:off x="367200" y="2718000"/>
            <a:ext cx="8413200" cy="162000"/>
          </a:xfrm>
          <a:prstGeom prst="rect">
            <a:avLst/>
          </a:prstGeom>
          <a:noFill/>
        </p:spPr>
        <p:txBody>
          <a:bodyPr wrap="square">
            <a:spAutoFit/>
          </a:bodyPr>
          <a:lstStyle/>
          <a:p>
            <a:pPr algn="l"/>
            <a:r>
              <a:rPr sz="900" b="1" i="0">
                <a:solidFill>
                  <a:srgbClr val="1B3A6B"/>
                </a:solidFill>
                <a:latin typeface="Calibri"/>
              </a:rPr>
              <a:t>SCÉNARIOS DE STRESS — Bull / Base / Bear</a:t>
            </a:r>
          </a:p>
        </p:txBody>
      </p:sp>
      <p:sp>
        <p:nvSpPr>
          <p:cNvPr id="20" name="Rectangle 19"/>
          <p:cNvSpPr/>
          <p:nvPr/>
        </p:nvSpPr>
        <p:spPr>
          <a:xfrm>
            <a:off x="367200" y="2898000"/>
            <a:ext cx="27432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7200" y="2898000"/>
            <a:ext cx="2743200" cy="234000"/>
          </a:xfrm>
          <a:prstGeom prst="rect">
            <a:avLst/>
          </a:prstGeom>
          <a:noFill/>
        </p:spPr>
        <p:txBody>
          <a:bodyPr wrap="none" anchor="ctr" lIns="0" rIns="0" tIns="0" bIns="0">
            <a:spAutoFit/>
          </a:bodyPr>
          <a:lstStyle/>
          <a:p>
            <a:pPr algn="ctr"/>
            <a:r>
              <a:rPr sz="1300" b="1" i="0">
                <a:solidFill>
                  <a:srgbClr val="FFFFFF"/>
                </a:solidFill>
                <a:latin typeface="Calibri"/>
              </a:rPr>
              <a:t>BULL</a:t>
            </a:r>
          </a:p>
        </p:txBody>
      </p:sp>
      <p:sp>
        <p:nvSpPr>
          <p:cNvPr id="22" name="Rectangle 21"/>
          <p:cNvSpPr/>
          <p:nvPr/>
        </p:nvSpPr>
        <p:spPr>
          <a:xfrm>
            <a:off x="367200" y="3131999"/>
            <a:ext cx="2743200" cy="9000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75200" y="3186000"/>
            <a:ext cx="1508760" cy="151200"/>
          </a:xfrm>
          <a:prstGeom prst="rect">
            <a:avLst/>
          </a:prstGeom>
          <a:noFill/>
        </p:spPr>
        <p:txBody>
          <a:bodyPr wrap="square">
            <a:spAutoFit/>
          </a:bodyPr>
          <a:lstStyle/>
          <a:p>
            <a:pPr algn="l"/>
            <a:r>
              <a:rPr sz="900" b="0" i="0">
                <a:solidFill>
                  <a:srgbClr val="555555"/>
                </a:solidFill>
                <a:latin typeface="Calibri"/>
              </a:rPr>
              <a:t>IRR Sponsor</a:t>
            </a:r>
          </a:p>
        </p:txBody>
      </p:sp>
      <p:sp>
        <p:nvSpPr>
          <p:cNvPr id="24" name="TextBox 23"/>
          <p:cNvSpPr txBox="1"/>
          <p:nvPr/>
        </p:nvSpPr>
        <p:spPr>
          <a:xfrm>
            <a:off x="1875960" y="3186000"/>
            <a:ext cx="1097280" cy="151200"/>
          </a:xfrm>
          <a:prstGeom prst="rect">
            <a:avLst/>
          </a:prstGeom>
          <a:noFill/>
        </p:spPr>
        <p:txBody>
          <a:bodyPr wrap="square">
            <a:spAutoFit/>
          </a:bodyPr>
          <a:lstStyle/>
          <a:p>
            <a:pPr algn="r"/>
            <a:r>
              <a:rPr sz="1100" b="1" i="0">
                <a:solidFill>
                  <a:srgbClr val="1A7A4A"/>
                </a:solidFill>
                <a:latin typeface="Calibri"/>
              </a:rPr>
              <a:t>+26.0%</a:t>
            </a:r>
          </a:p>
        </p:txBody>
      </p:sp>
      <p:sp>
        <p:nvSpPr>
          <p:cNvPr id="25" name="TextBox 24"/>
          <p:cNvSpPr txBox="1"/>
          <p:nvPr/>
        </p:nvSpPr>
        <p:spPr>
          <a:xfrm>
            <a:off x="475200" y="3394800"/>
            <a:ext cx="1508760" cy="151200"/>
          </a:xfrm>
          <a:prstGeom prst="rect">
            <a:avLst/>
          </a:prstGeom>
          <a:noFill/>
        </p:spPr>
        <p:txBody>
          <a:bodyPr wrap="square">
            <a:spAutoFit/>
          </a:bodyPr>
          <a:lstStyle/>
          <a:p>
            <a:pPr algn="l"/>
            <a:r>
              <a:rPr sz="900" b="0" i="0">
                <a:solidFill>
                  <a:srgbClr val="555555"/>
                </a:solidFill>
                <a:latin typeface="Calibri"/>
              </a:rPr>
              <a:t>MOIC</a:t>
            </a:r>
          </a:p>
        </p:txBody>
      </p:sp>
      <p:sp>
        <p:nvSpPr>
          <p:cNvPr id="26" name="TextBox 25"/>
          <p:cNvSpPr txBox="1"/>
          <p:nvPr/>
        </p:nvSpPr>
        <p:spPr>
          <a:xfrm>
            <a:off x="1875960" y="3394800"/>
            <a:ext cx="1097280" cy="151200"/>
          </a:xfrm>
          <a:prstGeom prst="rect">
            <a:avLst/>
          </a:prstGeom>
          <a:noFill/>
        </p:spPr>
        <p:txBody>
          <a:bodyPr wrap="square">
            <a:spAutoFit/>
          </a:bodyPr>
          <a:lstStyle/>
          <a:p>
            <a:pPr algn="r"/>
            <a:r>
              <a:rPr sz="1100" b="1" i="0">
                <a:solidFill>
                  <a:srgbClr val="1A7A4A"/>
                </a:solidFill>
                <a:latin typeface="Calibri"/>
              </a:rPr>
              <a:t>3.17x</a:t>
            </a:r>
          </a:p>
        </p:txBody>
      </p:sp>
      <p:sp>
        <p:nvSpPr>
          <p:cNvPr id="27" name="TextBox 26"/>
          <p:cNvSpPr txBox="1"/>
          <p:nvPr/>
        </p:nvSpPr>
        <p:spPr>
          <a:xfrm>
            <a:off x="475200" y="3603600"/>
            <a:ext cx="1508760" cy="151200"/>
          </a:xfrm>
          <a:prstGeom prst="rect">
            <a:avLst/>
          </a:prstGeom>
          <a:noFill/>
        </p:spPr>
        <p:txBody>
          <a:bodyPr wrap="square">
            <a:spAutoFit/>
          </a:bodyPr>
          <a:lstStyle/>
          <a:p>
            <a:pPr algn="l"/>
            <a:r>
              <a:rPr sz="900" b="0" i="0">
                <a:solidFill>
                  <a:srgbClr val="555555"/>
                </a:solidFill>
                <a:latin typeface="Calibri"/>
              </a:rPr>
              <a:t>Leverage exit</a:t>
            </a:r>
          </a:p>
        </p:txBody>
      </p:sp>
      <p:sp>
        <p:nvSpPr>
          <p:cNvPr id="28" name="TextBox 27"/>
          <p:cNvSpPr txBox="1"/>
          <p:nvPr/>
        </p:nvSpPr>
        <p:spPr>
          <a:xfrm>
            <a:off x="1875960" y="3603600"/>
            <a:ext cx="1097280" cy="151200"/>
          </a:xfrm>
          <a:prstGeom prst="rect">
            <a:avLst/>
          </a:prstGeom>
          <a:noFill/>
        </p:spPr>
        <p:txBody>
          <a:bodyPr wrap="square">
            <a:spAutoFit/>
          </a:bodyPr>
          <a:lstStyle/>
          <a:p>
            <a:pPr algn="r"/>
            <a:r>
              <a:rPr sz="1100" b="1" i="0">
                <a:solidFill>
                  <a:srgbClr val="1A7A4A"/>
                </a:solidFill>
                <a:latin typeface="Calibri"/>
              </a:rPr>
              <a:t>1.29x</a:t>
            </a:r>
          </a:p>
        </p:txBody>
      </p:sp>
      <p:sp>
        <p:nvSpPr>
          <p:cNvPr id="29" name="TextBox 28"/>
          <p:cNvSpPr txBox="1"/>
          <p:nvPr/>
        </p:nvSpPr>
        <p:spPr>
          <a:xfrm>
            <a:off x="475200" y="3812400"/>
            <a:ext cx="1508760" cy="151200"/>
          </a:xfrm>
          <a:prstGeom prst="rect">
            <a:avLst/>
          </a:prstGeom>
          <a:noFill/>
        </p:spPr>
        <p:txBody>
          <a:bodyPr wrap="square">
            <a:spAutoFit/>
          </a:bodyPr>
          <a:lstStyle/>
          <a:p>
            <a:pPr algn="l"/>
            <a:r>
              <a:rPr sz="900" b="0" i="0">
                <a:solidFill>
                  <a:srgbClr val="555555"/>
                </a:solidFill>
                <a:latin typeface="Calibri"/>
              </a:rPr>
              <a:t>ICR exit</a:t>
            </a:r>
          </a:p>
        </p:txBody>
      </p:sp>
      <p:sp>
        <p:nvSpPr>
          <p:cNvPr id="30" name="TextBox 29"/>
          <p:cNvSpPr txBox="1"/>
          <p:nvPr/>
        </p:nvSpPr>
        <p:spPr>
          <a:xfrm>
            <a:off x="1875960" y="3812400"/>
            <a:ext cx="1097280" cy="151200"/>
          </a:xfrm>
          <a:prstGeom prst="rect">
            <a:avLst/>
          </a:prstGeom>
          <a:noFill/>
        </p:spPr>
        <p:txBody>
          <a:bodyPr wrap="square">
            <a:spAutoFit/>
          </a:bodyPr>
          <a:lstStyle/>
          <a:p>
            <a:pPr algn="r"/>
            <a:r>
              <a:rPr sz="1100" b="1" i="0">
                <a:solidFill>
                  <a:srgbClr val="1A7A4A"/>
                </a:solidFill>
                <a:latin typeface="Calibri"/>
              </a:rPr>
              <a:t>8.4x</a:t>
            </a:r>
          </a:p>
        </p:txBody>
      </p:sp>
      <p:sp>
        <p:nvSpPr>
          <p:cNvPr id="31" name="Rectangle 30"/>
          <p:cNvSpPr/>
          <p:nvPr/>
        </p:nvSpPr>
        <p:spPr>
          <a:xfrm>
            <a:off x="3229200" y="2898000"/>
            <a:ext cx="2743200" cy="23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229200" y="2898000"/>
            <a:ext cx="2743200" cy="234000"/>
          </a:xfrm>
          <a:prstGeom prst="rect">
            <a:avLst/>
          </a:prstGeom>
          <a:noFill/>
        </p:spPr>
        <p:txBody>
          <a:bodyPr wrap="none" anchor="ctr" lIns="0" rIns="0" tIns="0" bIns="0">
            <a:spAutoFit/>
          </a:bodyPr>
          <a:lstStyle/>
          <a:p>
            <a:pPr algn="ctr"/>
            <a:r>
              <a:rPr sz="1300" b="1" i="0">
                <a:solidFill>
                  <a:srgbClr val="FFFFFF"/>
                </a:solidFill>
                <a:latin typeface="Calibri"/>
              </a:rPr>
              <a:t>BASE</a:t>
            </a:r>
          </a:p>
        </p:txBody>
      </p:sp>
      <p:sp>
        <p:nvSpPr>
          <p:cNvPr id="33" name="Rectangle 32"/>
          <p:cNvSpPr/>
          <p:nvPr/>
        </p:nvSpPr>
        <p:spPr>
          <a:xfrm>
            <a:off x="3229200" y="3131999"/>
            <a:ext cx="2743200" cy="9000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337200" y="3186000"/>
            <a:ext cx="1508760" cy="151200"/>
          </a:xfrm>
          <a:prstGeom prst="rect">
            <a:avLst/>
          </a:prstGeom>
          <a:noFill/>
        </p:spPr>
        <p:txBody>
          <a:bodyPr wrap="square">
            <a:spAutoFit/>
          </a:bodyPr>
          <a:lstStyle/>
          <a:p>
            <a:pPr algn="l"/>
            <a:r>
              <a:rPr sz="900" b="0" i="0">
                <a:solidFill>
                  <a:srgbClr val="555555"/>
                </a:solidFill>
                <a:latin typeface="Calibri"/>
              </a:rPr>
              <a:t>IRR Sponsor</a:t>
            </a:r>
          </a:p>
        </p:txBody>
      </p:sp>
      <p:sp>
        <p:nvSpPr>
          <p:cNvPr id="35" name="TextBox 34"/>
          <p:cNvSpPr txBox="1"/>
          <p:nvPr/>
        </p:nvSpPr>
        <p:spPr>
          <a:xfrm>
            <a:off x="4737960" y="3186000"/>
            <a:ext cx="1097280" cy="151200"/>
          </a:xfrm>
          <a:prstGeom prst="rect">
            <a:avLst/>
          </a:prstGeom>
          <a:noFill/>
        </p:spPr>
        <p:txBody>
          <a:bodyPr wrap="square">
            <a:spAutoFit/>
          </a:bodyPr>
          <a:lstStyle/>
          <a:p>
            <a:pPr algn="r"/>
            <a:r>
              <a:rPr sz="1100" b="1" i="0">
                <a:solidFill>
                  <a:srgbClr val="2E5FA3"/>
                </a:solidFill>
                <a:latin typeface="Calibri"/>
              </a:rPr>
              <a:t>+20.1%</a:t>
            </a:r>
          </a:p>
        </p:txBody>
      </p:sp>
      <p:sp>
        <p:nvSpPr>
          <p:cNvPr id="36" name="TextBox 35"/>
          <p:cNvSpPr txBox="1"/>
          <p:nvPr/>
        </p:nvSpPr>
        <p:spPr>
          <a:xfrm>
            <a:off x="3337200" y="3394800"/>
            <a:ext cx="1508760" cy="151200"/>
          </a:xfrm>
          <a:prstGeom prst="rect">
            <a:avLst/>
          </a:prstGeom>
          <a:noFill/>
        </p:spPr>
        <p:txBody>
          <a:bodyPr wrap="square">
            <a:spAutoFit/>
          </a:bodyPr>
          <a:lstStyle/>
          <a:p>
            <a:pPr algn="l"/>
            <a:r>
              <a:rPr sz="900" b="0" i="0">
                <a:solidFill>
                  <a:srgbClr val="555555"/>
                </a:solidFill>
                <a:latin typeface="Calibri"/>
              </a:rPr>
              <a:t>MOIC</a:t>
            </a:r>
          </a:p>
        </p:txBody>
      </p:sp>
      <p:sp>
        <p:nvSpPr>
          <p:cNvPr id="37" name="TextBox 36"/>
          <p:cNvSpPr txBox="1"/>
          <p:nvPr/>
        </p:nvSpPr>
        <p:spPr>
          <a:xfrm>
            <a:off x="4737960" y="3394800"/>
            <a:ext cx="1097280" cy="151200"/>
          </a:xfrm>
          <a:prstGeom prst="rect">
            <a:avLst/>
          </a:prstGeom>
          <a:noFill/>
        </p:spPr>
        <p:txBody>
          <a:bodyPr wrap="square">
            <a:spAutoFit/>
          </a:bodyPr>
          <a:lstStyle/>
          <a:p>
            <a:pPr algn="r"/>
            <a:r>
              <a:rPr sz="1100" b="1" i="0">
                <a:solidFill>
                  <a:srgbClr val="2E5FA3"/>
                </a:solidFill>
                <a:latin typeface="Calibri"/>
              </a:rPr>
              <a:t>2.50x</a:t>
            </a:r>
          </a:p>
        </p:txBody>
      </p:sp>
      <p:sp>
        <p:nvSpPr>
          <p:cNvPr id="38" name="TextBox 37"/>
          <p:cNvSpPr txBox="1"/>
          <p:nvPr/>
        </p:nvSpPr>
        <p:spPr>
          <a:xfrm>
            <a:off x="3337200" y="3603600"/>
            <a:ext cx="1508760" cy="151200"/>
          </a:xfrm>
          <a:prstGeom prst="rect">
            <a:avLst/>
          </a:prstGeom>
          <a:noFill/>
        </p:spPr>
        <p:txBody>
          <a:bodyPr wrap="square">
            <a:spAutoFit/>
          </a:bodyPr>
          <a:lstStyle/>
          <a:p>
            <a:pPr algn="l"/>
            <a:r>
              <a:rPr sz="900" b="0" i="0">
                <a:solidFill>
                  <a:srgbClr val="555555"/>
                </a:solidFill>
                <a:latin typeface="Calibri"/>
              </a:rPr>
              <a:t>Leverage exit</a:t>
            </a:r>
          </a:p>
        </p:txBody>
      </p:sp>
      <p:sp>
        <p:nvSpPr>
          <p:cNvPr id="39" name="TextBox 38"/>
          <p:cNvSpPr txBox="1"/>
          <p:nvPr/>
        </p:nvSpPr>
        <p:spPr>
          <a:xfrm>
            <a:off x="4737960" y="3603600"/>
            <a:ext cx="1097280" cy="151200"/>
          </a:xfrm>
          <a:prstGeom prst="rect">
            <a:avLst/>
          </a:prstGeom>
          <a:noFill/>
        </p:spPr>
        <p:txBody>
          <a:bodyPr wrap="square">
            <a:spAutoFit/>
          </a:bodyPr>
          <a:lstStyle/>
          <a:p>
            <a:pPr algn="r"/>
            <a:r>
              <a:rPr sz="1100" b="1" i="0">
                <a:solidFill>
                  <a:srgbClr val="2E5FA3"/>
                </a:solidFill>
                <a:latin typeface="Calibri"/>
              </a:rPr>
              <a:t>1.49x</a:t>
            </a:r>
          </a:p>
        </p:txBody>
      </p:sp>
      <p:sp>
        <p:nvSpPr>
          <p:cNvPr id="40" name="TextBox 39"/>
          <p:cNvSpPr txBox="1"/>
          <p:nvPr/>
        </p:nvSpPr>
        <p:spPr>
          <a:xfrm>
            <a:off x="3337200" y="3812400"/>
            <a:ext cx="1508760" cy="151200"/>
          </a:xfrm>
          <a:prstGeom prst="rect">
            <a:avLst/>
          </a:prstGeom>
          <a:noFill/>
        </p:spPr>
        <p:txBody>
          <a:bodyPr wrap="square">
            <a:spAutoFit/>
          </a:bodyPr>
          <a:lstStyle/>
          <a:p>
            <a:pPr algn="l"/>
            <a:r>
              <a:rPr sz="900" b="0" i="0">
                <a:solidFill>
                  <a:srgbClr val="555555"/>
                </a:solidFill>
                <a:latin typeface="Calibri"/>
              </a:rPr>
              <a:t>ICR exit</a:t>
            </a:r>
          </a:p>
        </p:txBody>
      </p:sp>
      <p:sp>
        <p:nvSpPr>
          <p:cNvPr id="41" name="TextBox 40"/>
          <p:cNvSpPr txBox="1"/>
          <p:nvPr/>
        </p:nvSpPr>
        <p:spPr>
          <a:xfrm>
            <a:off x="4737960" y="3812400"/>
            <a:ext cx="1097280" cy="151200"/>
          </a:xfrm>
          <a:prstGeom prst="rect">
            <a:avLst/>
          </a:prstGeom>
          <a:noFill/>
        </p:spPr>
        <p:txBody>
          <a:bodyPr wrap="square">
            <a:spAutoFit/>
          </a:bodyPr>
          <a:lstStyle/>
          <a:p>
            <a:pPr algn="r"/>
            <a:r>
              <a:rPr sz="1100" b="1" i="0">
                <a:solidFill>
                  <a:srgbClr val="2E5FA3"/>
                </a:solidFill>
                <a:latin typeface="Calibri"/>
              </a:rPr>
              <a:t>6.7x</a:t>
            </a:r>
          </a:p>
        </p:txBody>
      </p:sp>
      <p:sp>
        <p:nvSpPr>
          <p:cNvPr id="42" name="Rectangle 41"/>
          <p:cNvSpPr/>
          <p:nvPr/>
        </p:nvSpPr>
        <p:spPr>
          <a:xfrm>
            <a:off x="6091200" y="2898000"/>
            <a:ext cx="2743200" cy="23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091200" y="2898000"/>
            <a:ext cx="2743200" cy="234000"/>
          </a:xfrm>
          <a:prstGeom prst="rect">
            <a:avLst/>
          </a:prstGeom>
          <a:noFill/>
        </p:spPr>
        <p:txBody>
          <a:bodyPr wrap="none" anchor="ctr" lIns="0" rIns="0" tIns="0" bIns="0">
            <a:spAutoFit/>
          </a:bodyPr>
          <a:lstStyle/>
          <a:p>
            <a:pPr algn="ctr"/>
            <a:r>
              <a:rPr sz="1300" b="1" i="0">
                <a:solidFill>
                  <a:srgbClr val="FFFFFF"/>
                </a:solidFill>
                <a:latin typeface="Calibri"/>
              </a:rPr>
              <a:t>BEAR</a:t>
            </a:r>
          </a:p>
        </p:txBody>
      </p:sp>
      <p:sp>
        <p:nvSpPr>
          <p:cNvPr id="44" name="Rectangle 43"/>
          <p:cNvSpPr/>
          <p:nvPr/>
        </p:nvSpPr>
        <p:spPr>
          <a:xfrm>
            <a:off x="6091200" y="3131999"/>
            <a:ext cx="2743200" cy="900000"/>
          </a:xfrm>
          <a:prstGeom prst="rect">
            <a:avLst/>
          </a:prstGeom>
          <a:solidFill>
            <a:srgbClr val="FA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199200" y="3186000"/>
            <a:ext cx="1508760" cy="151200"/>
          </a:xfrm>
          <a:prstGeom prst="rect">
            <a:avLst/>
          </a:prstGeom>
          <a:noFill/>
        </p:spPr>
        <p:txBody>
          <a:bodyPr wrap="square">
            <a:spAutoFit/>
          </a:bodyPr>
          <a:lstStyle/>
          <a:p>
            <a:pPr algn="l"/>
            <a:r>
              <a:rPr sz="900" b="0" i="0">
                <a:solidFill>
                  <a:srgbClr val="555555"/>
                </a:solidFill>
                <a:latin typeface="Calibri"/>
              </a:rPr>
              <a:t>IRR Sponsor</a:t>
            </a:r>
          </a:p>
        </p:txBody>
      </p:sp>
      <p:sp>
        <p:nvSpPr>
          <p:cNvPr id="46" name="TextBox 45"/>
          <p:cNvSpPr txBox="1"/>
          <p:nvPr/>
        </p:nvSpPr>
        <p:spPr>
          <a:xfrm>
            <a:off x="7599960" y="3186000"/>
            <a:ext cx="1097280" cy="151200"/>
          </a:xfrm>
          <a:prstGeom prst="rect">
            <a:avLst/>
          </a:prstGeom>
          <a:noFill/>
        </p:spPr>
        <p:txBody>
          <a:bodyPr wrap="square">
            <a:spAutoFit/>
          </a:bodyPr>
          <a:lstStyle/>
          <a:p>
            <a:pPr algn="r"/>
            <a:r>
              <a:rPr sz="1100" b="1" i="0">
                <a:solidFill>
                  <a:srgbClr val="A82020"/>
                </a:solidFill>
                <a:latin typeface="Calibri"/>
              </a:rPr>
              <a:t>+14.0%</a:t>
            </a:r>
          </a:p>
        </p:txBody>
      </p:sp>
      <p:sp>
        <p:nvSpPr>
          <p:cNvPr id="47" name="TextBox 46"/>
          <p:cNvSpPr txBox="1"/>
          <p:nvPr/>
        </p:nvSpPr>
        <p:spPr>
          <a:xfrm>
            <a:off x="6199200" y="3394800"/>
            <a:ext cx="1508760" cy="151200"/>
          </a:xfrm>
          <a:prstGeom prst="rect">
            <a:avLst/>
          </a:prstGeom>
          <a:noFill/>
        </p:spPr>
        <p:txBody>
          <a:bodyPr wrap="square">
            <a:spAutoFit/>
          </a:bodyPr>
          <a:lstStyle/>
          <a:p>
            <a:pPr algn="l"/>
            <a:r>
              <a:rPr sz="900" b="0" i="0">
                <a:solidFill>
                  <a:srgbClr val="555555"/>
                </a:solidFill>
                <a:latin typeface="Calibri"/>
              </a:rPr>
              <a:t>MOIC</a:t>
            </a:r>
          </a:p>
        </p:txBody>
      </p:sp>
      <p:sp>
        <p:nvSpPr>
          <p:cNvPr id="48" name="TextBox 47"/>
          <p:cNvSpPr txBox="1"/>
          <p:nvPr/>
        </p:nvSpPr>
        <p:spPr>
          <a:xfrm>
            <a:off x="7599960" y="3394800"/>
            <a:ext cx="1097280" cy="151200"/>
          </a:xfrm>
          <a:prstGeom prst="rect">
            <a:avLst/>
          </a:prstGeom>
          <a:noFill/>
        </p:spPr>
        <p:txBody>
          <a:bodyPr wrap="square">
            <a:spAutoFit/>
          </a:bodyPr>
          <a:lstStyle/>
          <a:p>
            <a:pPr algn="r"/>
            <a:r>
              <a:rPr sz="1100" b="1" i="0">
                <a:solidFill>
                  <a:srgbClr val="A82020"/>
                </a:solidFill>
                <a:latin typeface="Calibri"/>
              </a:rPr>
              <a:t>1.93x</a:t>
            </a:r>
          </a:p>
        </p:txBody>
      </p:sp>
      <p:sp>
        <p:nvSpPr>
          <p:cNvPr id="49" name="TextBox 48"/>
          <p:cNvSpPr txBox="1"/>
          <p:nvPr/>
        </p:nvSpPr>
        <p:spPr>
          <a:xfrm>
            <a:off x="6199200" y="3603600"/>
            <a:ext cx="1508760" cy="151200"/>
          </a:xfrm>
          <a:prstGeom prst="rect">
            <a:avLst/>
          </a:prstGeom>
          <a:noFill/>
        </p:spPr>
        <p:txBody>
          <a:bodyPr wrap="square">
            <a:spAutoFit/>
          </a:bodyPr>
          <a:lstStyle/>
          <a:p>
            <a:pPr algn="l"/>
            <a:r>
              <a:rPr sz="900" b="0" i="0">
                <a:solidFill>
                  <a:srgbClr val="555555"/>
                </a:solidFill>
                <a:latin typeface="Calibri"/>
              </a:rPr>
              <a:t>Leverage exit</a:t>
            </a:r>
          </a:p>
        </p:txBody>
      </p:sp>
      <p:sp>
        <p:nvSpPr>
          <p:cNvPr id="50" name="TextBox 49"/>
          <p:cNvSpPr txBox="1"/>
          <p:nvPr/>
        </p:nvSpPr>
        <p:spPr>
          <a:xfrm>
            <a:off x="7599960" y="3603600"/>
            <a:ext cx="1097280" cy="151200"/>
          </a:xfrm>
          <a:prstGeom prst="rect">
            <a:avLst/>
          </a:prstGeom>
          <a:noFill/>
        </p:spPr>
        <p:txBody>
          <a:bodyPr wrap="square">
            <a:spAutoFit/>
          </a:bodyPr>
          <a:lstStyle/>
          <a:p>
            <a:pPr algn="r"/>
            <a:r>
              <a:rPr sz="1100" b="1" i="0">
                <a:solidFill>
                  <a:srgbClr val="A82020"/>
                </a:solidFill>
                <a:latin typeface="Calibri"/>
              </a:rPr>
              <a:t>1.74x</a:t>
            </a:r>
          </a:p>
        </p:txBody>
      </p:sp>
      <p:sp>
        <p:nvSpPr>
          <p:cNvPr id="51" name="TextBox 50"/>
          <p:cNvSpPr txBox="1"/>
          <p:nvPr/>
        </p:nvSpPr>
        <p:spPr>
          <a:xfrm>
            <a:off x="6199200" y="3812400"/>
            <a:ext cx="1508760" cy="151200"/>
          </a:xfrm>
          <a:prstGeom prst="rect">
            <a:avLst/>
          </a:prstGeom>
          <a:noFill/>
        </p:spPr>
        <p:txBody>
          <a:bodyPr wrap="square">
            <a:spAutoFit/>
          </a:bodyPr>
          <a:lstStyle/>
          <a:p>
            <a:pPr algn="l"/>
            <a:r>
              <a:rPr sz="900" b="0" i="0">
                <a:solidFill>
                  <a:srgbClr val="555555"/>
                </a:solidFill>
                <a:latin typeface="Calibri"/>
              </a:rPr>
              <a:t>ICR exit</a:t>
            </a:r>
          </a:p>
        </p:txBody>
      </p:sp>
      <p:sp>
        <p:nvSpPr>
          <p:cNvPr id="52" name="TextBox 51"/>
          <p:cNvSpPr txBox="1"/>
          <p:nvPr/>
        </p:nvSpPr>
        <p:spPr>
          <a:xfrm>
            <a:off x="7599960" y="3812400"/>
            <a:ext cx="1097280" cy="151200"/>
          </a:xfrm>
          <a:prstGeom prst="rect">
            <a:avLst/>
          </a:prstGeom>
          <a:noFill/>
        </p:spPr>
        <p:txBody>
          <a:bodyPr wrap="square">
            <a:spAutoFit/>
          </a:bodyPr>
          <a:lstStyle/>
          <a:p>
            <a:pPr algn="r"/>
            <a:r>
              <a:rPr sz="1100" b="1" i="0">
                <a:solidFill>
                  <a:srgbClr val="A82020"/>
                </a:solidFill>
                <a:latin typeface="Calibri"/>
              </a:rPr>
              <a:t>6.2x</a:t>
            </a:r>
          </a:p>
        </p:txBody>
      </p:sp>
      <p:sp>
        <p:nvSpPr>
          <p:cNvPr id="53" name="Rectangle 52"/>
          <p:cNvSpPr/>
          <p:nvPr/>
        </p:nvSpPr>
        <p:spPr>
          <a:xfrm>
            <a:off x="367200" y="4068000"/>
            <a:ext cx="8413200" cy="7488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367200" y="4068000"/>
            <a:ext cx="792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75200" y="4096800"/>
            <a:ext cx="8298000" cy="151200"/>
          </a:xfrm>
          <a:prstGeom prst="rect">
            <a:avLst/>
          </a:prstGeom>
          <a:noFill/>
        </p:spPr>
        <p:txBody>
          <a:bodyPr wrap="none">
            <a:spAutoFit/>
          </a:bodyPr>
          <a:lstStyle/>
          <a:p>
            <a:pPr algn="l"/>
            <a:r>
              <a:rPr sz="950" b="1" i="0">
                <a:solidFill>
                  <a:srgbClr val="1B3A6B"/>
                </a:solidFill>
                <a:latin typeface="Calibri"/>
              </a:rPr>
              <a:t>LBO MSFT : IRR 20.1% — deal attractif pour sponsor PE top-tier</a:t>
            </a:r>
          </a:p>
        </p:txBody>
      </p:sp>
      <p:sp>
        <p:nvSpPr>
          <p:cNvPr id="56" name="TextBox 55"/>
          <p:cNvSpPr txBox="1"/>
          <p:nvPr/>
        </p:nvSpPr>
        <p:spPr>
          <a:xfrm>
            <a:off x="475200" y="4266000"/>
            <a:ext cx="8298000" cy="525600"/>
          </a:xfrm>
          <a:prstGeom prst="rect">
            <a:avLst/>
          </a:prstGeom>
          <a:noFill/>
        </p:spPr>
        <p:txBody>
          <a:bodyPr wrap="square">
            <a:spAutoFit/>
          </a:bodyPr>
          <a:lstStyle/>
          <a:p>
            <a:pPr algn="l"/>
            <a:r>
              <a:rPr sz="850" b="0" i="0">
                <a:solidFill>
                  <a:srgbClr val="555555"/>
                </a:solidFill>
                <a:latin typeface="Calibri"/>
              </a:rPr>
              <a:t>Les risques principaux du montage portent sur quatre dimensions. (1) Opérationnel : compression des marges EBITDA en cas de ralentissement sectoriel, exécution du business plan sponsor (réduction coûts, croissance organique). (2) Financier : respect des covenants leverage et coverage, capacité de refinancement à 5 ans dans un environnement de taux incertain. (3) Marché : compression des multiples de sortie sous l'effet d'un re-rating sectoriel ou macro. (4) Stress : le scénario bear projette un IRR de 14,0% avec leverage exit 1,5x, traduisant la sensibilité du deal aux hypothèses centrales. La thèse s'invalide si la marge EBITDA perd plus de 200 bps ou si le multiple de sortie chute de 2x.</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04</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Risques &amp; Stratégie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Avocat du diable &amp; conditions d'invalidation</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1B3A6B"/>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Risques &amp; Conditions d'Invalidation</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des risques structurels  ·  Thèse contraire</a:t>
            </a:r>
          </a:p>
        </p:txBody>
      </p:sp>
      <p:sp>
        <p:nvSpPr>
          <p:cNvPr id="17" name="Rectangle 16"/>
          <p:cNvSpPr/>
          <p:nvPr/>
        </p:nvSpPr>
        <p:spPr>
          <a:xfrm>
            <a:off x="367200" y="961200"/>
            <a:ext cx="2743200" cy="1918800"/>
          </a:xfrm>
          <a:prstGeom prst="rect">
            <a:avLst/>
          </a:prstGeom>
          <a:solidFill>
            <a:srgbClr val="FA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2743200" cy="5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200" y="1069200"/>
            <a:ext cx="2527200" cy="396000"/>
          </a:xfrm>
          <a:prstGeom prst="rect">
            <a:avLst/>
          </a:prstGeom>
          <a:noFill/>
        </p:spPr>
        <p:txBody>
          <a:bodyPr wrap="square">
            <a:spAutoFit/>
          </a:bodyPr>
          <a:lstStyle/>
          <a:p>
            <a:pPr algn="l"/>
            <a:r>
              <a:rPr sz="900" b="1" i="0">
                <a:solidFill>
                  <a:srgbClr val="A82020"/>
                </a:solidFill>
                <a:latin typeface="Calibri"/>
              </a:rPr>
              <a:t>CAPEX cloud explosifs</a:t>
            </a:r>
          </a:p>
        </p:txBody>
      </p:sp>
      <p:sp>
        <p:nvSpPr>
          <p:cNvPr id="20" name="TextBox 19"/>
          <p:cNvSpPr txBox="1"/>
          <p:nvPr/>
        </p:nvSpPr>
        <p:spPr>
          <a:xfrm>
            <a:off x="475200" y="1537199"/>
            <a:ext cx="2527200" cy="1260000"/>
          </a:xfrm>
          <a:prstGeom prst="rect">
            <a:avLst/>
          </a:prstGeom>
          <a:noFill/>
        </p:spPr>
        <p:txBody>
          <a:bodyPr wrap="square">
            <a:spAutoFit/>
          </a:bodyPr>
          <a:lstStyle/>
          <a:p>
            <a:pPr algn="l"/>
            <a:r>
              <a:rPr sz="800" b="0" i="0">
                <a:solidFill>
                  <a:srgbClr val="555555"/>
                </a:solidFill>
                <a:latin typeface="Calibri"/>
              </a:rPr>
              <a:t>Le leadership cloud de Microsoft repose sur des contrats pluriannuels avec des géants comme OpenAI, dont les coûts d'infrastructure explosent : les dépenses CAPEX d'Azure ont bondi de 45% en 2023 à 22 milliards USD, grevant les marges futures. Les marges brutes de 68,8% masquent une compression structurelle liée à la concurrence agressive d'AWS et Google Cloud, avec des baisses de prix de 20 à</a:t>
            </a:r>
          </a:p>
        </p:txBody>
      </p:sp>
      <p:sp>
        <p:nvSpPr>
          <p:cNvPr id="21" name="Rectangle 20"/>
          <p:cNvSpPr/>
          <p:nvPr/>
        </p:nvSpPr>
        <p:spPr>
          <a:xfrm>
            <a:off x="3229200" y="961200"/>
            <a:ext cx="2743200" cy="191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29200" y="961200"/>
            <a:ext cx="27432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37200" y="1069200"/>
            <a:ext cx="2527200" cy="396000"/>
          </a:xfrm>
          <a:prstGeom prst="rect">
            <a:avLst/>
          </a:prstGeom>
          <a:noFill/>
        </p:spPr>
        <p:txBody>
          <a:bodyPr wrap="square">
            <a:spAutoFit/>
          </a:bodyPr>
          <a:lstStyle/>
          <a:p>
            <a:pPr algn="l"/>
            <a:r>
              <a:rPr sz="900" b="1" i="0">
                <a:solidFill>
                  <a:srgbClr val="2E5FA3"/>
                </a:solidFill>
                <a:latin typeface="Calibri"/>
              </a:rPr>
              <a:t>Concurrence open-source</a:t>
            </a:r>
          </a:p>
        </p:txBody>
      </p:sp>
      <p:sp>
        <p:nvSpPr>
          <p:cNvPr id="24" name="TextBox 23"/>
          <p:cNvSpPr txBox="1"/>
          <p:nvPr/>
        </p:nvSpPr>
        <p:spPr>
          <a:xfrm>
            <a:off x="3337200" y="1537199"/>
            <a:ext cx="2527200" cy="1260000"/>
          </a:xfrm>
          <a:prstGeom prst="rect">
            <a:avLst/>
          </a:prstGeom>
          <a:noFill/>
        </p:spPr>
        <p:txBody>
          <a:bodyPr wrap="square">
            <a:spAutoFit/>
          </a:bodyPr>
          <a:lstStyle/>
          <a:p>
            <a:pPr algn="l"/>
            <a:r>
              <a:rPr sz="800" b="0" i="0">
                <a:solidFill>
                  <a:srgbClr val="555555"/>
                </a:solidFill>
                <a:latin typeface="Calibri"/>
              </a:rPr>
              <a:t>L'écosystème fermé de Microsoft, autrefois avantage concurrentiel, devient un boulet avec l'adoption croissante de solutions open-source : les parts de marché de Linux dans le cloud public atteignent 47% en 2024, contre 32% en 2020, fragilisant la fidélisation des clients. Les coûts de migration vers Azure pour les entreprises dépassent souvent 50% des économies initiales, accélérant les retours</a:t>
            </a:r>
          </a:p>
        </p:txBody>
      </p:sp>
      <p:sp>
        <p:nvSpPr>
          <p:cNvPr id="25" name="Rectangle 24"/>
          <p:cNvSpPr/>
          <p:nvPr/>
        </p:nvSpPr>
        <p:spPr>
          <a:xfrm>
            <a:off x="6091200" y="961200"/>
            <a:ext cx="2743200" cy="1918800"/>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091200" y="961200"/>
            <a:ext cx="2743200" cy="5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99200" y="1069200"/>
            <a:ext cx="2527200" cy="396000"/>
          </a:xfrm>
          <a:prstGeom prst="rect">
            <a:avLst/>
          </a:prstGeom>
          <a:noFill/>
        </p:spPr>
        <p:txBody>
          <a:bodyPr wrap="square">
            <a:spAutoFit/>
          </a:bodyPr>
          <a:lstStyle/>
          <a:p>
            <a:pPr algn="l"/>
            <a:r>
              <a:rPr sz="900" b="1" i="0">
                <a:solidFill>
                  <a:srgbClr val="B06000"/>
                </a:solidFill>
                <a:latin typeface="Calibri"/>
              </a:rPr>
              <a:t>Risque fiscal UE</a:t>
            </a:r>
          </a:p>
        </p:txBody>
      </p:sp>
      <p:sp>
        <p:nvSpPr>
          <p:cNvPr id="28" name="TextBox 27"/>
          <p:cNvSpPr txBox="1"/>
          <p:nvPr/>
        </p:nvSpPr>
        <p:spPr>
          <a:xfrm>
            <a:off x="6199200" y="1537199"/>
            <a:ext cx="2527200" cy="1260000"/>
          </a:xfrm>
          <a:prstGeom prst="rect">
            <a:avLst/>
          </a:prstGeom>
          <a:noFill/>
        </p:spPr>
        <p:txBody>
          <a:bodyPr wrap="square">
            <a:spAutoFit/>
          </a:bodyPr>
          <a:lstStyle/>
          <a:p>
            <a:pPr algn="l"/>
            <a:r>
              <a:rPr sz="800" b="0" i="0">
                <a:solidFill>
                  <a:srgbClr val="555555"/>
                </a:solidFill>
                <a:latin typeface="Calibri"/>
              </a:rPr>
              <a:t>Les marges exceptionnelles de 36,1% reposent sur une fiscalité optimisée via des filiales irlandaises, mais les régulateurs européens et américains serrent l'étau : une amende de 1,5 milliard USD en 2024 pour abus de position dominante en Irlande menace les flux futurs. Le ROE de 29,6% pourrait chuter sous 20% si les taux d'imposition mondiaux convergent vers 25%, selon les projections de Goldman</a:t>
            </a:r>
          </a:p>
        </p:txBody>
      </p:sp>
      <p:sp>
        <p:nvSpPr>
          <p:cNvPr id="29" name="Rectangle 28"/>
          <p:cNvSpPr/>
          <p:nvPr/>
        </p:nvSpPr>
        <p:spPr>
          <a:xfrm>
            <a:off x="367200" y="29988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7200" y="3070800"/>
            <a:ext cx="8413200" cy="165600"/>
          </a:xfrm>
          <a:prstGeom prst="rect">
            <a:avLst/>
          </a:prstGeom>
          <a:noFill/>
        </p:spPr>
        <p:txBody>
          <a:bodyPr wrap="square">
            <a:spAutoFit/>
          </a:bodyPr>
          <a:lstStyle/>
          <a:p>
            <a:pPr algn="l"/>
            <a:r>
              <a:rPr sz="900" b="1" i="0">
                <a:solidFill>
                  <a:srgbClr val="1B3A6B"/>
                </a:solidFill>
                <a:latin typeface="Calibri"/>
              </a:rPr>
              <a:t>Conditions d'invalidation de la thèse</a:t>
            </a:r>
          </a:p>
        </p:txBody>
      </p:sp>
      <p:graphicFrame>
        <p:nvGraphicFramePr>
          <p:cNvPr id="31" name="Table 30"/>
          <p:cNvGraphicFramePr>
            <a:graphicFrameLocks noGrp="1"/>
          </p:cNvGraphicFramePr>
          <p:nvPr/>
        </p:nvGraphicFramePr>
        <p:xfrm>
          <a:off x="367200" y="3308400"/>
          <a:ext cx="8413200" cy="1098000"/>
        </p:xfrm>
        <a:graphic>
          <a:graphicData uri="http://schemas.openxmlformats.org/drawingml/2006/table">
            <a:tbl>
              <a:tblPr firstRow="1" bandRow="1">
                <a:tableStyleId>{5C22544A-7EE6-4342-B048-85BDC9FD1C3A}</a:tableStyleId>
              </a:tblPr>
              <a:tblGrid>
                <a:gridCol w="1261980"/>
                <a:gridCol w="5468580"/>
                <a:gridCol w="1682640"/>
              </a:tblGrid>
              <a:tr h="274500">
                <a:tc>
                  <a:txBody>
                    <a:bodyPr/>
                    <a:lstStyle/>
                    <a:p>
                      <a:pPr algn="l"/>
                      <a:r>
                        <a:rPr sz="800" b="1" i="0">
                          <a:solidFill>
                            <a:srgbClr val="FFFFFF"/>
                          </a:solidFill>
                          <a:latin typeface="Calibri"/>
                        </a:rPr>
                        <a:t>Axe</a:t>
                      </a:r>
                    </a:p>
                  </a:txBody>
                  <a:tcPr>
                    <a:solidFill>
                      <a:srgbClr val="1B3A6B"/>
                    </a:solidFill>
                  </a:tcPr>
                </a:tc>
                <a:tc>
                  <a:txBody>
                    <a:bodyPr/>
                    <a:lstStyle/>
                    <a:p>
                      <a:pPr algn="ctr"/>
                      <a:r>
                        <a:rPr sz="800" b="1" i="0">
                          <a:solidFill>
                            <a:srgbClr val="FFFFFF"/>
                          </a:solidFill>
                          <a:latin typeface="Calibri"/>
                        </a:rPr>
                        <a:t>Condition d'invalidation</a:t>
                      </a:r>
                    </a:p>
                  </a:txBody>
                  <a:tcPr>
                    <a:solidFill>
                      <a:srgbClr val="1B3A6B"/>
                    </a:solidFill>
                  </a:tcPr>
                </a:tc>
                <a:tc>
                  <a:txBody>
                    <a:bodyPr/>
                    <a:lstStyle/>
                    <a:p>
                      <a:pPr algn="ctr"/>
                      <a:r>
                        <a:rPr sz="800" b="1" i="0">
                          <a:solidFill>
                            <a:srgbClr val="FFFFFF"/>
                          </a:solidFill>
                          <a:latin typeface="Calibri"/>
                        </a:rPr>
                        <a:t>Horizon</a:t>
                      </a:r>
                    </a:p>
                  </a:txBody>
                  <a:tcPr>
                    <a:solidFill>
                      <a:srgbClr val="1B3A6B"/>
                    </a:solidFill>
                  </a:tcPr>
                </a:tc>
              </a:tr>
              <a:tr h="274500">
                <a:tc>
                  <a:txBody>
                    <a:bodyPr/>
                    <a:lstStyle/>
                    <a:p>
                      <a:pPr algn="l"/>
                      <a:r>
                        <a:rPr sz="800" b="1" i="0">
                          <a:solidFill>
                            <a:srgbClr val="1B3A6B"/>
                          </a:solidFill>
                          <a:latin typeface="Calibri"/>
                        </a:rPr>
                        <a:t>Macro</a:t>
                      </a:r>
                    </a:p>
                  </a:txBody>
                  <a:tcPr>
                    <a:solidFill>
                      <a:srgbClr val="FFFFFF"/>
                    </a:solidFill>
                  </a:tcPr>
                </a:tc>
                <a:tc>
                  <a:txBody>
                    <a:bodyPr/>
                    <a:lstStyle/>
                    <a:p>
                      <a:pPr algn="ctr"/>
                      <a:r>
                        <a:rPr sz="800" b="0" i="0">
                          <a:solidFill>
                            <a:srgbClr val="0D0D0D"/>
                          </a:solidFill>
                          <a:latin typeface="Calibri"/>
                        </a:rPr>
                        <a:t>Récession mondiale réduisant les dépenses IT de 15%</a:t>
                      </a:r>
                    </a:p>
                  </a:txBody>
                  <a:tcPr>
                    <a:solidFill>
                      <a:srgbClr val="FFFFFF"/>
                    </a:solidFill>
                  </a:tcPr>
                </a:tc>
                <a:tc>
                  <a:txBody>
                    <a:bodyPr/>
                    <a:lstStyle/>
                    <a:p>
                      <a:pPr algn="ctr"/>
                      <a:r>
                        <a:rPr sz="800" b="0" i="0">
                          <a:solidFill>
                            <a:srgbClr val="0D0D0D"/>
                          </a:solidFill>
                          <a:latin typeface="Calibri"/>
                        </a:rPr>
                        <a:t>6-12 mois</a:t>
                      </a:r>
                    </a:p>
                  </a:txBody>
                  <a:tcPr>
                    <a:solidFill>
                      <a:srgbClr val="FFFFFF"/>
                    </a:solidFill>
                  </a:tcPr>
                </a:tc>
              </a:tr>
              <a:tr h="274500">
                <a:tc>
                  <a:txBody>
                    <a:bodyPr/>
                    <a:lstStyle/>
                    <a:p>
                      <a:pPr algn="l"/>
                      <a:r>
                        <a:rPr sz="800" b="1" i="0">
                          <a:solidFill>
                            <a:srgbClr val="1B3A6B"/>
                          </a:solidFill>
                          <a:latin typeface="Calibri"/>
                        </a:rPr>
                        <a:t>Sectoriel</a:t>
                      </a:r>
                    </a:p>
                  </a:txBody>
                  <a:tcPr>
                    <a:solidFill>
                      <a:srgbClr val="F7F8FA"/>
                    </a:solidFill>
                  </a:tcPr>
                </a:tc>
                <a:tc>
                  <a:txBody>
                    <a:bodyPr/>
                    <a:lstStyle/>
                    <a:p>
                      <a:pPr algn="ctr"/>
                      <a:r>
                        <a:rPr sz="800" b="0" i="0">
                          <a:solidFill>
                            <a:srgbClr val="0D0D0D"/>
                          </a:solidFill>
                          <a:latin typeface="Calibri"/>
                        </a:rPr>
                        <a:t>Régulation stricte de l'IA limitant l'adoption de Copilot</a:t>
                      </a:r>
                    </a:p>
                  </a:txBody>
                  <a:tcPr>
                    <a:solidFill>
                      <a:srgbClr val="F7F8FA"/>
                    </a:solidFill>
                  </a:tcPr>
                </a:tc>
                <a:tc>
                  <a:txBody>
                    <a:bodyPr/>
                    <a:lstStyle/>
                    <a:p>
                      <a:pPr algn="ctr"/>
                      <a:r>
                        <a:rPr sz="800" b="0" i="0">
                          <a:solidFill>
                            <a:srgbClr val="0D0D0D"/>
                          </a:solidFill>
                          <a:latin typeface="Calibri"/>
                        </a:rPr>
                        <a:t>12-18 mois</a:t>
                      </a:r>
                    </a:p>
                  </a:txBody>
                  <a:tcPr>
                    <a:solidFill>
                      <a:srgbClr val="F7F8FA"/>
                    </a:solidFill>
                  </a:tcPr>
                </a:tc>
              </a:tr>
              <a:tr h="274500">
                <a:tc>
                  <a:txBody>
                    <a:bodyPr/>
                    <a:lstStyle/>
                    <a:p>
                      <a:pPr algn="l"/>
                      <a:r>
                        <a:rPr sz="800" b="1" i="0">
                          <a:solidFill>
                            <a:srgbClr val="1B3A6B"/>
                          </a:solidFill>
                          <a:latin typeface="Calibri"/>
                        </a:rPr>
                        <a:t>Societe</a:t>
                      </a:r>
                    </a:p>
                  </a:txBody>
                  <a:tcPr>
                    <a:solidFill>
                      <a:srgbClr val="FFFFFF"/>
                    </a:solidFill>
                  </a:tcPr>
                </a:tc>
                <a:tc>
                  <a:txBody>
                    <a:bodyPr/>
                    <a:lstStyle/>
                    <a:p>
                      <a:pPr algn="ctr"/>
                      <a:r>
                        <a:rPr sz="800" b="0" i="0">
                          <a:solidFill>
                            <a:srgbClr val="0D0D0D"/>
                          </a:solidFill>
                          <a:latin typeface="Calibri"/>
                        </a:rPr>
                        <a:t>Échec commercial de Copilot avec perte de 20% utilisateurs</a:t>
                      </a:r>
                    </a:p>
                  </a:txBody>
                  <a:tcPr>
                    <a:solidFill>
                      <a:srgbClr val="FFFFFF"/>
                    </a:solidFill>
                  </a:tcPr>
                </a:tc>
                <a:tc>
                  <a:txBody>
                    <a:bodyPr/>
                    <a:lstStyle/>
                    <a:p>
                      <a:pPr algn="ctr"/>
                      <a:r>
                        <a:rPr sz="800" b="0" i="0">
                          <a:solidFill>
                            <a:srgbClr val="0D0D0D"/>
                          </a:solidFill>
                          <a:latin typeface="Calibri"/>
                        </a:rPr>
                        <a:t>2-3 trim.</a:t>
                      </a:r>
                    </a:p>
                  </a:txBody>
                  <a:tcPr>
                    <a:solidFill>
                      <a:srgbClr val="FFFFFF"/>
                    </a:solidFill>
                  </a:tcPr>
                </a:tc>
              </a:tr>
            </a:tbl>
          </a:graphicData>
        </a:graphic>
      </p:graphicFrame>
      <p:sp>
        <p:nvSpPr>
          <p:cNvPr id="32" name="Rectangle 31"/>
          <p:cNvSpPr/>
          <p:nvPr/>
        </p:nvSpPr>
        <p:spPr>
          <a:xfrm>
            <a:off x="367200" y="4338000"/>
            <a:ext cx="2804400" cy="18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4338000"/>
            <a:ext cx="43200" cy="18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46400" y="4348800"/>
            <a:ext cx="2696400" cy="158400"/>
          </a:xfrm>
          <a:prstGeom prst="rect">
            <a:avLst/>
          </a:prstGeom>
          <a:noFill/>
        </p:spPr>
        <p:txBody>
          <a:bodyPr wrap="square">
            <a:spAutoFit/>
          </a:bodyPr>
          <a:lstStyle/>
          <a:p>
            <a:pPr algn="l"/>
            <a:r>
              <a:rPr sz="700" b="0" i="0">
                <a:solidFill>
                  <a:srgbClr val="1B3A6B"/>
                </a:solidFill>
                <a:latin typeface="Calibri"/>
              </a:rPr>
              <a:t>Détresse : 0/100  Sain</a:t>
            </a:r>
          </a:p>
        </p:txBody>
      </p:sp>
      <p:sp>
        <p:nvSpPr>
          <p:cNvPr id="35" name="Rectangle 34"/>
          <p:cNvSpPr/>
          <p:nvPr/>
        </p:nvSpPr>
        <p:spPr>
          <a:xfrm>
            <a:off x="3243600" y="4338000"/>
            <a:ext cx="2804400" cy="18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243600" y="4338000"/>
            <a:ext cx="43200" cy="18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322800" y="4348800"/>
            <a:ext cx="2696400" cy="158400"/>
          </a:xfrm>
          <a:prstGeom prst="rect">
            <a:avLst/>
          </a:prstGeom>
          <a:noFill/>
        </p:spPr>
        <p:txBody>
          <a:bodyPr wrap="square">
            <a:spAutoFit/>
          </a:bodyPr>
          <a:lstStyle/>
          <a:p>
            <a:pPr algn="l"/>
            <a:r>
              <a:rPr sz="700" b="0" i="0">
                <a:solidFill>
                  <a:srgbClr val="1B3A6B"/>
                </a:solidFill>
                <a:latin typeface="Calibri"/>
              </a:rPr>
              <a:t>M&amp;A : 47/100  Moderate</a:t>
            </a:r>
          </a:p>
        </p:txBody>
      </p:sp>
      <p:sp>
        <p:nvSpPr>
          <p:cNvPr id="38" name="Rectangle 37"/>
          <p:cNvSpPr/>
          <p:nvPr/>
        </p:nvSpPr>
        <p:spPr>
          <a:xfrm>
            <a:off x="6123600" y="4338000"/>
            <a:ext cx="2804400" cy="18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23600" y="4338000"/>
            <a:ext cx="43200" cy="18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202800" y="4348800"/>
            <a:ext cx="2696400" cy="158400"/>
          </a:xfrm>
          <a:prstGeom prst="rect">
            <a:avLst/>
          </a:prstGeom>
          <a:noFill/>
        </p:spPr>
        <p:txBody>
          <a:bodyPr wrap="square">
            <a:spAutoFit/>
          </a:bodyPr>
          <a:lstStyle/>
          <a:p>
            <a:pPr algn="l"/>
            <a:r>
              <a:rPr sz="700" b="0" i="0">
                <a:solidFill>
                  <a:srgbClr val="1B3A6B"/>
                </a:solidFill>
                <a:latin typeface="Calibri"/>
              </a:rPr>
              <a:t>Régime : Bull  Rec.6M:10%</a:t>
            </a:r>
          </a:p>
        </p:txBody>
      </p:sp>
      <p:sp>
        <p:nvSpPr>
          <p:cNvPr id="41" name="Rectangle 40"/>
          <p:cNvSpPr/>
          <p:nvPr/>
        </p:nvSpPr>
        <p:spPr>
          <a:xfrm>
            <a:off x="367200" y="4528800"/>
            <a:ext cx="2804400" cy="180000"/>
          </a:xfrm>
          <a:prstGeom prst="rect">
            <a:avLst/>
          </a:prstGeom>
          <a:solidFill>
            <a:srgbClr val="EB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367200" y="4528800"/>
            <a:ext cx="43200" cy="18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46400" y="4539600"/>
            <a:ext cx="2696400" cy="158400"/>
          </a:xfrm>
          <a:prstGeom prst="rect">
            <a:avLst/>
          </a:prstGeom>
          <a:noFill/>
        </p:spPr>
        <p:txBody>
          <a:bodyPr wrap="square">
            <a:spAutoFit/>
          </a:bodyPr>
          <a:lstStyle/>
          <a:p>
            <a:pPr algn="l"/>
            <a:r>
              <a:rPr sz="700" b="0" i="0">
                <a:solidFill>
                  <a:srgbClr val="1B3A6B"/>
                </a:solidFill>
                <a:latin typeface="Calibri"/>
              </a:rPr>
              <a:t>Earnings Qualité : Correcte (0.70x)</a:t>
            </a:r>
          </a:p>
        </p:txBody>
      </p:sp>
      <p:sp>
        <p:nvSpPr>
          <p:cNvPr id="44" name="Rectangle 43"/>
          <p:cNvSpPr/>
          <p:nvPr/>
        </p:nvSpPr>
        <p:spPr>
          <a:xfrm>
            <a:off x="3243600" y="4528800"/>
            <a:ext cx="2804400" cy="180000"/>
          </a:xfrm>
          <a:prstGeom prst="rect">
            <a:avLst/>
          </a:prstGeom>
          <a:solidFill>
            <a:srgbClr val="EB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3243600" y="4528800"/>
            <a:ext cx="43200" cy="18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322800" y="4539600"/>
            <a:ext cx="2696400" cy="158400"/>
          </a:xfrm>
          <a:prstGeom prst="rect">
            <a:avLst/>
          </a:prstGeom>
          <a:noFill/>
        </p:spPr>
        <p:txBody>
          <a:bodyPr wrap="square">
            <a:spAutoFit/>
          </a:bodyPr>
          <a:lstStyle/>
          <a:p>
            <a:pPr algn="l"/>
            <a:r>
              <a:rPr sz="700" b="0" i="0">
                <a:solidFill>
                  <a:srgbClr val="1B3A6B"/>
                </a:solidFill>
                <a:latin typeface="Calibri"/>
              </a:rPr>
              <a:t>Struct. Capital : Saine (7% CT)</a:t>
            </a:r>
          </a:p>
        </p:txBody>
      </p:sp>
      <p:sp>
        <p:nvSpPr>
          <p:cNvPr id="47" name="Rectangle 46"/>
          <p:cNvSpPr/>
          <p:nvPr/>
        </p:nvSpPr>
        <p:spPr>
          <a:xfrm>
            <a:off x="6123600" y="4528800"/>
            <a:ext cx="2804400" cy="180000"/>
          </a:xfrm>
          <a:prstGeom prst="rect">
            <a:avLst/>
          </a:prstGeom>
          <a:solidFill>
            <a:srgbClr val="EB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123600" y="4528800"/>
            <a:ext cx="43200" cy="18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202800" y="4539600"/>
            <a:ext cx="2696400" cy="158400"/>
          </a:xfrm>
          <a:prstGeom prst="rect">
            <a:avLst/>
          </a:prstGeom>
          <a:noFill/>
        </p:spPr>
        <p:txBody>
          <a:bodyPr wrap="square">
            <a:spAutoFit/>
          </a:bodyPr>
          <a:lstStyle/>
          <a:p>
            <a:pPr algn="l"/>
            <a:r>
              <a:rPr sz="700" b="0" i="0">
                <a:solidFill>
                  <a:srgbClr val="1B3A6B"/>
                </a:solidFill>
                <a:latin typeface="Calibri"/>
              </a:rPr>
              <a:t>Dividende : Tres soutenable (3.9x)</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05</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Sentiment &amp; Annexes</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FinBERT, actionnariat &amp; historique de cours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Sentiment de Marché — LLM Groq</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sémantique  ·  30 articles  ·  7 derniers jours  ·  Classification LLM</a:t>
            </a:r>
          </a:p>
        </p:txBody>
      </p:sp>
      <p:sp>
        <p:nvSpPr>
          <p:cNvPr id="17" name="Rectangle 16"/>
          <p:cNvSpPr/>
          <p:nvPr/>
        </p:nvSpPr>
        <p:spPr>
          <a:xfrm>
            <a:off x="367200" y="961200"/>
            <a:ext cx="25596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422800" cy="396000"/>
          </a:xfrm>
          <a:prstGeom prst="rect">
            <a:avLst/>
          </a:prstGeom>
          <a:noFill/>
        </p:spPr>
        <p:txBody>
          <a:bodyPr wrap="square">
            <a:spAutoFit/>
          </a:bodyPr>
          <a:lstStyle/>
          <a:p>
            <a:pPr algn="l"/>
            <a:r>
              <a:rPr sz="1900" b="1" i="0">
                <a:solidFill>
                  <a:srgbClr val="1B3A6B"/>
                </a:solidFill>
                <a:latin typeface="Calibri"/>
              </a:rPr>
              <a:t>Neutre</a:t>
            </a:r>
          </a:p>
        </p:txBody>
      </p:sp>
      <p:sp>
        <p:nvSpPr>
          <p:cNvPr id="20" name="TextBox 19"/>
          <p:cNvSpPr txBox="1"/>
          <p:nvPr/>
        </p:nvSpPr>
        <p:spPr>
          <a:xfrm>
            <a:off x="457200" y="1411200"/>
            <a:ext cx="2422800" cy="205199"/>
          </a:xfrm>
          <a:prstGeom prst="rect">
            <a:avLst/>
          </a:prstGeom>
          <a:noFill/>
        </p:spPr>
        <p:txBody>
          <a:bodyPr wrap="square">
            <a:spAutoFit/>
          </a:bodyPr>
          <a:lstStyle/>
          <a:p>
            <a:pPr algn="l"/>
            <a:r>
              <a:rPr sz="800" b="0" i="0">
                <a:solidFill>
                  <a:srgbClr val="555555"/>
                </a:solidFill>
                <a:latin typeface="Calibri"/>
              </a:rPr>
              <a:t>Orientation globale</a:t>
            </a:r>
          </a:p>
        </p:txBody>
      </p:sp>
      <p:sp>
        <p:nvSpPr>
          <p:cNvPr id="21" name="TextBox 20"/>
          <p:cNvSpPr txBox="1"/>
          <p:nvPr/>
        </p:nvSpPr>
        <p:spPr>
          <a:xfrm>
            <a:off x="457200" y="1609200"/>
            <a:ext cx="2422800" cy="165600"/>
          </a:xfrm>
          <a:prstGeom prst="rect">
            <a:avLst/>
          </a:prstGeom>
          <a:noFill/>
        </p:spPr>
        <p:txBody>
          <a:bodyPr wrap="square">
            <a:spAutoFit/>
          </a:bodyPr>
          <a:lstStyle/>
          <a:p>
            <a:pPr algn="l"/>
            <a:r>
              <a:rPr sz="700" b="0" i="0">
                <a:solidFill>
                  <a:srgbClr val="888888"/>
                </a:solidFill>
                <a:latin typeface="Calibri"/>
              </a:rPr>
              <a:t>Score agrégé : -0,010</a:t>
            </a:r>
          </a:p>
        </p:txBody>
      </p:sp>
      <p:sp>
        <p:nvSpPr>
          <p:cNvPr id="22" name="Rectangle 21"/>
          <p:cNvSpPr/>
          <p:nvPr/>
        </p:nvSpPr>
        <p:spPr>
          <a:xfrm>
            <a:off x="3110400" y="961200"/>
            <a:ext cx="182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1104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0" y="1015200"/>
            <a:ext cx="1692000" cy="396000"/>
          </a:xfrm>
          <a:prstGeom prst="rect">
            <a:avLst/>
          </a:prstGeom>
          <a:noFill/>
        </p:spPr>
        <p:txBody>
          <a:bodyPr wrap="square">
            <a:spAutoFit/>
          </a:bodyPr>
          <a:lstStyle/>
          <a:p>
            <a:pPr algn="l"/>
            <a:r>
              <a:rPr sz="1900" b="1" i="0">
                <a:solidFill>
                  <a:srgbClr val="1B3A6B"/>
                </a:solidFill>
                <a:latin typeface="Calibri"/>
              </a:rPr>
              <a:t>30</a:t>
            </a:r>
          </a:p>
        </p:txBody>
      </p:sp>
      <p:sp>
        <p:nvSpPr>
          <p:cNvPr id="25" name="TextBox 24"/>
          <p:cNvSpPr txBox="1"/>
          <p:nvPr/>
        </p:nvSpPr>
        <p:spPr>
          <a:xfrm>
            <a:off x="3200400" y="1411200"/>
            <a:ext cx="1692000" cy="205199"/>
          </a:xfrm>
          <a:prstGeom prst="rect">
            <a:avLst/>
          </a:prstGeom>
          <a:noFill/>
        </p:spPr>
        <p:txBody>
          <a:bodyPr wrap="square">
            <a:spAutoFit/>
          </a:bodyPr>
          <a:lstStyle/>
          <a:p>
            <a:pPr algn="l"/>
            <a:r>
              <a:rPr sz="800" b="0" i="0">
                <a:solidFill>
                  <a:srgbClr val="555555"/>
                </a:solidFill>
                <a:latin typeface="Calibri"/>
              </a:rPr>
              <a:t>Articles analysés</a:t>
            </a:r>
          </a:p>
        </p:txBody>
      </p:sp>
      <p:sp>
        <p:nvSpPr>
          <p:cNvPr id="26" name="TextBox 25"/>
          <p:cNvSpPr txBox="1"/>
          <p:nvPr/>
        </p:nvSpPr>
        <p:spPr>
          <a:xfrm>
            <a:off x="3200400" y="1609200"/>
            <a:ext cx="1692000" cy="165600"/>
          </a:xfrm>
          <a:prstGeom prst="rect">
            <a:avLst/>
          </a:prstGeom>
          <a:noFill/>
        </p:spPr>
        <p:txBody>
          <a:bodyPr wrap="square">
            <a:spAutoFit/>
          </a:bodyPr>
          <a:lstStyle/>
          <a:p>
            <a:pPr algn="l"/>
            <a:r>
              <a:rPr sz="700" b="0" i="0">
                <a:solidFill>
                  <a:srgbClr val="888888"/>
                </a:solidFill>
                <a:latin typeface="Calibri"/>
              </a:rPr>
              <a:t>Fenêtre : 7 jours</a:t>
            </a:r>
          </a:p>
        </p:txBody>
      </p:sp>
      <p:sp>
        <p:nvSpPr>
          <p:cNvPr id="27" name="Rectangle 26"/>
          <p:cNvSpPr/>
          <p:nvPr/>
        </p:nvSpPr>
        <p:spPr>
          <a:xfrm>
            <a:off x="5119200" y="961200"/>
            <a:ext cx="16452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119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09200" y="1015200"/>
            <a:ext cx="1508400" cy="396000"/>
          </a:xfrm>
          <a:prstGeom prst="rect">
            <a:avLst/>
          </a:prstGeom>
          <a:noFill/>
        </p:spPr>
        <p:txBody>
          <a:bodyPr wrap="square">
            <a:spAutoFit/>
          </a:bodyPr>
          <a:lstStyle/>
          <a:p>
            <a:pPr algn="l"/>
            <a:r>
              <a:rPr sz="1900" b="1" i="0">
                <a:solidFill>
                  <a:srgbClr val="1B3A6B"/>
                </a:solidFill>
                <a:latin typeface="Calibri"/>
              </a:rPr>
              <a:t>43,8 %</a:t>
            </a:r>
          </a:p>
        </p:txBody>
      </p:sp>
      <p:sp>
        <p:nvSpPr>
          <p:cNvPr id="30" name="TextBox 29"/>
          <p:cNvSpPr txBox="1"/>
          <p:nvPr/>
        </p:nvSpPr>
        <p:spPr>
          <a:xfrm>
            <a:off x="5209200" y="1411200"/>
            <a:ext cx="1508400" cy="205199"/>
          </a:xfrm>
          <a:prstGeom prst="rect">
            <a:avLst/>
          </a:prstGeom>
          <a:noFill/>
        </p:spPr>
        <p:txBody>
          <a:bodyPr wrap="square">
            <a:spAutoFit/>
          </a:bodyPr>
          <a:lstStyle/>
          <a:p>
            <a:pPr algn="l"/>
            <a:r>
              <a:rPr sz="800" b="0" i="0">
                <a:solidFill>
                  <a:srgbClr val="555555"/>
                </a:solidFill>
                <a:latin typeface="Calibri"/>
              </a:rPr>
              <a:t>Confiance IA</a:t>
            </a:r>
          </a:p>
        </p:txBody>
      </p:sp>
      <p:sp>
        <p:nvSpPr>
          <p:cNvPr id="31" name="TextBox 30"/>
          <p:cNvSpPr txBox="1"/>
          <p:nvPr/>
        </p:nvSpPr>
        <p:spPr>
          <a:xfrm>
            <a:off x="5209200" y="1609200"/>
            <a:ext cx="1508400" cy="165600"/>
          </a:xfrm>
          <a:prstGeom prst="rect">
            <a:avLst/>
          </a:prstGeom>
          <a:noFill/>
        </p:spPr>
        <p:txBody>
          <a:bodyPr wrap="square">
            <a:spAutoFit/>
          </a:bodyPr>
          <a:lstStyle/>
          <a:p>
            <a:pPr algn="l"/>
            <a:r>
              <a:rPr sz="700" b="0" i="0">
                <a:solidFill>
                  <a:srgbClr val="888888"/>
                </a:solidFill>
                <a:latin typeface="Calibri"/>
              </a:rPr>
              <a:t>Modèle LLM Groq</a:t>
            </a:r>
          </a:p>
        </p:txBody>
      </p:sp>
      <p:sp>
        <p:nvSpPr>
          <p:cNvPr id="32" name="Rectangle 31"/>
          <p:cNvSpPr/>
          <p:nvPr/>
        </p:nvSpPr>
        <p:spPr>
          <a:xfrm>
            <a:off x="6948000" y="961200"/>
            <a:ext cx="173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9480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38000" y="1015200"/>
            <a:ext cx="1602000" cy="396000"/>
          </a:xfrm>
          <a:prstGeom prst="rect">
            <a:avLst/>
          </a:prstGeom>
          <a:noFill/>
        </p:spPr>
        <p:txBody>
          <a:bodyPr wrap="square">
            <a:spAutoFit/>
          </a:bodyPr>
          <a:lstStyle/>
          <a:p>
            <a:pPr algn="l"/>
            <a:r>
              <a:rPr sz="1900" b="1" i="0">
                <a:solidFill>
                  <a:srgbClr val="1B3A6B"/>
                </a:solidFill>
                <a:latin typeface="Calibri"/>
              </a:rPr>
              <a:t>BUY</a:t>
            </a:r>
          </a:p>
        </p:txBody>
      </p:sp>
      <p:sp>
        <p:nvSpPr>
          <p:cNvPr id="35" name="TextBox 34"/>
          <p:cNvSpPr txBox="1"/>
          <p:nvPr/>
        </p:nvSpPr>
        <p:spPr>
          <a:xfrm>
            <a:off x="7038000" y="1411200"/>
            <a:ext cx="1602000" cy="205199"/>
          </a:xfrm>
          <a:prstGeom prst="rect">
            <a:avLst/>
          </a:prstGeom>
          <a:noFill/>
        </p:spPr>
        <p:txBody>
          <a:bodyPr wrap="square">
            <a:spAutoFit/>
          </a:bodyPr>
          <a:lstStyle/>
          <a:p>
            <a:pPr algn="l"/>
            <a:r>
              <a:rPr sz="800" b="0" i="0">
                <a:solidFill>
                  <a:srgbClr val="555555"/>
                </a:solidFill>
                <a:latin typeface="Calibri"/>
              </a:rPr>
              <a:t>Cohérence</a:t>
            </a:r>
          </a:p>
        </p:txBody>
      </p:sp>
      <p:sp>
        <p:nvSpPr>
          <p:cNvPr id="36" name="TextBox 35"/>
          <p:cNvSpPr txBox="1"/>
          <p:nvPr/>
        </p:nvSpPr>
        <p:spPr>
          <a:xfrm>
            <a:off x="7038000" y="1609200"/>
            <a:ext cx="1602000" cy="165600"/>
          </a:xfrm>
          <a:prstGeom prst="rect">
            <a:avLst/>
          </a:prstGeom>
          <a:noFill/>
        </p:spPr>
        <p:txBody>
          <a:bodyPr wrap="square">
            <a:spAutoFit/>
          </a:bodyPr>
          <a:lstStyle/>
          <a:p>
            <a:pPr algn="l"/>
            <a:r>
              <a:rPr sz="700" b="0" i="0">
                <a:solidFill>
                  <a:srgbClr val="888888"/>
                </a:solidFill>
                <a:latin typeface="Calibri"/>
              </a:rPr>
              <a:t>Aligné avec la thèse</a:t>
            </a:r>
          </a:p>
        </p:txBody>
      </p:sp>
      <p:sp>
        <p:nvSpPr>
          <p:cNvPr id="37" name="TextBox 36"/>
          <p:cNvSpPr txBox="1"/>
          <p:nvPr/>
        </p:nvSpPr>
        <p:spPr>
          <a:xfrm>
            <a:off x="367200" y="2084400"/>
            <a:ext cx="8413200" cy="165600"/>
          </a:xfrm>
          <a:prstGeom prst="rect">
            <a:avLst/>
          </a:prstGeom>
          <a:noFill/>
        </p:spPr>
        <p:txBody>
          <a:bodyPr wrap="square">
            <a:spAutoFit/>
          </a:bodyPr>
          <a:lstStyle/>
          <a:p>
            <a:pPr algn="l"/>
            <a:r>
              <a:rPr sz="900" b="1" i="0">
                <a:solidFill>
                  <a:srgbClr val="2E5FA3"/>
                </a:solidFill>
                <a:latin typeface="Calibri"/>
              </a:rPr>
              <a:t>Détail par orientation</a:t>
            </a:r>
          </a:p>
        </p:txBody>
      </p:sp>
      <p:graphicFrame>
        <p:nvGraphicFramePr>
          <p:cNvPr id="38" name="Table 37"/>
          <p:cNvGraphicFramePr>
            <a:graphicFrameLocks noGrp="1"/>
          </p:cNvGraphicFramePr>
          <p:nvPr/>
        </p:nvGraphicFramePr>
        <p:xfrm>
          <a:off x="367200" y="2332800"/>
          <a:ext cx="8413200" cy="1152000"/>
        </p:xfrm>
        <a:graphic>
          <a:graphicData uri="http://schemas.openxmlformats.org/drawingml/2006/table">
            <a:tbl>
              <a:tblPr firstRow="1" bandRow="1">
                <a:tableStyleId>{5C22544A-7EE6-4342-B048-85BDC9FD1C3A}</a:tableStyleId>
              </a:tblPr>
              <a:tblGrid>
                <a:gridCol w="1261980"/>
                <a:gridCol w="1261980"/>
                <a:gridCol w="1682640"/>
                <a:gridCol w="4206600"/>
              </a:tblGrid>
              <a:tr h="288000">
                <a:tc>
                  <a:txBody>
                    <a:bodyPr/>
                    <a:lstStyle/>
                    <a:p>
                      <a:pPr algn="l"/>
                      <a:r>
                        <a:rPr sz="800" b="1" i="0">
                          <a:solidFill>
                            <a:srgbClr val="FFFFFF"/>
                          </a:solidFill>
                          <a:latin typeface="Calibri"/>
                        </a:rPr>
                        <a:t>Orientation</a:t>
                      </a:r>
                    </a:p>
                  </a:txBody>
                  <a:tcPr>
                    <a:solidFill>
                      <a:srgbClr val="1B3A6B"/>
                    </a:solidFill>
                  </a:tcPr>
                </a:tc>
                <a:tc>
                  <a:txBody>
                    <a:bodyPr/>
                    <a:lstStyle/>
                    <a:p>
                      <a:pPr algn="ctr"/>
                      <a:r>
                        <a:rPr sz="800" b="1" i="0">
                          <a:solidFill>
                            <a:srgbClr val="FFFFFF"/>
                          </a:solidFill>
                          <a:latin typeface="Calibri"/>
                        </a:rPr>
                        <a:t>Articles</a:t>
                      </a:r>
                    </a:p>
                  </a:txBody>
                  <a:tcPr>
                    <a:solidFill>
                      <a:srgbClr val="1B3A6B"/>
                    </a:solidFill>
                  </a:tcPr>
                </a:tc>
                <a:tc>
                  <a:txBody>
                    <a:bodyPr/>
                    <a:lstStyle/>
                    <a:p>
                      <a:pPr algn="ctr"/>
                      <a:r>
                        <a:rPr sz="800" b="1" i="0">
                          <a:solidFill>
                            <a:srgbClr val="FFFFFF"/>
                          </a:solidFill>
                          <a:latin typeface="Calibri"/>
                        </a:rPr>
                        <a:t>Score moyen</a:t>
                      </a:r>
                    </a:p>
                  </a:txBody>
                  <a:tcPr>
                    <a:solidFill>
                      <a:srgbClr val="1B3A6B"/>
                    </a:solidFill>
                  </a:tcPr>
                </a:tc>
                <a:tc>
                  <a:txBody>
                    <a:bodyPr/>
                    <a:lstStyle/>
                    <a:p>
                      <a:pPr algn="ctr"/>
                      <a:r>
                        <a:rPr sz="800" b="1" i="0">
                          <a:solidFill>
                            <a:srgbClr val="FFFFFF"/>
                          </a:solidFill>
                          <a:latin typeface="Calibri"/>
                        </a:rPr>
                        <a:t>Thèmes principaux</a:t>
                      </a:r>
                    </a:p>
                  </a:txBody>
                  <a:tcPr>
                    <a:solidFill>
                      <a:srgbClr val="1B3A6B"/>
                    </a:solidFill>
                  </a:tcPr>
                </a:tc>
              </a:tr>
              <a:tr h="288000">
                <a:tc>
                  <a:txBody>
                    <a:bodyPr/>
                    <a:lstStyle/>
                    <a:p>
                      <a:pPr algn="l"/>
                      <a:r>
                        <a:rPr sz="800" b="1" i="0">
                          <a:solidFill>
                            <a:srgbClr val="1A7A4A"/>
                          </a:solidFill>
                          <a:latin typeface="Calibri"/>
                        </a:rPr>
                        <a:t>Positif</a:t>
                      </a:r>
                    </a:p>
                  </a:txBody>
                  <a:tcPr>
                    <a:solidFill>
                      <a:srgbClr val="EAF4EF"/>
                    </a:solidFill>
                  </a:tcPr>
                </a:tc>
                <a:tc>
                  <a:txBody>
                    <a:bodyPr/>
                    <a:lstStyle/>
                    <a:p>
                      <a:pPr algn="ctr"/>
                      <a:r>
                        <a:rPr sz="800" b="1" i="0">
                          <a:solidFill>
                            <a:srgbClr val="1A7A4A"/>
                          </a:solidFill>
                          <a:latin typeface="Calibri"/>
                        </a:rPr>
                        <a:t>7</a:t>
                      </a:r>
                    </a:p>
                  </a:txBody>
                  <a:tcPr>
                    <a:solidFill>
                      <a:srgbClr val="EAF4EF"/>
                    </a:solidFill>
                  </a:tcPr>
                </a:tc>
                <a:tc>
                  <a:txBody>
                    <a:bodyPr/>
                    <a:lstStyle/>
                    <a:p>
                      <a:pPr algn="ctr"/>
                      <a:r>
                        <a:rPr sz="800" b="0" i="0">
                          <a:solidFill>
                            <a:srgbClr val="0D0D0D"/>
                          </a:solidFill>
                          <a:latin typeface="Calibri"/>
                        </a:rPr>
                        <a:t>+0,276</a:t>
                      </a:r>
                    </a:p>
                  </a:txBody>
                  <a:tcPr>
                    <a:solidFill>
                      <a:srgbClr val="EAF4EF"/>
                    </a:solidFill>
                  </a:tcPr>
                </a:tc>
                <a:tc>
                  <a:txBody>
                    <a:bodyPr/>
                    <a:lstStyle/>
                    <a:p>
                      <a:pPr algn="ctr"/>
                      <a:r>
                        <a:rPr sz="800" b="0" i="0">
                          <a:solidFill>
                            <a:srgbClr val="0D0D0D"/>
                          </a:solidFill>
                          <a:latin typeface="Calibri"/>
                        </a:rPr>
                        <a:t>Adoption massive Azure +25% YoY en 2025 avec marge EBITDA &gt;60% d'ici 2027 | Impact FCF +20Mds$ d'ici 2027 | Horizon 2026-2027</a:t>
                      </a:r>
                    </a:p>
                  </a:txBody>
                  <a:tcPr>
                    <a:solidFill>
                      <a:srgbClr val="EAF4EF"/>
                    </a:solidFill>
                  </a:tcPr>
                </a:tc>
              </a:tr>
              <a:tr h="288000">
                <a:tc>
                  <a:txBody>
                    <a:bodyPr/>
                    <a:lstStyle/>
                    <a:p>
                      <a:pPr algn="l"/>
                      <a:r>
                        <a:rPr sz="800" b="1" i="0">
                          <a:solidFill>
                            <a:srgbClr val="555555"/>
                          </a:solidFill>
                          <a:latin typeface="Calibri"/>
                        </a:rPr>
                        <a:t>Neutre</a:t>
                      </a:r>
                    </a:p>
                  </a:txBody>
                  <a:tcPr>
                    <a:solidFill>
                      <a:srgbClr val="FFFFFF"/>
                    </a:solidFill>
                  </a:tcPr>
                </a:tc>
                <a:tc>
                  <a:txBody>
                    <a:bodyPr/>
                    <a:lstStyle/>
                    <a:p>
                      <a:pPr algn="ctr"/>
                      <a:r>
                        <a:rPr sz="800" b="1" i="0">
                          <a:solidFill>
                            <a:srgbClr val="555555"/>
                          </a:solidFill>
                          <a:latin typeface="Calibri"/>
                        </a:rPr>
                        <a:t>16</a:t>
                      </a:r>
                    </a:p>
                  </a:txBody>
                  <a:tcPr>
                    <a:solidFill>
                      <a:srgbClr val="FFFFFF"/>
                    </a:solidFill>
                  </a:tcPr>
                </a:tc>
                <a:tc>
                  <a:txBody>
                    <a:bodyPr/>
                    <a:lstStyle/>
                    <a:p>
                      <a:pPr algn="ctr"/>
                      <a:r>
                        <a:rPr sz="800" b="0" i="0">
                          <a:solidFill>
                            <a:srgbClr val="0D0D0D"/>
                          </a:solidFill>
                          <a:latin typeface="Calibri"/>
                        </a:rPr>
                        <a:t>+0,438</a:t>
                      </a:r>
                    </a:p>
                  </a:txBody>
                  <a:tcPr>
                    <a:solidFill>
                      <a:srgbClr val="FFFFFF"/>
                    </a:solidFill>
                  </a:tcPr>
                </a:tc>
                <a:tc>
                  <a:txBody>
                    <a:bodyPr/>
                    <a:lstStyle/>
                    <a:p>
                      <a:pPr algn="ctr"/>
                      <a:r>
                        <a:rPr sz="800" b="0" i="0">
                          <a:solidFill>
                            <a:srgbClr val="0D0D0D"/>
                          </a:solidFill>
                          <a:latin typeface="Calibri"/>
                        </a:rPr>
                        <a:t>Actualité sectorielle générale</a:t>
                      </a:r>
                    </a:p>
                  </a:txBody>
                  <a:tcPr>
                    <a:solidFill>
                      <a:srgbClr val="FFFFFF"/>
                    </a:solidFill>
                  </a:tcPr>
                </a:tc>
              </a:tr>
              <a:tr h="288000">
                <a:tc>
                  <a:txBody>
                    <a:bodyPr/>
                    <a:lstStyle/>
                    <a:p>
                      <a:pPr algn="l"/>
                      <a:r>
                        <a:rPr sz="800" b="1" i="0">
                          <a:solidFill>
                            <a:srgbClr val="A82020"/>
                          </a:solidFill>
                          <a:latin typeface="Calibri"/>
                        </a:rPr>
                        <a:t>Négatif</a:t>
                      </a:r>
                    </a:p>
                  </a:txBody>
                  <a:tcPr>
                    <a:solidFill>
                      <a:srgbClr val="FAF0EF"/>
                    </a:solidFill>
                  </a:tcPr>
                </a:tc>
                <a:tc>
                  <a:txBody>
                    <a:bodyPr/>
                    <a:lstStyle/>
                    <a:p>
                      <a:pPr algn="ctr"/>
                      <a:r>
                        <a:rPr sz="800" b="1" i="0">
                          <a:solidFill>
                            <a:srgbClr val="A82020"/>
                          </a:solidFill>
                          <a:latin typeface="Calibri"/>
                        </a:rPr>
                        <a:t>7</a:t>
                      </a:r>
                    </a:p>
                  </a:txBody>
                  <a:tcPr>
                    <a:solidFill>
                      <a:srgbClr val="FAF0EF"/>
                    </a:solidFill>
                  </a:tcPr>
                </a:tc>
                <a:tc>
                  <a:txBody>
                    <a:bodyPr/>
                    <a:lstStyle/>
                    <a:p>
                      <a:pPr algn="ctr"/>
                      <a:r>
                        <a:rPr sz="800" b="0" i="0">
                          <a:solidFill>
                            <a:srgbClr val="0D0D0D"/>
                          </a:solidFill>
                          <a:latin typeface="Calibri"/>
                        </a:rPr>
                        <a:t>+0,286</a:t>
                      </a:r>
                    </a:p>
                  </a:txBody>
                  <a:tcPr>
                    <a:solidFill>
                      <a:srgbClr val="FAF0EF"/>
                    </a:solidFill>
                  </a:tcPr>
                </a:tc>
                <a:tc>
                  <a:txBody>
                    <a:bodyPr/>
                    <a:lstStyle/>
                    <a:p>
                      <a:pPr algn="ctr"/>
                      <a:r>
                        <a:rPr sz="800" b="0" i="0">
                          <a:solidFill>
                            <a:srgbClr val="0D0D0D"/>
                          </a:solidFill>
                          <a:latin typeface="Calibri"/>
                        </a:rPr>
                        <a:t>Régulation antitrust européenne sur les pratiques cloud | Amende potentielle de 5-10Mds$ d'ici 2027 | Horizon 12-18 mois</a:t>
                      </a:r>
                    </a:p>
                  </a:txBody>
                  <a:tcPr>
                    <a:solidFill>
                      <a:srgbClr val="FAF0EF"/>
                    </a:solidFill>
                  </a:tcPr>
                </a:tc>
              </a:tr>
            </a:tbl>
          </a:graphicData>
        </a:graphic>
      </p:graphicFrame>
      <p:sp>
        <p:nvSpPr>
          <p:cNvPr id="39" name="Rectangle 38"/>
          <p:cNvSpPr/>
          <p:nvPr/>
        </p:nvSpPr>
        <p:spPr>
          <a:xfrm>
            <a:off x="367200" y="3924000"/>
            <a:ext cx="8413200" cy="845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367200" y="3924000"/>
            <a:ext cx="79200" cy="845999"/>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75200" y="3952800"/>
            <a:ext cx="8298000" cy="151200"/>
          </a:xfrm>
          <a:prstGeom prst="rect">
            <a:avLst/>
          </a:prstGeom>
          <a:noFill/>
        </p:spPr>
        <p:txBody>
          <a:bodyPr wrap="none">
            <a:spAutoFit/>
          </a:bodyPr>
          <a:lstStyle/>
          <a:p>
            <a:pPr algn="l"/>
            <a:r>
              <a:rPr sz="950" b="1" i="0">
                <a:solidFill>
                  <a:srgbClr val="1B3A6B"/>
                </a:solidFill>
                <a:latin typeface="Calibri"/>
              </a:rPr>
              <a:t>MSFT — analyse du sentiment de marché et signaux d'alerte</a:t>
            </a:r>
          </a:p>
        </p:txBody>
      </p:sp>
      <p:sp>
        <p:nvSpPr>
          <p:cNvPr id="42" name="TextBox 41"/>
          <p:cNvSpPr txBox="1"/>
          <p:nvPr/>
        </p:nvSpPr>
        <p:spPr>
          <a:xfrm>
            <a:off x="475200" y="4122000"/>
            <a:ext cx="8298000" cy="622799"/>
          </a:xfrm>
          <a:prstGeom prst="rect">
            <a:avLst/>
          </a:prstGeom>
          <a:noFill/>
        </p:spPr>
        <p:txBody>
          <a:bodyPr wrap="square">
            <a:spAutoFit/>
          </a:bodyPr>
          <a:lstStyle/>
          <a:p>
            <a:pPr algn="l"/>
            <a:r>
              <a:rPr sz="850" b="0" i="0">
                <a:solidFill>
                  <a:srgbClr val="555555"/>
                </a:solidFill>
                <a:latin typeface="Calibri"/>
              </a:rPr>
              <a:t>La presse financière cette semaine souligne les opportunités liées à l’expansion des centres de données de Microsoft en Norvège, mais critique aussi ses coûts croissants et les commentaires de Jim Cramer. Les annonces autour de l’IA et des partenariats stratégiques restent globalement perçues comme neutres ou mitigées pour l’action.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Actionnariat &amp; Structure du Capital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Répartition de l'actionnariat  ·  Au 14 avril 2026</a:t>
            </a:r>
          </a:p>
        </p:txBody>
      </p:sp>
      <p:sp>
        <p:nvSpPr>
          <p:cNvPr id="17" name="TextBox 16"/>
          <p:cNvSpPr txBox="1"/>
          <p:nvPr/>
        </p:nvSpPr>
        <p:spPr>
          <a:xfrm>
            <a:off x="367200" y="748800"/>
            <a:ext cx="5029200" cy="201600"/>
          </a:xfrm>
          <a:prstGeom prst="rect">
            <a:avLst/>
          </a:prstGeom>
          <a:noFill/>
        </p:spPr>
        <p:txBody>
          <a:bodyPr wrap="square">
            <a:spAutoFit/>
          </a:bodyPr>
          <a:lstStyle/>
          <a:p>
            <a:pPr algn="l"/>
            <a:r>
              <a:rPr sz="900" b="1" i="0">
                <a:solidFill>
                  <a:srgbClr val="2E5FA3"/>
                </a:solidFill>
                <a:latin typeface="Calibri"/>
              </a:rPr>
              <a:t>Top actionnaires</a:t>
            </a:r>
          </a:p>
        </p:txBody>
      </p:sp>
      <p:graphicFrame>
        <p:nvGraphicFramePr>
          <p:cNvPr id="18" name="Table 17"/>
          <p:cNvGraphicFramePr>
            <a:graphicFrameLocks noGrp="1"/>
          </p:cNvGraphicFramePr>
          <p:nvPr/>
        </p:nvGraphicFramePr>
        <p:xfrm>
          <a:off x="367200" y="968400"/>
          <a:ext cx="5302800" cy="2012400"/>
        </p:xfrm>
        <a:graphic>
          <a:graphicData uri="http://schemas.openxmlformats.org/drawingml/2006/table">
            <a:tbl>
              <a:tblPr firstRow="1" bandRow="1">
                <a:tableStyleId>{5C22544A-7EE6-4342-B048-85BDC9FD1C3A}</a:tableStyleId>
              </a:tblPr>
              <a:tblGrid>
                <a:gridCol w="2015064"/>
                <a:gridCol w="1378728"/>
                <a:gridCol w="1060560"/>
                <a:gridCol w="848448"/>
              </a:tblGrid>
              <a:tr h="223600">
                <a:tc>
                  <a:txBody>
                    <a:bodyPr/>
                    <a:lstStyle/>
                    <a:p>
                      <a:pPr algn="l"/>
                      <a:r>
                        <a:rPr sz="800" b="1" i="0">
                          <a:solidFill>
                            <a:srgbClr val="FFFFFF"/>
                          </a:solidFill>
                          <a:latin typeface="Calibri"/>
                        </a:rPr>
                        <a:t>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Type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Détention %</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Style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3600">
                <a:tc>
                  <a:txBody>
                    <a:bodyPr/>
                    <a:lstStyle/>
                    <a:p>
                      <a:pPr algn="l"/>
                      <a:r>
                        <a:rPr sz="800" b="0" i="0">
                          <a:solidFill>
                            <a:srgbClr val="0D0D0D"/>
                          </a:solidFill>
                          <a:latin typeface="Calibri"/>
                        </a:rPr>
                        <a:t>Vanguard Group Inc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9.7 %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600">
                <a:tc>
                  <a:txBody>
                    <a:bodyPr/>
                    <a:lstStyle/>
                    <a:p>
                      <a:pPr algn="l"/>
                      <a:r>
                        <a:rPr sz="800" b="0" i="0">
                          <a:solidFill>
                            <a:srgbClr val="0D0D0D"/>
                          </a:solidFill>
                          <a:latin typeface="Calibri"/>
                        </a:rPr>
                        <a:t>Blackrock Inc.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600">
                <a:tc>
                  <a:txBody>
                    <a:bodyPr/>
                    <a:lstStyle/>
                    <a:p>
                      <a:pPr algn="l"/>
                      <a:r>
                        <a:rPr sz="800" b="0" i="0">
                          <a:solidFill>
                            <a:srgbClr val="0D0D0D"/>
                          </a:solidFill>
                          <a:latin typeface="Calibri"/>
                        </a:rPr>
                        <a:t>State Street Corporation</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600">
                <a:tc>
                  <a:txBody>
                    <a:bodyPr/>
                    <a:lstStyle/>
                    <a:p>
                      <a:pPr algn="l"/>
                      <a:r>
                        <a:rPr sz="800" b="0" i="0">
                          <a:solidFill>
                            <a:srgbClr val="0D0D0D"/>
                          </a:solidFill>
                          <a:latin typeface="Calibri"/>
                        </a:rPr>
                        <a:t>FMR, LLC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2.7 %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600">
                <a:tc>
                  <a:txBody>
                    <a:bodyPr/>
                    <a:lstStyle/>
                    <a:p>
                      <a:pPr algn="l"/>
                      <a:r>
                        <a:rPr sz="800" b="0" i="0">
                          <a:solidFill>
                            <a:srgbClr val="0D0D0D"/>
                          </a:solidFill>
                          <a:latin typeface="Calibri"/>
                        </a:rPr>
                        <a:t>Geode Capital Management, LLC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600">
                <a:tc>
                  <a:txBody>
                    <a:bodyPr/>
                    <a:lstStyle/>
                    <a:p>
                      <a:pPr algn="l"/>
                      <a:r>
                        <a:rPr sz="800" b="0" i="0">
                          <a:solidFill>
                            <a:srgbClr val="0D0D0D"/>
                          </a:solidFill>
                          <a:latin typeface="Calibri"/>
                        </a:rPr>
                        <a:t>JPMORGAN CHASE &amp; CO</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600">
                <a:tc>
                  <a:txBody>
                    <a:bodyPr/>
                    <a:lstStyle/>
                    <a:p>
                      <a:pPr algn="l"/>
                      <a:r>
                        <a:rPr sz="800" b="0" i="0">
                          <a:solidFill>
                            <a:srgbClr val="0D0D0D"/>
                          </a:solidFill>
                          <a:latin typeface="Calibri"/>
                        </a:rPr>
                        <a:t>Price (T.Rowe) Associates Inc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1.7 %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600">
                <a:tc>
                  <a:txBody>
                    <a:bodyPr/>
                    <a:lstStyle/>
                    <a:p>
                      <a:pPr algn="l"/>
                      <a:r>
                        <a:rPr sz="800" b="0" i="0">
                          <a:solidFill>
                            <a:srgbClr val="0D0D0D"/>
                          </a:solidFill>
                          <a:latin typeface="Calibri"/>
                        </a:rPr>
                        <a:t>Autres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Retail &amp; autres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69.2 %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555555"/>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9" name="TextBox 18"/>
          <p:cNvSpPr txBox="1"/>
          <p:nvPr/>
        </p:nvSpPr>
        <p:spPr>
          <a:xfrm>
            <a:off x="5760000" y="748800"/>
            <a:ext cx="3016800" cy="201600"/>
          </a:xfrm>
          <a:prstGeom prst="rect">
            <a:avLst/>
          </a:prstGeom>
          <a:noFill/>
        </p:spPr>
        <p:txBody>
          <a:bodyPr wrap="square">
            <a:spAutoFit/>
          </a:bodyPr>
          <a:lstStyle/>
          <a:p>
            <a:pPr algn="l"/>
            <a:r>
              <a:rPr sz="900" b="1" i="0">
                <a:solidFill>
                  <a:srgbClr val="2E5FA3"/>
                </a:solidFill>
                <a:latin typeface="Calibri"/>
              </a:rPr>
              <a:t>Répartition par type</a:t>
            </a:r>
          </a:p>
        </p:txBody>
      </p:sp>
      <p:graphicFrame>
        <p:nvGraphicFramePr>
          <p:cNvPr id="20" name="Table 19"/>
          <p:cNvGraphicFramePr>
            <a:graphicFrameLocks noGrp="1"/>
          </p:cNvGraphicFramePr>
          <p:nvPr/>
        </p:nvGraphicFramePr>
        <p:xfrm>
          <a:off x="5760000" y="968400"/>
          <a:ext cx="3016800" cy="914400"/>
        </p:xfrm>
        <a:graphic>
          <a:graphicData uri="http://schemas.openxmlformats.org/drawingml/2006/table">
            <a:tbl>
              <a:tblPr firstRow="1" bandRow="1">
                <a:tableStyleId>{5C22544A-7EE6-4342-B048-85BDC9FD1C3A}</a:tableStyleId>
              </a:tblPr>
              <a:tblGrid>
                <a:gridCol w="1810080"/>
                <a:gridCol w="1206720"/>
              </a:tblGrid>
              <a:tr h="228600">
                <a:tc>
                  <a:txBody>
                    <a:bodyPr/>
                    <a:lstStyle/>
                    <a:p>
                      <a:pPr algn="l"/>
                      <a:r>
                        <a:rPr sz="800" b="1" i="0">
                          <a:solidFill>
                            <a:srgbClr val="FFFFFF"/>
                          </a:solidFill>
                          <a:latin typeface="Calibri"/>
                        </a:rPr>
                        <a:t>Type d'actionnaire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Part estimée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Institutionnel passif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13.8 %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Institutionnel 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17.0 %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Retail &amp; 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69.2 %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1" name="Rectangle 20"/>
          <p:cNvSpPr/>
          <p:nvPr/>
        </p:nvSpPr>
        <p:spPr>
          <a:xfrm>
            <a:off x="367200" y="3106799"/>
            <a:ext cx="8413200" cy="16632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7200" y="3106799"/>
            <a:ext cx="79200" cy="16632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75200" y="3135599"/>
            <a:ext cx="8298000" cy="151200"/>
          </a:xfrm>
          <a:prstGeom prst="rect">
            <a:avLst/>
          </a:prstGeom>
          <a:noFill/>
        </p:spPr>
        <p:txBody>
          <a:bodyPr wrap="none">
            <a:spAutoFit/>
          </a:bodyPr>
          <a:lstStyle/>
          <a:p>
            <a:pPr algn="l"/>
            <a:r>
              <a:rPr sz="950" b="1" i="0">
                <a:solidFill>
                  <a:srgbClr val="1B3A6B"/>
                </a:solidFill>
                <a:latin typeface="Calibri"/>
              </a:rPr>
              <a:t>MSFT — verdict final : BUY</a:t>
            </a:r>
          </a:p>
        </p:txBody>
      </p:sp>
      <p:sp>
        <p:nvSpPr>
          <p:cNvPr id="24" name="TextBox 23"/>
          <p:cNvSpPr txBox="1"/>
          <p:nvPr/>
        </p:nvSpPr>
        <p:spPr>
          <a:xfrm>
            <a:off x="475200" y="3304800"/>
            <a:ext cx="8298000" cy="1440000"/>
          </a:xfrm>
          <a:prstGeom prst="rect">
            <a:avLst/>
          </a:prstGeom>
          <a:noFill/>
        </p:spPr>
        <p:txBody>
          <a:bodyPr wrap="square">
            <a:spAutoFit/>
          </a:bodyPr>
          <a:lstStyle/>
          <a:p>
            <a:pPr algn="l"/>
            <a:r>
              <a:rPr sz="850" b="0" i="0">
                <a:solidFill>
                  <a:srgbClr val="555555"/>
                </a:solidFill>
                <a:latin typeface="Calibri"/>
              </a:rPr>
              <a:t>Valorisation à 28.7x P/E vs médiane sectorielle 30x, soit une décote de 4%. EV/EBITDA à 18.3x justifiée par croissance supérieure et qualité des actifs. Microsoft affiche un P/E de 28.7x vs médiane peers 30x (-7%), justifié par une croissance CA 2025 de 14.9% vs 10% pour la médiane. EV/EBITDA à 18.3x vs 17.5x médiane (+5%) reflète sa prime de qualité (marges supérieures, leadership cloud). Une convergence vers la médiane impliquerait un upside de 5-8% sur les multiples. Croissance CA 2026F estimée à +13.5% via adoption massive Azure et Copilot Marges EBITDA à 58.5% en 2026 grâce au mix cloud haute marge et économies d'échelle FCF libre devrait dépasser 80Mds$ en 2026 avec ND/EBITDA stable à 0.1x Microsoft affiche une croissance soutenue (+14.9% CA 2025) et une rentabilité exceptionnelle (ROE 29.6%, marges nettes 36.1%). La valorisation reste attractive malgré une prime modérée vs médiane sectorielle.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Historique de Cours — 52 Semaines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MSFT  ·  USD  ·  Au 14 avril 2026</a:t>
            </a:r>
          </a:p>
        </p:txBody>
      </p:sp>
      <p:sp>
        <p:nvSpPr>
          <p:cNvPr id="17" name="Rectangle 16"/>
          <p:cNvSpPr/>
          <p:nvPr/>
        </p:nvSpPr>
        <p:spPr>
          <a:xfrm>
            <a:off x="3672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1782000" cy="396000"/>
          </a:xfrm>
          <a:prstGeom prst="rect">
            <a:avLst/>
          </a:prstGeom>
          <a:noFill/>
        </p:spPr>
        <p:txBody>
          <a:bodyPr wrap="square">
            <a:spAutoFit/>
          </a:bodyPr>
          <a:lstStyle/>
          <a:p>
            <a:pPr algn="l"/>
            <a:r>
              <a:rPr sz="1900" b="1" i="0">
                <a:solidFill>
                  <a:srgbClr val="1B3A6B"/>
                </a:solidFill>
                <a:latin typeface="Calibri"/>
              </a:rPr>
              <a:t>393,11 $</a:t>
            </a:r>
          </a:p>
        </p:txBody>
      </p:sp>
      <p:sp>
        <p:nvSpPr>
          <p:cNvPr id="20" name="TextBox 19"/>
          <p:cNvSpPr txBox="1"/>
          <p:nvPr/>
        </p:nvSpPr>
        <p:spPr>
          <a:xfrm>
            <a:off x="457200" y="1411200"/>
            <a:ext cx="17820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21" name="Rectangle 20"/>
          <p:cNvSpPr/>
          <p:nvPr/>
        </p:nvSpPr>
        <p:spPr>
          <a:xfrm>
            <a:off x="24228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4228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12800" y="1015200"/>
            <a:ext cx="1782000" cy="396000"/>
          </a:xfrm>
          <a:prstGeom prst="rect">
            <a:avLst/>
          </a:prstGeom>
          <a:noFill/>
        </p:spPr>
        <p:txBody>
          <a:bodyPr wrap="square">
            <a:spAutoFit/>
          </a:bodyPr>
          <a:lstStyle/>
          <a:p>
            <a:pPr algn="l"/>
            <a:r>
              <a:rPr sz="1900" b="1" i="0">
                <a:solidFill>
                  <a:srgbClr val="1B3A6B"/>
                </a:solidFill>
                <a:latin typeface="Calibri"/>
              </a:rPr>
              <a:t>530,42 $</a:t>
            </a:r>
          </a:p>
        </p:txBody>
      </p:sp>
      <p:sp>
        <p:nvSpPr>
          <p:cNvPr id="24" name="TextBox 23"/>
          <p:cNvSpPr txBox="1"/>
          <p:nvPr/>
        </p:nvSpPr>
        <p:spPr>
          <a:xfrm>
            <a:off x="2512800" y="1411200"/>
            <a:ext cx="1782000" cy="205199"/>
          </a:xfrm>
          <a:prstGeom prst="rect">
            <a:avLst/>
          </a:prstGeom>
          <a:noFill/>
        </p:spPr>
        <p:txBody>
          <a:bodyPr wrap="square">
            <a:spAutoFit/>
          </a:bodyPr>
          <a:lstStyle/>
          <a:p>
            <a:pPr algn="l"/>
            <a:r>
              <a:rPr sz="800" b="0" i="0">
                <a:solidFill>
                  <a:srgbClr val="555555"/>
                </a:solidFill>
                <a:latin typeface="Calibri"/>
              </a:rPr>
              <a:t>Plus haut 52 sem.</a:t>
            </a:r>
          </a:p>
        </p:txBody>
      </p:sp>
      <p:sp>
        <p:nvSpPr>
          <p:cNvPr id="25" name="Rectangle 24"/>
          <p:cNvSpPr/>
          <p:nvPr/>
        </p:nvSpPr>
        <p:spPr>
          <a:xfrm>
            <a:off x="44820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20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0" y="1015200"/>
            <a:ext cx="1782000" cy="396000"/>
          </a:xfrm>
          <a:prstGeom prst="rect">
            <a:avLst/>
          </a:prstGeom>
          <a:noFill/>
        </p:spPr>
        <p:txBody>
          <a:bodyPr wrap="square">
            <a:spAutoFit/>
          </a:bodyPr>
          <a:lstStyle/>
          <a:p>
            <a:pPr algn="l"/>
            <a:r>
              <a:rPr sz="1900" b="1" i="0">
                <a:solidFill>
                  <a:srgbClr val="1B3A6B"/>
                </a:solidFill>
                <a:latin typeface="Calibri"/>
              </a:rPr>
              <a:t>370,17 $</a:t>
            </a:r>
          </a:p>
        </p:txBody>
      </p:sp>
      <p:sp>
        <p:nvSpPr>
          <p:cNvPr id="28" name="TextBox 27"/>
          <p:cNvSpPr txBox="1"/>
          <p:nvPr/>
        </p:nvSpPr>
        <p:spPr>
          <a:xfrm>
            <a:off x="4572000" y="1411200"/>
            <a:ext cx="1782000" cy="205199"/>
          </a:xfrm>
          <a:prstGeom prst="rect">
            <a:avLst/>
          </a:prstGeom>
          <a:noFill/>
        </p:spPr>
        <p:txBody>
          <a:bodyPr wrap="square">
            <a:spAutoFit/>
          </a:bodyPr>
          <a:lstStyle/>
          <a:p>
            <a:pPr algn="l"/>
            <a:r>
              <a:rPr sz="800" b="0" i="0">
                <a:solidFill>
                  <a:srgbClr val="555555"/>
                </a:solidFill>
                <a:latin typeface="Calibri"/>
              </a:rPr>
              <a:t>Plus bas 52 sem.</a:t>
            </a:r>
          </a:p>
        </p:txBody>
      </p:sp>
      <p:sp>
        <p:nvSpPr>
          <p:cNvPr id="29" name="Rectangle 28"/>
          <p:cNvSpPr/>
          <p:nvPr/>
        </p:nvSpPr>
        <p:spPr>
          <a:xfrm>
            <a:off x="6537600" y="961200"/>
            <a:ext cx="21960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5376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27600" y="1015200"/>
            <a:ext cx="2059200" cy="396000"/>
          </a:xfrm>
          <a:prstGeom prst="rect">
            <a:avLst/>
          </a:prstGeom>
          <a:noFill/>
        </p:spPr>
        <p:txBody>
          <a:bodyPr wrap="square">
            <a:spAutoFit/>
          </a:bodyPr>
          <a:lstStyle/>
          <a:p>
            <a:pPr algn="l"/>
            <a:r>
              <a:rPr sz="1900" b="1" i="0">
                <a:solidFill>
                  <a:srgbClr val="1B3A6B"/>
                </a:solidFill>
                <a:latin typeface="Calibri"/>
              </a:rPr>
              <a:t>-14,0 %</a:t>
            </a:r>
          </a:p>
        </p:txBody>
      </p:sp>
      <p:sp>
        <p:nvSpPr>
          <p:cNvPr id="32" name="TextBox 31"/>
          <p:cNvSpPr txBox="1"/>
          <p:nvPr/>
        </p:nvSpPr>
        <p:spPr>
          <a:xfrm>
            <a:off x="6627600" y="1411200"/>
            <a:ext cx="2059200" cy="205199"/>
          </a:xfrm>
          <a:prstGeom prst="rect">
            <a:avLst/>
          </a:prstGeom>
          <a:noFill/>
        </p:spPr>
        <p:txBody>
          <a:bodyPr wrap="square">
            <a:spAutoFit/>
          </a:bodyPr>
          <a:lstStyle/>
          <a:p>
            <a:pPr algn="l"/>
            <a:r>
              <a:rPr sz="800" b="0" i="0">
                <a:solidFill>
                  <a:srgbClr val="555555"/>
                </a:solidFill>
                <a:latin typeface="Calibri"/>
              </a:rPr>
              <a:t>Performance 52 sem.</a:t>
            </a:r>
          </a:p>
        </p:txBody>
      </p:sp>
      <p:sp>
        <p:nvSpPr>
          <p:cNvPr id="33" name="TextBox 32"/>
          <p:cNvSpPr txBox="1"/>
          <p:nvPr/>
        </p:nvSpPr>
        <p:spPr>
          <a:xfrm>
            <a:off x="367200" y="1846800"/>
            <a:ext cx="8413200" cy="165600"/>
          </a:xfrm>
          <a:prstGeom prst="rect">
            <a:avLst/>
          </a:prstGeom>
          <a:noFill/>
        </p:spPr>
        <p:txBody>
          <a:bodyPr wrap="square">
            <a:spAutoFit/>
          </a:bodyPr>
          <a:lstStyle/>
          <a:p>
            <a:pPr algn="l"/>
            <a:r>
              <a:rPr sz="900" b="1" i="0">
                <a:solidFill>
                  <a:srgbClr val="1B3A6B"/>
                </a:solidFill>
                <a:latin typeface="Calibri"/>
              </a:rPr>
              <a:t>Cours en repli de -14,0 % sur 12 mois</a:t>
            </a:r>
          </a:p>
        </p:txBody>
      </p:sp>
      <p:pic>
        <p:nvPicPr>
          <p:cNvPr id="34" name="Picture 33" descr="image.png"/>
          <p:cNvPicPr>
            <a:picLocks noChangeAspect="1"/>
          </p:cNvPicPr>
          <p:nvPr/>
        </p:nvPicPr>
        <p:blipFill>
          <a:blip r:embed="rId2"/>
          <a:stretch>
            <a:fillRect/>
          </a:stretch>
        </p:blipFill>
        <p:spPr>
          <a:xfrm>
            <a:off x="367200" y="2102400"/>
            <a:ext cx="5580000" cy="1828800"/>
          </a:xfrm>
          <a:prstGeom prst="rect">
            <a:avLst/>
          </a:prstGeom>
        </p:spPr>
      </p:pic>
      <p:sp>
        <p:nvSpPr>
          <p:cNvPr id="35" name="Rectangle 34"/>
          <p:cNvSpPr/>
          <p:nvPr/>
        </p:nvSpPr>
        <p:spPr>
          <a:xfrm>
            <a:off x="6120000" y="2102400"/>
            <a:ext cx="2660400" cy="271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120000" y="2102400"/>
            <a:ext cx="79200" cy="2718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228000" y="2131200"/>
            <a:ext cx="2545200" cy="151200"/>
          </a:xfrm>
          <a:prstGeom prst="rect">
            <a:avLst/>
          </a:prstGeom>
          <a:noFill/>
        </p:spPr>
        <p:txBody>
          <a:bodyPr wrap="none">
            <a:spAutoFit/>
          </a:bodyPr>
          <a:lstStyle/>
          <a:p>
            <a:pPr algn="l"/>
            <a:r>
              <a:rPr sz="950" b="1" i="0">
                <a:solidFill>
                  <a:srgbClr val="1B3A6B"/>
                </a:solidFill>
                <a:latin typeface="Calibri"/>
              </a:rPr>
              <a:t>Contexte macro et catalyseurs — MSFT</a:t>
            </a:r>
          </a:p>
        </p:txBody>
      </p:sp>
      <p:sp>
        <p:nvSpPr>
          <p:cNvPr id="38" name="TextBox 37"/>
          <p:cNvSpPr txBox="1"/>
          <p:nvPr/>
        </p:nvSpPr>
        <p:spPr>
          <a:xfrm>
            <a:off x="6228000" y="2300400"/>
            <a:ext cx="2545200" cy="2494800"/>
          </a:xfrm>
          <a:prstGeom prst="rect">
            <a:avLst/>
          </a:prstGeom>
          <a:noFill/>
        </p:spPr>
        <p:txBody>
          <a:bodyPr wrap="square">
            <a:spAutoFit/>
          </a:bodyPr>
          <a:lstStyle/>
          <a:p>
            <a:pPr algn="l"/>
            <a:r>
              <a:rPr sz="850" b="0" i="0">
                <a:solidFill>
                  <a:srgbClr val="555555"/>
                </a:solidFill>
                <a:latin typeface="Calibri"/>
              </a:rPr>
              <a:t>Le cours de Microsoft (MSFT) a reculé de 14,0 % sur les 12 derniers mois, une performance inférieure à celle du S&amp;P 500 Technology (+2,1 % sur la période). Cette contre-performance s’explique en grande partie par l’évolution de la politique monétaire et des anticipations de taux d’intérêt. Dès mars 2024, la Fed a maintenu ses taux à 5,25 %-5,50 %, mais les marchés ont anticipé des baisses plus tardives que prévu, avec une première réduction repoussée à septembre 2024 (et non en juin comme initialement escompté). Cette révision a pesé sur les valorisations des valeurs technologiques, sensibles aux taux longs : le rendement des Treasuries à 10 ans est passé de 4,20 % en avril 2024 à 4,65 % en octobre 2024, avant de redescendre à 4,30 % en janvier 2025 après l’inflation américaine surprise à +3,4 % en décembre 2024. Par ailleurs, les tensions géopolitiques (guerre Israël-Hamas, tensions Chine-Taïwan) ont accru l’aversion au risque, affectant particulièrement les géants technologiques exposés aux chaînes d’approvisionnement asiatiques, comme MSFT avec ses centres de données en Malaisie et en Irlande.
Le secteur Technology a subi un changement de paradigme en 2024, marqué par un essoufflement de l’engouement pour l’IA générative après le pic de mi-2023. Les investisseurs ont réévalué les valorisations des entreprises dépendantes de cette thématique, comme Nvidia ou Meta, dont les…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Conviction &amp; Thèse d’Investissement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MSFT  ·  FinSight IA  ·  Rapport 14 avril 2026</a:t>
            </a:r>
          </a:p>
        </p:txBody>
      </p:sp>
      <p:sp>
        <p:nvSpPr>
          <p:cNvPr id="17" name="Rectangle 16"/>
          <p:cNvSpPr/>
          <p:nvPr/>
        </p:nvSpPr>
        <p:spPr>
          <a:xfrm>
            <a:off x="324000" y="827999"/>
            <a:ext cx="2700000" cy="1260000"/>
          </a:xfrm>
          <a:prstGeom prst="rect">
            <a:avLst/>
          </a:prstGeom>
          <a:solidFill>
            <a:srgbClr val="E8F5E9"/>
          </a:solidFill>
          <a:ln w="25400">
            <a:solidFill>
              <a:srgbClr val="1A7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24000" y="864000"/>
            <a:ext cx="2700000" cy="396000"/>
          </a:xfrm>
          <a:prstGeom prst="rect">
            <a:avLst/>
          </a:prstGeom>
          <a:noFill/>
        </p:spPr>
        <p:txBody>
          <a:bodyPr wrap="square">
            <a:spAutoFit/>
          </a:bodyPr>
          <a:lstStyle/>
          <a:p>
            <a:pPr algn="ctr"/>
            <a:r>
              <a:rPr sz="3600" b="1" i="0">
                <a:solidFill>
                  <a:srgbClr val="1A7A4A"/>
                </a:solidFill>
                <a:latin typeface="Calibri"/>
              </a:rPr>
              <a:t>BUY</a:t>
            </a:r>
          </a:p>
        </p:txBody>
      </p:sp>
      <p:sp>
        <p:nvSpPr>
          <p:cNvPr id="19" name="TextBox 18"/>
          <p:cNvSpPr txBox="1"/>
          <p:nvPr/>
        </p:nvSpPr>
        <p:spPr>
          <a:xfrm>
            <a:off x="324000" y="1278000"/>
            <a:ext cx="2700000" cy="198000"/>
          </a:xfrm>
          <a:prstGeom prst="rect">
            <a:avLst/>
          </a:prstGeom>
          <a:noFill/>
        </p:spPr>
        <p:txBody>
          <a:bodyPr wrap="square">
            <a:spAutoFit/>
          </a:bodyPr>
          <a:lstStyle/>
          <a:p>
            <a:pPr algn="ctr"/>
            <a:r>
              <a:rPr sz="1100" b="0" i="0">
                <a:solidFill>
                  <a:srgbClr val="555555"/>
                </a:solidFill>
                <a:latin typeface="Calibri"/>
              </a:rPr>
              <a:t>Conviction : 78%</a:t>
            </a:r>
          </a:p>
        </p:txBody>
      </p:sp>
      <p:sp>
        <p:nvSpPr>
          <p:cNvPr id="20" name="TextBox 19"/>
          <p:cNvSpPr txBox="1"/>
          <p:nvPr/>
        </p:nvSpPr>
        <p:spPr>
          <a:xfrm>
            <a:off x="324000" y="1494000"/>
            <a:ext cx="2700000" cy="198000"/>
          </a:xfrm>
          <a:prstGeom prst="rect">
            <a:avLst/>
          </a:prstGeom>
          <a:noFill/>
        </p:spPr>
        <p:txBody>
          <a:bodyPr wrap="square">
            <a:spAutoFit/>
          </a:bodyPr>
          <a:lstStyle/>
          <a:p>
            <a:pPr algn="ctr"/>
            <a:r>
              <a:rPr sz="850" b="0" i="0">
                <a:solidFill>
                  <a:srgbClr val="555555"/>
                </a:solidFill>
                <a:latin typeface="Calibri"/>
              </a:rPr>
              <a:t>14 avril 2026</a:t>
            </a:r>
          </a:p>
        </p:txBody>
      </p:sp>
      <p:sp>
        <p:nvSpPr>
          <p:cNvPr id="21" name="Rectangle 20"/>
          <p:cNvSpPr/>
          <p:nvPr/>
        </p:nvSpPr>
        <p:spPr>
          <a:xfrm>
            <a:off x="324000" y="2196000"/>
            <a:ext cx="2700000" cy="1980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4000" y="2196000"/>
            <a:ext cx="2106000" cy="198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2051999"/>
            <a:ext cx="2700000" cy="136800"/>
          </a:xfrm>
          <a:prstGeom prst="rect">
            <a:avLst/>
          </a:prstGeom>
          <a:noFill/>
        </p:spPr>
        <p:txBody>
          <a:bodyPr wrap="square">
            <a:spAutoFit/>
          </a:bodyPr>
          <a:lstStyle/>
          <a:p>
            <a:pPr algn="l"/>
            <a:r>
              <a:rPr sz="700" b="1" i="0">
                <a:solidFill>
                  <a:srgbClr val="1B3A6B"/>
                </a:solidFill>
                <a:latin typeface="Calibri"/>
              </a:rPr>
              <a:t>NIVEAU DE CONVICTION</a:t>
            </a:r>
          </a:p>
        </p:txBody>
      </p:sp>
      <p:sp>
        <p:nvSpPr>
          <p:cNvPr id="24" name="Rectangle 23"/>
          <p:cNvSpPr/>
          <p:nvPr/>
        </p:nvSpPr>
        <p:spPr>
          <a:xfrm>
            <a:off x="324000" y="2520000"/>
            <a:ext cx="2700000" cy="27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60000" y="2538000"/>
            <a:ext cx="2628000" cy="234000"/>
          </a:xfrm>
          <a:prstGeom prst="rect">
            <a:avLst/>
          </a:prstGeom>
          <a:noFill/>
        </p:spPr>
        <p:txBody>
          <a:bodyPr wrap="square">
            <a:spAutoFit/>
          </a:bodyPr>
          <a:lstStyle/>
          <a:p>
            <a:pPr algn="l"/>
            <a:r>
              <a:rPr sz="850" b="1" i="0">
                <a:solidFill>
                  <a:srgbClr val="1A7A4A"/>
                </a:solidFill>
                <a:latin typeface="Calibri"/>
              </a:rPr>
              <a:t>Delta conviction : +28% vs Avocat du Diable</a:t>
            </a:r>
          </a:p>
        </p:txBody>
      </p:sp>
      <p:sp>
        <p:nvSpPr>
          <p:cNvPr id="26" name="Rectangle 25"/>
          <p:cNvSpPr/>
          <p:nvPr/>
        </p:nvSpPr>
        <p:spPr>
          <a:xfrm>
            <a:off x="3311999" y="827999"/>
            <a:ext cx="5472000" cy="1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366000" y="846000"/>
            <a:ext cx="5400000" cy="162000"/>
          </a:xfrm>
          <a:prstGeom prst="rect">
            <a:avLst/>
          </a:prstGeom>
          <a:noFill/>
        </p:spPr>
        <p:txBody>
          <a:bodyPr wrap="square">
            <a:spAutoFit/>
          </a:bodyPr>
          <a:lstStyle/>
          <a:p>
            <a:pPr algn="l"/>
            <a:r>
              <a:rPr sz="800" b="1" i="0">
                <a:solidFill>
                  <a:srgbClr val="FFFFFF"/>
                </a:solidFill>
                <a:latin typeface="Calibri"/>
              </a:rPr>
              <a:t>THÈSE D’INVESTISSEMENT</a:t>
            </a:r>
          </a:p>
        </p:txBody>
      </p:sp>
      <p:sp>
        <p:nvSpPr>
          <p:cNvPr id="28" name="Rectangle 27"/>
          <p:cNvSpPr/>
          <p:nvPr/>
        </p:nvSpPr>
        <p:spPr>
          <a:xfrm>
            <a:off x="3311999" y="1062000"/>
            <a:ext cx="36000" cy="288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401999" y="1080000"/>
            <a:ext cx="5346000" cy="270000"/>
          </a:xfrm>
          <a:prstGeom prst="rect">
            <a:avLst/>
          </a:prstGeom>
          <a:noFill/>
        </p:spPr>
        <p:txBody>
          <a:bodyPr wrap="square">
            <a:spAutoFit/>
          </a:bodyPr>
          <a:lstStyle/>
          <a:p>
            <a:pPr algn="l"/>
            <a:r>
              <a:rPr sz="850" b="0" i="0">
                <a:solidFill>
                  <a:srgbClr val="555555"/>
                </a:solidFill>
                <a:latin typeface="Calibri"/>
              </a:rPr>
              <a:t>Croissance CA 2026F estimée à +13.5% via adoption massive Azure et Copilot</a:t>
            </a:r>
          </a:p>
        </p:txBody>
      </p:sp>
      <p:sp>
        <p:nvSpPr>
          <p:cNvPr id="30" name="Rectangle 29"/>
          <p:cNvSpPr/>
          <p:nvPr/>
        </p:nvSpPr>
        <p:spPr>
          <a:xfrm>
            <a:off x="3311999" y="1404000"/>
            <a:ext cx="36000" cy="288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401999" y="1422000"/>
            <a:ext cx="5346000" cy="270000"/>
          </a:xfrm>
          <a:prstGeom prst="rect">
            <a:avLst/>
          </a:prstGeom>
          <a:noFill/>
        </p:spPr>
        <p:txBody>
          <a:bodyPr wrap="square">
            <a:spAutoFit/>
          </a:bodyPr>
          <a:lstStyle/>
          <a:p>
            <a:pPr algn="l"/>
            <a:r>
              <a:rPr sz="850" b="0" i="0">
                <a:solidFill>
                  <a:srgbClr val="555555"/>
                </a:solidFill>
                <a:latin typeface="Calibri"/>
              </a:rPr>
              <a:t>Marges EBITDA à 58.5% en 2026 grâce au mix cloud haute marge et économies d'échelle</a:t>
            </a:r>
          </a:p>
        </p:txBody>
      </p:sp>
      <p:sp>
        <p:nvSpPr>
          <p:cNvPr id="32" name="Rectangle 31"/>
          <p:cNvSpPr/>
          <p:nvPr/>
        </p:nvSpPr>
        <p:spPr>
          <a:xfrm>
            <a:off x="3311999" y="1746000"/>
            <a:ext cx="36000" cy="288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401999" y="1764000"/>
            <a:ext cx="5346000" cy="270000"/>
          </a:xfrm>
          <a:prstGeom prst="rect">
            <a:avLst/>
          </a:prstGeom>
          <a:noFill/>
        </p:spPr>
        <p:txBody>
          <a:bodyPr wrap="square">
            <a:spAutoFit/>
          </a:bodyPr>
          <a:lstStyle/>
          <a:p>
            <a:pPr algn="l"/>
            <a:r>
              <a:rPr sz="850" b="0" i="0">
                <a:solidFill>
                  <a:srgbClr val="555555"/>
                </a:solidFill>
                <a:latin typeface="Calibri"/>
              </a:rPr>
              <a:t>FCF libre devrait dépasser 80Mds$ en 2026 avec ND/EBITDA stable à 0.1x</a:t>
            </a:r>
          </a:p>
        </p:txBody>
      </p:sp>
      <p:sp>
        <p:nvSpPr>
          <p:cNvPr id="34" name="Rectangle 33"/>
          <p:cNvSpPr/>
          <p:nvPr/>
        </p:nvSpPr>
        <p:spPr>
          <a:xfrm>
            <a:off x="3311999" y="2196000"/>
            <a:ext cx="2664000" cy="18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366000" y="2214000"/>
            <a:ext cx="2592000" cy="144000"/>
          </a:xfrm>
          <a:prstGeom prst="rect">
            <a:avLst/>
          </a:prstGeom>
          <a:noFill/>
        </p:spPr>
        <p:txBody>
          <a:bodyPr wrap="square">
            <a:spAutoFit/>
          </a:bodyPr>
          <a:lstStyle/>
          <a:p>
            <a:pPr algn="l"/>
            <a:r>
              <a:rPr sz="750" b="1" i="0">
                <a:solidFill>
                  <a:srgbClr val="FFFFFF"/>
                </a:solidFill>
                <a:latin typeface="Calibri"/>
              </a:rPr>
              <a:t>CATALYSEURS BULLS</a:t>
            </a:r>
          </a:p>
        </p:txBody>
      </p:sp>
      <p:sp>
        <p:nvSpPr>
          <p:cNvPr id="36" name="TextBox 35"/>
          <p:cNvSpPr txBox="1"/>
          <p:nvPr/>
        </p:nvSpPr>
        <p:spPr>
          <a:xfrm>
            <a:off x="3401999" y="2412000"/>
            <a:ext cx="2556000" cy="792000"/>
          </a:xfrm>
          <a:prstGeom prst="rect">
            <a:avLst/>
          </a:prstGeom>
          <a:noFill/>
        </p:spPr>
        <p:txBody>
          <a:bodyPr wrap="square">
            <a:spAutoFit/>
          </a:bodyPr>
          <a:lstStyle/>
          <a:p>
            <a:pPr algn="l"/>
            <a:r>
              <a:rPr sz="700" b="0" i="0">
                <a:solidFill>
                  <a:srgbClr val="555555"/>
                </a:solidFill>
                <a:latin typeface="Calibri"/>
              </a:rPr>
              <a:t>• Adoption massive Azure +25% YoY en 2025 avec marge EBITDA &gt;60% d'ici 2027 | Impact FCF +20Mds$ d'ici 2027 | Horizon 2026-2027</a:t>
            </a:r>
          </a:p>
        </p:txBody>
      </p:sp>
      <p:sp>
        <p:nvSpPr>
          <p:cNvPr id="37" name="TextBox 36"/>
          <p:cNvSpPr txBox="1"/>
          <p:nvPr/>
        </p:nvSpPr>
        <p:spPr>
          <a:xfrm>
            <a:off x="3401999" y="3221999"/>
            <a:ext cx="2556000" cy="792000"/>
          </a:xfrm>
          <a:prstGeom prst="rect">
            <a:avLst/>
          </a:prstGeom>
          <a:noFill/>
        </p:spPr>
        <p:txBody>
          <a:bodyPr wrap="square">
            <a:spAutoFit/>
          </a:bodyPr>
          <a:lstStyle/>
          <a:p>
            <a:pPr algn="l"/>
            <a:r>
              <a:rPr sz="700" b="0" i="0">
                <a:solidFill>
                  <a:srgbClr val="555555"/>
                </a:solidFill>
                <a:latin typeface="Calibri"/>
              </a:rPr>
              <a:t>• Croissance Copilot +150M utilisateurs en 2025 avec ARPU 5$/mois | Revenus IA estimés à 10Mds$ en 2026 | Horizon 2025-2026</a:t>
            </a:r>
          </a:p>
        </p:txBody>
      </p:sp>
      <p:sp>
        <p:nvSpPr>
          <p:cNvPr id="38" name="Rectangle 37"/>
          <p:cNvSpPr/>
          <p:nvPr/>
        </p:nvSpPr>
        <p:spPr>
          <a:xfrm>
            <a:off x="6120000" y="2196000"/>
            <a:ext cx="2448000" cy="18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156000" y="2214000"/>
            <a:ext cx="2376000" cy="144000"/>
          </a:xfrm>
          <a:prstGeom prst="rect">
            <a:avLst/>
          </a:prstGeom>
          <a:noFill/>
        </p:spPr>
        <p:txBody>
          <a:bodyPr wrap="square">
            <a:spAutoFit/>
          </a:bodyPr>
          <a:lstStyle/>
          <a:p>
            <a:pPr algn="l"/>
            <a:r>
              <a:rPr sz="750" b="1" i="0">
                <a:solidFill>
                  <a:srgbClr val="FFFFFF"/>
                </a:solidFill>
                <a:latin typeface="Calibri"/>
              </a:rPr>
              <a:t>RISQUES BEARS</a:t>
            </a:r>
          </a:p>
        </p:txBody>
      </p:sp>
      <p:sp>
        <p:nvSpPr>
          <p:cNvPr id="40" name="TextBox 39"/>
          <p:cNvSpPr txBox="1"/>
          <p:nvPr/>
        </p:nvSpPr>
        <p:spPr>
          <a:xfrm>
            <a:off x="6156000" y="2412000"/>
            <a:ext cx="2376000" cy="792000"/>
          </a:xfrm>
          <a:prstGeom prst="rect">
            <a:avLst/>
          </a:prstGeom>
          <a:noFill/>
        </p:spPr>
        <p:txBody>
          <a:bodyPr wrap="square">
            <a:spAutoFit/>
          </a:bodyPr>
          <a:lstStyle/>
          <a:p>
            <a:pPr algn="l"/>
            <a:r>
              <a:rPr sz="700" b="0" i="0">
                <a:solidFill>
                  <a:srgbClr val="555555"/>
                </a:solidFill>
                <a:latin typeface="Calibri"/>
              </a:rPr>
              <a:t>• Régulation antitrust européenne sur les pratiques cloud | Amende potentielle de 5-10Mds$ d'ici 2027 | Horizon 12-18 mois</a:t>
            </a:r>
          </a:p>
        </p:txBody>
      </p:sp>
      <p:sp>
        <p:nvSpPr>
          <p:cNvPr id="41" name="TextBox 40"/>
          <p:cNvSpPr txBox="1"/>
          <p:nvPr/>
        </p:nvSpPr>
        <p:spPr>
          <a:xfrm>
            <a:off x="6156000" y="3221999"/>
            <a:ext cx="2376000" cy="792000"/>
          </a:xfrm>
          <a:prstGeom prst="rect">
            <a:avLst/>
          </a:prstGeom>
          <a:noFill/>
        </p:spPr>
        <p:txBody>
          <a:bodyPr wrap="square">
            <a:spAutoFit/>
          </a:bodyPr>
          <a:lstStyle/>
          <a:p>
            <a:pPr algn="l"/>
            <a:r>
              <a:rPr sz="700" b="0" i="0">
                <a:solidFill>
                  <a:srgbClr val="555555"/>
                </a:solidFill>
                <a:latin typeface="Calibri"/>
              </a:rPr>
              <a:t>• Concurrence accrue en IA avec Google et Meta | Perte de parts de marché de 5-8% d'ici 2026 | Horizon 2025-2026</a:t>
            </a:r>
          </a:p>
        </p:txBody>
      </p:sp>
      <p:sp>
        <p:nvSpPr>
          <p:cNvPr id="42" name="TextBox 41"/>
          <p:cNvSpPr txBox="1"/>
          <p:nvPr/>
        </p:nvSpPr>
        <p:spPr>
          <a:xfrm>
            <a:off x="324000" y="4662000"/>
            <a:ext cx="8496000" cy="125999"/>
          </a:xfrm>
          <a:prstGeom prst="rect">
            <a:avLst/>
          </a:prstGeom>
          <a:noFill/>
        </p:spPr>
        <p:txBody>
          <a:bodyPr wrap="square">
            <a:spAutoFit/>
          </a:bodyPr>
          <a:lstStyle/>
          <a:p>
            <a:pPr algn="l"/>
            <a:r>
              <a:rPr sz="700" b="0" i="0">
                <a:solidFill>
                  <a:srgbClr val="555555"/>
                </a:solidFill>
                <a:latin typeface="Calibri"/>
              </a:rPr>
              <a:t>FinSight IA Généré cette analyse a un instant T. Pour le suivi dans le temps, comparer les rapports successifs. La conviction Reflète les Données disponibles a la date d'analyse.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