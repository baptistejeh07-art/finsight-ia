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691297"/>
          </a:xfrm>
          <a:prstGeom prst="rect">
            <a:avLst/>
          </a:prstGeom>
          <a:noFill/>
        </p:spPr>
        <p:txBody>
          <a:bodyPr wrap="square">
            <a:spAutoFit/>
          </a:bodyPr>
          <a:lstStyle/>
          <a:p>
            <a:pPr algn="ctr"/>
            <a:r>
              <a:rPr sz="3400" b="1" i="0">
                <a:solidFill>
                  <a:srgbClr val="1B3A6B"/>
                </a:solidFill>
                <a:latin typeface="Calibri"/>
              </a:rPr>
              <a:t>Microsoft Corporation</a:t>
            </a:r>
          </a:p>
        </p:txBody>
      </p:sp>
      <p:sp>
        <p:nvSpPr>
          <p:cNvPr id="7" name="TextBox 6"/>
          <p:cNvSpPr txBox="1"/>
          <p:nvPr/>
        </p:nvSpPr>
        <p:spPr>
          <a:xfrm>
            <a:off x="457200" y="2242897"/>
            <a:ext cx="8229600" cy="255600"/>
          </a:xfrm>
          <a:prstGeom prst="rect">
            <a:avLst/>
          </a:prstGeom>
          <a:noFill/>
        </p:spPr>
        <p:txBody>
          <a:bodyPr wrap="square">
            <a:spAutoFit/>
          </a:bodyPr>
          <a:lstStyle/>
          <a:p>
            <a:pPr algn="ctr"/>
            <a:r>
              <a:rPr sz="1100" b="0" i="0">
                <a:solidFill>
                  <a:srgbClr val="888888"/>
                </a:solidFill>
                <a:latin typeface="Calibri"/>
              </a:rPr>
              <a:t>MSFT  ·  Technology</a:t>
            </a:r>
          </a:p>
        </p:txBody>
      </p:sp>
      <p:sp>
        <p:nvSpPr>
          <p:cNvPr id="8" name="Rectangle 7"/>
          <p:cNvSpPr/>
          <p:nvPr/>
        </p:nvSpPr>
        <p:spPr>
          <a:xfrm>
            <a:off x="457200" y="2617297"/>
            <a:ext cx="8229600" cy="475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617297"/>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635297"/>
            <a:ext cx="8063999" cy="439200"/>
          </a:xfrm>
          <a:prstGeom prst="rect">
            <a:avLst/>
          </a:prstGeom>
          <a:noFill/>
        </p:spPr>
        <p:txBody>
          <a:bodyPr wrap="square">
            <a:spAutoFit/>
          </a:bodyPr>
          <a:lstStyle/>
          <a:p>
            <a:pPr algn="ctr"/>
            <a:r>
              <a:rPr sz="900" b="1" i="0">
                <a:solidFill>
                  <a:srgbClr val="1A7A4A"/>
                </a:solidFill>
                <a:latin typeface="Calibri"/>
              </a:rPr>
              <a:t>● BUY  ·  Prix cible base : 420 $  ·  Upside : +13,2 %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25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420 $  ·  Upside : +13,2 %  ·  Bear : 350 $ (-5,6 %)  ·  Bull : 480 $ (+29,4 %)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Cloud leader</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Azure atteint 40% de croissance annuelle avec 38% de part de marché cloud</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Écosystème intégré</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L'IA générative booste les revenus cloud de 25% d'ici 2027</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Marges élevées</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Microsoft 365 Copilot génère 1,5Mds$ de revenus annuels dès 2026</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Régulation antitrust</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Risque de régulation antitrust sur les pratiques cloud (DoJ en cours)</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Concurrence IA</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Concurrence accrue dans l'IA (Google Vertex, AWS Bedrock)</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Dépendance cloud</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Dépendance aux dépenses IT des entreprises (sensibilité au cycle économique)</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17,3x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15,2x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10,3 %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1,11  ·  RFR 4,3 %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420 $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intrinseque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+13,2 %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-0,022</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Negatif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Microsoft Corporation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Régulation antitrust  ·  Concurrence IA</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Microsoft Corporation  ·  Presentation &amp; Positionnement strategique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Microsoft conçoit et commercialise des logiciels, services cloud et matériel pour entreprises et particuliers. Leader mondial du cloud avec Azure (25% de part de marché) et des solutions Office 365 (1M+ entreprises). Avantages clés : écosystème intégré, fidélisation client élevée et investissements massifs en R&amp;D (25Mds$ en 2025).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Productivity and Business Processes</a:t>
            </a:r>
          </a:p>
        </p:txBody>
      </p:sp>
      <p:sp>
        <p:nvSpPr>
          <p:cNvPr id="22" name="TextBox 21"/>
          <p:cNvSpPr txBox="1"/>
          <p:nvPr/>
        </p:nvSpPr>
        <p:spPr>
          <a:xfrm>
            <a:off x="619200" y="2714400"/>
            <a:ext cx="4338000" cy="144000"/>
          </a:xfrm>
          <a:prstGeom prst="rect">
            <a:avLst/>
          </a:prstGeom>
          <a:noFill/>
        </p:spPr>
        <p:txBody>
          <a:bodyPr wrap="square">
            <a:spAutoFit/>
          </a:bodyPr>
          <a:lstStyle/>
          <a:p>
            <a:pPr algn="l"/>
            <a:r>
              <a:rPr sz="750" b="0" i="1">
                <a:solidFill>
                  <a:srgbClr val="555555"/>
                </a:solidFill>
                <a:latin typeface="Calibri"/>
              </a:rPr>
              <a:t>Ce segment génère 35% du CA via abonnements SaaS (Office 365, LinkedIn) et licences perpétuelles.…</a:t>
            </a:r>
          </a:p>
        </p:txBody>
      </p:sp>
      <p:sp>
        <p:nvSpPr>
          <p:cNvPr id="23" name="Rectangle 22"/>
          <p:cNvSpPr/>
          <p:nvPr/>
        </p:nvSpPr>
        <p:spPr>
          <a:xfrm>
            <a:off x="503999" y="294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2897999"/>
            <a:ext cx="4338000" cy="165600"/>
          </a:xfrm>
          <a:prstGeom prst="rect">
            <a:avLst/>
          </a:prstGeom>
          <a:noFill/>
        </p:spPr>
        <p:txBody>
          <a:bodyPr wrap="square">
            <a:spAutoFit/>
          </a:bodyPr>
          <a:lstStyle/>
          <a:p>
            <a:pPr algn="l"/>
            <a:r>
              <a:rPr sz="850" b="1" i="0">
                <a:solidFill>
                  <a:srgbClr val="0D0D0D"/>
                </a:solidFill>
                <a:latin typeface="Calibri"/>
              </a:rPr>
              <a:t>Intelligent Cloud</a:t>
            </a:r>
          </a:p>
        </p:txBody>
      </p:sp>
      <p:sp>
        <p:nvSpPr>
          <p:cNvPr id="25" name="TextBox 24"/>
          <p:cNvSpPr txBox="1"/>
          <p:nvPr/>
        </p:nvSpPr>
        <p:spPr>
          <a:xfrm>
            <a:off x="619200" y="3056399"/>
            <a:ext cx="4338000" cy="144000"/>
          </a:xfrm>
          <a:prstGeom prst="rect">
            <a:avLst/>
          </a:prstGeom>
          <a:noFill/>
        </p:spPr>
        <p:txBody>
          <a:bodyPr wrap="square">
            <a:spAutoFit/>
          </a:bodyPr>
          <a:lstStyle/>
          <a:p>
            <a:pPr algn="l"/>
            <a:r>
              <a:rPr sz="750" b="0" i="1">
                <a:solidFill>
                  <a:srgbClr val="555555"/>
                </a:solidFill>
                <a:latin typeface="Calibri"/>
              </a:rPr>
              <a:t>Segment le plus rentable (50% du CA) avec Azure, SQL Server et services IA. Modèle récurrent basé…</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2 754,4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boursiere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281,7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370,93 $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17,3x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27,1x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Modele Economique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operationnels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35%</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Productivity and Business Processes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Ce segment génère 35% du CA via abonnements SaaS (Office 365, LinkedIn) et licences perpétuelles. Croissance portée par l'adoption du cloud et l'automatisation des processus métiers. Clients : entreprises de toutes tailles, institutions publiques et particuliers. Moteurs : migration vers le cloud et intégration de l'IA dans les outils bureautiques.</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50%</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Intelligent Cloud</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Segment le plus rentable (50% du CA) avec Azure, SQL Server et services IA. Modèle récurrent basé sur consommation cloud et licences. Clients : entreprises Fortune 500 et startups. Croissance dopée par l'IA générative et la demande en infrastructures cloud.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2022–2027F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211,9</a:t>
                      </a:r>
                    </a:p>
                  </a:txBody>
                  <a:tcPr>
                    <a:solidFill>
                      <a:srgbClr val="FFFFFF"/>
                    </a:solidFill>
                  </a:tcPr>
                </a:tc>
                <a:tc>
                  <a:txBody>
                    <a:bodyPr/>
                    <a:lstStyle/>
                    <a:p>
                      <a:pPr algn="ctr"/>
                      <a:r>
                        <a:rPr sz="800" b="1" i="0">
                          <a:solidFill>
                            <a:srgbClr val="0D0D0D"/>
                          </a:solidFill>
                          <a:latin typeface="Calibri"/>
                        </a:rPr>
                        <a:t>245,1</a:t>
                      </a:r>
                    </a:p>
                  </a:txBody>
                  <a:tcPr>
                    <a:solidFill>
                      <a:srgbClr val="FFFFFF"/>
                    </a:solidFill>
                  </a:tcPr>
                </a:tc>
                <a:tc>
                  <a:txBody>
                    <a:bodyPr/>
                    <a:lstStyle/>
                    <a:p>
                      <a:pPr algn="ctr"/>
                      <a:r>
                        <a:rPr sz="800" b="1" i="0">
                          <a:solidFill>
                            <a:srgbClr val="1B3A6B"/>
                          </a:solidFill>
                          <a:latin typeface="Calibri"/>
                        </a:rPr>
                        <a:t>281,7</a:t>
                      </a:r>
                    </a:p>
                  </a:txBody>
                  <a:tcPr>
                    <a:solidFill>
                      <a:srgbClr val="DDE8F5"/>
                    </a:solidFill>
                  </a:tcPr>
                </a:tc>
                <a:tc>
                  <a:txBody>
                    <a:bodyPr/>
                    <a:lstStyle/>
                    <a:p>
                      <a:pPr algn="ctr"/>
                      <a:r>
                        <a:rPr sz="800" b="1" i="0">
                          <a:solidFill>
                            <a:srgbClr val="0D0D0D"/>
                          </a:solidFill>
                          <a:latin typeface="Calibri"/>
                        </a:rPr>
                        <a:t>320,0</a:t>
                      </a:r>
                    </a:p>
                  </a:txBody>
                  <a:tcPr>
                    <a:solidFill>
                      <a:srgbClr val="FFFFFF"/>
                    </a:solidFill>
                  </a:tcPr>
                </a:tc>
                <a:tc>
                  <a:txBody>
                    <a:bodyPr/>
                    <a:lstStyle/>
                    <a:p>
                      <a:pPr algn="ctr"/>
                      <a:r>
                        <a:rPr sz="800" b="1" i="0">
                          <a:solidFill>
                            <a:srgbClr val="0D0D0D"/>
                          </a:solidFill>
                          <a:latin typeface="Calibri"/>
                        </a:rPr>
                        <a:t>365,0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+6,9 %</a:t>
                      </a:r>
                    </a:p>
                  </a:txBody>
                  <a:tcPr>
                    <a:solidFill>
                      <a:srgbClr val="F7F8FA"/>
                    </a:solidFill>
                  </a:tcPr>
                </a:tc>
                <a:tc>
                  <a:txBody>
                    <a:bodyPr/>
                    <a:lstStyle/>
                    <a:p>
                      <a:pPr algn="ctr"/>
                      <a:r>
                        <a:rPr sz="750" b="0" i="1">
                          <a:solidFill>
                            <a:srgbClr val="555555"/>
                          </a:solidFill>
                          <a:latin typeface="Calibri"/>
                        </a:rPr>
                        <a:t>+15,7 %</a:t>
                      </a:r>
                    </a:p>
                  </a:txBody>
                  <a:tcPr>
                    <a:solidFill>
                      <a:srgbClr val="F7F8FA"/>
                    </a:solidFill>
                  </a:tcPr>
                </a:tc>
                <a:tc>
                  <a:txBody>
                    <a:bodyPr/>
                    <a:lstStyle/>
                    <a:p>
                      <a:pPr algn="ctr"/>
                      <a:r>
                        <a:rPr sz="750" b="0" i="1">
                          <a:solidFill>
                            <a:srgbClr val="555555"/>
                          </a:solidFill>
                          <a:latin typeface="Calibri"/>
                        </a:rPr>
                        <a:t>+14,9 %</a:t>
                      </a:r>
                    </a:p>
                  </a:txBody>
                  <a:tcPr>
                    <a:solidFill>
                      <a:srgbClr val="DDE8F5"/>
                    </a:solidFill>
                  </a:tcPr>
                </a:tc>
                <a:tc>
                  <a:txBody>
                    <a:bodyPr/>
                    <a:lstStyle/>
                    <a:p>
                      <a:pPr algn="ctr"/>
                      <a:r>
                        <a:rPr sz="750" b="0" i="1">
                          <a:solidFill>
                            <a:srgbClr val="555555"/>
                          </a:solidFill>
                          <a:latin typeface="Calibri"/>
                        </a:rPr>
                        <a:t>+13,6 %</a:t>
                      </a:r>
                    </a:p>
                  </a:txBody>
                  <a:tcPr>
                    <a:solidFill>
                      <a:srgbClr val="F7F8FA"/>
                    </a:solidFill>
                  </a:tcPr>
                </a:tc>
                <a:tc>
                  <a:txBody>
                    <a:bodyPr/>
                    <a:lstStyle/>
                    <a:p>
                      <a:pPr algn="ctr"/>
                      <a:r>
                        <a:rPr sz="750" b="0" i="1">
                          <a:solidFill>
                            <a:srgbClr val="555555"/>
                          </a:solidFill>
                          <a:latin typeface="Calibri"/>
                        </a:rPr>
                        <a:t>+14,1 %</a:t>
                      </a:r>
                    </a:p>
                  </a:txBody>
                  <a:tcPr>
                    <a:solidFill>
                      <a:srgbClr val="F7F8FA"/>
                    </a:solidFill>
                  </a:tcPr>
                </a:tc>
              </a:tr>
              <a:tr h="220000">
                <a:tc>
                  <a:txBody>
                    <a:bodyPr/>
                    <a:lstStyle/>
                    <a:p>
                      <a:pPr algn="l"/>
                      <a:r>
                        <a:rPr sz="800" b="1" i="0">
                          <a:solidFill>
                            <a:srgbClr val="0D0D0D"/>
                          </a:solidFill>
                          <a:latin typeface="Calibri"/>
                        </a:rPr>
                        <a:t>Resultat brut</a:t>
                      </a:r>
                    </a:p>
                  </a:txBody>
                  <a:tcPr>
                    <a:solidFill>
                      <a:srgbClr val="FFFFFF"/>
                    </a:solidFill>
                  </a:tcPr>
                </a:tc>
                <a:tc>
                  <a:txBody>
                    <a:bodyPr/>
                    <a:lstStyle/>
                    <a:p>
                      <a:pPr algn="ctr"/>
                      <a:r>
                        <a:rPr sz="800" b="1" i="0">
                          <a:solidFill>
                            <a:srgbClr val="0D0D0D"/>
                          </a:solidFill>
                          <a:latin typeface="Calibri"/>
                        </a:rPr>
                        <a:t>146,1</a:t>
                      </a:r>
                    </a:p>
                  </a:txBody>
                  <a:tcPr>
                    <a:solidFill>
                      <a:srgbClr val="FFFFFF"/>
                    </a:solidFill>
                  </a:tcPr>
                </a:tc>
                <a:tc>
                  <a:txBody>
                    <a:bodyPr/>
                    <a:lstStyle/>
                    <a:p>
                      <a:pPr algn="ctr"/>
                      <a:r>
                        <a:rPr sz="800" b="1" i="0">
                          <a:solidFill>
                            <a:srgbClr val="0D0D0D"/>
                          </a:solidFill>
                          <a:latin typeface="Calibri"/>
                        </a:rPr>
                        <a:t>171,0</a:t>
                      </a:r>
                    </a:p>
                  </a:txBody>
                  <a:tcPr>
                    <a:solidFill>
                      <a:srgbClr val="FFFFFF"/>
                    </a:solidFill>
                  </a:tcPr>
                </a:tc>
                <a:tc>
                  <a:txBody>
                    <a:bodyPr/>
                    <a:lstStyle/>
                    <a:p>
                      <a:pPr algn="ctr"/>
                      <a:r>
                        <a:rPr sz="800" b="1" i="0">
                          <a:solidFill>
                            <a:srgbClr val="1B3A6B"/>
                          </a:solidFill>
                          <a:latin typeface="Calibri"/>
                        </a:rPr>
                        <a:t>193,9</a:t>
                      </a:r>
                    </a:p>
                  </a:txBody>
                  <a:tcPr>
                    <a:solidFill>
                      <a:srgbClr val="DDE8F5"/>
                    </a:solidFill>
                  </a:tcPr>
                </a:tc>
                <a:tc>
                  <a:txBody>
                    <a:bodyPr/>
                    <a:lstStyle/>
                    <a:p>
                      <a:pPr algn="ctr"/>
                      <a:r>
                        <a:rPr sz="800" b="1" i="0">
                          <a:solidFill>
                            <a:srgbClr val="0D0D0D"/>
                          </a:solidFill>
                          <a:latin typeface="Calibri"/>
                        </a:rPr>
                        <a:t>222,4</a:t>
                      </a:r>
                    </a:p>
                  </a:txBody>
                  <a:tcPr>
                    <a:solidFill>
                      <a:srgbClr val="FFFFFF"/>
                    </a:solidFill>
                  </a:tcPr>
                </a:tc>
                <a:tc>
                  <a:txBody>
                    <a:bodyPr/>
                    <a:lstStyle/>
                    <a:p>
                      <a:pPr algn="ctr"/>
                      <a:r>
                        <a:rPr sz="800" b="1" i="0">
                          <a:solidFill>
                            <a:srgbClr val="0D0D0D"/>
                          </a:solidFill>
                          <a:latin typeface="Calibri"/>
                        </a:rPr>
                        <a:t>255,5</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68,9 %</a:t>
                      </a:r>
                    </a:p>
                  </a:txBody>
                  <a:tcPr>
                    <a:solidFill>
                      <a:srgbClr val="F7F8FA"/>
                    </a:solidFill>
                  </a:tcPr>
                </a:tc>
                <a:tc>
                  <a:txBody>
                    <a:bodyPr/>
                    <a:lstStyle/>
                    <a:p>
                      <a:pPr algn="ctr"/>
                      <a:r>
                        <a:rPr sz="750" b="0" i="1">
                          <a:solidFill>
                            <a:srgbClr val="555555"/>
                          </a:solidFill>
                          <a:latin typeface="Calibri"/>
                        </a:rPr>
                        <a:t>69,8 %</a:t>
                      </a:r>
                    </a:p>
                  </a:txBody>
                  <a:tcPr>
                    <a:solidFill>
                      <a:srgbClr val="F7F8FA"/>
                    </a:solidFill>
                  </a:tcPr>
                </a:tc>
                <a:tc>
                  <a:txBody>
                    <a:bodyPr/>
                    <a:lstStyle/>
                    <a:p>
                      <a:pPr algn="ctr"/>
                      <a:r>
                        <a:rPr sz="750" b="0" i="1">
                          <a:solidFill>
                            <a:srgbClr val="555555"/>
                          </a:solidFill>
                          <a:latin typeface="Calibri"/>
                        </a:rPr>
                        <a:t>68,8 %</a:t>
                      </a:r>
                    </a:p>
                  </a:txBody>
                  <a:tcPr>
                    <a:solidFill>
                      <a:srgbClr val="DDE8F5"/>
                    </a:solidFill>
                  </a:tcPr>
                </a:tc>
                <a:tc>
                  <a:txBody>
                    <a:bodyPr/>
                    <a:lstStyle/>
                    <a:p>
                      <a:pPr algn="ctr"/>
                      <a:r>
                        <a:rPr sz="750" b="0" i="1">
                          <a:solidFill>
                            <a:srgbClr val="555555"/>
                          </a:solidFill>
                          <a:latin typeface="Calibri"/>
                        </a:rPr>
                        <a:t>69,5 %</a:t>
                      </a:r>
                    </a:p>
                  </a:txBody>
                  <a:tcPr>
                    <a:solidFill>
                      <a:srgbClr val="F7F8FA"/>
                    </a:solidFill>
                  </a:tcPr>
                </a:tc>
                <a:tc>
                  <a:txBody>
                    <a:bodyPr/>
                    <a:lstStyle/>
                    <a:p>
                      <a:pPr algn="ctr"/>
                      <a:r>
                        <a:rPr sz="750" b="0" i="1">
                          <a:solidFill>
                            <a:srgbClr val="555555"/>
                          </a:solidFill>
                          <a:latin typeface="Calibri"/>
                        </a:rPr>
                        <a:t>70,0 %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105,1</a:t>
                      </a:r>
                    </a:p>
                  </a:txBody>
                  <a:tcPr>
                    <a:solidFill>
                      <a:srgbClr val="FFFFFF"/>
                    </a:solidFill>
                  </a:tcPr>
                </a:tc>
                <a:tc>
                  <a:txBody>
                    <a:bodyPr/>
                    <a:lstStyle/>
                    <a:p>
                      <a:pPr algn="ctr"/>
                      <a:r>
                        <a:rPr sz="800" b="1" i="0">
                          <a:solidFill>
                            <a:srgbClr val="0D0D0D"/>
                          </a:solidFill>
                          <a:latin typeface="Calibri"/>
                        </a:rPr>
                        <a:t>133,0</a:t>
                      </a:r>
                    </a:p>
                  </a:txBody>
                  <a:tcPr>
                    <a:solidFill>
                      <a:srgbClr val="FFFFFF"/>
                    </a:solidFill>
                  </a:tcPr>
                </a:tc>
                <a:tc>
                  <a:txBody>
                    <a:bodyPr/>
                    <a:lstStyle/>
                    <a:p>
                      <a:pPr algn="ctr"/>
                      <a:r>
                        <a:rPr sz="800" b="1" i="0">
                          <a:solidFill>
                            <a:srgbClr val="1B3A6B"/>
                          </a:solidFill>
                          <a:latin typeface="Calibri"/>
                        </a:rPr>
                        <a:t>160,2</a:t>
                      </a:r>
                    </a:p>
                  </a:txBody>
                  <a:tcPr>
                    <a:solidFill>
                      <a:srgbClr val="DDE8F5"/>
                    </a:solidFill>
                  </a:tcPr>
                </a:tc>
                <a:tc>
                  <a:txBody>
                    <a:bodyPr/>
                    <a:lstStyle/>
                    <a:p>
                      <a:pPr algn="ctr"/>
                      <a:r>
                        <a:rPr sz="800" b="1" i="0">
                          <a:solidFill>
                            <a:srgbClr val="0D0D0D"/>
                          </a:solidFill>
                          <a:latin typeface="Calibri"/>
                        </a:rPr>
                        <a:t>190,0</a:t>
                      </a:r>
                    </a:p>
                  </a:txBody>
                  <a:tcPr>
                    <a:solidFill>
                      <a:srgbClr val="FFFFFF"/>
                    </a:solidFill>
                  </a:tcPr>
                </a:tc>
                <a:tc>
                  <a:txBody>
                    <a:bodyPr/>
                    <a:lstStyle/>
                    <a:p>
                      <a:pPr algn="ctr"/>
                      <a:r>
                        <a:rPr sz="800" b="1" i="0">
                          <a:solidFill>
                            <a:srgbClr val="0D0D0D"/>
                          </a:solidFill>
                          <a:latin typeface="Calibri"/>
                        </a:rPr>
                        <a:t>220,0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49,6 %</a:t>
                      </a:r>
                    </a:p>
                  </a:txBody>
                  <a:tcPr>
                    <a:solidFill>
                      <a:srgbClr val="F7F8FA"/>
                    </a:solidFill>
                  </a:tcPr>
                </a:tc>
                <a:tc>
                  <a:txBody>
                    <a:bodyPr/>
                    <a:lstStyle/>
                    <a:p>
                      <a:pPr algn="ctr"/>
                      <a:r>
                        <a:rPr sz="750" b="0" i="1">
                          <a:solidFill>
                            <a:srgbClr val="555555"/>
                          </a:solidFill>
                          <a:latin typeface="Calibri"/>
                        </a:rPr>
                        <a:t>54,3 %</a:t>
                      </a:r>
                    </a:p>
                  </a:txBody>
                  <a:tcPr>
                    <a:solidFill>
                      <a:srgbClr val="F7F8FA"/>
                    </a:solidFill>
                  </a:tcPr>
                </a:tc>
                <a:tc>
                  <a:txBody>
                    <a:bodyPr/>
                    <a:lstStyle/>
                    <a:p>
                      <a:pPr algn="ctr"/>
                      <a:r>
                        <a:rPr sz="750" b="0" i="1">
                          <a:solidFill>
                            <a:srgbClr val="555555"/>
                          </a:solidFill>
                          <a:latin typeface="Calibri"/>
                        </a:rPr>
                        <a:t>56,9 %</a:t>
                      </a:r>
                    </a:p>
                  </a:txBody>
                  <a:tcPr>
                    <a:solidFill>
                      <a:srgbClr val="DDE8F5"/>
                    </a:solidFill>
                  </a:tcPr>
                </a:tc>
                <a:tc>
                  <a:txBody>
                    <a:bodyPr/>
                    <a:lstStyle/>
                    <a:p>
                      <a:pPr algn="ctr"/>
                      <a:r>
                        <a:rPr sz="750" b="0" i="1">
                          <a:solidFill>
                            <a:srgbClr val="555555"/>
                          </a:solidFill>
                          <a:latin typeface="Calibri"/>
                        </a:rPr>
                        <a:t>59,4 %</a:t>
                      </a:r>
                    </a:p>
                  </a:txBody>
                  <a:tcPr>
                    <a:solidFill>
                      <a:srgbClr val="F7F8FA"/>
                    </a:solidFill>
                  </a:tcPr>
                </a:tc>
                <a:tc>
                  <a:txBody>
                    <a:bodyPr/>
                    <a:lstStyle/>
                    <a:p>
                      <a:pPr algn="ctr"/>
                      <a:r>
                        <a:rPr sz="750" b="0" i="1">
                          <a:solidFill>
                            <a:srgbClr val="555555"/>
                          </a:solidFill>
                          <a:latin typeface="Calibri"/>
                        </a:rPr>
                        <a:t>60,3 %</a:t>
                      </a:r>
                    </a:p>
                  </a:txBody>
                  <a:tcPr>
                    <a:solidFill>
                      <a:srgbClr val="F7F8FA"/>
                    </a:solidFill>
                  </a:tcPr>
                </a:tc>
              </a:tr>
              <a:tr h="220000">
                <a:tc>
                  <a:txBody>
                    <a:bodyPr/>
                    <a:lstStyle/>
                    <a:p>
                      <a:pPr algn="l"/>
                      <a:r>
                        <a:rPr sz="800" b="1" i="0">
                          <a:solidFill>
                            <a:srgbClr val="0D0D0D"/>
                          </a:solidFill>
                          <a:latin typeface="Calibri"/>
                        </a:rPr>
                        <a:t>Resultat net</a:t>
                      </a:r>
                    </a:p>
                  </a:txBody>
                  <a:tcPr>
                    <a:solidFill>
                      <a:srgbClr val="FFFFFF"/>
                    </a:solidFill>
                  </a:tcPr>
                </a:tc>
                <a:tc>
                  <a:txBody>
                    <a:bodyPr/>
                    <a:lstStyle/>
                    <a:p>
                      <a:pPr algn="ctr"/>
                      <a:r>
                        <a:rPr sz="800" b="1" i="0">
                          <a:solidFill>
                            <a:srgbClr val="0D0D0D"/>
                          </a:solidFill>
                          <a:latin typeface="Calibri"/>
                        </a:rPr>
                        <a:t>72,4</a:t>
                      </a:r>
                    </a:p>
                  </a:txBody>
                  <a:tcPr>
                    <a:solidFill>
                      <a:srgbClr val="FFFFFF"/>
                    </a:solidFill>
                  </a:tcPr>
                </a:tc>
                <a:tc>
                  <a:txBody>
                    <a:bodyPr/>
                    <a:lstStyle/>
                    <a:p>
                      <a:pPr algn="ctr"/>
                      <a:r>
                        <a:rPr sz="800" b="1" i="0">
                          <a:solidFill>
                            <a:srgbClr val="0D0D0D"/>
                          </a:solidFill>
                          <a:latin typeface="Calibri"/>
                        </a:rPr>
                        <a:t>88,1</a:t>
                      </a:r>
                    </a:p>
                  </a:txBody>
                  <a:tcPr>
                    <a:solidFill>
                      <a:srgbClr val="FFFFFF"/>
                    </a:solidFill>
                  </a:tcPr>
                </a:tc>
                <a:tc>
                  <a:txBody>
                    <a:bodyPr/>
                    <a:lstStyle/>
                    <a:p>
                      <a:pPr algn="ctr"/>
                      <a:r>
                        <a:rPr sz="800" b="1" i="0">
                          <a:solidFill>
                            <a:srgbClr val="1B3A6B"/>
                          </a:solidFill>
                          <a:latin typeface="Calibri"/>
                        </a:rPr>
                        <a:t>101,8</a:t>
                      </a:r>
                    </a:p>
                  </a:txBody>
                  <a:tcPr>
                    <a:solidFill>
                      <a:srgbClr val="DDE8F5"/>
                    </a:solidFill>
                  </a:tcPr>
                </a:tc>
                <a:tc>
                  <a:txBody>
                    <a:bodyPr/>
                    <a:lstStyle/>
                    <a:p>
                      <a:pPr algn="ctr"/>
                      <a:r>
                        <a:rPr sz="800" b="1" i="0">
                          <a:solidFill>
                            <a:srgbClr val="0D0D0D"/>
                          </a:solidFill>
                          <a:latin typeface="Calibri"/>
                        </a:rPr>
                        <a:t>115,0</a:t>
                      </a:r>
                    </a:p>
                  </a:txBody>
                  <a:tcPr>
                    <a:solidFill>
                      <a:srgbClr val="FFFFFF"/>
                    </a:solidFill>
                  </a:tcPr>
                </a:tc>
                <a:tc>
                  <a:txBody>
                    <a:bodyPr/>
                    <a:lstStyle/>
                    <a:p>
                      <a:pPr algn="ctr"/>
                      <a:r>
                        <a:rPr sz="800" b="1" i="0">
                          <a:solidFill>
                            <a:srgbClr val="0D0D0D"/>
                          </a:solidFill>
                          <a:latin typeface="Calibri"/>
                        </a:rPr>
                        <a:t>135,0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34,2 %</a:t>
                      </a:r>
                    </a:p>
                  </a:txBody>
                  <a:tcPr>
                    <a:solidFill>
                      <a:srgbClr val="F7F8FA"/>
                    </a:solidFill>
                  </a:tcPr>
                </a:tc>
                <a:tc>
                  <a:txBody>
                    <a:bodyPr/>
                    <a:lstStyle/>
                    <a:p>
                      <a:pPr algn="ctr"/>
                      <a:r>
                        <a:rPr sz="750" b="0" i="1">
                          <a:solidFill>
                            <a:srgbClr val="555555"/>
                          </a:solidFill>
                          <a:latin typeface="Calibri"/>
                        </a:rPr>
                        <a:t>36,0 %</a:t>
                      </a:r>
                    </a:p>
                  </a:txBody>
                  <a:tcPr>
                    <a:solidFill>
                      <a:srgbClr val="F7F8FA"/>
                    </a:solidFill>
                  </a:tcPr>
                </a:tc>
                <a:tc>
                  <a:txBody>
                    <a:bodyPr/>
                    <a:lstStyle/>
                    <a:p>
                      <a:pPr algn="ctr"/>
                      <a:r>
                        <a:rPr sz="750" b="0" i="1">
                          <a:solidFill>
                            <a:srgbClr val="555555"/>
                          </a:solidFill>
                          <a:latin typeface="Calibri"/>
                        </a:rPr>
                        <a:t>36,1 %</a:t>
                      </a:r>
                    </a:p>
                  </a:txBody>
                  <a:tcPr>
                    <a:solidFill>
                      <a:srgbClr val="DDE8F5"/>
                    </a:solidFill>
                  </a:tcPr>
                </a:tc>
                <a:tc>
                  <a:txBody>
                    <a:bodyPr/>
                    <a:lstStyle/>
                    <a:p>
                      <a:pPr algn="ctr"/>
                      <a:r>
                        <a:rPr sz="750" b="0" i="1">
                          <a:solidFill>
                            <a:srgbClr val="555555"/>
                          </a:solidFill>
                          <a:latin typeface="Calibri"/>
                        </a:rPr>
                        <a:t>35,9 %</a:t>
                      </a:r>
                    </a:p>
                  </a:txBody>
                  <a:tcPr>
                    <a:solidFill>
                      <a:srgbClr val="F7F8FA"/>
                    </a:solidFill>
                  </a:tcPr>
                </a:tc>
                <a:tc>
                  <a:txBody>
                    <a:bodyPr/>
                    <a:lstStyle/>
                    <a:p>
                      <a:pPr algn="ctr"/>
                      <a:r>
                        <a:rPr sz="750" b="0" i="1">
                          <a:solidFill>
                            <a:srgbClr val="555555"/>
                          </a:solidFill>
                          <a:latin typeface="Calibri"/>
                        </a:rPr>
                        <a:t>37,0 %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Croissance revenue de 14.9% YoY en 2025 avec marges stables (Net Margin 36.1%). Cash-flow opérationnel de 85Mds$ en 2025. Croissance soutenue par l'IA et le cloud malgré un environnement macro incertain.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30,2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40,2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12,9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2,01</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2,00</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interets</a:t>
                      </a:r>
                    </a:p>
                  </a:txBody>
                  <a:tcPr>
                    <a:solidFill>
                      <a:srgbClr val="F7F8FA"/>
                    </a:solidFill>
                  </a:tcPr>
                </a:tc>
                <a:tc>
                  <a:txBody>
                    <a:bodyPr/>
                    <a:lstStyle/>
                    <a:p>
                      <a:pPr algn="ctr"/>
                      <a:r>
                        <a:rPr sz="800" b="0" i="0">
                          <a:solidFill>
                            <a:srgbClr val="0D0D0D"/>
                          </a:solidFill>
                          <a:latin typeface="Calibri"/>
                        </a:rPr>
                        <a:t>52,8x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7,79</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-2,57</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Croissance revenue de 14.9% YoY en 2025 avec marges stables (Net Margin 36.1%). Cash-flow opérationnel de 85Mds$ en 2025. Croissance soutenue par l'IA et le cloud malgré un environnement macro incertain.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27,1x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17,3x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68,8 %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56,9 %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29,6 %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30,1 %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Intensif</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7,79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-2,57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ROIC de 30.1% et ROE de 29.6% surpassent la médiane du secteur tech (18-22%). Marges EBITDA à 56.9% parmi les meilleures du S&amp;P 500.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420 $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370,93 $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350 $</a:t>
                      </a:r>
                    </a:p>
                  </a:txBody>
                  <a:tcPr>
                    <a:solidFill>
                      <a:srgbClr val="FAF0EF"/>
                    </a:solidFill>
                  </a:tcPr>
                </a:tc>
                <a:tc>
                  <a:txBody>
                    <a:bodyPr/>
                    <a:lstStyle/>
                    <a:p>
                      <a:pPr algn="ctr"/>
                      <a:r>
                        <a:rPr sz="2000" b="1" i="0">
                          <a:solidFill>
                            <a:srgbClr val="2E5FA3"/>
                          </a:solidFill>
                          <a:latin typeface="Calibri"/>
                        </a:rPr>
                        <a:t>420 $</a:t>
                      </a:r>
                    </a:p>
                  </a:txBody>
                  <a:tcPr>
                    <a:solidFill>
                      <a:srgbClr val="EEF3FA"/>
                    </a:solidFill>
                  </a:tcPr>
                </a:tc>
                <a:tc>
                  <a:txBody>
                    <a:bodyPr/>
                    <a:lstStyle/>
                    <a:p>
                      <a:pPr algn="ctr"/>
                      <a:r>
                        <a:rPr sz="2000" b="1" i="0">
                          <a:solidFill>
                            <a:srgbClr val="1A7A4A"/>
                          </a:solidFill>
                          <a:latin typeface="Calibri"/>
                        </a:rPr>
                        <a:t>480 $</a:t>
                      </a:r>
                    </a:p>
                  </a:txBody>
                  <a:tcPr>
                    <a:solidFill>
                      <a:srgbClr val="EAF4EF"/>
                    </a:solidFill>
                  </a:tcPr>
                </a:tc>
              </a:tr>
              <a:tr h="342900">
                <a:tc>
                  <a:txBody>
                    <a:bodyPr/>
                    <a:lstStyle/>
                    <a:p>
                      <a:pPr algn="ctr"/>
                      <a:r>
                        <a:rPr sz="1200" b="1" i="0">
                          <a:solidFill>
                            <a:srgbClr val="A82020"/>
                          </a:solidFill>
                          <a:latin typeface="Calibri"/>
                        </a:rPr>
                        <a:t>-5,6 %</a:t>
                      </a:r>
                    </a:p>
                  </a:txBody>
                  <a:tcPr>
                    <a:solidFill>
                      <a:srgbClr val="FAF0EF"/>
                    </a:solidFill>
                  </a:tcPr>
                </a:tc>
                <a:tc>
                  <a:txBody>
                    <a:bodyPr/>
                    <a:lstStyle/>
                    <a:p>
                      <a:pPr algn="ctr"/>
                      <a:r>
                        <a:rPr sz="1200" b="1" i="0">
                          <a:solidFill>
                            <a:srgbClr val="2E5FA3"/>
                          </a:solidFill>
                          <a:latin typeface="Calibri"/>
                        </a:rPr>
                        <a:t>+13,2 %</a:t>
                      </a:r>
                    </a:p>
                  </a:txBody>
                  <a:tcPr>
                    <a:solidFill>
                      <a:srgbClr val="EEF3FA"/>
                    </a:solidFill>
                  </a:tcPr>
                </a:tc>
                <a:tc>
                  <a:txBody>
                    <a:bodyPr/>
                    <a:lstStyle/>
                    <a:p>
                      <a:pPr algn="ctr"/>
                      <a:r>
                        <a:rPr sz="1200" b="1" i="0">
                          <a:solidFill>
                            <a:srgbClr val="1A7A4A"/>
                          </a:solidFill>
                          <a:latin typeface="Calibri"/>
                        </a:rPr>
                        <a:t>+29,4 %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sensibilite — Valeur intrinseque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528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578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638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712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420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528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578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420</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420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WACC à 10.3% et TGR à 3.0% impliquent un upside de 13% vs cours actuel. Valorisation DCF base à 420$ avec scénario conservateur.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Microsoft Corporation</a:t>
                      </a:r>
                    </a:p>
                  </a:txBody>
                  <a:tcPr>
                    <a:solidFill>
                      <a:srgbClr val="DDE8F5"/>
                    </a:solidFill>
                  </a:tcPr>
                </a:tc>
                <a:tc>
                  <a:txBody>
                    <a:bodyPr/>
                    <a:lstStyle/>
                    <a:p>
                      <a:pPr algn="ctr"/>
                      <a:r>
                        <a:rPr sz="750" b="1" i="0">
                          <a:solidFill>
                            <a:srgbClr val="2E5FA3"/>
                          </a:solidFill>
                          <a:latin typeface="Calibri"/>
                        </a:rPr>
                        <a:t>MSFT</a:t>
                      </a:r>
                    </a:p>
                  </a:txBody>
                  <a:tcPr>
                    <a:solidFill>
                      <a:srgbClr val="DDE8F5"/>
                    </a:solidFill>
                  </a:tcPr>
                </a:tc>
                <a:tc>
                  <a:txBody>
                    <a:bodyPr/>
                    <a:lstStyle/>
                    <a:p>
                      <a:pPr algn="ctr"/>
                      <a:r>
                        <a:rPr sz="800" b="1" i="0">
                          <a:solidFill>
                            <a:srgbClr val="1B3A6B"/>
                          </a:solidFill>
                          <a:latin typeface="Calibri"/>
                        </a:rPr>
                        <a:t>2 754,4</a:t>
                      </a:r>
                    </a:p>
                  </a:txBody>
                  <a:tcPr>
                    <a:solidFill>
                      <a:srgbClr val="DDE8F5"/>
                    </a:solidFill>
                  </a:tcPr>
                </a:tc>
                <a:tc>
                  <a:txBody>
                    <a:bodyPr/>
                    <a:lstStyle/>
                    <a:p>
                      <a:pPr algn="ctr"/>
                      <a:r>
                        <a:rPr sz="800" b="1" i="0">
                          <a:solidFill>
                            <a:srgbClr val="1B3A6B"/>
                          </a:solidFill>
                          <a:latin typeface="Calibri"/>
                        </a:rPr>
                        <a:t>17,3x</a:t>
                      </a:r>
                    </a:p>
                  </a:txBody>
                  <a:tcPr>
                    <a:solidFill>
                      <a:srgbClr val="DDE8F5"/>
                    </a:solidFill>
                  </a:tcPr>
                </a:tc>
                <a:tc>
                  <a:txBody>
                    <a:bodyPr/>
                    <a:lstStyle/>
                    <a:p>
                      <a:pPr algn="ctr"/>
                      <a:r>
                        <a:rPr sz="800" b="1" i="0">
                          <a:solidFill>
                            <a:srgbClr val="1B3A6B"/>
                          </a:solidFill>
                          <a:latin typeface="Calibri"/>
                        </a:rPr>
                        <a:t>9,8x</a:t>
                      </a:r>
                    </a:p>
                  </a:txBody>
                  <a:tcPr>
                    <a:solidFill>
                      <a:srgbClr val="DDE8F5"/>
                    </a:solidFill>
                  </a:tcPr>
                </a:tc>
                <a:tc>
                  <a:txBody>
                    <a:bodyPr/>
                    <a:lstStyle/>
                    <a:p>
                      <a:pPr algn="ctr"/>
                      <a:r>
                        <a:rPr sz="800" b="1" i="0">
                          <a:solidFill>
                            <a:srgbClr val="1B3A6B"/>
                          </a:solidFill>
                          <a:latin typeface="Calibri"/>
                        </a:rPr>
                        <a:t>27,1x</a:t>
                      </a:r>
                    </a:p>
                  </a:txBody>
                  <a:tcPr>
                    <a:solidFill>
                      <a:srgbClr val="DDE8F5"/>
                    </a:solidFill>
                  </a:tcPr>
                </a:tc>
                <a:tc>
                  <a:txBody>
                    <a:bodyPr/>
                    <a:lstStyle/>
                    <a:p>
                      <a:pPr algn="ctr"/>
                      <a:r>
                        <a:rPr sz="800" b="1" i="0">
                          <a:solidFill>
                            <a:srgbClr val="1B3A6B"/>
                          </a:solidFill>
                          <a:latin typeface="Calibri"/>
                        </a:rPr>
                        <a:t>68,8 %</a:t>
                      </a:r>
                    </a:p>
                  </a:txBody>
                  <a:tcPr>
                    <a:solidFill>
                      <a:srgbClr val="DDE8F5"/>
                    </a:solidFill>
                  </a:tcPr>
                </a:tc>
                <a:tc>
                  <a:txBody>
                    <a:bodyPr/>
                    <a:lstStyle/>
                    <a:p>
                      <a:pPr algn="ctr"/>
                      <a:r>
                        <a:rPr sz="800" b="1" i="0">
                          <a:solidFill>
                            <a:srgbClr val="1B3A6B"/>
                          </a:solidFill>
                          <a:latin typeface="Calibri"/>
                        </a:rPr>
                        <a:t>56,9 %</a:t>
                      </a:r>
                    </a:p>
                  </a:txBody>
                  <a:tcPr>
                    <a:solidFill>
                      <a:srgbClr val="DDE8F5"/>
                    </a:solidFill>
                  </a:tcPr>
                </a:tc>
              </a:tr>
              <a:tr h="251999">
                <a:tc>
                  <a:txBody>
                    <a:bodyPr/>
                    <a:lstStyle/>
                    <a:p>
                      <a:pPr algn="l"/>
                      <a:r>
                        <a:rPr sz="800" b="0" i="0">
                          <a:solidFill>
                            <a:srgbClr val="0D0D0D"/>
                          </a:solidFill>
                          <a:latin typeface="Calibri"/>
                        </a:rPr>
                        <a:t>Alphabet</a:t>
                      </a:r>
                    </a:p>
                  </a:txBody>
                  <a:tcPr>
                    <a:solidFill>
                      <a:srgbClr val="FFFFFF"/>
                    </a:solidFill>
                  </a:tcPr>
                </a:tc>
                <a:tc>
                  <a:txBody>
                    <a:bodyPr/>
                    <a:lstStyle/>
                    <a:p>
                      <a:pPr algn="ctr"/>
                      <a:r>
                        <a:rPr sz="750" b="0" i="0">
                          <a:solidFill>
                            <a:srgbClr val="555555"/>
                          </a:solidFill>
                          <a:latin typeface="Calibri"/>
                        </a:rPr>
                        <a:t>GOOGL</a:t>
                      </a:r>
                    </a:p>
                  </a:txBody>
                  <a:tcPr>
                    <a:solidFill>
                      <a:srgbClr val="FFFFFF"/>
                    </a:solidFill>
                  </a:tcPr>
                </a:tc>
                <a:tc>
                  <a:txBody>
                    <a:bodyPr/>
                    <a:lstStyle/>
                    <a:p>
                      <a:pPr algn="ctr"/>
                      <a:r>
                        <a:rPr sz="800" b="0" i="0">
                          <a:solidFill>
                            <a:srgbClr val="0D0D0D"/>
                          </a:solidFill>
                          <a:latin typeface="Calibri"/>
                        </a:rPr>
                        <a:t>2 300,0</a:t>
                      </a:r>
                    </a:p>
                  </a:txBody>
                  <a:tcPr>
                    <a:solidFill>
                      <a:srgbClr val="FFFFFF"/>
                    </a:solidFill>
                  </a:tcPr>
                </a:tc>
                <a:tc>
                  <a:txBody>
                    <a:bodyPr/>
                    <a:lstStyle/>
                    <a:p>
                      <a:pPr algn="ctr"/>
                      <a:r>
                        <a:rPr sz="800" b="0" i="0">
                          <a:solidFill>
                            <a:srgbClr val="0D0D0D"/>
                          </a:solidFill>
                          <a:latin typeface="Calibri"/>
                        </a:rPr>
                        <a:t>15,2x</a:t>
                      </a:r>
                    </a:p>
                  </a:txBody>
                  <a:tcPr>
                    <a:solidFill>
                      <a:srgbClr val="FFFFFF"/>
                    </a:solidFill>
                  </a:tcPr>
                </a:tc>
                <a:tc>
                  <a:txBody>
                    <a:bodyPr/>
                    <a:lstStyle/>
                    <a:p>
                      <a:pPr algn="ctr"/>
                      <a:r>
                        <a:rPr sz="800" b="0" i="0">
                          <a:solidFill>
                            <a:srgbClr val="0D0D0D"/>
                          </a:solidFill>
                          <a:latin typeface="Calibri"/>
                        </a:rPr>
                        <a:t>7,8x</a:t>
                      </a:r>
                    </a:p>
                  </a:txBody>
                  <a:tcPr>
                    <a:solidFill>
                      <a:srgbClr val="FFFFFF"/>
                    </a:solidFill>
                  </a:tcPr>
                </a:tc>
                <a:tc>
                  <a:txBody>
                    <a:bodyPr/>
                    <a:lstStyle/>
                    <a:p>
                      <a:pPr algn="ctr"/>
                      <a:r>
                        <a:rPr sz="800" b="0" i="0">
                          <a:solidFill>
                            <a:srgbClr val="0D0D0D"/>
                          </a:solidFill>
                          <a:latin typeface="Calibri"/>
                        </a:rPr>
                        <a:t>24,5x</a:t>
                      </a:r>
                    </a:p>
                  </a:txBody>
                  <a:tcPr>
                    <a:solidFill>
                      <a:srgbClr val="FFFFFF"/>
                    </a:solidFill>
                  </a:tcPr>
                </a:tc>
                <a:tc>
                  <a:txBody>
                    <a:bodyPr/>
                    <a:lstStyle/>
                    <a:p>
                      <a:pPr algn="ctr"/>
                      <a:r>
                        <a:rPr sz="800" b="0" i="0">
                          <a:solidFill>
                            <a:srgbClr val="0D0D0D"/>
                          </a:solidFill>
                          <a:latin typeface="Calibri"/>
                        </a:rPr>
                        <a:t>56,0 %</a:t>
                      </a:r>
                    </a:p>
                  </a:txBody>
                  <a:tcPr>
                    <a:solidFill>
                      <a:srgbClr val="FFFFFF"/>
                    </a:solidFill>
                  </a:tcPr>
                </a:tc>
                <a:tc>
                  <a:txBody>
                    <a:bodyPr/>
                    <a:lstStyle/>
                    <a:p>
                      <a:pPr algn="ctr"/>
                      <a:r>
                        <a:rPr sz="800" b="0" i="0">
                          <a:solidFill>
                            <a:srgbClr val="0D0D0D"/>
                          </a:solidFill>
                          <a:latin typeface="Calibri"/>
                        </a:rPr>
                        <a:t>32,0 %</a:t>
                      </a:r>
                    </a:p>
                  </a:txBody>
                  <a:tcPr>
                    <a:solidFill>
                      <a:srgbClr val="FFFFFF"/>
                    </a:solidFill>
                  </a:tcPr>
                </a:tc>
              </a:tr>
              <a:tr h="251999">
                <a:tc>
                  <a:txBody>
                    <a:bodyPr/>
                    <a:lstStyle/>
                    <a:p>
                      <a:pPr algn="l"/>
                      <a:r>
                        <a:rPr sz="800" b="0" i="0">
                          <a:solidFill>
                            <a:srgbClr val="0D0D0D"/>
                          </a:solidFill>
                          <a:latin typeface="Calibri"/>
                        </a:rPr>
                        <a:t>Amazon</a:t>
                      </a:r>
                    </a:p>
                  </a:txBody>
                  <a:tcPr>
                    <a:solidFill>
                      <a:srgbClr val="F7F8FA"/>
                    </a:solidFill>
                  </a:tcPr>
                </a:tc>
                <a:tc>
                  <a:txBody>
                    <a:bodyPr/>
                    <a:lstStyle/>
                    <a:p>
                      <a:pPr algn="ctr"/>
                      <a:r>
                        <a:rPr sz="750" b="0" i="0">
                          <a:solidFill>
                            <a:srgbClr val="555555"/>
                          </a:solidFill>
                          <a:latin typeface="Calibri"/>
                        </a:rPr>
                        <a:t>AMZN</a:t>
                      </a:r>
                    </a:p>
                  </a:txBody>
                  <a:tcPr>
                    <a:solidFill>
                      <a:srgbClr val="F7F8FA"/>
                    </a:solidFill>
                  </a:tcPr>
                </a:tc>
                <a:tc>
                  <a:txBody>
                    <a:bodyPr/>
                    <a:lstStyle/>
                    <a:p>
                      <a:pPr algn="ctr"/>
                      <a:r>
                        <a:rPr sz="800" b="0" i="0">
                          <a:solidFill>
                            <a:srgbClr val="0D0D0D"/>
                          </a:solidFill>
                          <a:latin typeface="Calibri"/>
                        </a:rPr>
                        <a:t>1 800,0</a:t>
                      </a:r>
                    </a:p>
                  </a:txBody>
                  <a:tcPr>
                    <a:solidFill>
                      <a:srgbClr val="F7F8FA"/>
                    </a:solidFill>
                  </a:tcPr>
                </a:tc>
                <a:tc>
                  <a:txBody>
                    <a:bodyPr/>
                    <a:lstStyle/>
                    <a:p>
                      <a:pPr algn="ctr"/>
                      <a:r>
                        <a:rPr sz="800" b="0" i="0">
                          <a:solidFill>
                            <a:srgbClr val="0D0D0D"/>
                          </a:solidFill>
                          <a:latin typeface="Calibri"/>
                        </a:rPr>
                        <a:t>18,7x</a:t>
                      </a:r>
                    </a:p>
                  </a:txBody>
                  <a:tcPr>
                    <a:solidFill>
                      <a:srgbClr val="F7F8FA"/>
                    </a:solidFill>
                  </a:tcPr>
                </a:tc>
                <a:tc>
                  <a:txBody>
                    <a:bodyPr/>
                    <a:lstStyle/>
                    <a:p>
                      <a:pPr algn="ctr"/>
                      <a:r>
                        <a:rPr sz="800" b="0" i="0">
                          <a:solidFill>
                            <a:srgbClr val="0D0D0D"/>
                          </a:solidFill>
                          <a:latin typeface="Calibri"/>
                        </a:rPr>
                        <a:t>3,2x</a:t>
                      </a:r>
                    </a:p>
                  </a:txBody>
                  <a:tcPr>
                    <a:solidFill>
                      <a:srgbClr val="F7F8FA"/>
                    </a:solidFill>
                  </a:tcPr>
                </a:tc>
                <a:tc>
                  <a:txBody>
                    <a:bodyPr/>
                    <a:lstStyle/>
                    <a:p>
                      <a:pPr algn="ctr"/>
                      <a:r>
                        <a:rPr sz="800" b="0" i="0">
                          <a:solidFill>
                            <a:srgbClr val="0D0D0D"/>
                          </a:solidFill>
                          <a:latin typeface="Calibri"/>
                        </a:rPr>
                        <a:t>55,0x</a:t>
                      </a:r>
                    </a:p>
                  </a:txBody>
                  <a:tcPr>
                    <a:solidFill>
                      <a:srgbClr val="F7F8FA"/>
                    </a:solidFill>
                  </a:tcPr>
                </a:tc>
                <a:tc>
                  <a:txBody>
                    <a:bodyPr/>
                    <a:lstStyle/>
                    <a:p>
                      <a:pPr algn="ctr"/>
                      <a:r>
                        <a:rPr sz="800" b="0" i="0">
                          <a:solidFill>
                            <a:srgbClr val="0D0D0D"/>
                          </a:solidFill>
                          <a:latin typeface="Calibri"/>
                        </a:rPr>
                        <a:t>45,0 %</a:t>
                      </a:r>
                    </a:p>
                  </a:txBody>
                  <a:tcPr>
                    <a:solidFill>
                      <a:srgbClr val="F7F8FA"/>
                    </a:solidFill>
                  </a:tcPr>
                </a:tc>
                <a:tc>
                  <a:txBody>
                    <a:bodyPr/>
                    <a:lstStyle/>
                    <a:p>
                      <a:pPr algn="ctr"/>
                      <a:r>
                        <a:rPr sz="800" b="0" i="0">
                          <a:solidFill>
                            <a:srgbClr val="0D0D0D"/>
                          </a:solidFill>
                          <a:latin typeface="Calibri"/>
                        </a:rPr>
                        <a:t>12,0 %</a:t>
                      </a:r>
                    </a:p>
                  </a:txBody>
                  <a:tcPr>
                    <a:solidFill>
                      <a:srgbClr val="F7F8FA"/>
                    </a:solidFill>
                  </a:tcPr>
                </a:tc>
              </a:tr>
              <a:tr h="251999">
                <a:tc>
                  <a:txBody>
                    <a:bodyPr/>
                    <a:lstStyle/>
                    <a:p>
                      <a:pPr algn="l"/>
                      <a:r>
                        <a:rPr sz="800" b="0" i="0">
                          <a:solidFill>
                            <a:srgbClr val="0D0D0D"/>
                          </a:solidFill>
                          <a:latin typeface="Calibri"/>
                        </a:rPr>
                        <a:t>Oracle</a:t>
                      </a:r>
                    </a:p>
                  </a:txBody>
                  <a:tcPr>
                    <a:solidFill>
                      <a:srgbClr val="FFFFFF"/>
                    </a:solidFill>
                  </a:tcPr>
                </a:tc>
                <a:tc>
                  <a:txBody>
                    <a:bodyPr/>
                    <a:lstStyle/>
                    <a:p>
                      <a:pPr algn="ctr"/>
                      <a:r>
                        <a:rPr sz="750" b="0" i="0">
                          <a:solidFill>
                            <a:srgbClr val="555555"/>
                          </a:solidFill>
                          <a:latin typeface="Calibri"/>
                        </a:rPr>
                        <a:t>ORCL</a:t>
                      </a:r>
                    </a:p>
                  </a:txBody>
                  <a:tcPr>
                    <a:solidFill>
                      <a:srgbClr val="FFFFFF"/>
                    </a:solidFill>
                  </a:tcPr>
                </a:tc>
                <a:tc>
                  <a:txBody>
                    <a:bodyPr/>
                    <a:lstStyle/>
                    <a:p>
                      <a:pPr algn="ctr"/>
                      <a:r>
                        <a:rPr sz="800" b="0" i="0">
                          <a:solidFill>
                            <a:srgbClr val="0D0D0D"/>
                          </a:solidFill>
                          <a:latin typeface="Calibri"/>
                        </a:rPr>
                        <a:t>320,0</a:t>
                      </a:r>
                    </a:p>
                  </a:txBody>
                  <a:tcPr>
                    <a:solidFill>
                      <a:srgbClr val="FFFFFF"/>
                    </a:solidFill>
                  </a:tcPr>
                </a:tc>
                <a:tc>
                  <a:txBody>
                    <a:bodyPr/>
                    <a:lstStyle/>
                    <a:p>
                      <a:pPr algn="ctr"/>
                      <a:r>
                        <a:rPr sz="800" b="0" i="0">
                          <a:solidFill>
                            <a:srgbClr val="0D0D0D"/>
                          </a:solidFill>
                          <a:latin typeface="Calibri"/>
                        </a:rPr>
                        <a:t>14,5x</a:t>
                      </a:r>
                    </a:p>
                  </a:txBody>
                  <a:tcPr>
                    <a:solidFill>
                      <a:srgbClr val="FFFFFF"/>
                    </a:solidFill>
                  </a:tcPr>
                </a:tc>
                <a:tc>
                  <a:txBody>
                    <a:bodyPr/>
                    <a:lstStyle/>
                    <a:p>
                      <a:pPr algn="ctr"/>
                      <a:r>
                        <a:rPr sz="800" b="0" i="0">
                          <a:solidFill>
                            <a:srgbClr val="0D0D0D"/>
                          </a:solidFill>
                          <a:latin typeface="Calibri"/>
                        </a:rPr>
                        <a:t>6,8x</a:t>
                      </a:r>
                    </a:p>
                  </a:txBody>
                  <a:tcPr>
                    <a:solidFill>
                      <a:srgbClr val="FFFFFF"/>
                    </a:solidFill>
                  </a:tcPr>
                </a:tc>
                <a:tc>
                  <a:txBody>
                    <a:bodyPr/>
                    <a:lstStyle/>
                    <a:p>
                      <a:pPr algn="ctr"/>
                      <a:r>
                        <a:rPr sz="800" b="0" i="0">
                          <a:solidFill>
                            <a:srgbClr val="0D0D0D"/>
                          </a:solidFill>
                          <a:latin typeface="Calibri"/>
                        </a:rPr>
                        <a:t>22,0x</a:t>
                      </a:r>
                    </a:p>
                  </a:txBody>
                  <a:tcPr>
                    <a:solidFill>
                      <a:srgbClr val="FFFFFF"/>
                    </a:solidFill>
                  </a:tcPr>
                </a:tc>
                <a:tc>
                  <a:txBody>
                    <a:bodyPr/>
                    <a:lstStyle/>
                    <a:p>
                      <a:pPr algn="ctr"/>
                      <a:r>
                        <a:rPr sz="800" b="0" i="0">
                          <a:solidFill>
                            <a:srgbClr val="0D0D0D"/>
                          </a:solidFill>
                          <a:latin typeface="Calibri"/>
                        </a:rPr>
                        <a:t>78,0 %</a:t>
                      </a:r>
                    </a:p>
                  </a:txBody>
                  <a:tcPr>
                    <a:solidFill>
                      <a:srgbClr val="FFFFFF"/>
                    </a:solidFill>
                  </a:tcPr>
                </a:tc>
                <a:tc>
                  <a:txBody>
                    <a:bodyPr/>
                    <a:lstStyle/>
                    <a:p>
                      <a:pPr algn="ctr"/>
                      <a:r>
                        <a:rPr sz="800" b="0" i="0">
                          <a:solidFill>
                            <a:srgbClr val="0D0D0D"/>
                          </a:solidFill>
                          <a:latin typeface="Calibri"/>
                        </a:rPr>
                        <a:t>48,0 %</a:t>
                      </a:r>
                    </a:p>
                  </a:txBody>
                  <a:tcPr>
                    <a:solidFill>
                      <a:srgbClr val="FFFFFF"/>
                    </a:solidFill>
                  </a:tcPr>
                </a:tc>
              </a:tr>
              <a:tr h="251999">
                <a:tc>
                  <a:txBody>
                    <a:bodyPr/>
                    <a:lstStyle/>
                    <a:p>
                      <a:pPr algn="l"/>
                      <a:r>
                        <a:rPr sz="800" b="0" i="0">
                          <a:solidFill>
                            <a:srgbClr val="0D0D0D"/>
                          </a:solidFill>
                          <a:latin typeface="Calibri"/>
                        </a:rPr>
                        <a:t>Salesforce</a:t>
                      </a:r>
                    </a:p>
                  </a:txBody>
                  <a:tcPr>
                    <a:solidFill>
                      <a:srgbClr val="F7F8FA"/>
                    </a:solidFill>
                  </a:tcPr>
                </a:tc>
                <a:tc>
                  <a:txBody>
                    <a:bodyPr/>
                    <a:lstStyle/>
                    <a:p>
                      <a:pPr algn="ctr"/>
                      <a:r>
                        <a:rPr sz="750" b="0" i="0">
                          <a:solidFill>
                            <a:srgbClr val="555555"/>
                          </a:solidFill>
                          <a:latin typeface="Calibri"/>
                        </a:rPr>
                        <a:t>CRM</a:t>
                      </a:r>
                    </a:p>
                  </a:txBody>
                  <a:tcPr>
                    <a:solidFill>
                      <a:srgbClr val="F7F8FA"/>
                    </a:solidFill>
                  </a:tcPr>
                </a:tc>
                <a:tc>
                  <a:txBody>
                    <a:bodyPr/>
                    <a:lstStyle/>
                    <a:p>
                      <a:pPr algn="ctr"/>
                      <a:r>
                        <a:rPr sz="800" b="0" i="0">
                          <a:solidFill>
                            <a:srgbClr val="0D0D0D"/>
                          </a:solidFill>
                          <a:latin typeface="Calibri"/>
                        </a:rPr>
                        <a:t>280,0</a:t>
                      </a:r>
                    </a:p>
                  </a:txBody>
                  <a:tcPr>
                    <a:solidFill>
                      <a:srgbClr val="F7F8FA"/>
                    </a:solidFill>
                  </a:tcPr>
                </a:tc>
                <a:tc>
                  <a:txBody>
                    <a:bodyPr/>
                    <a:lstStyle/>
                    <a:p>
                      <a:pPr algn="ctr"/>
                      <a:r>
                        <a:rPr sz="800" b="0" i="0">
                          <a:solidFill>
                            <a:srgbClr val="0D0D0D"/>
                          </a:solidFill>
                          <a:latin typeface="Calibri"/>
                        </a:rPr>
                        <a:t>22,5x</a:t>
                      </a:r>
                    </a:p>
                  </a:txBody>
                  <a:tcPr>
                    <a:solidFill>
                      <a:srgbClr val="F7F8FA"/>
                    </a:solidFill>
                  </a:tcPr>
                </a:tc>
                <a:tc>
                  <a:txBody>
                    <a:bodyPr/>
                    <a:lstStyle/>
                    <a:p>
                      <a:pPr algn="ctr"/>
                      <a:r>
                        <a:rPr sz="800" b="0" i="0">
                          <a:solidFill>
                            <a:srgbClr val="0D0D0D"/>
                          </a:solidFill>
                          <a:latin typeface="Calibri"/>
                        </a:rPr>
                        <a:t>6,5x</a:t>
                      </a:r>
                    </a:p>
                  </a:txBody>
                  <a:tcPr>
                    <a:solidFill>
                      <a:srgbClr val="F7F8FA"/>
                    </a:solidFill>
                  </a:tcPr>
                </a:tc>
                <a:tc>
                  <a:txBody>
                    <a:bodyPr/>
                    <a:lstStyle/>
                    <a:p>
                      <a:pPr algn="ctr"/>
                      <a:r>
                        <a:rPr sz="800" b="0" i="0">
                          <a:solidFill>
                            <a:srgbClr val="0D0D0D"/>
                          </a:solidFill>
                          <a:latin typeface="Calibri"/>
                        </a:rPr>
                        <a:t>35,0x</a:t>
                      </a:r>
                    </a:p>
                  </a:txBody>
                  <a:tcPr>
                    <a:solidFill>
                      <a:srgbClr val="F7F8FA"/>
                    </a:solidFill>
                  </a:tcPr>
                </a:tc>
                <a:tc>
                  <a:txBody>
                    <a:bodyPr/>
                    <a:lstStyle/>
                    <a:p>
                      <a:pPr algn="ctr"/>
                      <a:r>
                        <a:rPr sz="800" b="0" i="0">
                          <a:solidFill>
                            <a:srgbClr val="0D0D0D"/>
                          </a:solidFill>
                          <a:latin typeface="Calibri"/>
                        </a:rPr>
                        <a:t>73,0 %</a:t>
                      </a:r>
                    </a:p>
                  </a:txBody>
                  <a:tcPr>
                    <a:solidFill>
                      <a:srgbClr val="F7F8FA"/>
                    </a:solidFill>
                  </a:tcPr>
                </a:tc>
                <a:tc>
                  <a:txBody>
                    <a:bodyPr/>
                    <a:lstStyle/>
                    <a:p>
                      <a:pPr algn="ctr"/>
                      <a:r>
                        <a:rPr sz="800" b="0" i="0">
                          <a:solidFill>
                            <a:srgbClr val="0D0D0D"/>
                          </a:solidFill>
                          <a:latin typeface="Calibri"/>
                        </a:rPr>
                        <a:t>25,0 %</a:t>
                      </a:r>
                    </a:p>
                  </a:txBody>
                  <a:tcPr>
                    <a:solidFill>
                      <a:srgbClr val="F7F8FA"/>
                    </a:solidFill>
                  </a:tcPr>
                </a:tc>
              </a:tr>
              <a:tr h="251999">
                <a:tc>
                  <a:txBody>
                    <a:bodyPr/>
                    <a:lstStyle/>
                    <a:p>
                      <a:pPr algn="l"/>
                      <a:r>
                        <a:rPr sz="800" b="0" i="0">
                          <a:solidFill>
                            <a:srgbClr val="0D0D0D"/>
                          </a:solidFill>
                          <a:latin typeface="Calibri"/>
                        </a:rPr>
                        <a:t>IBM</a:t>
                      </a:r>
                    </a:p>
                  </a:txBody>
                  <a:tcPr>
                    <a:solidFill>
                      <a:srgbClr val="FFFFFF"/>
                    </a:solidFill>
                  </a:tcPr>
                </a:tc>
                <a:tc>
                  <a:txBody>
                    <a:bodyPr/>
                    <a:lstStyle/>
                    <a:p>
                      <a:pPr algn="ctr"/>
                      <a:r>
                        <a:rPr sz="750" b="0" i="0">
                          <a:solidFill>
                            <a:srgbClr val="555555"/>
                          </a:solidFill>
                          <a:latin typeface="Calibri"/>
                        </a:rPr>
                        <a:t>IBM</a:t>
                      </a:r>
                    </a:p>
                  </a:txBody>
                  <a:tcPr>
                    <a:solidFill>
                      <a:srgbClr val="FFFFFF"/>
                    </a:solidFill>
                  </a:tcPr>
                </a:tc>
                <a:tc>
                  <a:txBody>
                    <a:bodyPr/>
                    <a:lstStyle/>
                    <a:p>
                      <a:pPr algn="ctr"/>
                      <a:r>
                        <a:rPr sz="800" b="0" i="0">
                          <a:solidFill>
                            <a:srgbClr val="0D0D0D"/>
                          </a:solidFill>
                          <a:latin typeface="Calibri"/>
                        </a:rPr>
                        <a:t>160,0</a:t>
                      </a:r>
                    </a:p>
                  </a:txBody>
                  <a:tcPr>
                    <a:solidFill>
                      <a:srgbClr val="FFFFFF"/>
                    </a:solidFill>
                  </a:tcPr>
                </a:tc>
                <a:tc>
                  <a:txBody>
                    <a:bodyPr/>
                    <a:lstStyle/>
                    <a:p>
                      <a:pPr algn="ctr"/>
                      <a:r>
                        <a:rPr sz="800" b="0" i="0">
                          <a:solidFill>
                            <a:srgbClr val="0D0D0D"/>
                          </a:solidFill>
                          <a:latin typeface="Calibri"/>
                        </a:rPr>
                        <a:t>12,8x</a:t>
                      </a:r>
                    </a:p>
                  </a:txBody>
                  <a:tcPr>
                    <a:solidFill>
                      <a:srgbClr val="FFFFFF"/>
                    </a:solidFill>
                  </a:tcPr>
                </a:tc>
                <a:tc>
                  <a:txBody>
                    <a:bodyPr/>
                    <a:lstStyle/>
                    <a:p>
                      <a:pPr algn="ctr"/>
                      <a:r>
                        <a:rPr sz="800" b="0" i="0">
                          <a:solidFill>
                            <a:srgbClr val="0D0D0D"/>
                          </a:solidFill>
                          <a:latin typeface="Calibri"/>
                        </a:rPr>
                        <a:t>2,1x</a:t>
                      </a:r>
                    </a:p>
                  </a:txBody>
                  <a:tcPr>
                    <a:solidFill>
                      <a:srgbClr val="FFFFFF"/>
                    </a:solidFill>
                  </a:tcPr>
                </a:tc>
                <a:tc>
                  <a:txBody>
                    <a:bodyPr/>
                    <a:lstStyle/>
                    <a:p>
                      <a:pPr algn="ctr"/>
                      <a:r>
                        <a:rPr sz="800" b="0" i="0">
                          <a:solidFill>
                            <a:srgbClr val="0D0D0D"/>
                          </a:solidFill>
                          <a:latin typeface="Calibri"/>
                        </a:rPr>
                        <a:t>18,0x</a:t>
                      </a:r>
                    </a:p>
                  </a:txBody>
                  <a:tcPr>
                    <a:solidFill>
                      <a:srgbClr val="FFFFFF"/>
                    </a:solidFill>
                  </a:tcPr>
                </a:tc>
                <a:tc>
                  <a:txBody>
                    <a:bodyPr/>
                    <a:lstStyle/>
                    <a:p>
                      <a:pPr algn="ctr"/>
                      <a:r>
                        <a:rPr sz="800" b="0" i="0">
                          <a:solidFill>
                            <a:srgbClr val="0D0D0D"/>
                          </a:solidFill>
                          <a:latin typeface="Calibri"/>
                        </a:rPr>
                        <a:t>52,0 %</a:t>
                      </a:r>
                    </a:p>
                  </a:txBody>
                  <a:tcPr>
                    <a:solidFill>
                      <a:srgbClr val="FFFFFF"/>
                    </a:solidFill>
                  </a:tcPr>
                </a:tc>
                <a:tc>
                  <a:txBody>
                    <a:bodyPr/>
                    <a:lstStyle/>
                    <a:p>
                      <a:pPr algn="ctr"/>
                      <a:r>
                        <a:rPr sz="800" b="0" i="0">
                          <a:solidFill>
                            <a:srgbClr val="0D0D0D"/>
                          </a:solidFill>
                          <a:latin typeface="Calibri"/>
                        </a:rPr>
                        <a:t>22,0 %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15,2x</a:t>
                      </a:r>
                    </a:p>
                  </a:txBody>
                  <a:tcPr>
                    <a:solidFill>
                      <a:srgbClr val="F7F8FA"/>
                    </a:solidFill>
                  </a:tcPr>
                </a:tc>
                <a:tc>
                  <a:txBody>
                    <a:bodyPr/>
                    <a:lstStyle/>
                    <a:p>
                      <a:pPr algn="ctr"/>
                      <a:r>
                        <a:rPr sz="800" b="1" i="0">
                          <a:solidFill>
                            <a:srgbClr val="0D0D0D"/>
                          </a:solidFill>
                          <a:latin typeface="Calibri"/>
                        </a:rPr>
                        <a:t>6,5x</a:t>
                      </a:r>
                    </a:p>
                  </a:txBody>
                  <a:tcPr>
                    <a:solidFill>
                      <a:srgbClr val="F7F8FA"/>
                    </a:solidFill>
                  </a:tcPr>
                </a:tc>
                <a:tc>
                  <a:txBody>
                    <a:bodyPr/>
                    <a:lstStyle/>
                    <a:p>
                      <a:pPr algn="ctr"/>
                      <a:r>
                        <a:rPr sz="800" b="1" i="0">
                          <a:solidFill>
                            <a:srgbClr val="0D0D0D"/>
                          </a:solidFill>
                          <a:latin typeface="Calibri"/>
                        </a:rPr>
                        <a:t>24,5x</a:t>
                      </a:r>
                    </a:p>
                  </a:txBody>
                  <a:tcPr>
                    <a:solidFill>
                      <a:srgbClr val="F7F8FA"/>
                    </a:solidFill>
                  </a:tcPr>
                </a:tc>
                <a:tc>
                  <a:txBody>
                    <a:bodyPr/>
                    <a:lstStyle/>
                    <a:p>
                      <a:pPr algn="ctr"/>
                      <a:r>
                        <a:rPr sz="800" b="1" i="0">
                          <a:solidFill>
                            <a:srgbClr val="0D0D0D"/>
                          </a:solidFill>
                          <a:latin typeface="Calibri"/>
                        </a:rPr>
                        <a:t>56,0 %</a:t>
                      </a:r>
                    </a:p>
                  </a:txBody>
                  <a:tcPr>
                    <a:solidFill>
                      <a:srgbClr val="F7F8FA"/>
                    </a:solidFill>
                  </a:tcPr>
                </a:tc>
                <a:tc>
                  <a:txBody>
                    <a:bodyPr/>
                    <a:lstStyle/>
                    <a:p>
                      <a:pPr algn="ctr"/>
                      <a:r>
                        <a:rPr sz="800" b="1" i="0">
                          <a:solidFill>
                            <a:srgbClr val="0D0D0D"/>
                          </a:solidFill>
                          <a:latin typeface="Calibri"/>
                        </a:rPr>
                        <a:t>25,0 %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ROIC de 30.1% et ROE de 29.6% surpassent la médiane du secteur tech (18-22%). Marges EBITDA à 56.9% parmi les meilleures du S&amp;P 500.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1980000"/>
          </a:xfrm>
          <a:prstGeom prst="rect">
            <a:avLst/>
          </a:prstGeom>
        </p:spPr>
      </p:pic>
      <p:sp>
        <p:nvSpPr>
          <p:cNvPr id="18" name="TextBox 17"/>
          <p:cNvSpPr txBox="1"/>
          <p:nvPr/>
        </p:nvSpPr>
        <p:spPr>
          <a:xfrm>
            <a:off x="367200" y="3528000"/>
            <a:ext cx="8413200" cy="914400"/>
          </a:xfrm>
          <a:prstGeom prst="rect">
            <a:avLst/>
          </a:prstGeom>
          <a:noFill/>
        </p:spPr>
        <p:txBody>
          <a:bodyPr wrap="square">
            <a:spAutoFit/>
          </a:bodyPr>
          <a:lstStyle/>
          <a:p>
            <a:pPr algn="l"/>
            <a:r>
              <a:rPr sz="850" b="0" i="0">
                <a:solidFill>
                  <a:srgbClr val="555555"/>
                </a:solidFill>
                <a:latin typeface="Calibri"/>
              </a:rPr>
              <a:t>WACC à 10.3% et TGR à 3.0% impliquent un upside de 13% vs cours actuel. Valorisation DCF base à 420$ avec scénario conservateur.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Régulation antitrust</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Risque de régulation antitrust sur les pratiques cloud (DoJ en cours)</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Concurrence IA</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Concurrence accrue dans l'IA (Google Vertex, AWS Bedrock)</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Dépendance cloud</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Dépendance aux dépenses IT des entreprises (sensibilité au cycle économique)</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these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réduisant les dépenses IT de 15%</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Concurrence accrue dans l'IA générative (parts de marché Azure &lt;35%)</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Societe</a:t>
                      </a:r>
                    </a:p>
                  </a:txBody>
                  <a:tcPr>
                    <a:solidFill>
                      <a:srgbClr val="FFFFFF"/>
                    </a:solidFill>
                  </a:tcPr>
                </a:tc>
                <a:tc>
                  <a:txBody>
                    <a:bodyPr/>
                    <a:lstStyle/>
                    <a:p>
                      <a:pPr algn="ctr"/>
                      <a:r>
                        <a:rPr sz="800" b="0" i="0">
                          <a:solidFill>
                            <a:srgbClr val="0D0D0D"/>
                          </a:solidFill>
                          <a:latin typeface="Calibri"/>
                        </a:rPr>
                        <a:t>Régulation antitrust bloquant l'intégration IA dans Azure</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Negatif</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agrege : -0,022</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analyses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Fenetre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36,3 %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Modele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Coherence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Aligne avec la these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10</a:t>
                      </a:r>
                    </a:p>
                  </a:txBody>
                  <a:tcPr>
                    <a:solidFill>
                      <a:srgbClr val="EAF4EF"/>
                    </a:solidFill>
                  </a:tcPr>
                </a:tc>
                <a:tc>
                  <a:txBody>
                    <a:bodyPr/>
                    <a:lstStyle/>
                    <a:p>
                      <a:pPr algn="ctr"/>
                      <a:r>
                        <a:rPr sz="800" b="0" i="0">
                          <a:solidFill>
                            <a:srgbClr val="0D0D0D"/>
                          </a:solidFill>
                          <a:latin typeface="Calibri"/>
                        </a:rPr>
                        <a:t>+0,341</a:t>
                      </a:r>
                    </a:p>
                  </a:txBody>
                  <a:tcPr>
                    <a:solidFill>
                      <a:srgbClr val="EAF4EF"/>
                    </a:solidFill>
                  </a:tcPr>
                </a:tc>
                <a:tc>
                  <a:txBody>
                    <a:bodyPr/>
                    <a:lstStyle/>
                    <a:p>
                      <a:pPr algn="ctr"/>
                      <a:r>
                        <a:rPr sz="800" b="0" i="0">
                          <a:solidFill>
                            <a:srgbClr val="0D0D0D"/>
                          </a:solidFill>
                          <a:latin typeface="Calibri"/>
                        </a:rPr>
                        <a:t>Adoption massive de l'IA générative dans Azure (40% CA cloud en 2027), Croissance des revenus cloud de 35% YoY d'ici 2026, Expansion des marges grâce à l'effet scale des services cloud</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8</a:t>
                      </a:r>
                    </a:p>
                  </a:txBody>
                  <a:tcPr>
                    <a:solidFill>
                      <a:srgbClr val="FFFFFF"/>
                    </a:solidFill>
                  </a:tcPr>
                </a:tc>
                <a:tc>
                  <a:txBody>
                    <a:bodyPr/>
                    <a:lstStyle/>
                    <a:p>
                      <a:pPr algn="ctr"/>
                      <a:r>
                        <a:rPr sz="800" b="0" i="0">
                          <a:solidFill>
                            <a:srgbClr val="0D0D0D"/>
                          </a:solidFill>
                          <a:latin typeface="Calibri"/>
                        </a:rPr>
                        <a:t>+0,295</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12</a:t>
                      </a:r>
                    </a:p>
                  </a:txBody>
                  <a:tcPr>
                    <a:solidFill>
                      <a:srgbClr val="FAF0EF"/>
                    </a:solidFill>
                  </a:tcPr>
                </a:tc>
                <a:tc>
                  <a:txBody>
                    <a:bodyPr/>
                    <a:lstStyle/>
                    <a:p>
                      <a:pPr algn="ctr"/>
                      <a:r>
                        <a:rPr sz="800" b="0" i="0">
                          <a:solidFill>
                            <a:srgbClr val="0D0D0D"/>
                          </a:solidFill>
                          <a:latin typeface="Calibri"/>
                        </a:rPr>
                        <a:t>+0,363</a:t>
                      </a:r>
                    </a:p>
                  </a:txBody>
                  <a:tcPr>
                    <a:solidFill>
                      <a:srgbClr val="FAF0EF"/>
                    </a:solidFill>
                  </a:tcPr>
                </a:tc>
                <a:tc>
                  <a:txBody>
                    <a:bodyPr/>
                    <a:lstStyle/>
                    <a:p>
                      <a:pPr algn="ctr"/>
                      <a:r>
                        <a:rPr sz="800" b="0" i="0">
                          <a:solidFill>
                            <a:srgbClr val="0D0D0D"/>
                          </a:solidFill>
                          <a:latin typeface="Calibri"/>
                        </a:rPr>
                        <a:t>Risque de régulation antitrust sur les pratiques cloud (DoJ en cours), Concurrence accrue dans l'IA (Google Vertex, AWS Bedrock), Dépendance aux dépenses IT des entreprises (sensibilité au cycle économique)</a:t>
                      </a:r>
                    </a:p>
                  </a:txBody>
                  <a:tcPr>
                    <a:solidFill>
                      <a:srgbClr val="FAF0EF"/>
                    </a:solidFill>
                  </a:tcPr>
                </a:tc>
              </a:tr>
            </a:tbl>
          </a:graphicData>
        </a:graphic>
      </p:graphicFrame>
      <p:sp>
        <p:nvSpPr>
          <p:cNvPr id="39" name="TextBox 38"/>
          <p:cNvSpPr txBox="1"/>
          <p:nvPr/>
        </p:nvSpPr>
        <p:spPr>
          <a:xfrm>
            <a:off x="367200" y="3664800"/>
            <a:ext cx="8413200" cy="914400"/>
          </a:xfrm>
          <a:prstGeom prst="rect">
            <a:avLst/>
          </a:prstGeom>
          <a:noFill/>
        </p:spPr>
        <p:txBody>
          <a:bodyPr wrap="square">
            <a:spAutoFit/>
          </a:bodyPr>
          <a:lstStyle/>
          <a:p>
            <a:pPr algn="l"/>
            <a:r>
              <a:rPr sz="850" b="0" i="0">
                <a:solidFill>
                  <a:srgbClr val="333333"/>
                </a:solidFill>
                <a:latin typeface="Calibri"/>
              </a:rPr>
              <a:t>Le sentiment negatif (score -0.022) est basé sur 30 articles analysés sur 7 jours. Confiance IA : 36%. Cohérence avec la recommandation BUY : surveiller.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25 mars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012400"/>
        </p:xfrm>
        <a:graphic>
          <a:graphicData uri="http://schemas.openxmlformats.org/drawingml/2006/table">
            <a:tbl>
              <a:tblPr firstRow="1" bandRow="1">
                <a:tableStyleId>{5C22544A-7EE6-4342-B048-85BDC9FD1C3A}</a:tableStyleId>
              </a:tblPr>
              <a:tblGrid>
                <a:gridCol w="2015064"/>
                <a:gridCol w="1378728"/>
                <a:gridCol w="1060560"/>
                <a:gridCol w="848448"/>
              </a:tblGrid>
              <a:tr h="2236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Vanguard Group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Blackrock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State Street Corporation</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JPMORGAN CHASE &amp; CO</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Price (T.Rowe) Associates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914400"/>
        </p:xfrm>
        <a:graphic>
          <a:graphicData uri="http://schemas.openxmlformats.org/drawingml/2006/table">
            <a:tbl>
              <a:tblPr firstRow="1" bandRow="1">
                <a:tableStyleId>{5C22544A-7EE6-4342-B048-85BDC9FD1C3A}</a:tableStyleId>
              </a:tblPr>
              <a:tblGrid>
                <a:gridCol w="1810080"/>
                <a:gridCol w="1206720"/>
              </a:tblGrid>
              <a:tr h="2286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106799"/>
            <a:ext cx="8413200" cy="1004400"/>
          </a:xfrm>
          <a:prstGeom prst="rect">
            <a:avLst/>
          </a:prstGeom>
          <a:noFill/>
        </p:spPr>
        <p:txBody>
          <a:bodyPr wrap="square">
            <a:spAutoFit/>
          </a:bodyPr>
          <a:lstStyle/>
          <a:p>
            <a:pPr algn="l"/>
            <a:r>
              <a:rPr sz="850" b="0" i="0">
                <a:solidFill>
                  <a:srgbClr val="555555"/>
                </a:solidFill>
                <a:latin typeface="Calibri"/>
              </a:rPr>
              <a:t>Les multiples (27.1x P/E, 17.3x EV/EBITDA) sont premiums mais justifiés par la croissance supérieure. Comparables affichent des valorisations similaires avec des croissances comparables.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MSFT  ·    ·  USD  ·  Au 25 mars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370,93 $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530,42 $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370,92 $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-5,4 %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630537"/>
            <a:ext cx="498636" cy="26466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38" name="Rectangle 37"/>
          <p:cNvSpPr/>
          <p:nvPr/>
        </p:nvSpPr>
        <p:spPr>
          <a:xfrm>
            <a:off x="1293300" y="3047315"/>
            <a:ext cx="498636" cy="847884"/>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40" name="Rectangle 39"/>
          <p:cNvSpPr/>
          <p:nvPr/>
        </p:nvSpPr>
        <p:spPr>
          <a:xfrm>
            <a:off x="1949400" y="2707132"/>
            <a:ext cx="498636" cy="1188067"/>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2" name="Rectangle 41"/>
          <p:cNvSpPr/>
          <p:nvPr/>
        </p:nvSpPr>
        <p:spPr>
          <a:xfrm>
            <a:off x="26055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4" name="Rectangle 43"/>
          <p:cNvSpPr/>
          <p:nvPr/>
        </p:nvSpPr>
        <p:spPr>
          <a:xfrm>
            <a:off x="3261600" y="2623892"/>
            <a:ext cx="498636" cy="1271307"/>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6" name="Rectangle 45"/>
          <p:cNvSpPr/>
          <p:nvPr/>
        </p:nvSpPr>
        <p:spPr>
          <a:xfrm>
            <a:off x="3917700" y="2515102"/>
            <a:ext cx="498636" cy="1380097"/>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8" name="Rectangle 47"/>
          <p:cNvSpPr/>
          <p:nvPr/>
        </p:nvSpPr>
        <p:spPr>
          <a:xfrm>
            <a:off x="4573800" y="2516366"/>
            <a:ext cx="498636" cy="1378833"/>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50" name="Rectangle 49"/>
          <p:cNvSpPr/>
          <p:nvPr/>
        </p:nvSpPr>
        <p:spPr>
          <a:xfrm>
            <a:off x="5229900" y="2748391"/>
            <a:ext cx="498636" cy="1146808"/>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2" name="Rectangle 51"/>
          <p:cNvSpPr/>
          <p:nvPr/>
        </p:nvSpPr>
        <p:spPr>
          <a:xfrm>
            <a:off x="5886000" y="2815651"/>
            <a:ext cx="498636" cy="1079548"/>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4" name="Rectangle 53"/>
          <p:cNvSpPr/>
          <p:nvPr/>
        </p:nvSpPr>
        <p:spPr>
          <a:xfrm>
            <a:off x="6542100" y="3296042"/>
            <a:ext cx="498636" cy="599157"/>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6" name="Rectangle 55"/>
          <p:cNvSpPr/>
          <p:nvPr/>
        </p:nvSpPr>
        <p:spPr>
          <a:xfrm>
            <a:off x="7198200" y="3634239"/>
            <a:ext cx="498636" cy="26096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8" name="Rectangle 57"/>
          <p:cNvSpPr/>
          <p:nvPr/>
        </p:nvSpPr>
        <p:spPr>
          <a:xfrm>
            <a:off x="7854300" y="3823200"/>
            <a:ext cx="498636" cy="72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67200" y="3751200"/>
            <a:ext cx="216000" cy="144000"/>
          </a:xfrm>
          <a:prstGeom prst="rect">
            <a:avLst/>
          </a:prstGeom>
          <a:noFill/>
        </p:spPr>
        <p:txBody>
          <a:bodyPr wrap="square">
            <a:spAutoFit/>
          </a:bodyPr>
          <a:lstStyle/>
          <a:p>
            <a:pPr algn="l"/>
            <a:r>
              <a:rPr sz="600" b="0" i="0">
                <a:solidFill>
                  <a:srgbClr val="555555"/>
                </a:solidFill>
                <a:latin typeface="Calibri"/>
              </a:rPr>
              <a:t>370</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67200" y="3276000"/>
            <a:ext cx="216000" cy="144000"/>
          </a:xfrm>
          <a:prstGeom prst="rect">
            <a:avLst/>
          </a:prstGeom>
          <a:noFill/>
        </p:spPr>
        <p:txBody>
          <a:bodyPr wrap="square">
            <a:spAutoFit/>
          </a:bodyPr>
          <a:lstStyle/>
          <a:p>
            <a:pPr algn="l"/>
            <a:r>
              <a:rPr sz="600" b="0" i="0">
                <a:solidFill>
                  <a:srgbClr val="555555"/>
                </a:solidFill>
                <a:latin typeface="Calibri"/>
              </a:rPr>
              <a:t>423</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67200" y="2786399"/>
            <a:ext cx="216000" cy="144000"/>
          </a:xfrm>
          <a:prstGeom prst="rect">
            <a:avLst/>
          </a:prstGeom>
          <a:noFill/>
        </p:spPr>
        <p:txBody>
          <a:bodyPr wrap="square">
            <a:spAutoFit/>
          </a:bodyPr>
          <a:lstStyle/>
          <a:p>
            <a:pPr algn="l"/>
            <a:r>
              <a:rPr sz="600" b="0" i="0">
                <a:solidFill>
                  <a:srgbClr val="555555"/>
                </a:solidFill>
                <a:latin typeface="Calibri"/>
              </a:rPr>
              <a:t>477</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67200" y="2311200"/>
            <a:ext cx="216000" cy="144000"/>
          </a:xfrm>
          <a:prstGeom prst="rect">
            <a:avLst/>
          </a:prstGeom>
          <a:noFill/>
        </p:spPr>
        <p:txBody>
          <a:bodyPr wrap="square">
            <a:spAutoFit/>
          </a:bodyPr>
          <a:lstStyle/>
          <a:p>
            <a:pPr algn="l"/>
            <a:r>
              <a:rPr sz="600" b="0" i="0">
                <a:solidFill>
                  <a:srgbClr val="555555"/>
                </a:solidFill>
                <a:latin typeface="Calibri"/>
              </a:rPr>
              <a:t>530</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Microsoft affiche une croissance solide avec des marges exceptionnelles et une position dominante dans le cloud. Le titre reste attractif malgré un sentiment négatif temporaire. La valorisation est justifiée par des catalyseurs structurels forts comme l'IA et l'Enterprise Software.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