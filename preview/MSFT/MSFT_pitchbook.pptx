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2771999" y="2617297"/>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HOLD  ·  Prix cible base : — $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10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31600"/>
          <a:ext cx="4068000" cy="511200"/>
        </p:xfrm>
        <a:graphic>
          <a:graphicData uri="http://schemas.openxmlformats.org/drawingml/2006/table">
            <a:tbl>
              <a:tblPr firstRow="1" bandRow="1">
                <a:tableStyleId>{5C22544A-7EE6-4342-B048-85BDC9FD1C3A}</a:tableStyleId>
              </a:tblPr>
              <a:tblGrid>
                <a:gridCol w="2034000"/>
                <a:gridCol w="1017000"/>
                <a:gridCol w="1017000"/>
              </a:tblGrid>
              <a:tr h="1704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1704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27,1x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170400">
                <a:tc>
                  <a:txBody>
                    <a:bodyPr/>
                    <a:lstStyle/>
                    <a:p>
                      <a:pPr algn="l"/>
                      <a:r>
                        <a:rPr sz="800" b="0" i="0">
                          <a:solidFill>
                            <a:srgbClr val="0D0D0D"/>
                          </a:solidFill>
                          <a:latin typeface="Calibri"/>
                        </a:rPr>
                        <a:t>Cible DCF ($)</a:t>
                      </a:r>
                    </a:p>
                  </a:txBody>
                  <a:tcPr>
                    <a:solidFill>
                      <a:srgbClr val="F7F8FA"/>
                    </a:solidFill>
                  </a:tcPr>
                </a:tc>
                <a:tc>
                  <a:txBody>
                    <a:bodyPr/>
                    <a:lstStyle/>
                    <a:p>
                      <a:pPr algn="ctr"/>
                      <a:r>
                        <a:rPr sz="800" b="0" i="0">
                          <a:solidFill>
                            <a:srgbClr val="0D0D0D"/>
                          </a:solidFill>
                          <a:latin typeface="Calibri"/>
                        </a:rPr>
                        <a:t>— $</a:t>
                      </a:r>
                    </a:p>
                  </a:txBody>
                  <a:tcPr>
                    <a:solidFill>
                      <a:srgbClr val="F7F8FA"/>
                    </a:solidFill>
                  </a:tcPr>
                </a:tc>
                <a:tc>
                  <a:txBody>
                    <a:bodyPr/>
                    <a:lstStyle/>
                    <a:p>
                      <a:pPr algn="ctr"/>
                      <a:r>
                        <a:rPr sz="800" b="0" i="0">
                          <a:solidFill>
                            <a:srgbClr val="0D0D0D"/>
                          </a:solidFill>
                          <a:latin typeface="Calibri"/>
                        </a:rPr>
                        <a:t>Upside —</a:t>
                      </a:r>
                    </a:p>
                  </a:txBody>
                  <a:tcPr>
                    <a:solidFill>
                      <a:srgbClr val="F7F8FA"/>
                    </a:solidFill>
                  </a:tcPr>
                </a:tc>
              </a:tr>
            </a:tbl>
          </a:graphicData>
        </a:graphic>
      </p:graphicFrame>
      <p:sp>
        <p:nvSpPr>
          <p:cNvPr id="43" name="Rectangle 42"/>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17,3x</a:t>
            </a:r>
          </a:p>
        </p:txBody>
      </p:sp>
      <p:sp>
        <p:nvSpPr>
          <p:cNvPr id="47" name="TextBox 46"/>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8" name="TextBox 47"/>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49" name="Rectangle 48"/>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52" name="TextBox 51"/>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3" name="TextBox 52"/>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4" name="Rectangle 53"/>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57" name="TextBox 56"/>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8" name="TextBox 57"/>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 vs cours</a:t>
            </a:r>
          </a:p>
        </p:txBody>
      </p:sp>
      <p:sp>
        <p:nvSpPr>
          <p:cNvPr id="59" name="Rectangle 58"/>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+0,015</a:t>
            </a:r>
          </a:p>
        </p:txBody>
      </p:sp>
      <p:sp>
        <p:nvSpPr>
          <p:cNvPr id="62" name="TextBox 61"/>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3" name="TextBox 62"/>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Neutre +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Corporation (MSFT) opere dans le secteur Technology. Analyse FinSight IA en cours -- donnees de synthese non disponibles pour cette session. Lancer une nouvelle analyse pour obtenir la description complete, les segments et le positionnement strategique.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2 754,2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370,91 $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17,3x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27,1x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+6,9 %</a:t>
                      </a:r>
                    </a:p>
                  </a:txBody>
                  <a:tcPr>
                    <a:solidFill>
                      <a:srgbClr val="F7F8FA"/>
                    </a:solidFill>
                  </a:tcPr>
                </a:tc>
                <a:tc>
                  <a:txBody>
                    <a:bodyPr/>
                    <a:lstStyle/>
                    <a:p>
                      <a:pPr algn="ctr"/>
                      <a:r>
                        <a:rPr sz="750" b="0" i="1">
                          <a:solidFill>
                            <a:srgbClr val="333333"/>
                          </a:solidFill>
                          <a:latin typeface="Calibri"/>
                        </a:rPr>
                        <a:t>+15,7 %</a:t>
                      </a:r>
                    </a:p>
                  </a:txBody>
                  <a:tcPr>
                    <a:solidFill>
                      <a:srgbClr val="F7F8FA"/>
                    </a:solidFill>
                  </a:tcPr>
                </a:tc>
                <a:tc>
                  <a:txBody>
                    <a:bodyPr/>
                    <a:lstStyle/>
                    <a:p>
                      <a:pPr algn="ctr"/>
                      <a:r>
                        <a:rPr sz="750" b="0" i="1">
                          <a:solidFill>
                            <a:srgbClr val="333333"/>
                          </a:solidFill>
                          <a:latin typeface="Calibri"/>
                        </a:rPr>
                        <a:t>+14,9 %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68,9 %</a:t>
                      </a:r>
                    </a:p>
                  </a:txBody>
                  <a:tcPr>
                    <a:solidFill>
                      <a:srgbClr val="F7F8FA"/>
                    </a:solidFill>
                  </a:tcPr>
                </a:tc>
                <a:tc>
                  <a:txBody>
                    <a:bodyPr/>
                    <a:lstStyle/>
                    <a:p>
                      <a:pPr algn="ctr"/>
                      <a:r>
                        <a:rPr sz="750" b="0" i="1">
                          <a:solidFill>
                            <a:srgbClr val="333333"/>
                          </a:solidFill>
                          <a:latin typeface="Calibri"/>
                        </a:rPr>
                        <a:t>69,8 %</a:t>
                      </a:r>
                    </a:p>
                  </a:txBody>
                  <a:tcPr>
                    <a:solidFill>
                      <a:srgbClr val="F7F8FA"/>
                    </a:solidFill>
                  </a:tcPr>
                </a:tc>
                <a:tc>
                  <a:txBody>
                    <a:bodyPr/>
                    <a:lstStyle/>
                    <a:p>
                      <a:pPr algn="ctr"/>
                      <a:r>
                        <a:rPr sz="750" b="0" i="1">
                          <a:solidFill>
                            <a:srgbClr val="333333"/>
                          </a:solidFill>
                          <a:latin typeface="Calibri"/>
                        </a:rPr>
                        <a:t>68,8 %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49,6 %</a:t>
                      </a:r>
                    </a:p>
                  </a:txBody>
                  <a:tcPr>
                    <a:solidFill>
                      <a:srgbClr val="F7F8FA"/>
                    </a:solidFill>
                  </a:tcPr>
                </a:tc>
                <a:tc>
                  <a:txBody>
                    <a:bodyPr/>
                    <a:lstStyle/>
                    <a:p>
                      <a:pPr algn="ctr"/>
                      <a:r>
                        <a:rPr sz="750" b="0" i="1">
                          <a:solidFill>
                            <a:srgbClr val="333333"/>
                          </a:solidFill>
                          <a:latin typeface="Calibri"/>
                        </a:rPr>
                        <a:t>54,3 %</a:t>
                      </a:r>
                    </a:p>
                  </a:txBody>
                  <a:tcPr>
                    <a:solidFill>
                      <a:srgbClr val="F7F8FA"/>
                    </a:solidFill>
                  </a:tcPr>
                </a:tc>
                <a:tc>
                  <a:txBody>
                    <a:bodyPr/>
                    <a:lstStyle/>
                    <a:p>
                      <a:pPr algn="ctr"/>
                      <a:r>
                        <a:rPr sz="750" b="0" i="1">
                          <a:solidFill>
                            <a:srgbClr val="333333"/>
                          </a:solidFill>
                          <a:latin typeface="Calibri"/>
                        </a:rPr>
                        <a:t>56,9 %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34,2 %</a:t>
                      </a:r>
                    </a:p>
                  </a:txBody>
                  <a:tcPr>
                    <a:solidFill>
                      <a:srgbClr val="F7F8FA"/>
                    </a:solidFill>
                  </a:tcPr>
                </a:tc>
                <a:tc>
                  <a:txBody>
                    <a:bodyPr/>
                    <a:lstStyle/>
                    <a:p>
                      <a:pPr algn="ctr"/>
                      <a:r>
                        <a:rPr sz="750" b="0" i="1">
                          <a:solidFill>
                            <a:srgbClr val="333333"/>
                          </a:solidFill>
                          <a:latin typeface="Calibri"/>
                        </a:rPr>
                        <a:t>36,0 %</a:t>
                      </a:r>
                    </a:p>
                  </a:txBody>
                  <a:tcPr>
                    <a:solidFill>
                      <a:srgbClr val="F7F8FA"/>
                    </a:solidFill>
                  </a:tcPr>
                </a:tc>
                <a:tc>
                  <a:txBody>
                    <a:bodyPr/>
                    <a:lstStyle/>
                    <a:p>
                      <a:pPr algn="ctr"/>
                      <a:r>
                        <a:rPr sz="750" b="0" i="1">
                          <a:solidFill>
                            <a:srgbClr val="333333"/>
                          </a:solidFill>
                          <a:latin typeface="Calibri"/>
                        </a:rPr>
                        <a:t>36,1 %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370,91 $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-8,7 %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2 754,2</a:t>
                      </a:r>
                    </a:p>
                  </a:txBody>
                  <a:tcPr>
                    <a:solidFill>
                      <a:srgbClr val="DDE8F5"/>
                    </a:solidFill>
                  </a:tcPr>
                </a:tc>
                <a:tc>
                  <a:txBody>
                    <a:bodyPr/>
                    <a:lstStyle/>
                    <a:p>
                      <a:pPr algn="ctr"/>
                      <a:r>
                        <a:rPr sz="800" b="1" i="0">
                          <a:solidFill>
                            <a:srgbClr val="1B3A6B"/>
                          </a:solidFill>
                          <a:latin typeface="Calibri"/>
                        </a:rPr>
                        <a:t>17,3x</a:t>
                      </a:r>
                    </a:p>
                  </a:txBody>
                  <a:tcPr>
                    <a:solidFill>
                      <a:srgbClr val="DDE8F5"/>
                    </a:solidFill>
                  </a:tcPr>
                </a:tc>
                <a:tc>
                  <a:txBody>
                    <a:bodyPr/>
                    <a:lstStyle/>
                    <a:p>
                      <a:pPr algn="ctr"/>
                      <a:r>
                        <a:rPr sz="800" b="1" i="0">
                          <a:solidFill>
                            <a:srgbClr val="1B3A6B"/>
                          </a:solidFill>
                          <a:latin typeface="Calibri"/>
                        </a:rPr>
                        <a:t>9,8x</a:t>
                      </a:r>
                    </a:p>
                  </a:txBody>
                  <a:tcPr>
                    <a:solidFill>
                      <a:srgbClr val="DDE8F5"/>
                    </a:solidFill>
                  </a:tcPr>
                </a:tc>
                <a:tc>
                  <a:txBody>
                    <a:bodyPr/>
                    <a:lstStyle/>
                    <a:p>
                      <a:pPr algn="ctr"/>
                      <a:r>
                        <a:rPr sz="800" b="1" i="0">
                          <a:solidFill>
                            <a:srgbClr val="1B3A6B"/>
                          </a:solidFill>
                          <a:latin typeface="Calibri"/>
                        </a:rPr>
                        <a:t>27,1x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(370,91)</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370,91</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080000"/>
          </a:xfrm>
          <a:prstGeom prst="rect">
            <a:avLst/>
          </a:prstGeom>
          <a:noFill/>
        </p:spPr>
        <p:txBody>
          <a:bodyPr wrap="square">
            <a:spAutoFit/>
          </a:bodyPr>
          <a:lstStyle/>
          <a:p>
            <a:pPr algn="l"/>
            <a:r>
              <a:rPr sz="850" b="0" i="0">
                <a:solidFill>
                  <a:srgbClr val="555555"/>
                </a:solidFill>
                <a:latin typeface="Calibri"/>
              </a:rPr>
              <a:t>Le P/E affiche une compression multiple de 10.8x sur la période (37,9x → 27,1x), signal d’une réévaluation négative du profil de croissance. L’EV/EBITDA diverge à 17,3x vs 27,8x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2,6 %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71,4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22,9 %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18,1 %</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65,9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971999"/>
          </a:xfrm>
          <a:prstGeom prst="rect">
            <a:avLst/>
          </a:prstGeom>
          <a:noFill/>
        </p:spPr>
        <p:txBody>
          <a:bodyPr wrap="square">
            <a:spAutoFit/>
          </a:bodyPr>
          <a:lstStyle/>
          <a:p>
            <a:pPr algn="l"/>
            <a:r>
              <a:rPr sz="850" b="0" i="0">
                <a:solidFill>
                  <a:srgbClr val="555555"/>
                </a:solidFill>
                <a:latin typeface="Calibri"/>
              </a:rPr>
              <a:t>Le FCF affiche une croissance de 8,1 Mds$ sur la période, avec un FCF yield actuel de 2,6 %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28.6% / 3.5x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 / 4.5x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40.7% / 5.5x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24.6% / 3.0x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29.7% / 3.7x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11.9%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 / 2.8x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12.5%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+15%/an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640,7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24.6% (MOIC 3.0x en 5 ans) — attractivité PE jugée attractive. Un fonds tier-1 ciblant 20%+ d'IRR doit entrer en dessous de 8x EBITDA. La génération de FCF (71,4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53/100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Bull  Rec.6M:10%</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(0.70x)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(7%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(3.9x)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+0,015</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39,4 %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9</a:t>
                      </a:r>
                    </a:p>
                  </a:txBody>
                  <a:tcPr>
                    <a:solidFill>
                      <a:srgbClr val="EAF4EF"/>
                    </a:solidFill>
                  </a:tcPr>
                </a:tc>
                <a:tc>
                  <a:txBody>
                    <a:bodyPr/>
                    <a:lstStyle/>
                    <a:p>
                      <a:pPr algn="ctr"/>
                      <a:r>
                        <a:rPr sz="800" b="0" i="0">
                          <a:solidFill>
                            <a:srgbClr val="0D0D0D"/>
                          </a:solidFill>
                          <a:latin typeface="Calibri"/>
                        </a:rPr>
                        <a:t>+0,311</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13</a:t>
                      </a:r>
                    </a:p>
                  </a:txBody>
                  <a:tcPr>
                    <a:solidFill>
                      <a:srgbClr val="FFFFFF"/>
                    </a:solidFill>
                  </a:tcPr>
                </a:tc>
                <a:tc>
                  <a:txBody>
                    <a:bodyPr/>
                    <a:lstStyle/>
                    <a:p>
                      <a:pPr algn="ctr"/>
                      <a:r>
                        <a:rPr sz="800" b="0" i="0">
                          <a:solidFill>
                            <a:srgbClr val="0D0D0D"/>
                          </a:solidFill>
                          <a:latin typeface="Calibri"/>
                        </a:rPr>
                        <a:t>+0,394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8</a:t>
                      </a:r>
                    </a:p>
                  </a:txBody>
                  <a:tcPr>
                    <a:solidFill>
                      <a:srgbClr val="FAF0EF"/>
                    </a:solidFill>
                  </a:tcPr>
                </a:tc>
                <a:tc>
                  <a:txBody>
                    <a:bodyPr/>
                    <a:lstStyle/>
                    <a:p>
                      <a:pPr algn="ctr"/>
                      <a:r>
                        <a:rPr sz="800" b="0" i="0">
                          <a:solidFill>
                            <a:srgbClr val="0D0D0D"/>
                          </a:solidFill>
                          <a:latin typeface="Calibri"/>
                        </a:rPr>
                        <a:t>+0,296</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souligne la position dominante de Microsoft dans l'IA avec des catalyseurs comme Copilot et Azure. Cependant, certains ajustements de portefeuille et des défis sectoriels tempèrent l'optimisme ambiant.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10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10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370,91 $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370,17 $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-18,8 %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-18,8 %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FinSight IA  ·  Rapport 10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10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Recommandation HOLD pour Microsoft Corporation, secteur Technology.</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Relancer l'analyse pour obtenir la these complete avec synthese IA.</a:t>
            </a:r>
          </a:p>
        </p:txBody>
      </p:sp>
      <p:sp>
        <p:nvSpPr>
          <p:cNvPr id="32" name="Rectangle 31"/>
          <p:cNvSpPr/>
          <p:nvPr/>
        </p:nvSpPr>
        <p:spPr>
          <a:xfrm>
            <a:off x="3311999" y="2142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66000" y="2160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4" name="TextBox 33"/>
          <p:cNvSpPr txBox="1"/>
          <p:nvPr/>
        </p:nvSpPr>
        <p:spPr>
          <a:xfrm>
            <a:off x="3401999" y="2358000"/>
            <a:ext cx="2556000" cy="234000"/>
          </a:xfrm>
          <a:prstGeom prst="rect">
            <a:avLst/>
          </a:prstGeom>
          <a:noFill/>
        </p:spPr>
        <p:txBody>
          <a:bodyPr wrap="square">
            <a:spAutoFit/>
          </a:bodyPr>
          <a:lstStyle/>
          <a:p>
            <a:pPr algn="l"/>
            <a:r>
              <a:rPr sz="700" b="0" i="0">
                <a:solidFill>
                  <a:srgbClr val="555555"/>
                </a:solidFill>
                <a:latin typeface="Calibri"/>
              </a:rPr>
              <a:t>• N/D</a:t>
            </a:r>
          </a:p>
        </p:txBody>
      </p:sp>
      <p:sp>
        <p:nvSpPr>
          <p:cNvPr id="35" name="Rectangle 34"/>
          <p:cNvSpPr/>
          <p:nvPr/>
        </p:nvSpPr>
        <p:spPr>
          <a:xfrm>
            <a:off x="6120000" y="2142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56000" y="2160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7" name="TextBox 36"/>
          <p:cNvSpPr txBox="1"/>
          <p:nvPr/>
        </p:nvSpPr>
        <p:spPr>
          <a:xfrm>
            <a:off x="6156000" y="2358000"/>
            <a:ext cx="2376000" cy="234000"/>
          </a:xfrm>
          <a:prstGeom prst="rect">
            <a:avLst/>
          </a:prstGeom>
          <a:noFill/>
        </p:spPr>
        <p:txBody>
          <a:bodyPr wrap="square">
            <a:spAutoFit/>
          </a:bodyPr>
          <a:lstStyle/>
          <a:p>
            <a:pPr algn="l"/>
            <a:r>
              <a:rPr sz="700" b="0" i="0">
                <a:solidFill>
                  <a:srgbClr val="555555"/>
                </a:solidFill>
                <a:latin typeface="Calibri"/>
              </a:rPr>
              <a:t>• N/D</a:t>
            </a:r>
          </a:p>
        </p:txBody>
      </p:sp>
      <p:sp>
        <p:nvSpPr>
          <p:cNvPr id="38" name="TextBox 37"/>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