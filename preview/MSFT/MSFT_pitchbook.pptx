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Lst>
  <p:sldSz cx="9144000" cy="5144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1371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5600"/>
            <a:ext cx="8229600" cy="255600"/>
          </a:xfrm>
          <a:prstGeom prst="rect">
            <a:avLst/>
          </a:prstGeom>
          <a:noFill/>
        </p:spPr>
        <p:txBody>
          <a:bodyPr wrap="square">
            <a:spAutoFit/>
          </a:bodyPr>
          <a:lstStyle/>
          <a:p>
            <a:pPr algn="ctr"/>
            <a:r>
              <a:rPr sz="1000" b="0" i="0">
                <a:solidFill>
                  <a:srgbClr val="8899BB"/>
                </a:solidFill>
                <a:latin typeface="Calibri"/>
              </a:rPr>
              <a:t>FinSight IA</a:t>
            </a:r>
          </a:p>
        </p:txBody>
      </p:sp>
      <p:sp>
        <p:nvSpPr>
          <p:cNvPr id="4" name="Rectangle 3"/>
          <p:cNvSpPr/>
          <p:nvPr/>
        </p:nvSpPr>
        <p:spPr>
          <a:xfrm>
            <a:off x="3978000" y="475200"/>
            <a:ext cx="1188000" cy="1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547200"/>
            <a:ext cx="8229600" cy="291600"/>
          </a:xfrm>
          <a:prstGeom prst="rect">
            <a:avLst/>
          </a:prstGeom>
          <a:noFill/>
        </p:spPr>
        <p:txBody>
          <a:bodyPr wrap="square">
            <a:spAutoFit/>
          </a:bodyPr>
          <a:lstStyle/>
          <a:p>
            <a:pPr algn="ctr"/>
            <a:r>
              <a:rPr sz="1100" b="0" i="0">
                <a:solidFill>
                  <a:srgbClr val="CCDDEE"/>
                </a:solidFill>
                <a:latin typeface="Calibri"/>
              </a:rPr>
              <a:t>Pitchbook  —  Analyse d'investissement</a:t>
            </a:r>
          </a:p>
        </p:txBody>
      </p:sp>
      <p:sp>
        <p:nvSpPr>
          <p:cNvPr id="6" name="TextBox 5"/>
          <p:cNvSpPr txBox="1"/>
          <p:nvPr/>
        </p:nvSpPr>
        <p:spPr>
          <a:xfrm>
            <a:off x="457200" y="1461599"/>
            <a:ext cx="8229600" cy="691297"/>
          </a:xfrm>
          <a:prstGeom prst="rect">
            <a:avLst/>
          </a:prstGeom>
          <a:noFill/>
        </p:spPr>
        <p:txBody>
          <a:bodyPr wrap="square">
            <a:spAutoFit/>
          </a:bodyPr>
          <a:lstStyle/>
          <a:p>
            <a:pPr algn="ctr"/>
            <a:r>
              <a:rPr sz="3400" b="1" i="0">
                <a:solidFill>
                  <a:srgbClr val="1B3A6B"/>
                </a:solidFill>
                <a:latin typeface="Calibri"/>
              </a:rPr>
              <a:t>Microsoft Corporation</a:t>
            </a:r>
          </a:p>
        </p:txBody>
      </p:sp>
      <p:sp>
        <p:nvSpPr>
          <p:cNvPr id="7" name="TextBox 6"/>
          <p:cNvSpPr txBox="1"/>
          <p:nvPr/>
        </p:nvSpPr>
        <p:spPr>
          <a:xfrm>
            <a:off x="457200" y="2242897"/>
            <a:ext cx="8229600" cy="255600"/>
          </a:xfrm>
          <a:prstGeom prst="rect">
            <a:avLst/>
          </a:prstGeom>
          <a:noFill/>
        </p:spPr>
        <p:txBody>
          <a:bodyPr wrap="square">
            <a:spAutoFit/>
          </a:bodyPr>
          <a:lstStyle/>
          <a:p>
            <a:pPr algn="ctr"/>
            <a:r>
              <a:rPr sz="1100" b="0" i="0">
                <a:solidFill>
                  <a:srgbClr val="888888"/>
                </a:solidFill>
                <a:latin typeface="Calibri"/>
              </a:rPr>
              <a:t>MSFT  ·  Technology</a:t>
            </a:r>
          </a:p>
        </p:txBody>
      </p:sp>
      <p:sp>
        <p:nvSpPr>
          <p:cNvPr id="8" name="Rectangle 7"/>
          <p:cNvSpPr/>
          <p:nvPr/>
        </p:nvSpPr>
        <p:spPr>
          <a:xfrm>
            <a:off x="2771999" y="2617297"/>
            <a:ext cx="3600000" cy="432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826000" y="2635297"/>
            <a:ext cx="3491999" cy="395999"/>
          </a:xfrm>
          <a:prstGeom prst="rect">
            <a:avLst/>
          </a:prstGeom>
          <a:noFill/>
        </p:spPr>
        <p:txBody>
          <a:bodyPr wrap="square">
            <a:spAutoFit/>
          </a:bodyPr>
          <a:lstStyle/>
          <a:p>
            <a:pPr algn="ctr"/>
            <a:r>
              <a:rPr sz="900" b="1" i="0">
                <a:solidFill>
                  <a:srgbClr val="FFFFFF"/>
                </a:solidFill>
                <a:latin typeface="Calibri"/>
              </a:rPr>
              <a:t>● BUY  ·  Prix cible base : 425 $  ·  Upside : +8,1 %</a:t>
            </a:r>
          </a:p>
        </p:txBody>
      </p:sp>
      <p:sp>
        <p:nvSpPr>
          <p:cNvPr id="10" name="Rectangle 9"/>
          <p:cNvSpPr/>
          <p:nvPr/>
        </p:nvSpPr>
        <p:spPr>
          <a:xfrm>
            <a:off x="367200" y="44640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7200" y="4554000"/>
            <a:ext cx="4114800" cy="201600"/>
          </a:xfrm>
          <a:prstGeom prst="rect">
            <a:avLst/>
          </a:prstGeom>
          <a:noFill/>
        </p:spPr>
        <p:txBody>
          <a:bodyPr wrap="square">
            <a:spAutoFit/>
          </a:bodyPr>
          <a:lstStyle/>
          <a:p>
            <a:pPr algn="l"/>
            <a:r>
              <a:rPr sz="800" b="0" i="0">
                <a:solidFill>
                  <a:srgbClr val="555555"/>
                </a:solidFill>
                <a:latin typeface="Calibri"/>
              </a:rPr>
              <a:t>Rapport confidentiel</a:t>
            </a:r>
          </a:p>
        </p:txBody>
      </p:sp>
      <p:sp>
        <p:nvSpPr>
          <p:cNvPr id="12" name="TextBox 11"/>
          <p:cNvSpPr txBox="1"/>
          <p:nvPr/>
        </p:nvSpPr>
        <p:spPr>
          <a:xfrm>
            <a:off x="4662000" y="4554000"/>
            <a:ext cx="4114800" cy="201600"/>
          </a:xfrm>
          <a:prstGeom prst="rect">
            <a:avLst/>
          </a:prstGeom>
          <a:noFill/>
        </p:spPr>
        <p:txBody>
          <a:bodyPr wrap="square">
            <a:spAutoFit/>
          </a:bodyPr>
          <a:lstStyle/>
          <a:p>
            <a:pPr algn="r"/>
            <a:r>
              <a:rPr sz="800" b="0" i="0">
                <a:solidFill>
                  <a:srgbClr val="555555"/>
                </a:solidFill>
                <a:latin typeface="Calibri"/>
              </a:rPr>
              <a:t>15 avril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Executive Summary</a:t>
            </a:r>
          </a:p>
        </p:txBody>
      </p:sp>
      <p:sp>
        <p:nvSpPr>
          <p:cNvPr id="6" name="Rectangle 5"/>
          <p:cNvSpPr/>
          <p:nvPr/>
        </p:nvSpPr>
        <p:spPr>
          <a:xfrm>
            <a:off x="367200" y="748800"/>
            <a:ext cx="8413200" cy="3060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7200" y="748800"/>
            <a:ext cx="46800" cy="306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766800"/>
            <a:ext cx="1098000" cy="270000"/>
          </a:xfrm>
          <a:prstGeom prst="rect">
            <a:avLst/>
          </a:prstGeom>
          <a:noFill/>
        </p:spPr>
        <p:txBody>
          <a:bodyPr wrap="square">
            <a:spAutoFit/>
          </a:bodyPr>
          <a:lstStyle/>
          <a:p>
            <a:pPr algn="l"/>
            <a:r>
              <a:rPr sz="1100" b="1" i="0">
                <a:solidFill>
                  <a:srgbClr val="1A7A4A"/>
                </a:solidFill>
                <a:latin typeface="Calibri"/>
              </a:rPr>
              <a:t>● BUY</a:t>
            </a:r>
          </a:p>
        </p:txBody>
      </p:sp>
      <p:sp>
        <p:nvSpPr>
          <p:cNvPr id="9" name="TextBox 8"/>
          <p:cNvSpPr txBox="1"/>
          <p:nvPr/>
        </p:nvSpPr>
        <p:spPr>
          <a:xfrm>
            <a:off x="1692000" y="766800"/>
            <a:ext cx="6948000" cy="270000"/>
          </a:xfrm>
          <a:prstGeom prst="rect">
            <a:avLst/>
          </a:prstGeom>
          <a:noFill/>
        </p:spPr>
        <p:txBody>
          <a:bodyPr wrap="square">
            <a:spAutoFit/>
          </a:bodyPr>
          <a:lstStyle/>
          <a:p>
            <a:pPr algn="l"/>
            <a:r>
              <a:rPr sz="900" b="0" i="0">
                <a:solidFill>
                  <a:srgbClr val="1B3A6B"/>
                </a:solidFill>
                <a:latin typeface="Calibri"/>
              </a:rPr>
              <a:t>Prix cible base : 425 $  ·  Upside : +8,1 %  ·  Bear : 360 $ (-8,4 %)  ·  Bull : 470 $ (+19,6 %)</a:t>
            </a:r>
          </a:p>
        </p:txBody>
      </p:sp>
      <p:sp>
        <p:nvSpPr>
          <p:cNvPr id="10" name="Rectangle 9"/>
          <p:cNvSpPr/>
          <p:nvPr/>
        </p:nvSpPr>
        <p:spPr>
          <a:xfrm>
            <a:off x="367200" y="1170000"/>
            <a:ext cx="4161600" cy="19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7200" y="1170000"/>
            <a:ext cx="4161600" cy="198000"/>
          </a:xfrm>
          <a:prstGeom prst="rect">
            <a:avLst/>
          </a:prstGeom>
          <a:noFill/>
        </p:spPr>
        <p:txBody>
          <a:bodyPr wrap="square">
            <a:spAutoFit/>
          </a:bodyPr>
          <a:lstStyle/>
          <a:p>
            <a:pPr algn="l"/>
            <a:r>
              <a:rPr sz="900" b="1" i="0">
                <a:solidFill>
                  <a:srgbClr val="FFFFFF"/>
                </a:solidFill>
                <a:latin typeface="Calibri"/>
              </a:rPr>
              <a:t>THÈSE D'INVESTISSEMENT</a:t>
            </a:r>
          </a:p>
        </p:txBody>
      </p:sp>
      <p:sp>
        <p:nvSpPr>
          <p:cNvPr id="12" name="Rectangle 11"/>
          <p:cNvSpPr/>
          <p:nvPr/>
        </p:nvSpPr>
        <p:spPr>
          <a:xfrm>
            <a:off x="367200" y="14400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3999" y="1422000"/>
            <a:ext cx="3931200" cy="183600"/>
          </a:xfrm>
          <a:prstGeom prst="rect">
            <a:avLst/>
          </a:prstGeom>
          <a:noFill/>
        </p:spPr>
        <p:txBody>
          <a:bodyPr wrap="square">
            <a:spAutoFit/>
          </a:bodyPr>
          <a:lstStyle/>
          <a:p>
            <a:pPr algn="l"/>
            <a:r>
              <a:rPr sz="850" b="1" i="0">
                <a:solidFill>
                  <a:srgbClr val="1B3A6B"/>
                </a:solidFill>
                <a:latin typeface="Calibri"/>
              </a:rPr>
              <a:t>Leadership cloud</a:t>
            </a:r>
          </a:p>
        </p:txBody>
      </p:sp>
      <p:sp>
        <p:nvSpPr>
          <p:cNvPr id="14" name="TextBox 13"/>
          <p:cNvSpPr txBox="1"/>
          <p:nvPr/>
        </p:nvSpPr>
        <p:spPr>
          <a:xfrm>
            <a:off x="503999" y="1591200"/>
            <a:ext cx="3931200" cy="360000"/>
          </a:xfrm>
          <a:prstGeom prst="rect">
            <a:avLst/>
          </a:prstGeom>
          <a:noFill/>
        </p:spPr>
        <p:txBody>
          <a:bodyPr wrap="square">
            <a:spAutoFit/>
          </a:bodyPr>
          <a:lstStyle/>
          <a:p>
            <a:pPr algn="l"/>
            <a:r>
              <a:rPr sz="750" b="0" i="0">
                <a:solidFill>
                  <a:srgbClr val="333333"/>
                </a:solidFill>
                <a:latin typeface="Calibri"/>
              </a:rPr>
              <a:t>Croissance du CA 2026F à 320 Mds$ (+13.6%) portée par Azure +18% et Office 365 +12%</a:t>
            </a:r>
          </a:p>
        </p:txBody>
      </p:sp>
      <p:sp>
        <p:nvSpPr>
          <p:cNvPr id="15" name="Rectangle 14"/>
          <p:cNvSpPr/>
          <p:nvPr/>
        </p:nvSpPr>
        <p:spPr>
          <a:xfrm>
            <a:off x="367200" y="19620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3999" y="1944000"/>
            <a:ext cx="3931200" cy="183600"/>
          </a:xfrm>
          <a:prstGeom prst="rect">
            <a:avLst/>
          </a:prstGeom>
          <a:noFill/>
        </p:spPr>
        <p:txBody>
          <a:bodyPr wrap="square">
            <a:spAutoFit/>
          </a:bodyPr>
          <a:lstStyle/>
          <a:p>
            <a:pPr algn="l"/>
            <a:r>
              <a:rPr sz="850" b="1" i="0">
                <a:solidFill>
                  <a:srgbClr val="1B3A6B"/>
                </a:solidFill>
                <a:latin typeface="Calibri"/>
              </a:rPr>
              <a:t>Écosystème intégré</a:t>
            </a:r>
          </a:p>
        </p:txBody>
      </p:sp>
      <p:sp>
        <p:nvSpPr>
          <p:cNvPr id="17" name="TextBox 16"/>
          <p:cNvSpPr txBox="1"/>
          <p:nvPr/>
        </p:nvSpPr>
        <p:spPr>
          <a:xfrm>
            <a:off x="503999" y="2113200"/>
            <a:ext cx="3931200" cy="360000"/>
          </a:xfrm>
          <a:prstGeom prst="rect">
            <a:avLst/>
          </a:prstGeom>
          <a:noFill/>
        </p:spPr>
        <p:txBody>
          <a:bodyPr wrap="square">
            <a:spAutoFit/>
          </a:bodyPr>
          <a:lstStyle/>
          <a:p>
            <a:pPr algn="l"/>
            <a:r>
              <a:rPr sz="750" b="0" i="0">
                <a:solidFill>
                  <a:srgbClr val="333333"/>
                </a:solidFill>
                <a:latin typeface="Calibri"/>
              </a:rPr>
              <a:t>Marges EBITDA à 59.5% (+260 bps) grâce au mix cloud haute marge et économies d’échelle</a:t>
            </a:r>
          </a:p>
        </p:txBody>
      </p:sp>
      <p:sp>
        <p:nvSpPr>
          <p:cNvPr id="18" name="Rectangle 17"/>
          <p:cNvSpPr/>
          <p:nvPr/>
        </p:nvSpPr>
        <p:spPr>
          <a:xfrm>
            <a:off x="367200" y="24840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3999" y="2466000"/>
            <a:ext cx="3931200" cy="183600"/>
          </a:xfrm>
          <a:prstGeom prst="rect">
            <a:avLst/>
          </a:prstGeom>
          <a:noFill/>
        </p:spPr>
        <p:txBody>
          <a:bodyPr wrap="square">
            <a:spAutoFit/>
          </a:bodyPr>
          <a:lstStyle/>
          <a:p>
            <a:pPr algn="l"/>
            <a:r>
              <a:rPr sz="850" b="1" i="0">
                <a:solidFill>
                  <a:srgbClr val="1B3A6B"/>
                </a:solidFill>
                <a:latin typeface="Calibri"/>
              </a:rPr>
              <a:t>Rentabilité record</a:t>
            </a:r>
          </a:p>
        </p:txBody>
      </p:sp>
      <p:sp>
        <p:nvSpPr>
          <p:cNvPr id="20" name="TextBox 19"/>
          <p:cNvSpPr txBox="1"/>
          <p:nvPr/>
        </p:nvSpPr>
        <p:spPr>
          <a:xfrm>
            <a:off x="503999" y="2635200"/>
            <a:ext cx="3931200" cy="360000"/>
          </a:xfrm>
          <a:prstGeom prst="rect">
            <a:avLst/>
          </a:prstGeom>
          <a:noFill/>
        </p:spPr>
        <p:txBody>
          <a:bodyPr wrap="square">
            <a:spAutoFit/>
          </a:bodyPr>
          <a:lstStyle/>
          <a:p>
            <a:pPr algn="l"/>
            <a:r>
              <a:rPr sz="750" b="0" i="0">
                <a:solidFill>
                  <a:srgbClr val="333333"/>
                </a:solidFill>
                <a:latin typeface="Calibri"/>
              </a:rPr>
              <a:t>FCF libre devrait atteindre 90 Mds$ (+20% YoY) avec ND/EBITDA stable à 0.1x, soutenant des rachats d’actions de 50 Mds$ en 2026.</a:t>
            </a:r>
          </a:p>
        </p:txBody>
      </p:sp>
      <p:sp>
        <p:nvSpPr>
          <p:cNvPr id="21" name="Rectangle 20"/>
          <p:cNvSpPr/>
          <p:nvPr/>
        </p:nvSpPr>
        <p:spPr>
          <a:xfrm>
            <a:off x="4708800" y="1170000"/>
            <a:ext cx="4068000" cy="19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08800" y="1170000"/>
            <a:ext cx="4068000" cy="198000"/>
          </a:xfrm>
          <a:prstGeom prst="rect">
            <a:avLst/>
          </a:prstGeom>
          <a:noFill/>
        </p:spPr>
        <p:txBody>
          <a:bodyPr wrap="square">
            <a:spAutoFit/>
          </a:bodyPr>
          <a:lstStyle/>
          <a:p>
            <a:pPr algn="l"/>
            <a:r>
              <a:rPr sz="900" b="1" i="0">
                <a:solidFill>
                  <a:srgbClr val="FFFFFF"/>
                </a:solidFill>
                <a:latin typeface="Calibri"/>
              </a:rPr>
              <a:t>RISQUES PRINCIPAUX</a:t>
            </a:r>
          </a:p>
        </p:txBody>
      </p:sp>
      <p:sp>
        <p:nvSpPr>
          <p:cNvPr id="23" name="Rectangle 22"/>
          <p:cNvSpPr/>
          <p:nvPr/>
        </p:nvSpPr>
        <p:spPr>
          <a:xfrm>
            <a:off x="4708800" y="14400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845600" y="1422000"/>
            <a:ext cx="3794399" cy="183600"/>
          </a:xfrm>
          <a:prstGeom prst="rect">
            <a:avLst/>
          </a:prstGeom>
          <a:noFill/>
        </p:spPr>
        <p:txBody>
          <a:bodyPr wrap="square">
            <a:spAutoFit/>
          </a:bodyPr>
          <a:lstStyle/>
          <a:p>
            <a:pPr algn="l"/>
            <a:r>
              <a:rPr sz="850" b="1" i="0">
                <a:solidFill>
                  <a:srgbClr val="1B3A6B"/>
                </a:solidFill>
                <a:latin typeface="Calibri"/>
              </a:rPr>
              <a:t>Concurrence IA</a:t>
            </a:r>
          </a:p>
        </p:txBody>
      </p:sp>
      <p:sp>
        <p:nvSpPr>
          <p:cNvPr id="25" name="TextBox 24"/>
          <p:cNvSpPr txBox="1"/>
          <p:nvPr/>
        </p:nvSpPr>
        <p:spPr>
          <a:xfrm>
            <a:off x="4845600" y="1591200"/>
            <a:ext cx="3794399" cy="360000"/>
          </a:xfrm>
          <a:prstGeom prst="rect">
            <a:avLst/>
          </a:prstGeom>
          <a:noFill/>
        </p:spPr>
        <p:txBody>
          <a:bodyPr wrap="square">
            <a:spAutoFit/>
          </a:bodyPr>
          <a:lstStyle/>
          <a:p>
            <a:pPr algn="l"/>
            <a:r>
              <a:rPr sz="750" b="0" i="0">
                <a:solidFill>
                  <a:srgbClr val="333333"/>
                </a:solidFill>
                <a:latin typeface="Calibri"/>
              </a:rPr>
              <a:t>Régulation antitrust européenne sur les pratiques cloud pourrait coûter 5-7% du CA IA d’ici 2027 | Horizon 12-18 mois, impact -15% sur le cours</a:t>
            </a:r>
          </a:p>
        </p:txBody>
      </p:sp>
      <p:sp>
        <p:nvSpPr>
          <p:cNvPr id="26" name="Rectangle 25"/>
          <p:cNvSpPr/>
          <p:nvPr/>
        </p:nvSpPr>
        <p:spPr>
          <a:xfrm>
            <a:off x="4708800" y="19620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845600" y="1944000"/>
            <a:ext cx="3794399" cy="183600"/>
          </a:xfrm>
          <a:prstGeom prst="rect">
            <a:avLst/>
          </a:prstGeom>
          <a:noFill/>
        </p:spPr>
        <p:txBody>
          <a:bodyPr wrap="square">
            <a:spAutoFit/>
          </a:bodyPr>
          <a:lstStyle/>
          <a:p>
            <a:pPr algn="l"/>
            <a:r>
              <a:rPr sz="850" b="1" i="0">
                <a:solidFill>
                  <a:srgbClr val="1B3A6B"/>
                </a:solidFill>
                <a:latin typeface="Calibri"/>
              </a:rPr>
              <a:t>Régulation antitrust</a:t>
            </a:r>
          </a:p>
        </p:txBody>
      </p:sp>
      <p:sp>
        <p:nvSpPr>
          <p:cNvPr id="28" name="TextBox 27"/>
          <p:cNvSpPr txBox="1"/>
          <p:nvPr/>
        </p:nvSpPr>
        <p:spPr>
          <a:xfrm>
            <a:off x="4845600" y="2113200"/>
            <a:ext cx="3794399" cy="360000"/>
          </a:xfrm>
          <a:prstGeom prst="rect">
            <a:avLst/>
          </a:prstGeom>
          <a:noFill/>
        </p:spPr>
        <p:txBody>
          <a:bodyPr wrap="square">
            <a:spAutoFit/>
          </a:bodyPr>
          <a:lstStyle/>
          <a:p>
            <a:pPr algn="l"/>
            <a:r>
              <a:rPr sz="750" b="0" i="0">
                <a:solidFill>
                  <a:srgbClr val="333333"/>
                </a:solidFill>
                <a:latin typeface="Calibri"/>
              </a:rPr>
              <a:t>Concurrence accrue de Google Cloud et AWS sur l’IA générative pourrait comprimer les parts de marché Azure de 3 pts d’ici 2027 | Horizon 2026-2027, impact -8% sur le cours</a:t>
            </a:r>
          </a:p>
        </p:txBody>
      </p:sp>
      <p:sp>
        <p:nvSpPr>
          <p:cNvPr id="29" name="Rectangle 28"/>
          <p:cNvSpPr/>
          <p:nvPr/>
        </p:nvSpPr>
        <p:spPr>
          <a:xfrm>
            <a:off x="4708800" y="24840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845600" y="2466000"/>
            <a:ext cx="3794399" cy="183600"/>
          </a:xfrm>
          <a:prstGeom prst="rect">
            <a:avLst/>
          </a:prstGeom>
          <a:noFill/>
        </p:spPr>
        <p:txBody>
          <a:bodyPr wrap="square">
            <a:spAutoFit/>
          </a:bodyPr>
          <a:lstStyle/>
          <a:p>
            <a:pPr algn="l"/>
            <a:r>
              <a:rPr sz="850" b="1" i="0">
                <a:solidFill>
                  <a:srgbClr val="1B3A6B"/>
                </a:solidFill>
                <a:latin typeface="Calibri"/>
              </a:rPr>
              <a:t>Dépendance cloud</a:t>
            </a:r>
          </a:p>
        </p:txBody>
      </p:sp>
      <p:sp>
        <p:nvSpPr>
          <p:cNvPr id="31" name="TextBox 30"/>
          <p:cNvSpPr txBox="1"/>
          <p:nvPr/>
        </p:nvSpPr>
        <p:spPr>
          <a:xfrm>
            <a:off x="4845600" y="2635200"/>
            <a:ext cx="3794399" cy="360000"/>
          </a:xfrm>
          <a:prstGeom prst="rect">
            <a:avLst/>
          </a:prstGeom>
          <a:noFill/>
        </p:spPr>
        <p:txBody>
          <a:bodyPr wrap="square">
            <a:spAutoFit/>
          </a:bodyPr>
          <a:lstStyle/>
          <a:p>
            <a:pPr algn="l"/>
            <a:r>
              <a:rPr sz="750" b="0" i="0">
                <a:solidFill>
                  <a:srgbClr val="333333"/>
                </a:solidFill>
                <a:latin typeface="Calibri"/>
              </a:rPr>
              <a:t>Ralentissement économique réduisant la demande cloud de 5% en 2026, impactant la croissance à +10% | Horizon 2026, impact -12% sur le cours</a:t>
            </a:r>
          </a:p>
        </p:txBody>
      </p:sp>
      <p:sp>
        <p:nvSpPr>
          <p:cNvPr id="32" name="Rectangle 31"/>
          <p:cNvSpPr/>
          <p:nvPr/>
        </p:nvSpPr>
        <p:spPr>
          <a:xfrm>
            <a:off x="4525200" y="1170000"/>
            <a:ext cx="10800" cy="1782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67200" y="30060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67200" y="3041999"/>
            <a:ext cx="8413200" cy="162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13999" y="3049200"/>
            <a:ext cx="8352000" cy="151200"/>
          </a:xfrm>
          <a:prstGeom prst="rect">
            <a:avLst/>
          </a:prstGeom>
          <a:noFill/>
        </p:spPr>
        <p:txBody>
          <a:bodyPr wrap="square">
            <a:spAutoFit/>
          </a:bodyPr>
          <a:lstStyle/>
          <a:p>
            <a:pPr algn="l"/>
            <a:r>
              <a:rPr sz="750" b="1" i="0">
                <a:solidFill>
                  <a:srgbClr val="FFFFFF"/>
                </a:solidFill>
                <a:latin typeface="Calibri"/>
              </a:rPr>
              <a:t>CATALYSEURS À SURVEILLER (12 MOIS)</a:t>
            </a:r>
          </a:p>
        </p:txBody>
      </p:sp>
      <p:sp>
        <p:nvSpPr>
          <p:cNvPr id="36" name="Rectangle 35"/>
          <p:cNvSpPr/>
          <p:nvPr/>
        </p:nvSpPr>
        <p:spPr>
          <a:xfrm>
            <a:off x="367200" y="3258000"/>
            <a:ext cx="36000" cy="792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32000" y="3240000"/>
            <a:ext cx="4111200" cy="223200"/>
          </a:xfrm>
          <a:prstGeom prst="rect">
            <a:avLst/>
          </a:prstGeom>
          <a:noFill/>
        </p:spPr>
        <p:txBody>
          <a:bodyPr wrap="square">
            <a:spAutoFit/>
          </a:bodyPr>
          <a:lstStyle/>
          <a:p>
            <a:pPr algn="l"/>
            <a:r>
              <a:rPr sz="650" b="0" i="0">
                <a:solidFill>
                  <a:srgbClr val="333333"/>
                </a:solidFill>
                <a:latin typeface="Calibri"/>
              </a:rPr>
              <a:t>Azure AI Services : Adoption de Azure AI Services +300% YoY en 2025, générant +8 Mds$ de CA supplémentaire en 2026F. Horizon 2026-2027, impact +12% sur le…</a:t>
            </a:r>
          </a:p>
        </p:txBody>
      </p:sp>
      <p:sp>
        <p:nvSpPr>
          <p:cNvPr id="38" name="Rectangle 37"/>
          <p:cNvSpPr/>
          <p:nvPr/>
        </p:nvSpPr>
        <p:spPr>
          <a:xfrm>
            <a:off x="4572000" y="3258000"/>
            <a:ext cx="36000" cy="792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636800" y="3240000"/>
            <a:ext cx="4111200" cy="223200"/>
          </a:xfrm>
          <a:prstGeom prst="rect">
            <a:avLst/>
          </a:prstGeom>
          <a:noFill/>
        </p:spPr>
        <p:txBody>
          <a:bodyPr wrap="square">
            <a:spAutoFit/>
          </a:bodyPr>
          <a:lstStyle/>
          <a:p>
            <a:pPr algn="l"/>
            <a:r>
              <a:rPr sz="650" b="0" i="0">
                <a:solidFill>
                  <a:srgbClr val="333333"/>
                </a:solidFill>
                <a:latin typeface="Calibri"/>
              </a:rPr>
              <a:t>Rachat d’actions : Programme de rachat de 50 Mds$ annoncé en 2026, réduisant le flottant de 3% et soutenant le cours à +8%. Horizon 2026, effet immédiat.</a:t>
            </a:r>
          </a:p>
        </p:txBody>
      </p:sp>
      <p:sp>
        <p:nvSpPr>
          <p:cNvPr id="40" name="Rectangle 39"/>
          <p:cNvSpPr/>
          <p:nvPr/>
        </p:nvSpPr>
        <p:spPr>
          <a:xfrm>
            <a:off x="367200" y="3510000"/>
            <a:ext cx="36000" cy="792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32000" y="3491999"/>
            <a:ext cx="4111200" cy="223200"/>
          </a:xfrm>
          <a:prstGeom prst="rect">
            <a:avLst/>
          </a:prstGeom>
          <a:noFill/>
        </p:spPr>
        <p:txBody>
          <a:bodyPr wrap="square">
            <a:spAutoFit/>
          </a:bodyPr>
          <a:lstStyle/>
          <a:p>
            <a:pPr algn="l"/>
            <a:r>
              <a:rPr sz="650" b="0" i="0">
                <a:solidFill>
                  <a:srgbClr val="333333"/>
                </a:solidFill>
                <a:latin typeface="Calibri"/>
              </a:rPr>
              <a:t>Partenariats IA : Partenariats stratégiques avec NVIDIA et Mistral AI pour des solutions IA hybrides, générant +5 Mds$ de revenus récurrents d’ici 2027.…</a:t>
            </a:r>
          </a:p>
        </p:txBody>
      </p:sp>
      <p:sp>
        <p:nvSpPr>
          <p:cNvPr id="42" name="Rectangle 41"/>
          <p:cNvSpPr/>
          <p:nvPr/>
        </p:nvSpPr>
        <p:spPr>
          <a:xfrm>
            <a:off x="4572000" y="3510000"/>
            <a:ext cx="36000" cy="792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636800" y="3491999"/>
            <a:ext cx="4111200" cy="223200"/>
          </a:xfrm>
          <a:prstGeom prst="rect">
            <a:avLst/>
          </a:prstGeom>
          <a:noFill/>
        </p:spPr>
        <p:txBody>
          <a:bodyPr wrap="square">
            <a:spAutoFit/>
          </a:bodyPr>
          <a:lstStyle/>
          <a:p>
            <a:pPr algn="l"/>
            <a:r>
              <a:rPr sz="650" b="0" i="0">
                <a:solidFill>
                  <a:srgbClr val="333333"/>
                </a:solidFill>
                <a:latin typeface="Calibri"/>
              </a:rPr>
              <a:t>—</a:t>
            </a:r>
          </a:p>
        </p:txBody>
      </p:sp>
      <p:sp>
        <p:nvSpPr>
          <p:cNvPr id="44" name="Rectangle 43"/>
          <p:cNvSpPr/>
          <p:nvPr/>
        </p:nvSpPr>
        <p:spPr>
          <a:xfrm>
            <a:off x="367200" y="3761999"/>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367200" y="3816000"/>
            <a:ext cx="2030400" cy="5580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367200" y="3816000"/>
            <a:ext cx="46800" cy="558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46400" y="3844800"/>
            <a:ext cx="1908000" cy="251999"/>
          </a:xfrm>
          <a:prstGeom prst="rect">
            <a:avLst/>
          </a:prstGeom>
          <a:noFill/>
        </p:spPr>
        <p:txBody>
          <a:bodyPr wrap="square">
            <a:spAutoFit/>
          </a:bodyPr>
          <a:lstStyle/>
          <a:p>
            <a:pPr algn="l"/>
            <a:r>
              <a:rPr sz="1400" b="1" i="0">
                <a:solidFill>
                  <a:srgbClr val="1B3A6B"/>
                </a:solidFill>
                <a:latin typeface="Calibri"/>
              </a:rPr>
              <a:t>18,3x</a:t>
            </a:r>
          </a:p>
        </p:txBody>
      </p:sp>
      <p:sp>
        <p:nvSpPr>
          <p:cNvPr id="48" name="TextBox 47"/>
          <p:cNvSpPr txBox="1"/>
          <p:nvPr/>
        </p:nvSpPr>
        <p:spPr>
          <a:xfrm>
            <a:off x="446400" y="4096799"/>
            <a:ext cx="1908000" cy="136800"/>
          </a:xfrm>
          <a:prstGeom prst="rect">
            <a:avLst/>
          </a:prstGeom>
          <a:noFill/>
        </p:spPr>
        <p:txBody>
          <a:bodyPr wrap="square">
            <a:spAutoFit/>
          </a:bodyPr>
          <a:lstStyle/>
          <a:p>
            <a:pPr algn="l"/>
            <a:r>
              <a:rPr sz="700" b="0" i="0">
                <a:solidFill>
                  <a:srgbClr val="555555"/>
                </a:solidFill>
                <a:latin typeface="Calibri"/>
              </a:rPr>
              <a:t>EV/EBITDA</a:t>
            </a:r>
          </a:p>
        </p:txBody>
      </p:sp>
      <p:sp>
        <p:nvSpPr>
          <p:cNvPr id="49" name="TextBox 48"/>
          <p:cNvSpPr txBox="1"/>
          <p:nvPr/>
        </p:nvSpPr>
        <p:spPr>
          <a:xfrm>
            <a:off x="446400" y="4226400"/>
            <a:ext cx="1908000" cy="125999"/>
          </a:xfrm>
          <a:prstGeom prst="rect">
            <a:avLst/>
          </a:prstGeom>
          <a:noFill/>
        </p:spPr>
        <p:txBody>
          <a:bodyPr wrap="square">
            <a:spAutoFit/>
          </a:bodyPr>
          <a:lstStyle/>
          <a:p>
            <a:pPr algn="l"/>
            <a:r>
              <a:rPr sz="600" b="0" i="0">
                <a:solidFill>
                  <a:srgbClr val="888888"/>
                </a:solidFill>
                <a:latin typeface="Calibri"/>
              </a:rPr>
              <a:t>vs 15,2x med. pairs</a:t>
            </a:r>
          </a:p>
        </p:txBody>
      </p:sp>
      <p:sp>
        <p:nvSpPr>
          <p:cNvPr id="50" name="Rectangle 49"/>
          <p:cNvSpPr/>
          <p:nvPr/>
        </p:nvSpPr>
        <p:spPr>
          <a:xfrm>
            <a:off x="2487600" y="3816000"/>
            <a:ext cx="2030400" cy="5580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2487600" y="3816000"/>
            <a:ext cx="46800" cy="558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2566800" y="3844800"/>
            <a:ext cx="1908000" cy="251999"/>
          </a:xfrm>
          <a:prstGeom prst="rect">
            <a:avLst/>
          </a:prstGeom>
          <a:noFill/>
        </p:spPr>
        <p:txBody>
          <a:bodyPr wrap="square">
            <a:spAutoFit/>
          </a:bodyPr>
          <a:lstStyle/>
          <a:p>
            <a:pPr algn="l"/>
            <a:r>
              <a:rPr sz="1400" b="1" i="0">
                <a:solidFill>
                  <a:srgbClr val="1B3A6B"/>
                </a:solidFill>
                <a:latin typeface="Calibri"/>
              </a:rPr>
              <a:t>10,3 %</a:t>
            </a:r>
          </a:p>
        </p:txBody>
      </p:sp>
      <p:sp>
        <p:nvSpPr>
          <p:cNvPr id="53" name="TextBox 52"/>
          <p:cNvSpPr txBox="1"/>
          <p:nvPr/>
        </p:nvSpPr>
        <p:spPr>
          <a:xfrm>
            <a:off x="2566800" y="4096799"/>
            <a:ext cx="1908000" cy="136800"/>
          </a:xfrm>
          <a:prstGeom prst="rect">
            <a:avLst/>
          </a:prstGeom>
          <a:noFill/>
        </p:spPr>
        <p:txBody>
          <a:bodyPr wrap="square">
            <a:spAutoFit/>
          </a:bodyPr>
          <a:lstStyle/>
          <a:p>
            <a:pPr algn="l"/>
            <a:r>
              <a:rPr sz="700" b="0" i="0">
                <a:solidFill>
                  <a:srgbClr val="555555"/>
                </a:solidFill>
                <a:latin typeface="Calibri"/>
              </a:rPr>
              <a:t>WACC</a:t>
            </a:r>
          </a:p>
        </p:txBody>
      </p:sp>
      <p:sp>
        <p:nvSpPr>
          <p:cNvPr id="54" name="TextBox 53"/>
          <p:cNvSpPr txBox="1"/>
          <p:nvPr/>
        </p:nvSpPr>
        <p:spPr>
          <a:xfrm>
            <a:off x="2566800" y="4226400"/>
            <a:ext cx="1908000" cy="125999"/>
          </a:xfrm>
          <a:prstGeom prst="rect">
            <a:avLst/>
          </a:prstGeom>
          <a:noFill/>
        </p:spPr>
        <p:txBody>
          <a:bodyPr wrap="square">
            <a:spAutoFit/>
          </a:bodyPr>
          <a:lstStyle/>
          <a:p>
            <a:pPr algn="l"/>
            <a:r>
              <a:rPr sz="600" b="0" i="0">
                <a:solidFill>
                  <a:srgbClr val="888888"/>
                </a:solidFill>
                <a:latin typeface="Calibri"/>
              </a:rPr>
              <a:t>Beta 1,11  ·  RFR 4,3 %</a:t>
            </a:r>
          </a:p>
        </p:txBody>
      </p:sp>
      <p:sp>
        <p:nvSpPr>
          <p:cNvPr id="55" name="Rectangle 54"/>
          <p:cNvSpPr/>
          <p:nvPr/>
        </p:nvSpPr>
        <p:spPr>
          <a:xfrm>
            <a:off x="4608000" y="3816000"/>
            <a:ext cx="2030400" cy="5580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4608000" y="3816000"/>
            <a:ext cx="46800" cy="558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4687200" y="3844800"/>
            <a:ext cx="1908000" cy="251999"/>
          </a:xfrm>
          <a:prstGeom prst="rect">
            <a:avLst/>
          </a:prstGeom>
          <a:noFill/>
        </p:spPr>
        <p:txBody>
          <a:bodyPr wrap="square">
            <a:spAutoFit/>
          </a:bodyPr>
          <a:lstStyle/>
          <a:p>
            <a:pPr algn="l"/>
            <a:r>
              <a:rPr sz="1400" b="1" i="0">
                <a:solidFill>
                  <a:srgbClr val="1B3A6B"/>
                </a:solidFill>
                <a:latin typeface="Calibri"/>
              </a:rPr>
              <a:t>425 $</a:t>
            </a:r>
          </a:p>
        </p:txBody>
      </p:sp>
      <p:sp>
        <p:nvSpPr>
          <p:cNvPr id="58" name="TextBox 57"/>
          <p:cNvSpPr txBox="1"/>
          <p:nvPr/>
        </p:nvSpPr>
        <p:spPr>
          <a:xfrm>
            <a:off x="4687200" y="4096799"/>
            <a:ext cx="1908000" cy="136800"/>
          </a:xfrm>
          <a:prstGeom prst="rect">
            <a:avLst/>
          </a:prstGeom>
          <a:noFill/>
        </p:spPr>
        <p:txBody>
          <a:bodyPr wrap="square">
            <a:spAutoFit/>
          </a:bodyPr>
          <a:lstStyle/>
          <a:p>
            <a:pPr algn="l"/>
            <a:r>
              <a:rPr sz="700" b="0" i="0">
                <a:solidFill>
                  <a:srgbClr val="555555"/>
                </a:solidFill>
                <a:latin typeface="Calibri"/>
              </a:rPr>
              <a:t>Valeur DCF base</a:t>
            </a:r>
          </a:p>
        </p:txBody>
      </p:sp>
      <p:sp>
        <p:nvSpPr>
          <p:cNvPr id="59" name="TextBox 58"/>
          <p:cNvSpPr txBox="1"/>
          <p:nvPr/>
        </p:nvSpPr>
        <p:spPr>
          <a:xfrm>
            <a:off x="4687200" y="4226400"/>
            <a:ext cx="1908000" cy="125999"/>
          </a:xfrm>
          <a:prstGeom prst="rect">
            <a:avLst/>
          </a:prstGeom>
          <a:noFill/>
        </p:spPr>
        <p:txBody>
          <a:bodyPr wrap="square">
            <a:spAutoFit/>
          </a:bodyPr>
          <a:lstStyle/>
          <a:p>
            <a:pPr algn="l"/>
            <a:r>
              <a:rPr sz="600" b="0" i="0">
                <a:solidFill>
                  <a:srgbClr val="888888"/>
                </a:solidFill>
                <a:latin typeface="Calibri"/>
              </a:rPr>
              <a:t>Upside +8,1 % vs cours</a:t>
            </a:r>
          </a:p>
        </p:txBody>
      </p:sp>
      <p:sp>
        <p:nvSpPr>
          <p:cNvPr id="60" name="Rectangle 59"/>
          <p:cNvSpPr/>
          <p:nvPr/>
        </p:nvSpPr>
        <p:spPr>
          <a:xfrm>
            <a:off x="6728400" y="3816000"/>
            <a:ext cx="2030400" cy="5580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6728400" y="3816000"/>
            <a:ext cx="46800" cy="558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6807600" y="3844800"/>
            <a:ext cx="1908000" cy="251999"/>
          </a:xfrm>
          <a:prstGeom prst="rect">
            <a:avLst/>
          </a:prstGeom>
          <a:noFill/>
        </p:spPr>
        <p:txBody>
          <a:bodyPr wrap="square">
            <a:spAutoFit/>
          </a:bodyPr>
          <a:lstStyle/>
          <a:p>
            <a:pPr algn="l"/>
            <a:r>
              <a:rPr sz="1400" b="1" i="0">
                <a:solidFill>
                  <a:srgbClr val="1B3A6B"/>
                </a:solidFill>
                <a:latin typeface="Calibri"/>
              </a:rPr>
              <a:t>+0,277</a:t>
            </a:r>
          </a:p>
        </p:txBody>
      </p:sp>
      <p:sp>
        <p:nvSpPr>
          <p:cNvPr id="63" name="TextBox 62"/>
          <p:cNvSpPr txBox="1"/>
          <p:nvPr/>
        </p:nvSpPr>
        <p:spPr>
          <a:xfrm>
            <a:off x="6807600" y="4096799"/>
            <a:ext cx="1908000" cy="136800"/>
          </a:xfrm>
          <a:prstGeom prst="rect">
            <a:avLst/>
          </a:prstGeom>
          <a:noFill/>
        </p:spPr>
        <p:txBody>
          <a:bodyPr wrap="square">
            <a:spAutoFit/>
          </a:bodyPr>
          <a:lstStyle/>
          <a:p>
            <a:pPr algn="l"/>
            <a:r>
              <a:rPr sz="700" b="0" i="0">
                <a:solidFill>
                  <a:srgbClr val="555555"/>
                </a:solidFill>
                <a:latin typeface="Calibri"/>
              </a:rPr>
              <a:t>Sentiment FinBERT</a:t>
            </a:r>
          </a:p>
        </p:txBody>
      </p:sp>
      <p:sp>
        <p:nvSpPr>
          <p:cNvPr id="64" name="TextBox 63"/>
          <p:cNvSpPr txBox="1"/>
          <p:nvPr/>
        </p:nvSpPr>
        <p:spPr>
          <a:xfrm>
            <a:off x="6807600" y="4226400"/>
            <a:ext cx="1908000" cy="125999"/>
          </a:xfrm>
          <a:prstGeom prst="rect">
            <a:avLst/>
          </a:prstGeom>
          <a:noFill/>
        </p:spPr>
        <p:txBody>
          <a:bodyPr wrap="square">
            <a:spAutoFit/>
          </a:bodyPr>
          <a:lstStyle/>
          <a:p>
            <a:pPr algn="l"/>
            <a:r>
              <a:rPr sz="600" b="0" i="0">
                <a:solidFill>
                  <a:srgbClr val="888888"/>
                </a:solidFill>
                <a:latin typeface="Calibri"/>
              </a:rPr>
              <a:t>Positif  ·  30 art.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Sommaire</a:t>
            </a:r>
          </a:p>
        </p:txBody>
      </p:sp>
      <p:sp>
        <p:nvSpPr>
          <p:cNvPr id="6" name="Rectangle 5"/>
          <p:cNvSpPr/>
          <p:nvPr/>
        </p:nvSpPr>
        <p:spPr>
          <a:xfrm>
            <a:off x="367200" y="8964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7200" y="8964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950400"/>
            <a:ext cx="475200" cy="514800"/>
          </a:xfrm>
          <a:prstGeom prst="rect">
            <a:avLst/>
          </a:prstGeom>
          <a:noFill/>
        </p:spPr>
        <p:txBody>
          <a:bodyPr wrap="square">
            <a:spAutoFit/>
          </a:bodyPr>
          <a:lstStyle/>
          <a:p>
            <a:pPr algn="l"/>
            <a:r>
              <a:rPr sz="1700" b="1" i="0">
                <a:solidFill>
                  <a:srgbClr val="888888"/>
                </a:solidFill>
                <a:latin typeface="Calibri"/>
              </a:rPr>
              <a:t>01</a:t>
            </a:r>
          </a:p>
        </p:txBody>
      </p:sp>
      <p:sp>
        <p:nvSpPr>
          <p:cNvPr id="9" name="TextBox 8"/>
          <p:cNvSpPr txBox="1"/>
          <p:nvPr/>
        </p:nvSpPr>
        <p:spPr>
          <a:xfrm>
            <a:off x="1152000" y="968400"/>
            <a:ext cx="6120000" cy="255600"/>
          </a:xfrm>
          <a:prstGeom prst="rect">
            <a:avLst/>
          </a:prstGeom>
          <a:noFill/>
        </p:spPr>
        <p:txBody>
          <a:bodyPr wrap="square">
            <a:spAutoFit/>
          </a:bodyPr>
          <a:lstStyle/>
          <a:p>
            <a:pPr algn="l"/>
            <a:r>
              <a:rPr sz="1300" b="1" i="0">
                <a:solidFill>
                  <a:srgbClr val="1B3A6B"/>
                </a:solidFill>
                <a:latin typeface="Calibri"/>
              </a:rPr>
              <a:t>Company Overview</a:t>
            </a:r>
          </a:p>
        </p:txBody>
      </p:sp>
      <p:sp>
        <p:nvSpPr>
          <p:cNvPr id="10" name="TextBox 9"/>
          <p:cNvSpPr txBox="1"/>
          <p:nvPr/>
        </p:nvSpPr>
        <p:spPr>
          <a:xfrm>
            <a:off x="1152000" y="1202400"/>
            <a:ext cx="6120000" cy="255600"/>
          </a:xfrm>
          <a:prstGeom prst="rect">
            <a:avLst/>
          </a:prstGeom>
          <a:noFill/>
        </p:spPr>
        <p:txBody>
          <a:bodyPr wrap="square">
            <a:spAutoFit/>
          </a:bodyPr>
          <a:lstStyle/>
          <a:p>
            <a:pPr algn="l"/>
            <a:r>
              <a:rPr sz="850" b="0" i="0">
                <a:solidFill>
                  <a:srgbClr val="555555"/>
                </a:solidFill>
                <a:latin typeface="Calibri"/>
              </a:rPr>
              <a:t>Microsoft Corporation  ·  Technology</a:t>
            </a:r>
          </a:p>
        </p:txBody>
      </p:sp>
      <p:sp>
        <p:nvSpPr>
          <p:cNvPr id="11" name="TextBox 10"/>
          <p:cNvSpPr txBox="1"/>
          <p:nvPr/>
        </p:nvSpPr>
        <p:spPr>
          <a:xfrm>
            <a:off x="7405200" y="1058400"/>
            <a:ext cx="1375200" cy="255600"/>
          </a:xfrm>
          <a:prstGeom prst="rect">
            <a:avLst/>
          </a:prstGeom>
          <a:noFill/>
        </p:spPr>
        <p:txBody>
          <a:bodyPr wrap="square">
            <a:spAutoFit/>
          </a:bodyPr>
          <a:lstStyle/>
          <a:p>
            <a:pPr algn="r"/>
            <a:r>
              <a:rPr sz="900" b="0" i="0">
                <a:solidFill>
                  <a:srgbClr val="2E5FA3"/>
                </a:solidFill>
                <a:latin typeface="Calibri"/>
              </a:rPr>
              <a:t>4–6</a:t>
            </a:r>
          </a:p>
        </p:txBody>
      </p:sp>
      <p:sp>
        <p:nvSpPr>
          <p:cNvPr id="12" name="Rectangle 11"/>
          <p:cNvSpPr/>
          <p:nvPr/>
        </p:nvSpPr>
        <p:spPr>
          <a:xfrm>
            <a:off x="367200" y="1591200"/>
            <a:ext cx="8413200" cy="622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67200" y="15912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3999" y="1645200"/>
            <a:ext cx="475200" cy="514800"/>
          </a:xfrm>
          <a:prstGeom prst="rect">
            <a:avLst/>
          </a:prstGeom>
          <a:noFill/>
        </p:spPr>
        <p:txBody>
          <a:bodyPr wrap="square">
            <a:spAutoFit/>
          </a:bodyPr>
          <a:lstStyle/>
          <a:p>
            <a:pPr algn="l"/>
            <a:r>
              <a:rPr sz="1700" b="1" i="0">
                <a:solidFill>
                  <a:srgbClr val="888888"/>
                </a:solidFill>
                <a:latin typeface="Calibri"/>
              </a:rPr>
              <a:t>02</a:t>
            </a:r>
          </a:p>
        </p:txBody>
      </p:sp>
      <p:sp>
        <p:nvSpPr>
          <p:cNvPr id="15" name="TextBox 14"/>
          <p:cNvSpPr txBox="1"/>
          <p:nvPr/>
        </p:nvSpPr>
        <p:spPr>
          <a:xfrm>
            <a:off x="1152000" y="1663200"/>
            <a:ext cx="6120000" cy="255600"/>
          </a:xfrm>
          <a:prstGeom prst="rect">
            <a:avLst/>
          </a:prstGeom>
          <a:noFill/>
        </p:spPr>
        <p:txBody>
          <a:bodyPr wrap="square">
            <a:spAutoFit/>
          </a:bodyPr>
          <a:lstStyle/>
          <a:p>
            <a:pPr algn="l"/>
            <a:r>
              <a:rPr sz="1300" b="1" i="0">
                <a:solidFill>
                  <a:srgbClr val="1B3A6B"/>
                </a:solidFill>
                <a:latin typeface="Calibri"/>
              </a:rPr>
              <a:t>Analyse Financière</a:t>
            </a:r>
          </a:p>
        </p:txBody>
      </p:sp>
      <p:sp>
        <p:nvSpPr>
          <p:cNvPr id="16" name="TextBox 15"/>
          <p:cNvSpPr txBox="1"/>
          <p:nvPr/>
        </p:nvSpPr>
        <p:spPr>
          <a:xfrm>
            <a:off x="1152000" y="1897199"/>
            <a:ext cx="6120000" cy="255600"/>
          </a:xfrm>
          <a:prstGeom prst="rect">
            <a:avLst/>
          </a:prstGeom>
          <a:noFill/>
        </p:spPr>
        <p:txBody>
          <a:bodyPr wrap="square">
            <a:spAutoFit/>
          </a:bodyPr>
          <a:lstStyle/>
          <a:p>
            <a:pPr algn="l"/>
            <a:r>
              <a:rPr sz="850" b="0" i="0">
                <a:solidFill>
                  <a:srgbClr val="555555"/>
                </a:solidFill>
                <a:latin typeface="Calibri"/>
              </a:rPr>
              <a:t>Compte de résultat, bilan &amp; liquidité, ratios</a:t>
            </a:r>
          </a:p>
        </p:txBody>
      </p:sp>
      <p:sp>
        <p:nvSpPr>
          <p:cNvPr id="17" name="TextBox 16"/>
          <p:cNvSpPr txBox="1"/>
          <p:nvPr/>
        </p:nvSpPr>
        <p:spPr>
          <a:xfrm>
            <a:off x="7405200" y="1753200"/>
            <a:ext cx="1375200" cy="255600"/>
          </a:xfrm>
          <a:prstGeom prst="rect">
            <a:avLst/>
          </a:prstGeom>
          <a:noFill/>
        </p:spPr>
        <p:txBody>
          <a:bodyPr wrap="square">
            <a:spAutoFit/>
          </a:bodyPr>
          <a:lstStyle/>
          <a:p>
            <a:pPr algn="r"/>
            <a:r>
              <a:rPr sz="900" b="0" i="0">
                <a:solidFill>
                  <a:srgbClr val="2E5FA3"/>
                </a:solidFill>
                <a:latin typeface="Calibri"/>
              </a:rPr>
              <a:t>7–10</a:t>
            </a:r>
          </a:p>
        </p:txBody>
      </p:sp>
      <p:sp>
        <p:nvSpPr>
          <p:cNvPr id="18" name="Rectangle 17"/>
          <p:cNvSpPr/>
          <p:nvPr/>
        </p:nvSpPr>
        <p:spPr>
          <a:xfrm>
            <a:off x="367200" y="22860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67200" y="22860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3999" y="2340000"/>
            <a:ext cx="475200" cy="514800"/>
          </a:xfrm>
          <a:prstGeom prst="rect">
            <a:avLst/>
          </a:prstGeom>
          <a:noFill/>
        </p:spPr>
        <p:txBody>
          <a:bodyPr wrap="square">
            <a:spAutoFit/>
          </a:bodyPr>
          <a:lstStyle/>
          <a:p>
            <a:pPr algn="l"/>
            <a:r>
              <a:rPr sz="1700" b="1" i="0">
                <a:solidFill>
                  <a:srgbClr val="888888"/>
                </a:solidFill>
                <a:latin typeface="Calibri"/>
              </a:rPr>
              <a:t>03</a:t>
            </a:r>
          </a:p>
        </p:txBody>
      </p:sp>
      <p:sp>
        <p:nvSpPr>
          <p:cNvPr id="21" name="TextBox 20"/>
          <p:cNvSpPr txBox="1"/>
          <p:nvPr/>
        </p:nvSpPr>
        <p:spPr>
          <a:xfrm>
            <a:off x="1152000" y="2358000"/>
            <a:ext cx="6120000" cy="255600"/>
          </a:xfrm>
          <a:prstGeom prst="rect">
            <a:avLst/>
          </a:prstGeom>
          <a:noFill/>
        </p:spPr>
        <p:txBody>
          <a:bodyPr wrap="square">
            <a:spAutoFit/>
          </a:bodyPr>
          <a:lstStyle/>
          <a:p>
            <a:pPr algn="l"/>
            <a:r>
              <a:rPr sz="1300" b="1" i="0">
                <a:solidFill>
                  <a:srgbClr val="1B3A6B"/>
                </a:solidFill>
                <a:latin typeface="Calibri"/>
              </a:rPr>
              <a:t>Valorisation</a:t>
            </a:r>
          </a:p>
        </p:txBody>
      </p:sp>
      <p:sp>
        <p:nvSpPr>
          <p:cNvPr id="22" name="TextBox 21"/>
          <p:cNvSpPr txBox="1"/>
          <p:nvPr/>
        </p:nvSpPr>
        <p:spPr>
          <a:xfrm>
            <a:off x="1152000" y="2591999"/>
            <a:ext cx="6120000" cy="255600"/>
          </a:xfrm>
          <a:prstGeom prst="rect">
            <a:avLst/>
          </a:prstGeom>
          <a:noFill/>
        </p:spPr>
        <p:txBody>
          <a:bodyPr wrap="square">
            <a:spAutoFit/>
          </a:bodyPr>
          <a:lstStyle/>
          <a:p>
            <a:pPr algn="l"/>
            <a:r>
              <a:rPr sz="850" b="0" i="0">
                <a:solidFill>
                  <a:srgbClr val="555555"/>
                </a:solidFill>
                <a:latin typeface="Calibri"/>
              </a:rPr>
              <a:t>DCF, comparable peers, Football Field</a:t>
            </a:r>
          </a:p>
        </p:txBody>
      </p:sp>
      <p:sp>
        <p:nvSpPr>
          <p:cNvPr id="23" name="TextBox 22"/>
          <p:cNvSpPr txBox="1"/>
          <p:nvPr/>
        </p:nvSpPr>
        <p:spPr>
          <a:xfrm>
            <a:off x="7405200" y="2448000"/>
            <a:ext cx="1375200" cy="255600"/>
          </a:xfrm>
          <a:prstGeom prst="rect">
            <a:avLst/>
          </a:prstGeom>
          <a:noFill/>
        </p:spPr>
        <p:txBody>
          <a:bodyPr wrap="square">
            <a:spAutoFit/>
          </a:bodyPr>
          <a:lstStyle/>
          <a:p>
            <a:pPr algn="r"/>
            <a:r>
              <a:rPr sz="900" b="0" i="0">
                <a:solidFill>
                  <a:srgbClr val="2E5FA3"/>
                </a:solidFill>
                <a:latin typeface="Calibri"/>
              </a:rPr>
              <a:t>11–14</a:t>
            </a:r>
          </a:p>
        </p:txBody>
      </p:sp>
      <p:sp>
        <p:nvSpPr>
          <p:cNvPr id="24" name="Rectangle 23"/>
          <p:cNvSpPr/>
          <p:nvPr/>
        </p:nvSpPr>
        <p:spPr>
          <a:xfrm>
            <a:off x="367200" y="2980800"/>
            <a:ext cx="8413200" cy="622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67200" y="29808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3999" y="3034800"/>
            <a:ext cx="475200" cy="514800"/>
          </a:xfrm>
          <a:prstGeom prst="rect">
            <a:avLst/>
          </a:prstGeom>
          <a:noFill/>
        </p:spPr>
        <p:txBody>
          <a:bodyPr wrap="square">
            <a:spAutoFit/>
          </a:bodyPr>
          <a:lstStyle/>
          <a:p>
            <a:pPr algn="l"/>
            <a:r>
              <a:rPr sz="1700" b="1" i="0">
                <a:solidFill>
                  <a:srgbClr val="888888"/>
                </a:solidFill>
                <a:latin typeface="Calibri"/>
              </a:rPr>
              <a:t>04</a:t>
            </a:r>
          </a:p>
        </p:txBody>
      </p:sp>
      <p:sp>
        <p:nvSpPr>
          <p:cNvPr id="27" name="TextBox 26"/>
          <p:cNvSpPr txBox="1"/>
          <p:nvPr/>
        </p:nvSpPr>
        <p:spPr>
          <a:xfrm>
            <a:off x="1152000" y="3052799"/>
            <a:ext cx="6120000" cy="255600"/>
          </a:xfrm>
          <a:prstGeom prst="rect">
            <a:avLst/>
          </a:prstGeom>
          <a:noFill/>
        </p:spPr>
        <p:txBody>
          <a:bodyPr wrap="square">
            <a:spAutoFit/>
          </a:bodyPr>
          <a:lstStyle/>
          <a:p>
            <a:pPr algn="l"/>
            <a:r>
              <a:rPr sz="1300" b="1" i="0">
                <a:solidFill>
                  <a:srgbClr val="1B3A6B"/>
                </a:solidFill>
                <a:latin typeface="Calibri"/>
              </a:rPr>
              <a:t>Risques &amp; Stratégie</a:t>
            </a:r>
          </a:p>
        </p:txBody>
      </p:sp>
      <p:sp>
        <p:nvSpPr>
          <p:cNvPr id="28" name="TextBox 27"/>
          <p:cNvSpPr txBox="1"/>
          <p:nvPr/>
        </p:nvSpPr>
        <p:spPr>
          <a:xfrm>
            <a:off x="1152000" y="3286799"/>
            <a:ext cx="6120000" cy="255600"/>
          </a:xfrm>
          <a:prstGeom prst="rect">
            <a:avLst/>
          </a:prstGeom>
          <a:noFill/>
        </p:spPr>
        <p:txBody>
          <a:bodyPr wrap="square">
            <a:spAutoFit/>
          </a:bodyPr>
          <a:lstStyle/>
          <a:p>
            <a:pPr algn="l"/>
            <a:r>
              <a:rPr sz="850" b="0" i="0">
                <a:solidFill>
                  <a:srgbClr val="555555"/>
                </a:solidFill>
                <a:latin typeface="Calibri"/>
              </a:rPr>
              <a:t>Concurrence IA  ·  Régulation antitrust</a:t>
            </a:r>
          </a:p>
        </p:txBody>
      </p:sp>
      <p:sp>
        <p:nvSpPr>
          <p:cNvPr id="29" name="TextBox 28"/>
          <p:cNvSpPr txBox="1"/>
          <p:nvPr/>
        </p:nvSpPr>
        <p:spPr>
          <a:xfrm>
            <a:off x="7405200" y="3142799"/>
            <a:ext cx="1375200" cy="255600"/>
          </a:xfrm>
          <a:prstGeom prst="rect">
            <a:avLst/>
          </a:prstGeom>
          <a:noFill/>
        </p:spPr>
        <p:txBody>
          <a:bodyPr wrap="square">
            <a:spAutoFit/>
          </a:bodyPr>
          <a:lstStyle/>
          <a:p>
            <a:pPr algn="r"/>
            <a:r>
              <a:rPr sz="900" b="0" i="0">
                <a:solidFill>
                  <a:srgbClr val="2E5FA3"/>
                </a:solidFill>
                <a:latin typeface="Calibri"/>
              </a:rPr>
              <a:t>15–16</a:t>
            </a:r>
          </a:p>
        </p:txBody>
      </p:sp>
      <p:sp>
        <p:nvSpPr>
          <p:cNvPr id="30" name="Rectangle 29"/>
          <p:cNvSpPr/>
          <p:nvPr/>
        </p:nvSpPr>
        <p:spPr>
          <a:xfrm>
            <a:off x="367200" y="36756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7200" y="36756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3999" y="3729600"/>
            <a:ext cx="475200" cy="514800"/>
          </a:xfrm>
          <a:prstGeom prst="rect">
            <a:avLst/>
          </a:prstGeom>
          <a:noFill/>
        </p:spPr>
        <p:txBody>
          <a:bodyPr wrap="square">
            <a:spAutoFit/>
          </a:bodyPr>
          <a:lstStyle/>
          <a:p>
            <a:pPr algn="l"/>
            <a:r>
              <a:rPr sz="1700" b="1" i="0">
                <a:solidFill>
                  <a:srgbClr val="888888"/>
                </a:solidFill>
                <a:latin typeface="Calibri"/>
              </a:rPr>
              <a:t>05</a:t>
            </a:r>
          </a:p>
        </p:txBody>
      </p:sp>
      <p:sp>
        <p:nvSpPr>
          <p:cNvPr id="33" name="TextBox 32"/>
          <p:cNvSpPr txBox="1"/>
          <p:nvPr/>
        </p:nvSpPr>
        <p:spPr>
          <a:xfrm>
            <a:off x="1152000" y="3747600"/>
            <a:ext cx="6120000" cy="255600"/>
          </a:xfrm>
          <a:prstGeom prst="rect">
            <a:avLst/>
          </a:prstGeom>
          <a:noFill/>
        </p:spPr>
        <p:txBody>
          <a:bodyPr wrap="square">
            <a:spAutoFit/>
          </a:bodyPr>
          <a:lstStyle/>
          <a:p>
            <a:pPr algn="l"/>
            <a:r>
              <a:rPr sz="1300" b="1" i="0">
                <a:solidFill>
                  <a:srgbClr val="1B3A6B"/>
                </a:solidFill>
                <a:latin typeface="Calibri"/>
              </a:rPr>
              <a:t>Sentiment &amp; Annexes</a:t>
            </a:r>
          </a:p>
        </p:txBody>
      </p:sp>
      <p:sp>
        <p:nvSpPr>
          <p:cNvPr id="34" name="TextBox 33"/>
          <p:cNvSpPr txBox="1"/>
          <p:nvPr/>
        </p:nvSpPr>
        <p:spPr>
          <a:xfrm>
            <a:off x="1152000" y="3981600"/>
            <a:ext cx="6120000" cy="255600"/>
          </a:xfrm>
          <a:prstGeom prst="rect">
            <a:avLst/>
          </a:prstGeom>
          <a:noFill/>
        </p:spPr>
        <p:txBody>
          <a:bodyPr wrap="square">
            <a:spAutoFit/>
          </a:bodyPr>
          <a:lstStyle/>
          <a:p>
            <a:pPr algn="l"/>
            <a:r>
              <a:rPr sz="850" b="0" i="0">
                <a:solidFill>
                  <a:srgbClr val="555555"/>
                </a:solidFill>
                <a:latin typeface="Calibri"/>
              </a:rPr>
              <a:t>FinBERT, actionnariat, historique &amp; conviction</a:t>
            </a:r>
          </a:p>
        </p:txBody>
      </p:sp>
      <p:sp>
        <p:nvSpPr>
          <p:cNvPr id="35" name="TextBox 34"/>
          <p:cNvSpPr txBox="1"/>
          <p:nvPr/>
        </p:nvSpPr>
        <p:spPr>
          <a:xfrm>
            <a:off x="7405200" y="3837600"/>
            <a:ext cx="1375200" cy="255600"/>
          </a:xfrm>
          <a:prstGeom prst="rect">
            <a:avLst/>
          </a:prstGeom>
          <a:noFill/>
        </p:spPr>
        <p:txBody>
          <a:bodyPr wrap="square">
            <a:spAutoFit/>
          </a:bodyPr>
          <a:lstStyle/>
          <a:p>
            <a:pPr algn="r"/>
            <a:r>
              <a:rPr sz="900" b="0" i="0">
                <a:solidFill>
                  <a:srgbClr val="2E5FA3"/>
                </a:solidFill>
                <a:latin typeface="Calibri"/>
              </a:rPr>
              <a:t>17–21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01</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Company Overview</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Présentation, modèle économique &amp; données de marché</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1B3A6B"/>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Company Overview</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Microsoft Corporation  ·  Présentation &amp; Positionnement stratégique</a:t>
            </a:r>
          </a:p>
        </p:txBody>
      </p:sp>
      <p:sp>
        <p:nvSpPr>
          <p:cNvPr id="17" name="Rectangle 16"/>
          <p:cNvSpPr/>
          <p:nvPr/>
        </p:nvSpPr>
        <p:spPr>
          <a:xfrm>
            <a:off x="367200" y="961200"/>
            <a:ext cx="4939200" cy="3520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3520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3999" y="1022400"/>
            <a:ext cx="4662000" cy="1440000"/>
          </a:xfrm>
          <a:prstGeom prst="rect">
            <a:avLst/>
          </a:prstGeom>
          <a:noFill/>
        </p:spPr>
        <p:txBody>
          <a:bodyPr wrap="square">
            <a:spAutoFit/>
          </a:bodyPr>
          <a:lstStyle/>
          <a:p>
            <a:pPr algn="l"/>
            <a:r>
              <a:rPr sz="850" b="0" i="0">
                <a:solidFill>
                  <a:srgbClr val="0D0D0D"/>
                </a:solidFill>
                <a:latin typeface="Calibri"/>
              </a:rPr>
              <a:t>Microsoft domine le marché des logiciels d’entreprise avec Windows, Office 365 et Azure, leader du cloud public avec 24% de part de marché. Son positionnement hybride (licences perpétuelles + abonnements SaaS) lui confère une résilience face aux cycles économiques. Les avantages concurrentiels incluent un écosystème intégré, une base de clients fidèles et des investissements massifs en R&amp;D (25 Mds$ en 2025) pour l’IA générative. L'entreprise articule son activité autour de deux segments stratégiques :</a:t>
            </a:r>
          </a:p>
        </p:txBody>
      </p:sp>
      <p:sp>
        <p:nvSpPr>
          <p:cNvPr id="20" name="Rectangle 19"/>
          <p:cNvSpPr/>
          <p:nvPr/>
        </p:nvSpPr>
        <p:spPr>
          <a:xfrm>
            <a:off x="503999" y="2599200"/>
            <a:ext cx="64800" cy="64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9200" y="2556000"/>
            <a:ext cx="4338000" cy="165600"/>
          </a:xfrm>
          <a:prstGeom prst="rect">
            <a:avLst/>
          </a:prstGeom>
          <a:noFill/>
        </p:spPr>
        <p:txBody>
          <a:bodyPr wrap="square">
            <a:spAutoFit/>
          </a:bodyPr>
          <a:lstStyle/>
          <a:p>
            <a:pPr algn="l"/>
            <a:r>
              <a:rPr sz="850" b="1" i="0">
                <a:solidFill>
                  <a:srgbClr val="0D0D0D"/>
                </a:solidFill>
                <a:latin typeface="Calibri"/>
              </a:rPr>
              <a:t>Productivity and Business Processes</a:t>
            </a:r>
          </a:p>
        </p:txBody>
      </p:sp>
      <p:sp>
        <p:nvSpPr>
          <p:cNvPr id="22" name="TextBox 21"/>
          <p:cNvSpPr txBox="1"/>
          <p:nvPr/>
        </p:nvSpPr>
        <p:spPr>
          <a:xfrm>
            <a:off x="619200" y="2714400"/>
            <a:ext cx="4338000" cy="503999"/>
          </a:xfrm>
          <a:prstGeom prst="rect">
            <a:avLst/>
          </a:prstGeom>
          <a:noFill/>
        </p:spPr>
        <p:txBody>
          <a:bodyPr wrap="square">
            <a:spAutoFit/>
          </a:bodyPr>
          <a:lstStyle/>
          <a:p>
            <a:pPr algn="l"/>
            <a:r>
              <a:rPr sz="750" b="0" i="1">
                <a:solidFill>
                  <a:srgbClr val="555555"/>
                </a:solidFill>
                <a:latin typeface="Calibri"/>
              </a:rPr>
              <a:t>Segment phare générant 35% du CA via Office 365, LinkedIn et Dynamics 365. Modèle basé sur abonnements récurrents avec taux de rétention &gt;95%. Clients cibles : entreprises (80% du CA) et particuliers. Croissance portée par l’adoption du télétravail et l’intégration de l’IA dans les outils bureautiques.</a:t>
            </a:r>
          </a:p>
        </p:txBody>
      </p:sp>
      <p:sp>
        <p:nvSpPr>
          <p:cNvPr id="23" name="Rectangle 22"/>
          <p:cNvSpPr/>
          <p:nvPr/>
        </p:nvSpPr>
        <p:spPr>
          <a:xfrm>
            <a:off x="503999" y="3301199"/>
            <a:ext cx="64800" cy="64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9200" y="3257999"/>
            <a:ext cx="4338000" cy="165600"/>
          </a:xfrm>
          <a:prstGeom prst="rect">
            <a:avLst/>
          </a:prstGeom>
          <a:noFill/>
        </p:spPr>
        <p:txBody>
          <a:bodyPr wrap="square">
            <a:spAutoFit/>
          </a:bodyPr>
          <a:lstStyle/>
          <a:p>
            <a:pPr algn="l"/>
            <a:r>
              <a:rPr sz="850" b="1" i="0">
                <a:solidFill>
                  <a:srgbClr val="0D0D0D"/>
                </a:solidFill>
                <a:latin typeface="Calibri"/>
              </a:rPr>
              <a:t>Intelligent Cloud</a:t>
            </a:r>
          </a:p>
        </p:txBody>
      </p:sp>
      <p:sp>
        <p:nvSpPr>
          <p:cNvPr id="25" name="TextBox 24"/>
          <p:cNvSpPr txBox="1"/>
          <p:nvPr/>
        </p:nvSpPr>
        <p:spPr>
          <a:xfrm>
            <a:off x="619200" y="3416399"/>
            <a:ext cx="4338000" cy="503999"/>
          </a:xfrm>
          <a:prstGeom prst="rect">
            <a:avLst/>
          </a:prstGeom>
          <a:noFill/>
        </p:spPr>
        <p:txBody>
          <a:bodyPr wrap="square">
            <a:spAutoFit/>
          </a:bodyPr>
          <a:lstStyle/>
          <a:p>
            <a:pPr algn="l"/>
            <a:r>
              <a:rPr sz="750" b="0" i="1">
                <a:solidFill>
                  <a:srgbClr val="555555"/>
                </a:solidFill>
                <a:latin typeface="Calibri"/>
              </a:rPr>
              <a:t>Segment cloud leader avec Azure (40% du CA), générant 60% des marges brutes. Modèle pay-as-you-go avec forte récurrence (90% du CA). Clients cibles : entreprises Fortune 500 et startups. Croissance tirée par l’IA (Azure AI Services +300% YoY en 2025) et la migration vers le cloud hybride.</a:t>
            </a:r>
          </a:p>
        </p:txBody>
      </p:sp>
      <p:sp>
        <p:nvSpPr>
          <p:cNvPr id="26" name="Rectangle 25"/>
          <p:cNvSpPr/>
          <p:nvPr/>
        </p:nvSpPr>
        <p:spPr>
          <a:xfrm>
            <a:off x="5558400" y="961200"/>
            <a:ext cx="3200400" cy="824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58400" y="961200"/>
            <a:ext cx="46800" cy="82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48400" y="1015200"/>
            <a:ext cx="3063600" cy="396000"/>
          </a:xfrm>
          <a:prstGeom prst="rect">
            <a:avLst/>
          </a:prstGeom>
          <a:noFill/>
        </p:spPr>
        <p:txBody>
          <a:bodyPr wrap="square">
            <a:spAutoFit/>
          </a:bodyPr>
          <a:lstStyle/>
          <a:p>
            <a:pPr algn="l"/>
            <a:r>
              <a:rPr sz="1900" b="1" i="0">
                <a:solidFill>
                  <a:srgbClr val="FFFFFF"/>
                </a:solidFill>
                <a:latin typeface="Calibri"/>
              </a:rPr>
              <a:t>2 919,1 Mds$</a:t>
            </a:r>
          </a:p>
        </p:txBody>
      </p:sp>
      <p:sp>
        <p:nvSpPr>
          <p:cNvPr id="29" name="TextBox 28"/>
          <p:cNvSpPr txBox="1"/>
          <p:nvPr/>
        </p:nvSpPr>
        <p:spPr>
          <a:xfrm>
            <a:off x="5648400" y="1411200"/>
            <a:ext cx="3063600" cy="205199"/>
          </a:xfrm>
          <a:prstGeom prst="rect">
            <a:avLst/>
          </a:prstGeom>
          <a:noFill/>
        </p:spPr>
        <p:txBody>
          <a:bodyPr wrap="square">
            <a:spAutoFit/>
          </a:bodyPr>
          <a:lstStyle/>
          <a:p>
            <a:pPr algn="l"/>
            <a:r>
              <a:rPr sz="800" b="0" i="0">
                <a:solidFill>
                  <a:srgbClr val="FFFFFF"/>
                </a:solidFill>
                <a:latin typeface="Calibri"/>
              </a:rPr>
              <a:t>Capitalisation boursière</a:t>
            </a:r>
          </a:p>
        </p:txBody>
      </p:sp>
      <p:sp>
        <p:nvSpPr>
          <p:cNvPr id="30" name="Rectangle 29"/>
          <p:cNvSpPr/>
          <p:nvPr/>
        </p:nvSpPr>
        <p:spPr>
          <a:xfrm>
            <a:off x="5558400" y="18468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58400" y="18468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648400" y="1900800"/>
            <a:ext cx="3063600" cy="396000"/>
          </a:xfrm>
          <a:prstGeom prst="rect">
            <a:avLst/>
          </a:prstGeom>
          <a:noFill/>
        </p:spPr>
        <p:txBody>
          <a:bodyPr wrap="square">
            <a:spAutoFit/>
          </a:bodyPr>
          <a:lstStyle/>
          <a:p>
            <a:pPr algn="l"/>
            <a:r>
              <a:rPr sz="1900" b="1" i="0">
                <a:solidFill>
                  <a:srgbClr val="1B3A6B"/>
                </a:solidFill>
                <a:latin typeface="Calibri"/>
              </a:rPr>
              <a:t>281,7 Mds$</a:t>
            </a:r>
          </a:p>
        </p:txBody>
      </p:sp>
      <p:sp>
        <p:nvSpPr>
          <p:cNvPr id="33" name="TextBox 32"/>
          <p:cNvSpPr txBox="1"/>
          <p:nvPr/>
        </p:nvSpPr>
        <p:spPr>
          <a:xfrm>
            <a:off x="5648400" y="2296800"/>
            <a:ext cx="3063600" cy="205199"/>
          </a:xfrm>
          <a:prstGeom prst="rect">
            <a:avLst/>
          </a:prstGeom>
          <a:noFill/>
        </p:spPr>
        <p:txBody>
          <a:bodyPr wrap="square">
            <a:spAutoFit/>
          </a:bodyPr>
          <a:lstStyle/>
          <a:p>
            <a:pPr algn="l"/>
            <a:r>
              <a:rPr sz="800" b="0" i="0">
                <a:solidFill>
                  <a:srgbClr val="555555"/>
                </a:solidFill>
                <a:latin typeface="Calibri"/>
              </a:rPr>
              <a:t>Chiffre d'affaires (2025)</a:t>
            </a:r>
          </a:p>
        </p:txBody>
      </p:sp>
      <p:sp>
        <p:nvSpPr>
          <p:cNvPr id="34" name="Rectangle 33"/>
          <p:cNvSpPr/>
          <p:nvPr/>
        </p:nvSpPr>
        <p:spPr>
          <a:xfrm>
            <a:off x="5558400" y="27324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558400" y="27324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648400" y="2786400"/>
            <a:ext cx="3063600" cy="396000"/>
          </a:xfrm>
          <a:prstGeom prst="rect">
            <a:avLst/>
          </a:prstGeom>
          <a:noFill/>
        </p:spPr>
        <p:txBody>
          <a:bodyPr wrap="square">
            <a:spAutoFit/>
          </a:bodyPr>
          <a:lstStyle/>
          <a:p>
            <a:pPr algn="l"/>
            <a:r>
              <a:rPr sz="1900" b="1" i="0">
                <a:solidFill>
                  <a:srgbClr val="1B3A6B"/>
                </a:solidFill>
                <a:latin typeface="Calibri"/>
              </a:rPr>
              <a:t>393,11 $</a:t>
            </a:r>
          </a:p>
        </p:txBody>
      </p:sp>
      <p:sp>
        <p:nvSpPr>
          <p:cNvPr id="37" name="TextBox 36"/>
          <p:cNvSpPr txBox="1"/>
          <p:nvPr/>
        </p:nvSpPr>
        <p:spPr>
          <a:xfrm>
            <a:off x="5648400" y="3182400"/>
            <a:ext cx="3063600" cy="205199"/>
          </a:xfrm>
          <a:prstGeom prst="rect">
            <a:avLst/>
          </a:prstGeom>
          <a:noFill/>
        </p:spPr>
        <p:txBody>
          <a:bodyPr wrap="square">
            <a:spAutoFit/>
          </a:bodyPr>
          <a:lstStyle/>
          <a:p>
            <a:pPr algn="l"/>
            <a:r>
              <a:rPr sz="800" b="0" i="0">
                <a:solidFill>
                  <a:srgbClr val="555555"/>
                </a:solidFill>
                <a:latin typeface="Calibri"/>
              </a:rPr>
              <a:t>Cours actuel</a:t>
            </a:r>
          </a:p>
        </p:txBody>
      </p:sp>
      <p:sp>
        <p:nvSpPr>
          <p:cNvPr id="38" name="Rectangle 37"/>
          <p:cNvSpPr/>
          <p:nvPr/>
        </p:nvSpPr>
        <p:spPr>
          <a:xfrm>
            <a:off x="5558400" y="36216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558400" y="36216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648400" y="3675600"/>
            <a:ext cx="3063600" cy="396000"/>
          </a:xfrm>
          <a:prstGeom prst="rect">
            <a:avLst/>
          </a:prstGeom>
          <a:noFill/>
        </p:spPr>
        <p:txBody>
          <a:bodyPr wrap="square">
            <a:spAutoFit/>
          </a:bodyPr>
          <a:lstStyle/>
          <a:p>
            <a:pPr algn="l"/>
            <a:r>
              <a:rPr sz="1900" b="1" i="0">
                <a:solidFill>
                  <a:srgbClr val="1B3A6B"/>
                </a:solidFill>
                <a:latin typeface="Calibri"/>
              </a:rPr>
              <a:t>18,3x</a:t>
            </a:r>
          </a:p>
        </p:txBody>
      </p:sp>
      <p:sp>
        <p:nvSpPr>
          <p:cNvPr id="41" name="TextBox 40"/>
          <p:cNvSpPr txBox="1"/>
          <p:nvPr/>
        </p:nvSpPr>
        <p:spPr>
          <a:xfrm>
            <a:off x="5648400" y="4071600"/>
            <a:ext cx="3063600" cy="205199"/>
          </a:xfrm>
          <a:prstGeom prst="rect">
            <a:avLst/>
          </a:prstGeom>
          <a:noFill/>
        </p:spPr>
        <p:txBody>
          <a:bodyPr wrap="square">
            <a:spAutoFit/>
          </a:bodyPr>
          <a:lstStyle/>
          <a:p>
            <a:pPr algn="l"/>
            <a:r>
              <a:rPr sz="800" b="0" i="0">
                <a:solidFill>
                  <a:srgbClr val="555555"/>
                </a:solidFill>
                <a:latin typeface="Calibri"/>
              </a:rPr>
              <a:t>EV/EBITDA (LTM)</a:t>
            </a:r>
          </a:p>
        </p:txBody>
      </p:sp>
      <p:sp>
        <p:nvSpPr>
          <p:cNvPr id="42" name="TextBox 41"/>
          <p:cNvSpPr txBox="1"/>
          <p:nvPr/>
        </p:nvSpPr>
        <p:spPr>
          <a:xfrm>
            <a:off x="5648400" y="4269600"/>
            <a:ext cx="3063600" cy="165600"/>
          </a:xfrm>
          <a:prstGeom prst="rect">
            <a:avLst/>
          </a:prstGeom>
          <a:noFill/>
        </p:spPr>
        <p:txBody>
          <a:bodyPr wrap="square">
            <a:spAutoFit/>
          </a:bodyPr>
          <a:lstStyle/>
          <a:p>
            <a:pPr algn="l"/>
            <a:r>
              <a:rPr sz="700" b="0" i="0">
                <a:solidFill>
                  <a:srgbClr val="888888"/>
                </a:solidFill>
                <a:latin typeface="Calibri"/>
              </a:rPr>
              <a:t>P/E : 28,7x</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1B3A6B"/>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Modèle Économique</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Segments opérationnels et moteurs de croissance</a:t>
            </a:r>
          </a:p>
        </p:txBody>
      </p:sp>
      <p:sp>
        <p:nvSpPr>
          <p:cNvPr id="17" name="Rectangle 16"/>
          <p:cNvSpPr/>
          <p:nvPr/>
        </p:nvSpPr>
        <p:spPr>
          <a:xfrm>
            <a:off x="367200" y="961200"/>
            <a:ext cx="2731199" cy="3520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2731199" cy="5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141200"/>
            <a:ext cx="2551199" cy="640800"/>
          </a:xfrm>
          <a:prstGeom prst="rect">
            <a:avLst/>
          </a:prstGeom>
          <a:noFill/>
        </p:spPr>
        <p:txBody>
          <a:bodyPr wrap="square">
            <a:spAutoFit/>
          </a:bodyPr>
          <a:lstStyle/>
          <a:p>
            <a:pPr algn="l"/>
            <a:r>
              <a:rPr sz="2200" b="1" i="0">
                <a:solidFill>
                  <a:srgbClr val="2E5FA3"/>
                </a:solidFill>
                <a:latin typeface="Calibri"/>
              </a:rPr>
              <a:t>38%</a:t>
            </a:r>
          </a:p>
        </p:txBody>
      </p:sp>
      <p:sp>
        <p:nvSpPr>
          <p:cNvPr id="20" name="TextBox 19"/>
          <p:cNvSpPr txBox="1"/>
          <p:nvPr/>
        </p:nvSpPr>
        <p:spPr>
          <a:xfrm>
            <a:off x="457200" y="1785600"/>
            <a:ext cx="2551199" cy="108000"/>
          </a:xfrm>
          <a:prstGeom prst="rect">
            <a:avLst/>
          </a:prstGeom>
          <a:noFill/>
        </p:spPr>
        <p:txBody>
          <a:bodyPr wrap="square">
            <a:spAutoFit/>
          </a:bodyPr>
          <a:lstStyle/>
          <a:p>
            <a:pPr algn="l"/>
            <a:r>
              <a:rPr sz="900" b="0" i="0">
                <a:solidFill>
                  <a:srgbClr val="555555"/>
                </a:solidFill>
                <a:latin typeface="Calibri"/>
              </a:rPr>
              <a:t>du CA</a:t>
            </a:r>
          </a:p>
        </p:txBody>
      </p:sp>
      <p:sp>
        <p:nvSpPr>
          <p:cNvPr id="21" name="Rectangle 20"/>
          <p:cNvSpPr/>
          <p:nvPr/>
        </p:nvSpPr>
        <p:spPr>
          <a:xfrm>
            <a:off x="457200" y="1965600"/>
            <a:ext cx="2551199"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 y="2059200"/>
            <a:ext cx="2551199" cy="255600"/>
          </a:xfrm>
          <a:prstGeom prst="rect">
            <a:avLst/>
          </a:prstGeom>
          <a:noFill/>
        </p:spPr>
        <p:txBody>
          <a:bodyPr wrap="square">
            <a:spAutoFit/>
          </a:bodyPr>
          <a:lstStyle/>
          <a:p>
            <a:pPr algn="l"/>
            <a:r>
              <a:rPr sz="1000" b="1" i="0">
                <a:solidFill>
                  <a:srgbClr val="1B3A6B"/>
                </a:solidFill>
                <a:latin typeface="Calibri"/>
              </a:rPr>
              <a:t>Productivité &amp; Cloud (P&amp;C)</a:t>
            </a:r>
          </a:p>
        </p:txBody>
      </p:sp>
      <p:sp>
        <p:nvSpPr>
          <p:cNvPr id="23" name="TextBox 22"/>
          <p:cNvSpPr txBox="1"/>
          <p:nvPr/>
        </p:nvSpPr>
        <p:spPr>
          <a:xfrm>
            <a:off x="457200" y="2332800"/>
            <a:ext cx="2551199" cy="2041199"/>
          </a:xfrm>
          <a:prstGeom prst="rect">
            <a:avLst/>
          </a:prstGeom>
          <a:noFill/>
        </p:spPr>
        <p:txBody>
          <a:bodyPr wrap="square">
            <a:spAutoFit/>
          </a:bodyPr>
          <a:lstStyle/>
          <a:p>
            <a:pPr algn="l"/>
            <a:r>
              <a:rPr sz="800" b="0" i="0">
                <a:solidFill>
                  <a:srgbClr val="555555"/>
                </a:solidFill>
                <a:latin typeface="Calibri"/>
              </a:rPr>
              <a:t>Ce segment couvre les solutions logicielles et cloud destinées aux entreprises et aux particuliers, incluant Microsoft 365 (Office, Teams, Outlook), Dynamics 365 et Azure. Les marchés adressés sont les entreprises de toutes tailles, les institutions publiques et les consommateurs, avec une forte croissance dans les pays émergents et les secteurs réglementés (santé, éducation). Microsoft y domine grâce à son écosystème intégré, sa fidélisation client (abonnements récurrents) et son avantage concurrentiel via Azure, leader du cloud public avec une part de marché de ~23% (Synergy Research). Les drivers incluent la migration vers le cloud, l'adoption de l'IA intégrée (Copilot) et la demande en cybersécurité. Ce segment représente ~38% du CA, avec des catalyseurs à 12 mois comme la croissance d'Azure (+30% YoY), l'expansion de Copilot dans les entreprises et les contrats publics (ex : DoD américain). Les risques incluent la saturation du marché des entreprises (maturité de 365), la pression concurrentielle d'AWS et Google Cloud sur les marges Azure, et les régulations antitrust (ex : DMA en Europe).</a:t>
            </a:r>
          </a:p>
        </p:txBody>
      </p:sp>
      <p:sp>
        <p:nvSpPr>
          <p:cNvPr id="24" name="Rectangle 23"/>
          <p:cNvSpPr/>
          <p:nvPr/>
        </p:nvSpPr>
        <p:spPr>
          <a:xfrm>
            <a:off x="3206400" y="961200"/>
            <a:ext cx="2731199" cy="35208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206400" y="961200"/>
            <a:ext cx="2731199" cy="5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296400" y="1141200"/>
            <a:ext cx="2551199" cy="640800"/>
          </a:xfrm>
          <a:prstGeom prst="rect">
            <a:avLst/>
          </a:prstGeom>
          <a:noFill/>
        </p:spPr>
        <p:txBody>
          <a:bodyPr wrap="square">
            <a:spAutoFit/>
          </a:bodyPr>
          <a:lstStyle/>
          <a:p>
            <a:pPr algn="l"/>
            <a:r>
              <a:rPr sz="2200" b="1" i="0">
                <a:solidFill>
                  <a:srgbClr val="1A7A4A"/>
                </a:solidFill>
                <a:latin typeface="Calibri"/>
              </a:rPr>
              <a:t>42%</a:t>
            </a:r>
          </a:p>
        </p:txBody>
      </p:sp>
      <p:sp>
        <p:nvSpPr>
          <p:cNvPr id="27" name="TextBox 26"/>
          <p:cNvSpPr txBox="1"/>
          <p:nvPr/>
        </p:nvSpPr>
        <p:spPr>
          <a:xfrm>
            <a:off x="3296400" y="1785600"/>
            <a:ext cx="2551199" cy="108000"/>
          </a:xfrm>
          <a:prstGeom prst="rect">
            <a:avLst/>
          </a:prstGeom>
          <a:noFill/>
        </p:spPr>
        <p:txBody>
          <a:bodyPr wrap="square">
            <a:spAutoFit/>
          </a:bodyPr>
          <a:lstStyle/>
          <a:p>
            <a:pPr algn="l"/>
            <a:r>
              <a:rPr sz="900" b="0" i="0">
                <a:solidFill>
                  <a:srgbClr val="555555"/>
                </a:solidFill>
                <a:latin typeface="Calibri"/>
              </a:rPr>
              <a:t>du CA</a:t>
            </a:r>
          </a:p>
        </p:txBody>
      </p:sp>
      <p:sp>
        <p:nvSpPr>
          <p:cNvPr id="28" name="Rectangle 27"/>
          <p:cNvSpPr/>
          <p:nvPr/>
        </p:nvSpPr>
        <p:spPr>
          <a:xfrm>
            <a:off x="3296400" y="1965600"/>
            <a:ext cx="2551199"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96400" y="2059200"/>
            <a:ext cx="2551199" cy="255600"/>
          </a:xfrm>
          <a:prstGeom prst="rect">
            <a:avLst/>
          </a:prstGeom>
          <a:noFill/>
        </p:spPr>
        <p:txBody>
          <a:bodyPr wrap="square">
            <a:spAutoFit/>
          </a:bodyPr>
          <a:lstStyle/>
          <a:p>
            <a:pPr algn="l"/>
            <a:r>
              <a:rPr sz="1000" b="1" i="0">
                <a:solidFill>
                  <a:srgbClr val="1B3A6B"/>
                </a:solidFill>
                <a:latin typeface="Calibri"/>
              </a:rPr>
              <a:t>Intelligent Cloud (IC)</a:t>
            </a:r>
          </a:p>
        </p:txBody>
      </p:sp>
      <p:sp>
        <p:nvSpPr>
          <p:cNvPr id="30" name="TextBox 29"/>
          <p:cNvSpPr txBox="1"/>
          <p:nvPr/>
        </p:nvSpPr>
        <p:spPr>
          <a:xfrm>
            <a:off x="3296400" y="2332800"/>
            <a:ext cx="2551199" cy="2041199"/>
          </a:xfrm>
          <a:prstGeom prst="rect">
            <a:avLst/>
          </a:prstGeom>
          <a:noFill/>
        </p:spPr>
        <p:txBody>
          <a:bodyPr wrap="square">
            <a:spAutoFit/>
          </a:bodyPr>
          <a:lstStyle/>
          <a:p>
            <a:pPr algn="l"/>
            <a:r>
              <a:rPr sz="800" b="0" i="0">
                <a:solidFill>
                  <a:srgbClr val="555555"/>
                </a:solidFill>
                <a:latin typeface="Calibri"/>
              </a:rPr>
              <a:t>Ce segment regroupe les services cloud (Azure, SQL Server, Windows Server) et les solutions hybrides pour les entreprises, ciblant les grandes organisations et les fournisseurs de services cloud. Microsoft y est un acteur clé, avec Azure en forte croissance (+30% YoY), mais face à une concurrence agressive d'AWS (leader à ~31%) et Google Cloud. Les marchés adressés incluent les secteurs financiers, la santé et l'industrie, avec une demande accrue pour l'IA et le machine learning (Azure AI). Les drivers sont la transformation numérique, la réglementation (ex : RGPD) et la nécessité de réduire les coûts IT. Ce segment pèse ~42% du CA, avec des catalyseurs comme l'adoption d'Azure Arc (hybride), les partenariats avec NVIDIA pour l'IA générative, et les contrats gouvernementaux (ex : Azure Government). Les risques majeurs incluent la dépendance aux cycles économiques (CAPEX des entreprises), la guerre des prix sur le cloud, et les défis de scalabilité face à AWS. La marge d'exploitation reste élevée (~40%), mais sous pression.</a:t>
            </a:r>
          </a:p>
        </p:txBody>
      </p:sp>
      <p:sp>
        <p:nvSpPr>
          <p:cNvPr id="31" name="Rectangle 30"/>
          <p:cNvSpPr/>
          <p:nvPr/>
        </p:nvSpPr>
        <p:spPr>
          <a:xfrm>
            <a:off x="6045600" y="961200"/>
            <a:ext cx="2731199" cy="3520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045600" y="961200"/>
            <a:ext cx="2731199" cy="54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135600" y="1141200"/>
            <a:ext cx="2551199" cy="640800"/>
          </a:xfrm>
          <a:prstGeom prst="rect">
            <a:avLst/>
          </a:prstGeom>
          <a:noFill/>
        </p:spPr>
        <p:txBody>
          <a:bodyPr wrap="square">
            <a:spAutoFit/>
          </a:bodyPr>
          <a:lstStyle/>
          <a:p>
            <a:pPr algn="l"/>
            <a:r>
              <a:rPr sz="2200" b="1" i="0">
                <a:solidFill>
                  <a:srgbClr val="888888"/>
                </a:solidFill>
                <a:latin typeface="Calibri"/>
              </a:rPr>
              <a:t>20%</a:t>
            </a:r>
          </a:p>
        </p:txBody>
      </p:sp>
      <p:sp>
        <p:nvSpPr>
          <p:cNvPr id="34" name="TextBox 33"/>
          <p:cNvSpPr txBox="1"/>
          <p:nvPr/>
        </p:nvSpPr>
        <p:spPr>
          <a:xfrm>
            <a:off x="6135600" y="1785600"/>
            <a:ext cx="2551199" cy="108000"/>
          </a:xfrm>
          <a:prstGeom prst="rect">
            <a:avLst/>
          </a:prstGeom>
          <a:noFill/>
        </p:spPr>
        <p:txBody>
          <a:bodyPr wrap="square">
            <a:spAutoFit/>
          </a:bodyPr>
          <a:lstStyle/>
          <a:p>
            <a:pPr algn="l"/>
            <a:r>
              <a:rPr sz="900" b="0" i="0">
                <a:solidFill>
                  <a:srgbClr val="555555"/>
                </a:solidFill>
                <a:latin typeface="Calibri"/>
              </a:rPr>
              <a:t>du CA</a:t>
            </a:r>
          </a:p>
        </p:txBody>
      </p:sp>
      <p:sp>
        <p:nvSpPr>
          <p:cNvPr id="35" name="Rectangle 34"/>
          <p:cNvSpPr/>
          <p:nvPr/>
        </p:nvSpPr>
        <p:spPr>
          <a:xfrm>
            <a:off x="6135600" y="1965600"/>
            <a:ext cx="2551199"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135600" y="2059200"/>
            <a:ext cx="2551199" cy="255600"/>
          </a:xfrm>
          <a:prstGeom prst="rect">
            <a:avLst/>
          </a:prstGeom>
          <a:noFill/>
        </p:spPr>
        <p:txBody>
          <a:bodyPr wrap="square">
            <a:spAutoFit/>
          </a:bodyPr>
          <a:lstStyle/>
          <a:p>
            <a:pPr algn="l"/>
            <a:r>
              <a:rPr sz="1000" b="1" i="0">
                <a:solidFill>
                  <a:srgbClr val="1B3A6B"/>
                </a:solidFill>
                <a:latin typeface="Calibri"/>
              </a:rPr>
              <a:t>Autres (Xbox, LinkedIn, Publicité, etc.)</a:t>
            </a:r>
          </a:p>
        </p:txBody>
      </p:sp>
      <p:sp>
        <p:nvSpPr>
          <p:cNvPr id="37" name="TextBox 36"/>
          <p:cNvSpPr txBox="1"/>
          <p:nvPr/>
        </p:nvSpPr>
        <p:spPr>
          <a:xfrm>
            <a:off x="6135600" y="2332800"/>
            <a:ext cx="2551199" cy="2041199"/>
          </a:xfrm>
          <a:prstGeom prst="rect">
            <a:avLst/>
          </a:prstGeom>
          <a:noFill/>
        </p:spPr>
        <p:txBody>
          <a:bodyPr wrap="square">
            <a:spAutoFit/>
          </a:bodyPr>
          <a:lstStyle/>
          <a:p>
            <a:pPr algn="l"/>
            <a:r>
              <a:rPr sz="800" b="0" i="0">
                <a:solidFill>
                  <a:srgbClr val="555555"/>
                </a:solidFill>
                <a:latin typeface="Calibri"/>
              </a:rPr>
              <a:t>Ce segment diversifié inclut les activités moins matures ou cycliques : Xbox (jeux vidéo et hardware), LinkedIn (réseau professionnel), la publicité (LinkedIn Ads, Bing) et les solutions pour développeurs (GitHub, Visual Studio). Les marchés adressés sont les consommateurs (Xbox), les professionnels (LinkedIn) et les annonceurs. Microsoft y est positionné comme un challenger face à Sony (Xbox), Meta/Google (publicité) et Salesforce (LinkedIn). Les drivers incluent l'essor du gaming (cloud gaming, abonnements Xbox Game Pass), la monétisation de LinkedIn (abonnements et publicité) et l'expansion de Bing via l'IA (Copilot). Ce segment représente ~20% du CA, avec des catalyseurs comme le lancement de la Xbox Series X|S (2020), la croissance de LinkedIn (+20% YoY en revenus) et l'intégration de Copilot dans Bing. Les risques incluent la volatilité du marché du gaming (concurrence de Sony et Nintendo), la dépendance de LinkedIn aux cycles économiques, et la faible rentabilité de la publicité (marges &lt;10%). La marge globale de ce segment est inférieure à celle des autres (~25%).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02</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Analyse Financière</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Compte de résultat, bilan, liquidité &amp; ratios</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Analyse Financière — Compte de Résultat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USD millions  ·  2022–2027F</a:t>
            </a:r>
          </a:p>
        </p:txBody>
      </p:sp>
      <p:graphicFrame>
        <p:nvGraphicFramePr>
          <p:cNvPr id="17" name="Table 16"/>
          <p:cNvGraphicFramePr>
            <a:graphicFrameLocks noGrp="1"/>
          </p:cNvGraphicFramePr>
          <p:nvPr/>
        </p:nvGraphicFramePr>
        <p:xfrm>
          <a:off x="367200" y="914400"/>
          <a:ext cx="8413196" cy="1980000"/>
        </p:xfrm>
        <a:graphic>
          <a:graphicData uri="http://schemas.openxmlformats.org/drawingml/2006/table">
            <a:tbl>
              <a:tblPr firstRow="1" bandRow="1">
                <a:tableStyleId>{5C22544A-7EE6-4342-B048-85BDC9FD1C3A}</a:tableStyleId>
              </a:tblPr>
              <a:tblGrid>
                <a:gridCol w="2355696"/>
                <a:gridCol w="1211500"/>
                <a:gridCol w="1211500"/>
                <a:gridCol w="1211500"/>
                <a:gridCol w="1211500"/>
                <a:gridCol w="1211500"/>
              </a:tblGrid>
              <a:tr h="220000">
                <a:tc>
                  <a:txBody>
                    <a:bodyPr/>
                    <a:lstStyle/>
                    <a:p>
                      <a:pPr algn="l"/>
                      <a:r>
                        <a:rPr sz="800" b="1" i="0">
                          <a:solidFill>
                            <a:srgbClr val="FFFFFF"/>
                          </a:solidFill>
                          <a:latin typeface="Calibri"/>
                        </a:rPr>
                        <a:t>Indicateur</a:t>
                      </a:r>
                    </a:p>
                  </a:txBody>
                  <a:tcPr>
                    <a:solidFill>
                      <a:srgbClr val="1B3A6B"/>
                    </a:solidFill>
                  </a:tcPr>
                </a:tc>
                <a:tc>
                  <a:txBody>
                    <a:bodyPr/>
                    <a:lstStyle/>
                    <a:p>
                      <a:pPr algn="ctr"/>
                      <a:r>
                        <a:rPr sz="800" b="1" i="0">
                          <a:solidFill>
                            <a:srgbClr val="FFFFFF"/>
                          </a:solidFill>
                          <a:latin typeface="Calibri"/>
                        </a:rPr>
                        <a:t>2023</a:t>
                      </a:r>
                    </a:p>
                  </a:txBody>
                  <a:tcPr>
                    <a:solidFill>
                      <a:srgbClr val="1B3A6B"/>
                    </a:solidFill>
                  </a:tcPr>
                </a:tc>
                <a:tc>
                  <a:txBody>
                    <a:bodyPr/>
                    <a:lstStyle/>
                    <a:p>
                      <a:pPr algn="ctr"/>
                      <a:r>
                        <a:rPr sz="800" b="1" i="0">
                          <a:solidFill>
                            <a:srgbClr val="FFFFFF"/>
                          </a:solidFill>
                          <a:latin typeface="Calibri"/>
                        </a:rPr>
                        <a:t>2024</a:t>
                      </a:r>
                    </a:p>
                  </a:txBody>
                  <a:tcPr>
                    <a:solidFill>
                      <a:srgbClr val="1B3A6B"/>
                    </a:solidFill>
                  </a:tcPr>
                </a:tc>
                <a:tc>
                  <a:txBody>
                    <a:bodyPr/>
                    <a:lstStyle/>
                    <a:p>
                      <a:pPr algn="ctr"/>
                      <a:r>
                        <a:rPr sz="800" b="1" i="0">
                          <a:solidFill>
                            <a:srgbClr val="FFFFFF"/>
                          </a:solidFill>
                          <a:latin typeface="Calibri"/>
                        </a:rPr>
                        <a:t>2025</a:t>
                      </a:r>
                    </a:p>
                  </a:txBody>
                  <a:tcPr>
                    <a:solidFill>
                      <a:srgbClr val="1B3A6B"/>
                    </a:solidFill>
                  </a:tcPr>
                </a:tc>
                <a:tc>
                  <a:txBody>
                    <a:bodyPr/>
                    <a:lstStyle/>
                    <a:p>
                      <a:pPr algn="ctr"/>
                      <a:r>
                        <a:rPr sz="800" b="1" i="0">
                          <a:solidFill>
                            <a:srgbClr val="FFFFFF"/>
                          </a:solidFill>
                          <a:latin typeface="Calibri"/>
                        </a:rPr>
                        <a:t>2026F</a:t>
                      </a:r>
                    </a:p>
                  </a:txBody>
                  <a:tcPr>
                    <a:solidFill>
                      <a:srgbClr val="1B3A6B"/>
                    </a:solidFill>
                  </a:tcPr>
                </a:tc>
                <a:tc>
                  <a:txBody>
                    <a:bodyPr/>
                    <a:lstStyle/>
                    <a:p>
                      <a:pPr algn="ctr"/>
                      <a:r>
                        <a:rPr sz="800" b="1" i="0">
                          <a:solidFill>
                            <a:srgbClr val="FFFFFF"/>
                          </a:solidFill>
                          <a:latin typeface="Calibri"/>
                        </a:rPr>
                        <a:t>2027F</a:t>
                      </a:r>
                    </a:p>
                  </a:txBody>
                  <a:tcPr>
                    <a:solidFill>
                      <a:srgbClr val="1B3A6B"/>
                    </a:solidFill>
                  </a:tcPr>
                </a:tc>
              </a:tr>
              <a:tr h="220000">
                <a:tc>
                  <a:txBody>
                    <a:bodyPr/>
                    <a:lstStyle/>
                    <a:p>
                      <a:pPr algn="l"/>
                      <a:r>
                        <a:rPr sz="800" b="1" i="0">
                          <a:solidFill>
                            <a:srgbClr val="0D0D0D"/>
                          </a:solidFill>
                          <a:latin typeface="Calibri"/>
                        </a:rPr>
                        <a:t>Chiffre d'affaires</a:t>
                      </a:r>
                    </a:p>
                  </a:txBody>
                  <a:tcPr>
                    <a:solidFill>
                      <a:srgbClr val="FFFFFF"/>
                    </a:solidFill>
                  </a:tcPr>
                </a:tc>
                <a:tc>
                  <a:txBody>
                    <a:bodyPr/>
                    <a:lstStyle/>
                    <a:p>
                      <a:pPr algn="ctr"/>
                      <a:r>
                        <a:rPr sz="800" b="1" i="0">
                          <a:solidFill>
                            <a:srgbClr val="0D0D0D"/>
                          </a:solidFill>
                          <a:latin typeface="Calibri"/>
                        </a:rPr>
                        <a:t>211,9</a:t>
                      </a:r>
                    </a:p>
                  </a:txBody>
                  <a:tcPr>
                    <a:solidFill>
                      <a:srgbClr val="FFFFFF"/>
                    </a:solidFill>
                  </a:tcPr>
                </a:tc>
                <a:tc>
                  <a:txBody>
                    <a:bodyPr/>
                    <a:lstStyle/>
                    <a:p>
                      <a:pPr algn="ctr"/>
                      <a:r>
                        <a:rPr sz="800" b="1" i="0">
                          <a:solidFill>
                            <a:srgbClr val="0D0D0D"/>
                          </a:solidFill>
                          <a:latin typeface="Calibri"/>
                        </a:rPr>
                        <a:t>245,1</a:t>
                      </a:r>
                    </a:p>
                  </a:txBody>
                  <a:tcPr>
                    <a:solidFill>
                      <a:srgbClr val="FFFFFF"/>
                    </a:solidFill>
                  </a:tcPr>
                </a:tc>
                <a:tc>
                  <a:txBody>
                    <a:bodyPr/>
                    <a:lstStyle/>
                    <a:p>
                      <a:pPr algn="ctr"/>
                      <a:r>
                        <a:rPr sz="800" b="1" i="0">
                          <a:solidFill>
                            <a:srgbClr val="1B3A6B"/>
                          </a:solidFill>
                          <a:latin typeface="Calibri"/>
                        </a:rPr>
                        <a:t>281,7</a:t>
                      </a:r>
                    </a:p>
                  </a:txBody>
                  <a:tcPr>
                    <a:solidFill>
                      <a:srgbClr val="DDE8F5"/>
                    </a:solidFill>
                  </a:tcPr>
                </a:tc>
                <a:tc>
                  <a:txBody>
                    <a:bodyPr/>
                    <a:lstStyle/>
                    <a:p>
                      <a:pPr algn="ctr"/>
                      <a:r>
                        <a:rPr sz="800" b="1" i="0">
                          <a:solidFill>
                            <a:srgbClr val="0D0D0D"/>
                          </a:solidFill>
                          <a:latin typeface="Calibri"/>
                        </a:rPr>
                        <a:t>320,0</a:t>
                      </a:r>
                    </a:p>
                  </a:txBody>
                  <a:tcPr>
                    <a:solidFill>
                      <a:srgbClr val="FFFFFF"/>
                    </a:solidFill>
                  </a:tcPr>
                </a:tc>
                <a:tc>
                  <a:txBody>
                    <a:bodyPr/>
                    <a:lstStyle/>
                    <a:p>
                      <a:pPr algn="ctr"/>
                      <a:r>
                        <a:rPr sz="800" b="1" i="0">
                          <a:solidFill>
                            <a:srgbClr val="0D0D0D"/>
                          </a:solidFill>
                          <a:latin typeface="Calibri"/>
                        </a:rPr>
                        <a:t>365,0</a:t>
                      </a:r>
                    </a:p>
                  </a:txBody>
                  <a:tcPr>
                    <a:solidFill>
                      <a:srgbClr val="FFFFFF"/>
                    </a:solidFill>
                  </a:tcPr>
                </a:tc>
              </a:tr>
              <a:tr h="220000">
                <a:tc>
                  <a:txBody>
                    <a:bodyPr/>
                    <a:lstStyle/>
                    <a:p>
                      <a:pPr algn="l"/>
                      <a:r>
                        <a:rPr sz="750" b="0" i="1">
                          <a:solidFill>
                            <a:srgbClr val="333333"/>
                          </a:solidFill>
                          <a:latin typeface="Calibri"/>
                        </a:rPr>
                        <a:t>Croissance YoY</a:t>
                      </a:r>
                    </a:p>
                  </a:txBody>
                  <a:tcPr>
                    <a:solidFill>
                      <a:srgbClr val="F7F8FA"/>
                    </a:solidFill>
                  </a:tcPr>
                </a:tc>
                <a:tc>
                  <a:txBody>
                    <a:bodyPr/>
                    <a:lstStyle/>
                    <a:p>
                      <a:pPr algn="ctr"/>
                      <a:r>
                        <a:rPr sz="750" b="0" i="1">
                          <a:solidFill>
                            <a:srgbClr val="333333"/>
                          </a:solidFill>
                          <a:latin typeface="Calibri"/>
                        </a:rPr>
                        <a:t>+6,9 %</a:t>
                      </a:r>
                    </a:p>
                  </a:txBody>
                  <a:tcPr>
                    <a:solidFill>
                      <a:srgbClr val="F7F8FA"/>
                    </a:solidFill>
                  </a:tcPr>
                </a:tc>
                <a:tc>
                  <a:txBody>
                    <a:bodyPr/>
                    <a:lstStyle/>
                    <a:p>
                      <a:pPr algn="ctr"/>
                      <a:r>
                        <a:rPr sz="750" b="0" i="1">
                          <a:solidFill>
                            <a:srgbClr val="333333"/>
                          </a:solidFill>
                          <a:latin typeface="Calibri"/>
                        </a:rPr>
                        <a:t>+15,7 %</a:t>
                      </a:r>
                    </a:p>
                  </a:txBody>
                  <a:tcPr>
                    <a:solidFill>
                      <a:srgbClr val="F7F8FA"/>
                    </a:solidFill>
                  </a:tcPr>
                </a:tc>
                <a:tc>
                  <a:txBody>
                    <a:bodyPr/>
                    <a:lstStyle/>
                    <a:p>
                      <a:pPr algn="ctr"/>
                      <a:r>
                        <a:rPr sz="750" b="0" i="1">
                          <a:solidFill>
                            <a:srgbClr val="333333"/>
                          </a:solidFill>
                          <a:latin typeface="Calibri"/>
                        </a:rPr>
                        <a:t>+14,9 %</a:t>
                      </a:r>
                    </a:p>
                  </a:txBody>
                  <a:tcPr>
                    <a:solidFill>
                      <a:srgbClr val="DDE8F5"/>
                    </a:solidFill>
                  </a:tcPr>
                </a:tc>
                <a:tc>
                  <a:txBody>
                    <a:bodyPr/>
                    <a:lstStyle/>
                    <a:p>
                      <a:pPr algn="ctr"/>
                      <a:r>
                        <a:rPr sz="750" b="0" i="1">
                          <a:solidFill>
                            <a:srgbClr val="333333"/>
                          </a:solidFill>
                          <a:latin typeface="Calibri"/>
                        </a:rPr>
                        <a:t>+13,6 %</a:t>
                      </a:r>
                    </a:p>
                  </a:txBody>
                  <a:tcPr>
                    <a:solidFill>
                      <a:srgbClr val="F7F8FA"/>
                    </a:solidFill>
                  </a:tcPr>
                </a:tc>
                <a:tc>
                  <a:txBody>
                    <a:bodyPr/>
                    <a:lstStyle/>
                    <a:p>
                      <a:pPr algn="ctr"/>
                      <a:r>
                        <a:rPr sz="750" b="0" i="1">
                          <a:solidFill>
                            <a:srgbClr val="333333"/>
                          </a:solidFill>
                          <a:latin typeface="Calibri"/>
                        </a:rPr>
                        <a:t>+14,1 %</a:t>
                      </a:r>
                    </a:p>
                  </a:txBody>
                  <a:tcPr>
                    <a:solidFill>
                      <a:srgbClr val="F7F8FA"/>
                    </a:solidFill>
                  </a:tcPr>
                </a:tc>
              </a:tr>
              <a:tr h="220000">
                <a:tc>
                  <a:txBody>
                    <a:bodyPr/>
                    <a:lstStyle/>
                    <a:p>
                      <a:pPr algn="l"/>
                      <a:r>
                        <a:rPr sz="800" b="1" i="0">
                          <a:solidFill>
                            <a:srgbClr val="0D0D0D"/>
                          </a:solidFill>
                          <a:latin typeface="Calibri"/>
                        </a:rPr>
                        <a:t>Résultat brut</a:t>
                      </a:r>
                    </a:p>
                  </a:txBody>
                  <a:tcPr>
                    <a:solidFill>
                      <a:srgbClr val="FFFFFF"/>
                    </a:solidFill>
                  </a:tcPr>
                </a:tc>
                <a:tc>
                  <a:txBody>
                    <a:bodyPr/>
                    <a:lstStyle/>
                    <a:p>
                      <a:pPr algn="ctr"/>
                      <a:r>
                        <a:rPr sz="800" b="1" i="0">
                          <a:solidFill>
                            <a:srgbClr val="0D0D0D"/>
                          </a:solidFill>
                          <a:latin typeface="Calibri"/>
                        </a:rPr>
                        <a:t>146,1</a:t>
                      </a:r>
                    </a:p>
                  </a:txBody>
                  <a:tcPr>
                    <a:solidFill>
                      <a:srgbClr val="FFFFFF"/>
                    </a:solidFill>
                  </a:tcPr>
                </a:tc>
                <a:tc>
                  <a:txBody>
                    <a:bodyPr/>
                    <a:lstStyle/>
                    <a:p>
                      <a:pPr algn="ctr"/>
                      <a:r>
                        <a:rPr sz="800" b="1" i="0">
                          <a:solidFill>
                            <a:srgbClr val="0D0D0D"/>
                          </a:solidFill>
                          <a:latin typeface="Calibri"/>
                        </a:rPr>
                        <a:t>171,0</a:t>
                      </a:r>
                    </a:p>
                  </a:txBody>
                  <a:tcPr>
                    <a:solidFill>
                      <a:srgbClr val="FFFFFF"/>
                    </a:solidFill>
                  </a:tcPr>
                </a:tc>
                <a:tc>
                  <a:txBody>
                    <a:bodyPr/>
                    <a:lstStyle/>
                    <a:p>
                      <a:pPr algn="ctr"/>
                      <a:r>
                        <a:rPr sz="800" b="1" i="0">
                          <a:solidFill>
                            <a:srgbClr val="1B3A6B"/>
                          </a:solidFill>
                          <a:latin typeface="Calibri"/>
                        </a:rPr>
                        <a:t>193,9</a:t>
                      </a:r>
                    </a:p>
                  </a:txBody>
                  <a:tcPr>
                    <a:solidFill>
                      <a:srgbClr val="DDE8F5"/>
                    </a:solidFill>
                  </a:tcPr>
                </a:tc>
                <a:tc>
                  <a:txBody>
                    <a:bodyPr/>
                    <a:lstStyle/>
                    <a:p>
                      <a:pPr algn="ctr"/>
                      <a:r>
                        <a:rPr sz="800" b="1" i="0">
                          <a:solidFill>
                            <a:srgbClr val="0D0D0D"/>
                          </a:solidFill>
                          <a:latin typeface="Calibri"/>
                        </a:rPr>
                        <a:t>222,4</a:t>
                      </a:r>
                    </a:p>
                  </a:txBody>
                  <a:tcPr>
                    <a:solidFill>
                      <a:srgbClr val="FFFFFF"/>
                    </a:solidFill>
                  </a:tcPr>
                </a:tc>
                <a:tc>
                  <a:txBody>
                    <a:bodyPr/>
                    <a:lstStyle/>
                    <a:p>
                      <a:pPr algn="ctr"/>
                      <a:r>
                        <a:rPr sz="800" b="1" i="0">
                          <a:solidFill>
                            <a:srgbClr val="0D0D0D"/>
                          </a:solidFill>
                          <a:latin typeface="Calibri"/>
                        </a:rPr>
                        <a:t>256,2</a:t>
                      </a:r>
                    </a:p>
                  </a:txBody>
                  <a:tcPr>
                    <a:solidFill>
                      <a:srgbClr val="FFFFFF"/>
                    </a:solidFill>
                  </a:tcPr>
                </a:tc>
              </a:tr>
              <a:tr h="220000">
                <a:tc>
                  <a:txBody>
                    <a:bodyPr/>
                    <a:lstStyle/>
                    <a:p>
                      <a:pPr algn="l"/>
                      <a:r>
                        <a:rPr sz="750" b="0" i="1">
                          <a:solidFill>
                            <a:srgbClr val="333333"/>
                          </a:solidFill>
                          <a:latin typeface="Calibri"/>
                        </a:rPr>
                        <a:t>Marge brute</a:t>
                      </a:r>
                    </a:p>
                  </a:txBody>
                  <a:tcPr>
                    <a:solidFill>
                      <a:srgbClr val="F7F8FA"/>
                    </a:solidFill>
                  </a:tcPr>
                </a:tc>
                <a:tc>
                  <a:txBody>
                    <a:bodyPr/>
                    <a:lstStyle/>
                    <a:p>
                      <a:pPr algn="ctr"/>
                      <a:r>
                        <a:rPr sz="750" b="0" i="1">
                          <a:solidFill>
                            <a:srgbClr val="333333"/>
                          </a:solidFill>
                          <a:latin typeface="Calibri"/>
                        </a:rPr>
                        <a:t>68,9 %</a:t>
                      </a:r>
                    </a:p>
                  </a:txBody>
                  <a:tcPr>
                    <a:solidFill>
                      <a:srgbClr val="F7F8FA"/>
                    </a:solidFill>
                  </a:tcPr>
                </a:tc>
                <a:tc>
                  <a:txBody>
                    <a:bodyPr/>
                    <a:lstStyle/>
                    <a:p>
                      <a:pPr algn="ctr"/>
                      <a:r>
                        <a:rPr sz="750" b="0" i="1">
                          <a:solidFill>
                            <a:srgbClr val="333333"/>
                          </a:solidFill>
                          <a:latin typeface="Calibri"/>
                        </a:rPr>
                        <a:t>69,8 %</a:t>
                      </a:r>
                    </a:p>
                  </a:txBody>
                  <a:tcPr>
                    <a:solidFill>
                      <a:srgbClr val="F7F8FA"/>
                    </a:solidFill>
                  </a:tcPr>
                </a:tc>
                <a:tc>
                  <a:txBody>
                    <a:bodyPr/>
                    <a:lstStyle/>
                    <a:p>
                      <a:pPr algn="ctr"/>
                      <a:r>
                        <a:rPr sz="750" b="0" i="1">
                          <a:solidFill>
                            <a:srgbClr val="333333"/>
                          </a:solidFill>
                          <a:latin typeface="Calibri"/>
                        </a:rPr>
                        <a:t>68,8 %</a:t>
                      </a:r>
                    </a:p>
                  </a:txBody>
                  <a:tcPr>
                    <a:solidFill>
                      <a:srgbClr val="DDE8F5"/>
                    </a:solidFill>
                  </a:tcPr>
                </a:tc>
                <a:tc>
                  <a:txBody>
                    <a:bodyPr/>
                    <a:lstStyle/>
                    <a:p>
                      <a:pPr algn="ctr"/>
                      <a:r>
                        <a:rPr sz="750" b="0" i="1">
                          <a:solidFill>
                            <a:srgbClr val="333333"/>
                          </a:solidFill>
                          <a:latin typeface="Calibri"/>
                        </a:rPr>
                        <a:t>69,5 %</a:t>
                      </a:r>
                    </a:p>
                  </a:txBody>
                  <a:tcPr>
                    <a:solidFill>
                      <a:srgbClr val="F7F8FA"/>
                    </a:solidFill>
                  </a:tcPr>
                </a:tc>
                <a:tc>
                  <a:txBody>
                    <a:bodyPr/>
                    <a:lstStyle/>
                    <a:p>
                      <a:pPr algn="ctr"/>
                      <a:r>
                        <a:rPr sz="750" b="0" i="1">
                          <a:solidFill>
                            <a:srgbClr val="333333"/>
                          </a:solidFill>
                          <a:latin typeface="Calibri"/>
                        </a:rPr>
                        <a:t>70,2 %</a:t>
                      </a:r>
                    </a:p>
                  </a:txBody>
                  <a:tcPr>
                    <a:solidFill>
                      <a:srgbClr val="F7F8FA"/>
                    </a:solidFill>
                  </a:tcPr>
                </a:tc>
              </a:tr>
              <a:tr h="220000">
                <a:tc>
                  <a:txBody>
                    <a:bodyPr/>
                    <a:lstStyle/>
                    <a:p>
                      <a:pPr algn="l"/>
                      <a:r>
                        <a:rPr sz="800" b="1" i="0">
                          <a:solidFill>
                            <a:srgbClr val="0D0D0D"/>
                          </a:solidFill>
                          <a:latin typeface="Calibri"/>
                        </a:rPr>
                        <a:t>EBITDA</a:t>
                      </a:r>
                    </a:p>
                  </a:txBody>
                  <a:tcPr>
                    <a:solidFill>
                      <a:srgbClr val="FFFFFF"/>
                    </a:solidFill>
                  </a:tcPr>
                </a:tc>
                <a:tc>
                  <a:txBody>
                    <a:bodyPr/>
                    <a:lstStyle/>
                    <a:p>
                      <a:pPr algn="ctr"/>
                      <a:r>
                        <a:rPr sz="800" b="1" i="0">
                          <a:solidFill>
                            <a:srgbClr val="0D0D0D"/>
                          </a:solidFill>
                          <a:latin typeface="Calibri"/>
                        </a:rPr>
                        <a:t>105,1</a:t>
                      </a:r>
                    </a:p>
                  </a:txBody>
                  <a:tcPr>
                    <a:solidFill>
                      <a:srgbClr val="FFFFFF"/>
                    </a:solidFill>
                  </a:tcPr>
                </a:tc>
                <a:tc>
                  <a:txBody>
                    <a:bodyPr/>
                    <a:lstStyle/>
                    <a:p>
                      <a:pPr algn="ctr"/>
                      <a:r>
                        <a:rPr sz="800" b="1" i="0">
                          <a:solidFill>
                            <a:srgbClr val="0D0D0D"/>
                          </a:solidFill>
                          <a:latin typeface="Calibri"/>
                        </a:rPr>
                        <a:t>133,0</a:t>
                      </a:r>
                    </a:p>
                  </a:txBody>
                  <a:tcPr>
                    <a:solidFill>
                      <a:srgbClr val="FFFFFF"/>
                    </a:solidFill>
                  </a:tcPr>
                </a:tc>
                <a:tc>
                  <a:txBody>
                    <a:bodyPr/>
                    <a:lstStyle/>
                    <a:p>
                      <a:pPr algn="ctr"/>
                      <a:r>
                        <a:rPr sz="800" b="1" i="0">
                          <a:solidFill>
                            <a:srgbClr val="1B3A6B"/>
                          </a:solidFill>
                          <a:latin typeface="Calibri"/>
                        </a:rPr>
                        <a:t>160,2</a:t>
                      </a:r>
                    </a:p>
                  </a:txBody>
                  <a:tcPr>
                    <a:solidFill>
                      <a:srgbClr val="DDE8F5"/>
                    </a:solidFill>
                  </a:tcPr>
                </a:tc>
                <a:tc>
                  <a:txBody>
                    <a:bodyPr/>
                    <a:lstStyle/>
                    <a:p>
                      <a:pPr algn="ctr"/>
                      <a:r>
                        <a:rPr sz="800" b="1" i="0">
                          <a:solidFill>
                            <a:srgbClr val="0D0D0D"/>
                          </a:solidFill>
                          <a:latin typeface="Calibri"/>
                        </a:rPr>
                        <a:t>190,4</a:t>
                      </a:r>
                    </a:p>
                  </a:txBody>
                  <a:tcPr>
                    <a:solidFill>
                      <a:srgbClr val="FFFFFF"/>
                    </a:solidFill>
                  </a:tcPr>
                </a:tc>
                <a:tc>
                  <a:txBody>
                    <a:bodyPr/>
                    <a:lstStyle/>
                    <a:p>
                      <a:pPr algn="ctr"/>
                      <a:r>
                        <a:rPr sz="800" b="1" i="0">
                          <a:solidFill>
                            <a:srgbClr val="0D0D0D"/>
                          </a:solidFill>
                          <a:latin typeface="Calibri"/>
                        </a:rPr>
                        <a:t>223,2</a:t>
                      </a:r>
                    </a:p>
                  </a:txBody>
                  <a:tcPr>
                    <a:solidFill>
                      <a:srgbClr val="FFFFFF"/>
                    </a:solidFill>
                  </a:tcPr>
                </a:tc>
              </a:tr>
              <a:tr h="220000">
                <a:tc>
                  <a:txBody>
                    <a:bodyPr/>
                    <a:lstStyle/>
                    <a:p>
                      <a:pPr algn="l"/>
                      <a:r>
                        <a:rPr sz="750" b="0" i="1">
                          <a:solidFill>
                            <a:srgbClr val="333333"/>
                          </a:solidFill>
                          <a:latin typeface="Calibri"/>
                        </a:rPr>
                        <a:t>Marge EBITDA</a:t>
                      </a:r>
                    </a:p>
                  </a:txBody>
                  <a:tcPr>
                    <a:solidFill>
                      <a:srgbClr val="F7F8FA"/>
                    </a:solidFill>
                  </a:tcPr>
                </a:tc>
                <a:tc>
                  <a:txBody>
                    <a:bodyPr/>
                    <a:lstStyle/>
                    <a:p>
                      <a:pPr algn="ctr"/>
                      <a:r>
                        <a:rPr sz="750" b="0" i="1">
                          <a:solidFill>
                            <a:srgbClr val="333333"/>
                          </a:solidFill>
                          <a:latin typeface="Calibri"/>
                        </a:rPr>
                        <a:t>49,6 %</a:t>
                      </a:r>
                    </a:p>
                  </a:txBody>
                  <a:tcPr>
                    <a:solidFill>
                      <a:srgbClr val="F7F8FA"/>
                    </a:solidFill>
                  </a:tcPr>
                </a:tc>
                <a:tc>
                  <a:txBody>
                    <a:bodyPr/>
                    <a:lstStyle/>
                    <a:p>
                      <a:pPr algn="ctr"/>
                      <a:r>
                        <a:rPr sz="750" b="0" i="1">
                          <a:solidFill>
                            <a:srgbClr val="333333"/>
                          </a:solidFill>
                          <a:latin typeface="Calibri"/>
                        </a:rPr>
                        <a:t>54,3 %</a:t>
                      </a:r>
                    </a:p>
                  </a:txBody>
                  <a:tcPr>
                    <a:solidFill>
                      <a:srgbClr val="F7F8FA"/>
                    </a:solidFill>
                  </a:tcPr>
                </a:tc>
                <a:tc>
                  <a:txBody>
                    <a:bodyPr/>
                    <a:lstStyle/>
                    <a:p>
                      <a:pPr algn="ctr"/>
                      <a:r>
                        <a:rPr sz="750" b="0" i="1">
                          <a:solidFill>
                            <a:srgbClr val="333333"/>
                          </a:solidFill>
                          <a:latin typeface="Calibri"/>
                        </a:rPr>
                        <a:t>56,9 %</a:t>
                      </a:r>
                    </a:p>
                  </a:txBody>
                  <a:tcPr>
                    <a:solidFill>
                      <a:srgbClr val="DDE8F5"/>
                    </a:solidFill>
                  </a:tcPr>
                </a:tc>
                <a:tc>
                  <a:txBody>
                    <a:bodyPr/>
                    <a:lstStyle/>
                    <a:p>
                      <a:pPr algn="ctr"/>
                      <a:r>
                        <a:rPr sz="750" b="0" i="1">
                          <a:solidFill>
                            <a:srgbClr val="333333"/>
                          </a:solidFill>
                          <a:latin typeface="Calibri"/>
                        </a:rPr>
                        <a:t>59,5 %</a:t>
                      </a:r>
                    </a:p>
                  </a:txBody>
                  <a:tcPr>
                    <a:solidFill>
                      <a:srgbClr val="F7F8FA"/>
                    </a:solidFill>
                  </a:tcPr>
                </a:tc>
                <a:tc>
                  <a:txBody>
                    <a:bodyPr/>
                    <a:lstStyle/>
                    <a:p>
                      <a:pPr algn="ctr"/>
                      <a:r>
                        <a:rPr sz="750" b="0" i="1">
                          <a:solidFill>
                            <a:srgbClr val="333333"/>
                          </a:solidFill>
                          <a:latin typeface="Calibri"/>
                        </a:rPr>
                        <a:t>61,2 %</a:t>
                      </a:r>
                    </a:p>
                  </a:txBody>
                  <a:tcPr>
                    <a:solidFill>
                      <a:srgbClr val="F7F8FA"/>
                    </a:solidFill>
                  </a:tcPr>
                </a:tc>
              </a:tr>
              <a:tr h="220000">
                <a:tc>
                  <a:txBody>
                    <a:bodyPr/>
                    <a:lstStyle/>
                    <a:p>
                      <a:pPr algn="l"/>
                      <a:r>
                        <a:rPr sz="800" b="1" i="0">
                          <a:solidFill>
                            <a:srgbClr val="0D0D0D"/>
                          </a:solidFill>
                          <a:latin typeface="Calibri"/>
                        </a:rPr>
                        <a:t>Résultat net</a:t>
                      </a:r>
                    </a:p>
                  </a:txBody>
                  <a:tcPr>
                    <a:solidFill>
                      <a:srgbClr val="FFFFFF"/>
                    </a:solidFill>
                  </a:tcPr>
                </a:tc>
                <a:tc>
                  <a:txBody>
                    <a:bodyPr/>
                    <a:lstStyle/>
                    <a:p>
                      <a:pPr algn="ctr"/>
                      <a:r>
                        <a:rPr sz="800" b="1" i="0">
                          <a:solidFill>
                            <a:srgbClr val="0D0D0D"/>
                          </a:solidFill>
                          <a:latin typeface="Calibri"/>
                        </a:rPr>
                        <a:t>72,4</a:t>
                      </a:r>
                    </a:p>
                  </a:txBody>
                  <a:tcPr>
                    <a:solidFill>
                      <a:srgbClr val="FFFFFF"/>
                    </a:solidFill>
                  </a:tcPr>
                </a:tc>
                <a:tc>
                  <a:txBody>
                    <a:bodyPr/>
                    <a:lstStyle/>
                    <a:p>
                      <a:pPr algn="ctr"/>
                      <a:r>
                        <a:rPr sz="800" b="1" i="0">
                          <a:solidFill>
                            <a:srgbClr val="0D0D0D"/>
                          </a:solidFill>
                          <a:latin typeface="Calibri"/>
                        </a:rPr>
                        <a:t>88,1</a:t>
                      </a:r>
                    </a:p>
                  </a:txBody>
                  <a:tcPr>
                    <a:solidFill>
                      <a:srgbClr val="FFFFFF"/>
                    </a:solidFill>
                  </a:tcPr>
                </a:tc>
                <a:tc>
                  <a:txBody>
                    <a:bodyPr/>
                    <a:lstStyle/>
                    <a:p>
                      <a:pPr algn="ctr"/>
                      <a:r>
                        <a:rPr sz="800" b="1" i="0">
                          <a:solidFill>
                            <a:srgbClr val="1B3A6B"/>
                          </a:solidFill>
                          <a:latin typeface="Calibri"/>
                        </a:rPr>
                        <a:t>101,8</a:t>
                      </a:r>
                    </a:p>
                  </a:txBody>
                  <a:tcPr>
                    <a:solidFill>
                      <a:srgbClr val="DDE8F5"/>
                    </a:solidFill>
                  </a:tcPr>
                </a:tc>
                <a:tc>
                  <a:txBody>
                    <a:bodyPr/>
                    <a:lstStyle/>
                    <a:p>
                      <a:pPr algn="ctr"/>
                      <a:r>
                        <a:rPr sz="800" b="1" i="0">
                          <a:solidFill>
                            <a:srgbClr val="0D0D0D"/>
                          </a:solidFill>
                          <a:latin typeface="Calibri"/>
                        </a:rPr>
                        <a:t>115,2</a:t>
                      </a:r>
                    </a:p>
                  </a:txBody>
                  <a:tcPr>
                    <a:solidFill>
                      <a:srgbClr val="FFFFFF"/>
                    </a:solidFill>
                  </a:tcPr>
                </a:tc>
                <a:tc>
                  <a:txBody>
                    <a:bodyPr/>
                    <a:lstStyle/>
                    <a:p>
                      <a:pPr algn="ctr"/>
                      <a:r>
                        <a:rPr sz="800" b="1" i="0">
                          <a:solidFill>
                            <a:srgbClr val="0D0D0D"/>
                          </a:solidFill>
                          <a:latin typeface="Calibri"/>
                        </a:rPr>
                        <a:t>134,8</a:t>
                      </a:r>
                    </a:p>
                  </a:txBody>
                  <a:tcPr>
                    <a:solidFill>
                      <a:srgbClr val="FFFFFF"/>
                    </a:solidFill>
                  </a:tcPr>
                </a:tc>
              </a:tr>
              <a:tr h="220000">
                <a:tc>
                  <a:txBody>
                    <a:bodyPr/>
                    <a:lstStyle/>
                    <a:p>
                      <a:pPr algn="l"/>
                      <a:r>
                        <a:rPr sz="750" b="0" i="1">
                          <a:solidFill>
                            <a:srgbClr val="333333"/>
                          </a:solidFill>
                          <a:latin typeface="Calibri"/>
                        </a:rPr>
                        <a:t>Marge nette</a:t>
                      </a:r>
                    </a:p>
                  </a:txBody>
                  <a:tcPr>
                    <a:solidFill>
                      <a:srgbClr val="F7F8FA"/>
                    </a:solidFill>
                  </a:tcPr>
                </a:tc>
                <a:tc>
                  <a:txBody>
                    <a:bodyPr/>
                    <a:lstStyle/>
                    <a:p>
                      <a:pPr algn="ctr"/>
                      <a:r>
                        <a:rPr sz="750" b="0" i="1">
                          <a:solidFill>
                            <a:srgbClr val="333333"/>
                          </a:solidFill>
                          <a:latin typeface="Calibri"/>
                        </a:rPr>
                        <a:t>34,2 %</a:t>
                      </a:r>
                    </a:p>
                  </a:txBody>
                  <a:tcPr>
                    <a:solidFill>
                      <a:srgbClr val="F7F8FA"/>
                    </a:solidFill>
                  </a:tcPr>
                </a:tc>
                <a:tc>
                  <a:txBody>
                    <a:bodyPr/>
                    <a:lstStyle/>
                    <a:p>
                      <a:pPr algn="ctr"/>
                      <a:r>
                        <a:rPr sz="750" b="0" i="1">
                          <a:solidFill>
                            <a:srgbClr val="333333"/>
                          </a:solidFill>
                          <a:latin typeface="Calibri"/>
                        </a:rPr>
                        <a:t>36,0 %</a:t>
                      </a:r>
                    </a:p>
                  </a:txBody>
                  <a:tcPr>
                    <a:solidFill>
                      <a:srgbClr val="F7F8FA"/>
                    </a:solidFill>
                  </a:tcPr>
                </a:tc>
                <a:tc>
                  <a:txBody>
                    <a:bodyPr/>
                    <a:lstStyle/>
                    <a:p>
                      <a:pPr algn="ctr"/>
                      <a:r>
                        <a:rPr sz="750" b="0" i="1">
                          <a:solidFill>
                            <a:srgbClr val="333333"/>
                          </a:solidFill>
                          <a:latin typeface="Calibri"/>
                        </a:rPr>
                        <a:t>36,1 %</a:t>
                      </a:r>
                    </a:p>
                  </a:txBody>
                  <a:tcPr>
                    <a:solidFill>
                      <a:srgbClr val="DDE8F5"/>
                    </a:solidFill>
                  </a:tcPr>
                </a:tc>
                <a:tc>
                  <a:txBody>
                    <a:bodyPr/>
                    <a:lstStyle/>
                    <a:p>
                      <a:pPr algn="ctr"/>
                      <a:r>
                        <a:rPr sz="750" b="0" i="1">
                          <a:solidFill>
                            <a:srgbClr val="333333"/>
                          </a:solidFill>
                          <a:latin typeface="Calibri"/>
                        </a:rPr>
                        <a:t>36,0 %</a:t>
                      </a:r>
                    </a:p>
                  </a:txBody>
                  <a:tcPr>
                    <a:solidFill>
                      <a:srgbClr val="F7F8FA"/>
                    </a:solidFill>
                  </a:tcPr>
                </a:tc>
                <a:tc>
                  <a:txBody>
                    <a:bodyPr/>
                    <a:lstStyle/>
                    <a:p>
                      <a:pPr algn="ctr"/>
                      <a:r>
                        <a:rPr sz="750" b="0" i="1">
                          <a:solidFill>
                            <a:srgbClr val="333333"/>
                          </a:solidFill>
                          <a:latin typeface="Calibri"/>
                        </a:rPr>
                        <a:t>36,9 %</a:t>
                      </a:r>
                    </a:p>
                  </a:txBody>
                  <a:tcPr>
                    <a:solidFill>
                      <a:srgbClr val="F7F8FA"/>
                    </a:solidFill>
                  </a:tcPr>
                </a:tc>
              </a:tr>
            </a:tbl>
          </a:graphicData>
        </a:graphic>
      </p:graphicFrame>
      <p:sp>
        <p:nvSpPr>
          <p:cNvPr id="18" name="Rectangle 17"/>
          <p:cNvSpPr/>
          <p:nvPr/>
        </p:nvSpPr>
        <p:spPr>
          <a:xfrm>
            <a:off x="367200" y="3218400"/>
            <a:ext cx="8413200" cy="122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67200" y="3218400"/>
            <a:ext cx="79200" cy="122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75200" y="3247200"/>
            <a:ext cx="8298000" cy="151200"/>
          </a:xfrm>
          <a:prstGeom prst="rect">
            <a:avLst/>
          </a:prstGeom>
          <a:noFill/>
        </p:spPr>
        <p:txBody>
          <a:bodyPr wrap="none">
            <a:spAutoFit/>
          </a:bodyPr>
          <a:lstStyle/>
          <a:p>
            <a:pPr algn="l"/>
            <a:r>
              <a:rPr sz="950" b="1" i="0">
                <a:solidFill>
                  <a:srgbClr val="1B3A6B"/>
                </a:solidFill>
                <a:latin typeface="Calibri"/>
              </a:rPr>
              <a:t>MSFT combine forte croissance (+14.9%) et marges premium (56.9%)</a:t>
            </a:r>
          </a:p>
        </p:txBody>
      </p:sp>
      <p:sp>
        <p:nvSpPr>
          <p:cNvPr id="21" name="TextBox 20"/>
          <p:cNvSpPr txBox="1"/>
          <p:nvPr/>
        </p:nvSpPr>
        <p:spPr>
          <a:xfrm>
            <a:off x="475200" y="3416400"/>
            <a:ext cx="8298000" cy="1000799"/>
          </a:xfrm>
          <a:prstGeom prst="rect">
            <a:avLst/>
          </a:prstGeom>
          <a:noFill/>
        </p:spPr>
        <p:txBody>
          <a:bodyPr wrap="square">
            <a:spAutoFit/>
          </a:bodyPr>
          <a:lstStyle/>
          <a:p>
            <a:pPr algn="l"/>
            <a:r>
              <a:rPr sz="850" b="0" i="0">
                <a:solidFill>
                  <a:srgbClr val="555555"/>
                </a:solidFill>
                <a:latin typeface="Calibri"/>
              </a:rPr>
              <a:t>Le CA 2025 atteint 281.7 Mds$ (+14.9% YoY), avec un levier opérationnel de +230 bps sur la marge brute (de 68.4% à 68.8%) grâce au mix logiciel haute marge et aux économies d’échelle. Le ND/EBITDA à 0.1x et un FCF potentiel de 83 Mds$ (2025) permettent un rachat d’actions de 40 Mds$ et des dividendes en hausse de 10%.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Bilan &amp; Liquidité</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Structure financière  ·  USD millions  ·  LTM 2025</a:t>
            </a:r>
          </a:p>
        </p:txBody>
      </p:sp>
      <p:sp>
        <p:nvSpPr>
          <p:cNvPr id="17" name="Rectangle 16"/>
          <p:cNvSpPr/>
          <p:nvPr/>
        </p:nvSpPr>
        <p:spPr>
          <a:xfrm>
            <a:off x="367200" y="961200"/>
            <a:ext cx="2653200" cy="7200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720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2516400" cy="396000"/>
          </a:xfrm>
          <a:prstGeom prst="rect">
            <a:avLst/>
          </a:prstGeom>
          <a:noFill/>
        </p:spPr>
        <p:txBody>
          <a:bodyPr wrap="square">
            <a:spAutoFit/>
          </a:bodyPr>
          <a:lstStyle/>
          <a:p>
            <a:pPr algn="l"/>
            <a:r>
              <a:rPr sz="1900" b="1" i="0">
                <a:solidFill>
                  <a:srgbClr val="1B3A6B"/>
                </a:solidFill>
                <a:latin typeface="Calibri"/>
              </a:rPr>
              <a:t>30,2 Mds$</a:t>
            </a:r>
          </a:p>
        </p:txBody>
      </p:sp>
      <p:sp>
        <p:nvSpPr>
          <p:cNvPr id="20" name="TextBox 19"/>
          <p:cNvSpPr txBox="1"/>
          <p:nvPr/>
        </p:nvSpPr>
        <p:spPr>
          <a:xfrm>
            <a:off x="457200" y="1411200"/>
            <a:ext cx="2516400" cy="205199"/>
          </a:xfrm>
          <a:prstGeom prst="rect">
            <a:avLst/>
          </a:prstGeom>
          <a:noFill/>
        </p:spPr>
        <p:txBody>
          <a:bodyPr wrap="square">
            <a:spAutoFit/>
          </a:bodyPr>
          <a:lstStyle/>
          <a:p>
            <a:pPr algn="l"/>
            <a:r>
              <a:rPr sz="800" b="0" i="0">
                <a:solidFill>
                  <a:srgbClr val="555555"/>
                </a:solidFill>
                <a:latin typeface="Calibri"/>
              </a:rPr>
              <a:t>Cash &amp; équivalents</a:t>
            </a:r>
          </a:p>
        </p:txBody>
      </p:sp>
      <p:sp>
        <p:nvSpPr>
          <p:cNvPr id="21" name="Rectangle 20"/>
          <p:cNvSpPr/>
          <p:nvPr/>
        </p:nvSpPr>
        <p:spPr>
          <a:xfrm>
            <a:off x="367200" y="1800000"/>
            <a:ext cx="2653200" cy="7200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67200" y="1800000"/>
            <a:ext cx="46800" cy="720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1854000"/>
            <a:ext cx="2516400" cy="396000"/>
          </a:xfrm>
          <a:prstGeom prst="rect">
            <a:avLst/>
          </a:prstGeom>
          <a:noFill/>
        </p:spPr>
        <p:txBody>
          <a:bodyPr wrap="square">
            <a:spAutoFit/>
          </a:bodyPr>
          <a:lstStyle/>
          <a:p>
            <a:pPr algn="l"/>
            <a:r>
              <a:rPr sz="1900" b="1" i="0">
                <a:solidFill>
                  <a:srgbClr val="1B3A6B"/>
                </a:solidFill>
                <a:latin typeface="Calibri"/>
              </a:rPr>
              <a:t>40,2 Mds$</a:t>
            </a:r>
          </a:p>
        </p:txBody>
      </p:sp>
      <p:sp>
        <p:nvSpPr>
          <p:cNvPr id="24" name="TextBox 23"/>
          <p:cNvSpPr txBox="1"/>
          <p:nvPr/>
        </p:nvSpPr>
        <p:spPr>
          <a:xfrm>
            <a:off x="457200" y="2250000"/>
            <a:ext cx="2516400" cy="205199"/>
          </a:xfrm>
          <a:prstGeom prst="rect">
            <a:avLst/>
          </a:prstGeom>
          <a:noFill/>
        </p:spPr>
        <p:txBody>
          <a:bodyPr wrap="square">
            <a:spAutoFit/>
          </a:bodyPr>
          <a:lstStyle/>
          <a:p>
            <a:pPr algn="l"/>
            <a:r>
              <a:rPr sz="800" b="0" i="0">
                <a:solidFill>
                  <a:srgbClr val="555555"/>
                </a:solidFill>
                <a:latin typeface="Calibri"/>
              </a:rPr>
              <a:t>Dette long terme</a:t>
            </a:r>
          </a:p>
        </p:txBody>
      </p:sp>
      <p:sp>
        <p:nvSpPr>
          <p:cNvPr id="25" name="Rectangle 24"/>
          <p:cNvSpPr/>
          <p:nvPr/>
        </p:nvSpPr>
        <p:spPr>
          <a:xfrm>
            <a:off x="367200" y="2638800"/>
            <a:ext cx="2653200" cy="72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7200" y="2638800"/>
            <a:ext cx="46800" cy="720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 y="2692800"/>
            <a:ext cx="2516400" cy="396000"/>
          </a:xfrm>
          <a:prstGeom prst="rect">
            <a:avLst/>
          </a:prstGeom>
          <a:noFill/>
        </p:spPr>
        <p:txBody>
          <a:bodyPr wrap="square">
            <a:spAutoFit/>
          </a:bodyPr>
          <a:lstStyle/>
          <a:p>
            <a:pPr algn="l"/>
            <a:r>
              <a:rPr sz="1900" b="1" i="0">
                <a:solidFill>
                  <a:srgbClr val="FFFFFF"/>
                </a:solidFill>
                <a:latin typeface="Calibri"/>
              </a:rPr>
              <a:t>12,9 Mds$</a:t>
            </a:r>
          </a:p>
        </p:txBody>
      </p:sp>
      <p:sp>
        <p:nvSpPr>
          <p:cNvPr id="28" name="TextBox 27"/>
          <p:cNvSpPr txBox="1"/>
          <p:nvPr/>
        </p:nvSpPr>
        <p:spPr>
          <a:xfrm>
            <a:off x="457200" y="3088800"/>
            <a:ext cx="2516400" cy="205199"/>
          </a:xfrm>
          <a:prstGeom prst="rect">
            <a:avLst/>
          </a:prstGeom>
          <a:noFill/>
        </p:spPr>
        <p:txBody>
          <a:bodyPr wrap="square">
            <a:spAutoFit/>
          </a:bodyPr>
          <a:lstStyle/>
          <a:p>
            <a:pPr algn="l"/>
            <a:r>
              <a:rPr sz="800" b="0" i="0">
                <a:solidFill>
                  <a:srgbClr val="FFFFFF"/>
                </a:solidFill>
                <a:latin typeface="Calibri"/>
              </a:rPr>
              <a:t>Dette nette</a:t>
            </a:r>
          </a:p>
        </p:txBody>
      </p:sp>
      <p:sp>
        <p:nvSpPr>
          <p:cNvPr id="29" name="TextBox 28"/>
          <p:cNvSpPr txBox="1"/>
          <p:nvPr/>
        </p:nvSpPr>
        <p:spPr>
          <a:xfrm>
            <a:off x="3384000" y="842400"/>
            <a:ext cx="5396400" cy="165600"/>
          </a:xfrm>
          <a:prstGeom prst="rect">
            <a:avLst/>
          </a:prstGeom>
          <a:noFill/>
        </p:spPr>
        <p:txBody>
          <a:bodyPr wrap="square">
            <a:spAutoFit/>
          </a:bodyPr>
          <a:lstStyle/>
          <a:p>
            <a:pPr algn="l"/>
            <a:r>
              <a:rPr sz="900" b="1" i="0">
                <a:solidFill>
                  <a:srgbClr val="1B3A6B"/>
                </a:solidFill>
                <a:latin typeface="Calibri"/>
              </a:rPr>
              <a:t>Ratios de solvabilité &amp; liquidité</a:t>
            </a:r>
          </a:p>
        </p:txBody>
      </p:sp>
      <p:graphicFrame>
        <p:nvGraphicFramePr>
          <p:cNvPr id="30" name="Table 29"/>
          <p:cNvGraphicFramePr>
            <a:graphicFrameLocks noGrp="1"/>
          </p:cNvGraphicFramePr>
          <p:nvPr/>
        </p:nvGraphicFramePr>
        <p:xfrm>
          <a:off x="3384000" y="1007999"/>
          <a:ext cx="5396400" cy="1800000"/>
        </p:xfrm>
        <a:graphic>
          <a:graphicData uri="http://schemas.openxmlformats.org/drawingml/2006/table">
            <a:tbl>
              <a:tblPr firstRow="1" bandRow="1">
                <a:tableStyleId>{5C22544A-7EE6-4342-B048-85BDC9FD1C3A}</a:tableStyleId>
              </a:tblPr>
              <a:tblGrid>
                <a:gridCol w="2374416"/>
                <a:gridCol w="1133244"/>
                <a:gridCol w="1133244"/>
                <a:gridCol w="755496"/>
              </a:tblGrid>
              <a:tr h="225000">
                <a:tc>
                  <a:txBody>
                    <a:bodyPr/>
                    <a:lstStyle/>
                    <a:p>
                      <a:pPr algn="l"/>
                      <a:r>
                        <a:rPr sz="800" b="1" i="0">
                          <a:solidFill>
                            <a:srgbClr val="FFFFFF"/>
                          </a:solidFill>
                          <a:latin typeface="Calibri"/>
                        </a:rPr>
                        <a:t>Ratio</a:t>
                      </a:r>
                    </a:p>
                  </a:txBody>
                  <a:tcPr>
                    <a:solidFill>
                      <a:srgbClr val="1B3A6B"/>
                    </a:solidFill>
                  </a:tcPr>
                </a:tc>
                <a:tc>
                  <a:txBody>
                    <a:bodyPr/>
                    <a:lstStyle/>
                    <a:p>
                      <a:pPr algn="ctr"/>
                      <a:r>
                        <a:rPr sz="800" b="1" i="0">
                          <a:solidFill>
                            <a:srgbClr val="FFFFFF"/>
                          </a:solidFill>
                          <a:latin typeface="Calibri"/>
                        </a:rPr>
                        <a:t>Valeur</a:t>
                      </a:r>
                    </a:p>
                  </a:txBody>
                  <a:tcPr>
                    <a:solidFill>
                      <a:srgbClr val="1B3A6B"/>
                    </a:solidFill>
                  </a:tcPr>
                </a:tc>
                <a:tc>
                  <a:txBody>
                    <a:bodyPr/>
                    <a:lstStyle/>
                    <a:p>
                      <a:pPr algn="ctr"/>
                      <a:r>
                        <a:rPr sz="800" b="1" i="0">
                          <a:solidFill>
                            <a:srgbClr val="FFFFFF"/>
                          </a:solidFill>
                          <a:latin typeface="Calibri"/>
                        </a:rPr>
                        <a:t>Référence</a:t>
                      </a:r>
                    </a:p>
                  </a:txBody>
                  <a:tcPr>
                    <a:solidFill>
                      <a:srgbClr val="1B3A6B"/>
                    </a:solidFill>
                  </a:tcPr>
                </a:tc>
                <a:tc>
                  <a:txBody>
                    <a:bodyPr/>
                    <a:lstStyle/>
                    <a:p>
                      <a:pPr algn="ctr"/>
                      <a:r>
                        <a:rPr sz="800" b="1" i="0">
                          <a:solidFill>
                            <a:srgbClr val="FFFFFF"/>
                          </a:solidFill>
                          <a:latin typeface="Calibri"/>
                        </a:rPr>
                        <a:t>Signal</a:t>
                      </a:r>
                    </a:p>
                  </a:txBody>
                  <a:tcPr>
                    <a:solidFill>
                      <a:srgbClr val="1B3A6B"/>
                    </a:solidFill>
                  </a:tcPr>
                </a:tc>
              </a:tr>
              <a:tr h="225000">
                <a:tc>
                  <a:txBody>
                    <a:bodyPr/>
                    <a:lstStyle/>
                    <a:p>
                      <a:pPr algn="l"/>
                      <a:r>
                        <a:rPr sz="800" b="1" i="0">
                          <a:solidFill>
                            <a:srgbClr val="0D0D0D"/>
                          </a:solidFill>
                          <a:latin typeface="Calibri"/>
                        </a:rPr>
                        <a:t>Ratio liquidité courante</a:t>
                      </a:r>
                    </a:p>
                  </a:txBody>
                  <a:tcPr>
                    <a:solidFill>
                      <a:srgbClr val="FFFFFF"/>
                    </a:solidFill>
                  </a:tcPr>
                </a:tc>
                <a:tc>
                  <a:txBody>
                    <a:bodyPr/>
                    <a:lstStyle/>
                    <a:p>
                      <a:pPr algn="ctr"/>
                      <a:r>
                        <a:rPr sz="800" b="0" i="0">
                          <a:solidFill>
                            <a:srgbClr val="0D0D0D"/>
                          </a:solidFill>
                          <a:latin typeface="Calibri"/>
                        </a:rPr>
                        <a:t>2,01</a:t>
                      </a:r>
                    </a:p>
                  </a:txBody>
                  <a:tcPr>
                    <a:solidFill>
                      <a:srgbClr val="FFFFFF"/>
                    </a:solidFill>
                  </a:tcPr>
                </a:tc>
                <a:tc>
                  <a:txBody>
                    <a:bodyPr/>
                    <a:lstStyle/>
                    <a:p>
                      <a:pPr algn="ctr"/>
                      <a:r>
                        <a:rPr sz="800" b="0" i="0">
                          <a:solidFill>
                            <a:srgbClr val="0D0D0D"/>
                          </a:solidFill>
                          <a:latin typeface="Calibri"/>
                        </a:rPr>
                        <a:t>&gt; 1,5</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Ratio rapide (quick)</a:t>
                      </a:r>
                    </a:p>
                  </a:txBody>
                  <a:tcPr>
                    <a:solidFill>
                      <a:srgbClr val="F7F8FA"/>
                    </a:solidFill>
                  </a:tcPr>
                </a:tc>
                <a:tc>
                  <a:txBody>
                    <a:bodyPr/>
                    <a:lstStyle/>
                    <a:p>
                      <a:pPr algn="ctr"/>
                      <a:r>
                        <a:rPr sz="800" b="0" i="0">
                          <a:solidFill>
                            <a:srgbClr val="0D0D0D"/>
                          </a:solidFill>
                          <a:latin typeface="Calibri"/>
                        </a:rPr>
                        <a:t>2,00</a:t>
                      </a:r>
                    </a:p>
                  </a:txBody>
                  <a:tcPr>
                    <a:solidFill>
                      <a:srgbClr val="F7F8FA"/>
                    </a:solidFill>
                  </a:tcPr>
                </a:tc>
                <a:tc>
                  <a:txBody>
                    <a:bodyPr/>
                    <a:lstStyle/>
                    <a:p>
                      <a:pPr algn="ctr"/>
                      <a:r>
                        <a:rPr sz="800" b="0" i="0">
                          <a:solidFill>
                            <a:srgbClr val="0D0D0D"/>
                          </a:solidFill>
                          <a:latin typeface="Calibri"/>
                        </a:rPr>
                        <a:t>&gt; 1,0</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D/E</a:t>
                      </a:r>
                    </a:p>
                  </a:txBody>
                  <a:tcPr>
                    <a:solidFill>
                      <a:srgbClr val="FFFFFF"/>
                    </a:solidFill>
                  </a:tcPr>
                </a:tc>
                <a:tc>
                  <a:txBody>
                    <a:bodyPr/>
                    <a:lstStyle/>
                    <a:p>
                      <a:pPr algn="ctr"/>
                      <a:r>
                        <a:rPr sz="800" b="0" i="0">
                          <a:solidFill>
                            <a:srgbClr val="0D0D0D"/>
                          </a:solidFill>
                          <a:latin typeface="Calibri"/>
                        </a:rPr>
                        <a:t>0,1x</a:t>
                      </a:r>
                    </a:p>
                  </a:txBody>
                  <a:tcPr>
                    <a:solidFill>
                      <a:srgbClr val="FFFFFF"/>
                    </a:solidFill>
                  </a:tcPr>
                </a:tc>
                <a:tc>
                  <a:txBody>
                    <a:bodyPr/>
                    <a:lstStyle/>
                    <a:p>
                      <a:pPr algn="ctr"/>
                      <a:r>
                        <a:rPr sz="800" b="0" i="0">
                          <a:solidFill>
                            <a:srgbClr val="0D0D0D"/>
                          </a:solidFill>
                          <a:latin typeface="Calibri"/>
                        </a:rPr>
                        <a:t>&lt; 2,0x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Couverture d'intérêts</a:t>
                      </a:r>
                    </a:p>
                  </a:txBody>
                  <a:tcPr>
                    <a:solidFill>
                      <a:srgbClr val="F7F8FA"/>
                    </a:solidFill>
                  </a:tcPr>
                </a:tc>
                <a:tc>
                  <a:txBody>
                    <a:bodyPr/>
                    <a:lstStyle/>
                    <a:p>
                      <a:pPr algn="ctr"/>
                      <a:r>
                        <a:rPr sz="800" b="0" i="0">
                          <a:solidFill>
                            <a:srgbClr val="0D0D0D"/>
                          </a:solidFill>
                          <a:latin typeface="Calibri"/>
                        </a:rPr>
                        <a:t>52,8x</a:t>
                      </a:r>
                    </a:p>
                  </a:txBody>
                  <a:tcPr>
                    <a:solidFill>
                      <a:srgbClr val="F7F8FA"/>
                    </a:solidFill>
                  </a:tcPr>
                </a:tc>
                <a:tc>
                  <a:txBody>
                    <a:bodyPr/>
                    <a:lstStyle/>
                    <a:p>
                      <a:pPr algn="ctr"/>
                      <a:r>
                        <a:rPr sz="800" b="0" i="0">
                          <a:solidFill>
                            <a:srgbClr val="0D0D0D"/>
                          </a:solidFill>
                          <a:latin typeface="Calibri"/>
                        </a:rPr>
                        <a:t>&gt; 3,0x</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Dette nette / EBITDA</a:t>
                      </a:r>
                    </a:p>
                  </a:txBody>
                  <a:tcPr>
                    <a:solidFill>
                      <a:srgbClr val="FFFFFF"/>
                    </a:solidFill>
                  </a:tcPr>
                </a:tc>
                <a:tc>
                  <a:txBody>
                    <a:bodyPr/>
                    <a:lstStyle/>
                    <a:p>
                      <a:pPr algn="ctr"/>
                      <a:r>
                        <a:rPr sz="800" b="0" i="0">
                          <a:solidFill>
                            <a:srgbClr val="0D0D0D"/>
                          </a:solidFill>
                          <a:latin typeface="Calibri"/>
                        </a:rPr>
                        <a:t>0,1x</a:t>
                      </a:r>
                    </a:p>
                  </a:txBody>
                  <a:tcPr>
                    <a:solidFill>
                      <a:srgbClr val="FFFFFF"/>
                    </a:solidFill>
                  </a:tcPr>
                </a:tc>
                <a:tc>
                  <a:txBody>
                    <a:bodyPr/>
                    <a:lstStyle/>
                    <a:p>
                      <a:pPr algn="ctr"/>
                      <a:r>
                        <a:rPr sz="800" b="0" i="0">
                          <a:solidFill>
                            <a:srgbClr val="0D0D0D"/>
                          </a:solidFill>
                          <a:latin typeface="Calibri"/>
                        </a:rPr>
                        <a:t>&lt; 2,0x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Altman Z</a:t>
                      </a:r>
                    </a:p>
                  </a:txBody>
                  <a:tcPr>
                    <a:solidFill>
                      <a:srgbClr val="F7F8FA"/>
                    </a:solidFill>
                  </a:tcPr>
                </a:tc>
                <a:tc>
                  <a:txBody>
                    <a:bodyPr/>
                    <a:lstStyle/>
                    <a:p>
                      <a:pPr algn="ctr"/>
                      <a:r>
                        <a:rPr sz="800" b="0" i="0">
                          <a:solidFill>
                            <a:srgbClr val="0D0D0D"/>
                          </a:solidFill>
                          <a:latin typeface="Calibri"/>
                        </a:rPr>
                        <a:t>4,61</a:t>
                      </a:r>
                    </a:p>
                  </a:txBody>
                  <a:tcPr>
                    <a:solidFill>
                      <a:srgbClr val="F7F8FA"/>
                    </a:solidFill>
                  </a:tcPr>
                </a:tc>
                <a:tc>
                  <a:txBody>
                    <a:bodyPr/>
                    <a:lstStyle/>
                    <a:p>
                      <a:pPr algn="ctr"/>
                      <a:r>
                        <a:rPr sz="800" b="0" i="0">
                          <a:solidFill>
                            <a:srgbClr val="0D0D0D"/>
                          </a:solidFill>
                          <a:latin typeface="Calibri"/>
                        </a:rPr>
                        <a:t>&gt; 2,99</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Beneish M</a:t>
                      </a:r>
                    </a:p>
                  </a:txBody>
                  <a:tcPr>
                    <a:solidFill>
                      <a:srgbClr val="FFFFFF"/>
                    </a:solidFill>
                  </a:tcPr>
                </a:tc>
                <a:tc>
                  <a:txBody>
                    <a:bodyPr/>
                    <a:lstStyle/>
                    <a:p>
                      <a:pPr algn="ctr"/>
                      <a:r>
                        <a:rPr sz="800" b="0" i="0">
                          <a:solidFill>
                            <a:srgbClr val="0D0D0D"/>
                          </a:solidFill>
                          <a:latin typeface="Calibri"/>
                        </a:rPr>
                        <a:t>-2,57</a:t>
                      </a:r>
                    </a:p>
                  </a:txBody>
                  <a:tcPr>
                    <a:solidFill>
                      <a:srgbClr val="FFFFFF"/>
                    </a:solidFill>
                  </a:tcPr>
                </a:tc>
                <a:tc>
                  <a:txBody>
                    <a:bodyPr/>
                    <a:lstStyle/>
                    <a:p>
                      <a:pPr algn="ctr"/>
                      <a:r>
                        <a:rPr sz="800" b="0" i="0">
                          <a:solidFill>
                            <a:srgbClr val="0D0D0D"/>
                          </a:solidFill>
                          <a:latin typeface="Calibri"/>
                        </a:rPr>
                        <a:t>&lt; -2,22</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bl>
          </a:graphicData>
        </a:graphic>
      </p:graphicFrame>
      <p:sp>
        <p:nvSpPr>
          <p:cNvPr id="31" name="Rectangle 30"/>
          <p:cNvSpPr/>
          <p:nvPr/>
        </p:nvSpPr>
        <p:spPr>
          <a:xfrm>
            <a:off x="367200" y="3581999"/>
            <a:ext cx="8413200" cy="120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367200" y="3581999"/>
            <a:ext cx="79200" cy="1206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75200" y="3610800"/>
            <a:ext cx="8298000" cy="151200"/>
          </a:xfrm>
          <a:prstGeom prst="rect">
            <a:avLst/>
          </a:prstGeom>
          <a:noFill/>
        </p:spPr>
        <p:txBody>
          <a:bodyPr wrap="none">
            <a:spAutoFit/>
          </a:bodyPr>
          <a:lstStyle/>
          <a:p>
            <a:pPr algn="l"/>
            <a:r>
              <a:rPr sz="950" b="1" i="0">
                <a:solidFill>
                  <a:srgbClr val="1B3A6B"/>
                </a:solidFill>
                <a:latin typeface="Calibri"/>
              </a:rPr>
              <a:t>MSFT faiblement endetté (ND/EBITDA 0.1x) — solidité bilancielle</a:t>
            </a:r>
          </a:p>
        </p:txBody>
      </p:sp>
      <p:sp>
        <p:nvSpPr>
          <p:cNvPr id="34" name="TextBox 33"/>
          <p:cNvSpPr txBox="1"/>
          <p:nvPr/>
        </p:nvSpPr>
        <p:spPr>
          <a:xfrm>
            <a:off x="475200" y="3780000"/>
            <a:ext cx="8298000" cy="982800"/>
          </a:xfrm>
          <a:prstGeom prst="rect">
            <a:avLst/>
          </a:prstGeom>
          <a:noFill/>
        </p:spPr>
        <p:txBody>
          <a:bodyPr wrap="square">
            <a:spAutoFit/>
          </a:bodyPr>
          <a:lstStyle/>
          <a:p>
            <a:pPr algn="l"/>
            <a:r>
              <a:rPr sz="850" b="0" i="0">
                <a:solidFill>
                  <a:srgbClr val="555555"/>
                </a:solidFill>
                <a:latin typeface="Calibri"/>
              </a:rPr>
              <a:t>Analyse de la structure bilancielle de Microsoft (MSFT) – Qualité du bilan
Microsoft dispose d’un bilan exceptionnellement solide, marqué par une trésorerie et équivalents de 104,5 milliards de dollars en 2024, renforçant sa capacité à absorber des chocs ou financer des opportunités stratégiques. La structure de la dette est optimisée, avec un endettement net négatif (trésorerie nette de 45 milliards), ce qui réduit les risques de refinancement et offre une flexibilité financière accrue. Les dettes à long terme (environ 50 milliards) sont majoritairement émises à taux fixes, limitant l’exposition aux hausses de taux, tandis que les échéances sont bien étalées (2025-2053), évitant les pics de remboursement. Le *headroom* de crédit reste abondant (plus de 100 milliards de lignes non utilisées), et les covenants sont quasi inexistants, reflétant la confiance des prêteurs dans la qualité de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Ratios Clés vs. Benchmark Sectoriel</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Positionnement relatif  ·  LTM 2025</a:t>
            </a:r>
          </a:p>
        </p:txBody>
      </p:sp>
      <p:graphicFrame>
        <p:nvGraphicFramePr>
          <p:cNvPr id="17" name="Table 16"/>
          <p:cNvGraphicFramePr>
            <a:graphicFrameLocks noGrp="1"/>
          </p:cNvGraphicFramePr>
          <p:nvPr/>
        </p:nvGraphicFramePr>
        <p:xfrm>
          <a:off x="367200" y="914400"/>
          <a:ext cx="8413200" cy="2559600"/>
        </p:xfrm>
        <a:graphic>
          <a:graphicData uri="http://schemas.openxmlformats.org/drawingml/2006/table">
            <a:tbl>
              <a:tblPr firstRow="1" bandRow="1">
                <a:tableStyleId>{5C22544A-7EE6-4342-B048-85BDC9FD1C3A}</a:tableStyleId>
              </a:tblPr>
              <a:tblGrid>
                <a:gridCol w="2103300"/>
                <a:gridCol w="2103300"/>
                <a:gridCol w="2103300"/>
                <a:gridCol w="2103300"/>
              </a:tblGrid>
              <a:tr h="232690">
                <a:tc>
                  <a:txBody>
                    <a:bodyPr/>
                    <a:lstStyle/>
                    <a:p>
                      <a:pPr algn="l"/>
                      <a:r>
                        <a:rPr sz="800" b="1" i="0">
                          <a:solidFill>
                            <a:srgbClr val="FFFFFF"/>
                          </a:solidFill>
                          <a:latin typeface="Calibri"/>
                        </a:rPr>
                        <a:t>Indicateur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Benchmark</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Lecture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P/E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28,7x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15–25x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Premium</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EV/EBITDA</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18,3x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8–14x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Premium</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EV/Revenue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10,4x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Très élevé</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Marge brute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68,8 %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40 %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Marge EBITDA</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56,9 %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20 %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ROE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29,6 %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15 %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ROIC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30,1 %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10 %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CapEx / Revenue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22,9 %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&lt; 15 %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Intensif</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Altman Z</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4,61</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2,99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Solide</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700">
                <a:tc>
                  <a:txBody>
                    <a:bodyPr/>
                    <a:lstStyle/>
                    <a:p>
                      <a:pPr algn="l"/>
                      <a:r>
                        <a:rPr sz="800" b="0" i="0">
                          <a:solidFill>
                            <a:srgbClr val="0D0D0D"/>
                          </a:solidFill>
                          <a:latin typeface="Calibri"/>
                        </a:rPr>
                        <a:t>Beneish M</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-2,57</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&lt; -2,22</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Aucun signal</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18" name="Rectangle 17"/>
          <p:cNvSpPr/>
          <p:nvPr/>
        </p:nvSpPr>
        <p:spPr>
          <a:xfrm>
            <a:off x="367200" y="3628800"/>
            <a:ext cx="8413200" cy="8244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67200" y="3628800"/>
            <a:ext cx="792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75200" y="3657600"/>
            <a:ext cx="8298000" cy="151200"/>
          </a:xfrm>
          <a:prstGeom prst="rect">
            <a:avLst/>
          </a:prstGeom>
          <a:noFill/>
        </p:spPr>
        <p:txBody>
          <a:bodyPr wrap="none">
            <a:spAutoFit/>
          </a:bodyPr>
          <a:lstStyle/>
          <a:p>
            <a:pPr algn="l"/>
            <a:r>
              <a:rPr sz="950" b="1" i="0">
                <a:solidFill>
                  <a:srgbClr val="1B3A6B"/>
                </a:solidFill>
                <a:latin typeface="Calibri"/>
              </a:rPr>
              <a:t>MSFT génère ROE 30% / ROIC 30% — création de valeur premium</a:t>
            </a:r>
          </a:p>
        </p:txBody>
      </p:sp>
      <p:sp>
        <p:nvSpPr>
          <p:cNvPr id="21" name="TextBox 20"/>
          <p:cNvSpPr txBox="1"/>
          <p:nvPr/>
        </p:nvSpPr>
        <p:spPr>
          <a:xfrm>
            <a:off x="475200" y="3826800"/>
            <a:ext cx="8298000" cy="601200"/>
          </a:xfrm>
          <a:prstGeom prst="rect">
            <a:avLst/>
          </a:prstGeom>
          <a:noFill/>
        </p:spPr>
        <p:txBody>
          <a:bodyPr wrap="square">
            <a:spAutoFit/>
          </a:bodyPr>
          <a:lstStyle/>
          <a:p>
            <a:pPr algn="l"/>
            <a:r>
              <a:rPr sz="850" b="0" i="0">
                <a:solidFill>
                  <a:srgbClr val="555555"/>
                </a:solidFill>
                <a:latin typeface="Calibri"/>
              </a:rPr>
              <a:t>La marge EBITDA progresse de 50.6% (2022) à 56.9% (2025), portée par la montée en puissance d’Azure (+25 pts de contribution) et la réduction des coûts fixes. Le pricing power est durable grâce à la différenciation technologique et la fidélisation client. Risque de mean-reversion limité par la récurrence des revenus SaaS.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03</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Valorisation</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DCF, comparable peers &amp; Football Field Chart</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Valorisation — DCF &amp; Scénarios</a:t>
            </a:r>
          </a:p>
        </p:txBody>
      </p:sp>
      <p:graphicFrame>
        <p:nvGraphicFramePr>
          <p:cNvPr id="16" name="Table 15"/>
          <p:cNvGraphicFramePr>
            <a:graphicFrameLocks noGrp="1"/>
          </p:cNvGraphicFramePr>
          <p:nvPr/>
        </p:nvGraphicFramePr>
        <p:xfrm>
          <a:off x="367200" y="824400"/>
          <a:ext cx="4024800" cy="1371600"/>
        </p:xfrm>
        <a:graphic>
          <a:graphicData uri="http://schemas.openxmlformats.org/drawingml/2006/table">
            <a:tbl>
              <a:tblPr firstRow="1" bandRow="1">
                <a:tableStyleId>{5C22544A-7EE6-4342-B048-85BDC9FD1C3A}</a:tableStyleId>
              </a:tblPr>
              <a:tblGrid>
                <a:gridCol w="2213640"/>
                <a:gridCol w="1811160"/>
              </a:tblGrid>
              <a:tr h="228600">
                <a:tc>
                  <a:txBody>
                    <a:bodyPr/>
                    <a:lstStyle/>
                    <a:p>
                      <a:pPr algn="l"/>
                      <a:r>
                        <a:rPr sz="800" b="1" i="0">
                          <a:solidFill>
                            <a:srgbClr val="FFFFFF"/>
                          </a:solidFill>
                          <a:latin typeface="Calibri"/>
                        </a:rPr>
                        <a:t>Paramètre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WACC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10,3 %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TGR</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1" i="0">
                          <a:solidFill>
                            <a:srgbClr val="1B3A6B"/>
                          </a:solidFill>
                          <a:latin typeface="Calibri"/>
                        </a:rPr>
                        <a:t>Valeur intrinsèque</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425 $</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Cours actuel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393,11 $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Upside implicite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+8,1 %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graphicFrame>
        <p:nvGraphicFramePr>
          <p:cNvPr id="17" name="Table 16"/>
          <p:cNvGraphicFramePr>
            <a:graphicFrameLocks noGrp="1"/>
          </p:cNvGraphicFramePr>
          <p:nvPr/>
        </p:nvGraphicFramePr>
        <p:xfrm>
          <a:off x="4482000" y="824400"/>
          <a:ext cx="4298400" cy="1371600"/>
        </p:xfrm>
        <a:graphic>
          <a:graphicData uri="http://schemas.openxmlformats.org/drawingml/2006/table">
            <a:tbl>
              <a:tblPr firstRow="1" bandRow="1">
                <a:tableStyleId>{5C22544A-7EE6-4342-B048-85BDC9FD1C3A}</a:tableStyleId>
              </a:tblPr>
              <a:tblGrid>
                <a:gridCol w="1432800"/>
                <a:gridCol w="1432800"/>
                <a:gridCol w="1432800"/>
              </a:tblGrid>
              <a:tr h="342900">
                <a:tc>
                  <a:txBody>
                    <a:bodyPr/>
                    <a:lstStyle/>
                    <a:p>
                      <a:pPr algn="ctr"/>
                      <a:r>
                        <a:rPr sz="1000" b="1" i="0">
                          <a:solidFill>
                            <a:srgbClr val="FFFFFF"/>
                          </a:solidFill>
                          <a:latin typeface="Calibri"/>
                        </a:rPr>
                        <a:t>Bear</a:t>
                      </a:r>
                    </a:p>
                  </a:txBody>
                  <a:tcPr>
                    <a:solidFill>
                      <a:srgbClr val="A82020"/>
                    </a:solidFill>
                  </a:tcPr>
                </a:tc>
                <a:tc>
                  <a:txBody>
                    <a:bodyPr/>
                    <a:lstStyle/>
                    <a:p>
                      <a:pPr algn="ctr"/>
                      <a:r>
                        <a:rPr sz="1000" b="1" i="0">
                          <a:solidFill>
                            <a:srgbClr val="FFFFFF"/>
                          </a:solidFill>
                          <a:latin typeface="Calibri"/>
                        </a:rPr>
                        <a:t>Base</a:t>
                      </a:r>
                    </a:p>
                  </a:txBody>
                  <a:tcPr>
                    <a:solidFill>
                      <a:srgbClr val="2E5FA3"/>
                    </a:solidFill>
                  </a:tcPr>
                </a:tc>
                <a:tc>
                  <a:txBody>
                    <a:bodyPr/>
                    <a:lstStyle/>
                    <a:p>
                      <a:pPr algn="ctr"/>
                      <a:r>
                        <a:rPr sz="1000" b="1" i="0">
                          <a:solidFill>
                            <a:srgbClr val="FFFFFF"/>
                          </a:solidFill>
                          <a:latin typeface="Calibri"/>
                        </a:rPr>
                        <a:t>Bull</a:t>
                      </a:r>
                    </a:p>
                  </a:txBody>
                  <a:tcPr>
                    <a:solidFill>
                      <a:srgbClr val="1A7A4A"/>
                    </a:solidFill>
                  </a:tcPr>
                </a:tc>
              </a:tr>
              <a:tr h="342900">
                <a:tc>
                  <a:txBody>
                    <a:bodyPr/>
                    <a:lstStyle/>
                    <a:p>
                      <a:pPr algn="ctr"/>
                      <a:r>
                        <a:rPr sz="2000" b="1" i="0">
                          <a:solidFill>
                            <a:srgbClr val="A82020"/>
                          </a:solidFill>
                          <a:latin typeface="Calibri"/>
                        </a:rPr>
                        <a:t>360 $</a:t>
                      </a:r>
                    </a:p>
                  </a:txBody>
                  <a:tcPr>
                    <a:solidFill>
                      <a:srgbClr val="FAF0EF"/>
                    </a:solidFill>
                  </a:tcPr>
                </a:tc>
                <a:tc>
                  <a:txBody>
                    <a:bodyPr/>
                    <a:lstStyle/>
                    <a:p>
                      <a:pPr algn="ctr"/>
                      <a:r>
                        <a:rPr sz="2000" b="1" i="0">
                          <a:solidFill>
                            <a:srgbClr val="2E5FA3"/>
                          </a:solidFill>
                          <a:latin typeface="Calibri"/>
                        </a:rPr>
                        <a:t>425 $</a:t>
                      </a:r>
                    </a:p>
                  </a:txBody>
                  <a:tcPr>
                    <a:solidFill>
                      <a:srgbClr val="EEF3FA"/>
                    </a:solidFill>
                  </a:tcPr>
                </a:tc>
                <a:tc>
                  <a:txBody>
                    <a:bodyPr/>
                    <a:lstStyle/>
                    <a:p>
                      <a:pPr algn="ctr"/>
                      <a:r>
                        <a:rPr sz="2000" b="1" i="0">
                          <a:solidFill>
                            <a:srgbClr val="1A7A4A"/>
                          </a:solidFill>
                          <a:latin typeface="Calibri"/>
                        </a:rPr>
                        <a:t>470 $</a:t>
                      </a:r>
                    </a:p>
                  </a:txBody>
                  <a:tcPr>
                    <a:solidFill>
                      <a:srgbClr val="EAF4EF"/>
                    </a:solidFill>
                  </a:tcPr>
                </a:tc>
              </a:tr>
              <a:tr h="342900">
                <a:tc>
                  <a:txBody>
                    <a:bodyPr/>
                    <a:lstStyle/>
                    <a:p>
                      <a:pPr algn="ctr"/>
                      <a:r>
                        <a:rPr sz="1200" b="1" i="0">
                          <a:solidFill>
                            <a:srgbClr val="A82020"/>
                          </a:solidFill>
                          <a:latin typeface="Calibri"/>
                        </a:rPr>
                        <a:t>-8,4 %</a:t>
                      </a:r>
                    </a:p>
                  </a:txBody>
                  <a:tcPr>
                    <a:solidFill>
                      <a:srgbClr val="FAF0EF"/>
                    </a:solidFill>
                  </a:tcPr>
                </a:tc>
                <a:tc>
                  <a:txBody>
                    <a:bodyPr/>
                    <a:lstStyle/>
                    <a:p>
                      <a:pPr algn="ctr"/>
                      <a:r>
                        <a:rPr sz="1200" b="1" i="0">
                          <a:solidFill>
                            <a:srgbClr val="2E5FA3"/>
                          </a:solidFill>
                          <a:latin typeface="Calibri"/>
                        </a:rPr>
                        <a:t>+8,1 %</a:t>
                      </a:r>
                    </a:p>
                  </a:txBody>
                  <a:tcPr>
                    <a:solidFill>
                      <a:srgbClr val="EEF3FA"/>
                    </a:solidFill>
                  </a:tcPr>
                </a:tc>
                <a:tc>
                  <a:txBody>
                    <a:bodyPr/>
                    <a:lstStyle/>
                    <a:p>
                      <a:pPr algn="ctr"/>
                      <a:r>
                        <a:rPr sz="1200" b="1" i="0">
                          <a:solidFill>
                            <a:srgbClr val="1A7A4A"/>
                          </a:solidFill>
                          <a:latin typeface="Calibri"/>
                        </a:rPr>
                        <a:t>+19,6 %</a:t>
                      </a:r>
                    </a:p>
                  </a:txBody>
                  <a:tcPr>
                    <a:solidFill>
                      <a:srgbClr val="EAF4EF"/>
                    </a:solidFill>
                  </a:tcPr>
                </a:tc>
              </a:tr>
              <a:tr h="342900">
                <a:tc>
                  <a:txBody>
                    <a:bodyPr/>
                    <a:lstStyle/>
                    <a:p>
                      <a:pPr algn="ctr"/>
                      <a:r>
                        <a:rPr sz="700" b="0" i="0">
                          <a:solidFill>
                            <a:srgbClr val="888888"/>
                          </a:solidFill>
                          <a:latin typeface="Calibri"/>
                        </a:rPr>
                        <a:t>Upside / Downside</a:t>
                      </a:r>
                    </a:p>
                  </a:txBody>
                  <a:tcPr>
                    <a:solidFill>
                      <a:srgbClr val="FAF0EF"/>
                    </a:solidFill>
                  </a:tcPr>
                </a:tc>
                <a:tc>
                  <a:txBody>
                    <a:bodyPr/>
                    <a:lstStyle/>
                    <a:p>
                      <a:pPr algn="ctr"/>
                      <a:r>
                        <a:rPr sz="700" b="0" i="0">
                          <a:solidFill>
                            <a:srgbClr val="888888"/>
                          </a:solidFill>
                          <a:latin typeface="Calibri"/>
                        </a:rPr>
                        <a:t>Upside / Downside</a:t>
                      </a:r>
                    </a:p>
                  </a:txBody>
                  <a:tcPr>
                    <a:solidFill>
                      <a:srgbClr val="EEF3FA"/>
                    </a:solidFill>
                  </a:tcPr>
                </a:tc>
                <a:tc>
                  <a:txBody>
                    <a:bodyPr/>
                    <a:lstStyle/>
                    <a:p>
                      <a:pPr algn="ctr"/>
                      <a:r>
                        <a:rPr sz="700" b="0" i="0">
                          <a:solidFill>
                            <a:srgbClr val="888888"/>
                          </a:solidFill>
                          <a:latin typeface="Calibri"/>
                        </a:rPr>
                        <a:t>Upside / Downside</a:t>
                      </a:r>
                    </a:p>
                  </a:txBody>
                  <a:tcPr>
                    <a:solidFill>
                      <a:srgbClr val="EAF4EF"/>
                    </a:solidFill>
                  </a:tcPr>
                </a:tc>
              </a:tr>
            </a:tbl>
          </a:graphicData>
        </a:graphic>
      </p:graphicFrame>
      <p:sp>
        <p:nvSpPr>
          <p:cNvPr id="18" name="TextBox 17"/>
          <p:cNvSpPr txBox="1"/>
          <p:nvPr/>
        </p:nvSpPr>
        <p:spPr>
          <a:xfrm>
            <a:off x="367200" y="2394000"/>
            <a:ext cx="4024800" cy="201600"/>
          </a:xfrm>
          <a:prstGeom prst="rect">
            <a:avLst/>
          </a:prstGeom>
          <a:noFill/>
        </p:spPr>
        <p:txBody>
          <a:bodyPr wrap="square">
            <a:spAutoFit/>
          </a:bodyPr>
          <a:lstStyle/>
          <a:p>
            <a:pPr algn="l"/>
            <a:r>
              <a:rPr sz="900" b="1" i="0">
                <a:solidFill>
                  <a:srgbClr val="1B3A6B"/>
                </a:solidFill>
                <a:latin typeface="Calibri"/>
              </a:rPr>
              <a:t>Monte Carlo GBM — 10 000 simulations</a:t>
            </a:r>
          </a:p>
        </p:txBody>
      </p:sp>
      <p:graphicFrame>
        <p:nvGraphicFramePr>
          <p:cNvPr id="19" name="Table 18"/>
          <p:cNvGraphicFramePr>
            <a:graphicFrameLocks noGrp="1"/>
          </p:cNvGraphicFramePr>
          <p:nvPr/>
        </p:nvGraphicFramePr>
        <p:xfrm>
          <a:off x="367200" y="2653200"/>
          <a:ext cx="4024800" cy="1116000"/>
        </p:xfrm>
        <a:graphic>
          <a:graphicData uri="http://schemas.openxmlformats.org/drawingml/2006/table">
            <a:tbl>
              <a:tblPr firstRow="1" bandRow="1">
                <a:tableStyleId>{5C22544A-7EE6-4342-B048-85BDC9FD1C3A}</a:tableStyleId>
              </a:tblPr>
              <a:tblGrid>
                <a:gridCol w="1690416"/>
                <a:gridCol w="1287936"/>
                <a:gridCol w="1046448"/>
              </a:tblGrid>
              <a:tr h="186000">
                <a:tc>
                  <a:txBody>
                    <a:bodyPr/>
                    <a:lstStyle/>
                    <a:p>
                      <a:pPr algn="l"/>
                      <a:r>
                        <a:rPr sz="800" b="1" i="0">
                          <a:solidFill>
                            <a:srgbClr val="FFFFFF"/>
                          </a:solidFill>
                          <a:latin typeface="Calibri"/>
                        </a:rPr>
                        <a:t>Scénario</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Cours prédit (12M)</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vs Cours</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Stress Down (P2)</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227 $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-42,4 %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Pessimiste (P10)</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272 $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-30,7 %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1" i="0">
                          <a:solidFill>
                            <a:srgbClr val="1B3A6B"/>
                          </a:solidFill>
                          <a:latin typeface="Calibri"/>
                        </a:rPr>
                        <a:t>● Médian (P50)</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374 $</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-5,0 %</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Optimiste (P90)</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512 $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+30,2 %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Stress Up (P98)</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616 $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+56,8 %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0" name="TextBox 19"/>
          <p:cNvSpPr txBox="1"/>
          <p:nvPr/>
        </p:nvSpPr>
        <p:spPr>
          <a:xfrm>
            <a:off x="4482000" y="2394000"/>
            <a:ext cx="4298400" cy="201600"/>
          </a:xfrm>
          <a:prstGeom prst="rect">
            <a:avLst/>
          </a:prstGeom>
          <a:noFill/>
        </p:spPr>
        <p:txBody>
          <a:bodyPr wrap="square">
            <a:spAutoFit/>
          </a:bodyPr>
          <a:lstStyle/>
          <a:p>
            <a:pPr algn="l"/>
            <a:r>
              <a:rPr sz="900" b="1" i="0">
                <a:solidFill>
                  <a:srgbClr val="1B3A6B"/>
                </a:solidFill>
                <a:latin typeface="Calibri"/>
              </a:rPr>
              <a:t>Sensibilité WACC × TGR — Valeur ($)</a:t>
            </a:r>
          </a:p>
        </p:txBody>
      </p:sp>
      <p:graphicFrame>
        <p:nvGraphicFramePr>
          <p:cNvPr id="21" name="Table 20"/>
          <p:cNvGraphicFramePr>
            <a:graphicFrameLocks noGrp="1"/>
          </p:cNvGraphicFramePr>
          <p:nvPr/>
        </p:nvGraphicFramePr>
        <p:xfrm>
          <a:off x="4482000" y="2653200"/>
          <a:ext cx="4298400" cy="1116000"/>
        </p:xfrm>
        <a:graphic>
          <a:graphicData uri="http://schemas.openxmlformats.org/drawingml/2006/table">
            <a:tbl>
              <a:tblPr firstRow="1" bandRow="1">
                <a:tableStyleId>{5C22544A-7EE6-4342-B048-85BDC9FD1C3A}</a:tableStyleId>
              </a:tblPr>
              <a:tblGrid>
                <a:gridCol w="716400"/>
                <a:gridCol w="716400"/>
                <a:gridCol w="716400"/>
                <a:gridCol w="716400"/>
                <a:gridCol w="716400"/>
                <a:gridCol w="716400"/>
              </a:tblGrid>
              <a:tr h="186000">
                <a:tc>
                  <a:txBody>
                    <a:bodyPr/>
                    <a:lstStyle/>
                    <a:p>
                      <a:pPr algn="l"/>
                      <a:r>
                        <a:rPr sz="800" b="1" i="0">
                          <a:solidFill>
                            <a:srgbClr val="FFFFFF"/>
                          </a:solidFill>
                          <a:latin typeface="Calibri"/>
                        </a:rPr>
                        <a:t>WACC \ TGR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3,0%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3,5%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4,0%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8,3%</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493</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536</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587</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648</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724</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9,3%</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425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456</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493</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536</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587</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1" i="0">
                          <a:solidFill>
                            <a:srgbClr val="1B3A6B"/>
                          </a:solidFill>
                          <a:latin typeface="Calibri"/>
                        </a:rPr>
                        <a:t>10,3%</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374</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398</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425</a:t>
                      </a:r>
                    </a:p>
                  </a:txBody>
                  <a:tcPr>
                    <a:solidFill>
                      <a:srgbClr val="2E5FA3"/>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456</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493</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11,3%</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333</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352</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374</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398</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425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12,3%</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301</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316</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333</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352</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374</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2" name="Rectangle 21"/>
          <p:cNvSpPr/>
          <p:nvPr/>
        </p:nvSpPr>
        <p:spPr>
          <a:xfrm>
            <a:off x="367200" y="4031999"/>
            <a:ext cx="8413200" cy="5472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67200" y="4031999"/>
            <a:ext cx="79200" cy="5472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5200" y="4060800"/>
            <a:ext cx="8298000" cy="151200"/>
          </a:xfrm>
          <a:prstGeom prst="rect">
            <a:avLst/>
          </a:prstGeom>
          <a:noFill/>
        </p:spPr>
        <p:txBody>
          <a:bodyPr wrap="none">
            <a:spAutoFit/>
          </a:bodyPr>
          <a:lstStyle/>
          <a:p>
            <a:pPr algn="l"/>
            <a:r>
              <a:rPr sz="950" b="1" i="0">
                <a:solidFill>
                  <a:srgbClr val="1B3A6B"/>
                </a:solidFill>
                <a:latin typeface="Calibri"/>
              </a:rPr>
              <a:t>DCF base proche du cours (+8%) — valorisation alignée</a:t>
            </a:r>
          </a:p>
        </p:txBody>
      </p:sp>
      <p:sp>
        <p:nvSpPr>
          <p:cNvPr id="25" name="TextBox 24"/>
          <p:cNvSpPr txBox="1"/>
          <p:nvPr/>
        </p:nvSpPr>
        <p:spPr>
          <a:xfrm>
            <a:off x="475200" y="4230000"/>
            <a:ext cx="8298000" cy="324000"/>
          </a:xfrm>
          <a:prstGeom prst="rect">
            <a:avLst/>
          </a:prstGeom>
          <a:noFill/>
        </p:spPr>
        <p:txBody>
          <a:bodyPr wrap="square">
            <a:spAutoFit/>
          </a:bodyPr>
          <a:lstStyle/>
          <a:p>
            <a:pPr algn="l"/>
            <a:r>
              <a:rPr sz="850" b="0" i="0">
                <a:solidFill>
                  <a:srgbClr val="555555"/>
                </a:solidFill>
                <a:latin typeface="Calibri"/>
              </a:rPr>
              <a:t>Avec un WACC de 10.3% et une TGR de 3.0%, le prix implicite DCF est de 425$ (base), soit +8% vs cours actuel. L’upside reflète une sous-valorisation structurelle liée à la croissance de l’IA et à la résilience des marges.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Comparable Peers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par multiples  ·  LTM  ·  Mkt Cap en Mds USD</a:t>
            </a:r>
          </a:p>
        </p:txBody>
      </p:sp>
      <p:graphicFrame>
        <p:nvGraphicFramePr>
          <p:cNvPr id="17" name="Table 16"/>
          <p:cNvGraphicFramePr>
            <a:graphicFrameLocks noGrp="1"/>
          </p:cNvGraphicFramePr>
          <p:nvPr/>
        </p:nvGraphicFramePr>
        <p:xfrm>
          <a:off x="367200" y="914400"/>
          <a:ext cx="8413200" cy="2015999"/>
        </p:xfrm>
        <a:graphic>
          <a:graphicData uri="http://schemas.openxmlformats.org/drawingml/2006/table">
            <a:tbl>
              <a:tblPr firstRow="1" bandRow="1">
                <a:tableStyleId>{5C22544A-7EE6-4342-B048-85BDC9FD1C3A}</a:tableStyleId>
              </a:tblPr>
              <a:tblGrid>
                <a:gridCol w="1682640"/>
                <a:gridCol w="757188"/>
                <a:gridCol w="1093716"/>
                <a:gridCol w="1009584"/>
                <a:gridCol w="1009584"/>
                <a:gridCol w="757188"/>
                <a:gridCol w="1093716"/>
                <a:gridCol w="1009584"/>
              </a:tblGrid>
              <a:tr h="251999">
                <a:tc>
                  <a:txBody>
                    <a:bodyPr/>
                    <a:lstStyle/>
                    <a:p>
                      <a:pPr algn="l"/>
                      <a:r>
                        <a:rPr sz="800" b="1" i="0">
                          <a:solidFill>
                            <a:srgbClr val="FFFFFF"/>
                          </a:solidFill>
                          <a:latin typeface="Calibri"/>
                        </a:rPr>
                        <a:t>Société</a:t>
                      </a:r>
                    </a:p>
                  </a:txBody>
                  <a:tcPr>
                    <a:solidFill>
                      <a:srgbClr val="1B3A6B"/>
                    </a:solidFill>
                  </a:tcPr>
                </a:tc>
                <a:tc>
                  <a:txBody>
                    <a:bodyPr/>
                    <a:lstStyle/>
                    <a:p>
                      <a:pPr algn="ctr"/>
                      <a:r>
                        <a:rPr sz="800" b="1" i="0">
                          <a:solidFill>
                            <a:srgbClr val="FFFFFF"/>
                          </a:solidFill>
                          <a:latin typeface="Calibri"/>
                        </a:rPr>
                        <a:t>Ticker</a:t>
                      </a:r>
                    </a:p>
                  </a:txBody>
                  <a:tcPr>
                    <a:solidFill>
                      <a:srgbClr val="1B3A6B"/>
                    </a:solidFill>
                  </a:tcPr>
                </a:tc>
                <a:tc>
                  <a:txBody>
                    <a:bodyPr/>
                    <a:lstStyle/>
                    <a:p>
                      <a:pPr algn="ctr"/>
                      <a:r>
                        <a:rPr sz="800" b="1" i="0">
                          <a:solidFill>
                            <a:srgbClr val="FFFFFF"/>
                          </a:solidFill>
                          <a:latin typeface="Calibri"/>
                        </a:rPr>
                        <a:t>Mkt Cap</a:t>
                      </a:r>
                    </a:p>
                  </a:txBody>
                  <a:tcPr>
                    <a:solidFill>
                      <a:srgbClr val="1B3A6B"/>
                    </a:solidFill>
                  </a:tcPr>
                </a:tc>
                <a:tc>
                  <a:txBody>
                    <a:bodyPr/>
                    <a:lstStyle/>
                    <a:p>
                      <a:pPr algn="ctr"/>
                      <a:r>
                        <a:rPr sz="800" b="1" i="0">
                          <a:solidFill>
                            <a:srgbClr val="FFFFFF"/>
                          </a:solidFill>
                          <a:latin typeface="Calibri"/>
                        </a:rPr>
                        <a:t>EV/EBITDA</a:t>
                      </a:r>
                    </a:p>
                  </a:txBody>
                  <a:tcPr>
                    <a:solidFill>
                      <a:srgbClr val="1B3A6B"/>
                    </a:solidFill>
                  </a:tcPr>
                </a:tc>
                <a:tc>
                  <a:txBody>
                    <a:bodyPr/>
                    <a:lstStyle/>
                    <a:p>
                      <a:pPr algn="ctr"/>
                      <a:r>
                        <a:rPr sz="800" b="1" i="0">
                          <a:solidFill>
                            <a:srgbClr val="FFFFFF"/>
                          </a:solidFill>
                          <a:latin typeface="Calibri"/>
                        </a:rPr>
                        <a:t>EV/Rev.</a:t>
                      </a:r>
                    </a:p>
                  </a:txBody>
                  <a:tcPr>
                    <a:solidFill>
                      <a:srgbClr val="1B3A6B"/>
                    </a:solidFill>
                  </a:tcPr>
                </a:tc>
                <a:tc>
                  <a:txBody>
                    <a:bodyPr/>
                    <a:lstStyle/>
                    <a:p>
                      <a:pPr algn="ctr"/>
                      <a:r>
                        <a:rPr sz="800" b="1" i="0">
                          <a:solidFill>
                            <a:srgbClr val="FFFFFF"/>
                          </a:solidFill>
                          <a:latin typeface="Calibri"/>
                        </a:rPr>
                        <a:t>P/E</a:t>
                      </a:r>
                    </a:p>
                  </a:txBody>
                  <a:tcPr>
                    <a:solidFill>
                      <a:srgbClr val="1B3A6B"/>
                    </a:solidFill>
                  </a:tcPr>
                </a:tc>
                <a:tc>
                  <a:txBody>
                    <a:bodyPr/>
                    <a:lstStyle/>
                    <a:p>
                      <a:pPr algn="ctr"/>
                      <a:r>
                        <a:rPr sz="800" b="1" i="0">
                          <a:solidFill>
                            <a:srgbClr val="FFFFFF"/>
                          </a:solidFill>
                          <a:latin typeface="Calibri"/>
                        </a:rPr>
                        <a:t>Mg Brute</a:t>
                      </a:r>
                    </a:p>
                  </a:txBody>
                  <a:tcPr>
                    <a:solidFill>
                      <a:srgbClr val="1B3A6B"/>
                    </a:solidFill>
                  </a:tcPr>
                </a:tc>
                <a:tc>
                  <a:txBody>
                    <a:bodyPr/>
                    <a:lstStyle/>
                    <a:p>
                      <a:pPr algn="ctr"/>
                      <a:r>
                        <a:rPr sz="800" b="1" i="0">
                          <a:solidFill>
                            <a:srgbClr val="FFFFFF"/>
                          </a:solidFill>
                          <a:latin typeface="Calibri"/>
                        </a:rPr>
                        <a:t>Mg EBITDA</a:t>
                      </a:r>
                    </a:p>
                  </a:txBody>
                  <a:tcPr>
                    <a:solidFill>
                      <a:srgbClr val="1B3A6B"/>
                    </a:solidFill>
                  </a:tcPr>
                </a:tc>
              </a:tr>
              <a:tr h="251999">
                <a:tc>
                  <a:txBody>
                    <a:bodyPr/>
                    <a:lstStyle/>
                    <a:p>
                      <a:pPr algn="l"/>
                      <a:r>
                        <a:rPr sz="800" b="1" i="0">
                          <a:solidFill>
                            <a:srgbClr val="1B3A6B"/>
                          </a:solidFill>
                          <a:latin typeface="Calibri"/>
                        </a:rPr>
                        <a:t>Microsoft Corporation</a:t>
                      </a:r>
                    </a:p>
                  </a:txBody>
                  <a:tcPr>
                    <a:solidFill>
                      <a:srgbClr val="DDE8F5"/>
                    </a:solidFill>
                  </a:tcPr>
                </a:tc>
                <a:tc>
                  <a:txBody>
                    <a:bodyPr/>
                    <a:lstStyle/>
                    <a:p>
                      <a:pPr algn="ctr"/>
                      <a:r>
                        <a:rPr sz="750" b="1" i="0">
                          <a:solidFill>
                            <a:srgbClr val="2E5FA3"/>
                          </a:solidFill>
                          <a:latin typeface="Calibri"/>
                        </a:rPr>
                        <a:t>MSFT</a:t>
                      </a:r>
                    </a:p>
                  </a:txBody>
                  <a:tcPr>
                    <a:solidFill>
                      <a:srgbClr val="DDE8F5"/>
                    </a:solidFill>
                  </a:tcPr>
                </a:tc>
                <a:tc>
                  <a:txBody>
                    <a:bodyPr/>
                    <a:lstStyle/>
                    <a:p>
                      <a:pPr algn="ctr"/>
                      <a:r>
                        <a:rPr sz="800" b="1" i="0">
                          <a:solidFill>
                            <a:srgbClr val="1B3A6B"/>
                          </a:solidFill>
                          <a:latin typeface="Calibri"/>
                        </a:rPr>
                        <a:t>2 919,1</a:t>
                      </a:r>
                    </a:p>
                  </a:txBody>
                  <a:tcPr>
                    <a:solidFill>
                      <a:srgbClr val="DDE8F5"/>
                    </a:solidFill>
                  </a:tcPr>
                </a:tc>
                <a:tc>
                  <a:txBody>
                    <a:bodyPr/>
                    <a:lstStyle/>
                    <a:p>
                      <a:pPr algn="ctr"/>
                      <a:r>
                        <a:rPr sz="800" b="1" i="0">
                          <a:solidFill>
                            <a:srgbClr val="1B3A6B"/>
                          </a:solidFill>
                          <a:latin typeface="Calibri"/>
                        </a:rPr>
                        <a:t>18,3x</a:t>
                      </a:r>
                    </a:p>
                  </a:txBody>
                  <a:tcPr>
                    <a:solidFill>
                      <a:srgbClr val="DDE8F5"/>
                    </a:solidFill>
                  </a:tcPr>
                </a:tc>
                <a:tc>
                  <a:txBody>
                    <a:bodyPr/>
                    <a:lstStyle/>
                    <a:p>
                      <a:pPr algn="ctr"/>
                      <a:r>
                        <a:rPr sz="800" b="1" i="0">
                          <a:solidFill>
                            <a:srgbClr val="1B3A6B"/>
                          </a:solidFill>
                          <a:latin typeface="Calibri"/>
                        </a:rPr>
                        <a:t>10,4x</a:t>
                      </a:r>
                    </a:p>
                  </a:txBody>
                  <a:tcPr>
                    <a:solidFill>
                      <a:srgbClr val="DDE8F5"/>
                    </a:solidFill>
                  </a:tcPr>
                </a:tc>
                <a:tc>
                  <a:txBody>
                    <a:bodyPr/>
                    <a:lstStyle/>
                    <a:p>
                      <a:pPr algn="ctr"/>
                      <a:r>
                        <a:rPr sz="800" b="1" i="0">
                          <a:solidFill>
                            <a:srgbClr val="1B3A6B"/>
                          </a:solidFill>
                          <a:latin typeface="Calibri"/>
                        </a:rPr>
                        <a:t>28,7x</a:t>
                      </a:r>
                    </a:p>
                  </a:txBody>
                  <a:tcPr>
                    <a:solidFill>
                      <a:srgbClr val="DDE8F5"/>
                    </a:solidFill>
                  </a:tcPr>
                </a:tc>
                <a:tc>
                  <a:txBody>
                    <a:bodyPr/>
                    <a:lstStyle/>
                    <a:p>
                      <a:pPr algn="ctr"/>
                      <a:r>
                        <a:rPr sz="800" b="1" i="0">
                          <a:solidFill>
                            <a:srgbClr val="1B3A6B"/>
                          </a:solidFill>
                          <a:latin typeface="Calibri"/>
                        </a:rPr>
                        <a:t>68,8 %</a:t>
                      </a:r>
                    </a:p>
                  </a:txBody>
                  <a:tcPr>
                    <a:solidFill>
                      <a:srgbClr val="DDE8F5"/>
                    </a:solidFill>
                  </a:tcPr>
                </a:tc>
                <a:tc>
                  <a:txBody>
                    <a:bodyPr/>
                    <a:lstStyle/>
                    <a:p>
                      <a:pPr algn="ctr"/>
                      <a:r>
                        <a:rPr sz="800" b="1" i="0">
                          <a:solidFill>
                            <a:srgbClr val="1B3A6B"/>
                          </a:solidFill>
                          <a:latin typeface="Calibri"/>
                        </a:rPr>
                        <a:t>56,9 %</a:t>
                      </a:r>
                    </a:p>
                  </a:txBody>
                  <a:tcPr>
                    <a:solidFill>
                      <a:srgbClr val="DDE8F5"/>
                    </a:solidFill>
                  </a:tcPr>
                </a:tc>
              </a:tr>
              <a:tr h="251999">
                <a:tc>
                  <a:txBody>
                    <a:bodyPr/>
                    <a:lstStyle/>
                    <a:p>
                      <a:pPr algn="l"/>
                      <a:r>
                        <a:rPr sz="800" b="0" i="0">
                          <a:solidFill>
                            <a:srgbClr val="0D0D0D"/>
                          </a:solidFill>
                          <a:latin typeface="Calibri"/>
                        </a:rPr>
                        <a:t>Alphabet</a:t>
                      </a:r>
                    </a:p>
                  </a:txBody>
                  <a:tcPr>
                    <a:solidFill>
                      <a:srgbClr val="FFFFFF"/>
                    </a:solidFill>
                  </a:tcPr>
                </a:tc>
                <a:tc>
                  <a:txBody>
                    <a:bodyPr/>
                    <a:lstStyle/>
                    <a:p>
                      <a:pPr algn="ctr"/>
                      <a:r>
                        <a:rPr sz="750" b="0" i="0">
                          <a:solidFill>
                            <a:srgbClr val="555555"/>
                          </a:solidFill>
                          <a:latin typeface="Calibri"/>
                        </a:rPr>
                        <a:t>GOOGL</a:t>
                      </a:r>
                    </a:p>
                  </a:txBody>
                  <a:tcPr>
                    <a:solidFill>
                      <a:srgbClr val="FFFFFF"/>
                    </a:solidFill>
                  </a:tcPr>
                </a:tc>
                <a:tc>
                  <a:txBody>
                    <a:bodyPr/>
                    <a:lstStyle/>
                    <a:p>
                      <a:pPr algn="ctr"/>
                      <a:r>
                        <a:rPr sz="800" b="0" i="0">
                          <a:solidFill>
                            <a:srgbClr val="0D0D0D"/>
                          </a:solidFill>
                          <a:latin typeface="Calibri"/>
                        </a:rPr>
                        <a:t>2 100,0</a:t>
                      </a:r>
                    </a:p>
                  </a:txBody>
                  <a:tcPr>
                    <a:solidFill>
                      <a:srgbClr val="FFFFFF"/>
                    </a:solidFill>
                  </a:tcPr>
                </a:tc>
                <a:tc>
                  <a:txBody>
                    <a:bodyPr/>
                    <a:lstStyle/>
                    <a:p>
                      <a:pPr algn="ctr"/>
                      <a:r>
                        <a:rPr sz="800" b="0" i="0">
                          <a:solidFill>
                            <a:srgbClr val="0D0D0D"/>
                          </a:solidFill>
                          <a:latin typeface="Calibri"/>
                        </a:rPr>
                        <a:t>15,2x</a:t>
                      </a:r>
                    </a:p>
                  </a:txBody>
                  <a:tcPr>
                    <a:solidFill>
                      <a:srgbClr val="FFFFFF"/>
                    </a:solidFill>
                  </a:tcPr>
                </a:tc>
                <a:tc>
                  <a:txBody>
                    <a:bodyPr/>
                    <a:lstStyle/>
                    <a:p>
                      <a:pPr algn="ctr"/>
                      <a:r>
                        <a:rPr sz="800" b="0" i="0">
                          <a:solidFill>
                            <a:srgbClr val="0D0D0D"/>
                          </a:solidFill>
                          <a:latin typeface="Calibri"/>
                        </a:rPr>
                        <a:t>7,8x</a:t>
                      </a:r>
                    </a:p>
                  </a:txBody>
                  <a:tcPr>
                    <a:solidFill>
                      <a:srgbClr val="FFFFFF"/>
                    </a:solidFill>
                  </a:tcPr>
                </a:tc>
                <a:tc>
                  <a:txBody>
                    <a:bodyPr/>
                    <a:lstStyle/>
                    <a:p>
                      <a:pPr algn="ctr"/>
                      <a:r>
                        <a:rPr sz="800" b="0" i="0">
                          <a:solidFill>
                            <a:srgbClr val="0D0D0D"/>
                          </a:solidFill>
                          <a:latin typeface="Calibri"/>
                        </a:rPr>
                        <a:t>24,5x</a:t>
                      </a:r>
                    </a:p>
                  </a:txBody>
                  <a:tcPr>
                    <a:solidFill>
                      <a:srgbClr val="FFFFFF"/>
                    </a:solidFill>
                  </a:tcPr>
                </a:tc>
                <a:tc>
                  <a:txBody>
                    <a:bodyPr/>
                    <a:lstStyle/>
                    <a:p>
                      <a:pPr algn="ctr"/>
                      <a:r>
                        <a:rPr sz="800" b="0" i="0">
                          <a:solidFill>
                            <a:srgbClr val="0D0D0D"/>
                          </a:solidFill>
                          <a:latin typeface="Calibri"/>
                        </a:rPr>
                        <a:t>56,0 %</a:t>
                      </a:r>
                    </a:p>
                  </a:txBody>
                  <a:tcPr>
                    <a:solidFill>
                      <a:srgbClr val="FFFFFF"/>
                    </a:solidFill>
                  </a:tcPr>
                </a:tc>
                <a:tc>
                  <a:txBody>
                    <a:bodyPr/>
                    <a:lstStyle/>
                    <a:p>
                      <a:pPr algn="ctr"/>
                      <a:r>
                        <a:rPr sz="800" b="0" i="0">
                          <a:solidFill>
                            <a:srgbClr val="0D0D0D"/>
                          </a:solidFill>
                          <a:latin typeface="Calibri"/>
                        </a:rPr>
                        <a:t>32,0 %</a:t>
                      </a:r>
                    </a:p>
                  </a:txBody>
                  <a:tcPr>
                    <a:solidFill>
                      <a:srgbClr val="FFFFFF"/>
                    </a:solidFill>
                  </a:tcPr>
                </a:tc>
              </a:tr>
              <a:tr h="251999">
                <a:tc>
                  <a:txBody>
                    <a:bodyPr/>
                    <a:lstStyle/>
                    <a:p>
                      <a:pPr algn="l"/>
                      <a:r>
                        <a:rPr sz="800" b="0" i="0">
                          <a:solidFill>
                            <a:srgbClr val="0D0D0D"/>
                          </a:solidFill>
                          <a:latin typeface="Calibri"/>
                        </a:rPr>
                        <a:t>Amazon</a:t>
                      </a:r>
                    </a:p>
                  </a:txBody>
                  <a:tcPr>
                    <a:solidFill>
                      <a:srgbClr val="F7F8FA"/>
                    </a:solidFill>
                  </a:tcPr>
                </a:tc>
                <a:tc>
                  <a:txBody>
                    <a:bodyPr/>
                    <a:lstStyle/>
                    <a:p>
                      <a:pPr algn="ctr"/>
                      <a:r>
                        <a:rPr sz="750" b="0" i="0">
                          <a:solidFill>
                            <a:srgbClr val="555555"/>
                          </a:solidFill>
                          <a:latin typeface="Calibri"/>
                        </a:rPr>
                        <a:t>AMZN</a:t>
                      </a:r>
                    </a:p>
                  </a:txBody>
                  <a:tcPr>
                    <a:solidFill>
                      <a:srgbClr val="F7F8FA"/>
                    </a:solidFill>
                  </a:tcPr>
                </a:tc>
                <a:tc>
                  <a:txBody>
                    <a:bodyPr/>
                    <a:lstStyle/>
                    <a:p>
                      <a:pPr algn="ctr"/>
                      <a:r>
                        <a:rPr sz="800" b="0" i="0">
                          <a:solidFill>
                            <a:srgbClr val="0D0D0D"/>
                          </a:solidFill>
                          <a:latin typeface="Calibri"/>
                        </a:rPr>
                        <a:t>1 850,0</a:t>
                      </a:r>
                    </a:p>
                  </a:txBody>
                  <a:tcPr>
                    <a:solidFill>
                      <a:srgbClr val="F7F8FA"/>
                    </a:solidFill>
                  </a:tcPr>
                </a:tc>
                <a:tc>
                  <a:txBody>
                    <a:bodyPr/>
                    <a:lstStyle/>
                    <a:p>
                      <a:pPr algn="ctr"/>
                      <a:r>
                        <a:rPr sz="800" b="0" i="0">
                          <a:solidFill>
                            <a:srgbClr val="0D0D0D"/>
                          </a:solidFill>
                          <a:latin typeface="Calibri"/>
                        </a:rPr>
                        <a:t>16,8x</a:t>
                      </a:r>
                    </a:p>
                  </a:txBody>
                  <a:tcPr>
                    <a:solidFill>
                      <a:srgbClr val="F7F8FA"/>
                    </a:solidFill>
                  </a:tcPr>
                </a:tc>
                <a:tc>
                  <a:txBody>
                    <a:bodyPr/>
                    <a:lstStyle/>
                    <a:p>
                      <a:pPr algn="ctr"/>
                      <a:r>
                        <a:rPr sz="800" b="0" i="0">
                          <a:solidFill>
                            <a:srgbClr val="0D0D0D"/>
                          </a:solidFill>
                          <a:latin typeface="Calibri"/>
                        </a:rPr>
                        <a:t>3,2x</a:t>
                      </a:r>
                    </a:p>
                  </a:txBody>
                  <a:tcPr>
                    <a:solidFill>
                      <a:srgbClr val="F7F8FA"/>
                    </a:solidFill>
                  </a:tcPr>
                </a:tc>
                <a:tc>
                  <a:txBody>
                    <a:bodyPr/>
                    <a:lstStyle/>
                    <a:p>
                      <a:pPr algn="ctr"/>
                      <a:r>
                        <a:rPr sz="800" b="0" i="0">
                          <a:solidFill>
                            <a:srgbClr val="0D0D0D"/>
                          </a:solidFill>
                          <a:latin typeface="Calibri"/>
                        </a:rPr>
                        <a:t>55,0x</a:t>
                      </a:r>
                    </a:p>
                  </a:txBody>
                  <a:tcPr>
                    <a:solidFill>
                      <a:srgbClr val="F7F8FA"/>
                    </a:solidFill>
                  </a:tcPr>
                </a:tc>
                <a:tc>
                  <a:txBody>
                    <a:bodyPr/>
                    <a:lstStyle/>
                    <a:p>
                      <a:pPr algn="ctr"/>
                      <a:r>
                        <a:rPr sz="800" b="0" i="0">
                          <a:solidFill>
                            <a:srgbClr val="0D0D0D"/>
                          </a:solidFill>
                          <a:latin typeface="Calibri"/>
                        </a:rPr>
                        <a:t>45,0 %</a:t>
                      </a:r>
                    </a:p>
                  </a:txBody>
                  <a:tcPr>
                    <a:solidFill>
                      <a:srgbClr val="F7F8FA"/>
                    </a:solidFill>
                  </a:tcPr>
                </a:tc>
                <a:tc>
                  <a:txBody>
                    <a:bodyPr/>
                    <a:lstStyle/>
                    <a:p>
                      <a:pPr algn="ctr"/>
                      <a:r>
                        <a:rPr sz="800" b="0" i="0">
                          <a:solidFill>
                            <a:srgbClr val="0D0D0D"/>
                          </a:solidFill>
                          <a:latin typeface="Calibri"/>
                        </a:rPr>
                        <a:t>12,0 %</a:t>
                      </a:r>
                    </a:p>
                  </a:txBody>
                  <a:tcPr>
                    <a:solidFill>
                      <a:srgbClr val="F7F8FA"/>
                    </a:solidFill>
                  </a:tcPr>
                </a:tc>
              </a:tr>
              <a:tr h="251999">
                <a:tc>
                  <a:txBody>
                    <a:bodyPr/>
                    <a:lstStyle/>
                    <a:p>
                      <a:pPr algn="l"/>
                      <a:r>
                        <a:rPr sz="800" b="0" i="0">
                          <a:solidFill>
                            <a:srgbClr val="0D0D0D"/>
                          </a:solidFill>
                          <a:latin typeface="Calibri"/>
                        </a:rPr>
                        <a:t>Salesforce</a:t>
                      </a:r>
                    </a:p>
                  </a:txBody>
                  <a:tcPr>
                    <a:solidFill>
                      <a:srgbClr val="FFFFFF"/>
                    </a:solidFill>
                  </a:tcPr>
                </a:tc>
                <a:tc>
                  <a:txBody>
                    <a:bodyPr/>
                    <a:lstStyle/>
                    <a:p>
                      <a:pPr algn="ctr"/>
                      <a:r>
                        <a:rPr sz="750" b="0" i="0">
                          <a:solidFill>
                            <a:srgbClr val="555555"/>
                          </a:solidFill>
                          <a:latin typeface="Calibri"/>
                        </a:rPr>
                        <a:t>CRM</a:t>
                      </a:r>
                    </a:p>
                  </a:txBody>
                  <a:tcPr>
                    <a:solidFill>
                      <a:srgbClr val="FFFFFF"/>
                    </a:solidFill>
                  </a:tcPr>
                </a:tc>
                <a:tc>
                  <a:txBody>
                    <a:bodyPr/>
                    <a:lstStyle/>
                    <a:p>
                      <a:pPr algn="ctr"/>
                      <a:r>
                        <a:rPr sz="800" b="0" i="0">
                          <a:solidFill>
                            <a:srgbClr val="0D0D0D"/>
                          </a:solidFill>
                          <a:latin typeface="Calibri"/>
                        </a:rPr>
                        <a:t>280,0</a:t>
                      </a:r>
                    </a:p>
                  </a:txBody>
                  <a:tcPr>
                    <a:solidFill>
                      <a:srgbClr val="FFFFFF"/>
                    </a:solidFill>
                  </a:tcPr>
                </a:tc>
                <a:tc>
                  <a:txBody>
                    <a:bodyPr/>
                    <a:lstStyle/>
                    <a:p>
                      <a:pPr algn="ctr"/>
                      <a:r>
                        <a:rPr sz="800" b="0" i="0">
                          <a:solidFill>
                            <a:srgbClr val="0D0D0D"/>
                          </a:solidFill>
                          <a:latin typeface="Calibri"/>
                        </a:rPr>
                        <a:t>22,1x</a:t>
                      </a:r>
                    </a:p>
                  </a:txBody>
                  <a:tcPr>
                    <a:solidFill>
                      <a:srgbClr val="FFFFFF"/>
                    </a:solidFill>
                  </a:tcPr>
                </a:tc>
                <a:tc>
                  <a:txBody>
                    <a:bodyPr/>
                    <a:lstStyle/>
                    <a:p>
                      <a:pPr algn="ctr"/>
                      <a:r>
                        <a:rPr sz="800" b="0" i="0">
                          <a:solidFill>
                            <a:srgbClr val="0D0D0D"/>
                          </a:solidFill>
                          <a:latin typeface="Calibri"/>
                        </a:rPr>
                        <a:t>6,5x</a:t>
                      </a:r>
                    </a:p>
                  </a:txBody>
                  <a:tcPr>
                    <a:solidFill>
                      <a:srgbClr val="FFFFFF"/>
                    </a:solidFill>
                  </a:tcPr>
                </a:tc>
                <a:tc>
                  <a:txBody>
                    <a:bodyPr/>
                    <a:lstStyle/>
                    <a:p>
                      <a:pPr algn="ctr"/>
                      <a:r>
                        <a:rPr sz="800" b="0" i="0">
                          <a:solidFill>
                            <a:srgbClr val="0D0D0D"/>
                          </a:solidFill>
                          <a:latin typeface="Calibri"/>
                        </a:rPr>
                        <a:t>45,0x</a:t>
                      </a:r>
                    </a:p>
                  </a:txBody>
                  <a:tcPr>
                    <a:solidFill>
                      <a:srgbClr val="FFFFFF"/>
                    </a:solidFill>
                  </a:tcPr>
                </a:tc>
                <a:tc>
                  <a:txBody>
                    <a:bodyPr/>
                    <a:lstStyle/>
                    <a:p>
                      <a:pPr algn="ctr"/>
                      <a:r>
                        <a:rPr sz="800" b="0" i="0">
                          <a:solidFill>
                            <a:srgbClr val="0D0D0D"/>
                          </a:solidFill>
                          <a:latin typeface="Calibri"/>
                        </a:rPr>
                        <a:t>72,0 %</a:t>
                      </a:r>
                    </a:p>
                  </a:txBody>
                  <a:tcPr>
                    <a:solidFill>
                      <a:srgbClr val="FFFFFF"/>
                    </a:solidFill>
                  </a:tcPr>
                </a:tc>
                <a:tc>
                  <a:txBody>
                    <a:bodyPr/>
                    <a:lstStyle/>
                    <a:p>
                      <a:pPr algn="ctr"/>
                      <a:r>
                        <a:rPr sz="800" b="0" i="0">
                          <a:solidFill>
                            <a:srgbClr val="0D0D0D"/>
                          </a:solidFill>
                          <a:latin typeface="Calibri"/>
                        </a:rPr>
                        <a:t>28,0 %</a:t>
                      </a:r>
                    </a:p>
                  </a:txBody>
                  <a:tcPr>
                    <a:solidFill>
                      <a:srgbClr val="FFFFFF"/>
                    </a:solidFill>
                  </a:tcPr>
                </a:tc>
              </a:tr>
              <a:tr h="251999">
                <a:tc>
                  <a:txBody>
                    <a:bodyPr/>
                    <a:lstStyle/>
                    <a:p>
                      <a:pPr algn="l"/>
                      <a:r>
                        <a:rPr sz="800" b="0" i="0">
                          <a:solidFill>
                            <a:srgbClr val="0D0D0D"/>
                          </a:solidFill>
                          <a:latin typeface="Calibri"/>
                        </a:rPr>
                        <a:t>Oracle</a:t>
                      </a:r>
                    </a:p>
                  </a:txBody>
                  <a:tcPr>
                    <a:solidFill>
                      <a:srgbClr val="F7F8FA"/>
                    </a:solidFill>
                  </a:tcPr>
                </a:tc>
                <a:tc>
                  <a:txBody>
                    <a:bodyPr/>
                    <a:lstStyle/>
                    <a:p>
                      <a:pPr algn="ctr"/>
                      <a:r>
                        <a:rPr sz="750" b="0" i="0">
                          <a:solidFill>
                            <a:srgbClr val="555555"/>
                          </a:solidFill>
                          <a:latin typeface="Calibri"/>
                        </a:rPr>
                        <a:t>ORCL</a:t>
                      </a:r>
                    </a:p>
                  </a:txBody>
                  <a:tcPr>
                    <a:solidFill>
                      <a:srgbClr val="F7F8FA"/>
                    </a:solidFill>
                  </a:tcPr>
                </a:tc>
                <a:tc>
                  <a:txBody>
                    <a:bodyPr/>
                    <a:lstStyle/>
                    <a:p>
                      <a:pPr algn="ctr"/>
                      <a:r>
                        <a:rPr sz="800" b="0" i="0">
                          <a:solidFill>
                            <a:srgbClr val="0D0D0D"/>
                          </a:solidFill>
                          <a:latin typeface="Calibri"/>
                        </a:rPr>
                        <a:t>320,0</a:t>
                      </a:r>
                    </a:p>
                  </a:txBody>
                  <a:tcPr>
                    <a:solidFill>
                      <a:srgbClr val="F7F8FA"/>
                    </a:solidFill>
                  </a:tcPr>
                </a:tc>
                <a:tc>
                  <a:txBody>
                    <a:bodyPr/>
                    <a:lstStyle/>
                    <a:p>
                      <a:pPr algn="ctr"/>
                      <a:r>
                        <a:rPr sz="800" b="0" i="0">
                          <a:solidFill>
                            <a:srgbClr val="0D0D0D"/>
                          </a:solidFill>
                          <a:latin typeface="Calibri"/>
                        </a:rPr>
                        <a:t>14,5x</a:t>
                      </a:r>
                    </a:p>
                  </a:txBody>
                  <a:tcPr>
                    <a:solidFill>
                      <a:srgbClr val="F7F8FA"/>
                    </a:solidFill>
                  </a:tcPr>
                </a:tc>
                <a:tc>
                  <a:txBody>
                    <a:bodyPr/>
                    <a:lstStyle/>
                    <a:p>
                      <a:pPr algn="ctr"/>
                      <a:r>
                        <a:rPr sz="800" b="0" i="0">
                          <a:solidFill>
                            <a:srgbClr val="0D0D0D"/>
                          </a:solidFill>
                          <a:latin typeface="Calibri"/>
                        </a:rPr>
                        <a:t>6,1x</a:t>
                      </a:r>
                    </a:p>
                  </a:txBody>
                  <a:tcPr>
                    <a:solidFill>
                      <a:srgbClr val="F7F8FA"/>
                    </a:solidFill>
                  </a:tcPr>
                </a:tc>
                <a:tc>
                  <a:txBody>
                    <a:bodyPr/>
                    <a:lstStyle/>
                    <a:p>
                      <a:pPr algn="ctr"/>
                      <a:r>
                        <a:rPr sz="800" b="0" i="0">
                          <a:solidFill>
                            <a:srgbClr val="0D0D0D"/>
                          </a:solidFill>
                          <a:latin typeface="Calibri"/>
                        </a:rPr>
                        <a:t>22,0x</a:t>
                      </a:r>
                    </a:p>
                  </a:txBody>
                  <a:tcPr>
                    <a:solidFill>
                      <a:srgbClr val="F7F8FA"/>
                    </a:solidFill>
                  </a:tcPr>
                </a:tc>
                <a:tc>
                  <a:txBody>
                    <a:bodyPr/>
                    <a:lstStyle/>
                    <a:p>
                      <a:pPr algn="ctr"/>
                      <a:r>
                        <a:rPr sz="800" b="0" i="0">
                          <a:solidFill>
                            <a:srgbClr val="0D0D0D"/>
                          </a:solidFill>
                          <a:latin typeface="Calibri"/>
                        </a:rPr>
                        <a:t>80,0 %</a:t>
                      </a:r>
                    </a:p>
                  </a:txBody>
                  <a:tcPr>
                    <a:solidFill>
                      <a:srgbClr val="F7F8FA"/>
                    </a:solidFill>
                  </a:tcPr>
                </a:tc>
                <a:tc>
                  <a:txBody>
                    <a:bodyPr/>
                    <a:lstStyle/>
                    <a:p>
                      <a:pPr algn="ctr"/>
                      <a:r>
                        <a:rPr sz="800" b="0" i="0">
                          <a:solidFill>
                            <a:srgbClr val="0D0D0D"/>
                          </a:solidFill>
                          <a:latin typeface="Calibri"/>
                        </a:rPr>
                        <a:t>45,0 %</a:t>
                      </a:r>
                    </a:p>
                  </a:txBody>
                  <a:tcPr>
                    <a:solidFill>
                      <a:srgbClr val="F7F8FA"/>
                    </a:solidFill>
                  </a:tcPr>
                </a:tc>
              </a:tr>
              <a:tr h="251999">
                <a:tc>
                  <a:txBody>
                    <a:bodyPr/>
                    <a:lstStyle/>
                    <a:p>
                      <a:pPr algn="l"/>
                      <a:r>
                        <a:rPr sz="800" b="0" i="0">
                          <a:solidFill>
                            <a:srgbClr val="0D0D0D"/>
                          </a:solidFill>
                          <a:latin typeface="Calibri"/>
                        </a:rPr>
                        <a:t>IBM</a:t>
                      </a:r>
                    </a:p>
                  </a:txBody>
                  <a:tcPr>
                    <a:solidFill>
                      <a:srgbClr val="FFFFFF"/>
                    </a:solidFill>
                  </a:tcPr>
                </a:tc>
                <a:tc>
                  <a:txBody>
                    <a:bodyPr/>
                    <a:lstStyle/>
                    <a:p>
                      <a:pPr algn="ctr"/>
                      <a:r>
                        <a:rPr sz="750" b="0" i="0">
                          <a:solidFill>
                            <a:srgbClr val="555555"/>
                          </a:solidFill>
                          <a:latin typeface="Calibri"/>
                        </a:rPr>
                        <a:t>IBM</a:t>
                      </a:r>
                    </a:p>
                  </a:txBody>
                  <a:tcPr>
                    <a:solidFill>
                      <a:srgbClr val="FFFFFF"/>
                    </a:solidFill>
                  </a:tcPr>
                </a:tc>
                <a:tc>
                  <a:txBody>
                    <a:bodyPr/>
                    <a:lstStyle/>
                    <a:p>
                      <a:pPr algn="ctr"/>
                      <a:r>
                        <a:rPr sz="800" b="0" i="0">
                          <a:solidFill>
                            <a:srgbClr val="0D0D0D"/>
                          </a:solidFill>
                          <a:latin typeface="Calibri"/>
                        </a:rPr>
                        <a:t>160,0</a:t>
                      </a:r>
                    </a:p>
                  </a:txBody>
                  <a:tcPr>
                    <a:solidFill>
                      <a:srgbClr val="FFFFFF"/>
                    </a:solidFill>
                  </a:tcPr>
                </a:tc>
                <a:tc>
                  <a:txBody>
                    <a:bodyPr/>
                    <a:lstStyle/>
                    <a:p>
                      <a:pPr algn="ctr"/>
                      <a:r>
                        <a:rPr sz="800" b="0" i="0">
                          <a:solidFill>
                            <a:srgbClr val="0D0D0D"/>
                          </a:solidFill>
                          <a:latin typeface="Calibri"/>
                        </a:rPr>
                        <a:t>11,2x</a:t>
                      </a:r>
                    </a:p>
                  </a:txBody>
                  <a:tcPr>
                    <a:solidFill>
                      <a:srgbClr val="FFFFFF"/>
                    </a:solidFill>
                  </a:tcPr>
                </a:tc>
                <a:tc>
                  <a:txBody>
                    <a:bodyPr/>
                    <a:lstStyle/>
                    <a:p>
                      <a:pPr algn="ctr"/>
                      <a:r>
                        <a:rPr sz="800" b="0" i="0">
                          <a:solidFill>
                            <a:srgbClr val="0D0D0D"/>
                          </a:solidFill>
                          <a:latin typeface="Calibri"/>
                        </a:rPr>
                        <a:t>1,8x</a:t>
                      </a:r>
                    </a:p>
                  </a:txBody>
                  <a:tcPr>
                    <a:solidFill>
                      <a:srgbClr val="FFFFFF"/>
                    </a:solidFill>
                  </a:tcPr>
                </a:tc>
                <a:tc>
                  <a:txBody>
                    <a:bodyPr/>
                    <a:lstStyle/>
                    <a:p>
                      <a:pPr algn="ctr"/>
                      <a:r>
                        <a:rPr sz="800" b="0" i="0">
                          <a:solidFill>
                            <a:srgbClr val="0D0D0D"/>
                          </a:solidFill>
                          <a:latin typeface="Calibri"/>
                        </a:rPr>
                        <a:t>18,0x</a:t>
                      </a:r>
                    </a:p>
                  </a:txBody>
                  <a:tcPr>
                    <a:solidFill>
                      <a:srgbClr val="FFFFFF"/>
                    </a:solidFill>
                  </a:tcPr>
                </a:tc>
                <a:tc>
                  <a:txBody>
                    <a:bodyPr/>
                    <a:lstStyle/>
                    <a:p>
                      <a:pPr algn="ctr"/>
                      <a:r>
                        <a:rPr sz="800" b="0" i="0">
                          <a:solidFill>
                            <a:srgbClr val="0D0D0D"/>
                          </a:solidFill>
                          <a:latin typeface="Calibri"/>
                        </a:rPr>
                        <a:t>52,0 %</a:t>
                      </a:r>
                    </a:p>
                  </a:txBody>
                  <a:tcPr>
                    <a:solidFill>
                      <a:srgbClr val="FFFFFF"/>
                    </a:solidFill>
                  </a:tcPr>
                </a:tc>
                <a:tc>
                  <a:txBody>
                    <a:bodyPr/>
                    <a:lstStyle/>
                    <a:p>
                      <a:pPr algn="ctr"/>
                      <a:r>
                        <a:rPr sz="800" b="0" i="0">
                          <a:solidFill>
                            <a:srgbClr val="0D0D0D"/>
                          </a:solidFill>
                          <a:latin typeface="Calibri"/>
                        </a:rPr>
                        <a:t>22,0 %</a:t>
                      </a:r>
                    </a:p>
                  </a:txBody>
                  <a:tcPr>
                    <a:solidFill>
                      <a:srgbClr val="FFFFFF"/>
                    </a:solidFill>
                  </a:tcPr>
                </a:tc>
              </a:tr>
              <a:tr h="252006">
                <a:tc>
                  <a:txBody>
                    <a:bodyPr/>
                    <a:lstStyle/>
                    <a:p>
                      <a:pPr algn="l"/>
                      <a:r>
                        <a:rPr sz="800" b="1" i="0">
                          <a:solidFill>
                            <a:srgbClr val="0D0D0D"/>
                          </a:solidFill>
                          <a:latin typeface="Calibri"/>
                        </a:rPr>
                        <a:t>Médiane peers</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15,2x</a:t>
                      </a:r>
                    </a:p>
                  </a:txBody>
                  <a:tcPr>
                    <a:solidFill>
                      <a:srgbClr val="F7F8FA"/>
                    </a:solidFill>
                  </a:tcPr>
                </a:tc>
                <a:tc>
                  <a:txBody>
                    <a:bodyPr/>
                    <a:lstStyle/>
                    <a:p>
                      <a:pPr algn="ctr"/>
                      <a:r>
                        <a:rPr sz="800" b="1" i="0">
                          <a:solidFill>
                            <a:srgbClr val="0D0D0D"/>
                          </a:solidFill>
                          <a:latin typeface="Calibri"/>
                        </a:rPr>
                        <a:t>6,1x</a:t>
                      </a:r>
                    </a:p>
                  </a:txBody>
                  <a:tcPr>
                    <a:solidFill>
                      <a:srgbClr val="F7F8FA"/>
                    </a:solidFill>
                  </a:tcPr>
                </a:tc>
                <a:tc>
                  <a:txBody>
                    <a:bodyPr/>
                    <a:lstStyle/>
                    <a:p>
                      <a:pPr algn="ctr"/>
                      <a:r>
                        <a:rPr sz="800" b="1" i="0">
                          <a:solidFill>
                            <a:srgbClr val="0D0D0D"/>
                          </a:solidFill>
                          <a:latin typeface="Calibri"/>
                        </a:rPr>
                        <a:t>24,5x</a:t>
                      </a:r>
                    </a:p>
                  </a:txBody>
                  <a:tcPr>
                    <a:solidFill>
                      <a:srgbClr val="F7F8FA"/>
                    </a:solidFill>
                  </a:tcPr>
                </a:tc>
                <a:tc>
                  <a:txBody>
                    <a:bodyPr/>
                    <a:lstStyle/>
                    <a:p>
                      <a:pPr algn="ctr"/>
                      <a:r>
                        <a:rPr sz="800" b="1" i="0">
                          <a:solidFill>
                            <a:srgbClr val="0D0D0D"/>
                          </a:solidFill>
                          <a:latin typeface="Calibri"/>
                        </a:rPr>
                        <a:t>56,0 %</a:t>
                      </a:r>
                    </a:p>
                  </a:txBody>
                  <a:tcPr>
                    <a:solidFill>
                      <a:srgbClr val="F7F8FA"/>
                    </a:solidFill>
                  </a:tcPr>
                </a:tc>
                <a:tc>
                  <a:txBody>
                    <a:bodyPr/>
                    <a:lstStyle/>
                    <a:p>
                      <a:pPr algn="ctr"/>
                      <a:r>
                        <a:rPr sz="800" b="1" i="0">
                          <a:solidFill>
                            <a:srgbClr val="0D0D0D"/>
                          </a:solidFill>
                          <a:latin typeface="Calibri"/>
                        </a:rPr>
                        <a:t>28,0 %</a:t>
                      </a:r>
                    </a:p>
                  </a:txBody>
                  <a:tcPr>
                    <a:solidFill>
                      <a:srgbClr val="F7F8FA"/>
                    </a:solidFill>
                  </a:tcPr>
                </a:tc>
              </a:tr>
            </a:tbl>
          </a:graphicData>
        </a:graphic>
      </p:graphicFrame>
      <p:sp>
        <p:nvSpPr>
          <p:cNvPr id="18" name="Rectangle 17"/>
          <p:cNvSpPr/>
          <p:nvPr/>
        </p:nvSpPr>
        <p:spPr>
          <a:xfrm>
            <a:off x="367200" y="3128400"/>
            <a:ext cx="8413200" cy="154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67200" y="3128400"/>
            <a:ext cx="79200" cy="1548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75200" y="3157200"/>
            <a:ext cx="8298000" cy="151200"/>
          </a:xfrm>
          <a:prstGeom prst="rect">
            <a:avLst/>
          </a:prstGeom>
          <a:noFill/>
        </p:spPr>
        <p:txBody>
          <a:bodyPr wrap="none">
            <a:spAutoFit/>
          </a:bodyPr>
          <a:lstStyle/>
          <a:p>
            <a:pPr algn="l"/>
            <a:r>
              <a:rPr sz="950" b="1" i="0">
                <a:solidFill>
                  <a:srgbClr val="1B3A6B"/>
                </a:solidFill>
                <a:latin typeface="Calibri"/>
              </a:rPr>
              <a:t>MSFT — positionnément vs comparables sectoriels</a:t>
            </a:r>
          </a:p>
        </p:txBody>
      </p:sp>
      <p:sp>
        <p:nvSpPr>
          <p:cNvPr id="21" name="TextBox 20"/>
          <p:cNvSpPr txBox="1"/>
          <p:nvPr/>
        </p:nvSpPr>
        <p:spPr>
          <a:xfrm>
            <a:off x="475200" y="3326400"/>
            <a:ext cx="8298000" cy="1324800"/>
          </a:xfrm>
          <a:prstGeom prst="rect">
            <a:avLst/>
          </a:prstGeom>
          <a:noFill/>
        </p:spPr>
        <p:txBody>
          <a:bodyPr wrap="square">
            <a:spAutoFit/>
          </a:bodyPr>
          <a:lstStyle/>
          <a:p>
            <a:pPr algn="l"/>
            <a:r>
              <a:rPr sz="850" b="0" i="0">
                <a:solidFill>
                  <a:srgbClr val="555555"/>
                </a:solidFill>
                <a:latin typeface="Calibri"/>
              </a:rPr>
              <a:t>Microsoft affiche un P/E de 28.7x vs une médiane peers de 25.5x (+12.5%), justifié par une croissance du CA supérieure (+15% vs +12% peers) et des marges EBITDA supérieures (+56.9% vs +52%). Une convergence vers la médiane impliquerait un downside de 11%, peu probable compte tenu de la dynamique actuelle. La marge EBITDA progresse de 50.6% (2022) à 56.9% (2025), portée par la montée en puissance d’Azure (+25 pts de contribution) et la réduction des coûts fixes. Le pricing power est durable grâce à la différenciation technologique et la fidélisation client. Risque de mean-reversion limité par la récurrence des revenus SaaS. Microsoft se négocie à 18.3x EV/EBITDA vs une médiane sectorielle de 16.5x (+11%). La prime reflète sa qualité d’actifs et sa croissance supérieure.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Football Field Chart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Synthèse des méthodes de valorisation  ·  USD par action</a:t>
            </a:r>
          </a:p>
        </p:txBody>
      </p:sp>
      <p:pic>
        <p:nvPicPr>
          <p:cNvPr id="17" name="Picture 16" descr="image.png"/>
          <p:cNvPicPr>
            <a:picLocks noChangeAspect="1"/>
          </p:cNvPicPr>
          <p:nvPr/>
        </p:nvPicPr>
        <p:blipFill>
          <a:blip r:embed="rId2"/>
          <a:stretch>
            <a:fillRect/>
          </a:stretch>
        </p:blipFill>
        <p:spPr>
          <a:xfrm>
            <a:off x="367200" y="914400"/>
            <a:ext cx="8413200" cy="2448000"/>
          </a:xfrm>
          <a:prstGeom prst="rect">
            <a:avLst/>
          </a:prstGeom>
        </p:spPr>
      </p:pic>
      <p:sp>
        <p:nvSpPr>
          <p:cNvPr id="18" name="Rectangle 17"/>
          <p:cNvSpPr/>
          <p:nvPr/>
        </p:nvSpPr>
        <p:spPr>
          <a:xfrm>
            <a:off x="367200" y="3488400"/>
            <a:ext cx="8413200" cy="12816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67200" y="3488400"/>
            <a:ext cx="79200" cy="1281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75200" y="3517200"/>
            <a:ext cx="8298000" cy="151200"/>
          </a:xfrm>
          <a:prstGeom prst="rect">
            <a:avLst/>
          </a:prstGeom>
          <a:noFill/>
        </p:spPr>
        <p:txBody>
          <a:bodyPr wrap="none">
            <a:spAutoFit/>
          </a:bodyPr>
          <a:lstStyle/>
          <a:p>
            <a:pPr algn="l"/>
            <a:r>
              <a:rPr sz="950" b="1" i="0">
                <a:solidFill>
                  <a:srgbClr val="1B3A6B"/>
                </a:solidFill>
                <a:latin typeface="Calibri"/>
              </a:rPr>
              <a:t>MSFT — football field et fourchette de valorisation</a:t>
            </a:r>
          </a:p>
        </p:txBody>
      </p:sp>
      <p:sp>
        <p:nvSpPr>
          <p:cNvPr id="21" name="TextBox 20"/>
          <p:cNvSpPr txBox="1"/>
          <p:nvPr/>
        </p:nvSpPr>
        <p:spPr>
          <a:xfrm>
            <a:off x="475200" y="3686400"/>
            <a:ext cx="8298000" cy="1058400"/>
          </a:xfrm>
          <a:prstGeom prst="rect">
            <a:avLst/>
          </a:prstGeom>
          <a:noFill/>
        </p:spPr>
        <p:txBody>
          <a:bodyPr wrap="square">
            <a:spAutoFit/>
          </a:bodyPr>
          <a:lstStyle/>
          <a:p>
            <a:pPr algn="l"/>
            <a:r>
              <a:rPr sz="850" b="0" i="0">
                <a:solidFill>
                  <a:srgbClr val="555555"/>
                </a:solidFill>
                <a:latin typeface="Calibri"/>
              </a:rPr>
              <a:t>Avec un WACC de 10.3% et une TGR de 3.0%, le prix implicite DCF est de 425$ (base), soit +8% vs cours actuel. L’upside reflète une sous-valorisation structurelle liée à la croissance de l’IA et à la résilience des marges. Microsoft se négocie à 18.3x EV/EBITDA vs une médiane sectorielle de 16.5x (+11%). La prime reflète sa qualité d’actifs et sa croissance supérieure.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Multiples de Valorisation Historiques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MSFT · P/E &amp; EV/EBITDA sur 5 ans · Standards marché</a:t>
            </a:r>
          </a:p>
        </p:txBody>
      </p:sp>
      <p:pic>
        <p:nvPicPr>
          <p:cNvPr id="17" name="Picture 16" descr="image.png"/>
          <p:cNvPicPr>
            <a:picLocks noChangeAspect="1"/>
          </p:cNvPicPr>
          <p:nvPr/>
        </p:nvPicPr>
        <p:blipFill>
          <a:blip r:embed="rId2"/>
          <a:stretch>
            <a:fillRect/>
          </a:stretch>
        </p:blipFill>
        <p:spPr>
          <a:xfrm>
            <a:off x="367200" y="864000"/>
            <a:ext cx="5688000" cy="2520000"/>
          </a:xfrm>
          <a:prstGeom prst="rect">
            <a:avLst/>
          </a:prstGeom>
        </p:spPr>
      </p:pic>
      <p:sp>
        <p:nvSpPr>
          <p:cNvPr id="18" name="TextBox 17"/>
          <p:cNvSpPr txBox="1"/>
          <p:nvPr/>
        </p:nvSpPr>
        <p:spPr>
          <a:xfrm>
            <a:off x="6192000" y="864000"/>
            <a:ext cx="2592000" cy="180000"/>
          </a:xfrm>
          <a:prstGeom prst="rect">
            <a:avLst/>
          </a:prstGeom>
          <a:noFill/>
        </p:spPr>
        <p:txBody>
          <a:bodyPr wrap="square">
            <a:spAutoFit/>
          </a:bodyPr>
          <a:lstStyle/>
          <a:p>
            <a:pPr algn="l"/>
            <a:r>
              <a:rPr sz="800" b="1" i="0">
                <a:solidFill>
                  <a:srgbClr val="1B3A6B"/>
                </a:solidFill>
                <a:latin typeface="Calibri"/>
              </a:rPr>
              <a:t>SYNTHÈSE DES MULTIPLES</a:t>
            </a:r>
          </a:p>
        </p:txBody>
      </p:sp>
      <p:graphicFrame>
        <p:nvGraphicFramePr>
          <p:cNvPr id="19" name="Table 18"/>
          <p:cNvGraphicFramePr>
            <a:graphicFrameLocks noGrp="1"/>
          </p:cNvGraphicFramePr>
          <p:nvPr/>
        </p:nvGraphicFramePr>
        <p:xfrm>
          <a:off x="6192000" y="1098000"/>
          <a:ext cx="2592000" cy="1008000"/>
        </p:xfrm>
        <a:graphic>
          <a:graphicData uri="http://schemas.openxmlformats.org/drawingml/2006/table">
            <a:tbl>
              <a:tblPr firstRow="1" bandRow="1">
                <a:tableStyleId>{5C22544A-7EE6-4342-B048-85BDC9FD1C3A}</a:tableStyleId>
              </a:tblPr>
              <a:tblGrid>
                <a:gridCol w="777600"/>
                <a:gridCol w="570240"/>
                <a:gridCol w="673920"/>
                <a:gridCol w="570240"/>
              </a:tblGrid>
              <a:tr h="201600">
                <a:tc>
                  <a:txBody>
                    <a:bodyPr/>
                    <a:lstStyle/>
                    <a:p>
                      <a:pPr algn="l"/>
                      <a:r>
                        <a:rPr sz="800" b="1" i="0">
                          <a:solidFill>
                            <a:srgbClr val="FFFFFF"/>
                          </a:solidFill>
                          <a:latin typeface="Calibri"/>
                        </a:rPr>
                        <a:t>Année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P/E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EV/EB</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P/B</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01600">
                <a:tc>
                  <a:txBody>
                    <a:bodyPr/>
                    <a:lstStyle/>
                    <a:p>
                      <a:pPr algn="l"/>
                      <a:r>
                        <a:rPr sz="800" b="0" i="0">
                          <a:solidFill>
                            <a:srgbClr val="0D0D0D"/>
                          </a:solidFill>
                          <a:latin typeface="Calibri"/>
                        </a:rPr>
                        <a:t>2022</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40,1x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29,5x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17,5x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01600">
                <a:tc>
                  <a:txBody>
                    <a:bodyPr/>
                    <a:lstStyle/>
                    <a:p>
                      <a:pPr algn="l"/>
                      <a:r>
                        <a:rPr sz="800" b="0" i="0">
                          <a:solidFill>
                            <a:srgbClr val="0D0D0D"/>
                          </a:solidFill>
                          <a:latin typeface="Calibri"/>
                        </a:rPr>
                        <a:t>2023</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40,3x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27,9x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14,2x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01600">
                <a:tc>
                  <a:txBody>
                    <a:bodyPr/>
                    <a:lstStyle/>
                    <a:p>
                      <a:pPr algn="l"/>
                      <a:r>
                        <a:rPr sz="800" b="0" i="0">
                          <a:solidFill>
                            <a:srgbClr val="0D0D0D"/>
                          </a:solidFill>
                          <a:latin typeface="Calibri"/>
                        </a:rPr>
                        <a:t>2024</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33,1x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22,2x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10,9x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01600">
                <a:tc>
                  <a:txBody>
                    <a:bodyPr/>
                    <a:lstStyle/>
                    <a:p>
                      <a:pPr algn="l"/>
                      <a:r>
                        <a:rPr sz="800" b="0" i="0">
                          <a:solidFill>
                            <a:srgbClr val="0D0D0D"/>
                          </a:solidFill>
                          <a:latin typeface="Calibri"/>
                        </a:rPr>
                        <a:t>2025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28,7x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18,3x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8,5x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0" name="Rectangle 19"/>
          <p:cNvSpPr/>
          <p:nvPr/>
        </p:nvSpPr>
        <p:spPr>
          <a:xfrm>
            <a:off x="367200" y="3600000"/>
            <a:ext cx="8413200" cy="111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67200" y="3600000"/>
            <a:ext cx="79200" cy="1116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5200" y="3628800"/>
            <a:ext cx="8298000" cy="151200"/>
          </a:xfrm>
          <a:prstGeom prst="rect">
            <a:avLst/>
          </a:prstGeom>
          <a:noFill/>
        </p:spPr>
        <p:txBody>
          <a:bodyPr wrap="none">
            <a:spAutoFit/>
          </a:bodyPr>
          <a:lstStyle/>
          <a:p>
            <a:pPr algn="l"/>
            <a:r>
              <a:rPr sz="950" b="1" i="0">
                <a:solidFill>
                  <a:srgbClr val="1B3A6B"/>
                </a:solidFill>
                <a:latin typeface="Calibri"/>
              </a:rPr>
              <a:t>MSFT génère ROE 30% / ROIC 30% — création de valeur premium</a:t>
            </a:r>
          </a:p>
        </p:txBody>
      </p:sp>
      <p:sp>
        <p:nvSpPr>
          <p:cNvPr id="23" name="TextBox 22"/>
          <p:cNvSpPr txBox="1"/>
          <p:nvPr/>
        </p:nvSpPr>
        <p:spPr>
          <a:xfrm>
            <a:off x="475200" y="3798000"/>
            <a:ext cx="8298000" cy="892800"/>
          </a:xfrm>
          <a:prstGeom prst="rect">
            <a:avLst/>
          </a:prstGeom>
          <a:noFill/>
        </p:spPr>
        <p:txBody>
          <a:bodyPr wrap="square">
            <a:spAutoFit/>
          </a:bodyPr>
          <a:lstStyle/>
          <a:p>
            <a:pPr algn="l"/>
            <a:r>
              <a:rPr sz="850" b="0" i="0">
                <a:solidFill>
                  <a:srgbClr val="555555"/>
                </a:solidFill>
                <a:latin typeface="Calibri"/>
              </a:rPr>
              <a:t>Le P/E affiche une compression multiple de 11.5x sur la période (40,1x → 28,7x), signal d’une réévaluation négative du profil de croissance. L’EV/EBITDA diverge à 18,3x vs 29,5x historique. Le CA 2025 atteint 281.7 Mds$ (+14.9% YoY), avec un levier opérationnel de +230 bps sur la marge brute (de 68.4% à 68.8%) grâce au mix logiciel haute marge et aux économies d’échelle. Le ND/EBITDA à 0.1x et un FCF potentiel de 83 Mds$ (2025) permettent un rachat d’actions de 40 Mds$ et des dividendes en hausse de 10%.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Capital Returns &amp; Free Cash Flow</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MSFT · FCF yield, dividendes &amp; allocation du capital</a:t>
            </a:r>
          </a:p>
        </p:txBody>
      </p:sp>
      <p:sp>
        <p:nvSpPr>
          <p:cNvPr id="17" name="Rectangle 16"/>
          <p:cNvSpPr/>
          <p:nvPr/>
        </p:nvSpPr>
        <p:spPr>
          <a:xfrm>
            <a:off x="367200" y="824400"/>
            <a:ext cx="2015999" cy="5472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824400"/>
            <a:ext cx="64800" cy="5472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0800" y="871200"/>
            <a:ext cx="1900799" cy="234000"/>
          </a:xfrm>
          <a:prstGeom prst="rect">
            <a:avLst/>
          </a:prstGeom>
          <a:noFill/>
        </p:spPr>
        <p:txBody>
          <a:bodyPr wrap="square">
            <a:spAutoFit/>
          </a:bodyPr>
          <a:lstStyle/>
          <a:p>
            <a:pPr algn="l"/>
            <a:r>
              <a:rPr sz="1600" b="1" i="0">
                <a:solidFill>
                  <a:srgbClr val="1B3A6B"/>
                </a:solidFill>
                <a:latin typeface="Calibri"/>
              </a:rPr>
              <a:t>2,5 %</a:t>
            </a:r>
          </a:p>
        </p:txBody>
      </p:sp>
      <p:sp>
        <p:nvSpPr>
          <p:cNvPr id="20" name="TextBox 19"/>
          <p:cNvSpPr txBox="1"/>
          <p:nvPr/>
        </p:nvSpPr>
        <p:spPr>
          <a:xfrm>
            <a:off x="460800" y="1098000"/>
            <a:ext cx="1900799" cy="234000"/>
          </a:xfrm>
          <a:prstGeom prst="rect">
            <a:avLst/>
          </a:prstGeom>
          <a:noFill/>
        </p:spPr>
        <p:txBody>
          <a:bodyPr wrap="square">
            <a:spAutoFit/>
          </a:bodyPr>
          <a:lstStyle/>
          <a:p>
            <a:pPr algn="l"/>
            <a:r>
              <a:rPr sz="800" b="0" i="0">
                <a:solidFill>
                  <a:srgbClr val="555555"/>
                </a:solidFill>
                <a:latin typeface="Calibri"/>
              </a:rPr>
              <a:t>FCF Yield</a:t>
            </a:r>
          </a:p>
        </p:txBody>
      </p:sp>
      <p:sp>
        <p:nvSpPr>
          <p:cNvPr id="21" name="Rectangle 20"/>
          <p:cNvSpPr/>
          <p:nvPr/>
        </p:nvSpPr>
        <p:spPr>
          <a:xfrm>
            <a:off x="2447999" y="824400"/>
            <a:ext cx="2015999" cy="5472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447999" y="824400"/>
            <a:ext cx="64800" cy="5472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541599" y="871200"/>
            <a:ext cx="1900799" cy="234000"/>
          </a:xfrm>
          <a:prstGeom prst="rect">
            <a:avLst/>
          </a:prstGeom>
          <a:noFill/>
        </p:spPr>
        <p:txBody>
          <a:bodyPr wrap="square">
            <a:spAutoFit/>
          </a:bodyPr>
          <a:lstStyle/>
          <a:p>
            <a:pPr algn="l"/>
            <a:r>
              <a:rPr sz="1600" b="1" i="0">
                <a:solidFill>
                  <a:srgbClr val="1B3A6B"/>
                </a:solidFill>
                <a:latin typeface="Calibri"/>
              </a:rPr>
              <a:t>71,4 Mds$</a:t>
            </a:r>
          </a:p>
        </p:txBody>
      </p:sp>
      <p:sp>
        <p:nvSpPr>
          <p:cNvPr id="24" name="TextBox 23"/>
          <p:cNvSpPr txBox="1"/>
          <p:nvPr/>
        </p:nvSpPr>
        <p:spPr>
          <a:xfrm>
            <a:off x="2541599" y="1098000"/>
            <a:ext cx="1900799" cy="234000"/>
          </a:xfrm>
          <a:prstGeom prst="rect">
            <a:avLst/>
          </a:prstGeom>
          <a:noFill/>
        </p:spPr>
        <p:txBody>
          <a:bodyPr wrap="square">
            <a:spAutoFit/>
          </a:bodyPr>
          <a:lstStyle/>
          <a:p>
            <a:pPr algn="l"/>
            <a:r>
              <a:rPr sz="800" b="0" i="0">
                <a:solidFill>
                  <a:srgbClr val="555555"/>
                </a:solidFill>
                <a:latin typeface="Calibri"/>
              </a:rPr>
              <a:t>FCF (LTM)</a:t>
            </a:r>
          </a:p>
        </p:txBody>
      </p:sp>
      <p:sp>
        <p:nvSpPr>
          <p:cNvPr id="25" name="Rectangle 24"/>
          <p:cNvSpPr/>
          <p:nvPr/>
        </p:nvSpPr>
        <p:spPr>
          <a:xfrm>
            <a:off x="4528799" y="824400"/>
            <a:ext cx="2015999" cy="5472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528799" y="824400"/>
            <a:ext cx="64800" cy="5472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622399" y="871200"/>
            <a:ext cx="1900799" cy="234000"/>
          </a:xfrm>
          <a:prstGeom prst="rect">
            <a:avLst/>
          </a:prstGeom>
          <a:noFill/>
        </p:spPr>
        <p:txBody>
          <a:bodyPr wrap="square">
            <a:spAutoFit/>
          </a:bodyPr>
          <a:lstStyle/>
          <a:p>
            <a:pPr algn="l"/>
            <a:r>
              <a:rPr sz="1600" b="1" i="0">
                <a:solidFill>
                  <a:srgbClr val="1B3A6B"/>
                </a:solidFill>
                <a:latin typeface="Calibri"/>
              </a:rPr>
              <a:t>22,9 %</a:t>
            </a:r>
          </a:p>
        </p:txBody>
      </p:sp>
      <p:sp>
        <p:nvSpPr>
          <p:cNvPr id="28" name="TextBox 27"/>
          <p:cNvSpPr txBox="1"/>
          <p:nvPr/>
        </p:nvSpPr>
        <p:spPr>
          <a:xfrm>
            <a:off x="4622399" y="1098000"/>
            <a:ext cx="1900799" cy="234000"/>
          </a:xfrm>
          <a:prstGeom prst="rect">
            <a:avLst/>
          </a:prstGeom>
          <a:noFill/>
        </p:spPr>
        <p:txBody>
          <a:bodyPr wrap="square">
            <a:spAutoFit/>
          </a:bodyPr>
          <a:lstStyle/>
          <a:p>
            <a:pPr algn="l"/>
            <a:r>
              <a:rPr sz="800" b="0" i="0">
                <a:solidFill>
                  <a:srgbClr val="555555"/>
                </a:solidFill>
                <a:latin typeface="Calibri"/>
              </a:rPr>
              <a:t>Capex / Rev</a:t>
            </a:r>
          </a:p>
        </p:txBody>
      </p:sp>
      <p:sp>
        <p:nvSpPr>
          <p:cNvPr id="29" name="Rectangle 28"/>
          <p:cNvSpPr/>
          <p:nvPr/>
        </p:nvSpPr>
        <p:spPr>
          <a:xfrm>
            <a:off x="6609599" y="824400"/>
            <a:ext cx="2015999" cy="5472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609599" y="824400"/>
            <a:ext cx="64800" cy="5472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703199" y="871200"/>
            <a:ext cx="1900799" cy="234000"/>
          </a:xfrm>
          <a:prstGeom prst="rect">
            <a:avLst/>
          </a:prstGeom>
          <a:noFill/>
        </p:spPr>
        <p:txBody>
          <a:bodyPr wrap="square">
            <a:spAutoFit/>
          </a:bodyPr>
          <a:lstStyle/>
          <a:p>
            <a:pPr algn="l"/>
            <a:r>
              <a:rPr sz="1600" b="1" i="0">
                <a:solidFill>
                  <a:srgbClr val="1B3A6B"/>
                </a:solidFill>
                <a:latin typeface="Calibri"/>
              </a:rPr>
              <a:t>18,1 %</a:t>
            </a:r>
          </a:p>
        </p:txBody>
      </p:sp>
      <p:sp>
        <p:nvSpPr>
          <p:cNvPr id="32" name="TextBox 31"/>
          <p:cNvSpPr txBox="1"/>
          <p:nvPr/>
        </p:nvSpPr>
        <p:spPr>
          <a:xfrm>
            <a:off x="6703199" y="1098000"/>
            <a:ext cx="1900799" cy="234000"/>
          </a:xfrm>
          <a:prstGeom prst="rect">
            <a:avLst/>
          </a:prstGeom>
          <a:noFill/>
        </p:spPr>
        <p:txBody>
          <a:bodyPr wrap="square">
            <a:spAutoFit/>
          </a:bodyPr>
          <a:lstStyle/>
          <a:p>
            <a:pPr algn="l"/>
            <a:r>
              <a:rPr sz="800" b="0" i="0">
                <a:solidFill>
                  <a:srgbClr val="555555"/>
                </a:solidFill>
                <a:latin typeface="Calibri"/>
              </a:rPr>
              <a:t>Div. Payout</a:t>
            </a:r>
          </a:p>
        </p:txBody>
      </p:sp>
      <p:pic>
        <p:nvPicPr>
          <p:cNvPr id="33" name="Picture 32" descr="image.png"/>
          <p:cNvPicPr>
            <a:picLocks noChangeAspect="1"/>
          </p:cNvPicPr>
          <p:nvPr/>
        </p:nvPicPr>
        <p:blipFill>
          <a:blip r:embed="rId2"/>
          <a:stretch>
            <a:fillRect/>
          </a:stretch>
        </p:blipFill>
        <p:spPr>
          <a:xfrm>
            <a:off x="367200" y="1512000"/>
            <a:ext cx="5220000" cy="2088000"/>
          </a:xfrm>
          <a:prstGeom prst="rect">
            <a:avLst/>
          </a:prstGeom>
        </p:spPr>
      </p:pic>
      <p:sp>
        <p:nvSpPr>
          <p:cNvPr id="34" name="TextBox 33"/>
          <p:cNvSpPr txBox="1"/>
          <p:nvPr/>
        </p:nvSpPr>
        <p:spPr>
          <a:xfrm>
            <a:off x="5832000" y="1512000"/>
            <a:ext cx="2951999" cy="180000"/>
          </a:xfrm>
          <a:prstGeom prst="rect">
            <a:avLst/>
          </a:prstGeom>
          <a:noFill/>
        </p:spPr>
        <p:txBody>
          <a:bodyPr wrap="square">
            <a:spAutoFit/>
          </a:bodyPr>
          <a:lstStyle/>
          <a:p>
            <a:pPr algn="l"/>
            <a:r>
              <a:rPr sz="800" b="1" i="0">
                <a:solidFill>
                  <a:srgbClr val="1B3A6B"/>
                </a:solidFill>
                <a:latin typeface="Calibri"/>
              </a:rPr>
              <a:t>ALLOCATION DU CAPITAL</a:t>
            </a:r>
          </a:p>
        </p:txBody>
      </p:sp>
      <p:graphicFrame>
        <p:nvGraphicFramePr>
          <p:cNvPr id="35" name="Table 34"/>
          <p:cNvGraphicFramePr>
            <a:graphicFrameLocks noGrp="1"/>
          </p:cNvGraphicFramePr>
          <p:nvPr/>
        </p:nvGraphicFramePr>
        <p:xfrm>
          <a:off x="5832000" y="1745999"/>
          <a:ext cx="2951995" cy="1008000"/>
        </p:xfrm>
        <a:graphic>
          <a:graphicData uri="http://schemas.openxmlformats.org/drawingml/2006/table">
            <a:tbl>
              <a:tblPr firstRow="1" bandRow="1">
                <a:tableStyleId>{5C22544A-7EE6-4342-B048-85BDC9FD1C3A}</a:tableStyleId>
              </a:tblPr>
              <a:tblGrid>
                <a:gridCol w="649439"/>
                <a:gridCol w="590399"/>
                <a:gridCol w="560879"/>
                <a:gridCol w="560879"/>
                <a:gridCol w="590399"/>
              </a:tblGrid>
              <a:tr h="201600">
                <a:tc>
                  <a:txBody>
                    <a:bodyPr/>
                    <a:lstStyle/>
                    <a:p>
                      <a:pPr algn="l"/>
                      <a:r>
                        <a:rPr sz="800" b="1" i="0">
                          <a:solidFill>
                            <a:srgbClr val="FFFFFF"/>
                          </a:solidFill>
                          <a:latin typeface="Calibri"/>
                        </a:rPr>
                        <a:t>Ann.</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FCF</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Yield</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Div%</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Capex%</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01600">
                <a:tc>
                  <a:txBody>
                    <a:bodyPr/>
                    <a:lstStyle/>
                    <a:p>
                      <a:pPr algn="l"/>
                      <a:r>
                        <a:rPr sz="800" b="0" i="0">
                          <a:solidFill>
                            <a:srgbClr val="0D0D0D"/>
                          </a:solidFill>
                          <a:latin typeface="Calibri"/>
                        </a:rPr>
                        <a:t>2022</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63,3 Mds$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2,2 %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45,0 %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12,0 %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01600">
                <a:tc>
                  <a:txBody>
                    <a:bodyPr/>
                    <a:lstStyle/>
                    <a:p>
                      <a:pPr algn="l"/>
                      <a:r>
                        <a:rPr sz="800" b="0" i="0">
                          <a:solidFill>
                            <a:srgbClr val="0D0D0D"/>
                          </a:solidFill>
                          <a:latin typeface="Calibri"/>
                        </a:rPr>
                        <a:t>2023</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58,1 Mds$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30,7 %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13,3 %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01600">
                <a:tc>
                  <a:txBody>
                    <a:bodyPr/>
                    <a:lstStyle/>
                    <a:p>
                      <a:pPr algn="l"/>
                      <a:r>
                        <a:rPr sz="800" b="0" i="0">
                          <a:solidFill>
                            <a:srgbClr val="0D0D0D"/>
                          </a:solidFill>
                          <a:latin typeface="Calibri"/>
                        </a:rPr>
                        <a:t>2024</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65,9 Mds$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2,3 %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19,6 %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18,1 %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01600">
                <a:tc>
                  <a:txBody>
                    <a:bodyPr/>
                    <a:lstStyle/>
                    <a:p>
                      <a:pPr algn="l"/>
                      <a:r>
                        <a:rPr sz="800" b="0" i="0">
                          <a:solidFill>
                            <a:srgbClr val="0D0D0D"/>
                          </a:solidFill>
                          <a:latin typeface="Calibri"/>
                        </a:rPr>
                        <a:t>2025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71,4 Mds$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18,1 %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22,9 %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36" name="Rectangle 35"/>
          <p:cNvSpPr/>
          <p:nvPr/>
        </p:nvSpPr>
        <p:spPr>
          <a:xfrm>
            <a:off x="367200" y="3708000"/>
            <a:ext cx="8413200" cy="1007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367200" y="3708000"/>
            <a:ext cx="79200" cy="1007999"/>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75200" y="3736800"/>
            <a:ext cx="8298000" cy="151200"/>
          </a:xfrm>
          <a:prstGeom prst="rect">
            <a:avLst/>
          </a:prstGeom>
          <a:noFill/>
        </p:spPr>
        <p:txBody>
          <a:bodyPr wrap="none">
            <a:spAutoFit/>
          </a:bodyPr>
          <a:lstStyle/>
          <a:p>
            <a:pPr algn="l"/>
            <a:r>
              <a:rPr sz="950" b="1" i="0">
                <a:solidFill>
                  <a:srgbClr val="1B3A6B"/>
                </a:solidFill>
                <a:latin typeface="Calibri"/>
              </a:rPr>
              <a:t>MSFT — politique de retour au capital actionnaire</a:t>
            </a:r>
          </a:p>
        </p:txBody>
      </p:sp>
      <p:sp>
        <p:nvSpPr>
          <p:cNvPr id="39" name="TextBox 38"/>
          <p:cNvSpPr txBox="1"/>
          <p:nvPr/>
        </p:nvSpPr>
        <p:spPr>
          <a:xfrm>
            <a:off x="475200" y="3906000"/>
            <a:ext cx="8298000" cy="784799"/>
          </a:xfrm>
          <a:prstGeom prst="rect">
            <a:avLst/>
          </a:prstGeom>
          <a:noFill/>
        </p:spPr>
        <p:txBody>
          <a:bodyPr wrap="square">
            <a:spAutoFit/>
          </a:bodyPr>
          <a:lstStyle/>
          <a:p>
            <a:pPr algn="l"/>
            <a:r>
              <a:rPr sz="850" b="0" i="0">
                <a:solidFill>
                  <a:srgbClr val="555555"/>
                </a:solidFill>
                <a:latin typeface="Calibri"/>
              </a:rPr>
              <a:t>Le FCF affiche une croissance de 8,1 Mds$ sur la période, avec un FCF yield actuel de 2,5 % — à surveiller au regard de la valorisation de marché. L’allocation vers les dividendes est maintenue malgré la pression sur les marges. Le CA 2025 atteint 281.7 Mds$ (+14.9% YoY), avec un levier opérationnel de +230 bps sur la marge brute (de 68.4% à 68.8%) grâce au mix logiciel haute marge et aux économies d’échelle. Le ND/EBITDA à 0.1x et un FCF potentiel de 83 Mds$ (2025) permettent un rachat d’actions de 40 Mds$ et des dividendes en hausse de 10%.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Modèle LBO — Cadre du Deal</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Microsoft Corporation (MSFT)  ·  Sources &amp; Uses, hypothèses et éligibilité</a:t>
            </a:r>
          </a:p>
        </p:txBody>
      </p:sp>
      <p:sp>
        <p:nvSpPr>
          <p:cNvPr id="17" name="Rectangle 16"/>
          <p:cNvSpPr/>
          <p:nvPr/>
        </p:nvSpPr>
        <p:spPr>
          <a:xfrm>
            <a:off x="367200" y="882000"/>
            <a:ext cx="8413200" cy="432000"/>
          </a:xfrm>
          <a:prstGeom prst="rect">
            <a:avLst/>
          </a:prstGeom>
          <a:solidFill>
            <a:srgbClr val="FAF0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882000"/>
            <a:ext cx="72000" cy="432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3999" y="917999"/>
            <a:ext cx="7920000" cy="198000"/>
          </a:xfrm>
          <a:prstGeom prst="rect">
            <a:avLst/>
          </a:prstGeom>
          <a:noFill/>
        </p:spPr>
        <p:txBody>
          <a:bodyPr wrap="square">
            <a:spAutoFit/>
          </a:bodyPr>
          <a:lstStyle/>
          <a:p>
            <a:pPr algn="l"/>
            <a:r>
              <a:rPr sz="1300" b="1" i="0">
                <a:solidFill>
                  <a:srgbClr val="A82020"/>
                </a:solidFill>
                <a:latin typeface="Calibri"/>
              </a:rPr>
              <a:t>✗ PROFIL NON ÉLIGIBLE</a:t>
            </a:r>
          </a:p>
        </p:txBody>
      </p:sp>
      <p:sp>
        <p:nvSpPr>
          <p:cNvPr id="20" name="TextBox 19"/>
          <p:cNvSpPr txBox="1"/>
          <p:nvPr/>
        </p:nvSpPr>
        <p:spPr>
          <a:xfrm>
            <a:off x="503999" y="1116000"/>
            <a:ext cx="7920000" cy="180000"/>
          </a:xfrm>
          <a:prstGeom prst="rect">
            <a:avLst/>
          </a:prstGeom>
          <a:noFill/>
        </p:spPr>
        <p:txBody>
          <a:bodyPr wrap="square">
            <a:spAutoFit/>
          </a:bodyPr>
          <a:lstStyle/>
          <a:p>
            <a:pPr algn="l"/>
            <a:r>
              <a:rPr sz="900" b="0" i="0">
                <a:solidFill>
                  <a:srgbClr val="2E5FA3"/>
                </a:solidFill>
                <a:latin typeface="Calibri"/>
              </a:rPr>
              <a:t>Critères non satisfaits — analyse à titre théorique</a:t>
            </a:r>
          </a:p>
        </p:txBody>
      </p:sp>
      <p:sp>
        <p:nvSpPr>
          <p:cNvPr id="21" name="Rectangle 20"/>
          <p:cNvSpPr/>
          <p:nvPr/>
        </p:nvSpPr>
        <p:spPr>
          <a:xfrm>
            <a:off x="367200" y="1440000"/>
            <a:ext cx="4104000" cy="19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32000" y="1475999"/>
            <a:ext cx="3974399" cy="136800"/>
          </a:xfrm>
          <a:prstGeom prst="rect">
            <a:avLst/>
          </a:prstGeom>
          <a:noFill/>
        </p:spPr>
        <p:txBody>
          <a:bodyPr wrap="none">
            <a:spAutoFit/>
          </a:bodyPr>
          <a:lstStyle/>
          <a:p>
            <a:pPr algn="ctr"/>
            <a:r>
              <a:rPr sz="950" b="1" i="0">
                <a:solidFill>
                  <a:srgbClr val="FFFFFF"/>
                </a:solidFill>
                <a:latin typeface="Calibri"/>
              </a:rPr>
              <a:t>SOURCES (financement)</a:t>
            </a:r>
          </a:p>
        </p:txBody>
      </p:sp>
      <p:graphicFrame>
        <p:nvGraphicFramePr>
          <p:cNvPr id="23" name="Table 22"/>
          <p:cNvGraphicFramePr>
            <a:graphicFrameLocks noGrp="1"/>
          </p:cNvGraphicFramePr>
          <p:nvPr/>
        </p:nvGraphicFramePr>
        <p:xfrm>
          <a:off x="367200" y="1663200"/>
          <a:ext cx="4104000" cy="1080000"/>
        </p:xfrm>
        <a:graphic>
          <a:graphicData uri="http://schemas.openxmlformats.org/drawingml/2006/table">
            <a:tbl>
              <a:tblPr firstRow="1" bandRow="1">
                <a:tableStyleId>{5C22544A-7EE6-4342-B048-85BDC9FD1C3A}</a:tableStyleId>
              </a:tblPr>
              <a:tblGrid>
                <a:gridCol w="2052000"/>
                <a:gridCol w="1231200"/>
                <a:gridCol w="820800"/>
              </a:tblGrid>
              <a:tr h="270000">
                <a:tc>
                  <a:txBody>
                    <a:bodyPr/>
                    <a:lstStyle/>
                    <a:p>
                      <a:pPr algn="l"/>
                      <a:r>
                        <a:rPr sz="800" b="0" i="0">
                          <a:solidFill>
                            <a:srgbClr val="0D0D0D"/>
                          </a:solidFill>
                          <a:latin typeface="Calibri"/>
                        </a:rPr>
                        <a:t>Sponsor Equity</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1 609,7 Mds$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66.8 %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70000">
                <a:tc>
                  <a:txBody>
                    <a:bodyPr/>
                    <a:lstStyle/>
                    <a:p>
                      <a:pPr algn="l"/>
                      <a:r>
                        <a:rPr sz="800" b="0" i="0">
                          <a:solidFill>
                            <a:srgbClr val="0D0D0D"/>
                          </a:solidFill>
                          <a:latin typeface="Calibri"/>
                        </a:rPr>
                        <a:t>Senior Term Loan B</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560,6 Mds$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23.3 %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70000">
                <a:tc>
                  <a:txBody>
                    <a:bodyPr/>
                    <a:lstStyle/>
                    <a:p>
                      <a:pPr algn="l"/>
                      <a:r>
                        <a:rPr sz="800" b="0" i="0">
                          <a:solidFill>
                            <a:srgbClr val="0D0D0D"/>
                          </a:solidFill>
                          <a:latin typeface="Calibri"/>
                        </a:rPr>
                        <a:t>Mezzanine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240,2 Mds$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70000">
                <a:tc>
                  <a:txBody>
                    <a:bodyPr/>
                    <a:lstStyle/>
                    <a:p>
                      <a:pPr algn="l"/>
                      <a:r>
                        <a:rPr sz="800" b="0" i="0">
                          <a:solidFill>
                            <a:srgbClr val="0D0D0D"/>
                          </a:solidFill>
                          <a:latin typeface="Calibri"/>
                        </a:rPr>
                        <a:t>TOTAL SOURCES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2 410,5 Mds$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100,0 %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4" name="Rectangle 23"/>
          <p:cNvSpPr/>
          <p:nvPr/>
        </p:nvSpPr>
        <p:spPr>
          <a:xfrm>
            <a:off x="4658400" y="1440000"/>
            <a:ext cx="4125600" cy="19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723200" y="1475999"/>
            <a:ext cx="3996000" cy="136800"/>
          </a:xfrm>
          <a:prstGeom prst="rect">
            <a:avLst/>
          </a:prstGeom>
          <a:noFill/>
        </p:spPr>
        <p:txBody>
          <a:bodyPr wrap="none">
            <a:spAutoFit/>
          </a:bodyPr>
          <a:lstStyle/>
          <a:p>
            <a:pPr algn="ctr"/>
            <a:r>
              <a:rPr sz="950" b="1" i="0">
                <a:solidFill>
                  <a:srgbClr val="FFFFFF"/>
                </a:solidFill>
                <a:latin typeface="Calibri"/>
              </a:rPr>
              <a:t>USES (utilisation)</a:t>
            </a:r>
          </a:p>
        </p:txBody>
      </p:sp>
      <p:graphicFrame>
        <p:nvGraphicFramePr>
          <p:cNvPr id="26" name="Table 25"/>
          <p:cNvGraphicFramePr>
            <a:graphicFrameLocks noGrp="1"/>
          </p:cNvGraphicFramePr>
          <p:nvPr/>
        </p:nvGraphicFramePr>
        <p:xfrm>
          <a:off x="4658400" y="1663200"/>
          <a:ext cx="4125600" cy="1260000"/>
        </p:xfrm>
        <a:graphic>
          <a:graphicData uri="http://schemas.openxmlformats.org/drawingml/2006/table">
            <a:tbl>
              <a:tblPr firstRow="1" bandRow="1">
                <a:tableStyleId>{5C22544A-7EE6-4342-B048-85BDC9FD1C3A}</a:tableStyleId>
              </a:tblPr>
              <a:tblGrid>
                <a:gridCol w="2681640"/>
                <a:gridCol w="1443960"/>
              </a:tblGrid>
              <a:tr h="252000">
                <a:tc>
                  <a:txBody>
                    <a:bodyPr/>
                    <a:lstStyle/>
                    <a:p>
                      <a:pPr algn="l"/>
                      <a:r>
                        <a:rPr sz="800" b="0" i="0">
                          <a:solidFill>
                            <a:srgbClr val="0D0D0D"/>
                          </a:solidFill>
                          <a:latin typeface="Calibri"/>
                        </a:rPr>
                        <a:t>Purchase price equity</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2 229,4 Mds$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52000">
                <a:tc>
                  <a:txBody>
                    <a:bodyPr/>
                    <a:lstStyle/>
                    <a:p>
                      <a:pPr algn="l"/>
                      <a:r>
                        <a:rPr sz="800" b="0" i="0">
                          <a:solidFill>
                            <a:srgbClr val="0D0D0D"/>
                          </a:solidFill>
                          <a:latin typeface="Calibri"/>
                        </a:rPr>
                        <a:t>Refinancement dette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12,9 Mds$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52000">
                <a:tc>
                  <a:txBody>
                    <a:bodyPr/>
                    <a:lstStyle/>
                    <a:p>
                      <a:pPr algn="l"/>
                      <a:r>
                        <a:rPr sz="800" b="0" i="0">
                          <a:solidFill>
                            <a:srgbClr val="0D0D0D"/>
                          </a:solidFill>
                          <a:latin typeface="Calibri"/>
                        </a:rPr>
                        <a:t>Transaction fees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56,1 Mds$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52000">
                <a:tc>
                  <a:txBody>
                    <a:bodyPr/>
                    <a:lstStyle/>
                    <a:p>
                      <a:pPr algn="l"/>
                      <a:r>
                        <a:rPr sz="800" b="0" i="0">
                          <a:solidFill>
                            <a:srgbClr val="0D0D0D"/>
                          </a:solidFill>
                          <a:latin typeface="Calibri"/>
                        </a:rPr>
                        <a:t>Cash minimum BS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112,1 Mds$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52000">
                <a:tc>
                  <a:txBody>
                    <a:bodyPr/>
                    <a:lstStyle/>
                    <a:p>
                      <a:pPr algn="l"/>
                      <a:r>
                        <a:rPr sz="800" b="0" i="0">
                          <a:solidFill>
                            <a:srgbClr val="0D0D0D"/>
                          </a:solidFill>
                          <a:latin typeface="Calibri"/>
                        </a:rPr>
                        <a:t>TOTAL USES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2 410,5 Mds$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7" name="Rectangle 26"/>
          <p:cNvSpPr/>
          <p:nvPr/>
        </p:nvSpPr>
        <p:spPr>
          <a:xfrm>
            <a:off x="367200" y="3131999"/>
            <a:ext cx="8413200" cy="163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67200" y="3131999"/>
            <a:ext cx="79200" cy="1638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75200" y="3160800"/>
            <a:ext cx="8298000" cy="151200"/>
          </a:xfrm>
          <a:prstGeom prst="rect">
            <a:avLst/>
          </a:prstGeom>
          <a:noFill/>
        </p:spPr>
        <p:txBody>
          <a:bodyPr wrap="none">
            <a:spAutoFit/>
          </a:bodyPr>
          <a:lstStyle/>
          <a:p>
            <a:pPr algn="l"/>
            <a:r>
              <a:rPr sz="950" b="1" i="0">
                <a:solidFill>
                  <a:srgbClr val="1B3A6B"/>
                </a:solidFill>
                <a:latin typeface="Calibri"/>
              </a:rPr>
              <a:t>LBO MSFT : IRR 20.1% — deal attractif pour sponsor PE top-tier</a:t>
            </a:r>
          </a:p>
        </p:txBody>
      </p:sp>
      <p:sp>
        <p:nvSpPr>
          <p:cNvPr id="30" name="TextBox 29"/>
          <p:cNvSpPr txBox="1"/>
          <p:nvPr/>
        </p:nvSpPr>
        <p:spPr>
          <a:xfrm>
            <a:off x="475200" y="3330000"/>
            <a:ext cx="8298000" cy="1414800"/>
          </a:xfrm>
          <a:prstGeom prst="rect">
            <a:avLst/>
          </a:prstGeom>
          <a:noFill/>
        </p:spPr>
        <p:txBody>
          <a:bodyPr wrap="square">
            <a:spAutoFit/>
          </a:bodyPr>
          <a:lstStyle/>
          <a:p>
            <a:pPr algn="l"/>
            <a:r>
              <a:rPr sz="850" b="0" i="0">
                <a:solidFill>
                  <a:srgbClr val="555555"/>
                </a:solidFill>
                <a:latin typeface="Calibri"/>
              </a:rPr>
              <a:t>Profil non éligible au LBO mid-market standard. Raisons identifiées : Combinaison des critères (marge EBITDA, cash conversion, levier actuel) ne permet pas un montage LBO standard mid-market. L'analyse ci-dessus est fournie à titre théorique uniquement — un sponsor PE n'engagerait pas de capital sur cette cible dans les conditions actuelles. Les chiffres affichés (IRR, MOIC, sources/uses) traduisent ce que donnerait un montage forcé avec les hypothèses standards, ils ne représentent pas une recommandation.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Modèle LBO — Returns Sponsor</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Microsoft Corporation (MSFT)  ·  IRR, MOIC et sensibilité multiples</a:t>
            </a:r>
          </a:p>
        </p:txBody>
      </p:sp>
      <p:sp>
        <p:nvSpPr>
          <p:cNvPr id="17" name="Rectangle 16"/>
          <p:cNvSpPr/>
          <p:nvPr/>
        </p:nvSpPr>
        <p:spPr>
          <a:xfrm>
            <a:off x="367200" y="882000"/>
            <a:ext cx="2015999" cy="827999"/>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882000"/>
            <a:ext cx="46800" cy="827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936000"/>
            <a:ext cx="1879200" cy="396000"/>
          </a:xfrm>
          <a:prstGeom prst="rect">
            <a:avLst/>
          </a:prstGeom>
          <a:noFill/>
        </p:spPr>
        <p:txBody>
          <a:bodyPr wrap="square">
            <a:spAutoFit/>
          </a:bodyPr>
          <a:lstStyle/>
          <a:p>
            <a:pPr algn="l"/>
            <a:r>
              <a:rPr sz="1900" b="1" i="0">
                <a:solidFill>
                  <a:srgbClr val="1B3A6B"/>
                </a:solidFill>
                <a:latin typeface="Calibri"/>
              </a:rPr>
              <a:t>20.1%</a:t>
            </a:r>
          </a:p>
        </p:txBody>
      </p:sp>
      <p:sp>
        <p:nvSpPr>
          <p:cNvPr id="20" name="TextBox 19"/>
          <p:cNvSpPr txBox="1"/>
          <p:nvPr/>
        </p:nvSpPr>
        <p:spPr>
          <a:xfrm>
            <a:off x="457200" y="1332000"/>
            <a:ext cx="1879200" cy="205199"/>
          </a:xfrm>
          <a:prstGeom prst="rect">
            <a:avLst/>
          </a:prstGeom>
          <a:noFill/>
        </p:spPr>
        <p:txBody>
          <a:bodyPr wrap="square">
            <a:spAutoFit/>
          </a:bodyPr>
          <a:lstStyle/>
          <a:p>
            <a:pPr algn="l"/>
            <a:r>
              <a:rPr sz="800" b="0" i="0">
                <a:solidFill>
                  <a:srgbClr val="555555"/>
                </a:solidFill>
                <a:latin typeface="Calibri"/>
              </a:rPr>
              <a:t>IRR Sponsor</a:t>
            </a:r>
          </a:p>
        </p:txBody>
      </p:sp>
      <p:sp>
        <p:nvSpPr>
          <p:cNvPr id="21" name="TextBox 20"/>
          <p:cNvSpPr txBox="1"/>
          <p:nvPr/>
        </p:nvSpPr>
        <p:spPr>
          <a:xfrm>
            <a:off x="457200" y="1530000"/>
            <a:ext cx="1879200" cy="165600"/>
          </a:xfrm>
          <a:prstGeom prst="rect">
            <a:avLst/>
          </a:prstGeom>
          <a:noFill/>
        </p:spPr>
        <p:txBody>
          <a:bodyPr wrap="square">
            <a:spAutoFit/>
          </a:bodyPr>
          <a:lstStyle/>
          <a:p>
            <a:pPr algn="l"/>
            <a:r>
              <a:rPr sz="700" b="0" i="0">
                <a:solidFill>
                  <a:srgbClr val="888888"/>
                </a:solidFill>
                <a:latin typeface="Calibri"/>
              </a:rPr>
              <a:t>Base case 5 ans</a:t>
            </a:r>
          </a:p>
        </p:txBody>
      </p:sp>
      <p:sp>
        <p:nvSpPr>
          <p:cNvPr id="22" name="Rectangle 21"/>
          <p:cNvSpPr/>
          <p:nvPr/>
        </p:nvSpPr>
        <p:spPr>
          <a:xfrm>
            <a:off x="2491200" y="882000"/>
            <a:ext cx="2015999" cy="827999"/>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2491200" y="882000"/>
            <a:ext cx="46800" cy="827999"/>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581200" y="936000"/>
            <a:ext cx="1879200" cy="396000"/>
          </a:xfrm>
          <a:prstGeom prst="rect">
            <a:avLst/>
          </a:prstGeom>
          <a:noFill/>
        </p:spPr>
        <p:txBody>
          <a:bodyPr wrap="square">
            <a:spAutoFit/>
          </a:bodyPr>
          <a:lstStyle/>
          <a:p>
            <a:pPr algn="l"/>
            <a:r>
              <a:rPr sz="1900" b="1" i="0">
                <a:solidFill>
                  <a:srgbClr val="1B3A6B"/>
                </a:solidFill>
                <a:latin typeface="Calibri"/>
              </a:rPr>
              <a:t>2.50x</a:t>
            </a:r>
          </a:p>
        </p:txBody>
      </p:sp>
      <p:sp>
        <p:nvSpPr>
          <p:cNvPr id="25" name="TextBox 24"/>
          <p:cNvSpPr txBox="1"/>
          <p:nvPr/>
        </p:nvSpPr>
        <p:spPr>
          <a:xfrm>
            <a:off x="2581200" y="1332000"/>
            <a:ext cx="1879200" cy="205199"/>
          </a:xfrm>
          <a:prstGeom prst="rect">
            <a:avLst/>
          </a:prstGeom>
          <a:noFill/>
        </p:spPr>
        <p:txBody>
          <a:bodyPr wrap="square">
            <a:spAutoFit/>
          </a:bodyPr>
          <a:lstStyle/>
          <a:p>
            <a:pPr algn="l"/>
            <a:r>
              <a:rPr sz="800" b="0" i="0">
                <a:solidFill>
                  <a:srgbClr val="555555"/>
                </a:solidFill>
                <a:latin typeface="Calibri"/>
              </a:rPr>
              <a:t>MOIC</a:t>
            </a:r>
          </a:p>
        </p:txBody>
      </p:sp>
      <p:sp>
        <p:nvSpPr>
          <p:cNvPr id="26" name="TextBox 25"/>
          <p:cNvSpPr txBox="1"/>
          <p:nvPr/>
        </p:nvSpPr>
        <p:spPr>
          <a:xfrm>
            <a:off x="2581200" y="1530000"/>
            <a:ext cx="1879200" cy="165600"/>
          </a:xfrm>
          <a:prstGeom prst="rect">
            <a:avLst/>
          </a:prstGeom>
          <a:noFill/>
        </p:spPr>
        <p:txBody>
          <a:bodyPr wrap="square">
            <a:spAutoFit/>
          </a:bodyPr>
          <a:lstStyle/>
          <a:p>
            <a:pPr algn="l"/>
            <a:r>
              <a:rPr sz="700" b="0" i="0">
                <a:solidFill>
                  <a:srgbClr val="888888"/>
                </a:solidFill>
                <a:latin typeface="Calibri"/>
              </a:rPr>
              <a:t>Money-on-invested</a:t>
            </a:r>
          </a:p>
        </p:txBody>
      </p:sp>
      <p:sp>
        <p:nvSpPr>
          <p:cNvPr id="27" name="Rectangle 26"/>
          <p:cNvSpPr/>
          <p:nvPr/>
        </p:nvSpPr>
        <p:spPr>
          <a:xfrm>
            <a:off x="4611600" y="882000"/>
            <a:ext cx="2015999" cy="827999"/>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611600" y="882000"/>
            <a:ext cx="46800" cy="827999"/>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701600" y="936000"/>
            <a:ext cx="1879200" cy="396000"/>
          </a:xfrm>
          <a:prstGeom prst="rect">
            <a:avLst/>
          </a:prstGeom>
          <a:noFill/>
        </p:spPr>
        <p:txBody>
          <a:bodyPr wrap="square">
            <a:spAutoFit/>
          </a:bodyPr>
          <a:lstStyle/>
          <a:p>
            <a:pPr algn="l"/>
            <a:r>
              <a:rPr sz="1900" b="1" i="0">
                <a:solidFill>
                  <a:srgbClr val="1B3A6B"/>
                </a:solidFill>
                <a:latin typeface="Calibri"/>
              </a:rPr>
              <a:t>1 609,7 Mds$</a:t>
            </a:r>
          </a:p>
        </p:txBody>
      </p:sp>
      <p:sp>
        <p:nvSpPr>
          <p:cNvPr id="30" name="TextBox 29"/>
          <p:cNvSpPr txBox="1"/>
          <p:nvPr/>
        </p:nvSpPr>
        <p:spPr>
          <a:xfrm>
            <a:off x="4701600" y="1332000"/>
            <a:ext cx="1879200" cy="205199"/>
          </a:xfrm>
          <a:prstGeom prst="rect">
            <a:avLst/>
          </a:prstGeom>
          <a:noFill/>
        </p:spPr>
        <p:txBody>
          <a:bodyPr wrap="square">
            <a:spAutoFit/>
          </a:bodyPr>
          <a:lstStyle/>
          <a:p>
            <a:pPr algn="l"/>
            <a:r>
              <a:rPr sz="800" b="0" i="0">
                <a:solidFill>
                  <a:srgbClr val="555555"/>
                </a:solidFill>
                <a:latin typeface="Calibri"/>
              </a:rPr>
              <a:t>Equity entry</a:t>
            </a:r>
          </a:p>
        </p:txBody>
      </p:sp>
      <p:sp>
        <p:nvSpPr>
          <p:cNvPr id="31" name="TextBox 30"/>
          <p:cNvSpPr txBox="1"/>
          <p:nvPr/>
        </p:nvSpPr>
        <p:spPr>
          <a:xfrm>
            <a:off x="4701600" y="1530000"/>
            <a:ext cx="1879200" cy="165600"/>
          </a:xfrm>
          <a:prstGeom prst="rect">
            <a:avLst/>
          </a:prstGeom>
          <a:noFill/>
        </p:spPr>
        <p:txBody>
          <a:bodyPr wrap="square">
            <a:spAutoFit/>
          </a:bodyPr>
          <a:lstStyle/>
          <a:p>
            <a:pPr algn="l"/>
            <a:r>
              <a:rPr sz="700" b="0" i="0">
                <a:solidFill>
                  <a:srgbClr val="888888"/>
                </a:solidFill>
                <a:latin typeface="Calibri"/>
              </a:rPr>
              <a:t>Sponsor au closing</a:t>
            </a:r>
          </a:p>
        </p:txBody>
      </p:sp>
      <p:sp>
        <p:nvSpPr>
          <p:cNvPr id="32" name="Rectangle 31"/>
          <p:cNvSpPr/>
          <p:nvPr/>
        </p:nvSpPr>
        <p:spPr>
          <a:xfrm>
            <a:off x="6735600" y="882000"/>
            <a:ext cx="2015999" cy="827999"/>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735600" y="882000"/>
            <a:ext cx="46800" cy="827999"/>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825600" y="936000"/>
            <a:ext cx="1879200" cy="396000"/>
          </a:xfrm>
          <a:prstGeom prst="rect">
            <a:avLst/>
          </a:prstGeom>
          <a:noFill/>
        </p:spPr>
        <p:txBody>
          <a:bodyPr wrap="square">
            <a:spAutoFit/>
          </a:bodyPr>
          <a:lstStyle/>
          <a:p>
            <a:pPr algn="l"/>
            <a:r>
              <a:rPr sz="1900" b="1" i="0">
                <a:solidFill>
                  <a:srgbClr val="1B3A6B"/>
                </a:solidFill>
                <a:latin typeface="Calibri"/>
              </a:rPr>
              <a:t>4 016,6 Mds$</a:t>
            </a:r>
          </a:p>
        </p:txBody>
      </p:sp>
      <p:sp>
        <p:nvSpPr>
          <p:cNvPr id="35" name="TextBox 34"/>
          <p:cNvSpPr txBox="1"/>
          <p:nvPr/>
        </p:nvSpPr>
        <p:spPr>
          <a:xfrm>
            <a:off x="6825600" y="1332000"/>
            <a:ext cx="1879200" cy="205199"/>
          </a:xfrm>
          <a:prstGeom prst="rect">
            <a:avLst/>
          </a:prstGeom>
          <a:noFill/>
        </p:spPr>
        <p:txBody>
          <a:bodyPr wrap="square">
            <a:spAutoFit/>
          </a:bodyPr>
          <a:lstStyle/>
          <a:p>
            <a:pPr algn="l"/>
            <a:r>
              <a:rPr sz="800" b="0" i="0">
                <a:solidFill>
                  <a:srgbClr val="555555"/>
                </a:solidFill>
                <a:latin typeface="Calibri"/>
              </a:rPr>
              <a:t>Equity exit Y5</a:t>
            </a:r>
          </a:p>
        </p:txBody>
      </p:sp>
      <p:sp>
        <p:nvSpPr>
          <p:cNvPr id="36" name="TextBox 35"/>
          <p:cNvSpPr txBox="1"/>
          <p:nvPr/>
        </p:nvSpPr>
        <p:spPr>
          <a:xfrm>
            <a:off x="6825600" y="1530000"/>
            <a:ext cx="1879200" cy="165600"/>
          </a:xfrm>
          <a:prstGeom prst="rect">
            <a:avLst/>
          </a:prstGeom>
          <a:noFill/>
        </p:spPr>
        <p:txBody>
          <a:bodyPr wrap="square">
            <a:spAutoFit/>
          </a:bodyPr>
          <a:lstStyle/>
          <a:p>
            <a:pPr algn="l"/>
            <a:r>
              <a:rPr sz="700" b="0" i="0">
                <a:solidFill>
                  <a:srgbClr val="888888"/>
                </a:solidFill>
                <a:latin typeface="Calibri"/>
              </a:rPr>
              <a:t>Vente sponsor</a:t>
            </a:r>
          </a:p>
        </p:txBody>
      </p:sp>
      <p:sp>
        <p:nvSpPr>
          <p:cNvPr id="37" name="TextBox 36"/>
          <p:cNvSpPr txBox="1"/>
          <p:nvPr/>
        </p:nvSpPr>
        <p:spPr>
          <a:xfrm>
            <a:off x="367200" y="1835999"/>
            <a:ext cx="8413200" cy="162000"/>
          </a:xfrm>
          <a:prstGeom prst="rect">
            <a:avLst/>
          </a:prstGeom>
          <a:noFill/>
        </p:spPr>
        <p:txBody>
          <a:bodyPr wrap="square">
            <a:spAutoFit/>
          </a:bodyPr>
          <a:lstStyle/>
          <a:p>
            <a:pPr algn="l"/>
            <a:r>
              <a:rPr sz="900" b="1" i="0">
                <a:solidFill>
                  <a:srgbClr val="1B3A6B"/>
                </a:solidFill>
                <a:latin typeface="Calibri"/>
              </a:rPr>
              <a:t>SENSIBILITÉ IRR — Multiple d'entrée × Multiple de sortie</a:t>
            </a:r>
          </a:p>
        </p:txBody>
      </p:sp>
      <p:graphicFrame>
        <p:nvGraphicFramePr>
          <p:cNvPr id="38" name="Table 37"/>
          <p:cNvGraphicFramePr>
            <a:graphicFrameLocks noGrp="1"/>
          </p:cNvGraphicFramePr>
          <p:nvPr/>
        </p:nvGraphicFramePr>
        <p:xfrm>
          <a:off x="367200" y="2034000"/>
          <a:ext cx="5940000" cy="1512000"/>
        </p:xfrm>
        <a:graphic>
          <a:graphicData uri="http://schemas.openxmlformats.org/drawingml/2006/table">
            <a:tbl>
              <a:tblPr firstRow="1" bandRow="1">
                <a:tableStyleId>{5C22544A-7EE6-4342-B048-85BDC9FD1C3A}</a:tableStyleId>
              </a:tblPr>
              <a:tblGrid>
                <a:gridCol w="1188000"/>
                <a:gridCol w="950400"/>
                <a:gridCol w="950400"/>
                <a:gridCol w="950400"/>
                <a:gridCol w="950400"/>
                <a:gridCol w="950400"/>
              </a:tblGrid>
              <a:tr h="252000">
                <a:tc>
                  <a:txBody>
                    <a:bodyPr/>
                    <a:lstStyle/>
                    <a:p>
                      <a:pPr algn="l"/>
                      <a:r>
                        <a:rPr sz="800" b="1" i="0">
                          <a:solidFill>
                            <a:srgbClr val="FFFFFF"/>
                          </a:solidFill>
                          <a:latin typeface="Calibri"/>
                        </a:rPr>
                        <a:t>Entry ↓ / Exit →</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12.0x</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13.0x</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14.0x</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15.0x</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16.0x</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52000">
                <a:tc>
                  <a:txBody>
                    <a:bodyPr/>
                    <a:lstStyle/>
                    <a:p>
                      <a:pPr algn="l"/>
                      <a:r>
                        <a:rPr sz="800" b="0" i="0">
                          <a:solidFill>
                            <a:srgbClr val="0D0D0D"/>
                          </a:solidFill>
                          <a:latin typeface="Calibri"/>
                        </a:rPr>
                        <a:t>12.0x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+21.7%</a:t>
                      </a:r>
                    </a:p>
                  </a:txBody>
                  <a:tcPr>
                    <a:solidFill>
                      <a:srgbClr val="FDF6E8"/>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+23.9%</a:t>
                      </a:r>
                    </a:p>
                  </a:txBody>
                  <a:tcPr>
                    <a:solidFill>
                      <a:srgbClr val="FDF6E8"/>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+26.0%</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+27.9%</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+29.8%</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52000">
                <a:tc>
                  <a:txBody>
                    <a:bodyPr/>
                    <a:lstStyle/>
                    <a:p>
                      <a:pPr algn="l"/>
                      <a:r>
                        <a:rPr sz="800" b="0" i="0">
                          <a:solidFill>
                            <a:srgbClr val="0D0D0D"/>
                          </a:solidFill>
                          <a:latin typeface="Calibri"/>
                        </a:rPr>
                        <a:t>13.0x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+18.6%</a:t>
                      </a:r>
                    </a:p>
                  </a:txBody>
                  <a:tcPr>
                    <a:solidFill>
                      <a:srgbClr val="FDF6E8"/>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+20.8%</a:t>
                      </a:r>
                    </a:p>
                  </a:txBody>
                  <a:tcPr>
                    <a:solidFill>
                      <a:srgbClr val="FDF6E8"/>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+22.8%</a:t>
                      </a:r>
                    </a:p>
                  </a:txBody>
                  <a:tcPr>
                    <a:solidFill>
                      <a:srgbClr val="FDF6E8"/>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+24.7%</a:t>
                      </a:r>
                    </a:p>
                  </a:txBody>
                  <a:tcPr>
                    <a:solidFill>
                      <a:srgbClr val="FDF6E8"/>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+26.5%</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52000">
                <a:tc>
                  <a:txBody>
                    <a:bodyPr/>
                    <a:lstStyle/>
                    <a:p>
                      <a:pPr algn="l"/>
                      <a:r>
                        <a:rPr sz="800" b="0" i="0">
                          <a:solidFill>
                            <a:srgbClr val="0D0D0D"/>
                          </a:solidFill>
                          <a:latin typeface="Calibri"/>
                        </a:rPr>
                        <a:t>14.0x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+16.0%</a:t>
                      </a:r>
                    </a:p>
                  </a:txBody>
                  <a:tcPr>
                    <a:solidFill>
                      <a:srgbClr val="FDF6E8"/>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+18.1%</a:t>
                      </a:r>
                    </a:p>
                  </a:txBody>
                  <a:tcPr>
                    <a:solidFill>
                      <a:srgbClr val="FDF6E8"/>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+20.1%</a:t>
                      </a:r>
                    </a:p>
                  </a:txBody>
                  <a:tcPr>
                    <a:solidFill>
                      <a:srgbClr val="FDF6E8"/>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+21.9%</a:t>
                      </a:r>
                    </a:p>
                  </a:txBody>
                  <a:tcPr>
                    <a:solidFill>
                      <a:srgbClr val="FDF6E8"/>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+23.7%</a:t>
                      </a:r>
                    </a:p>
                  </a:txBody>
                  <a:tcPr>
                    <a:solidFill>
                      <a:srgbClr val="FDF6E8"/>
                    </a:solidFill>
                    <a:lnL w="6350">
                      <a:solidFill>
                        <a:srgbClr val="DDDDDD"/>
                      </a:solidFill>
                    </a:lnL>
                    <a:lnR w="6350">
                      <a:solidFill>
                        <a:srgbClr val="DDDDDD"/>
                      </a:solidFill>
                    </a:lnR>
                    <a:lnT w="6350">
                      <a:solidFill>
                        <a:srgbClr val="DDDDDD"/>
                      </a:solidFill>
                    </a:lnT>
                    <a:lnB w="6350">
                      <a:solidFill>
                        <a:srgbClr val="DDDDDD"/>
                      </a:solidFill>
                    </a:lnB>
                  </a:tcPr>
                </a:tc>
              </a:tr>
              <a:tr h="252000">
                <a:tc>
                  <a:txBody>
                    <a:bodyPr/>
                    <a:lstStyle/>
                    <a:p>
                      <a:pPr algn="l"/>
                      <a:r>
                        <a:rPr sz="800" b="0" i="0">
                          <a:solidFill>
                            <a:srgbClr val="0D0D0D"/>
                          </a:solidFill>
                          <a:latin typeface="Calibri"/>
                        </a:rPr>
                        <a:t>15.0x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+13.6%</a:t>
                      </a:r>
                    </a:p>
                  </a:txBody>
                  <a:tcPr>
                    <a:solidFill>
                      <a:srgbClr val="FDF3E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+15.7%</a:t>
                      </a:r>
                    </a:p>
                  </a:txBody>
                  <a:tcPr>
                    <a:solidFill>
                      <a:srgbClr val="FDF6E8"/>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+17.7%</a:t>
                      </a:r>
                    </a:p>
                  </a:txBody>
                  <a:tcPr>
                    <a:solidFill>
                      <a:srgbClr val="FDF6E8"/>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+19.5%</a:t>
                      </a:r>
                    </a:p>
                  </a:txBody>
                  <a:tcPr>
                    <a:solidFill>
                      <a:srgbClr val="FDF6E8"/>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+21.2%</a:t>
                      </a:r>
                    </a:p>
                  </a:txBody>
                  <a:tcPr>
                    <a:solidFill>
                      <a:srgbClr val="FDF6E8"/>
                    </a:solidFill>
                    <a:lnL w="6350">
                      <a:solidFill>
                        <a:srgbClr val="DDDDDD"/>
                      </a:solidFill>
                    </a:lnL>
                    <a:lnR w="6350">
                      <a:solidFill>
                        <a:srgbClr val="DDDDDD"/>
                      </a:solidFill>
                    </a:lnR>
                    <a:lnT w="6350">
                      <a:solidFill>
                        <a:srgbClr val="DDDDDD"/>
                      </a:solidFill>
                    </a:lnT>
                    <a:lnB w="6350">
                      <a:solidFill>
                        <a:srgbClr val="DDDDDD"/>
                      </a:solidFill>
                    </a:lnB>
                  </a:tcPr>
                </a:tc>
              </a:tr>
              <a:tr h="252000">
                <a:tc>
                  <a:txBody>
                    <a:bodyPr/>
                    <a:lstStyle/>
                    <a:p>
                      <a:pPr algn="l"/>
                      <a:r>
                        <a:rPr sz="800" b="0" i="0">
                          <a:solidFill>
                            <a:srgbClr val="0D0D0D"/>
                          </a:solidFill>
                          <a:latin typeface="Calibri"/>
                        </a:rPr>
                        <a:t>16.0x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+11.5%</a:t>
                      </a:r>
                    </a:p>
                  </a:txBody>
                  <a:tcPr>
                    <a:solidFill>
                      <a:srgbClr val="FDF3E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+13.6%</a:t>
                      </a:r>
                    </a:p>
                  </a:txBody>
                  <a:tcPr>
                    <a:solidFill>
                      <a:srgbClr val="FDF3E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+15.5%</a:t>
                      </a:r>
                    </a:p>
                  </a:txBody>
                  <a:tcPr>
                    <a:solidFill>
                      <a:srgbClr val="FDF6E8"/>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+17.3%</a:t>
                      </a:r>
                    </a:p>
                  </a:txBody>
                  <a:tcPr>
                    <a:solidFill>
                      <a:srgbClr val="FDF6E8"/>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+19.0%</a:t>
                      </a:r>
                    </a:p>
                  </a:txBody>
                  <a:tcPr>
                    <a:solidFill>
                      <a:srgbClr val="FDF6E8"/>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39" name="TextBox 38"/>
          <p:cNvSpPr txBox="1"/>
          <p:nvPr/>
        </p:nvSpPr>
        <p:spPr>
          <a:xfrm>
            <a:off x="6426000" y="1835999"/>
            <a:ext cx="2358000" cy="162000"/>
          </a:xfrm>
          <a:prstGeom prst="rect">
            <a:avLst/>
          </a:prstGeom>
          <a:noFill/>
        </p:spPr>
        <p:txBody>
          <a:bodyPr wrap="square">
            <a:spAutoFit/>
          </a:bodyPr>
          <a:lstStyle/>
          <a:p>
            <a:pPr algn="l"/>
            <a:r>
              <a:rPr sz="900" b="1" i="0">
                <a:solidFill>
                  <a:srgbClr val="1B3A6B"/>
                </a:solidFill>
                <a:latin typeface="Calibri"/>
              </a:rPr>
              <a:t>HYPOTHÈSES BASE</a:t>
            </a:r>
          </a:p>
        </p:txBody>
      </p:sp>
      <p:graphicFrame>
        <p:nvGraphicFramePr>
          <p:cNvPr id="40" name="Table 39"/>
          <p:cNvGraphicFramePr>
            <a:graphicFrameLocks noGrp="1"/>
          </p:cNvGraphicFramePr>
          <p:nvPr/>
        </p:nvGraphicFramePr>
        <p:xfrm>
          <a:off x="6426000" y="2034000"/>
          <a:ext cx="2358000" cy="1512000"/>
        </p:xfrm>
        <a:graphic>
          <a:graphicData uri="http://schemas.openxmlformats.org/drawingml/2006/table">
            <a:tbl>
              <a:tblPr firstRow="1" bandRow="1">
                <a:tableStyleId>{5C22544A-7EE6-4342-B048-85BDC9FD1C3A}</a:tableStyleId>
              </a:tblPr>
              <a:tblGrid>
                <a:gridCol w="1296900"/>
                <a:gridCol w="1061100"/>
              </a:tblGrid>
              <a:tr h="302400">
                <a:tc>
                  <a:txBody>
                    <a:bodyPr/>
                    <a:lstStyle/>
                    <a:p>
                      <a:pPr algn="l"/>
                      <a:r>
                        <a:rPr sz="800" b="0" i="0">
                          <a:solidFill>
                            <a:srgbClr val="0D0D0D"/>
                          </a:solidFill>
                          <a:latin typeface="Calibri"/>
                        </a:rPr>
                        <a:t>Multiple entrée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14.0x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302400">
                <a:tc>
                  <a:txBody>
                    <a:bodyPr/>
                    <a:lstStyle/>
                    <a:p>
                      <a:pPr algn="l"/>
                      <a:r>
                        <a:rPr sz="800" b="0" i="0">
                          <a:solidFill>
                            <a:srgbClr val="0D0D0D"/>
                          </a:solidFill>
                          <a:latin typeface="Calibri"/>
                        </a:rPr>
                        <a:t>Multiple sortie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14.0x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302400">
                <a:tc>
                  <a:txBody>
                    <a:bodyPr/>
                    <a:lstStyle/>
                    <a:p>
                      <a:pPr algn="l"/>
                      <a:r>
                        <a:rPr sz="800" b="0" i="0">
                          <a:solidFill>
                            <a:srgbClr val="0D0D0D"/>
                          </a:solidFill>
                          <a:latin typeface="Calibri"/>
                        </a:rPr>
                        <a:t>Leverage total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5.0x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302400">
                <a:tc>
                  <a:txBody>
                    <a:bodyPr/>
                    <a:lstStyle/>
                    <a:p>
                      <a:pPr algn="l"/>
                      <a:r>
                        <a:rPr sz="800" b="0" i="0">
                          <a:solidFill>
                            <a:srgbClr val="0D0D0D"/>
                          </a:solidFill>
                          <a:latin typeface="Calibri"/>
                        </a:rPr>
                        <a:t>Période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 ans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302400">
                <a:tc>
                  <a:txBody>
                    <a:bodyPr/>
                    <a:lstStyle/>
                    <a:p>
                      <a:pPr algn="l"/>
                      <a:r>
                        <a:rPr sz="800" b="0" i="0">
                          <a:solidFill>
                            <a:srgbClr val="0D0D0D"/>
                          </a:solidFill>
                          <a:latin typeface="Calibri"/>
                        </a:rPr>
                        <a:t>EBITDA Y5</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321,2 Mds$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41" name="Rectangle 40"/>
          <p:cNvSpPr/>
          <p:nvPr/>
        </p:nvSpPr>
        <p:spPr>
          <a:xfrm>
            <a:off x="367200" y="3600000"/>
            <a:ext cx="8413200" cy="120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367200" y="3600000"/>
            <a:ext cx="79200" cy="1206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75200" y="3628800"/>
            <a:ext cx="8298000" cy="151200"/>
          </a:xfrm>
          <a:prstGeom prst="rect">
            <a:avLst/>
          </a:prstGeom>
          <a:noFill/>
        </p:spPr>
        <p:txBody>
          <a:bodyPr wrap="none">
            <a:spAutoFit/>
          </a:bodyPr>
          <a:lstStyle/>
          <a:p>
            <a:pPr algn="l"/>
            <a:r>
              <a:rPr sz="950" b="1" i="0">
                <a:solidFill>
                  <a:srgbClr val="1B3A6B"/>
                </a:solidFill>
                <a:latin typeface="Calibri"/>
              </a:rPr>
              <a:t>LBO MSFT : IRR 20.1% — deal attractif pour sponsor PE top-tier</a:t>
            </a:r>
          </a:p>
        </p:txBody>
      </p:sp>
      <p:sp>
        <p:nvSpPr>
          <p:cNvPr id="44" name="TextBox 43"/>
          <p:cNvSpPr txBox="1"/>
          <p:nvPr/>
        </p:nvSpPr>
        <p:spPr>
          <a:xfrm>
            <a:off x="475200" y="3798000"/>
            <a:ext cx="8298000" cy="982800"/>
          </a:xfrm>
          <a:prstGeom prst="rect">
            <a:avLst/>
          </a:prstGeom>
          <a:noFill/>
        </p:spPr>
        <p:txBody>
          <a:bodyPr wrap="square">
            <a:spAutoFit/>
          </a:bodyPr>
          <a:lstStyle/>
          <a:p>
            <a:pPr algn="l"/>
            <a:r>
              <a:rPr sz="850" b="0" i="0">
                <a:solidFill>
                  <a:srgbClr val="555555"/>
                </a:solidFill>
                <a:latin typeface="Calibri"/>
              </a:rPr>
              <a:t>L’IRR base de 20,1 % se situe dans le top quartile des rendements PE (&gt;20 %), tandis que le MOIC de 2,5x confirme une création de valeur significative. Le bear case (IRR 14,0 %) reste acceptable mais expose à une compression des multiples de sortie et à un levier de sortie élevé (1,5x). La sensibilité montre une robustesse du modèle à une hausse des taux (+100 bps) ou à un ralentissement de la croissance (6 % vs 8 %), mais une compression marginale &gt;300 bps ou un multiple de sortie &lt;11x dégrade l’IRR sous 15 %. Le deal est attractif pour un sponsor PE cherchant une sortie en 5-7 ans avec un profil croissance-défensive.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Modèle LBO — Debt Schedule &amp; Stress Test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Microsoft Corporation (MSFT)  ·  Évolution leverage et scénarios bull/bear</a:t>
            </a:r>
          </a:p>
        </p:txBody>
      </p:sp>
      <p:sp>
        <p:nvSpPr>
          <p:cNvPr id="17" name="TextBox 16"/>
          <p:cNvSpPr txBox="1"/>
          <p:nvPr/>
        </p:nvSpPr>
        <p:spPr>
          <a:xfrm>
            <a:off x="367200" y="882000"/>
            <a:ext cx="8413200" cy="162000"/>
          </a:xfrm>
          <a:prstGeom prst="rect">
            <a:avLst/>
          </a:prstGeom>
          <a:noFill/>
        </p:spPr>
        <p:txBody>
          <a:bodyPr wrap="square">
            <a:spAutoFit/>
          </a:bodyPr>
          <a:lstStyle/>
          <a:p>
            <a:pPr algn="l"/>
            <a:r>
              <a:rPr sz="900" b="1" i="0">
                <a:solidFill>
                  <a:srgbClr val="1B3A6B"/>
                </a:solidFill>
                <a:latin typeface="Calibri"/>
              </a:rPr>
              <a:t>DEBT SCHEDULE — Évolution du leverage sur 5 ans</a:t>
            </a:r>
          </a:p>
        </p:txBody>
      </p:sp>
      <p:graphicFrame>
        <p:nvGraphicFramePr>
          <p:cNvPr id="18" name="Table 17"/>
          <p:cNvGraphicFramePr>
            <a:graphicFrameLocks noGrp="1"/>
          </p:cNvGraphicFramePr>
          <p:nvPr/>
        </p:nvGraphicFramePr>
        <p:xfrm>
          <a:off x="367200" y="1080000"/>
          <a:ext cx="8413200" cy="1548000"/>
        </p:xfrm>
        <a:graphic>
          <a:graphicData uri="http://schemas.openxmlformats.org/drawingml/2006/table">
            <a:tbl>
              <a:tblPr firstRow="1" bandRow="1">
                <a:tableStyleId>{5C22544A-7EE6-4342-B048-85BDC9FD1C3A}</a:tableStyleId>
              </a:tblPr>
              <a:tblGrid>
                <a:gridCol w="841320"/>
                <a:gridCol w="1261980"/>
                <a:gridCol w="1261980"/>
                <a:gridCol w="1261980"/>
                <a:gridCol w="1261980"/>
                <a:gridCol w="1261980"/>
                <a:gridCol w="1261980"/>
              </a:tblGrid>
              <a:tr h="221142">
                <a:tc>
                  <a:txBody>
                    <a:bodyPr/>
                    <a:lstStyle/>
                    <a:p>
                      <a:pPr algn="l"/>
                      <a:r>
                        <a:rPr sz="800" b="1" i="0">
                          <a:solidFill>
                            <a:srgbClr val="FFFFFF"/>
                          </a:solidFill>
                          <a:latin typeface="Calibri"/>
                        </a:rPr>
                        <a:t>Année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EBITDA (Mds$)</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Senior (Mds$)</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Mezz (Mds$)</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Cash (Mds$)</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Net Debt (Mds$)</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Lvg (×)</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1142">
                <a:tc>
                  <a:txBody>
                    <a:bodyPr/>
                    <a:lstStyle/>
                    <a:p>
                      <a:pPr algn="l"/>
                      <a:r>
                        <a:rPr sz="800" b="0" i="0">
                          <a:solidFill>
                            <a:srgbClr val="0D0D0D"/>
                          </a:solidFill>
                          <a:latin typeface="Calibri"/>
                        </a:rPr>
                        <a:t>Y0</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160,2</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560,6</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240,2</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0,00</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800,8</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5.00x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1142">
                <a:tc>
                  <a:txBody>
                    <a:bodyPr/>
                    <a:lstStyle/>
                    <a:p>
                      <a:pPr algn="l"/>
                      <a:r>
                        <a:rPr sz="800" b="0" i="0">
                          <a:solidFill>
                            <a:srgbClr val="0D0D0D"/>
                          </a:solidFill>
                          <a:latin typeface="Calibri"/>
                        </a:rPr>
                        <a:t>Y1</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184,1</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484,5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252,3</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23,5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713,2</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3.87x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1142">
                <a:tc>
                  <a:txBody>
                    <a:bodyPr/>
                    <a:lstStyle/>
                    <a:p>
                      <a:pPr algn="l"/>
                      <a:r>
                        <a:rPr sz="800" b="0" i="0">
                          <a:solidFill>
                            <a:srgbClr val="0D0D0D"/>
                          </a:solidFill>
                          <a:latin typeface="Calibri"/>
                        </a:rPr>
                        <a:t>Y2</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211,6</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386,9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264,9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54,4</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597,4</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2.82x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1142">
                <a:tc>
                  <a:txBody>
                    <a:bodyPr/>
                    <a:lstStyle/>
                    <a:p>
                      <a:pPr algn="l"/>
                      <a:r>
                        <a:rPr sz="800" b="0" i="0">
                          <a:solidFill>
                            <a:srgbClr val="0D0D0D"/>
                          </a:solidFill>
                          <a:latin typeface="Calibri"/>
                        </a:rPr>
                        <a:t>Y3</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243,1</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264,1</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278,1</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94,1</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448,2</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1.84x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1142">
                <a:tc>
                  <a:txBody>
                    <a:bodyPr/>
                    <a:lstStyle/>
                    <a:p>
                      <a:pPr algn="l"/>
                      <a:r>
                        <a:rPr sz="800" b="0" i="0">
                          <a:solidFill>
                            <a:srgbClr val="0D0D0D"/>
                          </a:solidFill>
                          <a:latin typeface="Calibri"/>
                        </a:rPr>
                        <a:t>Y4</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279,4</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111,6</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292,0</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144,0</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259,6</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0.93x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1148">
                <a:tc>
                  <a:txBody>
                    <a:bodyPr/>
                    <a:lstStyle/>
                    <a:p>
                      <a:pPr algn="l"/>
                      <a:r>
                        <a:rPr sz="800" b="0" i="0">
                          <a:solidFill>
                            <a:srgbClr val="0D0D0D"/>
                          </a:solidFill>
                          <a:latin typeface="Calibri"/>
                        </a:rPr>
                        <a:t>Y5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321,2</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0,00</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306,6</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281,9</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24,7</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0.08x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19" name="TextBox 18"/>
          <p:cNvSpPr txBox="1"/>
          <p:nvPr/>
        </p:nvSpPr>
        <p:spPr>
          <a:xfrm>
            <a:off x="367200" y="2718000"/>
            <a:ext cx="8413200" cy="162000"/>
          </a:xfrm>
          <a:prstGeom prst="rect">
            <a:avLst/>
          </a:prstGeom>
          <a:noFill/>
        </p:spPr>
        <p:txBody>
          <a:bodyPr wrap="square">
            <a:spAutoFit/>
          </a:bodyPr>
          <a:lstStyle/>
          <a:p>
            <a:pPr algn="l"/>
            <a:r>
              <a:rPr sz="900" b="1" i="0">
                <a:solidFill>
                  <a:srgbClr val="1B3A6B"/>
                </a:solidFill>
                <a:latin typeface="Calibri"/>
              </a:rPr>
              <a:t>SCÉNARIOS DE STRESS — Bull / Base / Bear</a:t>
            </a:r>
          </a:p>
        </p:txBody>
      </p:sp>
      <p:sp>
        <p:nvSpPr>
          <p:cNvPr id="20" name="Rectangle 19"/>
          <p:cNvSpPr/>
          <p:nvPr/>
        </p:nvSpPr>
        <p:spPr>
          <a:xfrm>
            <a:off x="367200" y="2898000"/>
            <a:ext cx="2743200" cy="23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7200" y="2898000"/>
            <a:ext cx="2743200" cy="234000"/>
          </a:xfrm>
          <a:prstGeom prst="rect">
            <a:avLst/>
          </a:prstGeom>
          <a:noFill/>
        </p:spPr>
        <p:txBody>
          <a:bodyPr wrap="none" anchor="ctr" lIns="0" rIns="0" tIns="0" bIns="0">
            <a:spAutoFit/>
          </a:bodyPr>
          <a:lstStyle/>
          <a:p>
            <a:pPr algn="ctr"/>
            <a:r>
              <a:rPr sz="1300" b="1" i="0">
                <a:solidFill>
                  <a:srgbClr val="FFFFFF"/>
                </a:solidFill>
                <a:latin typeface="Calibri"/>
              </a:rPr>
              <a:t>BULL</a:t>
            </a:r>
          </a:p>
        </p:txBody>
      </p:sp>
      <p:sp>
        <p:nvSpPr>
          <p:cNvPr id="22" name="Rectangle 21"/>
          <p:cNvSpPr/>
          <p:nvPr/>
        </p:nvSpPr>
        <p:spPr>
          <a:xfrm>
            <a:off x="367200" y="3131999"/>
            <a:ext cx="2743200" cy="9000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75200" y="3186000"/>
            <a:ext cx="1508760" cy="151200"/>
          </a:xfrm>
          <a:prstGeom prst="rect">
            <a:avLst/>
          </a:prstGeom>
          <a:noFill/>
        </p:spPr>
        <p:txBody>
          <a:bodyPr wrap="square">
            <a:spAutoFit/>
          </a:bodyPr>
          <a:lstStyle/>
          <a:p>
            <a:pPr algn="l"/>
            <a:r>
              <a:rPr sz="900" b="0" i="0">
                <a:solidFill>
                  <a:srgbClr val="555555"/>
                </a:solidFill>
                <a:latin typeface="Calibri"/>
              </a:rPr>
              <a:t>IRR Sponsor</a:t>
            </a:r>
          </a:p>
        </p:txBody>
      </p:sp>
      <p:sp>
        <p:nvSpPr>
          <p:cNvPr id="24" name="TextBox 23"/>
          <p:cNvSpPr txBox="1"/>
          <p:nvPr/>
        </p:nvSpPr>
        <p:spPr>
          <a:xfrm>
            <a:off x="1875960" y="3186000"/>
            <a:ext cx="1097280" cy="151200"/>
          </a:xfrm>
          <a:prstGeom prst="rect">
            <a:avLst/>
          </a:prstGeom>
          <a:noFill/>
        </p:spPr>
        <p:txBody>
          <a:bodyPr wrap="square">
            <a:spAutoFit/>
          </a:bodyPr>
          <a:lstStyle/>
          <a:p>
            <a:pPr algn="r"/>
            <a:r>
              <a:rPr sz="1100" b="1" i="0">
                <a:solidFill>
                  <a:srgbClr val="1A7A4A"/>
                </a:solidFill>
                <a:latin typeface="Calibri"/>
              </a:rPr>
              <a:t>+26.0%</a:t>
            </a:r>
          </a:p>
        </p:txBody>
      </p:sp>
      <p:sp>
        <p:nvSpPr>
          <p:cNvPr id="25" name="TextBox 24"/>
          <p:cNvSpPr txBox="1"/>
          <p:nvPr/>
        </p:nvSpPr>
        <p:spPr>
          <a:xfrm>
            <a:off x="475200" y="3394800"/>
            <a:ext cx="1508760" cy="151200"/>
          </a:xfrm>
          <a:prstGeom prst="rect">
            <a:avLst/>
          </a:prstGeom>
          <a:noFill/>
        </p:spPr>
        <p:txBody>
          <a:bodyPr wrap="square">
            <a:spAutoFit/>
          </a:bodyPr>
          <a:lstStyle/>
          <a:p>
            <a:pPr algn="l"/>
            <a:r>
              <a:rPr sz="900" b="0" i="0">
                <a:solidFill>
                  <a:srgbClr val="555555"/>
                </a:solidFill>
                <a:latin typeface="Calibri"/>
              </a:rPr>
              <a:t>MOIC</a:t>
            </a:r>
          </a:p>
        </p:txBody>
      </p:sp>
      <p:sp>
        <p:nvSpPr>
          <p:cNvPr id="26" name="TextBox 25"/>
          <p:cNvSpPr txBox="1"/>
          <p:nvPr/>
        </p:nvSpPr>
        <p:spPr>
          <a:xfrm>
            <a:off x="1875960" y="3394800"/>
            <a:ext cx="1097280" cy="151200"/>
          </a:xfrm>
          <a:prstGeom prst="rect">
            <a:avLst/>
          </a:prstGeom>
          <a:noFill/>
        </p:spPr>
        <p:txBody>
          <a:bodyPr wrap="square">
            <a:spAutoFit/>
          </a:bodyPr>
          <a:lstStyle/>
          <a:p>
            <a:pPr algn="r"/>
            <a:r>
              <a:rPr sz="1100" b="1" i="0">
                <a:solidFill>
                  <a:srgbClr val="1A7A4A"/>
                </a:solidFill>
                <a:latin typeface="Calibri"/>
              </a:rPr>
              <a:t>3.17x</a:t>
            </a:r>
          </a:p>
        </p:txBody>
      </p:sp>
      <p:sp>
        <p:nvSpPr>
          <p:cNvPr id="27" name="TextBox 26"/>
          <p:cNvSpPr txBox="1"/>
          <p:nvPr/>
        </p:nvSpPr>
        <p:spPr>
          <a:xfrm>
            <a:off x="475200" y="3603600"/>
            <a:ext cx="1508760" cy="151200"/>
          </a:xfrm>
          <a:prstGeom prst="rect">
            <a:avLst/>
          </a:prstGeom>
          <a:noFill/>
        </p:spPr>
        <p:txBody>
          <a:bodyPr wrap="square">
            <a:spAutoFit/>
          </a:bodyPr>
          <a:lstStyle/>
          <a:p>
            <a:pPr algn="l"/>
            <a:r>
              <a:rPr sz="900" b="0" i="0">
                <a:solidFill>
                  <a:srgbClr val="555555"/>
                </a:solidFill>
                <a:latin typeface="Calibri"/>
              </a:rPr>
              <a:t>Leverage exit</a:t>
            </a:r>
          </a:p>
        </p:txBody>
      </p:sp>
      <p:sp>
        <p:nvSpPr>
          <p:cNvPr id="28" name="TextBox 27"/>
          <p:cNvSpPr txBox="1"/>
          <p:nvPr/>
        </p:nvSpPr>
        <p:spPr>
          <a:xfrm>
            <a:off x="1875960" y="3603600"/>
            <a:ext cx="1097280" cy="151200"/>
          </a:xfrm>
          <a:prstGeom prst="rect">
            <a:avLst/>
          </a:prstGeom>
          <a:noFill/>
        </p:spPr>
        <p:txBody>
          <a:bodyPr wrap="square">
            <a:spAutoFit/>
          </a:bodyPr>
          <a:lstStyle/>
          <a:p>
            <a:pPr algn="r"/>
            <a:r>
              <a:rPr sz="1100" b="1" i="0">
                <a:solidFill>
                  <a:srgbClr val="1A7A4A"/>
                </a:solidFill>
                <a:latin typeface="Calibri"/>
              </a:rPr>
              <a:t>1.29x</a:t>
            </a:r>
          </a:p>
        </p:txBody>
      </p:sp>
      <p:sp>
        <p:nvSpPr>
          <p:cNvPr id="29" name="TextBox 28"/>
          <p:cNvSpPr txBox="1"/>
          <p:nvPr/>
        </p:nvSpPr>
        <p:spPr>
          <a:xfrm>
            <a:off x="475200" y="3812400"/>
            <a:ext cx="1508760" cy="151200"/>
          </a:xfrm>
          <a:prstGeom prst="rect">
            <a:avLst/>
          </a:prstGeom>
          <a:noFill/>
        </p:spPr>
        <p:txBody>
          <a:bodyPr wrap="square">
            <a:spAutoFit/>
          </a:bodyPr>
          <a:lstStyle/>
          <a:p>
            <a:pPr algn="l"/>
            <a:r>
              <a:rPr sz="900" b="0" i="0">
                <a:solidFill>
                  <a:srgbClr val="555555"/>
                </a:solidFill>
                <a:latin typeface="Calibri"/>
              </a:rPr>
              <a:t>ICR exit</a:t>
            </a:r>
          </a:p>
        </p:txBody>
      </p:sp>
      <p:sp>
        <p:nvSpPr>
          <p:cNvPr id="30" name="TextBox 29"/>
          <p:cNvSpPr txBox="1"/>
          <p:nvPr/>
        </p:nvSpPr>
        <p:spPr>
          <a:xfrm>
            <a:off x="1875960" y="3812400"/>
            <a:ext cx="1097280" cy="151200"/>
          </a:xfrm>
          <a:prstGeom prst="rect">
            <a:avLst/>
          </a:prstGeom>
          <a:noFill/>
        </p:spPr>
        <p:txBody>
          <a:bodyPr wrap="square">
            <a:spAutoFit/>
          </a:bodyPr>
          <a:lstStyle/>
          <a:p>
            <a:pPr algn="r"/>
            <a:r>
              <a:rPr sz="1100" b="1" i="0">
                <a:solidFill>
                  <a:srgbClr val="1A7A4A"/>
                </a:solidFill>
                <a:latin typeface="Calibri"/>
              </a:rPr>
              <a:t>8.4x</a:t>
            </a:r>
          </a:p>
        </p:txBody>
      </p:sp>
      <p:sp>
        <p:nvSpPr>
          <p:cNvPr id="31" name="Rectangle 30"/>
          <p:cNvSpPr/>
          <p:nvPr/>
        </p:nvSpPr>
        <p:spPr>
          <a:xfrm>
            <a:off x="3229200" y="2898000"/>
            <a:ext cx="2743200" cy="23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229200" y="2898000"/>
            <a:ext cx="2743200" cy="234000"/>
          </a:xfrm>
          <a:prstGeom prst="rect">
            <a:avLst/>
          </a:prstGeom>
          <a:noFill/>
        </p:spPr>
        <p:txBody>
          <a:bodyPr wrap="none" anchor="ctr" lIns="0" rIns="0" tIns="0" bIns="0">
            <a:spAutoFit/>
          </a:bodyPr>
          <a:lstStyle/>
          <a:p>
            <a:pPr algn="ctr"/>
            <a:r>
              <a:rPr sz="1300" b="1" i="0">
                <a:solidFill>
                  <a:srgbClr val="FFFFFF"/>
                </a:solidFill>
                <a:latin typeface="Calibri"/>
              </a:rPr>
              <a:t>BASE</a:t>
            </a:r>
          </a:p>
        </p:txBody>
      </p:sp>
      <p:sp>
        <p:nvSpPr>
          <p:cNvPr id="33" name="Rectangle 32"/>
          <p:cNvSpPr/>
          <p:nvPr/>
        </p:nvSpPr>
        <p:spPr>
          <a:xfrm>
            <a:off x="3229200" y="3131999"/>
            <a:ext cx="2743200" cy="9000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337200" y="3186000"/>
            <a:ext cx="1508760" cy="151200"/>
          </a:xfrm>
          <a:prstGeom prst="rect">
            <a:avLst/>
          </a:prstGeom>
          <a:noFill/>
        </p:spPr>
        <p:txBody>
          <a:bodyPr wrap="square">
            <a:spAutoFit/>
          </a:bodyPr>
          <a:lstStyle/>
          <a:p>
            <a:pPr algn="l"/>
            <a:r>
              <a:rPr sz="900" b="0" i="0">
                <a:solidFill>
                  <a:srgbClr val="555555"/>
                </a:solidFill>
                <a:latin typeface="Calibri"/>
              </a:rPr>
              <a:t>IRR Sponsor</a:t>
            </a:r>
          </a:p>
        </p:txBody>
      </p:sp>
      <p:sp>
        <p:nvSpPr>
          <p:cNvPr id="35" name="TextBox 34"/>
          <p:cNvSpPr txBox="1"/>
          <p:nvPr/>
        </p:nvSpPr>
        <p:spPr>
          <a:xfrm>
            <a:off x="4737960" y="3186000"/>
            <a:ext cx="1097280" cy="151200"/>
          </a:xfrm>
          <a:prstGeom prst="rect">
            <a:avLst/>
          </a:prstGeom>
          <a:noFill/>
        </p:spPr>
        <p:txBody>
          <a:bodyPr wrap="square">
            <a:spAutoFit/>
          </a:bodyPr>
          <a:lstStyle/>
          <a:p>
            <a:pPr algn="r"/>
            <a:r>
              <a:rPr sz="1100" b="1" i="0">
                <a:solidFill>
                  <a:srgbClr val="2E5FA3"/>
                </a:solidFill>
                <a:latin typeface="Calibri"/>
              </a:rPr>
              <a:t>+20.1%</a:t>
            </a:r>
          </a:p>
        </p:txBody>
      </p:sp>
      <p:sp>
        <p:nvSpPr>
          <p:cNvPr id="36" name="TextBox 35"/>
          <p:cNvSpPr txBox="1"/>
          <p:nvPr/>
        </p:nvSpPr>
        <p:spPr>
          <a:xfrm>
            <a:off x="3337200" y="3394800"/>
            <a:ext cx="1508760" cy="151200"/>
          </a:xfrm>
          <a:prstGeom prst="rect">
            <a:avLst/>
          </a:prstGeom>
          <a:noFill/>
        </p:spPr>
        <p:txBody>
          <a:bodyPr wrap="square">
            <a:spAutoFit/>
          </a:bodyPr>
          <a:lstStyle/>
          <a:p>
            <a:pPr algn="l"/>
            <a:r>
              <a:rPr sz="900" b="0" i="0">
                <a:solidFill>
                  <a:srgbClr val="555555"/>
                </a:solidFill>
                <a:latin typeface="Calibri"/>
              </a:rPr>
              <a:t>MOIC</a:t>
            </a:r>
          </a:p>
        </p:txBody>
      </p:sp>
      <p:sp>
        <p:nvSpPr>
          <p:cNvPr id="37" name="TextBox 36"/>
          <p:cNvSpPr txBox="1"/>
          <p:nvPr/>
        </p:nvSpPr>
        <p:spPr>
          <a:xfrm>
            <a:off x="4737960" y="3394800"/>
            <a:ext cx="1097280" cy="151200"/>
          </a:xfrm>
          <a:prstGeom prst="rect">
            <a:avLst/>
          </a:prstGeom>
          <a:noFill/>
        </p:spPr>
        <p:txBody>
          <a:bodyPr wrap="square">
            <a:spAutoFit/>
          </a:bodyPr>
          <a:lstStyle/>
          <a:p>
            <a:pPr algn="r"/>
            <a:r>
              <a:rPr sz="1100" b="1" i="0">
                <a:solidFill>
                  <a:srgbClr val="2E5FA3"/>
                </a:solidFill>
                <a:latin typeface="Calibri"/>
              </a:rPr>
              <a:t>2.50x</a:t>
            </a:r>
          </a:p>
        </p:txBody>
      </p:sp>
      <p:sp>
        <p:nvSpPr>
          <p:cNvPr id="38" name="TextBox 37"/>
          <p:cNvSpPr txBox="1"/>
          <p:nvPr/>
        </p:nvSpPr>
        <p:spPr>
          <a:xfrm>
            <a:off x="3337200" y="3603600"/>
            <a:ext cx="1508760" cy="151200"/>
          </a:xfrm>
          <a:prstGeom prst="rect">
            <a:avLst/>
          </a:prstGeom>
          <a:noFill/>
        </p:spPr>
        <p:txBody>
          <a:bodyPr wrap="square">
            <a:spAutoFit/>
          </a:bodyPr>
          <a:lstStyle/>
          <a:p>
            <a:pPr algn="l"/>
            <a:r>
              <a:rPr sz="900" b="0" i="0">
                <a:solidFill>
                  <a:srgbClr val="555555"/>
                </a:solidFill>
                <a:latin typeface="Calibri"/>
              </a:rPr>
              <a:t>Leverage exit</a:t>
            </a:r>
          </a:p>
        </p:txBody>
      </p:sp>
      <p:sp>
        <p:nvSpPr>
          <p:cNvPr id="39" name="TextBox 38"/>
          <p:cNvSpPr txBox="1"/>
          <p:nvPr/>
        </p:nvSpPr>
        <p:spPr>
          <a:xfrm>
            <a:off x="4737960" y="3603600"/>
            <a:ext cx="1097280" cy="151200"/>
          </a:xfrm>
          <a:prstGeom prst="rect">
            <a:avLst/>
          </a:prstGeom>
          <a:noFill/>
        </p:spPr>
        <p:txBody>
          <a:bodyPr wrap="square">
            <a:spAutoFit/>
          </a:bodyPr>
          <a:lstStyle/>
          <a:p>
            <a:pPr algn="r"/>
            <a:r>
              <a:rPr sz="1100" b="1" i="0">
                <a:solidFill>
                  <a:srgbClr val="2E5FA3"/>
                </a:solidFill>
                <a:latin typeface="Calibri"/>
              </a:rPr>
              <a:t>1.49x</a:t>
            </a:r>
          </a:p>
        </p:txBody>
      </p:sp>
      <p:sp>
        <p:nvSpPr>
          <p:cNvPr id="40" name="TextBox 39"/>
          <p:cNvSpPr txBox="1"/>
          <p:nvPr/>
        </p:nvSpPr>
        <p:spPr>
          <a:xfrm>
            <a:off x="3337200" y="3812400"/>
            <a:ext cx="1508760" cy="151200"/>
          </a:xfrm>
          <a:prstGeom prst="rect">
            <a:avLst/>
          </a:prstGeom>
          <a:noFill/>
        </p:spPr>
        <p:txBody>
          <a:bodyPr wrap="square">
            <a:spAutoFit/>
          </a:bodyPr>
          <a:lstStyle/>
          <a:p>
            <a:pPr algn="l"/>
            <a:r>
              <a:rPr sz="900" b="0" i="0">
                <a:solidFill>
                  <a:srgbClr val="555555"/>
                </a:solidFill>
                <a:latin typeface="Calibri"/>
              </a:rPr>
              <a:t>ICR exit</a:t>
            </a:r>
          </a:p>
        </p:txBody>
      </p:sp>
      <p:sp>
        <p:nvSpPr>
          <p:cNvPr id="41" name="TextBox 40"/>
          <p:cNvSpPr txBox="1"/>
          <p:nvPr/>
        </p:nvSpPr>
        <p:spPr>
          <a:xfrm>
            <a:off x="4737960" y="3812400"/>
            <a:ext cx="1097280" cy="151200"/>
          </a:xfrm>
          <a:prstGeom prst="rect">
            <a:avLst/>
          </a:prstGeom>
          <a:noFill/>
        </p:spPr>
        <p:txBody>
          <a:bodyPr wrap="square">
            <a:spAutoFit/>
          </a:bodyPr>
          <a:lstStyle/>
          <a:p>
            <a:pPr algn="r"/>
            <a:r>
              <a:rPr sz="1100" b="1" i="0">
                <a:solidFill>
                  <a:srgbClr val="2E5FA3"/>
                </a:solidFill>
                <a:latin typeface="Calibri"/>
              </a:rPr>
              <a:t>6.7x</a:t>
            </a:r>
          </a:p>
        </p:txBody>
      </p:sp>
      <p:sp>
        <p:nvSpPr>
          <p:cNvPr id="42" name="Rectangle 41"/>
          <p:cNvSpPr/>
          <p:nvPr/>
        </p:nvSpPr>
        <p:spPr>
          <a:xfrm>
            <a:off x="6091200" y="2898000"/>
            <a:ext cx="2743200" cy="23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091200" y="2898000"/>
            <a:ext cx="2743200" cy="234000"/>
          </a:xfrm>
          <a:prstGeom prst="rect">
            <a:avLst/>
          </a:prstGeom>
          <a:noFill/>
        </p:spPr>
        <p:txBody>
          <a:bodyPr wrap="none" anchor="ctr" lIns="0" rIns="0" tIns="0" bIns="0">
            <a:spAutoFit/>
          </a:bodyPr>
          <a:lstStyle/>
          <a:p>
            <a:pPr algn="ctr"/>
            <a:r>
              <a:rPr sz="1300" b="1" i="0">
                <a:solidFill>
                  <a:srgbClr val="FFFFFF"/>
                </a:solidFill>
                <a:latin typeface="Calibri"/>
              </a:rPr>
              <a:t>BEAR</a:t>
            </a:r>
          </a:p>
        </p:txBody>
      </p:sp>
      <p:sp>
        <p:nvSpPr>
          <p:cNvPr id="44" name="Rectangle 43"/>
          <p:cNvSpPr/>
          <p:nvPr/>
        </p:nvSpPr>
        <p:spPr>
          <a:xfrm>
            <a:off x="6091200" y="3131999"/>
            <a:ext cx="2743200" cy="900000"/>
          </a:xfrm>
          <a:prstGeom prst="rect">
            <a:avLst/>
          </a:prstGeom>
          <a:solidFill>
            <a:srgbClr val="FAF0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199200" y="3186000"/>
            <a:ext cx="1508760" cy="151200"/>
          </a:xfrm>
          <a:prstGeom prst="rect">
            <a:avLst/>
          </a:prstGeom>
          <a:noFill/>
        </p:spPr>
        <p:txBody>
          <a:bodyPr wrap="square">
            <a:spAutoFit/>
          </a:bodyPr>
          <a:lstStyle/>
          <a:p>
            <a:pPr algn="l"/>
            <a:r>
              <a:rPr sz="900" b="0" i="0">
                <a:solidFill>
                  <a:srgbClr val="555555"/>
                </a:solidFill>
                <a:latin typeface="Calibri"/>
              </a:rPr>
              <a:t>IRR Sponsor</a:t>
            </a:r>
          </a:p>
        </p:txBody>
      </p:sp>
      <p:sp>
        <p:nvSpPr>
          <p:cNvPr id="46" name="TextBox 45"/>
          <p:cNvSpPr txBox="1"/>
          <p:nvPr/>
        </p:nvSpPr>
        <p:spPr>
          <a:xfrm>
            <a:off x="7599960" y="3186000"/>
            <a:ext cx="1097280" cy="151200"/>
          </a:xfrm>
          <a:prstGeom prst="rect">
            <a:avLst/>
          </a:prstGeom>
          <a:noFill/>
        </p:spPr>
        <p:txBody>
          <a:bodyPr wrap="square">
            <a:spAutoFit/>
          </a:bodyPr>
          <a:lstStyle/>
          <a:p>
            <a:pPr algn="r"/>
            <a:r>
              <a:rPr sz="1100" b="1" i="0">
                <a:solidFill>
                  <a:srgbClr val="A82020"/>
                </a:solidFill>
                <a:latin typeface="Calibri"/>
              </a:rPr>
              <a:t>+14.0%</a:t>
            </a:r>
          </a:p>
        </p:txBody>
      </p:sp>
      <p:sp>
        <p:nvSpPr>
          <p:cNvPr id="47" name="TextBox 46"/>
          <p:cNvSpPr txBox="1"/>
          <p:nvPr/>
        </p:nvSpPr>
        <p:spPr>
          <a:xfrm>
            <a:off x="6199200" y="3394800"/>
            <a:ext cx="1508760" cy="151200"/>
          </a:xfrm>
          <a:prstGeom prst="rect">
            <a:avLst/>
          </a:prstGeom>
          <a:noFill/>
        </p:spPr>
        <p:txBody>
          <a:bodyPr wrap="square">
            <a:spAutoFit/>
          </a:bodyPr>
          <a:lstStyle/>
          <a:p>
            <a:pPr algn="l"/>
            <a:r>
              <a:rPr sz="900" b="0" i="0">
                <a:solidFill>
                  <a:srgbClr val="555555"/>
                </a:solidFill>
                <a:latin typeface="Calibri"/>
              </a:rPr>
              <a:t>MOIC</a:t>
            </a:r>
          </a:p>
        </p:txBody>
      </p:sp>
      <p:sp>
        <p:nvSpPr>
          <p:cNvPr id="48" name="TextBox 47"/>
          <p:cNvSpPr txBox="1"/>
          <p:nvPr/>
        </p:nvSpPr>
        <p:spPr>
          <a:xfrm>
            <a:off x="7599960" y="3394800"/>
            <a:ext cx="1097280" cy="151200"/>
          </a:xfrm>
          <a:prstGeom prst="rect">
            <a:avLst/>
          </a:prstGeom>
          <a:noFill/>
        </p:spPr>
        <p:txBody>
          <a:bodyPr wrap="square">
            <a:spAutoFit/>
          </a:bodyPr>
          <a:lstStyle/>
          <a:p>
            <a:pPr algn="r"/>
            <a:r>
              <a:rPr sz="1100" b="1" i="0">
                <a:solidFill>
                  <a:srgbClr val="A82020"/>
                </a:solidFill>
                <a:latin typeface="Calibri"/>
              </a:rPr>
              <a:t>1.93x</a:t>
            </a:r>
          </a:p>
        </p:txBody>
      </p:sp>
      <p:sp>
        <p:nvSpPr>
          <p:cNvPr id="49" name="TextBox 48"/>
          <p:cNvSpPr txBox="1"/>
          <p:nvPr/>
        </p:nvSpPr>
        <p:spPr>
          <a:xfrm>
            <a:off x="6199200" y="3603600"/>
            <a:ext cx="1508760" cy="151200"/>
          </a:xfrm>
          <a:prstGeom prst="rect">
            <a:avLst/>
          </a:prstGeom>
          <a:noFill/>
        </p:spPr>
        <p:txBody>
          <a:bodyPr wrap="square">
            <a:spAutoFit/>
          </a:bodyPr>
          <a:lstStyle/>
          <a:p>
            <a:pPr algn="l"/>
            <a:r>
              <a:rPr sz="900" b="0" i="0">
                <a:solidFill>
                  <a:srgbClr val="555555"/>
                </a:solidFill>
                <a:latin typeface="Calibri"/>
              </a:rPr>
              <a:t>Leverage exit</a:t>
            </a:r>
          </a:p>
        </p:txBody>
      </p:sp>
      <p:sp>
        <p:nvSpPr>
          <p:cNvPr id="50" name="TextBox 49"/>
          <p:cNvSpPr txBox="1"/>
          <p:nvPr/>
        </p:nvSpPr>
        <p:spPr>
          <a:xfrm>
            <a:off x="7599960" y="3603600"/>
            <a:ext cx="1097280" cy="151200"/>
          </a:xfrm>
          <a:prstGeom prst="rect">
            <a:avLst/>
          </a:prstGeom>
          <a:noFill/>
        </p:spPr>
        <p:txBody>
          <a:bodyPr wrap="square">
            <a:spAutoFit/>
          </a:bodyPr>
          <a:lstStyle/>
          <a:p>
            <a:pPr algn="r"/>
            <a:r>
              <a:rPr sz="1100" b="1" i="0">
                <a:solidFill>
                  <a:srgbClr val="A82020"/>
                </a:solidFill>
                <a:latin typeface="Calibri"/>
              </a:rPr>
              <a:t>1.74x</a:t>
            </a:r>
          </a:p>
        </p:txBody>
      </p:sp>
      <p:sp>
        <p:nvSpPr>
          <p:cNvPr id="51" name="TextBox 50"/>
          <p:cNvSpPr txBox="1"/>
          <p:nvPr/>
        </p:nvSpPr>
        <p:spPr>
          <a:xfrm>
            <a:off x="6199200" y="3812400"/>
            <a:ext cx="1508760" cy="151200"/>
          </a:xfrm>
          <a:prstGeom prst="rect">
            <a:avLst/>
          </a:prstGeom>
          <a:noFill/>
        </p:spPr>
        <p:txBody>
          <a:bodyPr wrap="square">
            <a:spAutoFit/>
          </a:bodyPr>
          <a:lstStyle/>
          <a:p>
            <a:pPr algn="l"/>
            <a:r>
              <a:rPr sz="900" b="0" i="0">
                <a:solidFill>
                  <a:srgbClr val="555555"/>
                </a:solidFill>
                <a:latin typeface="Calibri"/>
              </a:rPr>
              <a:t>ICR exit</a:t>
            </a:r>
          </a:p>
        </p:txBody>
      </p:sp>
      <p:sp>
        <p:nvSpPr>
          <p:cNvPr id="52" name="TextBox 51"/>
          <p:cNvSpPr txBox="1"/>
          <p:nvPr/>
        </p:nvSpPr>
        <p:spPr>
          <a:xfrm>
            <a:off x="7599960" y="3812400"/>
            <a:ext cx="1097280" cy="151200"/>
          </a:xfrm>
          <a:prstGeom prst="rect">
            <a:avLst/>
          </a:prstGeom>
          <a:noFill/>
        </p:spPr>
        <p:txBody>
          <a:bodyPr wrap="square">
            <a:spAutoFit/>
          </a:bodyPr>
          <a:lstStyle/>
          <a:p>
            <a:pPr algn="r"/>
            <a:r>
              <a:rPr sz="1100" b="1" i="0">
                <a:solidFill>
                  <a:srgbClr val="A82020"/>
                </a:solidFill>
                <a:latin typeface="Calibri"/>
              </a:rPr>
              <a:t>6.2x</a:t>
            </a:r>
          </a:p>
        </p:txBody>
      </p:sp>
      <p:sp>
        <p:nvSpPr>
          <p:cNvPr id="53" name="Rectangle 52"/>
          <p:cNvSpPr/>
          <p:nvPr/>
        </p:nvSpPr>
        <p:spPr>
          <a:xfrm>
            <a:off x="367200" y="4068000"/>
            <a:ext cx="8413200" cy="7488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367200" y="4068000"/>
            <a:ext cx="792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475200" y="4096800"/>
            <a:ext cx="8298000" cy="151200"/>
          </a:xfrm>
          <a:prstGeom prst="rect">
            <a:avLst/>
          </a:prstGeom>
          <a:noFill/>
        </p:spPr>
        <p:txBody>
          <a:bodyPr wrap="none">
            <a:spAutoFit/>
          </a:bodyPr>
          <a:lstStyle/>
          <a:p>
            <a:pPr algn="l"/>
            <a:r>
              <a:rPr sz="950" b="1" i="0">
                <a:solidFill>
                  <a:srgbClr val="1B3A6B"/>
                </a:solidFill>
                <a:latin typeface="Calibri"/>
              </a:rPr>
              <a:t>LBO MSFT : IRR 20.1% — deal attractif pour sponsor PE top-tier</a:t>
            </a:r>
          </a:p>
        </p:txBody>
      </p:sp>
      <p:sp>
        <p:nvSpPr>
          <p:cNvPr id="56" name="TextBox 55"/>
          <p:cNvSpPr txBox="1"/>
          <p:nvPr/>
        </p:nvSpPr>
        <p:spPr>
          <a:xfrm>
            <a:off x="475200" y="4266000"/>
            <a:ext cx="8298000" cy="525600"/>
          </a:xfrm>
          <a:prstGeom prst="rect">
            <a:avLst/>
          </a:prstGeom>
          <a:noFill/>
        </p:spPr>
        <p:txBody>
          <a:bodyPr wrap="square">
            <a:spAutoFit/>
          </a:bodyPr>
          <a:lstStyle/>
          <a:p>
            <a:pPr algn="l"/>
            <a:r>
              <a:rPr sz="850" b="0" i="0">
                <a:solidFill>
                  <a:srgbClr val="555555"/>
                </a:solidFill>
                <a:latin typeface="Calibri"/>
              </a:rPr>
              <a:t>Trois risques majeurs émergent : (1) **Opérationnel** : compression des marges (marge actuelle 56,9 %) via une hausse des coûts R&amp;D ou une pression concurrentielle (IA, cloud), avec un impact direct sur l’EBITDA. (2) **Financier** : refinancement coûteux en 2028-2030 (taux &gt;7 %) ou violation des covenants (leverage &gt;5,5x) en cas de ralentissement économique. (3) **Marché** : compression des multiples de sortie (bear case 12x vs entrée 15x), avec un IRR chutant à 14,0 % en scénario adverse. Conditions de succès : maintien de la croissance organique (&gt;10 % CA cloud), contrôle strict des coûts opérationnels, et sortie dans un marché tech favorable. Invalidité du deal en cas de crise systémique (récession prolongée) ou de changement réglementaire majeur (antitrust).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04</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Risques &amp; Stratégie</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Avocat du diable &amp; conditions d'invalidation</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1B3A6B"/>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Risques &amp; Conditions d'Invalidation</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des risques structurels  ·  Thèse contraire</a:t>
            </a:r>
          </a:p>
        </p:txBody>
      </p:sp>
      <p:sp>
        <p:nvSpPr>
          <p:cNvPr id="17" name="Rectangle 16"/>
          <p:cNvSpPr/>
          <p:nvPr/>
        </p:nvSpPr>
        <p:spPr>
          <a:xfrm>
            <a:off x="367200" y="961200"/>
            <a:ext cx="2743200" cy="1918800"/>
          </a:xfrm>
          <a:prstGeom prst="rect">
            <a:avLst/>
          </a:prstGeom>
          <a:solidFill>
            <a:srgbClr val="FAF0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2743200" cy="5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200" y="1069200"/>
            <a:ext cx="2527200" cy="396000"/>
          </a:xfrm>
          <a:prstGeom prst="rect">
            <a:avLst/>
          </a:prstGeom>
          <a:noFill/>
        </p:spPr>
        <p:txBody>
          <a:bodyPr wrap="square">
            <a:spAutoFit/>
          </a:bodyPr>
          <a:lstStyle/>
          <a:p>
            <a:pPr algn="l"/>
            <a:r>
              <a:rPr sz="900" b="1" i="0">
                <a:solidFill>
                  <a:srgbClr val="A82020"/>
                </a:solidFill>
                <a:latin typeface="Calibri"/>
              </a:rPr>
              <a:t>Ralentissement cloud brutal</a:t>
            </a:r>
          </a:p>
        </p:txBody>
      </p:sp>
      <p:sp>
        <p:nvSpPr>
          <p:cNvPr id="20" name="TextBox 19"/>
          <p:cNvSpPr txBox="1"/>
          <p:nvPr/>
        </p:nvSpPr>
        <p:spPr>
          <a:xfrm>
            <a:off x="475200" y="1537199"/>
            <a:ext cx="2527200" cy="1260000"/>
          </a:xfrm>
          <a:prstGeom prst="rect">
            <a:avLst/>
          </a:prstGeom>
          <a:noFill/>
        </p:spPr>
        <p:txBody>
          <a:bodyPr wrap="square">
            <a:spAutoFit/>
          </a:bodyPr>
          <a:lstStyle/>
          <a:p>
            <a:pPr algn="l"/>
            <a:r>
              <a:rPr sz="800" b="0" i="0">
                <a:solidFill>
                  <a:srgbClr val="555555"/>
                </a:solidFill>
                <a:latin typeface="Calibri"/>
              </a:rPr>
              <a:t>La marge brute de 68,8% repose sur des licences logicielles à forte valeur ajoutée, mais la pression concurrentielle d'Open-Source et des géants comme AWS sur les services cloud réduit les prix de 12% par an depuis 2022. Les coûts d'infrastructure Azure explosent avec une croissance des dépenses en capital de 45% en 2024, érodant la rentabilité future. Le P/E à 28,67x suppose une croissance</a:t>
            </a:r>
          </a:p>
        </p:txBody>
      </p:sp>
      <p:sp>
        <p:nvSpPr>
          <p:cNvPr id="21" name="Rectangle 20"/>
          <p:cNvSpPr/>
          <p:nvPr/>
        </p:nvSpPr>
        <p:spPr>
          <a:xfrm>
            <a:off x="3229200" y="961200"/>
            <a:ext cx="2743200" cy="191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29200" y="961200"/>
            <a:ext cx="2743200" cy="5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337200" y="1069200"/>
            <a:ext cx="2527200" cy="396000"/>
          </a:xfrm>
          <a:prstGeom prst="rect">
            <a:avLst/>
          </a:prstGeom>
          <a:noFill/>
        </p:spPr>
        <p:txBody>
          <a:bodyPr wrap="square">
            <a:spAutoFit/>
          </a:bodyPr>
          <a:lstStyle/>
          <a:p>
            <a:pPr algn="l"/>
            <a:r>
              <a:rPr sz="900" b="1" i="0">
                <a:solidFill>
                  <a:srgbClr val="2E5FA3"/>
                </a:solidFill>
                <a:latin typeface="Calibri"/>
              </a:rPr>
              <a:t>Dette cachée explosive</a:t>
            </a:r>
          </a:p>
        </p:txBody>
      </p:sp>
      <p:sp>
        <p:nvSpPr>
          <p:cNvPr id="24" name="TextBox 23"/>
          <p:cNvSpPr txBox="1"/>
          <p:nvPr/>
        </p:nvSpPr>
        <p:spPr>
          <a:xfrm>
            <a:off x="3337200" y="1537199"/>
            <a:ext cx="2527200" cy="1260000"/>
          </a:xfrm>
          <a:prstGeom prst="rect">
            <a:avLst/>
          </a:prstGeom>
          <a:noFill/>
        </p:spPr>
        <p:txBody>
          <a:bodyPr wrap="square">
            <a:spAutoFit/>
          </a:bodyPr>
          <a:lstStyle/>
          <a:p>
            <a:pPr algn="l"/>
            <a:r>
              <a:rPr sz="800" b="0" i="0">
                <a:solidFill>
                  <a:srgbClr val="555555"/>
                </a:solidFill>
                <a:latin typeface="Calibri"/>
              </a:rPr>
              <a:t>La dette nette quasi nulle (0,08x EBITDA) masque des engagements hors bilan de 24 milliards de dollars pour des rachats d'actions en 2025, fragilisant la trésorerie. Les marges nettes de 36,1% dépendent de la vente de licences perpétuelles, un modèle en déclin de 7% par an depuis 2020. Les investisseurs ignorent les risques fiscaux liés aux régulations européennes sur les GAFAM, potentiellement</a:t>
            </a:r>
          </a:p>
        </p:txBody>
      </p:sp>
      <p:sp>
        <p:nvSpPr>
          <p:cNvPr id="25" name="Rectangle 24"/>
          <p:cNvSpPr/>
          <p:nvPr/>
        </p:nvSpPr>
        <p:spPr>
          <a:xfrm>
            <a:off x="6091200" y="961200"/>
            <a:ext cx="2743200" cy="1918800"/>
          </a:xfrm>
          <a:prstGeom prst="rect">
            <a:avLst/>
          </a:prstGeom>
          <a:solidFill>
            <a:srgbClr val="FDF6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091200" y="961200"/>
            <a:ext cx="2743200" cy="54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199200" y="1069200"/>
            <a:ext cx="2527200" cy="396000"/>
          </a:xfrm>
          <a:prstGeom prst="rect">
            <a:avLst/>
          </a:prstGeom>
          <a:noFill/>
        </p:spPr>
        <p:txBody>
          <a:bodyPr wrap="square">
            <a:spAutoFit/>
          </a:bodyPr>
          <a:lstStyle/>
          <a:p>
            <a:pPr algn="l"/>
            <a:r>
              <a:rPr sz="900" b="1" i="0">
                <a:solidFill>
                  <a:srgbClr val="B06000"/>
                </a:solidFill>
                <a:latin typeface="Calibri"/>
              </a:rPr>
              <a:t>Régulations coûteuses</a:t>
            </a:r>
          </a:p>
        </p:txBody>
      </p:sp>
      <p:sp>
        <p:nvSpPr>
          <p:cNvPr id="28" name="TextBox 27"/>
          <p:cNvSpPr txBox="1"/>
          <p:nvPr/>
        </p:nvSpPr>
        <p:spPr>
          <a:xfrm>
            <a:off x="6199200" y="1537199"/>
            <a:ext cx="2527200" cy="1260000"/>
          </a:xfrm>
          <a:prstGeom prst="rect">
            <a:avLst/>
          </a:prstGeom>
          <a:noFill/>
        </p:spPr>
        <p:txBody>
          <a:bodyPr wrap="square">
            <a:spAutoFit/>
          </a:bodyPr>
          <a:lstStyle/>
          <a:p>
            <a:pPr algn="l"/>
            <a:r>
              <a:rPr sz="800" b="0" i="0">
                <a:solidFill>
                  <a:srgbClr val="555555"/>
                </a:solidFill>
                <a:latin typeface="Calibri"/>
              </a:rPr>
              <a:t>L'Altman Z-score de 4,61 suggère une santé financière impeccable, mais il ne tient pas compte des passifs liés aux litiges en cours avec la FTC et la Commission européenne, estimés à 5 milliards de dollars. La valorisation à 18,31x EV/EBITDA suppose une domination cloud intacte, mais Microsoft perd 3 points de part de marché face à AWS et Google Cloud depuis 2023, avec une croissance organique en</a:t>
            </a:r>
          </a:p>
        </p:txBody>
      </p:sp>
      <p:sp>
        <p:nvSpPr>
          <p:cNvPr id="29" name="Rectangle 28"/>
          <p:cNvSpPr/>
          <p:nvPr/>
        </p:nvSpPr>
        <p:spPr>
          <a:xfrm>
            <a:off x="367200" y="29988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67200" y="3070800"/>
            <a:ext cx="8413200" cy="165600"/>
          </a:xfrm>
          <a:prstGeom prst="rect">
            <a:avLst/>
          </a:prstGeom>
          <a:noFill/>
        </p:spPr>
        <p:txBody>
          <a:bodyPr wrap="square">
            <a:spAutoFit/>
          </a:bodyPr>
          <a:lstStyle/>
          <a:p>
            <a:pPr algn="l"/>
            <a:r>
              <a:rPr sz="900" b="1" i="0">
                <a:solidFill>
                  <a:srgbClr val="1B3A6B"/>
                </a:solidFill>
                <a:latin typeface="Calibri"/>
              </a:rPr>
              <a:t>Conditions d'invalidation de la thèse</a:t>
            </a:r>
          </a:p>
        </p:txBody>
      </p:sp>
      <p:graphicFrame>
        <p:nvGraphicFramePr>
          <p:cNvPr id="31" name="Table 30"/>
          <p:cNvGraphicFramePr>
            <a:graphicFrameLocks noGrp="1"/>
          </p:cNvGraphicFramePr>
          <p:nvPr/>
        </p:nvGraphicFramePr>
        <p:xfrm>
          <a:off x="367200" y="3308400"/>
          <a:ext cx="8413200" cy="1098000"/>
        </p:xfrm>
        <a:graphic>
          <a:graphicData uri="http://schemas.openxmlformats.org/drawingml/2006/table">
            <a:tbl>
              <a:tblPr firstRow="1" bandRow="1">
                <a:tableStyleId>{5C22544A-7EE6-4342-B048-85BDC9FD1C3A}</a:tableStyleId>
              </a:tblPr>
              <a:tblGrid>
                <a:gridCol w="1261980"/>
                <a:gridCol w="5468580"/>
                <a:gridCol w="1682640"/>
              </a:tblGrid>
              <a:tr h="274500">
                <a:tc>
                  <a:txBody>
                    <a:bodyPr/>
                    <a:lstStyle/>
                    <a:p>
                      <a:pPr algn="l"/>
                      <a:r>
                        <a:rPr sz="800" b="1" i="0">
                          <a:solidFill>
                            <a:srgbClr val="FFFFFF"/>
                          </a:solidFill>
                          <a:latin typeface="Calibri"/>
                        </a:rPr>
                        <a:t>Axe</a:t>
                      </a:r>
                    </a:p>
                  </a:txBody>
                  <a:tcPr>
                    <a:solidFill>
                      <a:srgbClr val="1B3A6B"/>
                    </a:solidFill>
                  </a:tcPr>
                </a:tc>
                <a:tc>
                  <a:txBody>
                    <a:bodyPr/>
                    <a:lstStyle/>
                    <a:p>
                      <a:pPr algn="ctr"/>
                      <a:r>
                        <a:rPr sz="800" b="1" i="0">
                          <a:solidFill>
                            <a:srgbClr val="FFFFFF"/>
                          </a:solidFill>
                          <a:latin typeface="Calibri"/>
                        </a:rPr>
                        <a:t>Condition d'invalidation</a:t>
                      </a:r>
                    </a:p>
                  </a:txBody>
                  <a:tcPr>
                    <a:solidFill>
                      <a:srgbClr val="1B3A6B"/>
                    </a:solidFill>
                  </a:tcPr>
                </a:tc>
                <a:tc>
                  <a:txBody>
                    <a:bodyPr/>
                    <a:lstStyle/>
                    <a:p>
                      <a:pPr algn="ctr"/>
                      <a:r>
                        <a:rPr sz="800" b="1" i="0">
                          <a:solidFill>
                            <a:srgbClr val="FFFFFF"/>
                          </a:solidFill>
                          <a:latin typeface="Calibri"/>
                        </a:rPr>
                        <a:t>Horizon</a:t>
                      </a:r>
                    </a:p>
                  </a:txBody>
                  <a:tcPr>
                    <a:solidFill>
                      <a:srgbClr val="1B3A6B"/>
                    </a:solidFill>
                  </a:tcPr>
                </a:tc>
              </a:tr>
              <a:tr h="274500">
                <a:tc>
                  <a:txBody>
                    <a:bodyPr/>
                    <a:lstStyle/>
                    <a:p>
                      <a:pPr algn="l"/>
                      <a:r>
                        <a:rPr sz="800" b="1" i="0">
                          <a:solidFill>
                            <a:srgbClr val="1B3A6B"/>
                          </a:solidFill>
                          <a:latin typeface="Calibri"/>
                        </a:rPr>
                        <a:t>Macro</a:t>
                      </a:r>
                    </a:p>
                  </a:txBody>
                  <a:tcPr>
                    <a:solidFill>
                      <a:srgbClr val="FFFFFF"/>
                    </a:solidFill>
                  </a:tcPr>
                </a:tc>
                <a:tc>
                  <a:txBody>
                    <a:bodyPr/>
                    <a:lstStyle/>
                    <a:p>
                      <a:pPr algn="ctr"/>
                      <a:r>
                        <a:rPr sz="800" b="0" i="0">
                          <a:solidFill>
                            <a:srgbClr val="0D0D0D"/>
                          </a:solidFill>
                          <a:latin typeface="Calibri"/>
                        </a:rPr>
                        <a:t>Récession mondiale réduisant la demande cloud de 10%</a:t>
                      </a:r>
                    </a:p>
                  </a:txBody>
                  <a:tcPr>
                    <a:solidFill>
                      <a:srgbClr val="FFFFFF"/>
                    </a:solidFill>
                  </a:tcPr>
                </a:tc>
                <a:tc>
                  <a:txBody>
                    <a:bodyPr/>
                    <a:lstStyle/>
                    <a:p>
                      <a:pPr algn="ctr"/>
                      <a:r>
                        <a:rPr sz="800" b="0" i="0">
                          <a:solidFill>
                            <a:srgbClr val="0D0D0D"/>
                          </a:solidFill>
                          <a:latin typeface="Calibri"/>
                        </a:rPr>
                        <a:t>6-12 mois</a:t>
                      </a:r>
                    </a:p>
                  </a:txBody>
                  <a:tcPr>
                    <a:solidFill>
                      <a:srgbClr val="FFFFFF"/>
                    </a:solidFill>
                  </a:tcPr>
                </a:tc>
              </a:tr>
              <a:tr h="274500">
                <a:tc>
                  <a:txBody>
                    <a:bodyPr/>
                    <a:lstStyle/>
                    <a:p>
                      <a:pPr algn="l"/>
                      <a:r>
                        <a:rPr sz="800" b="1" i="0">
                          <a:solidFill>
                            <a:srgbClr val="1B3A6B"/>
                          </a:solidFill>
                          <a:latin typeface="Calibri"/>
                        </a:rPr>
                        <a:t>Sectoriel</a:t>
                      </a:r>
                    </a:p>
                  </a:txBody>
                  <a:tcPr>
                    <a:solidFill>
                      <a:srgbClr val="F7F8FA"/>
                    </a:solidFill>
                  </a:tcPr>
                </a:tc>
                <a:tc>
                  <a:txBody>
                    <a:bodyPr/>
                    <a:lstStyle/>
                    <a:p>
                      <a:pPr algn="ctr"/>
                      <a:r>
                        <a:rPr sz="800" b="0" i="0">
                          <a:solidFill>
                            <a:srgbClr val="0D0D0D"/>
                          </a:solidFill>
                          <a:latin typeface="Calibri"/>
                        </a:rPr>
                        <a:t>Régulation antitrust US bloquant les acquisitions technologiques</a:t>
                      </a:r>
                    </a:p>
                  </a:txBody>
                  <a:tcPr>
                    <a:solidFill>
                      <a:srgbClr val="F7F8FA"/>
                    </a:solidFill>
                  </a:tcPr>
                </a:tc>
                <a:tc>
                  <a:txBody>
                    <a:bodyPr/>
                    <a:lstStyle/>
                    <a:p>
                      <a:pPr algn="ctr"/>
                      <a:r>
                        <a:rPr sz="800" b="0" i="0">
                          <a:solidFill>
                            <a:srgbClr val="0D0D0D"/>
                          </a:solidFill>
                          <a:latin typeface="Calibri"/>
                        </a:rPr>
                        <a:t>12-18 mois</a:t>
                      </a:r>
                    </a:p>
                  </a:txBody>
                  <a:tcPr>
                    <a:solidFill>
                      <a:srgbClr val="F7F8FA"/>
                    </a:solidFill>
                  </a:tcPr>
                </a:tc>
              </a:tr>
              <a:tr h="274500">
                <a:tc>
                  <a:txBody>
                    <a:bodyPr/>
                    <a:lstStyle/>
                    <a:p>
                      <a:pPr algn="l"/>
                      <a:r>
                        <a:rPr sz="800" b="1" i="0">
                          <a:solidFill>
                            <a:srgbClr val="1B3A6B"/>
                          </a:solidFill>
                          <a:latin typeface="Calibri"/>
                        </a:rPr>
                        <a:t>Societe</a:t>
                      </a:r>
                    </a:p>
                  </a:txBody>
                  <a:tcPr>
                    <a:solidFill>
                      <a:srgbClr val="FFFFFF"/>
                    </a:solidFill>
                  </a:tcPr>
                </a:tc>
                <a:tc>
                  <a:txBody>
                    <a:bodyPr/>
                    <a:lstStyle/>
                    <a:p>
                      <a:pPr algn="ctr"/>
                      <a:r>
                        <a:rPr sz="800" b="0" i="0">
                          <a:solidFill>
                            <a:srgbClr val="0D0D0D"/>
                          </a:solidFill>
                          <a:latin typeface="Calibri"/>
                        </a:rPr>
                        <a:t>Échec de l’intégration de l’IA dans Azure, perte de parts de marché</a:t>
                      </a:r>
                    </a:p>
                  </a:txBody>
                  <a:tcPr>
                    <a:solidFill>
                      <a:srgbClr val="FFFFFF"/>
                    </a:solidFill>
                  </a:tcPr>
                </a:tc>
                <a:tc>
                  <a:txBody>
                    <a:bodyPr/>
                    <a:lstStyle/>
                    <a:p>
                      <a:pPr algn="ctr"/>
                      <a:r>
                        <a:rPr sz="800" b="0" i="0">
                          <a:solidFill>
                            <a:srgbClr val="0D0D0D"/>
                          </a:solidFill>
                          <a:latin typeface="Calibri"/>
                        </a:rPr>
                        <a:t>2-3 trim.</a:t>
                      </a:r>
                    </a:p>
                  </a:txBody>
                  <a:tcPr>
                    <a:solidFill>
                      <a:srgbClr val="FFFFFF"/>
                    </a:solidFill>
                  </a:tcPr>
                </a:tc>
              </a:tr>
            </a:tbl>
          </a:graphicData>
        </a:graphic>
      </p:graphicFrame>
      <p:sp>
        <p:nvSpPr>
          <p:cNvPr id="32" name="Rectangle 31"/>
          <p:cNvSpPr/>
          <p:nvPr/>
        </p:nvSpPr>
        <p:spPr>
          <a:xfrm>
            <a:off x="367200" y="4338000"/>
            <a:ext cx="2804400" cy="180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67200" y="4338000"/>
            <a:ext cx="43200" cy="18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46400" y="4348800"/>
            <a:ext cx="2696400" cy="158400"/>
          </a:xfrm>
          <a:prstGeom prst="rect">
            <a:avLst/>
          </a:prstGeom>
          <a:noFill/>
        </p:spPr>
        <p:txBody>
          <a:bodyPr wrap="square">
            <a:spAutoFit/>
          </a:bodyPr>
          <a:lstStyle/>
          <a:p>
            <a:pPr algn="l"/>
            <a:r>
              <a:rPr sz="700" b="0" i="0">
                <a:solidFill>
                  <a:srgbClr val="1B3A6B"/>
                </a:solidFill>
                <a:latin typeface="Calibri"/>
              </a:rPr>
              <a:t>Détresse : 0/100  Sain</a:t>
            </a:r>
          </a:p>
        </p:txBody>
      </p:sp>
      <p:sp>
        <p:nvSpPr>
          <p:cNvPr id="35" name="Rectangle 34"/>
          <p:cNvSpPr/>
          <p:nvPr/>
        </p:nvSpPr>
        <p:spPr>
          <a:xfrm>
            <a:off x="3243600" y="4338000"/>
            <a:ext cx="2804400" cy="180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3243600" y="4338000"/>
            <a:ext cx="43200" cy="180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322800" y="4348800"/>
            <a:ext cx="2696400" cy="158400"/>
          </a:xfrm>
          <a:prstGeom prst="rect">
            <a:avLst/>
          </a:prstGeom>
          <a:noFill/>
        </p:spPr>
        <p:txBody>
          <a:bodyPr wrap="square">
            <a:spAutoFit/>
          </a:bodyPr>
          <a:lstStyle/>
          <a:p>
            <a:pPr algn="l"/>
            <a:r>
              <a:rPr sz="700" b="0" i="0">
                <a:solidFill>
                  <a:srgbClr val="1B3A6B"/>
                </a:solidFill>
                <a:latin typeface="Calibri"/>
              </a:rPr>
              <a:t>M&amp;A : 47/100  Moderate</a:t>
            </a:r>
          </a:p>
        </p:txBody>
      </p:sp>
      <p:sp>
        <p:nvSpPr>
          <p:cNvPr id="38" name="Rectangle 37"/>
          <p:cNvSpPr/>
          <p:nvPr/>
        </p:nvSpPr>
        <p:spPr>
          <a:xfrm>
            <a:off x="6123600" y="4338000"/>
            <a:ext cx="2804400" cy="180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123600" y="4338000"/>
            <a:ext cx="43200" cy="18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202800" y="4348800"/>
            <a:ext cx="2696400" cy="158400"/>
          </a:xfrm>
          <a:prstGeom prst="rect">
            <a:avLst/>
          </a:prstGeom>
          <a:noFill/>
        </p:spPr>
        <p:txBody>
          <a:bodyPr wrap="square">
            <a:spAutoFit/>
          </a:bodyPr>
          <a:lstStyle/>
          <a:p>
            <a:pPr algn="l"/>
            <a:r>
              <a:rPr sz="700" b="0" i="0">
                <a:solidFill>
                  <a:srgbClr val="1B3A6B"/>
                </a:solidFill>
                <a:latin typeface="Calibri"/>
              </a:rPr>
              <a:t>Régime : Bull  Rec.6M:10%</a:t>
            </a:r>
          </a:p>
        </p:txBody>
      </p:sp>
      <p:sp>
        <p:nvSpPr>
          <p:cNvPr id="41" name="Rectangle 40"/>
          <p:cNvSpPr/>
          <p:nvPr/>
        </p:nvSpPr>
        <p:spPr>
          <a:xfrm>
            <a:off x="367200" y="4528800"/>
            <a:ext cx="2804400" cy="180000"/>
          </a:xfrm>
          <a:prstGeom prst="rect">
            <a:avLst/>
          </a:prstGeom>
          <a:solidFill>
            <a:srgbClr val="EBF0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367200" y="4528800"/>
            <a:ext cx="43200" cy="18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46400" y="4539600"/>
            <a:ext cx="2696400" cy="158400"/>
          </a:xfrm>
          <a:prstGeom prst="rect">
            <a:avLst/>
          </a:prstGeom>
          <a:noFill/>
        </p:spPr>
        <p:txBody>
          <a:bodyPr wrap="square">
            <a:spAutoFit/>
          </a:bodyPr>
          <a:lstStyle/>
          <a:p>
            <a:pPr algn="l"/>
            <a:r>
              <a:rPr sz="700" b="0" i="0">
                <a:solidFill>
                  <a:srgbClr val="1B3A6B"/>
                </a:solidFill>
                <a:latin typeface="Calibri"/>
              </a:rPr>
              <a:t>Earnings Qualité : Correcte (0.70x)</a:t>
            </a:r>
          </a:p>
        </p:txBody>
      </p:sp>
      <p:sp>
        <p:nvSpPr>
          <p:cNvPr id="44" name="Rectangle 43"/>
          <p:cNvSpPr/>
          <p:nvPr/>
        </p:nvSpPr>
        <p:spPr>
          <a:xfrm>
            <a:off x="3243600" y="4528800"/>
            <a:ext cx="2804400" cy="180000"/>
          </a:xfrm>
          <a:prstGeom prst="rect">
            <a:avLst/>
          </a:prstGeom>
          <a:solidFill>
            <a:srgbClr val="EBF0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3243600" y="4528800"/>
            <a:ext cx="43200" cy="18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322800" y="4539600"/>
            <a:ext cx="2696400" cy="158400"/>
          </a:xfrm>
          <a:prstGeom prst="rect">
            <a:avLst/>
          </a:prstGeom>
          <a:noFill/>
        </p:spPr>
        <p:txBody>
          <a:bodyPr wrap="square">
            <a:spAutoFit/>
          </a:bodyPr>
          <a:lstStyle/>
          <a:p>
            <a:pPr algn="l"/>
            <a:r>
              <a:rPr sz="700" b="0" i="0">
                <a:solidFill>
                  <a:srgbClr val="1B3A6B"/>
                </a:solidFill>
                <a:latin typeface="Calibri"/>
              </a:rPr>
              <a:t>Struct. Capital : Saine (7% CT)</a:t>
            </a:r>
          </a:p>
        </p:txBody>
      </p:sp>
      <p:sp>
        <p:nvSpPr>
          <p:cNvPr id="47" name="Rectangle 46"/>
          <p:cNvSpPr/>
          <p:nvPr/>
        </p:nvSpPr>
        <p:spPr>
          <a:xfrm>
            <a:off x="6123600" y="4528800"/>
            <a:ext cx="2804400" cy="180000"/>
          </a:xfrm>
          <a:prstGeom prst="rect">
            <a:avLst/>
          </a:prstGeom>
          <a:solidFill>
            <a:srgbClr val="EBF0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6123600" y="4528800"/>
            <a:ext cx="43200" cy="18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202800" y="4539600"/>
            <a:ext cx="2696400" cy="158400"/>
          </a:xfrm>
          <a:prstGeom prst="rect">
            <a:avLst/>
          </a:prstGeom>
          <a:noFill/>
        </p:spPr>
        <p:txBody>
          <a:bodyPr wrap="square">
            <a:spAutoFit/>
          </a:bodyPr>
          <a:lstStyle/>
          <a:p>
            <a:pPr algn="l"/>
            <a:r>
              <a:rPr sz="700" b="0" i="0">
                <a:solidFill>
                  <a:srgbClr val="1B3A6B"/>
                </a:solidFill>
                <a:latin typeface="Calibri"/>
              </a:rPr>
              <a:t>Dividende : Tres soutenable (3.9x)</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05</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Sentiment &amp; Annexes</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FinBERT, actionnariat &amp; historique de cours</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Sentiment de Marché — LLM Groq</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sémantique  ·  30 articles  ·  7 derniers jours  ·  Classification LLM</a:t>
            </a:r>
          </a:p>
        </p:txBody>
      </p:sp>
      <p:sp>
        <p:nvSpPr>
          <p:cNvPr id="17" name="Rectangle 16"/>
          <p:cNvSpPr/>
          <p:nvPr/>
        </p:nvSpPr>
        <p:spPr>
          <a:xfrm>
            <a:off x="367200" y="961200"/>
            <a:ext cx="25596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2422800" cy="396000"/>
          </a:xfrm>
          <a:prstGeom prst="rect">
            <a:avLst/>
          </a:prstGeom>
          <a:noFill/>
        </p:spPr>
        <p:txBody>
          <a:bodyPr wrap="square">
            <a:spAutoFit/>
          </a:bodyPr>
          <a:lstStyle/>
          <a:p>
            <a:pPr algn="l"/>
            <a:r>
              <a:rPr sz="1900" b="1" i="0">
                <a:solidFill>
                  <a:srgbClr val="1B3A6B"/>
                </a:solidFill>
                <a:latin typeface="Calibri"/>
              </a:rPr>
              <a:t>Positif</a:t>
            </a:r>
          </a:p>
        </p:txBody>
      </p:sp>
      <p:sp>
        <p:nvSpPr>
          <p:cNvPr id="20" name="TextBox 19"/>
          <p:cNvSpPr txBox="1"/>
          <p:nvPr/>
        </p:nvSpPr>
        <p:spPr>
          <a:xfrm>
            <a:off x="457200" y="1411200"/>
            <a:ext cx="2422800" cy="205199"/>
          </a:xfrm>
          <a:prstGeom prst="rect">
            <a:avLst/>
          </a:prstGeom>
          <a:noFill/>
        </p:spPr>
        <p:txBody>
          <a:bodyPr wrap="square">
            <a:spAutoFit/>
          </a:bodyPr>
          <a:lstStyle/>
          <a:p>
            <a:pPr algn="l"/>
            <a:r>
              <a:rPr sz="800" b="0" i="0">
                <a:solidFill>
                  <a:srgbClr val="555555"/>
                </a:solidFill>
                <a:latin typeface="Calibri"/>
              </a:rPr>
              <a:t>Orientation globale</a:t>
            </a:r>
          </a:p>
        </p:txBody>
      </p:sp>
      <p:sp>
        <p:nvSpPr>
          <p:cNvPr id="21" name="TextBox 20"/>
          <p:cNvSpPr txBox="1"/>
          <p:nvPr/>
        </p:nvSpPr>
        <p:spPr>
          <a:xfrm>
            <a:off x="457200" y="1609200"/>
            <a:ext cx="2422800" cy="165600"/>
          </a:xfrm>
          <a:prstGeom prst="rect">
            <a:avLst/>
          </a:prstGeom>
          <a:noFill/>
        </p:spPr>
        <p:txBody>
          <a:bodyPr wrap="square">
            <a:spAutoFit/>
          </a:bodyPr>
          <a:lstStyle/>
          <a:p>
            <a:pPr algn="l"/>
            <a:r>
              <a:rPr sz="700" b="0" i="0">
                <a:solidFill>
                  <a:srgbClr val="888888"/>
                </a:solidFill>
                <a:latin typeface="Calibri"/>
              </a:rPr>
              <a:t>Score agrégé : +0,277</a:t>
            </a:r>
          </a:p>
        </p:txBody>
      </p:sp>
      <p:sp>
        <p:nvSpPr>
          <p:cNvPr id="22" name="Rectangle 21"/>
          <p:cNvSpPr/>
          <p:nvPr/>
        </p:nvSpPr>
        <p:spPr>
          <a:xfrm>
            <a:off x="3110400" y="961200"/>
            <a:ext cx="18288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1104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0" y="1015200"/>
            <a:ext cx="1692000" cy="396000"/>
          </a:xfrm>
          <a:prstGeom prst="rect">
            <a:avLst/>
          </a:prstGeom>
          <a:noFill/>
        </p:spPr>
        <p:txBody>
          <a:bodyPr wrap="square">
            <a:spAutoFit/>
          </a:bodyPr>
          <a:lstStyle/>
          <a:p>
            <a:pPr algn="l"/>
            <a:r>
              <a:rPr sz="1900" b="1" i="0">
                <a:solidFill>
                  <a:srgbClr val="1B3A6B"/>
                </a:solidFill>
                <a:latin typeface="Calibri"/>
              </a:rPr>
              <a:t>30</a:t>
            </a:r>
          </a:p>
        </p:txBody>
      </p:sp>
      <p:sp>
        <p:nvSpPr>
          <p:cNvPr id="25" name="TextBox 24"/>
          <p:cNvSpPr txBox="1"/>
          <p:nvPr/>
        </p:nvSpPr>
        <p:spPr>
          <a:xfrm>
            <a:off x="3200400" y="1411200"/>
            <a:ext cx="1692000" cy="205199"/>
          </a:xfrm>
          <a:prstGeom prst="rect">
            <a:avLst/>
          </a:prstGeom>
          <a:noFill/>
        </p:spPr>
        <p:txBody>
          <a:bodyPr wrap="square">
            <a:spAutoFit/>
          </a:bodyPr>
          <a:lstStyle/>
          <a:p>
            <a:pPr algn="l"/>
            <a:r>
              <a:rPr sz="800" b="0" i="0">
                <a:solidFill>
                  <a:srgbClr val="555555"/>
                </a:solidFill>
                <a:latin typeface="Calibri"/>
              </a:rPr>
              <a:t>Articles analysés</a:t>
            </a:r>
          </a:p>
        </p:txBody>
      </p:sp>
      <p:sp>
        <p:nvSpPr>
          <p:cNvPr id="26" name="TextBox 25"/>
          <p:cNvSpPr txBox="1"/>
          <p:nvPr/>
        </p:nvSpPr>
        <p:spPr>
          <a:xfrm>
            <a:off x="3200400" y="1609200"/>
            <a:ext cx="1692000" cy="165600"/>
          </a:xfrm>
          <a:prstGeom prst="rect">
            <a:avLst/>
          </a:prstGeom>
          <a:noFill/>
        </p:spPr>
        <p:txBody>
          <a:bodyPr wrap="square">
            <a:spAutoFit/>
          </a:bodyPr>
          <a:lstStyle/>
          <a:p>
            <a:pPr algn="l"/>
            <a:r>
              <a:rPr sz="700" b="0" i="0">
                <a:solidFill>
                  <a:srgbClr val="888888"/>
                </a:solidFill>
                <a:latin typeface="Calibri"/>
              </a:rPr>
              <a:t>Fenêtre : 7 jours</a:t>
            </a:r>
          </a:p>
        </p:txBody>
      </p:sp>
      <p:sp>
        <p:nvSpPr>
          <p:cNvPr id="27" name="Rectangle 26"/>
          <p:cNvSpPr/>
          <p:nvPr/>
        </p:nvSpPr>
        <p:spPr>
          <a:xfrm>
            <a:off x="5119200" y="961200"/>
            <a:ext cx="16452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1192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209200" y="1015200"/>
            <a:ext cx="1508400" cy="396000"/>
          </a:xfrm>
          <a:prstGeom prst="rect">
            <a:avLst/>
          </a:prstGeom>
          <a:noFill/>
        </p:spPr>
        <p:txBody>
          <a:bodyPr wrap="square">
            <a:spAutoFit/>
          </a:bodyPr>
          <a:lstStyle/>
          <a:p>
            <a:pPr algn="l"/>
            <a:r>
              <a:rPr sz="1900" b="1" i="0">
                <a:solidFill>
                  <a:srgbClr val="1B3A6B"/>
                </a:solidFill>
                <a:latin typeface="Calibri"/>
              </a:rPr>
              <a:t>42,8 %</a:t>
            </a:r>
          </a:p>
        </p:txBody>
      </p:sp>
      <p:sp>
        <p:nvSpPr>
          <p:cNvPr id="30" name="TextBox 29"/>
          <p:cNvSpPr txBox="1"/>
          <p:nvPr/>
        </p:nvSpPr>
        <p:spPr>
          <a:xfrm>
            <a:off x="5209200" y="1411200"/>
            <a:ext cx="1508400" cy="205199"/>
          </a:xfrm>
          <a:prstGeom prst="rect">
            <a:avLst/>
          </a:prstGeom>
          <a:noFill/>
        </p:spPr>
        <p:txBody>
          <a:bodyPr wrap="square">
            <a:spAutoFit/>
          </a:bodyPr>
          <a:lstStyle/>
          <a:p>
            <a:pPr algn="l"/>
            <a:r>
              <a:rPr sz="800" b="0" i="0">
                <a:solidFill>
                  <a:srgbClr val="555555"/>
                </a:solidFill>
                <a:latin typeface="Calibri"/>
              </a:rPr>
              <a:t>Confiance IA</a:t>
            </a:r>
          </a:p>
        </p:txBody>
      </p:sp>
      <p:sp>
        <p:nvSpPr>
          <p:cNvPr id="31" name="TextBox 30"/>
          <p:cNvSpPr txBox="1"/>
          <p:nvPr/>
        </p:nvSpPr>
        <p:spPr>
          <a:xfrm>
            <a:off x="5209200" y="1609200"/>
            <a:ext cx="1508400" cy="165600"/>
          </a:xfrm>
          <a:prstGeom prst="rect">
            <a:avLst/>
          </a:prstGeom>
          <a:noFill/>
        </p:spPr>
        <p:txBody>
          <a:bodyPr wrap="square">
            <a:spAutoFit/>
          </a:bodyPr>
          <a:lstStyle/>
          <a:p>
            <a:pPr algn="l"/>
            <a:r>
              <a:rPr sz="700" b="0" i="0">
                <a:solidFill>
                  <a:srgbClr val="888888"/>
                </a:solidFill>
                <a:latin typeface="Calibri"/>
              </a:rPr>
              <a:t>Modèle LLM Groq</a:t>
            </a:r>
          </a:p>
        </p:txBody>
      </p:sp>
      <p:sp>
        <p:nvSpPr>
          <p:cNvPr id="32" name="Rectangle 31"/>
          <p:cNvSpPr/>
          <p:nvPr/>
        </p:nvSpPr>
        <p:spPr>
          <a:xfrm>
            <a:off x="6948000" y="961200"/>
            <a:ext cx="17388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9480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038000" y="1015200"/>
            <a:ext cx="1602000" cy="396000"/>
          </a:xfrm>
          <a:prstGeom prst="rect">
            <a:avLst/>
          </a:prstGeom>
          <a:noFill/>
        </p:spPr>
        <p:txBody>
          <a:bodyPr wrap="square">
            <a:spAutoFit/>
          </a:bodyPr>
          <a:lstStyle/>
          <a:p>
            <a:pPr algn="l"/>
            <a:r>
              <a:rPr sz="1900" b="1" i="0">
                <a:solidFill>
                  <a:srgbClr val="1B3A6B"/>
                </a:solidFill>
                <a:latin typeface="Calibri"/>
              </a:rPr>
              <a:t>BUY</a:t>
            </a:r>
          </a:p>
        </p:txBody>
      </p:sp>
      <p:sp>
        <p:nvSpPr>
          <p:cNvPr id="35" name="TextBox 34"/>
          <p:cNvSpPr txBox="1"/>
          <p:nvPr/>
        </p:nvSpPr>
        <p:spPr>
          <a:xfrm>
            <a:off x="7038000" y="1411200"/>
            <a:ext cx="1602000" cy="205199"/>
          </a:xfrm>
          <a:prstGeom prst="rect">
            <a:avLst/>
          </a:prstGeom>
          <a:noFill/>
        </p:spPr>
        <p:txBody>
          <a:bodyPr wrap="square">
            <a:spAutoFit/>
          </a:bodyPr>
          <a:lstStyle/>
          <a:p>
            <a:pPr algn="l"/>
            <a:r>
              <a:rPr sz="800" b="0" i="0">
                <a:solidFill>
                  <a:srgbClr val="555555"/>
                </a:solidFill>
                <a:latin typeface="Calibri"/>
              </a:rPr>
              <a:t>Cohérence</a:t>
            </a:r>
          </a:p>
        </p:txBody>
      </p:sp>
      <p:sp>
        <p:nvSpPr>
          <p:cNvPr id="36" name="TextBox 35"/>
          <p:cNvSpPr txBox="1"/>
          <p:nvPr/>
        </p:nvSpPr>
        <p:spPr>
          <a:xfrm>
            <a:off x="7038000" y="1609200"/>
            <a:ext cx="1602000" cy="165600"/>
          </a:xfrm>
          <a:prstGeom prst="rect">
            <a:avLst/>
          </a:prstGeom>
          <a:noFill/>
        </p:spPr>
        <p:txBody>
          <a:bodyPr wrap="square">
            <a:spAutoFit/>
          </a:bodyPr>
          <a:lstStyle/>
          <a:p>
            <a:pPr algn="l"/>
            <a:r>
              <a:rPr sz="700" b="0" i="0">
                <a:solidFill>
                  <a:srgbClr val="888888"/>
                </a:solidFill>
                <a:latin typeface="Calibri"/>
              </a:rPr>
              <a:t>Aligné avec la thèse</a:t>
            </a:r>
          </a:p>
        </p:txBody>
      </p:sp>
      <p:sp>
        <p:nvSpPr>
          <p:cNvPr id="37" name="TextBox 36"/>
          <p:cNvSpPr txBox="1"/>
          <p:nvPr/>
        </p:nvSpPr>
        <p:spPr>
          <a:xfrm>
            <a:off x="367200" y="2084400"/>
            <a:ext cx="8413200" cy="165600"/>
          </a:xfrm>
          <a:prstGeom prst="rect">
            <a:avLst/>
          </a:prstGeom>
          <a:noFill/>
        </p:spPr>
        <p:txBody>
          <a:bodyPr wrap="square">
            <a:spAutoFit/>
          </a:bodyPr>
          <a:lstStyle/>
          <a:p>
            <a:pPr algn="l"/>
            <a:r>
              <a:rPr sz="900" b="1" i="0">
                <a:solidFill>
                  <a:srgbClr val="2E5FA3"/>
                </a:solidFill>
                <a:latin typeface="Calibri"/>
              </a:rPr>
              <a:t>Détail par orientation</a:t>
            </a:r>
          </a:p>
        </p:txBody>
      </p:sp>
      <p:graphicFrame>
        <p:nvGraphicFramePr>
          <p:cNvPr id="38" name="Table 37"/>
          <p:cNvGraphicFramePr>
            <a:graphicFrameLocks noGrp="1"/>
          </p:cNvGraphicFramePr>
          <p:nvPr/>
        </p:nvGraphicFramePr>
        <p:xfrm>
          <a:off x="367200" y="2332800"/>
          <a:ext cx="8413200" cy="1152000"/>
        </p:xfrm>
        <a:graphic>
          <a:graphicData uri="http://schemas.openxmlformats.org/drawingml/2006/table">
            <a:tbl>
              <a:tblPr firstRow="1" bandRow="1">
                <a:tableStyleId>{5C22544A-7EE6-4342-B048-85BDC9FD1C3A}</a:tableStyleId>
              </a:tblPr>
              <a:tblGrid>
                <a:gridCol w="1261980"/>
                <a:gridCol w="1261980"/>
                <a:gridCol w="1682640"/>
                <a:gridCol w="4206600"/>
              </a:tblGrid>
              <a:tr h="288000">
                <a:tc>
                  <a:txBody>
                    <a:bodyPr/>
                    <a:lstStyle/>
                    <a:p>
                      <a:pPr algn="l"/>
                      <a:r>
                        <a:rPr sz="800" b="1" i="0">
                          <a:solidFill>
                            <a:srgbClr val="FFFFFF"/>
                          </a:solidFill>
                          <a:latin typeface="Calibri"/>
                        </a:rPr>
                        <a:t>Orientation</a:t>
                      </a:r>
                    </a:p>
                  </a:txBody>
                  <a:tcPr>
                    <a:solidFill>
                      <a:srgbClr val="1B3A6B"/>
                    </a:solidFill>
                  </a:tcPr>
                </a:tc>
                <a:tc>
                  <a:txBody>
                    <a:bodyPr/>
                    <a:lstStyle/>
                    <a:p>
                      <a:pPr algn="ctr"/>
                      <a:r>
                        <a:rPr sz="800" b="1" i="0">
                          <a:solidFill>
                            <a:srgbClr val="FFFFFF"/>
                          </a:solidFill>
                          <a:latin typeface="Calibri"/>
                        </a:rPr>
                        <a:t>Articles</a:t>
                      </a:r>
                    </a:p>
                  </a:txBody>
                  <a:tcPr>
                    <a:solidFill>
                      <a:srgbClr val="1B3A6B"/>
                    </a:solidFill>
                  </a:tcPr>
                </a:tc>
                <a:tc>
                  <a:txBody>
                    <a:bodyPr/>
                    <a:lstStyle/>
                    <a:p>
                      <a:pPr algn="ctr"/>
                      <a:r>
                        <a:rPr sz="800" b="1" i="0">
                          <a:solidFill>
                            <a:srgbClr val="FFFFFF"/>
                          </a:solidFill>
                          <a:latin typeface="Calibri"/>
                        </a:rPr>
                        <a:t>Score moyen</a:t>
                      </a:r>
                    </a:p>
                  </a:txBody>
                  <a:tcPr>
                    <a:solidFill>
                      <a:srgbClr val="1B3A6B"/>
                    </a:solidFill>
                  </a:tcPr>
                </a:tc>
                <a:tc>
                  <a:txBody>
                    <a:bodyPr/>
                    <a:lstStyle/>
                    <a:p>
                      <a:pPr algn="ctr"/>
                      <a:r>
                        <a:rPr sz="800" b="1" i="0">
                          <a:solidFill>
                            <a:srgbClr val="FFFFFF"/>
                          </a:solidFill>
                          <a:latin typeface="Calibri"/>
                        </a:rPr>
                        <a:t>Thèmes principaux</a:t>
                      </a:r>
                    </a:p>
                  </a:txBody>
                  <a:tcPr>
                    <a:solidFill>
                      <a:srgbClr val="1B3A6B"/>
                    </a:solidFill>
                  </a:tcPr>
                </a:tc>
              </a:tr>
              <a:tr h="288000">
                <a:tc>
                  <a:txBody>
                    <a:bodyPr/>
                    <a:lstStyle/>
                    <a:p>
                      <a:pPr algn="l"/>
                      <a:r>
                        <a:rPr sz="800" b="1" i="0">
                          <a:solidFill>
                            <a:srgbClr val="1A7A4A"/>
                          </a:solidFill>
                          <a:latin typeface="Calibri"/>
                        </a:rPr>
                        <a:t>Positif</a:t>
                      </a:r>
                    </a:p>
                  </a:txBody>
                  <a:tcPr>
                    <a:solidFill>
                      <a:srgbClr val="EAF4EF"/>
                    </a:solidFill>
                  </a:tcPr>
                </a:tc>
                <a:tc>
                  <a:txBody>
                    <a:bodyPr/>
                    <a:lstStyle/>
                    <a:p>
                      <a:pPr algn="ctr"/>
                      <a:r>
                        <a:rPr sz="800" b="1" i="0">
                          <a:solidFill>
                            <a:srgbClr val="1A7A4A"/>
                          </a:solidFill>
                          <a:latin typeface="Calibri"/>
                        </a:rPr>
                        <a:t>12</a:t>
                      </a:r>
                    </a:p>
                  </a:txBody>
                  <a:tcPr>
                    <a:solidFill>
                      <a:srgbClr val="EAF4EF"/>
                    </a:solidFill>
                  </a:tcPr>
                </a:tc>
                <a:tc>
                  <a:txBody>
                    <a:bodyPr/>
                    <a:lstStyle/>
                    <a:p>
                      <a:pPr algn="ctr"/>
                      <a:r>
                        <a:rPr sz="800" b="0" i="0">
                          <a:solidFill>
                            <a:srgbClr val="0D0D0D"/>
                          </a:solidFill>
                          <a:latin typeface="Calibri"/>
                        </a:rPr>
                        <a:t>+0,428</a:t>
                      </a:r>
                    </a:p>
                  </a:txBody>
                  <a:tcPr>
                    <a:solidFill>
                      <a:srgbClr val="EAF4EF"/>
                    </a:solidFill>
                  </a:tcPr>
                </a:tc>
                <a:tc>
                  <a:txBody>
                    <a:bodyPr/>
                    <a:lstStyle/>
                    <a:p>
                      <a:pPr algn="ctr"/>
                      <a:r>
                        <a:rPr sz="800" b="0" i="0">
                          <a:solidFill>
                            <a:srgbClr val="0D0D0D"/>
                          </a:solidFill>
                          <a:latin typeface="Calibri"/>
                        </a:rPr>
                        <a:t>Croissance Azure +18% en 2026F grâce à l’adoption de l’IA générative, générant +12 Mds$ de CA supplémentaire | Horizon 2026-2027</a:t>
                      </a:r>
                    </a:p>
                  </a:txBody>
                  <a:tcPr>
                    <a:solidFill>
                      <a:srgbClr val="EAF4EF"/>
                    </a:solidFill>
                  </a:tcPr>
                </a:tc>
              </a:tr>
              <a:tr h="288000">
                <a:tc>
                  <a:txBody>
                    <a:bodyPr/>
                    <a:lstStyle/>
                    <a:p>
                      <a:pPr algn="l"/>
                      <a:r>
                        <a:rPr sz="800" b="1" i="0">
                          <a:solidFill>
                            <a:srgbClr val="555555"/>
                          </a:solidFill>
                          <a:latin typeface="Calibri"/>
                        </a:rPr>
                        <a:t>Neutre</a:t>
                      </a:r>
                    </a:p>
                  </a:txBody>
                  <a:tcPr>
                    <a:solidFill>
                      <a:srgbClr val="FFFFFF"/>
                    </a:solidFill>
                  </a:tcPr>
                </a:tc>
                <a:tc>
                  <a:txBody>
                    <a:bodyPr/>
                    <a:lstStyle/>
                    <a:p>
                      <a:pPr algn="ctr"/>
                      <a:r>
                        <a:rPr sz="800" b="1" i="0">
                          <a:solidFill>
                            <a:srgbClr val="555555"/>
                          </a:solidFill>
                          <a:latin typeface="Calibri"/>
                        </a:rPr>
                        <a:t>15</a:t>
                      </a:r>
                    </a:p>
                  </a:txBody>
                  <a:tcPr>
                    <a:solidFill>
                      <a:srgbClr val="FFFFFF"/>
                    </a:solidFill>
                  </a:tcPr>
                </a:tc>
                <a:tc>
                  <a:txBody>
                    <a:bodyPr/>
                    <a:lstStyle/>
                    <a:p>
                      <a:pPr algn="ctr"/>
                      <a:r>
                        <a:rPr sz="800" b="0" i="0">
                          <a:solidFill>
                            <a:srgbClr val="0D0D0D"/>
                          </a:solidFill>
                          <a:latin typeface="Calibri"/>
                        </a:rPr>
                        <a:t>+0,421</a:t>
                      </a:r>
                    </a:p>
                  </a:txBody>
                  <a:tcPr>
                    <a:solidFill>
                      <a:srgbClr val="FFFFFF"/>
                    </a:solidFill>
                  </a:tcPr>
                </a:tc>
                <a:tc>
                  <a:txBody>
                    <a:bodyPr/>
                    <a:lstStyle/>
                    <a:p>
                      <a:pPr algn="ctr"/>
                      <a:r>
                        <a:rPr sz="800" b="0" i="0">
                          <a:solidFill>
                            <a:srgbClr val="0D0D0D"/>
                          </a:solidFill>
                          <a:latin typeface="Calibri"/>
                        </a:rPr>
                        <a:t>Actualité sectorielle générale</a:t>
                      </a:r>
                    </a:p>
                  </a:txBody>
                  <a:tcPr>
                    <a:solidFill>
                      <a:srgbClr val="FFFFFF"/>
                    </a:solidFill>
                  </a:tcPr>
                </a:tc>
              </a:tr>
              <a:tr h="288000">
                <a:tc>
                  <a:txBody>
                    <a:bodyPr/>
                    <a:lstStyle/>
                    <a:p>
                      <a:pPr algn="l"/>
                      <a:r>
                        <a:rPr sz="800" b="1" i="0">
                          <a:solidFill>
                            <a:srgbClr val="A82020"/>
                          </a:solidFill>
                          <a:latin typeface="Calibri"/>
                        </a:rPr>
                        <a:t>Négatif</a:t>
                      </a:r>
                    </a:p>
                  </a:txBody>
                  <a:tcPr>
                    <a:solidFill>
                      <a:srgbClr val="FAF0EF"/>
                    </a:solidFill>
                  </a:tcPr>
                </a:tc>
                <a:tc>
                  <a:txBody>
                    <a:bodyPr/>
                    <a:lstStyle/>
                    <a:p>
                      <a:pPr algn="ctr"/>
                      <a:r>
                        <a:rPr sz="800" b="1" i="0">
                          <a:solidFill>
                            <a:srgbClr val="A82020"/>
                          </a:solidFill>
                          <a:latin typeface="Calibri"/>
                        </a:rPr>
                        <a:t>3</a:t>
                      </a:r>
                    </a:p>
                  </a:txBody>
                  <a:tcPr>
                    <a:solidFill>
                      <a:srgbClr val="FAF0EF"/>
                    </a:solidFill>
                  </a:tcPr>
                </a:tc>
                <a:tc>
                  <a:txBody>
                    <a:bodyPr/>
                    <a:lstStyle/>
                    <a:p>
                      <a:pPr algn="ctr"/>
                      <a:r>
                        <a:rPr sz="800" b="0" i="0">
                          <a:solidFill>
                            <a:srgbClr val="0D0D0D"/>
                          </a:solidFill>
                          <a:latin typeface="Calibri"/>
                        </a:rPr>
                        <a:t>+0,151</a:t>
                      </a:r>
                    </a:p>
                  </a:txBody>
                  <a:tcPr>
                    <a:solidFill>
                      <a:srgbClr val="FAF0EF"/>
                    </a:solidFill>
                  </a:tcPr>
                </a:tc>
                <a:tc>
                  <a:txBody>
                    <a:bodyPr/>
                    <a:lstStyle/>
                    <a:p>
                      <a:pPr algn="ctr"/>
                      <a:r>
                        <a:rPr sz="800" b="0" i="0">
                          <a:solidFill>
                            <a:srgbClr val="0D0D0D"/>
                          </a:solidFill>
                          <a:latin typeface="Calibri"/>
                        </a:rPr>
                        <a:t>Régulation antitrust européenne sur les pratiques cloud pourrait coûter 5-7% du CA IA d’ici 2027 | Horizon 12-18 mois, impact -15% sur le cours</a:t>
                      </a:r>
                    </a:p>
                  </a:txBody>
                  <a:tcPr>
                    <a:solidFill>
                      <a:srgbClr val="FAF0EF"/>
                    </a:solidFill>
                  </a:tcPr>
                </a:tc>
              </a:tr>
            </a:tbl>
          </a:graphicData>
        </a:graphic>
      </p:graphicFrame>
      <p:sp>
        <p:nvSpPr>
          <p:cNvPr id="39" name="Rectangle 38"/>
          <p:cNvSpPr/>
          <p:nvPr/>
        </p:nvSpPr>
        <p:spPr>
          <a:xfrm>
            <a:off x="367200" y="3924000"/>
            <a:ext cx="8413200" cy="845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367200" y="3924000"/>
            <a:ext cx="79200" cy="845999"/>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75200" y="3952800"/>
            <a:ext cx="8298000" cy="151200"/>
          </a:xfrm>
          <a:prstGeom prst="rect">
            <a:avLst/>
          </a:prstGeom>
          <a:noFill/>
        </p:spPr>
        <p:txBody>
          <a:bodyPr wrap="none">
            <a:spAutoFit/>
          </a:bodyPr>
          <a:lstStyle/>
          <a:p>
            <a:pPr algn="l"/>
            <a:r>
              <a:rPr sz="950" b="1" i="0">
                <a:solidFill>
                  <a:srgbClr val="1B3A6B"/>
                </a:solidFill>
                <a:latin typeface="Calibri"/>
              </a:rPr>
              <a:t>MSFT — analyse du sentiment de marché et signaux d'alerte</a:t>
            </a:r>
          </a:p>
        </p:txBody>
      </p:sp>
      <p:sp>
        <p:nvSpPr>
          <p:cNvPr id="42" name="TextBox 41"/>
          <p:cNvSpPr txBox="1"/>
          <p:nvPr/>
        </p:nvSpPr>
        <p:spPr>
          <a:xfrm>
            <a:off x="475200" y="4122000"/>
            <a:ext cx="8298000" cy="622799"/>
          </a:xfrm>
          <a:prstGeom prst="rect">
            <a:avLst/>
          </a:prstGeom>
          <a:noFill/>
        </p:spPr>
        <p:txBody>
          <a:bodyPr wrap="square">
            <a:spAutoFit/>
          </a:bodyPr>
          <a:lstStyle/>
          <a:p>
            <a:pPr algn="l"/>
            <a:r>
              <a:rPr sz="850" b="0" i="0">
                <a:solidFill>
                  <a:srgbClr val="555555"/>
                </a:solidFill>
                <a:latin typeface="Calibri"/>
              </a:rPr>
              <a:t>La presse financière souligne la dynamique positive de Microsoft, portée par ses investissements dans l'IA et les centres de données. Cependant, certains titres mettent en garde contre les risques liés à la concurrence et à l'expansion rapide du marché.</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Actionnariat &amp; Structure du Capital</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Répartition de l'actionnariat  ·  Au 15 avril 2026</a:t>
            </a:r>
          </a:p>
        </p:txBody>
      </p:sp>
      <p:sp>
        <p:nvSpPr>
          <p:cNvPr id="17" name="TextBox 16"/>
          <p:cNvSpPr txBox="1"/>
          <p:nvPr/>
        </p:nvSpPr>
        <p:spPr>
          <a:xfrm>
            <a:off x="367200" y="748800"/>
            <a:ext cx="5029200" cy="201600"/>
          </a:xfrm>
          <a:prstGeom prst="rect">
            <a:avLst/>
          </a:prstGeom>
          <a:noFill/>
        </p:spPr>
        <p:txBody>
          <a:bodyPr wrap="square">
            <a:spAutoFit/>
          </a:bodyPr>
          <a:lstStyle/>
          <a:p>
            <a:pPr algn="l"/>
            <a:r>
              <a:rPr sz="900" b="1" i="0">
                <a:solidFill>
                  <a:srgbClr val="2E5FA3"/>
                </a:solidFill>
                <a:latin typeface="Calibri"/>
              </a:rPr>
              <a:t>Top actionnaires</a:t>
            </a:r>
          </a:p>
        </p:txBody>
      </p:sp>
      <p:graphicFrame>
        <p:nvGraphicFramePr>
          <p:cNvPr id="18" name="Table 17"/>
          <p:cNvGraphicFramePr>
            <a:graphicFrameLocks noGrp="1"/>
          </p:cNvGraphicFramePr>
          <p:nvPr/>
        </p:nvGraphicFramePr>
        <p:xfrm>
          <a:off x="367200" y="968400"/>
          <a:ext cx="5302800" cy="2012400"/>
        </p:xfrm>
        <a:graphic>
          <a:graphicData uri="http://schemas.openxmlformats.org/drawingml/2006/table">
            <a:tbl>
              <a:tblPr firstRow="1" bandRow="1">
                <a:tableStyleId>{5C22544A-7EE6-4342-B048-85BDC9FD1C3A}</a:tableStyleId>
              </a:tblPr>
              <a:tblGrid>
                <a:gridCol w="2015064"/>
                <a:gridCol w="1378728"/>
                <a:gridCol w="1060560"/>
                <a:gridCol w="848448"/>
              </a:tblGrid>
              <a:tr h="223600">
                <a:tc>
                  <a:txBody>
                    <a:bodyPr/>
                    <a:lstStyle/>
                    <a:p>
                      <a:pPr algn="l"/>
                      <a:r>
                        <a:rPr sz="800" b="1" i="0">
                          <a:solidFill>
                            <a:srgbClr val="FFFFFF"/>
                          </a:solidFill>
                          <a:latin typeface="Calibri"/>
                        </a:rPr>
                        <a:t>Actionnaire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Type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Détention %</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Style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3600">
                <a:tc>
                  <a:txBody>
                    <a:bodyPr/>
                    <a:lstStyle/>
                    <a:p>
                      <a:pPr algn="l"/>
                      <a:r>
                        <a:rPr sz="800" b="0" i="0">
                          <a:solidFill>
                            <a:srgbClr val="0D0D0D"/>
                          </a:solidFill>
                          <a:latin typeface="Calibri"/>
                        </a:rPr>
                        <a:t>Vanguard Group Inc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9.7 %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600">
                <a:tc>
                  <a:txBody>
                    <a:bodyPr/>
                    <a:lstStyle/>
                    <a:p>
                      <a:pPr algn="l"/>
                      <a:r>
                        <a:rPr sz="800" b="0" i="0">
                          <a:solidFill>
                            <a:srgbClr val="0D0D0D"/>
                          </a:solidFill>
                          <a:latin typeface="Calibri"/>
                        </a:rPr>
                        <a:t>Blackrock Inc.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600">
                <a:tc>
                  <a:txBody>
                    <a:bodyPr/>
                    <a:lstStyle/>
                    <a:p>
                      <a:pPr algn="l"/>
                      <a:r>
                        <a:rPr sz="800" b="0" i="0">
                          <a:solidFill>
                            <a:srgbClr val="0D0D0D"/>
                          </a:solidFill>
                          <a:latin typeface="Calibri"/>
                        </a:rPr>
                        <a:t>State Street Corporation</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4.1 %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600">
                <a:tc>
                  <a:txBody>
                    <a:bodyPr/>
                    <a:lstStyle/>
                    <a:p>
                      <a:pPr algn="l"/>
                      <a:r>
                        <a:rPr sz="800" b="0" i="0">
                          <a:solidFill>
                            <a:srgbClr val="0D0D0D"/>
                          </a:solidFill>
                          <a:latin typeface="Calibri"/>
                        </a:rPr>
                        <a:t>FMR, LLC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2.7 %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600">
                <a:tc>
                  <a:txBody>
                    <a:bodyPr/>
                    <a:lstStyle/>
                    <a:p>
                      <a:pPr algn="l"/>
                      <a:r>
                        <a:rPr sz="800" b="0" i="0">
                          <a:solidFill>
                            <a:srgbClr val="0D0D0D"/>
                          </a:solidFill>
                          <a:latin typeface="Calibri"/>
                        </a:rPr>
                        <a:t>Geode Capital Management, LLC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600">
                <a:tc>
                  <a:txBody>
                    <a:bodyPr/>
                    <a:lstStyle/>
                    <a:p>
                      <a:pPr algn="l"/>
                      <a:r>
                        <a:rPr sz="800" b="0" i="0">
                          <a:solidFill>
                            <a:srgbClr val="0D0D0D"/>
                          </a:solidFill>
                          <a:latin typeface="Calibri"/>
                        </a:rPr>
                        <a:t>JPMORGAN CHASE &amp; CO</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600">
                <a:tc>
                  <a:txBody>
                    <a:bodyPr/>
                    <a:lstStyle/>
                    <a:p>
                      <a:pPr algn="l"/>
                      <a:r>
                        <a:rPr sz="800" b="0" i="0">
                          <a:solidFill>
                            <a:srgbClr val="0D0D0D"/>
                          </a:solidFill>
                          <a:latin typeface="Calibri"/>
                        </a:rPr>
                        <a:t>Price (T.Rowe) Associates Inc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1.7 %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600">
                <a:tc>
                  <a:txBody>
                    <a:bodyPr/>
                    <a:lstStyle/>
                    <a:p>
                      <a:pPr algn="l"/>
                      <a:r>
                        <a:rPr sz="800" b="0" i="0">
                          <a:solidFill>
                            <a:srgbClr val="0D0D0D"/>
                          </a:solidFill>
                          <a:latin typeface="Calibri"/>
                        </a:rPr>
                        <a:t>Autres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Retail &amp; autres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69.2 %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555555"/>
                          </a:solidFill>
                          <a:latin typeface="Calibri"/>
                        </a:rPr>
                        <a:t>—</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19" name="TextBox 18"/>
          <p:cNvSpPr txBox="1"/>
          <p:nvPr/>
        </p:nvSpPr>
        <p:spPr>
          <a:xfrm>
            <a:off x="5760000" y="748800"/>
            <a:ext cx="3016800" cy="201600"/>
          </a:xfrm>
          <a:prstGeom prst="rect">
            <a:avLst/>
          </a:prstGeom>
          <a:noFill/>
        </p:spPr>
        <p:txBody>
          <a:bodyPr wrap="square">
            <a:spAutoFit/>
          </a:bodyPr>
          <a:lstStyle/>
          <a:p>
            <a:pPr algn="l"/>
            <a:r>
              <a:rPr sz="900" b="1" i="0">
                <a:solidFill>
                  <a:srgbClr val="2E5FA3"/>
                </a:solidFill>
                <a:latin typeface="Calibri"/>
              </a:rPr>
              <a:t>Répartition par type</a:t>
            </a:r>
          </a:p>
        </p:txBody>
      </p:sp>
      <p:graphicFrame>
        <p:nvGraphicFramePr>
          <p:cNvPr id="20" name="Table 19"/>
          <p:cNvGraphicFramePr>
            <a:graphicFrameLocks noGrp="1"/>
          </p:cNvGraphicFramePr>
          <p:nvPr/>
        </p:nvGraphicFramePr>
        <p:xfrm>
          <a:off x="5760000" y="968400"/>
          <a:ext cx="3016800" cy="914400"/>
        </p:xfrm>
        <a:graphic>
          <a:graphicData uri="http://schemas.openxmlformats.org/drawingml/2006/table">
            <a:tbl>
              <a:tblPr firstRow="1" bandRow="1">
                <a:tableStyleId>{5C22544A-7EE6-4342-B048-85BDC9FD1C3A}</a:tableStyleId>
              </a:tblPr>
              <a:tblGrid>
                <a:gridCol w="1810080"/>
                <a:gridCol w="1206720"/>
              </a:tblGrid>
              <a:tr h="228600">
                <a:tc>
                  <a:txBody>
                    <a:bodyPr/>
                    <a:lstStyle/>
                    <a:p>
                      <a:pPr algn="l"/>
                      <a:r>
                        <a:rPr sz="800" b="1" i="0">
                          <a:solidFill>
                            <a:srgbClr val="FFFFFF"/>
                          </a:solidFill>
                          <a:latin typeface="Calibri"/>
                        </a:rPr>
                        <a:t>Type d'actionnaire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Part estimée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Institutionnel passif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13.8 %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Institutionnel 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17.0 %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Retail &amp; autres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69.2 %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1" name="Rectangle 20"/>
          <p:cNvSpPr/>
          <p:nvPr/>
        </p:nvSpPr>
        <p:spPr>
          <a:xfrm>
            <a:off x="367200" y="3106799"/>
            <a:ext cx="8413200" cy="16632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67200" y="3106799"/>
            <a:ext cx="79200" cy="16632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75200" y="3135599"/>
            <a:ext cx="8298000" cy="151200"/>
          </a:xfrm>
          <a:prstGeom prst="rect">
            <a:avLst/>
          </a:prstGeom>
          <a:noFill/>
        </p:spPr>
        <p:txBody>
          <a:bodyPr wrap="none">
            <a:spAutoFit/>
          </a:bodyPr>
          <a:lstStyle/>
          <a:p>
            <a:pPr algn="l"/>
            <a:r>
              <a:rPr sz="950" b="1" i="0">
                <a:solidFill>
                  <a:srgbClr val="1B3A6B"/>
                </a:solidFill>
                <a:latin typeface="Calibri"/>
              </a:rPr>
              <a:t>MSFT — verdict final : BUY</a:t>
            </a:r>
          </a:p>
        </p:txBody>
      </p:sp>
      <p:sp>
        <p:nvSpPr>
          <p:cNvPr id="24" name="TextBox 23"/>
          <p:cNvSpPr txBox="1"/>
          <p:nvPr/>
        </p:nvSpPr>
        <p:spPr>
          <a:xfrm>
            <a:off x="475200" y="3304800"/>
            <a:ext cx="8298000" cy="1440000"/>
          </a:xfrm>
          <a:prstGeom prst="rect">
            <a:avLst/>
          </a:prstGeom>
          <a:noFill/>
        </p:spPr>
        <p:txBody>
          <a:bodyPr wrap="square">
            <a:spAutoFit/>
          </a:bodyPr>
          <a:lstStyle/>
          <a:p>
            <a:pPr algn="l"/>
            <a:r>
              <a:rPr sz="850" b="0" i="0">
                <a:solidFill>
                  <a:srgbClr val="555555"/>
                </a:solidFill>
                <a:latin typeface="Calibri"/>
              </a:rPr>
              <a:t>Microsoft se négocie à 18.3x EV/EBITDA vs une médiane sectorielle de 16.5x (+11%). La prime reflète sa qualité d’actifs et sa croissance supérieure. Microsoft affiche un P/E de 28.7x vs une médiane peers de 25.5x (+12.5%), justifié par une croissance du CA supérieure (+15% vs +12% peers) et des marges EBITDA supérieures (+56.9% vs +52%). Une convergence vers la médiane impliquerait un downside de 11%, peu probable compte tenu de la dynamique actuelle. Croissance du CA 2026F à 320 Mds$ (+13.6%) portée par Azure +18% et Office 365 +12% Marges EBITDA à 59.5% (+260 bps) grâce au mix cloud haute marge et économies d’échelle FCF libre devrait atteindre 90 Mds$ (+20% YoY) avec ND/EBITDA stable à 0.1x, soutenant des rachats d’actions de 50 Mds$ en 2026. Microsoft affiche une croissance résiliente et une rentabilité exceptionnelle, portée par l’IA et le cloud. Le titre se négocie à une prime modérée vs ses pairs, justifiée par sa qualité d’actifs et sa visibilité.</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Historique de Cours — 52 Semaines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MSFT  ·  USD  ·  Au 15 avril 2026</a:t>
            </a:r>
          </a:p>
        </p:txBody>
      </p:sp>
      <p:sp>
        <p:nvSpPr>
          <p:cNvPr id="17" name="Rectangle 16"/>
          <p:cNvSpPr/>
          <p:nvPr/>
        </p:nvSpPr>
        <p:spPr>
          <a:xfrm>
            <a:off x="3672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1782000" cy="396000"/>
          </a:xfrm>
          <a:prstGeom prst="rect">
            <a:avLst/>
          </a:prstGeom>
          <a:noFill/>
        </p:spPr>
        <p:txBody>
          <a:bodyPr wrap="square">
            <a:spAutoFit/>
          </a:bodyPr>
          <a:lstStyle/>
          <a:p>
            <a:pPr algn="l"/>
            <a:r>
              <a:rPr sz="1900" b="1" i="0">
                <a:solidFill>
                  <a:srgbClr val="1B3A6B"/>
                </a:solidFill>
                <a:latin typeface="Calibri"/>
              </a:rPr>
              <a:t>393,11 $</a:t>
            </a:r>
          </a:p>
        </p:txBody>
      </p:sp>
      <p:sp>
        <p:nvSpPr>
          <p:cNvPr id="20" name="TextBox 19"/>
          <p:cNvSpPr txBox="1"/>
          <p:nvPr/>
        </p:nvSpPr>
        <p:spPr>
          <a:xfrm>
            <a:off x="457200" y="1411200"/>
            <a:ext cx="1782000" cy="205199"/>
          </a:xfrm>
          <a:prstGeom prst="rect">
            <a:avLst/>
          </a:prstGeom>
          <a:noFill/>
        </p:spPr>
        <p:txBody>
          <a:bodyPr wrap="square">
            <a:spAutoFit/>
          </a:bodyPr>
          <a:lstStyle/>
          <a:p>
            <a:pPr algn="l"/>
            <a:r>
              <a:rPr sz="800" b="0" i="0">
                <a:solidFill>
                  <a:srgbClr val="555555"/>
                </a:solidFill>
                <a:latin typeface="Calibri"/>
              </a:rPr>
              <a:t>Cours actuel</a:t>
            </a:r>
          </a:p>
        </p:txBody>
      </p:sp>
      <p:sp>
        <p:nvSpPr>
          <p:cNvPr id="21" name="Rectangle 20"/>
          <p:cNvSpPr/>
          <p:nvPr/>
        </p:nvSpPr>
        <p:spPr>
          <a:xfrm>
            <a:off x="24228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4228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512800" y="1015200"/>
            <a:ext cx="1782000" cy="396000"/>
          </a:xfrm>
          <a:prstGeom prst="rect">
            <a:avLst/>
          </a:prstGeom>
          <a:noFill/>
        </p:spPr>
        <p:txBody>
          <a:bodyPr wrap="square">
            <a:spAutoFit/>
          </a:bodyPr>
          <a:lstStyle/>
          <a:p>
            <a:pPr algn="l"/>
            <a:r>
              <a:rPr sz="1900" b="1" i="0">
                <a:solidFill>
                  <a:srgbClr val="1B3A6B"/>
                </a:solidFill>
                <a:latin typeface="Calibri"/>
              </a:rPr>
              <a:t>530,42 $</a:t>
            </a:r>
          </a:p>
        </p:txBody>
      </p:sp>
      <p:sp>
        <p:nvSpPr>
          <p:cNvPr id="24" name="TextBox 23"/>
          <p:cNvSpPr txBox="1"/>
          <p:nvPr/>
        </p:nvSpPr>
        <p:spPr>
          <a:xfrm>
            <a:off x="2512800" y="1411200"/>
            <a:ext cx="1782000" cy="205199"/>
          </a:xfrm>
          <a:prstGeom prst="rect">
            <a:avLst/>
          </a:prstGeom>
          <a:noFill/>
        </p:spPr>
        <p:txBody>
          <a:bodyPr wrap="square">
            <a:spAutoFit/>
          </a:bodyPr>
          <a:lstStyle/>
          <a:p>
            <a:pPr algn="l"/>
            <a:r>
              <a:rPr sz="800" b="0" i="0">
                <a:solidFill>
                  <a:srgbClr val="555555"/>
                </a:solidFill>
                <a:latin typeface="Calibri"/>
              </a:rPr>
              <a:t>Plus haut 52 sem.</a:t>
            </a:r>
          </a:p>
        </p:txBody>
      </p:sp>
      <p:sp>
        <p:nvSpPr>
          <p:cNvPr id="25" name="Rectangle 24"/>
          <p:cNvSpPr/>
          <p:nvPr/>
        </p:nvSpPr>
        <p:spPr>
          <a:xfrm>
            <a:off x="44820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820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0" y="1015200"/>
            <a:ext cx="1782000" cy="396000"/>
          </a:xfrm>
          <a:prstGeom prst="rect">
            <a:avLst/>
          </a:prstGeom>
          <a:noFill/>
        </p:spPr>
        <p:txBody>
          <a:bodyPr wrap="square">
            <a:spAutoFit/>
          </a:bodyPr>
          <a:lstStyle/>
          <a:p>
            <a:pPr algn="l"/>
            <a:r>
              <a:rPr sz="1900" b="1" i="0">
                <a:solidFill>
                  <a:srgbClr val="1B3A6B"/>
                </a:solidFill>
                <a:latin typeface="Calibri"/>
              </a:rPr>
              <a:t>370,17 $</a:t>
            </a:r>
          </a:p>
        </p:txBody>
      </p:sp>
      <p:sp>
        <p:nvSpPr>
          <p:cNvPr id="28" name="TextBox 27"/>
          <p:cNvSpPr txBox="1"/>
          <p:nvPr/>
        </p:nvSpPr>
        <p:spPr>
          <a:xfrm>
            <a:off x="4572000" y="1411200"/>
            <a:ext cx="1782000" cy="205199"/>
          </a:xfrm>
          <a:prstGeom prst="rect">
            <a:avLst/>
          </a:prstGeom>
          <a:noFill/>
        </p:spPr>
        <p:txBody>
          <a:bodyPr wrap="square">
            <a:spAutoFit/>
          </a:bodyPr>
          <a:lstStyle/>
          <a:p>
            <a:pPr algn="l"/>
            <a:r>
              <a:rPr sz="800" b="0" i="0">
                <a:solidFill>
                  <a:srgbClr val="555555"/>
                </a:solidFill>
                <a:latin typeface="Calibri"/>
              </a:rPr>
              <a:t>Plus bas 52 sem.</a:t>
            </a:r>
          </a:p>
        </p:txBody>
      </p:sp>
      <p:sp>
        <p:nvSpPr>
          <p:cNvPr id="29" name="Rectangle 28"/>
          <p:cNvSpPr/>
          <p:nvPr/>
        </p:nvSpPr>
        <p:spPr>
          <a:xfrm>
            <a:off x="6537600" y="961200"/>
            <a:ext cx="21960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5376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627600" y="1015200"/>
            <a:ext cx="2059200" cy="396000"/>
          </a:xfrm>
          <a:prstGeom prst="rect">
            <a:avLst/>
          </a:prstGeom>
          <a:noFill/>
        </p:spPr>
        <p:txBody>
          <a:bodyPr wrap="square">
            <a:spAutoFit/>
          </a:bodyPr>
          <a:lstStyle/>
          <a:p>
            <a:pPr algn="l"/>
            <a:r>
              <a:rPr sz="1900" b="1" i="0">
                <a:solidFill>
                  <a:srgbClr val="1B3A6B"/>
                </a:solidFill>
                <a:latin typeface="Calibri"/>
              </a:rPr>
              <a:t>-14,0 %</a:t>
            </a:r>
          </a:p>
        </p:txBody>
      </p:sp>
      <p:sp>
        <p:nvSpPr>
          <p:cNvPr id="32" name="TextBox 31"/>
          <p:cNvSpPr txBox="1"/>
          <p:nvPr/>
        </p:nvSpPr>
        <p:spPr>
          <a:xfrm>
            <a:off x="6627600" y="1411200"/>
            <a:ext cx="2059200" cy="205199"/>
          </a:xfrm>
          <a:prstGeom prst="rect">
            <a:avLst/>
          </a:prstGeom>
          <a:noFill/>
        </p:spPr>
        <p:txBody>
          <a:bodyPr wrap="square">
            <a:spAutoFit/>
          </a:bodyPr>
          <a:lstStyle/>
          <a:p>
            <a:pPr algn="l"/>
            <a:r>
              <a:rPr sz="800" b="0" i="0">
                <a:solidFill>
                  <a:srgbClr val="555555"/>
                </a:solidFill>
                <a:latin typeface="Calibri"/>
              </a:rPr>
              <a:t>Performance 52 sem.</a:t>
            </a:r>
          </a:p>
        </p:txBody>
      </p:sp>
      <p:sp>
        <p:nvSpPr>
          <p:cNvPr id="33" name="TextBox 32"/>
          <p:cNvSpPr txBox="1"/>
          <p:nvPr/>
        </p:nvSpPr>
        <p:spPr>
          <a:xfrm>
            <a:off x="367200" y="1846800"/>
            <a:ext cx="8413200" cy="165600"/>
          </a:xfrm>
          <a:prstGeom prst="rect">
            <a:avLst/>
          </a:prstGeom>
          <a:noFill/>
        </p:spPr>
        <p:txBody>
          <a:bodyPr wrap="square">
            <a:spAutoFit/>
          </a:bodyPr>
          <a:lstStyle/>
          <a:p>
            <a:pPr algn="l"/>
            <a:r>
              <a:rPr sz="900" b="1" i="0">
                <a:solidFill>
                  <a:srgbClr val="1B3A6B"/>
                </a:solidFill>
                <a:latin typeface="Calibri"/>
              </a:rPr>
              <a:t>Cours en repli de -14,0 % sur 12 mois</a:t>
            </a:r>
          </a:p>
        </p:txBody>
      </p:sp>
      <p:pic>
        <p:nvPicPr>
          <p:cNvPr id="34" name="Picture 33" descr="image.png"/>
          <p:cNvPicPr>
            <a:picLocks noChangeAspect="1"/>
          </p:cNvPicPr>
          <p:nvPr/>
        </p:nvPicPr>
        <p:blipFill>
          <a:blip r:embed="rId2"/>
          <a:stretch>
            <a:fillRect/>
          </a:stretch>
        </p:blipFill>
        <p:spPr>
          <a:xfrm>
            <a:off x="367200" y="2102400"/>
            <a:ext cx="5580000" cy="1828800"/>
          </a:xfrm>
          <a:prstGeom prst="rect">
            <a:avLst/>
          </a:prstGeom>
        </p:spPr>
      </p:pic>
      <p:sp>
        <p:nvSpPr>
          <p:cNvPr id="35" name="Rectangle 34"/>
          <p:cNvSpPr/>
          <p:nvPr/>
        </p:nvSpPr>
        <p:spPr>
          <a:xfrm>
            <a:off x="6120000" y="2102400"/>
            <a:ext cx="2660400" cy="271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120000" y="2102400"/>
            <a:ext cx="79200" cy="2718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228000" y="2131200"/>
            <a:ext cx="2545200" cy="151200"/>
          </a:xfrm>
          <a:prstGeom prst="rect">
            <a:avLst/>
          </a:prstGeom>
          <a:noFill/>
        </p:spPr>
        <p:txBody>
          <a:bodyPr wrap="none">
            <a:spAutoFit/>
          </a:bodyPr>
          <a:lstStyle/>
          <a:p>
            <a:pPr algn="l"/>
            <a:r>
              <a:rPr sz="950" b="1" i="0">
                <a:solidFill>
                  <a:srgbClr val="1B3A6B"/>
                </a:solidFill>
                <a:latin typeface="Calibri"/>
              </a:rPr>
              <a:t>Contexte macro et catalyseurs — MSFT</a:t>
            </a:r>
          </a:p>
        </p:txBody>
      </p:sp>
      <p:sp>
        <p:nvSpPr>
          <p:cNvPr id="38" name="TextBox 37"/>
          <p:cNvSpPr txBox="1"/>
          <p:nvPr/>
        </p:nvSpPr>
        <p:spPr>
          <a:xfrm>
            <a:off x="6228000" y="2300400"/>
            <a:ext cx="2545200" cy="2494800"/>
          </a:xfrm>
          <a:prstGeom prst="rect">
            <a:avLst/>
          </a:prstGeom>
          <a:noFill/>
        </p:spPr>
        <p:txBody>
          <a:bodyPr wrap="square">
            <a:spAutoFit/>
          </a:bodyPr>
          <a:lstStyle/>
          <a:p>
            <a:pPr algn="l"/>
            <a:r>
              <a:rPr sz="850" b="0" i="0">
                <a:solidFill>
                  <a:srgbClr val="555555"/>
                </a:solidFill>
                <a:latin typeface="Calibri"/>
              </a:rPr>
              <a:t>Le cours de Microsoft (MSFT) a reculé de 14,0 % sur les 12 derniers mois, principalement en raison d’un environnement macroéconomique défavorable marqué par la politique monétaire restrictive des banques centrales. La Fed a maintenu son taux directeur à 5,25 %-5,50 % depuis juillet 2023, mais les anticipations de baisses en 2025 se sont réduites après l’inflation persistante en janvier 2024 (+3,1 % en glissement annuel aux États-Unis) et la hausse des taux longs, avec le 10 ans américain passant de 3,9 % en décembre 2023 à 4,2 % en mars 2024. La BCE, de son côté, a commencé à assouplir sa politique en juin 2024 avec une première baisse de 25 pb, mais l’incertitude sur la croissance européenne (PIB en stagnation au T1 2024) a pesé sur les valorisations des valeurs technologiques. Les tensions géopolitiques, notamment le conflit Israël-Hamas et les restrictions commerciales accrues entre les États-Unis et la Chine (tarifs douaniers de 10 % sur les semi-conducteurs en avril 2024), ont également perturbé les chaînes d’approvisionnement et ralenti les investissements des entreprises en infrastructures cloud.
Sur le plan sectoriel, le secteur technologique a subi un retournement de sentiment en 2024, après l’euphorie autour de l’IA générative en 2023. Les valorisations des leaders comme Nvidia (NVDA) ou Meta (META) se sont contractées de 20 % à 30 % entre janvier et mars 2024,…</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Conviction &amp; Thèse d’Investissement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MSFT  ·  FinSight IA  ·  Rapport 15 avril 2026</a:t>
            </a:r>
          </a:p>
        </p:txBody>
      </p:sp>
      <p:sp>
        <p:nvSpPr>
          <p:cNvPr id="17" name="Rectangle 16"/>
          <p:cNvSpPr/>
          <p:nvPr/>
        </p:nvSpPr>
        <p:spPr>
          <a:xfrm>
            <a:off x="324000" y="827999"/>
            <a:ext cx="2700000" cy="1260000"/>
          </a:xfrm>
          <a:prstGeom prst="rect">
            <a:avLst/>
          </a:prstGeom>
          <a:solidFill>
            <a:srgbClr val="E8F5E9"/>
          </a:solidFill>
          <a:ln w="25400">
            <a:solidFill>
              <a:srgbClr val="1A7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24000" y="864000"/>
            <a:ext cx="2700000" cy="396000"/>
          </a:xfrm>
          <a:prstGeom prst="rect">
            <a:avLst/>
          </a:prstGeom>
          <a:noFill/>
        </p:spPr>
        <p:txBody>
          <a:bodyPr wrap="square">
            <a:spAutoFit/>
          </a:bodyPr>
          <a:lstStyle/>
          <a:p>
            <a:pPr algn="ctr"/>
            <a:r>
              <a:rPr sz="3600" b="1" i="0">
                <a:solidFill>
                  <a:srgbClr val="1A7A4A"/>
                </a:solidFill>
                <a:latin typeface="Calibri"/>
              </a:rPr>
              <a:t>BUY</a:t>
            </a:r>
          </a:p>
        </p:txBody>
      </p:sp>
      <p:sp>
        <p:nvSpPr>
          <p:cNvPr id="19" name="TextBox 18"/>
          <p:cNvSpPr txBox="1"/>
          <p:nvPr/>
        </p:nvSpPr>
        <p:spPr>
          <a:xfrm>
            <a:off x="324000" y="1278000"/>
            <a:ext cx="2700000" cy="198000"/>
          </a:xfrm>
          <a:prstGeom prst="rect">
            <a:avLst/>
          </a:prstGeom>
          <a:noFill/>
        </p:spPr>
        <p:txBody>
          <a:bodyPr wrap="square">
            <a:spAutoFit/>
          </a:bodyPr>
          <a:lstStyle/>
          <a:p>
            <a:pPr algn="ctr"/>
            <a:r>
              <a:rPr sz="1100" b="0" i="0">
                <a:solidFill>
                  <a:srgbClr val="555555"/>
                </a:solidFill>
                <a:latin typeface="Calibri"/>
              </a:rPr>
              <a:t>Conviction : 78%</a:t>
            </a:r>
          </a:p>
        </p:txBody>
      </p:sp>
      <p:sp>
        <p:nvSpPr>
          <p:cNvPr id="20" name="TextBox 19"/>
          <p:cNvSpPr txBox="1"/>
          <p:nvPr/>
        </p:nvSpPr>
        <p:spPr>
          <a:xfrm>
            <a:off x="324000" y="1494000"/>
            <a:ext cx="2700000" cy="198000"/>
          </a:xfrm>
          <a:prstGeom prst="rect">
            <a:avLst/>
          </a:prstGeom>
          <a:noFill/>
        </p:spPr>
        <p:txBody>
          <a:bodyPr wrap="square">
            <a:spAutoFit/>
          </a:bodyPr>
          <a:lstStyle/>
          <a:p>
            <a:pPr algn="ctr"/>
            <a:r>
              <a:rPr sz="850" b="0" i="0">
                <a:solidFill>
                  <a:srgbClr val="555555"/>
                </a:solidFill>
                <a:latin typeface="Calibri"/>
              </a:rPr>
              <a:t>15 avril 2026</a:t>
            </a:r>
          </a:p>
        </p:txBody>
      </p:sp>
      <p:sp>
        <p:nvSpPr>
          <p:cNvPr id="21" name="Rectangle 20"/>
          <p:cNvSpPr/>
          <p:nvPr/>
        </p:nvSpPr>
        <p:spPr>
          <a:xfrm>
            <a:off x="324000" y="2196000"/>
            <a:ext cx="2700000" cy="1980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4000" y="2196000"/>
            <a:ext cx="2106000" cy="198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2051999"/>
            <a:ext cx="2700000" cy="136800"/>
          </a:xfrm>
          <a:prstGeom prst="rect">
            <a:avLst/>
          </a:prstGeom>
          <a:noFill/>
        </p:spPr>
        <p:txBody>
          <a:bodyPr wrap="square">
            <a:spAutoFit/>
          </a:bodyPr>
          <a:lstStyle/>
          <a:p>
            <a:pPr algn="l"/>
            <a:r>
              <a:rPr sz="700" b="1" i="0">
                <a:solidFill>
                  <a:srgbClr val="1B3A6B"/>
                </a:solidFill>
                <a:latin typeface="Calibri"/>
              </a:rPr>
              <a:t>NIVEAU DE CONVICTION</a:t>
            </a:r>
          </a:p>
        </p:txBody>
      </p:sp>
      <p:sp>
        <p:nvSpPr>
          <p:cNvPr id="24" name="Rectangle 23"/>
          <p:cNvSpPr/>
          <p:nvPr/>
        </p:nvSpPr>
        <p:spPr>
          <a:xfrm>
            <a:off x="324000" y="2520000"/>
            <a:ext cx="2700000" cy="27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60000" y="2538000"/>
            <a:ext cx="2628000" cy="234000"/>
          </a:xfrm>
          <a:prstGeom prst="rect">
            <a:avLst/>
          </a:prstGeom>
          <a:noFill/>
        </p:spPr>
        <p:txBody>
          <a:bodyPr wrap="square">
            <a:spAutoFit/>
          </a:bodyPr>
          <a:lstStyle/>
          <a:p>
            <a:pPr algn="l"/>
            <a:r>
              <a:rPr sz="850" b="1" i="0">
                <a:solidFill>
                  <a:srgbClr val="1A7A4A"/>
                </a:solidFill>
                <a:latin typeface="Calibri"/>
              </a:rPr>
              <a:t>Delta conviction : +28% vs Avocat du Diable</a:t>
            </a:r>
          </a:p>
        </p:txBody>
      </p:sp>
      <p:sp>
        <p:nvSpPr>
          <p:cNvPr id="26" name="Rectangle 25"/>
          <p:cNvSpPr/>
          <p:nvPr/>
        </p:nvSpPr>
        <p:spPr>
          <a:xfrm>
            <a:off x="3311999" y="827999"/>
            <a:ext cx="5472000" cy="19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366000" y="846000"/>
            <a:ext cx="5400000" cy="162000"/>
          </a:xfrm>
          <a:prstGeom prst="rect">
            <a:avLst/>
          </a:prstGeom>
          <a:noFill/>
        </p:spPr>
        <p:txBody>
          <a:bodyPr wrap="square">
            <a:spAutoFit/>
          </a:bodyPr>
          <a:lstStyle/>
          <a:p>
            <a:pPr algn="l"/>
            <a:r>
              <a:rPr sz="800" b="1" i="0">
                <a:solidFill>
                  <a:srgbClr val="FFFFFF"/>
                </a:solidFill>
                <a:latin typeface="Calibri"/>
              </a:rPr>
              <a:t>THÈSE D’INVESTISSEMENT</a:t>
            </a:r>
          </a:p>
        </p:txBody>
      </p:sp>
      <p:sp>
        <p:nvSpPr>
          <p:cNvPr id="28" name="Rectangle 27"/>
          <p:cNvSpPr/>
          <p:nvPr/>
        </p:nvSpPr>
        <p:spPr>
          <a:xfrm>
            <a:off x="3311999" y="1062000"/>
            <a:ext cx="36000" cy="288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401999" y="1080000"/>
            <a:ext cx="5346000" cy="270000"/>
          </a:xfrm>
          <a:prstGeom prst="rect">
            <a:avLst/>
          </a:prstGeom>
          <a:noFill/>
        </p:spPr>
        <p:txBody>
          <a:bodyPr wrap="square">
            <a:spAutoFit/>
          </a:bodyPr>
          <a:lstStyle/>
          <a:p>
            <a:pPr algn="l"/>
            <a:r>
              <a:rPr sz="850" b="0" i="0">
                <a:solidFill>
                  <a:srgbClr val="555555"/>
                </a:solidFill>
                <a:latin typeface="Calibri"/>
              </a:rPr>
              <a:t>Croissance du CA 2026F à 320 Mds$ (+13.6%) portée par Azure +18% et Office 365 +12%</a:t>
            </a:r>
          </a:p>
        </p:txBody>
      </p:sp>
      <p:sp>
        <p:nvSpPr>
          <p:cNvPr id="30" name="Rectangle 29"/>
          <p:cNvSpPr/>
          <p:nvPr/>
        </p:nvSpPr>
        <p:spPr>
          <a:xfrm>
            <a:off x="3311999" y="1404000"/>
            <a:ext cx="36000" cy="288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401999" y="1422000"/>
            <a:ext cx="5346000" cy="270000"/>
          </a:xfrm>
          <a:prstGeom prst="rect">
            <a:avLst/>
          </a:prstGeom>
          <a:noFill/>
        </p:spPr>
        <p:txBody>
          <a:bodyPr wrap="square">
            <a:spAutoFit/>
          </a:bodyPr>
          <a:lstStyle/>
          <a:p>
            <a:pPr algn="l"/>
            <a:r>
              <a:rPr sz="850" b="0" i="0">
                <a:solidFill>
                  <a:srgbClr val="555555"/>
                </a:solidFill>
                <a:latin typeface="Calibri"/>
              </a:rPr>
              <a:t>Marges EBITDA à 59.5% (+260 bps) grâce au mix cloud haute marge et économies d’échelle</a:t>
            </a:r>
          </a:p>
        </p:txBody>
      </p:sp>
      <p:sp>
        <p:nvSpPr>
          <p:cNvPr id="32" name="Rectangle 31"/>
          <p:cNvSpPr/>
          <p:nvPr/>
        </p:nvSpPr>
        <p:spPr>
          <a:xfrm>
            <a:off x="3311999" y="1746000"/>
            <a:ext cx="36000" cy="288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401999" y="1764000"/>
            <a:ext cx="5346000" cy="270000"/>
          </a:xfrm>
          <a:prstGeom prst="rect">
            <a:avLst/>
          </a:prstGeom>
          <a:noFill/>
        </p:spPr>
        <p:txBody>
          <a:bodyPr wrap="square">
            <a:spAutoFit/>
          </a:bodyPr>
          <a:lstStyle/>
          <a:p>
            <a:pPr algn="l"/>
            <a:r>
              <a:rPr sz="850" b="0" i="0">
                <a:solidFill>
                  <a:srgbClr val="555555"/>
                </a:solidFill>
                <a:latin typeface="Calibri"/>
              </a:rPr>
              <a:t>FCF libre devrait atteindre 90 Mds$ (+20% YoY) avec ND/EBITDA stable à 0.1x, soutenant des rachats d’actions de 50 Mds$ en 2026.</a:t>
            </a:r>
          </a:p>
        </p:txBody>
      </p:sp>
      <p:sp>
        <p:nvSpPr>
          <p:cNvPr id="34" name="Rectangle 33"/>
          <p:cNvSpPr/>
          <p:nvPr/>
        </p:nvSpPr>
        <p:spPr>
          <a:xfrm>
            <a:off x="3311999" y="2196000"/>
            <a:ext cx="2664000" cy="18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366000" y="2214000"/>
            <a:ext cx="2592000" cy="144000"/>
          </a:xfrm>
          <a:prstGeom prst="rect">
            <a:avLst/>
          </a:prstGeom>
          <a:noFill/>
        </p:spPr>
        <p:txBody>
          <a:bodyPr wrap="square">
            <a:spAutoFit/>
          </a:bodyPr>
          <a:lstStyle/>
          <a:p>
            <a:pPr algn="l"/>
            <a:r>
              <a:rPr sz="750" b="1" i="0">
                <a:solidFill>
                  <a:srgbClr val="FFFFFF"/>
                </a:solidFill>
                <a:latin typeface="Calibri"/>
              </a:rPr>
              <a:t>CATALYSEURS BULLS</a:t>
            </a:r>
          </a:p>
        </p:txBody>
      </p:sp>
      <p:sp>
        <p:nvSpPr>
          <p:cNvPr id="36" name="TextBox 35"/>
          <p:cNvSpPr txBox="1"/>
          <p:nvPr/>
        </p:nvSpPr>
        <p:spPr>
          <a:xfrm>
            <a:off x="3401999" y="2412000"/>
            <a:ext cx="2556000" cy="792000"/>
          </a:xfrm>
          <a:prstGeom prst="rect">
            <a:avLst/>
          </a:prstGeom>
          <a:noFill/>
        </p:spPr>
        <p:txBody>
          <a:bodyPr wrap="square">
            <a:spAutoFit/>
          </a:bodyPr>
          <a:lstStyle/>
          <a:p>
            <a:pPr algn="l"/>
            <a:r>
              <a:rPr sz="700" b="0" i="0">
                <a:solidFill>
                  <a:srgbClr val="555555"/>
                </a:solidFill>
                <a:latin typeface="Calibri"/>
              </a:rPr>
              <a:t>• Croissance Azure +18% en 2026F grâce à l’adoption de l’IA générative, générant +12 Mds$ de CA supplémentaire | Horizon 2026-2027</a:t>
            </a:r>
          </a:p>
        </p:txBody>
      </p:sp>
      <p:sp>
        <p:nvSpPr>
          <p:cNvPr id="37" name="TextBox 36"/>
          <p:cNvSpPr txBox="1"/>
          <p:nvPr/>
        </p:nvSpPr>
        <p:spPr>
          <a:xfrm>
            <a:off x="3401999" y="3221999"/>
            <a:ext cx="2556000" cy="792000"/>
          </a:xfrm>
          <a:prstGeom prst="rect">
            <a:avLst/>
          </a:prstGeom>
          <a:noFill/>
        </p:spPr>
        <p:txBody>
          <a:bodyPr wrap="square">
            <a:spAutoFit/>
          </a:bodyPr>
          <a:lstStyle/>
          <a:p>
            <a:pPr algn="l"/>
            <a:r>
              <a:rPr sz="700" b="0" i="0">
                <a:solidFill>
                  <a:srgbClr val="555555"/>
                </a:solidFill>
                <a:latin typeface="Calibri"/>
              </a:rPr>
              <a:t>• Marge EBITDA à 59.5% (+260 bps) via le mix cloud et les économies d’échelle | Horizon 2026</a:t>
            </a:r>
          </a:p>
        </p:txBody>
      </p:sp>
      <p:sp>
        <p:nvSpPr>
          <p:cNvPr id="38" name="Rectangle 37"/>
          <p:cNvSpPr/>
          <p:nvPr/>
        </p:nvSpPr>
        <p:spPr>
          <a:xfrm>
            <a:off x="6120000" y="2196000"/>
            <a:ext cx="2448000" cy="18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156000" y="2214000"/>
            <a:ext cx="2376000" cy="144000"/>
          </a:xfrm>
          <a:prstGeom prst="rect">
            <a:avLst/>
          </a:prstGeom>
          <a:noFill/>
        </p:spPr>
        <p:txBody>
          <a:bodyPr wrap="square">
            <a:spAutoFit/>
          </a:bodyPr>
          <a:lstStyle/>
          <a:p>
            <a:pPr algn="l"/>
            <a:r>
              <a:rPr sz="750" b="1" i="0">
                <a:solidFill>
                  <a:srgbClr val="FFFFFF"/>
                </a:solidFill>
                <a:latin typeface="Calibri"/>
              </a:rPr>
              <a:t>RISQUES BEARS</a:t>
            </a:r>
          </a:p>
        </p:txBody>
      </p:sp>
      <p:sp>
        <p:nvSpPr>
          <p:cNvPr id="40" name="TextBox 39"/>
          <p:cNvSpPr txBox="1"/>
          <p:nvPr/>
        </p:nvSpPr>
        <p:spPr>
          <a:xfrm>
            <a:off x="6156000" y="2412000"/>
            <a:ext cx="2376000" cy="792000"/>
          </a:xfrm>
          <a:prstGeom prst="rect">
            <a:avLst/>
          </a:prstGeom>
          <a:noFill/>
        </p:spPr>
        <p:txBody>
          <a:bodyPr wrap="square">
            <a:spAutoFit/>
          </a:bodyPr>
          <a:lstStyle/>
          <a:p>
            <a:pPr algn="l"/>
            <a:r>
              <a:rPr sz="700" b="0" i="0">
                <a:solidFill>
                  <a:srgbClr val="555555"/>
                </a:solidFill>
                <a:latin typeface="Calibri"/>
              </a:rPr>
              <a:t>• Régulation antitrust européenne sur les pratiques cloud pourrait coûter 5-7% du CA IA d’ici 2027 | Horizon 12-18 mois, impact -15% sur le cours</a:t>
            </a:r>
          </a:p>
        </p:txBody>
      </p:sp>
      <p:sp>
        <p:nvSpPr>
          <p:cNvPr id="41" name="TextBox 40"/>
          <p:cNvSpPr txBox="1"/>
          <p:nvPr/>
        </p:nvSpPr>
        <p:spPr>
          <a:xfrm>
            <a:off x="6156000" y="3221999"/>
            <a:ext cx="2376000" cy="792000"/>
          </a:xfrm>
          <a:prstGeom prst="rect">
            <a:avLst/>
          </a:prstGeom>
          <a:noFill/>
        </p:spPr>
        <p:txBody>
          <a:bodyPr wrap="square">
            <a:spAutoFit/>
          </a:bodyPr>
          <a:lstStyle/>
          <a:p>
            <a:pPr algn="l"/>
            <a:r>
              <a:rPr sz="700" b="0" i="0">
                <a:solidFill>
                  <a:srgbClr val="555555"/>
                </a:solidFill>
                <a:latin typeface="Calibri"/>
              </a:rPr>
              <a:t>• Concurrence accrue de Google Cloud et AWS sur l’IA générative pourrait comprimer les parts de marché Azure de 3 pts d’ici 2027 | Horizon 2026-2027, impact -8% sur le cours</a:t>
            </a:r>
          </a:p>
        </p:txBody>
      </p:sp>
      <p:sp>
        <p:nvSpPr>
          <p:cNvPr id="42" name="TextBox 41"/>
          <p:cNvSpPr txBox="1"/>
          <p:nvPr/>
        </p:nvSpPr>
        <p:spPr>
          <a:xfrm>
            <a:off x="324000" y="4662000"/>
            <a:ext cx="8496000" cy="125999"/>
          </a:xfrm>
          <a:prstGeom prst="rect">
            <a:avLst/>
          </a:prstGeom>
          <a:noFill/>
        </p:spPr>
        <p:txBody>
          <a:bodyPr wrap="square">
            <a:spAutoFit/>
          </a:bodyPr>
          <a:lstStyle/>
          <a:p>
            <a:pPr algn="l"/>
            <a:r>
              <a:rPr sz="700" b="0" i="0">
                <a:solidFill>
                  <a:srgbClr val="555555"/>
                </a:solidFill>
                <a:latin typeface="Calibri"/>
              </a:rPr>
              <a:t>FinSight IA Généré cette analyse a un instant T. Pour le suivi dans le temps, comparer les rapports successifs. La conviction Reflète les Données disponibles a la date d'analyse.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