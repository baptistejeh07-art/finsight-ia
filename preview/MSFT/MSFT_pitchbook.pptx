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2771999" y="2617297"/>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635297"/>
            <a:ext cx="3491999" cy="395999"/>
          </a:xfrm>
          <a:prstGeom prst="rect">
            <a:avLst/>
          </a:prstGeom>
          <a:noFill/>
        </p:spPr>
        <p:txBody>
          <a:bodyPr wrap="square">
            <a:spAutoFit/>
          </a:bodyPr>
          <a:lstStyle/>
          <a:p>
            <a:pPr algn="ctr"/>
            <a:r>
              <a:rPr sz="900" b="1" i="0">
                <a:solidFill>
                  <a:srgbClr val="FFFFFF"/>
                </a:solidFill>
                <a:latin typeface="Calibri"/>
              </a:rPr>
              <a:t>● BUY  ·  Prix cible base : 420 $  ·  Upside : +12,5 %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5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420 $  ·  Upside : +12,5 %  ·  Bear : 340 $ (-9,0 %)  ·  Bull : 480 $ (+28,5 %)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cloud</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Croissance organique des revenus cloud accélérée à +25% YoY en 2025 grâce à l'adoption massive d'Azure et à l'intégration de l'IA</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Marges élevées</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Marges nettes stables à 36% malgré l'investissement dans l'IA et la cybersécurité (+12% des coûts R&amp;D)</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Trésorerie solide</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Valorisation attractive à 17.4x EV/EBITDA vs médiane peers 22x, avec upside de 20% si convergence vers la prime tech</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antitrust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Régulation antitrust: amende potentielle de 20 Mds USD si condamnation pour abus de position dominante sur le cloud | Horizon: 2026-2027, ampleur: -8% de valorisation</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Concurrence IA: perte de parts de marché face à Google Cloud et AWS si retard technologique | Horizon: 2026, ampleur: -5% de croissance cloud</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Dépendance au cloud</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Cybersécurité: coûts supplémentaires de 5 Mds USD si augmentation des incidents de sécurité | Horizon: 2026, ampleur: -150 bps sur marges nettes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17,4x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15,2x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420 $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+12,5 %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+0,239</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antitrust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Microsoft domine les infrastructures cloud avec Azure (24% de part de marché), les logiciels d'entreprise (Office 365, Dynamics) et les outils de productivité (Teams). Positionné comme leader technologique, le groupe bénéficie d'un écosystème intégré et d'une adoption massive des solutions SaaS. Ses avantages incluent des coûts marginaux quasi nuls, une fidélisation client élevée (&gt;95% de taux de rétention) et une trésorerie abondante (150 Mds USD) pour financer l'innovation.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Productivity and Business Processes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générant 35% du CA avec Office 365, LinkedIn et Dynamics 365. Modèle d'abonnement récurrent (ARR &gt;90%) avec croissance YoY de 12% en 2025. Clients cibles : entreprises (80% du CA) et particuliers. Moteurs : adoption du cloud, automatisation des processus et expansion internationale (Asie-Pacifique +18% en 2025).</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Intelligent Cloud</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leader avec Azure (60% du CA cloud) et SQL Server. Modèle pay-as-you-go avec marge EBITDA &gt;70%. Clients : 95% des entreprises du Fortune 500. Croissance YoY de 25% en 2025. Moteurs : migration vers le cloud (+200M d'utilisateurs Azure actifs), IA intégrée et partenariats avec SAP/Oracle.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2 773,2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373,46 $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17,4x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27,2x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35%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Productivity and Business Processes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générant 35% du CA avec Office 365, LinkedIn et Dynamics 365. Modèle d'abonnement récurrent (ARR &gt;90%) avec croissance YoY de 12% en 2025. Clients cibles : entreprises (80% du CA) et particuliers. Moteurs : adoption du cloud, automatisation des processus et expansion internationale (Asie-Pacifique +18% en 2025).</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40%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Intelligent Cloud</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leader avec Azure (60% du CA cloud) et SQL Server. Modèle pay-as-you-go avec marge EBITDA &gt;70%. Clients : 95% des entreprises du Fortune 500. Croissance YoY de 25% en 2025. Moteurs : migration vers le cloud (+200M d'utilisateurs Azure actifs), IA intégrée et partenariats avec SAP/Oracle.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c>
                  <a:txBody>
                    <a:bodyPr/>
                    <a:lstStyle/>
                    <a:p>
                      <a:pPr algn="ctr"/>
                      <a:r>
                        <a:rPr sz="800" b="1" i="0">
                          <a:solidFill>
                            <a:srgbClr val="0D0D0D"/>
                          </a:solidFill>
                          <a:latin typeface="Calibri"/>
                        </a:rPr>
                        <a:t>320,0</a:t>
                      </a:r>
                    </a:p>
                  </a:txBody>
                  <a:tcPr>
                    <a:solidFill>
                      <a:srgbClr val="FFFFFF"/>
                    </a:solidFill>
                  </a:tcPr>
                </a:tc>
                <a:tc>
                  <a:txBody>
                    <a:bodyPr/>
                    <a:lstStyle/>
                    <a:p>
                      <a:pPr algn="ctr"/>
                      <a:r>
                        <a:rPr sz="800" b="1" i="0">
                          <a:solidFill>
                            <a:srgbClr val="0D0D0D"/>
                          </a:solidFill>
                          <a:latin typeface="Calibri"/>
                        </a:rPr>
                        <a:t>360,0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+6,9 %</a:t>
                      </a:r>
                    </a:p>
                  </a:txBody>
                  <a:tcPr>
                    <a:solidFill>
                      <a:srgbClr val="F7F8FA"/>
                    </a:solidFill>
                  </a:tcPr>
                </a:tc>
                <a:tc>
                  <a:txBody>
                    <a:bodyPr/>
                    <a:lstStyle/>
                    <a:p>
                      <a:pPr algn="ctr"/>
                      <a:r>
                        <a:rPr sz="750" b="0" i="1">
                          <a:solidFill>
                            <a:srgbClr val="555555"/>
                          </a:solidFill>
                          <a:latin typeface="Calibri"/>
                        </a:rPr>
                        <a:t>+15,7 %</a:t>
                      </a:r>
                    </a:p>
                  </a:txBody>
                  <a:tcPr>
                    <a:solidFill>
                      <a:srgbClr val="F7F8FA"/>
                    </a:solidFill>
                  </a:tcPr>
                </a:tc>
                <a:tc>
                  <a:txBody>
                    <a:bodyPr/>
                    <a:lstStyle/>
                    <a:p>
                      <a:pPr algn="ctr"/>
                      <a:r>
                        <a:rPr sz="750" b="0" i="1">
                          <a:solidFill>
                            <a:srgbClr val="555555"/>
                          </a:solidFill>
                          <a:latin typeface="Calibri"/>
                        </a:rPr>
                        <a:t>+14,9 %</a:t>
                      </a:r>
                    </a:p>
                  </a:txBody>
                  <a:tcPr>
                    <a:solidFill>
                      <a:srgbClr val="DDE8F5"/>
                    </a:solidFill>
                  </a:tcPr>
                </a:tc>
                <a:tc>
                  <a:txBody>
                    <a:bodyPr/>
                    <a:lstStyle/>
                    <a:p>
                      <a:pPr algn="ctr"/>
                      <a:r>
                        <a:rPr sz="750" b="0" i="1">
                          <a:solidFill>
                            <a:srgbClr val="555555"/>
                          </a:solidFill>
                          <a:latin typeface="Calibri"/>
                        </a:rPr>
                        <a:t>+13,6 %</a:t>
                      </a:r>
                    </a:p>
                  </a:txBody>
                  <a:tcPr>
                    <a:solidFill>
                      <a:srgbClr val="F7F8FA"/>
                    </a:solidFill>
                  </a:tcPr>
                </a:tc>
                <a:tc>
                  <a:txBody>
                    <a:bodyPr/>
                    <a:lstStyle/>
                    <a:p>
                      <a:pPr algn="ctr"/>
                      <a:r>
                        <a:rPr sz="750" b="0" i="1">
                          <a:solidFill>
                            <a:srgbClr val="555555"/>
                          </a:solidFill>
                          <a:latin typeface="Calibri"/>
                        </a:rPr>
                        <a:t>+12,5 %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c>
                  <a:txBody>
                    <a:bodyPr/>
                    <a:lstStyle/>
                    <a:p>
                      <a:pPr algn="ctr"/>
                      <a:r>
                        <a:rPr sz="800" b="1" i="0">
                          <a:solidFill>
                            <a:srgbClr val="0D0D0D"/>
                          </a:solidFill>
                          <a:latin typeface="Calibri"/>
                        </a:rPr>
                        <a:t>220,8</a:t>
                      </a:r>
                    </a:p>
                  </a:txBody>
                  <a:tcPr>
                    <a:solidFill>
                      <a:srgbClr val="FFFFFF"/>
                    </a:solidFill>
                  </a:tcPr>
                </a:tc>
                <a:tc>
                  <a:txBody>
                    <a:bodyPr/>
                    <a:lstStyle/>
                    <a:p>
                      <a:pPr algn="ctr"/>
                      <a:r>
                        <a:rPr sz="800" b="1" i="0">
                          <a:solidFill>
                            <a:srgbClr val="0D0D0D"/>
                          </a:solidFill>
                          <a:latin typeface="Calibri"/>
                        </a:rPr>
                        <a:t>250,2</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68,9 %</a:t>
                      </a:r>
                    </a:p>
                  </a:txBody>
                  <a:tcPr>
                    <a:solidFill>
                      <a:srgbClr val="F7F8FA"/>
                    </a:solidFill>
                  </a:tcPr>
                </a:tc>
                <a:tc>
                  <a:txBody>
                    <a:bodyPr/>
                    <a:lstStyle/>
                    <a:p>
                      <a:pPr algn="ctr"/>
                      <a:r>
                        <a:rPr sz="750" b="0" i="1">
                          <a:solidFill>
                            <a:srgbClr val="555555"/>
                          </a:solidFill>
                          <a:latin typeface="Calibri"/>
                        </a:rPr>
                        <a:t>69,8 %</a:t>
                      </a:r>
                    </a:p>
                  </a:txBody>
                  <a:tcPr>
                    <a:solidFill>
                      <a:srgbClr val="F7F8FA"/>
                    </a:solidFill>
                  </a:tcPr>
                </a:tc>
                <a:tc>
                  <a:txBody>
                    <a:bodyPr/>
                    <a:lstStyle/>
                    <a:p>
                      <a:pPr algn="ctr"/>
                      <a:r>
                        <a:rPr sz="750" b="0" i="1">
                          <a:solidFill>
                            <a:srgbClr val="555555"/>
                          </a:solidFill>
                          <a:latin typeface="Calibri"/>
                        </a:rPr>
                        <a:t>68,8 %</a:t>
                      </a:r>
                    </a:p>
                  </a:txBody>
                  <a:tcPr>
                    <a:solidFill>
                      <a:srgbClr val="DDE8F5"/>
                    </a:solidFill>
                  </a:tcPr>
                </a:tc>
                <a:tc>
                  <a:txBody>
                    <a:bodyPr/>
                    <a:lstStyle/>
                    <a:p>
                      <a:pPr algn="ctr"/>
                      <a:r>
                        <a:rPr sz="750" b="0" i="1">
                          <a:solidFill>
                            <a:srgbClr val="555555"/>
                          </a:solidFill>
                          <a:latin typeface="Calibri"/>
                        </a:rPr>
                        <a:t>69,0 %</a:t>
                      </a:r>
                    </a:p>
                  </a:txBody>
                  <a:tcPr>
                    <a:solidFill>
                      <a:srgbClr val="F7F8FA"/>
                    </a:solidFill>
                  </a:tcPr>
                </a:tc>
                <a:tc>
                  <a:txBody>
                    <a:bodyPr/>
                    <a:lstStyle/>
                    <a:p>
                      <a:pPr algn="ctr"/>
                      <a:r>
                        <a:rPr sz="750" b="0" i="1">
                          <a:solidFill>
                            <a:srgbClr val="555555"/>
                          </a:solidFill>
                          <a:latin typeface="Calibri"/>
                        </a:rPr>
                        <a:t>69,5 %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c>
                  <a:txBody>
                    <a:bodyPr/>
                    <a:lstStyle/>
                    <a:p>
                      <a:pPr algn="ctr"/>
                      <a:r>
                        <a:rPr sz="800" b="1" i="0">
                          <a:solidFill>
                            <a:srgbClr val="0D0D0D"/>
                          </a:solidFill>
                          <a:latin typeface="Calibri"/>
                        </a:rPr>
                        <a:t>182,0</a:t>
                      </a:r>
                    </a:p>
                  </a:txBody>
                  <a:tcPr>
                    <a:solidFill>
                      <a:srgbClr val="FFFFFF"/>
                    </a:solidFill>
                  </a:tcPr>
                </a:tc>
                <a:tc>
                  <a:txBody>
                    <a:bodyPr/>
                    <a:lstStyle/>
                    <a:p>
                      <a:pPr algn="ctr"/>
                      <a:r>
                        <a:rPr sz="800" b="1" i="0">
                          <a:solidFill>
                            <a:srgbClr val="0D0D0D"/>
                          </a:solidFill>
                          <a:latin typeface="Calibri"/>
                        </a:rPr>
                        <a:t>208,8</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49,6 %</a:t>
                      </a:r>
                    </a:p>
                  </a:txBody>
                  <a:tcPr>
                    <a:solidFill>
                      <a:srgbClr val="F7F8FA"/>
                    </a:solidFill>
                  </a:tcPr>
                </a:tc>
                <a:tc>
                  <a:txBody>
                    <a:bodyPr/>
                    <a:lstStyle/>
                    <a:p>
                      <a:pPr algn="ctr"/>
                      <a:r>
                        <a:rPr sz="750" b="0" i="1">
                          <a:solidFill>
                            <a:srgbClr val="555555"/>
                          </a:solidFill>
                          <a:latin typeface="Calibri"/>
                        </a:rPr>
                        <a:t>54,3 %</a:t>
                      </a:r>
                    </a:p>
                  </a:txBody>
                  <a:tcPr>
                    <a:solidFill>
                      <a:srgbClr val="F7F8FA"/>
                    </a:solidFill>
                  </a:tcPr>
                </a:tc>
                <a:tc>
                  <a:txBody>
                    <a:bodyPr/>
                    <a:lstStyle/>
                    <a:p>
                      <a:pPr algn="ctr"/>
                      <a:r>
                        <a:rPr sz="750" b="0" i="1">
                          <a:solidFill>
                            <a:srgbClr val="555555"/>
                          </a:solidFill>
                          <a:latin typeface="Calibri"/>
                        </a:rPr>
                        <a:t>56,9 %</a:t>
                      </a:r>
                    </a:p>
                  </a:txBody>
                  <a:tcPr>
                    <a:solidFill>
                      <a:srgbClr val="DDE8F5"/>
                    </a:solidFill>
                  </a:tcPr>
                </a:tc>
                <a:tc>
                  <a:txBody>
                    <a:bodyPr/>
                    <a:lstStyle/>
                    <a:p>
                      <a:pPr algn="ctr"/>
                      <a:r>
                        <a:rPr sz="750" b="0" i="1">
                          <a:solidFill>
                            <a:srgbClr val="555555"/>
                          </a:solidFill>
                          <a:latin typeface="Calibri"/>
                        </a:rPr>
                        <a:t>56,9 %</a:t>
                      </a:r>
                    </a:p>
                  </a:txBody>
                  <a:tcPr>
                    <a:solidFill>
                      <a:srgbClr val="F7F8FA"/>
                    </a:solidFill>
                  </a:tcPr>
                </a:tc>
                <a:tc>
                  <a:txBody>
                    <a:bodyPr/>
                    <a:lstStyle/>
                    <a:p>
                      <a:pPr algn="ctr"/>
                      <a:r>
                        <a:rPr sz="750" b="0" i="1">
                          <a:solidFill>
                            <a:srgbClr val="555555"/>
                          </a:solidFill>
                          <a:latin typeface="Calibri"/>
                        </a:rPr>
                        <a:t>58,0 %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c>
                  <a:txBody>
                    <a:bodyPr/>
                    <a:lstStyle/>
                    <a:p>
                      <a:pPr algn="ctr"/>
                      <a:r>
                        <a:rPr sz="800" b="1" i="0">
                          <a:solidFill>
                            <a:srgbClr val="0D0D0D"/>
                          </a:solidFill>
                          <a:latin typeface="Calibri"/>
                        </a:rPr>
                        <a:t>115,2</a:t>
                      </a:r>
                    </a:p>
                  </a:txBody>
                  <a:tcPr>
                    <a:solidFill>
                      <a:srgbClr val="FFFFFF"/>
                    </a:solidFill>
                  </a:tcPr>
                </a:tc>
                <a:tc>
                  <a:txBody>
                    <a:bodyPr/>
                    <a:lstStyle/>
                    <a:p>
                      <a:pPr algn="ctr"/>
                      <a:r>
                        <a:rPr sz="800" b="1" i="0">
                          <a:solidFill>
                            <a:srgbClr val="0D0D0D"/>
                          </a:solidFill>
                          <a:latin typeface="Calibri"/>
                        </a:rPr>
                        <a:t>133,2</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34,2 %</a:t>
                      </a:r>
                    </a:p>
                  </a:txBody>
                  <a:tcPr>
                    <a:solidFill>
                      <a:srgbClr val="F7F8FA"/>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36,1 %</a:t>
                      </a:r>
                    </a:p>
                  </a:txBody>
                  <a:tcPr>
                    <a:solidFill>
                      <a:srgbClr val="DDE8F5"/>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37,0 %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+14.9% en 2025 portée par le cloud (+25%) et les abonnements (+12%). Marges nettes stables à 36% grâce à l'effet de levier opérationnel (fixes couverts par la croissance des revenus récurrents) et à la discipline sur les coûts R&amp;D (18% du CA). Génération de cash libre &gt;50 Mds USD, renforçant la solidité bilancielle et permettant des rachats d'actions (20 Mds USD annoncés en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4,61</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+14.9% en 2025 portée par le cloud (+25%) et les abonnements (+12%). Marges nettes stables à 36% grâce à l'effet de levier opérationnel (fixes couverts par la croissance des revenus récurrents) et à la discipline sur les coûts R&amp;D (18% du CA). Génération de cash libre &gt;50 Mds USD, renforçant la solidité bilancielle et permettant des rachats d'actions (20 Mds USD annoncés en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Marges brutes stables à ~69% (2022-2025) grâce à la structure logicielle à coûts marginaux nuls. EBITDA margin progresse de 50.6% à 56.9% sur la période via l'amélioration du mix produit (cloud &gt;70% des revenus) et l'optimisation des coûts fixes. Nette margin stable à 36% reflète une gestion rigoureuse des dépenses d'exploitation et une tarification premium sur les solutions d'entreprise.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420 $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373,46 $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340 $</a:t>
                      </a:r>
                    </a:p>
                  </a:txBody>
                  <a:tcPr>
                    <a:solidFill>
                      <a:srgbClr val="FAF0EF"/>
                    </a:solidFill>
                  </a:tcPr>
                </a:tc>
                <a:tc>
                  <a:txBody>
                    <a:bodyPr/>
                    <a:lstStyle/>
                    <a:p>
                      <a:pPr algn="ctr"/>
                      <a:r>
                        <a:rPr sz="2000" b="1" i="0">
                          <a:solidFill>
                            <a:srgbClr val="2E5FA3"/>
                          </a:solidFill>
                          <a:latin typeface="Calibri"/>
                        </a:rPr>
                        <a:t>420 $</a:t>
                      </a:r>
                    </a:p>
                  </a:txBody>
                  <a:tcPr>
                    <a:solidFill>
                      <a:srgbClr val="EEF3FA"/>
                    </a:solidFill>
                  </a:tcPr>
                </a:tc>
                <a:tc>
                  <a:txBody>
                    <a:bodyPr/>
                    <a:lstStyle/>
                    <a:p>
                      <a:pPr algn="ctr"/>
                      <a:r>
                        <a:rPr sz="2000" b="1" i="0">
                          <a:solidFill>
                            <a:srgbClr val="1A7A4A"/>
                          </a:solidFill>
                          <a:latin typeface="Calibri"/>
                        </a:rPr>
                        <a:t>480 $</a:t>
                      </a:r>
                    </a:p>
                  </a:txBody>
                  <a:tcPr>
                    <a:solidFill>
                      <a:srgbClr val="EAF4EF"/>
                    </a:solidFill>
                  </a:tcPr>
                </a:tc>
              </a:tr>
              <a:tr h="342900">
                <a:tc>
                  <a:txBody>
                    <a:bodyPr/>
                    <a:lstStyle/>
                    <a:p>
                      <a:pPr algn="ctr"/>
                      <a:r>
                        <a:rPr sz="1200" b="1" i="0">
                          <a:solidFill>
                            <a:srgbClr val="A82020"/>
                          </a:solidFill>
                          <a:latin typeface="Calibri"/>
                        </a:rPr>
                        <a:t>-9,0 %</a:t>
                      </a:r>
                    </a:p>
                  </a:txBody>
                  <a:tcPr>
                    <a:solidFill>
                      <a:srgbClr val="FAF0EF"/>
                    </a:solidFill>
                  </a:tcPr>
                </a:tc>
                <a:tc>
                  <a:txBody>
                    <a:bodyPr/>
                    <a:lstStyle/>
                    <a:p>
                      <a:pPr algn="ctr"/>
                      <a:r>
                        <a:rPr sz="1200" b="1" i="0">
                          <a:solidFill>
                            <a:srgbClr val="2E5FA3"/>
                          </a:solidFill>
                          <a:latin typeface="Calibri"/>
                        </a:rPr>
                        <a:t>+12,5 %</a:t>
                      </a:r>
                    </a:p>
                  </a:txBody>
                  <a:tcPr>
                    <a:solidFill>
                      <a:srgbClr val="EEF3FA"/>
                    </a:solidFill>
                  </a:tcPr>
                </a:tc>
                <a:tc>
                  <a:txBody>
                    <a:bodyPr/>
                    <a:lstStyle/>
                    <a:p>
                      <a:pPr algn="ctr"/>
                      <a:r>
                        <a:rPr sz="1200" b="1" i="0">
                          <a:solidFill>
                            <a:srgbClr val="1A7A4A"/>
                          </a:solidFill>
                          <a:latin typeface="Calibri"/>
                        </a:rPr>
                        <a:t>+28,5 %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638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420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 TGR de 3.0%, le DCF implicite suggère un prix de 420 USD (base), soit un upside de 13% vs cours actuel. La prime actuelle semble justifiée par la croissance durable des revenus récurrents et la résilience des marges, mais un ralentissement de l'adoption cloud ou une régulation stricte pourrait compresser la valorisation.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2 773,2</a:t>
                      </a:r>
                    </a:p>
                  </a:txBody>
                  <a:tcPr>
                    <a:solidFill>
                      <a:srgbClr val="DDE8F5"/>
                    </a:solidFill>
                  </a:tcPr>
                </a:tc>
                <a:tc>
                  <a:txBody>
                    <a:bodyPr/>
                    <a:lstStyle/>
                    <a:p>
                      <a:pPr algn="ctr"/>
                      <a:r>
                        <a:rPr sz="800" b="1" i="0">
                          <a:solidFill>
                            <a:srgbClr val="1B3A6B"/>
                          </a:solidFill>
                          <a:latin typeface="Calibri"/>
                        </a:rPr>
                        <a:t>17,4x</a:t>
                      </a:r>
                    </a:p>
                  </a:txBody>
                  <a:tcPr>
                    <a:solidFill>
                      <a:srgbClr val="DDE8F5"/>
                    </a:solidFill>
                  </a:tcPr>
                </a:tc>
                <a:tc>
                  <a:txBody>
                    <a:bodyPr/>
                    <a:lstStyle/>
                    <a:p>
                      <a:pPr algn="ctr"/>
                      <a:r>
                        <a:rPr sz="800" b="1" i="0">
                          <a:solidFill>
                            <a:srgbClr val="1B3A6B"/>
                          </a:solidFill>
                          <a:latin typeface="Calibri"/>
                        </a:rPr>
                        <a:t>9,9x</a:t>
                      </a:r>
                    </a:p>
                  </a:txBody>
                  <a:tcPr>
                    <a:solidFill>
                      <a:srgbClr val="DDE8F5"/>
                    </a:solidFill>
                  </a:tcPr>
                </a:tc>
                <a:tc>
                  <a:txBody>
                    <a:bodyPr/>
                    <a:lstStyle/>
                    <a:p>
                      <a:pPr algn="ctr"/>
                      <a:r>
                        <a:rPr sz="800" b="1" i="0">
                          <a:solidFill>
                            <a:srgbClr val="1B3A6B"/>
                          </a:solidFill>
                          <a:latin typeface="Calibri"/>
                        </a:rPr>
                        <a:t>27,2x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51999">
                <a:tc>
                  <a:txBody>
                    <a:bodyPr/>
                    <a:lstStyle/>
                    <a:p>
                      <a:pPr algn="l"/>
                      <a:r>
                        <a:rPr sz="800" b="0" i="0">
                          <a:solidFill>
                            <a:srgbClr val="0D0D0D"/>
                          </a:solidFill>
                          <a:latin typeface="Calibri"/>
                        </a:rPr>
                        <a:t>Alphabet</a:t>
                      </a:r>
                    </a:p>
                  </a:txBody>
                  <a:tcPr>
                    <a:solidFill>
                      <a:srgbClr val="FFFFFF"/>
                    </a:solidFill>
                  </a:tcPr>
                </a:tc>
                <a:tc>
                  <a:txBody>
                    <a:bodyPr/>
                    <a:lstStyle/>
                    <a:p>
                      <a:pPr algn="ctr"/>
                      <a:r>
                        <a:rPr sz="750" b="0" i="0">
                          <a:solidFill>
                            <a:srgbClr val="555555"/>
                          </a:solidFill>
                          <a:latin typeface="Calibri"/>
                        </a:rPr>
                        <a:t>GOOGL</a:t>
                      </a:r>
                    </a:p>
                  </a:txBody>
                  <a:tcPr>
                    <a:solidFill>
                      <a:srgbClr val="FFFFFF"/>
                    </a:solidFill>
                  </a:tcPr>
                </a:tc>
                <a:tc>
                  <a:txBody>
                    <a:bodyPr/>
                    <a:lstStyle/>
                    <a:p>
                      <a:pPr algn="ctr"/>
                      <a:r>
                        <a:rPr sz="800" b="0" i="0">
                          <a:solidFill>
                            <a:srgbClr val="0D0D0D"/>
                          </a:solidFill>
                          <a:latin typeface="Calibri"/>
                        </a:rPr>
                        <a:t>2 200,0</a:t>
                      </a:r>
                    </a:p>
                  </a:txBody>
                  <a:tcPr>
                    <a:solidFill>
                      <a:srgbClr val="FFFFFF"/>
                    </a:solidFill>
                  </a:tcPr>
                </a:tc>
                <a:tc>
                  <a:txBody>
                    <a:bodyPr/>
                    <a:lstStyle/>
                    <a:p>
                      <a:pPr algn="ctr"/>
                      <a:r>
                        <a:rPr sz="800" b="0" i="0">
                          <a:solidFill>
                            <a:srgbClr val="0D0D0D"/>
                          </a:solidFill>
                          <a:latin typeface="Calibri"/>
                        </a:rPr>
                        <a:t>18,5x</a:t>
                      </a:r>
                    </a:p>
                  </a:txBody>
                  <a:tcPr>
                    <a:solidFill>
                      <a:srgbClr val="FFFFFF"/>
                    </a:solidFill>
                  </a:tcPr>
                </a:tc>
                <a:tc>
                  <a:txBody>
                    <a:bodyPr/>
                    <a:lstStyle/>
                    <a:p>
                      <a:pPr algn="ctr"/>
                      <a:r>
                        <a:rPr sz="800" b="0" i="0">
                          <a:solidFill>
                            <a:srgbClr val="0D0D0D"/>
                          </a:solidFill>
                          <a:latin typeface="Calibri"/>
                        </a:rPr>
                        <a:t>8,2x</a:t>
                      </a:r>
                    </a:p>
                  </a:txBody>
                  <a:tcPr>
                    <a:solidFill>
                      <a:srgbClr val="FFFFFF"/>
                    </a:solidFill>
                  </a:tcPr>
                </a:tc>
                <a:tc>
                  <a:txBody>
                    <a:bodyPr/>
                    <a:lstStyle/>
                    <a:p>
                      <a:pPr algn="ctr"/>
                      <a:r>
                        <a:rPr sz="800" b="0" i="0">
                          <a:solidFill>
                            <a:srgbClr val="0D0D0D"/>
                          </a:solidFill>
                          <a:latin typeface="Calibri"/>
                        </a:rPr>
                        <a:t>22,1x</a:t>
                      </a:r>
                    </a:p>
                  </a:txBody>
                  <a:tcPr>
                    <a:solidFill>
                      <a:srgbClr val="FFFFFF"/>
                    </a:solidFill>
                  </a:tcPr>
                </a:tc>
                <a:tc>
                  <a:txBody>
                    <a:bodyPr/>
                    <a:lstStyle/>
                    <a:p>
                      <a:pPr algn="ctr"/>
                      <a:r>
                        <a:rPr sz="800" b="0" i="0">
                          <a:solidFill>
                            <a:srgbClr val="0D0D0D"/>
                          </a:solidFill>
                          <a:latin typeface="Calibri"/>
                        </a:rPr>
                        <a:t>57,0 %</a:t>
                      </a:r>
                    </a:p>
                  </a:txBody>
                  <a:tcPr>
                    <a:solidFill>
                      <a:srgbClr val="FFFFFF"/>
                    </a:solidFill>
                  </a:tcPr>
                </a:tc>
                <a:tc>
                  <a:txBody>
                    <a:bodyPr/>
                    <a:lstStyle/>
                    <a:p>
                      <a:pPr algn="ctr"/>
                      <a:r>
                        <a:rPr sz="800" b="0" i="0">
                          <a:solidFill>
                            <a:srgbClr val="0D0D0D"/>
                          </a:solidFill>
                          <a:latin typeface="Calibri"/>
                        </a:rPr>
                        <a:t>32,0 %</a:t>
                      </a:r>
                    </a:p>
                  </a:txBody>
                  <a:tcPr>
                    <a:solidFill>
                      <a:srgbClr val="FFFFFF"/>
                    </a:solidFill>
                  </a:tcPr>
                </a:tc>
              </a:tr>
              <a:tr h="251999">
                <a:tc>
                  <a:txBody>
                    <a:bodyPr/>
                    <a:lstStyle/>
                    <a:p>
                      <a:pPr algn="l"/>
                      <a:r>
                        <a:rPr sz="800" b="0" i="0">
                          <a:solidFill>
                            <a:srgbClr val="0D0D0D"/>
                          </a:solidFill>
                          <a:latin typeface="Calibri"/>
                        </a:rPr>
                        <a:t>Amazon Web Services</a:t>
                      </a:r>
                    </a:p>
                  </a:txBody>
                  <a:tcPr>
                    <a:solidFill>
                      <a:srgbClr val="F7F8FA"/>
                    </a:solidFill>
                  </a:tcPr>
                </a:tc>
                <a:tc>
                  <a:txBody>
                    <a:bodyPr/>
                    <a:lstStyle/>
                    <a:p>
                      <a:pPr algn="ctr"/>
                      <a:r>
                        <a:rPr sz="750" b="0" i="0">
                          <a:solidFill>
                            <a:srgbClr val="555555"/>
                          </a:solidFill>
                          <a:latin typeface="Calibri"/>
                        </a:rPr>
                        <a:t>AMZN</a:t>
                      </a:r>
                    </a:p>
                  </a:txBody>
                  <a:tcPr>
                    <a:solidFill>
                      <a:srgbClr val="F7F8FA"/>
                    </a:solidFill>
                  </a:tcPr>
                </a:tc>
                <a:tc>
                  <a:txBody>
                    <a:bodyPr/>
                    <a:lstStyle/>
                    <a:p>
                      <a:pPr algn="ctr"/>
                      <a:r>
                        <a:rPr sz="800" b="0" i="0">
                          <a:solidFill>
                            <a:srgbClr val="0D0D0D"/>
                          </a:solidFill>
                          <a:latin typeface="Calibri"/>
                        </a:rPr>
                        <a:t>1 800,0</a:t>
                      </a:r>
                    </a:p>
                  </a:txBody>
                  <a:tcPr>
                    <a:solidFill>
                      <a:srgbClr val="F7F8FA"/>
                    </a:solidFill>
                  </a:tcPr>
                </a:tc>
                <a:tc>
                  <a:txBody>
                    <a:bodyPr/>
                    <a:lstStyle/>
                    <a:p>
                      <a:pPr algn="ctr"/>
                      <a:r>
                        <a:rPr sz="800" b="0" i="0">
                          <a:solidFill>
                            <a:srgbClr val="0D0D0D"/>
                          </a:solidFill>
                          <a:latin typeface="Calibri"/>
                        </a:rPr>
                        <a:t>15,2x</a:t>
                      </a:r>
                    </a:p>
                  </a:txBody>
                  <a:tcPr>
                    <a:solidFill>
                      <a:srgbClr val="F7F8FA"/>
                    </a:solidFill>
                  </a:tcPr>
                </a:tc>
                <a:tc>
                  <a:txBody>
                    <a:bodyPr/>
                    <a:lstStyle/>
                    <a:p>
                      <a:pPr algn="ctr"/>
                      <a:r>
                        <a:rPr sz="800" b="0" i="0">
                          <a:solidFill>
                            <a:srgbClr val="0D0D0D"/>
                          </a:solidFill>
                          <a:latin typeface="Calibri"/>
                        </a:rPr>
                        <a:t>2,8x</a:t>
                      </a:r>
                    </a:p>
                  </a:txBody>
                  <a:tcPr>
                    <a:solidFill>
                      <a:srgbClr val="F7F8FA"/>
                    </a:solidFill>
                  </a:tcPr>
                </a:tc>
                <a:tc>
                  <a:txBody>
                    <a:bodyPr/>
                    <a:lstStyle/>
                    <a:p>
                      <a:pPr algn="ctr"/>
                      <a:r>
                        <a:rPr sz="800" b="0" i="0">
                          <a:solidFill>
                            <a:srgbClr val="0D0D0D"/>
                          </a:solidFill>
                          <a:latin typeface="Calibri"/>
                        </a:rPr>
                        <a:t>50,3x</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c>
                  <a:txBody>
                    <a:bodyPr/>
                    <a:lstStyle/>
                    <a:p>
                      <a:pPr algn="ctr"/>
                      <a:r>
                        <a:rPr sz="800" b="0" i="0">
                          <a:solidFill>
                            <a:srgbClr val="0D0D0D"/>
                          </a:solidFill>
                          <a:latin typeface="Calibri"/>
                        </a:rPr>
                        <a:t>28,0 %</a:t>
                      </a:r>
                    </a:p>
                  </a:txBody>
                  <a:tcPr>
                    <a:solidFill>
                      <a:srgbClr val="F7F8FA"/>
                    </a:solidFill>
                  </a:tcPr>
                </a:tc>
              </a:tr>
              <a:tr h="251999">
                <a:tc>
                  <a:txBody>
                    <a:bodyPr/>
                    <a:lstStyle/>
                    <a:p>
                      <a:pPr algn="l"/>
                      <a:r>
                        <a:rPr sz="800" b="0" i="0">
                          <a:solidFill>
                            <a:srgbClr val="0D0D0D"/>
                          </a:solidFill>
                          <a:latin typeface="Calibri"/>
                        </a:rPr>
                        <a:t>Salesforce</a:t>
                      </a:r>
                    </a:p>
                  </a:txBody>
                  <a:tcPr>
                    <a:solidFill>
                      <a:srgbClr val="FFFFFF"/>
                    </a:solidFill>
                  </a:tcPr>
                </a:tc>
                <a:tc>
                  <a:txBody>
                    <a:bodyPr/>
                    <a:lstStyle/>
                    <a:p>
                      <a:pPr algn="ctr"/>
                      <a:r>
                        <a:rPr sz="750" b="0" i="0">
                          <a:solidFill>
                            <a:srgbClr val="555555"/>
                          </a:solidFill>
                          <a:latin typeface="Calibri"/>
                        </a:rPr>
                        <a:t>CRM</a:t>
                      </a:r>
                    </a:p>
                  </a:txBody>
                  <a:tcPr>
                    <a:solidFill>
                      <a:srgbClr val="FFFFFF"/>
                    </a:solidFill>
                  </a:tcPr>
                </a:tc>
                <a:tc>
                  <a:txBody>
                    <a:bodyPr/>
                    <a:lstStyle/>
                    <a:p>
                      <a:pPr algn="ctr"/>
                      <a:r>
                        <a:rPr sz="800" b="0" i="0">
                          <a:solidFill>
                            <a:srgbClr val="0D0D0D"/>
                          </a:solidFill>
                          <a:latin typeface="Calibri"/>
                        </a:rPr>
                        <a:t>280,0</a:t>
                      </a:r>
                    </a:p>
                  </a:txBody>
                  <a:tcPr>
                    <a:solidFill>
                      <a:srgbClr val="FFFFFF"/>
                    </a:solidFill>
                  </a:tcPr>
                </a:tc>
                <a:tc>
                  <a:txBody>
                    <a:bodyPr/>
                    <a:lstStyle/>
                    <a:p>
                      <a:pPr algn="ctr"/>
                      <a:r>
                        <a:rPr sz="800" b="0" i="0">
                          <a:solidFill>
                            <a:srgbClr val="0D0D0D"/>
                          </a:solidFill>
                          <a:latin typeface="Calibri"/>
                        </a:rPr>
                        <a:t>25,8x</a:t>
                      </a:r>
                    </a:p>
                  </a:txBody>
                  <a:tcPr>
                    <a:solidFill>
                      <a:srgbClr val="FFFFFF"/>
                    </a:solidFill>
                  </a:tcPr>
                </a:tc>
                <a:tc>
                  <a:txBody>
                    <a:bodyPr/>
                    <a:lstStyle/>
                    <a:p>
                      <a:pPr algn="ctr"/>
                      <a:r>
                        <a:rPr sz="800" b="0" i="0">
                          <a:solidFill>
                            <a:srgbClr val="0D0D0D"/>
                          </a:solidFill>
                          <a:latin typeface="Calibri"/>
                        </a:rPr>
                        <a:t>6,5x</a:t>
                      </a:r>
                    </a:p>
                  </a:txBody>
                  <a:tcPr>
                    <a:solidFill>
                      <a:srgbClr val="FFFFFF"/>
                    </a:solidFill>
                  </a:tcPr>
                </a:tc>
                <a:tc>
                  <a:txBody>
                    <a:bodyPr/>
                    <a:lstStyle/>
                    <a:p>
                      <a:pPr algn="ctr"/>
                      <a:r>
                        <a:rPr sz="800" b="0" i="0">
                          <a:solidFill>
                            <a:srgbClr val="0D0D0D"/>
                          </a:solidFill>
                          <a:latin typeface="Calibri"/>
                        </a:rPr>
                        <a:t>35,2x</a:t>
                      </a:r>
                    </a:p>
                  </a:txBody>
                  <a:tcPr>
                    <a:solidFill>
                      <a:srgbClr val="FFFFFF"/>
                    </a:solidFill>
                  </a:tcPr>
                </a:tc>
                <a:tc>
                  <a:txBody>
                    <a:bodyPr/>
                    <a:lstStyle/>
                    <a:p>
                      <a:pPr algn="ctr"/>
                      <a:r>
                        <a:rPr sz="800" b="0" i="0">
                          <a:solidFill>
                            <a:srgbClr val="0D0D0D"/>
                          </a:solidFill>
                          <a:latin typeface="Calibri"/>
                        </a:rPr>
                        <a:t>72,0 %</a:t>
                      </a:r>
                    </a:p>
                  </a:txBody>
                  <a:tcPr>
                    <a:solidFill>
                      <a:srgbClr val="FFFFFF"/>
                    </a:solidFill>
                  </a:tcPr>
                </a:tc>
                <a:tc>
                  <a:txBody>
                    <a:bodyPr/>
                    <a:lstStyle/>
                    <a:p>
                      <a:pPr algn="ctr"/>
                      <a:r>
                        <a:rPr sz="800" b="0" i="0">
                          <a:solidFill>
                            <a:srgbClr val="0D0D0D"/>
                          </a:solidFill>
                          <a:latin typeface="Calibri"/>
                        </a:rPr>
                        <a:t>25,0 %</a:t>
                      </a:r>
                    </a:p>
                  </a:txBody>
                  <a:tcPr>
                    <a:solidFill>
                      <a:srgbClr val="FFFFFF"/>
                    </a:solidFill>
                  </a:tcPr>
                </a:tc>
              </a:tr>
              <a:tr h="251999">
                <a:tc>
                  <a:txBody>
                    <a:bodyPr/>
                    <a:lstStyle/>
                    <a:p>
                      <a:pPr algn="l"/>
                      <a:r>
                        <a:rPr sz="800" b="0" i="0">
                          <a:solidFill>
                            <a:srgbClr val="0D0D0D"/>
                          </a:solidFill>
                          <a:latin typeface="Calibri"/>
                        </a:rPr>
                        <a:t>Oracle</a:t>
                      </a:r>
                    </a:p>
                  </a:txBody>
                  <a:tcPr>
                    <a:solidFill>
                      <a:srgbClr val="F7F8FA"/>
                    </a:solidFill>
                  </a:tcPr>
                </a:tc>
                <a:tc>
                  <a:txBody>
                    <a:bodyPr/>
                    <a:lstStyle/>
                    <a:p>
                      <a:pPr algn="ctr"/>
                      <a:r>
                        <a:rPr sz="750" b="0" i="0">
                          <a:solidFill>
                            <a:srgbClr val="555555"/>
                          </a:solidFill>
                          <a:latin typeface="Calibri"/>
                        </a:rPr>
                        <a:t>ORCL</a:t>
                      </a:r>
                    </a:p>
                  </a:txBody>
                  <a:tcPr>
                    <a:solidFill>
                      <a:srgbClr val="F7F8FA"/>
                    </a:solidFill>
                  </a:tcPr>
                </a:tc>
                <a:tc>
                  <a:txBody>
                    <a:bodyPr/>
                    <a:lstStyle/>
                    <a:p>
                      <a:pPr algn="ctr"/>
                      <a:r>
                        <a:rPr sz="800" b="0" i="0">
                          <a:solidFill>
                            <a:srgbClr val="0D0D0D"/>
                          </a:solidFill>
                          <a:latin typeface="Calibri"/>
                        </a:rPr>
                        <a:t>320,0</a:t>
                      </a:r>
                    </a:p>
                  </a:txBody>
                  <a:tcPr>
                    <a:solidFill>
                      <a:srgbClr val="F7F8FA"/>
                    </a:solidFill>
                  </a:tcPr>
                </a:tc>
                <a:tc>
                  <a:txBody>
                    <a:bodyPr/>
                    <a:lstStyle/>
                    <a:p>
                      <a:pPr algn="ctr"/>
                      <a:r>
                        <a:rPr sz="800" b="0" i="0">
                          <a:solidFill>
                            <a:srgbClr val="0D0D0D"/>
                          </a:solidFill>
                          <a:latin typeface="Calibri"/>
                        </a:rPr>
                        <a:t>14,1x</a:t>
                      </a:r>
                    </a:p>
                  </a:txBody>
                  <a:tcPr>
                    <a:solidFill>
                      <a:srgbClr val="F7F8FA"/>
                    </a:solidFill>
                  </a:tcPr>
                </a:tc>
                <a:tc>
                  <a:txBody>
                    <a:bodyPr/>
                    <a:lstStyle/>
                    <a:p>
                      <a:pPr algn="ctr"/>
                      <a:r>
                        <a:rPr sz="800" b="0" i="0">
                          <a:solidFill>
                            <a:srgbClr val="0D0D0D"/>
                          </a:solidFill>
                          <a:latin typeface="Calibri"/>
                        </a:rPr>
                        <a:t>5,8x</a:t>
                      </a:r>
                    </a:p>
                  </a:txBody>
                  <a:tcPr>
                    <a:solidFill>
                      <a:srgbClr val="F7F8FA"/>
                    </a:solidFill>
                  </a:tcPr>
                </a:tc>
                <a:tc>
                  <a:txBody>
                    <a:bodyPr/>
                    <a:lstStyle/>
                    <a:p>
                      <a:pPr algn="ctr"/>
                      <a:r>
                        <a:rPr sz="800" b="0" i="0">
                          <a:solidFill>
                            <a:srgbClr val="0D0D0D"/>
                          </a:solidFill>
                          <a:latin typeface="Calibri"/>
                        </a:rPr>
                        <a:t>20,5x</a:t>
                      </a:r>
                    </a:p>
                  </a:txBody>
                  <a:tcPr>
                    <a:solidFill>
                      <a:srgbClr val="F7F8FA"/>
                    </a:solidFill>
                  </a:tcPr>
                </a:tc>
                <a:tc>
                  <a:txBody>
                    <a:bodyPr/>
                    <a:lstStyle/>
                    <a:p>
                      <a:pPr algn="ctr"/>
                      <a:r>
                        <a:rPr sz="800" b="0" i="0">
                          <a:solidFill>
                            <a:srgbClr val="0D0D0D"/>
                          </a:solidFill>
                          <a:latin typeface="Calibri"/>
                        </a:rPr>
                        <a:t>78,0 %</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r>
              <a:tr h="251999">
                <a:tc>
                  <a:txBody>
                    <a:bodyPr/>
                    <a:lstStyle/>
                    <a:p>
                      <a:pPr algn="l"/>
                      <a:r>
                        <a:rPr sz="800" b="0" i="0">
                          <a:solidFill>
                            <a:srgbClr val="0D0D0D"/>
                          </a:solidFill>
                          <a:latin typeface="Calibri"/>
                        </a:rPr>
                        <a:t>IBM</a:t>
                      </a:r>
                    </a:p>
                  </a:txBody>
                  <a:tcPr>
                    <a:solidFill>
                      <a:srgbClr val="FFFFFF"/>
                    </a:solidFill>
                  </a:tcPr>
                </a:tc>
                <a:tc>
                  <a:txBody>
                    <a:bodyPr/>
                    <a:lstStyle/>
                    <a:p>
                      <a:pPr algn="ctr"/>
                      <a:r>
                        <a:rPr sz="750" b="0" i="0">
                          <a:solidFill>
                            <a:srgbClr val="555555"/>
                          </a:solidFill>
                          <a:latin typeface="Calibri"/>
                        </a:rPr>
                        <a:t>IBM</a:t>
                      </a:r>
                    </a:p>
                  </a:txBody>
                  <a:tcPr>
                    <a:solidFill>
                      <a:srgbClr val="FFFFFF"/>
                    </a:solidFill>
                  </a:tcPr>
                </a:tc>
                <a:tc>
                  <a:txBody>
                    <a:bodyPr/>
                    <a:lstStyle/>
                    <a:p>
                      <a:pPr algn="ctr"/>
                      <a:r>
                        <a:rPr sz="800" b="0" i="0">
                          <a:solidFill>
                            <a:srgbClr val="0D0D0D"/>
                          </a:solidFill>
                          <a:latin typeface="Calibri"/>
                        </a:rPr>
                        <a:t>150,0</a:t>
                      </a:r>
                    </a:p>
                  </a:txBody>
                  <a:tcPr>
                    <a:solidFill>
                      <a:srgbClr val="FFFFFF"/>
                    </a:solidFill>
                  </a:tcPr>
                </a:tc>
                <a:tc>
                  <a:txBody>
                    <a:bodyPr/>
                    <a:lstStyle/>
                    <a:p>
                      <a:pPr algn="ctr"/>
                      <a:r>
                        <a:rPr sz="800" b="0" i="0">
                          <a:solidFill>
                            <a:srgbClr val="0D0D0D"/>
                          </a:solidFill>
                          <a:latin typeface="Calibri"/>
                        </a:rPr>
                        <a:t>12,3x</a:t>
                      </a:r>
                    </a:p>
                  </a:txBody>
                  <a:tcPr>
                    <a:solidFill>
                      <a:srgbClr val="FFFFFF"/>
                    </a:solidFill>
                  </a:tcPr>
                </a:tc>
                <a:tc>
                  <a:txBody>
                    <a:bodyPr/>
                    <a:lstStyle/>
                    <a:p>
                      <a:pPr algn="ctr"/>
                      <a:r>
                        <a:rPr sz="800" b="0" i="0">
                          <a:solidFill>
                            <a:srgbClr val="0D0D0D"/>
                          </a:solidFill>
                          <a:latin typeface="Calibri"/>
                        </a:rPr>
                        <a:t>1,8x</a:t>
                      </a:r>
                    </a:p>
                  </a:txBody>
                  <a:tcPr>
                    <a:solidFill>
                      <a:srgbClr val="FFFFFF"/>
                    </a:solidFill>
                  </a:tcPr>
                </a:tc>
                <a:tc>
                  <a:txBody>
                    <a:bodyPr/>
                    <a:lstStyle/>
                    <a:p>
                      <a:pPr algn="ctr"/>
                      <a:r>
                        <a:rPr sz="800" b="0" i="0">
                          <a:solidFill>
                            <a:srgbClr val="0D0D0D"/>
                          </a:solidFill>
                          <a:latin typeface="Calibri"/>
                        </a:rPr>
                        <a:t>18,7x</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15,2x</a:t>
                      </a:r>
                    </a:p>
                  </a:txBody>
                  <a:tcPr>
                    <a:solidFill>
                      <a:srgbClr val="F7F8FA"/>
                    </a:solidFill>
                  </a:tcPr>
                </a:tc>
                <a:tc>
                  <a:txBody>
                    <a:bodyPr/>
                    <a:lstStyle/>
                    <a:p>
                      <a:pPr algn="ctr"/>
                      <a:r>
                        <a:rPr sz="800" b="1" i="0">
                          <a:solidFill>
                            <a:srgbClr val="0D0D0D"/>
                          </a:solidFill>
                          <a:latin typeface="Calibri"/>
                        </a:rPr>
                        <a:t>5,8x</a:t>
                      </a:r>
                    </a:p>
                  </a:txBody>
                  <a:tcPr>
                    <a:solidFill>
                      <a:srgbClr val="F7F8FA"/>
                    </a:solidFill>
                  </a:tcPr>
                </a:tc>
                <a:tc>
                  <a:txBody>
                    <a:bodyPr/>
                    <a:lstStyle/>
                    <a:p>
                      <a:pPr algn="ctr"/>
                      <a:r>
                        <a:rPr sz="800" b="1" i="0">
                          <a:solidFill>
                            <a:srgbClr val="0D0D0D"/>
                          </a:solidFill>
                          <a:latin typeface="Calibri"/>
                        </a:rPr>
                        <a:t>22,1x</a:t>
                      </a:r>
                    </a:p>
                  </a:txBody>
                  <a:tcPr>
                    <a:solidFill>
                      <a:srgbClr val="F7F8FA"/>
                    </a:solidFill>
                  </a:tcPr>
                </a:tc>
                <a:tc>
                  <a:txBody>
                    <a:bodyPr/>
                    <a:lstStyle/>
                    <a:p>
                      <a:pPr algn="ctr"/>
                      <a:r>
                        <a:rPr sz="800" b="1" i="0">
                          <a:solidFill>
                            <a:srgbClr val="0D0D0D"/>
                          </a:solidFill>
                          <a:latin typeface="Calibri"/>
                        </a:rPr>
                        <a:t>57,0 %</a:t>
                      </a:r>
                    </a:p>
                  </a:txBody>
                  <a:tcPr>
                    <a:solidFill>
                      <a:srgbClr val="F7F8FA"/>
                    </a:solidFill>
                  </a:tcPr>
                </a:tc>
                <a:tc>
                  <a:txBody>
                    <a:bodyPr/>
                    <a:lstStyle/>
                    <a:p>
                      <a:pPr algn="ctr"/>
                      <a:r>
                        <a:rPr sz="800" b="1" i="0">
                          <a:solidFill>
                            <a:srgbClr val="0D0D0D"/>
                          </a:solidFill>
                          <a:latin typeface="Calibri"/>
                        </a:rPr>
                        <a:t>28,0 %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Microsoft se traite à une décote de 20% sur EV/EBITDA (17.4x vs médiane peers 22x) et à une prime de 10% sur P/E (27.2x vs 24.5x médiane). Cette décote est injustifiée compte tenu de sa croissance supérieure (+25% vs +15% peers) et de sa qualité d'actifs (Azure 24% part de marché vs AWS 31%). Une convergence vers la médiane peers impliquerait un upside de 25% sur le multiple EV/EBITDA.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 TGR de 3.0%, le DCF implicite suggère un prix de 420 USD (base), soit un upside de 13% vs cours actuel. La prime actuelle semble justifiée par la croissance durable des revenus récurrents et la résilience des marges, mais un ralentissement de l'adoption cloud ou une régulation stricte pourrait compresser la valorisation.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Croissance cloud en déclin</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La croissance du cloud Azure ralentit à 29% en 2024 contre 49% en 2021, bien en dessous des 35% estimés par les analystes pour 2025 ; AWS et GCP maintiennent des parts de marché supérieures à 33% chacune, menaçant la domination de Microsoft.</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Marges sous pression</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Les marges brutes de 68,8% reposent sur des coûts d'infrastructure cloud en hausse de 22% par an, érodant progressivement la rentabilité à long terme.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Surévaluation flagrante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 P/E de 27,23x dépasse de 40% la moyenne sectorielle des géants tech, reflétant une surévaluation de 180 milliards de dollars selon les modèles DCF ajustés pour la croissance ralentie.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prolongée (-3% PIB US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Baisse des dépenses IT des entreprises (-10% en 2026)</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de l'intégration de l'IA dans Azure (part de marché chute à 20%)</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53/100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(0.70x)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(7%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Tres soutenable (3.9x)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+0,239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47,0 %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11</a:t>
                      </a:r>
                    </a:p>
                  </a:txBody>
                  <a:tcPr>
                    <a:solidFill>
                      <a:srgbClr val="EAF4EF"/>
                    </a:solidFill>
                  </a:tcPr>
                </a:tc>
                <a:tc>
                  <a:txBody>
                    <a:bodyPr/>
                    <a:lstStyle/>
                    <a:p>
                      <a:pPr algn="ctr"/>
                      <a:r>
                        <a:rPr sz="800" b="0" i="0">
                          <a:solidFill>
                            <a:srgbClr val="0D0D0D"/>
                          </a:solidFill>
                          <a:latin typeface="Calibri"/>
                        </a:rPr>
                        <a:t>+0,385</a:t>
                      </a:r>
                    </a:p>
                  </a:txBody>
                  <a:tcPr>
                    <a:solidFill>
                      <a:srgbClr val="EAF4EF"/>
                    </a:solidFill>
                  </a:tcPr>
                </a:tc>
                <a:tc>
                  <a:txBody>
                    <a:bodyPr/>
                    <a:lstStyle/>
                    <a:p>
                      <a:pPr algn="ctr"/>
                      <a:r>
                        <a:rPr sz="800" b="0" i="0">
                          <a:solidFill>
                            <a:srgbClr val="0D0D0D"/>
                          </a:solidFill>
                          <a:latin typeface="Calibri"/>
                        </a:rPr>
                        <a:t>Adoption massive d'Azure: +25% YoY en 2025 avec 200M utilisateurs actifs, générant 12 Mds USD de revenus supplémentaires | Horizon: 2025-2027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+0,470</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3</a:t>
                      </a:r>
                    </a:p>
                  </a:txBody>
                  <a:tcPr>
                    <a:solidFill>
                      <a:srgbClr val="FAF0EF"/>
                    </a:solidFill>
                  </a:tcPr>
                </a:tc>
                <a:tc>
                  <a:txBody>
                    <a:bodyPr/>
                    <a:lstStyle/>
                    <a:p>
                      <a:pPr algn="ctr"/>
                      <a:r>
                        <a:rPr sz="800" b="0" i="0">
                          <a:solidFill>
                            <a:srgbClr val="0D0D0D"/>
                          </a:solidFill>
                          <a:latin typeface="Calibri"/>
                        </a:rPr>
                        <a:t>+0,145</a:t>
                      </a:r>
                    </a:p>
                  </a:txBody>
                  <a:tcPr>
                    <a:solidFill>
                      <a:srgbClr val="FAF0EF"/>
                    </a:solidFill>
                  </a:tcPr>
                </a:tc>
                <a:tc>
                  <a:txBody>
                    <a:bodyPr/>
                    <a:lstStyle/>
                    <a:p>
                      <a:pPr algn="ctr"/>
                      <a:r>
                        <a:rPr sz="800" b="0" i="0">
                          <a:solidFill>
                            <a:srgbClr val="0D0D0D"/>
                          </a:solidFill>
                          <a:latin typeface="Calibri"/>
                        </a:rPr>
                        <a:t>Régulation antitrust: amende potentielle de 20 Mds USD si condamnation pour abus de position dominante sur le cloud | Horizon: 2026-2027, ampleur: -8% de valorisation</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souligne cette semaine l’engagement massif de Microsoft dans l’IA avec des investissements stratégiques comme le partenariat japonais de 10 milliards de dollars. Les analystes restent cependant prudents face à un possible décalage entre les promesses de l’IA et les résultats concrets, comme le suggère l’analyse des 84 appels earnings.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5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106799"/>
            <a:ext cx="8413200" cy="1004400"/>
          </a:xfrm>
          <a:prstGeom prst="rect">
            <a:avLst/>
          </a:prstGeom>
          <a:noFill/>
        </p:spPr>
        <p:txBody>
          <a:bodyPr wrap="square">
            <a:spAutoFit/>
          </a:bodyPr>
          <a:lstStyle/>
          <a:p>
            <a:pPr algn="l"/>
            <a:r>
              <a:rPr sz="850" b="0" i="0">
                <a:solidFill>
                  <a:srgbClr val="555555"/>
                </a:solidFill>
                <a:latin typeface="Calibri"/>
              </a:rPr>
              <a:t>Microsoft se traite à une décote de 20% vs ses pairs sur EV/EBITDA (17.4x vs 22x médiane), malgré une croissance supérieure et une qualité d'actifs inégalée. La prime de 5-10% sur P/E (27.2x) semble justifiée par la visibilité des revenus récurrents.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USD  ·  Au 5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373,46 $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370,17 $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-18,3 %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044207"/>
            <a:ext cx="498636" cy="85099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2705616"/>
            <a:ext cx="498636" cy="118958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2622765"/>
            <a:ext cx="498636" cy="127243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514484"/>
            <a:ext cx="498636" cy="138071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515742"/>
            <a:ext cx="498636" cy="137945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746682"/>
            <a:ext cx="498636" cy="114851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813627"/>
            <a:ext cx="498636" cy="108157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3291770"/>
            <a:ext cx="498636" cy="60342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3628384"/>
            <a:ext cx="498636" cy="26681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3793636"/>
            <a:ext cx="498636" cy="101563"/>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370</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423</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477</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530</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Microsoft affiche une résilience opérationnelle exceptionnelle avec des marges nettes stables &gt;36% et une croissance organique soutenue. La valorisation reste attractive malgré une prime modérée vs peers, justifiée par la qualité des actifs et la visibilité des revenus récurrents.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