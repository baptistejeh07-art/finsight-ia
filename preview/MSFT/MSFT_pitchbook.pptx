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457200" y="2617297"/>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617297"/>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635297"/>
            <a:ext cx="8063999" cy="439200"/>
          </a:xfrm>
          <a:prstGeom prst="rect">
            <a:avLst/>
          </a:prstGeom>
          <a:noFill/>
        </p:spPr>
        <p:txBody>
          <a:bodyPr wrap="square">
            <a:spAutoFit/>
          </a:bodyPr>
          <a:lstStyle/>
          <a:p>
            <a:pPr algn="ctr"/>
            <a:r>
              <a:rPr sz="900" b="1" i="0">
                <a:solidFill>
                  <a:srgbClr val="1A7A4A"/>
                </a:solidFill>
                <a:latin typeface="Calibri"/>
              </a:rPr>
              <a:t>● BUY  ·  Prix cible base : 385 $  ·  Upside : +7,9 %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385 $  ·  Upside : +7,9 %  ·  Bear : 340 $ (-4,7 %)  ·  Bull : 420 $ (+17,7 %)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IA</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du CA cloud à +30% en 2026 grâce à l'adoption massive de Copilot et Azure AI</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Cloud scale</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Marges EBITDA à 58% en 2026 avec levier opérationnel sur les coûts fixes et mix produit favorable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Effet réseau</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Génération de cash libre de 75Md$ en 2026, soit +15% YoY, renforçant la capacité d'acquisitions ciblées.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antitrust européenne sur les pratiques cloud | Amende potentielle de 5-10Md$ | Horizon 12-18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cloud</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de Google Cloud et AWS sur les prix | Baisse des prix Azure de -15% en 2026 | Horizon 2026-2027</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macro</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macro en Chine (-20% croissance cloud) | Impact sur les revenus de 8Md$ | Horizon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16,6x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14,2x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+7,9 %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+0,082</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cloud</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domine les logiciels (Windows, Office) et le cloud (Azure) avec une intégration verticale unique. Positionnement premium via partenariats stratégiques (OpenAI) et écosystème fermé (Teams, GitHub). Avantages clés : puissance de R&amp;D, effet réseau, et monétisation récurrente des licences et services cloud.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Productivity and Business Processes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incluant Office 365, LinkedIn et Dynamics 365 avec abonnements récurrents. Croissance portée par l'adoption du cloud et l'IA intégrée. Clients : entreprises et particuliers. Moteurs : migration vers SaaS et automatisation des processus métiers.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Intelligent Cloud</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Plateforme Azure et services cloud (SQL Server, GitHub) avec modèle pay-as-you-go. Clients : entreprises de toutes tailles. Croissance à 2 chiffres soutenue par l'IA et la demande en infrastructure scalable. Marges élevées grâce à l'effet de levier opérationnel.</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2 649,2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356,77 $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16,6x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26,0x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28%</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Productivity and Business Processes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incluant Office 365, LinkedIn et Dynamics 365 avec abonnements récurrents. Croissance portée par l'adoption du cloud et l'IA intégrée. Clients : entreprises et particuliers. Moteurs : migration vers SaaS et automatisation des processus métiers.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41%</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Intelligent Cloud</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Plateforme Azure et services cloud (SQL Server, GitHub) avec modèle pay-as-you-go. Clients : entreprises de toutes tailles. Croissance à 2 chiffres soutenue par l'IA et la demande en infrastructure scalable. Marges élevées grâce à l'effet de levier opérationnel.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325,0</a:t>
                      </a:r>
                    </a:p>
                  </a:txBody>
                  <a:tcPr>
                    <a:solidFill>
                      <a:srgbClr val="FFFFFF"/>
                    </a:solidFill>
                  </a:tcPr>
                </a:tc>
                <a:tc>
                  <a:txBody>
                    <a:bodyPr/>
                    <a:lstStyle/>
                    <a:p>
                      <a:pPr algn="ctr"/>
                      <a:r>
                        <a:rPr sz="800" b="1" i="0">
                          <a:solidFill>
                            <a:srgbClr val="0D0D0D"/>
                          </a:solidFill>
                          <a:latin typeface="Calibri"/>
                        </a:rPr>
                        <a:t>375,0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+15,4 %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225,9</a:t>
                      </a:r>
                    </a:p>
                  </a:txBody>
                  <a:tcPr>
                    <a:solidFill>
                      <a:srgbClr val="FFFFFF"/>
                    </a:solidFill>
                  </a:tcPr>
                </a:tc>
                <a:tc>
                  <a:txBody>
                    <a:bodyPr/>
                    <a:lstStyle/>
                    <a:p>
                      <a:pPr algn="ctr"/>
                      <a:r>
                        <a:rPr sz="800" b="1" i="0">
                          <a:solidFill>
                            <a:srgbClr val="0D0D0D"/>
                          </a:solidFill>
                          <a:latin typeface="Calibri"/>
                        </a:rPr>
                        <a:t>262,5</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c>
                  <a:txBody>
                    <a:bodyPr/>
                    <a:lstStyle/>
                    <a:p>
                      <a:pPr algn="ctr"/>
                      <a:r>
                        <a:rPr sz="750" b="0" i="1">
                          <a:solidFill>
                            <a:srgbClr val="555555"/>
                          </a:solidFill>
                          <a:latin typeface="Calibri"/>
                        </a:rPr>
                        <a:t>69,5 %</a:t>
                      </a:r>
                    </a:p>
                  </a:txBody>
                  <a:tcPr>
                    <a:solidFill>
                      <a:srgbClr val="F7F8FA"/>
                    </a:solidFill>
                  </a:tcPr>
                </a:tc>
                <a:tc>
                  <a:txBody>
                    <a:bodyPr/>
                    <a:lstStyle/>
                    <a:p>
                      <a:pPr algn="ctr"/>
                      <a:r>
                        <a:rPr sz="750" b="0" i="1">
                          <a:solidFill>
                            <a:srgbClr val="555555"/>
                          </a:solidFill>
                          <a:latin typeface="Calibri"/>
                        </a:rPr>
                        <a:t>70,0 %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187,0</a:t>
                      </a:r>
                    </a:p>
                  </a:txBody>
                  <a:tcPr>
                    <a:solidFill>
                      <a:srgbClr val="FFFFFF"/>
                    </a:solidFill>
                  </a:tcPr>
                </a:tc>
                <a:tc>
                  <a:txBody>
                    <a:bodyPr/>
                    <a:lstStyle/>
                    <a:p>
                      <a:pPr algn="ctr"/>
                      <a:r>
                        <a:rPr sz="800" b="1" i="0">
                          <a:solidFill>
                            <a:srgbClr val="0D0D0D"/>
                          </a:solidFill>
                          <a:latin typeface="Calibri"/>
                        </a:rPr>
                        <a:t>222,0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c>
                  <a:txBody>
                    <a:bodyPr/>
                    <a:lstStyle/>
                    <a:p>
                      <a:pPr algn="ctr"/>
                      <a:r>
                        <a:rPr sz="750" b="0" i="1">
                          <a:solidFill>
                            <a:srgbClr val="555555"/>
                          </a:solidFill>
                          <a:latin typeface="Calibri"/>
                        </a:rPr>
                        <a:t>57,5 %</a:t>
                      </a:r>
                    </a:p>
                  </a:txBody>
                  <a:tcPr>
                    <a:solidFill>
                      <a:srgbClr val="F7F8FA"/>
                    </a:solidFill>
                  </a:tcPr>
                </a:tc>
                <a:tc>
                  <a:txBody>
                    <a:bodyPr/>
                    <a:lstStyle/>
                    <a:p>
                      <a:pPr algn="ctr"/>
                      <a:r>
                        <a:rPr sz="750" b="0" i="1">
                          <a:solidFill>
                            <a:srgbClr val="555555"/>
                          </a:solidFill>
                          <a:latin typeface="Calibri"/>
                        </a:rPr>
                        <a:t>59,2 %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141,0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c>
                  <a:txBody>
                    <a:bodyPr/>
                    <a:lstStyle/>
                    <a:p>
                      <a:pPr algn="ctr"/>
                      <a:r>
                        <a:rPr sz="750" b="0" i="1">
                          <a:solidFill>
                            <a:srgbClr val="555555"/>
                          </a:solidFill>
                          <a:latin typeface="Calibri"/>
                        </a:rPr>
                        <a:t>36,3 %</a:t>
                      </a:r>
                    </a:p>
                  </a:txBody>
                  <a:tcPr>
                    <a:solidFill>
                      <a:srgbClr val="F7F8FA"/>
                    </a:solidFill>
                  </a:tcPr>
                </a:tc>
                <a:tc>
                  <a:txBody>
                    <a:bodyPr/>
                    <a:lstStyle/>
                    <a:p>
                      <a:pPr algn="ctr"/>
                      <a:r>
                        <a:rPr sz="750" b="0" i="1">
                          <a:solidFill>
                            <a:srgbClr val="555555"/>
                          </a:solidFill>
                          <a:latin typeface="Calibri"/>
                        </a:rPr>
                        <a:t>37,6 %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à +14.9% en 2025 portée par le cloud (+25%) et les services récurrents. Marges nettes stables à ~36% grâce à la discipline des coûts et au mix produit (Azure &gt;50% EBITDA). Cash généré de 80Md$ en 2025, soit ROIC de 30.1%, soutenant les investissements en R&amp;D et acquisitions.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7,56</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à +14.9% en 2025 portée par le cloud (+25%) et les services récurrents. Marges nettes stables à ~36% grâce à la discipline des coûts et au mix produit (Azure &gt;50% EBITDA). Cash généré de 80Md$ en 2025, soit ROIC de 30.1%, soutenant les investissements en R&amp;D et acquisitions.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7,56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stables à ~69% (2022-2025) reflétant un pricing power élevé et des coûts de production optimisés. EBITDA margin en hausse de +630bps depuis 2022 grâce au mix cloud (Azure margin ~70%) et aux économies d'échelle. Nette margin à 36% durable avec un levier opérationnel de 85% sur les coûts fixes.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356,77 $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340 $</a:t>
                      </a:r>
                    </a:p>
                  </a:txBody>
                  <a:tcPr>
                    <a:solidFill>
                      <a:srgbClr val="FAF0EF"/>
                    </a:solidFill>
                  </a:tcPr>
                </a:tc>
                <a:tc>
                  <a:txBody>
                    <a:bodyPr/>
                    <a:lstStyle/>
                    <a:p>
                      <a:pPr algn="ctr"/>
                      <a:r>
                        <a:rPr sz="2000" b="1" i="0">
                          <a:solidFill>
                            <a:srgbClr val="2E5FA3"/>
                          </a:solidFill>
                          <a:latin typeface="Calibri"/>
                        </a:rPr>
                        <a:t>385 $</a:t>
                      </a:r>
                    </a:p>
                  </a:txBody>
                  <a:tcPr>
                    <a:solidFill>
                      <a:srgbClr val="EEF3FA"/>
                    </a:solidFill>
                  </a:tcPr>
                </a:tc>
                <a:tc>
                  <a:txBody>
                    <a:bodyPr/>
                    <a:lstStyle/>
                    <a:p>
                      <a:pPr algn="ctr"/>
                      <a:r>
                        <a:rPr sz="2000" b="1" i="0">
                          <a:solidFill>
                            <a:srgbClr val="1A7A4A"/>
                          </a:solidFill>
                          <a:latin typeface="Calibri"/>
                        </a:rPr>
                        <a:t>420 $</a:t>
                      </a:r>
                    </a:p>
                  </a:txBody>
                  <a:tcPr>
                    <a:solidFill>
                      <a:srgbClr val="EAF4EF"/>
                    </a:solidFill>
                  </a:tcPr>
                </a:tc>
              </a:tr>
              <a:tr h="342900">
                <a:tc>
                  <a:txBody>
                    <a:bodyPr/>
                    <a:lstStyle/>
                    <a:p>
                      <a:pPr algn="ctr"/>
                      <a:r>
                        <a:rPr sz="1200" b="1" i="0">
                          <a:solidFill>
                            <a:srgbClr val="A82020"/>
                          </a:solidFill>
                          <a:latin typeface="Calibri"/>
                        </a:rPr>
                        <a:t>-4,7 %</a:t>
                      </a:r>
                    </a:p>
                  </a:txBody>
                  <a:tcPr>
                    <a:solidFill>
                      <a:srgbClr val="FAF0EF"/>
                    </a:solidFill>
                  </a:tcPr>
                </a:tc>
                <a:tc>
                  <a:txBody>
                    <a:bodyPr/>
                    <a:lstStyle/>
                    <a:p>
                      <a:pPr algn="ctr"/>
                      <a:r>
                        <a:rPr sz="1200" b="1" i="0">
                          <a:solidFill>
                            <a:srgbClr val="2E5FA3"/>
                          </a:solidFill>
                          <a:latin typeface="Calibri"/>
                        </a:rPr>
                        <a:t>+7,9 %</a:t>
                      </a:r>
                    </a:p>
                  </a:txBody>
                  <a:tcPr>
                    <a:solidFill>
                      <a:srgbClr val="EEF3FA"/>
                    </a:solidFill>
                  </a:tcPr>
                </a:tc>
                <a:tc>
                  <a:txBody>
                    <a:bodyPr/>
                    <a:lstStyle/>
                    <a:p>
                      <a:pPr algn="ctr"/>
                      <a:r>
                        <a:rPr sz="1200" b="1" i="0">
                          <a:solidFill>
                            <a:srgbClr val="1A7A4A"/>
                          </a:solidFill>
                          <a:latin typeface="Calibri"/>
                        </a:rPr>
                        <a:t>+17,7 %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à 10.4% et TGR à 3.0% impliquent un prix implicite DCF de 395$ (vs 356.77$ actuel), soit +11% d'upside. La prime reflète une sous-valorisation structurelle liée à la croissance durable de l'IA et du cloud. Catalyseur clé : adoption de Copilot à 50% des entreprises d'ici 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2 649,2</a:t>
                      </a:r>
                    </a:p>
                  </a:txBody>
                  <a:tcPr>
                    <a:solidFill>
                      <a:srgbClr val="DDE8F5"/>
                    </a:solidFill>
                  </a:tcPr>
                </a:tc>
                <a:tc>
                  <a:txBody>
                    <a:bodyPr/>
                    <a:lstStyle/>
                    <a:p>
                      <a:pPr algn="ctr"/>
                      <a:r>
                        <a:rPr sz="800" b="1" i="0">
                          <a:solidFill>
                            <a:srgbClr val="1B3A6B"/>
                          </a:solidFill>
                          <a:latin typeface="Calibri"/>
                        </a:rPr>
                        <a:t>16,6x</a:t>
                      </a:r>
                    </a:p>
                  </a:txBody>
                  <a:tcPr>
                    <a:solidFill>
                      <a:srgbClr val="DDE8F5"/>
                    </a:solidFill>
                  </a:tcPr>
                </a:tc>
                <a:tc>
                  <a:txBody>
                    <a:bodyPr/>
                    <a:lstStyle/>
                    <a:p>
                      <a:pPr algn="ctr"/>
                      <a:r>
                        <a:rPr sz="800" b="1" i="0">
                          <a:solidFill>
                            <a:srgbClr val="1B3A6B"/>
                          </a:solidFill>
                          <a:latin typeface="Calibri"/>
                        </a:rPr>
                        <a:t>9,4x</a:t>
                      </a:r>
                    </a:p>
                  </a:txBody>
                  <a:tcPr>
                    <a:solidFill>
                      <a:srgbClr val="DDE8F5"/>
                    </a:solidFill>
                  </a:tcPr>
                </a:tc>
                <a:tc>
                  <a:txBody>
                    <a:bodyPr/>
                    <a:lstStyle/>
                    <a:p>
                      <a:pPr algn="ctr"/>
                      <a:r>
                        <a:rPr sz="800" b="1" i="0">
                          <a:solidFill>
                            <a:srgbClr val="1B3A6B"/>
                          </a:solidFill>
                          <a:latin typeface="Calibri"/>
                        </a:rPr>
                        <a:t>26,0x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2 200,0</a:t>
                      </a:r>
                    </a:p>
                  </a:txBody>
                  <a:tcPr>
                    <a:solidFill>
                      <a:srgbClr val="FFFFFF"/>
                    </a:solidFill>
                  </a:tcPr>
                </a:tc>
                <a:tc>
                  <a:txBody>
                    <a:bodyPr/>
                    <a:lstStyle/>
                    <a:p>
                      <a:pPr algn="ctr"/>
                      <a:r>
                        <a:rPr sz="800" b="0" i="0">
                          <a:solidFill>
                            <a:srgbClr val="0D0D0D"/>
                          </a:solidFill>
                          <a:latin typeface="Calibri"/>
                        </a:rPr>
                        <a:t>14,2x</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56,0 %</a:t>
                      </a:r>
                    </a:p>
                  </a:txBody>
                  <a:tcPr>
                    <a:solidFill>
                      <a:srgbClr val="FFFFFF"/>
                    </a:solidFill>
                  </a:tcPr>
                </a:tc>
                <a:tc>
                  <a:txBody>
                    <a:bodyPr/>
                    <a:lstStyle/>
                    <a:p>
                      <a:pPr algn="ctr"/>
                      <a:r>
                        <a:rPr sz="800" b="0" i="0">
                          <a:solidFill>
                            <a:srgbClr val="0D0D0D"/>
                          </a:solidFill>
                          <a:latin typeface="Calibri"/>
                        </a:rPr>
                        <a:t>32,0 %</a:t>
                      </a:r>
                    </a:p>
                  </a:txBody>
                  <a:tcPr>
                    <a:solidFill>
                      <a:srgbClr val="FFFFFF"/>
                    </a:solidFill>
                  </a:tcPr>
                </a:tc>
              </a:tr>
              <a:tr h="251999">
                <a:tc>
                  <a:txBody>
                    <a:bodyPr/>
                    <a:lstStyle/>
                    <a:p>
                      <a:pPr algn="l"/>
                      <a:r>
                        <a:rPr sz="800" b="0" i="0">
                          <a:solidFill>
                            <a:srgbClr val="0D0D0D"/>
                          </a:solidFill>
                          <a:latin typeface="Calibri"/>
                        </a:rPr>
                        <a:t>Amazon</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1 850,0</a:t>
                      </a:r>
                    </a:p>
                  </a:txBody>
                  <a:tcPr>
                    <a:solidFill>
                      <a:srgbClr val="F7F8FA"/>
                    </a:solidFill>
                  </a:tcPr>
                </a:tc>
                <a:tc>
                  <a:txBody>
                    <a:bodyPr/>
                    <a:lstStyle/>
                    <a:p>
                      <a:pPr algn="ctr"/>
                      <a:r>
                        <a:rPr sz="800" b="0" i="0">
                          <a:solidFill>
                            <a:srgbClr val="0D0D0D"/>
                          </a:solidFill>
                          <a:latin typeface="Calibri"/>
                        </a:rPr>
                        <a:t>15,8x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55,0x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r>
              <a:tr h="251999">
                <a:tc>
                  <a:txBody>
                    <a:bodyPr/>
                    <a:lstStyle/>
                    <a:p>
                      <a:pPr algn="l"/>
                      <a:r>
                        <a:rPr sz="800" b="0" i="0">
                          <a:solidFill>
                            <a:srgbClr val="0D0D0D"/>
                          </a:solidFill>
                          <a:latin typeface="Calibri"/>
                        </a:rPr>
                        <a:t>Salesforce</a:t>
                      </a:r>
                    </a:p>
                  </a:txBody>
                  <a:tcPr>
                    <a:solidFill>
                      <a:srgbClr val="FFFFFF"/>
                    </a:solidFill>
                  </a:tcPr>
                </a:tc>
                <a:tc>
                  <a:txBody>
                    <a:bodyPr/>
                    <a:lstStyle/>
                    <a:p>
                      <a:pPr algn="ctr"/>
                      <a:r>
                        <a:rPr sz="750" b="0" i="0">
                          <a:solidFill>
                            <a:srgbClr val="555555"/>
                          </a:solidFill>
                          <a:latin typeface="Calibri"/>
                        </a:rPr>
                        <a:t>CRM</a:t>
                      </a:r>
                    </a:p>
                  </a:txBody>
                  <a:tcPr>
                    <a:solidFill>
                      <a:srgbClr val="FFFFFF"/>
                    </a:solidFill>
                  </a:tcPr>
                </a:tc>
                <a:tc>
                  <a:txBody>
                    <a:bodyPr/>
                    <a:lstStyle/>
                    <a:p>
                      <a:pPr algn="ctr"/>
                      <a:r>
                        <a:rPr sz="800" b="0" i="0">
                          <a:solidFill>
                            <a:srgbClr val="0D0D0D"/>
                          </a:solidFill>
                          <a:latin typeface="Calibri"/>
                        </a:rPr>
                        <a:t>280,0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6,1x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75,0 %</a:t>
                      </a:r>
                    </a:p>
                  </a:txBody>
                  <a:tcPr>
                    <a:solidFill>
                      <a:srgbClr val="FFFFFF"/>
                    </a:solidFill>
                  </a:tcPr>
                </a:tc>
                <a:tc>
                  <a:txBody>
                    <a:bodyPr/>
                    <a:lstStyle/>
                    <a:p>
                      <a:pPr algn="ctr"/>
                      <a:r>
                        <a:rPr sz="800" b="0" i="0">
                          <a:solidFill>
                            <a:srgbClr val="0D0D0D"/>
                          </a:solidFill>
                          <a:latin typeface="Calibri"/>
                        </a:rPr>
                        <a:t>28,0 %</a:t>
                      </a:r>
                    </a:p>
                  </a:txBody>
                  <a:tcPr>
                    <a:solidFill>
                      <a:srgbClr val="FFFFFF"/>
                    </a:solidFill>
                  </a:tcPr>
                </a:tc>
              </a:tr>
              <a:tr h="251999">
                <a:tc>
                  <a:txBody>
                    <a:bodyPr/>
                    <a:lstStyle/>
                    <a:p>
                      <a:pPr algn="l"/>
                      <a:r>
                        <a:rPr sz="800" b="0" i="0">
                          <a:solidFill>
                            <a:srgbClr val="0D0D0D"/>
                          </a:solidFill>
                          <a:latin typeface="Calibri"/>
                        </a:rPr>
                        <a:t>Oracle</a:t>
                      </a:r>
                    </a:p>
                  </a:txBody>
                  <a:tcPr>
                    <a:solidFill>
                      <a:srgbClr val="F7F8FA"/>
                    </a:solidFill>
                  </a:tcPr>
                </a:tc>
                <a:tc>
                  <a:txBody>
                    <a:bodyPr/>
                    <a:lstStyle/>
                    <a:p>
                      <a:pPr algn="ctr"/>
                      <a:r>
                        <a:rPr sz="750" b="0" i="0">
                          <a:solidFill>
                            <a:srgbClr val="555555"/>
                          </a:solidFill>
                          <a:latin typeface="Calibri"/>
                        </a:rPr>
                        <a:t>ORCL</a:t>
                      </a:r>
                    </a:p>
                  </a:txBody>
                  <a:tcPr>
                    <a:solidFill>
                      <a:srgbClr val="F7F8FA"/>
                    </a:solidFill>
                  </a:tcPr>
                </a:tc>
                <a:tc>
                  <a:txBody>
                    <a:bodyPr/>
                    <a:lstStyle/>
                    <a:p>
                      <a:pPr algn="ctr"/>
                      <a:r>
                        <a:rPr sz="800" b="0" i="0">
                          <a:solidFill>
                            <a:srgbClr val="0D0D0D"/>
                          </a:solidFill>
                          <a:latin typeface="Calibri"/>
                        </a:rPr>
                        <a:t>320,0</a:t>
                      </a:r>
                    </a:p>
                  </a:txBody>
                  <a:tcPr>
                    <a:solidFill>
                      <a:srgbClr val="F7F8FA"/>
                    </a:solidFill>
                  </a:tcPr>
                </a:tc>
                <a:tc>
                  <a:txBody>
                    <a:bodyPr/>
                    <a:lstStyle/>
                    <a:p>
                      <a:pPr algn="ctr"/>
                      <a:r>
                        <a:rPr sz="800" b="0" i="0">
                          <a:solidFill>
                            <a:srgbClr val="0D0D0D"/>
                          </a:solidFill>
                          <a:latin typeface="Calibri"/>
                        </a:rPr>
                        <a:t>13,5x</a:t>
                      </a:r>
                    </a:p>
                  </a:txBody>
                  <a:tcPr>
                    <a:solidFill>
                      <a:srgbClr val="F7F8FA"/>
                    </a:solidFill>
                  </a:tcPr>
                </a:tc>
                <a:tc>
                  <a:txBody>
                    <a:bodyPr/>
                    <a:lstStyle/>
                    <a:p>
                      <a:pPr algn="ctr"/>
                      <a:r>
                        <a:rPr sz="800" b="0" i="0">
                          <a:solidFill>
                            <a:srgbClr val="0D0D0D"/>
                          </a:solidFill>
                          <a:latin typeface="Calibri"/>
                        </a:rPr>
                        <a:t>5,8x</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80,0 %</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r>
              <a:tr h="251999">
                <a:tc>
                  <a:txBody>
                    <a:bodyPr/>
                    <a:lstStyle/>
                    <a:p>
                      <a:pPr algn="l"/>
                      <a:r>
                        <a:rPr sz="800" b="0" i="0">
                          <a:solidFill>
                            <a:srgbClr val="0D0D0D"/>
                          </a:solidFill>
                          <a:latin typeface="Calibri"/>
                        </a:rPr>
                        <a:t>IBM</a:t>
                      </a:r>
                    </a:p>
                  </a:txBody>
                  <a:tcPr>
                    <a:solidFill>
                      <a:srgbClr val="FFFFFF"/>
                    </a:solidFill>
                  </a:tcPr>
                </a:tc>
                <a:tc>
                  <a:txBody>
                    <a:bodyPr/>
                    <a:lstStyle/>
                    <a:p>
                      <a:pPr algn="ctr"/>
                      <a:r>
                        <a:rPr sz="750" b="0" i="0">
                          <a:solidFill>
                            <a:srgbClr val="555555"/>
                          </a:solidFill>
                          <a:latin typeface="Calibri"/>
                        </a:rPr>
                        <a:t>IBM</a:t>
                      </a:r>
                    </a:p>
                  </a:txBody>
                  <a:tcPr>
                    <a:solidFill>
                      <a:srgbClr val="FFFFFF"/>
                    </a:solidFill>
                  </a:tcPr>
                </a:tc>
                <a:tc>
                  <a:txBody>
                    <a:bodyPr/>
                    <a:lstStyle/>
                    <a:p>
                      <a:pPr algn="ctr"/>
                      <a:r>
                        <a:rPr sz="800" b="0" i="0">
                          <a:solidFill>
                            <a:srgbClr val="0D0D0D"/>
                          </a:solidFill>
                          <a:latin typeface="Calibri"/>
                        </a:rPr>
                        <a:t>150,0</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14,2x</a:t>
                      </a:r>
                    </a:p>
                  </a:txBody>
                  <a:tcPr>
                    <a:solidFill>
                      <a:srgbClr val="F7F8FA"/>
                    </a:solidFill>
                  </a:tcPr>
                </a:tc>
                <a:tc>
                  <a:txBody>
                    <a:bodyPr/>
                    <a:lstStyle/>
                    <a:p>
                      <a:pPr algn="ctr"/>
                      <a:r>
                        <a:rPr sz="800" b="1" i="0">
                          <a:solidFill>
                            <a:srgbClr val="0D0D0D"/>
                          </a:solidFill>
                          <a:latin typeface="Calibri"/>
                        </a:rPr>
                        <a:t>5,8x</a:t>
                      </a:r>
                    </a:p>
                  </a:txBody>
                  <a:tcPr>
                    <a:solidFill>
                      <a:srgbClr val="F7F8FA"/>
                    </a:solidFill>
                  </a:tcPr>
                </a:tc>
                <a:tc>
                  <a:txBody>
                    <a:bodyPr/>
                    <a:lstStyle/>
                    <a:p>
                      <a:pPr algn="ctr"/>
                      <a:r>
                        <a:rPr sz="800" b="1" i="0">
                          <a:solidFill>
                            <a:srgbClr val="0D0D0D"/>
                          </a:solidFill>
                          <a:latin typeface="Calibri"/>
                        </a:rPr>
                        <a:t>24,5x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28,0 %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Microsoft affiche une prime de 12% sur EV/EBITDA (16.6x vs 14.8x mediane peers) et de 8% sur P/E (26x vs 24x). Justifiée par une croissance organique supérieure (+20% vs +15% peers) et une rentabilité ROIC de 30% vs 22% mediane. Une convergence vers la mediane impliquerait un downside de 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à 10.4% et TGR à 3.0% impliquent un prix implicite DCF de 395$ (vs 356.77$ actuel), soit +11% d'upside. La prime reflète une sous-valorisation structurelle liée à la croissance durable de l'IA et du cloud. Catalyseur clé : adoption de Copilot à 50% des entreprises d'ici 2027.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OpenAI critique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L'effet réseau de Microsoft dans le cloud (Azure) s'érode face à AWS et GCP, avec une part de marché passée de 24% en 2021 à 22% en 2024 selon Synergy Research, tandis que les coûts d'acquisition clients explosent de 18% par an. Les marges brutes du cloud, à 47% en 2024, pourraient chuter sous 40% d'ici 2026 si la concurrence s'intensifie.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Concurrence cloud accrue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 leadership en IA repose sur des partenariats fragiles avec OpenAI, où Microsoft détient 49% des parts mais dépend à 100% de leur technologie exclusive, créant un risque de dépendance critique. Les coûts de R&amp;D en IA ont bondi de 35% en 2023, réduisant les marges nettes de 2 points.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Surévaluation multiples</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Les ratios de valorisation sont historiquement élevés : le P/E de 26x dépasse la moyenne décennale de 22x, et l'EV/EBITDA de 16.6x est supérieur de 25% à celui des peers technologiques. Une compression des multiples pourrait entraîner une baisse de 20% du cours.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de 30% des dépenses IT</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agressive sur les prix dans le cloud (baisse de 20% des tarifs Azure)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de l'intégration de Mistral AI ou perte de talents clés en R&amp;D</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+0,082</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50,4 %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+0,289</a:t>
                      </a:r>
                    </a:p>
                  </a:txBody>
                  <a:tcPr>
                    <a:solidFill>
                      <a:srgbClr val="EAF4EF"/>
                    </a:solidFill>
                  </a:tcPr>
                </a:tc>
                <a:tc>
                  <a:txBody>
                    <a:bodyPr/>
                    <a:lstStyle/>
                    <a:p>
                      <a:pPr algn="ctr"/>
                      <a:r>
                        <a:rPr sz="800" b="0" i="0">
                          <a:solidFill>
                            <a:srgbClr val="0D0D0D"/>
                          </a:solidFill>
                          <a:latin typeface="Calibri"/>
                        </a:rPr>
                        <a:t>Adoption de Copilot dans 50% des entreprises d'ici 2027 | Génération de revenus récurrents de 20Md$ supplémentaires | Horizon 2026-2028</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18</a:t>
                      </a:r>
                    </a:p>
                  </a:txBody>
                  <a:tcPr>
                    <a:solidFill>
                      <a:srgbClr val="FFFFFF"/>
                    </a:solidFill>
                  </a:tcPr>
                </a:tc>
                <a:tc>
                  <a:txBody>
                    <a:bodyPr/>
                    <a:lstStyle/>
                    <a:p>
                      <a:pPr algn="ctr"/>
                      <a:r>
                        <a:rPr sz="800" b="0" i="0">
                          <a:solidFill>
                            <a:srgbClr val="0D0D0D"/>
                          </a:solidFill>
                          <a:latin typeface="Calibri"/>
                        </a:rPr>
                        <a:t>+0,504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+0,207</a:t>
                      </a:r>
                    </a:p>
                  </a:txBody>
                  <a:tcPr>
                    <a:solidFill>
                      <a:srgbClr val="FAF0EF"/>
                    </a:solidFill>
                  </a:tcPr>
                </a:tc>
                <a:tc>
                  <a:txBody>
                    <a:bodyPr/>
                    <a:lstStyle/>
                    <a:p>
                      <a:pPr algn="ctr"/>
                      <a:r>
                        <a:rPr sz="800" b="0" i="0">
                          <a:solidFill>
                            <a:srgbClr val="0D0D0D"/>
                          </a:solidFill>
                          <a:latin typeface="Calibri"/>
                        </a:rPr>
                        <a:t>Régulation antitrust européenne sur les pratiques cloud | Amende potentielle de 5-10Md$ | Horizon 12-18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Microsoft est perçu positivement cette semaine grâce à son initiative nationale de formation en IA, renforçant son écosystème à long terme. Les tensions politiques autour de l'IA et les mouvements concurrentiels d'Apple n'ont pas d'impact direct clair sur MSFT.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106799"/>
            <a:ext cx="8413200" cy="1004400"/>
          </a:xfrm>
          <a:prstGeom prst="rect">
            <a:avLst/>
          </a:prstGeom>
          <a:noFill/>
        </p:spPr>
        <p:txBody>
          <a:bodyPr wrap="square">
            <a:spAutoFit/>
          </a:bodyPr>
          <a:lstStyle/>
          <a:p>
            <a:pPr algn="l"/>
            <a:r>
              <a:rPr sz="850" b="0" i="0">
                <a:solidFill>
                  <a:srgbClr val="555555"/>
                </a:solidFill>
                <a:latin typeface="Calibri"/>
              </a:rPr>
              <a:t>Prime de 10% vs mediane peers sur EV/EBITDA (16.6x vs 15.1x) justifiée par la qualité des actifs. Décote modérée sur P/E (26x vs 28x) reflète la croissance supérieure.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356,77 $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356,77 $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-9,0 %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528897"/>
            <a:ext cx="498636" cy="36630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2993199"/>
            <a:ext cx="498636" cy="90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2680736"/>
            <a:ext cx="498636" cy="12144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604279"/>
            <a:ext cx="498636" cy="129092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504354"/>
            <a:ext cx="498636" cy="139084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05515"/>
            <a:ext cx="498636" cy="138968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718633"/>
            <a:ext cx="498636" cy="1176566"/>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780412"/>
            <a:ext cx="498636" cy="11147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221658"/>
            <a:ext cx="498636" cy="67354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3532297"/>
            <a:ext cx="498636" cy="36290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356</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414</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473</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530</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Microsoft affiche une croissance robuste et une rentabilité exceptionnelle, portée par l'IA et le cloud. La valorisation reste attractive malgré une prime modérée vs peers. Les marges solides et la génération de cash soutiennent un scénario haussier à moyen terme.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