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5600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Calibri"/>
              </a:rPr>
              <a:t>FinSight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8000" y="475200"/>
            <a:ext cx="1188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7200"/>
            <a:ext cx="8229600" cy="29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EE"/>
                </a:solidFill>
                <a:latin typeface="Calibri"/>
              </a:rPr>
              <a:t>Pitchbook  —  Analyse d'investissement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1599"/>
            <a:ext cx="8229600" cy="691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B3A6B"/>
                </a:solidFill>
                <a:latin typeface="Calibri"/>
              </a:rPr>
              <a:t>Microsoft Corporation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2897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  <a:latin typeface="Calibri"/>
              </a:rPr>
              <a:t>MSFT  · 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1999" y="2617297"/>
            <a:ext cx="3600000" cy="432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6000" y="2635297"/>
            <a:ext cx="3491999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● HOLD  ·  Prix cible base : — $  ·  Upside : 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44640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Rapport confidentiel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0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5555"/>
                </a:solidFill>
                <a:latin typeface="Calibri"/>
              </a:rPr>
              <a:t>7 avril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748800"/>
            <a:ext cx="8413200" cy="4392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748800"/>
            <a:ext cx="46800" cy="4392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766800"/>
            <a:ext cx="109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6000"/>
                </a:solidFill>
                <a:latin typeface="Calibri"/>
              </a:rPr>
              <a:t>● 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2000" y="766800"/>
            <a:ext cx="694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Prix cible base : — $  ·  Upside : —  ·  Bear : — $ (—)  ·  Bull : — $ (—)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THÈSE D'INVESTISSEMENT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6632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16452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18144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7200" y="22140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21960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652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7648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27468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9160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RISQUES PRINCIPAUX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8800" y="16632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5600" y="16452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5600" y="18144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8800" y="22140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5600" y="21960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5600" y="23652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8800" y="27648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5600" y="27468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5600" y="29160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5200" y="1353600"/>
            <a:ext cx="10800" cy="17424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33012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200" y="3333600"/>
            <a:ext cx="4010400" cy="19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3999" y="3333600"/>
            <a:ext cx="39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CATALYSEURS À SURVEILLER (12M)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7200" y="3582000"/>
            <a:ext cx="43200" cy="936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9200" y="3560400"/>
            <a:ext cx="3837600" cy="172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7200" y="3780000"/>
            <a:ext cx="43200" cy="936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9200" y="3758400"/>
            <a:ext cx="3837600" cy="172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8800" y="3333600"/>
            <a:ext cx="4068000" cy="19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5600" y="3333600"/>
            <a:ext cx="399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VALORISATION SYNTHÉTIQUE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4708800" y="3560400"/>
          <a:ext cx="4068000" cy="3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000"/>
                <a:gridCol w="1017000"/>
                <a:gridCol w="1017000"/>
              </a:tblGrid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Multiple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Médiane pairs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 NTM (x)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27,1x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 (x)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17,3x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Cible DCF ($)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4525200" y="3301200"/>
            <a:ext cx="10800" cy="72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7200" y="4042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72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72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17,3x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vs — med. pairs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876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4876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76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10,3 %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76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WACC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76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Beta 1,11  ·  RFR 4,3 %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080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6080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980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— 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80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Valeur DCF 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80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Upside — vs cours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284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7284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184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+0,308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184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Sentiment FinBERT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184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Positif  ·  30 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8964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8964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9504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968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Company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202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Microsoft Corporation  · 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5200" y="10584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3–5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5912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200" y="15912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6452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16632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Analyse Financière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18971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Compte de résultat, bilan &amp; liquidité,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5200" y="17532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6–8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2860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200" y="22860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23400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000" y="23580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Valorisation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25919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DCF, comparable peers, Football 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24480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9–11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" y="29808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7200" y="29808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999" y="30348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000" y="3052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Risques &amp; Stratégie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000" y="3286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Risques structurels &amp; thèse contraire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5200" y="3142799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12–13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200" y="36756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200" y="36756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999" y="37296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000" y="3747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Sentiment &amp; Annexes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000" y="3981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5200" y="38376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14–15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Présentation, modèle économique &amp; données de marché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Microsoft Corporation  ·  Présentation &amp; Positionnement stratégique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939200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3520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1022400"/>
            <a:ext cx="466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0D0D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358000"/>
            <a:ext cx="46620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Positionnement stratégique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58400" y="961200"/>
            <a:ext cx="32004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58400" y="9612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48400" y="10152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2 764,5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48400" y="14112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Capitalisation boursière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58400" y="18468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58400" y="1846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48400" y="19008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281,7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8400" y="22968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Chiffre d'affaires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8400" y="27324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58400" y="27324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48400" y="27864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372,29 $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8400" y="31824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8400" y="36216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8400" y="36216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8400" y="36756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17,3x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48400" y="40716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 (LTM)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8400" y="4269600"/>
            <a:ext cx="306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P/E : 27,1x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Modèle Économique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Segments opérationnels et moteurs de croissance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31199" cy="3520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31199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5FA3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Core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6400" y="961200"/>
            <a:ext cx="2731199" cy="35208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6400" y="961200"/>
            <a:ext cx="2731199" cy="54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64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4A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64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64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64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Growth Driver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64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45600" y="961200"/>
            <a:ext cx="2731199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45600" y="961200"/>
            <a:ext cx="2731199" cy="54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88888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356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356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International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56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Analyse Financière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Compte de résultat, bilan, liquidité &amp; ratios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Analyse Financière — Compte de Résultat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USD millions  ·  2022–2025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696"/>
                <a:gridCol w="2019168"/>
                <a:gridCol w="2019168"/>
                <a:gridCol w="2019168"/>
              </a:tblGrid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Chiffre d'affaires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211,9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245,1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281,7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Croissance YoY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+6,9 %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+15,7 %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+14,9 %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brut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146,1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171,0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193,9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68,9 %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69,8 %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68,8 %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105,1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133,0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160,2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49,6 %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54,3 %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72,4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88,1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101,8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nette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36,0 %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36,1 %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Bilan &amp; Liquidité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Structure financière  ·  USD millions  ·  LTM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30,2 Mds$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Cash &amp; equivalents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7200" y="19008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200" y="1900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9548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40,2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3508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Dette long terme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7200" y="2844000"/>
            <a:ext cx="26532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200" y="28440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980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12,9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40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Dette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000" y="842400"/>
            <a:ext cx="5396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Ratios de solvabilité &amp; liquidité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384000" y="1007999"/>
          <a:ext cx="53964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416"/>
                <a:gridCol w="1133244"/>
                <a:gridCol w="1133244"/>
                <a:gridCol w="755496"/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Référence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liquidité courante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2,01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rapide (quick)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2,00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D/E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Couverture d'intérêts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52,8x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3,0x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Dette nette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4,61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-2,57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Ratios Clés vs. Benchmark Sectoriel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Positionnement relatif  ·  LTM 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55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300"/>
                <a:gridCol w="2103300"/>
                <a:gridCol w="2103300"/>
                <a:gridCol w="2103300"/>
              </a:tblGrid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Lecture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27,1x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15–25x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17,3x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8–14x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EV/Revenue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9,9x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1–5x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68,8 %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40 %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56,9 %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29,6 %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30,1 %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CapEx / Revenue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22,9 %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Intensif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4,61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Solide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7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-2,57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Aucun signal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DCF, comparable peers &amp; Football Field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Valorisation — DCF &amp; Scénarios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7200" y="824400"/>
          <a:ext cx="402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640"/>
                <a:gridCol w="1811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Paramètre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10,3 %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TGR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Valeur intrinsèque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372,29 $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implicite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482000" y="824400"/>
          <a:ext cx="4298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800"/>
                <a:gridCol w="1432800"/>
                <a:gridCol w="14328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>
                    <a:solidFill>
                      <a:srgbClr val="A820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A8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E5FA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A7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A8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5FA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A7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23940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Table de sensibilité — Valeur intrinsèque ($)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67200" y="2653200"/>
          <a:ext cx="8413200" cy="11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200"/>
                <a:gridCol w="1402200"/>
                <a:gridCol w="1402200"/>
                <a:gridCol w="1402200"/>
                <a:gridCol w="1402200"/>
                <a:gridCol w="1402200"/>
              </a:tblGrid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WACC \ TGR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8,3%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9,3%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10,3%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2E5FA3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11,3%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12,3%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Comparable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par multiples  ·  LTM  ·  Mkt Cap en Mds USD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87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640"/>
                <a:gridCol w="757188"/>
                <a:gridCol w="1093716"/>
                <a:gridCol w="1009584"/>
                <a:gridCol w="1009584"/>
                <a:gridCol w="757188"/>
                <a:gridCol w="1093716"/>
                <a:gridCol w="1009584"/>
              </a:tblGrid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EV/Rev.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Brute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Microsoft Corporation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MSFT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2 764,5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17,3x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9,9x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27,1x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68,8 %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Médiane peers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Football Field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Synthèse des méthodes de valorisation  ·  USD par action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61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620"/>
                <a:gridCol w="1682640"/>
                <a:gridCol w="1682640"/>
                <a:gridCol w="2103300"/>
              </a:tblGrid>
              <a:tr h="3078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Méthode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Fourchette basse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Fourchette haute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Point central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7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 (372,29)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372,29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Risques &amp; Stratégie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Avocat du diable &amp; conditions d'invalidation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Risques &amp; Conditions d'Invalidation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des risques structurels  ·  Thèse contraire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43200" cy="1918800"/>
          </a:xfrm>
          <a:prstGeom prst="rect">
            <a:avLst/>
          </a:prstGeom>
          <a:solidFill>
            <a:srgbClr val="FA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43200" cy="54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2020"/>
                </a:solidFill>
                <a:latin typeface="Calibri"/>
              </a:rPr>
              <a:t>Risque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macro-économique : remontée des taux ou ralentissement de la demande mondiale.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9200" y="961200"/>
            <a:ext cx="2743200" cy="191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9200" y="961200"/>
            <a:ext cx="27432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Risque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sectoriel : intensification de la concurrence ou disruption technologique.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200" y="961200"/>
            <a:ext cx="2743200" cy="19188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1200" y="961200"/>
            <a:ext cx="2743200" cy="54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6000"/>
                </a:solidFill>
                <a:latin typeface="Calibri"/>
              </a:rPr>
              <a:t>Risque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spécifique : détérioration des marges ou exécution stratégique.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200" y="2998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200" y="3070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Conditions d'invalidation de la thèse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7200" y="3308400"/>
          <a:ext cx="8413200" cy="109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5468580"/>
                <a:gridCol w="1682640"/>
              </a:tblGrid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Axe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Condition d'invalidation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Remontée des taux directeurs &gt; 200bps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6-12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Sectoriel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Rupture technologique remettant en cause le modèle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12-18 mois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Détérioration matérielle des marges opérationnelles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2-3 trim.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672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44280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64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Détresse : 0/100  Sain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43600" y="4428000"/>
            <a:ext cx="43200" cy="180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M&amp;A : 53/100  Moderate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3600" y="4428000"/>
            <a:ext cx="43200" cy="180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Régime : Bear  Rec.6M:34%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72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7200" y="4618800"/>
            <a:ext cx="43200" cy="18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4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Earnings Qualité : Correcte (0.70x)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4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43600" y="46188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Struct. Capital : Saine (7% CT)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23600" y="46188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0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Dividende : Tres soutenable (3.9x)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Sentiment &amp; Annexes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Sentiment de Marché — LLM Groq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sémantique  ·  30 articles  ·  7 derniers jours  ·  Classification LLM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5596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4228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Positif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4228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Orientation globale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9200"/>
            <a:ext cx="24228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Score agrégé : +0,308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400" y="961200"/>
            <a:ext cx="182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04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1015200"/>
            <a:ext cx="169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1411200"/>
            <a:ext cx="169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Articles analysés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1609200"/>
            <a:ext cx="169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Fenêtre : 7 jours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19200" y="961200"/>
            <a:ext cx="16452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9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9200" y="1015200"/>
            <a:ext cx="1508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55,1 %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200" y="1411200"/>
            <a:ext cx="1508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Confiance 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9200" y="1609200"/>
            <a:ext cx="1508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Modèle LLM Groq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8000" y="961200"/>
            <a:ext cx="173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80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38000" y="1015200"/>
            <a:ext cx="160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HOLD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8000" y="1411200"/>
            <a:ext cx="160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Cohérence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8000" y="1609200"/>
            <a:ext cx="160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Aligné avec la thèse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200" y="20844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Détail par orientation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7200" y="2332800"/>
          <a:ext cx="841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1261980"/>
                <a:gridCol w="1682640"/>
                <a:gridCol w="4206600"/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Orientation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Articles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Score moyen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Thèmes principaux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Positif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+0,551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Catalyseurs, croissance, résultats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Neutre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Actualité sectorielle générale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Négatif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+0,243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Risques macro, concurrence, dette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67200" y="4140000"/>
            <a:ext cx="841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La presse financière salue les partenariats stratégiques et l'innovation d'Anthropic soutenus par Microsoft, mais reste prudente face à la baisse récente du titre. L'accent sur l'IA et la cybersécurité renforce l'optimisme, malgré les tensions géopolitiques.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Actionnariat &amp; Structure du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Répartition de l'actionnariat  ·  Au 7 avril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748800"/>
            <a:ext cx="5029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Top actionnaires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7200" y="968400"/>
          <a:ext cx="5302800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4"/>
                <a:gridCol w="1378728"/>
                <a:gridCol w="1060560"/>
                <a:gridCol w="848448"/>
              </a:tblGrid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Détention 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Vanguard Group Inc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9.7 %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Blackrock Inc.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State Street Corporation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4.1 %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FMR, LLC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2.7 %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Geode Capital Management, LLC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2.5 %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JPMORGAN CHASE &amp; CO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2.0 %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Price (T.Rowe) Associates Inc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1.7 %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69.2 %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760000" y="748800"/>
            <a:ext cx="3016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Répartition par type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760000" y="968400"/>
          <a:ext cx="30168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080"/>
                <a:gridCol w="120672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 d'actionnaire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Part estimée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13.8 %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17.0 %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69.2 %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Historique de Cours — 52 Semaines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MSFT  ·  USD  ·  Au 7 avril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372,29 $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228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28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28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530,42 $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28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haut 52 sem.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20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20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370,17 $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bas 52 sem.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600" y="961200"/>
            <a:ext cx="21960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6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7600" y="1015200"/>
            <a:ext cx="205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-18,5 %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7600" y="1411200"/>
            <a:ext cx="20592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Performance 52 sem.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200" y="1846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Cours en repli de -18,5 % sur 12 mois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00" y="2102400"/>
            <a:ext cx="84132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Conviction &amp; Thèse d’Investissement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MSFT  ·  FinSight IA  ·  Rapport 7 avril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827999"/>
            <a:ext cx="2700000" cy="1260000"/>
          </a:xfrm>
          <a:prstGeom prst="rect">
            <a:avLst/>
          </a:prstGeom>
          <a:solidFill>
            <a:srgbClr val="FFF8E1"/>
          </a:solidFill>
          <a:ln w="25400"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000" y="864000"/>
            <a:ext cx="27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06000"/>
                </a:solidFill>
                <a:latin typeface="Calibri"/>
              </a:rPr>
              <a:t>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000" y="1278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Conviction :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000" y="1494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55555"/>
                </a:solidFill>
                <a:latin typeface="Calibri"/>
              </a:rPr>
              <a:t>7 avril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2196000"/>
            <a:ext cx="2700000" cy="19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4000" y="2196000"/>
            <a:ext cx="1350000" cy="198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000" y="2051999"/>
            <a:ext cx="2700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3A6B"/>
                </a:solidFill>
                <a:latin typeface="Calibri"/>
              </a:rPr>
              <a:t>NIVEAU DE CONVICTION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0000" y="2196000"/>
            <a:ext cx="4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50%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2520000"/>
            <a:ext cx="2700000" cy="27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000" y="2538000"/>
            <a:ext cx="26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7A4A"/>
                </a:solidFill>
                <a:latin typeface="Calibri"/>
              </a:rPr>
              <a:t>Delta conviction : +0% vs Avocat du Diable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1999" y="827999"/>
            <a:ext cx="5472000" cy="19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66000" y="846000"/>
            <a:ext cx="540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THÈSE D’INVESTISSEMENT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11999" y="2142000"/>
            <a:ext cx="26640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66000" y="2160000"/>
            <a:ext cx="259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CATALYSEURS BULLS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1999" y="2358000"/>
            <a:ext cx="255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N/D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0000" y="2142000"/>
            <a:ext cx="2448000" cy="180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56000" y="2160000"/>
            <a:ext cx="237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RISQUES BEARS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6000" y="2358000"/>
            <a:ext cx="237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N/D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000" y="4752000"/>
            <a:ext cx="849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FinSight IA genere cette analyse a un instant T. Pour le suivi dans le temps, comparer les rapports successifs. La conviction reflete les donnees disponibles a la date d'analyse.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