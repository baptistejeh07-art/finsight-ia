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410 $  ·  Upside : +10,9 %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410 $  ·  Upside : +10,9 %  ·  Bear : 350 $ (-5,3 %)  ·  Bull : 450 $ (+21,7 %)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cloud</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Croissance du CA cloud Azure de +20% YoY en 2026 grâce à l'IA générative, captant 25% du marché cloud mondial</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Expansion des marges nettes à 37% en 2027 via l'effet de levier opérationnel du SaaS et l'optimisation des coûts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Marges élevées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Accélération des revenus IA (Copilot) avec un ARR potentiel de 15Md$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AWS/Google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européenne avec amende potentielle de 5Md$ en 2026 | Concurrence accrue d'AWS avec baisse des parts de marché cloud de 2pts en 2026 | Cyberattaque majeure sur Azure impactant 10% des clients en 2026</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Ralentissement des dépenses IT des entreprises en 2026 (-5% YoY) | Échec du déploiement de Copilot avec adoption &lt;10% des utilisateurs en 2026 | Hausse des coûts énergétiques réduisant les marges de 200bps en 2026</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à l'IA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L'EV/EBITDA à 17.22x est élevé comparé à IBM (12.5x) ou Oracle (14.2x), malgré une croissance inférieure de 5 points.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1008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98000"/>
          </a:xfrm>
          <a:prstGeom prst="rect">
            <a:avLst/>
          </a:prstGeom>
          <a:noFill/>
        </p:spPr>
        <p:txBody>
          <a:bodyPr wrap="square">
            <a:spAutoFit/>
          </a:bodyPr>
          <a:lstStyle/>
          <a:p>
            <a:pPr algn="l"/>
            <a:r>
              <a:rPr sz="750" b="0" i="0">
                <a:solidFill>
                  <a:srgbClr val="333333"/>
                </a:solidFill>
                <a:latin typeface="Calibri"/>
              </a:rPr>
              <a:t>Copilot ARR  Lancement de Copilot Enterprise en 2026 avec un ARR cible de 15Md$, générant +12% de croissance organique sur les revenus IA. Horizon :</a:t>
            </a:r>
          </a:p>
        </p:txBody>
      </p:sp>
      <p:sp>
        <p:nvSpPr>
          <p:cNvPr id="38" name="Rectangle 37"/>
          <p:cNvSpPr/>
          <p:nvPr/>
        </p:nvSpPr>
        <p:spPr>
          <a:xfrm>
            <a:off x="367200" y="3780000"/>
            <a:ext cx="43200" cy="1008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98000"/>
          </a:xfrm>
          <a:prstGeom prst="rect">
            <a:avLst/>
          </a:prstGeom>
          <a:noFill/>
        </p:spPr>
        <p:txBody>
          <a:bodyPr wrap="square">
            <a:spAutoFit/>
          </a:bodyPr>
          <a:lstStyle/>
          <a:p>
            <a:pPr algn="l"/>
            <a:r>
              <a:rPr sz="750" b="0" i="0">
                <a:solidFill>
                  <a:srgbClr val="333333"/>
                </a:solidFill>
                <a:latin typeface="Calibri"/>
              </a:rPr>
              <a:t>Azure AI Migration  Accélération des migrations hybrides vers Azure AI avec +20% de croissance YoY en 2026, captant 25% du marché cloud mondial. Horizon :</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26,9x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17,2x</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410 $</a:t>
                      </a:r>
                    </a:p>
                  </a:txBody>
                  <a:tcPr>
                    <a:solidFill>
                      <a:srgbClr val="FFFFFF"/>
                    </a:solidFill>
                  </a:tcPr>
                </a:tc>
                <a:tc>
                  <a:txBody>
                    <a:bodyPr/>
                    <a:lstStyle/>
                    <a:p>
                      <a:pPr algn="ctr"/>
                      <a:r>
                        <a:rPr sz="800" b="0" i="0">
                          <a:solidFill>
                            <a:srgbClr val="0D0D0D"/>
                          </a:solidFill>
                          <a:latin typeface="Calibri"/>
                        </a:rPr>
                        <a:t>Upside +10,9 %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17,2x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22,0x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410 $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+10,9 %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+0,139</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AWS/Google  ·  Régulation antitrust</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 marché des logiciels et du cloud avec Azure, Office 365 et LinkedIn, combinant abonnements récurrents et services à haute marge. Son écosystème intégré (Windows, Xbox, GitHub) crée des effets de réseau puissants. La stratégie IA via Copilot et Azure AI renforce son avantage concurrentiel face à AWS et Google Cloud.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à revenus récurrents (abonnements Office 365, LinkedIn, Dynamics) avec marge brute &gt;80%. Croissance tirée par l'adoption du cloud et des outils collaboratifs. Clients : entreprises et particuliers. Moteur : migration vers SaaS et automatisation des workflows.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cloud (Azure, SQL Server, GitHub) avec marge EBITDA &gt;55%. Croissance de 20%+ YoY grâce à l'IA et aux migrations hybrides. Clients : entreprises Fortune 500. Moteur : demande en infrastructure scalable et solutions IA générative.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2 744,6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369,61 $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17,2x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26,9x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31%</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Productivity and Business Processes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à revenus récurrents (abonnements Office 365, LinkedIn, Dynamics) avec marge brute &gt;80%. Croissance tirée par l'adoption du cloud et des outils collaboratifs. Clients : entreprises et particuliers. Moteur : migration vers SaaS et automatisation des workflows.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43%</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Intelligent Cloud</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cloud (Azure, SQL Server, GitHub) avec marge EBITDA &gt;55%. Croissance de 20%+ YoY grâce à l'IA et aux migrations hybrides. Clients : entreprises Fortune 500. Moteur : demande en infrastructure scalable et solutions IA générative.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320,0</a:t>
                      </a:r>
                    </a:p>
                  </a:txBody>
                  <a:tcPr>
                    <a:solidFill>
                      <a:srgbClr val="FFFFFF"/>
                    </a:solidFill>
                  </a:tcPr>
                </a:tc>
                <a:tc>
                  <a:txBody>
                    <a:bodyPr/>
                    <a:lstStyle/>
                    <a:p>
                      <a:pPr algn="ctr"/>
                      <a:r>
                        <a:rPr sz="800" b="1" i="0">
                          <a:solidFill>
                            <a:srgbClr val="0D0D0D"/>
                          </a:solidFill>
                          <a:latin typeface="Calibri"/>
                        </a:rPr>
                        <a:t>365,0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+13,6 %</a:t>
                      </a:r>
                    </a:p>
                  </a:txBody>
                  <a:tcPr>
                    <a:solidFill>
                      <a:srgbClr val="F7F8FA"/>
                    </a:solidFill>
                  </a:tcPr>
                </a:tc>
                <a:tc>
                  <a:txBody>
                    <a:bodyPr/>
                    <a:lstStyle/>
                    <a:p>
                      <a:pPr algn="ctr"/>
                      <a:r>
                        <a:rPr sz="750" b="0" i="1">
                          <a:solidFill>
                            <a:srgbClr val="555555"/>
                          </a:solidFill>
                          <a:latin typeface="Calibri"/>
                        </a:rPr>
                        <a:t>+14,1 %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222,4</a:t>
                      </a:r>
                    </a:p>
                  </a:txBody>
                  <a:tcPr>
                    <a:solidFill>
                      <a:srgbClr val="FFFFFF"/>
                    </a:solidFill>
                  </a:tcPr>
                </a:tc>
                <a:tc>
                  <a:txBody>
                    <a:bodyPr/>
                    <a:lstStyle/>
                    <a:p>
                      <a:pPr algn="ctr"/>
                      <a:r>
                        <a:rPr sz="800" b="1" i="0">
                          <a:solidFill>
                            <a:srgbClr val="0D0D0D"/>
                          </a:solidFill>
                          <a:latin typeface="Calibri"/>
                        </a:rPr>
                        <a:t>256,2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69,5 %</a:t>
                      </a:r>
                    </a:p>
                  </a:txBody>
                  <a:tcPr>
                    <a:solidFill>
                      <a:srgbClr val="F7F8FA"/>
                    </a:solidFill>
                  </a:tcPr>
                </a:tc>
                <a:tc>
                  <a:txBody>
                    <a:bodyPr/>
                    <a:lstStyle/>
                    <a:p>
                      <a:pPr algn="ctr"/>
                      <a:r>
                        <a:rPr sz="750" b="0" i="1">
                          <a:solidFill>
                            <a:srgbClr val="555555"/>
                          </a:solidFill>
                          <a:latin typeface="Calibri"/>
                        </a:rPr>
                        <a:t>70,2 %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185,0</a:t>
                      </a:r>
                    </a:p>
                  </a:txBody>
                  <a:tcPr>
                    <a:solidFill>
                      <a:srgbClr val="FFFFFF"/>
                    </a:solidFill>
                  </a:tcPr>
                </a:tc>
                <a:tc>
                  <a:txBody>
                    <a:bodyPr/>
                    <a:lstStyle/>
                    <a:p>
                      <a:pPr algn="ctr"/>
                      <a:r>
                        <a:rPr sz="800" b="1" i="0">
                          <a:solidFill>
                            <a:srgbClr val="0D0D0D"/>
                          </a:solidFill>
                          <a:latin typeface="Calibri"/>
                        </a:rPr>
                        <a:t>215,0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57,8 %</a:t>
                      </a:r>
                    </a:p>
                  </a:txBody>
                  <a:tcPr>
                    <a:solidFill>
                      <a:srgbClr val="F7F8FA"/>
                    </a:solidFill>
                  </a:tcPr>
                </a:tc>
                <a:tc>
                  <a:txBody>
                    <a:bodyPr/>
                    <a:lstStyle/>
                    <a:p>
                      <a:pPr algn="ctr"/>
                      <a:r>
                        <a:rPr sz="750" b="0" i="1">
                          <a:solidFill>
                            <a:srgbClr val="555555"/>
                          </a:solidFill>
                          <a:latin typeface="Calibri"/>
                        </a:rPr>
                        <a:t>58,9 %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135,0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35,9 %</a:t>
                      </a:r>
                    </a:p>
                  </a:txBody>
                  <a:tcPr>
                    <a:solidFill>
                      <a:srgbClr val="F7F8FA"/>
                    </a:solidFill>
                  </a:tcPr>
                </a:tc>
                <a:tc>
                  <a:txBody>
                    <a:bodyPr/>
                    <a:lstStyle/>
                    <a:p>
                      <a:pPr algn="ctr"/>
                      <a:r>
                        <a:rPr sz="750" b="0" i="1">
                          <a:solidFill>
                            <a:srgbClr val="555555"/>
                          </a:solidFill>
                          <a:latin typeface="Calibri"/>
                        </a:rPr>
                        <a:t>37,0 %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atteint 281.7Md$ en 2025 (+14.9% YoY), porté par une croissance organique de 15% dans le cloud et les abonnements. Les marges bénéficient d'un mix produit favorable (SaaS à 70%+ de marge brute) et d'économies d'échelle, avec un ND/EBITDA de 0.1x garantissant une flexibilité financière pour rachats ou dividendes.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atteint 281.7Md$ en 2025 (+14.9% YoY), porté par une croissance organique de 15% dans le cloud et les abonnements. Les marges bénéficient d'un mix produit favorable (SaaS à 70%+ de marge brute) et d'économies d'échelle, avec un ND/EBITDA de 0.1x garantissant une flexibilité financière pour rachats ou dividendes.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stables autour de 69% depuis 2023, reflétant un mix produit optimal (cloud + logiciels). La marge EBITDA progresse de 50.6% en 2022 à 56.9% en 2025 grâce au levier opérationnel du SaaS et à la réduction des coûts fixes. Cette trajectoire est durable avec un pricing power confirmé par des contrats pluriannuels à +10% de hausse annuelle.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410 $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369,61 $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350 $</a:t>
                      </a:r>
                    </a:p>
                  </a:txBody>
                  <a:tcPr>
                    <a:solidFill>
                      <a:srgbClr val="FAF0EF"/>
                    </a:solidFill>
                  </a:tcPr>
                </a:tc>
                <a:tc>
                  <a:txBody>
                    <a:bodyPr/>
                    <a:lstStyle/>
                    <a:p>
                      <a:pPr algn="ctr"/>
                      <a:r>
                        <a:rPr sz="2000" b="1" i="0">
                          <a:solidFill>
                            <a:srgbClr val="2E5FA3"/>
                          </a:solidFill>
                          <a:latin typeface="Calibri"/>
                        </a:rPr>
                        <a:t>410 $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-5,3 %</a:t>
                      </a:r>
                    </a:p>
                  </a:txBody>
                  <a:tcPr>
                    <a:solidFill>
                      <a:srgbClr val="FAF0EF"/>
                    </a:solidFill>
                  </a:tcPr>
                </a:tc>
                <a:tc>
                  <a:txBody>
                    <a:bodyPr/>
                    <a:lstStyle/>
                    <a:p>
                      <a:pPr algn="ctr"/>
                      <a:r>
                        <a:rPr sz="1200" b="1" i="0">
                          <a:solidFill>
                            <a:srgbClr val="2E5FA3"/>
                          </a:solidFill>
                          <a:latin typeface="Calibri"/>
                        </a:rPr>
                        <a:t>+10,9 %</a:t>
                      </a:r>
                    </a:p>
                  </a:txBody>
                  <a:tcPr>
                    <a:solidFill>
                      <a:srgbClr val="EEF3FA"/>
                    </a:solidFill>
                  </a:tcPr>
                </a:tc>
                <a:tc>
                  <a:txBody>
                    <a:bodyPr/>
                    <a:lstStyle/>
                    <a:p>
                      <a:pPr algn="ctr"/>
                      <a:r>
                        <a:rPr sz="1200" b="1" i="0">
                          <a:solidFill>
                            <a:srgbClr val="1A7A4A"/>
                          </a:solidFill>
                          <a:latin typeface="Calibri"/>
                        </a:rPr>
                        <a:t>+21,7 %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410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 TGR de 3.0%, le DCF implicite suggère un prix de 410$ (base), soit un upside de 11%. La prime actuelle reflète déjà une croissance exceptionnelle, limitant le potentiel de rerating sans catalyseur externe (ex: adoption massive de Copilot).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2 744,6</a:t>
                      </a:r>
                    </a:p>
                  </a:txBody>
                  <a:tcPr>
                    <a:solidFill>
                      <a:srgbClr val="DDE8F5"/>
                    </a:solidFill>
                  </a:tcPr>
                </a:tc>
                <a:tc>
                  <a:txBody>
                    <a:bodyPr/>
                    <a:lstStyle/>
                    <a:p>
                      <a:pPr algn="ctr"/>
                      <a:r>
                        <a:rPr sz="800" b="1" i="0">
                          <a:solidFill>
                            <a:srgbClr val="1B3A6B"/>
                          </a:solidFill>
                          <a:latin typeface="Calibri"/>
                        </a:rPr>
                        <a:t>17,2x</a:t>
                      </a:r>
                    </a:p>
                  </a:txBody>
                  <a:tcPr>
                    <a:solidFill>
                      <a:srgbClr val="DDE8F5"/>
                    </a:solidFill>
                  </a:tcPr>
                </a:tc>
                <a:tc>
                  <a:txBody>
                    <a:bodyPr/>
                    <a:lstStyle/>
                    <a:p>
                      <a:pPr algn="ctr"/>
                      <a:r>
                        <a:rPr sz="800" b="1" i="0">
                          <a:solidFill>
                            <a:srgbClr val="1B3A6B"/>
                          </a:solidFill>
                          <a:latin typeface="Calibri"/>
                        </a:rPr>
                        <a:t>9,8x</a:t>
                      </a:r>
                    </a:p>
                  </a:txBody>
                  <a:tcPr>
                    <a:solidFill>
                      <a:srgbClr val="DDE8F5"/>
                    </a:solidFill>
                  </a:tcPr>
                </a:tc>
                <a:tc>
                  <a:txBody>
                    <a:bodyPr/>
                    <a:lstStyle/>
                    <a:p>
                      <a:pPr algn="ctr"/>
                      <a:r>
                        <a:rPr sz="800" b="1" i="0">
                          <a:solidFill>
                            <a:srgbClr val="1B3A6B"/>
                          </a:solidFill>
                          <a:latin typeface="Calibri"/>
                        </a:rPr>
                        <a:t>26,9x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2 200,0</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9,2x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 Web Services</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1 800,0</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65,0x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28,0 %</a:t>
                      </a:r>
                    </a:p>
                  </a:txBody>
                  <a:tcPr>
                    <a:solidFill>
                      <a:srgbClr val="F7F8FA"/>
                    </a:solidFill>
                  </a:tcPr>
                </a:tc>
              </a:tr>
              <a:tr h="251999">
                <a:tc>
                  <a:txBody>
                    <a:bodyPr/>
                    <a:lstStyle/>
                    <a:p>
                      <a:pPr algn="l"/>
                      <a:r>
                        <a:rPr sz="800" b="0" i="0">
                          <a:solidFill>
                            <a:srgbClr val="0D0D0D"/>
                          </a:solidFill>
                          <a:latin typeface="Calibri"/>
                        </a:rPr>
                        <a:t>Salesforce</a:t>
                      </a:r>
                    </a:p>
                  </a:txBody>
                  <a:tcPr>
                    <a:solidFill>
                      <a:srgbClr val="FFFFFF"/>
                    </a:solidFill>
                  </a:tcPr>
                </a:tc>
                <a:tc>
                  <a:txBody>
                    <a:bodyPr/>
                    <a:lstStyle/>
                    <a:p>
                      <a:pPr algn="ctr"/>
                      <a:r>
                        <a:rPr sz="750" b="0" i="0">
                          <a:solidFill>
                            <a:srgbClr val="555555"/>
                          </a:solidFill>
                          <a:latin typeface="Calibri"/>
                        </a:rPr>
                        <a:t>CRM</a:t>
                      </a:r>
                    </a:p>
                  </a:txBody>
                  <a:tcPr>
                    <a:solidFill>
                      <a:srgbClr val="FFFFFF"/>
                    </a:solidFill>
                  </a:tcPr>
                </a:tc>
                <a:tc>
                  <a:txBody>
                    <a:bodyPr/>
                    <a:lstStyle/>
                    <a:p>
                      <a:pPr algn="ctr"/>
                      <a:r>
                        <a:rPr sz="800" b="0" i="0">
                          <a:solidFill>
                            <a:srgbClr val="0D0D0D"/>
                          </a:solidFill>
                          <a:latin typeface="Calibri"/>
                        </a:rPr>
                        <a:t>280,0</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50,0x</a:t>
                      </a:r>
                    </a:p>
                  </a:txBody>
                  <a:tcPr>
                    <a:solidFill>
                      <a:srgbClr val="FFFFFF"/>
                    </a:solidFill>
                  </a:tcPr>
                </a:tc>
                <a:tc>
                  <a:txBody>
                    <a:bodyPr/>
                    <a:lstStyle/>
                    <a:p>
                      <a:pPr algn="ctr"/>
                      <a:r>
                        <a:rPr sz="800" b="0" i="0">
                          <a:solidFill>
                            <a:srgbClr val="0D0D0D"/>
                          </a:solidFill>
                          <a:latin typeface="Calibri"/>
                        </a:rPr>
                        <a:t>75,0 %</a:t>
                      </a:r>
                    </a:p>
                  </a:txBody>
                  <a:tcPr>
                    <a:solidFill>
                      <a:srgbClr val="FFFFFF"/>
                    </a:solidFill>
                  </a:tcPr>
                </a:tc>
                <a:tc>
                  <a:txBody>
                    <a:bodyPr/>
                    <a:lstStyle/>
                    <a:p>
                      <a:pPr algn="ctr"/>
                      <a:r>
                        <a:rPr sz="800" b="0" i="0">
                          <a:solidFill>
                            <a:srgbClr val="0D0D0D"/>
                          </a:solidFill>
                          <a:latin typeface="Calibri"/>
                        </a:rPr>
                        <a:t>20,0 %</a:t>
                      </a:r>
                    </a:p>
                  </a:txBody>
                  <a:tcPr>
                    <a:solidFill>
                      <a:srgbClr val="FFFFFF"/>
                    </a:solidFill>
                  </a:tcPr>
                </a:tc>
              </a:tr>
              <a:tr h="251999">
                <a:tc>
                  <a:txBody>
                    <a:bodyPr/>
                    <a:lstStyle/>
                    <a:p>
                      <a:pPr algn="l"/>
                      <a:r>
                        <a:rPr sz="800" b="0" i="0">
                          <a:solidFill>
                            <a:srgbClr val="0D0D0D"/>
                          </a:solidFill>
                          <a:latin typeface="Calibri"/>
                        </a:rPr>
                        <a:t>Oracle</a:t>
                      </a:r>
                    </a:p>
                  </a:txBody>
                  <a:tcPr>
                    <a:solidFill>
                      <a:srgbClr val="F7F8FA"/>
                    </a:solidFill>
                  </a:tcPr>
                </a:tc>
                <a:tc>
                  <a:txBody>
                    <a:bodyPr/>
                    <a:lstStyle/>
                    <a:p>
                      <a:pPr algn="ctr"/>
                      <a:r>
                        <a:rPr sz="750" b="0" i="0">
                          <a:solidFill>
                            <a:srgbClr val="555555"/>
                          </a:solidFill>
                          <a:latin typeface="Calibri"/>
                        </a:rPr>
                        <a:t>ORCL</a:t>
                      </a:r>
                    </a:p>
                  </a:txBody>
                  <a:tcPr>
                    <a:solidFill>
                      <a:srgbClr val="F7F8FA"/>
                    </a:solidFill>
                  </a:tcPr>
                </a:tc>
                <a:tc>
                  <a:txBody>
                    <a:bodyPr/>
                    <a:lstStyle/>
                    <a:p>
                      <a:pPr algn="ctr"/>
                      <a:r>
                        <a:rPr sz="800" b="0" i="0">
                          <a:solidFill>
                            <a:srgbClr val="0D0D0D"/>
                          </a:solidFill>
                          <a:latin typeface="Calibri"/>
                        </a:rPr>
                        <a:t>320,0</a:t>
                      </a:r>
                    </a:p>
                  </a:txBody>
                  <a:tcPr>
                    <a:solidFill>
                      <a:srgbClr val="F7F8FA"/>
                    </a:solidFill>
                  </a:tcPr>
                </a:tc>
                <a:tc>
                  <a:txBody>
                    <a:bodyPr/>
                    <a:lstStyle/>
                    <a:p>
                      <a:pPr algn="ctr"/>
                      <a:r>
                        <a:rPr sz="800" b="0" i="0">
                          <a:solidFill>
                            <a:srgbClr val="0D0D0D"/>
                          </a:solidFill>
                          <a:latin typeface="Calibri"/>
                        </a:rPr>
                        <a:t>16,0x</a:t>
                      </a:r>
                    </a:p>
                  </a:txBody>
                  <a:tcPr>
                    <a:solidFill>
                      <a:srgbClr val="F7F8FA"/>
                    </a:solidFill>
                  </a:tcPr>
                </a:tc>
                <a:tc>
                  <a:txBody>
                    <a:bodyPr/>
                    <a:lstStyle/>
                    <a:p>
                      <a:pPr algn="ctr"/>
                      <a:r>
                        <a:rPr sz="800" b="0" i="0">
                          <a:solidFill>
                            <a:srgbClr val="0D0D0D"/>
                          </a:solidFill>
                          <a:latin typeface="Calibri"/>
                        </a:rPr>
                        <a:t>6,8x</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80,0 %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Adobe</a:t>
                      </a:r>
                    </a:p>
                  </a:txBody>
                  <a:tcPr>
                    <a:solidFill>
                      <a:srgbClr val="FFFFFF"/>
                    </a:solidFill>
                  </a:tcPr>
                </a:tc>
                <a:tc>
                  <a:txBody>
                    <a:bodyPr/>
                    <a:lstStyle/>
                    <a:p>
                      <a:pPr algn="ctr"/>
                      <a:r>
                        <a:rPr sz="750" b="0" i="0">
                          <a:solidFill>
                            <a:srgbClr val="555555"/>
                          </a:solidFill>
                          <a:latin typeface="Calibri"/>
                        </a:rPr>
                        <a:t>ADBE</a:t>
                      </a:r>
                    </a:p>
                  </a:txBody>
                  <a:tcPr>
                    <a:solidFill>
                      <a:srgbClr val="FFFFFF"/>
                    </a:solidFill>
                  </a:tcPr>
                </a:tc>
                <a:tc>
                  <a:txBody>
                    <a:bodyPr/>
                    <a:lstStyle/>
                    <a:p>
                      <a:pPr algn="ctr"/>
                      <a:r>
                        <a:rPr sz="800" b="0" i="0">
                          <a:solidFill>
                            <a:srgbClr val="0D0D0D"/>
                          </a:solidFill>
                          <a:latin typeface="Calibri"/>
                        </a:rPr>
                        <a:t>210,0</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85,0 %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22,0x</a:t>
                      </a:r>
                    </a:p>
                  </a:txBody>
                  <a:tcPr>
                    <a:solidFill>
                      <a:srgbClr val="F7F8FA"/>
                    </a:solidFill>
                  </a:tcPr>
                </a:tc>
                <a:tc>
                  <a:txBody>
                    <a:bodyPr/>
                    <a:lstStyle/>
                    <a:p>
                      <a:pPr algn="ctr"/>
                      <a:r>
                        <a:rPr sz="800" b="1" i="0">
                          <a:solidFill>
                            <a:srgbClr val="0D0D0D"/>
                          </a:solidFill>
                          <a:latin typeface="Calibri"/>
                        </a:rPr>
                        <a:t>7,5x</a:t>
                      </a:r>
                    </a:p>
                  </a:txBody>
                  <a:tcPr>
                    <a:solidFill>
                      <a:srgbClr val="F7F8FA"/>
                    </a:solidFill>
                  </a:tcPr>
                </a:tc>
                <a:tc>
                  <a:txBody>
                    <a:bodyPr/>
                    <a:lstStyle/>
                    <a:p>
                      <a:pPr algn="ctr"/>
                      <a:r>
                        <a:rPr sz="800" b="1" i="0">
                          <a:solidFill>
                            <a:srgbClr val="0D0D0D"/>
                          </a:solidFill>
                          <a:latin typeface="Calibri"/>
                        </a:rPr>
                        <a:t>45,0x</a:t>
                      </a:r>
                    </a:p>
                  </a:txBody>
                  <a:tcPr>
                    <a:solidFill>
                      <a:srgbClr val="F7F8FA"/>
                    </a:solidFill>
                  </a:tcPr>
                </a:tc>
                <a:tc>
                  <a:txBody>
                    <a:bodyPr/>
                    <a:lstStyle/>
                    <a:p>
                      <a:pPr algn="ctr"/>
                      <a:r>
                        <a:rPr sz="800" b="1" i="0">
                          <a:solidFill>
                            <a:srgbClr val="0D0D0D"/>
                          </a:solidFill>
                          <a:latin typeface="Calibri"/>
                        </a:rPr>
                        <a:t>75,0 %</a:t>
                      </a:r>
                    </a:p>
                  </a:txBody>
                  <a:tcPr>
                    <a:solidFill>
                      <a:srgbClr val="F7F8FA"/>
                    </a:solidFill>
                  </a:tcPr>
                </a:tc>
                <a:tc>
                  <a:txBody>
                    <a:bodyPr/>
                    <a:lstStyle/>
                    <a:p>
                      <a:pPr algn="ctr"/>
                      <a:r>
                        <a:rPr sz="800" b="1" i="0">
                          <a:solidFill>
                            <a:srgbClr val="0D0D0D"/>
                          </a:solidFill>
                          <a:latin typeface="Calibri"/>
                        </a:rPr>
                        <a:t>32,0 %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Microsoft affiche un EV/EBITDA de 17.2x vs une médiane peers de 19.5x (+12%), justifiée par sa croissance supérieure (+20% YoY vs 15% pour les pairs) et ses marges nettes de 36% (vs 30% pour AWS). Une convergence vers la médiane impliquerait un upside de 14% sur le multiple seul.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 TGR de 3.0%, le DCF implicite suggère un prix de 410$ (base), soit un upside de 11%. La prime actuelle reflète déjà une croissance exceptionnelle, limitant le potentiel de rerating sans catalyseur externe (ex: adoption massive de Copilot).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Croissance cloud en décélération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leadership cloud d'Azure est menacé par la concurrence agressive d'AWS qui détient 33% du marché contre 23% pour Azure, avec des prix inférieurs de 20% sur les instances standard.</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Surévaluation P/E structurelle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Les investissements massifs en IA (20 milliards en 2024) pourraient ne pas générer de retours avant 5 ans, alourdissant la dette opérationnelle.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Dette cachée R&amp;D</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L'EV/EBITDA à 17.22x est élevé comparé à IBM (12.5x) ou Oracle (14.2x), malgré une croissance inférieure de 5 points.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baisse de 10% des dépenses IT des entreprises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d'AWS et Google Cloud avec perte de 3pts de part de marché cloud</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de Copilot avec adoption &lt;15% des utilisateurs d'ici fin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+0,139</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13</a:t>
                      </a:r>
                    </a:p>
                  </a:txBody>
                  <a:tcPr>
                    <a:solidFill>
                      <a:srgbClr val="EAF4EF"/>
                    </a:solidFill>
                  </a:tcPr>
                </a:tc>
                <a:tc>
                  <a:txBody>
                    <a:bodyPr/>
                    <a:lstStyle/>
                    <a:p>
                      <a:pPr algn="ctr"/>
                      <a:r>
                        <a:rPr sz="800" b="0" i="0">
                          <a:solidFill>
                            <a:srgbClr val="0D0D0D"/>
                          </a:solidFill>
                          <a:latin typeface="Calibri"/>
                        </a:rPr>
                        <a:t>+0,392</a:t>
                      </a:r>
                    </a:p>
                  </a:txBody>
                  <a:tcPr>
                    <a:solidFill>
                      <a:srgbClr val="EAF4EF"/>
                    </a:solidFill>
                  </a:tcPr>
                </a:tc>
                <a:tc>
                  <a:txBody>
                    <a:bodyPr/>
                    <a:lstStyle/>
                    <a:p>
                      <a:pPr algn="ctr"/>
                      <a:r>
                        <a:rPr sz="800" b="0" i="0">
                          <a:solidFill>
                            <a:srgbClr val="0D0D0D"/>
                          </a:solidFill>
                          <a:latin typeface="Calibri"/>
                        </a:rPr>
                        <a:t>Adoption massive de Copilot IA générative avec ARR cible de 15Md$ d'ici 2027 | Croissance Azure à +20% YoY en 2026 grâce aux migrations hybrides | Expansion des marges nettes à 37% en 2027 via l'effet de levier du SaaS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10</a:t>
                      </a:r>
                    </a:p>
                  </a:txBody>
                  <a:tcPr>
                    <a:solidFill>
                      <a:srgbClr val="FFFFFF"/>
                    </a:solidFill>
                  </a:tcPr>
                </a:tc>
                <a:tc>
                  <a:txBody>
                    <a:bodyPr/>
                    <a:lstStyle/>
                    <a:p>
                      <a:pPr algn="ctr"/>
                      <a:r>
                        <a:rPr sz="800" b="0" i="0">
                          <a:solidFill>
                            <a:srgbClr val="0D0D0D"/>
                          </a:solidFill>
                          <a:latin typeface="Calibri"/>
                        </a:rPr>
                        <a:t>+0,355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7</a:t>
                      </a:r>
                    </a:p>
                  </a:txBody>
                  <a:tcPr>
                    <a:solidFill>
                      <a:srgbClr val="FAF0EF"/>
                    </a:solidFill>
                  </a:tcPr>
                </a:tc>
                <a:tc>
                  <a:txBody>
                    <a:bodyPr/>
                    <a:lstStyle/>
                    <a:p>
                      <a:pPr algn="ctr"/>
                      <a:r>
                        <a:rPr sz="800" b="0" i="0">
                          <a:solidFill>
                            <a:srgbClr val="0D0D0D"/>
                          </a:solidFill>
                          <a:latin typeface="Calibri"/>
                        </a:rPr>
                        <a:t>+0,253</a:t>
                      </a:r>
                    </a:p>
                  </a:txBody>
                  <a:tcPr>
                    <a:solidFill>
                      <a:srgbClr val="FAF0EF"/>
                    </a:solidFill>
                  </a:tcPr>
                </a:tc>
                <a:tc>
                  <a:txBody>
                    <a:bodyPr/>
                    <a:lstStyle/>
                    <a:p>
                      <a:pPr algn="ctr"/>
                      <a:r>
                        <a:rPr sz="800" b="0" i="0">
                          <a:solidFill>
                            <a:srgbClr val="0D0D0D"/>
                          </a:solidFill>
                          <a:latin typeface="Calibri"/>
                        </a:rPr>
                        <a:t>Régulation antitrust européenne avec amende potentielle de 5Md$ en 2026 | Concurrence accrue d'AWS avec baisse des parts de marché cloud de 2pts en 2026 | Cyberattaque majeure sur Azure impactant 10% des clients en 2026</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montre un optimisme modéré pour Microsoft cette semaine, avec plusieurs partenariats stratégiques et initiatives technologiques soulignant son rôle clé dans l'écosystème IA. Cependant, des inquiétudes persistent sur la performance boursière récente et la concurrence accrue dans le secteur des hyperscalers.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7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Microsoft se négocie à 17.2x EV/EBITDA vs une médiane sectorielle de 20x, offrant une décote de 14% justifiée par sa qualité d'actifs. Le P/E de 26.9x reste raisonnable pour une croissance de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7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369,61 $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369,64 $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-19,1 %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TextBox 34"/>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croissance organique robuste (+14.9% YoY en 2025) et une marge nette de 36.1%, soutenues par l'adoption massive du cloud et des solutions IA. La valorisation reste attractive vs ses pairs malgré une prime modérée, avec un upside potentiel de 11-22% selon les scénarios.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7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7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78%</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du CA cloud Azure de +20% YoY en 2026 grâce à l'IA générative, captant 25% du marché cloud mondial</a:t>
            </a:r>
          </a:p>
        </p:txBody>
      </p:sp>
      <p:sp>
        <p:nvSpPr>
          <p:cNvPr id="31" name="Rectangle 30"/>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Expansion des marges nettes à 37% en 2027 via l'effet de levier opérationnel du SaaS et l'optimisation des coûts</a:t>
            </a:r>
          </a:p>
        </p:txBody>
      </p:sp>
      <p:sp>
        <p:nvSpPr>
          <p:cNvPr id="33" name="Rectangle 32"/>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Accélération des revenus IA (Copilot) avec un ARR potentiel de 15Md$ d'ici 2027.</a:t>
            </a:r>
          </a:p>
        </p:txBody>
      </p:sp>
      <p:sp>
        <p:nvSpPr>
          <p:cNvPr id="35" name="Rectangle 34"/>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7" name="TextBox 36"/>
          <p:cNvSpPr txBox="1"/>
          <p:nvPr/>
        </p:nvSpPr>
        <p:spPr>
          <a:xfrm>
            <a:off x="3401999" y="2412000"/>
            <a:ext cx="2556000" cy="216000"/>
          </a:xfrm>
          <a:prstGeom prst="rect">
            <a:avLst/>
          </a:prstGeom>
          <a:noFill/>
        </p:spPr>
        <p:txBody>
          <a:bodyPr wrap="square">
            <a:spAutoFit/>
          </a:bodyPr>
          <a:lstStyle/>
          <a:p>
            <a:pPr algn="l"/>
            <a:r>
              <a:rPr sz="750" b="0" i="0">
                <a:solidFill>
                  <a:srgbClr val="555555"/>
                </a:solidFill>
                <a:latin typeface="Calibri"/>
              </a:rPr>
              <a:t>• Adoption massive de Copilot IA générative avec ARR cible de 15Md$ d'ici 2027 | Croissance Azure à +20% YoY en 2026 grâce aux migrations hybr</a:t>
            </a:r>
          </a:p>
        </p:txBody>
      </p:sp>
      <p:sp>
        <p:nvSpPr>
          <p:cNvPr id="38" name="TextBox 37"/>
          <p:cNvSpPr txBox="1"/>
          <p:nvPr/>
        </p:nvSpPr>
        <p:spPr>
          <a:xfrm>
            <a:off x="3401999" y="2664000"/>
            <a:ext cx="2556000" cy="216000"/>
          </a:xfrm>
          <a:prstGeom prst="rect">
            <a:avLst/>
          </a:prstGeom>
          <a:noFill/>
        </p:spPr>
        <p:txBody>
          <a:bodyPr wrap="square">
            <a:spAutoFit/>
          </a:bodyPr>
          <a:lstStyle/>
          <a:p>
            <a:pPr algn="l"/>
            <a:r>
              <a:rPr sz="750" b="0" i="0">
                <a:solidFill>
                  <a:srgbClr val="555555"/>
                </a:solidFill>
                <a:latin typeface="Calibri"/>
              </a:rPr>
              <a:t>• Renforcement de l'écosystème LinkedIn avec +25% de revenus publicitaires en 2026 | Acquisition stratégique de startups IA pour 5Md$ en 2025-</a:t>
            </a:r>
          </a:p>
        </p:txBody>
      </p:sp>
      <p:sp>
        <p:nvSpPr>
          <p:cNvPr id="39" name="Rectangle 38"/>
          <p:cNvSpPr/>
          <p:nvPr/>
        </p:nvSpPr>
        <p:spPr>
          <a:xfrm>
            <a:off x="6120000" y="2196000"/>
            <a:ext cx="2664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73999" y="2214000"/>
            <a:ext cx="2592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1" name="TextBox 40"/>
          <p:cNvSpPr txBox="1"/>
          <p:nvPr/>
        </p:nvSpPr>
        <p:spPr>
          <a:xfrm>
            <a:off x="6173999" y="2412000"/>
            <a:ext cx="2556000" cy="216000"/>
          </a:xfrm>
          <a:prstGeom prst="rect">
            <a:avLst/>
          </a:prstGeom>
          <a:noFill/>
        </p:spPr>
        <p:txBody>
          <a:bodyPr wrap="square">
            <a:spAutoFit/>
          </a:bodyPr>
          <a:lstStyle/>
          <a:p>
            <a:pPr algn="l"/>
            <a:r>
              <a:rPr sz="750" b="0" i="0">
                <a:solidFill>
                  <a:srgbClr val="555555"/>
                </a:solidFill>
                <a:latin typeface="Calibri"/>
              </a:rPr>
              <a:t>• Régulation antitrust européenne avec amende potentielle de 5Md$ en 2026 | Concurrence accrue d'AWS avec baisse des parts de marché cloud de </a:t>
            </a:r>
          </a:p>
        </p:txBody>
      </p:sp>
      <p:sp>
        <p:nvSpPr>
          <p:cNvPr id="42" name="TextBox 41"/>
          <p:cNvSpPr txBox="1"/>
          <p:nvPr/>
        </p:nvSpPr>
        <p:spPr>
          <a:xfrm>
            <a:off x="6173999" y="2664000"/>
            <a:ext cx="2556000" cy="216000"/>
          </a:xfrm>
          <a:prstGeom prst="rect">
            <a:avLst/>
          </a:prstGeom>
          <a:noFill/>
        </p:spPr>
        <p:txBody>
          <a:bodyPr wrap="square">
            <a:spAutoFit/>
          </a:bodyPr>
          <a:lstStyle/>
          <a:p>
            <a:pPr algn="l"/>
            <a:r>
              <a:rPr sz="750" b="0" i="0">
                <a:solidFill>
                  <a:srgbClr val="555555"/>
                </a:solidFill>
                <a:latin typeface="Calibri"/>
              </a:rPr>
              <a:t>• Ralentissement des dépenses IT des entreprises en 2026 (-5% YoY) | Échec du déploiement de Copilot avec adoption &lt;10% des utilisateurs en 20</a:t>
            </a:r>
          </a:p>
        </p:txBody>
      </p:sp>
      <p:sp>
        <p:nvSpPr>
          <p:cNvPr id="43" name="Rectangle 42"/>
          <p:cNvSpPr/>
          <p:nvPr/>
        </p:nvSpPr>
        <p:spPr>
          <a:xfrm>
            <a:off x="3311999" y="3060000"/>
            <a:ext cx="5472000" cy="162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11999" y="3060000"/>
            <a:ext cx="36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01999" y="3074399"/>
            <a:ext cx="5346000" cy="136800"/>
          </a:xfrm>
          <a:prstGeom prst="rect">
            <a:avLst/>
          </a:prstGeom>
          <a:noFill/>
        </p:spPr>
        <p:txBody>
          <a:bodyPr wrap="square">
            <a:spAutoFit/>
          </a:bodyPr>
          <a:lstStyle/>
          <a:p>
            <a:pPr algn="l"/>
            <a:r>
              <a:rPr sz="750" b="0" i="0">
                <a:solidFill>
                  <a:srgbClr val="7A5000"/>
                </a:solidFill>
                <a:latin typeface="Calibri"/>
              </a:rPr>
              <a:t>⚠ Conditions d’invalidation : Macro: Récession mondiale en 2026 avec baisse de 10% des dépenses I  ·  Sectoriel: Concurrence accrue d'AWS et Google Cloud avec perte de 3pts </a:t>
            </a:r>
          </a:p>
        </p:txBody>
      </p:sp>
      <p:sp>
        <p:nvSpPr>
          <p:cNvPr id="46" name="TextBox 45"/>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