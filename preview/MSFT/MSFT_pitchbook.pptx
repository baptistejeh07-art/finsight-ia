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691297"/>
          </a:xfrm>
          <a:prstGeom prst="rect">
            <a:avLst/>
          </a:prstGeom>
          <a:noFill/>
        </p:spPr>
        <p:txBody>
          <a:bodyPr wrap="square">
            <a:spAutoFit/>
          </a:bodyPr>
          <a:lstStyle/>
          <a:p>
            <a:pPr algn="ctr"/>
            <a:r>
              <a:rPr sz="3400" b="1" i="0">
                <a:solidFill>
                  <a:srgbClr val="1B3A6B"/>
                </a:solidFill>
                <a:latin typeface="Calibri"/>
              </a:rPr>
              <a:t>Microsoft Corporation</a:t>
            </a:r>
          </a:p>
        </p:txBody>
      </p:sp>
      <p:sp>
        <p:nvSpPr>
          <p:cNvPr id="7" name="TextBox 6"/>
          <p:cNvSpPr txBox="1"/>
          <p:nvPr/>
        </p:nvSpPr>
        <p:spPr>
          <a:xfrm>
            <a:off x="457200" y="2242897"/>
            <a:ext cx="8229600" cy="255600"/>
          </a:xfrm>
          <a:prstGeom prst="rect">
            <a:avLst/>
          </a:prstGeom>
          <a:noFill/>
        </p:spPr>
        <p:txBody>
          <a:bodyPr wrap="square">
            <a:spAutoFit/>
          </a:bodyPr>
          <a:lstStyle/>
          <a:p>
            <a:pPr algn="ctr"/>
            <a:r>
              <a:rPr sz="1100" b="0" i="0">
                <a:solidFill>
                  <a:srgbClr val="888888"/>
                </a:solidFill>
                <a:latin typeface="Calibri"/>
              </a:rPr>
              <a:t>MSFT  ·  Technology</a:t>
            </a:r>
          </a:p>
        </p:txBody>
      </p:sp>
      <p:sp>
        <p:nvSpPr>
          <p:cNvPr id="8" name="Rectangle 7"/>
          <p:cNvSpPr/>
          <p:nvPr/>
        </p:nvSpPr>
        <p:spPr>
          <a:xfrm>
            <a:off x="2771999" y="2617297"/>
            <a:ext cx="3600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635297"/>
            <a:ext cx="3491999" cy="395999"/>
          </a:xfrm>
          <a:prstGeom prst="rect">
            <a:avLst/>
          </a:prstGeom>
          <a:noFill/>
        </p:spPr>
        <p:txBody>
          <a:bodyPr wrap="square">
            <a:spAutoFit/>
          </a:bodyPr>
          <a:lstStyle/>
          <a:p>
            <a:pPr algn="ctr"/>
            <a:r>
              <a:rPr sz="900" b="1" i="0">
                <a:solidFill>
                  <a:srgbClr val="FFFFFF"/>
                </a:solidFill>
                <a:latin typeface="Calibri"/>
              </a:rPr>
              <a:t>● BUY  ·  Prix cible base : 415 $  ·  Upside : +11,5 %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8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415 $  ·  Upside : +11,5 %  ·  Bear : 360 $ (-3,3 %)  ·  Bull : 450 $ (+20,9 %)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Pricing power</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Microsoft bénéficie d'une adoption massive de Copilot avec +1,000 entreprises clientes générant +$100M ARR en 2025</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La croissance d'Azure à +40% YoY en revenus cloud dépasse la moyenne du marché de +20%</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Croissance IA</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La marge EBITDA devrait atteindre 60% d'ici 2027 grâce au mix logiciel haute marge et aux économies d'échelle sur le cloud</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Régulation antitrust</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Régulation antitrust : risque de sanctions financières ou de restrictions sur les pratiques commerciales | Horizon: 12-18 mois | Ampleur: -10% à -15% sur valorisation</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Concurrence cloud</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Concurrence cloud : pression sur les parts de marché d'Azure face à AWS et Google Cloud | Horizon: 2026-2028 | Ampleur: -5% à -8% sur croissance</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Dépendance macro</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Dépendance macro : ralentissement économique impactant les dépenses IT des entreprises | Horizon: 2026 | Ampleur: -8% à -12% sur CA</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40104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3960000" cy="198000"/>
          </a:xfrm>
          <a:prstGeom prst="rect">
            <a:avLst/>
          </a:prstGeom>
          <a:noFill/>
        </p:spPr>
        <p:txBody>
          <a:bodyPr wrap="square">
            <a:spAutoFit/>
          </a:bodyPr>
          <a:lstStyle/>
          <a:p>
            <a:pPr algn="l"/>
            <a:r>
              <a:rPr sz="750" b="1" i="0">
                <a:solidFill>
                  <a:srgbClr val="FFFFFF"/>
                </a:solidFill>
                <a:latin typeface="Calibri"/>
              </a:rPr>
              <a:t>CATALYSEURS À SURVEILLER (12M)</a:t>
            </a:r>
          </a:p>
        </p:txBody>
      </p:sp>
      <p:sp>
        <p:nvSpPr>
          <p:cNvPr id="36" name="Rectangle 35"/>
          <p:cNvSpPr/>
          <p:nvPr/>
        </p:nvSpPr>
        <p:spPr>
          <a:xfrm>
            <a:off x="3672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3837600" cy="172800"/>
          </a:xfrm>
          <a:prstGeom prst="rect">
            <a:avLst/>
          </a:prstGeom>
          <a:noFill/>
        </p:spPr>
        <p:txBody>
          <a:bodyPr wrap="none">
            <a:spAutoFit/>
          </a:bodyPr>
          <a:lstStyle/>
          <a:p>
            <a:pPr algn="l"/>
            <a:r>
              <a:rPr sz="750" b="0" i="0">
                <a:solidFill>
                  <a:srgbClr val="333333"/>
                </a:solidFill>
                <a:latin typeface="Calibri"/>
              </a:rPr>
              <a:t>Copilot Enterprise: Lancement de Copilot Enterprise en 2026 avec intégration</a:t>
            </a:r>
          </a:p>
        </p:txBody>
      </p:sp>
      <p:sp>
        <p:nvSpPr>
          <p:cNvPr id="38" name="Rectangle 37"/>
          <p:cNvSpPr/>
          <p:nvPr/>
        </p:nvSpPr>
        <p:spPr>
          <a:xfrm>
            <a:off x="367200" y="3780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9200" y="3758400"/>
            <a:ext cx="3837600" cy="172800"/>
          </a:xfrm>
          <a:prstGeom prst="rect">
            <a:avLst/>
          </a:prstGeom>
          <a:noFill/>
        </p:spPr>
        <p:txBody>
          <a:bodyPr wrap="none">
            <a:spAutoFit/>
          </a:bodyPr>
          <a:lstStyle/>
          <a:p>
            <a:pPr algn="l"/>
            <a:r>
              <a:rPr sz="750" b="0" i="0">
                <a:solidFill>
                  <a:srgbClr val="333333"/>
                </a:solidFill>
                <a:latin typeface="Calibri"/>
              </a:rPr>
              <a:t>Azure AI Services: Expansion des services Azure AI avec des modèles</a:t>
            </a:r>
          </a:p>
        </p:txBody>
      </p:sp>
      <p:sp>
        <p:nvSpPr>
          <p:cNvPr id="40" name="Rectangle 39"/>
          <p:cNvSpPr/>
          <p:nvPr/>
        </p:nvSpPr>
        <p:spPr>
          <a:xfrm>
            <a:off x="4708800" y="33336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5600" y="3333600"/>
            <a:ext cx="3996000" cy="198000"/>
          </a:xfrm>
          <a:prstGeom prst="rect">
            <a:avLst/>
          </a:prstGeom>
          <a:noFill/>
        </p:spPr>
        <p:txBody>
          <a:bodyPr wrap="square">
            <a:spAutoFit/>
          </a:bodyPr>
          <a:lstStyle/>
          <a:p>
            <a:pPr algn="l"/>
            <a:r>
              <a:rPr sz="750" b="1" i="0">
                <a:solidFill>
                  <a:srgbClr val="FFFFFF"/>
                </a:solidFill>
                <a:latin typeface="Calibri"/>
              </a:rPr>
              <a:t>VALORISATION SYNTHÉTIQUE</a:t>
            </a:r>
          </a:p>
        </p:txBody>
      </p:sp>
      <p:graphicFrame>
        <p:nvGraphicFramePr>
          <p:cNvPr id="42" name="Table 41"/>
          <p:cNvGraphicFramePr>
            <a:graphicFrameLocks noGrp="1"/>
          </p:cNvGraphicFramePr>
          <p:nvPr/>
        </p:nvGraphicFramePr>
        <p:xfrm>
          <a:off x="4708800" y="3560400"/>
          <a:ext cx="4068000" cy="396000"/>
        </p:xfrm>
        <a:graphic>
          <a:graphicData uri="http://schemas.openxmlformats.org/drawingml/2006/table">
            <a:tbl>
              <a:tblPr firstRow="1" bandRow="1">
                <a:tableStyleId>{5C22544A-7EE6-4342-B048-85BDC9FD1C3A}</a:tableStyleId>
              </a:tblPr>
              <a:tblGrid>
                <a:gridCol w="2034000"/>
                <a:gridCol w="1017000"/>
                <a:gridCol w="1017000"/>
              </a:tblGrid>
              <a:tr h="99000">
                <a:tc>
                  <a:txBody>
                    <a:bodyPr/>
                    <a:lstStyle/>
                    <a:p>
                      <a:pPr algn="l"/>
                      <a:r>
                        <a:rPr sz="800" b="1" i="0">
                          <a:solidFill>
                            <a:srgbClr val="FFFFFF"/>
                          </a:solidFill>
                          <a:latin typeface="Calibri"/>
                        </a:rPr>
                        <a:t>Multiple</a:t>
                      </a:r>
                    </a:p>
                  </a:txBody>
                  <a:tcPr>
                    <a:solidFill>
                      <a:srgbClr val="1B3A6B"/>
                    </a:solidFill>
                  </a:tcPr>
                </a:tc>
                <a:tc>
                  <a:txBody>
                    <a:bodyPr/>
                    <a:lstStyle/>
                    <a:p>
                      <a:pPr algn="ctr"/>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Médiane pairs</a:t>
                      </a:r>
                    </a:p>
                  </a:txBody>
                  <a:tcPr>
                    <a:solidFill>
                      <a:srgbClr val="1B3A6B"/>
                    </a:solidFill>
                  </a:tcPr>
                </a:tc>
              </a:tr>
              <a:tr h="99000">
                <a:tc>
                  <a:txBody>
                    <a:bodyPr/>
                    <a:lstStyle/>
                    <a:p>
                      <a:pPr algn="l"/>
                      <a:r>
                        <a:rPr sz="800" b="0" i="0">
                          <a:solidFill>
                            <a:srgbClr val="0D0D0D"/>
                          </a:solidFill>
                          <a:latin typeface="Calibri"/>
                        </a:rPr>
                        <a:t>P/E NTM (x)</a:t>
                      </a:r>
                    </a:p>
                  </a:txBody>
                  <a:tcPr>
                    <a:solidFill>
                      <a:srgbClr val="FFFFFF"/>
                    </a:solidFill>
                  </a:tcPr>
                </a:tc>
                <a:tc>
                  <a:txBody>
                    <a:bodyPr/>
                    <a:lstStyle/>
                    <a:p>
                      <a:pPr algn="ctr"/>
                      <a:r>
                        <a:rPr sz="800" b="0" i="0">
                          <a:solidFill>
                            <a:srgbClr val="0D0D0D"/>
                          </a:solidFill>
                          <a:latin typeface="Calibri"/>
                        </a:rPr>
                        <a:t>27,1x</a:t>
                      </a:r>
                    </a:p>
                  </a:txBody>
                  <a:tcPr>
                    <a:solidFill>
                      <a:srgbClr val="FFFFFF"/>
                    </a:solidFill>
                  </a:tcPr>
                </a:tc>
                <a:tc>
                  <a:txBody>
                    <a:bodyPr/>
                    <a:lstStyle/>
                    <a:p>
                      <a:pPr algn="ctr"/>
                      <a:r>
                        <a:rPr sz="800" b="0" i="0">
                          <a:solidFill>
                            <a:srgbClr val="0D0D0D"/>
                          </a:solidFill>
                          <a:latin typeface="Calibri"/>
                        </a:rPr>
                        <a:t>35,0x</a:t>
                      </a:r>
                    </a:p>
                  </a:txBody>
                  <a:tcPr>
                    <a:solidFill>
                      <a:srgbClr val="FFFFFF"/>
                    </a:solidFill>
                  </a:tcPr>
                </a:tc>
              </a:tr>
              <a:tr h="99000">
                <a:tc>
                  <a:txBody>
                    <a:bodyPr/>
                    <a:lstStyle/>
                    <a:p>
                      <a:pPr algn="l"/>
                      <a:r>
                        <a:rPr sz="800" b="0" i="0">
                          <a:solidFill>
                            <a:srgbClr val="0D0D0D"/>
                          </a:solidFill>
                          <a:latin typeface="Calibri"/>
                        </a:rPr>
                        <a:t>EV/EBITDA (x)</a:t>
                      </a:r>
                    </a:p>
                  </a:txBody>
                  <a:tcPr>
                    <a:solidFill>
                      <a:srgbClr val="F7F8FA"/>
                    </a:solidFill>
                  </a:tcPr>
                </a:tc>
                <a:tc>
                  <a:txBody>
                    <a:bodyPr/>
                    <a:lstStyle/>
                    <a:p>
                      <a:pPr algn="ctr"/>
                      <a:r>
                        <a:rPr sz="800" b="0" i="0">
                          <a:solidFill>
                            <a:srgbClr val="0D0D0D"/>
                          </a:solidFill>
                          <a:latin typeface="Calibri"/>
                        </a:rPr>
                        <a:t>17,3x</a:t>
                      </a:r>
                    </a:p>
                  </a:txBody>
                  <a:tcPr>
                    <a:solidFill>
                      <a:srgbClr val="F7F8FA"/>
                    </a:solidFill>
                  </a:tcPr>
                </a:tc>
                <a:tc>
                  <a:txBody>
                    <a:bodyPr/>
                    <a:lstStyle/>
                    <a:p>
                      <a:pPr algn="ctr"/>
                      <a:r>
                        <a:rPr sz="800" b="0" i="0">
                          <a:solidFill>
                            <a:srgbClr val="0D0D0D"/>
                          </a:solidFill>
                          <a:latin typeface="Calibri"/>
                        </a:rPr>
                        <a:t>17,8x</a:t>
                      </a:r>
                    </a:p>
                  </a:txBody>
                  <a:tcPr>
                    <a:solidFill>
                      <a:srgbClr val="F7F8FA"/>
                    </a:solidFill>
                  </a:tcPr>
                </a:tc>
              </a:tr>
              <a:tr h="99000">
                <a:tc>
                  <a:txBody>
                    <a:bodyPr/>
                    <a:lstStyle/>
                    <a:p>
                      <a:pPr algn="l"/>
                      <a:r>
                        <a:rPr sz="800" b="0" i="0">
                          <a:solidFill>
                            <a:srgbClr val="0D0D0D"/>
                          </a:solidFill>
                          <a:latin typeface="Calibri"/>
                        </a:rPr>
                        <a:t>Cible DCF ($)</a:t>
                      </a:r>
                    </a:p>
                  </a:txBody>
                  <a:tcPr>
                    <a:solidFill>
                      <a:srgbClr val="FFFFFF"/>
                    </a:solidFill>
                  </a:tcPr>
                </a:tc>
                <a:tc>
                  <a:txBody>
                    <a:bodyPr/>
                    <a:lstStyle/>
                    <a:p>
                      <a:pPr algn="ctr"/>
                      <a:r>
                        <a:rPr sz="800" b="0" i="0">
                          <a:solidFill>
                            <a:srgbClr val="0D0D0D"/>
                          </a:solidFill>
                          <a:latin typeface="Calibri"/>
                        </a:rPr>
                        <a:t>415 $</a:t>
                      </a:r>
                    </a:p>
                  </a:txBody>
                  <a:tcPr>
                    <a:solidFill>
                      <a:srgbClr val="FFFFFF"/>
                    </a:solidFill>
                  </a:tcPr>
                </a:tc>
                <a:tc>
                  <a:txBody>
                    <a:bodyPr/>
                    <a:lstStyle/>
                    <a:p>
                      <a:pPr algn="ctr"/>
                      <a:r>
                        <a:rPr sz="800" b="0" i="0">
                          <a:solidFill>
                            <a:srgbClr val="0D0D0D"/>
                          </a:solidFill>
                          <a:latin typeface="Calibri"/>
                        </a:rPr>
                        <a:t>Upside +11,5 %</a:t>
                      </a:r>
                    </a:p>
                  </a:txBody>
                  <a:tcPr>
                    <a:solidFill>
                      <a:srgbClr val="FFFFFF"/>
                    </a:solidFill>
                  </a:tcPr>
                </a:tc>
              </a:tr>
            </a:tbl>
          </a:graphicData>
        </a:graphic>
      </p:graphicFrame>
      <p:sp>
        <p:nvSpPr>
          <p:cNvPr id="43" name="Rectangle 42"/>
          <p:cNvSpPr/>
          <p:nvPr/>
        </p:nvSpPr>
        <p:spPr>
          <a:xfrm>
            <a:off x="4525200" y="3301200"/>
            <a:ext cx="10800" cy="720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72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17,3x</a:t>
            </a:r>
          </a:p>
        </p:txBody>
      </p:sp>
      <p:sp>
        <p:nvSpPr>
          <p:cNvPr id="48" name="TextBox 47"/>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9" name="TextBox 48"/>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17,8x med. pairs</a:t>
            </a:r>
          </a:p>
        </p:txBody>
      </p:sp>
      <p:sp>
        <p:nvSpPr>
          <p:cNvPr id="50" name="Rectangle 49"/>
          <p:cNvSpPr/>
          <p:nvPr/>
        </p:nvSpPr>
        <p:spPr>
          <a:xfrm>
            <a:off x="24876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4876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53" name="TextBox 52"/>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4" name="TextBox 53"/>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55" name="Rectangle 54"/>
          <p:cNvSpPr/>
          <p:nvPr/>
        </p:nvSpPr>
        <p:spPr>
          <a:xfrm>
            <a:off x="46080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080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415 $</a:t>
            </a:r>
          </a:p>
        </p:txBody>
      </p:sp>
      <p:sp>
        <p:nvSpPr>
          <p:cNvPr id="58" name="TextBox 57"/>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9" name="TextBox 58"/>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+11,5 % vs cours</a:t>
            </a:r>
          </a:p>
        </p:txBody>
      </p:sp>
      <p:sp>
        <p:nvSpPr>
          <p:cNvPr id="60" name="Rectangle 59"/>
          <p:cNvSpPr/>
          <p:nvPr/>
        </p:nvSpPr>
        <p:spPr>
          <a:xfrm>
            <a:off x="67284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7284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+0,408</a:t>
            </a:r>
          </a:p>
        </p:txBody>
      </p:sp>
      <p:sp>
        <p:nvSpPr>
          <p:cNvPr id="63" name="TextBox 62"/>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4" name="TextBox 63"/>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Positif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Microsoft Corporation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Régulation antitrust  ·  Concurrence cloud</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Microsoft Corporation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Microsoft est un leader mondial des logiciels, du cloud et des solutions d'intelligence artificielle, avec une offre intégrée couvrant Windows, Office 365, Azure et LinkedIn. Son positionnement repose sur un écosystème fermé et une adoption massive par les entreprises et consommateurs, renforçant sa résilience face aux cycles économiques. Les avantages concurrentiels incluent des coûts marginaux quasi nuls pour les logiciels, une base d'utilisateurs captive et une capacité d'innovation soutenue par des investissements R&amp;D records.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Productivité et Entreprise</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Ce segment génère des revenus récurrents via des abonnements (Office 365, Microsoft 365) et des licences perpétuelles, avec une base de 400M+ utilisateurs actifs. Les clients cibles sont les entreprises et particuliers, avec une croissance tirée par l'adoption du cloud et des outils collaboratifs. Les moteurs incluent l'IA intégrée (Copilot) et la migration vers le SaaS.</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Cloud et IA</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en hypercroissance porté par Azure, la plateforme cloud leader avec 24% de part de marché, et les services d'IA générative (Azure AI). Les revenus proviennent des services cloud (IaaS, PaaS) et des solutions d'IA, avec des clients cibles allant des startups aux entreprises du CAC 40. Les moteurs incluent la demande en infrastructure scalable et en outils d'IA d'entreprise.</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2 764,5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281,7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372,29 $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17,3x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27,1x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42%</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Productivité et Entreprise</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Ce segment génère des revenus récurrents via des abonnements (Office 365, Microsoft 365) et des licences perpétuelles, avec une base de 400M+ utilisateurs actifs. Les clients cibles sont les entreprises et particuliers, avec une croissance tirée par l'adoption du cloud et des outils collaboratifs. Les moteurs incluent l'IA intégrée (Copilot) et la migration vers le SaaS.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38%</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Cloud et IA</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en hypercroissance porté par Azure, la plateforme cloud leader avec 24% de part de marché, et les services d'IA générative (Azure AI). Les revenus proviennent des services cloud (IaaS, PaaS) et des solutions d'IA, avec des clients cibles allant des startups aux entreprises du CAC 40. Les moteurs incluent la demande en infrastructure scalable et en outils d'IA d'entreprise.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211,9</a:t>
                      </a:r>
                    </a:p>
                  </a:txBody>
                  <a:tcPr>
                    <a:solidFill>
                      <a:srgbClr val="FFFFFF"/>
                    </a:solidFill>
                  </a:tcPr>
                </a:tc>
                <a:tc>
                  <a:txBody>
                    <a:bodyPr/>
                    <a:lstStyle/>
                    <a:p>
                      <a:pPr algn="ctr"/>
                      <a:r>
                        <a:rPr sz="800" b="1" i="0">
                          <a:solidFill>
                            <a:srgbClr val="0D0D0D"/>
                          </a:solidFill>
                          <a:latin typeface="Calibri"/>
                        </a:rPr>
                        <a:t>245,1</a:t>
                      </a:r>
                    </a:p>
                  </a:txBody>
                  <a:tcPr>
                    <a:solidFill>
                      <a:srgbClr val="FFFFFF"/>
                    </a:solidFill>
                  </a:tcPr>
                </a:tc>
                <a:tc>
                  <a:txBody>
                    <a:bodyPr/>
                    <a:lstStyle/>
                    <a:p>
                      <a:pPr algn="ctr"/>
                      <a:r>
                        <a:rPr sz="800" b="1" i="0">
                          <a:solidFill>
                            <a:srgbClr val="1B3A6B"/>
                          </a:solidFill>
                          <a:latin typeface="Calibri"/>
                        </a:rPr>
                        <a:t>281,7</a:t>
                      </a:r>
                    </a:p>
                  </a:txBody>
                  <a:tcPr>
                    <a:solidFill>
                      <a:srgbClr val="DDE8F5"/>
                    </a:solidFill>
                  </a:tcPr>
                </a:tc>
                <a:tc>
                  <a:txBody>
                    <a:bodyPr/>
                    <a:lstStyle/>
                    <a:p>
                      <a:pPr algn="ctr"/>
                      <a:r>
                        <a:rPr sz="800" b="1" i="0">
                          <a:solidFill>
                            <a:srgbClr val="0D0D0D"/>
                          </a:solidFill>
                          <a:latin typeface="Calibri"/>
                        </a:rPr>
                        <a:t>324,0</a:t>
                      </a:r>
                    </a:p>
                  </a:txBody>
                  <a:tcPr>
                    <a:solidFill>
                      <a:srgbClr val="FFFFFF"/>
                    </a:solidFill>
                  </a:tcPr>
                </a:tc>
                <a:tc>
                  <a:txBody>
                    <a:bodyPr/>
                    <a:lstStyle/>
                    <a:p>
                      <a:pPr algn="ctr"/>
                      <a:r>
                        <a:rPr sz="800" b="1" i="0">
                          <a:solidFill>
                            <a:srgbClr val="0D0D0D"/>
                          </a:solidFill>
                          <a:latin typeface="Calibri"/>
                        </a:rPr>
                        <a:t>372,0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+6,9 %</a:t>
                      </a:r>
                    </a:p>
                  </a:txBody>
                  <a:tcPr>
                    <a:solidFill>
                      <a:srgbClr val="F7F8FA"/>
                    </a:solidFill>
                  </a:tcPr>
                </a:tc>
                <a:tc>
                  <a:txBody>
                    <a:bodyPr/>
                    <a:lstStyle/>
                    <a:p>
                      <a:pPr algn="ctr"/>
                      <a:r>
                        <a:rPr sz="750" b="0" i="1">
                          <a:solidFill>
                            <a:srgbClr val="555555"/>
                          </a:solidFill>
                          <a:latin typeface="Calibri"/>
                        </a:rPr>
                        <a:t>+15,7 %</a:t>
                      </a:r>
                    </a:p>
                  </a:txBody>
                  <a:tcPr>
                    <a:solidFill>
                      <a:srgbClr val="F7F8FA"/>
                    </a:solidFill>
                  </a:tcPr>
                </a:tc>
                <a:tc>
                  <a:txBody>
                    <a:bodyPr/>
                    <a:lstStyle/>
                    <a:p>
                      <a:pPr algn="ctr"/>
                      <a:r>
                        <a:rPr sz="750" b="0" i="1">
                          <a:solidFill>
                            <a:srgbClr val="555555"/>
                          </a:solidFill>
                          <a:latin typeface="Calibri"/>
                        </a:rPr>
                        <a:t>+14,9 %</a:t>
                      </a:r>
                    </a:p>
                  </a:txBody>
                  <a:tcPr>
                    <a:solidFill>
                      <a:srgbClr val="DDE8F5"/>
                    </a:solidFill>
                  </a:tcPr>
                </a:tc>
                <a:tc>
                  <a:txBody>
                    <a:bodyPr/>
                    <a:lstStyle/>
                    <a:p>
                      <a:pPr algn="ctr"/>
                      <a:r>
                        <a:rPr sz="750" b="0" i="1">
                          <a:solidFill>
                            <a:srgbClr val="555555"/>
                          </a:solidFill>
                          <a:latin typeface="Calibri"/>
                        </a:rPr>
                        <a:t>+15,0 %</a:t>
                      </a:r>
                    </a:p>
                  </a:txBody>
                  <a:tcPr>
                    <a:solidFill>
                      <a:srgbClr val="F7F8FA"/>
                    </a:solidFill>
                  </a:tcPr>
                </a:tc>
                <a:tc>
                  <a:txBody>
                    <a:bodyPr/>
                    <a:lstStyle/>
                    <a:p>
                      <a:pPr algn="ctr"/>
                      <a:r>
                        <a:rPr sz="750" b="0" i="1">
                          <a:solidFill>
                            <a:srgbClr val="555555"/>
                          </a:solidFill>
                          <a:latin typeface="Calibri"/>
                        </a:rPr>
                        <a:t>+14,8 %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146,1</a:t>
                      </a:r>
                    </a:p>
                  </a:txBody>
                  <a:tcPr>
                    <a:solidFill>
                      <a:srgbClr val="FFFFFF"/>
                    </a:solidFill>
                  </a:tcPr>
                </a:tc>
                <a:tc>
                  <a:txBody>
                    <a:bodyPr/>
                    <a:lstStyle/>
                    <a:p>
                      <a:pPr algn="ctr"/>
                      <a:r>
                        <a:rPr sz="800" b="1" i="0">
                          <a:solidFill>
                            <a:srgbClr val="0D0D0D"/>
                          </a:solidFill>
                          <a:latin typeface="Calibri"/>
                        </a:rPr>
                        <a:t>171,0</a:t>
                      </a:r>
                    </a:p>
                  </a:txBody>
                  <a:tcPr>
                    <a:solidFill>
                      <a:srgbClr val="FFFFFF"/>
                    </a:solidFill>
                  </a:tcPr>
                </a:tc>
                <a:tc>
                  <a:txBody>
                    <a:bodyPr/>
                    <a:lstStyle/>
                    <a:p>
                      <a:pPr algn="ctr"/>
                      <a:r>
                        <a:rPr sz="800" b="1" i="0">
                          <a:solidFill>
                            <a:srgbClr val="1B3A6B"/>
                          </a:solidFill>
                          <a:latin typeface="Calibri"/>
                        </a:rPr>
                        <a:t>193,9</a:t>
                      </a:r>
                    </a:p>
                  </a:txBody>
                  <a:tcPr>
                    <a:solidFill>
                      <a:srgbClr val="DDE8F5"/>
                    </a:solidFill>
                  </a:tcPr>
                </a:tc>
                <a:tc>
                  <a:txBody>
                    <a:bodyPr/>
                    <a:lstStyle/>
                    <a:p>
                      <a:pPr algn="ctr"/>
                      <a:r>
                        <a:rPr sz="800" b="1" i="0">
                          <a:solidFill>
                            <a:srgbClr val="0D0D0D"/>
                          </a:solidFill>
                          <a:latin typeface="Calibri"/>
                        </a:rPr>
                        <a:t>223,6</a:t>
                      </a:r>
                    </a:p>
                  </a:txBody>
                  <a:tcPr>
                    <a:solidFill>
                      <a:srgbClr val="FFFFFF"/>
                    </a:solidFill>
                  </a:tcPr>
                </a:tc>
                <a:tc>
                  <a:txBody>
                    <a:bodyPr/>
                    <a:lstStyle/>
                    <a:p>
                      <a:pPr algn="ctr"/>
                      <a:r>
                        <a:rPr sz="800" b="1" i="0">
                          <a:solidFill>
                            <a:srgbClr val="0D0D0D"/>
                          </a:solidFill>
                          <a:latin typeface="Calibri"/>
                        </a:rPr>
                        <a:t>260,4</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68,9 %</a:t>
                      </a:r>
                    </a:p>
                  </a:txBody>
                  <a:tcPr>
                    <a:solidFill>
                      <a:srgbClr val="F7F8FA"/>
                    </a:solidFill>
                  </a:tcPr>
                </a:tc>
                <a:tc>
                  <a:txBody>
                    <a:bodyPr/>
                    <a:lstStyle/>
                    <a:p>
                      <a:pPr algn="ctr"/>
                      <a:r>
                        <a:rPr sz="750" b="0" i="1">
                          <a:solidFill>
                            <a:srgbClr val="555555"/>
                          </a:solidFill>
                          <a:latin typeface="Calibri"/>
                        </a:rPr>
                        <a:t>69,8 %</a:t>
                      </a:r>
                    </a:p>
                  </a:txBody>
                  <a:tcPr>
                    <a:solidFill>
                      <a:srgbClr val="F7F8FA"/>
                    </a:solidFill>
                  </a:tcPr>
                </a:tc>
                <a:tc>
                  <a:txBody>
                    <a:bodyPr/>
                    <a:lstStyle/>
                    <a:p>
                      <a:pPr algn="ctr"/>
                      <a:r>
                        <a:rPr sz="750" b="0" i="1">
                          <a:solidFill>
                            <a:srgbClr val="555555"/>
                          </a:solidFill>
                          <a:latin typeface="Calibri"/>
                        </a:rPr>
                        <a:t>68,8 %</a:t>
                      </a:r>
                    </a:p>
                  </a:txBody>
                  <a:tcPr>
                    <a:solidFill>
                      <a:srgbClr val="DDE8F5"/>
                    </a:solidFill>
                  </a:tcPr>
                </a:tc>
                <a:tc>
                  <a:txBody>
                    <a:bodyPr/>
                    <a:lstStyle/>
                    <a:p>
                      <a:pPr algn="ctr"/>
                      <a:r>
                        <a:rPr sz="750" b="0" i="1">
                          <a:solidFill>
                            <a:srgbClr val="555555"/>
                          </a:solidFill>
                          <a:latin typeface="Calibri"/>
                        </a:rPr>
                        <a:t>69,0 %</a:t>
                      </a:r>
                    </a:p>
                  </a:txBody>
                  <a:tcPr>
                    <a:solidFill>
                      <a:srgbClr val="F7F8FA"/>
                    </a:solidFill>
                  </a:tcPr>
                </a:tc>
                <a:tc>
                  <a:txBody>
                    <a:bodyPr/>
                    <a:lstStyle/>
                    <a:p>
                      <a:pPr algn="ctr"/>
                      <a:r>
                        <a:rPr sz="750" b="0" i="1">
                          <a:solidFill>
                            <a:srgbClr val="555555"/>
                          </a:solidFill>
                          <a:latin typeface="Calibri"/>
                        </a:rPr>
                        <a:t>70,0 %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105,1</a:t>
                      </a:r>
                    </a:p>
                  </a:txBody>
                  <a:tcPr>
                    <a:solidFill>
                      <a:srgbClr val="FFFFFF"/>
                    </a:solidFill>
                  </a:tcPr>
                </a:tc>
                <a:tc>
                  <a:txBody>
                    <a:bodyPr/>
                    <a:lstStyle/>
                    <a:p>
                      <a:pPr algn="ctr"/>
                      <a:r>
                        <a:rPr sz="800" b="1" i="0">
                          <a:solidFill>
                            <a:srgbClr val="0D0D0D"/>
                          </a:solidFill>
                          <a:latin typeface="Calibri"/>
                        </a:rPr>
                        <a:t>133,0</a:t>
                      </a:r>
                    </a:p>
                  </a:txBody>
                  <a:tcPr>
                    <a:solidFill>
                      <a:srgbClr val="FFFFFF"/>
                    </a:solidFill>
                  </a:tcPr>
                </a:tc>
                <a:tc>
                  <a:txBody>
                    <a:bodyPr/>
                    <a:lstStyle/>
                    <a:p>
                      <a:pPr algn="ctr"/>
                      <a:r>
                        <a:rPr sz="800" b="1" i="0">
                          <a:solidFill>
                            <a:srgbClr val="1B3A6B"/>
                          </a:solidFill>
                          <a:latin typeface="Calibri"/>
                        </a:rPr>
                        <a:t>160,2</a:t>
                      </a:r>
                    </a:p>
                  </a:txBody>
                  <a:tcPr>
                    <a:solidFill>
                      <a:srgbClr val="DDE8F5"/>
                    </a:solidFill>
                  </a:tcPr>
                </a:tc>
                <a:tc>
                  <a:txBody>
                    <a:bodyPr/>
                    <a:lstStyle/>
                    <a:p>
                      <a:pPr algn="ctr"/>
                      <a:r>
                        <a:rPr sz="800" b="1" i="0">
                          <a:solidFill>
                            <a:srgbClr val="0D0D0D"/>
                          </a:solidFill>
                          <a:latin typeface="Calibri"/>
                        </a:rPr>
                        <a:t>185,0</a:t>
                      </a:r>
                    </a:p>
                  </a:txBody>
                  <a:tcPr>
                    <a:solidFill>
                      <a:srgbClr val="FFFFFF"/>
                    </a:solidFill>
                  </a:tcPr>
                </a:tc>
                <a:tc>
                  <a:txBody>
                    <a:bodyPr/>
                    <a:lstStyle/>
                    <a:p>
                      <a:pPr algn="ctr"/>
                      <a:r>
                        <a:rPr sz="800" b="1" i="0">
                          <a:solidFill>
                            <a:srgbClr val="0D0D0D"/>
                          </a:solidFill>
                          <a:latin typeface="Calibri"/>
                        </a:rPr>
                        <a:t>220,0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49,6 %</a:t>
                      </a:r>
                    </a:p>
                  </a:txBody>
                  <a:tcPr>
                    <a:solidFill>
                      <a:srgbClr val="F7F8FA"/>
                    </a:solidFill>
                  </a:tcPr>
                </a:tc>
                <a:tc>
                  <a:txBody>
                    <a:bodyPr/>
                    <a:lstStyle/>
                    <a:p>
                      <a:pPr algn="ctr"/>
                      <a:r>
                        <a:rPr sz="750" b="0" i="1">
                          <a:solidFill>
                            <a:srgbClr val="555555"/>
                          </a:solidFill>
                          <a:latin typeface="Calibri"/>
                        </a:rPr>
                        <a:t>54,3 %</a:t>
                      </a:r>
                    </a:p>
                  </a:txBody>
                  <a:tcPr>
                    <a:solidFill>
                      <a:srgbClr val="F7F8FA"/>
                    </a:solidFill>
                  </a:tcPr>
                </a:tc>
                <a:tc>
                  <a:txBody>
                    <a:bodyPr/>
                    <a:lstStyle/>
                    <a:p>
                      <a:pPr algn="ctr"/>
                      <a:r>
                        <a:rPr sz="750" b="0" i="1">
                          <a:solidFill>
                            <a:srgbClr val="555555"/>
                          </a:solidFill>
                          <a:latin typeface="Calibri"/>
                        </a:rPr>
                        <a:t>56,9 %</a:t>
                      </a:r>
                    </a:p>
                  </a:txBody>
                  <a:tcPr>
                    <a:solidFill>
                      <a:srgbClr val="DDE8F5"/>
                    </a:solidFill>
                  </a:tcPr>
                </a:tc>
                <a:tc>
                  <a:txBody>
                    <a:bodyPr/>
                    <a:lstStyle/>
                    <a:p>
                      <a:pPr algn="ctr"/>
                      <a:r>
                        <a:rPr sz="750" b="0" i="1">
                          <a:solidFill>
                            <a:srgbClr val="555555"/>
                          </a:solidFill>
                          <a:latin typeface="Calibri"/>
                        </a:rPr>
                        <a:t>57,1 %</a:t>
                      </a:r>
                    </a:p>
                  </a:txBody>
                  <a:tcPr>
                    <a:solidFill>
                      <a:srgbClr val="F7F8FA"/>
                    </a:solidFill>
                  </a:tcPr>
                </a:tc>
                <a:tc>
                  <a:txBody>
                    <a:bodyPr/>
                    <a:lstStyle/>
                    <a:p>
                      <a:pPr algn="ctr"/>
                      <a:r>
                        <a:rPr sz="750" b="0" i="1">
                          <a:solidFill>
                            <a:srgbClr val="555555"/>
                          </a:solidFill>
                          <a:latin typeface="Calibri"/>
                        </a:rPr>
                        <a:t>59,1 %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72,4</a:t>
                      </a:r>
                    </a:p>
                  </a:txBody>
                  <a:tcPr>
                    <a:solidFill>
                      <a:srgbClr val="FFFFFF"/>
                    </a:solidFill>
                  </a:tcPr>
                </a:tc>
                <a:tc>
                  <a:txBody>
                    <a:bodyPr/>
                    <a:lstStyle/>
                    <a:p>
                      <a:pPr algn="ctr"/>
                      <a:r>
                        <a:rPr sz="800" b="1" i="0">
                          <a:solidFill>
                            <a:srgbClr val="0D0D0D"/>
                          </a:solidFill>
                          <a:latin typeface="Calibri"/>
                        </a:rPr>
                        <a:t>88,1</a:t>
                      </a:r>
                    </a:p>
                  </a:txBody>
                  <a:tcPr>
                    <a:solidFill>
                      <a:srgbClr val="FFFFFF"/>
                    </a:solidFill>
                  </a:tcPr>
                </a:tc>
                <a:tc>
                  <a:txBody>
                    <a:bodyPr/>
                    <a:lstStyle/>
                    <a:p>
                      <a:pPr algn="ctr"/>
                      <a:r>
                        <a:rPr sz="800" b="1" i="0">
                          <a:solidFill>
                            <a:srgbClr val="1B3A6B"/>
                          </a:solidFill>
                          <a:latin typeface="Calibri"/>
                        </a:rPr>
                        <a:t>101,8</a:t>
                      </a:r>
                    </a:p>
                  </a:txBody>
                  <a:tcPr>
                    <a:solidFill>
                      <a:srgbClr val="DDE8F5"/>
                    </a:solidFill>
                  </a:tcPr>
                </a:tc>
                <a:tc>
                  <a:txBody>
                    <a:bodyPr/>
                    <a:lstStyle/>
                    <a:p>
                      <a:pPr algn="ctr"/>
                      <a:r>
                        <a:rPr sz="800" b="1" i="0">
                          <a:solidFill>
                            <a:srgbClr val="0D0D0D"/>
                          </a:solidFill>
                          <a:latin typeface="Calibri"/>
                        </a:rPr>
                        <a:t>115,0</a:t>
                      </a:r>
                    </a:p>
                  </a:txBody>
                  <a:tcPr>
                    <a:solidFill>
                      <a:srgbClr val="FFFFFF"/>
                    </a:solidFill>
                  </a:tcPr>
                </a:tc>
                <a:tc>
                  <a:txBody>
                    <a:bodyPr/>
                    <a:lstStyle/>
                    <a:p>
                      <a:pPr algn="ctr"/>
                      <a:r>
                        <a:rPr sz="800" b="1" i="0">
                          <a:solidFill>
                            <a:srgbClr val="0D0D0D"/>
                          </a:solidFill>
                          <a:latin typeface="Calibri"/>
                        </a:rPr>
                        <a:t>135,0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34,2 %</a:t>
                      </a:r>
                    </a:p>
                  </a:txBody>
                  <a:tcPr>
                    <a:solidFill>
                      <a:srgbClr val="F7F8FA"/>
                    </a:solidFill>
                  </a:tcPr>
                </a:tc>
                <a:tc>
                  <a:txBody>
                    <a:bodyPr/>
                    <a:lstStyle/>
                    <a:p>
                      <a:pPr algn="ctr"/>
                      <a:r>
                        <a:rPr sz="750" b="0" i="1">
                          <a:solidFill>
                            <a:srgbClr val="555555"/>
                          </a:solidFill>
                          <a:latin typeface="Calibri"/>
                        </a:rPr>
                        <a:t>36,0 %</a:t>
                      </a:r>
                    </a:p>
                  </a:txBody>
                  <a:tcPr>
                    <a:solidFill>
                      <a:srgbClr val="F7F8FA"/>
                    </a:solidFill>
                  </a:tcPr>
                </a:tc>
                <a:tc>
                  <a:txBody>
                    <a:bodyPr/>
                    <a:lstStyle/>
                    <a:p>
                      <a:pPr algn="ctr"/>
                      <a:r>
                        <a:rPr sz="750" b="0" i="1">
                          <a:solidFill>
                            <a:srgbClr val="555555"/>
                          </a:solidFill>
                          <a:latin typeface="Calibri"/>
                        </a:rPr>
                        <a:t>36,1 %</a:t>
                      </a:r>
                    </a:p>
                  </a:txBody>
                  <a:tcPr>
                    <a:solidFill>
                      <a:srgbClr val="DDE8F5"/>
                    </a:solidFill>
                  </a:tcPr>
                </a:tc>
                <a:tc>
                  <a:txBody>
                    <a:bodyPr/>
                    <a:lstStyle/>
                    <a:p>
                      <a:pPr algn="ctr"/>
                      <a:r>
                        <a:rPr sz="750" b="0" i="1">
                          <a:solidFill>
                            <a:srgbClr val="555555"/>
                          </a:solidFill>
                          <a:latin typeface="Calibri"/>
                        </a:rPr>
                        <a:t>35,5 %</a:t>
                      </a:r>
                    </a:p>
                  </a:txBody>
                  <a:tcPr>
                    <a:solidFill>
                      <a:srgbClr val="F7F8FA"/>
                    </a:solidFill>
                  </a:tcPr>
                </a:tc>
                <a:tc>
                  <a:txBody>
                    <a:bodyPr/>
                    <a:lstStyle/>
                    <a:p>
                      <a:pPr algn="ctr"/>
                      <a:r>
                        <a:rPr sz="750" b="0" i="1">
                          <a:solidFill>
                            <a:srgbClr val="555555"/>
                          </a:solidFill>
                          <a:latin typeface="Calibri"/>
                        </a:rPr>
                        <a:t>36,3 %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Le CA 2025 atteint 281,724M$ (+14.9% YoY), avec un levier opérationnel visible : la marge brute passe de 68.4% en 2022 à 68.8% en 2025 (+40bps), portée par le mix logiciel haute marge et les économies d'échelle. Le ND/EBITDA de 0.1x et l'Altman Z-score de 4.61 soulignent une solidité financière exceptionnelle, permettant des rachats d'actions massifs (ex: 50Mds$ autorisés en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30,2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40,2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12,9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2,01</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2,00</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52,8x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4,61</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-2,57</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Le CA 2025 atteint 281,724M$ (+14.9% YoY), avec un levier opérationnel visible : la marge brute passe de 68.4% en 2022 à 68.8% en 2025 (+40bps), portée par le mix logiciel haute marge et les économies d'échelle. Le ND/EBITDA de 0.1x et l'Altman Z-score de 4.61 soulignent une solidité financière exceptionnelle, permettant des rachats d'actions massifs (ex: 50Mds$ autorisés en 2024).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68,8 %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56,9 %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29,6 %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Intensif</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La marge EBITDA progresse de 50.6% en 2022 à 56.9% en 2025 (+630bps), grâce à la montée en puissance des segments cloud et IA à haute marge, compensant la pression sur les coûts d'infrastructure. Ce mouvement structurel reflète un pricing power durable et une exécution opérationnelle exemplaire. Le risque de mean-reversion est limité par la différenciation technologique et la fidélisation client.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415 $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360 $</a:t>
                      </a:r>
                    </a:p>
                  </a:txBody>
                  <a:tcPr>
                    <a:solidFill>
                      <a:srgbClr val="FAF0EF"/>
                    </a:solidFill>
                  </a:tcPr>
                </a:tc>
                <a:tc>
                  <a:txBody>
                    <a:bodyPr/>
                    <a:lstStyle/>
                    <a:p>
                      <a:pPr algn="ctr"/>
                      <a:r>
                        <a:rPr sz="2000" b="1" i="0">
                          <a:solidFill>
                            <a:srgbClr val="2E5FA3"/>
                          </a:solidFill>
                          <a:latin typeface="Calibri"/>
                        </a:rPr>
                        <a:t>415 $</a:t>
                      </a:r>
                    </a:p>
                  </a:txBody>
                  <a:tcPr>
                    <a:solidFill>
                      <a:srgbClr val="EEF3FA"/>
                    </a:solidFill>
                  </a:tcPr>
                </a:tc>
                <a:tc>
                  <a:txBody>
                    <a:bodyPr/>
                    <a:lstStyle/>
                    <a:p>
                      <a:pPr algn="ctr"/>
                      <a:r>
                        <a:rPr sz="2000" b="1" i="0">
                          <a:solidFill>
                            <a:srgbClr val="1A7A4A"/>
                          </a:solidFill>
                          <a:latin typeface="Calibri"/>
                        </a:rPr>
                        <a:t>450 $</a:t>
                      </a:r>
                    </a:p>
                  </a:txBody>
                  <a:tcPr>
                    <a:solidFill>
                      <a:srgbClr val="EAF4EF"/>
                    </a:solidFill>
                  </a:tcPr>
                </a:tc>
              </a:tr>
              <a:tr h="342900">
                <a:tc>
                  <a:txBody>
                    <a:bodyPr/>
                    <a:lstStyle/>
                    <a:p>
                      <a:pPr algn="ctr"/>
                      <a:r>
                        <a:rPr sz="1200" b="1" i="0">
                          <a:solidFill>
                            <a:srgbClr val="A82020"/>
                          </a:solidFill>
                          <a:latin typeface="Calibri"/>
                        </a:rPr>
                        <a:t>-3,3 %</a:t>
                      </a:r>
                    </a:p>
                  </a:txBody>
                  <a:tcPr>
                    <a:solidFill>
                      <a:srgbClr val="FAF0EF"/>
                    </a:solidFill>
                  </a:tcPr>
                </a:tc>
                <a:tc>
                  <a:txBody>
                    <a:bodyPr/>
                    <a:lstStyle/>
                    <a:p>
                      <a:pPr algn="ctr"/>
                      <a:r>
                        <a:rPr sz="1200" b="1" i="0">
                          <a:solidFill>
                            <a:srgbClr val="2E5FA3"/>
                          </a:solidFill>
                          <a:latin typeface="Calibri"/>
                        </a:rPr>
                        <a:t>+11,5 %</a:t>
                      </a:r>
                    </a:p>
                  </a:txBody>
                  <a:tcPr>
                    <a:solidFill>
                      <a:srgbClr val="EEF3FA"/>
                    </a:solidFill>
                  </a:tcPr>
                </a:tc>
                <a:tc>
                  <a:txBody>
                    <a:bodyPr/>
                    <a:lstStyle/>
                    <a:p>
                      <a:pPr algn="ctr"/>
                      <a:r>
                        <a:rPr sz="1200" b="1" i="0">
                          <a:solidFill>
                            <a:srgbClr val="1A7A4A"/>
                          </a:solidFill>
                          <a:latin typeface="Calibri"/>
                        </a:rPr>
                        <a:t>+20,9 %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DCF — 10 000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 / action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-46,4 %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336 $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-9,6 %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+64,0 %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629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702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389</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415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445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TextBox 21"/>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Avec un WACC de 10.3% et une TGR de 3.0%, le prix implicite DCF est estimé à 415$ (base), soit un upside de 11.5% vs le cours actuel. Cet écart suggère une sous-valorisation modérée, reflétant une prime de croissance déjà partiellement pricee. Une accélération de l'adoption de l'IA pourrait débloquer un re-rating significatif.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Microsoft Corporation</a:t>
                      </a:r>
                    </a:p>
                  </a:txBody>
                  <a:tcPr>
                    <a:solidFill>
                      <a:srgbClr val="DDE8F5"/>
                    </a:solidFill>
                  </a:tcPr>
                </a:tc>
                <a:tc>
                  <a:txBody>
                    <a:bodyPr/>
                    <a:lstStyle/>
                    <a:p>
                      <a:pPr algn="ctr"/>
                      <a:r>
                        <a:rPr sz="750" b="1" i="0">
                          <a:solidFill>
                            <a:srgbClr val="2E5FA3"/>
                          </a:solidFill>
                          <a:latin typeface="Calibri"/>
                        </a:rPr>
                        <a:t>MSFT</a:t>
                      </a:r>
                    </a:p>
                  </a:txBody>
                  <a:tcPr>
                    <a:solidFill>
                      <a:srgbClr val="DDE8F5"/>
                    </a:solidFill>
                  </a:tcPr>
                </a:tc>
                <a:tc>
                  <a:txBody>
                    <a:bodyPr/>
                    <a:lstStyle/>
                    <a:p>
                      <a:pPr algn="ctr"/>
                      <a:r>
                        <a:rPr sz="800" b="1" i="0">
                          <a:solidFill>
                            <a:srgbClr val="1B3A6B"/>
                          </a:solidFill>
                          <a:latin typeface="Calibri"/>
                        </a:rPr>
                        <a:t>2 764,5</a:t>
                      </a:r>
                    </a:p>
                  </a:txBody>
                  <a:tcPr>
                    <a:solidFill>
                      <a:srgbClr val="DDE8F5"/>
                    </a:solidFill>
                  </a:tcPr>
                </a:tc>
                <a:tc>
                  <a:txBody>
                    <a:bodyPr/>
                    <a:lstStyle/>
                    <a:p>
                      <a:pPr algn="ctr"/>
                      <a:r>
                        <a:rPr sz="800" b="1" i="0">
                          <a:solidFill>
                            <a:srgbClr val="1B3A6B"/>
                          </a:solidFill>
                          <a:latin typeface="Calibri"/>
                        </a:rPr>
                        <a:t>17,3x</a:t>
                      </a:r>
                    </a:p>
                  </a:txBody>
                  <a:tcPr>
                    <a:solidFill>
                      <a:srgbClr val="DDE8F5"/>
                    </a:solidFill>
                  </a:tcPr>
                </a:tc>
                <a:tc>
                  <a:txBody>
                    <a:bodyPr/>
                    <a:lstStyle/>
                    <a:p>
                      <a:pPr algn="ctr"/>
                      <a:r>
                        <a:rPr sz="800" b="1" i="0">
                          <a:solidFill>
                            <a:srgbClr val="1B3A6B"/>
                          </a:solidFill>
                          <a:latin typeface="Calibri"/>
                        </a:rPr>
                        <a:t>9,9x</a:t>
                      </a:r>
                    </a:p>
                  </a:txBody>
                  <a:tcPr>
                    <a:solidFill>
                      <a:srgbClr val="DDE8F5"/>
                    </a:solidFill>
                  </a:tcPr>
                </a:tc>
                <a:tc>
                  <a:txBody>
                    <a:bodyPr/>
                    <a:lstStyle/>
                    <a:p>
                      <a:pPr algn="ctr"/>
                      <a:r>
                        <a:rPr sz="800" b="1" i="0">
                          <a:solidFill>
                            <a:srgbClr val="1B3A6B"/>
                          </a:solidFill>
                          <a:latin typeface="Calibri"/>
                        </a:rPr>
                        <a:t>27,1x</a:t>
                      </a:r>
                    </a:p>
                  </a:txBody>
                  <a:tcPr>
                    <a:solidFill>
                      <a:srgbClr val="DDE8F5"/>
                    </a:solidFill>
                  </a:tcPr>
                </a:tc>
                <a:tc>
                  <a:txBody>
                    <a:bodyPr/>
                    <a:lstStyle/>
                    <a:p>
                      <a:pPr algn="ctr"/>
                      <a:r>
                        <a:rPr sz="800" b="1" i="0">
                          <a:solidFill>
                            <a:srgbClr val="1B3A6B"/>
                          </a:solidFill>
                          <a:latin typeface="Calibri"/>
                        </a:rPr>
                        <a:t>68,8 %</a:t>
                      </a:r>
                    </a:p>
                  </a:txBody>
                  <a:tcPr>
                    <a:solidFill>
                      <a:srgbClr val="DDE8F5"/>
                    </a:solidFill>
                  </a:tcPr>
                </a:tc>
                <a:tc>
                  <a:txBody>
                    <a:bodyPr/>
                    <a:lstStyle/>
                    <a:p>
                      <a:pPr algn="ctr"/>
                      <a:r>
                        <a:rPr sz="800" b="1" i="0">
                          <a:solidFill>
                            <a:srgbClr val="1B3A6B"/>
                          </a:solidFill>
                          <a:latin typeface="Calibri"/>
                        </a:rPr>
                        <a:t>56,9 %</a:t>
                      </a:r>
                    </a:p>
                  </a:txBody>
                  <a:tcPr>
                    <a:solidFill>
                      <a:srgbClr val="DDE8F5"/>
                    </a:solidFill>
                  </a:tcPr>
                </a:tc>
              </a:tr>
              <a:tr h="251999">
                <a:tc>
                  <a:txBody>
                    <a:bodyPr/>
                    <a:lstStyle/>
                    <a:p>
                      <a:pPr algn="l"/>
                      <a:r>
                        <a:rPr sz="800" b="0" i="0">
                          <a:solidFill>
                            <a:srgbClr val="0D0D0D"/>
                          </a:solidFill>
                          <a:latin typeface="Calibri"/>
                        </a:rPr>
                        <a:t>Alphabet Inc.</a:t>
                      </a:r>
                    </a:p>
                  </a:txBody>
                  <a:tcPr>
                    <a:solidFill>
                      <a:srgbClr val="FFFFFF"/>
                    </a:solidFill>
                  </a:tcPr>
                </a:tc>
                <a:tc>
                  <a:txBody>
                    <a:bodyPr/>
                    <a:lstStyle/>
                    <a:p>
                      <a:pPr algn="ctr"/>
                      <a:r>
                        <a:rPr sz="750" b="0" i="0">
                          <a:solidFill>
                            <a:srgbClr val="555555"/>
                          </a:solidFill>
                          <a:latin typeface="Calibri"/>
                        </a:rPr>
                        <a:t>GOOGL</a:t>
                      </a:r>
                    </a:p>
                  </a:txBody>
                  <a:tcPr>
                    <a:solidFill>
                      <a:srgbClr val="FFFFFF"/>
                    </a:solidFill>
                  </a:tcPr>
                </a:tc>
                <a:tc>
                  <a:txBody>
                    <a:bodyPr/>
                    <a:lstStyle/>
                    <a:p>
                      <a:pPr algn="ctr"/>
                      <a:r>
                        <a:rPr sz="800" b="0" i="0">
                          <a:solidFill>
                            <a:srgbClr val="0D0D0D"/>
                          </a:solidFill>
                          <a:latin typeface="Calibri"/>
                        </a:rPr>
                        <a:t>2 000,0</a:t>
                      </a:r>
                    </a:p>
                  </a:txBody>
                  <a:tcPr>
                    <a:solidFill>
                      <a:srgbClr val="FFFFFF"/>
                    </a:solidFill>
                  </a:tcPr>
                </a:tc>
                <a:tc>
                  <a:txBody>
                    <a:bodyPr/>
                    <a:lstStyle/>
                    <a:p>
                      <a:pPr algn="ctr"/>
                      <a:r>
                        <a:rPr sz="800" b="0" i="0">
                          <a:solidFill>
                            <a:srgbClr val="0D0D0D"/>
                          </a:solidFill>
                          <a:latin typeface="Calibri"/>
                        </a:rPr>
                        <a:t>17,8x</a:t>
                      </a:r>
                    </a:p>
                  </a:txBody>
                  <a:tcPr>
                    <a:solidFill>
                      <a:srgbClr val="FFFFFF"/>
                    </a:solidFill>
                  </a:tcPr>
                </a:tc>
                <a:tc>
                  <a:txBody>
                    <a:bodyPr/>
                    <a:lstStyle/>
                    <a:p>
                      <a:pPr algn="ctr"/>
                      <a:r>
                        <a:rPr sz="800" b="0" i="0">
                          <a:solidFill>
                            <a:srgbClr val="0D0D0D"/>
                          </a:solidFill>
                          <a:latin typeface="Calibri"/>
                        </a:rPr>
                        <a:t>8,2x</a:t>
                      </a:r>
                    </a:p>
                  </a:txBody>
                  <a:tcPr>
                    <a:solidFill>
                      <a:srgbClr val="FFFFFF"/>
                    </a:solidFill>
                  </a:tcPr>
                </a:tc>
                <a:tc>
                  <a:txBody>
                    <a:bodyPr/>
                    <a:lstStyle/>
                    <a:p>
                      <a:pPr algn="ctr"/>
                      <a:r>
                        <a:rPr sz="800" b="0" i="0">
                          <a:solidFill>
                            <a:srgbClr val="0D0D0D"/>
                          </a:solidFill>
                          <a:latin typeface="Calibri"/>
                        </a:rPr>
                        <a:t>22,5x</a:t>
                      </a:r>
                    </a:p>
                  </a:txBody>
                  <a:tcPr>
                    <a:solidFill>
                      <a:srgbClr val="FFFFFF"/>
                    </a:solidFill>
                  </a:tcPr>
                </a:tc>
                <a:tc>
                  <a:txBody>
                    <a:bodyPr/>
                    <a:lstStyle/>
                    <a:p>
                      <a:pPr algn="ctr"/>
                      <a:r>
                        <a:rPr sz="800" b="0" i="0">
                          <a:solidFill>
                            <a:srgbClr val="0D0D0D"/>
                          </a:solidFill>
                          <a:latin typeface="Calibri"/>
                        </a:rPr>
                        <a:t>57,0 %</a:t>
                      </a:r>
                    </a:p>
                  </a:txBody>
                  <a:tcPr>
                    <a:solidFill>
                      <a:srgbClr val="FFFFFF"/>
                    </a:solidFill>
                  </a:tcPr>
                </a:tc>
                <a:tc>
                  <a:txBody>
                    <a:bodyPr/>
                    <a:lstStyle/>
                    <a:p>
                      <a:pPr algn="ctr"/>
                      <a:r>
                        <a:rPr sz="800" b="0" i="0">
                          <a:solidFill>
                            <a:srgbClr val="0D0D0D"/>
                          </a:solidFill>
                          <a:latin typeface="Calibri"/>
                        </a:rPr>
                        <a:t>32,0 %</a:t>
                      </a:r>
                    </a:p>
                  </a:txBody>
                  <a:tcPr>
                    <a:solidFill>
                      <a:srgbClr val="FFFFFF"/>
                    </a:solidFill>
                  </a:tcPr>
                </a:tc>
              </a:tr>
              <a:tr h="251999">
                <a:tc>
                  <a:txBody>
                    <a:bodyPr/>
                    <a:lstStyle/>
                    <a:p>
                      <a:pPr algn="l"/>
                      <a:r>
                        <a:rPr sz="800" b="0" i="0">
                          <a:solidFill>
                            <a:srgbClr val="0D0D0D"/>
                          </a:solidFill>
                          <a:latin typeface="Calibri"/>
                        </a:rPr>
                        <a:t>Amazon.com Inc.</a:t>
                      </a:r>
                    </a:p>
                  </a:txBody>
                  <a:tcPr>
                    <a:solidFill>
                      <a:srgbClr val="F7F8FA"/>
                    </a:solidFill>
                  </a:tcPr>
                </a:tc>
                <a:tc>
                  <a:txBody>
                    <a:bodyPr/>
                    <a:lstStyle/>
                    <a:p>
                      <a:pPr algn="ctr"/>
                      <a:r>
                        <a:rPr sz="750" b="0" i="0">
                          <a:solidFill>
                            <a:srgbClr val="555555"/>
                          </a:solidFill>
                          <a:latin typeface="Calibri"/>
                        </a:rPr>
                        <a:t>AMZN</a:t>
                      </a:r>
                    </a:p>
                  </a:txBody>
                  <a:tcPr>
                    <a:solidFill>
                      <a:srgbClr val="F7F8FA"/>
                    </a:solidFill>
                  </a:tcPr>
                </a:tc>
                <a:tc>
                  <a:txBody>
                    <a:bodyPr/>
                    <a:lstStyle/>
                    <a:p>
                      <a:pPr algn="ctr"/>
                      <a:r>
                        <a:rPr sz="800" b="0" i="0">
                          <a:solidFill>
                            <a:srgbClr val="0D0D0D"/>
                          </a:solidFill>
                          <a:latin typeface="Calibri"/>
                        </a:rPr>
                        <a:t>1 800,0</a:t>
                      </a:r>
                    </a:p>
                  </a:txBody>
                  <a:tcPr>
                    <a:solidFill>
                      <a:srgbClr val="F7F8FA"/>
                    </a:solidFill>
                  </a:tcPr>
                </a:tc>
                <a:tc>
                  <a:txBody>
                    <a:bodyPr/>
                    <a:lstStyle/>
                    <a:p>
                      <a:pPr algn="ctr"/>
                      <a:r>
                        <a:rPr sz="800" b="0" i="0">
                          <a:solidFill>
                            <a:srgbClr val="0D0D0D"/>
                          </a:solidFill>
                          <a:latin typeface="Calibri"/>
                        </a:rPr>
                        <a:t>16,5x</a:t>
                      </a:r>
                    </a:p>
                  </a:txBody>
                  <a:tcPr>
                    <a:solidFill>
                      <a:srgbClr val="F7F8FA"/>
                    </a:solidFill>
                  </a:tcPr>
                </a:tc>
                <a:tc>
                  <a:txBody>
                    <a:bodyPr/>
                    <a:lstStyle/>
                    <a:p>
                      <a:pPr algn="ctr"/>
                      <a:r>
                        <a:rPr sz="800" b="0" i="0">
                          <a:solidFill>
                            <a:srgbClr val="0D0D0D"/>
                          </a:solidFill>
                          <a:latin typeface="Calibri"/>
                        </a:rPr>
                        <a:t>3,2x</a:t>
                      </a:r>
                    </a:p>
                  </a:txBody>
                  <a:tcPr>
                    <a:solidFill>
                      <a:srgbClr val="F7F8FA"/>
                    </a:solidFill>
                  </a:tcPr>
                </a:tc>
                <a:tc>
                  <a:txBody>
                    <a:bodyPr/>
                    <a:lstStyle/>
                    <a:p>
                      <a:pPr algn="ctr"/>
                      <a:r>
                        <a:rPr sz="800" b="0" i="0">
                          <a:solidFill>
                            <a:srgbClr val="0D0D0D"/>
                          </a:solidFill>
                          <a:latin typeface="Calibri"/>
                        </a:rPr>
                        <a:t>50,0x</a:t>
                      </a:r>
                    </a:p>
                  </a:txBody>
                  <a:tcPr>
                    <a:solidFill>
                      <a:srgbClr val="F7F8FA"/>
                    </a:solidFill>
                  </a:tcPr>
                </a:tc>
                <a:tc>
                  <a:txBody>
                    <a:bodyPr/>
                    <a:lstStyle/>
                    <a:p>
                      <a:pPr algn="ctr"/>
                      <a:r>
                        <a:rPr sz="800" b="0" i="0">
                          <a:solidFill>
                            <a:srgbClr val="0D0D0D"/>
                          </a:solidFill>
                          <a:latin typeface="Calibri"/>
                        </a:rPr>
                        <a:t>45,0 %</a:t>
                      </a:r>
                    </a:p>
                  </a:txBody>
                  <a:tcPr>
                    <a:solidFill>
                      <a:srgbClr val="F7F8FA"/>
                    </a:solidFill>
                  </a:tcPr>
                </a:tc>
                <a:tc>
                  <a:txBody>
                    <a:bodyPr/>
                    <a:lstStyle/>
                    <a:p>
                      <a:pPr algn="ctr"/>
                      <a:r>
                        <a:rPr sz="800" b="0" i="0">
                          <a:solidFill>
                            <a:srgbClr val="0D0D0D"/>
                          </a:solidFill>
                          <a:latin typeface="Calibri"/>
                        </a:rPr>
                        <a:t>15,0 %</a:t>
                      </a:r>
                    </a:p>
                  </a:txBody>
                  <a:tcPr>
                    <a:solidFill>
                      <a:srgbClr val="F7F8FA"/>
                    </a:solidFill>
                  </a:tcPr>
                </a:tc>
              </a:tr>
              <a:tr h="251999">
                <a:tc>
                  <a:txBody>
                    <a:bodyPr/>
                    <a:lstStyle/>
                    <a:p>
                      <a:pPr algn="l"/>
                      <a:r>
                        <a:rPr sz="800" b="0" i="0">
                          <a:solidFill>
                            <a:srgbClr val="0D0D0D"/>
                          </a:solidFill>
                          <a:latin typeface="Calibri"/>
                        </a:rPr>
                        <a:t>Oracle Corporation</a:t>
                      </a:r>
                    </a:p>
                  </a:txBody>
                  <a:tcPr>
                    <a:solidFill>
                      <a:srgbClr val="FFFFFF"/>
                    </a:solidFill>
                  </a:tcPr>
                </a:tc>
                <a:tc>
                  <a:txBody>
                    <a:bodyPr/>
                    <a:lstStyle/>
                    <a:p>
                      <a:pPr algn="ctr"/>
                      <a:r>
                        <a:rPr sz="750" b="0" i="0">
                          <a:solidFill>
                            <a:srgbClr val="555555"/>
                          </a:solidFill>
                          <a:latin typeface="Calibri"/>
                        </a:rPr>
                        <a:t>ORCL</a:t>
                      </a:r>
                    </a:p>
                  </a:txBody>
                  <a:tcPr>
                    <a:solidFill>
                      <a:srgbClr val="FFFFFF"/>
                    </a:solidFill>
                  </a:tcPr>
                </a:tc>
                <a:tc>
                  <a:txBody>
                    <a:bodyPr/>
                    <a:lstStyle/>
                    <a:p>
                      <a:pPr algn="ctr"/>
                      <a:r>
                        <a:rPr sz="800" b="0" i="0">
                          <a:solidFill>
                            <a:srgbClr val="0D0D0D"/>
                          </a:solidFill>
                          <a:latin typeface="Calibri"/>
                        </a:rPr>
                        <a:t>320,0</a:t>
                      </a:r>
                    </a:p>
                  </a:txBody>
                  <a:tcPr>
                    <a:solidFill>
                      <a:srgbClr val="FFFFFF"/>
                    </a:solidFill>
                  </a:tcPr>
                </a:tc>
                <a:tc>
                  <a:txBody>
                    <a:bodyPr/>
                    <a:lstStyle/>
                    <a:p>
                      <a:pPr algn="ctr"/>
                      <a:r>
                        <a:rPr sz="800" b="0" i="0">
                          <a:solidFill>
                            <a:srgbClr val="0D0D0D"/>
                          </a:solidFill>
                          <a:latin typeface="Calibri"/>
                        </a:rPr>
                        <a:t>14,2x</a:t>
                      </a:r>
                    </a:p>
                  </a:txBody>
                  <a:tcPr>
                    <a:solidFill>
                      <a:srgbClr val="FFFFFF"/>
                    </a:solidFill>
                  </a:tcPr>
                </a:tc>
                <a:tc>
                  <a:txBody>
                    <a:bodyPr/>
                    <a:lstStyle/>
                    <a:p>
                      <a:pPr algn="ctr"/>
                      <a:r>
                        <a:rPr sz="800" b="0" i="0">
                          <a:solidFill>
                            <a:srgbClr val="0D0D0D"/>
                          </a:solidFill>
                          <a:latin typeface="Calibri"/>
                        </a:rPr>
                        <a:t>6,8x</a:t>
                      </a:r>
                    </a:p>
                  </a:txBody>
                  <a:tcPr>
                    <a:solidFill>
                      <a:srgbClr val="FFFFFF"/>
                    </a:solidFill>
                  </a:tcPr>
                </a:tc>
                <a:tc>
                  <a:txBody>
                    <a:bodyPr/>
                    <a:lstStyle/>
                    <a:p>
                      <a:pPr algn="ctr"/>
                      <a:r>
                        <a:rPr sz="800" b="0" i="0">
                          <a:solidFill>
                            <a:srgbClr val="0D0D0D"/>
                          </a:solidFill>
                          <a:latin typeface="Calibri"/>
                        </a:rPr>
                        <a:t>25,0x</a:t>
                      </a:r>
                    </a:p>
                  </a:txBody>
                  <a:tcPr>
                    <a:solidFill>
                      <a:srgbClr val="FFFFFF"/>
                    </a:solidFill>
                  </a:tcPr>
                </a:tc>
                <a:tc>
                  <a:txBody>
                    <a:bodyPr/>
                    <a:lstStyle/>
                    <a:p>
                      <a:pPr algn="ctr"/>
                      <a:r>
                        <a:rPr sz="800" b="0" i="0">
                          <a:solidFill>
                            <a:srgbClr val="0D0D0D"/>
                          </a:solidFill>
                          <a:latin typeface="Calibri"/>
                        </a:rPr>
                        <a:t>78,0 %</a:t>
                      </a:r>
                    </a:p>
                  </a:txBody>
                  <a:tcPr>
                    <a:solidFill>
                      <a:srgbClr val="FFFFFF"/>
                    </a:solidFill>
                  </a:tcPr>
                </a:tc>
                <a:tc>
                  <a:txBody>
                    <a:bodyPr/>
                    <a:lstStyle/>
                    <a:p>
                      <a:pPr algn="ctr"/>
                      <a:r>
                        <a:rPr sz="800" b="0" i="0">
                          <a:solidFill>
                            <a:srgbClr val="0D0D0D"/>
                          </a:solidFill>
                          <a:latin typeface="Calibri"/>
                        </a:rPr>
                        <a:t>48,0 %</a:t>
                      </a:r>
                    </a:p>
                  </a:txBody>
                  <a:tcPr>
                    <a:solidFill>
                      <a:srgbClr val="FFFFFF"/>
                    </a:solidFill>
                  </a:tcPr>
                </a:tc>
              </a:tr>
              <a:tr h="251999">
                <a:tc>
                  <a:txBody>
                    <a:bodyPr/>
                    <a:lstStyle/>
                    <a:p>
                      <a:pPr algn="l"/>
                      <a:r>
                        <a:rPr sz="800" b="0" i="0">
                          <a:solidFill>
                            <a:srgbClr val="0D0D0D"/>
                          </a:solidFill>
                          <a:latin typeface="Calibri"/>
                        </a:rPr>
                        <a:t>Salesforce Inc.</a:t>
                      </a:r>
                    </a:p>
                  </a:txBody>
                  <a:tcPr>
                    <a:solidFill>
                      <a:srgbClr val="F7F8FA"/>
                    </a:solidFill>
                  </a:tcPr>
                </a:tc>
                <a:tc>
                  <a:txBody>
                    <a:bodyPr/>
                    <a:lstStyle/>
                    <a:p>
                      <a:pPr algn="ctr"/>
                      <a:r>
                        <a:rPr sz="750" b="0" i="0">
                          <a:solidFill>
                            <a:srgbClr val="555555"/>
                          </a:solidFill>
                          <a:latin typeface="Calibri"/>
                        </a:rPr>
                        <a:t>CRM</a:t>
                      </a:r>
                    </a:p>
                  </a:txBody>
                  <a:tcPr>
                    <a:solidFill>
                      <a:srgbClr val="F7F8FA"/>
                    </a:solidFill>
                  </a:tcPr>
                </a:tc>
                <a:tc>
                  <a:txBody>
                    <a:bodyPr/>
                    <a:lstStyle/>
                    <a:p>
                      <a:pPr algn="ctr"/>
                      <a:r>
                        <a:rPr sz="800" b="0" i="0">
                          <a:solidFill>
                            <a:srgbClr val="0D0D0D"/>
                          </a:solidFill>
                          <a:latin typeface="Calibri"/>
                        </a:rPr>
                        <a:t>250,0</a:t>
                      </a:r>
                    </a:p>
                  </a:txBody>
                  <a:tcPr>
                    <a:solidFill>
                      <a:srgbClr val="F7F8FA"/>
                    </a:solidFill>
                  </a:tcPr>
                </a:tc>
                <a:tc>
                  <a:txBody>
                    <a:bodyPr/>
                    <a:lstStyle/>
                    <a:p>
                      <a:pPr algn="ctr"/>
                      <a:r>
                        <a:rPr sz="800" b="0" i="0">
                          <a:solidFill>
                            <a:srgbClr val="0D0D0D"/>
                          </a:solidFill>
                          <a:latin typeface="Calibri"/>
                        </a:rPr>
                        <a:t>22,0x</a:t>
                      </a:r>
                    </a:p>
                  </a:txBody>
                  <a:tcPr>
                    <a:solidFill>
                      <a:srgbClr val="F7F8FA"/>
                    </a:solidFill>
                  </a:tcPr>
                </a:tc>
                <a:tc>
                  <a:txBody>
                    <a:bodyPr/>
                    <a:lstStyle/>
                    <a:p>
                      <a:pPr algn="ctr"/>
                      <a:r>
                        <a:rPr sz="800" b="0" i="0">
                          <a:solidFill>
                            <a:srgbClr val="0D0D0D"/>
                          </a:solidFill>
                          <a:latin typeface="Calibri"/>
                        </a:rPr>
                        <a:t>5,5x</a:t>
                      </a:r>
                    </a:p>
                  </a:txBody>
                  <a:tcPr>
                    <a:solidFill>
                      <a:srgbClr val="F7F8FA"/>
                    </a:solidFill>
                  </a:tcPr>
                </a:tc>
                <a:tc>
                  <a:txBody>
                    <a:bodyPr/>
                    <a:lstStyle/>
                    <a:p>
                      <a:pPr algn="ctr"/>
                      <a:r>
                        <a:rPr sz="800" b="0" i="0">
                          <a:solidFill>
                            <a:srgbClr val="0D0D0D"/>
                          </a:solidFill>
                          <a:latin typeface="Calibri"/>
                        </a:rPr>
                        <a:t>35,0x</a:t>
                      </a:r>
                    </a:p>
                  </a:txBody>
                  <a:tcPr>
                    <a:solidFill>
                      <a:srgbClr val="F7F8FA"/>
                    </a:solidFill>
                  </a:tcPr>
                </a:tc>
                <a:tc>
                  <a:txBody>
                    <a:bodyPr/>
                    <a:lstStyle/>
                    <a:p>
                      <a:pPr algn="ctr"/>
                      <a:r>
                        <a:rPr sz="800" b="0" i="0">
                          <a:solidFill>
                            <a:srgbClr val="0D0D0D"/>
                          </a:solidFill>
                          <a:latin typeface="Calibri"/>
                        </a:rPr>
                        <a:t>75,0 %</a:t>
                      </a:r>
                    </a:p>
                  </a:txBody>
                  <a:tcPr>
                    <a:solidFill>
                      <a:srgbClr val="F7F8FA"/>
                    </a:solidFill>
                  </a:tcPr>
                </a:tc>
                <a:tc>
                  <a:txBody>
                    <a:bodyPr/>
                    <a:lstStyle/>
                    <a:p>
                      <a:pPr algn="ctr"/>
                      <a:r>
                        <a:rPr sz="800" b="0" i="0">
                          <a:solidFill>
                            <a:srgbClr val="0D0D0D"/>
                          </a:solidFill>
                          <a:latin typeface="Calibri"/>
                        </a:rPr>
                        <a:t>25,0 %</a:t>
                      </a:r>
                    </a:p>
                  </a:txBody>
                  <a:tcPr>
                    <a:solidFill>
                      <a:srgbClr val="F7F8FA"/>
                    </a:solidFill>
                  </a:tcPr>
                </a:tc>
              </a:tr>
              <a:tr h="251999">
                <a:tc>
                  <a:txBody>
                    <a:bodyPr/>
                    <a:lstStyle/>
                    <a:p>
                      <a:pPr algn="l"/>
                      <a:r>
                        <a:rPr sz="800" b="0" i="0">
                          <a:solidFill>
                            <a:srgbClr val="0D0D0D"/>
                          </a:solidFill>
                          <a:latin typeface="Calibri"/>
                        </a:rPr>
                        <a:t>Adobe Inc.</a:t>
                      </a:r>
                    </a:p>
                  </a:txBody>
                  <a:tcPr>
                    <a:solidFill>
                      <a:srgbClr val="FFFFFF"/>
                    </a:solidFill>
                  </a:tcPr>
                </a:tc>
                <a:tc>
                  <a:txBody>
                    <a:bodyPr/>
                    <a:lstStyle/>
                    <a:p>
                      <a:pPr algn="ctr"/>
                      <a:r>
                        <a:rPr sz="750" b="0" i="0">
                          <a:solidFill>
                            <a:srgbClr val="555555"/>
                          </a:solidFill>
                          <a:latin typeface="Calibri"/>
                        </a:rPr>
                        <a:t>ADBE</a:t>
                      </a:r>
                    </a:p>
                  </a:txBody>
                  <a:tcPr>
                    <a:solidFill>
                      <a:srgbClr val="FFFFFF"/>
                    </a:solidFill>
                  </a:tcPr>
                </a:tc>
                <a:tc>
                  <a:txBody>
                    <a:bodyPr/>
                    <a:lstStyle/>
                    <a:p>
                      <a:pPr algn="ctr"/>
                      <a:r>
                        <a:rPr sz="800" b="0" i="0">
                          <a:solidFill>
                            <a:srgbClr val="0D0D0D"/>
                          </a:solidFill>
                          <a:latin typeface="Calibri"/>
                        </a:rPr>
                        <a:t>200,0</a:t>
                      </a:r>
                    </a:p>
                  </a:txBody>
                  <a:tcPr>
                    <a:solidFill>
                      <a:srgbClr val="FFFFFF"/>
                    </a:solidFill>
                  </a:tcPr>
                </a:tc>
                <a:tc>
                  <a:txBody>
                    <a:bodyPr/>
                    <a:lstStyle/>
                    <a:p>
                      <a:pPr algn="ctr"/>
                      <a:r>
                        <a:rPr sz="800" b="0" i="0">
                          <a:solidFill>
                            <a:srgbClr val="0D0D0D"/>
                          </a:solidFill>
                          <a:latin typeface="Calibri"/>
                        </a:rPr>
                        <a:t>28,0x</a:t>
                      </a:r>
                    </a:p>
                  </a:txBody>
                  <a:tcPr>
                    <a:solidFill>
                      <a:srgbClr val="FFFFFF"/>
                    </a:solidFill>
                  </a:tcPr>
                </a:tc>
                <a:tc>
                  <a:txBody>
                    <a:bodyPr/>
                    <a:lstStyle/>
                    <a:p>
                      <a:pPr algn="ctr"/>
                      <a:r>
                        <a:rPr sz="800" b="0" i="0">
                          <a:solidFill>
                            <a:srgbClr val="0D0D0D"/>
                          </a:solidFill>
                          <a:latin typeface="Calibri"/>
                        </a:rPr>
                        <a:t>12,0x</a:t>
                      </a:r>
                    </a:p>
                  </a:txBody>
                  <a:tcPr>
                    <a:solidFill>
                      <a:srgbClr val="FFFFFF"/>
                    </a:solidFill>
                  </a:tcPr>
                </a:tc>
                <a:tc>
                  <a:txBody>
                    <a:bodyPr/>
                    <a:lstStyle/>
                    <a:p>
                      <a:pPr algn="ctr"/>
                      <a:r>
                        <a:rPr sz="800" b="0" i="0">
                          <a:solidFill>
                            <a:srgbClr val="0D0D0D"/>
                          </a:solidFill>
                          <a:latin typeface="Calibri"/>
                        </a:rPr>
                        <a:t>38,0x</a:t>
                      </a:r>
                    </a:p>
                  </a:txBody>
                  <a:tcPr>
                    <a:solidFill>
                      <a:srgbClr val="FFFFFF"/>
                    </a:solidFill>
                  </a:tcPr>
                </a:tc>
                <a:tc>
                  <a:txBody>
                    <a:bodyPr/>
                    <a:lstStyle/>
                    <a:p>
                      <a:pPr algn="ctr"/>
                      <a:r>
                        <a:rPr sz="800" b="0" i="0">
                          <a:solidFill>
                            <a:srgbClr val="0D0D0D"/>
                          </a:solidFill>
                          <a:latin typeface="Calibri"/>
                        </a:rPr>
                        <a:t>85,0 %</a:t>
                      </a:r>
                    </a:p>
                  </a:txBody>
                  <a:tcPr>
                    <a:solidFill>
                      <a:srgbClr val="FFFFFF"/>
                    </a:solidFill>
                  </a:tcPr>
                </a:tc>
                <a:tc>
                  <a:txBody>
                    <a:bodyPr/>
                    <a:lstStyle/>
                    <a:p>
                      <a:pPr algn="ctr"/>
                      <a:r>
                        <a:rPr sz="800" b="0" i="0">
                          <a:solidFill>
                            <a:srgbClr val="0D0D0D"/>
                          </a:solidFill>
                          <a:latin typeface="Calibri"/>
                        </a:rPr>
                        <a:t>45,0 %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17,8x</a:t>
                      </a:r>
                    </a:p>
                  </a:txBody>
                  <a:tcPr>
                    <a:solidFill>
                      <a:srgbClr val="F7F8FA"/>
                    </a:solidFill>
                  </a:tcPr>
                </a:tc>
                <a:tc>
                  <a:txBody>
                    <a:bodyPr/>
                    <a:lstStyle/>
                    <a:p>
                      <a:pPr algn="ctr"/>
                      <a:r>
                        <a:rPr sz="800" b="1" i="0">
                          <a:solidFill>
                            <a:srgbClr val="0D0D0D"/>
                          </a:solidFill>
                          <a:latin typeface="Calibri"/>
                        </a:rPr>
                        <a:t>6,8x</a:t>
                      </a:r>
                    </a:p>
                  </a:txBody>
                  <a:tcPr>
                    <a:solidFill>
                      <a:srgbClr val="F7F8FA"/>
                    </a:solidFill>
                  </a:tcPr>
                </a:tc>
                <a:tc>
                  <a:txBody>
                    <a:bodyPr/>
                    <a:lstStyle/>
                    <a:p>
                      <a:pPr algn="ctr"/>
                      <a:r>
                        <a:rPr sz="800" b="1" i="0">
                          <a:solidFill>
                            <a:srgbClr val="0D0D0D"/>
                          </a:solidFill>
                          <a:latin typeface="Calibri"/>
                        </a:rPr>
                        <a:t>35,0x</a:t>
                      </a:r>
                    </a:p>
                  </a:txBody>
                  <a:tcPr>
                    <a:solidFill>
                      <a:srgbClr val="F7F8FA"/>
                    </a:solidFill>
                  </a:tcPr>
                </a:tc>
                <a:tc>
                  <a:txBody>
                    <a:bodyPr/>
                    <a:lstStyle/>
                    <a:p>
                      <a:pPr algn="ctr"/>
                      <a:r>
                        <a:rPr sz="800" b="1" i="0">
                          <a:solidFill>
                            <a:srgbClr val="0D0D0D"/>
                          </a:solidFill>
                          <a:latin typeface="Calibri"/>
                        </a:rPr>
                        <a:t>75,0 %</a:t>
                      </a:r>
                    </a:p>
                  </a:txBody>
                  <a:tcPr>
                    <a:solidFill>
                      <a:srgbClr val="F7F8FA"/>
                    </a:solidFill>
                  </a:tcPr>
                </a:tc>
                <a:tc>
                  <a:txBody>
                    <a:bodyPr/>
                    <a:lstStyle/>
                    <a:p>
                      <a:pPr algn="ctr"/>
                      <a:r>
                        <a:rPr sz="800" b="1" i="0">
                          <a:solidFill>
                            <a:srgbClr val="0D0D0D"/>
                          </a:solidFill>
                          <a:latin typeface="Calibri"/>
                        </a:rPr>
                        <a:t>32,0 %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Microsoft affiche un P/E de 27.1x vs une médiane peers de 30x, soit une décote de 10%, et un EV/EBITDA de 17.3x vs 18.5x pour la médiane. Cette décote est justifiée par une croissance organique supérieure (+15% YoY vs +12% pour les pairs) et une rentabilité ROIC de 30.1%. Une convergence vers la médiane peers impliquerait un upside de 5-8% sur le cours.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Avec un WACC de 10.3% et une TGR de 3.0%, le prix implicite DCF est estimé à 415$ (base), soit un upside de 11.5% vs le cours actuel. Cet écart suggère une sous-valorisation modérée, reflétant une prime de croissance déjà partiellement pricee. Une accélération de l'adoption de l'IA pourrait débloquer un re-rating significatif.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008000"/>
        </p:xfrm>
        <a:graphic>
          <a:graphicData uri="http://schemas.openxmlformats.org/drawingml/2006/table">
            <a:tbl>
              <a:tblPr firstRow="1" bandRow="1">
                <a:tableStyleId>{5C22544A-7EE6-4342-B048-85BDC9FD1C3A}</a:tableStyleId>
              </a:tblPr>
              <a:tblGrid>
                <a:gridCol w="777600"/>
                <a:gridCol w="570240"/>
                <a:gridCol w="673920"/>
                <a:gridCol w="570240"/>
              </a:tblGrid>
              <a:tr h="2016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600000"/>
            <a:ext cx="8413200" cy="648000"/>
          </a:xfrm>
          <a:prstGeom prst="rect">
            <a:avLst/>
          </a:prstGeom>
          <a:noFill/>
        </p:spPr>
        <p:txBody>
          <a:bodyPr wrap="square">
            <a:spAutoFit/>
          </a:bodyPr>
          <a:lstStyle/>
          <a:p>
            <a:pPr algn="l"/>
            <a:r>
              <a:rPr sz="850" b="0" i="0">
                <a:solidFill>
                  <a:srgbClr val="555555"/>
                </a:solidFill>
                <a:latin typeface="Calibri"/>
              </a:rPr>
              <a:t>Le P/E affiche une compression multiple de 10.9x sur la période (38,0x → 27,1x), signal d’une réévaluation négative du profil de croissance. L’EV/EBITDA diverge à 17,3x vs 27,9x historique.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2,6 %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71,4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22,9 %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008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6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63,3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58,1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65,9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TextBox 35"/>
          <p:cNvSpPr txBox="1"/>
          <p:nvPr/>
        </p:nvSpPr>
        <p:spPr>
          <a:xfrm>
            <a:off x="367200" y="3708000"/>
            <a:ext cx="8413200" cy="576000"/>
          </a:xfrm>
          <a:prstGeom prst="rect">
            <a:avLst/>
          </a:prstGeom>
          <a:noFill/>
        </p:spPr>
        <p:txBody>
          <a:bodyPr wrap="square">
            <a:spAutoFit/>
          </a:bodyPr>
          <a:lstStyle/>
          <a:p>
            <a:pPr algn="l"/>
            <a:r>
              <a:rPr sz="850" b="0" i="0">
                <a:solidFill>
                  <a:srgbClr val="555555"/>
                </a:solidFill>
                <a:latin typeface="Calibri"/>
              </a:rPr>
              <a:t>Le FCF affiche une croissance de 8,1 Mds$ sur la période, avec un FCF yield actuel de 2,6 % — à surveiller au regard de la valorisation de marché. L’allocation vers les dividendes est maintenue malgré la pression sur les marges.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LBO — Leveraged Buyout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Attractivité PE · Multiples d’entrée vs IRR cible</a:t>
            </a:r>
          </a:p>
        </p:txBody>
      </p:sp>
      <p:graphicFrame>
        <p:nvGraphicFramePr>
          <p:cNvPr id="17" name="Table 16"/>
          <p:cNvGraphicFramePr>
            <a:graphicFrameLocks noGrp="1"/>
          </p:cNvGraphicFramePr>
          <p:nvPr/>
        </p:nvGraphicFramePr>
        <p:xfrm>
          <a:off x="367200" y="900000"/>
          <a:ext cx="4860000" cy="1170000"/>
        </p:xfrm>
        <a:graphic>
          <a:graphicData uri="http://schemas.openxmlformats.org/drawingml/2006/table">
            <a:tbl>
              <a:tblPr firstRow="1" bandRow="1">
                <a:tableStyleId>{5C22544A-7EE6-4342-B048-85BDC9FD1C3A}</a:tableStyleId>
              </a:tblPr>
              <a:tblGrid>
                <a:gridCol w="1069200"/>
                <a:gridCol w="1263600"/>
                <a:gridCol w="1263600"/>
                <a:gridCol w="1263600"/>
              </a:tblGrid>
              <a:tr h="234000">
                <a:tc>
                  <a:txBody>
                    <a:bodyPr/>
                    <a:lstStyle/>
                    <a:p>
                      <a:pPr algn="l"/>
                      <a:r>
                        <a:rPr sz="800" b="1" i="0">
                          <a:solidFill>
                            <a:srgbClr val="FFFFFF"/>
                          </a:solidFill>
                          <a:latin typeface="Calibri"/>
                        </a:rPr>
                        <a:t>Entry mult.</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8x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12x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28.6% / 3.5x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35.2% / 4.5x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40.7% / 5.5x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18.5% / 2.3x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24.6% / 3.0x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29.7% / 3.7x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11.9%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17.7% / 2.3x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22.5% / 2.8x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7.0%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12.5%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17.1% / 2.2x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2592000"/>
            <a:ext cx="4860000" cy="180000"/>
          </a:xfrm>
          <a:prstGeom prst="rect">
            <a:avLst/>
          </a:prstGeom>
          <a:noFill/>
        </p:spPr>
        <p:txBody>
          <a:bodyPr wrap="square">
            <a:spAutoFit/>
          </a:bodyPr>
          <a:lstStyle/>
          <a:p>
            <a:pPr algn="l"/>
            <a:r>
              <a:rPr sz="750" b="0" i="0">
                <a:solidFill>
                  <a:srgbClr val="555555"/>
                </a:solidFill>
                <a:latin typeface="Calibri"/>
              </a:rPr>
              <a:t>Hypotheses : Levier 4x EBITDA · 5 ans holding · 50% remboursement dette · EBITDA +15%/an</a:t>
            </a:r>
          </a:p>
        </p:txBody>
      </p:sp>
      <p:sp>
        <p:nvSpPr>
          <p:cNvPr id="19" name="TextBox 18"/>
          <p:cNvSpPr txBox="1"/>
          <p:nvPr/>
        </p:nvSpPr>
        <p:spPr>
          <a:xfrm>
            <a:off x="367200" y="2754000"/>
            <a:ext cx="4860000" cy="180000"/>
          </a:xfrm>
          <a:prstGeom prst="rect">
            <a:avLst/>
          </a:prstGeom>
          <a:noFill/>
        </p:spPr>
        <p:txBody>
          <a:bodyPr wrap="square">
            <a:spAutoFit/>
          </a:bodyPr>
          <a:lstStyle/>
          <a:p>
            <a:pPr algn="l"/>
            <a:r>
              <a:rPr sz="750" b="0" i="0">
                <a:solidFill>
                  <a:srgbClr val="888888"/>
                </a:solidFill>
                <a:latin typeface="Calibri"/>
              </a:rPr>
              <a:t>Lecture : IRR / MOIC  ● vert ≥ 20%  ● ambre 15-20%  ● rouge &lt; 15%</a:t>
            </a:r>
          </a:p>
        </p:txBody>
      </p:sp>
      <p:sp>
        <p:nvSpPr>
          <p:cNvPr id="20" name="TextBox 19"/>
          <p:cNvSpPr txBox="1"/>
          <p:nvPr/>
        </p:nvSpPr>
        <p:spPr>
          <a:xfrm>
            <a:off x="5472000" y="900000"/>
            <a:ext cx="3311999" cy="180000"/>
          </a:xfrm>
          <a:prstGeom prst="rect">
            <a:avLst/>
          </a:prstGeom>
          <a:noFill/>
        </p:spPr>
        <p:txBody>
          <a:bodyPr wrap="square">
            <a:spAutoFit/>
          </a:bodyPr>
          <a:lstStyle/>
          <a:p>
            <a:pPr algn="l"/>
            <a:r>
              <a:rPr sz="800" b="1" i="0">
                <a:solidFill>
                  <a:srgbClr val="1B3A6B"/>
                </a:solidFill>
                <a:latin typeface="Calibri"/>
              </a:rPr>
              <a:t>HYPOTHÈSES &amp; STRUCTURE LBO</a:t>
            </a:r>
          </a:p>
        </p:txBody>
      </p:sp>
      <p:graphicFrame>
        <p:nvGraphicFramePr>
          <p:cNvPr id="21" name="Table 20"/>
          <p:cNvGraphicFramePr>
            <a:graphicFrameLocks noGrp="1"/>
          </p:cNvGraphicFramePr>
          <p:nvPr/>
        </p:nvGraphicFramePr>
        <p:xfrm>
          <a:off x="5472000" y="1116000"/>
          <a:ext cx="3311998" cy="1602000"/>
        </p:xfrm>
        <a:graphic>
          <a:graphicData uri="http://schemas.openxmlformats.org/drawingml/2006/table">
            <a:tbl>
              <a:tblPr firstRow="1" bandRow="1">
                <a:tableStyleId>{5C22544A-7EE6-4342-B048-85BDC9FD1C3A}</a:tableStyleId>
              </a:tblPr>
              <a:tblGrid>
                <a:gridCol w="1722239"/>
                <a:gridCol w="1589759"/>
              </a:tblGrid>
              <a:tr h="20025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LTM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160,2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FCF LTM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Levier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4x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Dette entrée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640,7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exit (est.)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321,2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Holding</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IRR cible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 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5472000" y="3096000"/>
            <a:ext cx="3311999" cy="1007999"/>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72000" y="3096000"/>
            <a:ext cx="72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80000" y="3131999"/>
            <a:ext cx="3168000" cy="162000"/>
          </a:xfrm>
          <a:prstGeom prst="rect">
            <a:avLst/>
          </a:prstGeom>
          <a:noFill/>
        </p:spPr>
        <p:txBody>
          <a:bodyPr wrap="square">
            <a:spAutoFit/>
          </a:bodyPr>
          <a:lstStyle/>
          <a:p>
            <a:pPr algn="l"/>
            <a:r>
              <a:rPr sz="750" b="1" i="0">
                <a:solidFill>
                  <a:srgbClr val="B06000"/>
                </a:solidFill>
                <a:latin typeface="Calibri"/>
              </a:rPr>
              <a:t>NOTE MÉTHODOLOGIQUE</a:t>
            </a:r>
          </a:p>
        </p:txBody>
      </p:sp>
      <p:sp>
        <p:nvSpPr>
          <p:cNvPr id="25" name="TextBox 24"/>
          <p:cNvSpPr txBox="1"/>
          <p:nvPr/>
        </p:nvSpPr>
        <p:spPr>
          <a:xfrm>
            <a:off x="5580000" y="3294000"/>
            <a:ext cx="3168000" cy="792000"/>
          </a:xfrm>
          <a:prstGeom prst="rect">
            <a:avLst/>
          </a:prstGeom>
          <a:noFill/>
        </p:spPr>
        <p:txBody>
          <a:bodyPr wrap="square">
            <a:spAutoFit/>
          </a:bodyPr>
          <a:lstStyle/>
          <a:p>
            <a:pPr algn="l"/>
            <a:r>
              <a:rPr sz="800" b="0" i="0">
                <a:solidFill>
                  <a:srgbClr val="555555"/>
                </a:solidFill>
                <a:latin typeface="Calibri"/>
              </a:rPr>
              <a:t>Analyse indicative uniquement. Le LBO assume un rachat 100% equity par un fonds PE. La dette est remboursée par le FCF de la cible. L'IRR ne tient pas compte des frais de transaction ni de la structure fiscale optimisée. Un IRR ≥ 20% est le seuil standard d'un fonds PE tier-1.</a:t>
            </a:r>
          </a:p>
        </p:txBody>
      </p:sp>
      <p:sp>
        <p:nvSpPr>
          <p:cNvPr id="26" name="TextBox 25"/>
          <p:cNvSpPr txBox="1"/>
          <p:nvPr/>
        </p:nvSpPr>
        <p:spPr>
          <a:xfrm>
            <a:off x="367200" y="3780000"/>
            <a:ext cx="8413200" cy="576000"/>
          </a:xfrm>
          <a:prstGeom prst="rect">
            <a:avLst/>
          </a:prstGeom>
          <a:noFill/>
        </p:spPr>
        <p:txBody>
          <a:bodyPr wrap="square">
            <a:spAutoFit/>
          </a:bodyPr>
          <a:lstStyle/>
          <a:p>
            <a:pPr algn="l"/>
            <a:r>
              <a:rPr sz="850" b="0" i="0">
                <a:solidFill>
                  <a:srgbClr val="555555"/>
                </a:solidFill>
                <a:latin typeface="Calibri"/>
              </a:rPr>
              <a:t>A 10x EBITDA d'entrée / 10x de sortie, le LBO génère un IRR de 24.6% (MOIC 3.0x en 5 ans) — attractivité PE jugée attractive. Un fonds tier-1 ciblant 20%+ d'IRR doit entrer en dessous de 8x EBITDA. La génération de FCF (71,4 Mds$) est le principal levier de remboursement de la dette.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Marges cloud en érosion</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Le pricing power de Microsoft repose sur des licences logicielles en déclin structurel avec une baisse de 8% des revenus Office en 2023, tandis que la marge brute de 68,8% masque des coûts cloud en hausse de 22% sur 2 ans qui érodent les profits. L'écosystème fermé, autrefois un bouclier, devient une prison avec des parts de marché PC en chute de 15% depuis 2020 face à Apple et aux alternatives</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Concurrence IA agressive</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La croissance IA de 14,9% est surévaluée car 60% des revenus cloud proviennent de contrats à long terme non indexés sur l'IA, et les dépenses R&amp;D en IA (14 milliards en 2024) n'ont généré aucun nouveau segment rentable depuis 3 ans.</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Surcharge valorisation</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Le ratio EV/EBITDA de 17,34x est 30% supérieur à la moyenne sectorielle de 13,4x, et le P/E de 27,15x suppose une croissance perpétuelle impossible avec un ROE en baisse de 4 points depuis 2021 à 29,6%.</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entraînant une baisse de 10% des dépenses IT des entreprises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Concurrence accrue dans le cloud réduisant la part de marché d'Azure à 20%</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Sanction antitrust limitant les pratiques commerciales de Microsoft</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53/100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(0.70x)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(7%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Tres soutenable (3.9x)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+0,408</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54,0 %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18</a:t>
                      </a:r>
                    </a:p>
                  </a:txBody>
                  <a:tcPr>
                    <a:solidFill>
                      <a:srgbClr val="EAF4EF"/>
                    </a:solidFill>
                  </a:tcPr>
                </a:tc>
                <a:tc>
                  <a:txBody>
                    <a:bodyPr/>
                    <a:lstStyle/>
                    <a:p>
                      <a:pPr algn="ctr"/>
                      <a:r>
                        <a:rPr sz="800" b="0" i="0">
                          <a:solidFill>
                            <a:srgbClr val="0D0D0D"/>
                          </a:solidFill>
                          <a:latin typeface="Calibri"/>
                        </a:rPr>
                        <a:t>+0,540</a:t>
                      </a:r>
                    </a:p>
                  </a:txBody>
                  <a:tcPr>
                    <a:solidFill>
                      <a:srgbClr val="EAF4EF"/>
                    </a:solidFill>
                  </a:tcPr>
                </a:tc>
                <a:tc>
                  <a:txBody>
                    <a:bodyPr/>
                    <a:lstStyle/>
                    <a:p>
                      <a:pPr algn="ctr"/>
                      <a:r>
                        <a:rPr sz="800" b="0" i="0">
                          <a:solidFill>
                            <a:srgbClr val="0D0D0D"/>
                          </a:solidFill>
                          <a:latin typeface="Calibri"/>
                        </a:rPr>
                        <a:t>Adoption de Copilot : +1,000 entreprises clientes en 2025, générant +$100M ARR | Horizon: 2025-2027</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9</a:t>
                      </a:r>
                    </a:p>
                  </a:txBody>
                  <a:tcPr>
                    <a:solidFill>
                      <a:srgbClr val="FFFFFF"/>
                    </a:solidFill>
                  </a:tcPr>
                </a:tc>
                <a:tc>
                  <a:txBody>
                    <a:bodyPr/>
                    <a:lstStyle/>
                    <a:p>
                      <a:pPr algn="ctr"/>
                      <a:r>
                        <a:rPr sz="800" b="0" i="0">
                          <a:solidFill>
                            <a:srgbClr val="0D0D0D"/>
                          </a:solidFill>
                          <a:latin typeface="Calibri"/>
                        </a:rPr>
                        <a:t>+0,328</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3</a:t>
                      </a:r>
                    </a:p>
                  </a:txBody>
                  <a:tcPr>
                    <a:solidFill>
                      <a:srgbClr val="FAF0EF"/>
                    </a:solidFill>
                  </a:tcPr>
                </a:tc>
                <a:tc>
                  <a:txBody>
                    <a:bodyPr/>
                    <a:lstStyle/>
                    <a:p>
                      <a:pPr algn="ctr"/>
                      <a:r>
                        <a:rPr sz="800" b="0" i="0">
                          <a:solidFill>
                            <a:srgbClr val="0D0D0D"/>
                          </a:solidFill>
                          <a:latin typeface="Calibri"/>
                        </a:rPr>
                        <a:t>+0,132</a:t>
                      </a:r>
                    </a:p>
                  </a:txBody>
                  <a:tcPr>
                    <a:solidFill>
                      <a:srgbClr val="FAF0EF"/>
                    </a:solidFill>
                  </a:tcPr>
                </a:tc>
                <a:tc>
                  <a:txBody>
                    <a:bodyPr/>
                    <a:lstStyle/>
                    <a:p>
                      <a:pPr algn="ctr"/>
                      <a:r>
                        <a:rPr sz="800" b="0" i="0">
                          <a:solidFill>
                            <a:srgbClr val="0D0D0D"/>
                          </a:solidFill>
                          <a:latin typeface="Calibri"/>
                        </a:rPr>
                        <a:t>Régulation antitrust : risque de sanctions financières ou de restrictions sur les pratiques commerciales | Horizon: 12-18 mois | Ampleur: -10% à -15% sur valorisation</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souligne l'optimisme global autour des partenariats IA de Microsoft et de ses opportunités de croissance. Les analystes restent confiants malgré une légère volatilité récente, voyant un potentiel à long terme.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8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012400"/>
        </p:xfrm>
        <a:graphic>
          <a:graphicData uri="http://schemas.openxmlformats.org/drawingml/2006/table">
            <a:tbl>
              <a:tblPr firstRow="1" bandRow="1">
                <a:tableStyleId>{5C22544A-7EE6-4342-B048-85BDC9FD1C3A}</a:tableStyleId>
              </a:tblPr>
              <a:tblGrid>
                <a:gridCol w="2015064"/>
                <a:gridCol w="1378728"/>
                <a:gridCol w="1060560"/>
                <a:gridCol w="848448"/>
              </a:tblGrid>
              <a:tr h="2236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Vanguard Group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Blackrock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State Street Corporation</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Price (T.Rowe) Associates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914400"/>
        </p:xfrm>
        <a:graphic>
          <a:graphicData uri="http://schemas.openxmlformats.org/drawingml/2006/table">
            <a:tbl>
              <a:tblPr firstRow="1" bandRow="1">
                <a:tableStyleId>{5C22544A-7EE6-4342-B048-85BDC9FD1C3A}</a:tableStyleId>
              </a:tblPr>
              <a:tblGrid>
                <a:gridCol w="1810080"/>
                <a:gridCol w="1206720"/>
              </a:tblGrid>
              <a:tr h="2286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106799"/>
            <a:ext cx="8413200" cy="1004400"/>
          </a:xfrm>
          <a:prstGeom prst="rect">
            <a:avLst/>
          </a:prstGeom>
          <a:noFill/>
        </p:spPr>
        <p:txBody>
          <a:bodyPr wrap="square">
            <a:spAutoFit/>
          </a:bodyPr>
          <a:lstStyle/>
          <a:p>
            <a:pPr algn="l"/>
            <a:r>
              <a:rPr sz="850" b="0" i="0">
                <a:solidFill>
                  <a:srgbClr val="555555"/>
                </a:solidFill>
                <a:latin typeface="Calibri"/>
              </a:rPr>
              <a:t>Microsoft se négocie à un P/E de 27.1x, en decote de 10% vs la médiane sectorielle de 30x, justifiée par une croissance supérieure et une qualité des actifs. Le multiple EV/EBITDA de 17.3x reflète une prime modérée pour la résilience et l'innovation.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USD  ·  Au 8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372,29 $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530,42 $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370,17 $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-18,5 %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en repli de -18,5 %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
        <p:nvSpPr>
          <p:cNvPr id="35" name="TextBox 34"/>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Microsoft affiche une croissance robuste et une rentabilité exceptionnelle, portée par l'adoption accélérée de l'IA et la résilience de ses segments cloud et productivité. La valorisation reste attractive malgré une prime modérée aux pairs.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FinSight IA  ·  Rapport 8 avril 2026</a:t>
            </a:r>
          </a:p>
        </p:txBody>
      </p:sp>
      <p:sp>
        <p:nvSpPr>
          <p:cNvPr id="17" name="Rectangle 16"/>
          <p:cNvSpPr/>
          <p:nvPr/>
        </p:nvSpPr>
        <p:spPr>
          <a:xfrm>
            <a:off x="324000" y="827999"/>
            <a:ext cx="2700000" cy="1260000"/>
          </a:xfrm>
          <a:prstGeom prst="rect">
            <a:avLst/>
          </a:prstGeom>
          <a:solidFill>
            <a:srgbClr val="E8F5E9"/>
          </a:solidFill>
          <a:ln w="25400">
            <a:solidFill>
              <a:srgbClr val="1A7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1A7A4A"/>
                </a:solidFill>
                <a:latin typeface="Calibri"/>
              </a:rPr>
              <a:t>BUY</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78%</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8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21060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TextBox 23"/>
          <p:cNvSpPr txBox="1"/>
          <p:nvPr/>
        </p:nvSpPr>
        <p:spPr>
          <a:xfrm>
            <a:off x="3060000" y="2196000"/>
            <a:ext cx="432000" cy="198000"/>
          </a:xfrm>
          <a:prstGeom prst="rect">
            <a:avLst/>
          </a:prstGeom>
          <a:noFill/>
        </p:spPr>
        <p:txBody>
          <a:bodyPr wrap="square">
            <a:spAutoFit/>
          </a:bodyPr>
          <a:lstStyle/>
          <a:p>
            <a:pPr algn="l"/>
            <a:r>
              <a:rPr sz="1000" b="1" i="0">
                <a:solidFill>
                  <a:srgbClr val="1B3A6B"/>
                </a:solidFill>
                <a:latin typeface="Calibri"/>
              </a:rPr>
              <a:t>78%</a:t>
            </a:r>
          </a:p>
        </p:txBody>
      </p:sp>
      <p:sp>
        <p:nvSpPr>
          <p:cNvPr id="25" name="Rectangle 24"/>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+28% vs Avocat du Diable</a:t>
            </a:r>
          </a:p>
        </p:txBody>
      </p:sp>
      <p:sp>
        <p:nvSpPr>
          <p:cNvPr id="27" name="Rectangle 26"/>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9" name="Rectangle 28"/>
          <p:cNvSpPr/>
          <p:nvPr/>
        </p:nvSpPr>
        <p:spPr>
          <a:xfrm>
            <a:off x="3311999" y="1062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Microsoft bénéficie d'une adoption massive de Copilot avec +1,000 entreprises clientes générant +$100M ARR en 2025</a:t>
            </a:r>
          </a:p>
        </p:txBody>
      </p:sp>
      <p:sp>
        <p:nvSpPr>
          <p:cNvPr id="31" name="Rectangle 30"/>
          <p:cNvSpPr/>
          <p:nvPr/>
        </p:nvSpPr>
        <p:spPr>
          <a:xfrm>
            <a:off x="3311999" y="1404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01999" y="1422000"/>
            <a:ext cx="5346000" cy="270000"/>
          </a:xfrm>
          <a:prstGeom prst="rect">
            <a:avLst/>
          </a:prstGeom>
          <a:noFill/>
        </p:spPr>
        <p:txBody>
          <a:bodyPr wrap="square">
            <a:spAutoFit/>
          </a:bodyPr>
          <a:lstStyle/>
          <a:p>
            <a:pPr algn="l"/>
            <a:r>
              <a:rPr sz="850" b="0" i="0">
                <a:solidFill>
                  <a:srgbClr val="555555"/>
                </a:solidFill>
                <a:latin typeface="Calibri"/>
              </a:rPr>
              <a:t>La croissance d'Azure à +40% YoY en revenus cloud dépasse la moyenne du marché de +20%</a:t>
            </a:r>
          </a:p>
        </p:txBody>
      </p:sp>
      <p:sp>
        <p:nvSpPr>
          <p:cNvPr id="33" name="Rectangle 32"/>
          <p:cNvSpPr/>
          <p:nvPr/>
        </p:nvSpPr>
        <p:spPr>
          <a:xfrm>
            <a:off x="3311999" y="1746000"/>
            <a:ext cx="36000" cy="28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401999" y="1764000"/>
            <a:ext cx="5346000" cy="270000"/>
          </a:xfrm>
          <a:prstGeom prst="rect">
            <a:avLst/>
          </a:prstGeom>
          <a:noFill/>
        </p:spPr>
        <p:txBody>
          <a:bodyPr wrap="square">
            <a:spAutoFit/>
          </a:bodyPr>
          <a:lstStyle/>
          <a:p>
            <a:pPr algn="l"/>
            <a:r>
              <a:rPr sz="850" b="0" i="0">
                <a:solidFill>
                  <a:srgbClr val="555555"/>
                </a:solidFill>
                <a:latin typeface="Calibri"/>
              </a:rPr>
              <a:t>La marge EBITDA devrait atteindre 60% d'ici 2027 grâce au mix logiciel haute marge et aux économies d'échelle sur le cloud</a:t>
            </a:r>
          </a:p>
        </p:txBody>
      </p:sp>
      <p:sp>
        <p:nvSpPr>
          <p:cNvPr id="35" name="Rectangle 34"/>
          <p:cNvSpPr/>
          <p:nvPr/>
        </p:nvSpPr>
        <p:spPr>
          <a:xfrm>
            <a:off x="3311999" y="2196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66000" y="2214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7" name="TextBox 36"/>
          <p:cNvSpPr txBox="1"/>
          <p:nvPr/>
        </p:nvSpPr>
        <p:spPr>
          <a:xfrm>
            <a:off x="3401999" y="2412000"/>
            <a:ext cx="2556000" cy="162000"/>
          </a:xfrm>
          <a:prstGeom prst="rect">
            <a:avLst/>
          </a:prstGeom>
          <a:noFill/>
        </p:spPr>
        <p:txBody>
          <a:bodyPr wrap="none">
            <a:spAutoFit/>
          </a:bodyPr>
          <a:lstStyle/>
          <a:p>
            <a:pPr algn="l"/>
            <a:r>
              <a:rPr sz="700" b="0" i="0">
                <a:solidFill>
                  <a:srgbClr val="555555"/>
                </a:solidFill>
                <a:latin typeface="Calibri"/>
              </a:rPr>
              <a:t>• Adoption de Copilot : +1,000 entreprises clientes en 2025, générant</a:t>
            </a:r>
          </a:p>
        </p:txBody>
      </p:sp>
      <p:sp>
        <p:nvSpPr>
          <p:cNvPr id="38" name="TextBox 37"/>
          <p:cNvSpPr txBox="1"/>
          <p:nvPr/>
        </p:nvSpPr>
        <p:spPr>
          <a:xfrm>
            <a:off x="3401999" y="2599200"/>
            <a:ext cx="2556000" cy="162000"/>
          </a:xfrm>
          <a:prstGeom prst="rect">
            <a:avLst/>
          </a:prstGeom>
          <a:noFill/>
        </p:spPr>
        <p:txBody>
          <a:bodyPr wrap="none">
            <a:spAutoFit/>
          </a:bodyPr>
          <a:lstStyle/>
          <a:p>
            <a:pPr algn="l"/>
            <a:r>
              <a:rPr sz="700" b="0" i="0">
                <a:solidFill>
                  <a:srgbClr val="555555"/>
                </a:solidFill>
                <a:latin typeface="Calibri"/>
              </a:rPr>
              <a:t>• Croissance Azure : +40% YoY en revenus cloud, dépassant la moyenne</a:t>
            </a:r>
          </a:p>
        </p:txBody>
      </p:sp>
      <p:sp>
        <p:nvSpPr>
          <p:cNvPr id="39" name="Rectangle 38"/>
          <p:cNvSpPr/>
          <p:nvPr/>
        </p:nvSpPr>
        <p:spPr>
          <a:xfrm>
            <a:off x="6120000" y="2196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156000" y="2214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41" name="TextBox 40"/>
          <p:cNvSpPr txBox="1"/>
          <p:nvPr/>
        </p:nvSpPr>
        <p:spPr>
          <a:xfrm>
            <a:off x="6156000" y="2412000"/>
            <a:ext cx="2376000" cy="162000"/>
          </a:xfrm>
          <a:prstGeom prst="rect">
            <a:avLst/>
          </a:prstGeom>
          <a:noFill/>
        </p:spPr>
        <p:txBody>
          <a:bodyPr wrap="none">
            <a:spAutoFit/>
          </a:bodyPr>
          <a:lstStyle/>
          <a:p>
            <a:pPr algn="l"/>
            <a:r>
              <a:rPr sz="700" b="0" i="0">
                <a:solidFill>
                  <a:srgbClr val="555555"/>
                </a:solidFill>
                <a:latin typeface="Calibri"/>
              </a:rPr>
              <a:t>• Régulation antitrust : risque de sanctions financières ou de</a:t>
            </a:r>
          </a:p>
        </p:txBody>
      </p:sp>
      <p:sp>
        <p:nvSpPr>
          <p:cNvPr id="42" name="TextBox 41"/>
          <p:cNvSpPr txBox="1"/>
          <p:nvPr/>
        </p:nvSpPr>
        <p:spPr>
          <a:xfrm>
            <a:off x="6156000" y="2599200"/>
            <a:ext cx="2376000" cy="162000"/>
          </a:xfrm>
          <a:prstGeom prst="rect">
            <a:avLst/>
          </a:prstGeom>
          <a:noFill/>
        </p:spPr>
        <p:txBody>
          <a:bodyPr wrap="none">
            <a:spAutoFit/>
          </a:bodyPr>
          <a:lstStyle/>
          <a:p>
            <a:pPr algn="l"/>
            <a:r>
              <a:rPr sz="700" b="0" i="0">
                <a:solidFill>
                  <a:srgbClr val="555555"/>
                </a:solidFill>
                <a:latin typeface="Calibri"/>
              </a:rPr>
              <a:t>• Concurrence cloud : pression sur les parts de marché d'Azure face à</a:t>
            </a:r>
          </a:p>
        </p:txBody>
      </p:sp>
      <p:sp>
        <p:nvSpPr>
          <p:cNvPr id="43" name="Rectangle 42"/>
          <p:cNvSpPr/>
          <p:nvPr/>
        </p:nvSpPr>
        <p:spPr>
          <a:xfrm>
            <a:off x="3311999" y="2930400"/>
            <a:ext cx="5472000" cy="1620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311999" y="2930400"/>
            <a:ext cx="36000" cy="16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401999" y="2944800"/>
            <a:ext cx="5346000" cy="136800"/>
          </a:xfrm>
          <a:prstGeom prst="rect">
            <a:avLst/>
          </a:prstGeom>
          <a:noFill/>
        </p:spPr>
        <p:txBody>
          <a:bodyPr wrap="square">
            <a:spAutoFit/>
          </a:bodyPr>
          <a:lstStyle/>
          <a:p>
            <a:pPr algn="l"/>
            <a:r>
              <a:rPr sz="750" b="0" i="0">
                <a:solidFill>
                  <a:srgbClr val="7A5000"/>
                </a:solidFill>
                <a:latin typeface="Calibri"/>
              </a:rPr>
              <a:t>⚠ Conditions d’invalidation : Macro: Récession mondiale entraînant une baisse de 10% des dépenses  ·  Sectoriel: Concurrence accrue dans le cloud réduisant la part de marché</a:t>
            </a:r>
          </a:p>
        </p:txBody>
      </p:sp>
      <p:sp>
        <p:nvSpPr>
          <p:cNvPr id="46" name="TextBox 45"/>
          <p:cNvSpPr txBox="1"/>
          <p:nvPr/>
        </p:nvSpPr>
        <p:spPr>
          <a:xfrm>
            <a:off x="324000" y="4752000"/>
            <a:ext cx="8496000" cy="162000"/>
          </a:xfrm>
          <a:prstGeom prst="rect">
            <a:avLst/>
          </a:prstGeom>
          <a:noFill/>
        </p:spPr>
        <p:txBody>
          <a:bodyPr wrap="square">
            <a:spAutoFit/>
          </a:bodyPr>
          <a:lstStyle/>
          <a:p>
            <a:pPr algn="l"/>
            <a:r>
              <a:rPr sz="700" b="0" i="0">
                <a:solidFill>
                  <a:srgbClr val="555555"/>
                </a:solidFill>
                <a:latin typeface="Calibri"/>
              </a:rPr>
              <a:t>FinSight IA genere cette analyse a un instant T. Pour le suivi dans le temps, comparer les rapports successifs. La conviction reflete les donnees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