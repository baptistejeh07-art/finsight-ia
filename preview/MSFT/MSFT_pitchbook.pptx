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Lst>
  <p:sldSz cx="9144000" cy="5144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1371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65600"/>
            <a:ext cx="8229600" cy="255600"/>
          </a:xfrm>
          <a:prstGeom prst="rect">
            <a:avLst/>
          </a:prstGeom>
          <a:noFill/>
        </p:spPr>
        <p:txBody>
          <a:bodyPr wrap="square">
            <a:spAutoFit/>
          </a:bodyPr>
          <a:lstStyle/>
          <a:p>
            <a:pPr algn="ctr"/>
            <a:r>
              <a:rPr sz="1000" b="0" i="0">
                <a:solidFill>
                  <a:srgbClr val="8899BB"/>
                </a:solidFill>
                <a:latin typeface="Calibri"/>
              </a:rPr>
              <a:t>FinSight IA</a:t>
            </a:r>
          </a:p>
        </p:txBody>
      </p:sp>
      <p:sp>
        <p:nvSpPr>
          <p:cNvPr id="4" name="Rectangle 3"/>
          <p:cNvSpPr/>
          <p:nvPr/>
        </p:nvSpPr>
        <p:spPr>
          <a:xfrm>
            <a:off x="3978000" y="475200"/>
            <a:ext cx="1188000" cy="180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547200"/>
            <a:ext cx="8229600" cy="291600"/>
          </a:xfrm>
          <a:prstGeom prst="rect">
            <a:avLst/>
          </a:prstGeom>
          <a:noFill/>
        </p:spPr>
        <p:txBody>
          <a:bodyPr wrap="square">
            <a:spAutoFit/>
          </a:bodyPr>
          <a:lstStyle/>
          <a:p>
            <a:pPr algn="ctr"/>
            <a:r>
              <a:rPr sz="1100" b="0" i="0">
                <a:solidFill>
                  <a:srgbClr val="CCDDEE"/>
                </a:solidFill>
                <a:latin typeface="Calibri"/>
              </a:rPr>
              <a:t>Pitchbook  —  Analyse d'investissement</a:t>
            </a:r>
          </a:p>
        </p:txBody>
      </p:sp>
      <p:sp>
        <p:nvSpPr>
          <p:cNvPr id="6" name="TextBox 5"/>
          <p:cNvSpPr txBox="1"/>
          <p:nvPr/>
        </p:nvSpPr>
        <p:spPr>
          <a:xfrm>
            <a:off x="457200" y="1461599"/>
            <a:ext cx="8229600" cy="691297"/>
          </a:xfrm>
          <a:prstGeom prst="rect">
            <a:avLst/>
          </a:prstGeom>
          <a:noFill/>
        </p:spPr>
        <p:txBody>
          <a:bodyPr wrap="square">
            <a:spAutoFit/>
          </a:bodyPr>
          <a:lstStyle/>
          <a:p>
            <a:pPr algn="ctr"/>
            <a:r>
              <a:rPr sz="3400" b="1" i="0">
                <a:solidFill>
                  <a:srgbClr val="1B3A6B"/>
                </a:solidFill>
                <a:latin typeface="Calibri"/>
              </a:rPr>
              <a:t>Microsoft Corporation</a:t>
            </a:r>
          </a:p>
        </p:txBody>
      </p:sp>
      <p:sp>
        <p:nvSpPr>
          <p:cNvPr id="7" name="TextBox 6"/>
          <p:cNvSpPr txBox="1"/>
          <p:nvPr/>
        </p:nvSpPr>
        <p:spPr>
          <a:xfrm>
            <a:off x="457200" y="2242897"/>
            <a:ext cx="8229600" cy="255600"/>
          </a:xfrm>
          <a:prstGeom prst="rect">
            <a:avLst/>
          </a:prstGeom>
          <a:noFill/>
        </p:spPr>
        <p:txBody>
          <a:bodyPr wrap="square">
            <a:spAutoFit/>
          </a:bodyPr>
          <a:lstStyle/>
          <a:p>
            <a:pPr algn="ctr"/>
            <a:r>
              <a:rPr sz="1100" b="0" i="0">
                <a:solidFill>
                  <a:srgbClr val="888888"/>
                </a:solidFill>
                <a:latin typeface="Calibri"/>
              </a:rPr>
              <a:t>MSFT  ·  Technology</a:t>
            </a:r>
          </a:p>
        </p:txBody>
      </p:sp>
      <p:sp>
        <p:nvSpPr>
          <p:cNvPr id="8" name="Rectangle 7"/>
          <p:cNvSpPr/>
          <p:nvPr/>
        </p:nvSpPr>
        <p:spPr>
          <a:xfrm>
            <a:off x="2771999" y="2617297"/>
            <a:ext cx="3600000" cy="432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826000" y="2635297"/>
            <a:ext cx="3491999" cy="395999"/>
          </a:xfrm>
          <a:prstGeom prst="rect">
            <a:avLst/>
          </a:prstGeom>
          <a:noFill/>
        </p:spPr>
        <p:txBody>
          <a:bodyPr wrap="square">
            <a:spAutoFit/>
          </a:bodyPr>
          <a:lstStyle/>
          <a:p>
            <a:pPr algn="ctr"/>
            <a:r>
              <a:rPr sz="900" b="1" i="0">
                <a:solidFill>
                  <a:srgbClr val="FFFFFF"/>
                </a:solidFill>
                <a:latin typeface="Calibri"/>
              </a:rPr>
              <a:t>● HOLD  ·  Prix cible base : — $  ·  Upside : —</a:t>
            </a:r>
          </a:p>
        </p:txBody>
      </p:sp>
      <p:sp>
        <p:nvSpPr>
          <p:cNvPr id="10" name="Rectangle 9"/>
          <p:cNvSpPr/>
          <p:nvPr/>
        </p:nvSpPr>
        <p:spPr>
          <a:xfrm>
            <a:off x="367200" y="44640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4554000"/>
            <a:ext cx="4114800" cy="201600"/>
          </a:xfrm>
          <a:prstGeom prst="rect">
            <a:avLst/>
          </a:prstGeom>
          <a:noFill/>
        </p:spPr>
        <p:txBody>
          <a:bodyPr wrap="square">
            <a:spAutoFit/>
          </a:bodyPr>
          <a:lstStyle/>
          <a:p>
            <a:pPr algn="l"/>
            <a:r>
              <a:rPr sz="800" b="0" i="0">
                <a:solidFill>
                  <a:srgbClr val="555555"/>
                </a:solidFill>
                <a:latin typeface="Calibri"/>
              </a:rPr>
              <a:t>Rapport confidentiel</a:t>
            </a:r>
          </a:p>
        </p:txBody>
      </p:sp>
      <p:sp>
        <p:nvSpPr>
          <p:cNvPr id="12" name="TextBox 11"/>
          <p:cNvSpPr txBox="1"/>
          <p:nvPr/>
        </p:nvSpPr>
        <p:spPr>
          <a:xfrm>
            <a:off x="4662000" y="4554000"/>
            <a:ext cx="4114800" cy="201600"/>
          </a:xfrm>
          <a:prstGeom prst="rect">
            <a:avLst/>
          </a:prstGeom>
          <a:noFill/>
        </p:spPr>
        <p:txBody>
          <a:bodyPr wrap="square">
            <a:spAutoFit/>
          </a:bodyPr>
          <a:lstStyle/>
          <a:p>
            <a:pPr algn="r"/>
            <a:r>
              <a:rPr sz="800" b="0" i="0">
                <a:solidFill>
                  <a:srgbClr val="555555"/>
                </a:solidFill>
                <a:latin typeface="Calibri"/>
              </a:rPr>
              <a:t>8 avril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Executive Summary</a:t>
            </a:r>
          </a:p>
        </p:txBody>
      </p:sp>
      <p:sp>
        <p:nvSpPr>
          <p:cNvPr id="6" name="Rectangle 5"/>
          <p:cNvSpPr/>
          <p:nvPr/>
        </p:nvSpPr>
        <p:spPr>
          <a:xfrm>
            <a:off x="367200" y="748800"/>
            <a:ext cx="8413200" cy="4392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748800"/>
            <a:ext cx="46800" cy="4392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766800"/>
            <a:ext cx="1098000" cy="403200"/>
          </a:xfrm>
          <a:prstGeom prst="rect">
            <a:avLst/>
          </a:prstGeom>
          <a:noFill/>
        </p:spPr>
        <p:txBody>
          <a:bodyPr wrap="square">
            <a:spAutoFit/>
          </a:bodyPr>
          <a:lstStyle/>
          <a:p>
            <a:pPr algn="l"/>
            <a:r>
              <a:rPr sz="1100" b="1" i="0">
                <a:solidFill>
                  <a:srgbClr val="B06000"/>
                </a:solidFill>
                <a:latin typeface="Calibri"/>
              </a:rPr>
              <a:t>● HOLD</a:t>
            </a:r>
          </a:p>
        </p:txBody>
      </p:sp>
      <p:sp>
        <p:nvSpPr>
          <p:cNvPr id="9" name="TextBox 8"/>
          <p:cNvSpPr txBox="1"/>
          <p:nvPr/>
        </p:nvSpPr>
        <p:spPr>
          <a:xfrm>
            <a:off x="1692000" y="766800"/>
            <a:ext cx="6948000" cy="403200"/>
          </a:xfrm>
          <a:prstGeom prst="rect">
            <a:avLst/>
          </a:prstGeom>
          <a:noFill/>
        </p:spPr>
        <p:txBody>
          <a:bodyPr wrap="square">
            <a:spAutoFit/>
          </a:bodyPr>
          <a:lstStyle/>
          <a:p>
            <a:pPr algn="l"/>
            <a:r>
              <a:rPr sz="900" b="0" i="0">
                <a:solidFill>
                  <a:srgbClr val="1B3A6B"/>
                </a:solidFill>
                <a:latin typeface="Calibri"/>
              </a:rPr>
              <a:t>Prix cible base : — $  ·  Upside : —  ·  Bear : — $ (—)  ·  Bull : — $ (—)</a:t>
            </a:r>
          </a:p>
        </p:txBody>
      </p:sp>
      <p:sp>
        <p:nvSpPr>
          <p:cNvPr id="10" name="Rectangle 9"/>
          <p:cNvSpPr/>
          <p:nvPr/>
        </p:nvSpPr>
        <p:spPr>
          <a:xfrm>
            <a:off x="367200" y="1353600"/>
            <a:ext cx="4161600" cy="2556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67200" y="1353600"/>
            <a:ext cx="4161600" cy="255600"/>
          </a:xfrm>
          <a:prstGeom prst="rect">
            <a:avLst/>
          </a:prstGeom>
          <a:noFill/>
        </p:spPr>
        <p:txBody>
          <a:bodyPr wrap="square">
            <a:spAutoFit/>
          </a:bodyPr>
          <a:lstStyle/>
          <a:p>
            <a:pPr algn="l"/>
            <a:r>
              <a:rPr sz="900" b="1" i="0">
                <a:solidFill>
                  <a:srgbClr val="FFFFFF"/>
                </a:solidFill>
                <a:latin typeface="Calibri"/>
              </a:rPr>
              <a:t>THÈSE D'INVESTISSEMENT</a:t>
            </a:r>
          </a:p>
        </p:txBody>
      </p:sp>
      <p:sp>
        <p:nvSpPr>
          <p:cNvPr id="12" name="Rectangle 11"/>
          <p:cNvSpPr/>
          <p:nvPr/>
        </p:nvSpPr>
        <p:spPr>
          <a:xfrm>
            <a:off x="367200" y="16632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03999" y="16452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4" name="TextBox 13"/>
          <p:cNvSpPr txBox="1"/>
          <p:nvPr/>
        </p:nvSpPr>
        <p:spPr>
          <a:xfrm>
            <a:off x="503999" y="18144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5" name="Rectangle 14"/>
          <p:cNvSpPr/>
          <p:nvPr/>
        </p:nvSpPr>
        <p:spPr>
          <a:xfrm>
            <a:off x="367200" y="22140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3999" y="21960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17" name="TextBox 16"/>
          <p:cNvSpPr txBox="1"/>
          <p:nvPr/>
        </p:nvSpPr>
        <p:spPr>
          <a:xfrm>
            <a:off x="503999" y="23652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18" name="Rectangle 17"/>
          <p:cNvSpPr/>
          <p:nvPr/>
        </p:nvSpPr>
        <p:spPr>
          <a:xfrm>
            <a:off x="367200" y="2764800"/>
            <a:ext cx="54000" cy="129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2746800"/>
            <a:ext cx="3931200" cy="183600"/>
          </a:xfrm>
          <a:prstGeom prst="rect">
            <a:avLst/>
          </a:prstGeom>
          <a:noFill/>
        </p:spPr>
        <p:txBody>
          <a:bodyPr wrap="square">
            <a:spAutoFit/>
          </a:bodyPr>
          <a:lstStyle/>
          <a:p>
            <a:pPr algn="l"/>
            <a:r>
              <a:rPr sz="850" b="1" i="0">
                <a:solidFill>
                  <a:srgbClr val="1B3A6B"/>
                </a:solidFill>
                <a:latin typeface="Calibri"/>
              </a:rPr>
              <a:t>—</a:t>
            </a:r>
          </a:p>
        </p:txBody>
      </p:sp>
      <p:sp>
        <p:nvSpPr>
          <p:cNvPr id="20" name="TextBox 19"/>
          <p:cNvSpPr txBox="1"/>
          <p:nvPr/>
        </p:nvSpPr>
        <p:spPr>
          <a:xfrm>
            <a:off x="503999" y="2916000"/>
            <a:ext cx="3931200" cy="378000"/>
          </a:xfrm>
          <a:prstGeom prst="rect">
            <a:avLst/>
          </a:prstGeom>
          <a:noFill/>
        </p:spPr>
        <p:txBody>
          <a:bodyPr wrap="square">
            <a:spAutoFit/>
          </a:bodyPr>
          <a:lstStyle/>
          <a:p>
            <a:pPr algn="l"/>
            <a:r>
              <a:rPr sz="750" b="0" i="0">
                <a:solidFill>
                  <a:srgbClr val="333333"/>
                </a:solidFill>
                <a:latin typeface="Calibri"/>
              </a:rPr>
              <a:t>—</a:t>
            </a:r>
          </a:p>
        </p:txBody>
      </p:sp>
      <p:sp>
        <p:nvSpPr>
          <p:cNvPr id="21" name="Rectangle 20"/>
          <p:cNvSpPr/>
          <p:nvPr/>
        </p:nvSpPr>
        <p:spPr>
          <a:xfrm>
            <a:off x="4708800" y="1353600"/>
            <a:ext cx="4068000" cy="255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708800" y="1353600"/>
            <a:ext cx="4068000" cy="255600"/>
          </a:xfrm>
          <a:prstGeom prst="rect">
            <a:avLst/>
          </a:prstGeom>
          <a:noFill/>
        </p:spPr>
        <p:txBody>
          <a:bodyPr wrap="square">
            <a:spAutoFit/>
          </a:bodyPr>
          <a:lstStyle/>
          <a:p>
            <a:pPr algn="l"/>
            <a:r>
              <a:rPr sz="900" b="1" i="0">
                <a:solidFill>
                  <a:srgbClr val="FFFFFF"/>
                </a:solidFill>
                <a:latin typeface="Calibri"/>
              </a:rPr>
              <a:t>RISQUES PRINCIPAUX</a:t>
            </a:r>
          </a:p>
        </p:txBody>
      </p:sp>
      <p:sp>
        <p:nvSpPr>
          <p:cNvPr id="23" name="Rectangle 22"/>
          <p:cNvSpPr/>
          <p:nvPr/>
        </p:nvSpPr>
        <p:spPr>
          <a:xfrm>
            <a:off x="4708800" y="16632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845600" y="16452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5" name="TextBox 24"/>
          <p:cNvSpPr txBox="1"/>
          <p:nvPr/>
        </p:nvSpPr>
        <p:spPr>
          <a:xfrm>
            <a:off x="4845600" y="18144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6" name="Rectangle 25"/>
          <p:cNvSpPr/>
          <p:nvPr/>
        </p:nvSpPr>
        <p:spPr>
          <a:xfrm>
            <a:off x="4708800" y="22140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845600" y="21960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28" name="TextBox 27"/>
          <p:cNvSpPr txBox="1"/>
          <p:nvPr/>
        </p:nvSpPr>
        <p:spPr>
          <a:xfrm>
            <a:off x="4845600" y="23652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29" name="Rectangle 28"/>
          <p:cNvSpPr/>
          <p:nvPr/>
        </p:nvSpPr>
        <p:spPr>
          <a:xfrm>
            <a:off x="4708800" y="2764800"/>
            <a:ext cx="54000" cy="1296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845600" y="2746800"/>
            <a:ext cx="3794399" cy="183600"/>
          </a:xfrm>
          <a:prstGeom prst="rect">
            <a:avLst/>
          </a:prstGeom>
          <a:noFill/>
        </p:spPr>
        <p:txBody>
          <a:bodyPr wrap="square">
            <a:spAutoFit/>
          </a:bodyPr>
          <a:lstStyle/>
          <a:p>
            <a:pPr algn="l"/>
            <a:r>
              <a:rPr sz="850" b="1" i="0">
                <a:solidFill>
                  <a:srgbClr val="1B3A6B"/>
                </a:solidFill>
                <a:latin typeface="Calibri"/>
              </a:rPr>
              <a:t>—</a:t>
            </a:r>
          </a:p>
        </p:txBody>
      </p:sp>
      <p:sp>
        <p:nvSpPr>
          <p:cNvPr id="31" name="TextBox 30"/>
          <p:cNvSpPr txBox="1"/>
          <p:nvPr/>
        </p:nvSpPr>
        <p:spPr>
          <a:xfrm>
            <a:off x="4845600" y="2916000"/>
            <a:ext cx="3794399" cy="378000"/>
          </a:xfrm>
          <a:prstGeom prst="rect">
            <a:avLst/>
          </a:prstGeom>
          <a:noFill/>
        </p:spPr>
        <p:txBody>
          <a:bodyPr wrap="square">
            <a:spAutoFit/>
          </a:bodyPr>
          <a:lstStyle/>
          <a:p>
            <a:pPr algn="l"/>
            <a:r>
              <a:rPr sz="750" b="0" i="0">
                <a:solidFill>
                  <a:srgbClr val="333333"/>
                </a:solidFill>
                <a:latin typeface="Calibri"/>
              </a:rPr>
              <a:t>Impact potentiel sur la thèse d'investissement — surveillance recommandée sur les 6-12 prochains mois.</a:t>
            </a:r>
          </a:p>
        </p:txBody>
      </p:sp>
      <p:sp>
        <p:nvSpPr>
          <p:cNvPr id="32" name="Rectangle 31"/>
          <p:cNvSpPr/>
          <p:nvPr/>
        </p:nvSpPr>
        <p:spPr>
          <a:xfrm>
            <a:off x="4525200" y="1353600"/>
            <a:ext cx="10800" cy="17424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33012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367200" y="3333600"/>
            <a:ext cx="4010400" cy="198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13999" y="3333600"/>
            <a:ext cx="3960000" cy="198000"/>
          </a:xfrm>
          <a:prstGeom prst="rect">
            <a:avLst/>
          </a:prstGeom>
          <a:noFill/>
        </p:spPr>
        <p:txBody>
          <a:bodyPr wrap="square">
            <a:spAutoFit/>
          </a:bodyPr>
          <a:lstStyle/>
          <a:p>
            <a:pPr algn="l"/>
            <a:r>
              <a:rPr sz="750" b="1" i="0">
                <a:solidFill>
                  <a:srgbClr val="FFFFFF"/>
                </a:solidFill>
                <a:latin typeface="Calibri"/>
              </a:rPr>
              <a:t>CATALYSEURS À SURVEILLER (12M)</a:t>
            </a:r>
          </a:p>
        </p:txBody>
      </p:sp>
      <p:sp>
        <p:nvSpPr>
          <p:cNvPr id="36" name="Rectangle 35"/>
          <p:cNvSpPr/>
          <p:nvPr/>
        </p:nvSpPr>
        <p:spPr>
          <a:xfrm>
            <a:off x="367200" y="3582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39200" y="3560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38" name="Rectangle 37"/>
          <p:cNvSpPr/>
          <p:nvPr/>
        </p:nvSpPr>
        <p:spPr>
          <a:xfrm>
            <a:off x="367200" y="3780000"/>
            <a:ext cx="43200" cy="936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39200" y="3758400"/>
            <a:ext cx="3837600" cy="172800"/>
          </a:xfrm>
          <a:prstGeom prst="rect">
            <a:avLst/>
          </a:prstGeom>
          <a:noFill/>
        </p:spPr>
        <p:txBody>
          <a:bodyPr wrap="none">
            <a:spAutoFit/>
          </a:bodyPr>
          <a:lstStyle/>
          <a:p>
            <a:pPr algn="l"/>
            <a:r>
              <a:rPr sz="750" b="0" i="0">
                <a:solidFill>
                  <a:srgbClr val="333333"/>
                </a:solidFill>
                <a:latin typeface="Calibri"/>
              </a:rPr>
              <a:t>—</a:t>
            </a:r>
          </a:p>
        </p:txBody>
      </p:sp>
      <p:sp>
        <p:nvSpPr>
          <p:cNvPr id="40" name="Rectangle 39"/>
          <p:cNvSpPr/>
          <p:nvPr/>
        </p:nvSpPr>
        <p:spPr>
          <a:xfrm>
            <a:off x="4708800" y="3333600"/>
            <a:ext cx="4068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4755600" y="3333600"/>
            <a:ext cx="3996000" cy="198000"/>
          </a:xfrm>
          <a:prstGeom prst="rect">
            <a:avLst/>
          </a:prstGeom>
          <a:noFill/>
        </p:spPr>
        <p:txBody>
          <a:bodyPr wrap="square">
            <a:spAutoFit/>
          </a:bodyPr>
          <a:lstStyle/>
          <a:p>
            <a:pPr algn="l"/>
            <a:r>
              <a:rPr sz="750" b="1" i="0">
                <a:solidFill>
                  <a:srgbClr val="FFFFFF"/>
                </a:solidFill>
                <a:latin typeface="Calibri"/>
              </a:rPr>
              <a:t>VALORISATION SYNTHÉTIQUE</a:t>
            </a:r>
          </a:p>
        </p:txBody>
      </p:sp>
      <p:graphicFrame>
        <p:nvGraphicFramePr>
          <p:cNvPr id="42" name="Table 41"/>
          <p:cNvGraphicFramePr>
            <a:graphicFrameLocks noGrp="1"/>
          </p:cNvGraphicFramePr>
          <p:nvPr/>
        </p:nvGraphicFramePr>
        <p:xfrm>
          <a:off x="4708800" y="3560400"/>
          <a:ext cx="4068000" cy="396000"/>
        </p:xfrm>
        <a:graphic>
          <a:graphicData uri="http://schemas.openxmlformats.org/drawingml/2006/table">
            <a:tbl>
              <a:tblPr firstRow="1" bandRow="1">
                <a:tableStyleId>{5C22544A-7EE6-4342-B048-85BDC9FD1C3A}</a:tableStyleId>
              </a:tblPr>
              <a:tblGrid>
                <a:gridCol w="2034000"/>
                <a:gridCol w="1017000"/>
                <a:gridCol w="1017000"/>
              </a:tblGrid>
              <a:tr h="99000">
                <a:tc>
                  <a:txBody>
                    <a:bodyPr/>
                    <a:lstStyle/>
                    <a:p>
                      <a:pPr algn="l"/>
                      <a:r>
                        <a:rPr sz="800" b="1" i="0">
                          <a:solidFill>
                            <a:srgbClr val="FFFFFF"/>
                          </a:solidFill>
                          <a:latin typeface="Calibri"/>
                        </a:rPr>
                        <a:t>Multiple</a:t>
                      </a:r>
                    </a:p>
                  </a:txBody>
                  <a:tcPr>
                    <a:solidFill>
                      <a:srgbClr val="1B3A6B"/>
                    </a:solidFill>
                  </a:tcPr>
                </a:tc>
                <a:tc>
                  <a:txBody>
                    <a:bodyPr/>
                    <a:lstStyle/>
                    <a:p>
                      <a:pPr algn="ctr"/>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Médiane pairs</a:t>
                      </a:r>
                    </a:p>
                  </a:txBody>
                  <a:tcPr>
                    <a:solidFill>
                      <a:srgbClr val="1B3A6B"/>
                    </a:solidFill>
                  </a:tcPr>
                </a:tc>
              </a:tr>
              <a:tr h="99000">
                <a:tc>
                  <a:txBody>
                    <a:bodyPr/>
                    <a:lstStyle/>
                    <a:p>
                      <a:pPr algn="l"/>
                      <a:r>
                        <a:rPr sz="800" b="0" i="0">
                          <a:solidFill>
                            <a:srgbClr val="0D0D0D"/>
                          </a:solidFill>
                          <a:latin typeface="Calibri"/>
                        </a:rPr>
                        <a:t>P/E NTM (x)</a:t>
                      </a:r>
                    </a:p>
                  </a:txBody>
                  <a:tcPr>
                    <a:solidFill>
                      <a:srgbClr val="FFFFFF"/>
                    </a:solidFill>
                  </a:tcPr>
                </a:tc>
                <a:tc>
                  <a:txBody>
                    <a:bodyPr/>
                    <a:lstStyle/>
                    <a:p>
                      <a:pPr algn="ctr"/>
                      <a:r>
                        <a:rPr sz="800" b="0" i="0">
                          <a:solidFill>
                            <a:srgbClr val="0D0D0D"/>
                          </a:solidFill>
                          <a:latin typeface="Calibri"/>
                        </a:rPr>
                        <a:t>27,1x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99000">
                <a:tc>
                  <a:txBody>
                    <a:bodyPr/>
                    <a:lstStyle/>
                    <a:p>
                      <a:pPr algn="l"/>
                      <a:r>
                        <a:rPr sz="800" b="0" i="0">
                          <a:solidFill>
                            <a:srgbClr val="0D0D0D"/>
                          </a:solidFill>
                          <a:latin typeface="Calibri"/>
                        </a:rPr>
                        <a:t>EV/EBITDA (x)</a:t>
                      </a:r>
                    </a:p>
                  </a:txBody>
                  <a:tcPr>
                    <a:solidFill>
                      <a:srgbClr val="F7F8FA"/>
                    </a:solidFill>
                  </a:tcPr>
                </a:tc>
                <a:tc>
                  <a:txBody>
                    <a:bodyPr/>
                    <a:lstStyle/>
                    <a:p>
                      <a:pPr algn="ctr"/>
                      <a:r>
                        <a:rPr sz="800" b="0" i="0">
                          <a:solidFill>
                            <a:srgbClr val="0D0D0D"/>
                          </a:solidFill>
                          <a:latin typeface="Calibri"/>
                        </a:rPr>
                        <a:t>17,3x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99000">
                <a:tc>
                  <a:txBody>
                    <a:bodyPr/>
                    <a:lstStyle/>
                    <a:p>
                      <a:pPr algn="l"/>
                      <a:r>
                        <a:rPr sz="800" b="0" i="0">
                          <a:solidFill>
                            <a:srgbClr val="0D0D0D"/>
                          </a:solidFill>
                          <a:latin typeface="Calibri"/>
                        </a:rPr>
                        <a:t>Cible DCF ($)</a:t>
                      </a:r>
                    </a:p>
                  </a:txBody>
                  <a:tcPr>
                    <a:solidFill>
                      <a:srgbClr val="FFFFFF"/>
                    </a:solidFill>
                  </a:tcPr>
                </a:tc>
                <a:tc>
                  <a:txBody>
                    <a:bodyPr/>
                    <a:lstStyle/>
                    <a:p>
                      <a:pPr algn="ctr"/>
                      <a:r>
                        <a:rPr sz="800" b="0" i="0">
                          <a:solidFill>
                            <a:srgbClr val="0D0D0D"/>
                          </a:solidFill>
                          <a:latin typeface="Calibri"/>
                        </a:rPr>
                        <a:t>— $</a:t>
                      </a:r>
                    </a:p>
                  </a:txBody>
                  <a:tcPr>
                    <a:solidFill>
                      <a:srgbClr val="FFFFFF"/>
                    </a:solidFill>
                  </a:tcPr>
                </a:tc>
                <a:tc>
                  <a:txBody>
                    <a:bodyPr/>
                    <a:lstStyle/>
                    <a:p>
                      <a:pPr algn="ctr"/>
                      <a:r>
                        <a:rPr sz="800" b="0" i="0">
                          <a:solidFill>
                            <a:srgbClr val="0D0D0D"/>
                          </a:solidFill>
                          <a:latin typeface="Calibri"/>
                        </a:rPr>
                        <a:t>Upside —</a:t>
                      </a:r>
                    </a:p>
                  </a:txBody>
                  <a:tcPr>
                    <a:solidFill>
                      <a:srgbClr val="FFFFFF"/>
                    </a:solidFill>
                  </a:tcPr>
                </a:tc>
              </a:tr>
            </a:tbl>
          </a:graphicData>
        </a:graphic>
      </p:graphicFrame>
      <p:sp>
        <p:nvSpPr>
          <p:cNvPr id="43" name="Rectangle 42"/>
          <p:cNvSpPr/>
          <p:nvPr/>
        </p:nvSpPr>
        <p:spPr>
          <a:xfrm>
            <a:off x="4525200" y="3301200"/>
            <a:ext cx="10800" cy="720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367200" y="4042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672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ectangle 45"/>
          <p:cNvSpPr/>
          <p:nvPr/>
        </p:nvSpPr>
        <p:spPr>
          <a:xfrm>
            <a:off x="3672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57200" y="4136400"/>
            <a:ext cx="1893600" cy="396000"/>
          </a:xfrm>
          <a:prstGeom prst="rect">
            <a:avLst/>
          </a:prstGeom>
          <a:noFill/>
        </p:spPr>
        <p:txBody>
          <a:bodyPr wrap="square">
            <a:spAutoFit/>
          </a:bodyPr>
          <a:lstStyle/>
          <a:p>
            <a:pPr algn="l"/>
            <a:r>
              <a:rPr sz="1900" b="1" i="0">
                <a:solidFill>
                  <a:srgbClr val="1B3A6B"/>
                </a:solidFill>
                <a:latin typeface="Calibri"/>
              </a:rPr>
              <a:t>17,3x</a:t>
            </a:r>
          </a:p>
        </p:txBody>
      </p:sp>
      <p:sp>
        <p:nvSpPr>
          <p:cNvPr id="48" name="TextBox 47"/>
          <p:cNvSpPr txBox="1"/>
          <p:nvPr/>
        </p:nvSpPr>
        <p:spPr>
          <a:xfrm>
            <a:off x="457200" y="4532400"/>
            <a:ext cx="1893600" cy="205199"/>
          </a:xfrm>
          <a:prstGeom prst="rect">
            <a:avLst/>
          </a:prstGeom>
          <a:noFill/>
        </p:spPr>
        <p:txBody>
          <a:bodyPr wrap="square">
            <a:spAutoFit/>
          </a:bodyPr>
          <a:lstStyle/>
          <a:p>
            <a:pPr algn="l"/>
            <a:r>
              <a:rPr sz="800" b="0" i="0">
                <a:solidFill>
                  <a:srgbClr val="555555"/>
                </a:solidFill>
                <a:latin typeface="Calibri"/>
              </a:rPr>
              <a:t>EV/EBITDA</a:t>
            </a:r>
          </a:p>
        </p:txBody>
      </p:sp>
      <p:sp>
        <p:nvSpPr>
          <p:cNvPr id="49" name="TextBox 48"/>
          <p:cNvSpPr txBox="1"/>
          <p:nvPr/>
        </p:nvSpPr>
        <p:spPr>
          <a:xfrm>
            <a:off x="457200" y="4730400"/>
            <a:ext cx="1893600" cy="165600"/>
          </a:xfrm>
          <a:prstGeom prst="rect">
            <a:avLst/>
          </a:prstGeom>
          <a:noFill/>
        </p:spPr>
        <p:txBody>
          <a:bodyPr wrap="square">
            <a:spAutoFit/>
          </a:bodyPr>
          <a:lstStyle/>
          <a:p>
            <a:pPr algn="l"/>
            <a:r>
              <a:rPr sz="700" b="0" i="0">
                <a:solidFill>
                  <a:srgbClr val="888888"/>
                </a:solidFill>
                <a:latin typeface="Calibri"/>
              </a:rPr>
              <a:t>vs — med. pairs</a:t>
            </a:r>
          </a:p>
        </p:txBody>
      </p:sp>
      <p:sp>
        <p:nvSpPr>
          <p:cNvPr id="50" name="Rectangle 49"/>
          <p:cNvSpPr/>
          <p:nvPr/>
        </p:nvSpPr>
        <p:spPr>
          <a:xfrm>
            <a:off x="24876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4876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577600" y="4136400"/>
            <a:ext cx="1893600" cy="396000"/>
          </a:xfrm>
          <a:prstGeom prst="rect">
            <a:avLst/>
          </a:prstGeom>
          <a:noFill/>
        </p:spPr>
        <p:txBody>
          <a:bodyPr wrap="square">
            <a:spAutoFit/>
          </a:bodyPr>
          <a:lstStyle/>
          <a:p>
            <a:pPr algn="l"/>
            <a:r>
              <a:rPr sz="1900" b="1" i="0">
                <a:solidFill>
                  <a:srgbClr val="1B3A6B"/>
                </a:solidFill>
                <a:latin typeface="Calibri"/>
              </a:rPr>
              <a:t>10,3 %</a:t>
            </a:r>
          </a:p>
        </p:txBody>
      </p:sp>
      <p:sp>
        <p:nvSpPr>
          <p:cNvPr id="53" name="TextBox 52"/>
          <p:cNvSpPr txBox="1"/>
          <p:nvPr/>
        </p:nvSpPr>
        <p:spPr>
          <a:xfrm>
            <a:off x="2577600" y="4532400"/>
            <a:ext cx="1893600" cy="205199"/>
          </a:xfrm>
          <a:prstGeom prst="rect">
            <a:avLst/>
          </a:prstGeom>
          <a:noFill/>
        </p:spPr>
        <p:txBody>
          <a:bodyPr wrap="square">
            <a:spAutoFit/>
          </a:bodyPr>
          <a:lstStyle/>
          <a:p>
            <a:pPr algn="l"/>
            <a:r>
              <a:rPr sz="800" b="0" i="0">
                <a:solidFill>
                  <a:srgbClr val="555555"/>
                </a:solidFill>
                <a:latin typeface="Calibri"/>
              </a:rPr>
              <a:t>WACC</a:t>
            </a:r>
          </a:p>
        </p:txBody>
      </p:sp>
      <p:sp>
        <p:nvSpPr>
          <p:cNvPr id="54" name="TextBox 53"/>
          <p:cNvSpPr txBox="1"/>
          <p:nvPr/>
        </p:nvSpPr>
        <p:spPr>
          <a:xfrm>
            <a:off x="2577600" y="4730400"/>
            <a:ext cx="1893600" cy="165600"/>
          </a:xfrm>
          <a:prstGeom prst="rect">
            <a:avLst/>
          </a:prstGeom>
          <a:noFill/>
        </p:spPr>
        <p:txBody>
          <a:bodyPr wrap="square">
            <a:spAutoFit/>
          </a:bodyPr>
          <a:lstStyle/>
          <a:p>
            <a:pPr algn="l"/>
            <a:r>
              <a:rPr sz="700" b="0" i="0">
                <a:solidFill>
                  <a:srgbClr val="888888"/>
                </a:solidFill>
                <a:latin typeface="Calibri"/>
              </a:rPr>
              <a:t>Beta 1,11  ·  RFR 4,3 %</a:t>
            </a:r>
          </a:p>
        </p:txBody>
      </p:sp>
      <p:sp>
        <p:nvSpPr>
          <p:cNvPr id="55" name="Rectangle 54"/>
          <p:cNvSpPr/>
          <p:nvPr/>
        </p:nvSpPr>
        <p:spPr>
          <a:xfrm>
            <a:off x="46080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Rectangle 55"/>
          <p:cNvSpPr/>
          <p:nvPr/>
        </p:nvSpPr>
        <p:spPr>
          <a:xfrm>
            <a:off x="46080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4698000" y="4136400"/>
            <a:ext cx="1893600" cy="396000"/>
          </a:xfrm>
          <a:prstGeom prst="rect">
            <a:avLst/>
          </a:prstGeom>
          <a:noFill/>
        </p:spPr>
        <p:txBody>
          <a:bodyPr wrap="square">
            <a:spAutoFit/>
          </a:bodyPr>
          <a:lstStyle/>
          <a:p>
            <a:pPr algn="l"/>
            <a:r>
              <a:rPr sz="1900" b="1" i="0">
                <a:solidFill>
                  <a:srgbClr val="1B3A6B"/>
                </a:solidFill>
                <a:latin typeface="Calibri"/>
              </a:rPr>
              <a:t>— $</a:t>
            </a:r>
          </a:p>
        </p:txBody>
      </p:sp>
      <p:sp>
        <p:nvSpPr>
          <p:cNvPr id="58" name="TextBox 57"/>
          <p:cNvSpPr txBox="1"/>
          <p:nvPr/>
        </p:nvSpPr>
        <p:spPr>
          <a:xfrm>
            <a:off x="4698000" y="4532400"/>
            <a:ext cx="1893600" cy="205199"/>
          </a:xfrm>
          <a:prstGeom prst="rect">
            <a:avLst/>
          </a:prstGeom>
          <a:noFill/>
        </p:spPr>
        <p:txBody>
          <a:bodyPr wrap="square">
            <a:spAutoFit/>
          </a:bodyPr>
          <a:lstStyle/>
          <a:p>
            <a:pPr algn="l"/>
            <a:r>
              <a:rPr sz="800" b="0" i="0">
                <a:solidFill>
                  <a:srgbClr val="555555"/>
                </a:solidFill>
                <a:latin typeface="Calibri"/>
              </a:rPr>
              <a:t>Valeur DCF base</a:t>
            </a:r>
          </a:p>
        </p:txBody>
      </p:sp>
      <p:sp>
        <p:nvSpPr>
          <p:cNvPr id="59" name="TextBox 58"/>
          <p:cNvSpPr txBox="1"/>
          <p:nvPr/>
        </p:nvSpPr>
        <p:spPr>
          <a:xfrm>
            <a:off x="4698000" y="4730400"/>
            <a:ext cx="1893600" cy="165600"/>
          </a:xfrm>
          <a:prstGeom prst="rect">
            <a:avLst/>
          </a:prstGeom>
          <a:noFill/>
        </p:spPr>
        <p:txBody>
          <a:bodyPr wrap="square">
            <a:spAutoFit/>
          </a:bodyPr>
          <a:lstStyle/>
          <a:p>
            <a:pPr algn="l"/>
            <a:r>
              <a:rPr sz="700" b="0" i="0">
                <a:solidFill>
                  <a:srgbClr val="888888"/>
                </a:solidFill>
                <a:latin typeface="Calibri"/>
              </a:rPr>
              <a:t>Upside — vs cours</a:t>
            </a:r>
          </a:p>
        </p:txBody>
      </p:sp>
      <p:sp>
        <p:nvSpPr>
          <p:cNvPr id="60" name="Rectangle 59"/>
          <p:cNvSpPr/>
          <p:nvPr/>
        </p:nvSpPr>
        <p:spPr>
          <a:xfrm>
            <a:off x="6728400" y="4082400"/>
            <a:ext cx="2030400" cy="7056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1" name="Rectangle 60"/>
          <p:cNvSpPr/>
          <p:nvPr/>
        </p:nvSpPr>
        <p:spPr>
          <a:xfrm>
            <a:off x="6728400" y="4082400"/>
            <a:ext cx="46800" cy="705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6818400" y="4136400"/>
            <a:ext cx="1893600" cy="396000"/>
          </a:xfrm>
          <a:prstGeom prst="rect">
            <a:avLst/>
          </a:prstGeom>
          <a:noFill/>
        </p:spPr>
        <p:txBody>
          <a:bodyPr wrap="square">
            <a:spAutoFit/>
          </a:bodyPr>
          <a:lstStyle/>
          <a:p>
            <a:pPr algn="l"/>
            <a:r>
              <a:rPr sz="1900" b="1" i="0">
                <a:solidFill>
                  <a:srgbClr val="1B3A6B"/>
                </a:solidFill>
                <a:latin typeface="Calibri"/>
              </a:rPr>
              <a:t>+0,491</a:t>
            </a:r>
          </a:p>
        </p:txBody>
      </p:sp>
      <p:sp>
        <p:nvSpPr>
          <p:cNvPr id="63" name="TextBox 62"/>
          <p:cNvSpPr txBox="1"/>
          <p:nvPr/>
        </p:nvSpPr>
        <p:spPr>
          <a:xfrm>
            <a:off x="6818400" y="4532400"/>
            <a:ext cx="1893600" cy="205199"/>
          </a:xfrm>
          <a:prstGeom prst="rect">
            <a:avLst/>
          </a:prstGeom>
          <a:noFill/>
        </p:spPr>
        <p:txBody>
          <a:bodyPr wrap="square">
            <a:spAutoFit/>
          </a:bodyPr>
          <a:lstStyle/>
          <a:p>
            <a:pPr algn="l"/>
            <a:r>
              <a:rPr sz="800" b="0" i="0">
                <a:solidFill>
                  <a:srgbClr val="555555"/>
                </a:solidFill>
                <a:latin typeface="Calibri"/>
              </a:rPr>
              <a:t>Sentiment FinBERT</a:t>
            </a:r>
          </a:p>
        </p:txBody>
      </p:sp>
      <p:sp>
        <p:nvSpPr>
          <p:cNvPr id="64" name="TextBox 63"/>
          <p:cNvSpPr txBox="1"/>
          <p:nvPr/>
        </p:nvSpPr>
        <p:spPr>
          <a:xfrm>
            <a:off x="6818400" y="4730400"/>
            <a:ext cx="1893600" cy="165600"/>
          </a:xfrm>
          <a:prstGeom prst="rect">
            <a:avLst/>
          </a:prstGeom>
          <a:noFill/>
        </p:spPr>
        <p:txBody>
          <a:bodyPr wrap="square">
            <a:spAutoFit/>
          </a:bodyPr>
          <a:lstStyle/>
          <a:p>
            <a:pPr algn="l"/>
            <a:r>
              <a:rPr sz="700" b="0" i="0">
                <a:solidFill>
                  <a:srgbClr val="888888"/>
                </a:solidFill>
                <a:latin typeface="Calibri"/>
              </a:rPr>
              <a:t>Positif  ·  30 art.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TextBox 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Sommaire</a:t>
            </a:r>
          </a:p>
        </p:txBody>
      </p:sp>
      <p:sp>
        <p:nvSpPr>
          <p:cNvPr id="6" name="Rectangle 5"/>
          <p:cNvSpPr/>
          <p:nvPr/>
        </p:nvSpPr>
        <p:spPr>
          <a:xfrm>
            <a:off x="367200" y="8964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7200" y="8964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3999" y="950400"/>
            <a:ext cx="475200" cy="514800"/>
          </a:xfrm>
          <a:prstGeom prst="rect">
            <a:avLst/>
          </a:prstGeom>
          <a:noFill/>
        </p:spPr>
        <p:txBody>
          <a:bodyPr wrap="square">
            <a:spAutoFit/>
          </a:bodyPr>
          <a:lstStyle/>
          <a:p>
            <a:pPr algn="l"/>
            <a:r>
              <a:rPr sz="1700" b="1" i="0">
                <a:solidFill>
                  <a:srgbClr val="888888"/>
                </a:solidFill>
                <a:latin typeface="Calibri"/>
              </a:rPr>
              <a:t>01</a:t>
            </a:r>
          </a:p>
        </p:txBody>
      </p:sp>
      <p:sp>
        <p:nvSpPr>
          <p:cNvPr id="9" name="TextBox 8"/>
          <p:cNvSpPr txBox="1"/>
          <p:nvPr/>
        </p:nvSpPr>
        <p:spPr>
          <a:xfrm>
            <a:off x="1152000" y="968400"/>
            <a:ext cx="6120000" cy="255600"/>
          </a:xfrm>
          <a:prstGeom prst="rect">
            <a:avLst/>
          </a:prstGeom>
          <a:noFill/>
        </p:spPr>
        <p:txBody>
          <a:bodyPr wrap="square">
            <a:spAutoFit/>
          </a:bodyPr>
          <a:lstStyle/>
          <a:p>
            <a:pPr algn="l"/>
            <a:r>
              <a:rPr sz="1300" b="1" i="0">
                <a:solidFill>
                  <a:srgbClr val="1B3A6B"/>
                </a:solidFill>
                <a:latin typeface="Calibri"/>
              </a:rPr>
              <a:t>Company Overview</a:t>
            </a:r>
          </a:p>
        </p:txBody>
      </p:sp>
      <p:sp>
        <p:nvSpPr>
          <p:cNvPr id="10" name="TextBox 9"/>
          <p:cNvSpPr txBox="1"/>
          <p:nvPr/>
        </p:nvSpPr>
        <p:spPr>
          <a:xfrm>
            <a:off x="1152000" y="1202400"/>
            <a:ext cx="6120000" cy="255600"/>
          </a:xfrm>
          <a:prstGeom prst="rect">
            <a:avLst/>
          </a:prstGeom>
          <a:noFill/>
        </p:spPr>
        <p:txBody>
          <a:bodyPr wrap="square">
            <a:spAutoFit/>
          </a:bodyPr>
          <a:lstStyle/>
          <a:p>
            <a:pPr algn="l"/>
            <a:r>
              <a:rPr sz="850" b="0" i="0">
                <a:solidFill>
                  <a:srgbClr val="555555"/>
                </a:solidFill>
                <a:latin typeface="Calibri"/>
              </a:rPr>
              <a:t>Microsoft Corporation  ·  Technology</a:t>
            </a:r>
          </a:p>
        </p:txBody>
      </p:sp>
      <p:sp>
        <p:nvSpPr>
          <p:cNvPr id="11" name="TextBox 10"/>
          <p:cNvSpPr txBox="1"/>
          <p:nvPr/>
        </p:nvSpPr>
        <p:spPr>
          <a:xfrm>
            <a:off x="7405200" y="1058400"/>
            <a:ext cx="1375200" cy="255600"/>
          </a:xfrm>
          <a:prstGeom prst="rect">
            <a:avLst/>
          </a:prstGeom>
          <a:noFill/>
        </p:spPr>
        <p:txBody>
          <a:bodyPr wrap="square">
            <a:spAutoFit/>
          </a:bodyPr>
          <a:lstStyle/>
          <a:p>
            <a:pPr algn="r"/>
            <a:r>
              <a:rPr sz="900" b="0" i="0">
                <a:solidFill>
                  <a:srgbClr val="2E5FA3"/>
                </a:solidFill>
                <a:latin typeface="Calibri"/>
              </a:rPr>
              <a:t>4–6</a:t>
            </a:r>
          </a:p>
        </p:txBody>
      </p:sp>
      <p:sp>
        <p:nvSpPr>
          <p:cNvPr id="12" name="Rectangle 11"/>
          <p:cNvSpPr/>
          <p:nvPr/>
        </p:nvSpPr>
        <p:spPr>
          <a:xfrm>
            <a:off x="367200" y="15912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7200" y="15912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03999" y="1645200"/>
            <a:ext cx="475200" cy="514800"/>
          </a:xfrm>
          <a:prstGeom prst="rect">
            <a:avLst/>
          </a:prstGeom>
          <a:noFill/>
        </p:spPr>
        <p:txBody>
          <a:bodyPr wrap="square">
            <a:spAutoFit/>
          </a:bodyPr>
          <a:lstStyle/>
          <a:p>
            <a:pPr algn="l"/>
            <a:r>
              <a:rPr sz="1700" b="1" i="0">
                <a:solidFill>
                  <a:srgbClr val="888888"/>
                </a:solidFill>
                <a:latin typeface="Calibri"/>
              </a:rPr>
              <a:t>02</a:t>
            </a:r>
          </a:p>
        </p:txBody>
      </p:sp>
      <p:sp>
        <p:nvSpPr>
          <p:cNvPr id="15" name="TextBox 14"/>
          <p:cNvSpPr txBox="1"/>
          <p:nvPr/>
        </p:nvSpPr>
        <p:spPr>
          <a:xfrm>
            <a:off x="1152000" y="1663200"/>
            <a:ext cx="6120000" cy="255600"/>
          </a:xfrm>
          <a:prstGeom prst="rect">
            <a:avLst/>
          </a:prstGeom>
          <a:noFill/>
        </p:spPr>
        <p:txBody>
          <a:bodyPr wrap="square">
            <a:spAutoFit/>
          </a:bodyPr>
          <a:lstStyle/>
          <a:p>
            <a:pPr algn="l"/>
            <a:r>
              <a:rPr sz="1300" b="1" i="0">
                <a:solidFill>
                  <a:srgbClr val="1B3A6B"/>
                </a:solidFill>
                <a:latin typeface="Calibri"/>
              </a:rPr>
              <a:t>Analyse Financière</a:t>
            </a:r>
          </a:p>
        </p:txBody>
      </p:sp>
      <p:sp>
        <p:nvSpPr>
          <p:cNvPr id="16" name="TextBox 15"/>
          <p:cNvSpPr txBox="1"/>
          <p:nvPr/>
        </p:nvSpPr>
        <p:spPr>
          <a:xfrm>
            <a:off x="1152000" y="1897199"/>
            <a:ext cx="6120000" cy="255600"/>
          </a:xfrm>
          <a:prstGeom prst="rect">
            <a:avLst/>
          </a:prstGeom>
          <a:noFill/>
        </p:spPr>
        <p:txBody>
          <a:bodyPr wrap="square">
            <a:spAutoFit/>
          </a:bodyPr>
          <a:lstStyle/>
          <a:p>
            <a:pPr algn="l"/>
            <a:r>
              <a:rPr sz="850" b="0" i="0">
                <a:solidFill>
                  <a:srgbClr val="555555"/>
                </a:solidFill>
                <a:latin typeface="Calibri"/>
              </a:rPr>
              <a:t>Compte de résultat, bilan &amp; liquidité, ratios</a:t>
            </a:r>
          </a:p>
        </p:txBody>
      </p:sp>
      <p:sp>
        <p:nvSpPr>
          <p:cNvPr id="17" name="TextBox 16"/>
          <p:cNvSpPr txBox="1"/>
          <p:nvPr/>
        </p:nvSpPr>
        <p:spPr>
          <a:xfrm>
            <a:off x="7405200" y="1753200"/>
            <a:ext cx="1375200" cy="255600"/>
          </a:xfrm>
          <a:prstGeom prst="rect">
            <a:avLst/>
          </a:prstGeom>
          <a:noFill/>
        </p:spPr>
        <p:txBody>
          <a:bodyPr wrap="square">
            <a:spAutoFit/>
          </a:bodyPr>
          <a:lstStyle/>
          <a:p>
            <a:pPr algn="r"/>
            <a:r>
              <a:rPr sz="900" b="0" i="0">
                <a:solidFill>
                  <a:srgbClr val="2E5FA3"/>
                </a:solidFill>
                <a:latin typeface="Calibri"/>
              </a:rPr>
              <a:t>7–10</a:t>
            </a:r>
          </a:p>
        </p:txBody>
      </p:sp>
      <p:sp>
        <p:nvSpPr>
          <p:cNvPr id="18" name="Rectangle 17"/>
          <p:cNvSpPr/>
          <p:nvPr/>
        </p:nvSpPr>
        <p:spPr>
          <a:xfrm>
            <a:off x="367200" y="22860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367200" y="22860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03999" y="2340000"/>
            <a:ext cx="475200" cy="514800"/>
          </a:xfrm>
          <a:prstGeom prst="rect">
            <a:avLst/>
          </a:prstGeom>
          <a:noFill/>
        </p:spPr>
        <p:txBody>
          <a:bodyPr wrap="square">
            <a:spAutoFit/>
          </a:bodyPr>
          <a:lstStyle/>
          <a:p>
            <a:pPr algn="l"/>
            <a:r>
              <a:rPr sz="1700" b="1" i="0">
                <a:solidFill>
                  <a:srgbClr val="888888"/>
                </a:solidFill>
                <a:latin typeface="Calibri"/>
              </a:rPr>
              <a:t>03</a:t>
            </a:r>
          </a:p>
        </p:txBody>
      </p:sp>
      <p:sp>
        <p:nvSpPr>
          <p:cNvPr id="21" name="TextBox 20"/>
          <p:cNvSpPr txBox="1"/>
          <p:nvPr/>
        </p:nvSpPr>
        <p:spPr>
          <a:xfrm>
            <a:off x="1152000" y="2358000"/>
            <a:ext cx="6120000" cy="255600"/>
          </a:xfrm>
          <a:prstGeom prst="rect">
            <a:avLst/>
          </a:prstGeom>
          <a:noFill/>
        </p:spPr>
        <p:txBody>
          <a:bodyPr wrap="square">
            <a:spAutoFit/>
          </a:bodyPr>
          <a:lstStyle/>
          <a:p>
            <a:pPr algn="l"/>
            <a:r>
              <a:rPr sz="1300" b="1" i="0">
                <a:solidFill>
                  <a:srgbClr val="1B3A6B"/>
                </a:solidFill>
                <a:latin typeface="Calibri"/>
              </a:rPr>
              <a:t>Valorisation</a:t>
            </a:r>
          </a:p>
        </p:txBody>
      </p:sp>
      <p:sp>
        <p:nvSpPr>
          <p:cNvPr id="22" name="TextBox 21"/>
          <p:cNvSpPr txBox="1"/>
          <p:nvPr/>
        </p:nvSpPr>
        <p:spPr>
          <a:xfrm>
            <a:off x="1152000" y="2591999"/>
            <a:ext cx="6120000" cy="255600"/>
          </a:xfrm>
          <a:prstGeom prst="rect">
            <a:avLst/>
          </a:prstGeom>
          <a:noFill/>
        </p:spPr>
        <p:txBody>
          <a:bodyPr wrap="square">
            <a:spAutoFit/>
          </a:bodyPr>
          <a:lstStyle/>
          <a:p>
            <a:pPr algn="l"/>
            <a:r>
              <a:rPr sz="850" b="0" i="0">
                <a:solidFill>
                  <a:srgbClr val="555555"/>
                </a:solidFill>
                <a:latin typeface="Calibri"/>
              </a:rPr>
              <a:t>DCF, comparable peers, Football Field</a:t>
            </a:r>
          </a:p>
        </p:txBody>
      </p:sp>
      <p:sp>
        <p:nvSpPr>
          <p:cNvPr id="23" name="TextBox 22"/>
          <p:cNvSpPr txBox="1"/>
          <p:nvPr/>
        </p:nvSpPr>
        <p:spPr>
          <a:xfrm>
            <a:off x="7405200" y="2448000"/>
            <a:ext cx="1375200" cy="255600"/>
          </a:xfrm>
          <a:prstGeom prst="rect">
            <a:avLst/>
          </a:prstGeom>
          <a:noFill/>
        </p:spPr>
        <p:txBody>
          <a:bodyPr wrap="square">
            <a:spAutoFit/>
          </a:bodyPr>
          <a:lstStyle/>
          <a:p>
            <a:pPr algn="r"/>
            <a:r>
              <a:rPr sz="900" b="0" i="0">
                <a:solidFill>
                  <a:srgbClr val="2E5FA3"/>
                </a:solidFill>
                <a:latin typeface="Calibri"/>
              </a:rPr>
              <a:t>11–14</a:t>
            </a:r>
          </a:p>
        </p:txBody>
      </p:sp>
      <p:sp>
        <p:nvSpPr>
          <p:cNvPr id="24" name="Rectangle 23"/>
          <p:cNvSpPr/>
          <p:nvPr/>
        </p:nvSpPr>
        <p:spPr>
          <a:xfrm>
            <a:off x="367200" y="2980800"/>
            <a:ext cx="8413200" cy="622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67200" y="29808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03999" y="3034800"/>
            <a:ext cx="475200" cy="514800"/>
          </a:xfrm>
          <a:prstGeom prst="rect">
            <a:avLst/>
          </a:prstGeom>
          <a:noFill/>
        </p:spPr>
        <p:txBody>
          <a:bodyPr wrap="square">
            <a:spAutoFit/>
          </a:bodyPr>
          <a:lstStyle/>
          <a:p>
            <a:pPr algn="l"/>
            <a:r>
              <a:rPr sz="1700" b="1" i="0">
                <a:solidFill>
                  <a:srgbClr val="888888"/>
                </a:solidFill>
                <a:latin typeface="Calibri"/>
              </a:rPr>
              <a:t>04</a:t>
            </a:r>
          </a:p>
        </p:txBody>
      </p:sp>
      <p:sp>
        <p:nvSpPr>
          <p:cNvPr id="27" name="TextBox 26"/>
          <p:cNvSpPr txBox="1"/>
          <p:nvPr/>
        </p:nvSpPr>
        <p:spPr>
          <a:xfrm>
            <a:off x="1152000" y="3052799"/>
            <a:ext cx="6120000" cy="255600"/>
          </a:xfrm>
          <a:prstGeom prst="rect">
            <a:avLst/>
          </a:prstGeom>
          <a:noFill/>
        </p:spPr>
        <p:txBody>
          <a:bodyPr wrap="square">
            <a:spAutoFit/>
          </a:bodyPr>
          <a:lstStyle/>
          <a:p>
            <a:pPr algn="l"/>
            <a:r>
              <a:rPr sz="1300" b="1" i="0">
                <a:solidFill>
                  <a:srgbClr val="1B3A6B"/>
                </a:solidFill>
                <a:latin typeface="Calibri"/>
              </a:rPr>
              <a:t>Risques &amp; Stratégie</a:t>
            </a:r>
          </a:p>
        </p:txBody>
      </p:sp>
      <p:sp>
        <p:nvSpPr>
          <p:cNvPr id="28" name="TextBox 27"/>
          <p:cNvSpPr txBox="1"/>
          <p:nvPr/>
        </p:nvSpPr>
        <p:spPr>
          <a:xfrm>
            <a:off x="1152000" y="3286799"/>
            <a:ext cx="6120000" cy="255600"/>
          </a:xfrm>
          <a:prstGeom prst="rect">
            <a:avLst/>
          </a:prstGeom>
          <a:noFill/>
        </p:spPr>
        <p:txBody>
          <a:bodyPr wrap="square">
            <a:spAutoFit/>
          </a:bodyPr>
          <a:lstStyle/>
          <a:p>
            <a:pPr algn="l"/>
            <a:r>
              <a:rPr sz="850" b="0" i="0">
                <a:solidFill>
                  <a:srgbClr val="555555"/>
                </a:solidFill>
                <a:latin typeface="Calibri"/>
              </a:rPr>
              <a:t>Risques structurels &amp; thèse contraire</a:t>
            </a:r>
          </a:p>
        </p:txBody>
      </p:sp>
      <p:sp>
        <p:nvSpPr>
          <p:cNvPr id="29" name="TextBox 28"/>
          <p:cNvSpPr txBox="1"/>
          <p:nvPr/>
        </p:nvSpPr>
        <p:spPr>
          <a:xfrm>
            <a:off x="7405200" y="3142799"/>
            <a:ext cx="1375200" cy="255600"/>
          </a:xfrm>
          <a:prstGeom prst="rect">
            <a:avLst/>
          </a:prstGeom>
          <a:noFill/>
        </p:spPr>
        <p:txBody>
          <a:bodyPr wrap="square">
            <a:spAutoFit/>
          </a:bodyPr>
          <a:lstStyle/>
          <a:p>
            <a:pPr algn="r"/>
            <a:r>
              <a:rPr sz="900" b="0" i="0">
                <a:solidFill>
                  <a:srgbClr val="2E5FA3"/>
                </a:solidFill>
                <a:latin typeface="Calibri"/>
              </a:rPr>
              <a:t>15–16</a:t>
            </a:r>
          </a:p>
        </p:txBody>
      </p:sp>
      <p:sp>
        <p:nvSpPr>
          <p:cNvPr id="30" name="Rectangle 29"/>
          <p:cNvSpPr/>
          <p:nvPr/>
        </p:nvSpPr>
        <p:spPr>
          <a:xfrm>
            <a:off x="367200" y="3675600"/>
            <a:ext cx="8413200" cy="6228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367200" y="3675600"/>
            <a:ext cx="46800" cy="622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03999" y="3729600"/>
            <a:ext cx="475200" cy="514800"/>
          </a:xfrm>
          <a:prstGeom prst="rect">
            <a:avLst/>
          </a:prstGeom>
          <a:noFill/>
        </p:spPr>
        <p:txBody>
          <a:bodyPr wrap="square">
            <a:spAutoFit/>
          </a:bodyPr>
          <a:lstStyle/>
          <a:p>
            <a:pPr algn="l"/>
            <a:r>
              <a:rPr sz="1700" b="1" i="0">
                <a:solidFill>
                  <a:srgbClr val="888888"/>
                </a:solidFill>
                <a:latin typeface="Calibri"/>
              </a:rPr>
              <a:t>05</a:t>
            </a:r>
          </a:p>
        </p:txBody>
      </p:sp>
      <p:sp>
        <p:nvSpPr>
          <p:cNvPr id="33" name="TextBox 32"/>
          <p:cNvSpPr txBox="1"/>
          <p:nvPr/>
        </p:nvSpPr>
        <p:spPr>
          <a:xfrm>
            <a:off x="1152000" y="3747600"/>
            <a:ext cx="6120000" cy="255600"/>
          </a:xfrm>
          <a:prstGeom prst="rect">
            <a:avLst/>
          </a:prstGeom>
          <a:noFill/>
        </p:spPr>
        <p:txBody>
          <a:bodyPr wrap="square">
            <a:spAutoFit/>
          </a:bodyPr>
          <a:lstStyle/>
          <a:p>
            <a:pPr algn="l"/>
            <a:r>
              <a:rPr sz="1300" b="1" i="0">
                <a:solidFill>
                  <a:srgbClr val="1B3A6B"/>
                </a:solidFill>
                <a:latin typeface="Calibri"/>
              </a:rPr>
              <a:t>Sentiment &amp; Annexes</a:t>
            </a:r>
          </a:p>
        </p:txBody>
      </p:sp>
      <p:sp>
        <p:nvSpPr>
          <p:cNvPr id="34" name="TextBox 33"/>
          <p:cNvSpPr txBox="1"/>
          <p:nvPr/>
        </p:nvSpPr>
        <p:spPr>
          <a:xfrm>
            <a:off x="1152000" y="3981600"/>
            <a:ext cx="6120000" cy="255600"/>
          </a:xfrm>
          <a:prstGeom prst="rect">
            <a:avLst/>
          </a:prstGeom>
          <a:noFill/>
        </p:spPr>
        <p:txBody>
          <a:bodyPr wrap="square">
            <a:spAutoFit/>
          </a:bodyPr>
          <a:lstStyle/>
          <a:p>
            <a:pPr algn="l"/>
            <a:r>
              <a:rPr sz="850" b="0" i="0">
                <a:solidFill>
                  <a:srgbClr val="555555"/>
                </a:solidFill>
                <a:latin typeface="Calibri"/>
              </a:rPr>
              <a:t>FinBERT, actionnariat, historique &amp; conviction</a:t>
            </a:r>
          </a:p>
        </p:txBody>
      </p:sp>
      <p:sp>
        <p:nvSpPr>
          <p:cNvPr id="35" name="TextBox 34"/>
          <p:cNvSpPr txBox="1"/>
          <p:nvPr/>
        </p:nvSpPr>
        <p:spPr>
          <a:xfrm>
            <a:off x="7405200" y="3837600"/>
            <a:ext cx="1375200" cy="255600"/>
          </a:xfrm>
          <a:prstGeom prst="rect">
            <a:avLst/>
          </a:prstGeom>
          <a:noFill/>
        </p:spPr>
        <p:txBody>
          <a:bodyPr wrap="square">
            <a:spAutoFit/>
          </a:bodyPr>
          <a:lstStyle/>
          <a:p>
            <a:pPr algn="r"/>
            <a:r>
              <a:rPr sz="900" b="0" i="0">
                <a:solidFill>
                  <a:srgbClr val="2E5FA3"/>
                </a:solidFill>
                <a:latin typeface="Calibri"/>
              </a:rPr>
              <a:t>17–21</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01</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Company Overview</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Présentation, modèle économique &amp; données de marché</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Company Overview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Microsoft Corporation  ·  Présentation &amp; Positionnement stratégique</a:t>
            </a:r>
          </a:p>
        </p:txBody>
      </p:sp>
      <p:sp>
        <p:nvSpPr>
          <p:cNvPr id="17" name="Rectangle 16"/>
          <p:cNvSpPr/>
          <p:nvPr/>
        </p:nvSpPr>
        <p:spPr>
          <a:xfrm>
            <a:off x="367200" y="961200"/>
            <a:ext cx="4939200"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3520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03999" y="1022400"/>
            <a:ext cx="4662000" cy="1440000"/>
          </a:xfrm>
          <a:prstGeom prst="rect">
            <a:avLst/>
          </a:prstGeom>
          <a:noFill/>
        </p:spPr>
        <p:txBody>
          <a:bodyPr wrap="square">
            <a:spAutoFit/>
          </a:bodyPr>
          <a:lstStyle/>
          <a:p>
            <a:pPr algn="l"/>
            <a:r>
              <a:rPr sz="850" b="0" i="0">
                <a:solidFill>
                  <a:srgbClr val="0D0D0D"/>
                </a:solidFill>
                <a:latin typeface="Calibri"/>
              </a:rPr>
              <a:t>Microsoft Corporation (MSFT) opere dans le secteur Technology. Analyse FinSight IA en cours -- donnees de synthese non disponibles pour cette session. Lancer une nouvelle analyse pour obtenir la description complete, les segments et le positionnement strategique.</a:t>
            </a:r>
          </a:p>
        </p:txBody>
      </p:sp>
      <p:sp>
        <p:nvSpPr>
          <p:cNvPr id="20" name="TextBox 19"/>
          <p:cNvSpPr txBox="1"/>
          <p:nvPr/>
        </p:nvSpPr>
        <p:spPr>
          <a:xfrm>
            <a:off x="503999" y="2358000"/>
            <a:ext cx="4662000" cy="183600"/>
          </a:xfrm>
          <a:prstGeom prst="rect">
            <a:avLst/>
          </a:prstGeom>
          <a:noFill/>
        </p:spPr>
        <p:txBody>
          <a:bodyPr wrap="square">
            <a:spAutoFit/>
          </a:bodyPr>
          <a:lstStyle/>
          <a:p>
            <a:pPr algn="l"/>
            <a:r>
              <a:rPr sz="900" b="1" i="0">
                <a:solidFill>
                  <a:srgbClr val="1B3A6B"/>
                </a:solidFill>
                <a:latin typeface="Calibri"/>
              </a:rPr>
              <a:t>Positionnement stratégique</a:t>
            </a:r>
          </a:p>
        </p:txBody>
      </p:sp>
      <p:sp>
        <p:nvSpPr>
          <p:cNvPr id="21" name="Rectangle 20"/>
          <p:cNvSpPr/>
          <p:nvPr/>
        </p:nvSpPr>
        <p:spPr>
          <a:xfrm>
            <a:off x="5558400" y="961200"/>
            <a:ext cx="32004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5558400" y="9612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648400" y="1015200"/>
            <a:ext cx="3063600" cy="396000"/>
          </a:xfrm>
          <a:prstGeom prst="rect">
            <a:avLst/>
          </a:prstGeom>
          <a:noFill/>
        </p:spPr>
        <p:txBody>
          <a:bodyPr wrap="square">
            <a:spAutoFit/>
          </a:bodyPr>
          <a:lstStyle/>
          <a:p>
            <a:pPr algn="l"/>
            <a:r>
              <a:rPr sz="1900" b="1" i="0">
                <a:solidFill>
                  <a:srgbClr val="FFFFFF"/>
                </a:solidFill>
                <a:latin typeface="Calibri"/>
              </a:rPr>
              <a:t>2 764,5 Mds$</a:t>
            </a:r>
          </a:p>
        </p:txBody>
      </p:sp>
      <p:sp>
        <p:nvSpPr>
          <p:cNvPr id="24" name="TextBox 23"/>
          <p:cNvSpPr txBox="1"/>
          <p:nvPr/>
        </p:nvSpPr>
        <p:spPr>
          <a:xfrm>
            <a:off x="5648400" y="1411200"/>
            <a:ext cx="3063600" cy="205199"/>
          </a:xfrm>
          <a:prstGeom prst="rect">
            <a:avLst/>
          </a:prstGeom>
          <a:noFill/>
        </p:spPr>
        <p:txBody>
          <a:bodyPr wrap="square">
            <a:spAutoFit/>
          </a:bodyPr>
          <a:lstStyle/>
          <a:p>
            <a:pPr algn="l"/>
            <a:r>
              <a:rPr sz="800" b="0" i="0">
                <a:solidFill>
                  <a:srgbClr val="FFFFFF"/>
                </a:solidFill>
                <a:latin typeface="Calibri"/>
              </a:rPr>
              <a:t>Capitalisation boursière</a:t>
            </a:r>
          </a:p>
        </p:txBody>
      </p:sp>
      <p:sp>
        <p:nvSpPr>
          <p:cNvPr id="25" name="Rectangle 24"/>
          <p:cNvSpPr/>
          <p:nvPr/>
        </p:nvSpPr>
        <p:spPr>
          <a:xfrm>
            <a:off x="5558400" y="18468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5558400" y="1846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648400" y="1900800"/>
            <a:ext cx="3063600" cy="396000"/>
          </a:xfrm>
          <a:prstGeom prst="rect">
            <a:avLst/>
          </a:prstGeom>
          <a:noFill/>
        </p:spPr>
        <p:txBody>
          <a:bodyPr wrap="square">
            <a:spAutoFit/>
          </a:bodyPr>
          <a:lstStyle/>
          <a:p>
            <a:pPr algn="l"/>
            <a:r>
              <a:rPr sz="1900" b="1" i="0">
                <a:solidFill>
                  <a:srgbClr val="1B3A6B"/>
                </a:solidFill>
                <a:latin typeface="Calibri"/>
              </a:rPr>
              <a:t>281,7 Mds$</a:t>
            </a:r>
          </a:p>
        </p:txBody>
      </p:sp>
      <p:sp>
        <p:nvSpPr>
          <p:cNvPr id="28" name="TextBox 27"/>
          <p:cNvSpPr txBox="1"/>
          <p:nvPr/>
        </p:nvSpPr>
        <p:spPr>
          <a:xfrm>
            <a:off x="5648400" y="2296800"/>
            <a:ext cx="3063600" cy="205199"/>
          </a:xfrm>
          <a:prstGeom prst="rect">
            <a:avLst/>
          </a:prstGeom>
          <a:noFill/>
        </p:spPr>
        <p:txBody>
          <a:bodyPr wrap="square">
            <a:spAutoFit/>
          </a:bodyPr>
          <a:lstStyle/>
          <a:p>
            <a:pPr algn="l"/>
            <a:r>
              <a:rPr sz="800" b="0" i="0">
                <a:solidFill>
                  <a:srgbClr val="555555"/>
                </a:solidFill>
                <a:latin typeface="Calibri"/>
              </a:rPr>
              <a:t>Chiffre d'affaires (2025)</a:t>
            </a:r>
          </a:p>
        </p:txBody>
      </p:sp>
      <p:sp>
        <p:nvSpPr>
          <p:cNvPr id="29" name="Rectangle 28"/>
          <p:cNvSpPr/>
          <p:nvPr/>
        </p:nvSpPr>
        <p:spPr>
          <a:xfrm>
            <a:off x="5558400" y="27324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5558400" y="27324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648400" y="2786400"/>
            <a:ext cx="3063600" cy="396000"/>
          </a:xfrm>
          <a:prstGeom prst="rect">
            <a:avLst/>
          </a:prstGeom>
          <a:noFill/>
        </p:spPr>
        <p:txBody>
          <a:bodyPr wrap="square">
            <a:spAutoFit/>
          </a:bodyPr>
          <a:lstStyle/>
          <a:p>
            <a:pPr algn="l"/>
            <a:r>
              <a:rPr sz="1900" b="1" i="0">
                <a:solidFill>
                  <a:srgbClr val="1B3A6B"/>
                </a:solidFill>
                <a:latin typeface="Calibri"/>
              </a:rPr>
              <a:t>372,29 $</a:t>
            </a:r>
          </a:p>
        </p:txBody>
      </p:sp>
      <p:sp>
        <p:nvSpPr>
          <p:cNvPr id="32" name="TextBox 31"/>
          <p:cNvSpPr txBox="1"/>
          <p:nvPr/>
        </p:nvSpPr>
        <p:spPr>
          <a:xfrm>
            <a:off x="5648400" y="3182400"/>
            <a:ext cx="30636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33" name="Rectangle 32"/>
          <p:cNvSpPr/>
          <p:nvPr/>
        </p:nvSpPr>
        <p:spPr>
          <a:xfrm>
            <a:off x="5558400" y="3621600"/>
            <a:ext cx="32004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558400" y="36216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648400" y="3675600"/>
            <a:ext cx="3063600" cy="396000"/>
          </a:xfrm>
          <a:prstGeom prst="rect">
            <a:avLst/>
          </a:prstGeom>
          <a:noFill/>
        </p:spPr>
        <p:txBody>
          <a:bodyPr wrap="square">
            <a:spAutoFit/>
          </a:bodyPr>
          <a:lstStyle/>
          <a:p>
            <a:pPr algn="l"/>
            <a:r>
              <a:rPr sz="1900" b="1" i="0">
                <a:solidFill>
                  <a:srgbClr val="1B3A6B"/>
                </a:solidFill>
                <a:latin typeface="Calibri"/>
              </a:rPr>
              <a:t>17,3x</a:t>
            </a:r>
          </a:p>
        </p:txBody>
      </p:sp>
      <p:sp>
        <p:nvSpPr>
          <p:cNvPr id="36" name="TextBox 35"/>
          <p:cNvSpPr txBox="1"/>
          <p:nvPr/>
        </p:nvSpPr>
        <p:spPr>
          <a:xfrm>
            <a:off x="5648400" y="4071600"/>
            <a:ext cx="3063600" cy="205199"/>
          </a:xfrm>
          <a:prstGeom prst="rect">
            <a:avLst/>
          </a:prstGeom>
          <a:noFill/>
        </p:spPr>
        <p:txBody>
          <a:bodyPr wrap="square">
            <a:spAutoFit/>
          </a:bodyPr>
          <a:lstStyle/>
          <a:p>
            <a:pPr algn="l"/>
            <a:r>
              <a:rPr sz="800" b="0" i="0">
                <a:solidFill>
                  <a:srgbClr val="555555"/>
                </a:solidFill>
                <a:latin typeface="Calibri"/>
              </a:rPr>
              <a:t>EV/EBITDA (LTM)</a:t>
            </a:r>
          </a:p>
        </p:txBody>
      </p:sp>
      <p:sp>
        <p:nvSpPr>
          <p:cNvPr id="37" name="TextBox 36"/>
          <p:cNvSpPr txBox="1"/>
          <p:nvPr/>
        </p:nvSpPr>
        <p:spPr>
          <a:xfrm>
            <a:off x="5648400" y="4269600"/>
            <a:ext cx="3063600" cy="165600"/>
          </a:xfrm>
          <a:prstGeom prst="rect">
            <a:avLst/>
          </a:prstGeom>
          <a:noFill/>
        </p:spPr>
        <p:txBody>
          <a:bodyPr wrap="square">
            <a:spAutoFit/>
          </a:bodyPr>
          <a:lstStyle/>
          <a:p>
            <a:pPr algn="l"/>
            <a:r>
              <a:rPr sz="700" b="0" i="0">
                <a:solidFill>
                  <a:srgbClr val="888888"/>
                </a:solidFill>
                <a:latin typeface="Calibri"/>
              </a:rPr>
              <a:t>P/E : 27,1x</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1B3A6B"/>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Modèle Économique</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Segments opérationnels et moteurs de croissance</a:t>
            </a:r>
          </a:p>
        </p:txBody>
      </p:sp>
      <p:sp>
        <p:nvSpPr>
          <p:cNvPr id="17" name="Rectangle 16"/>
          <p:cNvSpPr/>
          <p:nvPr/>
        </p:nvSpPr>
        <p:spPr>
          <a:xfrm>
            <a:off x="367200" y="961200"/>
            <a:ext cx="2731199" cy="3520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31199"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141200"/>
            <a:ext cx="2551199" cy="640800"/>
          </a:xfrm>
          <a:prstGeom prst="rect">
            <a:avLst/>
          </a:prstGeom>
          <a:noFill/>
        </p:spPr>
        <p:txBody>
          <a:bodyPr wrap="square">
            <a:spAutoFit/>
          </a:bodyPr>
          <a:lstStyle/>
          <a:p>
            <a:pPr algn="l"/>
            <a:r>
              <a:rPr sz="2200" b="1" i="0">
                <a:solidFill>
                  <a:srgbClr val="2E5FA3"/>
                </a:solidFill>
                <a:latin typeface="Calibri"/>
              </a:rPr>
              <a:t>—</a:t>
            </a:r>
          </a:p>
        </p:txBody>
      </p:sp>
      <p:sp>
        <p:nvSpPr>
          <p:cNvPr id="20" name="TextBox 19"/>
          <p:cNvSpPr txBox="1"/>
          <p:nvPr/>
        </p:nvSpPr>
        <p:spPr>
          <a:xfrm>
            <a:off x="4572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1" name="Rectangle 20"/>
          <p:cNvSpPr/>
          <p:nvPr/>
        </p:nvSpPr>
        <p:spPr>
          <a:xfrm>
            <a:off x="4572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2059200"/>
            <a:ext cx="2551199" cy="255600"/>
          </a:xfrm>
          <a:prstGeom prst="rect">
            <a:avLst/>
          </a:prstGeom>
          <a:noFill/>
        </p:spPr>
        <p:txBody>
          <a:bodyPr wrap="square">
            <a:spAutoFit/>
          </a:bodyPr>
          <a:lstStyle/>
          <a:p>
            <a:pPr algn="l"/>
            <a:r>
              <a:rPr sz="1000" b="1" i="0">
                <a:solidFill>
                  <a:srgbClr val="1B3A6B"/>
                </a:solidFill>
                <a:latin typeface="Calibri"/>
              </a:rPr>
              <a:t>Core Business</a:t>
            </a:r>
          </a:p>
        </p:txBody>
      </p:sp>
      <p:sp>
        <p:nvSpPr>
          <p:cNvPr id="23" name="TextBox 22"/>
          <p:cNvSpPr txBox="1"/>
          <p:nvPr/>
        </p:nvSpPr>
        <p:spPr>
          <a:xfrm>
            <a:off x="4572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24" name="Rectangle 23"/>
          <p:cNvSpPr/>
          <p:nvPr/>
        </p:nvSpPr>
        <p:spPr>
          <a:xfrm>
            <a:off x="3206400" y="961200"/>
            <a:ext cx="2731199" cy="3520800"/>
          </a:xfrm>
          <a:prstGeom prst="rect">
            <a:avLst/>
          </a:prstGeom>
          <a:solidFill>
            <a:srgbClr val="EAF4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3206400" y="961200"/>
            <a:ext cx="2731199" cy="54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296400" y="1141200"/>
            <a:ext cx="2551199" cy="640800"/>
          </a:xfrm>
          <a:prstGeom prst="rect">
            <a:avLst/>
          </a:prstGeom>
          <a:noFill/>
        </p:spPr>
        <p:txBody>
          <a:bodyPr wrap="square">
            <a:spAutoFit/>
          </a:bodyPr>
          <a:lstStyle/>
          <a:p>
            <a:pPr algn="l"/>
            <a:r>
              <a:rPr sz="2200" b="1" i="0">
                <a:solidFill>
                  <a:srgbClr val="1A7A4A"/>
                </a:solidFill>
                <a:latin typeface="Calibri"/>
              </a:rPr>
              <a:t>—</a:t>
            </a:r>
          </a:p>
        </p:txBody>
      </p:sp>
      <p:sp>
        <p:nvSpPr>
          <p:cNvPr id="27" name="TextBox 26"/>
          <p:cNvSpPr txBox="1"/>
          <p:nvPr/>
        </p:nvSpPr>
        <p:spPr>
          <a:xfrm>
            <a:off x="32964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28" name="Rectangle 27"/>
          <p:cNvSpPr/>
          <p:nvPr/>
        </p:nvSpPr>
        <p:spPr>
          <a:xfrm>
            <a:off x="32964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96400" y="2059200"/>
            <a:ext cx="2551199" cy="255600"/>
          </a:xfrm>
          <a:prstGeom prst="rect">
            <a:avLst/>
          </a:prstGeom>
          <a:noFill/>
        </p:spPr>
        <p:txBody>
          <a:bodyPr wrap="square">
            <a:spAutoFit/>
          </a:bodyPr>
          <a:lstStyle/>
          <a:p>
            <a:pPr algn="l"/>
            <a:r>
              <a:rPr sz="1000" b="1" i="0">
                <a:solidFill>
                  <a:srgbClr val="1B3A6B"/>
                </a:solidFill>
                <a:latin typeface="Calibri"/>
              </a:rPr>
              <a:t>Growth Driver</a:t>
            </a:r>
          </a:p>
        </p:txBody>
      </p:sp>
      <p:sp>
        <p:nvSpPr>
          <p:cNvPr id="30" name="TextBox 29"/>
          <p:cNvSpPr txBox="1"/>
          <p:nvPr/>
        </p:nvSpPr>
        <p:spPr>
          <a:xfrm>
            <a:off x="3296400" y="2332800"/>
            <a:ext cx="2551199" cy="2041199"/>
          </a:xfrm>
          <a:prstGeom prst="rect">
            <a:avLst/>
          </a:prstGeom>
          <a:noFill/>
        </p:spPr>
        <p:txBody>
          <a:bodyPr wrap="square">
            <a:spAutoFit/>
          </a:bodyPr>
          <a:lstStyle/>
          <a:p>
            <a:pPr algn="l"/>
            <a:r>
              <a:rPr sz="800" b="0" i="0">
                <a:solidFill>
                  <a:srgbClr val="555555"/>
                </a:solidFill>
                <a:latin typeface="Calibri"/>
              </a:rPr>
              <a:t>—</a:t>
            </a:r>
          </a:p>
        </p:txBody>
      </p:sp>
      <p:sp>
        <p:nvSpPr>
          <p:cNvPr id="31" name="Rectangle 30"/>
          <p:cNvSpPr/>
          <p:nvPr/>
        </p:nvSpPr>
        <p:spPr>
          <a:xfrm>
            <a:off x="6045600" y="961200"/>
            <a:ext cx="2731199" cy="3520800"/>
          </a:xfrm>
          <a:prstGeom prst="rect">
            <a:avLst/>
          </a:prstGeom>
          <a:solidFill>
            <a:srgbClr val="F7F8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ectangle 31"/>
          <p:cNvSpPr/>
          <p:nvPr/>
        </p:nvSpPr>
        <p:spPr>
          <a:xfrm>
            <a:off x="6045600" y="961200"/>
            <a:ext cx="2731199" cy="54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135600" y="1141200"/>
            <a:ext cx="2551199" cy="640800"/>
          </a:xfrm>
          <a:prstGeom prst="rect">
            <a:avLst/>
          </a:prstGeom>
          <a:noFill/>
        </p:spPr>
        <p:txBody>
          <a:bodyPr wrap="square">
            <a:spAutoFit/>
          </a:bodyPr>
          <a:lstStyle/>
          <a:p>
            <a:pPr algn="l"/>
            <a:r>
              <a:rPr sz="2200" b="1" i="0">
                <a:solidFill>
                  <a:srgbClr val="888888"/>
                </a:solidFill>
                <a:latin typeface="Calibri"/>
              </a:rPr>
              <a:t>—</a:t>
            </a:r>
          </a:p>
        </p:txBody>
      </p:sp>
      <p:sp>
        <p:nvSpPr>
          <p:cNvPr id="34" name="TextBox 33"/>
          <p:cNvSpPr txBox="1"/>
          <p:nvPr/>
        </p:nvSpPr>
        <p:spPr>
          <a:xfrm>
            <a:off x="6135600" y="1785600"/>
            <a:ext cx="2551199" cy="108000"/>
          </a:xfrm>
          <a:prstGeom prst="rect">
            <a:avLst/>
          </a:prstGeom>
          <a:noFill/>
        </p:spPr>
        <p:txBody>
          <a:bodyPr wrap="square">
            <a:spAutoFit/>
          </a:bodyPr>
          <a:lstStyle/>
          <a:p>
            <a:pPr algn="l"/>
            <a:r>
              <a:rPr sz="900" b="0" i="0">
                <a:solidFill>
                  <a:srgbClr val="555555"/>
                </a:solidFill>
                <a:latin typeface="Calibri"/>
              </a:rPr>
              <a:t>du CA</a:t>
            </a:r>
          </a:p>
        </p:txBody>
      </p:sp>
      <p:sp>
        <p:nvSpPr>
          <p:cNvPr id="35" name="Rectangle 34"/>
          <p:cNvSpPr/>
          <p:nvPr/>
        </p:nvSpPr>
        <p:spPr>
          <a:xfrm>
            <a:off x="6135600" y="1965600"/>
            <a:ext cx="2551199" cy="180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135600" y="2059200"/>
            <a:ext cx="2551199" cy="255600"/>
          </a:xfrm>
          <a:prstGeom prst="rect">
            <a:avLst/>
          </a:prstGeom>
          <a:noFill/>
        </p:spPr>
        <p:txBody>
          <a:bodyPr wrap="square">
            <a:spAutoFit/>
          </a:bodyPr>
          <a:lstStyle/>
          <a:p>
            <a:pPr algn="l"/>
            <a:r>
              <a:rPr sz="1000" b="1" i="0">
                <a:solidFill>
                  <a:srgbClr val="1B3A6B"/>
                </a:solidFill>
                <a:latin typeface="Calibri"/>
              </a:rPr>
              <a:t>International</a:t>
            </a:r>
          </a:p>
        </p:txBody>
      </p:sp>
      <p:sp>
        <p:nvSpPr>
          <p:cNvPr id="37" name="TextBox 36"/>
          <p:cNvSpPr txBox="1"/>
          <p:nvPr/>
        </p:nvSpPr>
        <p:spPr>
          <a:xfrm>
            <a:off x="6135600" y="2332800"/>
            <a:ext cx="2551199" cy="2041199"/>
          </a:xfrm>
          <a:prstGeom prst="rect">
            <a:avLst/>
          </a:prstGeom>
          <a:noFill/>
        </p:spPr>
        <p:txBody>
          <a:bodyPr wrap="square">
            <a:spAutoFit/>
          </a:bodyPr>
          <a:lstStyle/>
          <a:p>
            <a:pPr algn="l"/>
            <a:r>
              <a:rPr sz="800" b="0" i="0">
                <a:solidFill>
                  <a:srgbClr val="555555"/>
                </a:solidFill>
                <a:latin typeface="Calibri"/>
              </a:rPr>
              <a: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02</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Analyse Financière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Compte de résultat, bilan, liquidité &amp; ratios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Financière — Compte de Résultat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USD millions  ·  2022–2025</a:t>
            </a:r>
          </a:p>
        </p:txBody>
      </p:sp>
      <p:graphicFrame>
        <p:nvGraphicFramePr>
          <p:cNvPr id="17" name="Table 16"/>
          <p:cNvGraphicFramePr>
            <a:graphicFrameLocks noGrp="1"/>
          </p:cNvGraphicFramePr>
          <p:nvPr/>
        </p:nvGraphicFramePr>
        <p:xfrm>
          <a:off x="367200" y="914400"/>
          <a:ext cx="8413200" cy="1980000"/>
        </p:xfrm>
        <a:graphic>
          <a:graphicData uri="http://schemas.openxmlformats.org/drawingml/2006/table">
            <a:tbl>
              <a:tblPr firstRow="1" bandRow="1">
                <a:tableStyleId>{5C22544A-7EE6-4342-B048-85BDC9FD1C3A}</a:tableStyleId>
              </a:tblPr>
              <a:tblGrid>
                <a:gridCol w="2355696"/>
                <a:gridCol w="2019168"/>
                <a:gridCol w="2019168"/>
                <a:gridCol w="2019168"/>
              </a:tblGrid>
              <a:tr h="220000">
                <a:tc>
                  <a:txBody>
                    <a:bodyPr/>
                    <a:lstStyle/>
                    <a:p>
                      <a:pPr algn="l"/>
                      <a:r>
                        <a:rPr sz="800" b="1" i="0">
                          <a:solidFill>
                            <a:srgbClr val="FFFFFF"/>
                          </a:solidFill>
                          <a:latin typeface="Calibri"/>
                        </a:rPr>
                        <a:t>Indicateur</a:t>
                      </a:r>
                    </a:p>
                  </a:txBody>
                  <a:tcPr>
                    <a:solidFill>
                      <a:srgbClr val="1B3A6B"/>
                    </a:solidFill>
                  </a:tcPr>
                </a:tc>
                <a:tc>
                  <a:txBody>
                    <a:bodyPr/>
                    <a:lstStyle/>
                    <a:p>
                      <a:pPr algn="ctr"/>
                      <a:r>
                        <a:rPr sz="800" b="1" i="0">
                          <a:solidFill>
                            <a:srgbClr val="FFFFFF"/>
                          </a:solidFill>
                          <a:latin typeface="Calibri"/>
                        </a:rPr>
                        <a:t>2023</a:t>
                      </a:r>
                    </a:p>
                  </a:txBody>
                  <a:tcPr>
                    <a:solidFill>
                      <a:srgbClr val="1B3A6B"/>
                    </a:solidFill>
                  </a:tcPr>
                </a:tc>
                <a:tc>
                  <a:txBody>
                    <a:bodyPr/>
                    <a:lstStyle/>
                    <a:p>
                      <a:pPr algn="ctr"/>
                      <a:r>
                        <a:rPr sz="800" b="1" i="0">
                          <a:solidFill>
                            <a:srgbClr val="FFFFFF"/>
                          </a:solidFill>
                          <a:latin typeface="Calibri"/>
                        </a:rPr>
                        <a:t>2024</a:t>
                      </a:r>
                    </a:p>
                  </a:txBody>
                  <a:tcPr>
                    <a:solidFill>
                      <a:srgbClr val="1B3A6B"/>
                    </a:solidFill>
                  </a:tcPr>
                </a:tc>
                <a:tc>
                  <a:txBody>
                    <a:bodyPr/>
                    <a:lstStyle/>
                    <a:p>
                      <a:pPr algn="ctr"/>
                      <a:r>
                        <a:rPr sz="800" b="1" i="0">
                          <a:solidFill>
                            <a:srgbClr val="FFFFFF"/>
                          </a:solidFill>
                          <a:latin typeface="Calibri"/>
                        </a:rPr>
                        <a:t>2025</a:t>
                      </a:r>
                    </a:p>
                  </a:txBody>
                  <a:tcPr>
                    <a:solidFill>
                      <a:srgbClr val="1B3A6B"/>
                    </a:solidFill>
                  </a:tcPr>
                </a:tc>
              </a:tr>
              <a:tr h="220000">
                <a:tc>
                  <a:txBody>
                    <a:bodyPr/>
                    <a:lstStyle/>
                    <a:p>
                      <a:pPr algn="l"/>
                      <a:r>
                        <a:rPr sz="800" b="1" i="0">
                          <a:solidFill>
                            <a:srgbClr val="0D0D0D"/>
                          </a:solidFill>
                          <a:latin typeface="Calibri"/>
                        </a:rPr>
                        <a:t>Chiffre d'affaires</a:t>
                      </a:r>
                    </a:p>
                  </a:txBody>
                  <a:tcPr>
                    <a:solidFill>
                      <a:srgbClr val="FFFFFF"/>
                    </a:solidFill>
                  </a:tcPr>
                </a:tc>
                <a:tc>
                  <a:txBody>
                    <a:bodyPr/>
                    <a:lstStyle/>
                    <a:p>
                      <a:pPr algn="ctr"/>
                      <a:r>
                        <a:rPr sz="800" b="1" i="0">
                          <a:solidFill>
                            <a:srgbClr val="0D0D0D"/>
                          </a:solidFill>
                          <a:latin typeface="Calibri"/>
                        </a:rPr>
                        <a:t>211,9</a:t>
                      </a:r>
                    </a:p>
                  </a:txBody>
                  <a:tcPr>
                    <a:solidFill>
                      <a:srgbClr val="FFFFFF"/>
                    </a:solidFill>
                  </a:tcPr>
                </a:tc>
                <a:tc>
                  <a:txBody>
                    <a:bodyPr/>
                    <a:lstStyle/>
                    <a:p>
                      <a:pPr algn="ctr"/>
                      <a:r>
                        <a:rPr sz="800" b="1" i="0">
                          <a:solidFill>
                            <a:srgbClr val="0D0D0D"/>
                          </a:solidFill>
                          <a:latin typeface="Calibri"/>
                        </a:rPr>
                        <a:t>245,1</a:t>
                      </a:r>
                    </a:p>
                  </a:txBody>
                  <a:tcPr>
                    <a:solidFill>
                      <a:srgbClr val="FFFFFF"/>
                    </a:solidFill>
                  </a:tcPr>
                </a:tc>
                <a:tc>
                  <a:txBody>
                    <a:bodyPr/>
                    <a:lstStyle/>
                    <a:p>
                      <a:pPr algn="ctr"/>
                      <a:r>
                        <a:rPr sz="800" b="1" i="0">
                          <a:solidFill>
                            <a:srgbClr val="1B3A6B"/>
                          </a:solidFill>
                          <a:latin typeface="Calibri"/>
                        </a:rPr>
                        <a:t>281,7</a:t>
                      </a:r>
                    </a:p>
                  </a:txBody>
                  <a:tcPr>
                    <a:solidFill>
                      <a:srgbClr val="DDE8F5"/>
                    </a:solidFill>
                  </a:tcPr>
                </a:tc>
              </a:tr>
              <a:tr h="220000">
                <a:tc>
                  <a:txBody>
                    <a:bodyPr/>
                    <a:lstStyle/>
                    <a:p>
                      <a:pPr algn="l"/>
                      <a:r>
                        <a:rPr sz="750" b="0" i="1">
                          <a:solidFill>
                            <a:srgbClr val="555555"/>
                          </a:solidFill>
                          <a:latin typeface="Calibri"/>
                        </a:rPr>
                        <a:t>Croissance YoY</a:t>
                      </a:r>
                    </a:p>
                  </a:txBody>
                  <a:tcPr>
                    <a:solidFill>
                      <a:srgbClr val="F7F8FA"/>
                    </a:solidFill>
                  </a:tcPr>
                </a:tc>
                <a:tc>
                  <a:txBody>
                    <a:bodyPr/>
                    <a:lstStyle/>
                    <a:p>
                      <a:pPr algn="ctr"/>
                      <a:r>
                        <a:rPr sz="750" b="0" i="1">
                          <a:solidFill>
                            <a:srgbClr val="555555"/>
                          </a:solidFill>
                          <a:latin typeface="Calibri"/>
                        </a:rPr>
                        <a:t>+6,9 %</a:t>
                      </a:r>
                    </a:p>
                  </a:txBody>
                  <a:tcPr>
                    <a:solidFill>
                      <a:srgbClr val="F7F8FA"/>
                    </a:solidFill>
                  </a:tcPr>
                </a:tc>
                <a:tc>
                  <a:txBody>
                    <a:bodyPr/>
                    <a:lstStyle/>
                    <a:p>
                      <a:pPr algn="ctr"/>
                      <a:r>
                        <a:rPr sz="750" b="0" i="1">
                          <a:solidFill>
                            <a:srgbClr val="555555"/>
                          </a:solidFill>
                          <a:latin typeface="Calibri"/>
                        </a:rPr>
                        <a:t>+15,7 %</a:t>
                      </a:r>
                    </a:p>
                  </a:txBody>
                  <a:tcPr>
                    <a:solidFill>
                      <a:srgbClr val="F7F8FA"/>
                    </a:solidFill>
                  </a:tcPr>
                </a:tc>
                <a:tc>
                  <a:txBody>
                    <a:bodyPr/>
                    <a:lstStyle/>
                    <a:p>
                      <a:pPr algn="ctr"/>
                      <a:r>
                        <a:rPr sz="750" b="0" i="1">
                          <a:solidFill>
                            <a:srgbClr val="555555"/>
                          </a:solidFill>
                          <a:latin typeface="Calibri"/>
                        </a:rPr>
                        <a:t>+14,9 %</a:t>
                      </a:r>
                    </a:p>
                  </a:txBody>
                  <a:tcPr>
                    <a:solidFill>
                      <a:srgbClr val="DDE8F5"/>
                    </a:solidFill>
                  </a:tcPr>
                </a:tc>
              </a:tr>
              <a:tr h="220000">
                <a:tc>
                  <a:txBody>
                    <a:bodyPr/>
                    <a:lstStyle/>
                    <a:p>
                      <a:pPr algn="l"/>
                      <a:r>
                        <a:rPr sz="800" b="1" i="0">
                          <a:solidFill>
                            <a:srgbClr val="0D0D0D"/>
                          </a:solidFill>
                          <a:latin typeface="Calibri"/>
                        </a:rPr>
                        <a:t>Résultat brut</a:t>
                      </a:r>
                    </a:p>
                  </a:txBody>
                  <a:tcPr>
                    <a:solidFill>
                      <a:srgbClr val="FFFFFF"/>
                    </a:solidFill>
                  </a:tcPr>
                </a:tc>
                <a:tc>
                  <a:txBody>
                    <a:bodyPr/>
                    <a:lstStyle/>
                    <a:p>
                      <a:pPr algn="ctr"/>
                      <a:r>
                        <a:rPr sz="800" b="1" i="0">
                          <a:solidFill>
                            <a:srgbClr val="0D0D0D"/>
                          </a:solidFill>
                          <a:latin typeface="Calibri"/>
                        </a:rPr>
                        <a:t>146,1</a:t>
                      </a:r>
                    </a:p>
                  </a:txBody>
                  <a:tcPr>
                    <a:solidFill>
                      <a:srgbClr val="FFFFFF"/>
                    </a:solidFill>
                  </a:tcPr>
                </a:tc>
                <a:tc>
                  <a:txBody>
                    <a:bodyPr/>
                    <a:lstStyle/>
                    <a:p>
                      <a:pPr algn="ctr"/>
                      <a:r>
                        <a:rPr sz="800" b="1" i="0">
                          <a:solidFill>
                            <a:srgbClr val="0D0D0D"/>
                          </a:solidFill>
                          <a:latin typeface="Calibri"/>
                        </a:rPr>
                        <a:t>171,0</a:t>
                      </a:r>
                    </a:p>
                  </a:txBody>
                  <a:tcPr>
                    <a:solidFill>
                      <a:srgbClr val="FFFFFF"/>
                    </a:solidFill>
                  </a:tcPr>
                </a:tc>
                <a:tc>
                  <a:txBody>
                    <a:bodyPr/>
                    <a:lstStyle/>
                    <a:p>
                      <a:pPr algn="ctr"/>
                      <a:r>
                        <a:rPr sz="800" b="1" i="0">
                          <a:solidFill>
                            <a:srgbClr val="1B3A6B"/>
                          </a:solidFill>
                          <a:latin typeface="Calibri"/>
                        </a:rPr>
                        <a:t>193,9</a:t>
                      </a:r>
                    </a:p>
                  </a:txBody>
                  <a:tcPr>
                    <a:solidFill>
                      <a:srgbClr val="DDE8F5"/>
                    </a:solidFill>
                  </a:tcPr>
                </a:tc>
              </a:tr>
              <a:tr h="220000">
                <a:tc>
                  <a:txBody>
                    <a:bodyPr/>
                    <a:lstStyle/>
                    <a:p>
                      <a:pPr algn="l"/>
                      <a:r>
                        <a:rPr sz="750" b="0" i="1">
                          <a:solidFill>
                            <a:srgbClr val="555555"/>
                          </a:solidFill>
                          <a:latin typeface="Calibri"/>
                        </a:rPr>
                        <a:t>Marge brute</a:t>
                      </a:r>
                    </a:p>
                  </a:txBody>
                  <a:tcPr>
                    <a:solidFill>
                      <a:srgbClr val="F7F8FA"/>
                    </a:solidFill>
                  </a:tcPr>
                </a:tc>
                <a:tc>
                  <a:txBody>
                    <a:bodyPr/>
                    <a:lstStyle/>
                    <a:p>
                      <a:pPr algn="ctr"/>
                      <a:r>
                        <a:rPr sz="750" b="0" i="1">
                          <a:solidFill>
                            <a:srgbClr val="555555"/>
                          </a:solidFill>
                          <a:latin typeface="Calibri"/>
                        </a:rPr>
                        <a:t>68,9 %</a:t>
                      </a:r>
                    </a:p>
                  </a:txBody>
                  <a:tcPr>
                    <a:solidFill>
                      <a:srgbClr val="F7F8FA"/>
                    </a:solidFill>
                  </a:tcPr>
                </a:tc>
                <a:tc>
                  <a:txBody>
                    <a:bodyPr/>
                    <a:lstStyle/>
                    <a:p>
                      <a:pPr algn="ctr"/>
                      <a:r>
                        <a:rPr sz="750" b="0" i="1">
                          <a:solidFill>
                            <a:srgbClr val="555555"/>
                          </a:solidFill>
                          <a:latin typeface="Calibri"/>
                        </a:rPr>
                        <a:t>69,8 %</a:t>
                      </a:r>
                    </a:p>
                  </a:txBody>
                  <a:tcPr>
                    <a:solidFill>
                      <a:srgbClr val="F7F8FA"/>
                    </a:solidFill>
                  </a:tcPr>
                </a:tc>
                <a:tc>
                  <a:txBody>
                    <a:bodyPr/>
                    <a:lstStyle/>
                    <a:p>
                      <a:pPr algn="ctr"/>
                      <a:r>
                        <a:rPr sz="750" b="0" i="1">
                          <a:solidFill>
                            <a:srgbClr val="555555"/>
                          </a:solidFill>
                          <a:latin typeface="Calibri"/>
                        </a:rPr>
                        <a:t>68,8 %</a:t>
                      </a:r>
                    </a:p>
                  </a:txBody>
                  <a:tcPr>
                    <a:solidFill>
                      <a:srgbClr val="DDE8F5"/>
                    </a:solidFill>
                  </a:tcPr>
                </a:tc>
              </a:tr>
              <a:tr h="220000">
                <a:tc>
                  <a:txBody>
                    <a:bodyPr/>
                    <a:lstStyle/>
                    <a:p>
                      <a:pPr algn="l"/>
                      <a:r>
                        <a:rPr sz="800" b="1" i="0">
                          <a:solidFill>
                            <a:srgbClr val="0D0D0D"/>
                          </a:solidFill>
                          <a:latin typeface="Calibri"/>
                        </a:rPr>
                        <a:t>EBITDA</a:t>
                      </a:r>
                    </a:p>
                  </a:txBody>
                  <a:tcPr>
                    <a:solidFill>
                      <a:srgbClr val="FFFFFF"/>
                    </a:solidFill>
                  </a:tcPr>
                </a:tc>
                <a:tc>
                  <a:txBody>
                    <a:bodyPr/>
                    <a:lstStyle/>
                    <a:p>
                      <a:pPr algn="ctr"/>
                      <a:r>
                        <a:rPr sz="800" b="1" i="0">
                          <a:solidFill>
                            <a:srgbClr val="0D0D0D"/>
                          </a:solidFill>
                          <a:latin typeface="Calibri"/>
                        </a:rPr>
                        <a:t>105,1</a:t>
                      </a:r>
                    </a:p>
                  </a:txBody>
                  <a:tcPr>
                    <a:solidFill>
                      <a:srgbClr val="FFFFFF"/>
                    </a:solidFill>
                  </a:tcPr>
                </a:tc>
                <a:tc>
                  <a:txBody>
                    <a:bodyPr/>
                    <a:lstStyle/>
                    <a:p>
                      <a:pPr algn="ctr"/>
                      <a:r>
                        <a:rPr sz="800" b="1" i="0">
                          <a:solidFill>
                            <a:srgbClr val="0D0D0D"/>
                          </a:solidFill>
                          <a:latin typeface="Calibri"/>
                        </a:rPr>
                        <a:t>133,0</a:t>
                      </a:r>
                    </a:p>
                  </a:txBody>
                  <a:tcPr>
                    <a:solidFill>
                      <a:srgbClr val="FFFFFF"/>
                    </a:solidFill>
                  </a:tcPr>
                </a:tc>
                <a:tc>
                  <a:txBody>
                    <a:bodyPr/>
                    <a:lstStyle/>
                    <a:p>
                      <a:pPr algn="ctr"/>
                      <a:r>
                        <a:rPr sz="800" b="1" i="0">
                          <a:solidFill>
                            <a:srgbClr val="1B3A6B"/>
                          </a:solidFill>
                          <a:latin typeface="Calibri"/>
                        </a:rPr>
                        <a:t>160,2</a:t>
                      </a:r>
                    </a:p>
                  </a:txBody>
                  <a:tcPr>
                    <a:solidFill>
                      <a:srgbClr val="DDE8F5"/>
                    </a:solidFill>
                  </a:tcPr>
                </a:tc>
              </a:tr>
              <a:tr h="220000">
                <a:tc>
                  <a:txBody>
                    <a:bodyPr/>
                    <a:lstStyle/>
                    <a:p>
                      <a:pPr algn="l"/>
                      <a:r>
                        <a:rPr sz="750" b="0" i="1">
                          <a:solidFill>
                            <a:srgbClr val="555555"/>
                          </a:solidFill>
                          <a:latin typeface="Calibri"/>
                        </a:rPr>
                        <a:t>Marge EBITDA</a:t>
                      </a:r>
                    </a:p>
                  </a:txBody>
                  <a:tcPr>
                    <a:solidFill>
                      <a:srgbClr val="F7F8FA"/>
                    </a:solidFill>
                  </a:tcPr>
                </a:tc>
                <a:tc>
                  <a:txBody>
                    <a:bodyPr/>
                    <a:lstStyle/>
                    <a:p>
                      <a:pPr algn="ctr"/>
                      <a:r>
                        <a:rPr sz="750" b="0" i="1">
                          <a:solidFill>
                            <a:srgbClr val="555555"/>
                          </a:solidFill>
                          <a:latin typeface="Calibri"/>
                        </a:rPr>
                        <a:t>49,6 %</a:t>
                      </a:r>
                    </a:p>
                  </a:txBody>
                  <a:tcPr>
                    <a:solidFill>
                      <a:srgbClr val="F7F8FA"/>
                    </a:solidFill>
                  </a:tcPr>
                </a:tc>
                <a:tc>
                  <a:txBody>
                    <a:bodyPr/>
                    <a:lstStyle/>
                    <a:p>
                      <a:pPr algn="ctr"/>
                      <a:r>
                        <a:rPr sz="750" b="0" i="1">
                          <a:solidFill>
                            <a:srgbClr val="555555"/>
                          </a:solidFill>
                          <a:latin typeface="Calibri"/>
                        </a:rPr>
                        <a:t>54,3 %</a:t>
                      </a:r>
                    </a:p>
                  </a:txBody>
                  <a:tcPr>
                    <a:solidFill>
                      <a:srgbClr val="F7F8FA"/>
                    </a:solidFill>
                  </a:tcPr>
                </a:tc>
                <a:tc>
                  <a:txBody>
                    <a:bodyPr/>
                    <a:lstStyle/>
                    <a:p>
                      <a:pPr algn="ctr"/>
                      <a:r>
                        <a:rPr sz="750" b="0" i="1">
                          <a:solidFill>
                            <a:srgbClr val="555555"/>
                          </a:solidFill>
                          <a:latin typeface="Calibri"/>
                        </a:rPr>
                        <a:t>56,9 %</a:t>
                      </a:r>
                    </a:p>
                  </a:txBody>
                  <a:tcPr>
                    <a:solidFill>
                      <a:srgbClr val="DDE8F5"/>
                    </a:solidFill>
                  </a:tcPr>
                </a:tc>
              </a:tr>
              <a:tr h="220000">
                <a:tc>
                  <a:txBody>
                    <a:bodyPr/>
                    <a:lstStyle/>
                    <a:p>
                      <a:pPr algn="l"/>
                      <a:r>
                        <a:rPr sz="800" b="1" i="0">
                          <a:solidFill>
                            <a:srgbClr val="0D0D0D"/>
                          </a:solidFill>
                          <a:latin typeface="Calibri"/>
                        </a:rPr>
                        <a:t>Résultat net</a:t>
                      </a:r>
                    </a:p>
                  </a:txBody>
                  <a:tcPr>
                    <a:solidFill>
                      <a:srgbClr val="FFFFFF"/>
                    </a:solidFill>
                  </a:tcPr>
                </a:tc>
                <a:tc>
                  <a:txBody>
                    <a:bodyPr/>
                    <a:lstStyle/>
                    <a:p>
                      <a:pPr algn="ctr"/>
                      <a:r>
                        <a:rPr sz="800" b="1" i="0">
                          <a:solidFill>
                            <a:srgbClr val="0D0D0D"/>
                          </a:solidFill>
                          <a:latin typeface="Calibri"/>
                        </a:rPr>
                        <a:t>72,4</a:t>
                      </a:r>
                    </a:p>
                  </a:txBody>
                  <a:tcPr>
                    <a:solidFill>
                      <a:srgbClr val="FFFFFF"/>
                    </a:solidFill>
                  </a:tcPr>
                </a:tc>
                <a:tc>
                  <a:txBody>
                    <a:bodyPr/>
                    <a:lstStyle/>
                    <a:p>
                      <a:pPr algn="ctr"/>
                      <a:r>
                        <a:rPr sz="800" b="1" i="0">
                          <a:solidFill>
                            <a:srgbClr val="0D0D0D"/>
                          </a:solidFill>
                          <a:latin typeface="Calibri"/>
                        </a:rPr>
                        <a:t>88,1</a:t>
                      </a:r>
                    </a:p>
                  </a:txBody>
                  <a:tcPr>
                    <a:solidFill>
                      <a:srgbClr val="FFFFFF"/>
                    </a:solidFill>
                  </a:tcPr>
                </a:tc>
                <a:tc>
                  <a:txBody>
                    <a:bodyPr/>
                    <a:lstStyle/>
                    <a:p>
                      <a:pPr algn="ctr"/>
                      <a:r>
                        <a:rPr sz="800" b="1" i="0">
                          <a:solidFill>
                            <a:srgbClr val="1B3A6B"/>
                          </a:solidFill>
                          <a:latin typeface="Calibri"/>
                        </a:rPr>
                        <a:t>101,8</a:t>
                      </a:r>
                    </a:p>
                  </a:txBody>
                  <a:tcPr>
                    <a:solidFill>
                      <a:srgbClr val="DDE8F5"/>
                    </a:solidFill>
                  </a:tcPr>
                </a:tc>
              </a:tr>
              <a:tr h="220000">
                <a:tc>
                  <a:txBody>
                    <a:bodyPr/>
                    <a:lstStyle/>
                    <a:p>
                      <a:pPr algn="l"/>
                      <a:r>
                        <a:rPr sz="750" b="0" i="1">
                          <a:solidFill>
                            <a:srgbClr val="555555"/>
                          </a:solidFill>
                          <a:latin typeface="Calibri"/>
                        </a:rPr>
                        <a:t>Marge nette</a:t>
                      </a:r>
                    </a:p>
                  </a:txBody>
                  <a:tcPr>
                    <a:solidFill>
                      <a:srgbClr val="F7F8FA"/>
                    </a:solidFill>
                  </a:tcPr>
                </a:tc>
                <a:tc>
                  <a:txBody>
                    <a:bodyPr/>
                    <a:lstStyle/>
                    <a:p>
                      <a:pPr algn="ctr"/>
                      <a:r>
                        <a:rPr sz="750" b="0" i="1">
                          <a:solidFill>
                            <a:srgbClr val="555555"/>
                          </a:solidFill>
                          <a:latin typeface="Calibri"/>
                        </a:rPr>
                        <a:t>34,2 %</a:t>
                      </a:r>
                    </a:p>
                  </a:txBody>
                  <a:tcPr>
                    <a:solidFill>
                      <a:srgbClr val="F7F8FA"/>
                    </a:solidFill>
                  </a:tcPr>
                </a:tc>
                <a:tc>
                  <a:txBody>
                    <a:bodyPr/>
                    <a:lstStyle/>
                    <a:p>
                      <a:pPr algn="ctr"/>
                      <a:r>
                        <a:rPr sz="750" b="0" i="1">
                          <a:solidFill>
                            <a:srgbClr val="555555"/>
                          </a:solidFill>
                          <a:latin typeface="Calibri"/>
                        </a:rPr>
                        <a:t>36,0 %</a:t>
                      </a:r>
                    </a:p>
                  </a:txBody>
                  <a:tcPr>
                    <a:solidFill>
                      <a:srgbClr val="F7F8FA"/>
                    </a:solidFill>
                  </a:tcPr>
                </a:tc>
                <a:tc>
                  <a:txBody>
                    <a:bodyPr/>
                    <a:lstStyle/>
                    <a:p>
                      <a:pPr algn="ctr"/>
                      <a:r>
                        <a:rPr sz="750" b="0" i="1">
                          <a:solidFill>
                            <a:srgbClr val="555555"/>
                          </a:solidFill>
                          <a:latin typeface="Calibri"/>
                        </a:rPr>
                        <a:t>36,1 %</a:t>
                      </a:r>
                    </a:p>
                  </a:txBody>
                  <a:tcPr>
                    <a:solidFill>
                      <a:srgbClr val="DDE8F5"/>
                    </a:solidFill>
                  </a:tcPr>
                </a:tc>
              </a:tr>
            </a:tbl>
          </a:graphicData>
        </a:graphic>
      </p:graphicFrame>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Bilan &amp; Liquidité</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Structure financière  ·  USD millions  ·  LTM 2025</a:t>
            </a:r>
          </a:p>
        </p:txBody>
      </p:sp>
      <p:sp>
        <p:nvSpPr>
          <p:cNvPr id="17" name="Rectangle 16"/>
          <p:cNvSpPr/>
          <p:nvPr/>
        </p:nvSpPr>
        <p:spPr>
          <a:xfrm>
            <a:off x="367200" y="9612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516400" cy="396000"/>
          </a:xfrm>
          <a:prstGeom prst="rect">
            <a:avLst/>
          </a:prstGeom>
          <a:noFill/>
        </p:spPr>
        <p:txBody>
          <a:bodyPr wrap="square">
            <a:spAutoFit/>
          </a:bodyPr>
          <a:lstStyle/>
          <a:p>
            <a:pPr algn="l"/>
            <a:r>
              <a:rPr sz="1900" b="1" i="0">
                <a:solidFill>
                  <a:srgbClr val="1B3A6B"/>
                </a:solidFill>
                <a:latin typeface="Calibri"/>
              </a:rPr>
              <a:t>30,2 Mds$</a:t>
            </a:r>
          </a:p>
        </p:txBody>
      </p:sp>
      <p:sp>
        <p:nvSpPr>
          <p:cNvPr id="20" name="TextBox 19"/>
          <p:cNvSpPr txBox="1"/>
          <p:nvPr/>
        </p:nvSpPr>
        <p:spPr>
          <a:xfrm>
            <a:off x="457200" y="1411200"/>
            <a:ext cx="2516400" cy="205199"/>
          </a:xfrm>
          <a:prstGeom prst="rect">
            <a:avLst/>
          </a:prstGeom>
          <a:noFill/>
        </p:spPr>
        <p:txBody>
          <a:bodyPr wrap="square">
            <a:spAutoFit/>
          </a:bodyPr>
          <a:lstStyle/>
          <a:p>
            <a:pPr algn="l"/>
            <a:r>
              <a:rPr sz="800" b="0" i="0">
                <a:solidFill>
                  <a:srgbClr val="555555"/>
                </a:solidFill>
                <a:latin typeface="Calibri"/>
              </a:rPr>
              <a:t>Cash &amp; equivalents</a:t>
            </a:r>
          </a:p>
        </p:txBody>
      </p:sp>
      <p:sp>
        <p:nvSpPr>
          <p:cNvPr id="21" name="Rectangle 20"/>
          <p:cNvSpPr/>
          <p:nvPr/>
        </p:nvSpPr>
        <p:spPr>
          <a:xfrm>
            <a:off x="367200" y="1900800"/>
            <a:ext cx="2653200" cy="82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67200" y="1900800"/>
            <a:ext cx="46800" cy="82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1954800"/>
            <a:ext cx="2516400" cy="396000"/>
          </a:xfrm>
          <a:prstGeom prst="rect">
            <a:avLst/>
          </a:prstGeom>
          <a:noFill/>
        </p:spPr>
        <p:txBody>
          <a:bodyPr wrap="square">
            <a:spAutoFit/>
          </a:bodyPr>
          <a:lstStyle/>
          <a:p>
            <a:pPr algn="l"/>
            <a:r>
              <a:rPr sz="1900" b="1" i="0">
                <a:solidFill>
                  <a:srgbClr val="1B3A6B"/>
                </a:solidFill>
                <a:latin typeface="Calibri"/>
              </a:rPr>
              <a:t>40,2 Mds$</a:t>
            </a:r>
          </a:p>
        </p:txBody>
      </p:sp>
      <p:sp>
        <p:nvSpPr>
          <p:cNvPr id="24" name="TextBox 23"/>
          <p:cNvSpPr txBox="1"/>
          <p:nvPr/>
        </p:nvSpPr>
        <p:spPr>
          <a:xfrm>
            <a:off x="457200" y="2350800"/>
            <a:ext cx="2516400" cy="205199"/>
          </a:xfrm>
          <a:prstGeom prst="rect">
            <a:avLst/>
          </a:prstGeom>
          <a:noFill/>
        </p:spPr>
        <p:txBody>
          <a:bodyPr wrap="square">
            <a:spAutoFit/>
          </a:bodyPr>
          <a:lstStyle/>
          <a:p>
            <a:pPr algn="l"/>
            <a:r>
              <a:rPr sz="800" b="0" i="0">
                <a:solidFill>
                  <a:srgbClr val="555555"/>
                </a:solidFill>
                <a:latin typeface="Calibri"/>
              </a:rPr>
              <a:t>Dette long terme</a:t>
            </a:r>
          </a:p>
        </p:txBody>
      </p:sp>
      <p:sp>
        <p:nvSpPr>
          <p:cNvPr id="25" name="Rectangle 24"/>
          <p:cNvSpPr/>
          <p:nvPr/>
        </p:nvSpPr>
        <p:spPr>
          <a:xfrm>
            <a:off x="367200" y="2844000"/>
            <a:ext cx="2653200" cy="824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367200" y="2844000"/>
            <a:ext cx="46800" cy="8244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 y="2898000"/>
            <a:ext cx="2516400" cy="396000"/>
          </a:xfrm>
          <a:prstGeom prst="rect">
            <a:avLst/>
          </a:prstGeom>
          <a:noFill/>
        </p:spPr>
        <p:txBody>
          <a:bodyPr wrap="square">
            <a:spAutoFit/>
          </a:bodyPr>
          <a:lstStyle/>
          <a:p>
            <a:pPr algn="l"/>
            <a:r>
              <a:rPr sz="1900" b="1" i="0">
                <a:solidFill>
                  <a:srgbClr val="FFFFFF"/>
                </a:solidFill>
                <a:latin typeface="Calibri"/>
              </a:rPr>
              <a:t>12,9 Mds$</a:t>
            </a:r>
          </a:p>
        </p:txBody>
      </p:sp>
      <p:sp>
        <p:nvSpPr>
          <p:cNvPr id="28" name="TextBox 27"/>
          <p:cNvSpPr txBox="1"/>
          <p:nvPr/>
        </p:nvSpPr>
        <p:spPr>
          <a:xfrm>
            <a:off x="457200" y="3294000"/>
            <a:ext cx="2516400" cy="205199"/>
          </a:xfrm>
          <a:prstGeom prst="rect">
            <a:avLst/>
          </a:prstGeom>
          <a:noFill/>
        </p:spPr>
        <p:txBody>
          <a:bodyPr wrap="square">
            <a:spAutoFit/>
          </a:bodyPr>
          <a:lstStyle/>
          <a:p>
            <a:pPr algn="l"/>
            <a:r>
              <a:rPr sz="800" b="0" i="0">
                <a:solidFill>
                  <a:srgbClr val="FFFFFF"/>
                </a:solidFill>
                <a:latin typeface="Calibri"/>
              </a:rPr>
              <a:t>Dette nette</a:t>
            </a:r>
          </a:p>
        </p:txBody>
      </p:sp>
      <p:sp>
        <p:nvSpPr>
          <p:cNvPr id="29" name="TextBox 28"/>
          <p:cNvSpPr txBox="1"/>
          <p:nvPr/>
        </p:nvSpPr>
        <p:spPr>
          <a:xfrm>
            <a:off x="3384000" y="842400"/>
            <a:ext cx="5396400" cy="165600"/>
          </a:xfrm>
          <a:prstGeom prst="rect">
            <a:avLst/>
          </a:prstGeom>
          <a:noFill/>
        </p:spPr>
        <p:txBody>
          <a:bodyPr wrap="square">
            <a:spAutoFit/>
          </a:bodyPr>
          <a:lstStyle/>
          <a:p>
            <a:pPr algn="l"/>
            <a:r>
              <a:rPr sz="900" b="1" i="0">
                <a:solidFill>
                  <a:srgbClr val="1B3A6B"/>
                </a:solidFill>
                <a:latin typeface="Calibri"/>
              </a:rPr>
              <a:t>Ratios de solvabilité &amp; liquidité</a:t>
            </a:r>
          </a:p>
        </p:txBody>
      </p:sp>
      <p:graphicFrame>
        <p:nvGraphicFramePr>
          <p:cNvPr id="30" name="Table 29"/>
          <p:cNvGraphicFramePr>
            <a:graphicFrameLocks noGrp="1"/>
          </p:cNvGraphicFramePr>
          <p:nvPr/>
        </p:nvGraphicFramePr>
        <p:xfrm>
          <a:off x="3384000" y="1007999"/>
          <a:ext cx="5396400" cy="1800000"/>
        </p:xfrm>
        <a:graphic>
          <a:graphicData uri="http://schemas.openxmlformats.org/drawingml/2006/table">
            <a:tbl>
              <a:tblPr firstRow="1" bandRow="1">
                <a:tableStyleId>{5C22544A-7EE6-4342-B048-85BDC9FD1C3A}</a:tableStyleId>
              </a:tblPr>
              <a:tblGrid>
                <a:gridCol w="2374416"/>
                <a:gridCol w="1133244"/>
                <a:gridCol w="1133244"/>
                <a:gridCol w="755496"/>
              </a:tblGrid>
              <a:tr h="225000">
                <a:tc>
                  <a:txBody>
                    <a:bodyPr/>
                    <a:lstStyle/>
                    <a:p>
                      <a:pPr algn="l"/>
                      <a:r>
                        <a:rPr sz="800" b="1" i="0">
                          <a:solidFill>
                            <a:srgbClr val="FFFFFF"/>
                          </a:solidFill>
                          <a:latin typeface="Calibri"/>
                        </a:rPr>
                        <a:t>Ratio</a:t>
                      </a:r>
                    </a:p>
                  </a:txBody>
                  <a:tcPr>
                    <a:solidFill>
                      <a:srgbClr val="1B3A6B"/>
                    </a:solidFill>
                  </a:tcPr>
                </a:tc>
                <a:tc>
                  <a:txBody>
                    <a:bodyPr/>
                    <a:lstStyle/>
                    <a:p>
                      <a:pPr algn="ctr"/>
                      <a:r>
                        <a:rPr sz="800" b="1" i="0">
                          <a:solidFill>
                            <a:srgbClr val="FFFFFF"/>
                          </a:solidFill>
                          <a:latin typeface="Calibri"/>
                        </a:rPr>
                        <a:t>Valeur</a:t>
                      </a:r>
                    </a:p>
                  </a:txBody>
                  <a:tcPr>
                    <a:solidFill>
                      <a:srgbClr val="1B3A6B"/>
                    </a:solidFill>
                  </a:tcPr>
                </a:tc>
                <a:tc>
                  <a:txBody>
                    <a:bodyPr/>
                    <a:lstStyle/>
                    <a:p>
                      <a:pPr algn="ctr"/>
                      <a:r>
                        <a:rPr sz="800" b="1" i="0">
                          <a:solidFill>
                            <a:srgbClr val="FFFFFF"/>
                          </a:solidFill>
                          <a:latin typeface="Calibri"/>
                        </a:rPr>
                        <a:t>Référence</a:t>
                      </a:r>
                    </a:p>
                  </a:txBody>
                  <a:tcPr>
                    <a:solidFill>
                      <a:srgbClr val="1B3A6B"/>
                    </a:solidFill>
                  </a:tcPr>
                </a:tc>
                <a:tc>
                  <a:txBody>
                    <a:bodyPr/>
                    <a:lstStyle/>
                    <a:p>
                      <a:pPr algn="ctr"/>
                      <a:r>
                        <a:rPr sz="800" b="1" i="0">
                          <a:solidFill>
                            <a:srgbClr val="FFFFFF"/>
                          </a:solidFill>
                          <a:latin typeface="Calibri"/>
                        </a:rPr>
                        <a:t>Signal</a:t>
                      </a:r>
                    </a:p>
                  </a:txBody>
                  <a:tcPr>
                    <a:solidFill>
                      <a:srgbClr val="1B3A6B"/>
                    </a:solidFill>
                  </a:tcPr>
                </a:tc>
              </a:tr>
              <a:tr h="225000">
                <a:tc>
                  <a:txBody>
                    <a:bodyPr/>
                    <a:lstStyle/>
                    <a:p>
                      <a:pPr algn="l"/>
                      <a:r>
                        <a:rPr sz="800" b="1" i="0">
                          <a:solidFill>
                            <a:srgbClr val="0D0D0D"/>
                          </a:solidFill>
                          <a:latin typeface="Calibri"/>
                        </a:rPr>
                        <a:t>Ratio liquidité courante</a:t>
                      </a:r>
                    </a:p>
                  </a:txBody>
                  <a:tcPr>
                    <a:solidFill>
                      <a:srgbClr val="FFFFFF"/>
                    </a:solidFill>
                  </a:tcPr>
                </a:tc>
                <a:tc>
                  <a:txBody>
                    <a:bodyPr/>
                    <a:lstStyle/>
                    <a:p>
                      <a:pPr algn="ctr"/>
                      <a:r>
                        <a:rPr sz="800" b="0" i="0">
                          <a:solidFill>
                            <a:srgbClr val="0D0D0D"/>
                          </a:solidFill>
                          <a:latin typeface="Calibri"/>
                        </a:rPr>
                        <a:t>2,01</a:t>
                      </a:r>
                    </a:p>
                  </a:txBody>
                  <a:tcPr>
                    <a:solidFill>
                      <a:srgbClr val="FFFFFF"/>
                    </a:solidFill>
                  </a:tcPr>
                </a:tc>
                <a:tc>
                  <a:txBody>
                    <a:bodyPr/>
                    <a:lstStyle/>
                    <a:p>
                      <a:pPr algn="ctr"/>
                      <a:r>
                        <a:rPr sz="800" b="0" i="0">
                          <a:solidFill>
                            <a:srgbClr val="0D0D0D"/>
                          </a:solidFill>
                          <a:latin typeface="Calibri"/>
                        </a:rPr>
                        <a:t>&gt; 1,5</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Ratio rapide (quick)</a:t>
                      </a:r>
                    </a:p>
                  </a:txBody>
                  <a:tcPr>
                    <a:solidFill>
                      <a:srgbClr val="F7F8FA"/>
                    </a:solidFill>
                  </a:tcPr>
                </a:tc>
                <a:tc>
                  <a:txBody>
                    <a:bodyPr/>
                    <a:lstStyle/>
                    <a:p>
                      <a:pPr algn="ctr"/>
                      <a:r>
                        <a:rPr sz="800" b="0" i="0">
                          <a:solidFill>
                            <a:srgbClr val="0D0D0D"/>
                          </a:solidFill>
                          <a:latin typeface="Calibri"/>
                        </a:rPr>
                        <a:t>2,00</a:t>
                      </a:r>
                    </a:p>
                  </a:txBody>
                  <a:tcPr>
                    <a:solidFill>
                      <a:srgbClr val="F7F8FA"/>
                    </a:solidFill>
                  </a:tcPr>
                </a:tc>
                <a:tc>
                  <a:txBody>
                    <a:bodyPr/>
                    <a:lstStyle/>
                    <a:p>
                      <a:pPr algn="ctr"/>
                      <a:r>
                        <a:rPr sz="800" b="0" i="0">
                          <a:solidFill>
                            <a:srgbClr val="0D0D0D"/>
                          </a:solidFill>
                          <a:latin typeface="Calibri"/>
                        </a:rPr>
                        <a:t>&gt; 1,0</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Couverture d'intérêts</a:t>
                      </a:r>
                    </a:p>
                  </a:txBody>
                  <a:tcPr>
                    <a:solidFill>
                      <a:srgbClr val="F7F8FA"/>
                    </a:solidFill>
                  </a:tcPr>
                </a:tc>
                <a:tc>
                  <a:txBody>
                    <a:bodyPr/>
                    <a:lstStyle/>
                    <a:p>
                      <a:pPr algn="ctr"/>
                      <a:r>
                        <a:rPr sz="800" b="0" i="0">
                          <a:solidFill>
                            <a:srgbClr val="0D0D0D"/>
                          </a:solidFill>
                          <a:latin typeface="Calibri"/>
                        </a:rPr>
                        <a:t>52,8x</a:t>
                      </a:r>
                    </a:p>
                  </a:txBody>
                  <a:tcPr>
                    <a:solidFill>
                      <a:srgbClr val="F7F8FA"/>
                    </a:solidFill>
                  </a:tcPr>
                </a:tc>
                <a:tc>
                  <a:txBody>
                    <a:bodyPr/>
                    <a:lstStyle/>
                    <a:p>
                      <a:pPr algn="ctr"/>
                      <a:r>
                        <a:rPr sz="800" b="0" i="0">
                          <a:solidFill>
                            <a:srgbClr val="0D0D0D"/>
                          </a:solidFill>
                          <a:latin typeface="Calibri"/>
                        </a:rPr>
                        <a:t>&gt; 3,0x</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Dette nette / EBITDA</a:t>
                      </a:r>
                    </a:p>
                  </a:txBody>
                  <a:tcPr>
                    <a:solidFill>
                      <a:srgbClr val="FFFFFF"/>
                    </a:solidFill>
                  </a:tcPr>
                </a:tc>
                <a:tc>
                  <a:txBody>
                    <a:bodyPr/>
                    <a:lstStyle/>
                    <a:p>
                      <a:pPr algn="ctr"/>
                      <a:r>
                        <a:rPr sz="800" b="0" i="0">
                          <a:solidFill>
                            <a:srgbClr val="0D0D0D"/>
                          </a:solidFill>
                          <a:latin typeface="Calibri"/>
                        </a:rPr>
                        <a:t>0,1x</a:t>
                      </a:r>
                    </a:p>
                  </a:txBody>
                  <a:tcPr>
                    <a:solidFill>
                      <a:srgbClr val="FFFFFF"/>
                    </a:solidFill>
                  </a:tcPr>
                </a:tc>
                <a:tc>
                  <a:txBody>
                    <a:bodyPr/>
                    <a:lstStyle/>
                    <a:p>
                      <a:pPr algn="ctr"/>
                      <a:r>
                        <a:rPr sz="800" b="0" i="0">
                          <a:solidFill>
                            <a:srgbClr val="0D0D0D"/>
                          </a:solidFill>
                          <a:latin typeface="Calibri"/>
                        </a:rPr>
                        <a:t>&lt; 2,0x</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r h="225000">
                <a:tc>
                  <a:txBody>
                    <a:bodyPr/>
                    <a:lstStyle/>
                    <a:p>
                      <a:pPr algn="l"/>
                      <a:r>
                        <a:rPr sz="800" b="1" i="0">
                          <a:solidFill>
                            <a:srgbClr val="0D0D0D"/>
                          </a:solidFill>
                          <a:latin typeface="Calibri"/>
                        </a:rPr>
                        <a:t>Altman Z</a:t>
                      </a:r>
                    </a:p>
                  </a:txBody>
                  <a:tcPr>
                    <a:solidFill>
                      <a:srgbClr val="F7F8FA"/>
                    </a:solidFill>
                  </a:tcPr>
                </a:tc>
                <a:tc>
                  <a:txBody>
                    <a:bodyPr/>
                    <a:lstStyle/>
                    <a:p>
                      <a:pPr algn="ctr"/>
                      <a:r>
                        <a:rPr sz="800" b="0" i="0">
                          <a:solidFill>
                            <a:srgbClr val="0D0D0D"/>
                          </a:solidFill>
                          <a:latin typeface="Calibri"/>
                        </a:rPr>
                        <a:t>4,61</a:t>
                      </a:r>
                    </a:p>
                  </a:txBody>
                  <a:tcPr>
                    <a:solidFill>
                      <a:srgbClr val="F7F8FA"/>
                    </a:solidFill>
                  </a:tcPr>
                </a:tc>
                <a:tc>
                  <a:txBody>
                    <a:bodyPr/>
                    <a:lstStyle/>
                    <a:p>
                      <a:pPr algn="ctr"/>
                      <a:r>
                        <a:rPr sz="800" b="0" i="0">
                          <a:solidFill>
                            <a:srgbClr val="0D0D0D"/>
                          </a:solidFill>
                          <a:latin typeface="Calibri"/>
                        </a:rPr>
                        <a:t>&gt; 2,99</a:t>
                      </a:r>
                    </a:p>
                  </a:txBody>
                  <a:tcPr>
                    <a:solidFill>
                      <a:srgbClr val="F7F8FA"/>
                    </a:solidFill>
                  </a:tcPr>
                </a:tc>
                <a:tc>
                  <a:txBody>
                    <a:bodyPr/>
                    <a:lstStyle/>
                    <a:p>
                      <a:pPr algn="ctr"/>
                      <a:r>
                        <a:rPr sz="800" b="0" i="0">
                          <a:solidFill>
                            <a:srgbClr val="0D0D0D"/>
                          </a:solidFill>
                          <a:latin typeface="Calibri"/>
                        </a:rPr>
                        <a:t>✅</a:t>
                      </a:r>
                    </a:p>
                  </a:txBody>
                  <a:tcPr>
                    <a:solidFill>
                      <a:srgbClr val="F7F8FA"/>
                    </a:solidFill>
                  </a:tcPr>
                </a:tc>
              </a:tr>
              <a:tr h="225000">
                <a:tc>
                  <a:txBody>
                    <a:bodyPr/>
                    <a:lstStyle/>
                    <a:p>
                      <a:pPr algn="l"/>
                      <a:r>
                        <a:rPr sz="800" b="1" i="0">
                          <a:solidFill>
                            <a:srgbClr val="0D0D0D"/>
                          </a:solidFill>
                          <a:latin typeface="Calibri"/>
                        </a:rPr>
                        <a:t>Beneish M</a:t>
                      </a:r>
                    </a:p>
                  </a:txBody>
                  <a:tcPr>
                    <a:solidFill>
                      <a:srgbClr val="FFFFFF"/>
                    </a:solidFill>
                  </a:tcPr>
                </a:tc>
                <a:tc>
                  <a:txBody>
                    <a:bodyPr/>
                    <a:lstStyle/>
                    <a:p>
                      <a:pPr algn="ctr"/>
                      <a:r>
                        <a:rPr sz="800" b="0" i="0">
                          <a:solidFill>
                            <a:srgbClr val="0D0D0D"/>
                          </a:solidFill>
                          <a:latin typeface="Calibri"/>
                        </a:rPr>
                        <a:t>-2,57</a:t>
                      </a:r>
                    </a:p>
                  </a:txBody>
                  <a:tcPr>
                    <a:solidFill>
                      <a:srgbClr val="FFFFFF"/>
                    </a:solidFill>
                  </a:tcPr>
                </a:tc>
                <a:tc>
                  <a:txBody>
                    <a:bodyPr/>
                    <a:lstStyle/>
                    <a:p>
                      <a:pPr algn="ctr"/>
                      <a:r>
                        <a:rPr sz="800" b="0" i="0">
                          <a:solidFill>
                            <a:srgbClr val="0D0D0D"/>
                          </a:solidFill>
                          <a:latin typeface="Calibri"/>
                        </a:rPr>
                        <a:t>&lt; -2,22</a:t>
                      </a:r>
                    </a:p>
                  </a:txBody>
                  <a:tcPr>
                    <a:solidFill>
                      <a:srgbClr val="FFFFFF"/>
                    </a:solidFill>
                  </a:tcPr>
                </a:tc>
                <a:tc>
                  <a:txBody>
                    <a:bodyPr/>
                    <a:lstStyle/>
                    <a:p>
                      <a:pPr algn="ctr"/>
                      <a:r>
                        <a:rPr sz="800" b="0" i="0">
                          <a:solidFill>
                            <a:srgbClr val="0D0D0D"/>
                          </a:solidFill>
                          <a:latin typeface="Calibri"/>
                        </a:rPr>
                        <a:t>✅</a:t>
                      </a:r>
                    </a:p>
                  </a:txBody>
                  <a:tcPr>
                    <a:solidFill>
                      <a:srgbClr val="FFFFFF"/>
                    </a:solidFill>
                  </a:tcPr>
                </a:tc>
              </a:tr>
            </a:tbl>
          </a:graphicData>
        </a:graphic>
      </p:graphicFrame>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1B3A6B"/>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Ratios Clés vs. Benchmark Sectoriel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Positionnement relatif  ·  LTM 2025</a:t>
            </a:r>
          </a:p>
        </p:txBody>
      </p:sp>
      <p:graphicFrame>
        <p:nvGraphicFramePr>
          <p:cNvPr id="17" name="Table 16"/>
          <p:cNvGraphicFramePr>
            <a:graphicFrameLocks noGrp="1"/>
          </p:cNvGraphicFramePr>
          <p:nvPr/>
        </p:nvGraphicFramePr>
        <p:xfrm>
          <a:off x="367200" y="914400"/>
          <a:ext cx="8413200" cy="2559600"/>
        </p:xfrm>
        <a:graphic>
          <a:graphicData uri="http://schemas.openxmlformats.org/drawingml/2006/table">
            <a:tbl>
              <a:tblPr firstRow="1" bandRow="1">
                <a:tableStyleId>{5C22544A-7EE6-4342-B048-85BDC9FD1C3A}</a:tableStyleId>
              </a:tblPr>
              <a:tblGrid>
                <a:gridCol w="2103300"/>
                <a:gridCol w="2103300"/>
                <a:gridCol w="2103300"/>
                <a:gridCol w="2103300"/>
              </a:tblGrid>
              <a:tr h="232690">
                <a:tc>
                  <a:txBody>
                    <a:bodyPr/>
                    <a:lstStyle/>
                    <a:p>
                      <a:pPr algn="l"/>
                      <a:r>
                        <a:rPr sz="800" b="1" i="0">
                          <a:solidFill>
                            <a:srgbClr val="FFFFFF"/>
                          </a:solidFill>
                          <a:latin typeface="Calibri"/>
                        </a:rPr>
                        <a:t>Indicateur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Benchmark</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Lecture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27,1x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15–25x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EV/EBITDA</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EV/Revenue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1–5x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Premium</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brute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68,8 %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40 %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Marge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56,9 %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29,6 %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ROIC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30,1 %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10 %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Excellent</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CapEx / Revenue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15 %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A82020"/>
                          </a:solidFill>
                          <a:latin typeface="Calibri"/>
                        </a:rPr>
                        <a:t>Intensif</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r>
              <a:tr h="232690">
                <a:tc>
                  <a:txBody>
                    <a:bodyPr/>
                    <a:lstStyle/>
                    <a:p>
                      <a:pPr algn="l"/>
                      <a:r>
                        <a:rPr sz="800" b="0" i="0">
                          <a:solidFill>
                            <a:srgbClr val="0D0D0D"/>
                          </a:solidFill>
                          <a:latin typeface="Calibri"/>
                        </a:rPr>
                        <a:t>Altman Z</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4,61</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&gt; 2,99</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Solide</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2700">
                <a:tc>
                  <a:txBody>
                    <a:bodyPr/>
                    <a:lstStyle/>
                    <a:p>
                      <a:pPr algn="l"/>
                      <a:r>
                        <a:rPr sz="800" b="0" i="0">
                          <a:solidFill>
                            <a:srgbClr val="0D0D0D"/>
                          </a:solidFill>
                          <a:latin typeface="Calibri"/>
                        </a:rPr>
                        <a:t>Beneish 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-2,57</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&lt; -2,22</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A7A4A"/>
                          </a:solidFill>
                          <a:latin typeface="Calibri"/>
                        </a:rPr>
                        <a:t>Aucun signal</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03</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Valorisation</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DCF, comparable peers &amp; Football Field Chart</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Valorisation — DCF &amp; Scénarios</a:t>
            </a:r>
          </a:p>
        </p:txBody>
      </p:sp>
      <p:graphicFrame>
        <p:nvGraphicFramePr>
          <p:cNvPr id="16" name="Table 15"/>
          <p:cNvGraphicFramePr>
            <a:graphicFrameLocks noGrp="1"/>
          </p:cNvGraphicFramePr>
          <p:nvPr/>
        </p:nvGraphicFramePr>
        <p:xfrm>
          <a:off x="367200" y="824400"/>
          <a:ext cx="4024800" cy="1371600"/>
        </p:xfrm>
        <a:graphic>
          <a:graphicData uri="http://schemas.openxmlformats.org/drawingml/2006/table">
            <a:tbl>
              <a:tblPr firstRow="1" bandRow="1">
                <a:tableStyleId>{5C22544A-7EE6-4342-B048-85BDC9FD1C3A}</a:tableStyleId>
              </a:tblPr>
              <a:tblGrid>
                <a:gridCol w="2213640"/>
                <a:gridCol w="1811160"/>
              </a:tblGrid>
              <a:tr h="22860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WACC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TGR</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1" i="0">
                          <a:solidFill>
                            <a:srgbClr val="1B3A6B"/>
                          </a:solidFill>
                          <a:latin typeface="Calibri"/>
                        </a:rPr>
                        <a:t>Valeur intrinsèque</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Cours actuel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372,29 $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Upside implicite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graphicFrame>
        <p:nvGraphicFramePr>
          <p:cNvPr id="17" name="Table 16"/>
          <p:cNvGraphicFramePr>
            <a:graphicFrameLocks noGrp="1"/>
          </p:cNvGraphicFramePr>
          <p:nvPr/>
        </p:nvGraphicFramePr>
        <p:xfrm>
          <a:off x="4482000" y="824400"/>
          <a:ext cx="4298400" cy="1371600"/>
        </p:xfrm>
        <a:graphic>
          <a:graphicData uri="http://schemas.openxmlformats.org/drawingml/2006/table">
            <a:tbl>
              <a:tblPr firstRow="1" bandRow="1">
                <a:tableStyleId>{5C22544A-7EE6-4342-B048-85BDC9FD1C3A}</a:tableStyleId>
              </a:tblPr>
              <a:tblGrid>
                <a:gridCol w="1432800"/>
                <a:gridCol w="1432800"/>
                <a:gridCol w="1432800"/>
              </a:tblGrid>
              <a:tr h="342900">
                <a:tc>
                  <a:txBody>
                    <a:bodyPr/>
                    <a:lstStyle/>
                    <a:p>
                      <a:pPr algn="ctr"/>
                      <a:r>
                        <a:rPr sz="1000" b="1" i="0">
                          <a:solidFill>
                            <a:srgbClr val="FFFFFF"/>
                          </a:solidFill>
                          <a:latin typeface="Calibri"/>
                        </a:rPr>
                        <a:t>Bear</a:t>
                      </a:r>
                    </a:p>
                  </a:txBody>
                  <a:tcPr>
                    <a:solidFill>
                      <a:srgbClr val="A82020"/>
                    </a:solidFill>
                  </a:tcPr>
                </a:tc>
                <a:tc>
                  <a:txBody>
                    <a:bodyPr/>
                    <a:lstStyle/>
                    <a:p>
                      <a:pPr algn="ctr"/>
                      <a:r>
                        <a:rPr sz="1000" b="1" i="0">
                          <a:solidFill>
                            <a:srgbClr val="FFFFFF"/>
                          </a:solidFill>
                          <a:latin typeface="Calibri"/>
                        </a:rPr>
                        <a:t>Base</a:t>
                      </a:r>
                    </a:p>
                  </a:txBody>
                  <a:tcPr>
                    <a:solidFill>
                      <a:srgbClr val="2E5FA3"/>
                    </a:solidFill>
                  </a:tcPr>
                </a:tc>
                <a:tc>
                  <a:txBody>
                    <a:bodyPr/>
                    <a:lstStyle/>
                    <a:p>
                      <a:pPr algn="ctr"/>
                      <a:r>
                        <a:rPr sz="1000" b="1" i="0">
                          <a:solidFill>
                            <a:srgbClr val="FFFFFF"/>
                          </a:solidFill>
                          <a:latin typeface="Calibri"/>
                        </a:rPr>
                        <a:t>Bull</a:t>
                      </a:r>
                    </a:p>
                  </a:txBody>
                  <a:tcPr>
                    <a:solidFill>
                      <a:srgbClr val="1A7A4A"/>
                    </a:solidFill>
                  </a:tcPr>
                </a:tc>
              </a:tr>
              <a:tr h="342900">
                <a:tc>
                  <a:txBody>
                    <a:bodyPr/>
                    <a:lstStyle/>
                    <a:p>
                      <a:pPr algn="ctr"/>
                      <a:r>
                        <a:rPr sz="2000" b="1" i="0">
                          <a:solidFill>
                            <a:srgbClr val="A82020"/>
                          </a:solidFill>
                          <a:latin typeface="Calibri"/>
                        </a:rPr>
                        <a:t>—</a:t>
                      </a:r>
                    </a:p>
                  </a:txBody>
                  <a:tcPr>
                    <a:solidFill>
                      <a:srgbClr val="FAF0EF"/>
                    </a:solidFill>
                  </a:tcPr>
                </a:tc>
                <a:tc>
                  <a:txBody>
                    <a:bodyPr/>
                    <a:lstStyle/>
                    <a:p>
                      <a:pPr algn="ctr"/>
                      <a:r>
                        <a:rPr sz="2000" b="1" i="0">
                          <a:solidFill>
                            <a:srgbClr val="2E5FA3"/>
                          </a:solidFill>
                          <a:latin typeface="Calibri"/>
                        </a:rPr>
                        <a:t>—</a:t>
                      </a:r>
                    </a:p>
                  </a:txBody>
                  <a:tcPr>
                    <a:solidFill>
                      <a:srgbClr val="EEF3FA"/>
                    </a:solidFill>
                  </a:tcPr>
                </a:tc>
                <a:tc>
                  <a:txBody>
                    <a:bodyPr/>
                    <a:lstStyle/>
                    <a:p>
                      <a:pPr algn="ctr"/>
                      <a:r>
                        <a:rPr sz="2000" b="1" i="0">
                          <a:solidFill>
                            <a:srgbClr val="1A7A4A"/>
                          </a:solidFill>
                          <a:latin typeface="Calibri"/>
                        </a:rPr>
                        <a:t>—</a:t>
                      </a:r>
                    </a:p>
                  </a:txBody>
                  <a:tcPr>
                    <a:solidFill>
                      <a:srgbClr val="EAF4EF"/>
                    </a:solidFill>
                  </a:tcPr>
                </a:tc>
              </a:tr>
              <a:tr h="342900">
                <a:tc>
                  <a:txBody>
                    <a:bodyPr/>
                    <a:lstStyle/>
                    <a:p>
                      <a:pPr algn="ctr"/>
                      <a:r>
                        <a:rPr sz="1200" b="1" i="0">
                          <a:solidFill>
                            <a:srgbClr val="A82020"/>
                          </a:solidFill>
                          <a:latin typeface="Calibri"/>
                        </a:rPr>
                        <a:t>—</a:t>
                      </a:r>
                    </a:p>
                  </a:txBody>
                  <a:tcPr>
                    <a:solidFill>
                      <a:srgbClr val="FAF0EF"/>
                    </a:solidFill>
                  </a:tcPr>
                </a:tc>
                <a:tc>
                  <a:txBody>
                    <a:bodyPr/>
                    <a:lstStyle/>
                    <a:p>
                      <a:pPr algn="ctr"/>
                      <a:r>
                        <a:rPr sz="1200" b="1" i="0">
                          <a:solidFill>
                            <a:srgbClr val="2E5FA3"/>
                          </a:solidFill>
                          <a:latin typeface="Calibri"/>
                        </a:rPr>
                        <a:t>—</a:t>
                      </a:r>
                    </a:p>
                  </a:txBody>
                  <a:tcPr>
                    <a:solidFill>
                      <a:srgbClr val="EEF3FA"/>
                    </a:solidFill>
                  </a:tcPr>
                </a:tc>
                <a:tc>
                  <a:txBody>
                    <a:bodyPr/>
                    <a:lstStyle/>
                    <a:p>
                      <a:pPr algn="ctr"/>
                      <a:r>
                        <a:rPr sz="1200" b="1" i="0">
                          <a:solidFill>
                            <a:srgbClr val="1A7A4A"/>
                          </a:solidFill>
                          <a:latin typeface="Calibri"/>
                        </a:rPr>
                        <a:t>—</a:t>
                      </a:r>
                    </a:p>
                  </a:txBody>
                  <a:tcPr>
                    <a:solidFill>
                      <a:srgbClr val="EAF4EF"/>
                    </a:solidFill>
                  </a:tcPr>
                </a:tc>
              </a:tr>
              <a:tr h="342900">
                <a:tc>
                  <a:txBody>
                    <a:bodyPr/>
                    <a:lstStyle/>
                    <a:p>
                      <a:pPr algn="ctr"/>
                      <a:r>
                        <a:rPr sz="700" b="0" i="0">
                          <a:solidFill>
                            <a:srgbClr val="888888"/>
                          </a:solidFill>
                          <a:latin typeface="Calibri"/>
                        </a:rPr>
                        <a:t>Upside / Downside</a:t>
                      </a:r>
                    </a:p>
                  </a:txBody>
                  <a:tcPr>
                    <a:solidFill>
                      <a:srgbClr val="FAF0EF"/>
                    </a:solidFill>
                  </a:tcPr>
                </a:tc>
                <a:tc>
                  <a:txBody>
                    <a:bodyPr/>
                    <a:lstStyle/>
                    <a:p>
                      <a:pPr algn="ctr"/>
                      <a:r>
                        <a:rPr sz="700" b="0" i="0">
                          <a:solidFill>
                            <a:srgbClr val="888888"/>
                          </a:solidFill>
                          <a:latin typeface="Calibri"/>
                        </a:rPr>
                        <a:t>Upside / Downside</a:t>
                      </a:r>
                    </a:p>
                  </a:txBody>
                  <a:tcPr>
                    <a:solidFill>
                      <a:srgbClr val="EEF3FA"/>
                    </a:solidFill>
                  </a:tcPr>
                </a:tc>
                <a:tc>
                  <a:txBody>
                    <a:bodyPr/>
                    <a:lstStyle/>
                    <a:p>
                      <a:pPr algn="ctr"/>
                      <a:r>
                        <a:rPr sz="700" b="0" i="0">
                          <a:solidFill>
                            <a:srgbClr val="888888"/>
                          </a:solidFill>
                          <a:latin typeface="Calibri"/>
                        </a:rPr>
                        <a:t>Upside / Downside</a:t>
                      </a:r>
                    </a:p>
                  </a:txBody>
                  <a:tcPr>
                    <a:solidFill>
                      <a:srgbClr val="EAF4EF"/>
                    </a:solidFill>
                  </a:tcPr>
                </a:tc>
              </a:tr>
            </a:tbl>
          </a:graphicData>
        </a:graphic>
      </p:graphicFrame>
      <p:sp>
        <p:nvSpPr>
          <p:cNvPr id="18" name="TextBox 17"/>
          <p:cNvSpPr txBox="1"/>
          <p:nvPr/>
        </p:nvSpPr>
        <p:spPr>
          <a:xfrm>
            <a:off x="367200" y="2394000"/>
            <a:ext cx="4024800" cy="201600"/>
          </a:xfrm>
          <a:prstGeom prst="rect">
            <a:avLst/>
          </a:prstGeom>
          <a:noFill/>
        </p:spPr>
        <p:txBody>
          <a:bodyPr wrap="square">
            <a:spAutoFit/>
          </a:bodyPr>
          <a:lstStyle/>
          <a:p>
            <a:pPr algn="l"/>
            <a:r>
              <a:rPr sz="900" b="1" i="0">
                <a:solidFill>
                  <a:srgbClr val="1B3A6B"/>
                </a:solidFill>
                <a:latin typeface="Calibri"/>
              </a:rPr>
              <a:t>Monte Carlo DCF — 10 000 simulations</a:t>
            </a:r>
          </a:p>
        </p:txBody>
      </p:sp>
      <p:graphicFrame>
        <p:nvGraphicFramePr>
          <p:cNvPr id="19" name="Table 18"/>
          <p:cNvGraphicFramePr>
            <a:graphicFrameLocks noGrp="1"/>
          </p:cNvGraphicFramePr>
          <p:nvPr/>
        </p:nvGraphicFramePr>
        <p:xfrm>
          <a:off x="367200" y="2653200"/>
          <a:ext cx="4024800" cy="1116000"/>
        </p:xfrm>
        <a:graphic>
          <a:graphicData uri="http://schemas.openxmlformats.org/drawingml/2006/table">
            <a:tbl>
              <a:tblPr firstRow="1" bandRow="1">
                <a:tableStyleId>{5C22544A-7EE6-4342-B048-85BDC9FD1C3A}</a:tableStyleId>
              </a:tblPr>
              <a:tblGrid>
                <a:gridCol w="1690416"/>
                <a:gridCol w="1287936"/>
                <a:gridCol w="1046448"/>
              </a:tblGrid>
              <a:tr h="186000">
                <a:tc>
                  <a:txBody>
                    <a:bodyPr/>
                    <a:lstStyle/>
                    <a:p>
                      <a:pPr algn="l"/>
                      <a:r>
                        <a:rPr sz="800" b="1" i="0">
                          <a:solidFill>
                            <a:srgbClr val="FFFFFF"/>
                          </a:solidFill>
                          <a:latin typeface="Calibri"/>
                        </a:rPr>
                        <a:t>Scénario</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 / action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vs Cours</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Down (P2)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-46,4 %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Pessimiste (P10)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 Médian (P50)</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336 $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1B3A6B"/>
                          </a:solidFill>
                          <a:latin typeface="Calibri"/>
                        </a:rPr>
                        <a:t>-9,6 %</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Optimiste (P90)</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480 $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Stress Up (P98)</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611 $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4482000" y="2394000"/>
            <a:ext cx="4298400" cy="201600"/>
          </a:xfrm>
          <a:prstGeom prst="rect">
            <a:avLst/>
          </a:prstGeom>
          <a:noFill/>
        </p:spPr>
        <p:txBody>
          <a:bodyPr wrap="square">
            <a:spAutoFit/>
          </a:bodyPr>
          <a:lstStyle/>
          <a:p>
            <a:pPr algn="l"/>
            <a:r>
              <a:rPr sz="900" b="1" i="0">
                <a:solidFill>
                  <a:srgbClr val="1B3A6B"/>
                </a:solidFill>
                <a:latin typeface="Calibri"/>
              </a:rPr>
              <a:t>Sensibilité WACC × TGR — Valeur ($)</a:t>
            </a:r>
          </a:p>
        </p:txBody>
      </p:sp>
      <p:graphicFrame>
        <p:nvGraphicFramePr>
          <p:cNvPr id="21" name="Table 20"/>
          <p:cNvGraphicFramePr>
            <a:graphicFrameLocks noGrp="1"/>
          </p:cNvGraphicFramePr>
          <p:nvPr/>
        </p:nvGraphicFramePr>
        <p:xfrm>
          <a:off x="4482000" y="2653200"/>
          <a:ext cx="4298400" cy="1116000"/>
        </p:xfrm>
        <a:graphic>
          <a:graphicData uri="http://schemas.openxmlformats.org/drawingml/2006/table">
            <a:tbl>
              <a:tblPr firstRow="1" bandRow="1">
                <a:tableStyleId>{5C22544A-7EE6-4342-B048-85BDC9FD1C3A}</a:tableStyleId>
              </a:tblPr>
              <a:tblGrid>
                <a:gridCol w="716400"/>
                <a:gridCol w="716400"/>
                <a:gridCol w="716400"/>
                <a:gridCol w="716400"/>
                <a:gridCol w="716400"/>
                <a:gridCol w="716400"/>
              </a:tblGrid>
              <a:tr h="186000">
                <a:tc>
                  <a:txBody>
                    <a:bodyPr/>
                    <a:lstStyle/>
                    <a:p>
                      <a:pPr algn="l"/>
                      <a:r>
                        <a:rPr sz="800" b="1" i="0">
                          <a:solidFill>
                            <a:srgbClr val="FFFFFF"/>
                          </a:solidFill>
                          <a:latin typeface="Calibri"/>
                        </a:rPr>
                        <a:t>WACC \ TGR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2,5%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3,5%</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4,0%</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8,3%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9,3%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1" i="0">
                          <a:solidFill>
                            <a:srgbClr val="1B3A6B"/>
                          </a:solidFill>
                          <a:latin typeface="Calibri"/>
                        </a:rPr>
                        <a:t>10,3%</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a:t>
                      </a:r>
                    </a:p>
                  </a:txBody>
                  <a:tcPr>
                    <a:solidFill>
                      <a:srgbClr val="2E5FA3"/>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11,3%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186000">
                <a:tc>
                  <a:txBody>
                    <a:bodyPr/>
                    <a:lstStyle/>
                    <a:p>
                      <a:pPr algn="l"/>
                      <a:r>
                        <a:rPr sz="800" b="0" i="0">
                          <a:solidFill>
                            <a:srgbClr val="0D0D0D"/>
                          </a:solidFill>
                          <a:latin typeface="Calibri"/>
                        </a:rPr>
                        <a:t>12,3%</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DDE8F5"/>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Comparable Peers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par multiples  ·  LTM  ·  Mkt Cap en Mds USD</a:t>
            </a:r>
          </a:p>
        </p:txBody>
      </p:sp>
      <p:graphicFrame>
        <p:nvGraphicFramePr>
          <p:cNvPr id="17" name="Table 16"/>
          <p:cNvGraphicFramePr>
            <a:graphicFrameLocks noGrp="1"/>
          </p:cNvGraphicFramePr>
          <p:nvPr/>
        </p:nvGraphicFramePr>
        <p:xfrm>
          <a:off x="367200" y="914400"/>
          <a:ext cx="8413200" cy="871200"/>
        </p:xfrm>
        <a:graphic>
          <a:graphicData uri="http://schemas.openxmlformats.org/drawingml/2006/table">
            <a:tbl>
              <a:tblPr firstRow="1" bandRow="1">
                <a:tableStyleId>{5C22544A-7EE6-4342-B048-85BDC9FD1C3A}</a:tableStyleId>
              </a:tblPr>
              <a:tblGrid>
                <a:gridCol w="1682640"/>
                <a:gridCol w="757188"/>
                <a:gridCol w="1093716"/>
                <a:gridCol w="1009584"/>
                <a:gridCol w="1009584"/>
                <a:gridCol w="757188"/>
                <a:gridCol w="1093716"/>
                <a:gridCol w="1009584"/>
              </a:tblGrid>
              <a:tr h="290400">
                <a:tc>
                  <a:txBody>
                    <a:bodyPr/>
                    <a:lstStyle/>
                    <a:p>
                      <a:pPr algn="l"/>
                      <a:r>
                        <a:rPr sz="800" b="1" i="0">
                          <a:solidFill>
                            <a:srgbClr val="FFFFFF"/>
                          </a:solidFill>
                          <a:latin typeface="Calibri"/>
                        </a:rPr>
                        <a:t>Société</a:t>
                      </a:r>
                    </a:p>
                  </a:txBody>
                  <a:tcPr>
                    <a:solidFill>
                      <a:srgbClr val="1B3A6B"/>
                    </a:solidFill>
                  </a:tcPr>
                </a:tc>
                <a:tc>
                  <a:txBody>
                    <a:bodyPr/>
                    <a:lstStyle/>
                    <a:p>
                      <a:pPr algn="ctr"/>
                      <a:r>
                        <a:rPr sz="800" b="1" i="0">
                          <a:solidFill>
                            <a:srgbClr val="FFFFFF"/>
                          </a:solidFill>
                          <a:latin typeface="Calibri"/>
                        </a:rPr>
                        <a:t>Ticker</a:t>
                      </a:r>
                    </a:p>
                  </a:txBody>
                  <a:tcPr>
                    <a:solidFill>
                      <a:srgbClr val="1B3A6B"/>
                    </a:solidFill>
                  </a:tcPr>
                </a:tc>
                <a:tc>
                  <a:txBody>
                    <a:bodyPr/>
                    <a:lstStyle/>
                    <a:p>
                      <a:pPr algn="ctr"/>
                      <a:r>
                        <a:rPr sz="800" b="1" i="0">
                          <a:solidFill>
                            <a:srgbClr val="FFFFFF"/>
                          </a:solidFill>
                          <a:latin typeface="Calibri"/>
                        </a:rPr>
                        <a:t>Mkt Cap</a:t>
                      </a:r>
                    </a:p>
                  </a:txBody>
                  <a:tcPr>
                    <a:solidFill>
                      <a:srgbClr val="1B3A6B"/>
                    </a:solidFill>
                  </a:tcPr>
                </a:tc>
                <a:tc>
                  <a:txBody>
                    <a:bodyPr/>
                    <a:lstStyle/>
                    <a:p>
                      <a:pPr algn="ctr"/>
                      <a:r>
                        <a:rPr sz="800" b="1" i="0">
                          <a:solidFill>
                            <a:srgbClr val="FFFFFF"/>
                          </a:solidFill>
                          <a:latin typeface="Calibri"/>
                        </a:rPr>
                        <a:t>EV/EBITDA</a:t>
                      </a:r>
                    </a:p>
                  </a:txBody>
                  <a:tcPr>
                    <a:solidFill>
                      <a:srgbClr val="1B3A6B"/>
                    </a:solidFill>
                  </a:tcPr>
                </a:tc>
                <a:tc>
                  <a:txBody>
                    <a:bodyPr/>
                    <a:lstStyle/>
                    <a:p>
                      <a:pPr algn="ctr"/>
                      <a:r>
                        <a:rPr sz="800" b="1" i="0">
                          <a:solidFill>
                            <a:srgbClr val="FFFFFF"/>
                          </a:solidFill>
                          <a:latin typeface="Calibri"/>
                        </a:rPr>
                        <a:t>EV/Rev.</a:t>
                      </a:r>
                    </a:p>
                  </a:txBody>
                  <a:tcPr>
                    <a:solidFill>
                      <a:srgbClr val="1B3A6B"/>
                    </a:solidFill>
                  </a:tcPr>
                </a:tc>
                <a:tc>
                  <a:txBody>
                    <a:bodyPr/>
                    <a:lstStyle/>
                    <a:p>
                      <a:pPr algn="ctr"/>
                      <a:r>
                        <a:rPr sz="800" b="1" i="0">
                          <a:solidFill>
                            <a:srgbClr val="FFFFFF"/>
                          </a:solidFill>
                          <a:latin typeface="Calibri"/>
                        </a:rPr>
                        <a:t>P/E</a:t>
                      </a:r>
                    </a:p>
                  </a:txBody>
                  <a:tcPr>
                    <a:solidFill>
                      <a:srgbClr val="1B3A6B"/>
                    </a:solidFill>
                  </a:tcPr>
                </a:tc>
                <a:tc>
                  <a:txBody>
                    <a:bodyPr/>
                    <a:lstStyle/>
                    <a:p>
                      <a:pPr algn="ctr"/>
                      <a:r>
                        <a:rPr sz="800" b="1" i="0">
                          <a:solidFill>
                            <a:srgbClr val="FFFFFF"/>
                          </a:solidFill>
                          <a:latin typeface="Calibri"/>
                        </a:rPr>
                        <a:t>Mg Brute</a:t>
                      </a:r>
                    </a:p>
                  </a:txBody>
                  <a:tcPr>
                    <a:solidFill>
                      <a:srgbClr val="1B3A6B"/>
                    </a:solidFill>
                  </a:tcPr>
                </a:tc>
                <a:tc>
                  <a:txBody>
                    <a:bodyPr/>
                    <a:lstStyle/>
                    <a:p>
                      <a:pPr algn="ctr"/>
                      <a:r>
                        <a:rPr sz="800" b="1" i="0">
                          <a:solidFill>
                            <a:srgbClr val="FFFFFF"/>
                          </a:solidFill>
                          <a:latin typeface="Calibri"/>
                        </a:rPr>
                        <a:t>Mg EBITDA</a:t>
                      </a:r>
                    </a:p>
                  </a:txBody>
                  <a:tcPr>
                    <a:solidFill>
                      <a:srgbClr val="1B3A6B"/>
                    </a:solidFill>
                  </a:tcPr>
                </a:tc>
              </a:tr>
              <a:tr h="290400">
                <a:tc>
                  <a:txBody>
                    <a:bodyPr/>
                    <a:lstStyle/>
                    <a:p>
                      <a:pPr algn="l"/>
                      <a:r>
                        <a:rPr sz="800" b="1" i="0">
                          <a:solidFill>
                            <a:srgbClr val="1B3A6B"/>
                          </a:solidFill>
                          <a:latin typeface="Calibri"/>
                        </a:rPr>
                        <a:t>Microsoft Corporation</a:t>
                      </a:r>
                    </a:p>
                  </a:txBody>
                  <a:tcPr>
                    <a:solidFill>
                      <a:srgbClr val="DDE8F5"/>
                    </a:solidFill>
                  </a:tcPr>
                </a:tc>
                <a:tc>
                  <a:txBody>
                    <a:bodyPr/>
                    <a:lstStyle/>
                    <a:p>
                      <a:pPr algn="ctr"/>
                      <a:r>
                        <a:rPr sz="750" b="1" i="0">
                          <a:solidFill>
                            <a:srgbClr val="2E5FA3"/>
                          </a:solidFill>
                          <a:latin typeface="Calibri"/>
                        </a:rPr>
                        <a:t>MSFT</a:t>
                      </a:r>
                    </a:p>
                  </a:txBody>
                  <a:tcPr>
                    <a:solidFill>
                      <a:srgbClr val="DDE8F5"/>
                    </a:solidFill>
                  </a:tcPr>
                </a:tc>
                <a:tc>
                  <a:txBody>
                    <a:bodyPr/>
                    <a:lstStyle/>
                    <a:p>
                      <a:pPr algn="ctr"/>
                      <a:r>
                        <a:rPr sz="800" b="1" i="0">
                          <a:solidFill>
                            <a:srgbClr val="1B3A6B"/>
                          </a:solidFill>
                          <a:latin typeface="Calibri"/>
                        </a:rPr>
                        <a:t>2 764,5</a:t>
                      </a:r>
                    </a:p>
                  </a:txBody>
                  <a:tcPr>
                    <a:solidFill>
                      <a:srgbClr val="DDE8F5"/>
                    </a:solidFill>
                  </a:tcPr>
                </a:tc>
                <a:tc>
                  <a:txBody>
                    <a:bodyPr/>
                    <a:lstStyle/>
                    <a:p>
                      <a:pPr algn="ctr"/>
                      <a:r>
                        <a:rPr sz="800" b="1" i="0">
                          <a:solidFill>
                            <a:srgbClr val="1B3A6B"/>
                          </a:solidFill>
                          <a:latin typeface="Calibri"/>
                        </a:rPr>
                        <a:t>17,3x</a:t>
                      </a:r>
                    </a:p>
                  </a:txBody>
                  <a:tcPr>
                    <a:solidFill>
                      <a:srgbClr val="DDE8F5"/>
                    </a:solidFill>
                  </a:tcPr>
                </a:tc>
                <a:tc>
                  <a:txBody>
                    <a:bodyPr/>
                    <a:lstStyle/>
                    <a:p>
                      <a:pPr algn="ctr"/>
                      <a:r>
                        <a:rPr sz="800" b="1" i="0">
                          <a:solidFill>
                            <a:srgbClr val="1B3A6B"/>
                          </a:solidFill>
                          <a:latin typeface="Calibri"/>
                        </a:rPr>
                        <a:t>9,9x</a:t>
                      </a:r>
                    </a:p>
                  </a:txBody>
                  <a:tcPr>
                    <a:solidFill>
                      <a:srgbClr val="DDE8F5"/>
                    </a:solidFill>
                  </a:tcPr>
                </a:tc>
                <a:tc>
                  <a:txBody>
                    <a:bodyPr/>
                    <a:lstStyle/>
                    <a:p>
                      <a:pPr algn="ctr"/>
                      <a:r>
                        <a:rPr sz="800" b="1" i="0">
                          <a:solidFill>
                            <a:srgbClr val="1B3A6B"/>
                          </a:solidFill>
                          <a:latin typeface="Calibri"/>
                        </a:rPr>
                        <a:t>27,1x</a:t>
                      </a:r>
                    </a:p>
                  </a:txBody>
                  <a:tcPr>
                    <a:solidFill>
                      <a:srgbClr val="DDE8F5"/>
                    </a:solidFill>
                  </a:tcPr>
                </a:tc>
                <a:tc>
                  <a:txBody>
                    <a:bodyPr/>
                    <a:lstStyle/>
                    <a:p>
                      <a:pPr algn="ctr"/>
                      <a:r>
                        <a:rPr sz="800" b="1" i="0">
                          <a:solidFill>
                            <a:srgbClr val="1B3A6B"/>
                          </a:solidFill>
                          <a:latin typeface="Calibri"/>
                        </a:rPr>
                        <a:t>68,8 %</a:t>
                      </a:r>
                    </a:p>
                  </a:txBody>
                  <a:tcPr>
                    <a:solidFill>
                      <a:srgbClr val="DDE8F5"/>
                    </a:solidFill>
                  </a:tcPr>
                </a:tc>
                <a:tc>
                  <a:txBody>
                    <a:bodyPr/>
                    <a:lstStyle/>
                    <a:p>
                      <a:pPr algn="ctr"/>
                      <a:r>
                        <a:rPr sz="800" b="1" i="0">
                          <a:solidFill>
                            <a:srgbClr val="1B3A6B"/>
                          </a:solidFill>
                          <a:latin typeface="Calibri"/>
                        </a:rPr>
                        <a:t>56,9 %</a:t>
                      </a:r>
                    </a:p>
                  </a:txBody>
                  <a:tcPr>
                    <a:solidFill>
                      <a:srgbClr val="DDE8F5"/>
                    </a:solidFill>
                  </a:tcPr>
                </a:tc>
              </a:tr>
              <a:tr h="290400">
                <a:tc>
                  <a:txBody>
                    <a:bodyPr/>
                    <a:lstStyle/>
                    <a:p>
                      <a:pPr algn="l"/>
                      <a:r>
                        <a:rPr sz="800" b="1" i="0">
                          <a:solidFill>
                            <a:srgbClr val="0D0D0D"/>
                          </a:solidFill>
                          <a:latin typeface="Calibri"/>
                        </a:rPr>
                        <a:t>Médiane peers</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c>
                  <a:txBody>
                    <a:bodyPr/>
                    <a:lstStyle/>
                    <a:p>
                      <a:pPr algn="ctr"/>
                      <a:r>
                        <a:rPr sz="800" b="1" i="0">
                          <a:solidFill>
                            <a:srgbClr val="0D0D0D"/>
                          </a:solidFill>
                          <a:latin typeface="Calibri"/>
                        </a:rPr>
                        <a:t>—</a:t>
                      </a:r>
                    </a:p>
                  </a:txBody>
                  <a:tcPr>
                    <a:solidFill>
                      <a:srgbClr val="F7F8FA"/>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Football Field Chart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Synthèse des méthodes de valorisation  ·  USD par action</a:t>
            </a:r>
          </a:p>
        </p:txBody>
      </p:sp>
      <p:graphicFrame>
        <p:nvGraphicFramePr>
          <p:cNvPr id="17" name="Table 16"/>
          <p:cNvGraphicFramePr>
            <a:graphicFrameLocks noGrp="1"/>
          </p:cNvGraphicFramePr>
          <p:nvPr/>
        </p:nvGraphicFramePr>
        <p:xfrm>
          <a:off x="367200" y="914400"/>
          <a:ext cx="8413200" cy="615600"/>
        </p:xfrm>
        <a:graphic>
          <a:graphicData uri="http://schemas.openxmlformats.org/drawingml/2006/table">
            <a:tbl>
              <a:tblPr firstRow="1" bandRow="1">
                <a:tableStyleId>{5C22544A-7EE6-4342-B048-85BDC9FD1C3A}</a:tableStyleId>
              </a:tblPr>
              <a:tblGrid>
                <a:gridCol w="2944620"/>
                <a:gridCol w="1682640"/>
                <a:gridCol w="1682640"/>
                <a:gridCol w="2103300"/>
              </a:tblGrid>
              <a:tr h="307800">
                <a:tc>
                  <a:txBody>
                    <a:bodyPr/>
                    <a:lstStyle/>
                    <a:p>
                      <a:pPr algn="l"/>
                      <a:r>
                        <a:rPr sz="800" b="1" i="0">
                          <a:solidFill>
                            <a:srgbClr val="FFFFFF"/>
                          </a:solidFill>
                          <a:latin typeface="Calibri"/>
                        </a:rPr>
                        <a:t>Méthode</a:t>
                      </a:r>
                    </a:p>
                  </a:txBody>
                  <a:tcPr>
                    <a:solidFill>
                      <a:srgbClr val="1B3A6B"/>
                    </a:solidFill>
                  </a:tcPr>
                </a:tc>
                <a:tc>
                  <a:txBody>
                    <a:bodyPr/>
                    <a:lstStyle/>
                    <a:p>
                      <a:pPr algn="ctr"/>
                      <a:r>
                        <a:rPr sz="800" b="1" i="0">
                          <a:solidFill>
                            <a:srgbClr val="FFFFFF"/>
                          </a:solidFill>
                          <a:latin typeface="Calibri"/>
                        </a:rPr>
                        <a:t>Fourchette basse</a:t>
                      </a:r>
                    </a:p>
                  </a:txBody>
                  <a:tcPr>
                    <a:solidFill>
                      <a:srgbClr val="1B3A6B"/>
                    </a:solidFill>
                  </a:tcPr>
                </a:tc>
                <a:tc>
                  <a:txBody>
                    <a:bodyPr/>
                    <a:lstStyle/>
                    <a:p>
                      <a:pPr algn="ctr"/>
                      <a:r>
                        <a:rPr sz="800" b="1" i="0">
                          <a:solidFill>
                            <a:srgbClr val="FFFFFF"/>
                          </a:solidFill>
                          <a:latin typeface="Calibri"/>
                        </a:rPr>
                        <a:t>Fourchette haute</a:t>
                      </a:r>
                    </a:p>
                  </a:txBody>
                  <a:tcPr>
                    <a:solidFill>
                      <a:srgbClr val="1B3A6B"/>
                    </a:solidFill>
                  </a:tcPr>
                </a:tc>
                <a:tc>
                  <a:txBody>
                    <a:bodyPr/>
                    <a:lstStyle/>
                    <a:p>
                      <a:pPr algn="ctr"/>
                      <a:r>
                        <a:rPr sz="800" b="1" i="0">
                          <a:solidFill>
                            <a:srgbClr val="FFFFFF"/>
                          </a:solidFill>
                          <a:latin typeface="Calibri"/>
                        </a:rPr>
                        <a:t>Point central</a:t>
                      </a:r>
                    </a:p>
                  </a:txBody>
                  <a:tcPr>
                    <a:solidFill>
                      <a:srgbClr val="1B3A6B"/>
                    </a:solidFill>
                  </a:tcPr>
                </a:tc>
              </a:tr>
              <a:tr h="307800">
                <a:tc>
                  <a:txBody>
                    <a:bodyPr/>
                    <a:lstStyle/>
                    <a:p>
                      <a:pPr algn="l"/>
                      <a:r>
                        <a:rPr sz="800" b="0" i="0">
                          <a:solidFill>
                            <a:srgbClr val="0D0D0D"/>
                          </a:solidFill>
                          <a:latin typeface="Calibri"/>
                        </a:rPr>
                        <a:t>Cours actuel (372,29)</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a:t>
                      </a:r>
                    </a:p>
                  </a:txBody>
                  <a:tcPr>
                    <a:solidFill>
                      <a:srgbClr val="EEF3FA"/>
                    </a:solidFill>
                  </a:tcPr>
                </a:tc>
                <a:tc>
                  <a:txBody>
                    <a:bodyPr/>
                    <a:lstStyle/>
                    <a:p>
                      <a:pPr algn="ctr"/>
                      <a:r>
                        <a:rPr sz="800" b="0" i="0">
                          <a:solidFill>
                            <a:srgbClr val="0D0D0D"/>
                          </a:solidFill>
                          <a:latin typeface="Calibri"/>
                        </a:rPr>
                        <a:t>372,29</a:t>
                      </a:r>
                    </a:p>
                  </a:txBody>
                  <a:tcPr>
                    <a:solidFill>
                      <a:srgbClr val="EEF3FA"/>
                    </a:solidFill>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Multiples de Valorisation Historiques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P/E &amp; EV/EBITDA sur 5 ans · Standards marché</a:t>
            </a:r>
          </a:p>
        </p:txBody>
      </p:sp>
      <p:pic>
        <p:nvPicPr>
          <p:cNvPr id="17" name="Picture 16" descr="image.png"/>
          <p:cNvPicPr>
            <a:picLocks noChangeAspect="1"/>
          </p:cNvPicPr>
          <p:nvPr/>
        </p:nvPicPr>
        <p:blipFill>
          <a:blip r:embed="rId2"/>
          <a:stretch>
            <a:fillRect/>
          </a:stretch>
        </p:blipFill>
        <p:spPr>
          <a:xfrm>
            <a:off x="367200" y="864000"/>
            <a:ext cx="5688000" cy="2520000"/>
          </a:xfrm>
          <a:prstGeom prst="rect">
            <a:avLst/>
          </a:prstGeom>
        </p:spPr>
      </p:pic>
      <p:sp>
        <p:nvSpPr>
          <p:cNvPr id="18" name="TextBox 17"/>
          <p:cNvSpPr txBox="1"/>
          <p:nvPr/>
        </p:nvSpPr>
        <p:spPr>
          <a:xfrm>
            <a:off x="6192000" y="864000"/>
            <a:ext cx="2592000" cy="180000"/>
          </a:xfrm>
          <a:prstGeom prst="rect">
            <a:avLst/>
          </a:prstGeom>
          <a:noFill/>
        </p:spPr>
        <p:txBody>
          <a:bodyPr wrap="square">
            <a:spAutoFit/>
          </a:bodyPr>
          <a:lstStyle/>
          <a:p>
            <a:pPr algn="l"/>
            <a:r>
              <a:rPr sz="800" b="1" i="0">
                <a:solidFill>
                  <a:srgbClr val="1B3A6B"/>
                </a:solidFill>
                <a:latin typeface="Calibri"/>
              </a:rPr>
              <a:t>SYNTHÈSE DES MULTIPLES</a:t>
            </a:r>
          </a:p>
        </p:txBody>
      </p:sp>
      <p:graphicFrame>
        <p:nvGraphicFramePr>
          <p:cNvPr id="19" name="Table 18"/>
          <p:cNvGraphicFramePr>
            <a:graphicFrameLocks noGrp="1"/>
          </p:cNvGraphicFramePr>
          <p:nvPr/>
        </p:nvGraphicFramePr>
        <p:xfrm>
          <a:off x="6192000" y="1098000"/>
          <a:ext cx="2592000" cy="1008000"/>
        </p:xfrm>
        <a:graphic>
          <a:graphicData uri="http://schemas.openxmlformats.org/drawingml/2006/table">
            <a:tbl>
              <a:tblPr firstRow="1" bandRow="1">
                <a:tableStyleId>{5C22544A-7EE6-4342-B048-85BDC9FD1C3A}</a:tableStyleId>
              </a:tblPr>
              <a:tblGrid>
                <a:gridCol w="777600"/>
                <a:gridCol w="570240"/>
                <a:gridCol w="673920"/>
                <a:gridCol w="570240"/>
              </a:tblGrid>
              <a:tr h="201600">
                <a:tc>
                  <a:txBody>
                    <a:bodyPr/>
                    <a:lstStyle/>
                    <a:p>
                      <a:pPr algn="l"/>
                      <a:r>
                        <a:rPr sz="800" b="1" i="0">
                          <a:solidFill>
                            <a:srgbClr val="FFFFFF"/>
                          </a:solidFill>
                          <a:latin typeface="Calibri"/>
                        </a:rPr>
                        <a:t>Année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EV/EB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P/B</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27,9x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16,6x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38,2x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31,4x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21,0x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10,3x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17,3x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0" name="TextBox 19"/>
          <p:cNvSpPr txBox="1"/>
          <p:nvPr/>
        </p:nvSpPr>
        <p:spPr>
          <a:xfrm>
            <a:off x="367200" y="3600000"/>
            <a:ext cx="8413200" cy="648000"/>
          </a:xfrm>
          <a:prstGeom prst="rect">
            <a:avLst/>
          </a:prstGeom>
          <a:noFill/>
        </p:spPr>
        <p:txBody>
          <a:bodyPr wrap="square">
            <a:spAutoFit/>
          </a:bodyPr>
          <a:lstStyle/>
          <a:p>
            <a:pPr algn="l"/>
            <a:r>
              <a:rPr sz="850" b="0" i="0">
                <a:solidFill>
                  <a:srgbClr val="555555"/>
                </a:solidFill>
                <a:latin typeface="Calibri"/>
              </a:rPr>
              <a:t>Le P/E affiche une compression multiple de 10.9x sur la période (38,0x → 27,1x), signal d’une réévaluation négative du profil de croissance. L’EV/EBITDA diverge à 17,3x vs 27,9x historique.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Capital Returns &amp; Free Cash Flow</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FCF yield, dividendes &amp; allocation du capital</a:t>
            </a:r>
          </a:p>
        </p:txBody>
      </p:sp>
      <p:sp>
        <p:nvSpPr>
          <p:cNvPr id="17" name="Rectangle 16"/>
          <p:cNvSpPr/>
          <p:nvPr/>
        </p:nvSpPr>
        <p:spPr>
          <a:xfrm>
            <a:off x="367200"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0800" y="871200"/>
            <a:ext cx="1900799" cy="234000"/>
          </a:xfrm>
          <a:prstGeom prst="rect">
            <a:avLst/>
          </a:prstGeom>
          <a:noFill/>
        </p:spPr>
        <p:txBody>
          <a:bodyPr wrap="square">
            <a:spAutoFit/>
          </a:bodyPr>
          <a:lstStyle/>
          <a:p>
            <a:pPr algn="l"/>
            <a:r>
              <a:rPr sz="1600" b="1" i="0">
                <a:solidFill>
                  <a:srgbClr val="1B3A6B"/>
                </a:solidFill>
                <a:latin typeface="Calibri"/>
              </a:rPr>
              <a:t>2,6 %</a:t>
            </a:r>
          </a:p>
        </p:txBody>
      </p:sp>
      <p:sp>
        <p:nvSpPr>
          <p:cNvPr id="20" name="TextBox 19"/>
          <p:cNvSpPr txBox="1"/>
          <p:nvPr/>
        </p:nvSpPr>
        <p:spPr>
          <a:xfrm>
            <a:off x="460800" y="1098000"/>
            <a:ext cx="1900799" cy="234000"/>
          </a:xfrm>
          <a:prstGeom prst="rect">
            <a:avLst/>
          </a:prstGeom>
          <a:noFill/>
        </p:spPr>
        <p:txBody>
          <a:bodyPr wrap="square">
            <a:spAutoFit/>
          </a:bodyPr>
          <a:lstStyle/>
          <a:p>
            <a:pPr algn="l"/>
            <a:r>
              <a:rPr sz="800" b="0" i="0">
                <a:solidFill>
                  <a:srgbClr val="555555"/>
                </a:solidFill>
                <a:latin typeface="Calibri"/>
              </a:rPr>
              <a:t>FCF Yield</a:t>
            </a:r>
          </a:p>
        </p:txBody>
      </p:sp>
      <p:sp>
        <p:nvSpPr>
          <p:cNvPr id="21" name="Rectangle 20"/>
          <p:cNvSpPr/>
          <p:nvPr/>
        </p:nvSpPr>
        <p:spPr>
          <a:xfrm>
            <a:off x="24479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479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41599" y="871200"/>
            <a:ext cx="1900799" cy="234000"/>
          </a:xfrm>
          <a:prstGeom prst="rect">
            <a:avLst/>
          </a:prstGeom>
          <a:noFill/>
        </p:spPr>
        <p:txBody>
          <a:bodyPr wrap="square">
            <a:spAutoFit/>
          </a:bodyPr>
          <a:lstStyle/>
          <a:p>
            <a:pPr algn="l"/>
            <a:r>
              <a:rPr sz="1600" b="1" i="0">
                <a:solidFill>
                  <a:srgbClr val="1B3A6B"/>
                </a:solidFill>
                <a:latin typeface="Calibri"/>
              </a:rPr>
              <a:t>71,4 Mds$</a:t>
            </a:r>
          </a:p>
        </p:txBody>
      </p:sp>
      <p:sp>
        <p:nvSpPr>
          <p:cNvPr id="24" name="TextBox 23"/>
          <p:cNvSpPr txBox="1"/>
          <p:nvPr/>
        </p:nvSpPr>
        <p:spPr>
          <a:xfrm>
            <a:off x="2541599" y="1098000"/>
            <a:ext cx="1900799" cy="234000"/>
          </a:xfrm>
          <a:prstGeom prst="rect">
            <a:avLst/>
          </a:prstGeom>
          <a:noFill/>
        </p:spPr>
        <p:txBody>
          <a:bodyPr wrap="square">
            <a:spAutoFit/>
          </a:bodyPr>
          <a:lstStyle/>
          <a:p>
            <a:pPr algn="l"/>
            <a:r>
              <a:rPr sz="800" b="0" i="0">
                <a:solidFill>
                  <a:srgbClr val="555555"/>
                </a:solidFill>
                <a:latin typeface="Calibri"/>
              </a:rPr>
              <a:t>FCF (LTM)</a:t>
            </a:r>
          </a:p>
        </p:txBody>
      </p:sp>
      <p:sp>
        <p:nvSpPr>
          <p:cNvPr id="25" name="Rectangle 24"/>
          <p:cNvSpPr/>
          <p:nvPr/>
        </p:nvSpPr>
        <p:spPr>
          <a:xfrm>
            <a:off x="45287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5287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622399" y="871200"/>
            <a:ext cx="1900799" cy="234000"/>
          </a:xfrm>
          <a:prstGeom prst="rect">
            <a:avLst/>
          </a:prstGeom>
          <a:noFill/>
        </p:spPr>
        <p:txBody>
          <a:bodyPr wrap="square">
            <a:spAutoFit/>
          </a:bodyPr>
          <a:lstStyle/>
          <a:p>
            <a:pPr algn="l"/>
            <a:r>
              <a:rPr sz="1600" b="1" i="0">
                <a:solidFill>
                  <a:srgbClr val="1B3A6B"/>
                </a:solidFill>
                <a:latin typeface="Calibri"/>
              </a:rPr>
              <a:t>22,9 %</a:t>
            </a:r>
          </a:p>
        </p:txBody>
      </p:sp>
      <p:sp>
        <p:nvSpPr>
          <p:cNvPr id="28" name="TextBox 27"/>
          <p:cNvSpPr txBox="1"/>
          <p:nvPr/>
        </p:nvSpPr>
        <p:spPr>
          <a:xfrm>
            <a:off x="4622399" y="1098000"/>
            <a:ext cx="1900799" cy="234000"/>
          </a:xfrm>
          <a:prstGeom prst="rect">
            <a:avLst/>
          </a:prstGeom>
          <a:noFill/>
        </p:spPr>
        <p:txBody>
          <a:bodyPr wrap="square">
            <a:spAutoFit/>
          </a:bodyPr>
          <a:lstStyle/>
          <a:p>
            <a:pPr algn="l"/>
            <a:r>
              <a:rPr sz="800" b="0" i="0">
                <a:solidFill>
                  <a:srgbClr val="555555"/>
                </a:solidFill>
                <a:latin typeface="Calibri"/>
              </a:rPr>
              <a:t>Capex / Rev</a:t>
            </a:r>
          </a:p>
        </p:txBody>
      </p:sp>
      <p:sp>
        <p:nvSpPr>
          <p:cNvPr id="29" name="Rectangle 28"/>
          <p:cNvSpPr/>
          <p:nvPr/>
        </p:nvSpPr>
        <p:spPr>
          <a:xfrm>
            <a:off x="6609599" y="824400"/>
            <a:ext cx="2015999" cy="5472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609599" y="824400"/>
            <a:ext cx="64800" cy="5472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03199" y="871200"/>
            <a:ext cx="1900799" cy="234000"/>
          </a:xfrm>
          <a:prstGeom prst="rect">
            <a:avLst/>
          </a:prstGeom>
          <a:noFill/>
        </p:spPr>
        <p:txBody>
          <a:bodyPr wrap="square">
            <a:spAutoFit/>
          </a:bodyPr>
          <a:lstStyle/>
          <a:p>
            <a:pPr algn="l"/>
            <a:r>
              <a:rPr sz="1600" b="1" i="0">
                <a:solidFill>
                  <a:srgbClr val="1B3A6B"/>
                </a:solidFill>
                <a:latin typeface="Calibri"/>
              </a:rPr>
              <a:t>—</a:t>
            </a:r>
          </a:p>
        </p:txBody>
      </p:sp>
      <p:sp>
        <p:nvSpPr>
          <p:cNvPr id="32" name="TextBox 31"/>
          <p:cNvSpPr txBox="1"/>
          <p:nvPr/>
        </p:nvSpPr>
        <p:spPr>
          <a:xfrm>
            <a:off x="6703199" y="1098000"/>
            <a:ext cx="1900799" cy="234000"/>
          </a:xfrm>
          <a:prstGeom prst="rect">
            <a:avLst/>
          </a:prstGeom>
          <a:noFill/>
        </p:spPr>
        <p:txBody>
          <a:bodyPr wrap="square">
            <a:spAutoFit/>
          </a:bodyPr>
          <a:lstStyle/>
          <a:p>
            <a:pPr algn="l"/>
            <a:r>
              <a:rPr sz="800" b="0" i="0">
                <a:solidFill>
                  <a:srgbClr val="555555"/>
                </a:solidFill>
                <a:latin typeface="Calibri"/>
              </a:rPr>
              <a:t>Div. Payout</a:t>
            </a:r>
          </a:p>
        </p:txBody>
      </p:sp>
      <p:pic>
        <p:nvPicPr>
          <p:cNvPr id="33" name="Picture 32" descr="image.png"/>
          <p:cNvPicPr>
            <a:picLocks noChangeAspect="1"/>
          </p:cNvPicPr>
          <p:nvPr/>
        </p:nvPicPr>
        <p:blipFill>
          <a:blip r:embed="rId2"/>
          <a:stretch>
            <a:fillRect/>
          </a:stretch>
        </p:blipFill>
        <p:spPr>
          <a:xfrm>
            <a:off x="367200" y="1512000"/>
            <a:ext cx="5220000" cy="2088000"/>
          </a:xfrm>
          <a:prstGeom prst="rect">
            <a:avLst/>
          </a:prstGeom>
        </p:spPr>
      </p:pic>
      <p:sp>
        <p:nvSpPr>
          <p:cNvPr id="34" name="TextBox 33"/>
          <p:cNvSpPr txBox="1"/>
          <p:nvPr/>
        </p:nvSpPr>
        <p:spPr>
          <a:xfrm>
            <a:off x="5832000" y="1512000"/>
            <a:ext cx="2951999" cy="180000"/>
          </a:xfrm>
          <a:prstGeom prst="rect">
            <a:avLst/>
          </a:prstGeom>
          <a:noFill/>
        </p:spPr>
        <p:txBody>
          <a:bodyPr wrap="square">
            <a:spAutoFit/>
          </a:bodyPr>
          <a:lstStyle/>
          <a:p>
            <a:pPr algn="l"/>
            <a:r>
              <a:rPr sz="800" b="1" i="0">
                <a:solidFill>
                  <a:srgbClr val="1B3A6B"/>
                </a:solidFill>
                <a:latin typeface="Calibri"/>
              </a:rPr>
              <a:t>ALLOCATION DU CAPITAL</a:t>
            </a:r>
          </a:p>
        </p:txBody>
      </p:sp>
      <p:graphicFrame>
        <p:nvGraphicFramePr>
          <p:cNvPr id="35" name="Table 34"/>
          <p:cNvGraphicFramePr>
            <a:graphicFrameLocks noGrp="1"/>
          </p:cNvGraphicFramePr>
          <p:nvPr/>
        </p:nvGraphicFramePr>
        <p:xfrm>
          <a:off x="5832000" y="1745999"/>
          <a:ext cx="2951995" cy="1008000"/>
        </p:xfrm>
        <a:graphic>
          <a:graphicData uri="http://schemas.openxmlformats.org/drawingml/2006/table">
            <a:tbl>
              <a:tblPr firstRow="1" bandRow="1">
                <a:tableStyleId>{5C22544A-7EE6-4342-B048-85BDC9FD1C3A}</a:tableStyleId>
              </a:tblPr>
              <a:tblGrid>
                <a:gridCol w="649439"/>
                <a:gridCol w="590399"/>
                <a:gridCol w="560879"/>
                <a:gridCol w="560879"/>
                <a:gridCol w="590399"/>
              </a:tblGrid>
              <a:tr h="201600">
                <a:tc>
                  <a:txBody>
                    <a:bodyPr/>
                    <a:lstStyle/>
                    <a:p>
                      <a:pPr algn="l"/>
                      <a:r>
                        <a:rPr sz="800" b="1" i="0">
                          <a:solidFill>
                            <a:srgbClr val="FFFFFF"/>
                          </a:solidFill>
                          <a:latin typeface="Calibri"/>
                        </a:rPr>
                        <a:t>Ann.</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FCF</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Yield</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Div%</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Capex%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2022</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63,3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2,3 %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12,0 %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2023</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58,1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13,3 %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2024</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65,9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1600">
                <a:tc>
                  <a:txBody>
                    <a:bodyPr/>
                    <a:lstStyle/>
                    <a:p>
                      <a:pPr algn="l"/>
                      <a:r>
                        <a:rPr sz="800" b="0" i="0">
                          <a:solidFill>
                            <a:srgbClr val="0D0D0D"/>
                          </a:solidFill>
                          <a:latin typeface="Calibri"/>
                        </a:rPr>
                        <a:t>2025</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2,6 %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22,9 %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36" name="TextBox 35"/>
          <p:cNvSpPr txBox="1"/>
          <p:nvPr/>
        </p:nvSpPr>
        <p:spPr>
          <a:xfrm>
            <a:off x="367200" y="3708000"/>
            <a:ext cx="8413200" cy="576000"/>
          </a:xfrm>
          <a:prstGeom prst="rect">
            <a:avLst/>
          </a:prstGeom>
          <a:noFill/>
        </p:spPr>
        <p:txBody>
          <a:bodyPr wrap="square">
            <a:spAutoFit/>
          </a:bodyPr>
          <a:lstStyle/>
          <a:p>
            <a:pPr algn="l"/>
            <a:r>
              <a:rPr sz="850" b="0" i="0">
                <a:solidFill>
                  <a:srgbClr val="555555"/>
                </a:solidFill>
                <a:latin typeface="Calibri"/>
              </a:rPr>
              <a:t>Le FCF affiche une croissance de 8,1 Mds$ sur la période, avec un FCF yield actuel de 2,6 % — à surveiller au regard de la valorisation de marché. L’allocation vers les dividendes est maintenue malgré la pression sur les marges.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1B3A6B"/>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Analyse LBO — Leveraged Buyout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Attractivité PE · Multiples d’entrée vs IRR cible</a:t>
            </a:r>
          </a:p>
        </p:txBody>
      </p:sp>
      <p:graphicFrame>
        <p:nvGraphicFramePr>
          <p:cNvPr id="17" name="Table 16"/>
          <p:cNvGraphicFramePr>
            <a:graphicFrameLocks noGrp="1"/>
          </p:cNvGraphicFramePr>
          <p:nvPr/>
        </p:nvGraphicFramePr>
        <p:xfrm>
          <a:off x="367200" y="900000"/>
          <a:ext cx="4860000" cy="1170000"/>
        </p:xfrm>
        <a:graphic>
          <a:graphicData uri="http://schemas.openxmlformats.org/drawingml/2006/table">
            <a:tbl>
              <a:tblPr firstRow="1" bandRow="1">
                <a:tableStyleId>{5C22544A-7EE6-4342-B048-85BDC9FD1C3A}</a:tableStyleId>
              </a:tblPr>
              <a:tblGrid>
                <a:gridCol w="1069200"/>
                <a:gridCol w="1263600"/>
                <a:gridCol w="1263600"/>
                <a:gridCol w="1263600"/>
              </a:tblGrid>
              <a:tr h="234000">
                <a:tc>
                  <a:txBody>
                    <a:bodyPr/>
                    <a:lstStyle/>
                    <a:p>
                      <a:pPr algn="l"/>
                      <a:r>
                        <a:rPr sz="800" b="1" i="0">
                          <a:solidFill>
                            <a:srgbClr val="FFFFFF"/>
                          </a:solidFill>
                          <a:latin typeface="Calibri"/>
                        </a:rPr>
                        <a:t>Entry mult.</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8x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10x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Exit 12x</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8x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28.6% / 3.5x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35.2% / 4.5x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40.7% / 5.5x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10x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18.5%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24.6% / 3.0x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29.7% / 3.7x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12x</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11.9%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17.7% / 2.3x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22.5% / 2.8x</a:t>
                      </a:r>
                    </a:p>
                  </a:txBody>
                  <a:tcPr>
                    <a:solidFill>
                      <a:srgbClr val="EAF4EF"/>
                    </a:solidFill>
                    <a:lnL w="6350">
                      <a:solidFill>
                        <a:srgbClr val="DDDDDD"/>
                      </a:solidFill>
                    </a:lnL>
                    <a:lnR w="6350">
                      <a:solidFill>
                        <a:srgbClr val="DDDDDD"/>
                      </a:solidFill>
                    </a:lnR>
                    <a:lnT w="6350">
                      <a:solidFill>
                        <a:srgbClr val="DDDDDD"/>
                      </a:solidFill>
                    </a:lnT>
                    <a:lnB w="6350">
                      <a:solidFill>
                        <a:srgbClr val="DDDDDD"/>
                      </a:solidFill>
                    </a:lnB>
                  </a:tcPr>
                </a:tc>
              </a:tr>
              <a:tr h="234000">
                <a:tc>
                  <a:txBody>
                    <a:bodyPr/>
                    <a:lstStyle/>
                    <a:p>
                      <a:pPr algn="l"/>
                      <a:r>
                        <a:rPr sz="800" b="0" i="0">
                          <a:solidFill>
                            <a:srgbClr val="0D0D0D"/>
                          </a:solidFill>
                          <a:latin typeface="Calibri"/>
                        </a:rPr>
                        <a:t>14x</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7.0% / 1.4x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12.5% / 1.8x</a:t>
                      </a:r>
                    </a:p>
                  </a:txBody>
                  <a:tcPr>
                    <a:solidFill>
                      <a:srgbClr val="FAF0E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17.1% / 2.2x</a:t>
                      </a:r>
                    </a:p>
                  </a:txBody>
                  <a:tcPr>
                    <a:solidFill>
                      <a:srgbClr val="FDF6E8"/>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8" name="TextBox 17"/>
          <p:cNvSpPr txBox="1"/>
          <p:nvPr/>
        </p:nvSpPr>
        <p:spPr>
          <a:xfrm>
            <a:off x="367200" y="2592000"/>
            <a:ext cx="4860000" cy="180000"/>
          </a:xfrm>
          <a:prstGeom prst="rect">
            <a:avLst/>
          </a:prstGeom>
          <a:noFill/>
        </p:spPr>
        <p:txBody>
          <a:bodyPr wrap="square">
            <a:spAutoFit/>
          </a:bodyPr>
          <a:lstStyle/>
          <a:p>
            <a:pPr algn="l"/>
            <a:r>
              <a:rPr sz="750" b="0" i="0">
                <a:solidFill>
                  <a:srgbClr val="555555"/>
                </a:solidFill>
                <a:latin typeface="Calibri"/>
              </a:rPr>
              <a:t>Hypotheses : Levier 4x EBITDA · 5 ans holding · 50% remboursement dette · EBITDA +15%/an</a:t>
            </a:r>
          </a:p>
        </p:txBody>
      </p:sp>
      <p:sp>
        <p:nvSpPr>
          <p:cNvPr id="19" name="TextBox 18"/>
          <p:cNvSpPr txBox="1"/>
          <p:nvPr/>
        </p:nvSpPr>
        <p:spPr>
          <a:xfrm>
            <a:off x="367200" y="2754000"/>
            <a:ext cx="4860000" cy="180000"/>
          </a:xfrm>
          <a:prstGeom prst="rect">
            <a:avLst/>
          </a:prstGeom>
          <a:noFill/>
        </p:spPr>
        <p:txBody>
          <a:bodyPr wrap="square">
            <a:spAutoFit/>
          </a:bodyPr>
          <a:lstStyle/>
          <a:p>
            <a:pPr algn="l"/>
            <a:r>
              <a:rPr sz="750" b="0" i="0">
                <a:solidFill>
                  <a:srgbClr val="888888"/>
                </a:solidFill>
                <a:latin typeface="Calibri"/>
              </a:rPr>
              <a:t>Lecture : IRR / MOIC  ● vert ≥ 20%  ● ambre 15-20%  ● rouge &lt; 15%</a:t>
            </a:r>
          </a:p>
        </p:txBody>
      </p:sp>
      <p:sp>
        <p:nvSpPr>
          <p:cNvPr id="20" name="TextBox 19"/>
          <p:cNvSpPr txBox="1"/>
          <p:nvPr/>
        </p:nvSpPr>
        <p:spPr>
          <a:xfrm>
            <a:off x="5472000" y="900000"/>
            <a:ext cx="3311999" cy="180000"/>
          </a:xfrm>
          <a:prstGeom prst="rect">
            <a:avLst/>
          </a:prstGeom>
          <a:noFill/>
        </p:spPr>
        <p:txBody>
          <a:bodyPr wrap="square">
            <a:spAutoFit/>
          </a:bodyPr>
          <a:lstStyle/>
          <a:p>
            <a:pPr algn="l"/>
            <a:r>
              <a:rPr sz="800" b="1" i="0">
                <a:solidFill>
                  <a:srgbClr val="1B3A6B"/>
                </a:solidFill>
                <a:latin typeface="Calibri"/>
              </a:rPr>
              <a:t>HYPOTHÈSES &amp; STRUCTURE LBO</a:t>
            </a:r>
          </a:p>
        </p:txBody>
      </p:sp>
      <p:graphicFrame>
        <p:nvGraphicFramePr>
          <p:cNvPr id="21" name="Table 20"/>
          <p:cNvGraphicFramePr>
            <a:graphicFrameLocks noGrp="1"/>
          </p:cNvGraphicFramePr>
          <p:nvPr/>
        </p:nvGraphicFramePr>
        <p:xfrm>
          <a:off x="5472000" y="1116000"/>
          <a:ext cx="3311998" cy="1602000"/>
        </p:xfrm>
        <a:graphic>
          <a:graphicData uri="http://schemas.openxmlformats.org/drawingml/2006/table">
            <a:tbl>
              <a:tblPr firstRow="1" bandRow="1">
                <a:tableStyleId>{5C22544A-7EE6-4342-B048-85BDC9FD1C3A}</a:tableStyleId>
              </a:tblPr>
              <a:tblGrid>
                <a:gridCol w="1722239"/>
                <a:gridCol w="1589759"/>
              </a:tblGrid>
              <a:tr h="200250">
                <a:tc>
                  <a:txBody>
                    <a:bodyPr/>
                    <a:lstStyle/>
                    <a:p>
                      <a:pPr algn="l"/>
                      <a:r>
                        <a:rPr sz="800" b="1" i="0">
                          <a:solidFill>
                            <a:srgbClr val="FFFFFF"/>
                          </a:solidFill>
                          <a:latin typeface="Calibri"/>
                        </a:rPr>
                        <a:t>Paramètre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Valeur</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LTM</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160,2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FCF LTM</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71,4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Levier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4x EBITDA</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Dette entrée</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640,7 Mds$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EBITDA exit (est.)</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321,2 Mds$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Holding</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5 ans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00250">
                <a:tc>
                  <a:txBody>
                    <a:bodyPr/>
                    <a:lstStyle/>
                    <a:p>
                      <a:pPr algn="l"/>
                      <a:r>
                        <a:rPr sz="800" b="0" i="0">
                          <a:solidFill>
                            <a:srgbClr val="0D0D0D"/>
                          </a:solidFill>
                          <a:latin typeface="Calibri"/>
                        </a:rPr>
                        <a:t>IRR cible PE</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 20%</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22" name="Rectangle 21"/>
          <p:cNvSpPr/>
          <p:nvPr/>
        </p:nvSpPr>
        <p:spPr>
          <a:xfrm>
            <a:off x="5472000" y="3096000"/>
            <a:ext cx="3311999" cy="1007999"/>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72000" y="3096000"/>
            <a:ext cx="72000" cy="1007999"/>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580000" y="3131999"/>
            <a:ext cx="3168000" cy="162000"/>
          </a:xfrm>
          <a:prstGeom prst="rect">
            <a:avLst/>
          </a:prstGeom>
          <a:noFill/>
        </p:spPr>
        <p:txBody>
          <a:bodyPr wrap="square">
            <a:spAutoFit/>
          </a:bodyPr>
          <a:lstStyle/>
          <a:p>
            <a:pPr algn="l"/>
            <a:r>
              <a:rPr sz="750" b="1" i="0">
                <a:solidFill>
                  <a:srgbClr val="B06000"/>
                </a:solidFill>
                <a:latin typeface="Calibri"/>
              </a:rPr>
              <a:t>NOTE MÉTHODOLOGIQUE</a:t>
            </a:r>
          </a:p>
        </p:txBody>
      </p:sp>
      <p:sp>
        <p:nvSpPr>
          <p:cNvPr id="25" name="TextBox 24"/>
          <p:cNvSpPr txBox="1"/>
          <p:nvPr/>
        </p:nvSpPr>
        <p:spPr>
          <a:xfrm>
            <a:off x="5580000" y="3294000"/>
            <a:ext cx="3168000" cy="792000"/>
          </a:xfrm>
          <a:prstGeom prst="rect">
            <a:avLst/>
          </a:prstGeom>
          <a:noFill/>
        </p:spPr>
        <p:txBody>
          <a:bodyPr wrap="square">
            <a:spAutoFit/>
          </a:bodyPr>
          <a:lstStyle/>
          <a:p>
            <a:pPr algn="l"/>
            <a:r>
              <a:rPr sz="800" b="0" i="0">
                <a:solidFill>
                  <a:srgbClr val="555555"/>
                </a:solidFill>
                <a:latin typeface="Calibri"/>
              </a:rPr>
              <a:t>Analyse indicative uniquement. Le LBO assume un rachat 100% equity par un fonds PE. La dette est remboursée par le FCF de la cible. L'IRR ne tient pas compte des frais de transaction ni de la structure fiscale optimisée. Un IRR ≥ 20% est le seuil standard d'un fonds PE tier-1.</a:t>
            </a:r>
          </a:p>
        </p:txBody>
      </p:sp>
      <p:sp>
        <p:nvSpPr>
          <p:cNvPr id="26" name="TextBox 25"/>
          <p:cNvSpPr txBox="1"/>
          <p:nvPr/>
        </p:nvSpPr>
        <p:spPr>
          <a:xfrm>
            <a:off x="367200" y="3780000"/>
            <a:ext cx="8413200" cy="576000"/>
          </a:xfrm>
          <a:prstGeom prst="rect">
            <a:avLst/>
          </a:prstGeom>
          <a:noFill/>
        </p:spPr>
        <p:txBody>
          <a:bodyPr wrap="square">
            <a:spAutoFit/>
          </a:bodyPr>
          <a:lstStyle/>
          <a:p>
            <a:pPr algn="l"/>
            <a:r>
              <a:rPr sz="850" b="0" i="0">
                <a:solidFill>
                  <a:srgbClr val="555555"/>
                </a:solidFill>
                <a:latin typeface="Calibri"/>
              </a:rPr>
              <a:t>A 10x EBITDA d'entrée / 10x de sortie, le LBO génère un IRR de 24.6% (MOIC 3.0x en 5 ans) — attractivité PE jugée attractive. Un fonds tier-1 ciblant 20%+ d'IRR doit entrer en dessous de 8x EBITDA. La génération de FCF (71,4 Mds$) est le principal levier de remboursement de la dette.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04</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Risques &amp; Stratégie</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Avocat du diable &amp; conditions d'invalidation</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1B3A6B"/>
                </a:solidFill>
                <a:latin typeface="Calibri"/>
              </a:rPr>
              <a:t>4</a:t>
            </a:r>
          </a:p>
        </p:txBody>
      </p:sp>
      <p:sp>
        <p:nvSpPr>
          <p:cNvPr id="13" name="Rectangle 12"/>
          <p:cNvSpPr/>
          <p:nvPr/>
        </p:nvSpPr>
        <p:spPr>
          <a:xfrm>
            <a:off x="70416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FFFFFF"/>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Risques &amp; Conditions d'Invalidation</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des risques structurels  ·  Thèse contraire</a:t>
            </a:r>
          </a:p>
        </p:txBody>
      </p:sp>
      <p:sp>
        <p:nvSpPr>
          <p:cNvPr id="17" name="Rectangle 16"/>
          <p:cNvSpPr/>
          <p:nvPr/>
        </p:nvSpPr>
        <p:spPr>
          <a:xfrm>
            <a:off x="367200" y="961200"/>
            <a:ext cx="2743200" cy="1918800"/>
          </a:xfrm>
          <a:prstGeom prst="rect">
            <a:avLst/>
          </a:prstGeom>
          <a:solidFill>
            <a:srgbClr val="FAF0E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2743200" cy="54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75200" y="1069200"/>
            <a:ext cx="2527200" cy="396000"/>
          </a:xfrm>
          <a:prstGeom prst="rect">
            <a:avLst/>
          </a:prstGeom>
          <a:noFill/>
        </p:spPr>
        <p:txBody>
          <a:bodyPr wrap="square">
            <a:spAutoFit/>
          </a:bodyPr>
          <a:lstStyle/>
          <a:p>
            <a:pPr algn="l"/>
            <a:r>
              <a:rPr sz="900" b="1" i="0">
                <a:solidFill>
                  <a:srgbClr val="A82020"/>
                </a:solidFill>
                <a:latin typeface="Calibri"/>
              </a:rPr>
              <a:t>Risque 1</a:t>
            </a:r>
          </a:p>
        </p:txBody>
      </p:sp>
      <p:sp>
        <p:nvSpPr>
          <p:cNvPr id="20" name="TextBox 19"/>
          <p:cNvSpPr txBox="1"/>
          <p:nvPr/>
        </p:nvSpPr>
        <p:spPr>
          <a:xfrm>
            <a:off x="475200" y="1537199"/>
            <a:ext cx="2527200" cy="1260000"/>
          </a:xfrm>
          <a:prstGeom prst="rect">
            <a:avLst/>
          </a:prstGeom>
          <a:noFill/>
        </p:spPr>
        <p:txBody>
          <a:bodyPr wrap="square">
            <a:spAutoFit/>
          </a:bodyPr>
          <a:lstStyle/>
          <a:p>
            <a:pPr algn="l"/>
            <a:r>
              <a:rPr sz="800" b="0" i="0">
                <a:solidFill>
                  <a:srgbClr val="555555"/>
                </a:solidFill>
                <a:latin typeface="Calibri"/>
              </a:rPr>
              <a:t>Risque macro-économique : remontée des taux ou ralentissement de la demande mondiale.</a:t>
            </a:r>
          </a:p>
        </p:txBody>
      </p:sp>
      <p:sp>
        <p:nvSpPr>
          <p:cNvPr id="21" name="Rectangle 20"/>
          <p:cNvSpPr/>
          <p:nvPr/>
        </p:nvSpPr>
        <p:spPr>
          <a:xfrm>
            <a:off x="3229200" y="961200"/>
            <a:ext cx="2743200" cy="191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29200" y="961200"/>
            <a:ext cx="2743200" cy="540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337200" y="1069200"/>
            <a:ext cx="2527200" cy="396000"/>
          </a:xfrm>
          <a:prstGeom prst="rect">
            <a:avLst/>
          </a:prstGeom>
          <a:noFill/>
        </p:spPr>
        <p:txBody>
          <a:bodyPr wrap="square">
            <a:spAutoFit/>
          </a:bodyPr>
          <a:lstStyle/>
          <a:p>
            <a:pPr algn="l"/>
            <a:r>
              <a:rPr sz="900" b="1" i="0">
                <a:solidFill>
                  <a:srgbClr val="2E5FA3"/>
                </a:solidFill>
                <a:latin typeface="Calibri"/>
              </a:rPr>
              <a:t>Risque 2</a:t>
            </a:r>
          </a:p>
        </p:txBody>
      </p:sp>
      <p:sp>
        <p:nvSpPr>
          <p:cNvPr id="24" name="TextBox 23"/>
          <p:cNvSpPr txBox="1"/>
          <p:nvPr/>
        </p:nvSpPr>
        <p:spPr>
          <a:xfrm>
            <a:off x="3337200" y="1537199"/>
            <a:ext cx="2527200" cy="1260000"/>
          </a:xfrm>
          <a:prstGeom prst="rect">
            <a:avLst/>
          </a:prstGeom>
          <a:noFill/>
        </p:spPr>
        <p:txBody>
          <a:bodyPr wrap="square">
            <a:spAutoFit/>
          </a:bodyPr>
          <a:lstStyle/>
          <a:p>
            <a:pPr algn="l"/>
            <a:r>
              <a:rPr sz="800" b="0" i="0">
                <a:solidFill>
                  <a:srgbClr val="555555"/>
                </a:solidFill>
                <a:latin typeface="Calibri"/>
              </a:rPr>
              <a:t>Risque sectoriel : intensification de la concurrence ou disruption technologique.</a:t>
            </a:r>
          </a:p>
        </p:txBody>
      </p:sp>
      <p:sp>
        <p:nvSpPr>
          <p:cNvPr id="25" name="Rectangle 24"/>
          <p:cNvSpPr/>
          <p:nvPr/>
        </p:nvSpPr>
        <p:spPr>
          <a:xfrm>
            <a:off x="6091200" y="961200"/>
            <a:ext cx="2743200" cy="1918800"/>
          </a:xfrm>
          <a:prstGeom prst="rect">
            <a:avLst/>
          </a:prstGeom>
          <a:solidFill>
            <a:srgbClr val="FDF6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6091200" y="961200"/>
            <a:ext cx="2743200" cy="54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199200" y="1069200"/>
            <a:ext cx="2527200" cy="396000"/>
          </a:xfrm>
          <a:prstGeom prst="rect">
            <a:avLst/>
          </a:prstGeom>
          <a:noFill/>
        </p:spPr>
        <p:txBody>
          <a:bodyPr wrap="square">
            <a:spAutoFit/>
          </a:bodyPr>
          <a:lstStyle/>
          <a:p>
            <a:pPr algn="l"/>
            <a:r>
              <a:rPr sz="900" b="1" i="0">
                <a:solidFill>
                  <a:srgbClr val="B06000"/>
                </a:solidFill>
                <a:latin typeface="Calibri"/>
              </a:rPr>
              <a:t>Risque 3</a:t>
            </a:r>
          </a:p>
        </p:txBody>
      </p:sp>
      <p:sp>
        <p:nvSpPr>
          <p:cNvPr id="28" name="TextBox 27"/>
          <p:cNvSpPr txBox="1"/>
          <p:nvPr/>
        </p:nvSpPr>
        <p:spPr>
          <a:xfrm>
            <a:off x="6199200" y="1537199"/>
            <a:ext cx="2527200" cy="1260000"/>
          </a:xfrm>
          <a:prstGeom prst="rect">
            <a:avLst/>
          </a:prstGeom>
          <a:noFill/>
        </p:spPr>
        <p:txBody>
          <a:bodyPr wrap="square">
            <a:spAutoFit/>
          </a:bodyPr>
          <a:lstStyle/>
          <a:p>
            <a:pPr algn="l"/>
            <a:r>
              <a:rPr sz="800" b="0" i="0">
                <a:solidFill>
                  <a:srgbClr val="555555"/>
                </a:solidFill>
                <a:latin typeface="Calibri"/>
              </a:rPr>
              <a:t>Risque spécifique : détérioration des marges ou exécution stratégique.</a:t>
            </a:r>
          </a:p>
        </p:txBody>
      </p:sp>
      <p:sp>
        <p:nvSpPr>
          <p:cNvPr id="29" name="Rectangle 28"/>
          <p:cNvSpPr/>
          <p:nvPr/>
        </p:nvSpPr>
        <p:spPr>
          <a:xfrm>
            <a:off x="367200" y="2998800"/>
            <a:ext cx="8413200" cy="10800"/>
          </a:xfrm>
          <a:prstGeom prst="rect">
            <a:avLst/>
          </a:prstGeom>
          <a:solidFill>
            <a:srgbClr val="AAAAA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67200" y="3070800"/>
            <a:ext cx="8413200" cy="165600"/>
          </a:xfrm>
          <a:prstGeom prst="rect">
            <a:avLst/>
          </a:prstGeom>
          <a:noFill/>
        </p:spPr>
        <p:txBody>
          <a:bodyPr wrap="square">
            <a:spAutoFit/>
          </a:bodyPr>
          <a:lstStyle/>
          <a:p>
            <a:pPr algn="l"/>
            <a:r>
              <a:rPr sz="900" b="1" i="0">
                <a:solidFill>
                  <a:srgbClr val="1B3A6B"/>
                </a:solidFill>
                <a:latin typeface="Calibri"/>
              </a:rPr>
              <a:t>Conditions d'invalidation de la thèse</a:t>
            </a:r>
          </a:p>
        </p:txBody>
      </p:sp>
      <p:graphicFrame>
        <p:nvGraphicFramePr>
          <p:cNvPr id="31" name="Table 30"/>
          <p:cNvGraphicFramePr>
            <a:graphicFrameLocks noGrp="1"/>
          </p:cNvGraphicFramePr>
          <p:nvPr/>
        </p:nvGraphicFramePr>
        <p:xfrm>
          <a:off x="367200" y="3308400"/>
          <a:ext cx="8413200" cy="1098000"/>
        </p:xfrm>
        <a:graphic>
          <a:graphicData uri="http://schemas.openxmlformats.org/drawingml/2006/table">
            <a:tbl>
              <a:tblPr firstRow="1" bandRow="1">
                <a:tableStyleId>{5C22544A-7EE6-4342-B048-85BDC9FD1C3A}</a:tableStyleId>
              </a:tblPr>
              <a:tblGrid>
                <a:gridCol w="1261980"/>
                <a:gridCol w="5468580"/>
                <a:gridCol w="1682640"/>
              </a:tblGrid>
              <a:tr h="274500">
                <a:tc>
                  <a:txBody>
                    <a:bodyPr/>
                    <a:lstStyle/>
                    <a:p>
                      <a:pPr algn="l"/>
                      <a:r>
                        <a:rPr sz="800" b="1" i="0">
                          <a:solidFill>
                            <a:srgbClr val="FFFFFF"/>
                          </a:solidFill>
                          <a:latin typeface="Calibri"/>
                        </a:rPr>
                        <a:t>Axe</a:t>
                      </a:r>
                    </a:p>
                  </a:txBody>
                  <a:tcPr>
                    <a:solidFill>
                      <a:srgbClr val="1B3A6B"/>
                    </a:solidFill>
                  </a:tcPr>
                </a:tc>
                <a:tc>
                  <a:txBody>
                    <a:bodyPr/>
                    <a:lstStyle/>
                    <a:p>
                      <a:pPr algn="ctr"/>
                      <a:r>
                        <a:rPr sz="800" b="1" i="0">
                          <a:solidFill>
                            <a:srgbClr val="FFFFFF"/>
                          </a:solidFill>
                          <a:latin typeface="Calibri"/>
                        </a:rPr>
                        <a:t>Condition d'invalidation</a:t>
                      </a:r>
                    </a:p>
                  </a:txBody>
                  <a:tcPr>
                    <a:solidFill>
                      <a:srgbClr val="1B3A6B"/>
                    </a:solidFill>
                  </a:tcPr>
                </a:tc>
                <a:tc>
                  <a:txBody>
                    <a:bodyPr/>
                    <a:lstStyle/>
                    <a:p>
                      <a:pPr algn="ctr"/>
                      <a:r>
                        <a:rPr sz="800" b="1" i="0">
                          <a:solidFill>
                            <a:srgbClr val="FFFFFF"/>
                          </a:solidFill>
                          <a:latin typeface="Calibri"/>
                        </a:rPr>
                        <a:t>Horizon</a:t>
                      </a:r>
                    </a:p>
                  </a:txBody>
                  <a:tcPr>
                    <a:solidFill>
                      <a:srgbClr val="1B3A6B"/>
                    </a:solidFill>
                  </a:tcPr>
                </a:tc>
              </a:tr>
              <a:tr h="274500">
                <a:tc>
                  <a:txBody>
                    <a:bodyPr/>
                    <a:lstStyle/>
                    <a:p>
                      <a:pPr algn="l"/>
                      <a:r>
                        <a:rPr sz="800" b="1" i="0">
                          <a:solidFill>
                            <a:srgbClr val="1B3A6B"/>
                          </a:solidFill>
                          <a:latin typeface="Calibri"/>
                        </a:rPr>
                        <a:t>Macro</a:t>
                      </a:r>
                    </a:p>
                  </a:txBody>
                  <a:tcPr>
                    <a:solidFill>
                      <a:srgbClr val="FFFFFF"/>
                    </a:solidFill>
                  </a:tcPr>
                </a:tc>
                <a:tc>
                  <a:txBody>
                    <a:bodyPr/>
                    <a:lstStyle/>
                    <a:p>
                      <a:pPr algn="ctr"/>
                      <a:r>
                        <a:rPr sz="800" b="0" i="0">
                          <a:solidFill>
                            <a:srgbClr val="0D0D0D"/>
                          </a:solidFill>
                          <a:latin typeface="Calibri"/>
                        </a:rPr>
                        <a:t>Remontée des taux directeurs &gt; 200bps</a:t>
                      </a:r>
                    </a:p>
                  </a:txBody>
                  <a:tcPr>
                    <a:solidFill>
                      <a:srgbClr val="FFFFFF"/>
                    </a:solidFill>
                  </a:tcPr>
                </a:tc>
                <a:tc>
                  <a:txBody>
                    <a:bodyPr/>
                    <a:lstStyle/>
                    <a:p>
                      <a:pPr algn="ctr"/>
                      <a:r>
                        <a:rPr sz="800" b="0" i="0">
                          <a:solidFill>
                            <a:srgbClr val="0D0D0D"/>
                          </a:solidFill>
                          <a:latin typeface="Calibri"/>
                        </a:rPr>
                        <a:t>6-12 mois</a:t>
                      </a:r>
                    </a:p>
                  </a:txBody>
                  <a:tcPr>
                    <a:solidFill>
                      <a:srgbClr val="FFFFFF"/>
                    </a:solidFill>
                  </a:tcPr>
                </a:tc>
              </a:tr>
              <a:tr h="274500">
                <a:tc>
                  <a:txBody>
                    <a:bodyPr/>
                    <a:lstStyle/>
                    <a:p>
                      <a:pPr algn="l"/>
                      <a:r>
                        <a:rPr sz="800" b="1" i="0">
                          <a:solidFill>
                            <a:srgbClr val="1B3A6B"/>
                          </a:solidFill>
                          <a:latin typeface="Calibri"/>
                        </a:rPr>
                        <a:t>Sectoriel</a:t>
                      </a:r>
                    </a:p>
                  </a:txBody>
                  <a:tcPr>
                    <a:solidFill>
                      <a:srgbClr val="F7F8FA"/>
                    </a:solidFill>
                  </a:tcPr>
                </a:tc>
                <a:tc>
                  <a:txBody>
                    <a:bodyPr/>
                    <a:lstStyle/>
                    <a:p>
                      <a:pPr algn="ctr"/>
                      <a:r>
                        <a:rPr sz="800" b="0" i="0">
                          <a:solidFill>
                            <a:srgbClr val="0D0D0D"/>
                          </a:solidFill>
                          <a:latin typeface="Calibri"/>
                        </a:rPr>
                        <a:t>Rupture technologique remettant en cause le modèle</a:t>
                      </a:r>
                    </a:p>
                  </a:txBody>
                  <a:tcPr>
                    <a:solidFill>
                      <a:srgbClr val="F7F8FA"/>
                    </a:solidFill>
                  </a:tcPr>
                </a:tc>
                <a:tc>
                  <a:txBody>
                    <a:bodyPr/>
                    <a:lstStyle/>
                    <a:p>
                      <a:pPr algn="ctr"/>
                      <a:r>
                        <a:rPr sz="800" b="0" i="0">
                          <a:solidFill>
                            <a:srgbClr val="0D0D0D"/>
                          </a:solidFill>
                          <a:latin typeface="Calibri"/>
                        </a:rPr>
                        <a:t>12-18 mois</a:t>
                      </a:r>
                    </a:p>
                  </a:txBody>
                  <a:tcPr>
                    <a:solidFill>
                      <a:srgbClr val="F7F8FA"/>
                    </a:solidFill>
                  </a:tcPr>
                </a:tc>
              </a:tr>
              <a:tr h="274500">
                <a:tc>
                  <a:txBody>
                    <a:bodyPr/>
                    <a:lstStyle/>
                    <a:p>
                      <a:pPr algn="l"/>
                      <a:r>
                        <a:rPr sz="800" b="1" i="0">
                          <a:solidFill>
                            <a:srgbClr val="1B3A6B"/>
                          </a:solidFill>
                          <a:latin typeface="Calibri"/>
                        </a:rPr>
                        <a:t>Société</a:t>
                      </a:r>
                    </a:p>
                  </a:txBody>
                  <a:tcPr>
                    <a:solidFill>
                      <a:srgbClr val="FFFFFF"/>
                    </a:solidFill>
                  </a:tcPr>
                </a:tc>
                <a:tc>
                  <a:txBody>
                    <a:bodyPr/>
                    <a:lstStyle/>
                    <a:p>
                      <a:pPr algn="ctr"/>
                      <a:r>
                        <a:rPr sz="800" b="0" i="0">
                          <a:solidFill>
                            <a:srgbClr val="0D0D0D"/>
                          </a:solidFill>
                          <a:latin typeface="Calibri"/>
                        </a:rPr>
                        <a:t>Détérioration matérielle des marges opérationnelles</a:t>
                      </a:r>
                    </a:p>
                  </a:txBody>
                  <a:tcPr>
                    <a:solidFill>
                      <a:srgbClr val="FFFFFF"/>
                    </a:solidFill>
                  </a:tcPr>
                </a:tc>
                <a:tc>
                  <a:txBody>
                    <a:bodyPr/>
                    <a:lstStyle/>
                    <a:p>
                      <a:pPr algn="ctr"/>
                      <a:r>
                        <a:rPr sz="800" b="0" i="0">
                          <a:solidFill>
                            <a:srgbClr val="0D0D0D"/>
                          </a:solidFill>
                          <a:latin typeface="Calibri"/>
                        </a:rPr>
                        <a:t>2-3 trim.</a:t>
                      </a:r>
                    </a:p>
                  </a:txBody>
                  <a:tcPr>
                    <a:solidFill>
                      <a:srgbClr val="FFFFFF"/>
                    </a:solidFill>
                  </a:tcPr>
                </a:tc>
              </a:tr>
            </a:tbl>
          </a:graphicData>
        </a:graphic>
      </p:graphicFrame>
      <p:sp>
        <p:nvSpPr>
          <p:cNvPr id="32" name="Rectangle 31"/>
          <p:cNvSpPr/>
          <p:nvPr/>
        </p:nvSpPr>
        <p:spPr>
          <a:xfrm>
            <a:off x="3672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367200" y="44280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6400" y="4438800"/>
            <a:ext cx="2696400" cy="158400"/>
          </a:xfrm>
          <a:prstGeom prst="rect">
            <a:avLst/>
          </a:prstGeom>
          <a:noFill/>
        </p:spPr>
        <p:txBody>
          <a:bodyPr wrap="square">
            <a:spAutoFit/>
          </a:bodyPr>
          <a:lstStyle/>
          <a:p>
            <a:pPr algn="l"/>
            <a:r>
              <a:rPr sz="700" b="0" i="0">
                <a:solidFill>
                  <a:srgbClr val="1B3A6B"/>
                </a:solidFill>
                <a:latin typeface="Calibri"/>
              </a:rPr>
              <a:t>Détresse : 0/100  Sain</a:t>
            </a:r>
          </a:p>
        </p:txBody>
      </p:sp>
      <p:sp>
        <p:nvSpPr>
          <p:cNvPr id="35" name="Rectangle 34"/>
          <p:cNvSpPr/>
          <p:nvPr/>
        </p:nvSpPr>
        <p:spPr>
          <a:xfrm>
            <a:off x="324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3243600" y="4428000"/>
            <a:ext cx="43200" cy="180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322800" y="4438800"/>
            <a:ext cx="2696400" cy="158400"/>
          </a:xfrm>
          <a:prstGeom prst="rect">
            <a:avLst/>
          </a:prstGeom>
          <a:noFill/>
        </p:spPr>
        <p:txBody>
          <a:bodyPr wrap="square">
            <a:spAutoFit/>
          </a:bodyPr>
          <a:lstStyle/>
          <a:p>
            <a:pPr algn="l"/>
            <a:r>
              <a:rPr sz="700" b="0" i="0">
                <a:solidFill>
                  <a:srgbClr val="1B3A6B"/>
                </a:solidFill>
                <a:latin typeface="Calibri"/>
              </a:rPr>
              <a:t>M&amp;A : 53/100  Moderate</a:t>
            </a:r>
          </a:p>
        </p:txBody>
      </p:sp>
      <p:sp>
        <p:nvSpPr>
          <p:cNvPr id="38" name="Rectangle 37"/>
          <p:cNvSpPr/>
          <p:nvPr/>
        </p:nvSpPr>
        <p:spPr>
          <a:xfrm>
            <a:off x="6123600" y="4428000"/>
            <a:ext cx="2804400" cy="180000"/>
          </a:xfrm>
          <a:prstGeom prst="rect">
            <a:avLst/>
          </a:prstGeom>
          <a:solidFill>
            <a:srgbClr val="F0F4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ectangle 38"/>
          <p:cNvSpPr/>
          <p:nvPr/>
        </p:nvSpPr>
        <p:spPr>
          <a:xfrm>
            <a:off x="6123600" y="4428000"/>
            <a:ext cx="432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202800" y="4438800"/>
            <a:ext cx="2696400" cy="158400"/>
          </a:xfrm>
          <a:prstGeom prst="rect">
            <a:avLst/>
          </a:prstGeom>
          <a:noFill/>
        </p:spPr>
        <p:txBody>
          <a:bodyPr wrap="square">
            <a:spAutoFit/>
          </a:bodyPr>
          <a:lstStyle/>
          <a:p>
            <a:pPr algn="l"/>
            <a:r>
              <a:rPr sz="700" b="0" i="0">
                <a:solidFill>
                  <a:srgbClr val="1B3A6B"/>
                </a:solidFill>
                <a:latin typeface="Calibri"/>
              </a:rPr>
              <a:t>Régime : Bear  Rec.6M:34%</a:t>
            </a:r>
          </a:p>
        </p:txBody>
      </p:sp>
      <p:sp>
        <p:nvSpPr>
          <p:cNvPr id="41" name="Rectangle 40"/>
          <p:cNvSpPr/>
          <p:nvPr/>
        </p:nvSpPr>
        <p:spPr>
          <a:xfrm>
            <a:off x="3672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ectangle 41"/>
          <p:cNvSpPr/>
          <p:nvPr/>
        </p:nvSpPr>
        <p:spPr>
          <a:xfrm>
            <a:off x="367200" y="4618800"/>
            <a:ext cx="43200" cy="180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446400" y="4629600"/>
            <a:ext cx="2696400" cy="158400"/>
          </a:xfrm>
          <a:prstGeom prst="rect">
            <a:avLst/>
          </a:prstGeom>
          <a:noFill/>
        </p:spPr>
        <p:txBody>
          <a:bodyPr wrap="square">
            <a:spAutoFit/>
          </a:bodyPr>
          <a:lstStyle/>
          <a:p>
            <a:pPr algn="l"/>
            <a:r>
              <a:rPr sz="700" b="0" i="0">
                <a:solidFill>
                  <a:srgbClr val="1B3A6B"/>
                </a:solidFill>
                <a:latin typeface="Calibri"/>
              </a:rPr>
              <a:t>Earnings Qualité : Correcte (0.70x)</a:t>
            </a:r>
          </a:p>
        </p:txBody>
      </p:sp>
      <p:sp>
        <p:nvSpPr>
          <p:cNvPr id="44" name="Rectangle 43"/>
          <p:cNvSpPr/>
          <p:nvPr/>
        </p:nvSpPr>
        <p:spPr>
          <a:xfrm>
            <a:off x="324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324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3322800" y="4629600"/>
            <a:ext cx="2696400" cy="158400"/>
          </a:xfrm>
          <a:prstGeom prst="rect">
            <a:avLst/>
          </a:prstGeom>
          <a:noFill/>
        </p:spPr>
        <p:txBody>
          <a:bodyPr wrap="square">
            <a:spAutoFit/>
          </a:bodyPr>
          <a:lstStyle/>
          <a:p>
            <a:pPr algn="l"/>
            <a:r>
              <a:rPr sz="700" b="0" i="0">
                <a:solidFill>
                  <a:srgbClr val="1B3A6B"/>
                </a:solidFill>
                <a:latin typeface="Calibri"/>
              </a:rPr>
              <a:t>Struct. Capital : Saine (7% CT)</a:t>
            </a:r>
          </a:p>
        </p:txBody>
      </p:sp>
      <p:sp>
        <p:nvSpPr>
          <p:cNvPr id="47" name="Rectangle 46"/>
          <p:cNvSpPr/>
          <p:nvPr/>
        </p:nvSpPr>
        <p:spPr>
          <a:xfrm>
            <a:off x="6123600" y="4618800"/>
            <a:ext cx="2804400" cy="180000"/>
          </a:xfrm>
          <a:prstGeom prst="rect">
            <a:avLst/>
          </a:prstGeom>
          <a:solidFill>
            <a:srgbClr val="EBF0F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ectangle 47"/>
          <p:cNvSpPr/>
          <p:nvPr/>
        </p:nvSpPr>
        <p:spPr>
          <a:xfrm>
            <a:off x="6123600" y="4618800"/>
            <a:ext cx="432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6202800" y="4629600"/>
            <a:ext cx="2696400" cy="158400"/>
          </a:xfrm>
          <a:prstGeom prst="rect">
            <a:avLst/>
          </a:prstGeom>
          <a:noFill/>
        </p:spPr>
        <p:txBody>
          <a:bodyPr wrap="square">
            <a:spAutoFit/>
          </a:bodyPr>
          <a:lstStyle/>
          <a:p>
            <a:pPr algn="l"/>
            <a:r>
              <a:rPr sz="700" b="0" i="0">
                <a:solidFill>
                  <a:srgbClr val="1B3A6B"/>
                </a:solidFill>
                <a:latin typeface="Calibri"/>
              </a:rPr>
              <a:t>Dividende : Tres soutenable (3.9x)</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Rectangle 1"/>
          <p:cNvSpPr/>
          <p:nvPr/>
        </p:nvSpPr>
        <p:spPr>
          <a:xfrm>
            <a:off x="0" y="0"/>
            <a:ext cx="108000" cy="514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57200" y="1461599"/>
            <a:ext cx="8229600" cy="1645200"/>
          </a:xfrm>
          <a:prstGeom prst="rect">
            <a:avLst/>
          </a:prstGeom>
          <a:noFill/>
        </p:spPr>
        <p:txBody>
          <a:bodyPr wrap="none">
            <a:spAutoFit/>
          </a:bodyPr>
          <a:lstStyle/>
          <a:p>
            <a:r>
              <a:rPr sz="8000" b="1">
                <a:solidFill>
                  <a:srgbClr val="FFFFFF">
                    <a:alpha val="15000"/>
                  </a:srgbClr>
                </a:solidFill>
                <a:latin typeface="Calibri"/>
              </a:rPr>
              <a:t>05</a:t>
            </a:r>
          </a:p>
        </p:txBody>
      </p:sp>
      <p:sp>
        <p:nvSpPr>
          <p:cNvPr id="4" name="TextBox 3"/>
          <p:cNvSpPr txBox="1"/>
          <p:nvPr/>
        </p:nvSpPr>
        <p:spPr>
          <a:xfrm>
            <a:off x="457200" y="1875600"/>
            <a:ext cx="7772400" cy="824400"/>
          </a:xfrm>
          <a:prstGeom prst="rect">
            <a:avLst/>
          </a:prstGeom>
          <a:noFill/>
        </p:spPr>
        <p:txBody>
          <a:bodyPr wrap="square">
            <a:spAutoFit/>
          </a:bodyPr>
          <a:lstStyle/>
          <a:p>
            <a:pPr algn="l"/>
            <a:r>
              <a:rPr sz="2800" b="1" i="0">
                <a:solidFill>
                  <a:srgbClr val="FFFFFF"/>
                </a:solidFill>
                <a:latin typeface="Calibri"/>
              </a:rPr>
              <a:t>Sentiment &amp; Annexes</a:t>
            </a:r>
          </a:p>
        </p:txBody>
      </p:sp>
      <p:sp>
        <p:nvSpPr>
          <p:cNvPr id="5" name="Rectangle 4"/>
          <p:cNvSpPr/>
          <p:nvPr/>
        </p:nvSpPr>
        <p:spPr>
          <a:xfrm>
            <a:off x="457200" y="2790000"/>
            <a:ext cx="2743200" cy="3600"/>
          </a:xfrm>
          <a:prstGeom prst="rect">
            <a:avLst/>
          </a:prstGeom>
          <a:solidFill>
            <a:srgbClr val="88888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2908800"/>
            <a:ext cx="6400800" cy="320400"/>
          </a:xfrm>
          <a:prstGeom prst="rect">
            <a:avLst/>
          </a:prstGeom>
          <a:noFill/>
        </p:spPr>
        <p:txBody>
          <a:bodyPr wrap="square">
            <a:spAutoFit/>
          </a:bodyPr>
          <a:lstStyle/>
          <a:p>
            <a:pPr algn="l"/>
            <a:r>
              <a:rPr sz="1000" b="0" i="0">
                <a:solidFill>
                  <a:srgbClr val="AABBDD"/>
                </a:solidFill>
                <a:latin typeface="Calibri"/>
              </a:rPr>
              <a:t>FinBERT, actionnariat &amp; historique de cours</a:t>
            </a:r>
          </a:p>
        </p:txBody>
      </p:sp>
      <p:sp>
        <p:nvSpPr>
          <p:cNvPr id="7" name="TextBox 6"/>
          <p:cNvSpPr txBox="1"/>
          <p:nvPr/>
        </p:nvSpPr>
        <p:spPr>
          <a:xfrm>
            <a:off x="367200" y="4802400"/>
            <a:ext cx="8413200" cy="201600"/>
          </a:xfrm>
          <a:prstGeom prst="rect">
            <a:avLst/>
          </a:prstGeom>
          <a:noFill/>
        </p:spPr>
        <p:txBody>
          <a:bodyPr wrap="square">
            <a:spAutoFit/>
          </a:bodyPr>
          <a:lstStyle/>
          <a:p>
            <a:pPr algn="l"/>
            <a:r>
              <a:rPr sz="700" b="0" i="0">
                <a:solidFill>
                  <a:srgbClr val="6677AA"/>
                </a:solidFill>
                <a:latin typeface="Calibri"/>
              </a:rPr>
              <a:t>FinSight IA  ·  Usage confidentiel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Sentiment de Marché — LLM Groq</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Analyse sémantique  ·  30 articles  ·  7 derniers jours  ·  Classification LLM</a:t>
            </a:r>
          </a:p>
        </p:txBody>
      </p:sp>
      <p:sp>
        <p:nvSpPr>
          <p:cNvPr id="17" name="Rectangle 16"/>
          <p:cNvSpPr/>
          <p:nvPr/>
        </p:nvSpPr>
        <p:spPr>
          <a:xfrm>
            <a:off x="367200" y="961200"/>
            <a:ext cx="25596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2422800" cy="396000"/>
          </a:xfrm>
          <a:prstGeom prst="rect">
            <a:avLst/>
          </a:prstGeom>
          <a:noFill/>
        </p:spPr>
        <p:txBody>
          <a:bodyPr wrap="square">
            <a:spAutoFit/>
          </a:bodyPr>
          <a:lstStyle/>
          <a:p>
            <a:pPr algn="l"/>
            <a:r>
              <a:rPr sz="1900" b="1" i="0">
                <a:solidFill>
                  <a:srgbClr val="1B3A6B"/>
                </a:solidFill>
                <a:latin typeface="Calibri"/>
              </a:rPr>
              <a:t>Positif</a:t>
            </a:r>
          </a:p>
        </p:txBody>
      </p:sp>
      <p:sp>
        <p:nvSpPr>
          <p:cNvPr id="20" name="TextBox 19"/>
          <p:cNvSpPr txBox="1"/>
          <p:nvPr/>
        </p:nvSpPr>
        <p:spPr>
          <a:xfrm>
            <a:off x="457200" y="1411200"/>
            <a:ext cx="2422800" cy="205199"/>
          </a:xfrm>
          <a:prstGeom prst="rect">
            <a:avLst/>
          </a:prstGeom>
          <a:noFill/>
        </p:spPr>
        <p:txBody>
          <a:bodyPr wrap="square">
            <a:spAutoFit/>
          </a:bodyPr>
          <a:lstStyle/>
          <a:p>
            <a:pPr algn="l"/>
            <a:r>
              <a:rPr sz="800" b="0" i="0">
                <a:solidFill>
                  <a:srgbClr val="555555"/>
                </a:solidFill>
                <a:latin typeface="Calibri"/>
              </a:rPr>
              <a:t>Orientation globale</a:t>
            </a:r>
          </a:p>
        </p:txBody>
      </p:sp>
      <p:sp>
        <p:nvSpPr>
          <p:cNvPr id="21" name="TextBox 20"/>
          <p:cNvSpPr txBox="1"/>
          <p:nvPr/>
        </p:nvSpPr>
        <p:spPr>
          <a:xfrm>
            <a:off x="457200" y="1609200"/>
            <a:ext cx="2422800" cy="165600"/>
          </a:xfrm>
          <a:prstGeom prst="rect">
            <a:avLst/>
          </a:prstGeom>
          <a:noFill/>
        </p:spPr>
        <p:txBody>
          <a:bodyPr wrap="square">
            <a:spAutoFit/>
          </a:bodyPr>
          <a:lstStyle/>
          <a:p>
            <a:pPr algn="l"/>
            <a:r>
              <a:rPr sz="700" b="0" i="0">
                <a:solidFill>
                  <a:srgbClr val="888888"/>
                </a:solidFill>
                <a:latin typeface="Calibri"/>
              </a:rPr>
              <a:t>Score agrégé : +0,491</a:t>
            </a:r>
          </a:p>
        </p:txBody>
      </p:sp>
      <p:sp>
        <p:nvSpPr>
          <p:cNvPr id="22" name="Rectangle 21"/>
          <p:cNvSpPr/>
          <p:nvPr/>
        </p:nvSpPr>
        <p:spPr>
          <a:xfrm>
            <a:off x="3110400" y="961200"/>
            <a:ext cx="182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31104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0" y="1015200"/>
            <a:ext cx="1692000" cy="396000"/>
          </a:xfrm>
          <a:prstGeom prst="rect">
            <a:avLst/>
          </a:prstGeom>
          <a:noFill/>
        </p:spPr>
        <p:txBody>
          <a:bodyPr wrap="square">
            <a:spAutoFit/>
          </a:bodyPr>
          <a:lstStyle/>
          <a:p>
            <a:pPr algn="l"/>
            <a:r>
              <a:rPr sz="1900" b="1" i="0">
                <a:solidFill>
                  <a:srgbClr val="1B3A6B"/>
                </a:solidFill>
                <a:latin typeface="Calibri"/>
              </a:rPr>
              <a:t>30</a:t>
            </a:r>
          </a:p>
        </p:txBody>
      </p:sp>
      <p:sp>
        <p:nvSpPr>
          <p:cNvPr id="25" name="TextBox 24"/>
          <p:cNvSpPr txBox="1"/>
          <p:nvPr/>
        </p:nvSpPr>
        <p:spPr>
          <a:xfrm>
            <a:off x="3200400" y="1411200"/>
            <a:ext cx="1692000" cy="205199"/>
          </a:xfrm>
          <a:prstGeom prst="rect">
            <a:avLst/>
          </a:prstGeom>
          <a:noFill/>
        </p:spPr>
        <p:txBody>
          <a:bodyPr wrap="square">
            <a:spAutoFit/>
          </a:bodyPr>
          <a:lstStyle/>
          <a:p>
            <a:pPr algn="l"/>
            <a:r>
              <a:rPr sz="800" b="0" i="0">
                <a:solidFill>
                  <a:srgbClr val="555555"/>
                </a:solidFill>
                <a:latin typeface="Calibri"/>
              </a:rPr>
              <a:t>Articles analysés</a:t>
            </a:r>
          </a:p>
        </p:txBody>
      </p:sp>
      <p:sp>
        <p:nvSpPr>
          <p:cNvPr id="26" name="TextBox 25"/>
          <p:cNvSpPr txBox="1"/>
          <p:nvPr/>
        </p:nvSpPr>
        <p:spPr>
          <a:xfrm>
            <a:off x="3200400" y="1609200"/>
            <a:ext cx="1692000" cy="165600"/>
          </a:xfrm>
          <a:prstGeom prst="rect">
            <a:avLst/>
          </a:prstGeom>
          <a:noFill/>
        </p:spPr>
        <p:txBody>
          <a:bodyPr wrap="square">
            <a:spAutoFit/>
          </a:bodyPr>
          <a:lstStyle/>
          <a:p>
            <a:pPr algn="l"/>
            <a:r>
              <a:rPr sz="700" b="0" i="0">
                <a:solidFill>
                  <a:srgbClr val="888888"/>
                </a:solidFill>
                <a:latin typeface="Calibri"/>
              </a:rPr>
              <a:t>Fenêtre : 7 jours</a:t>
            </a:r>
          </a:p>
        </p:txBody>
      </p:sp>
      <p:sp>
        <p:nvSpPr>
          <p:cNvPr id="27" name="Rectangle 26"/>
          <p:cNvSpPr/>
          <p:nvPr/>
        </p:nvSpPr>
        <p:spPr>
          <a:xfrm>
            <a:off x="5119200" y="961200"/>
            <a:ext cx="16452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51192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209200" y="1015200"/>
            <a:ext cx="1508400" cy="396000"/>
          </a:xfrm>
          <a:prstGeom prst="rect">
            <a:avLst/>
          </a:prstGeom>
          <a:noFill/>
        </p:spPr>
        <p:txBody>
          <a:bodyPr wrap="square">
            <a:spAutoFit/>
          </a:bodyPr>
          <a:lstStyle/>
          <a:p>
            <a:pPr algn="l"/>
            <a:r>
              <a:rPr sz="1900" b="1" i="0">
                <a:solidFill>
                  <a:srgbClr val="1B3A6B"/>
                </a:solidFill>
                <a:latin typeface="Calibri"/>
              </a:rPr>
              <a:t>59,7 %</a:t>
            </a:r>
          </a:p>
        </p:txBody>
      </p:sp>
      <p:sp>
        <p:nvSpPr>
          <p:cNvPr id="30" name="TextBox 29"/>
          <p:cNvSpPr txBox="1"/>
          <p:nvPr/>
        </p:nvSpPr>
        <p:spPr>
          <a:xfrm>
            <a:off x="5209200" y="1411200"/>
            <a:ext cx="1508400" cy="205199"/>
          </a:xfrm>
          <a:prstGeom prst="rect">
            <a:avLst/>
          </a:prstGeom>
          <a:noFill/>
        </p:spPr>
        <p:txBody>
          <a:bodyPr wrap="square">
            <a:spAutoFit/>
          </a:bodyPr>
          <a:lstStyle/>
          <a:p>
            <a:pPr algn="l"/>
            <a:r>
              <a:rPr sz="800" b="0" i="0">
                <a:solidFill>
                  <a:srgbClr val="555555"/>
                </a:solidFill>
                <a:latin typeface="Calibri"/>
              </a:rPr>
              <a:t>Confiance IA</a:t>
            </a:r>
          </a:p>
        </p:txBody>
      </p:sp>
      <p:sp>
        <p:nvSpPr>
          <p:cNvPr id="31" name="TextBox 30"/>
          <p:cNvSpPr txBox="1"/>
          <p:nvPr/>
        </p:nvSpPr>
        <p:spPr>
          <a:xfrm>
            <a:off x="5209200" y="1609200"/>
            <a:ext cx="1508400" cy="165600"/>
          </a:xfrm>
          <a:prstGeom prst="rect">
            <a:avLst/>
          </a:prstGeom>
          <a:noFill/>
        </p:spPr>
        <p:txBody>
          <a:bodyPr wrap="square">
            <a:spAutoFit/>
          </a:bodyPr>
          <a:lstStyle/>
          <a:p>
            <a:pPr algn="l"/>
            <a:r>
              <a:rPr sz="700" b="0" i="0">
                <a:solidFill>
                  <a:srgbClr val="888888"/>
                </a:solidFill>
                <a:latin typeface="Calibri"/>
              </a:rPr>
              <a:t>Modèle LLM Groq</a:t>
            </a:r>
          </a:p>
        </p:txBody>
      </p:sp>
      <p:sp>
        <p:nvSpPr>
          <p:cNvPr id="32" name="Rectangle 31"/>
          <p:cNvSpPr/>
          <p:nvPr/>
        </p:nvSpPr>
        <p:spPr>
          <a:xfrm>
            <a:off x="6948000" y="961200"/>
            <a:ext cx="1738800" cy="10044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948000" y="961200"/>
            <a:ext cx="46800" cy="10044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038000" y="1015200"/>
            <a:ext cx="1602000" cy="396000"/>
          </a:xfrm>
          <a:prstGeom prst="rect">
            <a:avLst/>
          </a:prstGeom>
          <a:noFill/>
        </p:spPr>
        <p:txBody>
          <a:bodyPr wrap="square">
            <a:spAutoFit/>
          </a:bodyPr>
          <a:lstStyle/>
          <a:p>
            <a:pPr algn="l"/>
            <a:r>
              <a:rPr sz="1900" b="1" i="0">
                <a:solidFill>
                  <a:srgbClr val="1B3A6B"/>
                </a:solidFill>
                <a:latin typeface="Calibri"/>
              </a:rPr>
              <a:t>HOLD</a:t>
            </a:r>
          </a:p>
        </p:txBody>
      </p:sp>
      <p:sp>
        <p:nvSpPr>
          <p:cNvPr id="35" name="TextBox 34"/>
          <p:cNvSpPr txBox="1"/>
          <p:nvPr/>
        </p:nvSpPr>
        <p:spPr>
          <a:xfrm>
            <a:off x="7038000" y="1411200"/>
            <a:ext cx="1602000" cy="205199"/>
          </a:xfrm>
          <a:prstGeom prst="rect">
            <a:avLst/>
          </a:prstGeom>
          <a:noFill/>
        </p:spPr>
        <p:txBody>
          <a:bodyPr wrap="square">
            <a:spAutoFit/>
          </a:bodyPr>
          <a:lstStyle/>
          <a:p>
            <a:pPr algn="l"/>
            <a:r>
              <a:rPr sz="800" b="0" i="0">
                <a:solidFill>
                  <a:srgbClr val="555555"/>
                </a:solidFill>
                <a:latin typeface="Calibri"/>
              </a:rPr>
              <a:t>Cohérence</a:t>
            </a:r>
          </a:p>
        </p:txBody>
      </p:sp>
      <p:sp>
        <p:nvSpPr>
          <p:cNvPr id="36" name="TextBox 35"/>
          <p:cNvSpPr txBox="1"/>
          <p:nvPr/>
        </p:nvSpPr>
        <p:spPr>
          <a:xfrm>
            <a:off x="7038000" y="1609200"/>
            <a:ext cx="1602000" cy="165600"/>
          </a:xfrm>
          <a:prstGeom prst="rect">
            <a:avLst/>
          </a:prstGeom>
          <a:noFill/>
        </p:spPr>
        <p:txBody>
          <a:bodyPr wrap="square">
            <a:spAutoFit/>
          </a:bodyPr>
          <a:lstStyle/>
          <a:p>
            <a:pPr algn="l"/>
            <a:r>
              <a:rPr sz="700" b="0" i="0">
                <a:solidFill>
                  <a:srgbClr val="888888"/>
                </a:solidFill>
                <a:latin typeface="Calibri"/>
              </a:rPr>
              <a:t>Aligné avec la thèse</a:t>
            </a:r>
          </a:p>
        </p:txBody>
      </p:sp>
      <p:sp>
        <p:nvSpPr>
          <p:cNvPr id="37" name="TextBox 36"/>
          <p:cNvSpPr txBox="1"/>
          <p:nvPr/>
        </p:nvSpPr>
        <p:spPr>
          <a:xfrm>
            <a:off x="367200" y="2084400"/>
            <a:ext cx="8413200" cy="165600"/>
          </a:xfrm>
          <a:prstGeom prst="rect">
            <a:avLst/>
          </a:prstGeom>
          <a:noFill/>
        </p:spPr>
        <p:txBody>
          <a:bodyPr wrap="square">
            <a:spAutoFit/>
          </a:bodyPr>
          <a:lstStyle/>
          <a:p>
            <a:pPr algn="l"/>
            <a:r>
              <a:rPr sz="900" b="1" i="0">
                <a:solidFill>
                  <a:srgbClr val="2E5FA3"/>
                </a:solidFill>
                <a:latin typeface="Calibri"/>
              </a:rPr>
              <a:t>Détail par orientation</a:t>
            </a:r>
          </a:p>
        </p:txBody>
      </p:sp>
      <p:graphicFrame>
        <p:nvGraphicFramePr>
          <p:cNvPr id="38" name="Table 37"/>
          <p:cNvGraphicFramePr>
            <a:graphicFrameLocks noGrp="1"/>
          </p:cNvGraphicFramePr>
          <p:nvPr/>
        </p:nvGraphicFramePr>
        <p:xfrm>
          <a:off x="367200" y="2332800"/>
          <a:ext cx="8413200" cy="1152000"/>
        </p:xfrm>
        <a:graphic>
          <a:graphicData uri="http://schemas.openxmlformats.org/drawingml/2006/table">
            <a:tbl>
              <a:tblPr firstRow="1" bandRow="1">
                <a:tableStyleId>{5C22544A-7EE6-4342-B048-85BDC9FD1C3A}</a:tableStyleId>
              </a:tblPr>
              <a:tblGrid>
                <a:gridCol w="1261980"/>
                <a:gridCol w="1261980"/>
                <a:gridCol w="1682640"/>
                <a:gridCol w="4206600"/>
              </a:tblGrid>
              <a:tr h="288000">
                <a:tc>
                  <a:txBody>
                    <a:bodyPr/>
                    <a:lstStyle/>
                    <a:p>
                      <a:pPr algn="l"/>
                      <a:r>
                        <a:rPr sz="800" b="1" i="0">
                          <a:solidFill>
                            <a:srgbClr val="FFFFFF"/>
                          </a:solidFill>
                          <a:latin typeface="Calibri"/>
                        </a:rPr>
                        <a:t>Orientation</a:t>
                      </a:r>
                    </a:p>
                  </a:txBody>
                  <a:tcPr>
                    <a:solidFill>
                      <a:srgbClr val="1B3A6B"/>
                    </a:solidFill>
                  </a:tcPr>
                </a:tc>
                <a:tc>
                  <a:txBody>
                    <a:bodyPr/>
                    <a:lstStyle/>
                    <a:p>
                      <a:pPr algn="ctr"/>
                      <a:r>
                        <a:rPr sz="800" b="1" i="0">
                          <a:solidFill>
                            <a:srgbClr val="FFFFFF"/>
                          </a:solidFill>
                          <a:latin typeface="Calibri"/>
                        </a:rPr>
                        <a:t>Articles</a:t>
                      </a:r>
                    </a:p>
                  </a:txBody>
                  <a:tcPr>
                    <a:solidFill>
                      <a:srgbClr val="1B3A6B"/>
                    </a:solidFill>
                  </a:tcPr>
                </a:tc>
                <a:tc>
                  <a:txBody>
                    <a:bodyPr/>
                    <a:lstStyle/>
                    <a:p>
                      <a:pPr algn="ctr"/>
                      <a:r>
                        <a:rPr sz="800" b="1" i="0">
                          <a:solidFill>
                            <a:srgbClr val="FFFFFF"/>
                          </a:solidFill>
                          <a:latin typeface="Calibri"/>
                        </a:rPr>
                        <a:t>Score moyen</a:t>
                      </a:r>
                    </a:p>
                  </a:txBody>
                  <a:tcPr>
                    <a:solidFill>
                      <a:srgbClr val="1B3A6B"/>
                    </a:solidFill>
                  </a:tcPr>
                </a:tc>
                <a:tc>
                  <a:txBody>
                    <a:bodyPr/>
                    <a:lstStyle/>
                    <a:p>
                      <a:pPr algn="ctr"/>
                      <a:r>
                        <a:rPr sz="800" b="1" i="0">
                          <a:solidFill>
                            <a:srgbClr val="FFFFFF"/>
                          </a:solidFill>
                          <a:latin typeface="Calibri"/>
                        </a:rPr>
                        <a:t>Thèmes principaux</a:t>
                      </a:r>
                    </a:p>
                  </a:txBody>
                  <a:tcPr>
                    <a:solidFill>
                      <a:srgbClr val="1B3A6B"/>
                    </a:solidFill>
                  </a:tcPr>
                </a:tc>
              </a:tr>
              <a:tr h="288000">
                <a:tc>
                  <a:txBody>
                    <a:bodyPr/>
                    <a:lstStyle/>
                    <a:p>
                      <a:pPr algn="l"/>
                      <a:r>
                        <a:rPr sz="800" b="1" i="0">
                          <a:solidFill>
                            <a:srgbClr val="1A7A4A"/>
                          </a:solidFill>
                          <a:latin typeface="Calibri"/>
                        </a:rPr>
                        <a:t>Positif</a:t>
                      </a:r>
                    </a:p>
                  </a:txBody>
                  <a:tcPr>
                    <a:solidFill>
                      <a:srgbClr val="EAF4EF"/>
                    </a:solidFill>
                  </a:tcPr>
                </a:tc>
                <a:tc>
                  <a:txBody>
                    <a:bodyPr/>
                    <a:lstStyle/>
                    <a:p>
                      <a:pPr algn="ctr"/>
                      <a:r>
                        <a:rPr sz="800" b="1" i="0">
                          <a:solidFill>
                            <a:srgbClr val="1A7A4A"/>
                          </a:solidFill>
                          <a:latin typeface="Calibri"/>
                        </a:rPr>
                        <a:t>20</a:t>
                      </a:r>
                    </a:p>
                  </a:txBody>
                  <a:tcPr>
                    <a:solidFill>
                      <a:srgbClr val="EAF4EF"/>
                    </a:solidFill>
                  </a:tcPr>
                </a:tc>
                <a:tc>
                  <a:txBody>
                    <a:bodyPr/>
                    <a:lstStyle/>
                    <a:p>
                      <a:pPr algn="ctr"/>
                      <a:r>
                        <a:rPr sz="800" b="0" i="0">
                          <a:solidFill>
                            <a:srgbClr val="0D0D0D"/>
                          </a:solidFill>
                          <a:latin typeface="Calibri"/>
                        </a:rPr>
                        <a:t>+0,597</a:t>
                      </a:r>
                    </a:p>
                  </a:txBody>
                  <a:tcPr>
                    <a:solidFill>
                      <a:srgbClr val="EAF4EF"/>
                    </a:solidFill>
                  </a:tcPr>
                </a:tc>
                <a:tc>
                  <a:txBody>
                    <a:bodyPr/>
                    <a:lstStyle/>
                    <a:p>
                      <a:pPr algn="ctr"/>
                      <a:r>
                        <a:rPr sz="800" b="0" i="0">
                          <a:solidFill>
                            <a:srgbClr val="0D0D0D"/>
                          </a:solidFill>
                          <a:latin typeface="Calibri"/>
                        </a:rPr>
                        <a:t>Catalyseurs, croissance, résultats</a:t>
                      </a:r>
                    </a:p>
                  </a:txBody>
                  <a:tcPr>
                    <a:solidFill>
                      <a:srgbClr val="EAF4EF"/>
                    </a:solidFill>
                  </a:tcPr>
                </a:tc>
              </a:tr>
              <a:tr h="288000">
                <a:tc>
                  <a:txBody>
                    <a:bodyPr/>
                    <a:lstStyle/>
                    <a:p>
                      <a:pPr algn="l"/>
                      <a:r>
                        <a:rPr sz="800" b="1" i="0">
                          <a:solidFill>
                            <a:srgbClr val="555555"/>
                          </a:solidFill>
                          <a:latin typeface="Calibri"/>
                        </a:rPr>
                        <a:t>Neutre</a:t>
                      </a:r>
                    </a:p>
                  </a:txBody>
                  <a:tcPr>
                    <a:solidFill>
                      <a:srgbClr val="FFFFFF"/>
                    </a:solidFill>
                  </a:tcPr>
                </a:tc>
                <a:tc>
                  <a:txBody>
                    <a:bodyPr/>
                    <a:lstStyle/>
                    <a:p>
                      <a:pPr algn="ctr"/>
                      <a:r>
                        <a:rPr sz="800" b="1" i="0">
                          <a:solidFill>
                            <a:srgbClr val="555555"/>
                          </a:solidFill>
                          <a:latin typeface="Calibri"/>
                        </a:rPr>
                        <a:t>8</a:t>
                      </a:r>
                    </a:p>
                  </a:txBody>
                  <a:tcPr>
                    <a:solidFill>
                      <a:srgbClr val="FFFFFF"/>
                    </a:solidFill>
                  </a:tcPr>
                </a:tc>
                <a:tc>
                  <a:txBody>
                    <a:bodyPr/>
                    <a:lstStyle/>
                    <a:p>
                      <a:pPr algn="ctr"/>
                      <a:r>
                        <a:rPr sz="800" b="0" i="0">
                          <a:solidFill>
                            <a:srgbClr val="0D0D0D"/>
                          </a:solidFill>
                          <a:latin typeface="Calibri"/>
                        </a:rPr>
                        <a:t>+0,298</a:t>
                      </a:r>
                    </a:p>
                  </a:txBody>
                  <a:tcPr>
                    <a:solidFill>
                      <a:srgbClr val="FFFFFF"/>
                    </a:solidFill>
                  </a:tcPr>
                </a:tc>
                <a:tc>
                  <a:txBody>
                    <a:bodyPr/>
                    <a:lstStyle/>
                    <a:p>
                      <a:pPr algn="ctr"/>
                      <a:r>
                        <a:rPr sz="800" b="0" i="0">
                          <a:solidFill>
                            <a:srgbClr val="0D0D0D"/>
                          </a:solidFill>
                          <a:latin typeface="Calibri"/>
                        </a:rPr>
                        <a:t>Actualité sectorielle générale</a:t>
                      </a:r>
                    </a:p>
                  </a:txBody>
                  <a:tcPr>
                    <a:solidFill>
                      <a:srgbClr val="FFFFFF"/>
                    </a:solidFill>
                  </a:tcPr>
                </a:tc>
              </a:tr>
              <a:tr h="288000">
                <a:tc>
                  <a:txBody>
                    <a:bodyPr/>
                    <a:lstStyle/>
                    <a:p>
                      <a:pPr algn="l"/>
                      <a:r>
                        <a:rPr sz="800" b="1" i="0">
                          <a:solidFill>
                            <a:srgbClr val="A82020"/>
                          </a:solidFill>
                          <a:latin typeface="Calibri"/>
                        </a:rPr>
                        <a:t>Négatif</a:t>
                      </a:r>
                    </a:p>
                  </a:txBody>
                  <a:tcPr>
                    <a:solidFill>
                      <a:srgbClr val="FAF0EF"/>
                    </a:solidFill>
                  </a:tcPr>
                </a:tc>
                <a:tc>
                  <a:txBody>
                    <a:bodyPr/>
                    <a:lstStyle/>
                    <a:p>
                      <a:pPr algn="ctr"/>
                      <a:r>
                        <a:rPr sz="800" b="1" i="0">
                          <a:solidFill>
                            <a:srgbClr val="A82020"/>
                          </a:solidFill>
                          <a:latin typeface="Calibri"/>
                        </a:rPr>
                        <a:t>2</a:t>
                      </a:r>
                    </a:p>
                  </a:txBody>
                  <a:tcPr>
                    <a:solidFill>
                      <a:srgbClr val="FAF0EF"/>
                    </a:solidFill>
                  </a:tcPr>
                </a:tc>
                <a:tc>
                  <a:txBody>
                    <a:bodyPr/>
                    <a:lstStyle/>
                    <a:p>
                      <a:pPr algn="ctr"/>
                      <a:r>
                        <a:rPr sz="800" b="0" i="0">
                          <a:solidFill>
                            <a:srgbClr val="0D0D0D"/>
                          </a:solidFill>
                          <a:latin typeface="Calibri"/>
                        </a:rPr>
                        <a:t>+0,105</a:t>
                      </a:r>
                    </a:p>
                  </a:txBody>
                  <a:tcPr>
                    <a:solidFill>
                      <a:srgbClr val="FAF0EF"/>
                    </a:solidFill>
                  </a:tcPr>
                </a:tc>
                <a:tc>
                  <a:txBody>
                    <a:bodyPr/>
                    <a:lstStyle/>
                    <a:p>
                      <a:pPr algn="ctr"/>
                      <a:r>
                        <a:rPr sz="800" b="0" i="0">
                          <a:solidFill>
                            <a:srgbClr val="0D0D0D"/>
                          </a:solidFill>
                          <a:latin typeface="Calibri"/>
                        </a:rPr>
                        <a:t>Risques macro, concurrence, dette</a:t>
                      </a:r>
                    </a:p>
                  </a:txBody>
                  <a:tcPr>
                    <a:solidFill>
                      <a:srgbClr val="FAF0EF"/>
                    </a:solidFill>
                  </a:tcPr>
                </a:tc>
              </a:tr>
            </a:tbl>
          </a:graphicData>
        </a:graphic>
      </p:graphicFrame>
      <p:sp>
        <p:nvSpPr>
          <p:cNvPr id="39" name="TextBox 38"/>
          <p:cNvSpPr txBox="1"/>
          <p:nvPr/>
        </p:nvSpPr>
        <p:spPr>
          <a:xfrm>
            <a:off x="367200" y="4140000"/>
            <a:ext cx="8413200" cy="720000"/>
          </a:xfrm>
          <a:prstGeom prst="rect">
            <a:avLst/>
          </a:prstGeom>
          <a:noFill/>
        </p:spPr>
        <p:txBody>
          <a:bodyPr wrap="square">
            <a:spAutoFit/>
          </a:bodyPr>
          <a:lstStyle/>
          <a:p>
            <a:pPr algn="l"/>
            <a:r>
              <a:rPr sz="850" b="0" i="0">
                <a:solidFill>
                  <a:srgbClr val="333333"/>
                </a:solidFill>
                <a:latin typeface="Calibri"/>
              </a:rPr>
              <a:t>La presse financière affiche un optimisme marqué pour Microsoft cette semaine, portée par ses partenariats IA et ses initiatives cloud. Les rares titres négatifs (litiges Elon Musk) n'entament pas la dynamique globale positive.</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Actionnariat &amp; Structure du Capital</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Répartition de l'actionnariat  ·  Au 8 avril 2026</a:t>
            </a:r>
          </a:p>
        </p:txBody>
      </p:sp>
      <p:sp>
        <p:nvSpPr>
          <p:cNvPr id="17" name="TextBox 16"/>
          <p:cNvSpPr txBox="1"/>
          <p:nvPr/>
        </p:nvSpPr>
        <p:spPr>
          <a:xfrm>
            <a:off x="367200" y="748800"/>
            <a:ext cx="5029200" cy="201600"/>
          </a:xfrm>
          <a:prstGeom prst="rect">
            <a:avLst/>
          </a:prstGeom>
          <a:noFill/>
        </p:spPr>
        <p:txBody>
          <a:bodyPr wrap="square">
            <a:spAutoFit/>
          </a:bodyPr>
          <a:lstStyle/>
          <a:p>
            <a:pPr algn="l"/>
            <a:r>
              <a:rPr sz="900" b="1" i="0">
                <a:solidFill>
                  <a:srgbClr val="2E5FA3"/>
                </a:solidFill>
                <a:latin typeface="Calibri"/>
              </a:rPr>
              <a:t>Top actionnaires</a:t>
            </a:r>
          </a:p>
        </p:txBody>
      </p:sp>
      <p:graphicFrame>
        <p:nvGraphicFramePr>
          <p:cNvPr id="18" name="Table 17"/>
          <p:cNvGraphicFramePr>
            <a:graphicFrameLocks noGrp="1"/>
          </p:cNvGraphicFramePr>
          <p:nvPr/>
        </p:nvGraphicFramePr>
        <p:xfrm>
          <a:off x="367200" y="968400"/>
          <a:ext cx="5302800" cy="2012400"/>
        </p:xfrm>
        <a:graphic>
          <a:graphicData uri="http://schemas.openxmlformats.org/drawingml/2006/table">
            <a:tbl>
              <a:tblPr firstRow="1" bandRow="1">
                <a:tableStyleId>{5C22544A-7EE6-4342-B048-85BDC9FD1C3A}</a:tableStyleId>
              </a:tblPr>
              <a:tblGrid>
                <a:gridCol w="2015064"/>
                <a:gridCol w="1378728"/>
                <a:gridCol w="1060560"/>
                <a:gridCol w="848448"/>
              </a:tblGrid>
              <a:tr h="223600">
                <a:tc>
                  <a:txBody>
                    <a:bodyPr/>
                    <a:lstStyle/>
                    <a:p>
                      <a:pPr algn="l"/>
                      <a:r>
                        <a:rPr sz="800" b="1" i="0">
                          <a:solidFill>
                            <a:srgbClr val="FFFFFF"/>
                          </a:solidFill>
                          <a:latin typeface="Calibri"/>
                        </a:rPr>
                        <a:t>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Type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Détention %</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Style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Vanguard Group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9.7 %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Blackrock Inc.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8.1 %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State Street Corporation</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4.1 %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2E5FA3"/>
                          </a:solidFill>
                          <a:latin typeface="Calibri"/>
                        </a:rPr>
                        <a:t>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FMR, LLC</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2.7 %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Geode Capital Management, LLC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2.5 %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JPMORGAN CHASE &amp; CO</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2.0 %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Price (T.Rowe) Associates Inc</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Institutionnel</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1A7A4A"/>
                          </a:solidFill>
                          <a:latin typeface="Calibri"/>
                        </a:rPr>
                        <a:t>Actif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3600">
                <a:tc>
                  <a:txBody>
                    <a:bodyPr/>
                    <a:lstStyle/>
                    <a:p>
                      <a:pPr algn="l"/>
                      <a:r>
                        <a:rPr sz="800" b="0" i="0">
                          <a:solidFill>
                            <a:srgbClr val="0D0D0D"/>
                          </a:solidFill>
                          <a:latin typeface="Calibri"/>
                        </a:rPr>
                        <a:t>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Retail &amp; autres</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750" b="1" i="0">
                          <a:solidFill>
                            <a:srgbClr val="555555"/>
                          </a:solidFill>
                          <a:latin typeface="Calibri"/>
                        </a:rPr>
                        <a:t>—</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
        <p:nvSpPr>
          <p:cNvPr id="19" name="TextBox 18"/>
          <p:cNvSpPr txBox="1"/>
          <p:nvPr/>
        </p:nvSpPr>
        <p:spPr>
          <a:xfrm>
            <a:off x="5760000" y="748800"/>
            <a:ext cx="3016800" cy="201600"/>
          </a:xfrm>
          <a:prstGeom prst="rect">
            <a:avLst/>
          </a:prstGeom>
          <a:noFill/>
        </p:spPr>
        <p:txBody>
          <a:bodyPr wrap="square">
            <a:spAutoFit/>
          </a:bodyPr>
          <a:lstStyle/>
          <a:p>
            <a:pPr algn="l"/>
            <a:r>
              <a:rPr sz="900" b="1" i="0">
                <a:solidFill>
                  <a:srgbClr val="2E5FA3"/>
                </a:solidFill>
                <a:latin typeface="Calibri"/>
              </a:rPr>
              <a:t>Répartition par type</a:t>
            </a:r>
          </a:p>
        </p:txBody>
      </p:sp>
      <p:graphicFrame>
        <p:nvGraphicFramePr>
          <p:cNvPr id="20" name="Table 19"/>
          <p:cNvGraphicFramePr>
            <a:graphicFrameLocks noGrp="1"/>
          </p:cNvGraphicFramePr>
          <p:nvPr/>
        </p:nvGraphicFramePr>
        <p:xfrm>
          <a:off x="5760000" y="968400"/>
          <a:ext cx="3016800" cy="914400"/>
        </p:xfrm>
        <a:graphic>
          <a:graphicData uri="http://schemas.openxmlformats.org/drawingml/2006/table">
            <a:tbl>
              <a:tblPr firstRow="1" bandRow="1">
                <a:tableStyleId>{5C22544A-7EE6-4342-B048-85BDC9FD1C3A}</a:tableStyleId>
              </a:tblPr>
              <a:tblGrid>
                <a:gridCol w="1810080"/>
                <a:gridCol w="1206720"/>
              </a:tblGrid>
              <a:tr h="228600">
                <a:tc>
                  <a:txBody>
                    <a:bodyPr/>
                    <a:lstStyle/>
                    <a:p>
                      <a:pPr algn="l"/>
                      <a:r>
                        <a:rPr sz="800" b="1" i="0">
                          <a:solidFill>
                            <a:srgbClr val="FFFFFF"/>
                          </a:solidFill>
                          <a:latin typeface="Calibri"/>
                        </a:rPr>
                        <a:t>Type d'actionnaire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1" i="0">
                          <a:solidFill>
                            <a:srgbClr val="FFFFFF"/>
                          </a:solidFill>
                          <a:latin typeface="Calibri"/>
                        </a:rPr>
                        <a:t>Part estimée</a:t>
                      </a:r>
                    </a:p>
                  </a:txBody>
                  <a:tcPr>
                    <a:solidFill>
                      <a:srgbClr val="1B3A6B"/>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passif</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13.8 %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Institutionnel actif</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17.0 %</a:t>
                      </a:r>
                    </a:p>
                  </a:txBody>
                  <a:tcPr>
                    <a:solidFill>
                      <a:srgbClr val="F7F8FA"/>
                    </a:solidFill>
                    <a:lnL w="6350">
                      <a:solidFill>
                        <a:srgbClr val="DDDDDD"/>
                      </a:solidFill>
                    </a:lnL>
                    <a:lnR w="6350">
                      <a:solidFill>
                        <a:srgbClr val="DDDDDD"/>
                      </a:solidFill>
                    </a:lnR>
                    <a:lnT w="6350">
                      <a:solidFill>
                        <a:srgbClr val="DDDDDD"/>
                      </a:solidFill>
                    </a:lnT>
                    <a:lnB w="6350">
                      <a:solidFill>
                        <a:srgbClr val="DDDDDD"/>
                      </a:solidFill>
                    </a:lnB>
                  </a:tcPr>
                </a:tc>
              </a:tr>
              <a:tr h="228600">
                <a:tc>
                  <a:txBody>
                    <a:bodyPr/>
                    <a:lstStyle/>
                    <a:p>
                      <a:pPr algn="l"/>
                      <a:r>
                        <a:rPr sz="800" b="0" i="0">
                          <a:solidFill>
                            <a:srgbClr val="0D0D0D"/>
                          </a:solidFill>
                          <a:latin typeface="Calibri"/>
                        </a:rPr>
                        <a:t>Retail &amp; autres</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c>
                  <a:txBody>
                    <a:bodyPr/>
                    <a:lstStyle/>
                    <a:p>
                      <a:pPr algn="ctr"/>
                      <a:r>
                        <a:rPr sz="800" b="0" i="0">
                          <a:solidFill>
                            <a:srgbClr val="0D0D0D"/>
                          </a:solidFill>
                          <a:latin typeface="Calibri"/>
                        </a:rPr>
                        <a:t>69.2 %</a:t>
                      </a:r>
                    </a:p>
                  </a:txBody>
                  <a:tcPr>
                    <a:solidFill>
                      <a:srgbClr val="FFFFFF"/>
                    </a:solidFill>
                    <a:lnL w="6350">
                      <a:solidFill>
                        <a:srgbClr val="DDDDDD"/>
                      </a:solidFill>
                    </a:lnL>
                    <a:lnR w="6350">
                      <a:solidFill>
                        <a:srgbClr val="DDDDDD"/>
                      </a:solidFill>
                    </a:lnR>
                    <a:lnT w="6350">
                      <a:solidFill>
                        <a:srgbClr val="DDDDDD"/>
                      </a:solidFill>
                    </a:lnT>
                    <a:lnB w="6350">
                      <a:solidFill>
                        <a:srgbClr val="DDDDDD"/>
                      </a:solidFill>
                    </a:lnB>
                  </a:tcPr>
                </a:tc>
              </a:tr>
            </a:tbl>
          </a:graphicData>
        </a:graphic>
      </p:graphicFrame>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Historique de Cours — 52 Semaines</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USD  ·  Au 8 avril 2026</a:t>
            </a:r>
          </a:p>
        </p:txBody>
      </p:sp>
      <p:sp>
        <p:nvSpPr>
          <p:cNvPr id="17" name="Rectangle 16"/>
          <p:cNvSpPr/>
          <p:nvPr/>
        </p:nvSpPr>
        <p:spPr>
          <a:xfrm>
            <a:off x="3672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3672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1015200"/>
            <a:ext cx="1782000" cy="396000"/>
          </a:xfrm>
          <a:prstGeom prst="rect">
            <a:avLst/>
          </a:prstGeom>
          <a:noFill/>
        </p:spPr>
        <p:txBody>
          <a:bodyPr wrap="square">
            <a:spAutoFit/>
          </a:bodyPr>
          <a:lstStyle/>
          <a:p>
            <a:pPr algn="l"/>
            <a:r>
              <a:rPr sz="1900" b="1" i="0">
                <a:solidFill>
                  <a:srgbClr val="1B3A6B"/>
                </a:solidFill>
                <a:latin typeface="Calibri"/>
              </a:rPr>
              <a:t>372,29 $</a:t>
            </a:r>
          </a:p>
        </p:txBody>
      </p:sp>
      <p:sp>
        <p:nvSpPr>
          <p:cNvPr id="20" name="TextBox 19"/>
          <p:cNvSpPr txBox="1"/>
          <p:nvPr/>
        </p:nvSpPr>
        <p:spPr>
          <a:xfrm>
            <a:off x="457200" y="1411200"/>
            <a:ext cx="1782000" cy="205199"/>
          </a:xfrm>
          <a:prstGeom prst="rect">
            <a:avLst/>
          </a:prstGeom>
          <a:noFill/>
        </p:spPr>
        <p:txBody>
          <a:bodyPr wrap="square">
            <a:spAutoFit/>
          </a:bodyPr>
          <a:lstStyle/>
          <a:p>
            <a:pPr algn="l"/>
            <a:r>
              <a:rPr sz="800" b="0" i="0">
                <a:solidFill>
                  <a:srgbClr val="555555"/>
                </a:solidFill>
                <a:latin typeface="Calibri"/>
              </a:rPr>
              <a:t>Cours actuel</a:t>
            </a:r>
          </a:p>
        </p:txBody>
      </p:sp>
      <p:sp>
        <p:nvSpPr>
          <p:cNvPr id="21" name="Rectangle 20"/>
          <p:cNvSpPr/>
          <p:nvPr/>
        </p:nvSpPr>
        <p:spPr>
          <a:xfrm>
            <a:off x="24228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24228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512800" y="1015200"/>
            <a:ext cx="1782000" cy="396000"/>
          </a:xfrm>
          <a:prstGeom prst="rect">
            <a:avLst/>
          </a:prstGeom>
          <a:noFill/>
        </p:spPr>
        <p:txBody>
          <a:bodyPr wrap="square">
            <a:spAutoFit/>
          </a:bodyPr>
          <a:lstStyle/>
          <a:p>
            <a:pPr algn="l"/>
            <a:r>
              <a:rPr sz="1900" b="1" i="0">
                <a:solidFill>
                  <a:srgbClr val="1B3A6B"/>
                </a:solidFill>
                <a:latin typeface="Calibri"/>
              </a:rPr>
              <a:t>530,42 $</a:t>
            </a:r>
          </a:p>
        </p:txBody>
      </p:sp>
      <p:sp>
        <p:nvSpPr>
          <p:cNvPr id="24" name="TextBox 23"/>
          <p:cNvSpPr txBox="1"/>
          <p:nvPr/>
        </p:nvSpPr>
        <p:spPr>
          <a:xfrm>
            <a:off x="2512800" y="1411200"/>
            <a:ext cx="1782000" cy="205199"/>
          </a:xfrm>
          <a:prstGeom prst="rect">
            <a:avLst/>
          </a:prstGeom>
          <a:noFill/>
        </p:spPr>
        <p:txBody>
          <a:bodyPr wrap="square">
            <a:spAutoFit/>
          </a:bodyPr>
          <a:lstStyle/>
          <a:p>
            <a:pPr algn="l"/>
            <a:r>
              <a:rPr sz="800" b="0" i="0">
                <a:solidFill>
                  <a:srgbClr val="555555"/>
                </a:solidFill>
                <a:latin typeface="Calibri"/>
              </a:rPr>
              <a:t>Plus haut 52 sem.</a:t>
            </a:r>
          </a:p>
        </p:txBody>
      </p:sp>
      <p:sp>
        <p:nvSpPr>
          <p:cNvPr id="25" name="Rectangle 24"/>
          <p:cNvSpPr/>
          <p:nvPr/>
        </p:nvSpPr>
        <p:spPr>
          <a:xfrm>
            <a:off x="4482000" y="961200"/>
            <a:ext cx="19188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44820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572000" y="1015200"/>
            <a:ext cx="1782000" cy="396000"/>
          </a:xfrm>
          <a:prstGeom prst="rect">
            <a:avLst/>
          </a:prstGeom>
          <a:noFill/>
        </p:spPr>
        <p:txBody>
          <a:bodyPr wrap="square">
            <a:spAutoFit/>
          </a:bodyPr>
          <a:lstStyle/>
          <a:p>
            <a:pPr algn="l"/>
            <a:r>
              <a:rPr sz="1900" b="1" i="0">
                <a:solidFill>
                  <a:srgbClr val="1B3A6B"/>
                </a:solidFill>
                <a:latin typeface="Calibri"/>
              </a:rPr>
              <a:t>370,17 $</a:t>
            </a:r>
          </a:p>
        </p:txBody>
      </p:sp>
      <p:sp>
        <p:nvSpPr>
          <p:cNvPr id="28" name="TextBox 27"/>
          <p:cNvSpPr txBox="1"/>
          <p:nvPr/>
        </p:nvSpPr>
        <p:spPr>
          <a:xfrm>
            <a:off x="4572000" y="1411200"/>
            <a:ext cx="1782000" cy="205199"/>
          </a:xfrm>
          <a:prstGeom prst="rect">
            <a:avLst/>
          </a:prstGeom>
          <a:noFill/>
        </p:spPr>
        <p:txBody>
          <a:bodyPr wrap="square">
            <a:spAutoFit/>
          </a:bodyPr>
          <a:lstStyle/>
          <a:p>
            <a:pPr algn="l"/>
            <a:r>
              <a:rPr sz="800" b="0" i="0">
                <a:solidFill>
                  <a:srgbClr val="555555"/>
                </a:solidFill>
                <a:latin typeface="Calibri"/>
              </a:rPr>
              <a:t>Plus bas 52 sem.</a:t>
            </a:r>
          </a:p>
        </p:txBody>
      </p:sp>
      <p:sp>
        <p:nvSpPr>
          <p:cNvPr id="29" name="Rectangle 28"/>
          <p:cNvSpPr/>
          <p:nvPr/>
        </p:nvSpPr>
        <p:spPr>
          <a:xfrm>
            <a:off x="6537600" y="961200"/>
            <a:ext cx="2196000" cy="748800"/>
          </a:xfrm>
          <a:prstGeom prst="rect">
            <a:avLst/>
          </a:prstGeom>
          <a:solidFill>
            <a:srgbClr val="EEF3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6537600" y="961200"/>
            <a:ext cx="46800" cy="7488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627600" y="1015200"/>
            <a:ext cx="2059200" cy="396000"/>
          </a:xfrm>
          <a:prstGeom prst="rect">
            <a:avLst/>
          </a:prstGeom>
          <a:noFill/>
        </p:spPr>
        <p:txBody>
          <a:bodyPr wrap="square">
            <a:spAutoFit/>
          </a:bodyPr>
          <a:lstStyle/>
          <a:p>
            <a:pPr algn="l"/>
            <a:r>
              <a:rPr sz="1900" b="1" i="0">
                <a:solidFill>
                  <a:srgbClr val="1B3A6B"/>
                </a:solidFill>
                <a:latin typeface="Calibri"/>
              </a:rPr>
              <a:t>-18,5 %</a:t>
            </a:r>
          </a:p>
        </p:txBody>
      </p:sp>
      <p:sp>
        <p:nvSpPr>
          <p:cNvPr id="32" name="TextBox 31"/>
          <p:cNvSpPr txBox="1"/>
          <p:nvPr/>
        </p:nvSpPr>
        <p:spPr>
          <a:xfrm>
            <a:off x="6627600" y="1411200"/>
            <a:ext cx="2059200" cy="205199"/>
          </a:xfrm>
          <a:prstGeom prst="rect">
            <a:avLst/>
          </a:prstGeom>
          <a:noFill/>
        </p:spPr>
        <p:txBody>
          <a:bodyPr wrap="square">
            <a:spAutoFit/>
          </a:bodyPr>
          <a:lstStyle/>
          <a:p>
            <a:pPr algn="l"/>
            <a:r>
              <a:rPr sz="800" b="0" i="0">
                <a:solidFill>
                  <a:srgbClr val="555555"/>
                </a:solidFill>
                <a:latin typeface="Calibri"/>
              </a:rPr>
              <a:t>Performance 52 sem.</a:t>
            </a:r>
          </a:p>
        </p:txBody>
      </p:sp>
      <p:sp>
        <p:nvSpPr>
          <p:cNvPr id="33" name="TextBox 32"/>
          <p:cNvSpPr txBox="1"/>
          <p:nvPr/>
        </p:nvSpPr>
        <p:spPr>
          <a:xfrm>
            <a:off x="367200" y="1846800"/>
            <a:ext cx="8413200" cy="165600"/>
          </a:xfrm>
          <a:prstGeom prst="rect">
            <a:avLst/>
          </a:prstGeom>
          <a:noFill/>
        </p:spPr>
        <p:txBody>
          <a:bodyPr wrap="square">
            <a:spAutoFit/>
          </a:bodyPr>
          <a:lstStyle/>
          <a:p>
            <a:pPr algn="l"/>
            <a:r>
              <a:rPr sz="900" b="1" i="0">
                <a:solidFill>
                  <a:srgbClr val="1B3A6B"/>
                </a:solidFill>
                <a:latin typeface="Calibri"/>
              </a:rPr>
              <a:t>Cours en repli de -18,5 % sur 12 mois</a:t>
            </a:r>
          </a:p>
        </p:txBody>
      </p:sp>
      <p:pic>
        <p:nvPicPr>
          <p:cNvPr id="34" name="Picture 33" descr="image.png"/>
          <p:cNvPicPr>
            <a:picLocks noChangeAspect="1"/>
          </p:cNvPicPr>
          <p:nvPr/>
        </p:nvPicPr>
        <p:blipFill>
          <a:blip r:embed="rId2"/>
          <a:stretch>
            <a:fillRect/>
          </a:stretch>
        </p:blipFill>
        <p:spPr>
          <a:xfrm>
            <a:off x="367200" y="2102400"/>
            <a:ext cx="841320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9144000" cy="594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820400"/>
            <a:ext cx="9144000" cy="3204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7200" y="4838400"/>
            <a:ext cx="8413200" cy="201600"/>
          </a:xfrm>
          <a:prstGeom prst="rect">
            <a:avLst/>
          </a:prstGeom>
          <a:noFill/>
        </p:spPr>
        <p:txBody>
          <a:bodyPr wrap="square">
            <a:spAutoFit/>
          </a:bodyPr>
          <a:lstStyle/>
          <a:p>
            <a:pPr algn="l"/>
            <a:r>
              <a:rPr sz="700" b="0" i="0">
                <a:solidFill>
                  <a:srgbClr val="FFFFFF"/>
                </a:solidFill>
                <a:latin typeface="Calibri"/>
              </a:rPr>
              <a:t>FinSight IA  ·  Usage confidentiel</a:t>
            </a:r>
          </a:p>
        </p:txBody>
      </p:sp>
      <p:sp>
        <p:nvSpPr>
          <p:cNvPr id="5" name="Rectangle 4"/>
          <p:cNvSpPr/>
          <p:nvPr/>
        </p:nvSpPr>
        <p:spPr>
          <a:xfrm>
            <a:off x="6127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34400" y="122400"/>
            <a:ext cx="169200" cy="158400"/>
          </a:xfrm>
          <a:prstGeom prst="rect">
            <a:avLst/>
          </a:prstGeom>
          <a:noFill/>
        </p:spPr>
        <p:txBody>
          <a:bodyPr wrap="square">
            <a:spAutoFit/>
          </a:bodyPr>
          <a:lstStyle/>
          <a:p>
            <a:pPr algn="ctr"/>
            <a:r>
              <a:rPr sz="700" b="1" i="0">
                <a:solidFill>
                  <a:srgbClr val="FFFFFF"/>
                </a:solidFill>
                <a:latin typeface="Calibri"/>
              </a:rPr>
              <a:t>1</a:t>
            </a:r>
          </a:p>
        </p:txBody>
      </p:sp>
      <p:sp>
        <p:nvSpPr>
          <p:cNvPr id="7" name="Rectangle 6"/>
          <p:cNvSpPr/>
          <p:nvPr/>
        </p:nvSpPr>
        <p:spPr>
          <a:xfrm>
            <a:off x="6353999"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61199" y="122400"/>
            <a:ext cx="169200" cy="158400"/>
          </a:xfrm>
          <a:prstGeom prst="rect">
            <a:avLst/>
          </a:prstGeom>
          <a:noFill/>
        </p:spPr>
        <p:txBody>
          <a:bodyPr wrap="square">
            <a:spAutoFit/>
          </a:bodyPr>
          <a:lstStyle/>
          <a:p>
            <a:pPr algn="ctr"/>
            <a:r>
              <a:rPr sz="700" b="1" i="0">
                <a:solidFill>
                  <a:srgbClr val="FFFFFF"/>
                </a:solidFill>
                <a:latin typeface="Calibri"/>
              </a:rPr>
              <a:t>2</a:t>
            </a:r>
          </a:p>
        </p:txBody>
      </p:sp>
      <p:sp>
        <p:nvSpPr>
          <p:cNvPr id="9" name="Rectangle 8"/>
          <p:cNvSpPr/>
          <p:nvPr/>
        </p:nvSpPr>
        <p:spPr>
          <a:xfrm>
            <a:off x="65844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91600" y="122400"/>
            <a:ext cx="169200" cy="158400"/>
          </a:xfrm>
          <a:prstGeom prst="rect">
            <a:avLst/>
          </a:prstGeom>
          <a:noFill/>
        </p:spPr>
        <p:txBody>
          <a:bodyPr wrap="square">
            <a:spAutoFit/>
          </a:bodyPr>
          <a:lstStyle/>
          <a:p>
            <a:pPr algn="ctr"/>
            <a:r>
              <a:rPr sz="700" b="1" i="0">
                <a:solidFill>
                  <a:srgbClr val="FFFFFF"/>
                </a:solidFill>
                <a:latin typeface="Calibri"/>
              </a:rPr>
              <a:t>3</a:t>
            </a:r>
          </a:p>
        </p:txBody>
      </p:sp>
      <p:sp>
        <p:nvSpPr>
          <p:cNvPr id="11" name="Rectangle 10"/>
          <p:cNvSpPr/>
          <p:nvPr/>
        </p:nvSpPr>
        <p:spPr>
          <a:xfrm>
            <a:off x="6811200" y="118800"/>
            <a:ext cx="183600" cy="183600"/>
          </a:xfrm>
          <a:prstGeom prst="rect">
            <a:avLst/>
          </a:prstGeom>
          <a:solidFill>
            <a:srgbClr val="2E5F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18400" y="122400"/>
            <a:ext cx="169200" cy="158400"/>
          </a:xfrm>
          <a:prstGeom prst="rect">
            <a:avLst/>
          </a:prstGeom>
          <a:noFill/>
        </p:spPr>
        <p:txBody>
          <a:bodyPr wrap="square">
            <a:spAutoFit/>
          </a:bodyPr>
          <a:lstStyle/>
          <a:p>
            <a:pPr algn="ctr"/>
            <a:r>
              <a:rPr sz="700" b="1" i="0">
                <a:solidFill>
                  <a:srgbClr val="FFFFFF"/>
                </a:solidFill>
                <a:latin typeface="Calibri"/>
              </a:rPr>
              <a:t>4</a:t>
            </a:r>
          </a:p>
        </p:txBody>
      </p:sp>
      <p:sp>
        <p:nvSpPr>
          <p:cNvPr id="13" name="Rectangle 12"/>
          <p:cNvSpPr/>
          <p:nvPr/>
        </p:nvSpPr>
        <p:spPr>
          <a:xfrm>
            <a:off x="7041600" y="118800"/>
            <a:ext cx="183600" cy="183600"/>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8799" y="122400"/>
            <a:ext cx="169200" cy="158400"/>
          </a:xfrm>
          <a:prstGeom prst="rect">
            <a:avLst/>
          </a:prstGeom>
          <a:noFill/>
        </p:spPr>
        <p:txBody>
          <a:bodyPr wrap="square">
            <a:spAutoFit/>
          </a:bodyPr>
          <a:lstStyle/>
          <a:p>
            <a:pPr algn="ctr"/>
            <a:r>
              <a:rPr sz="700" b="1" i="0">
                <a:solidFill>
                  <a:srgbClr val="1B3A6B"/>
                </a:solidFill>
                <a:latin typeface="Calibri"/>
              </a:rPr>
              <a:t>5</a:t>
            </a:r>
          </a:p>
        </p:txBody>
      </p:sp>
      <p:sp>
        <p:nvSpPr>
          <p:cNvPr id="15" name="TextBox 14"/>
          <p:cNvSpPr txBox="1"/>
          <p:nvPr/>
        </p:nvSpPr>
        <p:spPr>
          <a:xfrm>
            <a:off x="367200" y="118800"/>
            <a:ext cx="5576400" cy="349200"/>
          </a:xfrm>
          <a:prstGeom prst="rect">
            <a:avLst/>
          </a:prstGeom>
          <a:noFill/>
        </p:spPr>
        <p:txBody>
          <a:bodyPr wrap="square">
            <a:spAutoFit/>
          </a:bodyPr>
          <a:lstStyle/>
          <a:p>
            <a:pPr algn="l"/>
            <a:r>
              <a:rPr sz="1300" b="1" i="0">
                <a:solidFill>
                  <a:srgbClr val="FFFFFF"/>
                </a:solidFill>
                <a:latin typeface="Calibri"/>
              </a:rPr>
              <a:t>Conviction &amp; Thèse d’Investissement</a:t>
            </a:r>
          </a:p>
        </p:txBody>
      </p:sp>
      <p:sp>
        <p:nvSpPr>
          <p:cNvPr id="16" name="TextBox 15"/>
          <p:cNvSpPr txBox="1"/>
          <p:nvPr/>
        </p:nvSpPr>
        <p:spPr>
          <a:xfrm>
            <a:off x="367200" y="622800"/>
            <a:ext cx="8413200" cy="201600"/>
          </a:xfrm>
          <a:prstGeom prst="rect">
            <a:avLst/>
          </a:prstGeom>
          <a:noFill/>
        </p:spPr>
        <p:txBody>
          <a:bodyPr wrap="square">
            <a:spAutoFit/>
          </a:bodyPr>
          <a:lstStyle/>
          <a:p>
            <a:pPr algn="l"/>
            <a:r>
              <a:rPr sz="900" b="0" i="0">
                <a:solidFill>
                  <a:srgbClr val="2E5FA3"/>
                </a:solidFill>
                <a:latin typeface="Calibri"/>
              </a:rPr>
              <a:t>MSFT  ·  FinSight IA  ·  Rapport 8 avril 2026</a:t>
            </a:r>
          </a:p>
        </p:txBody>
      </p:sp>
      <p:sp>
        <p:nvSpPr>
          <p:cNvPr id="17" name="Rectangle 16"/>
          <p:cNvSpPr/>
          <p:nvPr/>
        </p:nvSpPr>
        <p:spPr>
          <a:xfrm>
            <a:off x="324000" y="827999"/>
            <a:ext cx="2700000" cy="1260000"/>
          </a:xfrm>
          <a:prstGeom prst="rect">
            <a:avLst/>
          </a:prstGeom>
          <a:solidFill>
            <a:srgbClr val="FFF8E1"/>
          </a:solidFill>
          <a:ln w="25400">
            <a:solidFill>
              <a:srgbClr val="B06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24000" y="864000"/>
            <a:ext cx="2700000" cy="396000"/>
          </a:xfrm>
          <a:prstGeom prst="rect">
            <a:avLst/>
          </a:prstGeom>
          <a:noFill/>
        </p:spPr>
        <p:txBody>
          <a:bodyPr wrap="square">
            <a:spAutoFit/>
          </a:bodyPr>
          <a:lstStyle/>
          <a:p>
            <a:pPr algn="ctr"/>
            <a:r>
              <a:rPr sz="3600" b="1" i="0">
                <a:solidFill>
                  <a:srgbClr val="B06000"/>
                </a:solidFill>
                <a:latin typeface="Calibri"/>
              </a:rPr>
              <a:t>HOLD</a:t>
            </a:r>
          </a:p>
        </p:txBody>
      </p:sp>
      <p:sp>
        <p:nvSpPr>
          <p:cNvPr id="19" name="TextBox 18"/>
          <p:cNvSpPr txBox="1"/>
          <p:nvPr/>
        </p:nvSpPr>
        <p:spPr>
          <a:xfrm>
            <a:off x="324000" y="1278000"/>
            <a:ext cx="2700000" cy="198000"/>
          </a:xfrm>
          <a:prstGeom prst="rect">
            <a:avLst/>
          </a:prstGeom>
          <a:noFill/>
        </p:spPr>
        <p:txBody>
          <a:bodyPr wrap="square">
            <a:spAutoFit/>
          </a:bodyPr>
          <a:lstStyle/>
          <a:p>
            <a:pPr algn="ctr"/>
            <a:r>
              <a:rPr sz="1100" b="0" i="0">
                <a:solidFill>
                  <a:srgbClr val="555555"/>
                </a:solidFill>
                <a:latin typeface="Calibri"/>
              </a:rPr>
              <a:t>Conviction : 50%</a:t>
            </a:r>
          </a:p>
        </p:txBody>
      </p:sp>
      <p:sp>
        <p:nvSpPr>
          <p:cNvPr id="20" name="TextBox 19"/>
          <p:cNvSpPr txBox="1"/>
          <p:nvPr/>
        </p:nvSpPr>
        <p:spPr>
          <a:xfrm>
            <a:off x="324000" y="1494000"/>
            <a:ext cx="2700000" cy="198000"/>
          </a:xfrm>
          <a:prstGeom prst="rect">
            <a:avLst/>
          </a:prstGeom>
          <a:noFill/>
        </p:spPr>
        <p:txBody>
          <a:bodyPr wrap="square">
            <a:spAutoFit/>
          </a:bodyPr>
          <a:lstStyle/>
          <a:p>
            <a:pPr algn="ctr"/>
            <a:r>
              <a:rPr sz="850" b="0" i="0">
                <a:solidFill>
                  <a:srgbClr val="555555"/>
                </a:solidFill>
                <a:latin typeface="Calibri"/>
              </a:rPr>
              <a:t>8 avril 2026</a:t>
            </a:r>
          </a:p>
        </p:txBody>
      </p:sp>
      <p:sp>
        <p:nvSpPr>
          <p:cNvPr id="21" name="Rectangle 20"/>
          <p:cNvSpPr/>
          <p:nvPr/>
        </p:nvSpPr>
        <p:spPr>
          <a:xfrm>
            <a:off x="324000" y="2196000"/>
            <a:ext cx="2700000" cy="198000"/>
          </a:xfrm>
          <a:prstGeom prst="rect">
            <a:avLst/>
          </a:prstGeom>
          <a:solidFill>
            <a:srgbClr val="E8EC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324000" y="2196000"/>
            <a:ext cx="1350000" cy="19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24000" y="2051999"/>
            <a:ext cx="2700000" cy="136800"/>
          </a:xfrm>
          <a:prstGeom prst="rect">
            <a:avLst/>
          </a:prstGeom>
          <a:noFill/>
        </p:spPr>
        <p:txBody>
          <a:bodyPr wrap="square">
            <a:spAutoFit/>
          </a:bodyPr>
          <a:lstStyle/>
          <a:p>
            <a:pPr algn="l"/>
            <a:r>
              <a:rPr sz="700" b="1" i="0">
                <a:solidFill>
                  <a:srgbClr val="1B3A6B"/>
                </a:solidFill>
                <a:latin typeface="Calibri"/>
              </a:rPr>
              <a:t>NIVEAU DE CONVICTION</a:t>
            </a:r>
          </a:p>
        </p:txBody>
      </p:sp>
      <p:sp>
        <p:nvSpPr>
          <p:cNvPr id="24" name="TextBox 23"/>
          <p:cNvSpPr txBox="1"/>
          <p:nvPr/>
        </p:nvSpPr>
        <p:spPr>
          <a:xfrm>
            <a:off x="3060000" y="2196000"/>
            <a:ext cx="432000" cy="198000"/>
          </a:xfrm>
          <a:prstGeom prst="rect">
            <a:avLst/>
          </a:prstGeom>
          <a:noFill/>
        </p:spPr>
        <p:txBody>
          <a:bodyPr wrap="square">
            <a:spAutoFit/>
          </a:bodyPr>
          <a:lstStyle/>
          <a:p>
            <a:pPr algn="l"/>
            <a:r>
              <a:rPr sz="1000" b="1" i="0">
                <a:solidFill>
                  <a:srgbClr val="1B3A6B"/>
                </a:solidFill>
                <a:latin typeface="Calibri"/>
              </a:rPr>
              <a:t>50%</a:t>
            </a:r>
          </a:p>
        </p:txBody>
      </p:sp>
      <p:sp>
        <p:nvSpPr>
          <p:cNvPr id="25" name="Rectangle 24"/>
          <p:cNvSpPr/>
          <p:nvPr/>
        </p:nvSpPr>
        <p:spPr>
          <a:xfrm>
            <a:off x="324000" y="2520000"/>
            <a:ext cx="2700000" cy="270000"/>
          </a:xfrm>
          <a:prstGeom prst="rect">
            <a:avLst/>
          </a:prstGeom>
          <a:solidFill>
            <a:srgbClr val="F5F7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360000" y="2538000"/>
            <a:ext cx="2628000" cy="234000"/>
          </a:xfrm>
          <a:prstGeom prst="rect">
            <a:avLst/>
          </a:prstGeom>
          <a:noFill/>
        </p:spPr>
        <p:txBody>
          <a:bodyPr wrap="square">
            <a:spAutoFit/>
          </a:bodyPr>
          <a:lstStyle/>
          <a:p>
            <a:pPr algn="l"/>
            <a:r>
              <a:rPr sz="850" b="1" i="0">
                <a:solidFill>
                  <a:srgbClr val="1A7A4A"/>
                </a:solidFill>
                <a:latin typeface="Calibri"/>
              </a:rPr>
              <a:t>Delta conviction : +0% vs Avocat du Diable</a:t>
            </a:r>
          </a:p>
        </p:txBody>
      </p:sp>
      <p:sp>
        <p:nvSpPr>
          <p:cNvPr id="27" name="Rectangle 26"/>
          <p:cNvSpPr/>
          <p:nvPr/>
        </p:nvSpPr>
        <p:spPr>
          <a:xfrm>
            <a:off x="3311999" y="827999"/>
            <a:ext cx="5472000" cy="198000"/>
          </a:xfrm>
          <a:prstGeom prst="rect">
            <a:avLst/>
          </a:prstGeom>
          <a:solidFill>
            <a:srgbClr val="1B3A6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66000" y="846000"/>
            <a:ext cx="5400000" cy="162000"/>
          </a:xfrm>
          <a:prstGeom prst="rect">
            <a:avLst/>
          </a:prstGeom>
          <a:noFill/>
        </p:spPr>
        <p:txBody>
          <a:bodyPr wrap="square">
            <a:spAutoFit/>
          </a:bodyPr>
          <a:lstStyle/>
          <a:p>
            <a:pPr algn="l"/>
            <a:r>
              <a:rPr sz="800" b="1" i="0">
                <a:solidFill>
                  <a:srgbClr val="FFFFFF"/>
                </a:solidFill>
                <a:latin typeface="Calibri"/>
              </a:rPr>
              <a:t>THÈSE D’INVESTISSEMENT</a:t>
            </a:r>
          </a:p>
        </p:txBody>
      </p:sp>
      <p:sp>
        <p:nvSpPr>
          <p:cNvPr id="29" name="Rectangle 28"/>
          <p:cNvSpPr/>
          <p:nvPr/>
        </p:nvSpPr>
        <p:spPr>
          <a:xfrm>
            <a:off x="3311999" y="1062000"/>
            <a:ext cx="36000" cy="288000"/>
          </a:xfrm>
          <a:prstGeom prst="rect">
            <a:avLst/>
          </a:prstGeom>
          <a:solidFill>
            <a:srgbClr val="B06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01999" y="1080000"/>
            <a:ext cx="5346000" cy="270000"/>
          </a:xfrm>
          <a:prstGeom prst="rect">
            <a:avLst/>
          </a:prstGeom>
          <a:noFill/>
        </p:spPr>
        <p:txBody>
          <a:bodyPr wrap="square">
            <a:spAutoFit/>
          </a:bodyPr>
          <a:lstStyle/>
          <a:p>
            <a:pPr algn="l"/>
            <a:r>
              <a:rPr sz="850" b="0" i="0">
                <a:solidFill>
                  <a:srgbClr val="555555"/>
                </a:solidFill>
                <a:latin typeface="Calibri"/>
              </a:rPr>
              <a:t>Donnees de synthese non disponibles pour Microsoft Corporation. Relancer l'analyse pour obtenir la these complete.</a:t>
            </a:r>
          </a:p>
        </p:txBody>
      </p:sp>
      <p:sp>
        <p:nvSpPr>
          <p:cNvPr id="31" name="Rectangle 30"/>
          <p:cNvSpPr/>
          <p:nvPr/>
        </p:nvSpPr>
        <p:spPr>
          <a:xfrm>
            <a:off x="3311999" y="2142000"/>
            <a:ext cx="2664000" cy="180000"/>
          </a:xfrm>
          <a:prstGeom prst="rect">
            <a:avLst/>
          </a:prstGeom>
          <a:solidFill>
            <a:srgbClr val="1A7A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366000" y="2160000"/>
            <a:ext cx="2592000" cy="144000"/>
          </a:xfrm>
          <a:prstGeom prst="rect">
            <a:avLst/>
          </a:prstGeom>
          <a:noFill/>
        </p:spPr>
        <p:txBody>
          <a:bodyPr wrap="square">
            <a:spAutoFit/>
          </a:bodyPr>
          <a:lstStyle/>
          <a:p>
            <a:pPr algn="l"/>
            <a:r>
              <a:rPr sz="750" b="1" i="0">
                <a:solidFill>
                  <a:srgbClr val="FFFFFF"/>
                </a:solidFill>
                <a:latin typeface="Calibri"/>
              </a:rPr>
              <a:t>CATALYSEURS BULLS</a:t>
            </a:r>
          </a:p>
        </p:txBody>
      </p:sp>
      <p:sp>
        <p:nvSpPr>
          <p:cNvPr id="33" name="TextBox 32"/>
          <p:cNvSpPr txBox="1"/>
          <p:nvPr/>
        </p:nvSpPr>
        <p:spPr>
          <a:xfrm>
            <a:off x="3401999" y="2358000"/>
            <a:ext cx="2556000" cy="162000"/>
          </a:xfrm>
          <a:prstGeom prst="rect">
            <a:avLst/>
          </a:prstGeom>
          <a:noFill/>
        </p:spPr>
        <p:txBody>
          <a:bodyPr wrap="none">
            <a:spAutoFit/>
          </a:bodyPr>
          <a:lstStyle/>
          <a:p>
            <a:pPr algn="l"/>
            <a:r>
              <a:rPr sz="700" b="0" i="0">
                <a:solidFill>
                  <a:srgbClr val="555555"/>
                </a:solidFill>
                <a:latin typeface="Calibri"/>
              </a:rPr>
              <a:t>• N/D</a:t>
            </a:r>
          </a:p>
        </p:txBody>
      </p:sp>
      <p:sp>
        <p:nvSpPr>
          <p:cNvPr id="34" name="Rectangle 33"/>
          <p:cNvSpPr/>
          <p:nvPr/>
        </p:nvSpPr>
        <p:spPr>
          <a:xfrm>
            <a:off x="6120000" y="2142000"/>
            <a:ext cx="2448000" cy="180000"/>
          </a:xfrm>
          <a:prstGeom prst="rect">
            <a:avLst/>
          </a:prstGeom>
          <a:solidFill>
            <a:srgbClr val="A820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156000" y="2160000"/>
            <a:ext cx="2376000" cy="144000"/>
          </a:xfrm>
          <a:prstGeom prst="rect">
            <a:avLst/>
          </a:prstGeom>
          <a:noFill/>
        </p:spPr>
        <p:txBody>
          <a:bodyPr wrap="square">
            <a:spAutoFit/>
          </a:bodyPr>
          <a:lstStyle/>
          <a:p>
            <a:pPr algn="l"/>
            <a:r>
              <a:rPr sz="750" b="1" i="0">
                <a:solidFill>
                  <a:srgbClr val="FFFFFF"/>
                </a:solidFill>
                <a:latin typeface="Calibri"/>
              </a:rPr>
              <a:t>RISQUES BEARS</a:t>
            </a:r>
          </a:p>
        </p:txBody>
      </p:sp>
      <p:sp>
        <p:nvSpPr>
          <p:cNvPr id="36" name="TextBox 35"/>
          <p:cNvSpPr txBox="1"/>
          <p:nvPr/>
        </p:nvSpPr>
        <p:spPr>
          <a:xfrm>
            <a:off x="6156000" y="2358000"/>
            <a:ext cx="2376000" cy="162000"/>
          </a:xfrm>
          <a:prstGeom prst="rect">
            <a:avLst/>
          </a:prstGeom>
          <a:noFill/>
        </p:spPr>
        <p:txBody>
          <a:bodyPr wrap="none">
            <a:spAutoFit/>
          </a:bodyPr>
          <a:lstStyle/>
          <a:p>
            <a:pPr algn="l"/>
            <a:r>
              <a:rPr sz="700" b="0" i="0">
                <a:solidFill>
                  <a:srgbClr val="555555"/>
                </a:solidFill>
                <a:latin typeface="Calibri"/>
              </a:rPr>
              <a:t>• N/D</a:t>
            </a:r>
          </a:p>
        </p:txBody>
      </p:sp>
      <p:sp>
        <p:nvSpPr>
          <p:cNvPr id="37" name="TextBox 36"/>
          <p:cNvSpPr txBox="1"/>
          <p:nvPr/>
        </p:nvSpPr>
        <p:spPr>
          <a:xfrm>
            <a:off x="324000" y="4752000"/>
            <a:ext cx="8496000" cy="162000"/>
          </a:xfrm>
          <a:prstGeom prst="rect">
            <a:avLst/>
          </a:prstGeom>
          <a:noFill/>
        </p:spPr>
        <p:txBody>
          <a:bodyPr wrap="square">
            <a:spAutoFit/>
          </a:bodyPr>
          <a:lstStyle/>
          <a:p>
            <a:pPr algn="l"/>
            <a:r>
              <a:rPr sz="700" b="0" i="0">
                <a:solidFill>
                  <a:srgbClr val="555555"/>
                </a:solidFill>
                <a:latin typeface="Calibri"/>
              </a:rPr>
              <a:t>FinSight IA genere cette analyse a un instant T. Pour le suivi dans le temps, comparer les rapports successifs. La conviction reflete les donnees disponibles a la date d'analyse.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