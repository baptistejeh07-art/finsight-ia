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457200" y="2617297"/>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617297"/>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635297"/>
            <a:ext cx="8063999" cy="439200"/>
          </a:xfrm>
          <a:prstGeom prst="rect">
            <a:avLst/>
          </a:prstGeom>
          <a:noFill/>
        </p:spPr>
        <p:txBody>
          <a:bodyPr wrap="square">
            <a:spAutoFit/>
          </a:bodyPr>
          <a:lstStyle/>
          <a:p>
            <a:pPr algn="ctr"/>
            <a:r>
              <a:rPr sz="900" b="1" i="0">
                <a:solidFill>
                  <a:srgbClr val="B06000"/>
                </a:solidFill>
                <a:latin typeface="Calibri"/>
              </a:rPr>
              <a:t>● HOLD  ·  Prix cible base : — $  ·  Upside :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17,3x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+0,287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Positif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2 759,7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371,65 $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17,3x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371,65 $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2 759,7</a:t>
                      </a:r>
                    </a:p>
                  </a:txBody>
                  <a:tcPr>
                    <a:solidFill>
                      <a:srgbClr val="DDE8F5"/>
                    </a:solidFill>
                  </a:tcPr>
                </a:tc>
                <a:tc>
                  <a:txBody>
                    <a:bodyPr/>
                    <a:lstStyle/>
                    <a:p>
                      <a:pPr algn="ctr"/>
                      <a:r>
                        <a:rPr sz="800" b="1" i="0">
                          <a:solidFill>
                            <a:srgbClr val="1B3A6B"/>
                          </a:solidFill>
                          <a:latin typeface="Calibri"/>
                        </a:rPr>
                        <a:t>17,3x</a:t>
                      </a:r>
                    </a:p>
                  </a:txBody>
                  <a:tcPr>
                    <a:solidFill>
                      <a:srgbClr val="DDE8F5"/>
                    </a:solidFill>
                  </a:tcPr>
                </a:tc>
                <a:tc>
                  <a:txBody>
                    <a:bodyPr/>
                    <a:lstStyle/>
                    <a:p>
                      <a:pPr algn="ctr"/>
                      <a:r>
                        <a:rPr sz="800" b="1" i="0">
                          <a:solidFill>
                            <a:srgbClr val="1B3A6B"/>
                          </a:solidFill>
                          <a:latin typeface="Calibri"/>
                        </a:rPr>
                        <a:t>9,8x</a:t>
                      </a:r>
                    </a:p>
                  </a:txBody>
                  <a:tcPr>
                    <a:solidFill>
                      <a:srgbClr val="DDE8F5"/>
                    </a:solidFill>
                  </a:tcPr>
                </a:tc>
                <a:tc>
                  <a:txBody>
                    <a:bodyPr/>
                    <a:lstStyle/>
                    <a:p>
                      <a:pPr algn="ctr"/>
                      <a:r>
                        <a:rPr sz="800" b="1" i="0">
                          <a:solidFill>
                            <a:srgbClr val="1B3A6B"/>
                          </a:solidFill>
                          <a:latin typeface="Calibri"/>
                        </a:rPr>
                        <a:t>27,1x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(371,65)</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371,65</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46000"/>
            <a:ext cx="2696400" cy="288000"/>
          </a:xfrm>
          <a:prstGeom prst="rect">
            <a:avLst/>
          </a:prstGeom>
          <a:noFill/>
        </p:spPr>
        <p:txBody>
          <a:bodyPr wrap="square">
            <a:spAutoFit/>
          </a:bodyPr>
          <a:lstStyle/>
          <a:p>
            <a:pPr algn="l"/>
            <a:r>
              <a:rPr sz="750" b="0" i="0">
                <a:solidFill>
                  <a:srgbClr val="1B3A6B"/>
                </a:solidFill>
                <a:latin typeface="Calibri"/>
              </a:rPr>
              <a:t>Detresse : 0/100 — Sain</a:t>
            </a:r>
          </a:p>
        </p:txBody>
      </p:sp>
      <p:sp>
        <p:nvSpPr>
          <p:cNvPr id="35" name="Rectangle 34"/>
          <p:cNvSpPr/>
          <p:nvPr/>
        </p:nvSpPr>
        <p:spPr>
          <a:xfrm>
            <a:off x="324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46000"/>
            <a:ext cx="2696400" cy="288000"/>
          </a:xfrm>
          <a:prstGeom prst="rect">
            <a:avLst/>
          </a:prstGeom>
          <a:noFill/>
        </p:spPr>
        <p:txBody>
          <a:bodyPr wrap="square">
            <a:spAutoFit/>
          </a:bodyPr>
          <a:lstStyle/>
          <a:p>
            <a:pPr algn="l"/>
            <a:r>
              <a:rPr sz="750" b="0" i="0">
                <a:solidFill>
                  <a:srgbClr val="1B3A6B"/>
                </a:solidFill>
                <a:latin typeface="Calibri"/>
              </a:rPr>
              <a:t>M&amp;A : 53/100 — Moderate</a:t>
            </a:r>
          </a:p>
        </p:txBody>
      </p:sp>
      <p:sp>
        <p:nvSpPr>
          <p:cNvPr id="38" name="Rectangle 37"/>
          <p:cNvSpPr/>
          <p:nvPr/>
        </p:nvSpPr>
        <p:spPr>
          <a:xfrm>
            <a:off x="6123600" y="4428000"/>
            <a:ext cx="2804400" cy="324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46000"/>
            <a:ext cx="2696400" cy="288000"/>
          </a:xfrm>
          <a:prstGeom prst="rect">
            <a:avLst/>
          </a:prstGeom>
          <a:noFill/>
        </p:spPr>
        <p:txBody>
          <a:bodyPr wrap="square">
            <a:spAutoFit/>
          </a:bodyPr>
          <a:lstStyle/>
          <a:p>
            <a:pPr algn="l"/>
            <a:r>
              <a:rPr sz="750" b="0" i="0">
                <a:solidFill>
                  <a:srgbClr val="1B3A6B"/>
                </a:solidFill>
                <a:latin typeface="Calibri"/>
              </a:rPr>
              <a:t>Regime : Volatile  Rec.6M:26%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+0,287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14</a:t>
                      </a:r>
                    </a:p>
                  </a:txBody>
                  <a:tcPr>
                    <a:solidFill>
                      <a:srgbClr val="EAF4EF"/>
                    </a:solidFill>
                  </a:tcPr>
                </a:tc>
                <a:tc>
                  <a:txBody>
                    <a:bodyPr/>
                    <a:lstStyle/>
                    <a:p>
                      <a:pPr algn="ctr"/>
                      <a:r>
                        <a:rPr sz="800" b="0" i="0">
                          <a:solidFill>
                            <a:srgbClr val="0D0D0D"/>
                          </a:solidFill>
                          <a:latin typeface="Calibri"/>
                        </a:rPr>
                        <a:t>+0,438</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12</a:t>
                      </a:r>
                    </a:p>
                  </a:txBody>
                  <a:tcPr>
                    <a:solidFill>
                      <a:srgbClr val="FFFFFF"/>
                    </a:solidFill>
                  </a:tcPr>
                </a:tc>
                <a:tc>
                  <a:txBody>
                    <a:bodyPr/>
                    <a:lstStyle/>
                    <a:p>
                      <a:pPr algn="ctr"/>
                      <a:r>
                        <a:rPr sz="800" b="0" i="0">
                          <a:solidFill>
                            <a:srgbClr val="0D0D0D"/>
                          </a:solidFill>
                          <a:latin typeface="Calibri"/>
                        </a:rPr>
                        <a:t>+0,411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+0,151</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affiche un sentiment globalement positif pour Microsoft cette semaine, porté par ses investissements massifs dans l'IA et son expansion en Asie. Cependant, des doutes persistent sur la rentabilité de ses initiatives comme Copilot, tempérant l'optimisme.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371,65 $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-5,3 %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044207"/>
            <a:ext cx="498636" cy="85099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2705616"/>
            <a:ext cx="498636" cy="118958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2622765"/>
            <a:ext cx="498636" cy="127243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2514484"/>
            <a:ext cx="498636" cy="138071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2515742"/>
            <a:ext cx="498636" cy="137945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2746682"/>
            <a:ext cx="498636" cy="114851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2813627"/>
            <a:ext cx="498636" cy="108157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3291770"/>
            <a:ext cx="498636" cy="60342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3628384"/>
            <a:ext cx="498636" cy="26681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809900"/>
            <a:ext cx="498636" cy="852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370</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423</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477</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530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