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CAC 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^FCHI  ·  11 secteurs analysés  ·  40 sociétés couvertes</a:t>
            </a:r>
          </a:p>
        </p:txBody>
      </p:sp>
      <p:sp>
        <p:nvSpPr>
          <p:cNvPr id="8" name="Rectangle 7"/>
          <p:cNvSpPr/>
          <p:nvPr/>
        </p:nvSpPr>
        <p:spPr>
          <a:xfrm>
            <a:off x="457200" y="2448000"/>
            <a:ext cx="8229600" cy="4752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1A7A4A"/>
                </a:solidFill>
              </a:rPr>
              <a:t>● SURPONDÉRER  ·  Conviction 55 %  ·  ERP 3.5%</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63.7/100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6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5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0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7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11 secteurs  ·  40 sociétés  ·  Horizon 12 mois</a:t>
            </a:r>
          </a:p>
        </p:txBody>
      </p:sp>
      <p:sp>
        <p:nvSpPr>
          <p:cNvPr id="15" name="Rectangle 14"/>
          <p:cNvSpPr/>
          <p:nvPr/>
        </p:nvSpPr>
        <p:spPr>
          <a:xfrm>
            <a:off x="324000" y="827999"/>
            <a:ext cx="1728000" cy="27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SURPONDÉRER</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7 909  ·  YTD : -3.5%  ·  P/E Forward : 12.8x  ·  ERP : 3.5% (Neutre)  ·  Conviction 55 %</a:t>
            </a:r>
          </a:p>
        </p:txBody>
      </p:sp>
      <p:sp>
        <p:nvSpPr>
          <p:cNvPr id="18" name="Rectangle 17"/>
          <p:cNvSpPr/>
          <p:nvPr/>
        </p:nvSpPr>
        <p:spPr>
          <a:xfrm>
            <a:off x="324000" y="1368000"/>
            <a:ext cx="792000" cy="16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738000" cy="162000"/>
          </a:xfrm>
          <a:prstGeom prst="rect">
            <a:avLst/>
          </a:prstGeom>
          <a:noFill/>
        </p:spPr>
        <p:txBody>
          <a:bodyPr wrap="square" anchor="ctr">
            <a:spAutoFit/>
          </a:bodyPr>
          <a:lstStyle/>
          <a:p>
            <a:pPr algn="ctr"/>
            <a:r>
              <a:rPr sz="750" b="1" i="0">
                <a:solidFill>
                  <a:srgbClr val="FFFFFF"/>
                </a:solidFill>
              </a:rPr>
              <a:t>Régime Bear</a:t>
            </a:r>
          </a:p>
        </p:txBody>
      </p:sp>
      <p:sp>
        <p:nvSpPr>
          <p:cNvPr id="20" name="Rectangle 19"/>
          <p:cNvSpPr/>
          <p:nvPr/>
        </p:nvSpPr>
        <p:spPr>
          <a:xfrm>
            <a:off x="117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06000" y="1368000"/>
            <a:ext cx="738000" cy="162000"/>
          </a:xfrm>
          <a:prstGeom prst="rect">
            <a:avLst/>
          </a:prstGeom>
          <a:noFill/>
        </p:spPr>
        <p:txBody>
          <a:bodyPr wrap="square" anchor="ctr">
            <a:spAutoFit/>
          </a:bodyPr>
          <a:lstStyle/>
          <a:p>
            <a:pPr algn="ctr"/>
            <a:r>
              <a:rPr sz="750" b="0" i="0">
                <a:solidFill>
                  <a:srgbClr val="1B3A6B"/>
                </a:solidFill>
              </a:rPr>
              <a:t>VIX 26</a:t>
            </a:r>
          </a:p>
        </p:txBody>
      </p:sp>
      <p:sp>
        <p:nvSpPr>
          <p:cNvPr id="22" name="Rectangle 21"/>
          <p:cNvSpPr/>
          <p:nvPr/>
        </p:nvSpPr>
        <p:spPr>
          <a:xfrm>
            <a:off x="2015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05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86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897999" y="1368000"/>
            <a:ext cx="738000" cy="162000"/>
          </a:xfrm>
          <a:prstGeom prst="rect">
            <a:avLst/>
          </a:prstGeom>
          <a:noFill/>
        </p:spPr>
        <p:txBody>
          <a:bodyPr wrap="square" anchor="ctr">
            <a:spAutoFit/>
          </a:bodyPr>
          <a:lstStyle/>
          <a:p>
            <a:pPr algn="ctr"/>
            <a:r>
              <a:rPr sz="750" b="0" i="0">
                <a:solidFill>
                  <a:srgbClr val="1B3A6B"/>
                </a:solidFill>
              </a:rPr>
              <a:t>Rec. 6M 34%</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Résultats semestriels 2024 des Utilities</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Une amélioration des marges des énergéticiens français grâce à la stabilisation des prix de l'électricité pourrait justi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Politique de distribution des REITs</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Un relèvement des dividendes des foncières immobilières, soutenu par la reprise du marché locatif, renforcerait l'attrac</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Dynamique des prix de l'énergie</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Une hausse durable des cours du pétrole ou du gaz bénéficierait directement aux valeurs énergétiques du CAC 40, déjà en </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CAC 40 est Surpondérer avec une conviction de 55% (sur la base des 11 secteurs analyses). 6 secteur(s) ressortent Surpondérer — Utilities, Energy, Real Estate — portes par leur momentum positif 52 semaines. 5 secteurs sont Neutre et 0 en Sous-ponderer.  Le CAC 40 affiche un cours de 7 909 (YTD : -3.5%). P/E Forward 12.8x vs médiane historique 10 ans 15.5x — valorisation en ligne avec l'historique. ERP Damodaran 3.5% (adequat). Score composite moyen : 63.7/100 — conviction 55 %. Secteurs a Surponderer : aucun. Secteurs a eviter : aucun. Horizon d'allocation recommande : 12 mois.</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^FCHI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(^FCHI)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CAC 40 regroupe les 40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7 909</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-3.5%</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40</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Surpondérer (score composite 63.7/100). P/E Forward 12.8x vs médiane historique 15.5x — valorisation proche des normes historiques. ERP Damodaran : 3.5% (Neutre). Secteurs a Surponderer : Utilities  ·  Energy  ·  Real Estate. Secteurs a Sous-ponderer : aucun. 5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12.8x</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Prime vs médiane 10Y</a:t>
                      </a:r>
                    </a:p>
                  </a:txBody>
                  <a:tcPr>
                    <a:noFill/>
                  </a:tcPr>
                </a:tc>
              </a:tr>
              <a:tr h="30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15.5x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normalisé</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3.5%</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-17% decote</a:t>
                      </a:r>
                    </a:p>
                  </a:txBody>
                  <a:tcPr>
                    <a:noFill/>
                  </a:tcPr>
                </a:tc>
                <a:tc>
                  <a:txBody>
                    <a:bodyPr/>
                    <a:lstStyle/>
                    <a:p>
                      <a:pPr algn="ctr"/>
                      <a:r>
                        <a:rPr sz="800" b="0">
                          <a:solidFill>
                            <a:srgbClr val="1A1A1A"/>
                          </a:solidFill>
                        </a:rPr>
                        <a:t>Surévalué si &gt; 20 %</a:t>
                      </a:r>
                    </a:p>
                  </a:txBody>
                  <a:tcPr>
                    <a:noFill/>
                  </a:tcPr>
                </a:tc>
                <a:tc>
                  <a:txBody>
                    <a:bodyPr/>
                    <a:lstStyle/>
                    <a:p>
                      <a:pPr algn="ctr"/>
                      <a:r>
                        <a:rPr sz="800" b="0">
                          <a:solidFill>
                            <a:srgbClr val="1A1A1A"/>
                          </a:solidFill>
                        </a:rPr>
                        <a:t>Signal d'alerte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de 12.8x du CAC 40 se situe en dessous de sa moyenne historique sur 10 ans (15.2x), suggérant une décote relative attractive pour les investisseurs long terme. L'ERP neutre à 3.5% reflète un équilibre entre rendement des actions et obligations, mais reste sensible à une remontée des taux sans croissance compensatrice.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Économique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Signaux FRED  ·  Modèle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avancée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normalisée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avancées positionne le cycle en phase d'expansion avancée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modérée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Légèrement inversée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Chômage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Marché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recommandée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avancées positionne le cycle en phase d'expansion avancée : ISM Manufacturier autour du seuil 50 (49.8), courbe des taux partiellement normalisée (10Y-2Y +0.2%), Leading Indicators OCDE en légère hausse. Cette configuration favorise les secteurs avec forte visibilité BPA et moindre sensibilité aux taux : Technology, Health Care, Financials. Les secteurs défensifs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40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18.1%</a:t>
                      </a:r>
                    </a:p>
                  </a:txBody>
                  <a:tcPr>
                    <a:noFill/>
                  </a:tcPr>
                </a:tc>
                <a:tc>
                  <a:txBody>
                    <a:bodyPr/>
                    <a:lstStyle/>
                    <a:p>
                      <a:pPr algn="ctr"/>
                      <a:r>
                        <a:rPr sz="800" b="0">
                          <a:solidFill>
                            <a:srgbClr val="1A1A1A"/>
                          </a:solidFill>
                        </a:rPr>
                        <a:t>-6.6%</a:t>
                      </a:r>
                    </a:p>
                  </a:txBody>
                  <a:tcPr>
                    <a:noFill/>
                  </a:tcPr>
                </a:tc>
                <a:tc>
                  <a:txBody>
                    <a:bodyPr/>
                    <a:lstStyle/>
                    <a:p>
                      <a:pPr algn="ctr"/>
                      <a:r>
                        <a:rPr sz="800" b="0">
                          <a:solidFill>
                            <a:srgbClr val="1A1A1A"/>
                          </a:solidFill>
                        </a:rPr>
                        <a:t>1.8x</a:t>
                      </a:r>
                    </a:p>
                  </a:txBody>
                  <a:tcPr>
                    <a:noFill/>
                  </a:tcPr>
                </a:tc>
                <a:tc>
                  <a:txBody>
                    <a:bodyPr/>
                    <a:lstStyle/>
                    <a:p>
                      <a:pPr algn="ctr"/>
                      <a:r>
                        <a:rPr sz="800" b="0">
                          <a:solidFill>
                            <a:srgbClr val="1A1A1A"/>
                          </a:solidFill>
                        </a:rPr>
                        <a:t>3.5%</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18.0%</a:t>
                      </a:r>
                    </a:p>
                  </a:txBody>
                  <a:tcPr>
                    <a:solidFill>
                      <a:srgbClr val="F5F7FA"/>
                    </a:solidFill>
                  </a:tcPr>
                </a:tc>
                <a:tc>
                  <a:txBody>
                    <a:bodyPr/>
                    <a:lstStyle/>
                    <a:p>
                      <a:pPr algn="ctr"/>
                      <a:r>
                        <a:rPr sz="800" b="0">
                          <a:solidFill>
                            <a:srgbClr val="1A1A1A"/>
                          </a:solidFill>
                        </a:rPr>
                        <a:t>-2.5%</a:t>
                      </a:r>
                    </a:p>
                  </a:txBody>
                  <a:tcPr>
                    <a:solidFill>
                      <a:srgbClr val="F5F7FA"/>
                    </a:solidFill>
                  </a:tcPr>
                </a:tc>
                <a:tc>
                  <a:txBody>
                    <a:bodyPr/>
                    <a:lstStyle/>
                    <a:p>
                      <a:pPr algn="ctr"/>
                      <a:r>
                        <a:rPr sz="800" b="0">
                          <a:solidFill>
                            <a:srgbClr val="1A1A1A"/>
                          </a:solidFill>
                        </a:rPr>
                        <a:t>2.3x</a:t>
                      </a:r>
                    </a:p>
                  </a:txBody>
                  <a:tcPr>
                    <a:solidFill>
                      <a:srgbClr val="F5F7FA"/>
                    </a:solidFill>
                  </a:tcPr>
                </a:tc>
                <a:tc>
                  <a:txBody>
                    <a:bodyPr/>
                    <a:lstStyle/>
                    <a:p>
                      <a:pPr algn="ctr"/>
                      <a:r>
                        <a:rPr sz="800" b="0">
                          <a:solidFill>
                            <a:srgbClr val="1A1A1A"/>
                          </a:solidFill>
                        </a:rPr>
                        <a:t>4.0%</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64.4%</a:t>
                      </a:r>
                    </a:p>
                  </a:txBody>
                  <a:tcPr>
                    <a:noFill/>
                  </a:tcPr>
                </a:tc>
                <a:tc>
                  <a:txBody>
                    <a:bodyPr/>
                    <a:lstStyle/>
                    <a:p>
                      <a:pPr algn="ctr"/>
                      <a:r>
                        <a:rPr sz="800" b="0">
                          <a:solidFill>
                            <a:srgbClr val="1A1A1A"/>
                          </a:solidFill>
                        </a:rPr>
                        <a:t>-3.8%</a:t>
                      </a:r>
                    </a:p>
                  </a:txBody>
                  <a:tcPr>
                    <a:noFill/>
                  </a:tcPr>
                </a:tc>
                <a:tc>
                  <a:txBody>
                    <a:bodyPr/>
                    <a:lstStyle/>
                    <a:p>
                      <a:pPr algn="ctr"/>
                      <a:r>
                        <a:rPr sz="800" b="0">
                          <a:solidFill>
                            <a:srgbClr val="1A1A1A"/>
                          </a:solidFill>
                        </a:rPr>
                        <a:t>2.1x</a:t>
                      </a:r>
                    </a:p>
                  </a:txBody>
                  <a:tcPr>
                    <a:noFill/>
                  </a:tcPr>
                </a:tc>
                <a:tc>
                  <a:txBody>
                    <a:bodyPr/>
                    <a:lstStyle/>
                    <a:p>
                      <a:pPr algn="ctr"/>
                      <a:r>
                        <a:rPr sz="800" b="0">
                          <a:solidFill>
                            <a:srgbClr val="1A1A1A"/>
                          </a:solidFill>
                        </a:rPr>
                        <a:t>4.2%</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17.5%</a:t>
                      </a:r>
                    </a:p>
                  </a:txBody>
                  <a:tcPr>
                    <a:solidFill>
                      <a:srgbClr val="F5F7FA"/>
                    </a:solidFill>
                  </a:tcPr>
                </a:tc>
                <a:tc>
                  <a:txBody>
                    <a:bodyPr/>
                    <a:lstStyle/>
                    <a:p>
                      <a:pPr algn="ctr"/>
                      <a:r>
                        <a:rPr sz="800" b="0">
                          <a:solidFill>
                            <a:srgbClr val="1A1A1A"/>
                          </a:solidFill>
                        </a:rPr>
                        <a:t>-0.9%</a:t>
                      </a:r>
                    </a:p>
                  </a:txBody>
                  <a:tcPr>
                    <a:solidFill>
                      <a:srgbClr val="F5F7FA"/>
                    </a:solidFill>
                  </a:tcPr>
                </a:tc>
                <a:tc>
                  <a:txBody>
                    <a:bodyPr/>
                    <a:lstStyle/>
                    <a:p>
                      <a:pPr algn="ctr"/>
                      <a:r>
                        <a:rPr sz="800" b="0">
                          <a:solidFill>
                            <a:srgbClr val="1A1A1A"/>
                          </a:solidFill>
                        </a:rPr>
                        <a:t>3.8x</a:t>
                      </a:r>
                    </a:p>
                  </a:txBody>
                  <a:tcPr>
                    <a:solidFill>
                      <a:srgbClr val="F5F7FA"/>
                    </a:solidFill>
                  </a:tcPr>
                </a:tc>
                <a:tc>
                  <a:txBody>
                    <a:bodyPr/>
                    <a:lstStyle/>
                    <a:p>
                      <a:pPr algn="ctr"/>
                      <a:r>
                        <a:rPr sz="800" b="0">
                          <a:solidFill>
                            <a:srgbClr val="1A1A1A"/>
                          </a:solidFill>
                        </a:rPr>
                        <a:t>2.2%</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-11.8%</a:t>
                      </a:r>
                    </a:p>
                  </a:txBody>
                  <a:tcPr>
                    <a:noFill/>
                  </a:tcPr>
                </a:tc>
                <a:tc>
                  <a:txBody>
                    <a:bodyPr/>
                    <a:lstStyle/>
                    <a:p>
                      <a:pPr algn="ctr"/>
                      <a:r>
                        <a:rPr sz="800" b="0">
                          <a:solidFill>
                            <a:srgbClr val="1A1A1A"/>
                          </a:solidFill>
                        </a:rPr>
                        <a:t>1.5x</a:t>
                      </a:r>
                    </a:p>
                  </a:txBody>
                  <a:tcPr>
                    <a:noFill/>
                  </a:tcPr>
                </a:tc>
                <a:tc>
                  <a:txBody>
                    <a:bodyPr/>
                    <a:lstStyle/>
                    <a:p>
                      <a:pPr algn="ctr"/>
                      <a:r>
                        <a:rPr sz="800" b="0">
                          <a:solidFill>
                            <a:srgbClr val="1A1A1A"/>
                          </a:solidFill>
                        </a:rPr>
                        <a:t>2.5%</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14.7%</a:t>
                      </a:r>
                    </a:p>
                  </a:txBody>
                  <a:tcPr>
                    <a:solidFill>
                      <a:srgbClr val="F5F7FA"/>
                    </a:solidFill>
                  </a:tcPr>
                </a:tc>
                <a:tc>
                  <a:txBody>
                    <a:bodyPr/>
                    <a:lstStyle/>
                    <a:p>
                      <a:pPr algn="ctr"/>
                      <a:r>
                        <a:rPr sz="800" b="0">
                          <a:solidFill>
                            <a:srgbClr val="1A1A1A"/>
                          </a:solidFill>
                        </a:rPr>
                        <a:t>+3.6%</a:t>
                      </a:r>
                    </a:p>
                  </a:txBody>
                  <a:tcPr>
                    <a:solidFill>
                      <a:srgbClr val="F5F7FA"/>
                    </a:solidFill>
                  </a:tcPr>
                </a:tc>
                <a:tc>
                  <a:txBody>
                    <a:bodyPr/>
                    <a:lstStyle/>
                    <a:p>
                      <a:pPr algn="ctr"/>
                      <a:r>
                        <a:rPr sz="800" b="0">
                          <a:solidFill>
                            <a:srgbClr val="1A1A1A"/>
                          </a:solidFill>
                        </a:rPr>
                        <a:t>4.9x</a:t>
                      </a:r>
                    </a:p>
                  </a:txBody>
                  <a:tcPr>
                    <a:solidFill>
                      <a:srgbClr val="F5F7FA"/>
                    </a:solidFill>
                  </a:tcPr>
                </a:tc>
                <a:tc>
                  <a:txBody>
                    <a:bodyPr/>
                    <a:lstStyle/>
                    <a:p>
                      <a:pPr algn="ctr"/>
                      <a:r>
                        <a:rPr sz="800" b="0">
                          <a:solidFill>
                            <a:srgbClr val="1A1A1A"/>
                          </a:solidFill>
                        </a:rPr>
                        <a:t>1.8%</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17.9%</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1A1A1A"/>
                          </a:solidFill>
                        </a:rPr>
                        <a:t>5.2x</a:t>
                      </a:r>
                    </a:p>
                  </a:txBody>
                  <a:tcPr>
                    <a:noFill/>
                  </a:tcPr>
                </a:tc>
                <a:tc>
                  <a:txBody>
                    <a:bodyPr/>
                    <a:lstStyle/>
                    <a:p>
                      <a:pPr algn="ctr"/>
                      <a:r>
                        <a:rPr sz="800" b="0">
                          <a:solidFill>
                            <a:srgbClr val="1A1A1A"/>
                          </a:solidFill>
                        </a:rPr>
                        <a:t>3.0%</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6.2%</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3.6x</a:t>
                      </a:r>
                    </a:p>
                  </a:txBody>
                  <a:tcPr>
                    <a:solidFill>
                      <a:srgbClr val="F5F7FA"/>
                    </a:solidFill>
                  </a:tcPr>
                </a:tc>
                <a:tc>
                  <a:txBody>
                    <a:bodyPr/>
                    <a:lstStyle/>
                    <a:p>
                      <a:pPr algn="ctr"/>
                      <a:r>
                        <a:rPr sz="800" b="0">
                          <a:solidFill>
                            <a:srgbClr val="1A1A1A"/>
                          </a:solidFill>
                        </a:rPr>
                        <a:t>1.1%</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22.2%</a:t>
                      </a:r>
                    </a:p>
                  </a:txBody>
                  <a:tcPr>
                    <a:noFill/>
                  </a:tcPr>
                </a:tc>
                <a:tc>
                  <a:txBody>
                    <a:bodyPr/>
                    <a:lstStyle/>
                    <a:p>
                      <a:pPr algn="ctr"/>
                      <a:r>
                        <a:rPr sz="800" b="0">
                          <a:solidFill>
                            <a:srgbClr val="1A1A1A"/>
                          </a:solidFill>
                        </a:rPr>
                        <a:t>+6.9%</a:t>
                      </a:r>
                    </a:p>
                  </a:txBody>
                  <a:tcPr>
                    <a:noFill/>
                  </a:tcPr>
                </a:tc>
                <a:tc>
                  <a:txBody>
                    <a:bodyPr/>
                    <a:lstStyle/>
                    <a:p>
                      <a:pPr algn="ctr"/>
                      <a:r>
                        <a:rPr sz="800" b="0">
                          <a:solidFill>
                            <a:srgbClr val="1A1A1A"/>
                          </a:solidFill>
                        </a:rPr>
                        <a:t>4.2x</a:t>
                      </a:r>
                    </a:p>
                  </a:txBody>
                  <a:tcPr>
                    <a:noFill/>
                  </a:tcPr>
                </a:tc>
                <a:tc>
                  <a:txBody>
                    <a:bodyPr/>
                    <a:lstStyle/>
                    <a:p>
                      <a:pPr algn="ctr"/>
                      <a:r>
                        <a:rPr sz="800" b="0">
                          <a:solidFill>
                            <a:srgbClr val="1A1A1A"/>
                          </a:solidFill>
                        </a:rPr>
                        <a:t>1.6%</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17.4%</a:t>
                      </a:r>
                    </a:p>
                  </a:txBody>
                  <a:tcPr>
                    <a:solidFill>
                      <a:srgbClr val="F5F7FA"/>
                    </a:solidFill>
                  </a:tcPr>
                </a:tc>
                <a:tc>
                  <a:txBody>
                    <a:bodyPr/>
                    <a:lstStyle/>
                    <a:p>
                      <a:pPr algn="ctr"/>
                      <a:r>
                        <a:rPr sz="800" b="0">
                          <a:solidFill>
                            <a:srgbClr val="1A1A1A"/>
                          </a:solidFill>
                        </a:rPr>
                        <a:t>-0.1%</a:t>
                      </a:r>
                    </a:p>
                  </a:txBody>
                  <a:tcPr>
                    <a:solidFill>
                      <a:srgbClr val="F5F7FA"/>
                    </a:solidFill>
                  </a:tcPr>
                </a:tc>
                <a:tc>
                  <a:txBody>
                    <a:bodyPr/>
                    <a:lstStyle/>
                    <a:p>
                      <a:pPr algn="ctr"/>
                      <a:r>
                        <a:rPr sz="800" b="0">
                          <a:solidFill>
                            <a:srgbClr val="1A1A1A"/>
                          </a:solidFill>
                        </a:rPr>
                        <a:t>8.5x</a:t>
                      </a:r>
                    </a:p>
                  </a:txBody>
                  <a:tcPr>
                    <a:solidFill>
                      <a:srgbClr val="F5F7FA"/>
                    </a:solidFill>
                  </a:tcPr>
                </a:tc>
                <a:tc>
                  <a:txBody>
                    <a:bodyPr/>
                    <a:lstStyle/>
                    <a:p>
                      <a:pPr algn="ctr"/>
                      <a:r>
                        <a:rPr sz="800" b="0">
                          <a:solidFill>
                            <a:srgbClr val="1A1A1A"/>
                          </a:solidFill>
                        </a:rPr>
                        <a:t>0.7%</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19.2%</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5.8x</a:t>
                      </a:r>
                    </a:p>
                  </a:txBody>
                  <a:tcPr>
                    <a:noFill/>
                  </a:tcPr>
                </a:tc>
                <a:tc>
                  <a:txBody>
                    <a:bodyPr/>
                    <a:lstStyle/>
                    <a:p>
                      <a:pPr algn="ctr"/>
                      <a:r>
                        <a:rPr sz="800" b="0">
                          <a:solidFill>
                            <a:srgbClr val="1A1A1A"/>
                          </a:solidFill>
                        </a:rPr>
                        <a:t>0.9%</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6 secteur(s) sur 11 franchissent le seuil Surpondérer (score &gt; 65) : Utilities · Energy · Real Estate · Materials · Financials · Industrials. 0 secteur(s) en Sous-pondérer : aucun. 5 secteur(s) en position Neutre. L'écart entre le secteur leader (Utilities, score 85/100) et le secteur le plus faible (Consumer Discretionary, score 40/100) est de 45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Utilities  ·  Energy en zone Opportunite (EV/EBITDA attractif) — forte conviction score Surponderer.
Utilities  ·  Energy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Energy</a:t>
                      </a:r>
                    </a:p>
                  </a:txBody>
                  <a:tcPr>
                    <a:solidFill>
                      <a:srgbClr val="F5F7FA"/>
                    </a:solid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Real Estate</a:t>
                      </a:r>
                    </a:p>
                  </a:txBody>
                  <a:tcPr>
                    <a:noFill/>
                  </a:tcPr>
                </a:tc>
                <a:tc>
                  <a:txBody>
                    <a:bodyPr/>
                    <a:lstStyle/>
                    <a:p>
                      <a:pPr algn="ctr"/>
                      <a:r>
                        <a:rPr sz="800" b="0">
                          <a:solidFill>
                            <a:srgbClr val="1A1A1A"/>
                          </a:solidFill>
                        </a:rPr>
                        <a:t>85</a:t>
                      </a:r>
                    </a:p>
                  </a:txBody>
                  <a:tcPr>
                    <a:solidFill>
                      <a:srgbClr val="E8F5EE"/>
                    </a:solidFill>
                  </a:tcPr>
                </a:tc>
                <a:tc>
                  <a:txBody>
                    <a:bodyPr/>
                    <a:lstStyle/>
                    <a:p>
                      <a:pPr algn="ctr"/>
                      <a:r>
                        <a:rPr sz="800" b="0">
                          <a:solidFill>
                            <a:srgbClr val="1A1A1A"/>
                          </a:solidFill>
                        </a:rPr>
                        <a:t>34</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1A1A"/>
                          </a:solidFill>
                        </a:rPr>
                        <a:t>26</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1A1A"/>
                          </a:solidFill>
                        </a:rPr>
                        <a:t>22</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71</a:t>
                      </a:r>
                    </a:p>
                  </a:txBody>
                  <a:tcPr>
                    <a:solidFill>
                      <a:srgbClr val="E8F5EE"/>
                    </a:solidFill>
                  </a:tcPr>
                </a:tc>
                <a:tc>
                  <a:txBody>
                    <a:bodyPr/>
                    <a:lstStyle/>
                    <a:p>
                      <a:pPr algn="ctr"/>
                      <a:r>
                        <a:rPr sz="800" b="0">
                          <a:solidFill>
                            <a:srgbClr val="1A1A1A"/>
                          </a:solidFill>
                        </a:rPr>
                        <a:t>28</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51</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50</a:t>
                      </a:r>
                    </a:p>
                  </a:txBody>
                  <a:tcPr>
                    <a:solidFill>
                      <a:srgbClr val="FDF3E5"/>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Health Care</a:t>
                      </a:r>
                    </a:p>
                  </a:txBody>
                  <a:tcPr>
                    <a:noFill/>
                  </a:tcPr>
                </a:tc>
                <a:tc>
                  <a:txBody>
                    <a:bodyPr/>
                    <a:lstStyle/>
                    <a:p>
                      <a:pPr algn="ctr"/>
                      <a:r>
                        <a:rPr sz="800" b="0">
                          <a:solidFill>
                            <a:srgbClr val="1A1A1A"/>
                          </a:solidFill>
                        </a:rPr>
                        <a:t>49</a:t>
                      </a:r>
                    </a:p>
                  </a:txBody>
                  <a:tcPr>
                    <a:solidFill>
                      <a:srgbClr val="FDF3E5"/>
                    </a:solidFill>
                  </a:tcPr>
                </a:tc>
                <a:tc>
                  <a:txBody>
                    <a:bodyPr/>
                    <a:lstStyle/>
                    <a:p>
                      <a:pPr algn="ctr"/>
                      <a:r>
                        <a:rPr sz="800" b="0">
                          <a:solidFill>
                            <a:srgbClr val="1A1A1A"/>
                          </a:solidFill>
                        </a:rPr>
                        <a:t>20</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1A1A1A"/>
                          </a:solidFill>
                        </a:rPr>
                        <a:t>15</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Technology</a:t>
                      </a:r>
                    </a:p>
                  </a:txBody>
                  <a:tcPr>
                    <a:solidFill>
                      <a:srgbClr val="F5F7FA"/>
                    </a:solidFill>
                  </a:tcPr>
                </a:tc>
                <a:tc>
                  <a:txBody>
                    <a:bodyPr/>
                    <a:lstStyle/>
                    <a:p>
                      <a:pPr algn="ctr"/>
                      <a:r>
                        <a:rPr sz="800" b="0">
                          <a:solidFill>
                            <a:srgbClr val="1A1A1A"/>
                          </a:solidFill>
                        </a:rPr>
                        <a:t>41</a:t>
                      </a:r>
                    </a:p>
                  </a:txBody>
                  <a:tcPr>
                    <a:solidFill>
                      <a:srgbClr val="FBEBEB"/>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40</a:t>
                      </a:r>
                    </a:p>
                  </a:txBody>
                  <a:tcPr>
                    <a:solidFill>
                      <a:srgbClr val="FBEBEB"/>
                    </a:solid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1A1A1A"/>
                          </a:solidFill>
                        </a:rPr>
                        <a:t>12</a:t>
                      </a:r>
                    </a:p>
                  </a:txBody>
                  <a:tcPr>
                    <a:noFill/>
                  </a:tcPr>
                </a:tc>
                <a:tc>
                  <a:txBody>
                    <a:bodyPr/>
                    <a:lstStyle/>
                    <a:p>
                      <a:pPr algn="ctr"/>
                      <a:r>
                        <a:rPr sz="800" b="0">
                          <a:solidFill>
                            <a:srgbClr val="B06000"/>
                          </a:solidFill>
                        </a:rPr>
                        <a:t>Neutre</a:t>
                      </a:r>
                    </a:p>
                  </a:txBody>
                  <a:tcPr>
                    <a:solidFill>
                      <a:srgbClr val="FDF3E5"/>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Utilities domine avec le score le plus élevé. Le momentum (34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Utilities</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85/100  ·  EV/EBITDA : 9.1x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684000" cy="198000"/>
          </a:xfrm>
          <a:prstGeom prst="rect">
            <a:avLst/>
          </a:prstGeom>
          <a:noFill/>
        </p:spPr>
        <p:txBody>
          <a:bodyPr wrap="square">
            <a:spAutoFit/>
          </a:bodyPr>
          <a:lstStyle/>
          <a:p>
            <a:pPr algn="l"/>
            <a:r>
              <a:rPr sz="800" b="1" i="0">
                <a:solidFill>
                  <a:srgbClr val="1B3A6B"/>
                </a:solidFill>
              </a:rPr>
              <a:t>ENGI.PA</a:t>
            </a:r>
          </a:p>
        </p:txBody>
      </p:sp>
      <p:sp>
        <p:nvSpPr>
          <p:cNvPr id="24" name="TextBox 23"/>
          <p:cNvSpPr txBox="1"/>
          <p:nvPr/>
        </p:nvSpPr>
        <p:spPr>
          <a:xfrm>
            <a:off x="1152000" y="1620000"/>
            <a:ext cx="540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92000" y="1620000"/>
            <a:ext cx="540000" cy="198000"/>
          </a:xfrm>
          <a:prstGeom prst="rect">
            <a:avLst/>
          </a:prstGeom>
          <a:noFill/>
        </p:spPr>
        <p:txBody>
          <a:bodyPr wrap="square">
            <a:spAutoFit/>
          </a:bodyPr>
          <a:lstStyle/>
          <a:p>
            <a:pPr algn="l"/>
            <a:r>
              <a:rPr sz="800" b="0" i="0">
                <a:solidFill>
                  <a:srgbClr val="555555"/>
                </a:solidFill>
              </a:rPr>
              <a:t>9.1x</a:t>
            </a:r>
          </a:p>
        </p:txBody>
      </p:sp>
      <p:sp>
        <p:nvSpPr>
          <p:cNvPr id="26" name="TextBox 25"/>
          <p:cNvSpPr txBox="1"/>
          <p:nvPr/>
        </p:nvSpPr>
        <p:spPr>
          <a:xfrm>
            <a:off x="2232000" y="1620000"/>
            <a:ext cx="540000" cy="198000"/>
          </a:xfrm>
          <a:prstGeom prst="rect">
            <a:avLst/>
          </a:prstGeom>
          <a:noFill/>
        </p:spPr>
        <p:txBody>
          <a:bodyPr wrap="square">
            <a:spAutoFit/>
          </a:bodyPr>
          <a:lstStyle/>
          <a:p>
            <a:pPr algn="l"/>
            <a:r>
              <a:rPr sz="800" b="0" i="0">
                <a:solidFill>
                  <a:srgbClr val="555555"/>
                </a:solidFill>
              </a:rPr>
              <a:t>85</a:t>
            </a:r>
          </a:p>
        </p:txBody>
      </p:sp>
      <p:sp>
        <p:nvSpPr>
          <p:cNvPr id="27" name="TextBox 2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28" name="Rectangle 2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Performance 52S +62.9% — momentum surpondérer</a:t>
            </a:r>
          </a:p>
        </p:txBody>
      </p:sp>
      <p:sp>
        <p:nvSpPr>
          <p:cNvPr id="30" name="TextBox 2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31" name="Rectangle 3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33" name="Rectangle 3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Energy</a:t>
            </a:r>
          </a:p>
        </p:txBody>
      </p:sp>
      <p:sp>
        <p:nvSpPr>
          <p:cNvPr id="36" name="Rectangle 3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38" name="TextBox 3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85/100  ·  EV/EBITDA : 6.2x</a:t>
            </a:r>
          </a:p>
        </p:txBody>
      </p:sp>
      <p:sp>
        <p:nvSpPr>
          <p:cNvPr id="39" name="TextBox 3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40" name="Rectangle 3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94000" y="1620000"/>
            <a:ext cx="684000" cy="198000"/>
          </a:xfrm>
          <a:prstGeom prst="rect">
            <a:avLst/>
          </a:prstGeom>
          <a:noFill/>
        </p:spPr>
        <p:txBody>
          <a:bodyPr wrap="square">
            <a:spAutoFit/>
          </a:bodyPr>
          <a:lstStyle/>
          <a:p>
            <a:pPr algn="l"/>
            <a:r>
              <a:rPr sz="800" b="1" i="0">
                <a:solidFill>
                  <a:srgbClr val="1B3A6B"/>
                </a:solidFill>
              </a:rPr>
              <a:t>TTE.PA</a:t>
            </a:r>
          </a:p>
        </p:txBody>
      </p:sp>
      <p:sp>
        <p:nvSpPr>
          <p:cNvPr id="42" name="TextBox 41"/>
          <p:cNvSpPr txBox="1"/>
          <p:nvPr/>
        </p:nvSpPr>
        <p:spPr>
          <a:xfrm>
            <a:off x="3978000" y="1620000"/>
            <a:ext cx="540000" cy="198000"/>
          </a:xfrm>
          <a:prstGeom prst="rect">
            <a:avLst/>
          </a:prstGeom>
          <a:noFill/>
        </p:spPr>
        <p:txBody>
          <a:bodyPr wrap="square">
            <a:spAutoFit/>
          </a:bodyPr>
          <a:lstStyle/>
          <a:p>
            <a:pPr algn="l"/>
            <a:r>
              <a:rPr sz="800" b="0" i="0">
                <a:solidFill>
                  <a:srgbClr val="1A7A4A"/>
                </a:solidFill>
              </a:rPr>
              <a:t>Surp.</a:t>
            </a:r>
          </a:p>
        </p:txBody>
      </p:sp>
      <p:sp>
        <p:nvSpPr>
          <p:cNvPr id="43" name="TextBox 42"/>
          <p:cNvSpPr txBox="1"/>
          <p:nvPr/>
        </p:nvSpPr>
        <p:spPr>
          <a:xfrm>
            <a:off x="4518000" y="1620000"/>
            <a:ext cx="540000" cy="198000"/>
          </a:xfrm>
          <a:prstGeom prst="rect">
            <a:avLst/>
          </a:prstGeom>
          <a:noFill/>
        </p:spPr>
        <p:txBody>
          <a:bodyPr wrap="square">
            <a:spAutoFit/>
          </a:bodyPr>
          <a:lstStyle/>
          <a:p>
            <a:pPr algn="l"/>
            <a:r>
              <a:rPr sz="800" b="0" i="0">
                <a:solidFill>
                  <a:srgbClr val="555555"/>
                </a:solidFill>
              </a:rPr>
              <a:t>6.2x</a:t>
            </a:r>
          </a:p>
        </p:txBody>
      </p:sp>
      <p:sp>
        <p:nvSpPr>
          <p:cNvPr id="44" name="TextBox 43"/>
          <p:cNvSpPr txBox="1"/>
          <p:nvPr/>
        </p:nvSpPr>
        <p:spPr>
          <a:xfrm>
            <a:off x="5058000" y="1620000"/>
            <a:ext cx="540000" cy="198000"/>
          </a:xfrm>
          <a:prstGeom prst="rect">
            <a:avLst/>
          </a:prstGeom>
          <a:noFill/>
        </p:spPr>
        <p:txBody>
          <a:bodyPr wrap="square">
            <a:spAutoFit/>
          </a:bodyPr>
          <a:lstStyle/>
          <a:p>
            <a:pPr algn="l"/>
            <a:r>
              <a:rPr sz="800" b="0" i="0">
                <a:solidFill>
                  <a:srgbClr val="555555"/>
                </a:solidFill>
              </a:rPr>
              <a:t>85</a:t>
            </a:r>
          </a:p>
        </p:txBody>
      </p:sp>
      <p:sp>
        <p:nvSpPr>
          <p:cNvPr id="45" name="TextBox 4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46" name="Rectangle 4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Performance 52S +57.4% — momentum surpondérer</a:t>
            </a:r>
          </a:p>
        </p:txBody>
      </p:sp>
      <p:sp>
        <p:nvSpPr>
          <p:cNvPr id="48" name="TextBox 4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9" name="Rectangle 4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51" name="Rectangle 5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Real Estate</a:t>
            </a:r>
          </a:p>
        </p:txBody>
      </p:sp>
      <p:sp>
        <p:nvSpPr>
          <p:cNvPr id="54" name="Rectangle 5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56" name="TextBox 5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85/100  ·  EV/EBITDA : 17.0x</a:t>
            </a:r>
          </a:p>
        </p:txBody>
      </p:sp>
      <p:sp>
        <p:nvSpPr>
          <p:cNvPr id="57" name="TextBox 5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8" name="Rectangle 5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119999" y="1620000"/>
            <a:ext cx="684000" cy="198000"/>
          </a:xfrm>
          <a:prstGeom prst="rect">
            <a:avLst/>
          </a:prstGeom>
          <a:noFill/>
        </p:spPr>
        <p:txBody>
          <a:bodyPr wrap="square">
            <a:spAutoFit/>
          </a:bodyPr>
          <a:lstStyle/>
          <a:p>
            <a:pPr algn="l"/>
            <a:r>
              <a:rPr sz="800" b="1" i="0">
                <a:solidFill>
                  <a:srgbClr val="1B3A6B"/>
                </a:solidFill>
              </a:rPr>
              <a:t>URW.PA</a:t>
            </a:r>
          </a:p>
        </p:txBody>
      </p:sp>
      <p:sp>
        <p:nvSpPr>
          <p:cNvPr id="60" name="TextBox 59"/>
          <p:cNvSpPr txBox="1"/>
          <p:nvPr/>
        </p:nvSpPr>
        <p:spPr>
          <a:xfrm>
            <a:off x="6803999" y="1620000"/>
            <a:ext cx="540000" cy="198000"/>
          </a:xfrm>
          <a:prstGeom prst="rect">
            <a:avLst/>
          </a:prstGeom>
          <a:noFill/>
        </p:spPr>
        <p:txBody>
          <a:bodyPr wrap="square">
            <a:spAutoFit/>
          </a:bodyPr>
          <a:lstStyle/>
          <a:p>
            <a:pPr algn="l"/>
            <a:r>
              <a:rPr sz="800" b="0" i="0">
                <a:solidFill>
                  <a:srgbClr val="1A7A4A"/>
                </a:solidFill>
              </a:rPr>
              <a:t>Surp.</a:t>
            </a:r>
          </a:p>
        </p:txBody>
      </p:sp>
      <p:sp>
        <p:nvSpPr>
          <p:cNvPr id="61" name="TextBox 60"/>
          <p:cNvSpPr txBox="1"/>
          <p:nvPr/>
        </p:nvSpPr>
        <p:spPr>
          <a:xfrm>
            <a:off x="7343999" y="1620000"/>
            <a:ext cx="540000" cy="198000"/>
          </a:xfrm>
          <a:prstGeom prst="rect">
            <a:avLst/>
          </a:prstGeom>
          <a:noFill/>
        </p:spPr>
        <p:txBody>
          <a:bodyPr wrap="square">
            <a:spAutoFit/>
          </a:bodyPr>
          <a:lstStyle/>
          <a:p>
            <a:pPr algn="l"/>
            <a:r>
              <a:rPr sz="800" b="0" i="0">
                <a:solidFill>
                  <a:srgbClr val="555555"/>
                </a:solidFill>
              </a:rPr>
              <a:t>17.0x</a:t>
            </a:r>
          </a:p>
        </p:txBody>
      </p:sp>
      <p:sp>
        <p:nvSpPr>
          <p:cNvPr id="62" name="TextBox 61"/>
          <p:cNvSpPr txBox="1"/>
          <p:nvPr/>
        </p:nvSpPr>
        <p:spPr>
          <a:xfrm>
            <a:off x="7883999" y="1620000"/>
            <a:ext cx="540000" cy="198000"/>
          </a:xfrm>
          <a:prstGeom prst="rect">
            <a:avLst/>
          </a:prstGeom>
          <a:noFill/>
        </p:spPr>
        <p:txBody>
          <a:bodyPr wrap="square">
            <a:spAutoFit/>
          </a:bodyPr>
          <a:lstStyle/>
          <a:p>
            <a:pPr algn="l"/>
            <a:r>
              <a:rPr sz="800" b="0" i="0">
                <a:solidFill>
                  <a:srgbClr val="555555"/>
                </a:solidFill>
              </a:rPr>
              <a:t>85</a:t>
            </a:r>
          </a:p>
        </p:txBody>
      </p:sp>
      <p:sp>
        <p:nvSpPr>
          <p:cNvPr id="63" name="TextBox 6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4" name="Rectangle 6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Performance 52S +48.0% — momentum surpondérer</a:t>
            </a:r>
          </a:p>
        </p:txBody>
      </p:sp>
      <p:sp>
        <p:nvSpPr>
          <p:cNvPr id="66" name="TextBox 6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7" name="Rectangle 6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Risque macro zone Euro, USD strength, taux longs</a:t>
            </a:r>
          </a:p>
        </p:txBody>
      </p:sp>
      <p:sp>
        <p:nvSpPr>
          <p:cNvPr id="69" name="Rectangle 6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Utilities — score 85/100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Energy — score 85/100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Real Estate — score 85/100</a:t>
            </a:r>
          </a:p>
        </p:txBody>
      </p:sp>
      <p:sp>
        <p:nvSpPr>
          <p:cNvPr id="27" name="TextBox 26"/>
          <p:cNvSpPr txBox="1"/>
          <p:nvPr/>
        </p:nvSpPr>
        <p:spPr>
          <a:xfrm>
            <a:off x="432000" y="3941999"/>
            <a:ext cx="3888000" cy="234000"/>
          </a:xfrm>
          <a:prstGeom prst="rect">
            <a:avLst/>
          </a:prstGeom>
          <a:noFill/>
        </p:spPr>
        <p:txBody>
          <a:bodyPr wrap="square">
            <a:spAutoFit/>
          </a:bodyPr>
          <a:lstStyle/>
          <a:p>
            <a:pPr algn="l"/>
            <a:r>
              <a:rPr sz="800" b="0" i="0">
                <a:solidFill>
                  <a:srgbClr val="555555"/>
                </a:solidFill>
              </a:rPr>
              <a:t>• Materials — score 72/100</a:t>
            </a:r>
          </a:p>
        </p:txBody>
      </p:sp>
      <p:sp>
        <p:nvSpPr>
          <p:cNvPr id="28" name="Rectangle 27"/>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1" name="Rectangle 3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d'Entrée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médiane historique 10 ans  ·  Signal d'entrée Accumuler / Neutre / Alléger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d'entrée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médiane 10 ans : 15.5x
PE Forward indice : 12.8x
Zone d'entrée favorable (PE &lt; mediane) :
Utilities  ·  Energy  ·  Real Estate
Zone de prudence (PE &gt; mediane +15 %) :
Aucun
Methodologie : le PE Forward estime est ancre sur le PE global de l'indice ajuste du score sectoriel (+/- ecart). Les secteurs a gauche de la ligne pointillee (mediane 10 ans) offrent un meilleur point d'entree. Un ecart &gt; +20 % vs la médiane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Surpondérer</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SURPONDÉRER</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CAC 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Phase actuelle : Expansion avancée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Alléger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Alléger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avancée, le signal Accumuler se concentre sur les secteurs a forte croissance BPA et pricing power : Technology (IA), Health Care (FDA pipeline), Financials (NIM). Le signal Alléger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 l'Indice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CAC 40  ·  vs S&amp;P 500, Obligations &amp; Or  ·  Indexe a 100  ·  Source yfinance</a:t>
            </a:r>
          </a:p>
        </p:txBody>
      </p:sp>
      <p:pic>
        <p:nvPicPr>
          <p:cNvPr id="15" name="Picture 14" descr="image.png"/>
          <p:cNvPicPr>
            <a:picLocks noChangeAspect="1"/>
          </p:cNvPicPr>
          <p:nvPr/>
        </p:nvPicPr>
        <p:blipFill>
          <a:blip r:embed="rId2"/>
          <a:stretch>
            <a:fillRect/>
          </a:stretch>
        </p:blipFill>
        <p:spPr>
          <a:xfrm>
            <a:off x="324000" y="792000"/>
            <a:ext cx="8496000" cy="2340000"/>
          </a:xfrm>
          <a:prstGeom prst="rect">
            <a:avLst/>
          </a:prstGeom>
        </p:spPr>
      </p:pic>
      <p:sp>
        <p:nvSpPr>
          <p:cNvPr id="16" name="Rectangle 15"/>
          <p:cNvSpPr/>
          <p:nvPr/>
        </p:nvSpPr>
        <p:spPr>
          <a:xfrm>
            <a:off x="324000" y="3240000"/>
            <a:ext cx="8496000" cy="156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240000"/>
            <a:ext cx="43200" cy="156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294000"/>
            <a:ext cx="8208000" cy="216000"/>
          </a:xfrm>
          <a:prstGeom prst="rect">
            <a:avLst/>
          </a:prstGeom>
          <a:noFill/>
        </p:spPr>
        <p:txBody>
          <a:bodyPr wrap="square">
            <a:spAutoFit/>
          </a:bodyPr>
          <a:lstStyle/>
          <a:p>
            <a:pPr algn="l"/>
            <a:r>
              <a:rPr sz="800" b="1" i="0">
                <a:solidFill>
                  <a:srgbClr val="1B3A6B"/>
                </a:solidFill>
              </a:rPr>
              <a:t>Lecture analytique — CAC 40 sur 52 semaines</a:t>
            </a:r>
          </a:p>
        </p:txBody>
      </p:sp>
      <p:sp>
        <p:nvSpPr>
          <p:cNvPr id="19" name="TextBox 18"/>
          <p:cNvSpPr txBox="1"/>
          <p:nvPr/>
        </p:nvSpPr>
        <p:spPr>
          <a:xfrm>
            <a:off x="432000" y="3528000"/>
            <a:ext cx="8208000" cy="1242000"/>
          </a:xfrm>
          <a:prstGeom prst="rect">
            <a:avLst/>
          </a:prstGeom>
          <a:noFill/>
        </p:spPr>
        <p:txBody>
          <a:bodyPr wrap="square">
            <a:spAutoFit/>
          </a:bodyPr>
          <a:lstStyle/>
          <a:p>
            <a:pPr algn="l"/>
            <a:r>
              <a:rPr sz="750" b="0" i="0">
                <a:solidFill>
                  <a:srgbClr val="555555"/>
                </a:solidFill>
              </a:rPr>
              <a:t>Tendance laterale sur 52 semaines (+0.6%). Cours actuel : 7 909 (YTD : -3.5%).  Plus haut atteint en 2026-02 (+9.7% vs base) — porte par l'appetit pour le risque et les flux entrants sur les equites europeennes.  Point bas en 2025-04 (-12.7% vs base).  Rebond de +13.3pts depuis le creux de 2025-04 — soutenu par les publications de resultats et les anticipations de politique monetaire accommodante.  Vs S&amp;P 500 (+16.2%) : sous-performance de 15.6pt — le marche US reste porte par la tech et le momentum des megacaps.  Or (+48.9%) surperforme nettement — signal d aversion au risque et demande de protection contre l inflation.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