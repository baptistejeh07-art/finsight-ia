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CAC 40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^FCHI  ·  11 secteurs analysés  ·  40 sociétés couvertes</a:t>
            </a:r>
          </a:p>
        </p:txBody>
      </p:sp>
      <p:sp>
        <p:nvSpPr>
          <p:cNvPr id="8" name="Rectangle 7"/>
          <p:cNvSpPr/>
          <p:nvPr/>
        </p:nvSpPr>
        <p:spPr>
          <a:xfrm>
            <a:off x="457200" y="2448000"/>
            <a:ext cx="8229600" cy="4752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1A7A4A"/>
                </a:solidFill>
              </a:rPr>
              <a:t>● SURPONDÉRER  ·  Conviction 55 %  ·  ERP 3.2%</a:t>
            </a:r>
          </a:p>
        </p:txBody>
      </p:sp>
      <p:sp>
        <p:nvSpPr>
          <p:cNvPr id="11" name="Rectangle 10"/>
          <p:cNvSpPr/>
          <p:nvPr/>
        </p:nvSpPr>
        <p:spPr>
          <a:xfrm>
            <a:off x="4572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200" y="3096000"/>
            <a:ext cx="1224000" cy="180000"/>
          </a:xfrm>
          <a:prstGeom prst="rect">
            <a:avLst/>
          </a:prstGeom>
          <a:noFill/>
        </p:spPr>
        <p:txBody>
          <a:bodyPr wrap="square">
            <a:spAutoFit/>
          </a:bodyPr>
          <a:lstStyle/>
          <a:p>
            <a:pPr algn="l"/>
            <a:r>
              <a:rPr sz="700" b="0" i="0">
                <a:solidFill>
                  <a:srgbClr val="555555"/>
                </a:solidFill>
              </a:rPr>
              <a:t>Cours</a:t>
            </a:r>
          </a:p>
        </p:txBody>
      </p:sp>
      <p:sp>
        <p:nvSpPr>
          <p:cNvPr id="13" name="TextBox 12"/>
          <p:cNvSpPr txBox="1"/>
          <p:nvPr/>
        </p:nvSpPr>
        <p:spPr>
          <a:xfrm>
            <a:off x="511200" y="3258000"/>
            <a:ext cx="1224000" cy="324000"/>
          </a:xfrm>
          <a:prstGeom prst="rect">
            <a:avLst/>
          </a:prstGeom>
          <a:noFill/>
        </p:spPr>
        <p:txBody>
          <a:bodyPr wrap="square">
            <a:spAutoFit/>
          </a:bodyPr>
          <a:lstStyle/>
          <a:p>
            <a:pPr algn="l"/>
            <a:r>
              <a:rPr sz="1100" b="1" i="0">
                <a:solidFill>
                  <a:srgbClr val="1B3A6B"/>
                </a:solidFill>
              </a:rPr>
              <a:t>8 222</a:t>
            </a:r>
          </a:p>
        </p:txBody>
      </p:sp>
      <p:sp>
        <p:nvSpPr>
          <p:cNvPr id="14" name="Rectangle 13"/>
          <p:cNvSpPr/>
          <p:nvPr/>
        </p:nvSpPr>
        <p:spPr>
          <a:xfrm>
            <a:off x="18288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82800" y="3096000"/>
            <a:ext cx="1224000" cy="180000"/>
          </a:xfrm>
          <a:prstGeom prst="rect">
            <a:avLst/>
          </a:prstGeom>
          <a:noFill/>
        </p:spPr>
        <p:txBody>
          <a:bodyPr wrap="square">
            <a:spAutoFit/>
          </a:bodyPr>
          <a:lstStyle/>
          <a:p>
            <a:pPr algn="l"/>
            <a:r>
              <a:rPr sz="700" b="0" i="0">
                <a:solidFill>
                  <a:srgbClr val="555555"/>
                </a:solidFill>
              </a:rPr>
              <a:t>Variation YTD</a:t>
            </a:r>
          </a:p>
        </p:txBody>
      </p:sp>
      <p:sp>
        <p:nvSpPr>
          <p:cNvPr id="16" name="TextBox 15"/>
          <p:cNvSpPr txBox="1"/>
          <p:nvPr/>
        </p:nvSpPr>
        <p:spPr>
          <a:xfrm>
            <a:off x="1882800" y="3258000"/>
            <a:ext cx="1224000" cy="324000"/>
          </a:xfrm>
          <a:prstGeom prst="rect">
            <a:avLst/>
          </a:prstGeom>
          <a:noFill/>
        </p:spPr>
        <p:txBody>
          <a:bodyPr wrap="square">
            <a:spAutoFit/>
          </a:bodyPr>
          <a:lstStyle/>
          <a:p>
            <a:pPr algn="l"/>
            <a:r>
              <a:rPr sz="1100" b="1" i="0">
                <a:solidFill>
                  <a:srgbClr val="1B3A6B"/>
                </a:solidFill>
              </a:rPr>
              <a:t>+0.3%</a:t>
            </a:r>
          </a:p>
        </p:txBody>
      </p:sp>
      <p:sp>
        <p:nvSpPr>
          <p:cNvPr id="17" name="Rectangle 16"/>
          <p:cNvSpPr/>
          <p:nvPr/>
        </p:nvSpPr>
        <p:spPr>
          <a:xfrm>
            <a:off x="32004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4400" y="3096000"/>
            <a:ext cx="1224000" cy="180000"/>
          </a:xfrm>
          <a:prstGeom prst="rect">
            <a:avLst/>
          </a:prstGeom>
          <a:noFill/>
        </p:spPr>
        <p:txBody>
          <a:bodyPr wrap="square">
            <a:spAutoFit/>
          </a:bodyPr>
          <a:lstStyle/>
          <a:p>
            <a:pPr algn="l"/>
            <a:r>
              <a:rPr sz="700" b="0" i="0">
                <a:solidFill>
                  <a:srgbClr val="555555"/>
                </a:solidFill>
              </a:rPr>
              <a:t>Surpondérer</a:t>
            </a:r>
          </a:p>
        </p:txBody>
      </p:sp>
      <p:sp>
        <p:nvSpPr>
          <p:cNvPr id="19" name="TextBox 18"/>
          <p:cNvSpPr txBox="1"/>
          <p:nvPr/>
        </p:nvSpPr>
        <p:spPr>
          <a:xfrm>
            <a:off x="3254400" y="3258000"/>
            <a:ext cx="1224000" cy="324000"/>
          </a:xfrm>
          <a:prstGeom prst="rect">
            <a:avLst/>
          </a:prstGeom>
          <a:noFill/>
        </p:spPr>
        <p:txBody>
          <a:bodyPr wrap="square">
            <a:spAutoFit/>
          </a:bodyPr>
          <a:lstStyle/>
          <a:p>
            <a:pPr algn="l"/>
            <a:r>
              <a:rPr sz="1100" b="1" i="0">
                <a:solidFill>
                  <a:srgbClr val="1B3A6B"/>
                </a:solidFill>
              </a:rPr>
              <a:t>6 sect.</a:t>
            </a:r>
          </a:p>
        </p:txBody>
      </p:sp>
      <p:sp>
        <p:nvSpPr>
          <p:cNvPr id="20" name="Rectangle 19"/>
          <p:cNvSpPr/>
          <p:nvPr/>
        </p:nvSpPr>
        <p:spPr>
          <a:xfrm>
            <a:off x="45720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26000" y="3096000"/>
            <a:ext cx="1224000" cy="180000"/>
          </a:xfrm>
          <a:prstGeom prst="rect">
            <a:avLst/>
          </a:prstGeom>
          <a:noFill/>
        </p:spPr>
        <p:txBody>
          <a:bodyPr wrap="square">
            <a:spAutoFit/>
          </a:bodyPr>
          <a:lstStyle/>
          <a:p>
            <a:pPr algn="l"/>
            <a:r>
              <a:rPr sz="700" b="0" i="0">
                <a:solidFill>
                  <a:srgbClr val="555555"/>
                </a:solidFill>
              </a:rPr>
              <a:t>Neutre</a:t>
            </a:r>
          </a:p>
        </p:txBody>
      </p:sp>
      <p:sp>
        <p:nvSpPr>
          <p:cNvPr id="22" name="TextBox 21"/>
          <p:cNvSpPr txBox="1"/>
          <p:nvPr/>
        </p:nvSpPr>
        <p:spPr>
          <a:xfrm>
            <a:off x="4626000" y="3258000"/>
            <a:ext cx="1224000" cy="324000"/>
          </a:xfrm>
          <a:prstGeom prst="rect">
            <a:avLst/>
          </a:prstGeom>
          <a:noFill/>
        </p:spPr>
        <p:txBody>
          <a:bodyPr wrap="square">
            <a:spAutoFit/>
          </a:bodyPr>
          <a:lstStyle/>
          <a:p>
            <a:pPr algn="l"/>
            <a:r>
              <a:rPr sz="1100" b="1" i="0">
                <a:solidFill>
                  <a:srgbClr val="1B3A6B"/>
                </a:solidFill>
              </a:rPr>
              <a:t>5 sect.</a:t>
            </a:r>
          </a:p>
        </p:txBody>
      </p:sp>
      <p:sp>
        <p:nvSpPr>
          <p:cNvPr id="23" name="Rectangle 22"/>
          <p:cNvSpPr/>
          <p:nvPr/>
        </p:nvSpPr>
        <p:spPr>
          <a:xfrm>
            <a:off x="59436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97600" y="3096000"/>
            <a:ext cx="1224000" cy="180000"/>
          </a:xfrm>
          <a:prstGeom prst="rect">
            <a:avLst/>
          </a:prstGeom>
          <a:noFill/>
        </p:spPr>
        <p:txBody>
          <a:bodyPr wrap="square">
            <a:spAutoFit/>
          </a:bodyPr>
          <a:lstStyle/>
          <a:p>
            <a:pPr algn="l"/>
            <a:r>
              <a:rPr sz="700" b="0" i="0">
                <a:solidFill>
                  <a:srgbClr val="555555"/>
                </a:solidFill>
              </a:rPr>
              <a:t>Sous-pondérer</a:t>
            </a:r>
          </a:p>
        </p:txBody>
      </p:sp>
      <p:sp>
        <p:nvSpPr>
          <p:cNvPr id="25" name="TextBox 24"/>
          <p:cNvSpPr txBox="1"/>
          <p:nvPr/>
        </p:nvSpPr>
        <p:spPr>
          <a:xfrm>
            <a:off x="5997600" y="3258000"/>
            <a:ext cx="1224000" cy="324000"/>
          </a:xfrm>
          <a:prstGeom prst="rect">
            <a:avLst/>
          </a:prstGeom>
          <a:noFill/>
        </p:spPr>
        <p:txBody>
          <a:bodyPr wrap="square">
            <a:spAutoFit/>
          </a:bodyPr>
          <a:lstStyle/>
          <a:p>
            <a:pPr algn="l"/>
            <a:r>
              <a:rPr sz="1100" b="1" i="0">
                <a:solidFill>
                  <a:srgbClr val="1B3A6B"/>
                </a:solidFill>
              </a:rPr>
              <a:t>0 sect.</a:t>
            </a:r>
          </a:p>
        </p:txBody>
      </p:sp>
      <p:sp>
        <p:nvSpPr>
          <p:cNvPr id="26" name="Rectangle 25"/>
          <p:cNvSpPr/>
          <p:nvPr/>
        </p:nvSpPr>
        <p:spPr>
          <a:xfrm>
            <a:off x="7315200" y="3060000"/>
            <a:ext cx="1332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9200" y="3096000"/>
            <a:ext cx="1224000" cy="180000"/>
          </a:xfrm>
          <a:prstGeom prst="rect">
            <a:avLst/>
          </a:prstGeom>
          <a:noFill/>
        </p:spPr>
        <p:txBody>
          <a:bodyPr wrap="square">
            <a:spAutoFit/>
          </a:bodyPr>
          <a:lstStyle/>
          <a:p>
            <a:pPr algn="l"/>
            <a:r>
              <a:rPr sz="700" b="0" i="0">
                <a:solidFill>
                  <a:srgbClr val="555555"/>
                </a:solidFill>
              </a:rPr>
              <a:t>Score médian</a:t>
            </a:r>
          </a:p>
        </p:txBody>
      </p:sp>
      <p:sp>
        <p:nvSpPr>
          <p:cNvPr id="28" name="TextBox 27"/>
          <p:cNvSpPr txBox="1"/>
          <p:nvPr/>
        </p:nvSpPr>
        <p:spPr>
          <a:xfrm>
            <a:off x="7369200" y="3258000"/>
            <a:ext cx="1224000" cy="324000"/>
          </a:xfrm>
          <a:prstGeom prst="rect">
            <a:avLst/>
          </a:prstGeom>
          <a:noFill/>
        </p:spPr>
        <p:txBody>
          <a:bodyPr wrap="square">
            <a:spAutoFit/>
          </a:bodyPr>
          <a:lstStyle/>
          <a:p>
            <a:pPr algn="l"/>
            <a:r>
              <a:rPr sz="1100" b="1" i="0">
                <a:solidFill>
                  <a:srgbClr val="1B3A6B"/>
                </a:solidFill>
              </a:rPr>
              <a:t>63.7/100</a:t>
            </a:r>
          </a:p>
        </p:txBody>
      </p:sp>
      <p:sp>
        <p:nvSpPr>
          <p:cNvPr id="29" name="Rectangle 28"/>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31" name="TextBox 30"/>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9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(^FCHI)  ·  11 secteurs  ·  40 sociétés  ·  Horizon 12 mois</a:t>
            </a:r>
          </a:p>
        </p:txBody>
      </p:sp>
      <p:sp>
        <p:nvSpPr>
          <p:cNvPr id="15" name="Rectangle 14"/>
          <p:cNvSpPr/>
          <p:nvPr/>
        </p:nvSpPr>
        <p:spPr>
          <a:xfrm>
            <a:off x="324000" y="827999"/>
            <a:ext cx="1728000" cy="27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SURPONDÉRER</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8 222  ·  YTD : +0.3%  ·  P/E Forward : 13.3x  ·  ERP : 3.2% (Neutre)  ·  Conviction 55 %</a:t>
            </a:r>
          </a:p>
        </p:txBody>
      </p:sp>
      <p:sp>
        <p:nvSpPr>
          <p:cNvPr id="18" name="Rectangle 17"/>
          <p:cNvSpPr/>
          <p:nvPr/>
        </p:nvSpPr>
        <p:spPr>
          <a:xfrm>
            <a:off x="324000" y="1368000"/>
            <a:ext cx="882000" cy="16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1368000"/>
            <a:ext cx="828000" cy="162000"/>
          </a:xfrm>
          <a:prstGeom prst="rect">
            <a:avLst/>
          </a:prstGeom>
          <a:noFill/>
        </p:spPr>
        <p:txBody>
          <a:bodyPr wrap="square" anchor="ctr">
            <a:spAutoFit/>
          </a:bodyPr>
          <a:lstStyle/>
          <a:p>
            <a:pPr algn="ctr"/>
            <a:r>
              <a:rPr sz="750" b="1" i="0">
                <a:solidFill>
                  <a:srgbClr val="FFFFFF"/>
                </a:solidFill>
              </a:rPr>
              <a:t>Régime Volatile</a:t>
            </a:r>
          </a:p>
        </p:txBody>
      </p:sp>
      <p:sp>
        <p:nvSpPr>
          <p:cNvPr id="20" name="Rectangle 19"/>
          <p:cNvSpPr/>
          <p:nvPr/>
        </p:nvSpPr>
        <p:spPr>
          <a:xfrm>
            <a:off x="1260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6000" y="1368000"/>
            <a:ext cx="738000" cy="162000"/>
          </a:xfrm>
          <a:prstGeom prst="rect">
            <a:avLst/>
          </a:prstGeom>
          <a:noFill/>
        </p:spPr>
        <p:txBody>
          <a:bodyPr wrap="square" anchor="ctr">
            <a:spAutoFit/>
          </a:bodyPr>
          <a:lstStyle/>
          <a:p>
            <a:pPr algn="ctr"/>
            <a:r>
              <a:rPr sz="750" b="0" i="0">
                <a:solidFill>
                  <a:srgbClr val="1B3A6B"/>
                </a:solidFill>
              </a:rPr>
              <a:t>VIX 21</a:t>
            </a:r>
          </a:p>
        </p:txBody>
      </p:sp>
      <p:sp>
        <p:nvSpPr>
          <p:cNvPr id="22" name="Rectangle 21"/>
          <p:cNvSpPr/>
          <p:nvPr/>
        </p:nvSpPr>
        <p:spPr>
          <a:xfrm>
            <a:off x="2106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41999" y="1368000"/>
            <a:ext cx="738000" cy="162000"/>
          </a:xfrm>
          <a:prstGeom prst="rect">
            <a:avLst/>
          </a:prstGeom>
          <a:noFill/>
        </p:spPr>
        <p:txBody>
          <a:bodyPr wrap="square" anchor="ctr">
            <a:spAutoFit/>
          </a:bodyPr>
          <a:lstStyle/>
          <a:p>
            <a:pPr algn="ctr"/>
            <a:r>
              <a:rPr sz="750" b="0" i="0">
                <a:solidFill>
                  <a:srgbClr val="1B3A6B"/>
                </a:solidFill>
              </a:rPr>
              <a:t>Spread +0.7%</a:t>
            </a:r>
          </a:p>
        </p:txBody>
      </p:sp>
      <p:sp>
        <p:nvSpPr>
          <p:cNvPr id="24" name="Rectangle 23"/>
          <p:cNvSpPr/>
          <p:nvPr/>
        </p:nvSpPr>
        <p:spPr>
          <a:xfrm>
            <a:off x="2951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7999" y="1368000"/>
            <a:ext cx="738000" cy="162000"/>
          </a:xfrm>
          <a:prstGeom prst="rect">
            <a:avLst/>
          </a:prstGeom>
          <a:noFill/>
        </p:spPr>
        <p:txBody>
          <a:bodyPr wrap="square" anchor="ctr">
            <a:spAutoFit/>
          </a:bodyPr>
          <a:lstStyle/>
          <a:p>
            <a:pPr algn="ctr"/>
            <a:r>
              <a:rPr sz="750" b="0" i="0">
                <a:solidFill>
                  <a:srgbClr val="1B3A6B"/>
                </a:solidFill>
              </a:rPr>
              <a:t>Rec. 6M 26%</a:t>
            </a:r>
          </a:p>
        </p:txBody>
      </p:sp>
      <p:sp>
        <p:nvSpPr>
          <p:cNvPr id="26" name="Rectangle 25"/>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8" name="Rectangle 27"/>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Résultats semestriels des utilities</a:t>
            </a:r>
          </a:p>
        </p:txBody>
      </p:sp>
      <p:sp>
        <p:nvSpPr>
          <p:cNvPr id="30" name="TextBox 29"/>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Une amélioration des marges opérationnelles dans les utilities pourrait justifier leur surpondération malgré un environn</a:t>
            </a:r>
          </a:p>
        </p:txBody>
      </p:sp>
      <p:sp>
        <p:nvSpPr>
          <p:cNvPr id="31" name="Rectangle 30"/>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Hausse des prix de l’énergie</a:t>
            </a:r>
          </a:p>
        </p:txBody>
      </p:sp>
      <p:sp>
        <p:nvSpPr>
          <p:cNvPr id="33" name="TextBox 32"/>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Un rebond des cours du pétrole ou du gaz soutiendrait les valorisations des entreprises énergétiques du CAC 40.</a:t>
            </a:r>
          </a:p>
        </p:txBody>
      </p:sp>
      <p:sp>
        <p:nvSpPr>
          <p:cNvPr id="34" name="Rectangle 33"/>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Politique monétaire de la BCE</a:t>
            </a:r>
          </a:p>
        </p:txBody>
      </p:sp>
      <p:sp>
        <p:nvSpPr>
          <p:cNvPr id="36" name="TextBox 35"/>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Un pivot dovish de la BCE, même timide, pourrait relancer les valorisations des secteurs sensibles aux taux comme l’immo</a:t>
            </a:r>
          </a:p>
        </p:txBody>
      </p:sp>
      <p:sp>
        <p:nvSpPr>
          <p:cNvPr id="37" name="Rectangle 36"/>
          <p:cNvSpPr/>
          <p:nvPr/>
        </p:nvSpPr>
        <p:spPr>
          <a:xfrm>
            <a:off x="324000" y="2988000"/>
            <a:ext cx="8496000" cy="18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4000" y="2988000"/>
            <a:ext cx="43200" cy="18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000" y="3024000"/>
            <a:ext cx="8208000" cy="180000"/>
          </a:xfrm>
          <a:prstGeom prst="rect">
            <a:avLst/>
          </a:prstGeom>
          <a:noFill/>
        </p:spPr>
        <p:txBody>
          <a:bodyPr wrap="square">
            <a:spAutoFit/>
          </a:bodyPr>
          <a:lstStyle/>
          <a:p>
            <a:pPr algn="l"/>
            <a:r>
              <a:rPr sz="800" b="1" i="0">
                <a:solidFill>
                  <a:srgbClr val="1B3A6B"/>
                </a:solidFill>
              </a:rPr>
              <a:t>SYNTHESE DU SIGNAL</a:t>
            </a:r>
          </a:p>
        </p:txBody>
      </p:sp>
      <p:sp>
        <p:nvSpPr>
          <p:cNvPr id="40" name="TextBox 39"/>
          <p:cNvSpPr txBox="1"/>
          <p:nvPr/>
        </p:nvSpPr>
        <p:spPr>
          <a:xfrm>
            <a:off x="432000" y="3240000"/>
            <a:ext cx="8208000" cy="1512000"/>
          </a:xfrm>
          <a:prstGeom prst="rect">
            <a:avLst/>
          </a:prstGeom>
          <a:noFill/>
        </p:spPr>
        <p:txBody>
          <a:bodyPr wrap="square">
            <a:spAutoFit/>
          </a:bodyPr>
          <a:lstStyle/>
          <a:p>
            <a:pPr algn="l"/>
            <a:r>
              <a:rPr sz="800" b="0" i="0">
                <a:solidFill>
                  <a:srgbClr val="555555"/>
                </a:solidFill>
              </a:rPr>
              <a:t>Le signal global sur le CAC 40 est Surpondérer avec une conviction de 55% (sur la base des 11 secteurs analyses). 6 secteur(s) ressortent Surpondérer — Utilities, Energy, Real Estate — portes par leur momentum positif 52 semaines. 5 secteurs sont Neutre et 0 en Sous-ponderer.  Le CAC 40 affiche un cours de 8 222 (YTD : +0.3%). P/E Forward 13.3x vs médiane historique 10 ans 15.5x — valorisation en ligne avec l'historique. ERP Damodaran 3.2% (adequat). Score composite moyen : 63.7/100 — conviction 55 %. Secteurs a Surponderer : aucun. Secteurs a eviter : aucun. Horizon d'allocation recommande : 12 mois.</a:t>
            </a:r>
          </a:p>
        </p:txBody>
      </p:sp>
      <p:sp>
        <p:nvSpPr>
          <p:cNvPr id="41" name="Rectangle 4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^FCHI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11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CAC 40  —  Caractéristiques &amp; Valorisation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^FCHI  ·  Analyse institutionnelle FinSight  ·  Données yfinance / FMP</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CAC 40 regroupe les 40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8 222</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+0.3%</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13.3x</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15.5x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3.2%</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11</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40</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 Surpondérer (score composite 63.7/100). P/E Forward 13.3x vs médiane historique 15.5x — valorisation proche des normes historiques. ERP Damodaran : 3.2% (Neutre). Secteurs a Surponderer : Utilities  ·  Energy  ·  Real Estate. Secteurs a Sous-ponderer : aucun. 5 secteur(s) en position Neutre.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13.3x</a:t>
                      </a:r>
                    </a:p>
                  </a:txBody>
                  <a:tcPr>
                    <a:noFill/>
                  </a:tcPr>
                </a:tc>
                <a:tc>
                  <a:txBody>
                    <a:bodyPr/>
                    <a:lstStyle/>
                    <a:p>
                      <a:pPr algn="ctr"/>
                      <a:r>
                        <a:rPr sz="800" b="0">
                          <a:solidFill>
                            <a:srgbClr val="1A1A1A"/>
                          </a:solidFill>
                        </a:rPr>
                        <a:t>-14% decote</a:t>
                      </a:r>
                    </a:p>
                  </a:txBody>
                  <a:tcPr>
                    <a:noFill/>
                  </a:tcPr>
                </a:tc>
                <a:tc>
                  <a:txBody>
                    <a:bodyPr/>
                    <a:lstStyle/>
                    <a:p>
                      <a:pPr algn="ctr"/>
                      <a:r>
                        <a:rPr sz="800" b="0">
                          <a:solidFill>
                            <a:srgbClr val="1A1A1A"/>
                          </a:solidFill>
                        </a:rPr>
                        <a:t>Prime vs médiane 10Y</a:t>
                      </a:r>
                    </a:p>
                  </a:txBody>
                  <a:tcPr>
                    <a:noFill/>
                  </a:tcPr>
                </a:tc>
              </a:tr>
              <a:tr h="30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15.5x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normalisé</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3.2%</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-14% decote</a:t>
                      </a:r>
                    </a:p>
                  </a:txBody>
                  <a:tcPr>
                    <a:noFill/>
                  </a:tcPr>
                </a:tc>
                <a:tc>
                  <a:txBody>
                    <a:bodyPr/>
                    <a:lstStyle/>
                    <a:p>
                      <a:pPr algn="ctr"/>
                      <a:r>
                        <a:rPr sz="800" b="0">
                          <a:solidFill>
                            <a:srgbClr val="1A1A1A"/>
                          </a:solidFill>
                        </a:rPr>
                        <a:t>Surévalué si &gt; 20 %</a:t>
                      </a:r>
                    </a:p>
                  </a:txBody>
                  <a:tcPr>
                    <a:noFill/>
                  </a:tcPr>
                </a:tc>
                <a:tc>
                  <a:txBody>
                    <a:bodyPr/>
                    <a:lstStyle/>
                    <a:p>
                      <a:pPr algn="ctr"/>
                      <a:r>
                        <a:rPr sz="800" b="0">
                          <a:solidFill>
                            <a:srgbClr val="1A1A1A"/>
                          </a:solidFill>
                        </a:rPr>
                        <a:t>Signal d'alerte valorisation</a:t>
                      </a:r>
                    </a:p>
                  </a:txBody>
                  <a:tcPr>
                    <a:noFill/>
                  </a:tcPr>
                </a:tc>
              </a:tr>
            </a:tbl>
          </a:graphicData>
        </a:graphic>
      </p:graphicFrame>
      <p:sp>
        <p:nvSpPr>
          <p:cNvPr id="16" name="Rectangle 15"/>
          <p:cNvSpPr/>
          <p:nvPr/>
        </p:nvSpPr>
        <p:spPr>
          <a:xfrm>
            <a:off x="324000" y="2808000"/>
            <a:ext cx="8496000" cy="199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08000"/>
            <a:ext cx="43200" cy="19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862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096000"/>
            <a:ext cx="8208000" cy="1673999"/>
          </a:xfrm>
          <a:prstGeom prst="rect">
            <a:avLst/>
          </a:prstGeom>
          <a:noFill/>
        </p:spPr>
        <p:txBody>
          <a:bodyPr wrap="square">
            <a:spAutoFit/>
          </a:bodyPr>
          <a:lstStyle/>
          <a:p>
            <a:pPr algn="l"/>
            <a:r>
              <a:rPr sz="750" b="0" i="0">
                <a:solidFill>
                  <a:srgbClr val="555555"/>
                </a:solidFill>
              </a:rPr>
              <a:t>Cours 8 222 (YTD +0.3%) — Croissance BPA forward +8.5%. Le P/E Forward de 13.3x offre une decote de -14% decote vs l'historique (15.5x) — opportunite si les fondamentaux restent solides. Un re-rating est possible en cas de revision haussiere des BPA ou de pivot Fed. L'ERP Damodaran de 3.2% reste dans la zone de reference. Ni comprime ni attractif — privilegier la rotation sectorielle et le stock-picking plutot qu'une exposition beta pure. Score composite FinSight : 63.7/100 — signal Surpondérer (conviction 55%). 6 secteur(s) en Surponderer, 0 en Sous-ponderer.</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Économique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Phase actuelle : Expansion avancée  ·  Signaux FRED  ·  Modèle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avancée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Milieu-fin de cycle — ISM proche 50, courbe taux normalisée</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L'analyse des indicateurs avancées positionne le cycle en phase d'expansion avancée : ISM Manufacturier autour du seuil...</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modérée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Légèrement inversée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Chômage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Marché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recommandée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avancées positionne le cycle en phase d'expansion avancée : ISM Manufacturier autour du seuil 50 (49.8), courbe des taux partiellement normalisée (10Y-2Y +0.2%), Leading Indicators OCDE en légère hausse. Cette configuration favorise les secteurs avec forte visibilité BPA et moindre sensibilité aux taux : Technology, Health Care, Financials. Les secteurs défensifs (Consumer Staples,...</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11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40 sociétés  ·  Tri par score FinSight décroissant</a:t>
            </a:r>
          </a:p>
        </p:txBody>
      </p:sp>
      <p:graphicFrame>
        <p:nvGraphicFramePr>
          <p:cNvPr id="15" name="Table 14"/>
          <p:cNvGraphicFramePr>
            <a:graphicFrameLocks noGrp="1"/>
          </p:cNvGraphicFramePr>
          <p:nvPr/>
        </p:nvGraphicFramePr>
        <p:xfrm>
          <a:off x="324000" y="827999"/>
          <a:ext cx="8495998" cy="2700000"/>
        </p:xfrm>
        <a:graphic>
          <a:graphicData uri="http://schemas.openxmlformats.org/drawingml/2006/table">
            <a:tbl>
              <a:tblPr firstRow="1" bandRow="1">
                <a:tableStyleId>{5C22544A-7EE6-4342-B048-85BDC9FD1C3A}</a:tableStyleId>
              </a:tblPr>
              <a:tblGrid>
                <a:gridCol w="420594"/>
                <a:gridCol w="1892673"/>
                <a:gridCol w="630891"/>
                <a:gridCol w="1345900"/>
                <a:gridCol w="1051485"/>
                <a:gridCol w="1051485"/>
                <a:gridCol w="1051485"/>
                <a:gridCol w="1051485"/>
              </a:tblGrid>
              <a:tr h="225000">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P/Book</a:t>
                      </a:r>
                    </a:p>
                  </a:txBody>
                  <a:tcPr>
                    <a:solidFill>
                      <a:srgbClr val="1B3A6B"/>
                    </a:solidFill>
                  </a:tcPr>
                </a:tc>
                <a:tc>
                  <a:txBody>
                    <a:bodyPr/>
                    <a:lstStyle/>
                    <a:p>
                      <a:pPr algn="ctr"/>
                      <a:r>
                        <a:rPr sz="800" b="1">
                          <a:solidFill>
                            <a:srgbClr val="FFFFFF"/>
                          </a:solidFill>
                        </a:rPr>
                        <a:t>Div.Yield</a:t>
                      </a:r>
                    </a:p>
                  </a:txBody>
                  <a:tcPr>
                    <a:solidFill>
                      <a:srgbClr val="1B3A6B"/>
                    </a:solidFill>
                  </a:tcPr>
                </a:tc>
              </a:tr>
              <a:tr h="225000">
                <a:tc>
                  <a:txBody>
                    <a:bodyPr/>
                    <a:lstStyle/>
                    <a:p>
                      <a:pPr algn="ctr"/>
                      <a:r>
                        <a:rPr sz="800" b="0">
                          <a:solidFill>
                            <a:srgbClr val="1A1A1A"/>
                          </a:solidFill>
                        </a:rPr>
                        <a:t>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18.1%</a:t>
                      </a:r>
                    </a:p>
                  </a:txBody>
                  <a:tcPr>
                    <a:noFill/>
                  </a:tcPr>
                </a:tc>
                <a:tc>
                  <a:txBody>
                    <a:bodyPr/>
                    <a:lstStyle/>
                    <a:p>
                      <a:pPr algn="ctr"/>
                      <a:r>
                        <a:rPr sz="800" b="0">
                          <a:solidFill>
                            <a:srgbClr val="1A1A1A"/>
                          </a:solidFill>
                        </a:rPr>
                        <a:t>-6.6%</a:t>
                      </a:r>
                    </a:p>
                  </a:txBody>
                  <a:tcPr>
                    <a:noFill/>
                  </a:tcPr>
                </a:tc>
                <a:tc>
                  <a:txBody>
                    <a:bodyPr/>
                    <a:lstStyle/>
                    <a:p>
                      <a:pPr algn="ctr"/>
                      <a:r>
                        <a:rPr sz="800" b="0">
                          <a:solidFill>
                            <a:srgbClr val="1A1A1A"/>
                          </a:solidFill>
                        </a:rPr>
                        <a:t>1.8x</a:t>
                      </a:r>
                    </a:p>
                  </a:txBody>
                  <a:tcPr>
                    <a:noFill/>
                  </a:tcPr>
                </a:tc>
                <a:tc>
                  <a:txBody>
                    <a:bodyPr/>
                    <a:lstStyle/>
                    <a:p>
                      <a:pPr algn="ctr"/>
                      <a:r>
                        <a:rPr sz="800" b="0">
                          <a:solidFill>
                            <a:srgbClr val="1A1A1A"/>
                          </a:solidFill>
                        </a:rPr>
                        <a:t>3.5%</a:t>
                      </a:r>
                    </a:p>
                  </a:txBody>
                  <a:tcPr>
                    <a:noFill/>
                  </a:tcPr>
                </a:tc>
              </a:tr>
              <a:tr h="2250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Energy</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18.0%</a:t>
                      </a:r>
                    </a:p>
                  </a:txBody>
                  <a:tcPr>
                    <a:solidFill>
                      <a:srgbClr val="F5F7FA"/>
                    </a:solidFill>
                  </a:tcPr>
                </a:tc>
                <a:tc>
                  <a:txBody>
                    <a:bodyPr/>
                    <a:lstStyle/>
                    <a:p>
                      <a:pPr algn="ctr"/>
                      <a:r>
                        <a:rPr sz="800" b="0">
                          <a:solidFill>
                            <a:srgbClr val="1A1A1A"/>
                          </a:solidFill>
                        </a:rPr>
                        <a:t>-2.5%</a:t>
                      </a:r>
                    </a:p>
                  </a:txBody>
                  <a:tcPr>
                    <a:solidFill>
                      <a:srgbClr val="F5F7FA"/>
                    </a:solidFill>
                  </a:tcPr>
                </a:tc>
                <a:tc>
                  <a:txBody>
                    <a:bodyPr/>
                    <a:lstStyle/>
                    <a:p>
                      <a:pPr algn="ctr"/>
                      <a:r>
                        <a:rPr sz="800" b="0">
                          <a:solidFill>
                            <a:srgbClr val="1A1A1A"/>
                          </a:solidFill>
                        </a:rPr>
                        <a:t>2.3x</a:t>
                      </a:r>
                    </a:p>
                  </a:txBody>
                  <a:tcPr>
                    <a:solidFill>
                      <a:srgbClr val="F5F7FA"/>
                    </a:solidFill>
                  </a:tcPr>
                </a:tc>
                <a:tc>
                  <a:txBody>
                    <a:bodyPr/>
                    <a:lstStyle/>
                    <a:p>
                      <a:pPr algn="ctr"/>
                      <a:r>
                        <a:rPr sz="800" b="0">
                          <a:solidFill>
                            <a:srgbClr val="1A1A1A"/>
                          </a:solidFill>
                        </a:rPr>
                        <a:t>4.0%</a:t>
                      </a:r>
                    </a:p>
                  </a:txBody>
                  <a:tcPr>
                    <a:solidFill>
                      <a:srgbClr val="F5F7FA"/>
                    </a:solidFill>
                  </a:tcPr>
                </a:tc>
              </a:tr>
              <a:tr h="225000">
                <a:tc>
                  <a:txBody>
                    <a:bodyPr/>
                    <a:lstStyle/>
                    <a:p>
                      <a:pPr algn="ctr"/>
                      <a:r>
                        <a:rPr sz="800" b="0">
                          <a:solidFill>
                            <a:srgbClr val="1A1A1A"/>
                          </a:solidFill>
                        </a:rPr>
                        <a:t>3</a:t>
                      </a:r>
                    </a:p>
                  </a:txBody>
                  <a:tcPr>
                    <a:noFill/>
                  </a:tcPr>
                </a:tc>
                <a:tc>
                  <a:txBody>
                    <a:bodyPr/>
                    <a:lstStyle/>
                    <a:p>
                      <a:pPr algn="ctr"/>
                      <a:r>
                        <a:rPr sz="800" b="0">
                          <a:solidFill>
                            <a:srgbClr val="1A1A1A"/>
                          </a:solidFill>
                        </a:rPr>
                        <a:t>Real Estate</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64.4%</a:t>
                      </a:r>
                    </a:p>
                  </a:txBody>
                  <a:tcPr>
                    <a:noFill/>
                  </a:tcPr>
                </a:tc>
                <a:tc>
                  <a:txBody>
                    <a:bodyPr/>
                    <a:lstStyle/>
                    <a:p>
                      <a:pPr algn="ctr"/>
                      <a:r>
                        <a:rPr sz="800" b="0">
                          <a:solidFill>
                            <a:srgbClr val="1A1A1A"/>
                          </a:solidFill>
                        </a:rPr>
                        <a:t>-3.8%</a:t>
                      </a:r>
                    </a:p>
                  </a:txBody>
                  <a:tcPr>
                    <a:noFill/>
                  </a:tcPr>
                </a:tc>
                <a:tc>
                  <a:txBody>
                    <a:bodyPr/>
                    <a:lstStyle/>
                    <a:p>
                      <a:pPr algn="ctr"/>
                      <a:r>
                        <a:rPr sz="800" b="0">
                          <a:solidFill>
                            <a:srgbClr val="1A1A1A"/>
                          </a:solidFill>
                        </a:rPr>
                        <a:t>2.1x</a:t>
                      </a:r>
                    </a:p>
                  </a:txBody>
                  <a:tcPr>
                    <a:noFill/>
                  </a:tcPr>
                </a:tc>
                <a:tc>
                  <a:txBody>
                    <a:bodyPr/>
                    <a:lstStyle/>
                    <a:p>
                      <a:pPr algn="ctr"/>
                      <a:r>
                        <a:rPr sz="800" b="0">
                          <a:solidFill>
                            <a:srgbClr val="1A1A1A"/>
                          </a:solidFill>
                        </a:rPr>
                        <a:t>4.2%</a:t>
                      </a:r>
                    </a:p>
                  </a:txBody>
                  <a:tcPr>
                    <a:noFill/>
                  </a:tcPr>
                </a:tc>
              </a:tr>
              <a:tr h="2250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72</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17.5%</a:t>
                      </a:r>
                    </a:p>
                  </a:txBody>
                  <a:tcPr>
                    <a:solidFill>
                      <a:srgbClr val="F5F7FA"/>
                    </a:solidFill>
                  </a:tcPr>
                </a:tc>
                <a:tc>
                  <a:txBody>
                    <a:bodyPr/>
                    <a:lstStyle/>
                    <a:p>
                      <a:pPr algn="ctr"/>
                      <a:r>
                        <a:rPr sz="800" b="0">
                          <a:solidFill>
                            <a:srgbClr val="1A1A1A"/>
                          </a:solidFill>
                        </a:rPr>
                        <a:t>-0.9%</a:t>
                      </a:r>
                    </a:p>
                  </a:txBody>
                  <a:tcPr>
                    <a:solidFill>
                      <a:srgbClr val="F5F7FA"/>
                    </a:solidFill>
                  </a:tcPr>
                </a:tc>
                <a:tc>
                  <a:txBody>
                    <a:bodyPr/>
                    <a:lstStyle/>
                    <a:p>
                      <a:pPr algn="ctr"/>
                      <a:r>
                        <a:rPr sz="800" b="0">
                          <a:solidFill>
                            <a:srgbClr val="1A1A1A"/>
                          </a:solidFill>
                        </a:rPr>
                        <a:t>3.8x</a:t>
                      </a:r>
                    </a:p>
                  </a:txBody>
                  <a:tcPr>
                    <a:solidFill>
                      <a:srgbClr val="F5F7FA"/>
                    </a:solidFill>
                  </a:tcPr>
                </a:tc>
                <a:tc>
                  <a:txBody>
                    <a:bodyPr/>
                    <a:lstStyle/>
                    <a:p>
                      <a:pPr algn="ctr"/>
                      <a:r>
                        <a:rPr sz="800" b="0">
                          <a:solidFill>
                            <a:srgbClr val="1A1A1A"/>
                          </a:solidFill>
                        </a:rPr>
                        <a:t>2.2%</a:t>
                      </a:r>
                    </a:p>
                  </a:txBody>
                  <a:tcPr>
                    <a:solidFill>
                      <a:srgbClr val="F5F7FA"/>
                    </a:solidFill>
                  </a:tcPr>
                </a:tc>
              </a:tr>
              <a:tr h="225000">
                <a:tc>
                  <a:txBody>
                    <a:bodyPr/>
                    <a:lstStyle/>
                    <a:p>
                      <a:pPr algn="ctr"/>
                      <a:r>
                        <a:rPr sz="800" b="0">
                          <a:solidFill>
                            <a:srgbClr val="1A1A1A"/>
                          </a:solidFill>
                        </a:rPr>
                        <a:t>5</a:t>
                      </a:r>
                    </a:p>
                  </a:txBody>
                  <a:tcPr>
                    <a:noFill/>
                  </a:tcPr>
                </a:tc>
                <a:tc>
                  <a:txBody>
                    <a:bodyPr/>
                    <a:lstStyle/>
                    <a:p>
                      <a:pPr algn="ctr"/>
                      <a:r>
                        <a:rPr sz="800" b="0">
                          <a:solidFill>
                            <a:srgbClr val="1A1A1A"/>
                          </a:solidFill>
                        </a:rPr>
                        <a:t>Financials</a:t>
                      </a:r>
                    </a:p>
                  </a:txBody>
                  <a:tcPr>
                    <a:noFill/>
                  </a:tcPr>
                </a:tc>
                <a:tc>
                  <a:txBody>
                    <a:bodyPr/>
                    <a:lstStyle/>
                    <a:p>
                      <a:pPr algn="ctr"/>
                      <a:r>
                        <a:rPr sz="800" b="0">
                          <a:solidFill>
                            <a:srgbClr val="1A1A1A"/>
                          </a:solidFill>
                        </a:rPr>
                        <a:t>72</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3.6%</a:t>
                      </a:r>
                    </a:p>
                  </a:txBody>
                  <a:tcPr>
                    <a:noFill/>
                  </a:tcPr>
                </a:tc>
                <a:tc>
                  <a:txBody>
                    <a:bodyPr/>
                    <a:lstStyle/>
                    <a:p>
                      <a:pPr algn="ctr"/>
                      <a:r>
                        <a:rPr sz="800" b="0">
                          <a:solidFill>
                            <a:srgbClr val="1A1A1A"/>
                          </a:solidFill>
                        </a:rPr>
                        <a:t>+4.5%</a:t>
                      </a:r>
                    </a:p>
                  </a:txBody>
                  <a:tcPr>
                    <a:noFill/>
                  </a:tcPr>
                </a:tc>
                <a:tc>
                  <a:txBody>
                    <a:bodyPr/>
                    <a:lstStyle/>
                    <a:p>
                      <a:pPr algn="ctr"/>
                      <a:r>
                        <a:rPr sz="800" b="0">
                          <a:solidFill>
                            <a:srgbClr val="1A1A1A"/>
                          </a:solidFill>
                        </a:rPr>
                        <a:t>1.5x</a:t>
                      </a:r>
                    </a:p>
                  </a:txBody>
                  <a:tcPr>
                    <a:noFill/>
                  </a:tcPr>
                </a:tc>
                <a:tc>
                  <a:txBody>
                    <a:bodyPr/>
                    <a:lstStyle/>
                    <a:p>
                      <a:pPr algn="ctr"/>
                      <a:r>
                        <a:rPr sz="800" b="0">
                          <a:solidFill>
                            <a:srgbClr val="1A1A1A"/>
                          </a:solidFill>
                        </a:rPr>
                        <a:t>2.5%</a:t>
                      </a:r>
                    </a:p>
                  </a:txBody>
                  <a:tcPr>
                    <a:noFill/>
                  </a:tcPr>
                </a:tc>
              </a:tr>
              <a:tr h="2250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71</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14.7%</a:t>
                      </a:r>
                    </a:p>
                  </a:txBody>
                  <a:tcPr>
                    <a:solidFill>
                      <a:srgbClr val="F5F7FA"/>
                    </a:solidFill>
                  </a:tcPr>
                </a:tc>
                <a:tc>
                  <a:txBody>
                    <a:bodyPr/>
                    <a:lstStyle/>
                    <a:p>
                      <a:pPr algn="ctr"/>
                      <a:r>
                        <a:rPr sz="800" b="0">
                          <a:solidFill>
                            <a:srgbClr val="1A1A1A"/>
                          </a:solidFill>
                        </a:rPr>
                        <a:t>+3.6%</a:t>
                      </a:r>
                    </a:p>
                  </a:txBody>
                  <a:tcPr>
                    <a:solidFill>
                      <a:srgbClr val="F5F7FA"/>
                    </a:solidFill>
                  </a:tcPr>
                </a:tc>
                <a:tc>
                  <a:txBody>
                    <a:bodyPr/>
                    <a:lstStyle/>
                    <a:p>
                      <a:pPr algn="ctr"/>
                      <a:r>
                        <a:rPr sz="800" b="0">
                          <a:solidFill>
                            <a:srgbClr val="1A1A1A"/>
                          </a:solidFill>
                        </a:rPr>
                        <a:t>4.9x</a:t>
                      </a:r>
                    </a:p>
                  </a:txBody>
                  <a:tcPr>
                    <a:solidFill>
                      <a:srgbClr val="F5F7FA"/>
                    </a:solidFill>
                  </a:tcPr>
                </a:tc>
                <a:tc>
                  <a:txBody>
                    <a:bodyPr/>
                    <a:lstStyle/>
                    <a:p>
                      <a:pPr algn="ctr"/>
                      <a:r>
                        <a:rPr sz="800" b="0">
                          <a:solidFill>
                            <a:srgbClr val="1A1A1A"/>
                          </a:solidFill>
                        </a:rPr>
                        <a:t>1.8%</a:t>
                      </a:r>
                    </a:p>
                  </a:txBody>
                  <a:tcPr>
                    <a:solidFill>
                      <a:srgbClr val="F5F7FA"/>
                    </a:solidFill>
                  </a:tcPr>
                </a:tc>
              </a:tr>
              <a:tr h="225000">
                <a:tc>
                  <a:txBody>
                    <a:bodyPr/>
                    <a:lstStyle/>
                    <a:p>
                      <a:pPr algn="ctr"/>
                      <a:r>
                        <a:rPr sz="800" b="0">
                          <a:solidFill>
                            <a:srgbClr val="1A1A1A"/>
                          </a:solidFill>
                        </a:rPr>
                        <a:t>7</a:t>
                      </a:r>
                    </a:p>
                  </a:txBody>
                  <a:tcPr>
                    <a:noFill/>
                  </a:tcPr>
                </a:tc>
                <a:tc>
                  <a:txBody>
                    <a:bodyPr/>
                    <a:lstStyle/>
                    <a:p>
                      <a:pPr algn="ctr"/>
                      <a:r>
                        <a:rPr sz="800" b="0">
                          <a:solidFill>
                            <a:srgbClr val="1A1A1A"/>
                          </a:solidFill>
                        </a:rPr>
                        <a:t>Cons. Staples</a:t>
                      </a:r>
                    </a:p>
                  </a:txBody>
                  <a:tcPr>
                    <a:noFill/>
                  </a:tcPr>
                </a:tc>
                <a:tc>
                  <a:txBody>
                    <a:bodyPr/>
                    <a:lstStyle/>
                    <a:p>
                      <a:pPr algn="ctr"/>
                      <a:r>
                        <a:rPr sz="800" b="0">
                          <a:solidFill>
                            <a:srgbClr val="1A1A1A"/>
                          </a:solidFill>
                        </a:rPr>
                        <a:t>51</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17.9%</a:t>
                      </a:r>
                    </a:p>
                  </a:txBody>
                  <a:tcPr>
                    <a:noFill/>
                  </a:tcPr>
                </a:tc>
                <a:tc>
                  <a:txBody>
                    <a:bodyPr/>
                    <a:lstStyle/>
                    <a:p>
                      <a:pPr algn="ctr"/>
                      <a:r>
                        <a:rPr sz="800" b="0">
                          <a:solidFill>
                            <a:srgbClr val="1A1A1A"/>
                          </a:solidFill>
                        </a:rPr>
                        <a:t>-3.6%</a:t>
                      </a:r>
                    </a:p>
                  </a:txBody>
                  <a:tcPr>
                    <a:noFill/>
                  </a:tcPr>
                </a:tc>
                <a:tc>
                  <a:txBody>
                    <a:bodyPr/>
                    <a:lstStyle/>
                    <a:p>
                      <a:pPr algn="ctr"/>
                      <a:r>
                        <a:rPr sz="800" b="0">
                          <a:solidFill>
                            <a:srgbClr val="1A1A1A"/>
                          </a:solidFill>
                        </a:rPr>
                        <a:t>5.2x</a:t>
                      </a:r>
                    </a:p>
                  </a:txBody>
                  <a:tcPr>
                    <a:noFill/>
                  </a:tcPr>
                </a:tc>
                <a:tc>
                  <a:txBody>
                    <a:bodyPr/>
                    <a:lstStyle/>
                    <a:p>
                      <a:pPr algn="ctr"/>
                      <a:r>
                        <a:rPr sz="800" b="0">
                          <a:solidFill>
                            <a:srgbClr val="1A1A1A"/>
                          </a:solidFill>
                        </a:rPr>
                        <a:t>3.0%</a:t>
                      </a:r>
                    </a:p>
                  </a:txBody>
                  <a:tcPr>
                    <a:noFill/>
                  </a:tcPr>
                </a:tc>
              </a:tr>
              <a:tr h="2250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50</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6.2%</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3.6x</a:t>
                      </a:r>
                    </a:p>
                  </a:txBody>
                  <a:tcPr>
                    <a:solidFill>
                      <a:srgbClr val="F5F7FA"/>
                    </a:solidFill>
                  </a:tcPr>
                </a:tc>
                <a:tc>
                  <a:txBody>
                    <a:bodyPr/>
                    <a:lstStyle/>
                    <a:p>
                      <a:pPr algn="ctr"/>
                      <a:r>
                        <a:rPr sz="800" b="0">
                          <a:solidFill>
                            <a:srgbClr val="1A1A1A"/>
                          </a:solidFill>
                        </a:rPr>
                        <a:t>1.1%</a:t>
                      </a:r>
                    </a:p>
                  </a:txBody>
                  <a:tcPr>
                    <a:solidFill>
                      <a:srgbClr val="F5F7FA"/>
                    </a:solidFill>
                  </a:tcPr>
                </a:tc>
              </a:tr>
              <a:tr h="225000">
                <a:tc>
                  <a:txBody>
                    <a:bodyPr/>
                    <a:lstStyle/>
                    <a:p>
                      <a:pPr algn="ctr"/>
                      <a:r>
                        <a:rPr sz="800" b="0">
                          <a:solidFill>
                            <a:srgbClr val="1A1A1A"/>
                          </a:solidFill>
                        </a:rPr>
                        <a:t>9</a:t>
                      </a:r>
                    </a:p>
                  </a:txBody>
                  <a:tcPr>
                    <a:noFill/>
                  </a:tcPr>
                </a:tc>
                <a:tc>
                  <a:txBody>
                    <a:bodyPr/>
                    <a:lstStyle/>
                    <a:p>
                      <a:pPr algn="ctr"/>
                      <a:r>
                        <a:rPr sz="800" b="0">
                          <a:solidFill>
                            <a:srgbClr val="1A1A1A"/>
                          </a:solidFill>
                        </a:rPr>
                        <a:t>Health Care</a:t>
                      </a:r>
                    </a:p>
                  </a:txBody>
                  <a:tcPr>
                    <a:noFill/>
                  </a:tcPr>
                </a:tc>
                <a:tc>
                  <a:txBody>
                    <a:bodyPr/>
                    <a:lstStyle/>
                    <a:p>
                      <a:pPr algn="ctr"/>
                      <a:r>
                        <a:rPr sz="800" b="0">
                          <a:solidFill>
                            <a:srgbClr val="1A1A1A"/>
                          </a:solidFill>
                        </a:rPr>
                        <a:t>49</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22.2%</a:t>
                      </a:r>
                    </a:p>
                  </a:txBody>
                  <a:tcPr>
                    <a:noFill/>
                  </a:tcPr>
                </a:tc>
                <a:tc>
                  <a:txBody>
                    <a:bodyPr/>
                    <a:lstStyle/>
                    <a:p>
                      <a:pPr algn="ctr"/>
                      <a:r>
                        <a:rPr sz="800" b="0">
                          <a:solidFill>
                            <a:srgbClr val="1A1A1A"/>
                          </a:solidFill>
                        </a:rPr>
                        <a:t>+6.9%</a:t>
                      </a:r>
                    </a:p>
                  </a:txBody>
                  <a:tcPr>
                    <a:noFill/>
                  </a:tcPr>
                </a:tc>
                <a:tc>
                  <a:txBody>
                    <a:bodyPr/>
                    <a:lstStyle/>
                    <a:p>
                      <a:pPr algn="ctr"/>
                      <a:r>
                        <a:rPr sz="800" b="0">
                          <a:solidFill>
                            <a:srgbClr val="1A1A1A"/>
                          </a:solidFill>
                        </a:rPr>
                        <a:t>4.2x</a:t>
                      </a:r>
                    </a:p>
                  </a:txBody>
                  <a:tcPr>
                    <a:noFill/>
                  </a:tcPr>
                </a:tc>
                <a:tc>
                  <a:txBody>
                    <a:bodyPr/>
                    <a:lstStyle/>
                    <a:p>
                      <a:pPr algn="ctr"/>
                      <a:r>
                        <a:rPr sz="800" b="0">
                          <a:solidFill>
                            <a:srgbClr val="1A1A1A"/>
                          </a:solidFill>
                        </a:rPr>
                        <a:t>1.6%</a:t>
                      </a:r>
                    </a:p>
                  </a:txBody>
                  <a:tcPr>
                    <a:noFill/>
                  </a:tcPr>
                </a:tc>
              </a:tr>
              <a:tr h="2250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41</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17.4%</a:t>
                      </a:r>
                    </a:p>
                  </a:txBody>
                  <a:tcPr>
                    <a:solidFill>
                      <a:srgbClr val="F5F7FA"/>
                    </a:solidFill>
                  </a:tcPr>
                </a:tc>
                <a:tc>
                  <a:txBody>
                    <a:bodyPr/>
                    <a:lstStyle/>
                    <a:p>
                      <a:pPr algn="ctr"/>
                      <a:r>
                        <a:rPr sz="800" b="0">
                          <a:solidFill>
                            <a:srgbClr val="1A1A1A"/>
                          </a:solidFill>
                        </a:rPr>
                        <a:t>-0.1%</a:t>
                      </a:r>
                    </a:p>
                  </a:txBody>
                  <a:tcPr>
                    <a:solidFill>
                      <a:srgbClr val="F5F7FA"/>
                    </a:solidFill>
                  </a:tcPr>
                </a:tc>
                <a:tc>
                  <a:txBody>
                    <a:bodyPr/>
                    <a:lstStyle/>
                    <a:p>
                      <a:pPr algn="ctr"/>
                      <a:r>
                        <a:rPr sz="800" b="0">
                          <a:solidFill>
                            <a:srgbClr val="1A1A1A"/>
                          </a:solidFill>
                        </a:rPr>
                        <a:t>8.5x</a:t>
                      </a:r>
                    </a:p>
                  </a:txBody>
                  <a:tcPr>
                    <a:solidFill>
                      <a:srgbClr val="F5F7FA"/>
                    </a:solidFill>
                  </a:tcPr>
                </a:tc>
                <a:tc>
                  <a:txBody>
                    <a:bodyPr/>
                    <a:lstStyle/>
                    <a:p>
                      <a:pPr algn="ctr"/>
                      <a:r>
                        <a:rPr sz="800" b="0">
                          <a:solidFill>
                            <a:srgbClr val="1A1A1A"/>
                          </a:solidFill>
                        </a:rPr>
                        <a:t>0.7%</a:t>
                      </a:r>
                    </a:p>
                  </a:txBody>
                  <a:tcPr>
                    <a:solidFill>
                      <a:srgbClr val="F5F7FA"/>
                    </a:solidFill>
                  </a:tcPr>
                </a:tc>
              </a:tr>
              <a:tr h="225000">
                <a:tc>
                  <a:txBody>
                    <a:bodyPr/>
                    <a:lstStyle/>
                    <a:p>
                      <a:pPr algn="ctr"/>
                      <a:r>
                        <a:rPr sz="800" b="0">
                          <a:solidFill>
                            <a:srgbClr val="1A1A1A"/>
                          </a:solidFill>
                        </a:rPr>
                        <a:t>11</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40</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19.2%</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5.8x</a:t>
                      </a:r>
                    </a:p>
                  </a:txBody>
                  <a:tcPr>
                    <a:noFill/>
                  </a:tcPr>
                </a:tc>
                <a:tc>
                  <a:txBody>
                    <a:bodyPr/>
                    <a:lstStyle/>
                    <a:p>
                      <a:pPr algn="ctr"/>
                      <a:r>
                        <a:rPr sz="800" b="0">
                          <a:solidFill>
                            <a:srgbClr val="1A1A1A"/>
                          </a:solidFill>
                        </a:rPr>
                        <a:t>0.9%</a:t>
                      </a:r>
                    </a:p>
                  </a:txBody>
                  <a:tcPr>
                    <a:noFill/>
                  </a:tcPr>
                </a:tc>
              </a:tr>
            </a:tbl>
          </a:graphicData>
        </a:graphic>
      </p:graphicFrame>
      <p:sp>
        <p:nvSpPr>
          <p:cNvPr id="16" name="Rectangle 15"/>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6 secteur(s) sur 11 franchissent le seuil Surpondérer (score &gt; 65) : Utilities · Energy · Real Estate · Materials · Financials · Industrials. 0 secteur(s) en Sous-pondérer : aucun. 5 secteur(s) en position Neutre. L'écart entre le secteur leader (Utilities, score 85/100) et le secteur le plus faible (Consumer Discretionary, score 40/100) est de 45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 (EV/EBITDA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Utilities  ·  Energy en zone Opportunite (EV/EBITDA attractif) — forte conviction score Surponderer.
Utilities  ·  Energy : valorisation attractive — croissance correcte,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11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10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10000">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Energy</a:t>
                      </a:r>
                    </a:p>
                  </a:txBody>
                  <a:tcPr>
                    <a:solidFill>
                      <a:srgbClr val="F5F7FA"/>
                    </a:solid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solidFill>
                      <a:srgbClr val="F5F7FA"/>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1A1A"/>
                          </a:solidFill>
                        </a:rPr>
                        <a:t>26</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Real Estate</a:t>
                      </a:r>
                    </a:p>
                  </a:txBody>
                  <a:tcPr>
                    <a:no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72</a:t>
                      </a:r>
                    </a:p>
                  </a:txBody>
                  <a:tcPr>
                    <a:solidFill>
                      <a:srgbClr val="E8F5EE"/>
                    </a:solidFill>
                  </a:tcPr>
                </a:tc>
                <a:tc>
                  <a:txBody>
                    <a:bodyPr/>
                    <a:lstStyle/>
                    <a:p>
                      <a:pPr algn="ctr"/>
                      <a:r>
                        <a:rPr sz="800" b="0">
                          <a:solidFill>
                            <a:srgbClr val="1A1A1A"/>
                          </a:solidFill>
                        </a:rPr>
                        <a:t>29</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1A1A"/>
                          </a:solidFill>
                        </a:rPr>
                        <a:t>22</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Financials</a:t>
                      </a:r>
                    </a:p>
                  </a:txBody>
                  <a:tcPr>
                    <a:noFill/>
                  </a:tcPr>
                </a:tc>
                <a:tc>
                  <a:txBody>
                    <a:bodyPr/>
                    <a:lstStyle/>
                    <a:p>
                      <a:pPr algn="ctr"/>
                      <a:r>
                        <a:rPr sz="800" b="0">
                          <a:solidFill>
                            <a:srgbClr val="1A1A1A"/>
                          </a:solidFill>
                        </a:rPr>
                        <a:t>72</a:t>
                      </a:r>
                    </a:p>
                  </a:txBody>
                  <a:tcPr>
                    <a:solidFill>
                      <a:srgbClr val="E8F5EE"/>
                    </a:solidFill>
                  </a:tcPr>
                </a:tc>
                <a:tc>
                  <a:txBody>
                    <a:bodyPr/>
                    <a:lstStyle/>
                    <a:p>
                      <a:pPr algn="ctr"/>
                      <a:r>
                        <a:rPr sz="800" b="0">
                          <a:solidFill>
                            <a:srgbClr val="1A1A1A"/>
                          </a:solidFill>
                        </a:rPr>
                        <a:t>29</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22</a:t>
                      </a:r>
                    </a:p>
                  </a:txBody>
                  <a:tcPr>
                    <a:no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71</a:t>
                      </a:r>
                    </a:p>
                  </a:txBody>
                  <a:tcPr>
                    <a:solidFill>
                      <a:srgbClr val="E8F5EE"/>
                    </a:solidFill>
                  </a:tcPr>
                </a:tc>
                <a:tc>
                  <a:txBody>
                    <a:bodyPr/>
                    <a:lstStyle/>
                    <a:p>
                      <a:pPr algn="ctr"/>
                      <a:r>
                        <a:rPr sz="800" b="0">
                          <a:solidFill>
                            <a:srgbClr val="1A1A1A"/>
                          </a:solidFill>
                        </a:rPr>
                        <a:t>28</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1A1A"/>
                          </a:solidFill>
                        </a:rPr>
                        <a:t>21</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10000">
                <a:tc>
                  <a:txBody>
                    <a:bodyPr/>
                    <a:lstStyle/>
                    <a:p>
                      <a:pPr algn="ctr"/>
                      <a:r>
                        <a:rPr sz="800" b="0">
                          <a:solidFill>
                            <a:srgbClr val="1A1A1A"/>
                          </a:solidFill>
                        </a:rPr>
                        <a:t>Cons. Staples</a:t>
                      </a:r>
                    </a:p>
                  </a:txBody>
                  <a:tcPr>
                    <a:noFill/>
                  </a:tcPr>
                </a:tc>
                <a:tc>
                  <a:txBody>
                    <a:bodyPr/>
                    <a:lstStyle/>
                    <a:p>
                      <a:pPr algn="ctr"/>
                      <a:r>
                        <a:rPr sz="800" b="0">
                          <a:solidFill>
                            <a:srgbClr val="1A1A1A"/>
                          </a:solidFill>
                        </a:rPr>
                        <a:t>51</a:t>
                      </a:r>
                    </a:p>
                  </a:txBody>
                  <a:tcPr>
                    <a:solidFill>
                      <a:srgbClr val="FDF3E5"/>
                    </a:solid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50</a:t>
                      </a:r>
                    </a:p>
                  </a:txBody>
                  <a:tcPr>
                    <a:solidFill>
                      <a:srgbClr val="FDF3E5"/>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Health Care</a:t>
                      </a:r>
                    </a:p>
                  </a:txBody>
                  <a:tcPr>
                    <a:noFill/>
                  </a:tcPr>
                </a:tc>
                <a:tc>
                  <a:txBody>
                    <a:bodyPr/>
                    <a:lstStyle/>
                    <a:p>
                      <a:pPr algn="ctr"/>
                      <a:r>
                        <a:rPr sz="800" b="0">
                          <a:solidFill>
                            <a:srgbClr val="1A1A1A"/>
                          </a:solidFill>
                        </a:rPr>
                        <a:t>49</a:t>
                      </a:r>
                    </a:p>
                  </a:txBody>
                  <a:tcPr>
                    <a:solidFill>
                      <a:srgbClr val="FDF3E5"/>
                    </a:solid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41</a:t>
                      </a:r>
                    </a:p>
                  </a:txBody>
                  <a:tcPr>
                    <a:solidFill>
                      <a:srgbClr val="FBEBEB"/>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B06000"/>
                          </a:solidFill>
                        </a:rPr>
                        <a:t>Neutre</a:t>
                      </a:r>
                    </a:p>
                  </a:txBody>
                  <a:tcPr>
                    <a:solidFill>
                      <a:srgbClr val="FDF3E5"/>
                    </a:solidFill>
                  </a:tcPr>
                </a:tc>
              </a:tr>
              <a:tr h="210000">
                <a:tc>
                  <a:txBody>
                    <a:bodyPr/>
                    <a:lstStyle/>
                    <a:p>
                      <a:pPr algn="ctr"/>
                      <a:r>
                        <a:rPr sz="800" b="0">
                          <a:solidFill>
                            <a:srgbClr val="1A1A1A"/>
                          </a:solidFill>
                        </a:rPr>
                        <a:t>Cons. Discret.</a:t>
                      </a:r>
                    </a:p>
                  </a:txBody>
                  <a:tcPr>
                    <a:noFill/>
                  </a:tcPr>
                </a:tc>
                <a:tc>
                  <a:txBody>
                    <a:bodyPr/>
                    <a:lstStyle/>
                    <a:p>
                      <a:pPr algn="ctr"/>
                      <a:r>
                        <a:rPr sz="800" b="0">
                          <a:solidFill>
                            <a:srgbClr val="1A1A1A"/>
                          </a:solidFill>
                        </a:rPr>
                        <a:t>40</a:t>
                      </a:r>
                    </a:p>
                  </a:txBody>
                  <a:tcPr>
                    <a:solidFill>
                      <a:srgbClr val="FBEBEB"/>
                    </a:solid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12</a:t>
                      </a:r>
                    </a:p>
                  </a:txBody>
                  <a:tcPr>
                    <a:noFill/>
                  </a:tcPr>
                </a:tc>
                <a:tc>
                  <a:txBody>
                    <a:bodyPr/>
                    <a:lstStyle/>
                    <a:p>
                      <a:pPr algn="ctr"/>
                      <a:r>
                        <a:rPr sz="800" b="0">
                          <a:solidFill>
                            <a:srgbClr val="1A1A1A"/>
                          </a:solidFill>
                        </a:rPr>
                        <a:t>12</a:t>
                      </a:r>
                    </a:p>
                  </a:txBody>
                  <a:tcPr>
                    <a:noFill/>
                  </a:tcPr>
                </a:tc>
                <a:tc>
                  <a:txBody>
                    <a:bodyPr/>
                    <a:lstStyle/>
                    <a:p>
                      <a:pPr algn="ctr"/>
                      <a:r>
                        <a:rPr sz="800" b="0">
                          <a:solidFill>
                            <a:srgbClr val="B06000"/>
                          </a:solidFill>
                        </a:rPr>
                        <a:t>Neutre</a:t>
                      </a:r>
                    </a:p>
                  </a:txBody>
                  <a:tcPr>
                    <a:solidFill>
                      <a:srgbClr val="FDF3E5"/>
                    </a:solidFill>
                  </a:tcPr>
                </a:tc>
              </a:tr>
            </a:tbl>
          </a:graphicData>
        </a:graphic>
      </p:graphicFrame>
      <p:sp>
        <p:nvSpPr>
          <p:cNvPr id="16" name="TextBox 15"/>
          <p:cNvSpPr txBox="1"/>
          <p:nvPr/>
        </p:nvSpPr>
        <p:spPr>
          <a:xfrm>
            <a:off x="324000" y="3578399"/>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780000"/>
            <a:ext cx="8496000" cy="10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780000"/>
            <a:ext cx="43200" cy="10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8340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4068000"/>
            <a:ext cx="8208000" cy="701999"/>
          </a:xfrm>
          <a:prstGeom prst="rect">
            <a:avLst/>
          </a:prstGeom>
          <a:noFill/>
        </p:spPr>
        <p:txBody>
          <a:bodyPr wrap="square">
            <a:spAutoFit/>
          </a:bodyPr>
          <a:lstStyle/>
          <a:p>
            <a:pPr algn="l"/>
            <a:r>
              <a:rPr sz="750" b="0" i="0">
                <a:solidFill>
                  <a:srgbClr val="555555"/>
                </a:solidFill>
              </a:rPr>
              <a:t>Utilities domine avec le score le plus élevé. Le momentum (34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Allocation Markowitz</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Utilities</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85/100  ·  EV/EBITDA : 9.1x</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684000" cy="198000"/>
          </a:xfrm>
          <a:prstGeom prst="rect">
            <a:avLst/>
          </a:prstGeom>
          <a:noFill/>
        </p:spPr>
        <p:txBody>
          <a:bodyPr wrap="square">
            <a:spAutoFit/>
          </a:bodyPr>
          <a:lstStyle/>
          <a:p>
            <a:pPr algn="l"/>
            <a:r>
              <a:rPr sz="800" b="1" i="0">
                <a:solidFill>
                  <a:srgbClr val="1B3A6B"/>
                </a:solidFill>
              </a:rPr>
              <a:t>ENGI.PA</a:t>
            </a:r>
          </a:p>
        </p:txBody>
      </p:sp>
      <p:sp>
        <p:nvSpPr>
          <p:cNvPr id="24" name="TextBox 23"/>
          <p:cNvSpPr txBox="1"/>
          <p:nvPr/>
        </p:nvSpPr>
        <p:spPr>
          <a:xfrm>
            <a:off x="1152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692000" y="1620000"/>
            <a:ext cx="540000" cy="198000"/>
          </a:xfrm>
          <a:prstGeom prst="rect">
            <a:avLst/>
          </a:prstGeom>
          <a:noFill/>
        </p:spPr>
        <p:txBody>
          <a:bodyPr wrap="square">
            <a:spAutoFit/>
          </a:bodyPr>
          <a:lstStyle/>
          <a:p>
            <a:pPr algn="l"/>
            <a:r>
              <a:rPr sz="800" b="0" i="0">
                <a:solidFill>
                  <a:srgbClr val="555555"/>
                </a:solidFill>
              </a:rPr>
              <a:t>9.1x</a:t>
            </a:r>
          </a:p>
        </p:txBody>
      </p:sp>
      <p:sp>
        <p:nvSpPr>
          <p:cNvPr id="26" name="TextBox 25"/>
          <p:cNvSpPr txBox="1"/>
          <p:nvPr/>
        </p:nvSpPr>
        <p:spPr>
          <a:xfrm>
            <a:off x="2232000" y="1620000"/>
            <a:ext cx="540000" cy="198000"/>
          </a:xfrm>
          <a:prstGeom prst="rect">
            <a:avLst/>
          </a:prstGeom>
          <a:noFill/>
        </p:spPr>
        <p:txBody>
          <a:bodyPr wrap="square">
            <a:spAutoFit/>
          </a:bodyPr>
          <a:lstStyle/>
          <a:p>
            <a:pPr algn="l"/>
            <a:r>
              <a:rPr sz="800" b="0" i="0">
                <a:solidFill>
                  <a:srgbClr val="555555"/>
                </a:solidFill>
              </a:rPr>
              <a:t>85</a:t>
            </a:r>
          </a:p>
        </p:txBody>
      </p:sp>
      <p:sp>
        <p:nvSpPr>
          <p:cNvPr id="27" name="TextBox 26"/>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28" name="Rectangle 27"/>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Performance 52S +62.9% — momentum surpondérer</a:t>
            </a:r>
          </a:p>
        </p:txBody>
      </p:sp>
      <p:sp>
        <p:nvSpPr>
          <p:cNvPr id="30" name="TextBox 29"/>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31" name="Rectangle 30"/>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33" name="Rectangle 32"/>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Energy</a:t>
            </a:r>
          </a:p>
        </p:txBody>
      </p:sp>
      <p:sp>
        <p:nvSpPr>
          <p:cNvPr id="36" name="Rectangle 35"/>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38" name="TextBox 37"/>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85/100  ·  EV/EBITDA : 6.1x</a:t>
            </a:r>
          </a:p>
        </p:txBody>
      </p:sp>
      <p:sp>
        <p:nvSpPr>
          <p:cNvPr id="39" name="TextBox 38"/>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40" name="Rectangle 39"/>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4000" y="1620000"/>
            <a:ext cx="684000" cy="198000"/>
          </a:xfrm>
          <a:prstGeom prst="rect">
            <a:avLst/>
          </a:prstGeom>
          <a:noFill/>
        </p:spPr>
        <p:txBody>
          <a:bodyPr wrap="square">
            <a:spAutoFit/>
          </a:bodyPr>
          <a:lstStyle/>
          <a:p>
            <a:pPr algn="l"/>
            <a:r>
              <a:rPr sz="800" b="1" i="0">
                <a:solidFill>
                  <a:srgbClr val="1B3A6B"/>
                </a:solidFill>
              </a:rPr>
              <a:t>TTE.PA</a:t>
            </a:r>
          </a:p>
        </p:txBody>
      </p:sp>
      <p:sp>
        <p:nvSpPr>
          <p:cNvPr id="42" name="TextBox 41"/>
          <p:cNvSpPr txBox="1"/>
          <p:nvPr/>
        </p:nvSpPr>
        <p:spPr>
          <a:xfrm>
            <a:off x="3978000" y="1620000"/>
            <a:ext cx="540000" cy="198000"/>
          </a:xfrm>
          <a:prstGeom prst="rect">
            <a:avLst/>
          </a:prstGeom>
          <a:noFill/>
        </p:spPr>
        <p:txBody>
          <a:bodyPr wrap="square">
            <a:spAutoFit/>
          </a:bodyPr>
          <a:lstStyle/>
          <a:p>
            <a:pPr algn="l"/>
            <a:r>
              <a:rPr sz="800" b="0" i="0">
                <a:solidFill>
                  <a:srgbClr val="1A7A4A"/>
                </a:solidFill>
              </a:rPr>
              <a:t>Surp.</a:t>
            </a:r>
          </a:p>
        </p:txBody>
      </p:sp>
      <p:sp>
        <p:nvSpPr>
          <p:cNvPr id="43" name="TextBox 42"/>
          <p:cNvSpPr txBox="1"/>
          <p:nvPr/>
        </p:nvSpPr>
        <p:spPr>
          <a:xfrm>
            <a:off x="4518000" y="1620000"/>
            <a:ext cx="540000" cy="198000"/>
          </a:xfrm>
          <a:prstGeom prst="rect">
            <a:avLst/>
          </a:prstGeom>
          <a:noFill/>
        </p:spPr>
        <p:txBody>
          <a:bodyPr wrap="square">
            <a:spAutoFit/>
          </a:bodyPr>
          <a:lstStyle/>
          <a:p>
            <a:pPr algn="l"/>
            <a:r>
              <a:rPr sz="800" b="0" i="0">
                <a:solidFill>
                  <a:srgbClr val="555555"/>
                </a:solidFill>
              </a:rPr>
              <a:t>6.1x</a:t>
            </a:r>
          </a:p>
        </p:txBody>
      </p:sp>
      <p:sp>
        <p:nvSpPr>
          <p:cNvPr id="44" name="TextBox 43"/>
          <p:cNvSpPr txBox="1"/>
          <p:nvPr/>
        </p:nvSpPr>
        <p:spPr>
          <a:xfrm>
            <a:off x="5058000" y="1620000"/>
            <a:ext cx="540000" cy="198000"/>
          </a:xfrm>
          <a:prstGeom prst="rect">
            <a:avLst/>
          </a:prstGeom>
          <a:noFill/>
        </p:spPr>
        <p:txBody>
          <a:bodyPr wrap="square">
            <a:spAutoFit/>
          </a:bodyPr>
          <a:lstStyle/>
          <a:p>
            <a:pPr algn="l"/>
            <a:r>
              <a:rPr sz="800" b="0" i="0">
                <a:solidFill>
                  <a:srgbClr val="555555"/>
                </a:solidFill>
              </a:rPr>
              <a:t>85</a:t>
            </a:r>
          </a:p>
        </p:txBody>
      </p:sp>
      <p:sp>
        <p:nvSpPr>
          <p:cNvPr id="45" name="TextBox 44"/>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46" name="Rectangle 45"/>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Performance 52S +57.4% — momentum surpondérer</a:t>
            </a:r>
          </a:p>
        </p:txBody>
      </p:sp>
      <p:sp>
        <p:nvSpPr>
          <p:cNvPr id="48" name="TextBox 47"/>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49" name="Rectangle 48"/>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51" name="Rectangle 50"/>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Real Estate</a:t>
            </a:r>
          </a:p>
        </p:txBody>
      </p:sp>
      <p:sp>
        <p:nvSpPr>
          <p:cNvPr id="54" name="Rectangle 53"/>
          <p:cNvSpPr/>
          <p:nvPr/>
        </p:nvSpPr>
        <p:spPr>
          <a:xfrm>
            <a:off x="7955999"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Surp.</a:t>
            </a:r>
          </a:p>
        </p:txBody>
      </p:sp>
      <p:sp>
        <p:nvSpPr>
          <p:cNvPr id="56" name="TextBox 55"/>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85/100  ·  EV/EBITDA : 17.3x</a:t>
            </a:r>
          </a:p>
        </p:txBody>
      </p:sp>
      <p:sp>
        <p:nvSpPr>
          <p:cNvPr id="57" name="TextBox 56"/>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58" name="Rectangle 57"/>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19999" y="1620000"/>
            <a:ext cx="684000" cy="198000"/>
          </a:xfrm>
          <a:prstGeom prst="rect">
            <a:avLst/>
          </a:prstGeom>
          <a:noFill/>
        </p:spPr>
        <p:txBody>
          <a:bodyPr wrap="square">
            <a:spAutoFit/>
          </a:bodyPr>
          <a:lstStyle/>
          <a:p>
            <a:pPr algn="l"/>
            <a:r>
              <a:rPr sz="800" b="1" i="0">
                <a:solidFill>
                  <a:srgbClr val="1B3A6B"/>
                </a:solidFill>
              </a:rPr>
              <a:t>URW.PA</a:t>
            </a:r>
          </a:p>
        </p:txBody>
      </p:sp>
      <p:sp>
        <p:nvSpPr>
          <p:cNvPr id="60" name="TextBox 59"/>
          <p:cNvSpPr txBox="1"/>
          <p:nvPr/>
        </p:nvSpPr>
        <p:spPr>
          <a:xfrm>
            <a:off x="6803999" y="1620000"/>
            <a:ext cx="540000" cy="198000"/>
          </a:xfrm>
          <a:prstGeom prst="rect">
            <a:avLst/>
          </a:prstGeom>
          <a:noFill/>
        </p:spPr>
        <p:txBody>
          <a:bodyPr wrap="square">
            <a:spAutoFit/>
          </a:bodyPr>
          <a:lstStyle/>
          <a:p>
            <a:pPr algn="l"/>
            <a:r>
              <a:rPr sz="800" b="0" i="0">
                <a:solidFill>
                  <a:srgbClr val="1A7A4A"/>
                </a:solidFill>
              </a:rPr>
              <a:t>Surp.</a:t>
            </a:r>
          </a:p>
        </p:txBody>
      </p:sp>
      <p:sp>
        <p:nvSpPr>
          <p:cNvPr id="61" name="TextBox 60"/>
          <p:cNvSpPr txBox="1"/>
          <p:nvPr/>
        </p:nvSpPr>
        <p:spPr>
          <a:xfrm>
            <a:off x="7343999" y="1620000"/>
            <a:ext cx="540000" cy="198000"/>
          </a:xfrm>
          <a:prstGeom prst="rect">
            <a:avLst/>
          </a:prstGeom>
          <a:noFill/>
        </p:spPr>
        <p:txBody>
          <a:bodyPr wrap="square">
            <a:spAutoFit/>
          </a:bodyPr>
          <a:lstStyle/>
          <a:p>
            <a:pPr algn="l"/>
            <a:r>
              <a:rPr sz="800" b="0" i="0">
                <a:solidFill>
                  <a:srgbClr val="555555"/>
                </a:solidFill>
              </a:rPr>
              <a:t>17.3x</a:t>
            </a:r>
          </a:p>
        </p:txBody>
      </p:sp>
      <p:sp>
        <p:nvSpPr>
          <p:cNvPr id="62" name="TextBox 61"/>
          <p:cNvSpPr txBox="1"/>
          <p:nvPr/>
        </p:nvSpPr>
        <p:spPr>
          <a:xfrm>
            <a:off x="7883999" y="1620000"/>
            <a:ext cx="540000" cy="198000"/>
          </a:xfrm>
          <a:prstGeom prst="rect">
            <a:avLst/>
          </a:prstGeom>
          <a:noFill/>
        </p:spPr>
        <p:txBody>
          <a:bodyPr wrap="square">
            <a:spAutoFit/>
          </a:bodyPr>
          <a:lstStyle/>
          <a:p>
            <a:pPr algn="l"/>
            <a:r>
              <a:rPr sz="800" b="0" i="0">
                <a:solidFill>
                  <a:srgbClr val="555555"/>
                </a:solidFill>
              </a:rPr>
              <a:t>85</a:t>
            </a:r>
          </a:p>
        </p:txBody>
      </p:sp>
      <p:sp>
        <p:nvSpPr>
          <p:cNvPr id="63" name="TextBox 6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4" name="Rectangle 6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Performance 52S +48.0% — momentum surpondérer</a:t>
            </a:r>
          </a:p>
        </p:txBody>
      </p:sp>
      <p:sp>
        <p:nvSpPr>
          <p:cNvPr id="66" name="TextBox 6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7" name="Rectangle 6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69" name="Rectangle 6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Allocation Optimale — Markowitz</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Min-Variance · Tangency (Max Sharpe) · Equal Risk Contribution  ·  ETF SPDR sectoriels 52S</a:t>
            </a:r>
          </a:p>
        </p:txBody>
      </p:sp>
      <p:sp>
        <p:nvSpPr>
          <p:cNvPr id="15" name="Rectangle 14"/>
          <p:cNvSpPr/>
          <p:nvPr/>
        </p:nvSpPr>
        <p:spPr>
          <a:xfrm>
            <a:off x="324000" y="900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8280000" cy="251999"/>
          </a:xfrm>
          <a:prstGeom prst="rect">
            <a:avLst/>
          </a:prstGeom>
          <a:noFill/>
        </p:spPr>
        <p:txBody>
          <a:bodyPr wrap="square">
            <a:spAutoFit/>
          </a:bodyPr>
          <a:lstStyle/>
          <a:p>
            <a:pPr algn="l"/>
            <a:r>
              <a:rPr sz="1100" b="1" i="0">
                <a:solidFill>
                  <a:srgbClr val="1B3A6B"/>
                </a:solidFill>
              </a:rPr>
              <a:t>Optimisation non disponible pour cet indice</a:t>
            </a:r>
          </a:p>
        </p:txBody>
      </p:sp>
      <p:sp>
        <p:nvSpPr>
          <p:cNvPr id="18" name="TextBox 17"/>
          <p:cNvSpPr txBox="1"/>
          <p:nvPr/>
        </p:nvSpPr>
        <p:spPr>
          <a:xfrm>
            <a:off x="432000" y="1224000"/>
            <a:ext cx="8280000" cy="1188000"/>
          </a:xfrm>
          <a:prstGeom prst="rect">
            <a:avLst/>
          </a:prstGeom>
          <a:noFill/>
        </p:spPr>
        <p:txBody>
          <a:bodyPr wrap="square">
            <a:spAutoFit/>
          </a:bodyPr>
          <a:lstStyle/>
          <a:p>
            <a:pPr algn="l"/>
            <a:r>
              <a:rPr sz="900" b="0" i="0">
                <a:solidFill>
                  <a:srgbClr val="555555"/>
                </a:solidFill>
              </a:rPr>
              <a:t>L'optimisation de portefeuille Markowitz repose sur les ETF SPDR sectoriels (XLK, XLV, XLF...) qui ne couvrent que le marche US (S&amp;P 500). Pour les indices europeens (CAC 40, DAX, Euro Stoxx), les proxies sectoriels equivalents ne sont pas disponibles via yfinance. L'optimisation est donc calculee uniquement lors d'une analyse S&amp;P 500.</a:t>
            </a:r>
          </a:p>
        </p:txBody>
      </p:sp>
      <p:sp>
        <p:nvSpPr>
          <p:cNvPr id="19" name="Rectangle 18"/>
          <p:cNvSpPr/>
          <p:nvPr/>
        </p:nvSpPr>
        <p:spPr>
          <a:xfrm>
            <a:off x="324000" y="2700000"/>
            <a:ext cx="8496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2718000"/>
            <a:ext cx="8280000" cy="180000"/>
          </a:xfrm>
          <a:prstGeom prst="rect">
            <a:avLst/>
          </a:prstGeom>
          <a:noFill/>
        </p:spPr>
        <p:txBody>
          <a:bodyPr wrap="square">
            <a:spAutoFit/>
          </a:bodyPr>
          <a:lstStyle/>
          <a:p>
            <a:pPr algn="l"/>
            <a:r>
              <a:rPr sz="800" b="1" i="0">
                <a:solidFill>
                  <a:srgbClr val="FFFFFF"/>
                </a:solidFill>
              </a:rPr>
              <a:t>POSITIONNEMENT SECTORIEL RECOMMANDE (sans optimisation quantitative)</a:t>
            </a:r>
          </a:p>
        </p:txBody>
      </p:sp>
      <p:sp>
        <p:nvSpPr>
          <p:cNvPr id="21" name="Rectangle 20"/>
          <p:cNvSpPr/>
          <p:nvPr/>
        </p:nvSpPr>
        <p:spPr>
          <a:xfrm>
            <a:off x="324000" y="2934000"/>
            <a:ext cx="4104000" cy="14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934000"/>
            <a:ext cx="36000" cy="14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6000" y="2951999"/>
            <a:ext cx="3924000" cy="162000"/>
          </a:xfrm>
          <a:prstGeom prst="rect">
            <a:avLst/>
          </a:prstGeom>
          <a:noFill/>
        </p:spPr>
        <p:txBody>
          <a:bodyPr wrap="square">
            <a:spAutoFit/>
          </a:bodyPr>
          <a:lstStyle/>
          <a:p>
            <a:pPr algn="l"/>
            <a:r>
              <a:rPr sz="750" b="1" i="0">
                <a:solidFill>
                  <a:srgbClr val="1A7A4A"/>
                </a:solidFill>
              </a:rPr>
              <a:t>SURPONDERER</a:t>
            </a:r>
          </a:p>
        </p:txBody>
      </p:sp>
      <p:sp>
        <p:nvSpPr>
          <p:cNvPr id="24" name="TextBox 23"/>
          <p:cNvSpPr txBox="1"/>
          <p:nvPr/>
        </p:nvSpPr>
        <p:spPr>
          <a:xfrm>
            <a:off x="432000" y="3131999"/>
            <a:ext cx="3888000" cy="234000"/>
          </a:xfrm>
          <a:prstGeom prst="rect">
            <a:avLst/>
          </a:prstGeom>
          <a:noFill/>
        </p:spPr>
        <p:txBody>
          <a:bodyPr wrap="square">
            <a:spAutoFit/>
          </a:bodyPr>
          <a:lstStyle/>
          <a:p>
            <a:pPr algn="l"/>
            <a:r>
              <a:rPr sz="800" b="0" i="0">
                <a:solidFill>
                  <a:srgbClr val="555555"/>
                </a:solidFill>
              </a:rPr>
              <a:t>• Utilities — score 85/100</a:t>
            </a:r>
          </a:p>
        </p:txBody>
      </p:sp>
      <p:sp>
        <p:nvSpPr>
          <p:cNvPr id="25" name="TextBox 24"/>
          <p:cNvSpPr txBox="1"/>
          <p:nvPr/>
        </p:nvSpPr>
        <p:spPr>
          <a:xfrm>
            <a:off x="432000" y="3401999"/>
            <a:ext cx="3888000" cy="234000"/>
          </a:xfrm>
          <a:prstGeom prst="rect">
            <a:avLst/>
          </a:prstGeom>
          <a:noFill/>
        </p:spPr>
        <p:txBody>
          <a:bodyPr wrap="square">
            <a:spAutoFit/>
          </a:bodyPr>
          <a:lstStyle/>
          <a:p>
            <a:pPr algn="l"/>
            <a:r>
              <a:rPr sz="800" b="0" i="0">
                <a:solidFill>
                  <a:srgbClr val="555555"/>
                </a:solidFill>
              </a:rPr>
              <a:t>• Energy — score 85/100</a:t>
            </a:r>
          </a:p>
        </p:txBody>
      </p:sp>
      <p:sp>
        <p:nvSpPr>
          <p:cNvPr id="26" name="TextBox 25"/>
          <p:cNvSpPr txBox="1"/>
          <p:nvPr/>
        </p:nvSpPr>
        <p:spPr>
          <a:xfrm>
            <a:off x="432000" y="3671999"/>
            <a:ext cx="3888000" cy="234000"/>
          </a:xfrm>
          <a:prstGeom prst="rect">
            <a:avLst/>
          </a:prstGeom>
          <a:noFill/>
        </p:spPr>
        <p:txBody>
          <a:bodyPr wrap="square">
            <a:spAutoFit/>
          </a:bodyPr>
          <a:lstStyle/>
          <a:p>
            <a:pPr algn="l"/>
            <a:r>
              <a:rPr sz="800" b="0" i="0">
                <a:solidFill>
                  <a:srgbClr val="555555"/>
                </a:solidFill>
              </a:rPr>
              <a:t>• Real Estate — score 85/100</a:t>
            </a:r>
          </a:p>
        </p:txBody>
      </p:sp>
      <p:sp>
        <p:nvSpPr>
          <p:cNvPr id="27" name="TextBox 26"/>
          <p:cNvSpPr txBox="1"/>
          <p:nvPr/>
        </p:nvSpPr>
        <p:spPr>
          <a:xfrm>
            <a:off x="432000" y="3941999"/>
            <a:ext cx="3888000" cy="234000"/>
          </a:xfrm>
          <a:prstGeom prst="rect">
            <a:avLst/>
          </a:prstGeom>
          <a:noFill/>
        </p:spPr>
        <p:txBody>
          <a:bodyPr wrap="square">
            <a:spAutoFit/>
          </a:bodyPr>
          <a:lstStyle/>
          <a:p>
            <a:pPr algn="l"/>
            <a:r>
              <a:rPr sz="800" b="0" i="0">
                <a:solidFill>
                  <a:srgbClr val="555555"/>
                </a:solidFill>
              </a:rPr>
              <a:t>• Materials — score 72/100</a:t>
            </a:r>
          </a:p>
        </p:txBody>
      </p:sp>
      <p:sp>
        <p:nvSpPr>
          <p:cNvPr id="28" name="Rectangle 27"/>
          <p:cNvSpPr/>
          <p:nvPr/>
        </p:nvSpPr>
        <p:spPr>
          <a:xfrm>
            <a:off x="4716000" y="2934000"/>
            <a:ext cx="4104000" cy="14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6000" y="2934000"/>
            <a:ext cx="36000" cy="14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88000" y="2951999"/>
            <a:ext cx="3924000" cy="162000"/>
          </a:xfrm>
          <a:prstGeom prst="rect">
            <a:avLst/>
          </a:prstGeom>
          <a:noFill/>
        </p:spPr>
        <p:txBody>
          <a:bodyPr wrap="square">
            <a:spAutoFit/>
          </a:bodyPr>
          <a:lstStyle/>
          <a:p>
            <a:pPr algn="l"/>
            <a:r>
              <a:rPr sz="750" b="1" i="0">
                <a:solidFill>
                  <a:srgbClr val="A82020"/>
                </a:solidFill>
              </a:rPr>
              <a:t>SOUS-PONDERER</a:t>
            </a:r>
          </a:p>
        </p:txBody>
      </p:sp>
      <p:sp>
        <p:nvSpPr>
          <p:cNvPr id="31" name="Rectangle 3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d'Entrée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médiane historique 10 ans  ·  Signal d'entrée Accumuler / Neutre / Alléger</a:t>
            </a:r>
          </a:p>
        </p:txBody>
      </p:sp>
      <p:pic>
        <p:nvPicPr>
          <p:cNvPr id="15" name="Picture 14" descr="image.png"/>
          <p:cNvPicPr>
            <a:picLocks noChangeAspect="1"/>
          </p:cNvPicPr>
          <p:nvPr/>
        </p:nvPicPr>
        <p:blipFill>
          <a:blip r:embed="rId2"/>
          <a:stretch>
            <a:fillRect/>
          </a:stretch>
        </p:blipFill>
        <p:spPr>
          <a:xfrm>
            <a:off x="324000" y="827999"/>
            <a:ext cx="5400000" cy="3780000"/>
          </a:xfrm>
          <a:prstGeom prst="rect">
            <a:avLst/>
          </a:prstGeom>
        </p:spPr>
      </p:pic>
      <p:sp>
        <p:nvSpPr>
          <p:cNvPr id="16" name="Rectangle 15"/>
          <p:cNvSpPr/>
          <p:nvPr/>
        </p:nvSpPr>
        <p:spPr>
          <a:xfrm>
            <a:off x="5868000" y="827999"/>
            <a:ext cx="2916000" cy="37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8000" y="827999"/>
            <a:ext cx="43200" cy="37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64000"/>
            <a:ext cx="2736000" cy="216000"/>
          </a:xfrm>
          <a:prstGeom prst="rect">
            <a:avLst/>
          </a:prstGeom>
          <a:noFill/>
        </p:spPr>
        <p:txBody>
          <a:bodyPr wrap="square">
            <a:spAutoFit/>
          </a:bodyPr>
          <a:lstStyle/>
          <a:p>
            <a:pPr algn="l"/>
            <a:r>
              <a:rPr sz="850" b="1" i="0">
                <a:solidFill>
                  <a:srgbClr val="1B3A6B"/>
                </a:solidFill>
              </a:rPr>
              <a:t>Lecture — Zone d'entrée</a:t>
            </a:r>
          </a:p>
        </p:txBody>
      </p:sp>
      <p:sp>
        <p:nvSpPr>
          <p:cNvPr id="19" name="TextBox 18"/>
          <p:cNvSpPr txBox="1"/>
          <p:nvPr/>
        </p:nvSpPr>
        <p:spPr>
          <a:xfrm>
            <a:off x="5976000" y="1116000"/>
            <a:ext cx="2736000" cy="3420000"/>
          </a:xfrm>
          <a:prstGeom prst="rect">
            <a:avLst/>
          </a:prstGeom>
          <a:noFill/>
        </p:spPr>
        <p:txBody>
          <a:bodyPr wrap="square">
            <a:spAutoFit/>
          </a:bodyPr>
          <a:lstStyle/>
          <a:p>
            <a:pPr algn="l"/>
            <a:r>
              <a:rPr sz="750" b="0" i="0">
                <a:solidFill>
                  <a:srgbClr val="555555"/>
                </a:solidFill>
              </a:rPr>
              <a:t>PE médiane 10 ans : 15.5x
PE Forward indice : 13.3x
Zone d'entrée favorable (PE &lt; mediane) :
Utilities  ·  Energy  ·  Real Estate
Zone de prudence (PE &gt; mediane +15 %) :
Aucun
Methodologie : le PE Forward estime est ancre sur le PE global de l'indice ajuste du score sectoriel (+/- ecart). Les secteurs a gauche de la ligne pointillee (mediane 10 ans) offrent un meilleur point d'entree. Un ecart &gt; +20 % vs la médiane justifie une prudence accrue sur le timing.</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Surpondérer</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Récession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révision BPA -15/-20 %. Signal passerait Sous-pondérer.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prolongé</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géopolitique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géopolitique — spike VIX &gt; 35, rotation défensive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SURPONDÉRER</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CAC 40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Phase actuelle : Expansion avancée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Alléger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Alléger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avancée, le signal Accumuler se concentre sur les secteurs a forte croissance BPA et pricing power : Technology (IA), Health Care (FDA pipeline), Financials (NIM). Le signal Alléger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Sectoriel Composite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Score proxy dérivé des scores sectoriels  ·  11 secteurs  ·  Signal composite</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composite secteurs</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620000" cy="162000"/>
          </a:xfrm>
          <a:prstGeom prst="rect">
            <a:avLst/>
          </a:prstGeom>
          <a:noFill/>
        </p:spPr>
        <p:txBody>
          <a:bodyPr wrap="square">
            <a:spAutoFit/>
          </a:bodyPr>
          <a:lstStyle/>
          <a:p>
            <a:pPr algn="l"/>
            <a:r>
              <a:rPr sz="850" b="1" i="0">
                <a:solidFill>
                  <a:srgbClr val="FFFFFF"/>
                </a:solidFill>
              </a:rPr>
              <a:t>Surpondérer</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secteurs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62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secteurs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620000" cy="162000"/>
          </a:xfrm>
          <a:prstGeom prst="rect">
            <a:avLst/>
          </a:prstGeom>
          <a:noFill/>
        </p:spPr>
        <p:txBody>
          <a:bodyPr wrap="square">
            <a:spAutoFit/>
          </a:bodyPr>
          <a:lstStyle/>
          <a:p>
            <a:pPr algn="l"/>
            <a:r>
              <a:rPr sz="850" b="1" i="0">
                <a:solidFill>
                  <a:srgbClr val="1A1A1A"/>
                </a:solidFill>
              </a:rPr>
              <a:t>Sous-pondérer</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secteurs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Secteurs leaders / retardataires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Surpondérer :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Sous-pondérer :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Score composite par secteur (dérivé du score quantitatif)</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Sectoriels — Synthèse Allocataire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CAC 40  ·  Score composite FinSight  ·  Donnees yfinance</a:t>
            </a:r>
          </a:p>
        </p:txBody>
      </p:sp>
      <p:sp>
        <p:nvSpPr>
          <p:cNvPr id="15" name="TextBox 14"/>
          <p:cNvSpPr txBox="1"/>
          <p:nvPr/>
        </p:nvSpPr>
        <p:spPr>
          <a:xfrm>
            <a:off x="324000" y="756000"/>
            <a:ext cx="8496000" cy="198000"/>
          </a:xfrm>
          <a:prstGeom prst="rect">
            <a:avLst/>
          </a:prstGeom>
          <a:noFill/>
        </p:spPr>
        <p:txBody>
          <a:bodyPr wrap="square">
            <a:spAutoFit/>
          </a:bodyPr>
          <a:lstStyle/>
          <a:p>
            <a:pPr algn="l"/>
            <a:r>
              <a:rPr sz="850" b="1" i="0">
                <a:solidFill>
                  <a:srgbClr val="1B3A6B"/>
                </a:solidFill>
              </a:rPr>
              <a:t>Scores sectoriels FinSight — synthèse allocataire</a:t>
            </a:r>
          </a:p>
        </p:txBody>
      </p:sp>
      <p:graphicFrame>
        <p:nvGraphicFramePr>
          <p:cNvPr id="16" name="Table 15"/>
          <p:cNvGraphicFramePr>
            <a:graphicFrameLocks noGrp="1"/>
          </p:cNvGraphicFramePr>
          <p:nvPr/>
        </p:nvGraphicFramePr>
        <p:xfrm>
          <a:off x="324000" y="990000"/>
          <a:ext cx="8495995" cy="3042000"/>
        </p:xfrm>
        <a:graphic>
          <a:graphicData uri="http://schemas.openxmlformats.org/drawingml/2006/table">
            <a:tbl>
              <a:tblPr firstRow="1" bandRow="1">
                <a:tableStyleId>{5C22544A-7EE6-4342-B048-85BDC9FD1C3A}</a:tableStyleId>
              </a:tblPr>
              <a:tblGrid>
                <a:gridCol w="545197"/>
                <a:gridCol w="2271657"/>
                <a:gridCol w="681497"/>
                <a:gridCol w="1590160"/>
                <a:gridCol w="1135828"/>
                <a:gridCol w="1135828"/>
                <a:gridCol w="1135828"/>
              </a:tblGrid>
              <a:tr h="253500">
                <a:tc>
                  <a:txBody>
                    <a:bodyPr/>
                    <a:lstStyle/>
                    <a:p>
                      <a:pPr algn="ctr"/>
                      <a:r>
                        <a:rPr sz="800" b="1">
                          <a:solidFill>
                            <a:srgbClr val="FFFFFF"/>
                          </a:solidFill>
                        </a:rPr>
                        <a:t>Rang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r>
              <a:tr h="253500">
                <a:tc>
                  <a:txBody>
                    <a:bodyPr/>
                    <a:lstStyle/>
                    <a:p>
                      <a:pPr algn="ctr"/>
                      <a:r>
                        <a:rPr sz="800" b="0">
                          <a:solidFill>
                            <a:srgbClr val="1A1A1A"/>
                          </a:solidFill>
                        </a:rPr>
                        <a:t>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9.1x</a:t>
                      </a:r>
                    </a:p>
                  </a:txBody>
                  <a:tcPr>
                    <a:noFill/>
                  </a:tcPr>
                </a:tc>
                <a:tc>
                  <a:txBody>
                    <a:bodyPr/>
                    <a:lstStyle/>
                    <a:p>
                      <a:pPr algn="ctr"/>
                      <a:r>
                        <a:rPr sz="800" b="0">
                          <a:solidFill>
                            <a:srgbClr val="1A1A1A"/>
                          </a:solidFill>
                        </a:rPr>
                        <a:t>18.1%</a:t>
                      </a:r>
                    </a:p>
                  </a:txBody>
                  <a:tcPr>
                    <a:noFill/>
                  </a:tcPr>
                </a:tc>
                <a:tc>
                  <a:txBody>
                    <a:bodyPr/>
                    <a:lstStyle/>
                    <a:p>
                      <a:pPr algn="ctr"/>
                      <a:r>
                        <a:rPr sz="800" b="0">
                          <a:solidFill>
                            <a:srgbClr val="1A1A1A"/>
                          </a:solidFill>
                        </a:rPr>
                        <a:t>-6.6%</a:t>
                      </a:r>
                    </a:p>
                  </a:txBody>
                  <a:tcPr>
                    <a:noFill/>
                  </a:tcPr>
                </a:tc>
              </a:tr>
              <a:tr h="253500">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Energy</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6.1x</a:t>
                      </a:r>
                    </a:p>
                  </a:txBody>
                  <a:tcPr>
                    <a:solidFill>
                      <a:srgbClr val="F5F7FA"/>
                    </a:solidFill>
                  </a:tcPr>
                </a:tc>
                <a:tc>
                  <a:txBody>
                    <a:bodyPr/>
                    <a:lstStyle/>
                    <a:p>
                      <a:pPr algn="ctr"/>
                      <a:r>
                        <a:rPr sz="800" b="0">
                          <a:solidFill>
                            <a:srgbClr val="1A1A1A"/>
                          </a:solidFill>
                        </a:rPr>
                        <a:t>18.0%</a:t>
                      </a:r>
                    </a:p>
                  </a:txBody>
                  <a:tcPr>
                    <a:solidFill>
                      <a:srgbClr val="F5F7FA"/>
                    </a:solidFill>
                  </a:tcPr>
                </a:tc>
                <a:tc>
                  <a:txBody>
                    <a:bodyPr/>
                    <a:lstStyle/>
                    <a:p>
                      <a:pPr algn="ctr"/>
                      <a:r>
                        <a:rPr sz="800" b="0">
                          <a:solidFill>
                            <a:srgbClr val="1A1A1A"/>
                          </a:solidFill>
                        </a:rPr>
                        <a:t>-2.5%</a:t>
                      </a:r>
                    </a:p>
                  </a:txBody>
                  <a:tcPr>
                    <a:solidFill>
                      <a:srgbClr val="F5F7FA"/>
                    </a:solidFill>
                  </a:tcPr>
                </a:tc>
              </a:tr>
              <a:tr h="253500">
                <a:tc>
                  <a:txBody>
                    <a:bodyPr/>
                    <a:lstStyle/>
                    <a:p>
                      <a:pPr algn="ctr"/>
                      <a:r>
                        <a:rPr sz="800" b="0">
                          <a:solidFill>
                            <a:srgbClr val="1A1A1A"/>
                          </a:solidFill>
                        </a:rPr>
                        <a:t>3</a:t>
                      </a:r>
                    </a:p>
                  </a:txBody>
                  <a:tcPr>
                    <a:noFill/>
                  </a:tcPr>
                </a:tc>
                <a:tc>
                  <a:txBody>
                    <a:bodyPr/>
                    <a:lstStyle/>
                    <a:p>
                      <a:pPr algn="ctr"/>
                      <a:r>
                        <a:rPr sz="800" b="0">
                          <a:solidFill>
                            <a:srgbClr val="1A1A1A"/>
                          </a:solidFill>
                        </a:rPr>
                        <a:t>Real Estate</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17.3x</a:t>
                      </a:r>
                    </a:p>
                  </a:txBody>
                  <a:tcPr>
                    <a:noFill/>
                  </a:tcPr>
                </a:tc>
                <a:tc>
                  <a:txBody>
                    <a:bodyPr/>
                    <a:lstStyle/>
                    <a:p>
                      <a:pPr algn="ctr"/>
                      <a:r>
                        <a:rPr sz="800" b="0">
                          <a:solidFill>
                            <a:srgbClr val="1A1A1A"/>
                          </a:solidFill>
                        </a:rPr>
                        <a:t>64.4%</a:t>
                      </a:r>
                    </a:p>
                  </a:txBody>
                  <a:tcPr>
                    <a:noFill/>
                  </a:tcPr>
                </a:tc>
                <a:tc>
                  <a:txBody>
                    <a:bodyPr/>
                    <a:lstStyle/>
                    <a:p>
                      <a:pPr algn="ctr"/>
                      <a:r>
                        <a:rPr sz="800" b="0">
                          <a:solidFill>
                            <a:srgbClr val="1A1A1A"/>
                          </a:solidFill>
                        </a:rPr>
                        <a:t>-3.8%</a:t>
                      </a:r>
                    </a:p>
                  </a:txBody>
                  <a:tcPr>
                    <a:noFill/>
                  </a:tcPr>
                </a:tc>
              </a:tr>
              <a:tr h="253500">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72</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13.4x</a:t>
                      </a:r>
                    </a:p>
                  </a:txBody>
                  <a:tcPr>
                    <a:solidFill>
                      <a:srgbClr val="F5F7FA"/>
                    </a:solidFill>
                  </a:tcPr>
                </a:tc>
                <a:tc>
                  <a:txBody>
                    <a:bodyPr/>
                    <a:lstStyle/>
                    <a:p>
                      <a:pPr algn="ctr"/>
                      <a:r>
                        <a:rPr sz="800" b="0">
                          <a:solidFill>
                            <a:srgbClr val="1A1A1A"/>
                          </a:solidFill>
                        </a:rPr>
                        <a:t>17.5%</a:t>
                      </a:r>
                    </a:p>
                  </a:txBody>
                  <a:tcPr>
                    <a:solidFill>
                      <a:srgbClr val="F5F7FA"/>
                    </a:solidFill>
                  </a:tcPr>
                </a:tc>
                <a:tc>
                  <a:txBody>
                    <a:bodyPr/>
                    <a:lstStyle/>
                    <a:p>
                      <a:pPr algn="ctr"/>
                      <a:r>
                        <a:rPr sz="800" b="0">
                          <a:solidFill>
                            <a:srgbClr val="1A1A1A"/>
                          </a:solidFill>
                        </a:rPr>
                        <a:t>-0.9%</a:t>
                      </a:r>
                    </a:p>
                  </a:txBody>
                  <a:tcPr>
                    <a:solidFill>
                      <a:srgbClr val="F5F7FA"/>
                    </a:solidFill>
                  </a:tcPr>
                </a:tc>
              </a:tr>
              <a:tr h="253500">
                <a:tc>
                  <a:txBody>
                    <a:bodyPr/>
                    <a:lstStyle/>
                    <a:p>
                      <a:pPr algn="ctr"/>
                      <a:r>
                        <a:rPr sz="800" b="0">
                          <a:solidFill>
                            <a:srgbClr val="1A1A1A"/>
                          </a:solidFill>
                        </a:rPr>
                        <a:t>5</a:t>
                      </a:r>
                    </a:p>
                  </a:txBody>
                  <a:tcPr>
                    <a:noFill/>
                  </a:tcPr>
                </a:tc>
                <a:tc>
                  <a:txBody>
                    <a:bodyPr/>
                    <a:lstStyle/>
                    <a:p>
                      <a:pPr algn="ctr"/>
                      <a:r>
                        <a:rPr sz="800" b="0">
                          <a:solidFill>
                            <a:srgbClr val="1A1A1A"/>
                          </a:solidFill>
                        </a:rPr>
                        <a:t>Financials</a:t>
                      </a:r>
                    </a:p>
                  </a:txBody>
                  <a:tcPr>
                    <a:noFill/>
                  </a:tcPr>
                </a:tc>
                <a:tc>
                  <a:txBody>
                    <a:bodyPr/>
                    <a:lstStyle/>
                    <a:p>
                      <a:pPr algn="ctr"/>
                      <a:r>
                        <a:rPr sz="800" b="0">
                          <a:solidFill>
                            <a:srgbClr val="1A1A1A"/>
                          </a:solidFill>
                        </a:rPr>
                        <a:t>72</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6.9x</a:t>
                      </a:r>
                    </a:p>
                  </a:txBody>
                  <a:tcPr>
                    <a:noFill/>
                  </a:tcPr>
                </a:tc>
                <a:tc>
                  <a:txBody>
                    <a:bodyPr/>
                    <a:lstStyle/>
                    <a:p>
                      <a:pPr algn="ctr"/>
                      <a:r>
                        <a:rPr sz="800" b="0">
                          <a:solidFill>
                            <a:srgbClr val="1A1A1A"/>
                          </a:solidFill>
                        </a:rPr>
                        <a:t>3.6%</a:t>
                      </a:r>
                    </a:p>
                  </a:txBody>
                  <a:tcPr>
                    <a:noFill/>
                  </a:tcPr>
                </a:tc>
                <a:tc>
                  <a:txBody>
                    <a:bodyPr/>
                    <a:lstStyle/>
                    <a:p>
                      <a:pPr algn="ctr"/>
                      <a:r>
                        <a:rPr sz="800" b="0">
                          <a:solidFill>
                            <a:srgbClr val="1A1A1A"/>
                          </a:solidFill>
                        </a:rPr>
                        <a:t>+4.5%</a:t>
                      </a:r>
                    </a:p>
                  </a:txBody>
                  <a:tcPr>
                    <a:noFill/>
                  </a:tcPr>
                </a:tc>
              </a:tr>
              <a:tr h="253500">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71</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11.4x</a:t>
                      </a:r>
                    </a:p>
                  </a:txBody>
                  <a:tcPr>
                    <a:solidFill>
                      <a:srgbClr val="F5F7FA"/>
                    </a:solidFill>
                  </a:tcPr>
                </a:tc>
                <a:tc>
                  <a:txBody>
                    <a:bodyPr/>
                    <a:lstStyle/>
                    <a:p>
                      <a:pPr algn="ctr"/>
                      <a:r>
                        <a:rPr sz="800" b="0">
                          <a:solidFill>
                            <a:srgbClr val="1A1A1A"/>
                          </a:solidFill>
                        </a:rPr>
                        <a:t>14.7%</a:t>
                      </a:r>
                    </a:p>
                  </a:txBody>
                  <a:tcPr>
                    <a:solidFill>
                      <a:srgbClr val="F5F7FA"/>
                    </a:solidFill>
                  </a:tcPr>
                </a:tc>
                <a:tc>
                  <a:txBody>
                    <a:bodyPr/>
                    <a:lstStyle/>
                    <a:p>
                      <a:pPr algn="ctr"/>
                      <a:r>
                        <a:rPr sz="800" b="0">
                          <a:solidFill>
                            <a:srgbClr val="1A1A1A"/>
                          </a:solidFill>
                        </a:rPr>
                        <a:t>+3.6%</a:t>
                      </a:r>
                    </a:p>
                  </a:txBody>
                  <a:tcPr>
                    <a:solidFill>
                      <a:srgbClr val="F5F7FA"/>
                    </a:solidFill>
                  </a:tcPr>
                </a:tc>
              </a:tr>
              <a:tr h="253500">
                <a:tc>
                  <a:txBody>
                    <a:bodyPr/>
                    <a:lstStyle/>
                    <a:p>
                      <a:pPr algn="ctr"/>
                      <a:r>
                        <a:rPr sz="800" b="0">
                          <a:solidFill>
                            <a:srgbClr val="1A1A1A"/>
                          </a:solidFill>
                        </a:rPr>
                        <a:t>7</a:t>
                      </a:r>
                    </a:p>
                  </a:txBody>
                  <a:tcPr>
                    <a:noFill/>
                  </a:tcPr>
                </a:tc>
                <a:tc>
                  <a:txBody>
                    <a:bodyPr/>
                    <a:lstStyle/>
                    <a:p>
                      <a:pPr algn="ctr"/>
                      <a:r>
                        <a:rPr sz="800" b="0">
                          <a:solidFill>
                            <a:srgbClr val="1A1A1A"/>
                          </a:solidFill>
                        </a:rPr>
                        <a:t>Cons. Staples</a:t>
                      </a:r>
                    </a:p>
                  </a:txBody>
                  <a:tcPr>
                    <a:noFill/>
                  </a:tcPr>
                </a:tc>
                <a:tc>
                  <a:txBody>
                    <a:bodyPr/>
                    <a:lstStyle/>
                    <a:p>
                      <a:pPr algn="ctr"/>
                      <a:r>
                        <a:rPr sz="800" b="0">
                          <a:solidFill>
                            <a:srgbClr val="1A1A1A"/>
                          </a:solidFill>
                        </a:rPr>
                        <a:t>51</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10.9x</a:t>
                      </a:r>
                    </a:p>
                  </a:txBody>
                  <a:tcPr>
                    <a:noFill/>
                  </a:tcPr>
                </a:tc>
                <a:tc>
                  <a:txBody>
                    <a:bodyPr/>
                    <a:lstStyle/>
                    <a:p>
                      <a:pPr algn="ctr"/>
                      <a:r>
                        <a:rPr sz="800" b="0">
                          <a:solidFill>
                            <a:srgbClr val="1A1A1A"/>
                          </a:solidFill>
                        </a:rPr>
                        <a:t>17.9%</a:t>
                      </a:r>
                    </a:p>
                  </a:txBody>
                  <a:tcPr>
                    <a:noFill/>
                  </a:tcPr>
                </a:tc>
                <a:tc>
                  <a:txBody>
                    <a:bodyPr/>
                    <a:lstStyle/>
                    <a:p>
                      <a:pPr algn="ctr"/>
                      <a:r>
                        <a:rPr sz="800" b="0">
                          <a:solidFill>
                            <a:srgbClr val="1A1A1A"/>
                          </a:solidFill>
                        </a:rPr>
                        <a:t>-3.6%</a:t>
                      </a:r>
                    </a:p>
                  </a:txBody>
                  <a:tcPr>
                    <a:noFill/>
                  </a:tcPr>
                </a:tc>
              </a:tr>
              <a:tr h="253500">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50</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7.3x</a:t>
                      </a:r>
                    </a:p>
                  </a:txBody>
                  <a:tcPr>
                    <a:solidFill>
                      <a:srgbClr val="F5F7FA"/>
                    </a:solidFill>
                  </a:tcPr>
                </a:tc>
                <a:tc>
                  <a:txBody>
                    <a:bodyPr/>
                    <a:lstStyle/>
                    <a:p>
                      <a:pPr algn="ctr"/>
                      <a:r>
                        <a:rPr sz="800" b="0">
                          <a:solidFill>
                            <a:srgbClr val="1A1A1A"/>
                          </a:solidFill>
                        </a:rPr>
                        <a:t>6.2%</a:t>
                      </a:r>
                    </a:p>
                  </a:txBody>
                  <a:tcPr>
                    <a:solidFill>
                      <a:srgbClr val="F5F7FA"/>
                    </a:solidFill>
                  </a:tcPr>
                </a:tc>
                <a:tc>
                  <a:txBody>
                    <a:bodyPr/>
                    <a:lstStyle/>
                    <a:p>
                      <a:pPr algn="ctr"/>
                      <a:r>
                        <a:rPr sz="800" b="0">
                          <a:solidFill>
                            <a:srgbClr val="1A1A1A"/>
                          </a:solidFill>
                        </a:rPr>
                        <a:t>+2.1%</a:t>
                      </a:r>
                    </a:p>
                  </a:txBody>
                  <a:tcPr>
                    <a:solidFill>
                      <a:srgbClr val="F5F7FA"/>
                    </a:solidFill>
                  </a:tcPr>
                </a:tc>
              </a:tr>
              <a:tr h="253500">
                <a:tc>
                  <a:txBody>
                    <a:bodyPr/>
                    <a:lstStyle/>
                    <a:p>
                      <a:pPr algn="ctr"/>
                      <a:r>
                        <a:rPr sz="800" b="0">
                          <a:solidFill>
                            <a:srgbClr val="1A1A1A"/>
                          </a:solidFill>
                        </a:rPr>
                        <a:t>9</a:t>
                      </a:r>
                    </a:p>
                  </a:txBody>
                  <a:tcPr>
                    <a:noFill/>
                  </a:tcPr>
                </a:tc>
                <a:tc>
                  <a:txBody>
                    <a:bodyPr/>
                    <a:lstStyle/>
                    <a:p>
                      <a:pPr algn="ctr"/>
                      <a:r>
                        <a:rPr sz="800" b="0">
                          <a:solidFill>
                            <a:srgbClr val="1A1A1A"/>
                          </a:solidFill>
                        </a:rPr>
                        <a:t>Health Care</a:t>
                      </a:r>
                    </a:p>
                  </a:txBody>
                  <a:tcPr>
                    <a:noFill/>
                  </a:tcPr>
                </a:tc>
                <a:tc>
                  <a:txBody>
                    <a:bodyPr/>
                    <a:lstStyle/>
                    <a:p>
                      <a:pPr algn="ctr"/>
                      <a:r>
                        <a:rPr sz="800" b="0">
                          <a:solidFill>
                            <a:srgbClr val="1A1A1A"/>
                          </a:solidFill>
                        </a:rPr>
                        <a:t>49</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10.5x</a:t>
                      </a:r>
                    </a:p>
                  </a:txBody>
                  <a:tcPr>
                    <a:noFill/>
                  </a:tcPr>
                </a:tc>
                <a:tc>
                  <a:txBody>
                    <a:bodyPr/>
                    <a:lstStyle/>
                    <a:p>
                      <a:pPr algn="ctr"/>
                      <a:r>
                        <a:rPr sz="800" b="0">
                          <a:solidFill>
                            <a:srgbClr val="1A1A1A"/>
                          </a:solidFill>
                        </a:rPr>
                        <a:t>22.2%</a:t>
                      </a:r>
                    </a:p>
                  </a:txBody>
                  <a:tcPr>
                    <a:noFill/>
                  </a:tcPr>
                </a:tc>
                <a:tc>
                  <a:txBody>
                    <a:bodyPr/>
                    <a:lstStyle/>
                    <a:p>
                      <a:pPr algn="ctr"/>
                      <a:r>
                        <a:rPr sz="800" b="0">
                          <a:solidFill>
                            <a:srgbClr val="1A1A1A"/>
                          </a:solidFill>
                        </a:rPr>
                        <a:t>+6.9%</a:t>
                      </a:r>
                    </a:p>
                  </a:txBody>
                  <a:tcPr>
                    <a:noFill/>
                  </a:tcPr>
                </a:tc>
              </a:tr>
              <a:tr h="25350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Technology</a:t>
                      </a:r>
                    </a:p>
                  </a:txBody>
                  <a:tcPr>
                    <a:solidFill>
                      <a:srgbClr val="F5F7FA"/>
                    </a:solidFill>
                  </a:tcPr>
                </a:tc>
                <a:tc>
                  <a:txBody>
                    <a:bodyPr/>
                    <a:lstStyle/>
                    <a:p>
                      <a:pPr algn="ctr"/>
                      <a:r>
                        <a:rPr sz="800" b="0">
                          <a:solidFill>
                            <a:srgbClr val="1A1A1A"/>
                          </a:solidFill>
                        </a:rPr>
                        <a:t>41</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9.8x</a:t>
                      </a:r>
                    </a:p>
                  </a:txBody>
                  <a:tcPr>
                    <a:solidFill>
                      <a:srgbClr val="F5F7FA"/>
                    </a:solidFill>
                  </a:tcPr>
                </a:tc>
                <a:tc>
                  <a:txBody>
                    <a:bodyPr/>
                    <a:lstStyle/>
                    <a:p>
                      <a:pPr algn="ctr"/>
                      <a:r>
                        <a:rPr sz="800" b="0">
                          <a:solidFill>
                            <a:srgbClr val="1A1A1A"/>
                          </a:solidFill>
                        </a:rPr>
                        <a:t>17.4%</a:t>
                      </a:r>
                    </a:p>
                  </a:txBody>
                  <a:tcPr>
                    <a:solidFill>
                      <a:srgbClr val="F5F7FA"/>
                    </a:solidFill>
                  </a:tcPr>
                </a:tc>
                <a:tc>
                  <a:txBody>
                    <a:bodyPr/>
                    <a:lstStyle/>
                    <a:p>
                      <a:pPr algn="ctr"/>
                      <a:r>
                        <a:rPr sz="800" b="0">
                          <a:solidFill>
                            <a:srgbClr val="1A1A1A"/>
                          </a:solidFill>
                        </a:rPr>
                        <a:t>-0.1%</a:t>
                      </a:r>
                    </a:p>
                  </a:txBody>
                  <a:tcPr>
                    <a:solidFill>
                      <a:srgbClr val="F5F7FA"/>
                    </a:solidFill>
                  </a:tcPr>
                </a:tc>
              </a:tr>
              <a:tr h="253500">
                <a:tc>
                  <a:txBody>
                    <a:bodyPr/>
                    <a:lstStyle/>
                    <a:p>
                      <a:pPr algn="ctr"/>
                      <a:r>
                        <a:rPr sz="800" b="0">
                          <a:solidFill>
                            <a:srgbClr val="1A1A1A"/>
                          </a:solidFill>
                        </a:rPr>
                        <a:t>11</a:t>
                      </a:r>
                    </a:p>
                  </a:txBody>
                  <a:tcPr>
                    <a:noFill/>
                  </a:tcPr>
                </a:tc>
                <a:tc>
                  <a:txBody>
                    <a:bodyPr/>
                    <a:lstStyle/>
                    <a:p>
                      <a:pPr algn="ctr"/>
                      <a:r>
                        <a:rPr sz="800" b="0">
                          <a:solidFill>
                            <a:srgbClr val="1A1A1A"/>
                          </a:solidFill>
                        </a:rPr>
                        <a:t>Cons. Discret.</a:t>
                      </a:r>
                    </a:p>
                  </a:txBody>
                  <a:tcPr>
                    <a:noFill/>
                  </a:tcPr>
                </a:tc>
                <a:tc>
                  <a:txBody>
                    <a:bodyPr/>
                    <a:lstStyle/>
                    <a:p>
                      <a:pPr algn="ctr"/>
                      <a:r>
                        <a:rPr sz="800" b="0">
                          <a:solidFill>
                            <a:srgbClr val="1A1A1A"/>
                          </a:solidFill>
                        </a:rPr>
                        <a:t>40</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16.3x</a:t>
                      </a:r>
                    </a:p>
                  </a:txBody>
                  <a:tcPr>
                    <a:noFill/>
                  </a:tcPr>
                </a:tc>
                <a:tc>
                  <a:txBody>
                    <a:bodyPr/>
                    <a:lstStyle/>
                    <a:p>
                      <a:pPr algn="ctr"/>
                      <a:r>
                        <a:rPr sz="800" b="0">
                          <a:solidFill>
                            <a:srgbClr val="1A1A1A"/>
                          </a:solidFill>
                        </a:rPr>
                        <a:t>19.2%</a:t>
                      </a:r>
                    </a:p>
                  </a:txBody>
                  <a:tcPr>
                    <a:noFill/>
                  </a:tcPr>
                </a:tc>
                <a:tc>
                  <a:txBody>
                    <a:bodyPr/>
                    <a:lstStyle/>
                    <a:p>
                      <a:pPr algn="ctr"/>
                      <a:r>
                        <a:rPr sz="800" b="0">
                          <a:solidFill>
                            <a:srgbClr val="1A1A1A"/>
                          </a:solidFill>
                        </a:rPr>
                        <a:t>+2.6%</a:t>
                      </a:r>
                    </a:p>
                  </a:txBody>
                  <a:tcPr>
                    <a:noFill/>
                  </a:tcPr>
                </a:tc>
              </a:tr>
            </a:tbl>
          </a:graphicData>
        </a:graphic>
      </p:graphicFrame>
      <p:sp>
        <p:nvSpPr>
          <p:cNvPr id="17" name="Rectangle 16"/>
          <p:cNvSpPr/>
          <p:nvPr/>
        </p:nvSpPr>
        <p:spPr>
          <a:xfrm>
            <a:off x="324000" y="4248000"/>
            <a:ext cx="8496000" cy="54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4248000"/>
            <a:ext cx="43200" cy="540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4284000"/>
            <a:ext cx="8208000" cy="180000"/>
          </a:xfrm>
          <a:prstGeom prst="rect">
            <a:avLst/>
          </a:prstGeom>
          <a:noFill/>
        </p:spPr>
        <p:txBody>
          <a:bodyPr wrap="square">
            <a:spAutoFit/>
          </a:bodyPr>
          <a:lstStyle/>
          <a:p>
            <a:pPr algn="l"/>
            <a:r>
              <a:rPr sz="800" b="1" i="0">
                <a:solidFill>
                  <a:srgbClr val="555555"/>
                </a:solidFill>
              </a:rPr>
              <a:t>Note — ETF sectoriels SPDR non disponibles pour cet indice</a:t>
            </a:r>
          </a:p>
        </p:txBody>
      </p:sp>
      <p:sp>
        <p:nvSpPr>
          <p:cNvPr id="20" name="TextBox 19"/>
          <p:cNvSpPr txBox="1"/>
          <p:nvPr/>
        </p:nvSpPr>
        <p:spPr>
          <a:xfrm>
            <a:off x="432000" y="4482000"/>
            <a:ext cx="8208000" cy="288000"/>
          </a:xfrm>
          <a:prstGeom prst="rect">
            <a:avLst/>
          </a:prstGeom>
          <a:noFill/>
        </p:spPr>
        <p:txBody>
          <a:bodyPr wrap="square">
            <a:spAutoFit/>
          </a:bodyPr>
          <a:lstStyle/>
          <a:p>
            <a:pPr algn="l"/>
            <a:r>
              <a:rPr sz="750" b="0" i="0">
                <a:solidFill>
                  <a:srgbClr val="555555"/>
                </a:solidFill>
              </a:rPr>
              <a:t>Les ETF sectoriels SPDR sont references sur le marche US (S&amp;P 500). Pour les indices europeens, les equivalents iShares / Amundi ne sont pas encore integres.</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