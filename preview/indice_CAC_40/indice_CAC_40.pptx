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496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1368000"/>
            <a:ext cx="36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1378800"/>
            <a:ext cx="8280000" cy="136800"/>
          </a:xfrm>
          <a:prstGeom prst="rect">
            <a:avLst/>
          </a:prstGeom>
          <a:noFill/>
        </p:spPr>
        <p:txBody>
          <a:bodyPr wrap="square">
            <a:spAutoFit/>
          </a:bodyPr>
          <a:lstStyle/>
          <a:p>
            <a:pPr algn="l"/>
            <a:r>
              <a:rPr sz="750" b="0" i="0">
                <a:solidFill>
                  <a:srgbClr val="1B3A6B"/>
                </a:solidFill>
              </a:rPr>
              <a:t>Regime Volatile  ·  VIX 24  ·  Spread +0.7%  ·  Rec. 6M 26%</a:t>
            </a:r>
          </a:p>
        </p:txBody>
      </p:sp>
      <p:sp>
        <p:nvSpPr>
          <p:cNvPr id="21" name="Rectangle 20"/>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3" name="Rectangle 22"/>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25" name="TextBox 24"/>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6" name="Rectangle 25"/>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28" name="TextBox 27"/>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9" name="Rectangle 28"/>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1" name="TextBox 30"/>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2" name="Rectangle 31"/>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35" name="TextBox 34"/>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CAC 40 affiche un cours de 5 210 (YTD : +4.8%). P/E Forward 21.5x vs mediane historique 10 ans 18.2x — valorisation en ligne avec l'historique. ERP Damodaran 4.2%. Score composite moyen : —/100 —...</a:t>
            </a:r>
          </a:p>
        </p:txBody>
      </p:sp>
      <p:sp>
        <p:nvSpPr>
          <p:cNvPr id="36" name="Rectangle 3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mediane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24.8x</a:t>
                      </a:r>
                    </a:p>
                  </a:txBody>
                  <a:tcPr>
                    <a:no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+18.4%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14.2x</a:t>
                      </a:r>
                    </a:p>
                  </a:txBody>
                  <a:tcPr>
                    <a:solidFill>
                      <a:srgbClr val="F5F7FA"/>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+8.4%</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9.8x</a:t>
                      </a:r>
                    </a:p>
                  </a:txBody>
                  <a:tcPr>
                    <a:no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+12.1%</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12.6x</a:t>
                      </a:r>
                    </a:p>
                  </a:txBody>
                  <a:tcPr>
                    <a:solidFill>
                      <a:srgbClr val="F5F7FA"/>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+9.2%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16.4x</a:t>
                      </a:r>
                    </a:p>
                  </a:txBody>
                  <a:tcPr>
                    <a:no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+6.8%</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14.8x</a:t>
                      </a:r>
                    </a:p>
                  </a:txBody>
                  <a:tcPr>
                    <a:solidFill>
                      <a:srgbClr val="F5F7FA"/>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+5.4%</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13.2x</a:t>
                      </a:r>
                    </a:p>
                  </a:txBody>
                  <a:tcPr>
                    <a:no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+2.1%</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11.4x</a:t>
                      </a:r>
                    </a:p>
                  </a:txBody>
                  <a:tcPr>
                    <a:solidFill>
                      <a:srgbClr val="F5F7FA"/>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6.2x</a:t>
                      </a:r>
                    </a:p>
                  </a:txBody>
                  <a:tcPr>
                    <a:no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18.6x</a:t>
                      </a:r>
                    </a:p>
                  </a:txBody>
                  <a:tcPr>
                    <a:solidFill>
                      <a:srgbClr val="F5F7FA"/>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-2.8%</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11.8x</a:t>
                      </a:r>
                    </a:p>
                  </a:txBody>
                  <a:tcPr>
                    <a:no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-5.4%</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24.8x — prime de 88 % vs la mediane sectorielle (13.2x). Cette prime est justifiee par une croissance BPA structurellement elevee.
Energy offre la valorisation la plus attractive (6.2x) mais le signal Neutre reflète les risques specifiques au secteur.
Mediane sectorielle : 13.2x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21.5x
Zone d'entree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