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55 %  ·  ERP 3.5%</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63.7/100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6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5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0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7 909  ·  YTD : -3.5%  ·  P/E Forward : 12.8x  ·  ERP : 3.5% (Neutre)  ·  Conviction 55 %</a:t>
            </a:r>
          </a:p>
        </p:txBody>
      </p:sp>
      <p:sp>
        <p:nvSpPr>
          <p:cNvPr id="18" name="Rectangle 17"/>
          <p:cNvSpPr/>
          <p:nvPr/>
        </p:nvSpPr>
        <p:spPr>
          <a:xfrm>
            <a:off x="324000" y="1368000"/>
            <a:ext cx="792000" cy="16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Bear</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26</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34%</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Résultats semestriels des utilities</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Des publications solides des géants énergétiques européens pourraient renforcer le momentum du secteur Utilities déjà en</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Politique monétaire de la BCE</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 pivot dovish de la BCE en septembre, avec une baisse des taux plus rapide que prévu, pourrait relancer les valorisati</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Croissance des dividendes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Une accélération des versements de dividendes dans les secteurs Energy et Real Estate pourrait attirer des flux institut</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Surpondérer avec une conviction de 55% (sur la base des 11 secteurs analyses). 6 secteur(s) ressortent Surpondérer — Utilities, Energy, Real Estate — portes par leur momentum positif 52 semaines. 5 secteurs sont Neutre et 0 en Sous-ponderer.  Le CAC 40 affiche un cours de 7 909 (YTD : -3.5%). P/E Forward 12.8x vs médiane historique 10 ans 15.5x — valorisation en ligne avec l'historique. ERP Damodaran 3.5% (adequat). Score composite moyen : 63.7/100 — conviction 55 %.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7 909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-3.5%</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63.7/100). P/E Forward 12.8x vs médiane historique 15.5x — valorisation proche des normes historiques. ERP Damodaran : 3.5% (Neutre). Secteurs a Surponderer : Utilities  ·  Energy  ·  Real Estate. Secteurs a Sous-ponderer : aucun. 5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de 12.8x reste attractif versus sa moyenne historique (15.5x sur 10 ans), mais l'ERP de 3.5% (neutre) reflète un équilibre fragile entre décote sectorielle et prime de risque persistante. La valorisation actuelle ne compense pas pleinement les risques macroéconomiques et géopolitiques.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2.3x</a:t>
                      </a:r>
                    </a:p>
                  </a:txBody>
                  <a:tcPr>
                    <a:solidFill>
                      <a:srgbClr val="F5F7FA"/>
                    </a:solidFill>
                  </a:tcPr>
                </a:tc>
                <a:tc>
                  <a:txBody>
                    <a:bodyPr/>
                    <a:lstStyle/>
                    <a:p>
                      <a:pPr algn="ctr"/>
                      <a:r>
                        <a:rPr sz="800" b="0">
                          <a:solidFill>
                            <a:srgbClr val="1A1A1A"/>
                          </a:solidFill>
                        </a:rPr>
                        <a:t>4.0%</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1A1A1A"/>
                          </a:solidFill>
                        </a:rPr>
                        <a:t>2.1x</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-11.8%</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14.7%</a:t>
                      </a:r>
                    </a:p>
                  </a:txBody>
                  <a:tcPr>
                    <a:solidFill>
                      <a:srgbClr val="F5F7FA"/>
                    </a:solidFill>
                  </a:tcPr>
                </a:tc>
                <a:tc>
                  <a:txBody>
                    <a:bodyPr/>
                    <a:lstStyle/>
                    <a:p>
                      <a:pPr algn="ctr"/>
                      <a:r>
                        <a:rPr sz="800" b="0">
                          <a:solidFill>
                            <a:srgbClr val="1A1A1A"/>
                          </a:solidFill>
                        </a:rPr>
                        <a:t>+3.6%</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c>
                  <a:txBody>
                    <a:bodyPr/>
                    <a:lstStyle/>
                    <a:p>
                      <a:pPr algn="ctr"/>
                      <a:r>
                        <a:rPr sz="800" b="0">
                          <a:solidFill>
                            <a:srgbClr val="1A1A1A"/>
                          </a:solidFill>
                        </a:rPr>
                        <a:t>4.2x</a:t>
                      </a:r>
                    </a:p>
                  </a:txBody>
                  <a:tcPr>
                    <a:noFill/>
                  </a:tcPr>
                </a:tc>
                <a:tc>
                  <a:txBody>
                    <a:bodyPr/>
                    <a:lstStyle/>
                    <a:p>
                      <a:pPr algn="ctr"/>
                      <a:r>
                        <a:rPr sz="800" b="0">
                          <a:solidFill>
                            <a:srgbClr val="1A1A1A"/>
                          </a:solidFill>
                        </a:rPr>
                        <a:t>1.6%</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17.4%</a:t>
                      </a:r>
                    </a:p>
                  </a:txBody>
                  <a:tcPr>
                    <a:solidFill>
                      <a:srgbClr val="F5F7FA"/>
                    </a:solidFill>
                  </a:tcPr>
                </a:tc>
                <a:tc>
                  <a:txBody>
                    <a:bodyPr/>
                    <a:lstStyle/>
                    <a:p>
                      <a:pPr algn="ctr"/>
                      <a:r>
                        <a:rPr sz="800" b="0">
                          <a:solidFill>
                            <a:srgbClr val="1A1A1A"/>
                          </a:solidFill>
                        </a:rPr>
                        <a:t>-0.1%</a:t>
                      </a:r>
                    </a:p>
                  </a:txBody>
                  <a:tcPr>
                    <a:solidFill>
                      <a:srgbClr val="F5F7FA"/>
                    </a:solidFill>
                  </a:tcPr>
                </a:tc>
                <a:tc>
                  <a:txBody>
                    <a:bodyPr/>
                    <a:lstStyle/>
                    <a:p>
                      <a:pPr algn="ctr"/>
                      <a:r>
                        <a:rPr sz="800" b="0">
                          <a:solidFill>
                            <a:srgbClr val="1A1A1A"/>
                          </a:solidFill>
                        </a:rPr>
                        <a:t>8.5x</a:t>
                      </a:r>
                    </a:p>
                  </a:txBody>
                  <a:tcPr>
                    <a:solidFill>
                      <a:srgbClr val="F5F7FA"/>
                    </a:solidFill>
                  </a:tcPr>
                </a:tc>
                <a:tc>
                  <a:txBody>
                    <a:bodyPr/>
                    <a:lstStyle/>
                    <a:p>
                      <a:pPr algn="ctr"/>
                      <a:r>
                        <a:rPr sz="800" b="0">
                          <a:solidFill>
                            <a:srgbClr val="1A1A1A"/>
                          </a:solidFill>
                        </a:rPr>
                        <a:t>0.7%</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19.2%</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5.8x</a:t>
                      </a:r>
                    </a:p>
                  </a:txBody>
                  <a:tcPr>
                    <a:noFill/>
                  </a:tcPr>
                </a:tc>
                <a:tc>
                  <a:txBody>
                    <a:bodyPr/>
                    <a:lstStyle/>
                    <a:p>
                      <a:pPr algn="ctr"/>
                      <a:r>
                        <a:rPr sz="800" b="0">
                          <a:solidFill>
                            <a:srgbClr val="1A1A1A"/>
                          </a:solidFill>
                        </a:rPr>
                        <a:t>0.9%</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6 secteur(s) sur 11 franchissent le seuil Surpondérer (score &gt; 65) : Utilities · Energy · Real Estate · Materials · Financials · Industrials. 0 secteur(s) en Sous-pondérer : aucun. 5 secteur(s) en position Neutre. L'écart entre le secteur leader (Utilities, score 85/100) et le secteur le plus faible (Consumer Discretionary, score 40/100) est de 45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Utilities  ·  Energy en zone Opportunite (EV/EBITDA attractif) — forte conviction score Surponderer.
Utilities  ·  Energy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BEBEB"/>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Utilities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9.1x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ENGI.PA</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9.1x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TextBox 2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28" name="Rectangle 2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+62.9% — momentum surpondérer</a:t>
            </a:r>
          </a:p>
        </p:txBody>
      </p:sp>
      <p:sp>
        <p:nvSpPr>
          <p:cNvPr id="30" name="TextBox 2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1" name="Rectangle 3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3" name="Rectangle 3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Energy</a:t>
            </a:r>
          </a:p>
        </p:txBody>
      </p:sp>
      <p:sp>
        <p:nvSpPr>
          <p:cNvPr id="36" name="Rectangle 3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38" name="TextBox 3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6.2x</a:t>
            </a:r>
          </a:p>
        </p:txBody>
      </p:sp>
      <p:sp>
        <p:nvSpPr>
          <p:cNvPr id="39" name="TextBox 3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0" name="Rectangle 3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TTE.PA</a:t>
            </a:r>
          </a:p>
        </p:txBody>
      </p:sp>
      <p:sp>
        <p:nvSpPr>
          <p:cNvPr id="42" name="TextBox 4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3" name="TextBox 4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6.2x</a:t>
            </a:r>
          </a:p>
        </p:txBody>
      </p:sp>
      <p:sp>
        <p:nvSpPr>
          <p:cNvPr id="44" name="TextBox 4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45" name="TextBox 4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46" name="Rectangle 4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48" name="TextBox 4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9" name="Rectangle 4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51" name="Rectangle 5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Real Estate</a:t>
            </a:r>
          </a:p>
        </p:txBody>
      </p:sp>
      <p:sp>
        <p:nvSpPr>
          <p:cNvPr id="54" name="Rectangle 5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56" name="TextBox 5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85/100  ·  EV/EBITDA : 17.0x</a:t>
            </a:r>
          </a:p>
        </p:txBody>
      </p:sp>
      <p:sp>
        <p:nvSpPr>
          <p:cNvPr id="57" name="TextBox 5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8" name="Rectangle 5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URW.PA</a:t>
            </a:r>
          </a:p>
        </p:txBody>
      </p:sp>
      <p:sp>
        <p:nvSpPr>
          <p:cNvPr id="60" name="TextBox 5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61" name="TextBox 6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17.0x</a:t>
            </a:r>
          </a:p>
        </p:txBody>
      </p:sp>
      <p:sp>
        <p:nvSpPr>
          <p:cNvPr id="62" name="TextBox 6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63" name="TextBox 6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4" name="Rectangle 6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+48.0% — momentum surpondérer</a:t>
            </a:r>
          </a:p>
        </p:txBody>
      </p:sp>
      <p:sp>
        <p:nvSpPr>
          <p:cNvPr id="66" name="TextBox 6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7" name="Rectangle 6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9" name="Rectangle 6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Utilities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Energy — score 85/100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Real Estate — score 85/100</a:t>
            </a:r>
          </a:p>
        </p:txBody>
      </p:sp>
      <p:sp>
        <p:nvSpPr>
          <p:cNvPr id="27" name="TextBox 26"/>
          <p:cNvSpPr txBox="1"/>
          <p:nvPr/>
        </p:nvSpPr>
        <p:spPr>
          <a:xfrm>
            <a:off x="432000" y="3941999"/>
            <a:ext cx="3888000" cy="234000"/>
          </a:xfrm>
          <a:prstGeom prst="rect">
            <a:avLst/>
          </a:prstGeom>
          <a:noFill/>
        </p:spPr>
        <p:txBody>
          <a:bodyPr wrap="square">
            <a:spAutoFit/>
          </a:bodyPr>
          <a:lstStyle/>
          <a:p>
            <a:pPr algn="l"/>
            <a:r>
              <a:rPr sz="800" b="0" i="0">
                <a:solidFill>
                  <a:srgbClr val="555555"/>
                </a:solidFill>
              </a:rPr>
              <a:t>• Materials — score 72/100</a:t>
            </a:r>
          </a:p>
        </p:txBody>
      </p:sp>
      <p:sp>
        <p:nvSpPr>
          <p:cNvPr id="28" name="Rectangle 27"/>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15.5x
PE Forward indice : 12.8x
Zone d'entrée favorable (PE &lt; mediane) :
Utilities  ·  Energy  ·  Real Estate
Zone de prudence (PE &gt; mediane +15 %) :
Aucun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 l'Indice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vs S&amp;P 500, Obligations &amp; Or  ·  Indexe a 100  ·  Source yfinance</a:t>
            </a:r>
          </a:p>
        </p:txBody>
      </p:sp>
      <p:pic>
        <p:nvPicPr>
          <p:cNvPr id="15" name="Picture 14" descr="image.png"/>
          <p:cNvPicPr>
            <a:picLocks noChangeAspect="1"/>
          </p:cNvPicPr>
          <p:nvPr/>
        </p:nvPicPr>
        <p:blipFill>
          <a:blip r:embed="rId2"/>
          <a:stretch>
            <a:fillRect/>
          </a:stretch>
        </p:blipFill>
        <p:spPr>
          <a:xfrm>
            <a:off x="324000" y="792000"/>
            <a:ext cx="8496000" cy="2340000"/>
          </a:xfrm>
          <a:prstGeom prst="rect">
            <a:avLst/>
          </a:prstGeom>
        </p:spPr>
      </p:pic>
      <p:sp>
        <p:nvSpPr>
          <p:cNvPr id="16" name="Rectangle 15"/>
          <p:cNvSpPr/>
          <p:nvPr/>
        </p:nvSpPr>
        <p:spPr>
          <a:xfrm>
            <a:off x="324000" y="3240000"/>
            <a:ext cx="8496000" cy="156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240000"/>
            <a:ext cx="43200" cy="156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294000"/>
            <a:ext cx="8208000" cy="216000"/>
          </a:xfrm>
          <a:prstGeom prst="rect">
            <a:avLst/>
          </a:prstGeom>
          <a:noFill/>
        </p:spPr>
        <p:txBody>
          <a:bodyPr wrap="square">
            <a:spAutoFit/>
          </a:bodyPr>
          <a:lstStyle/>
          <a:p>
            <a:pPr algn="l"/>
            <a:r>
              <a:rPr sz="800" b="1" i="0">
                <a:solidFill>
                  <a:srgbClr val="1B3A6B"/>
                </a:solidFill>
              </a:rPr>
              <a:t>Lecture analytique — CAC 40 sur 52 semaines</a:t>
            </a:r>
          </a:p>
        </p:txBody>
      </p:sp>
      <p:sp>
        <p:nvSpPr>
          <p:cNvPr id="19" name="TextBox 18"/>
          <p:cNvSpPr txBox="1"/>
          <p:nvPr/>
        </p:nvSpPr>
        <p:spPr>
          <a:xfrm>
            <a:off x="432000" y="3528000"/>
            <a:ext cx="8208000" cy="1242000"/>
          </a:xfrm>
          <a:prstGeom prst="rect">
            <a:avLst/>
          </a:prstGeom>
          <a:noFill/>
        </p:spPr>
        <p:txBody>
          <a:bodyPr wrap="square">
            <a:spAutoFit/>
          </a:bodyPr>
          <a:lstStyle/>
          <a:p>
            <a:pPr algn="l"/>
            <a:r>
              <a:rPr sz="750" b="0" i="0">
                <a:solidFill>
                  <a:srgbClr val="555555"/>
                </a:solidFill>
              </a:rPr>
              <a:t>Tendance laterale sur 52 semaines (+0.6%). Cours actuel : 7 909 (YTD : -3.5%).  Plus haut atteint en 2026-02 (+9.7% vs base) — porte par l'appetit pour le risque et les flux entrants sur les equites europeennes.  Point bas en 2025-04 (-12.7% vs base).  Rebond de +13.3pts depuis le creux de 2025-04 — soutenu par les publications de resultats et les anticipations de politique monetaire accommodante.  Vs S&amp;P 500 (+16.1%) : sous-performance de 15.5pt — le marche US reste porte par la tech et le momentum des megacaps.  Or (+48.5%) surperforme nettement — signal d aversion au risque et demande de protection contre l inflation.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