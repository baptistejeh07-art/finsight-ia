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3.5%</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7 909  ·  YTD : -3.5%  ·  P/E Forward : 12.8x  ·  ERP : 3.5% (Neutre)  ·  Conviction 55 %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27</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Accélération des dividendes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entreprises du CAC 40 pourraient augmenter leurs dividendes pour compenser la faiblesse des cours, attirant les inve</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Politique monétaire de la BCE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baisse des taux directeurs ou un assouplissement quantitatif pourrait relancer les valorisations des secteurs cycliq</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Résultats trimestriels solides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Des publications de résultats supérieures aux attentes, notamment dans les Utilities, pourraient renforcer le momentum h</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7 909 (YTD : -3.5%). P/E Forward 12.8x vs médiane historique 10 ans 15.5x — valorisation en ligne avec l'historique. ERP Damodaran 3.5% (adequat). Score composite moyen : 63.7/100 — conviction 55 %.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7 909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-3.5%</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63.7/100). P/E Forward 12.8x vs médiane historique 15.5x — valorisation proche des normes historiques. ERP Damodaran : 3.5% (Neutre). Secteurs a Surponderer : Utilities  ·  Energy  ·  Real Estate. Secteurs a Sous-ponderer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du CAC 40 à 12.8x reste attractif versus sa moyenne historique de 15.5x, mais reflète une décote liée à la faible croissance des bénéfices et à un environnement de taux durablement élevés. L'ERP neutre à 3.5% suggère une juste valorisation, mais sans marge de sécurité significative en cas de choc macroéconomique.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+4.5%</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solidFill>
                      <a:srgbClr val="F5F7FA"/>
                    </a:solidFill>
                  </a:tcPr>
                </a:tc>
                <a:tc>
                  <a:txBody>
                    <a:bodyPr/>
                    <a:lstStyle/>
                    <a:p>
                      <a:pPr algn="ctr"/>
                      <a:r>
                        <a:rPr sz="800" b="0">
                          <a:solidFill>
                            <a:srgbClr val="1A1A1A"/>
                          </a:solidFill>
                        </a:rPr>
                        <a:t>-0.1%</a:t>
                      </a:r>
                    </a:p>
                  </a:txBody>
                  <a:tcPr>
                    <a:solidFill>
                      <a:srgbClr val="F5F7FA"/>
                    </a:solidFill>
                  </a:tcPr>
                </a:tc>
                <a:tc>
                  <a:txBody>
                    <a:bodyPr/>
                    <a:lstStyle/>
                    <a:p>
                      <a:pPr algn="ctr"/>
                      <a:r>
                        <a:rPr sz="800" b="0">
                          <a:solidFill>
                            <a:srgbClr val="1A1A1A"/>
                          </a:solidFill>
                        </a:rPr>
                        <a:t>8.5x</a:t>
                      </a:r>
                    </a:p>
                  </a:txBody>
                  <a:tcPr>
                    <a:solidFill>
                      <a:srgbClr val="F5F7FA"/>
                    </a:solidFill>
                  </a:tcPr>
                </a:tc>
                <a:tc>
                  <a:txBody>
                    <a:bodyPr/>
                    <a:lstStyle/>
                    <a:p>
                      <a:pPr algn="ctr"/>
                      <a:r>
                        <a:rPr sz="800" b="0">
                          <a:solidFill>
                            <a:srgbClr val="1A1A1A"/>
                          </a:solidFill>
                        </a:rPr>
                        <a:t>0.7%</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Utilities · Energy · Real Estate · Materials · Financials · Industrials. 0 secteur(s) en Sous-pondérer : aucun. 5 secteur(s) en position Neutre. L'écart entre le secteur leader (Utilities, score 85/100) et le secteur le plus faible (Consumer Discretionary, score 40/100) est de 45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Energy en zone Opportunite (EV/EBITDA attractif) — forte conviction score Surponderer.
Utilities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+62.9%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6.2x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6.2x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17.0x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17.0x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+48.0%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Energy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Real Estate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Materials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15.5x
PE Forward indice : 12.8x
Zone d'entrée favorable (PE &lt; mediane) :
Utilities  ·  Energy  ·  Real Estate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340000"/>
          </a:xfrm>
          <a:prstGeom prst="rect">
            <a:avLst/>
          </a:prstGeom>
        </p:spPr>
      </p:pic>
      <p:sp>
        <p:nvSpPr>
          <p:cNvPr id="16" name="Rectangle 15"/>
          <p:cNvSpPr/>
          <p:nvPr/>
        </p:nvSpPr>
        <p:spPr>
          <a:xfrm>
            <a:off x="324000" y="3240000"/>
            <a:ext cx="8496000" cy="156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240000"/>
            <a:ext cx="43200" cy="156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294000"/>
            <a:ext cx="8208000" cy="216000"/>
          </a:xfrm>
          <a:prstGeom prst="rect">
            <a:avLst/>
          </a:prstGeom>
          <a:noFill/>
        </p:spPr>
        <p:txBody>
          <a:bodyPr wrap="square">
            <a:spAutoFit/>
          </a:bodyPr>
          <a:lstStyle/>
          <a:p>
            <a:pPr algn="l"/>
            <a:r>
              <a:rPr sz="800" b="1" i="0">
                <a:solidFill>
                  <a:srgbClr val="1B3A6B"/>
                </a:solidFill>
              </a:rPr>
              <a:t>Lecture analytique — CAC 40 sur 52 semaines</a:t>
            </a:r>
          </a:p>
        </p:txBody>
      </p:sp>
      <p:sp>
        <p:nvSpPr>
          <p:cNvPr id="19" name="TextBox 18"/>
          <p:cNvSpPr txBox="1"/>
          <p:nvPr/>
        </p:nvSpPr>
        <p:spPr>
          <a:xfrm>
            <a:off x="432000" y="3528000"/>
            <a:ext cx="8208000" cy="1242000"/>
          </a:xfrm>
          <a:prstGeom prst="rect">
            <a:avLst/>
          </a:prstGeom>
          <a:noFill/>
        </p:spPr>
        <p:txBody>
          <a:bodyPr wrap="square">
            <a:spAutoFit/>
          </a:bodyPr>
          <a:lstStyle/>
          <a:p>
            <a:pPr algn="l"/>
            <a:r>
              <a:rPr sz="750" b="0" i="0">
                <a:solidFill>
                  <a:srgbClr val="555555"/>
                </a:solidFill>
              </a:rPr>
              <a:t>Tendance laterale sur 52 semaines (+0.6%). Cours actuel : 7 909 (YTD : -3.5%).  Plus haut atteint en 2026-02 (+9.7% vs base) — porte par l'appetit pour le risque et les flux entrants sur les equites europeennes.  Point bas en 2025-04 (-12.7% vs base).  Rebond de +13.3pts depuis le creux de 2025-04 — soutenu par les publications de resultats et les anticipations de politique monetaire accommodante.  Vs S&amp;P 500 (+16.1%) : sous-performance de 15.5pt — le marche US reste porte par la tech et le momentum des megacaps.  Or (+49.3%) surperforme nettement — signal d aversion au risque et demande de protection contre l inflation.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