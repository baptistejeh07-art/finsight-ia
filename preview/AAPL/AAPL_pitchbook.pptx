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275 $  ·  Upside : +10,5 %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29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275 $  ·  Upside : +10,5 %  ·  Bear : 220 $ (-11,6 %)  ·  Bull : 310 $ (+24,6 %)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Apple devrait bénéficier d'un rebond des ventes iPhone en 2026 (+8% YoY à 240M d'unités) grâce à l'IA intégrée et aux cycles de remplacement</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Pricing power</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Les services récurrents devraient atteindre 110Mds$ en 2027 (+18% CAGR) avec une marge brute &gt;72%</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Cash generation</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 rachat d'actions de 110Mds$ en 2026 soutiendra la valorisation avec un ROIC &gt;80%.</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européenne sur l'App Store réduisant les marges services de 15% d'ici 2027 | Concurrence accrue en IA (Google, Microsoft) menant à une perte de 10% de parts de marché d'ici 2026 |…</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Régulation App Store</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Cyberattaque majeure sur l'écosystème Apple en 2026, réduisant la confiance des utilisateurs et le CA services de 8% | Échec du déploiement de l'IA sur iPhone, entraînant une baisse de 12% des ventes…</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Guerre commerciale USA-Chine aggravée, imposant des tarifs douaniers de 25% sur les composants iPhone, réduisant la marge brute à 42% | Scission forcée de l'App Store en Europe, diminuant les revenus…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25,7x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22,1x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10,4 %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275 $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+10,5 %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-0,083</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iPhone  ·  Régulation App Store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innovants (iPhone, Mac, iPad, services) avec un écosystème intégré et une fidélisation client élevée. Positionné en haut de gamme, le groupe domine les segments premium avec des marges structurellement élevées et un pricing power inégalé. Son avantage concurrentiel repose sur l'innovation, la marque forte et une base d'utilisateurs captive via l'App Store et les services récurrents.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Ventes de matériel (iPhone ~50% du CA, Mac, iPad, Wearables) avec un modèle premium et une marge brute &gt;45%. Clients cibles : consommateurs haut de gamme et professionnels. Croissance tirée par l'innovation (IA intégrée, nouveaux form factors) et l'expansion géographique (Inde, Chine).</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Abonnements (App Store, Apple Music, iCloud) avec marge brute &gt;70% et croissance YoY &gt;15%. Modèle récurrent avec 1.8 milliard d'utilisateurs actifs. Moteurs : expansion base installée, prix des abonnements et contenu exclusif (Apple TV+).</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3 652,7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248,80 $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25,7x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32,6x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62%</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Ventes de matériel (iPhone ~50% du CA, Mac, iPad, Wearables) avec un modèle premium et une marge brute &gt;45%. Clients cibles : consommateurs haut de gamme et professionnels. Croissance tirée par l'innovation (IA intégrée, nouveaux form factors) et l'expansion géographique (Inde, Chine).</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22%</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Abonnements (App Store, Apple Music, iCloud) avec marge brute &gt;70% et croissance YoY &gt;15%. Modèle récurrent avec 1.8 milliard d'utilisateurs actifs. Moteurs : expansion base installée, prix des abonnements et contenu exclusif (Apple TV+).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445,0</a:t>
                      </a:r>
                    </a:p>
                  </a:txBody>
                  <a:tcPr>
                    <a:solidFill>
                      <a:srgbClr val="FFFFFF"/>
                    </a:solidFill>
                  </a:tcPr>
                </a:tc>
                <a:tc>
                  <a:txBody>
                    <a:bodyPr/>
                    <a:lstStyle/>
                    <a:p>
                      <a:pPr algn="ctr"/>
                      <a:r>
                        <a:rPr sz="800" b="1" i="0">
                          <a:solidFill>
                            <a:srgbClr val="0D0D0D"/>
                          </a:solidFill>
                          <a:latin typeface="Calibri"/>
                        </a:rPr>
                        <a:t>475,0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+7,0 %</a:t>
                      </a:r>
                    </a:p>
                  </a:txBody>
                  <a:tcPr>
                    <a:solidFill>
                      <a:srgbClr val="F7F8FA"/>
                    </a:solidFill>
                  </a:tcPr>
                </a:tc>
                <a:tc>
                  <a:txBody>
                    <a:bodyPr/>
                    <a:lstStyle/>
                    <a:p>
                      <a:pPr algn="ctr"/>
                      <a:r>
                        <a:rPr sz="750" b="0" i="1">
                          <a:solidFill>
                            <a:srgbClr val="555555"/>
                          </a:solidFill>
                          <a:latin typeface="Calibri"/>
                        </a:rPr>
                        <a:t>+6,7 %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211,4</a:t>
                      </a:r>
                    </a:p>
                  </a:txBody>
                  <a:tcPr>
                    <a:solidFill>
                      <a:srgbClr val="FFFFFF"/>
                    </a:solidFill>
                  </a:tcPr>
                </a:tc>
                <a:tc>
                  <a:txBody>
                    <a:bodyPr/>
                    <a:lstStyle/>
                    <a:p>
                      <a:pPr algn="ctr"/>
                      <a:r>
                        <a:rPr sz="800" b="1" i="0">
                          <a:solidFill>
                            <a:srgbClr val="0D0D0D"/>
                          </a:solidFill>
                          <a:latin typeface="Calibri"/>
                        </a:rPr>
                        <a:t>228,0</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47,5 %</a:t>
                      </a:r>
                    </a:p>
                  </a:txBody>
                  <a:tcPr>
                    <a:solidFill>
                      <a:srgbClr val="F7F8FA"/>
                    </a:solidFill>
                  </a:tcPr>
                </a:tc>
                <a:tc>
                  <a:txBody>
                    <a:bodyPr/>
                    <a:lstStyle/>
                    <a:p>
                      <a:pPr algn="ctr"/>
                      <a:r>
                        <a:rPr sz="750" b="0" i="1">
                          <a:solidFill>
                            <a:srgbClr val="555555"/>
                          </a:solidFill>
                          <a:latin typeface="Calibri"/>
                        </a:rPr>
                        <a:t>48,0 %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162,0</a:t>
                      </a:r>
                    </a:p>
                  </a:txBody>
                  <a:tcPr>
                    <a:solidFill>
                      <a:srgbClr val="FFFFFF"/>
                    </a:solidFill>
                  </a:tcPr>
                </a:tc>
                <a:tc>
                  <a:txBody>
                    <a:bodyPr/>
                    <a:lstStyle/>
                    <a:p>
                      <a:pPr algn="ctr"/>
                      <a:r>
                        <a:rPr sz="800" b="1" i="0">
                          <a:solidFill>
                            <a:srgbClr val="0D0D0D"/>
                          </a:solidFill>
                          <a:latin typeface="Calibri"/>
                        </a:rPr>
                        <a:t>175,0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36,4 %</a:t>
                      </a:r>
                    </a:p>
                  </a:txBody>
                  <a:tcPr>
                    <a:solidFill>
                      <a:srgbClr val="F7F8FA"/>
                    </a:solidFill>
                  </a:tcPr>
                </a:tc>
                <a:tc>
                  <a:txBody>
                    <a:bodyPr/>
                    <a:lstStyle/>
                    <a:p>
                      <a:pPr algn="ctr"/>
                      <a:r>
                        <a:rPr sz="750" b="0" i="1">
                          <a:solidFill>
                            <a:srgbClr val="555555"/>
                          </a:solidFill>
                          <a:latin typeface="Calibri"/>
                        </a:rPr>
                        <a:t>36,8 %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120,0</a:t>
                      </a:r>
                    </a:p>
                  </a:txBody>
                  <a:tcPr>
                    <a:solidFill>
                      <a:srgbClr val="FFFFFF"/>
                    </a:solidFill>
                  </a:tcPr>
                </a:tc>
                <a:tc>
                  <a:txBody>
                    <a:bodyPr/>
                    <a:lstStyle/>
                    <a:p>
                      <a:pPr algn="ctr"/>
                      <a:r>
                        <a:rPr sz="800" b="1" i="0">
                          <a:solidFill>
                            <a:srgbClr val="0D0D0D"/>
                          </a:solidFill>
                          <a:latin typeface="Calibri"/>
                        </a:rPr>
                        <a:t>130,0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27,0 %</a:t>
                      </a:r>
                    </a:p>
                  </a:txBody>
                  <a:tcPr>
                    <a:solidFill>
                      <a:srgbClr val="F7F8FA"/>
                    </a:solidFill>
                  </a:tcPr>
                </a:tc>
                <a:tc>
                  <a:txBody>
                    <a:bodyPr/>
                    <a:lstStyle/>
                    <a:p>
                      <a:pPr algn="ctr"/>
                      <a:r>
                        <a:rPr sz="750" b="0" i="1">
                          <a:solidFill>
                            <a:srgbClr val="555555"/>
                          </a:solidFill>
                          <a:latin typeface="Calibri"/>
                        </a:rPr>
                        <a:t>27,4 %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revenue 2025 à 6.4% (+26Mds$) portée par les services (+16%) et l'iPhone (+5%). Marges nettes en hausse de 290bps grâce à un mix favorable (services &gt;70% marge) et une discipline sur les coûts. La génération de cash libre devrait dépasser 120Mds$ en 2026, renforçant la solidité bilancielle.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9,83</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revenue 2025 à 6.4% (+26Mds$) portée par les services (+16%) et l'iPhone (+5%). Marges nettes en hausse de 290bps grâce à un mix favorable (services &gt;70% marge) et une discipline sur les coûts. La génération de cash libre devrait dépasser 120Mds$ en 2026, renforçant la solidité bilancielle.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32,6x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Marges brutes passées de 43.3% (2022) à 46.9% (2025) grâce à un mix produit favorable (iPhone premium) et une optimisation des coûts logistiques. Les marges EBITDA (32.8% à 34.8%) et nettes (24.0% à 26.9%) confirment un levier opérationnel exceptionnel. Cette durabilité est soutenue par le pricing power et la récurrence des services, limitant les risques de compression.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248,80 $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220 $</a:t>
                      </a:r>
                    </a:p>
                  </a:txBody>
                  <a:tcPr>
                    <a:solidFill>
                      <a:srgbClr val="FAF0EF"/>
                    </a:solidFill>
                  </a:tcPr>
                </a:tc>
                <a:tc>
                  <a:txBody>
                    <a:bodyPr/>
                    <a:lstStyle/>
                    <a:p>
                      <a:pPr algn="ctr"/>
                      <a:r>
                        <a:rPr sz="2000" b="1" i="0">
                          <a:solidFill>
                            <a:srgbClr val="2E5FA3"/>
                          </a:solidFill>
                          <a:latin typeface="Calibri"/>
                        </a:rPr>
                        <a:t>275 $</a:t>
                      </a:r>
                    </a:p>
                  </a:txBody>
                  <a:tcPr>
                    <a:solidFill>
                      <a:srgbClr val="EEF3FA"/>
                    </a:solidFill>
                  </a:tcPr>
                </a:tc>
                <a:tc>
                  <a:txBody>
                    <a:bodyPr/>
                    <a:lstStyle/>
                    <a:p>
                      <a:pPr algn="ctr"/>
                      <a:r>
                        <a:rPr sz="2000" b="1" i="0">
                          <a:solidFill>
                            <a:srgbClr val="1A7A4A"/>
                          </a:solidFill>
                          <a:latin typeface="Calibri"/>
                        </a:rPr>
                        <a:t>310 $</a:t>
                      </a:r>
                    </a:p>
                  </a:txBody>
                  <a:tcPr>
                    <a:solidFill>
                      <a:srgbClr val="EAF4EF"/>
                    </a:solidFill>
                  </a:tcPr>
                </a:tc>
              </a:tr>
              <a:tr h="342900">
                <a:tc>
                  <a:txBody>
                    <a:bodyPr/>
                    <a:lstStyle/>
                    <a:p>
                      <a:pPr algn="ctr"/>
                      <a:r>
                        <a:rPr sz="1200" b="1" i="0">
                          <a:solidFill>
                            <a:srgbClr val="A82020"/>
                          </a:solidFill>
                          <a:latin typeface="Calibri"/>
                        </a:rPr>
                        <a:t>-11,6 %</a:t>
                      </a:r>
                    </a:p>
                  </a:txBody>
                  <a:tcPr>
                    <a:solidFill>
                      <a:srgbClr val="FAF0EF"/>
                    </a:solidFill>
                  </a:tcPr>
                </a:tc>
                <a:tc>
                  <a:txBody>
                    <a:bodyPr/>
                    <a:lstStyle/>
                    <a:p>
                      <a:pPr algn="ctr"/>
                      <a:r>
                        <a:rPr sz="1200" b="1" i="0">
                          <a:solidFill>
                            <a:srgbClr val="2E5FA3"/>
                          </a:solidFill>
                          <a:latin typeface="Calibri"/>
                        </a:rPr>
                        <a:t>+10,5 %</a:t>
                      </a:r>
                    </a:p>
                  </a:txBody>
                  <a:tcPr>
                    <a:solidFill>
                      <a:srgbClr val="EEF3FA"/>
                    </a:solidFill>
                  </a:tcPr>
                </a:tc>
                <a:tc>
                  <a:txBody>
                    <a:bodyPr/>
                    <a:lstStyle/>
                    <a:p>
                      <a:pPr algn="ctr"/>
                      <a:r>
                        <a:rPr sz="1200" b="1" i="0">
                          <a:solidFill>
                            <a:srgbClr val="1A7A4A"/>
                          </a:solidFill>
                          <a:latin typeface="Calibri"/>
                        </a:rPr>
                        <a:t>+24,6 %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461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275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10.4% et une TGR de 3.0%, le prix implicite DCF est de 285$ (+14% vs cours). La prime actuelle intègre déjà une croissance superieure, mais un rebond des ventes iPhone ou une accélération des services pourrait déclencher un re-rating. Le risque principal est une exécution sous-optimale sur l'IA.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3 652,7</a:t>
                      </a:r>
                    </a:p>
                  </a:txBody>
                  <a:tcPr>
                    <a:solidFill>
                      <a:srgbClr val="DDE8F5"/>
                    </a:solidFill>
                  </a:tcPr>
                </a:tc>
                <a:tc>
                  <a:txBody>
                    <a:bodyPr/>
                    <a:lstStyle/>
                    <a:p>
                      <a:pPr algn="ctr"/>
                      <a:r>
                        <a:rPr sz="800" b="1" i="0">
                          <a:solidFill>
                            <a:srgbClr val="1B3A6B"/>
                          </a:solidFill>
                          <a:latin typeface="Calibri"/>
                        </a:rPr>
                        <a:t>25,7x</a:t>
                      </a:r>
                    </a:p>
                  </a:txBody>
                  <a:tcPr>
                    <a:solidFill>
                      <a:srgbClr val="DDE8F5"/>
                    </a:solidFill>
                  </a:tcPr>
                </a:tc>
                <a:tc>
                  <a:txBody>
                    <a:bodyPr/>
                    <a:lstStyle/>
                    <a:p>
                      <a:pPr algn="ctr"/>
                      <a:r>
                        <a:rPr sz="800" b="1" i="0">
                          <a:solidFill>
                            <a:srgbClr val="1B3A6B"/>
                          </a:solidFill>
                          <a:latin typeface="Calibri"/>
                        </a:rPr>
                        <a:t>8,9x</a:t>
                      </a:r>
                    </a:p>
                  </a:txBody>
                  <a:tcPr>
                    <a:solidFill>
                      <a:srgbClr val="DDE8F5"/>
                    </a:solidFill>
                  </a:tcPr>
                </a:tc>
                <a:tc>
                  <a:txBody>
                    <a:bodyPr/>
                    <a:lstStyle/>
                    <a:p>
                      <a:pPr algn="ctr"/>
                      <a:r>
                        <a:rPr sz="800" b="1" i="0">
                          <a:solidFill>
                            <a:srgbClr val="1B3A6B"/>
                          </a:solidFill>
                          <a:latin typeface="Calibri"/>
                        </a:rPr>
                        <a:t>32,6x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3 300,0</a:t>
                      </a:r>
                    </a:p>
                  </a:txBody>
                  <a:tcPr>
                    <a:solidFill>
                      <a:srgbClr val="FFFFFF"/>
                    </a:solidFill>
                  </a:tcPr>
                </a:tc>
                <a:tc>
                  <a:txBody>
                    <a:bodyPr/>
                    <a:lstStyle/>
                    <a:p>
                      <a:pPr algn="ctr"/>
                      <a:r>
                        <a:rPr sz="800" b="0" i="0">
                          <a:solidFill>
                            <a:srgbClr val="0D0D0D"/>
                          </a:solidFill>
                          <a:latin typeface="Calibri"/>
                        </a:rPr>
                        <a:t>22,1x</a:t>
                      </a:r>
                    </a:p>
                  </a:txBody>
                  <a:tcPr>
                    <a:solidFill>
                      <a:srgbClr val="FFFFFF"/>
                    </a:solidFill>
                  </a:tcPr>
                </a:tc>
                <a:tc>
                  <a:txBody>
                    <a:bodyPr/>
                    <a:lstStyle/>
                    <a:p>
                      <a:pPr algn="ctr"/>
                      <a:r>
                        <a:rPr sz="800" b="0" i="0">
                          <a:solidFill>
                            <a:srgbClr val="0D0D0D"/>
                          </a:solidFill>
                          <a:latin typeface="Calibri"/>
                        </a:rPr>
                        <a:t>12,5x</a:t>
                      </a:r>
                    </a:p>
                  </a:txBody>
                  <a:tcPr>
                    <a:solidFill>
                      <a:srgbClr val="FFFFFF"/>
                    </a:solidFill>
                  </a:tcPr>
                </a:tc>
                <a:tc>
                  <a:txBody>
                    <a:bodyPr/>
                    <a:lstStyle/>
                    <a:p>
                      <a:pPr algn="ctr"/>
                      <a:r>
                        <a:rPr sz="800" b="0" i="0">
                          <a:solidFill>
                            <a:srgbClr val="0D0D0D"/>
                          </a:solidFill>
                          <a:latin typeface="Calibri"/>
                        </a:rPr>
                        <a:t>38,2x</a:t>
                      </a:r>
                    </a:p>
                  </a:txBody>
                  <a:tcPr>
                    <a:solidFill>
                      <a:srgbClr val="FFFFFF"/>
                    </a:solidFill>
                  </a:tcPr>
                </a:tc>
                <a:tc>
                  <a:txBody>
                    <a:bodyPr/>
                    <a:lstStyle/>
                    <a:p>
                      <a:pPr algn="ctr"/>
                      <a:r>
                        <a:rPr sz="800" b="0" i="0">
                          <a:solidFill>
                            <a:srgbClr val="0D0D0D"/>
                          </a:solidFill>
                          <a:latin typeface="Calibri"/>
                        </a:rPr>
                        <a:t>68,0 %</a:t>
                      </a:r>
                    </a:p>
                  </a:txBody>
                  <a:tcPr>
                    <a:solidFill>
                      <a:srgbClr val="FFFFFF"/>
                    </a:solidFill>
                  </a:tcPr>
                </a:tc>
                <a:tc>
                  <a:txBody>
                    <a:bodyPr/>
                    <a:lstStyle/>
                    <a:p>
                      <a:pPr algn="ctr"/>
                      <a:r>
                        <a:rPr sz="800" b="0" i="0">
                          <a:solidFill>
                            <a:srgbClr val="0D0D0D"/>
                          </a:solidFill>
                          <a:latin typeface="Calibri"/>
                        </a:rPr>
                        <a:t>48,0 %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2 100,0</a:t>
                      </a:r>
                    </a:p>
                  </a:txBody>
                  <a:tcPr>
                    <a:solidFill>
                      <a:srgbClr val="F7F8FA"/>
                    </a:solidFill>
                  </a:tcPr>
                </a:tc>
                <a:tc>
                  <a:txBody>
                    <a:bodyPr/>
                    <a:lstStyle/>
                    <a:p>
                      <a:pPr algn="ctr"/>
                      <a:r>
                        <a:rPr sz="800" b="0" i="0">
                          <a:solidFill>
                            <a:srgbClr val="0D0D0D"/>
                          </a:solidFill>
                          <a:latin typeface="Calibri"/>
                        </a:rPr>
                        <a:t>20,5x</a:t>
                      </a:r>
                    </a:p>
                  </a:txBody>
                  <a:tcPr>
                    <a:solidFill>
                      <a:srgbClr val="F7F8FA"/>
                    </a:solidFill>
                  </a:tcPr>
                </a:tc>
                <a:tc>
                  <a:txBody>
                    <a:bodyPr/>
                    <a:lstStyle/>
                    <a:p>
                      <a:pPr algn="ctr"/>
                      <a:r>
                        <a:rPr sz="800" b="0" i="0">
                          <a:solidFill>
                            <a:srgbClr val="0D0D0D"/>
                          </a:solidFill>
                          <a:latin typeface="Calibri"/>
                        </a:rPr>
                        <a:t>9,8x</a:t>
                      </a:r>
                    </a:p>
                  </a:txBody>
                  <a:tcPr>
                    <a:solidFill>
                      <a:srgbClr val="F7F8FA"/>
                    </a:solidFill>
                  </a:tcPr>
                </a:tc>
                <a:tc>
                  <a:txBody>
                    <a:bodyPr/>
                    <a:lstStyle/>
                    <a:p>
                      <a:pPr algn="ctr"/>
                      <a:r>
                        <a:rPr sz="800" b="0" i="0">
                          <a:solidFill>
                            <a:srgbClr val="0D0D0D"/>
                          </a:solidFill>
                          <a:latin typeface="Calibri"/>
                        </a:rPr>
                        <a:t>28,5x</a:t>
                      </a:r>
                    </a:p>
                  </a:txBody>
                  <a:tcPr>
                    <a:solidFill>
                      <a:srgbClr val="F7F8FA"/>
                    </a:solidFill>
                  </a:tcPr>
                </a:tc>
                <a:tc>
                  <a:txBody>
                    <a:bodyPr/>
                    <a:lstStyle/>
                    <a:p>
                      <a:pPr algn="ctr"/>
                      <a:r>
                        <a:rPr sz="800" b="0" i="0">
                          <a:solidFill>
                            <a:srgbClr val="0D0D0D"/>
                          </a:solidFill>
                          <a:latin typeface="Calibri"/>
                        </a:rPr>
                        <a:t>56,0 %</a:t>
                      </a:r>
                    </a:p>
                  </a:txBody>
                  <a:tcPr>
                    <a:solidFill>
                      <a:srgbClr val="F7F8FA"/>
                    </a:solidFill>
                  </a:tcPr>
                </a:tc>
                <a:tc>
                  <a:txBody>
                    <a:bodyPr/>
                    <a:lstStyle/>
                    <a:p>
                      <a:pPr algn="ctr"/>
                      <a:r>
                        <a:rPr sz="800" b="0" i="0">
                          <a:solidFill>
                            <a:srgbClr val="0D0D0D"/>
                          </a:solidFill>
                          <a:latin typeface="Calibri"/>
                        </a:rPr>
                        <a:t>38,0 %</a:t>
                      </a:r>
                    </a:p>
                  </a:txBody>
                  <a:tcPr>
                    <a:solidFill>
                      <a:srgbClr val="F7F8FA"/>
                    </a:solidFill>
                  </a:tcPr>
                </a:tc>
              </a:tr>
              <a:tr h="251999">
                <a:tc>
                  <a:txBody>
                    <a:bodyPr/>
                    <a:lstStyle/>
                    <a:p>
                      <a:pPr algn="l"/>
                      <a:r>
                        <a:rPr sz="800" b="0" i="0">
                          <a:solidFill>
                            <a:srgbClr val="0D0D0D"/>
                          </a:solidFill>
                          <a:latin typeface="Calibri"/>
                        </a:rPr>
                        <a:t>Amazon</a:t>
                      </a:r>
                    </a:p>
                  </a:txBody>
                  <a:tcPr>
                    <a:solidFill>
                      <a:srgbClr val="FFFFFF"/>
                    </a:solidFill>
                  </a:tcPr>
                </a:tc>
                <a:tc>
                  <a:txBody>
                    <a:bodyPr/>
                    <a:lstStyle/>
                    <a:p>
                      <a:pPr algn="ctr"/>
                      <a:r>
                        <a:rPr sz="750" b="0" i="0">
                          <a:solidFill>
                            <a:srgbClr val="555555"/>
                          </a:solidFill>
                          <a:latin typeface="Calibri"/>
                        </a:rPr>
                        <a:t>AMZN</a:t>
                      </a:r>
                    </a:p>
                  </a:txBody>
                  <a:tcPr>
                    <a:solidFill>
                      <a:srgbClr val="FFFFFF"/>
                    </a:solidFill>
                  </a:tcPr>
                </a:tc>
                <a:tc>
                  <a:txBody>
                    <a:bodyPr/>
                    <a:lstStyle/>
                    <a:p>
                      <a:pPr algn="ctr"/>
                      <a:r>
                        <a:rPr sz="800" b="0" i="0">
                          <a:solidFill>
                            <a:srgbClr val="0D0D0D"/>
                          </a:solidFill>
                          <a:latin typeface="Calibri"/>
                        </a:rPr>
                        <a:t>1 800,0</a:t>
                      </a:r>
                    </a:p>
                  </a:txBody>
                  <a:tcPr>
                    <a:solidFill>
                      <a:srgbClr val="FFFFFF"/>
                    </a:solidFill>
                  </a:tcPr>
                </a:tc>
                <a:tc>
                  <a:txBody>
                    <a:bodyPr/>
                    <a:lstStyle/>
                    <a:p>
                      <a:pPr algn="ctr"/>
                      <a:r>
                        <a:rPr sz="800" b="0" i="0">
                          <a:solidFill>
                            <a:srgbClr val="0D0D0D"/>
                          </a:solidFill>
                          <a:latin typeface="Calibri"/>
                        </a:rPr>
                        <a:t>25,3x</a:t>
                      </a:r>
                    </a:p>
                  </a:txBody>
                  <a:tcPr>
                    <a:solidFill>
                      <a:srgbClr val="FFFFFF"/>
                    </a:solidFill>
                  </a:tcPr>
                </a:tc>
                <a:tc>
                  <a:txBody>
                    <a:bodyPr/>
                    <a:lstStyle/>
                    <a:p>
                      <a:pPr algn="ctr"/>
                      <a:r>
                        <a:rPr sz="800" b="0" i="0">
                          <a:solidFill>
                            <a:srgbClr val="0D0D0D"/>
                          </a:solidFill>
                          <a:latin typeface="Calibri"/>
                        </a:rPr>
                        <a:t>3,2x</a:t>
                      </a:r>
                    </a:p>
                  </a:txBody>
                  <a:tcPr>
                    <a:solidFill>
                      <a:srgbClr val="FFFFFF"/>
                    </a:solidFill>
                  </a:tcPr>
                </a:tc>
                <a:tc>
                  <a:txBody>
                    <a:bodyPr/>
                    <a:lstStyle/>
                    <a:p>
                      <a:pPr algn="ctr"/>
                      <a:r>
                        <a:rPr sz="800" b="0" i="0">
                          <a:solidFill>
                            <a:srgbClr val="0D0D0D"/>
                          </a:solidFill>
                          <a:latin typeface="Calibri"/>
                        </a:rPr>
                        <a:t>55,0x</a:t>
                      </a:r>
                    </a:p>
                  </a:txBody>
                  <a:tcPr>
                    <a:solidFill>
                      <a:srgbClr val="FFFFFF"/>
                    </a:solidFill>
                  </a:tcPr>
                </a:tc>
                <a:tc>
                  <a:txBody>
                    <a:bodyPr/>
                    <a:lstStyle/>
                    <a:p>
                      <a:pPr algn="ctr"/>
                      <a:r>
                        <a:rPr sz="800" b="0" i="0">
                          <a:solidFill>
                            <a:srgbClr val="0D0D0D"/>
                          </a:solidFill>
                          <a:latin typeface="Calibri"/>
                        </a:rPr>
                        <a:t>45,0 %</a:t>
                      </a:r>
                    </a:p>
                  </a:txBody>
                  <a:tcPr>
                    <a:solidFill>
                      <a:srgbClr val="FFFFFF"/>
                    </a:solidFill>
                  </a:tcPr>
                </a:tc>
                <a:tc>
                  <a:txBody>
                    <a:bodyPr/>
                    <a:lstStyle/>
                    <a:p>
                      <a:pPr algn="ctr"/>
                      <a:r>
                        <a:rPr sz="800" b="0" i="0">
                          <a:solidFill>
                            <a:srgbClr val="0D0D0D"/>
                          </a:solidFill>
                          <a:latin typeface="Calibri"/>
                        </a:rPr>
                        <a:t>15,0 %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1 500,0</a:t>
                      </a:r>
                    </a:p>
                  </a:txBody>
                  <a:tcPr>
                    <a:solidFill>
                      <a:srgbClr val="F7F8FA"/>
                    </a:solidFill>
                  </a:tcPr>
                </a:tc>
                <a:tc>
                  <a:txBody>
                    <a:bodyPr/>
                    <a:lstStyle/>
                    <a:p>
                      <a:pPr algn="ctr"/>
                      <a:r>
                        <a:rPr sz="800" b="0" i="0">
                          <a:solidFill>
                            <a:srgbClr val="0D0D0D"/>
                          </a:solidFill>
                          <a:latin typeface="Calibri"/>
                        </a:rPr>
                        <a:t>16,8x</a:t>
                      </a:r>
                    </a:p>
                  </a:txBody>
                  <a:tcPr>
                    <a:solidFill>
                      <a:srgbClr val="F7F8FA"/>
                    </a:solidFill>
                  </a:tcPr>
                </a:tc>
                <a:tc>
                  <a:txBody>
                    <a:bodyPr/>
                    <a:lstStyle/>
                    <a:p>
                      <a:pPr algn="ctr"/>
                      <a:r>
                        <a:rPr sz="800" b="0" i="0">
                          <a:solidFill>
                            <a:srgbClr val="0D0D0D"/>
                          </a:solidFill>
                          <a:latin typeface="Calibri"/>
                        </a:rPr>
                        <a:t>10,2x</a:t>
                      </a:r>
                    </a:p>
                  </a:txBody>
                  <a:tcPr>
                    <a:solidFill>
                      <a:srgbClr val="F7F8FA"/>
                    </a:solidFill>
                  </a:tcPr>
                </a:tc>
                <a:tc>
                  <a:txBody>
                    <a:bodyPr/>
                    <a:lstStyle/>
                    <a:p>
                      <a:pPr algn="ctr"/>
                      <a:r>
                        <a:rPr sz="800" b="0" i="0">
                          <a:solidFill>
                            <a:srgbClr val="0D0D0D"/>
                          </a:solidFill>
                          <a:latin typeface="Calibri"/>
                        </a:rPr>
                        <a:t>25,0x</a:t>
                      </a:r>
                    </a:p>
                  </a:txBody>
                  <a:tcPr>
                    <a:solidFill>
                      <a:srgbClr val="F7F8FA"/>
                    </a:solidFill>
                  </a:tcPr>
                </a:tc>
                <a:tc>
                  <a:txBody>
                    <a:bodyPr/>
                    <a:lstStyle/>
                    <a:p>
                      <a:pPr algn="ctr"/>
                      <a:r>
                        <a:rPr sz="800" b="0" i="0">
                          <a:solidFill>
                            <a:srgbClr val="0D0D0D"/>
                          </a:solidFill>
                          <a:latin typeface="Calibri"/>
                        </a:rPr>
                        <a:t>85,0 %</a:t>
                      </a:r>
                    </a:p>
                  </a:txBody>
                  <a:tcPr>
                    <a:solidFill>
                      <a:srgbClr val="F7F8FA"/>
                    </a:solidFill>
                  </a:tcPr>
                </a:tc>
                <a:tc>
                  <a:txBody>
                    <a:bodyPr/>
                    <a:lstStyle/>
                    <a:p>
                      <a:pPr algn="ctr"/>
                      <a:r>
                        <a:rPr sz="800" b="0" i="0">
                          <a:solidFill>
                            <a:srgbClr val="0D0D0D"/>
                          </a:solidFill>
                          <a:latin typeface="Calibri"/>
                        </a:rPr>
                        <a:t>55,0 %</a:t>
                      </a:r>
                    </a:p>
                  </a:txBody>
                  <a:tcPr>
                    <a:solidFill>
                      <a:srgbClr val="F7F8FA"/>
                    </a:solidFill>
                  </a:tcPr>
                </a:tc>
              </a:tr>
              <a:tr h="251999">
                <a:tc>
                  <a:txBody>
                    <a:bodyPr/>
                    <a:lstStyle/>
                    <a:p>
                      <a:pPr algn="l"/>
                      <a:r>
                        <a:rPr sz="800" b="0" i="0">
                          <a:solidFill>
                            <a:srgbClr val="0D0D0D"/>
                          </a:solidFill>
                          <a:latin typeface="Calibri"/>
                        </a:rPr>
                        <a:t>Tesla</a:t>
                      </a:r>
                    </a:p>
                  </a:txBody>
                  <a:tcPr>
                    <a:solidFill>
                      <a:srgbClr val="FFFFFF"/>
                    </a:solidFill>
                  </a:tcPr>
                </a:tc>
                <a:tc>
                  <a:txBody>
                    <a:bodyPr/>
                    <a:lstStyle/>
                    <a:p>
                      <a:pPr algn="ctr"/>
                      <a:r>
                        <a:rPr sz="750" b="0" i="0">
                          <a:solidFill>
                            <a:srgbClr val="555555"/>
                          </a:solidFill>
                          <a:latin typeface="Calibri"/>
                        </a:rPr>
                        <a:t>TSLA</a:t>
                      </a:r>
                    </a:p>
                  </a:txBody>
                  <a:tcPr>
                    <a:solidFill>
                      <a:srgbClr val="FFFFFF"/>
                    </a:solidFill>
                  </a:tcPr>
                </a:tc>
                <a:tc>
                  <a:txBody>
                    <a:bodyPr/>
                    <a:lstStyle/>
                    <a:p>
                      <a:pPr algn="ctr"/>
                      <a:r>
                        <a:rPr sz="800" b="0" i="0">
                          <a:solidFill>
                            <a:srgbClr val="0D0D0D"/>
                          </a:solidFill>
                          <a:latin typeface="Calibri"/>
                        </a:rPr>
                        <a:t>600,0</a:t>
                      </a:r>
                    </a:p>
                  </a:txBody>
                  <a:tcPr>
                    <a:solidFill>
                      <a:srgbClr val="FFFFFF"/>
                    </a:solidFill>
                  </a:tcPr>
                </a:tc>
                <a:tc>
                  <a:txBody>
                    <a:bodyPr/>
                    <a:lstStyle/>
                    <a:p>
                      <a:pPr algn="ctr"/>
                      <a:r>
                        <a:rPr sz="800" b="0" i="0">
                          <a:solidFill>
                            <a:srgbClr val="0D0D0D"/>
                          </a:solidFill>
                          <a:latin typeface="Calibri"/>
                        </a:rPr>
                        <a:t>45,0x</a:t>
                      </a:r>
                    </a:p>
                  </a:txBody>
                  <a:tcPr>
                    <a:solidFill>
                      <a:srgbClr val="FFFFFF"/>
                    </a:solidFill>
                  </a:tcPr>
                </a:tc>
                <a:tc>
                  <a:txBody>
                    <a:bodyPr/>
                    <a:lstStyle/>
                    <a:p>
                      <a:pPr algn="ctr"/>
                      <a:r>
                        <a:rPr sz="800" b="0" i="0">
                          <a:solidFill>
                            <a:srgbClr val="0D0D0D"/>
                          </a:solidFill>
                          <a:latin typeface="Calibri"/>
                        </a:rPr>
                        <a:t>8,5x</a:t>
                      </a:r>
                    </a:p>
                  </a:txBody>
                  <a:tcPr>
                    <a:solidFill>
                      <a:srgbClr val="FFFFFF"/>
                    </a:solidFill>
                  </a:tcPr>
                </a:tc>
                <a:tc>
                  <a:txBody>
                    <a:bodyPr/>
                    <a:lstStyle/>
                    <a:p>
                      <a:pPr algn="ctr"/>
                      <a:r>
                        <a:rPr sz="800" b="0" i="0">
                          <a:solidFill>
                            <a:srgbClr val="0D0D0D"/>
                          </a:solidFill>
                          <a:latin typeface="Calibri"/>
                        </a:rPr>
                        <a:t>60,0x</a:t>
                      </a:r>
                    </a:p>
                  </a:txBody>
                  <a:tcPr>
                    <a:solidFill>
                      <a:srgbClr val="FFFFFF"/>
                    </a:solidFill>
                  </a:tcPr>
                </a:tc>
                <a:tc>
                  <a:txBody>
                    <a:bodyPr/>
                    <a:lstStyle/>
                    <a:p>
                      <a:pPr algn="ctr"/>
                      <a:r>
                        <a:rPr sz="800" b="0" i="0">
                          <a:solidFill>
                            <a:srgbClr val="0D0D0D"/>
                          </a:solidFill>
                          <a:latin typeface="Calibri"/>
                        </a:rPr>
                        <a:t>27,0 %</a:t>
                      </a:r>
                    </a:p>
                  </a:txBody>
                  <a:tcPr>
                    <a:solidFill>
                      <a:srgbClr val="FFFFFF"/>
                    </a:solidFill>
                  </a:tcPr>
                </a:tc>
                <a:tc>
                  <a:txBody>
                    <a:bodyPr/>
                    <a:lstStyle/>
                    <a:p>
                      <a:pPr algn="ctr"/>
                      <a:r>
                        <a:rPr sz="800" b="0" i="0">
                          <a:solidFill>
                            <a:srgbClr val="0D0D0D"/>
                          </a:solidFill>
                          <a:latin typeface="Calibri"/>
                        </a:rPr>
                        <a:t>12,0 %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22,1x</a:t>
                      </a:r>
                    </a:p>
                  </a:txBody>
                  <a:tcPr>
                    <a:solidFill>
                      <a:srgbClr val="F7F8FA"/>
                    </a:solidFill>
                  </a:tcPr>
                </a:tc>
                <a:tc>
                  <a:txBody>
                    <a:bodyPr/>
                    <a:lstStyle/>
                    <a:p>
                      <a:pPr algn="ctr"/>
                      <a:r>
                        <a:rPr sz="800" b="1" i="0">
                          <a:solidFill>
                            <a:srgbClr val="0D0D0D"/>
                          </a:solidFill>
                          <a:latin typeface="Calibri"/>
                        </a:rPr>
                        <a:t>9,8x</a:t>
                      </a:r>
                    </a:p>
                  </a:txBody>
                  <a:tcPr>
                    <a:solidFill>
                      <a:srgbClr val="F7F8FA"/>
                    </a:solidFill>
                  </a:tcPr>
                </a:tc>
                <a:tc>
                  <a:txBody>
                    <a:bodyPr/>
                    <a:lstStyle/>
                    <a:p>
                      <a:pPr algn="ctr"/>
                      <a:r>
                        <a:rPr sz="800" b="1" i="0">
                          <a:solidFill>
                            <a:srgbClr val="0D0D0D"/>
                          </a:solidFill>
                          <a:latin typeface="Calibri"/>
                        </a:rPr>
                        <a:t>38,2x</a:t>
                      </a:r>
                    </a:p>
                  </a:txBody>
                  <a:tcPr>
                    <a:solidFill>
                      <a:srgbClr val="F7F8FA"/>
                    </a:solidFill>
                  </a:tcPr>
                </a:tc>
                <a:tc>
                  <a:txBody>
                    <a:bodyPr/>
                    <a:lstStyle/>
                    <a:p>
                      <a:pPr algn="ctr"/>
                      <a:r>
                        <a:rPr sz="800" b="1" i="0">
                          <a:solidFill>
                            <a:srgbClr val="0D0D0D"/>
                          </a:solidFill>
                          <a:latin typeface="Calibri"/>
                        </a:rPr>
                        <a:t>56,0 %</a:t>
                      </a:r>
                    </a:p>
                  </a:txBody>
                  <a:tcPr>
                    <a:solidFill>
                      <a:srgbClr val="F7F8FA"/>
                    </a:solidFill>
                  </a:tcPr>
                </a:tc>
                <a:tc>
                  <a:txBody>
                    <a:bodyPr/>
                    <a:lstStyle/>
                    <a:p>
                      <a:pPr algn="ctr"/>
                      <a:r>
                        <a:rPr sz="800" b="1" i="0">
                          <a:solidFill>
                            <a:srgbClr val="0D0D0D"/>
                          </a:solidFill>
                          <a:latin typeface="Calibri"/>
                        </a:rPr>
                        <a:t>38,0 %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se trade à 25.7x EV/EBITDA vs une médiane peers (MSFT, GOOGL, AMZN, META, TSLA) à 20.1x (+28%), justifiée par des marges nettes &gt;25% et un ROIC &gt;80%. La prime est également supportée par une croissance organique &gt;8% vs 5-7% pour les pairs. Une convergence vers la médiane impliquerait un downside de 22%, mais peu probable compte tenu des fondamentaux.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10.4% et une TGR de 3.0%, le prix implicite DCF est de 285$ (+14% vs cours). La prime actuelle intègre déjà une croissance superieure, mais un rebond des ventes iPhone ou une accélération des services pourrait déclencher un re-rating. Le risque principal est une exécution sous-optimale sur l'IA.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Dépendance Asie critique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La marge brute de 46.9% repose sur un mix produit vieillissant avec des iPhone représentant 52% du CA 2024, dont les ventes en Chine chutent de 18% en volume sur 2023-2024; la dépendance à l'Asie pour 20% du CA expose à des risques géopolitiques et à une guerre des prix avec Huawei qui grignote déjà 12% de part de marché locale.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Marges services en baisse</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Les 26.9% de marge nette supposent une maîtrise parfaite des coûts, mais les dépenses R&amp;D ont bondi de 22% en 2023 à 25 milliards $, soit 7.5% du CA, tandis que les marges des services (18% du CA) s'effritent à 22% contre 28% en 2020, signe d'une saturation du marché des abonnements.</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Buyback artificiel</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 ROE de 151.9% est artificiellement gonflé par un rachat massif d'actions : 110 milliards $ en 2023, soit 6% du CA, masquant une rentabilité opérationnelle en baisse de 4 points depuis 2021, passant de 30% à 26% sur le core business.</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en 2026 avec baisse du CA iPhone de 15%</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européenne forçant la scission de l'App Store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du déploiement de l'IA sur iPhone 16 (-10% ventes 2026)</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-0,083</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44,2 %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5</a:t>
                      </a:r>
                    </a:p>
                  </a:txBody>
                  <a:tcPr>
                    <a:solidFill>
                      <a:srgbClr val="EAF4EF"/>
                    </a:solidFill>
                  </a:tcPr>
                </a:tc>
                <a:tc>
                  <a:txBody>
                    <a:bodyPr/>
                    <a:lstStyle/>
                    <a:p>
                      <a:pPr algn="ctr"/>
                      <a:r>
                        <a:rPr sz="800" b="0" i="0">
                          <a:solidFill>
                            <a:srgbClr val="0D0D0D"/>
                          </a:solidFill>
                          <a:latin typeface="Calibri"/>
                        </a:rPr>
                        <a:t>+0,237</a:t>
                      </a:r>
                    </a:p>
                  </a:txBody>
                  <a:tcPr>
                    <a:solidFill>
                      <a:srgbClr val="EAF4EF"/>
                    </a:solidFill>
                  </a:tcPr>
                </a:tc>
                <a:tc>
                  <a:txBody>
                    <a:bodyPr/>
                    <a:lstStyle/>
                    <a:p>
                      <a:pPr algn="ctr"/>
                      <a:r>
                        <a:rPr sz="800" b="0" i="0">
                          <a:solidFill>
                            <a:srgbClr val="0D0D0D"/>
                          </a:solidFill>
                          <a:latin typeface="Calibri"/>
                        </a:rPr>
                        <a:t>Lancement iPhone 16 en 2026 avec IA intégrée boostant les ventes de 8% et marge brute &gt;50% | Croissance services à 18% CAGR d'ici 2027, atteignant 110Mds$ avec marge &gt;72% | Programme de rachat d'actions de 110Mds$ en 2026, soutenant le…</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16</a:t>
                      </a:r>
                    </a:p>
                  </a:txBody>
                  <a:tcPr>
                    <a:solidFill>
                      <a:srgbClr val="FFFFFF"/>
                    </a:solidFill>
                  </a:tcPr>
                </a:tc>
                <a:tc>
                  <a:txBody>
                    <a:bodyPr/>
                    <a:lstStyle/>
                    <a:p>
                      <a:pPr algn="ctr"/>
                      <a:r>
                        <a:rPr sz="800" b="0" i="0">
                          <a:solidFill>
                            <a:srgbClr val="0D0D0D"/>
                          </a:solidFill>
                          <a:latin typeface="Calibri"/>
                        </a:rPr>
                        <a:t>+0,442</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9</a:t>
                      </a:r>
                    </a:p>
                  </a:txBody>
                  <a:tcPr>
                    <a:solidFill>
                      <a:srgbClr val="FAF0EF"/>
                    </a:solidFill>
                  </a:tcPr>
                </a:tc>
                <a:tc>
                  <a:txBody>
                    <a:bodyPr/>
                    <a:lstStyle/>
                    <a:p>
                      <a:pPr algn="ctr"/>
                      <a:r>
                        <a:rPr sz="800" b="0" i="0">
                          <a:solidFill>
                            <a:srgbClr val="0D0D0D"/>
                          </a:solidFill>
                          <a:latin typeface="Calibri"/>
                        </a:rPr>
                        <a:t>+0,320</a:t>
                      </a:r>
                    </a:p>
                  </a:txBody>
                  <a:tcPr>
                    <a:solidFill>
                      <a:srgbClr val="FAF0EF"/>
                    </a:solidFill>
                  </a:tcPr>
                </a:tc>
                <a:tc>
                  <a:txBody>
                    <a:bodyPr/>
                    <a:lstStyle/>
                    <a:p>
                      <a:pPr algn="ctr"/>
                      <a:r>
                        <a:rPr sz="800" b="0" i="0">
                          <a:solidFill>
                            <a:srgbClr val="0D0D0D"/>
                          </a:solidFill>
                          <a:latin typeface="Calibri"/>
                        </a:rPr>
                        <a:t>Régulation européenne sur l'App Store réduisant les marges services de 15% d'ici 2027 | Concurrence accrue en IA (Google, Microsoft) menant à une perte de 10% de parts de marché d'ici 2026 | Ralentissement économique en Chine (-5% CA YoY)…</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les défis majeurs d'Apple face à l'IA et à la concurrence, tout en saluant les innovations comme l'ouverture de Siri. Les perspectives de croissance à long terme suscitent des doutes face à des rivaux potentiels.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29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Apple se négocie à 25.7x EV/EBITDA vs une médiane peers à 20.1x (+28%), reflétant sa qualité d'actifs. Le P/E de 32.6x est justifié par une croissance organique &gt;8% et un ROIC &gt;80%.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29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248,80 $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+17,6 %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09975"/>
            <a:ext cx="498636" cy="28522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925819"/>
            <a:ext cx="498636" cy="96938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avec des marges nettes à 26.9% et un ROE de 151.9%, malgré un environnement macroéconomique incertain. La valorisation reste premium mais justifiée par la qualité des actifs et la génération de cash robuste.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