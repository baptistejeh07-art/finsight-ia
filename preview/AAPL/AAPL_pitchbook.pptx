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+11,4 %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+11,4 %  ·  Bear : 230 $ (-10,1 %)  ·  Bull : 320 $ (+25,0 %)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Apple devrait bénéficier d'une croissance des services à 15% en 2026 grâce à 1.8 milliard d'utilisateurs actifs</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services</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L'iPhone 16 avec puce A18 et IA intégrée pourrait générer +12% de ventes en 2027</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nette</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mix services à 75% de marge brute d'ici 2027 boostera la rentabilité nette à 28%</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européenne DMA (Digital Markets Act) | Amende potentielle de 20 milliards USD | Horizon 6-12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Concurrence IA (Google, Microsoft) sur les services cloud | Perte de parts de marché de 5% en 2026 | Horizon 12-18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Dépendance iPhone à 50% du CA | Baisse de 10% des ventes en cas de récession | Horizon 12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+11,4 %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+0,211</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innovants (iPhone, Mac, iPad, services) avec un positionnement premium axé sur l'expérience utilisateur et l'écosystème fermé. Son avantage concurrentiel repose sur la fidélisation des clients, la marge élevée des services (70%+), et une trésorerie nette de 166 milliards USD. La marque cultive une résilience face aux cycles économiques grâce à sa diversification géographique et sectorielle.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Mac, iPad, wearables) représentant ~80% du CA avec une marge brute de 35-40%. Clients premium (revenu moyen &gt;1000 USD/année) et dépendance à l'iPhone (50% du CA). Croissance tirée par l'Asie et les services intégrés (Apple Music, iCloud).</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et licences avec marge brute &gt;70%. Base d'utilisateurs actifs de 1.5 milliard et croissance annuelle de 15%. Modèle récurrent et résilient aux cycles économiques grâce à la fidélisation.</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3 757,2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255,92 $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Mac, iPad, wearables) représentant ~80% du CA avec une marge brute de 35-40%. Clients premium (revenu moyen &gt;1000 USD/année) et dépendance à l'iPhone (50% du CA). Croissance tirée par l'Asie et les services intégrés (Apple Music, iCloud).</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licences avec marge brute &gt;70%. Base d'utilisateurs actifs de 1.5 milliard et croissance annuelle de 15%. Modèle récurrent et résilient aux cycles économiques grâce à la fidélisation.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165,0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37,1 %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27,4 %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à 6.4% en 2025 portée par les services (+12%) et l'Asie (+8%). Les marges nettes progressent à 26.9% grâce au mix services et à la discipline des coûts fixes. La génération de cash FCF de 110 milliards USD en 2025 renforce la solidité bilancielle et permet des rachats d'actions agressifs (10 milliards USD/trimestre).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à 6.4% en 2025 portée par les services (+12%) et l'Asie (+8%). Les marges nettes progressent à 26.9% grâce au mix services et à la discipline des coûts fixes. La génération de cash FCF de 110 milliards USD en 2025 renforce la solidité bilancielle et permet des rachats d'actions agressifs (10 milliards USD/trimestre).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reflétant un mix services en hausse et un pricing power sur l'iPhone. L'EBITDA margin à 34.8% illustre un levier opérationnel élevé avec des coûts fixes maîtrisés. Ces niveaux sont durables grâce à l'effet volume sur les services et à la réduction des coûts de production (iPhone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230 $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-10,1 %</a:t>
                      </a:r>
                    </a:p>
                  </a:txBody>
                  <a:tcPr>
                    <a:solidFill>
                      <a:srgbClr val="FAF0EF"/>
                    </a:solidFill>
                  </a:tcPr>
                </a:tc>
                <a:tc>
                  <a:txBody>
                    <a:bodyPr/>
                    <a:lstStyle/>
                    <a:p>
                      <a:pPr algn="ctr"/>
                      <a:r>
                        <a:rPr sz="1200" b="1" i="0">
                          <a:solidFill>
                            <a:srgbClr val="2E5FA3"/>
                          </a:solidFill>
                          <a:latin typeface="Calibri"/>
                        </a:rPr>
                        <a:t>+11,4 %</a:t>
                      </a:r>
                    </a:p>
                  </a:txBody>
                  <a:tcPr>
                    <a:solidFill>
                      <a:srgbClr val="EEF3FA"/>
                    </a:solidFill>
                  </a:tcPr>
                </a:tc>
                <a:tc>
                  <a:txBody>
                    <a:bodyPr/>
                    <a:lstStyle/>
                    <a:p>
                      <a:pPr algn="ctr"/>
                      <a:r>
                        <a:rPr sz="1200" b="1" i="0">
                          <a:solidFill>
                            <a:srgbClr val="1A7A4A"/>
                          </a:solidFill>
                          <a:latin typeface="Calibri"/>
                        </a:rPr>
                        <a:t>+25,0 %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285 USD (vs cours 255.92 USD), soit un upside de 11.4%. La prime actuelle intègre déjà une croissance optimiste, mais les catalyseurs (IA, services) pourraient justifier une revalorisation si exécutés avec succès.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3 757,2</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1 950,0</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26,5x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7,8x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30,5x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2 200,0</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28,5x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75,0 %</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22,1x</a:t>
                      </a:r>
                    </a:p>
                  </a:txBody>
                  <a:tcPr>
                    <a:solidFill>
                      <a:srgbClr val="F7F8FA"/>
                    </a:solidFill>
                  </a:tcPr>
                </a:tc>
                <a:tc>
                  <a:txBody>
                    <a:bodyPr/>
                    <a:lstStyle/>
                    <a:p>
                      <a:pPr algn="ctr"/>
                      <a:r>
                        <a:rPr sz="800" b="1" i="0">
                          <a:solidFill>
                            <a:srgbClr val="0D0D0D"/>
                          </a:solidFill>
                          <a:latin typeface="Calibri"/>
                        </a:rPr>
                        <a:t>10,2x</a:t>
                      </a:r>
                    </a:p>
                  </a:txBody>
                  <a:tcPr>
                    <a:solidFill>
                      <a:srgbClr val="F7F8FA"/>
                    </a:solidFill>
                  </a:tcPr>
                </a:tc>
                <a:tc>
                  <a:txBody>
                    <a:bodyPr/>
                    <a:lstStyle/>
                    <a:p>
                      <a:pPr algn="ctr"/>
                      <a:r>
                        <a:rPr sz="800" b="1" i="0">
                          <a:solidFill>
                            <a:srgbClr val="0D0D0D"/>
                          </a:solidFill>
                          <a:latin typeface="Calibri"/>
                        </a:rPr>
                        <a:t>30,5x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52,0 %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négocie à une prime de 35% vs mediane peers (EV/EBITDA 19.5x) et 20% vs P/E 28x, justifiée par la qualité des actifs et la croissance des services. Une convergence vers la médiane impliquerait un downside de 15%, mais la prime semble durable compte tenu de la résilience opérationnelle et de la trésorerie.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285 USD (vs cours 255.92 USD), soit un upside de 11.4%. La prime actuelle intègre déjà une croissance optimiste, mais les catalyseurs (IA, services) pourraient justifier une revalorisation si exécutés avec succès.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services en déclin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services d'Apple (70%+ en 2024) reposent sur un écosystème captif, mais leur croissance ralentit à +5% en 2025 contre +12% en 2022; la dépendance aux abonnements (60% des revenus services) expose à une saturation du marché avec seulement 1 milliard d'utilisateurs actifs.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Trésorerie stagne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ROE de 151.9% en 2025 est gonflé par une trésorerie nette de 166 milliards, mais cette liquidité stagne depuis 2022 (+0.3% en 3 ans), limitant les leviers de croissance future.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Surévaluation EV/EBITDA</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L'EV/EBITDA à 26.39x dépasse la moyenne sectorielle de 18x, reflétant une surévaluation de 46% par rapport aux peers comme Samsung (15x) ou Microsoft (22x).</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de 15% de la demande iPhone</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européenne DMA réduisant les marges services de 10%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16 avec puce A18 (ventes -20%)</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+0,211</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41,3 %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13</a:t>
                      </a:r>
                    </a:p>
                  </a:txBody>
                  <a:tcPr>
                    <a:solidFill>
                      <a:srgbClr val="EAF4EF"/>
                    </a:solidFill>
                  </a:tcPr>
                </a:tc>
                <a:tc>
                  <a:txBody>
                    <a:bodyPr/>
                    <a:lstStyle/>
                    <a:p>
                      <a:pPr algn="ctr"/>
                      <a:r>
                        <a:rPr sz="800" b="0" i="0">
                          <a:solidFill>
                            <a:srgbClr val="0D0D0D"/>
                          </a:solidFill>
                          <a:latin typeface="Calibri"/>
                        </a:rPr>
                        <a:t>+0,413</a:t>
                      </a:r>
                    </a:p>
                  </a:txBody>
                  <a:tcPr>
                    <a:solidFill>
                      <a:srgbClr val="EAF4EF"/>
                    </a:solidFill>
                  </a:tcPr>
                </a:tc>
                <a:tc>
                  <a:txBody>
                    <a:bodyPr/>
                    <a:lstStyle/>
                    <a:p>
                      <a:pPr algn="ctr"/>
                      <a:r>
                        <a:rPr sz="800" b="0" i="0">
                          <a:solidFill>
                            <a:srgbClr val="0D0D0D"/>
                          </a:solidFill>
                          <a:latin typeface="Calibri"/>
                        </a:rPr>
                        <a:t>Croissance services à 15% en 2026 avec 1.8 milliard d'utilisateurs actifs | +12 milliards USD de revenus annuels | Horizon 12-18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11</a:t>
                      </a:r>
                    </a:p>
                  </a:txBody>
                  <a:tcPr>
                    <a:solidFill>
                      <a:srgbClr val="FFFFFF"/>
                    </a:solidFill>
                  </a:tcPr>
                </a:tc>
                <a:tc>
                  <a:txBody>
                    <a:bodyPr/>
                    <a:lstStyle/>
                    <a:p>
                      <a:pPr algn="ctr"/>
                      <a:r>
                        <a:rPr sz="800" b="0" i="0">
                          <a:solidFill>
                            <a:srgbClr val="0D0D0D"/>
                          </a:solidFill>
                          <a:latin typeface="Calibri"/>
                        </a:rPr>
                        <a:t>+0,384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+0,203</a:t>
                      </a:r>
                    </a:p>
                  </a:txBody>
                  <a:tcPr>
                    <a:solidFill>
                      <a:srgbClr val="FAF0EF"/>
                    </a:solidFill>
                  </a:tcPr>
                </a:tc>
                <a:tc>
                  <a:txBody>
                    <a:bodyPr/>
                    <a:lstStyle/>
                    <a:p>
                      <a:pPr algn="ctr"/>
                      <a:r>
                        <a:rPr sz="800" b="0" i="0">
                          <a:solidFill>
                            <a:srgbClr val="0D0D0D"/>
                          </a:solidFill>
                          <a:latin typeface="Calibri"/>
                        </a:rPr>
                        <a:t>Régulation européenne DMA (Digital Markets Act) | Amende potentielle de 20 milliards USD | Horizon 6-12 mois</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la résilience d’Apple malgré les défis macroéconomiques et les spéculations sur Globalstar. Les partenariats technologiques et la performance des sous-traitants comme Foxconn renforcent la confiance dans l’écosystème AAPL.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prime de 25% vs mediane peers (EV/EBITDA 22x) se justifie par la qualité des actifs et la croissance des services. Le P/E 33.5x reste élevé mais aligné sur la prime de croissance durable.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255,92 $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94943"/>
            <a:ext cx="498636" cy="110025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La valorisation reste élevée mais justifiée par la génération de cash et l'écosystème intégré.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