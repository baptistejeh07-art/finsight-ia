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+14,5 %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+14,5 %  ·  Bear : 240 $ (-3,5 %)  ·  Bull : 320 $ (+28,6 %)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Croissance services à +12% YoY avec 1.8Md utilisateurs actifs d'ici 2027</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Marge brute stable à 47% grâce au mix services et pricing power sur iPhone 16</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Trésorerie massive</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ROIC de 84.4% soutenu par discipline opérationnelle et trésorerie de 166Md USD</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européenne sur App Store (-10% revenus 2026) impactant marge services de 3pp | Horizon 2026-2027</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en IA (Google, Microsoft) réduisant différenciation iPhone | Horizon 2026</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(-5% CA iPhone 2026) affectant croissance globale | Horizon 2026</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25,7x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20,1x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+14,5 %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-0,087</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services) avec un écosystème intégré. Positionné en leader sur l'innovation et l'expérience utilisateur, l'entreprise bénéficie d'une fidélisation client élevée et d'une marge de pricing power forte. Son modèle hybride (hardware + services) génère des revenus récurrents et une rentabilité durable.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matériel (iPhone 60% du CA, Mac, iPad, wearables) avec une stratégie premium et un cycle de renouvellement annuel. Clients B2C et B2B avec une forte dépendance à l'iPhone malgré diversification. Marges élevées (GM ~35%) mais sensibles aux coûts de supply chain et à la demande asiatique. Croissance portée par l'Asie et les services associés.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(Apple Music, iCloud, App Store) et contenus avec GM &gt;70%. Modèle récurrent et à forte rentabilité, moins cyclique que le hardware. Croissance tirée par +1.5Md utilisateurs actifs et expansion géographique. Partenariats avec développeurs et régulation favorable sur commissions App Store.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3 652,7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248,80 $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25,7x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32,6x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60%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matériel (iPhone 60% du CA, Mac, iPad, wearables) avec une stratégie premium et un cycle de renouvellement annuel. Clients B2C et B2B avec une forte dépendance à l'iPhone malgré diversification. Marges élevées (GM ~35%) mais sensibles aux coûts de supply chain et à la demande asiatique. Croissance portée par l'Asie et les services associés.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22%</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(Apple Music, iCloud, App Store) et contenus avec GM &gt;70%. Modèle récurrent et à forte rentabilité, moins cyclique que le hardware. Croissance tirée par +1.5Md utilisateurs actifs et expansion géographique. Partenariats avec développeurs et régulation favorable sur commissions App Store.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+7,0 %</a:t>
                      </a:r>
                    </a:p>
                  </a:txBody>
                  <a:tcPr>
                    <a:solidFill>
                      <a:srgbClr val="F7F8FA"/>
                    </a:solidFill>
                  </a:tcPr>
                </a:tc>
                <a:tc>
                  <a:txBody>
                    <a:bodyPr/>
                    <a:lstStyle/>
                    <a:p>
                      <a:pPr algn="ctr"/>
                      <a:r>
                        <a:rPr sz="750" b="0" i="1">
                          <a:solidFill>
                            <a:srgbClr val="555555"/>
                          </a:solidFill>
                          <a:latin typeface="Calibri"/>
                        </a:rPr>
                        <a:t>+6,7 %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211,4</a:t>
                      </a:r>
                    </a:p>
                  </a:txBody>
                  <a:tcPr>
                    <a:solidFill>
                      <a:srgbClr val="FFFFFF"/>
                    </a:solidFill>
                  </a:tcPr>
                </a:tc>
                <a:tc>
                  <a:txBody>
                    <a:bodyPr/>
                    <a:lstStyle/>
                    <a:p>
                      <a:pPr algn="ctr"/>
                      <a:r>
                        <a:rPr sz="800" b="1" i="0">
                          <a:solidFill>
                            <a:srgbClr val="0D0D0D"/>
                          </a:solidFill>
                          <a:latin typeface="Calibri"/>
                        </a:rPr>
                        <a:t>228,0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160,0</a:t>
                      </a:r>
                    </a:p>
                  </a:txBody>
                  <a:tcPr>
                    <a:solidFill>
                      <a:srgbClr val="FFFFFF"/>
                    </a:solidFill>
                  </a:tcPr>
                </a:tc>
                <a:tc>
                  <a:txBody>
                    <a:bodyPr/>
                    <a:lstStyle/>
                    <a:p>
                      <a:pPr algn="ctr"/>
                      <a:r>
                        <a:rPr sz="800" b="1" i="0">
                          <a:solidFill>
                            <a:srgbClr val="0D0D0D"/>
                          </a:solidFill>
                          <a:latin typeface="Calibri"/>
                        </a:rPr>
                        <a:t>175,0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36,0 %</a:t>
                      </a:r>
                    </a:p>
                  </a:txBody>
                  <a:tcPr>
                    <a:solidFill>
                      <a:srgbClr val="F7F8FA"/>
                    </a:solidFill>
                  </a:tcPr>
                </a:tc>
                <a:tc>
                  <a:txBody>
                    <a:bodyPr/>
                    <a:lstStyle/>
                    <a:p>
                      <a:pPr algn="ctr"/>
                      <a:r>
                        <a:rPr sz="750" b="0" i="1">
                          <a:solidFill>
                            <a:srgbClr val="555555"/>
                          </a:solidFill>
                          <a:latin typeface="Calibri"/>
                        </a:rPr>
                        <a:t>36,8 %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132,0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27,0 %</a:t>
                      </a:r>
                    </a:p>
                  </a:txBody>
                  <a:tcPr>
                    <a:solidFill>
                      <a:srgbClr val="F7F8FA"/>
                    </a:solidFill>
                  </a:tcPr>
                </a:tc>
                <a:tc>
                  <a:txBody>
                    <a:bodyPr/>
                    <a:lstStyle/>
                    <a:p>
                      <a:pPr algn="ctr"/>
                      <a:r>
                        <a:rPr sz="750" b="0" i="1">
                          <a:solidFill>
                            <a:srgbClr val="555555"/>
                          </a:solidFill>
                          <a:latin typeface="Calibri"/>
                        </a:rPr>
                        <a:t>27,8 %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CA à 6.4% en 2025 portée par services (+15%) et iPhone (+8%). Marges nettes en hausse à 26.9% grâce au mix favorable et levier opérationnel. Cash flow libre de 110Md USD en 2025, renforçant la solidité bilancielle pour financer R&amp;D et rachats d'actions.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9,83</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CA à 6.4% en 2025 portée par services (+15%) et iPhone (+8%). Marges nettes en hausse à 26.9% grâce au mix favorable et levier opérationnel. Cash flow libre de 110Md USD en 2025, renforçant la solidité bilancielle pour financer R&amp;D et rachats d'actions.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Marges brutes en hausse de 43.3% (2022) à 46.9% (2025) via mix services et optimisation supply chain. EBITDA margin stable à 34.8% malgré inflation, preuve de pricing power. Net margin à 26.9% reflète discipline coût et effet de levier sur coûts fixes. Durabilité confirmée par ROIC &gt;80% et faible capex.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-3,5 %</a:t>
                      </a:r>
                    </a:p>
                  </a:txBody>
                  <a:tcPr>
                    <a:solidFill>
                      <a:srgbClr val="FAF0EF"/>
                    </a:solidFill>
                  </a:tcPr>
                </a:tc>
                <a:tc>
                  <a:txBody>
                    <a:bodyPr/>
                    <a:lstStyle/>
                    <a:p>
                      <a:pPr algn="ctr"/>
                      <a:r>
                        <a:rPr sz="1200" b="1" i="0">
                          <a:solidFill>
                            <a:srgbClr val="2E5FA3"/>
                          </a:solidFill>
                          <a:latin typeface="Calibri"/>
                        </a:rPr>
                        <a:t>+14,5 %</a:t>
                      </a:r>
                    </a:p>
                  </a:txBody>
                  <a:tcPr>
                    <a:solidFill>
                      <a:srgbClr val="EEF3FA"/>
                    </a:solidFill>
                  </a:tcPr>
                </a:tc>
                <a:tc>
                  <a:txBody>
                    <a:bodyPr/>
                    <a:lstStyle/>
                    <a:p>
                      <a:pPr algn="ctr"/>
                      <a:r>
                        <a:rPr sz="1200" b="1" i="0">
                          <a:solidFill>
                            <a:srgbClr val="1A7A4A"/>
                          </a:solidFill>
                          <a:latin typeface="Calibri"/>
                        </a:rPr>
                        <a:t>+28,6 %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10.4% et TGR 3.0% impliquent un prix implicite DCF à 275 USD vs cours à 248.8 USD (+10.5%). Upside limité par prime de croissance déjà partiellement pricee. Catalyseur clé : accélération services &gt;15% YoY pour justifier re-rating.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3 652,7</a:t>
                      </a:r>
                    </a:p>
                  </a:txBody>
                  <a:tcPr>
                    <a:solidFill>
                      <a:srgbClr val="DDE8F5"/>
                    </a:solidFill>
                  </a:tcPr>
                </a:tc>
                <a:tc>
                  <a:txBody>
                    <a:bodyPr/>
                    <a:lstStyle/>
                    <a:p>
                      <a:pPr algn="ctr"/>
                      <a:r>
                        <a:rPr sz="800" b="1" i="0">
                          <a:solidFill>
                            <a:srgbClr val="1B3A6B"/>
                          </a:solidFill>
                          <a:latin typeface="Calibri"/>
                        </a:rPr>
                        <a:t>25,7x</a:t>
                      </a:r>
                    </a:p>
                  </a:txBody>
                  <a:tcPr>
                    <a:solidFill>
                      <a:srgbClr val="DDE8F5"/>
                    </a:solidFill>
                  </a:tcPr>
                </a:tc>
                <a:tc>
                  <a:txBody>
                    <a:bodyPr/>
                    <a:lstStyle/>
                    <a:p>
                      <a:pPr algn="ctr"/>
                      <a:r>
                        <a:rPr sz="800" b="1" i="0">
                          <a:solidFill>
                            <a:srgbClr val="1B3A6B"/>
                          </a:solidFill>
                          <a:latin typeface="Calibri"/>
                        </a:rPr>
                        <a:t>8,9x</a:t>
                      </a:r>
                    </a:p>
                  </a:txBody>
                  <a:tcPr>
                    <a:solidFill>
                      <a:srgbClr val="DDE8F5"/>
                    </a:solidFill>
                  </a:tcPr>
                </a:tc>
                <a:tc>
                  <a:txBody>
                    <a:bodyPr/>
                    <a:lstStyle/>
                    <a:p>
                      <a:pPr algn="ctr"/>
                      <a:r>
                        <a:rPr sz="800" b="1" i="0">
                          <a:solidFill>
                            <a:srgbClr val="1B3A6B"/>
                          </a:solidFill>
                          <a:latin typeface="Calibri"/>
                        </a:rPr>
                        <a:t>32,6x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22,5x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6800,0 %</a:t>
                      </a:r>
                    </a:p>
                  </a:txBody>
                  <a:tcPr>
                    <a:solidFill>
                      <a:srgbClr val="FFFFFF"/>
                    </a:solidFill>
                  </a:tcPr>
                </a:tc>
                <a:tc>
                  <a:txBody>
                    <a:bodyPr/>
                    <a:lstStyle/>
                    <a:p>
                      <a:pPr algn="ctr"/>
                      <a:r>
                        <a:rPr sz="800" b="0" i="0">
                          <a:solidFill>
                            <a:srgbClr val="0D0D0D"/>
                          </a:solidFill>
                          <a:latin typeface="Calibri"/>
                        </a:rPr>
                        <a:t>5200,0 %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2 100,0</a:t>
                      </a:r>
                    </a:p>
                  </a:txBody>
                  <a:tcPr>
                    <a:solidFill>
                      <a:srgbClr val="F7F8FA"/>
                    </a:solidFill>
                  </a:tcPr>
                </a:tc>
                <a:tc>
                  <a:txBody>
                    <a:bodyPr/>
                    <a:lstStyle/>
                    <a:p>
                      <a:pPr algn="ctr"/>
                      <a:r>
                        <a:rPr sz="800" b="0" i="0">
                          <a:solidFill>
                            <a:srgbClr val="0D0D0D"/>
                          </a:solidFill>
                          <a:latin typeface="Calibri"/>
                        </a:rPr>
                        <a:t>20,1x</a:t>
                      </a:r>
                    </a:p>
                  </a:txBody>
                  <a:tcPr>
                    <a:solidFill>
                      <a:srgbClr val="F7F8FA"/>
                    </a:solidFill>
                  </a:tcPr>
                </a:tc>
                <a:tc>
                  <a:txBody>
                    <a:bodyPr/>
                    <a:lstStyle/>
                    <a:p>
                      <a:pPr algn="ctr"/>
                      <a:r>
                        <a:rPr sz="800" b="0" i="0">
                          <a:solidFill>
                            <a:srgbClr val="0D0D0D"/>
                          </a:solidFill>
                          <a:latin typeface="Calibri"/>
                        </a:rPr>
                        <a:t>7,5x</a:t>
                      </a:r>
                    </a:p>
                  </a:txBody>
                  <a:tcPr>
                    <a:solidFill>
                      <a:srgbClr val="F7F8FA"/>
                    </a:solidFill>
                  </a:tcPr>
                </a:tc>
                <a:tc>
                  <a:txBody>
                    <a:bodyPr/>
                    <a:lstStyle/>
                    <a:p>
                      <a:pPr algn="ctr"/>
                      <a:r>
                        <a:rPr sz="800" b="0" i="0">
                          <a:solidFill>
                            <a:srgbClr val="0D0D0D"/>
                          </a:solidFill>
                          <a:latin typeface="Calibri"/>
                        </a:rPr>
                        <a:t>26,5x</a:t>
                      </a:r>
                    </a:p>
                  </a:txBody>
                  <a:tcPr>
                    <a:solidFill>
                      <a:srgbClr val="F7F8FA"/>
                    </a:solidFill>
                  </a:tcPr>
                </a:tc>
                <a:tc>
                  <a:txBody>
                    <a:bodyPr/>
                    <a:lstStyle/>
                    <a:p>
                      <a:pPr algn="ctr"/>
                      <a:r>
                        <a:rPr sz="800" b="0" i="0">
                          <a:solidFill>
                            <a:srgbClr val="0D0D0D"/>
                          </a:solidFill>
                          <a:latin typeface="Calibri"/>
                        </a:rPr>
                        <a:t>5600,0 %</a:t>
                      </a:r>
                    </a:p>
                  </a:txBody>
                  <a:tcPr>
                    <a:solidFill>
                      <a:srgbClr val="F7F8FA"/>
                    </a:solidFill>
                  </a:tcPr>
                </a:tc>
                <a:tc>
                  <a:txBody>
                    <a:bodyPr/>
                    <a:lstStyle/>
                    <a:p>
                      <a:pPr algn="ctr"/>
                      <a:r>
                        <a:rPr sz="800" b="0" i="0">
                          <a:solidFill>
                            <a:srgbClr val="0D0D0D"/>
                          </a:solidFill>
                          <a:latin typeface="Calibri"/>
                        </a:rPr>
                        <a:t>3500,0 %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7,2x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4500,0 %</a:t>
                      </a:r>
                    </a:p>
                  </a:txBody>
                  <a:tcPr>
                    <a:solidFill>
                      <a:srgbClr val="FFFFFF"/>
                    </a:solidFill>
                  </a:tcPr>
                </a:tc>
                <a:tc>
                  <a:txBody>
                    <a:bodyPr/>
                    <a:lstStyle/>
                    <a:p>
                      <a:pPr algn="ctr"/>
                      <a:r>
                        <a:rPr sz="800" b="0" i="0">
                          <a:solidFill>
                            <a:srgbClr val="0D0D0D"/>
                          </a:solidFill>
                          <a:latin typeface="Calibri"/>
                        </a:rPr>
                        <a:t>2200,0 %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1 500,0</a:t>
                      </a:r>
                    </a:p>
                  </a:txBody>
                  <a:tcPr>
                    <a:solidFill>
                      <a:srgbClr val="F7F8FA"/>
                    </a:solidFill>
                  </a:tcPr>
                </a:tc>
                <a:tc>
                  <a:txBody>
                    <a:bodyPr/>
                    <a:lstStyle/>
                    <a:p>
                      <a:pPr algn="ctr"/>
                      <a:r>
                        <a:rPr sz="800" b="0" i="0">
                          <a:solidFill>
                            <a:srgbClr val="0D0D0D"/>
                          </a:solidFill>
                          <a:latin typeface="Calibri"/>
                        </a:rPr>
                        <a:t>18,5x</a:t>
                      </a:r>
                    </a:p>
                  </a:txBody>
                  <a:tcPr>
                    <a:solidFill>
                      <a:srgbClr val="F7F8FA"/>
                    </a:solidFill>
                  </a:tcPr>
                </a:tc>
                <a:tc>
                  <a:txBody>
                    <a:bodyPr/>
                    <a:lstStyle/>
                    <a:p>
                      <a:pPr algn="ctr"/>
                      <a:r>
                        <a:rPr sz="800" b="0" i="0">
                          <a:solidFill>
                            <a:srgbClr val="0D0D0D"/>
                          </a:solidFill>
                          <a:latin typeface="Calibri"/>
                        </a:rPr>
                        <a:t>10,5x</a:t>
                      </a:r>
                    </a:p>
                  </a:txBody>
                  <a:tcPr>
                    <a:solidFill>
                      <a:srgbClr val="F7F8FA"/>
                    </a:solidFill>
                  </a:tcPr>
                </a:tc>
                <a:tc>
                  <a:txBody>
                    <a:bodyPr/>
                    <a:lstStyle/>
                    <a:p>
                      <a:pPr algn="ctr"/>
                      <a:r>
                        <a:rPr sz="800" b="0" i="0">
                          <a:solidFill>
                            <a:srgbClr val="0D0D0D"/>
                          </a:solidFill>
                          <a:latin typeface="Calibri"/>
                        </a:rPr>
                        <a:t>30,1x</a:t>
                      </a:r>
                    </a:p>
                  </a:txBody>
                  <a:tcPr>
                    <a:solidFill>
                      <a:srgbClr val="F7F8FA"/>
                    </a:solidFill>
                  </a:tcPr>
                </a:tc>
                <a:tc>
                  <a:txBody>
                    <a:bodyPr/>
                    <a:lstStyle/>
                    <a:p>
                      <a:pPr algn="ctr"/>
                      <a:r>
                        <a:rPr sz="800" b="0" i="0">
                          <a:solidFill>
                            <a:srgbClr val="0D0D0D"/>
                          </a:solidFill>
                          <a:latin typeface="Calibri"/>
                        </a:rPr>
                        <a:t>8500,0 %</a:t>
                      </a:r>
                    </a:p>
                  </a:txBody>
                  <a:tcPr>
                    <a:solidFill>
                      <a:srgbClr val="F7F8FA"/>
                    </a:solidFill>
                  </a:tcPr>
                </a:tc>
                <a:tc>
                  <a:txBody>
                    <a:bodyPr/>
                    <a:lstStyle/>
                    <a:p>
                      <a:pPr algn="ctr"/>
                      <a:r>
                        <a:rPr sz="800" b="0" i="0">
                          <a:solidFill>
                            <a:srgbClr val="0D0D0D"/>
                          </a:solidFill>
                          <a:latin typeface="Calibri"/>
                        </a:rPr>
                        <a:t>5500,0 %</a:t>
                      </a:r>
                    </a:p>
                  </a:txBody>
                  <a:tcPr>
                    <a:solidFill>
                      <a:srgbClr val="F7F8FA"/>
                    </a:solidFill>
                  </a:tcPr>
                </a:tc>
              </a:tr>
              <a:tr h="251999">
                <a:tc>
                  <a:txBody>
                    <a:bodyPr/>
                    <a:lstStyle/>
                    <a:p>
                      <a:pPr algn="l"/>
                      <a:r>
                        <a:rPr sz="800" b="0" i="0">
                          <a:solidFill>
                            <a:srgbClr val="0D0D0D"/>
                          </a:solidFill>
                          <a:latin typeface="Calibri"/>
                        </a:rPr>
                        <a:t>NVIDIA</a:t>
                      </a:r>
                    </a:p>
                  </a:txBody>
                  <a:tcPr>
                    <a:solidFill>
                      <a:srgbClr val="FFFFFF"/>
                    </a:solidFill>
                  </a:tcPr>
                </a:tc>
                <a:tc>
                  <a:txBody>
                    <a:bodyPr/>
                    <a:lstStyle/>
                    <a:p>
                      <a:pPr algn="ctr"/>
                      <a:r>
                        <a:rPr sz="750" b="0" i="0">
                          <a:solidFill>
                            <a:srgbClr val="555555"/>
                          </a:solidFill>
                          <a:latin typeface="Calibri"/>
                        </a:rPr>
                        <a:t>NVDA</a:t>
                      </a:r>
                    </a:p>
                  </a:txBody>
                  <a:tcPr>
                    <a:solidFill>
                      <a:srgbClr val="FFFFFF"/>
                    </a:solidFill>
                  </a:tcPr>
                </a:tc>
                <a:tc>
                  <a:txBody>
                    <a:bodyPr/>
                    <a:lstStyle/>
                    <a:p>
                      <a:pPr algn="ctr"/>
                      <a:r>
                        <a:rPr sz="800" b="0" i="0">
                          <a:solidFill>
                            <a:srgbClr val="0D0D0D"/>
                          </a:solidFill>
                          <a:latin typeface="Calibri"/>
                        </a:rPr>
                        <a:t>2 400,0</a:t>
                      </a:r>
                    </a:p>
                  </a:txBody>
                  <a:tcPr>
                    <a:solidFill>
                      <a:srgbClr val="FFFFFF"/>
                    </a:solidFill>
                  </a:tcPr>
                </a:tc>
                <a:tc>
                  <a:txBody>
                    <a:bodyPr/>
                    <a:lstStyle/>
                    <a:p>
                      <a:pPr algn="ctr"/>
                      <a:r>
                        <a:rPr sz="800" b="0" i="0">
                          <a:solidFill>
                            <a:srgbClr val="0D0D0D"/>
                          </a:solidFill>
                          <a:latin typeface="Calibri"/>
                        </a:rPr>
                        <a:t>55,0x</a:t>
                      </a:r>
                    </a:p>
                  </a:txBody>
                  <a:tcPr>
                    <a:solidFill>
                      <a:srgbClr val="FFFFFF"/>
                    </a:solidFill>
                  </a:tcPr>
                </a:tc>
                <a:tc>
                  <a:txBody>
                    <a:bodyPr/>
                    <a:lstStyle/>
                    <a:p>
                      <a:pPr algn="ctr"/>
                      <a:r>
                        <a:rPr sz="800" b="0" i="0">
                          <a:solidFill>
                            <a:srgbClr val="0D0D0D"/>
                          </a:solidFill>
                          <a:latin typeface="Calibri"/>
                        </a:rPr>
                        <a:t>28,0x</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7800,0 %</a:t>
                      </a:r>
                    </a:p>
                  </a:txBody>
                  <a:tcPr>
                    <a:solidFill>
                      <a:srgbClr val="FFFFFF"/>
                    </a:solidFill>
                  </a:tcPr>
                </a:tc>
                <a:tc>
                  <a:txBody>
                    <a:bodyPr/>
                    <a:lstStyle/>
                    <a:p>
                      <a:pPr algn="ctr"/>
                      <a:r>
                        <a:rPr sz="800" b="0" i="0">
                          <a:solidFill>
                            <a:srgbClr val="0D0D0D"/>
                          </a:solidFill>
                          <a:latin typeface="Calibri"/>
                        </a:rPr>
                        <a:t>7000,0 %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20,1x</a:t>
                      </a:r>
                    </a:p>
                  </a:txBody>
                  <a:tcPr>
                    <a:solidFill>
                      <a:srgbClr val="F7F8FA"/>
                    </a:solidFill>
                  </a:tcPr>
                </a:tc>
                <a:tc>
                  <a:txBody>
                    <a:bodyPr/>
                    <a:lstStyle/>
                    <a:p>
                      <a:pPr algn="ctr"/>
                      <a:r>
                        <a:rPr sz="800" b="1" i="0">
                          <a:solidFill>
                            <a:srgbClr val="0D0D0D"/>
                          </a:solidFill>
                          <a:latin typeface="Calibri"/>
                        </a:rPr>
                        <a:t>10,5x</a:t>
                      </a:r>
                    </a:p>
                  </a:txBody>
                  <a:tcPr>
                    <a:solidFill>
                      <a:srgbClr val="F7F8FA"/>
                    </a:solidFill>
                  </a:tcPr>
                </a:tc>
                <a:tc>
                  <a:txBody>
                    <a:bodyPr/>
                    <a:lstStyle/>
                    <a:p>
                      <a:pPr algn="ctr"/>
                      <a:r>
                        <a:rPr sz="800" b="1" i="0">
                          <a:solidFill>
                            <a:srgbClr val="0D0D0D"/>
                          </a:solidFill>
                          <a:latin typeface="Calibri"/>
                        </a:rPr>
                        <a:t>30,1x</a:t>
                      </a:r>
                    </a:p>
                  </a:txBody>
                  <a:tcPr>
                    <a:solidFill>
                      <a:srgbClr val="F7F8FA"/>
                    </a:solidFill>
                  </a:tcPr>
                </a:tc>
                <a:tc>
                  <a:txBody>
                    <a:bodyPr/>
                    <a:lstStyle/>
                    <a:p>
                      <a:pPr algn="ctr"/>
                      <a:r>
                        <a:rPr sz="800" b="1" i="0">
                          <a:solidFill>
                            <a:srgbClr val="0D0D0D"/>
                          </a:solidFill>
                          <a:latin typeface="Calibri"/>
                        </a:rPr>
                        <a:t>6800,0 %</a:t>
                      </a:r>
                    </a:p>
                  </a:txBody>
                  <a:tcPr>
                    <a:solidFill>
                      <a:srgbClr val="F7F8FA"/>
                    </a:solidFill>
                  </a:tcPr>
                </a:tc>
                <a:tc>
                  <a:txBody>
                    <a:bodyPr/>
                    <a:lstStyle/>
                    <a:p>
                      <a:pPr algn="ctr"/>
                      <a:r>
                        <a:rPr sz="800" b="1" i="0">
                          <a:solidFill>
                            <a:srgbClr val="0D0D0D"/>
                          </a:solidFill>
                          <a:latin typeface="Calibri"/>
                        </a:rPr>
                        <a:t>5200,0 %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 P/E 32.6x vs mediane peers 27x (+20%), justifié par ROIC 84.4% vs 30% pour peers. EV/EBITDA 25.7x vs 18x peers (+43%) reflète qualité des actifs. Convergence vers mediane peers impliquerait un downside de 15% sur multiples, mais improbable sans choc opérationnel.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WACC 10.4% et TGR 3.0% impliquent un prix implicite DCF à 275 USD vs cours à 248.8 USD (+10.5%). Upside limité par prime de croissance déjà partiellement pricee. Catalyseur clé : accélération services &gt;15% YoY pour justifier re-rating.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Surévaluation P/E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 P/E à 32.61x dépasse de 50% la moyenne historique du S&amp;P 500 (21x) et de 25% celle des géants tech (26x), suggérant une surévaluation déjà intégrée dans les marges actuelles. Les 151.9% de ROE reposent sur un écosystème captif, mais la guerre tarifaire en Chine pourrait réduire les marges iPhone de 5 à 3 points d'ici 2026.</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Risque Chine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La trésorerie nette de 165 milliards cache 90% d'actifs non liquides (investissements long terme), limitant la flexibilité face à une crise de liquidité. L'EV/EBITDA à 25.67x est 30% plus élevé que Microsoft (19.8x), malgré une croissance des revenus inférieure de 40%.</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Marges services</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pricing power d'Apple s'érode avec un iPhone 15 Pro à 1 200€, soit +15% vs 2023, risquant une baisse de volume de 8% en Asie selon Counterpoint Research. Les marges brutes à 46.9% sont artificiellement gonflées par les services, dont la croissance ralentit à 12% en 2024 contre 18% en 2023.</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-3% PIB US/UE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sur commissions App Store en UE/US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Baisse CA iPhone &gt;10% en Chine Q3 2026</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-0,087</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45,0 %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5</a:t>
                      </a:r>
                    </a:p>
                  </a:txBody>
                  <a:tcPr>
                    <a:solidFill>
                      <a:srgbClr val="EAF4EF"/>
                    </a:solidFill>
                  </a:tcPr>
                </a:tc>
                <a:tc>
                  <a:txBody>
                    <a:bodyPr/>
                    <a:lstStyle/>
                    <a:p>
                      <a:pPr algn="ctr"/>
                      <a:r>
                        <a:rPr sz="800" b="0" i="0">
                          <a:solidFill>
                            <a:srgbClr val="0D0D0D"/>
                          </a:solidFill>
                          <a:latin typeface="Calibri"/>
                        </a:rPr>
                        <a:t>+0,231</a:t>
                      </a:r>
                    </a:p>
                  </a:txBody>
                  <a:tcPr>
                    <a:solidFill>
                      <a:srgbClr val="EAF4EF"/>
                    </a:solidFill>
                  </a:tcPr>
                </a:tc>
                <a:tc>
                  <a:txBody>
                    <a:bodyPr/>
                    <a:lstStyle/>
                    <a:p>
                      <a:pPr algn="ctr"/>
                      <a:r>
                        <a:rPr sz="800" b="0" i="0">
                          <a:solidFill>
                            <a:srgbClr val="0D0D0D"/>
                          </a:solidFill>
                          <a:latin typeface="Calibri"/>
                        </a:rPr>
                        <a:t>Services en croissance à +15% YoY avec 2Md utilisateurs actifs d'ici 2027, boostant marge brute à 49% | Horizon 2026-2027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+0,450</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+0,319</a:t>
                      </a:r>
                    </a:p>
                  </a:txBody>
                  <a:tcPr>
                    <a:solidFill>
                      <a:srgbClr val="FAF0EF"/>
                    </a:solidFill>
                  </a:tcPr>
                </a:tc>
                <a:tc>
                  <a:txBody>
                    <a:bodyPr/>
                    <a:lstStyle/>
                    <a:p>
                      <a:pPr algn="ctr"/>
                      <a:r>
                        <a:rPr sz="800" b="0" i="0">
                          <a:solidFill>
                            <a:srgbClr val="0D0D0D"/>
                          </a:solidFill>
                          <a:latin typeface="Calibri"/>
                        </a:rPr>
                        <a:t>Régulation européenne sur App Store (-10% revenus 2026) impactant marge services de 3pp | Horizon 2026-2027</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les défis majeurs d'Apple face à l'IA et à la concurrence, tout en mettant en avant ses initiatives stratégiques comme l'ouverture de Siri. Les annonces positives sur les innovations et la gestion des talents sont contrebalancées par des risques structurels et des prédictions pessimistes.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29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Prime de 20% vs mediane peers sur P/E (32.6x vs 27x) justifiée par qualité des actifs. EV/EBITDA à 25.7x reste raisonnable vs croissance attendue.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29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248,80 $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+17,6 %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25819"/>
            <a:ext cx="498636" cy="96938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ROIC de 84.4%. La valorisation reste attractive malgré une prime modérée vs peers technologiques.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