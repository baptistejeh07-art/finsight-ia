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4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latin typeface="Calibri"/>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latin typeface="Calibri"/>
              </a:rPr>
              <a:t>Pitchbook  —  Analyse d'investissement</a:t>
            </a:r>
          </a:p>
        </p:txBody>
      </p:sp>
      <p:sp>
        <p:nvSpPr>
          <p:cNvPr id="6" name="TextBox 5"/>
          <p:cNvSpPr txBox="1"/>
          <p:nvPr/>
        </p:nvSpPr>
        <p:spPr>
          <a:xfrm>
            <a:off x="457200" y="1461599"/>
            <a:ext cx="8229600" cy="794232"/>
          </a:xfrm>
          <a:prstGeom prst="rect">
            <a:avLst/>
          </a:prstGeom>
          <a:noFill/>
        </p:spPr>
        <p:txBody>
          <a:bodyPr wrap="square">
            <a:spAutoFit/>
          </a:bodyPr>
          <a:lstStyle/>
          <a:p>
            <a:pPr algn="ctr"/>
            <a:r>
              <a:rPr sz="4000" b="1" i="0">
                <a:solidFill>
                  <a:srgbClr val="1B3A6B"/>
                </a:solidFill>
                <a:latin typeface="Calibri"/>
              </a:rPr>
              <a:t>Apple Inc.</a:t>
            </a:r>
          </a:p>
        </p:txBody>
      </p:sp>
      <p:sp>
        <p:nvSpPr>
          <p:cNvPr id="7" name="TextBox 6"/>
          <p:cNvSpPr txBox="1"/>
          <p:nvPr/>
        </p:nvSpPr>
        <p:spPr>
          <a:xfrm>
            <a:off x="457200" y="2345832"/>
            <a:ext cx="8229600" cy="255600"/>
          </a:xfrm>
          <a:prstGeom prst="rect">
            <a:avLst/>
          </a:prstGeom>
          <a:noFill/>
        </p:spPr>
        <p:txBody>
          <a:bodyPr wrap="square">
            <a:spAutoFit/>
          </a:bodyPr>
          <a:lstStyle/>
          <a:p>
            <a:pPr algn="ctr"/>
            <a:r>
              <a:rPr sz="1100" b="0" i="0">
                <a:solidFill>
                  <a:srgbClr val="888888"/>
                </a:solidFill>
                <a:latin typeface="Calibri"/>
              </a:rPr>
              <a:t>AAPL  ·  Technology</a:t>
            </a:r>
          </a:p>
        </p:txBody>
      </p:sp>
      <p:sp>
        <p:nvSpPr>
          <p:cNvPr id="8" name="Rectangle 7"/>
          <p:cNvSpPr/>
          <p:nvPr/>
        </p:nvSpPr>
        <p:spPr>
          <a:xfrm>
            <a:off x="457200" y="2720232"/>
            <a:ext cx="8229600" cy="4752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720232"/>
            <a:ext cx="46800" cy="475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6000" y="2738232"/>
            <a:ext cx="8063999" cy="439200"/>
          </a:xfrm>
          <a:prstGeom prst="rect">
            <a:avLst/>
          </a:prstGeom>
          <a:noFill/>
        </p:spPr>
        <p:txBody>
          <a:bodyPr wrap="square">
            <a:spAutoFit/>
          </a:bodyPr>
          <a:lstStyle/>
          <a:p>
            <a:pPr algn="ctr"/>
            <a:r>
              <a:rPr sz="900" b="1" i="0">
                <a:solidFill>
                  <a:srgbClr val="1A7A4A"/>
                </a:solidFill>
                <a:latin typeface="Calibri"/>
              </a:rPr>
              <a:t>● BUY  ·  Prix cible base : 285 $  ·  Upside : +14,5 %</a:t>
            </a:r>
          </a:p>
        </p:txBody>
      </p:sp>
      <p:sp>
        <p:nvSpPr>
          <p:cNvPr id="11" name="Rectangle 10"/>
          <p:cNvSpPr/>
          <p:nvPr/>
        </p:nvSpPr>
        <p:spPr>
          <a:xfrm>
            <a:off x="367200" y="4464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7200" y="4554000"/>
            <a:ext cx="4114800" cy="201600"/>
          </a:xfrm>
          <a:prstGeom prst="rect">
            <a:avLst/>
          </a:prstGeom>
          <a:noFill/>
        </p:spPr>
        <p:txBody>
          <a:bodyPr wrap="square">
            <a:spAutoFit/>
          </a:bodyPr>
          <a:lstStyle/>
          <a:p>
            <a:pPr algn="l"/>
            <a:r>
              <a:rPr sz="800" b="0" i="0">
                <a:solidFill>
                  <a:srgbClr val="555555"/>
                </a:solidFill>
                <a:latin typeface="Calibri"/>
              </a:rPr>
              <a:t>Rapport confidentiel</a:t>
            </a:r>
          </a:p>
        </p:txBody>
      </p:sp>
      <p:sp>
        <p:nvSpPr>
          <p:cNvPr id="13" name="TextBox 12"/>
          <p:cNvSpPr txBox="1"/>
          <p:nvPr/>
        </p:nvSpPr>
        <p:spPr>
          <a:xfrm>
            <a:off x="4662000" y="4554000"/>
            <a:ext cx="4114800" cy="201600"/>
          </a:xfrm>
          <a:prstGeom prst="rect">
            <a:avLst/>
          </a:prstGeom>
          <a:noFill/>
        </p:spPr>
        <p:txBody>
          <a:bodyPr wrap="square">
            <a:spAutoFit/>
          </a:bodyPr>
          <a:lstStyle/>
          <a:p>
            <a:pPr algn="r"/>
            <a:r>
              <a:rPr sz="800" b="0" i="0">
                <a:solidFill>
                  <a:srgbClr val="555555"/>
                </a:solidFill>
                <a:latin typeface="Calibri"/>
              </a:rPr>
              <a:t>29 mars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Executive Summary</a:t>
            </a:r>
          </a:p>
        </p:txBody>
      </p:sp>
      <p:sp>
        <p:nvSpPr>
          <p:cNvPr id="6" name="Rectangle 5"/>
          <p:cNvSpPr/>
          <p:nvPr/>
        </p:nvSpPr>
        <p:spPr>
          <a:xfrm>
            <a:off x="367200" y="748800"/>
            <a:ext cx="8413200" cy="4392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748800"/>
            <a:ext cx="46800" cy="439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766800"/>
            <a:ext cx="1098000" cy="403200"/>
          </a:xfrm>
          <a:prstGeom prst="rect">
            <a:avLst/>
          </a:prstGeom>
          <a:noFill/>
        </p:spPr>
        <p:txBody>
          <a:bodyPr wrap="square">
            <a:spAutoFit/>
          </a:bodyPr>
          <a:lstStyle/>
          <a:p>
            <a:pPr algn="l"/>
            <a:r>
              <a:rPr sz="1100" b="1" i="0">
                <a:solidFill>
                  <a:srgbClr val="1A7A4A"/>
                </a:solidFill>
                <a:latin typeface="Calibri"/>
              </a:rPr>
              <a:t>● BUY</a:t>
            </a:r>
          </a:p>
        </p:txBody>
      </p:sp>
      <p:sp>
        <p:nvSpPr>
          <p:cNvPr id="9" name="TextBox 8"/>
          <p:cNvSpPr txBox="1"/>
          <p:nvPr/>
        </p:nvSpPr>
        <p:spPr>
          <a:xfrm>
            <a:off x="1692000" y="766800"/>
            <a:ext cx="6948000" cy="403200"/>
          </a:xfrm>
          <a:prstGeom prst="rect">
            <a:avLst/>
          </a:prstGeom>
          <a:noFill/>
        </p:spPr>
        <p:txBody>
          <a:bodyPr wrap="square">
            <a:spAutoFit/>
          </a:bodyPr>
          <a:lstStyle/>
          <a:p>
            <a:pPr algn="l"/>
            <a:r>
              <a:rPr sz="900" b="0" i="0">
                <a:solidFill>
                  <a:srgbClr val="1B3A6B"/>
                </a:solidFill>
                <a:latin typeface="Calibri"/>
              </a:rPr>
              <a:t>Prix cible base : 285 $  ·  Upside : +14,5 %  ·  Bear : 220 $ (-11,6 %)  ·  Bull : 320 $ (+28,6 %)</a:t>
            </a:r>
          </a:p>
        </p:txBody>
      </p:sp>
      <p:sp>
        <p:nvSpPr>
          <p:cNvPr id="10" name="Rectangle 9"/>
          <p:cNvSpPr/>
          <p:nvPr/>
        </p:nvSpPr>
        <p:spPr>
          <a:xfrm>
            <a:off x="367200" y="1353600"/>
            <a:ext cx="4161600" cy="255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1353600"/>
            <a:ext cx="4161600" cy="255600"/>
          </a:xfrm>
          <a:prstGeom prst="rect">
            <a:avLst/>
          </a:prstGeom>
          <a:noFill/>
        </p:spPr>
        <p:txBody>
          <a:bodyPr wrap="square">
            <a:spAutoFit/>
          </a:bodyPr>
          <a:lstStyle/>
          <a:p>
            <a:pPr algn="l"/>
            <a:r>
              <a:rPr sz="900" b="1" i="0">
                <a:solidFill>
                  <a:srgbClr val="FFFFFF"/>
                </a:solidFill>
                <a:latin typeface="Calibri"/>
              </a:rPr>
              <a:t>THÈSE D'INVESTISSEMENT</a:t>
            </a:r>
          </a:p>
        </p:txBody>
      </p:sp>
      <p:sp>
        <p:nvSpPr>
          <p:cNvPr id="12" name="Rectangle 11"/>
          <p:cNvSpPr/>
          <p:nvPr/>
        </p:nvSpPr>
        <p:spPr>
          <a:xfrm>
            <a:off x="367200" y="16632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3999" y="1645200"/>
            <a:ext cx="3931200" cy="183600"/>
          </a:xfrm>
          <a:prstGeom prst="rect">
            <a:avLst/>
          </a:prstGeom>
          <a:noFill/>
        </p:spPr>
        <p:txBody>
          <a:bodyPr wrap="square">
            <a:spAutoFit/>
          </a:bodyPr>
          <a:lstStyle/>
          <a:p>
            <a:pPr algn="l"/>
            <a:r>
              <a:rPr sz="850" b="1" i="0">
                <a:solidFill>
                  <a:srgbClr val="1B3A6B"/>
                </a:solidFill>
                <a:latin typeface="Calibri"/>
              </a:rPr>
              <a:t>Écosystème fermé</a:t>
            </a:r>
          </a:p>
        </p:txBody>
      </p:sp>
      <p:sp>
        <p:nvSpPr>
          <p:cNvPr id="14" name="TextBox 13"/>
          <p:cNvSpPr txBox="1"/>
          <p:nvPr/>
        </p:nvSpPr>
        <p:spPr>
          <a:xfrm>
            <a:off x="503999" y="1814400"/>
            <a:ext cx="3931200" cy="327600"/>
          </a:xfrm>
          <a:prstGeom prst="rect">
            <a:avLst/>
          </a:prstGeom>
          <a:noFill/>
        </p:spPr>
        <p:txBody>
          <a:bodyPr wrap="square">
            <a:spAutoFit/>
          </a:bodyPr>
          <a:lstStyle/>
          <a:p>
            <a:pPr algn="l"/>
            <a:r>
              <a:rPr sz="750" b="0" i="0">
                <a:solidFill>
                  <a:srgbClr val="333333"/>
                </a:solidFill>
                <a:latin typeface="Calibri"/>
              </a:rPr>
              <a:t>Apple devrait bénéficier d'un rebond des ventes iPhone en 2026 avec +8% YoY grâce à l'IA intégrée dans iOS 18</a:t>
            </a:r>
          </a:p>
        </p:txBody>
      </p:sp>
      <p:sp>
        <p:nvSpPr>
          <p:cNvPr id="15" name="Rectangle 14"/>
          <p:cNvSpPr/>
          <p:nvPr/>
        </p:nvSpPr>
        <p:spPr>
          <a:xfrm>
            <a:off x="367200" y="21960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3999" y="2178000"/>
            <a:ext cx="3931200" cy="183600"/>
          </a:xfrm>
          <a:prstGeom prst="rect">
            <a:avLst/>
          </a:prstGeom>
          <a:noFill/>
        </p:spPr>
        <p:txBody>
          <a:bodyPr wrap="square">
            <a:spAutoFit/>
          </a:bodyPr>
          <a:lstStyle/>
          <a:p>
            <a:pPr algn="l"/>
            <a:r>
              <a:rPr sz="850" b="1" i="0">
                <a:solidFill>
                  <a:srgbClr val="1B3A6B"/>
                </a:solidFill>
                <a:latin typeface="Calibri"/>
              </a:rPr>
              <a:t>Marges premium</a:t>
            </a:r>
          </a:p>
        </p:txBody>
      </p:sp>
      <p:sp>
        <p:nvSpPr>
          <p:cNvPr id="17" name="TextBox 16"/>
          <p:cNvSpPr txBox="1"/>
          <p:nvPr/>
        </p:nvSpPr>
        <p:spPr>
          <a:xfrm>
            <a:off x="503999" y="2347200"/>
            <a:ext cx="3931200" cy="327600"/>
          </a:xfrm>
          <a:prstGeom prst="rect">
            <a:avLst/>
          </a:prstGeom>
          <a:noFill/>
        </p:spPr>
        <p:txBody>
          <a:bodyPr wrap="square">
            <a:spAutoFit/>
          </a:bodyPr>
          <a:lstStyle/>
          <a:p>
            <a:pPr algn="l"/>
            <a:r>
              <a:rPr sz="750" b="0" i="0">
                <a:solidFill>
                  <a:srgbClr val="333333"/>
                </a:solidFill>
                <a:latin typeface="Calibri"/>
              </a:rPr>
              <a:t>Les services récurrents pourraient croître de 12% YoY en 2026, portant la marge EBITDA à 36%</a:t>
            </a:r>
          </a:p>
        </p:txBody>
      </p:sp>
      <p:sp>
        <p:nvSpPr>
          <p:cNvPr id="18" name="Rectangle 17"/>
          <p:cNvSpPr/>
          <p:nvPr/>
        </p:nvSpPr>
        <p:spPr>
          <a:xfrm>
            <a:off x="367200" y="27288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2710800"/>
            <a:ext cx="3931200" cy="183600"/>
          </a:xfrm>
          <a:prstGeom prst="rect">
            <a:avLst/>
          </a:prstGeom>
          <a:noFill/>
        </p:spPr>
        <p:txBody>
          <a:bodyPr wrap="square">
            <a:spAutoFit/>
          </a:bodyPr>
          <a:lstStyle/>
          <a:p>
            <a:pPr algn="l"/>
            <a:r>
              <a:rPr sz="850" b="1" i="0">
                <a:solidFill>
                  <a:srgbClr val="1B3A6B"/>
                </a:solidFill>
                <a:latin typeface="Calibri"/>
              </a:rPr>
              <a:t>Cash flow record</a:t>
            </a:r>
          </a:p>
        </p:txBody>
      </p:sp>
      <p:sp>
        <p:nvSpPr>
          <p:cNvPr id="20" name="TextBox 19"/>
          <p:cNvSpPr txBox="1"/>
          <p:nvPr/>
        </p:nvSpPr>
        <p:spPr>
          <a:xfrm>
            <a:off x="503999" y="2880000"/>
            <a:ext cx="3931200" cy="327600"/>
          </a:xfrm>
          <a:prstGeom prst="rect">
            <a:avLst/>
          </a:prstGeom>
          <a:noFill/>
        </p:spPr>
        <p:txBody>
          <a:bodyPr wrap="square">
            <a:spAutoFit/>
          </a:bodyPr>
          <a:lstStyle/>
          <a:p>
            <a:pPr algn="l"/>
            <a:r>
              <a:rPr sz="750" b="0" i="0">
                <a:solidFill>
                  <a:srgbClr val="333333"/>
                </a:solidFill>
                <a:latin typeface="Calibri"/>
              </a:rPr>
              <a:t>Le rachat d'actions de 110Mds$ en 2026 soutiendra la valorisation avec un EPS en hausse de 10%.</a:t>
            </a:r>
          </a:p>
        </p:txBody>
      </p:sp>
      <p:sp>
        <p:nvSpPr>
          <p:cNvPr id="21" name="Rectangle 20"/>
          <p:cNvSpPr/>
          <p:nvPr/>
        </p:nvSpPr>
        <p:spPr>
          <a:xfrm>
            <a:off x="4708800" y="1353600"/>
            <a:ext cx="4068000" cy="255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8800" y="1353600"/>
            <a:ext cx="4068000" cy="255600"/>
          </a:xfrm>
          <a:prstGeom prst="rect">
            <a:avLst/>
          </a:prstGeom>
          <a:noFill/>
        </p:spPr>
        <p:txBody>
          <a:bodyPr wrap="square">
            <a:spAutoFit/>
          </a:bodyPr>
          <a:lstStyle/>
          <a:p>
            <a:pPr algn="l"/>
            <a:r>
              <a:rPr sz="900" b="1" i="0">
                <a:solidFill>
                  <a:srgbClr val="FFFFFF"/>
                </a:solidFill>
                <a:latin typeface="Calibri"/>
              </a:rPr>
              <a:t>RISQUES PRINCIPAUX</a:t>
            </a:r>
          </a:p>
        </p:txBody>
      </p:sp>
      <p:sp>
        <p:nvSpPr>
          <p:cNvPr id="23" name="Rectangle 22"/>
          <p:cNvSpPr/>
          <p:nvPr/>
        </p:nvSpPr>
        <p:spPr>
          <a:xfrm>
            <a:off x="4708800" y="16632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45600" y="1645200"/>
            <a:ext cx="3794399" cy="183600"/>
          </a:xfrm>
          <a:prstGeom prst="rect">
            <a:avLst/>
          </a:prstGeom>
          <a:noFill/>
        </p:spPr>
        <p:txBody>
          <a:bodyPr wrap="square">
            <a:spAutoFit/>
          </a:bodyPr>
          <a:lstStyle/>
          <a:p>
            <a:pPr algn="l"/>
            <a:r>
              <a:rPr sz="850" b="1" i="0">
                <a:solidFill>
                  <a:srgbClr val="1B3A6B"/>
                </a:solidFill>
                <a:latin typeface="Calibri"/>
              </a:rPr>
              <a:t>Dépendance iPhone</a:t>
            </a:r>
          </a:p>
        </p:txBody>
      </p:sp>
      <p:sp>
        <p:nvSpPr>
          <p:cNvPr id="25" name="TextBox 24"/>
          <p:cNvSpPr txBox="1"/>
          <p:nvPr/>
        </p:nvSpPr>
        <p:spPr>
          <a:xfrm>
            <a:off x="4845600" y="1814400"/>
            <a:ext cx="3794399" cy="327600"/>
          </a:xfrm>
          <a:prstGeom prst="rect">
            <a:avLst/>
          </a:prstGeom>
          <a:noFill/>
        </p:spPr>
        <p:txBody>
          <a:bodyPr wrap="square">
            <a:spAutoFit/>
          </a:bodyPr>
          <a:lstStyle/>
          <a:p>
            <a:pPr algn="l"/>
            <a:r>
              <a:rPr sz="750" b="0" i="0">
                <a:solidFill>
                  <a:srgbClr val="333333"/>
                </a:solidFill>
                <a:latin typeface="Calibri"/>
              </a:rPr>
              <a:t>Régulation européenne sur les services (DMA) pourrait réduire les revenus App Store de 10% d'ici 2027 | Horizon: 12 mois | Impact: -8Mds$ CA</a:t>
            </a:r>
          </a:p>
        </p:txBody>
      </p:sp>
      <p:sp>
        <p:nvSpPr>
          <p:cNvPr id="26" name="Rectangle 25"/>
          <p:cNvSpPr/>
          <p:nvPr/>
        </p:nvSpPr>
        <p:spPr>
          <a:xfrm>
            <a:off x="4708800" y="21960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5600" y="2178000"/>
            <a:ext cx="3794399" cy="183600"/>
          </a:xfrm>
          <a:prstGeom prst="rect">
            <a:avLst/>
          </a:prstGeom>
          <a:noFill/>
        </p:spPr>
        <p:txBody>
          <a:bodyPr wrap="square">
            <a:spAutoFit/>
          </a:bodyPr>
          <a:lstStyle/>
          <a:p>
            <a:pPr algn="l"/>
            <a:r>
              <a:rPr sz="850" b="1" i="0">
                <a:solidFill>
                  <a:srgbClr val="1B3A6B"/>
                </a:solidFill>
                <a:latin typeface="Calibri"/>
              </a:rPr>
              <a:t>Régulation services</a:t>
            </a:r>
          </a:p>
        </p:txBody>
      </p:sp>
      <p:sp>
        <p:nvSpPr>
          <p:cNvPr id="28" name="TextBox 27"/>
          <p:cNvSpPr txBox="1"/>
          <p:nvPr/>
        </p:nvSpPr>
        <p:spPr>
          <a:xfrm>
            <a:off x="4845600" y="2347200"/>
            <a:ext cx="3794399" cy="327600"/>
          </a:xfrm>
          <a:prstGeom prst="rect">
            <a:avLst/>
          </a:prstGeom>
          <a:noFill/>
        </p:spPr>
        <p:txBody>
          <a:bodyPr wrap="square">
            <a:spAutoFit/>
          </a:bodyPr>
          <a:lstStyle/>
          <a:p>
            <a:pPr algn="l"/>
            <a:r>
              <a:rPr sz="750" b="0" i="0">
                <a:solidFill>
                  <a:srgbClr val="333333"/>
                </a:solidFill>
                <a:latin typeface="Calibri"/>
              </a:rPr>
              <a:t>Concurrence accrue en IA (Google, Microsoft) pourrait éroder les parts de marché des services Apple de 5% | Horizon: 18 mois | Impact: -3Mds$ EBIT</a:t>
            </a:r>
          </a:p>
        </p:txBody>
      </p:sp>
      <p:sp>
        <p:nvSpPr>
          <p:cNvPr id="29" name="Rectangle 28"/>
          <p:cNvSpPr/>
          <p:nvPr/>
        </p:nvSpPr>
        <p:spPr>
          <a:xfrm>
            <a:off x="4708800" y="27288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5600" y="2710800"/>
            <a:ext cx="3794399" cy="183600"/>
          </a:xfrm>
          <a:prstGeom prst="rect">
            <a:avLst/>
          </a:prstGeom>
          <a:noFill/>
        </p:spPr>
        <p:txBody>
          <a:bodyPr wrap="square">
            <a:spAutoFit/>
          </a:bodyPr>
          <a:lstStyle/>
          <a:p>
            <a:pPr algn="l"/>
            <a:r>
              <a:rPr sz="850" b="1" i="0">
                <a:solidFill>
                  <a:srgbClr val="1B3A6B"/>
                </a:solidFill>
                <a:latin typeface="Calibri"/>
              </a:rPr>
              <a:t>Concurrence IA</a:t>
            </a:r>
          </a:p>
        </p:txBody>
      </p:sp>
      <p:sp>
        <p:nvSpPr>
          <p:cNvPr id="31" name="TextBox 30"/>
          <p:cNvSpPr txBox="1"/>
          <p:nvPr/>
        </p:nvSpPr>
        <p:spPr>
          <a:xfrm>
            <a:off x="4845600" y="2880000"/>
            <a:ext cx="3794399" cy="327600"/>
          </a:xfrm>
          <a:prstGeom prst="rect">
            <a:avLst/>
          </a:prstGeom>
          <a:noFill/>
        </p:spPr>
        <p:txBody>
          <a:bodyPr wrap="square">
            <a:spAutoFit/>
          </a:bodyPr>
          <a:lstStyle/>
          <a:p>
            <a:pPr algn="l"/>
            <a:r>
              <a:rPr sz="750" b="0" i="0">
                <a:solidFill>
                  <a:srgbClr val="333333"/>
                </a:solidFill>
                <a:latin typeface="Calibri"/>
              </a:rPr>
              <a:t>Ralentissement économique en Chine pourrait réduire les ventes iPhone de 15% en 2026 | Horizon: 6 mois | Impact: -12Mds$ CA</a:t>
            </a:r>
          </a:p>
        </p:txBody>
      </p:sp>
      <p:sp>
        <p:nvSpPr>
          <p:cNvPr id="32" name="Rectangle 31"/>
          <p:cNvSpPr/>
          <p:nvPr/>
        </p:nvSpPr>
        <p:spPr>
          <a:xfrm>
            <a:off x="4525200" y="1353600"/>
            <a:ext cx="10800" cy="17424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33012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672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7200" y="3430800"/>
            <a:ext cx="1893600" cy="396000"/>
          </a:xfrm>
          <a:prstGeom prst="rect">
            <a:avLst/>
          </a:prstGeom>
          <a:noFill/>
        </p:spPr>
        <p:txBody>
          <a:bodyPr wrap="square">
            <a:spAutoFit/>
          </a:bodyPr>
          <a:lstStyle/>
          <a:p>
            <a:pPr algn="l"/>
            <a:r>
              <a:rPr sz="1900" b="1" i="0">
                <a:solidFill>
                  <a:srgbClr val="1B3A6B"/>
                </a:solidFill>
                <a:latin typeface="Calibri"/>
              </a:rPr>
              <a:t>25,7x</a:t>
            </a:r>
          </a:p>
        </p:txBody>
      </p:sp>
      <p:sp>
        <p:nvSpPr>
          <p:cNvPr id="37" name="TextBox 36"/>
          <p:cNvSpPr txBox="1"/>
          <p:nvPr/>
        </p:nvSpPr>
        <p:spPr>
          <a:xfrm>
            <a:off x="457200" y="3826800"/>
            <a:ext cx="1893600" cy="205199"/>
          </a:xfrm>
          <a:prstGeom prst="rect">
            <a:avLst/>
          </a:prstGeom>
          <a:noFill/>
        </p:spPr>
        <p:txBody>
          <a:bodyPr wrap="square">
            <a:spAutoFit/>
          </a:bodyPr>
          <a:lstStyle/>
          <a:p>
            <a:pPr algn="l"/>
            <a:r>
              <a:rPr sz="800" b="0" i="0">
                <a:solidFill>
                  <a:srgbClr val="555555"/>
                </a:solidFill>
                <a:latin typeface="Calibri"/>
              </a:rPr>
              <a:t>EV/EBITDA</a:t>
            </a:r>
          </a:p>
        </p:txBody>
      </p:sp>
      <p:sp>
        <p:nvSpPr>
          <p:cNvPr id="38" name="TextBox 37"/>
          <p:cNvSpPr txBox="1"/>
          <p:nvPr/>
        </p:nvSpPr>
        <p:spPr>
          <a:xfrm>
            <a:off x="457200" y="4024800"/>
            <a:ext cx="1893600" cy="165600"/>
          </a:xfrm>
          <a:prstGeom prst="rect">
            <a:avLst/>
          </a:prstGeom>
          <a:noFill/>
        </p:spPr>
        <p:txBody>
          <a:bodyPr wrap="square">
            <a:spAutoFit/>
          </a:bodyPr>
          <a:lstStyle/>
          <a:p>
            <a:pPr algn="l"/>
            <a:r>
              <a:rPr sz="700" b="0" i="0">
                <a:solidFill>
                  <a:srgbClr val="888888"/>
                </a:solidFill>
                <a:latin typeface="Calibri"/>
              </a:rPr>
              <a:t>vs 22,5x médiane peers</a:t>
            </a:r>
          </a:p>
        </p:txBody>
      </p:sp>
      <p:sp>
        <p:nvSpPr>
          <p:cNvPr id="39" name="Rectangle 38"/>
          <p:cNvSpPr/>
          <p:nvPr/>
        </p:nvSpPr>
        <p:spPr>
          <a:xfrm>
            <a:off x="24876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24876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577600" y="3430800"/>
            <a:ext cx="1893600" cy="396000"/>
          </a:xfrm>
          <a:prstGeom prst="rect">
            <a:avLst/>
          </a:prstGeom>
          <a:noFill/>
        </p:spPr>
        <p:txBody>
          <a:bodyPr wrap="square">
            <a:spAutoFit/>
          </a:bodyPr>
          <a:lstStyle/>
          <a:p>
            <a:pPr algn="l"/>
            <a:r>
              <a:rPr sz="1900" b="1" i="0">
                <a:solidFill>
                  <a:srgbClr val="1B3A6B"/>
                </a:solidFill>
                <a:latin typeface="Calibri"/>
              </a:rPr>
              <a:t>10,4 %</a:t>
            </a:r>
          </a:p>
        </p:txBody>
      </p:sp>
      <p:sp>
        <p:nvSpPr>
          <p:cNvPr id="42" name="TextBox 41"/>
          <p:cNvSpPr txBox="1"/>
          <p:nvPr/>
        </p:nvSpPr>
        <p:spPr>
          <a:xfrm>
            <a:off x="2577600" y="3826800"/>
            <a:ext cx="1893600" cy="205199"/>
          </a:xfrm>
          <a:prstGeom prst="rect">
            <a:avLst/>
          </a:prstGeom>
          <a:noFill/>
        </p:spPr>
        <p:txBody>
          <a:bodyPr wrap="square">
            <a:spAutoFit/>
          </a:bodyPr>
          <a:lstStyle/>
          <a:p>
            <a:pPr algn="l"/>
            <a:r>
              <a:rPr sz="800" b="0" i="0">
                <a:solidFill>
                  <a:srgbClr val="555555"/>
                </a:solidFill>
                <a:latin typeface="Calibri"/>
              </a:rPr>
              <a:t>WACC</a:t>
            </a:r>
          </a:p>
        </p:txBody>
      </p:sp>
      <p:sp>
        <p:nvSpPr>
          <p:cNvPr id="43" name="TextBox 42"/>
          <p:cNvSpPr txBox="1"/>
          <p:nvPr/>
        </p:nvSpPr>
        <p:spPr>
          <a:xfrm>
            <a:off x="2577600" y="4024800"/>
            <a:ext cx="1893600" cy="165600"/>
          </a:xfrm>
          <a:prstGeom prst="rect">
            <a:avLst/>
          </a:prstGeom>
          <a:noFill/>
        </p:spPr>
        <p:txBody>
          <a:bodyPr wrap="square">
            <a:spAutoFit/>
          </a:bodyPr>
          <a:lstStyle/>
          <a:p>
            <a:pPr algn="l"/>
            <a:r>
              <a:rPr sz="700" b="0" i="0">
                <a:solidFill>
                  <a:srgbClr val="888888"/>
                </a:solidFill>
                <a:latin typeface="Calibri"/>
              </a:rPr>
              <a:t>Beta 1,12  ·  RFR 4,4 %</a:t>
            </a:r>
          </a:p>
        </p:txBody>
      </p:sp>
      <p:sp>
        <p:nvSpPr>
          <p:cNvPr id="44" name="Rectangle 43"/>
          <p:cNvSpPr/>
          <p:nvPr/>
        </p:nvSpPr>
        <p:spPr>
          <a:xfrm>
            <a:off x="46080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6080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98000" y="3430800"/>
            <a:ext cx="1893600" cy="396000"/>
          </a:xfrm>
          <a:prstGeom prst="rect">
            <a:avLst/>
          </a:prstGeom>
          <a:noFill/>
        </p:spPr>
        <p:txBody>
          <a:bodyPr wrap="square">
            <a:spAutoFit/>
          </a:bodyPr>
          <a:lstStyle/>
          <a:p>
            <a:pPr algn="l"/>
            <a:r>
              <a:rPr sz="1900" b="1" i="0">
                <a:solidFill>
                  <a:srgbClr val="1B3A6B"/>
                </a:solidFill>
                <a:latin typeface="Calibri"/>
              </a:rPr>
              <a:t>285 $</a:t>
            </a:r>
          </a:p>
        </p:txBody>
      </p:sp>
      <p:sp>
        <p:nvSpPr>
          <p:cNvPr id="47" name="TextBox 46"/>
          <p:cNvSpPr txBox="1"/>
          <p:nvPr/>
        </p:nvSpPr>
        <p:spPr>
          <a:xfrm>
            <a:off x="4698000" y="3826800"/>
            <a:ext cx="1893600" cy="205199"/>
          </a:xfrm>
          <a:prstGeom prst="rect">
            <a:avLst/>
          </a:prstGeom>
          <a:noFill/>
        </p:spPr>
        <p:txBody>
          <a:bodyPr wrap="square">
            <a:spAutoFit/>
          </a:bodyPr>
          <a:lstStyle/>
          <a:p>
            <a:pPr algn="l"/>
            <a:r>
              <a:rPr sz="800" b="0" i="0">
                <a:solidFill>
                  <a:srgbClr val="555555"/>
                </a:solidFill>
                <a:latin typeface="Calibri"/>
              </a:rPr>
              <a:t>Valeur intrinsèque DCF</a:t>
            </a:r>
          </a:p>
        </p:txBody>
      </p:sp>
      <p:sp>
        <p:nvSpPr>
          <p:cNvPr id="48" name="TextBox 47"/>
          <p:cNvSpPr txBox="1"/>
          <p:nvPr/>
        </p:nvSpPr>
        <p:spPr>
          <a:xfrm>
            <a:off x="4698000" y="4024800"/>
            <a:ext cx="1893600" cy="165600"/>
          </a:xfrm>
          <a:prstGeom prst="rect">
            <a:avLst/>
          </a:prstGeom>
          <a:noFill/>
        </p:spPr>
        <p:txBody>
          <a:bodyPr wrap="square">
            <a:spAutoFit/>
          </a:bodyPr>
          <a:lstStyle/>
          <a:p>
            <a:pPr algn="l"/>
            <a:r>
              <a:rPr sz="700" b="0" i="0">
                <a:solidFill>
                  <a:srgbClr val="888888"/>
                </a:solidFill>
                <a:latin typeface="Calibri"/>
              </a:rPr>
              <a:t>Upside de +14,5 % vs cours</a:t>
            </a:r>
          </a:p>
        </p:txBody>
      </p:sp>
      <p:sp>
        <p:nvSpPr>
          <p:cNvPr id="49" name="Rectangle 48"/>
          <p:cNvSpPr/>
          <p:nvPr/>
        </p:nvSpPr>
        <p:spPr>
          <a:xfrm>
            <a:off x="67284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7284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818400" y="3430800"/>
            <a:ext cx="1893600" cy="396000"/>
          </a:xfrm>
          <a:prstGeom prst="rect">
            <a:avLst/>
          </a:prstGeom>
          <a:noFill/>
        </p:spPr>
        <p:txBody>
          <a:bodyPr wrap="square">
            <a:spAutoFit/>
          </a:bodyPr>
          <a:lstStyle/>
          <a:p>
            <a:pPr algn="l"/>
            <a:r>
              <a:rPr sz="1900" b="1" i="0">
                <a:solidFill>
                  <a:srgbClr val="1B3A6B"/>
                </a:solidFill>
                <a:latin typeface="Calibri"/>
              </a:rPr>
              <a:t>-0,077</a:t>
            </a:r>
          </a:p>
        </p:txBody>
      </p:sp>
      <p:sp>
        <p:nvSpPr>
          <p:cNvPr id="52" name="TextBox 51"/>
          <p:cNvSpPr txBox="1"/>
          <p:nvPr/>
        </p:nvSpPr>
        <p:spPr>
          <a:xfrm>
            <a:off x="6818400" y="3826800"/>
            <a:ext cx="1893600" cy="205199"/>
          </a:xfrm>
          <a:prstGeom prst="rect">
            <a:avLst/>
          </a:prstGeom>
          <a:noFill/>
        </p:spPr>
        <p:txBody>
          <a:bodyPr wrap="square">
            <a:spAutoFit/>
          </a:bodyPr>
          <a:lstStyle/>
          <a:p>
            <a:pPr algn="l"/>
            <a:r>
              <a:rPr sz="800" b="0" i="0">
                <a:solidFill>
                  <a:srgbClr val="555555"/>
                </a:solidFill>
                <a:latin typeface="Calibri"/>
              </a:rPr>
              <a:t>Sentiment FinBERT</a:t>
            </a:r>
          </a:p>
        </p:txBody>
      </p:sp>
      <p:sp>
        <p:nvSpPr>
          <p:cNvPr id="53" name="TextBox 52"/>
          <p:cNvSpPr txBox="1"/>
          <p:nvPr/>
        </p:nvSpPr>
        <p:spPr>
          <a:xfrm>
            <a:off x="6818400" y="4024800"/>
            <a:ext cx="1893600" cy="165600"/>
          </a:xfrm>
          <a:prstGeom prst="rect">
            <a:avLst/>
          </a:prstGeom>
          <a:noFill/>
        </p:spPr>
        <p:txBody>
          <a:bodyPr wrap="square">
            <a:spAutoFit/>
          </a:bodyPr>
          <a:lstStyle/>
          <a:p>
            <a:pPr algn="l"/>
            <a:r>
              <a:rPr sz="700" b="0" i="0">
                <a:solidFill>
                  <a:srgbClr val="888888"/>
                </a:solidFill>
                <a:latin typeface="Calibri"/>
              </a:rPr>
              <a:t>Neutre  ·  30 articles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Sommaire</a:t>
            </a:r>
          </a:p>
        </p:txBody>
      </p:sp>
      <p:sp>
        <p:nvSpPr>
          <p:cNvPr id="6" name="Rectangle 5"/>
          <p:cNvSpPr/>
          <p:nvPr/>
        </p:nvSpPr>
        <p:spPr>
          <a:xfrm>
            <a:off x="367200" y="8964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8964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950400"/>
            <a:ext cx="475200" cy="514800"/>
          </a:xfrm>
          <a:prstGeom prst="rect">
            <a:avLst/>
          </a:prstGeom>
          <a:noFill/>
        </p:spPr>
        <p:txBody>
          <a:bodyPr wrap="square">
            <a:spAutoFit/>
          </a:bodyPr>
          <a:lstStyle/>
          <a:p>
            <a:pPr algn="l"/>
            <a:r>
              <a:rPr sz="1700" b="1" i="0">
                <a:solidFill>
                  <a:srgbClr val="888888"/>
                </a:solidFill>
                <a:latin typeface="Calibri"/>
              </a:rPr>
              <a:t>01</a:t>
            </a:r>
          </a:p>
        </p:txBody>
      </p:sp>
      <p:sp>
        <p:nvSpPr>
          <p:cNvPr id="9" name="TextBox 8"/>
          <p:cNvSpPr txBox="1"/>
          <p:nvPr/>
        </p:nvSpPr>
        <p:spPr>
          <a:xfrm>
            <a:off x="1152000" y="968400"/>
            <a:ext cx="6120000" cy="255600"/>
          </a:xfrm>
          <a:prstGeom prst="rect">
            <a:avLst/>
          </a:prstGeom>
          <a:noFill/>
        </p:spPr>
        <p:txBody>
          <a:bodyPr wrap="square">
            <a:spAutoFit/>
          </a:bodyPr>
          <a:lstStyle/>
          <a:p>
            <a:pPr algn="l"/>
            <a:r>
              <a:rPr sz="1300" b="1" i="0">
                <a:solidFill>
                  <a:srgbClr val="1B3A6B"/>
                </a:solidFill>
                <a:latin typeface="Calibri"/>
              </a:rPr>
              <a:t>Company Overview</a:t>
            </a:r>
          </a:p>
        </p:txBody>
      </p:sp>
      <p:sp>
        <p:nvSpPr>
          <p:cNvPr id="10" name="TextBox 9"/>
          <p:cNvSpPr txBox="1"/>
          <p:nvPr/>
        </p:nvSpPr>
        <p:spPr>
          <a:xfrm>
            <a:off x="1152000" y="1202400"/>
            <a:ext cx="6120000" cy="255600"/>
          </a:xfrm>
          <a:prstGeom prst="rect">
            <a:avLst/>
          </a:prstGeom>
          <a:noFill/>
        </p:spPr>
        <p:txBody>
          <a:bodyPr wrap="square">
            <a:spAutoFit/>
          </a:bodyPr>
          <a:lstStyle/>
          <a:p>
            <a:pPr algn="l"/>
            <a:r>
              <a:rPr sz="850" b="0" i="0">
                <a:solidFill>
                  <a:srgbClr val="555555"/>
                </a:solidFill>
                <a:latin typeface="Calibri"/>
              </a:rPr>
              <a:t>Apple Inc.  ·  Technology</a:t>
            </a:r>
          </a:p>
        </p:txBody>
      </p:sp>
      <p:sp>
        <p:nvSpPr>
          <p:cNvPr id="11" name="TextBox 10"/>
          <p:cNvSpPr txBox="1"/>
          <p:nvPr/>
        </p:nvSpPr>
        <p:spPr>
          <a:xfrm>
            <a:off x="7405200" y="1058400"/>
            <a:ext cx="1375200" cy="255600"/>
          </a:xfrm>
          <a:prstGeom prst="rect">
            <a:avLst/>
          </a:prstGeom>
          <a:noFill/>
        </p:spPr>
        <p:txBody>
          <a:bodyPr wrap="square">
            <a:spAutoFit/>
          </a:bodyPr>
          <a:lstStyle/>
          <a:p>
            <a:pPr algn="r"/>
            <a:r>
              <a:rPr sz="900" b="0" i="0">
                <a:solidFill>
                  <a:srgbClr val="2E5FA3"/>
                </a:solidFill>
                <a:latin typeface="Calibri"/>
              </a:rPr>
              <a:t>3–5</a:t>
            </a:r>
          </a:p>
        </p:txBody>
      </p:sp>
      <p:sp>
        <p:nvSpPr>
          <p:cNvPr id="12" name="Rectangle 11"/>
          <p:cNvSpPr/>
          <p:nvPr/>
        </p:nvSpPr>
        <p:spPr>
          <a:xfrm>
            <a:off x="367200" y="15912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7200" y="15912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3999" y="1645200"/>
            <a:ext cx="475200" cy="514800"/>
          </a:xfrm>
          <a:prstGeom prst="rect">
            <a:avLst/>
          </a:prstGeom>
          <a:noFill/>
        </p:spPr>
        <p:txBody>
          <a:bodyPr wrap="square">
            <a:spAutoFit/>
          </a:bodyPr>
          <a:lstStyle/>
          <a:p>
            <a:pPr algn="l"/>
            <a:r>
              <a:rPr sz="1700" b="1" i="0">
                <a:solidFill>
                  <a:srgbClr val="888888"/>
                </a:solidFill>
                <a:latin typeface="Calibri"/>
              </a:rPr>
              <a:t>02</a:t>
            </a:r>
          </a:p>
        </p:txBody>
      </p:sp>
      <p:sp>
        <p:nvSpPr>
          <p:cNvPr id="15" name="TextBox 14"/>
          <p:cNvSpPr txBox="1"/>
          <p:nvPr/>
        </p:nvSpPr>
        <p:spPr>
          <a:xfrm>
            <a:off x="1152000" y="1663200"/>
            <a:ext cx="6120000" cy="255600"/>
          </a:xfrm>
          <a:prstGeom prst="rect">
            <a:avLst/>
          </a:prstGeom>
          <a:noFill/>
        </p:spPr>
        <p:txBody>
          <a:bodyPr wrap="square">
            <a:spAutoFit/>
          </a:bodyPr>
          <a:lstStyle/>
          <a:p>
            <a:pPr algn="l"/>
            <a:r>
              <a:rPr sz="1300" b="1" i="0">
                <a:solidFill>
                  <a:srgbClr val="1B3A6B"/>
                </a:solidFill>
                <a:latin typeface="Calibri"/>
              </a:rPr>
              <a:t>Analyse Financière</a:t>
            </a:r>
          </a:p>
        </p:txBody>
      </p:sp>
      <p:sp>
        <p:nvSpPr>
          <p:cNvPr id="16" name="TextBox 15"/>
          <p:cNvSpPr txBox="1"/>
          <p:nvPr/>
        </p:nvSpPr>
        <p:spPr>
          <a:xfrm>
            <a:off x="1152000" y="1897199"/>
            <a:ext cx="6120000" cy="255600"/>
          </a:xfrm>
          <a:prstGeom prst="rect">
            <a:avLst/>
          </a:prstGeom>
          <a:noFill/>
        </p:spPr>
        <p:txBody>
          <a:bodyPr wrap="square">
            <a:spAutoFit/>
          </a:bodyPr>
          <a:lstStyle/>
          <a:p>
            <a:pPr algn="l"/>
            <a:r>
              <a:rPr sz="850" b="0" i="0">
                <a:solidFill>
                  <a:srgbClr val="555555"/>
                </a:solidFill>
                <a:latin typeface="Calibri"/>
              </a:rPr>
              <a:t>Compte de résultat, bilan &amp; liquidité, ratios</a:t>
            </a:r>
          </a:p>
        </p:txBody>
      </p:sp>
      <p:sp>
        <p:nvSpPr>
          <p:cNvPr id="17" name="TextBox 16"/>
          <p:cNvSpPr txBox="1"/>
          <p:nvPr/>
        </p:nvSpPr>
        <p:spPr>
          <a:xfrm>
            <a:off x="7405200" y="1753200"/>
            <a:ext cx="1375200" cy="255600"/>
          </a:xfrm>
          <a:prstGeom prst="rect">
            <a:avLst/>
          </a:prstGeom>
          <a:noFill/>
        </p:spPr>
        <p:txBody>
          <a:bodyPr wrap="square">
            <a:spAutoFit/>
          </a:bodyPr>
          <a:lstStyle/>
          <a:p>
            <a:pPr algn="r"/>
            <a:r>
              <a:rPr sz="900" b="0" i="0">
                <a:solidFill>
                  <a:srgbClr val="2E5FA3"/>
                </a:solidFill>
                <a:latin typeface="Calibri"/>
              </a:rPr>
              <a:t>6–8</a:t>
            </a:r>
          </a:p>
        </p:txBody>
      </p:sp>
      <p:sp>
        <p:nvSpPr>
          <p:cNvPr id="18" name="Rectangle 17"/>
          <p:cNvSpPr/>
          <p:nvPr/>
        </p:nvSpPr>
        <p:spPr>
          <a:xfrm>
            <a:off x="367200" y="22860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22860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3999" y="2340000"/>
            <a:ext cx="475200" cy="514800"/>
          </a:xfrm>
          <a:prstGeom prst="rect">
            <a:avLst/>
          </a:prstGeom>
          <a:noFill/>
        </p:spPr>
        <p:txBody>
          <a:bodyPr wrap="square">
            <a:spAutoFit/>
          </a:bodyPr>
          <a:lstStyle/>
          <a:p>
            <a:pPr algn="l"/>
            <a:r>
              <a:rPr sz="1700" b="1" i="0">
                <a:solidFill>
                  <a:srgbClr val="888888"/>
                </a:solidFill>
                <a:latin typeface="Calibri"/>
              </a:rPr>
              <a:t>03</a:t>
            </a:r>
          </a:p>
        </p:txBody>
      </p:sp>
      <p:sp>
        <p:nvSpPr>
          <p:cNvPr id="21" name="TextBox 20"/>
          <p:cNvSpPr txBox="1"/>
          <p:nvPr/>
        </p:nvSpPr>
        <p:spPr>
          <a:xfrm>
            <a:off x="1152000" y="2358000"/>
            <a:ext cx="6120000" cy="255600"/>
          </a:xfrm>
          <a:prstGeom prst="rect">
            <a:avLst/>
          </a:prstGeom>
          <a:noFill/>
        </p:spPr>
        <p:txBody>
          <a:bodyPr wrap="square">
            <a:spAutoFit/>
          </a:bodyPr>
          <a:lstStyle/>
          <a:p>
            <a:pPr algn="l"/>
            <a:r>
              <a:rPr sz="1300" b="1" i="0">
                <a:solidFill>
                  <a:srgbClr val="1B3A6B"/>
                </a:solidFill>
                <a:latin typeface="Calibri"/>
              </a:rPr>
              <a:t>Valorisation</a:t>
            </a:r>
          </a:p>
        </p:txBody>
      </p:sp>
      <p:sp>
        <p:nvSpPr>
          <p:cNvPr id="22" name="TextBox 21"/>
          <p:cNvSpPr txBox="1"/>
          <p:nvPr/>
        </p:nvSpPr>
        <p:spPr>
          <a:xfrm>
            <a:off x="1152000" y="2591999"/>
            <a:ext cx="6120000" cy="255600"/>
          </a:xfrm>
          <a:prstGeom prst="rect">
            <a:avLst/>
          </a:prstGeom>
          <a:noFill/>
        </p:spPr>
        <p:txBody>
          <a:bodyPr wrap="square">
            <a:spAutoFit/>
          </a:bodyPr>
          <a:lstStyle/>
          <a:p>
            <a:pPr algn="l"/>
            <a:r>
              <a:rPr sz="850" b="0" i="0">
                <a:solidFill>
                  <a:srgbClr val="555555"/>
                </a:solidFill>
                <a:latin typeface="Calibri"/>
              </a:rPr>
              <a:t>DCF, comparable peers, Football Field</a:t>
            </a:r>
          </a:p>
        </p:txBody>
      </p:sp>
      <p:sp>
        <p:nvSpPr>
          <p:cNvPr id="23" name="TextBox 22"/>
          <p:cNvSpPr txBox="1"/>
          <p:nvPr/>
        </p:nvSpPr>
        <p:spPr>
          <a:xfrm>
            <a:off x="7405200" y="2448000"/>
            <a:ext cx="1375200" cy="255600"/>
          </a:xfrm>
          <a:prstGeom prst="rect">
            <a:avLst/>
          </a:prstGeom>
          <a:noFill/>
        </p:spPr>
        <p:txBody>
          <a:bodyPr wrap="square">
            <a:spAutoFit/>
          </a:bodyPr>
          <a:lstStyle/>
          <a:p>
            <a:pPr algn="r"/>
            <a:r>
              <a:rPr sz="900" b="0" i="0">
                <a:solidFill>
                  <a:srgbClr val="2E5FA3"/>
                </a:solidFill>
                <a:latin typeface="Calibri"/>
              </a:rPr>
              <a:t>9–11</a:t>
            </a:r>
          </a:p>
        </p:txBody>
      </p:sp>
      <p:sp>
        <p:nvSpPr>
          <p:cNvPr id="24" name="Rectangle 23"/>
          <p:cNvSpPr/>
          <p:nvPr/>
        </p:nvSpPr>
        <p:spPr>
          <a:xfrm>
            <a:off x="367200" y="29808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7200" y="29808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3034800"/>
            <a:ext cx="475200" cy="514800"/>
          </a:xfrm>
          <a:prstGeom prst="rect">
            <a:avLst/>
          </a:prstGeom>
          <a:noFill/>
        </p:spPr>
        <p:txBody>
          <a:bodyPr wrap="square">
            <a:spAutoFit/>
          </a:bodyPr>
          <a:lstStyle/>
          <a:p>
            <a:pPr algn="l"/>
            <a:r>
              <a:rPr sz="1700" b="1" i="0">
                <a:solidFill>
                  <a:srgbClr val="888888"/>
                </a:solidFill>
                <a:latin typeface="Calibri"/>
              </a:rPr>
              <a:t>04</a:t>
            </a:r>
          </a:p>
        </p:txBody>
      </p:sp>
      <p:sp>
        <p:nvSpPr>
          <p:cNvPr id="27" name="TextBox 26"/>
          <p:cNvSpPr txBox="1"/>
          <p:nvPr/>
        </p:nvSpPr>
        <p:spPr>
          <a:xfrm>
            <a:off x="1152000" y="3052799"/>
            <a:ext cx="6120000" cy="255600"/>
          </a:xfrm>
          <a:prstGeom prst="rect">
            <a:avLst/>
          </a:prstGeom>
          <a:noFill/>
        </p:spPr>
        <p:txBody>
          <a:bodyPr wrap="square">
            <a:spAutoFit/>
          </a:bodyPr>
          <a:lstStyle/>
          <a:p>
            <a:pPr algn="l"/>
            <a:r>
              <a:rPr sz="1300" b="1" i="0">
                <a:solidFill>
                  <a:srgbClr val="1B3A6B"/>
                </a:solidFill>
                <a:latin typeface="Calibri"/>
              </a:rPr>
              <a:t>Risques &amp; Stratégie</a:t>
            </a:r>
          </a:p>
        </p:txBody>
      </p:sp>
      <p:sp>
        <p:nvSpPr>
          <p:cNvPr id="28" name="TextBox 27"/>
          <p:cNvSpPr txBox="1"/>
          <p:nvPr/>
        </p:nvSpPr>
        <p:spPr>
          <a:xfrm>
            <a:off x="1152000" y="3286799"/>
            <a:ext cx="6120000" cy="255600"/>
          </a:xfrm>
          <a:prstGeom prst="rect">
            <a:avLst/>
          </a:prstGeom>
          <a:noFill/>
        </p:spPr>
        <p:txBody>
          <a:bodyPr wrap="square">
            <a:spAutoFit/>
          </a:bodyPr>
          <a:lstStyle/>
          <a:p>
            <a:pPr algn="l"/>
            <a:r>
              <a:rPr sz="850" b="0" i="0">
                <a:solidFill>
                  <a:srgbClr val="555555"/>
                </a:solidFill>
                <a:latin typeface="Calibri"/>
              </a:rPr>
              <a:t>Dépendance iPhone  ·  Régulation services</a:t>
            </a:r>
          </a:p>
        </p:txBody>
      </p:sp>
      <p:sp>
        <p:nvSpPr>
          <p:cNvPr id="29" name="TextBox 28"/>
          <p:cNvSpPr txBox="1"/>
          <p:nvPr/>
        </p:nvSpPr>
        <p:spPr>
          <a:xfrm>
            <a:off x="7405200" y="3142799"/>
            <a:ext cx="1375200" cy="255600"/>
          </a:xfrm>
          <a:prstGeom prst="rect">
            <a:avLst/>
          </a:prstGeom>
          <a:noFill/>
        </p:spPr>
        <p:txBody>
          <a:bodyPr wrap="square">
            <a:spAutoFit/>
          </a:bodyPr>
          <a:lstStyle/>
          <a:p>
            <a:pPr algn="r"/>
            <a:r>
              <a:rPr sz="900" b="0" i="0">
                <a:solidFill>
                  <a:srgbClr val="2E5FA3"/>
                </a:solidFill>
                <a:latin typeface="Calibri"/>
              </a:rPr>
              <a:t>12–13</a:t>
            </a:r>
          </a:p>
        </p:txBody>
      </p:sp>
      <p:sp>
        <p:nvSpPr>
          <p:cNvPr id="30" name="Rectangle 29"/>
          <p:cNvSpPr/>
          <p:nvPr/>
        </p:nvSpPr>
        <p:spPr>
          <a:xfrm>
            <a:off x="367200" y="36756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7200" y="36756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3729600"/>
            <a:ext cx="475200" cy="514800"/>
          </a:xfrm>
          <a:prstGeom prst="rect">
            <a:avLst/>
          </a:prstGeom>
          <a:noFill/>
        </p:spPr>
        <p:txBody>
          <a:bodyPr wrap="square">
            <a:spAutoFit/>
          </a:bodyPr>
          <a:lstStyle/>
          <a:p>
            <a:pPr algn="l"/>
            <a:r>
              <a:rPr sz="1700" b="1" i="0">
                <a:solidFill>
                  <a:srgbClr val="888888"/>
                </a:solidFill>
                <a:latin typeface="Calibri"/>
              </a:rPr>
              <a:t>05</a:t>
            </a:r>
          </a:p>
        </p:txBody>
      </p:sp>
      <p:sp>
        <p:nvSpPr>
          <p:cNvPr id="33" name="TextBox 32"/>
          <p:cNvSpPr txBox="1"/>
          <p:nvPr/>
        </p:nvSpPr>
        <p:spPr>
          <a:xfrm>
            <a:off x="1152000" y="3747600"/>
            <a:ext cx="6120000" cy="255600"/>
          </a:xfrm>
          <a:prstGeom prst="rect">
            <a:avLst/>
          </a:prstGeom>
          <a:noFill/>
        </p:spPr>
        <p:txBody>
          <a:bodyPr wrap="square">
            <a:spAutoFit/>
          </a:bodyPr>
          <a:lstStyle/>
          <a:p>
            <a:pPr algn="l"/>
            <a:r>
              <a:rPr sz="1300" b="1" i="0">
                <a:solidFill>
                  <a:srgbClr val="1B3A6B"/>
                </a:solidFill>
                <a:latin typeface="Calibri"/>
              </a:rPr>
              <a:t>Sentiment &amp; Annexes</a:t>
            </a:r>
          </a:p>
        </p:txBody>
      </p:sp>
      <p:sp>
        <p:nvSpPr>
          <p:cNvPr id="34" name="TextBox 33"/>
          <p:cNvSpPr txBox="1"/>
          <p:nvPr/>
        </p:nvSpPr>
        <p:spPr>
          <a:xfrm>
            <a:off x="1152000" y="3981600"/>
            <a:ext cx="6120000" cy="255600"/>
          </a:xfrm>
          <a:prstGeom prst="rect">
            <a:avLst/>
          </a:prstGeom>
          <a:noFill/>
        </p:spPr>
        <p:txBody>
          <a:bodyPr wrap="square">
            <a:spAutoFit/>
          </a:bodyPr>
          <a:lstStyle/>
          <a:p>
            <a:pPr algn="l"/>
            <a:r>
              <a:rPr sz="850" b="0" i="0">
                <a:solidFill>
                  <a:srgbClr val="555555"/>
                </a:solidFill>
                <a:latin typeface="Calibri"/>
              </a:rPr>
              <a:t>FinBERT, actionnariat &amp; historique de cours</a:t>
            </a:r>
          </a:p>
        </p:txBody>
      </p:sp>
      <p:sp>
        <p:nvSpPr>
          <p:cNvPr id="35" name="TextBox 34"/>
          <p:cNvSpPr txBox="1"/>
          <p:nvPr/>
        </p:nvSpPr>
        <p:spPr>
          <a:xfrm>
            <a:off x="7405200" y="3837600"/>
            <a:ext cx="1375200" cy="255600"/>
          </a:xfrm>
          <a:prstGeom prst="rect">
            <a:avLst/>
          </a:prstGeom>
          <a:noFill/>
        </p:spPr>
        <p:txBody>
          <a:bodyPr wrap="square">
            <a:spAutoFit/>
          </a:bodyPr>
          <a:lstStyle/>
          <a:p>
            <a:pPr algn="r"/>
            <a:r>
              <a:rPr sz="900" b="0" i="0">
                <a:solidFill>
                  <a:srgbClr val="2E5FA3"/>
                </a:solidFill>
                <a:latin typeface="Calibri"/>
              </a:rPr>
              <a:t>14–15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01</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Company Overview</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Présentation, modèle économique &amp; données de marché</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Company Overview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Apple Inc.  ·  Présentation &amp; Positionnement stratégique</a:t>
            </a:r>
          </a:p>
        </p:txBody>
      </p:sp>
      <p:sp>
        <p:nvSpPr>
          <p:cNvPr id="17" name="Rectangle 16"/>
          <p:cNvSpPr/>
          <p:nvPr/>
        </p:nvSpPr>
        <p:spPr>
          <a:xfrm>
            <a:off x="367200" y="961200"/>
            <a:ext cx="4939200"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3520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1022400"/>
            <a:ext cx="4662000" cy="1440000"/>
          </a:xfrm>
          <a:prstGeom prst="rect">
            <a:avLst/>
          </a:prstGeom>
          <a:noFill/>
        </p:spPr>
        <p:txBody>
          <a:bodyPr wrap="square">
            <a:spAutoFit/>
          </a:bodyPr>
          <a:lstStyle/>
          <a:p>
            <a:pPr algn="l"/>
            <a:r>
              <a:rPr sz="850" b="0" i="0">
                <a:solidFill>
                  <a:srgbClr val="0D0D0D"/>
                </a:solidFill>
                <a:latin typeface="Calibri"/>
              </a:rPr>
              <a:t>Apple conçoit et commercialise des produits technologiques premium (iPhone, Mac, iPad, services) avec un écosystème intégré et une fidélisation client élevée. Positionné en haut de gamme, l'entreprise capitalise sur l'innovation, la marque forte et un modèle de services récurrents à marge élevée. Son avantage concurrentiel repose sur la synergie hardware-software, la propriété intellectuelle et une logistique mondiale optimisée. L'entreprise articule son activité autour de deux segments stratégiques :</a:t>
            </a:r>
          </a:p>
        </p:txBody>
      </p:sp>
      <p:sp>
        <p:nvSpPr>
          <p:cNvPr id="20" name="Rectangle 19"/>
          <p:cNvSpPr/>
          <p:nvPr/>
        </p:nvSpPr>
        <p:spPr>
          <a:xfrm>
            <a:off x="503999" y="2599200"/>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9200" y="2556000"/>
            <a:ext cx="4338000" cy="165600"/>
          </a:xfrm>
          <a:prstGeom prst="rect">
            <a:avLst/>
          </a:prstGeom>
          <a:noFill/>
        </p:spPr>
        <p:txBody>
          <a:bodyPr wrap="square">
            <a:spAutoFit/>
          </a:bodyPr>
          <a:lstStyle/>
          <a:p>
            <a:pPr algn="l"/>
            <a:r>
              <a:rPr sz="850" b="1" i="0">
                <a:solidFill>
                  <a:srgbClr val="0D0D0D"/>
                </a:solidFill>
                <a:latin typeface="Calibri"/>
              </a:rPr>
              <a:t>Produits</a:t>
            </a:r>
          </a:p>
        </p:txBody>
      </p:sp>
      <p:sp>
        <p:nvSpPr>
          <p:cNvPr id="22" name="TextBox 21"/>
          <p:cNvSpPr txBox="1"/>
          <p:nvPr/>
        </p:nvSpPr>
        <p:spPr>
          <a:xfrm>
            <a:off x="619200" y="2714400"/>
            <a:ext cx="4338000" cy="503999"/>
          </a:xfrm>
          <a:prstGeom prst="rect">
            <a:avLst/>
          </a:prstGeom>
          <a:noFill/>
        </p:spPr>
        <p:txBody>
          <a:bodyPr wrap="square">
            <a:spAutoFit/>
          </a:bodyPr>
          <a:lstStyle/>
          <a:p>
            <a:pPr algn="l"/>
            <a:r>
              <a:rPr sz="750" b="0" i="1">
                <a:solidFill>
                  <a:srgbClr val="555555"/>
                </a:solidFill>
                <a:latin typeface="Calibri"/>
              </a:rPr>
              <a:t>Segment phare avec l'iPhone (50% du CA 2025), Mac, iPad et wearables, générant des revenus via ventes unitaires et mises à jour logicielles. Cible les consommateurs premium et les entreprises avec des cycles de renouvellement courts. Croissance tirée par l'innovation (ex: puces M-series) et l'expansion géographique en Asie.</a:t>
            </a:r>
          </a:p>
        </p:txBody>
      </p:sp>
      <p:sp>
        <p:nvSpPr>
          <p:cNvPr id="23" name="Rectangle 22"/>
          <p:cNvSpPr/>
          <p:nvPr/>
        </p:nvSpPr>
        <p:spPr>
          <a:xfrm>
            <a:off x="503999" y="3301199"/>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9200" y="3257999"/>
            <a:ext cx="4338000" cy="165600"/>
          </a:xfrm>
          <a:prstGeom prst="rect">
            <a:avLst/>
          </a:prstGeom>
          <a:noFill/>
        </p:spPr>
        <p:txBody>
          <a:bodyPr wrap="square">
            <a:spAutoFit/>
          </a:bodyPr>
          <a:lstStyle/>
          <a:p>
            <a:pPr algn="l"/>
            <a:r>
              <a:rPr sz="850" b="1" i="0">
                <a:solidFill>
                  <a:srgbClr val="0D0D0D"/>
                </a:solidFill>
                <a:latin typeface="Calibri"/>
              </a:rPr>
              <a:t>Services</a:t>
            </a:r>
          </a:p>
        </p:txBody>
      </p:sp>
      <p:sp>
        <p:nvSpPr>
          <p:cNvPr id="25" name="TextBox 24"/>
          <p:cNvSpPr txBox="1"/>
          <p:nvPr/>
        </p:nvSpPr>
        <p:spPr>
          <a:xfrm>
            <a:off x="619200" y="3416399"/>
            <a:ext cx="4338000" cy="503999"/>
          </a:xfrm>
          <a:prstGeom prst="rect">
            <a:avLst/>
          </a:prstGeom>
          <a:noFill/>
        </p:spPr>
        <p:txBody>
          <a:bodyPr wrap="square">
            <a:spAutoFit/>
          </a:bodyPr>
          <a:lstStyle/>
          <a:p>
            <a:pPr algn="l"/>
            <a:r>
              <a:rPr sz="750" b="0" i="1">
                <a:solidFill>
                  <a:srgbClr val="555555"/>
                </a:solidFill>
                <a:latin typeface="Calibri"/>
              </a:rPr>
              <a:t>Segment à forte rentabilité (EBITDA margin 70%) incluant App Store, Apple Music, iCloud et Apple Pay. Modèle d'abonnement avec revenus récurrents (CA 2025: 85Mds$). Cible les 1.5Md d'utilisateurs actifs avec des services personnalisés et une monétisation croissante. Croissance soutenue par l'augmentation de l'ARPU et l'expansion internationale.</a:t>
            </a:r>
          </a:p>
        </p:txBody>
      </p:sp>
      <p:sp>
        <p:nvSpPr>
          <p:cNvPr id="26" name="Rectangle 25"/>
          <p:cNvSpPr/>
          <p:nvPr/>
        </p:nvSpPr>
        <p:spPr>
          <a:xfrm>
            <a:off x="5558400" y="961200"/>
            <a:ext cx="32004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58400" y="9612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48400" y="1015200"/>
            <a:ext cx="3063600" cy="396000"/>
          </a:xfrm>
          <a:prstGeom prst="rect">
            <a:avLst/>
          </a:prstGeom>
          <a:noFill/>
        </p:spPr>
        <p:txBody>
          <a:bodyPr wrap="square">
            <a:spAutoFit/>
          </a:bodyPr>
          <a:lstStyle/>
          <a:p>
            <a:pPr algn="l"/>
            <a:r>
              <a:rPr sz="1900" b="1" i="0">
                <a:solidFill>
                  <a:srgbClr val="FFFFFF"/>
                </a:solidFill>
                <a:latin typeface="Calibri"/>
              </a:rPr>
              <a:t>3 652,7 Mds$</a:t>
            </a:r>
          </a:p>
        </p:txBody>
      </p:sp>
      <p:sp>
        <p:nvSpPr>
          <p:cNvPr id="29" name="TextBox 28"/>
          <p:cNvSpPr txBox="1"/>
          <p:nvPr/>
        </p:nvSpPr>
        <p:spPr>
          <a:xfrm>
            <a:off x="5648400" y="1411200"/>
            <a:ext cx="3063600" cy="205199"/>
          </a:xfrm>
          <a:prstGeom prst="rect">
            <a:avLst/>
          </a:prstGeom>
          <a:noFill/>
        </p:spPr>
        <p:txBody>
          <a:bodyPr wrap="square">
            <a:spAutoFit/>
          </a:bodyPr>
          <a:lstStyle/>
          <a:p>
            <a:pPr algn="l"/>
            <a:r>
              <a:rPr sz="800" b="0" i="0">
                <a:solidFill>
                  <a:srgbClr val="FFFFFF"/>
                </a:solidFill>
                <a:latin typeface="Calibri"/>
              </a:rPr>
              <a:t>Capitalisation boursière</a:t>
            </a:r>
          </a:p>
        </p:txBody>
      </p:sp>
      <p:sp>
        <p:nvSpPr>
          <p:cNvPr id="30" name="Rectangle 29"/>
          <p:cNvSpPr/>
          <p:nvPr/>
        </p:nvSpPr>
        <p:spPr>
          <a:xfrm>
            <a:off x="5558400" y="18468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58400" y="1846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48400" y="1900800"/>
            <a:ext cx="3063600" cy="396000"/>
          </a:xfrm>
          <a:prstGeom prst="rect">
            <a:avLst/>
          </a:prstGeom>
          <a:noFill/>
        </p:spPr>
        <p:txBody>
          <a:bodyPr wrap="square">
            <a:spAutoFit/>
          </a:bodyPr>
          <a:lstStyle/>
          <a:p>
            <a:pPr algn="l"/>
            <a:r>
              <a:rPr sz="1900" b="1" i="0">
                <a:solidFill>
                  <a:srgbClr val="1B3A6B"/>
                </a:solidFill>
                <a:latin typeface="Calibri"/>
              </a:rPr>
              <a:t>416,2 Mds$</a:t>
            </a:r>
          </a:p>
        </p:txBody>
      </p:sp>
      <p:sp>
        <p:nvSpPr>
          <p:cNvPr id="33" name="TextBox 32"/>
          <p:cNvSpPr txBox="1"/>
          <p:nvPr/>
        </p:nvSpPr>
        <p:spPr>
          <a:xfrm>
            <a:off x="5648400" y="2296800"/>
            <a:ext cx="3063600" cy="205199"/>
          </a:xfrm>
          <a:prstGeom prst="rect">
            <a:avLst/>
          </a:prstGeom>
          <a:noFill/>
        </p:spPr>
        <p:txBody>
          <a:bodyPr wrap="square">
            <a:spAutoFit/>
          </a:bodyPr>
          <a:lstStyle/>
          <a:p>
            <a:pPr algn="l"/>
            <a:r>
              <a:rPr sz="800" b="0" i="0">
                <a:solidFill>
                  <a:srgbClr val="555555"/>
                </a:solidFill>
                <a:latin typeface="Calibri"/>
              </a:rPr>
              <a:t>Chiffre d'affaires (2025)</a:t>
            </a:r>
          </a:p>
        </p:txBody>
      </p:sp>
      <p:sp>
        <p:nvSpPr>
          <p:cNvPr id="34" name="Rectangle 33"/>
          <p:cNvSpPr/>
          <p:nvPr/>
        </p:nvSpPr>
        <p:spPr>
          <a:xfrm>
            <a:off x="5558400" y="27324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58400" y="27324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48400" y="2786400"/>
            <a:ext cx="3063600" cy="396000"/>
          </a:xfrm>
          <a:prstGeom prst="rect">
            <a:avLst/>
          </a:prstGeom>
          <a:noFill/>
        </p:spPr>
        <p:txBody>
          <a:bodyPr wrap="square">
            <a:spAutoFit/>
          </a:bodyPr>
          <a:lstStyle/>
          <a:p>
            <a:pPr algn="l"/>
            <a:r>
              <a:rPr sz="1900" b="1" i="0">
                <a:solidFill>
                  <a:srgbClr val="1B3A6B"/>
                </a:solidFill>
                <a:latin typeface="Calibri"/>
              </a:rPr>
              <a:t>248,80 $</a:t>
            </a:r>
          </a:p>
        </p:txBody>
      </p:sp>
      <p:sp>
        <p:nvSpPr>
          <p:cNvPr id="37" name="TextBox 36"/>
          <p:cNvSpPr txBox="1"/>
          <p:nvPr/>
        </p:nvSpPr>
        <p:spPr>
          <a:xfrm>
            <a:off x="5648400" y="3182400"/>
            <a:ext cx="30636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38" name="Rectangle 37"/>
          <p:cNvSpPr/>
          <p:nvPr/>
        </p:nvSpPr>
        <p:spPr>
          <a:xfrm>
            <a:off x="5558400" y="36216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58400" y="36216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48400" y="3675600"/>
            <a:ext cx="3063600" cy="396000"/>
          </a:xfrm>
          <a:prstGeom prst="rect">
            <a:avLst/>
          </a:prstGeom>
          <a:noFill/>
        </p:spPr>
        <p:txBody>
          <a:bodyPr wrap="square">
            <a:spAutoFit/>
          </a:bodyPr>
          <a:lstStyle/>
          <a:p>
            <a:pPr algn="l"/>
            <a:r>
              <a:rPr sz="1900" b="1" i="0">
                <a:solidFill>
                  <a:srgbClr val="1B3A6B"/>
                </a:solidFill>
                <a:latin typeface="Calibri"/>
              </a:rPr>
              <a:t>25,7x</a:t>
            </a:r>
          </a:p>
        </p:txBody>
      </p:sp>
      <p:sp>
        <p:nvSpPr>
          <p:cNvPr id="41" name="TextBox 40"/>
          <p:cNvSpPr txBox="1"/>
          <p:nvPr/>
        </p:nvSpPr>
        <p:spPr>
          <a:xfrm>
            <a:off x="5648400" y="4071600"/>
            <a:ext cx="3063600" cy="205199"/>
          </a:xfrm>
          <a:prstGeom prst="rect">
            <a:avLst/>
          </a:prstGeom>
          <a:noFill/>
        </p:spPr>
        <p:txBody>
          <a:bodyPr wrap="square">
            <a:spAutoFit/>
          </a:bodyPr>
          <a:lstStyle/>
          <a:p>
            <a:pPr algn="l"/>
            <a:r>
              <a:rPr sz="800" b="0" i="0">
                <a:solidFill>
                  <a:srgbClr val="555555"/>
                </a:solidFill>
                <a:latin typeface="Calibri"/>
              </a:rPr>
              <a:t>EV/EBITDA (LTM)</a:t>
            </a:r>
          </a:p>
        </p:txBody>
      </p:sp>
      <p:sp>
        <p:nvSpPr>
          <p:cNvPr id="42" name="TextBox 41"/>
          <p:cNvSpPr txBox="1"/>
          <p:nvPr/>
        </p:nvSpPr>
        <p:spPr>
          <a:xfrm>
            <a:off x="5648400" y="4269600"/>
            <a:ext cx="3063600" cy="165600"/>
          </a:xfrm>
          <a:prstGeom prst="rect">
            <a:avLst/>
          </a:prstGeom>
          <a:noFill/>
        </p:spPr>
        <p:txBody>
          <a:bodyPr wrap="square">
            <a:spAutoFit/>
          </a:bodyPr>
          <a:lstStyle/>
          <a:p>
            <a:pPr algn="l"/>
            <a:r>
              <a:rPr sz="700" b="0" i="0">
                <a:solidFill>
                  <a:srgbClr val="888888"/>
                </a:solidFill>
                <a:latin typeface="Calibri"/>
              </a:rPr>
              <a:t>P/E : 32,6x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Modèle Économique</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Segments opérationnels et moteurs de croissance</a:t>
            </a:r>
          </a:p>
        </p:txBody>
      </p:sp>
      <p:sp>
        <p:nvSpPr>
          <p:cNvPr id="17" name="Rectangle 16"/>
          <p:cNvSpPr/>
          <p:nvPr/>
        </p:nvSpPr>
        <p:spPr>
          <a:xfrm>
            <a:off x="367200" y="961200"/>
            <a:ext cx="4150800" cy="3520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1508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141200"/>
            <a:ext cx="3970800" cy="640800"/>
          </a:xfrm>
          <a:prstGeom prst="rect">
            <a:avLst/>
          </a:prstGeom>
          <a:noFill/>
        </p:spPr>
        <p:txBody>
          <a:bodyPr wrap="square">
            <a:spAutoFit/>
          </a:bodyPr>
          <a:lstStyle/>
          <a:p>
            <a:pPr algn="l"/>
            <a:r>
              <a:rPr sz="2200" b="1" i="0">
                <a:solidFill>
                  <a:srgbClr val="2E5FA3"/>
                </a:solidFill>
                <a:latin typeface="Calibri"/>
              </a:rPr>
              <a:t>52%</a:t>
            </a:r>
          </a:p>
        </p:txBody>
      </p:sp>
      <p:sp>
        <p:nvSpPr>
          <p:cNvPr id="20" name="TextBox 19"/>
          <p:cNvSpPr txBox="1"/>
          <p:nvPr/>
        </p:nvSpPr>
        <p:spPr>
          <a:xfrm>
            <a:off x="4572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1" name="Rectangle 20"/>
          <p:cNvSpPr/>
          <p:nvPr/>
        </p:nvSpPr>
        <p:spPr>
          <a:xfrm>
            <a:off x="4572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2059200"/>
            <a:ext cx="3970800" cy="255600"/>
          </a:xfrm>
          <a:prstGeom prst="rect">
            <a:avLst/>
          </a:prstGeom>
          <a:noFill/>
        </p:spPr>
        <p:txBody>
          <a:bodyPr wrap="square">
            <a:spAutoFit/>
          </a:bodyPr>
          <a:lstStyle/>
          <a:p>
            <a:pPr algn="l"/>
            <a:r>
              <a:rPr sz="1000" b="1" i="0">
                <a:solidFill>
                  <a:srgbClr val="1B3A6B"/>
                </a:solidFill>
                <a:latin typeface="Calibri"/>
              </a:rPr>
              <a:t>Produits</a:t>
            </a:r>
          </a:p>
        </p:txBody>
      </p:sp>
      <p:sp>
        <p:nvSpPr>
          <p:cNvPr id="23" name="TextBox 22"/>
          <p:cNvSpPr txBox="1"/>
          <p:nvPr/>
        </p:nvSpPr>
        <p:spPr>
          <a:xfrm>
            <a:off x="457200" y="2332800"/>
            <a:ext cx="3970800" cy="2041199"/>
          </a:xfrm>
          <a:prstGeom prst="rect">
            <a:avLst/>
          </a:prstGeom>
          <a:noFill/>
        </p:spPr>
        <p:txBody>
          <a:bodyPr wrap="square">
            <a:spAutoFit/>
          </a:bodyPr>
          <a:lstStyle/>
          <a:p>
            <a:pPr algn="l"/>
            <a:r>
              <a:rPr sz="800" b="0" i="0">
                <a:solidFill>
                  <a:srgbClr val="555555"/>
                </a:solidFill>
                <a:latin typeface="Calibri"/>
              </a:rPr>
              <a:t>Segment phare avec l'iPhone (50% du CA 2025), Mac, iPad et wearables, générant des revenus via ventes unitaires et mises à jour logicielles. Cible les consommateurs premium et les entreprises avec des cycles de renouvellement courts. Croissance tirée par l'innovation (ex: puces M-series) et l'expansion géographique en Asie.</a:t>
            </a:r>
          </a:p>
        </p:txBody>
      </p:sp>
      <p:sp>
        <p:nvSpPr>
          <p:cNvPr id="24" name="Rectangle 23"/>
          <p:cNvSpPr/>
          <p:nvPr/>
        </p:nvSpPr>
        <p:spPr>
          <a:xfrm>
            <a:off x="4626000" y="961200"/>
            <a:ext cx="4150800" cy="35208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626000" y="961200"/>
            <a:ext cx="4150800" cy="5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16000" y="1141200"/>
            <a:ext cx="3970800" cy="640800"/>
          </a:xfrm>
          <a:prstGeom prst="rect">
            <a:avLst/>
          </a:prstGeom>
          <a:noFill/>
        </p:spPr>
        <p:txBody>
          <a:bodyPr wrap="square">
            <a:spAutoFit/>
          </a:bodyPr>
          <a:lstStyle/>
          <a:p>
            <a:pPr algn="l"/>
            <a:r>
              <a:rPr sz="2200" b="1" i="0">
                <a:solidFill>
                  <a:srgbClr val="1A7A4A"/>
                </a:solidFill>
                <a:latin typeface="Calibri"/>
              </a:rPr>
              <a:t>20%</a:t>
            </a:r>
          </a:p>
        </p:txBody>
      </p:sp>
      <p:sp>
        <p:nvSpPr>
          <p:cNvPr id="27" name="TextBox 26"/>
          <p:cNvSpPr txBox="1"/>
          <p:nvPr/>
        </p:nvSpPr>
        <p:spPr>
          <a:xfrm>
            <a:off x="47160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8" name="Rectangle 27"/>
          <p:cNvSpPr/>
          <p:nvPr/>
        </p:nvSpPr>
        <p:spPr>
          <a:xfrm>
            <a:off x="47160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16000" y="2059200"/>
            <a:ext cx="3970800" cy="255600"/>
          </a:xfrm>
          <a:prstGeom prst="rect">
            <a:avLst/>
          </a:prstGeom>
          <a:noFill/>
        </p:spPr>
        <p:txBody>
          <a:bodyPr wrap="square">
            <a:spAutoFit/>
          </a:bodyPr>
          <a:lstStyle/>
          <a:p>
            <a:pPr algn="l"/>
            <a:r>
              <a:rPr sz="1000" b="1" i="0">
                <a:solidFill>
                  <a:srgbClr val="1B3A6B"/>
                </a:solidFill>
                <a:latin typeface="Calibri"/>
              </a:rPr>
              <a:t>Services</a:t>
            </a:r>
          </a:p>
        </p:txBody>
      </p:sp>
      <p:sp>
        <p:nvSpPr>
          <p:cNvPr id="30" name="TextBox 29"/>
          <p:cNvSpPr txBox="1"/>
          <p:nvPr/>
        </p:nvSpPr>
        <p:spPr>
          <a:xfrm>
            <a:off x="4716000" y="2332800"/>
            <a:ext cx="3970800" cy="2041199"/>
          </a:xfrm>
          <a:prstGeom prst="rect">
            <a:avLst/>
          </a:prstGeom>
          <a:noFill/>
        </p:spPr>
        <p:txBody>
          <a:bodyPr wrap="square">
            <a:spAutoFit/>
          </a:bodyPr>
          <a:lstStyle/>
          <a:p>
            <a:pPr algn="l"/>
            <a:r>
              <a:rPr sz="800" b="0" i="0">
                <a:solidFill>
                  <a:srgbClr val="555555"/>
                </a:solidFill>
                <a:latin typeface="Calibri"/>
              </a:rPr>
              <a:t>Segment à forte rentabilité (EBITDA margin 70%) incluant App Store, Apple Music, iCloud et Apple Pay. Modèle d'abonnement avec revenus récurrents (CA 2025: 85Mds$). Cible les 1.5Md d'utilisateurs actifs avec des services personnalisés et une monétisation croissante. Croissance soutenue par l'augmentation de l'ARPU et l'expansion internationale.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02</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Analyse Financière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Compte de résultat, bilan, liquidité &amp; ratios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Financière — Compte de Résultat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USD millions  ·  2021–2027F</a:t>
            </a:r>
          </a:p>
        </p:txBody>
      </p:sp>
      <p:graphicFrame>
        <p:nvGraphicFramePr>
          <p:cNvPr id="17" name="Table 16"/>
          <p:cNvGraphicFramePr>
            <a:graphicFrameLocks noGrp="1"/>
          </p:cNvGraphicFramePr>
          <p:nvPr/>
        </p:nvGraphicFramePr>
        <p:xfrm>
          <a:off x="367200" y="914400"/>
          <a:ext cx="8413196" cy="1980000"/>
        </p:xfrm>
        <a:graphic>
          <a:graphicData uri="http://schemas.openxmlformats.org/drawingml/2006/table">
            <a:tbl>
              <a:tblPr firstRow="1" bandRow="1">
                <a:tableStyleId>{5C22544A-7EE6-4342-B048-85BDC9FD1C3A}</a:tableStyleId>
              </a:tblPr>
              <a:tblGrid>
                <a:gridCol w="2355696"/>
                <a:gridCol w="1211500"/>
                <a:gridCol w="1211500"/>
                <a:gridCol w="1211500"/>
                <a:gridCol w="1211500"/>
                <a:gridCol w="1211500"/>
              </a:tblGrid>
              <a:tr h="220000">
                <a:tc>
                  <a:txBody>
                    <a:bodyPr/>
                    <a:lstStyle/>
                    <a:p>
                      <a:pPr algn="l"/>
                      <a:r>
                        <a:rPr sz="800" b="1" i="0">
                          <a:solidFill>
                            <a:srgbClr val="FFFFFF"/>
                          </a:solidFill>
                          <a:latin typeface="Calibri"/>
                        </a:rPr>
                        <a:t>Indicateur</a:t>
                      </a:r>
                    </a:p>
                  </a:txBody>
                  <a:tcPr>
                    <a:solidFill>
                      <a:srgbClr val="1B3A6B"/>
                    </a:solidFill>
                  </a:tcPr>
                </a:tc>
                <a:tc>
                  <a:txBody>
                    <a:bodyPr/>
                    <a:lstStyle/>
                    <a:p>
                      <a:pPr algn="ctr"/>
                      <a:r>
                        <a:rPr sz="800" b="1" i="0">
                          <a:solidFill>
                            <a:srgbClr val="FFFFFF"/>
                          </a:solidFill>
                          <a:latin typeface="Calibri"/>
                        </a:rPr>
                        <a:t>2023</a:t>
                      </a:r>
                    </a:p>
                  </a:txBody>
                  <a:tcPr>
                    <a:solidFill>
                      <a:srgbClr val="1B3A6B"/>
                    </a:solidFill>
                  </a:tcPr>
                </a:tc>
                <a:tc>
                  <a:txBody>
                    <a:bodyPr/>
                    <a:lstStyle/>
                    <a:p>
                      <a:pPr algn="ctr"/>
                      <a:r>
                        <a:rPr sz="800" b="1" i="0">
                          <a:solidFill>
                            <a:srgbClr val="FFFFFF"/>
                          </a:solidFill>
                          <a:latin typeface="Calibri"/>
                        </a:rPr>
                        <a:t>2024</a:t>
                      </a:r>
                    </a:p>
                  </a:txBody>
                  <a:tcPr>
                    <a:solidFill>
                      <a:srgbClr val="1B3A6B"/>
                    </a:solidFill>
                  </a:tcPr>
                </a:tc>
                <a:tc>
                  <a:txBody>
                    <a:bodyPr/>
                    <a:lstStyle/>
                    <a:p>
                      <a:pPr algn="ctr"/>
                      <a:r>
                        <a:rPr sz="800" b="1" i="0">
                          <a:solidFill>
                            <a:srgbClr val="FFFFFF"/>
                          </a:solidFill>
                          <a:latin typeface="Calibri"/>
                        </a:rPr>
                        <a:t>2025</a:t>
                      </a:r>
                    </a:p>
                  </a:txBody>
                  <a:tcPr>
                    <a:solidFill>
                      <a:srgbClr val="1B3A6B"/>
                    </a:solidFill>
                  </a:tcPr>
                </a:tc>
                <a:tc>
                  <a:txBody>
                    <a:bodyPr/>
                    <a:lstStyle/>
                    <a:p>
                      <a:pPr algn="ctr"/>
                      <a:r>
                        <a:rPr sz="800" b="1" i="0">
                          <a:solidFill>
                            <a:srgbClr val="FFFFFF"/>
                          </a:solidFill>
                          <a:latin typeface="Calibri"/>
                        </a:rPr>
                        <a:t>2026F</a:t>
                      </a:r>
                    </a:p>
                  </a:txBody>
                  <a:tcPr>
                    <a:solidFill>
                      <a:srgbClr val="1B3A6B"/>
                    </a:solidFill>
                  </a:tcPr>
                </a:tc>
                <a:tc>
                  <a:txBody>
                    <a:bodyPr/>
                    <a:lstStyle/>
                    <a:p>
                      <a:pPr algn="ctr"/>
                      <a:r>
                        <a:rPr sz="800" b="1" i="0">
                          <a:solidFill>
                            <a:srgbClr val="FFFFFF"/>
                          </a:solidFill>
                          <a:latin typeface="Calibri"/>
                        </a:rPr>
                        <a:t>2027F</a:t>
                      </a:r>
                    </a:p>
                  </a:txBody>
                  <a:tcPr>
                    <a:solidFill>
                      <a:srgbClr val="1B3A6B"/>
                    </a:solidFill>
                  </a:tcPr>
                </a:tc>
              </a:tr>
              <a:tr h="220000">
                <a:tc>
                  <a:txBody>
                    <a:bodyPr/>
                    <a:lstStyle/>
                    <a:p>
                      <a:pPr algn="l"/>
                      <a:r>
                        <a:rPr sz="800" b="1" i="0">
                          <a:solidFill>
                            <a:srgbClr val="0D0D0D"/>
                          </a:solidFill>
                          <a:latin typeface="Calibri"/>
                        </a:rPr>
                        <a:t>Chiffre d'affaires</a:t>
                      </a:r>
                    </a:p>
                  </a:txBody>
                  <a:tcPr>
                    <a:solidFill>
                      <a:srgbClr val="FFFFFF"/>
                    </a:solidFill>
                  </a:tcPr>
                </a:tc>
                <a:tc>
                  <a:txBody>
                    <a:bodyPr/>
                    <a:lstStyle/>
                    <a:p>
                      <a:pPr algn="ctr"/>
                      <a:r>
                        <a:rPr sz="800" b="1" i="0">
                          <a:solidFill>
                            <a:srgbClr val="0D0D0D"/>
                          </a:solidFill>
                          <a:latin typeface="Calibri"/>
                        </a:rPr>
                        <a:t>383,3</a:t>
                      </a:r>
                    </a:p>
                  </a:txBody>
                  <a:tcPr>
                    <a:solidFill>
                      <a:srgbClr val="FFFFFF"/>
                    </a:solidFill>
                  </a:tcPr>
                </a:tc>
                <a:tc>
                  <a:txBody>
                    <a:bodyPr/>
                    <a:lstStyle/>
                    <a:p>
                      <a:pPr algn="ctr"/>
                      <a:r>
                        <a:rPr sz="800" b="1" i="0">
                          <a:solidFill>
                            <a:srgbClr val="0D0D0D"/>
                          </a:solidFill>
                          <a:latin typeface="Calibri"/>
                        </a:rPr>
                        <a:t>391,0</a:t>
                      </a:r>
                    </a:p>
                  </a:txBody>
                  <a:tcPr>
                    <a:solidFill>
                      <a:srgbClr val="FFFFFF"/>
                    </a:solidFill>
                  </a:tcPr>
                </a:tc>
                <a:tc>
                  <a:txBody>
                    <a:bodyPr/>
                    <a:lstStyle/>
                    <a:p>
                      <a:pPr algn="ctr"/>
                      <a:r>
                        <a:rPr sz="800" b="1" i="0">
                          <a:solidFill>
                            <a:srgbClr val="1B3A6B"/>
                          </a:solidFill>
                          <a:latin typeface="Calibri"/>
                        </a:rPr>
                        <a:t>416,2</a:t>
                      </a:r>
                    </a:p>
                  </a:txBody>
                  <a:tcPr>
                    <a:solidFill>
                      <a:srgbClr val="DDE8F5"/>
                    </a:solidFill>
                  </a:tcPr>
                </a:tc>
                <a:tc>
                  <a:txBody>
                    <a:bodyPr/>
                    <a:lstStyle/>
                    <a:p>
                      <a:pPr algn="ctr"/>
                      <a:r>
                        <a:rPr sz="800" b="1" i="0">
                          <a:solidFill>
                            <a:srgbClr val="0D0D0D"/>
                          </a:solidFill>
                          <a:latin typeface="Calibri"/>
                        </a:rPr>
                        <a:t>445,0</a:t>
                      </a:r>
                    </a:p>
                  </a:txBody>
                  <a:tcPr>
                    <a:solidFill>
                      <a:srgbClr val="FFFFFF"/>
                    </a:solidFill>
                  </a:tcPr>
                </a:tc>
                <a:tc>
                  <a:txBody>
                    <a:bodyPr/>
                    <a:lstStyle/>
                    <a:p>
                      <a:pPr algn="ctr"/>
                      <a:r>
                        <a:rPr sz="800" b="1" i="0">
                          <a:solidFill>
                            <a:srgbClr val="0D0D0D"/>
                          </a:solidFill>
                          <a:latin typeface="Calibri"/>
                        </a:rPr>
                        <a:t>475,0</a:t>
                      </a:r>
                    </a:p>
                  </a:txBody>
                  <a:tcPr>
                    <a:solidFill>
                      <a:srgbClr val="FFFFFF"/>
                    </a:solidFill>
                  </a:tcPr>
                </a:tc>
              </a:tr>
              <a:tr h="220000">
                <a:tc>
                  <a:txBody>
                    <a:bodyPr/>
                    <a:lstStyle/>
                    <a:p>
                      <a:pPr algn="l"/>
                      <a:r>
                        <a:rPr sz="750" b="0" i="1">
                          <a:solidFill>
                            <a:srgbClr val="555555"/>
                          </a:solidFill>
                          <a:latin typeface="Calibri"/>
                        </a:rPr>
                        <a:t>Croissance YoY</a:t>
                      </a:r>
                    </a:p>
                  </a:txBody>
                  <a:tcPr>
                    <a:solidFill>
                      <a:srgbClr val="F7F8FA"/>
                    </a:solidFill>
                  </a:tcPr>
                </a:tc>
                <a:tc>
                  <a:txBody>
                    <a:bodyPr/>
                    <a:lstStyle/>
                    <a:p>
                      <a:pPr algn="ctr"/>
                      <a:r>
                        <a:rPr sz="750" b="0" i="1">
                          <a:solidFill>
                            <a:srgbClr val="555555"/>
                          </a:solidFill>
                          <a:latin typeface="Calibri"/>
                        </a:rPr>
                        <a:t>-2,8 %</a:t>
                      </a:r>
                    </a:p>
                  </a:txBody>
                  <a:tcPr>
                    <a:solidFill>
                      <a:srgbClr val="F7F8FA"/>
                    </a:solidFill>
                  </a:tcPr>
                </a:tc>
                <a:tc>
                  <a:txBody>
                    <a:bodyPr/>
                    <a:lstStyle/>
                    <a:p>
                      <a:pPr algn="ctr"/>
                      <a:r>
                        <a:rPr sz="750" b="0" i="1">
                          <a:solidFill>
                            <a:srgbClr val="555555"/>
                          </a:solidFill>
                          <a:latin typeface="Calibri"/>
                        </a:rPr>
                        <a:t>+2,0 %</a:t>
                      </a:r>
                    </a:p>
                  </a:txBody>
                  <a:tcPr>
                    <a:solidFill>
                      <a:srgbClr val="F7F8FA"/>
                    </a:solidFill>
                  </a:tcPr>
                </a:tc>
                <a:tc>
                  <a:txBody>
                    <a:bodyPr/>
                    <a:lstStyle/>
                    <a:p>
                      <a:pPr algn="ctr"/>
                      <a:r>
                        <a:rPr sz="750" b="0" i="1">
                          <a:solidFill>
                            <a:srgbClr val="555555"/>
                          </a:solidFill>
                          <a:latin typeface="Calibri"/>
                        </a:rPr>
                        <a:t>+6,4 %</a:t>
                      </a:r>
                    </a:p>
                  </a:txBody>
                  <a:tcPr>
                    <a:solidFill>
                      <a:srgbClr val="DDE8F5"/>
                    </a:solidFill>
                  </a:tcPr>
                </a:tc>
                <a:tc>
                  <a:txBody>
                    <a:bodyPr/>
                    <a:lstStyle/>
                    <a:p>
                      <a:pPr algn="ctr"/>
                      <a:r>
                        <a:rPr sz="750" b="0" i="1">
                          <a:solidFill>
                            <a:srgbClr val="555555"/>
                          </a:solidFill>
                          <a:latin typeface="Calibri"/>
                        </a:rPr>
                        <a:t>+7,0 %</a:t>
                      </a:r>
                    </a:p>
                  </a:txBody>
                  <a:tcPr>
                    <a:solidFill>
                      <a:srgbClr val="F7F8FA"/>
                    </a:solidFill>
                  </a:tcPr>
                </a:tc>
                <a:tc>
                  <a:txBody>
                    <a:bodyPr/>
                    <a:lstStyle/>
                    <a:p>
                      <a:pPr algn="ctr"/>
                      <a:r>
                        <a:rPr sz="750" b="0" i="1">
                          <a:solidFill>
                            <a:srgbClr val="555555"/>
                          </a:solidFill>
                          <a:latin typeface="Calibri"/>
                        </a:rPr>
                        <a:t>+6,7 %</a:t>
                      </a:r>
                    </a:p>
                  </a:txBody>
                  <a:tcPr>
                    <a:solidFill>
                      <a:srgbClr val="F7F8FA"/>
                    </a:solidFill>
                  </a:tcPr>
                </a:tc>
              </a:tr>
              <a:tr h="220000">
                <a:tc>
                  <a:txBody>
                    <a:bodyPr/>
                    <a:lstStyle/>
                    <a:p>
                      <a:pPr algn="l"/>
                      <a:r>
                        <a:rPr sz="800" b="1" i="0">
                          <a:solidFill>
                            <a:srgbClr val="0D0D0D"/>
                          </a:solidFill>
                          <a:latin typeface="Calibri"/>
                        </a:rPr>
                        <a:t>Résultat brut</a:t>
                      </a:r>
                    </a:p>
                  </a:txBody>
                  <a:tcPr>
                    <a:solidFill>
                      <a:srgbClr val="FFFFFF"/>
                    </a:solidFill>
                  </a:tcPr>
                </a:tc>
                <a:tc>
                  <a:txBody>
                    <a:bodyPr/>
                    <a:lstStyle/>
                    <a:p>
                      <a:pPr algn="ctr"/>
                      <a:r>
                        <a:rPr sz="800" b="1" i="0">
                          <a:solidFill>
                            <a:srgbClr val="0D0D0D"/>
                          </a:solidFill>
                          <a:latin typeface="Calibri"/>
                        </a:rPr>
                        <a:t>169,1</a:t>
                      </a:r>
                    </a:p>
                  </a:txBody>
                  <a:tcPr>
                    <a:solidFill>
                      <a:srgbClr val="FFFFFF"/>
                    </a:solidFill>
                  </a:tcPr>
                </a:tc>
                <a:tc>
                  <a:txBody>
                    <a:bodyPr/>
                    <a:lstStyle/>
                    <a:p>
                      <a:pPr algn="ctr"/>
                      <a:r>
                        <a:rPr sz="800" b="1" i="0">
                          <a:solidFill>
                            <a:srgbClr val="0D0D0D"/>
                          </a:solidFill>
                          <a:latin typeface="Calibri"/>
                        </a:rPr>
                        <a:t>180,7</a:t>
                      </a:r>
                    </a:p>
                  </a:txBody>
                  <a:tcPr>
                    <a:solidFill>
                      <a:srgbClr val="FFFFFF"/>
                    </a:solidFill>
                  </a:tcPr>
                </a:tc>
                <a:tc>
                  <a:txBody>
                    <a:bodyPr/>
                    <a:lstStyle/>
                    <a:p>
                      <a:pPr algn="ctr"/>
                      <a:r>
                        <a:rPr sz="800" b="1" i="0">
                          <a:solidFill>
                            <a:srgbClr val="1B3A6B"/>
                          </a:solidFill>
                          <a:latin typeface="Calibri"/>
                        </a:rPr>
                        <a:t>195,2</a:t>
                      </a:r>
                    </a:p>
                  </a:txBody>
                  <a:tcPr>
                    <a:solidFill>
                      <a:srgbClr val="DDE8F5"/>
                    </a:solidFill>
                  </a:tcPr>
                </a:tc>
                <a:tc>
                  <a:txBody>
                    <a:bodyPr/>
                    <a:lstStyle/>
                    <a:p>
                      <a:pPr algn="ctr"/>
                      <a:r>
                        <a:rPr sz="800" b="1" i="0">
                          <a:solidFill>
                            <a:srgbClr val="0D0D0D"/>
                          </a:solidFill>
                          <a:latin typeface="Calibri"/>
                        </a:rPr>
                        <a:t>211,4</a:t>
                      </a:r>
                    </a:p>
                  </a:txBody>
                  <a:tcPr>
                    <a:solidFill>
                      <a:srgbClr val="FFFFFF"/>
                    </a:solidFill>
                  </a:tcPr>
                </a:tc>
                <a:tc>
                  <a:txBody>
                    <a:bodyPr/>
                    <a:lstStyle/>
                    <a:p>
                      <a:pPr algn="ctr"/>
                      <a:r>
                        <a:rPr sz="800" b="1" i="0">
                          <a:solidFill>
                            <a:srgbClr val="0D0D0D"/>
                          </a:solidFill>
                          <a:latin typeface="Calibri"/>
                        </a:rPr>
                        <a:t>228,0</a:t>
                      </a:r>
                    </a:p>
                  </a:txBody>
                  <a:tcPr>
                    <a:solidFill>
                      <a:srgbClr val="FFFFFF"/>
                    </a:solidFill>
                  </a:tcPr>
                </a:tc>
              </a:tr>
              <a:tr h="220000">
                <a:tc>
                  <a:txBody>
                    <a:bodyPr/>
                    <a:lstStyle/>
                    <a:p>
                      <a:pPr algn="l"/>
                      <a:r>
                        <a:rPr sz="750" b="0" i="1">
                          <a:solidFill>
                            <a:srgbClr val="555555"/>
                          </a:solidFill>
                          <a:latin typeface="Calibri"/>
                        </a:rPr>
                        <a:t>Marge brute</a:t>
                      </a:r>
                    </a:p>
                  </a:txBody>
                  <a:tcPr>
                    <a:solidFill>
                      <a:srgbClr val="F7F8FA"/>
                    </a:solidFill>
                  </a:tcPr>
                </a:tc>
                <a:tc>
                  <a:txBody>
                    <a:bodyPr/>
                    <a:lstStyle/>
                    <a:p>
                      <a:pPr algn="ctr"/>
                      <a:r>
                        <a:rPr sz="750" b="0" i="1">
                          <a:solidFill>
                            <a:srgbClr val="555555"/>
                          </a:solidFill>
                          <a:latin typeface="Calibri"/>
                        </a:rPr>
                        <a:t>44,1 %</a:t>
                      </a:r>
                    </a:p>
                  </a:txBody>
                  <a:tcPr>
                    <a:solidFill>
                      <a:srgbClr val="F7F8FA"/>
                    </a:solidFill>
                  </a:tcPr>
                </a:tc>
                <a:tc>
                  <a:txBody>
                    <a:bodyPr/>
                    <a:lstStyle/>
                    <a:p>
                      <a:pPr algn="ctr"/>
                      <a:r>
                        <a:rPr sz="750" b="0" i="1">
                          <a:solidFill>
                            <a:srgbClr val="555555"/>
                          </a:solidFill>
                          <a:latin typeface="Calibri"/>
                        </a:rPr>
                        <a:t>46,2 %</a:t>
                      </a:r>
                    </a:p>
                  </a:txBody>
                  <a:tcPr>
                    <a:solidFill>
                      <a:srgbClr val="F7F8FA"/>
                    </a:solidFill>
                  </a:tcPr>
                </a:tc>
                <a:tc>
                  <a:txBody>
                    <a:bodyPr/>
                    <a:lstStyle/>
                    <a:p>
                      <a:pPr algn="ctr"/>
                      <a:r>
                        <a:rPr sz="750" b="0" i="1">
                          <a:solidFill>
                            <a:srgbClr val="555555"/>
                          </a:solidFill>
                          <a:latin typeface="Calibri"/>
                        </a:rPr>
                        <a:t>46,9 %</a:t>
                      </a:r>
                    </a:p>
                  </a:txBody>
                  <a:tcPr>
                    <a:solidFill>
                      <a:srgbClr val="DDE8F5"/>
                    </a:solidFill>
                  </a:tcPr>
                </a:tc>
                <a:tc>
                  <a:txBody>
                    <a:bodyPr/>
                    <a:lstStyle/>
                    <a:p>
                      <a:pPr algn="ctr"/>
                      <a:r>
                        <a:rPr sz="750" b="0" i="1">
                          <a:solidFill>
                            <a:srgbClr val="555555"/>
                          </a:solidFill>
                          <a:latin typeface="Calibri"/>
                        </a:rPr>
                        <a:t>47,5 %</a:t>
                      </a:r>
                    </a:p>
                  </a:txBody>
                  <a:tcPr>
                    <a:solidFill>
                      <a:srgbClr val="F7F8FA"/>
                    </a:solidFill>
                  </a:tcPr>
                </a:tc>
                <a:tc>
                  <a:txBody>
                    <a:bodyPr/>
                    <a:lstStyle/>
                    <a:p>
                      <a:pPr algn="ctr"/>
                      <a:r>
                        <a:rPr sz="750" b="0" i="1">
                          <a:solidFill>
                            <a:srgbClr val="555555"/>
                          </a:solidFill>
                          <a:latin typeface="Calibri"/>
                        </a:rPr>
                        <a:t>48,0 %</a:t>
                      </a:r>
                    </a:p>
                  </a:txBody>
                  <a:tcPr>
                    <a:solidFill>
                      <a:srgbClr val="F7F8FA"/>
                    </a:solidFill>
                  </a:tcPr>
                </a:tc>
              </a:tr>
              <a:tr h="220000">
                <a:tc>
                  <a:txBody>
                    <a:bodyPr/>
                    <a:lstStyle/>
                    <a:p>
                      <a:pPr algn="l"/>
                      <a:r>
                        <a:rPr sz="800" b="1" i="0">
                          <a:solidFill>
                            <a:srgbClr val="0D0D0D"/>
                          </a:solidFill>
                          <a:latin typeface="Calibri"/>
                        </a:rPr>
                        <a:t>EBITDA</a:t>
                      </a:r>
                    </a:p>
                  </a:txBody>
                  <a:tcPr>
                    <a:solidFill>
                      <a:srgbClr val="FFFFFF"/>
                    </a:solidFill>
                  </a:tcPr>
                </a:tc>
                <a:tc>
                  <a:txBody>
                    <a:bodyPr/>
                    <a:lstStyle/>
                    <a:p>
                      <a:pPr algn="ctr"/>
                      <a:r>
                        <a:rPr sz="800" b="1" i="0">
                          <a:solidFill>
                            <a:srgbClr val="0D0D0D"/>
                          </a:solidFill>
                          <a:latin typeface="Calibri"/>
                        </a:rPr>
                        <a:t>125,8</a:t>
                      </a:r>
                    </a:p>
                  </a:txBody>
                  <a:tcPr>
                    <a:solidFill>
                      <a:srgbClr val="FFFFFF"/>
                    </a:solidFill>
                  </a:tcPr>
                </a:tc>
                <a:tc>
                  <a:txBody>
                    <a:bodyPr/>
                    <a:lstStyle/>
                    <a:p>
                      <a:pPr algn="ctr"/>
                      <a:r>
                        <a:rPr sz="800" b="1" i="0">
                          <a:solidFill>
                            <a:srgbClr val="0D0D0D"/>
                          </a:solidFill>
                          <a:latin typeface="Calibri"/>
                        </a:rPr>
                        <a:t>134,7</a:t>
                      </a:r>
                    </a:p>
                  </a:txBody>
                  <a:tcPr>
                    <a:solidFill>
                      <a:srgbClr val="FFFFFF"/>
                    </a:solidFill>
                  </a:tcPr>
                </a:tc>
                <a:tc>
                  <a:txBody>
                    <a:bodyPr/>
                    <a:lstStyle/>
                    <a:p>
                      <a:pPr algn="ctr"/>
                      <a:r>
                        <a:rPr sz="800" b="1" i="0">
                          <a:solidFill>
                            <a:srgbClr val="1B3A6B"/>
                          </a:solidFill>
                          <a:latin typeface="Calibri"/>
                        </a:rPr>
                        <a:t>144,7</a:t>
                      </a:r>
                    </a:p>
                  </a:txBody>
                  <a:tcPr>
                    <a:solidFill>
                      <a:srgbClr val="DDE8F5"/>
                    </a:solidFill>
                  </a:tcPr>
                </a:tc>
                <a:tc>
                  <a:txBody>
                    <a:bodyPr/>
                    <a:lstStyle/>
                    <a:p>
                      <a:pPr algn="ctr"/>
                      <a:r>
                        <a:rPr sz="800" b="1" i="0">
                          <a:solidFill>
                            <a:srgbClr val="0D0D0D"/>
                          </a:solidFill>
                          <a:latin typeface="Calibri"/>
                        </a:rPr>
                        <a:t>160,0</a:t>
                      </a:r>
                    </a:p>
                  </a:txBody>
                  <a:tcPr>
                    <a:solidFill>
                      <a:srgbClr val="FFFFFF"/>
                    </a:solidFill>
                  </a:tcPr>
                </a:tc>
                <a:tc>
                  <a:txBody>
                    <a:bodyPr/>
                    <a:lstStyle/>
                    <a:p>
                      <a:pPr algn="ctr"/>
                      <a:r>
                        <a:rPr sz="800" b="1" i="0">
                          <a:solidFill>
                            <a:srgbClr val="0D0D0D"/>
                          </a:solidFill>
                          <a:latin typeface="Calibri"/>
                        </a:rPr>
                        <a:t>175,0</a:t>
                      </a:r>
                    </a:p>
                  </a:txBody>
                  <a:tcPr>
                    <a:solidFill>
                      <a:srgbClr val="FFFFFF"/>
                    </a:solidFill>
                  </a:tcPr>
                </a:tc>
              </a:tr>
              <a:tr h="220000">
                <a:tc>
                  <a:txBody>
                    <a:bodyPr/>
                    <a:lstStyle/>
                    <a:p>
                      <a:pPr algn="l"/>
                      <a:r>
                        <a:rPr sz="750" b="0" i="1">
                          <a:solidFill>
                            <a:srgbClr val="555555"/>
                          </a:solidFill>
                          <a:latin typeface="Calibri"/>
                        </a:rPr>
                        <a:t>Marge EBITDA</a:t>
                      </a:r>
                    </a:p>
                  </a:txBody>
                  <a:tcPr>
                    <a:solidFill>
                      <a:srgbClr val="F7F8FA"/>
                    </a:solidFill>
                  </a:tcPr>
                </a:tc>
                <a:tc>
                  <a:txBody>
                    <a:bodyPr/>
                    <a:lstStyle/>
                    <a:p>
                      <a:pPr algn="ctr"/>
                      <a:r>
                        <a:rPr sz="750" b="0" i="1">
                          <a:solidFill>
                            <a:srgbClr val="555555"/>
                          </a:solidFill>
                          <a:latin typeface="Calibri"/>
                        </a:rPr>
                        <a:t>32,8 %</a:t>
                      </a:r>
                    </a:p>
                  </a:txBody>
                  <a:tcPr>
                    <a:solidFill>
                      <a:srgbClr val="F7F8FA"/>
                    </a:solidFill>
                  </a:tcPr>
                </a:tc>
                <a:tc>
                  <a:txBody>
                    <a:bodyPr/>
                    <a:lstStyle/>
                    <a:p>
                      <a:pPr algn="ctr"/>
                      <a:r>
                        <a:rPr sz="750" b="0" i="1">
                          <a:solidFill>
                            <a:srgbClr val="555555"/>
                          </a:solidFill>
                          <a:latin typeface="Calibri"/>
                        </a:rPr>
                        <a:t>34,4 %</a:t>
                      </a:r>
                    </a:p>
                  </a:txBody>
                  <a:tcPr>
                    <a:solidFill>
                      <a:srgbClr val="F7F8FA"/>
                    </a:solidFill>
                  </a:tcPr>
                </a:tc>
                <a:tc>
                  <a:txBody>
                    <a:bodyPr/>
                    <a:lstStyle/>
                    <a:p>
                      <a:pPr algn="ctr"/>
                      <a:r>
                        <a:rPr sz="750" b="0" i="1">
                          <a:solidFill>
                            <a:srgbClr val="555555"/>
                          </a:solidFill>
                          <a:latin typeface="Calibri"/>
                        </a:rPr>
                        <a:t>34,8 %</a:t>
                      </a:r>
                    </a:p>
                  </a:txBody>
                  <a:tcPr>
                    <a:solidFill>
                      <a:srgbClr val="DDE8F5"/>
                    </a:solidFill>
                  </a:tcPr>
                </a:tc>
                <a:tc>
                  <a:txBody>
                    <a:bodyPr/>
                    <a:lstStyle/>
                    <a:p>
                      <a:pPr algn="ctr"/>
                      <a:r>
                        <a:rPr sz="750" b="0" i="1">
                          <a:solidFill>
                            <a:srgbClr val="555555"/>
                          </a:solidFill>
                          <a:latin typeface="Calibri"/>
                        </a:rPr>
                        <a:t>36,0 %</a:t>
                      </a:r>
                    </a:p>
                  </a:txBody>
                  <a:tcPr>
                    <a:solidFill>
                      <a:srgbClr val="F7F8FA"/>
                    </a:solidFill>
                  </a:tcPr>
                </a:tc>
                <a:tc>
                  <a:txBody>
                    <a:bodyPr/>
                    <a:lstStyle/>
                    <a:p>
                      <a:pPr algn="ctr"/>
                      <a:r>
                        <a:rPr sz="750" b="0" i="1">
                          <a:solidFill>
                            <a:srgbClr val="555555"/>
                          </a:solidFill>
                          <a:latin typeface="Calibri"/>
                        </a:rPr>
                        <a:t>36,8 %</a:t>
                      </a:r>
                    </a:p>
                  </a:txBody>
                  <a:tcPr>
                    <a:solidFill>
                      <a:srgbClr val="F7F8FA"/>
                    </a:solidFill>
                  </a:tcPr>
                </a:tc>
              </a:tr>
              <a:tr h="220000">
                <a:tc>
                  <a:txBody>
                    <a:bodyPr/>
                    <a:lstStyle/>
                    <a:p>
                      <a:pPr algn="l"/>
                      <a:r>
                        <a:rPr sz="800" b="1" i="0">
                          <a:solidFill>
                            <a:srgbClr val="0D0D0D"/>
                          </a:solidFill>
                          <a:latin typeface="Calibri"/>
                        </a:rPr>
                        <a:t>Résultat net</a:t>
                      </a:r>
                    </a:p>
                  </a:txBody>
                  <a:tcPr>
                    <a:solidFill>
                      <a:srgbClr val="FFFFFF"/>
                    </a:solidFill>
                  </a:tcPr>
                </a:tc>
                <a:tc>
                  <a:txBody>
                    <a:bodyPr/>
                    <a:lstStyle/>
                    <a:p>
                      <a:pPr algn="ctr"/>
                      <a:r>
                        <a:rPr sz="800" b="1" i="0">
                          <a:solidFill>
                            <a:srgbClr val="0D0D0D"/>
                          </a:solidFill>
                          <a:latin typeface="Calibri"/>
                        </a:rPr>
                        <a:t>97,0</a:t>
                      </a:r>
                    </a:p>
                  </a:txBody>
                  <a:tcPr>
                    <a:solidFill>
                      <a:srgbClr val="FFFFFF"/>
                    </a:solidFill>
                  </a:tcPr>
                </a:tc>
                <a:tc>
                  <a:txBody>
                    <a:bodyPr/>
                    <a:lstStyle/>
                    <a:p>
                      <a:pPr algn="ctr"/>
                      <a:r>
                        <a:rPr sz="800" b="1" i="0">
                          <a:solidFill>
                            <a:srgbClr val="0D0D0D"/>
                          </a:solidFill>
                          <a:latin typeface="Calibri"/>
                        </a:rPr>
                        <a:t>93,7</a:t>
                      </a:r>
                    </a:p>
                  </a:txBody>
                  <a:tcPr>
                    <a:solidFill>
                      <a:srgbClr val="FFFFFF"/>
                    </a:solidFill>
                  </a:tcPr>
                </a:tc>
                <a:tc>
                  <a:txBody>
                    <a:bodyPr/>
                    <a:lstStyle/>
                    <a:p>
                      <a:pPr algn="ctr"/>
                      <a:r>
                        <a:rPr sz="800" b="1" i="0">
                          <a:solidFill>
                            <a:srgbClr val="1B3A6B"/>
                          </a:solidFill>
                          <a:latin typeface="Calibri"/>
                        </a:rPr>
                        <a:t>112,0</a:t>
                      </a:r>
                    </a:p>
                  </a:txBody>
                  <a:tcPr>
                    <a:solidFill>
                      <a:srgbClr val="DDE8F5"/>
                    </a:solidFill>
                  </a:tcPr>
                </a:tc>
                <a:tc>
                  <a:txBody>
                    <a:bodyPr/>
                    <a:lstStyle/>
                    <a:p>
                      <a:pPr algn="ctr"/>
                      <a:r>
                        <a:rPr sz="800" b="1" i="0">
                          <a:solidFill>
                            <a:srgbClr val="0D0D0D"/>
                          </a:solidFill>
                          <a:latin typeface="Calibri"/>
                        </a:rPr>
                        <a:t>115,0</a:t>
                      </a:r>
                    </a:p>
                  </a:txBody>
                  <a:tcPr>
                    <a:solidFill>
                      <a:srgbClr val="FFFFFF"/>
                    </a:solidFill>
                  </a:tcPr>
                </a:tc>
                <a:tc>
                  <a:txBody>
                    <a:bodyPr/>
                    <a:lstStyle/>
                    <a:p>
                      <a:pPr algn="ctr"/>
                      <a:r>
                        <a:rPr sz="800" b="1" i="0">
                          <a:solidFill>
                            <a:srgbClr val="0D0D0D"/>
                          </a:solidFill>
                          <a:latin typeface="Calibri"/>
                        </a:rPr>
                        <a:t>125,0</a:t>
                      </a:r>
                    </a:p>
                  </a:txBody>
                  <a:tcPr>
                    <a:solidFill>
                      <a:srgbClr val="FFFFFF"/>
                    </a:solidFill>
                  </a:tcPr>
                </a:tc>
              </a:tr>
              <a:tr h="220000">
                <a:tc>
                  <a:txBody>
                    <a:bodyPr/>
                    <a:lstStyle/>
                    <a:p>
                      <a:pPr algn="l"/>
                      <a:r>
                        <a:rPr sz="750" b="0" i="1">
                          <a:solidFill>
                            <a:srgbClr val="555555"/>
                          </a:solidFill>
                          <a:latin typeface="Calibri"/>
                        </a:rPr>
                        <a:t>Marge nette</a:t>
                      </a:r>
                    </a:p>
                  </a:txBody>
                  <a:tcPr>
                    <a:solidFill>
                      <a:srgbClr val="F7F8FA"/>
                    </a:solidFill>
                  </a:tcPr>
                </a:tc>
                <a:tc>
                  <a:txBody>
                    <a:bodyPr/>
                    <a:lstStyle/>
                    <a:p>
                      <a:pPr algn="ctr"/>
                      <a:r>
                        <a:rPr sz="750" b="0" i="1">
                          <a:solidFill>
                            <a:srgbClr val="555555"/>
                          </a:solidFill>
                          <a:latin typeface="Calibri"/>
                        </a:rPr>
                        <a:t>25,3 %</a:t>
                      </a:r>
                    </a:p>
                  </a:txBody>
                  <a:tcPr>
                    <a:solidFill>
                      <a:srgbClr val="F7F8FA"/>
                    </a:solidFill>
                  </a:tcPr>
                </a:tc>
                <a:tc>
                  <a:txBody>
                    <a:bodyPr/>
                    <a:lstStyle/>
                    <a:p>
                      <a:pPr algn="ctr"/>
                      <a:r>
                        <a:rPr sz="750" b="0" i="1">
                          <a:solidFill>
                            <a:srgbClr val="555555"/>
                          </a:solidFill>
                          <a:latin typeface="Calibri"/>
                        </a:rPr>
                        <a:t>24,0 %</a:t>
                      </a:r>
                    </a:p>
                  </a:txBody>
                  <a:tcPr>
                    <a:solidFill>
                      <a:srgbClr val="F7F8FA"/>
                    </a:solidFill>
                  </a:tcPr>
                </a:tc>
                <a:tc>
                  <a:txBody>
                    <a:bodyPr/>
                    <a:lstStyle/>
                    <a:p>
                      <a:pPr algn="ctr"/>
                      <a:r>
                        <a:rPr sz="750" b="0" i="1">
                          <a:solidFill>
                            <a:srgbClr val="555555"/>
                          </a:solidFill>
                          <a:latin typeface="Calibri"/>
                        </a:rPr>
                        <a:t>26,9 %</a:t>
                      </a:r>
                    </a:p>
                  </a:txBody>
                  <a:tcPr>
                    <a:solidFill>
                      <a:srgbClr val="DDE8F5"/>
                    </a:solidFill>
                  </a:tcPr>
                </a:tc>
                <a:tc>
                  <a:txBody>
                    <a:bodyPr/>
                    <a:lstStyle/>
                    <a:p>
                      <a:pPr algn="ctr"/>
                      <a:r>
                        <a:rPr sz="750" b="0" i="1">
                          <a:solidFill>
                            <a:srgbClr val="555555"/>
                          </a:solidFill>
                          <a:latin typeface="Calibri"/>
                        </a:rPr>
                        <a:t>25,8 %</a:t>
                      </a:r>
                    </a:p>
                  </a:txBody>
                  <a:tcPr>
                    <a:solidFill>
                      <a:srgbClr val="F7F8FA"/>
                    </a:solidFill>
                  </a:tcPr>
                </a:tc>
                <a:tc>
                  <a:txBody>
                    <a:bodyPr/>
                    <a:lstStyle/>
                    <a:p>
                      <a:pPr algn="ctr"/>
                      <a:r>
                        <a:rPr sz="750" b="0" i="1">
                          <a:solidFill>
                            <a:srgbClr val="555555"/>
                          </a:solidFill>
                          <a:latin typeface="Calibri"/>
                        </a:rPr>
                        <a:t>26,3 %</a:t>
                      </a:r>
                    </a:p>
                  </a:txBody>
                  <a:tcPr>
                    <a:solidFill>
                      <a:srgbClr val="F7F8FA"/>
                    </a:solidFill>
                  </a:tcPr>
                </a:tc>
              </a:tr>
            </a:tbl>
          </a:graphicData>
        </a:graphic>
      </p:graphicFrame>
      <p:sp>
        <p:nvSpPr>
          <p:cNvPr id="18" name="TextBox 17"/>
          <p:cNvSpPr txBox="1"/>
          <p:nvPr/>
        </p:nvSpPr>
        <p:spPr>
          <a:xfrm>
            <a:off x="367200" y="3218400"/>
            <a:ext cx="8413200" cy="1224000"/>
          </a:xfrm>
          <a:prstGeom prst="rect">
            <a:avLst/>
          </a:prstGeom>
          <a:noFill/>
        </p:spPr>
        <p:txBody>
          <a:bodyPr wrap="square">
            <a:spAutoFit/>
          </a:bodyPr>
          <a:lstStyle/>
          <a:p>
            <a:pPr algn="l"/>
            <a:r>
              <a:rPr sz="850" b="0" i="0">
                <a:solidFill>
                  <a:srgbClr val="555555"/>
                </a:solidFill>
                <a:latin typeface="Calibri"/>
              </a:rPr>
              <a:t>Croissance du CA de 6.4% en 2025 portée par les services (+15%) et un mix produits favorable. Les marges nettes ont rebondi à 26.9% grâce à une meilleure discipline des coûts et une hausse des prix sur l'iPhone 15. Le levier opérationnel et le pricing power soutiennent la génération de cash (FCF 2025: 110Mds$).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Bilan &amp; Liquidité</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Structure financière  ·  USD millions  ·  LTM 2025</a:t>
            </a:r>
          </a:p>
        </p:txBody>
      </p:sp>
      <p:sp>
        <p:nvSpPr>
          <p:cNvPr id="17" name="Rectangle 16"/>
          <p:cNvSpPr/>
          <p:nvPr/>
        </p:nvSpPr>
        <p:spPr>
          <a:xfrm>
            <a:off x="367200" y="9612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516400" cy="396000"/>
          </a:xfrm>
          <a:prstGeom prst="rect">
            <a:avLst/>
          </a:prstGeom>
          <a:noFill/>
        </p:spPr>
        <p:txBody>
          <a:bodyPr wrap="square">
            <a:spAutoFit/>
          </a:bodyPr>
          <a:lstStyle/>
          <a:p>
            <a:pPr algn="l"/>
            <a:r>
              <a:rPr sz="1900" b="1" i="0">
                <a:solidFill>
                  <a:srgbClr val="1B3A6B"/>
                </a:solidFill>
                <a:latin typeface="Calibri"/>
              </a:rPr>
              <a:t>35,9 Mds$</a:t>
            </a:r>
          </a:p>
        </p:txBody>
      </p:sp>
      <p:sp>
        <p:nvSpPr>
          <p:cNvPr id="20" name="TextBox 19"/>
          <p:cNvSpPr txBox="1"/>
          <p:nvPr/>
        </p:nvSpPr>
        <p:spPr>
          <a:xfrm>
            <a:off x="457200" y="1411200"/>
            <a:ext cx="2516400" cy="205199"/>
          </a:xfrm>
          <a:prstGeom prst="rect">
            <a:avLst/>
          </a:prstGeom>
          <a:noFill/>
        </p:spPr>
        <p:txBody>
          <a:bodyPr wrap="square">
            <a:spAutoFit/>
          </a:bodyPr>
          <a:lstStyle/>
          <a:p>
            <a:pPr algn="l"/>
            <a:r>
              <a:rPr sz="800" b="0" i="0">
                <a:solidFill>
                  <a:srgbClr val="555555"/>
                </a:solidFill>
                <a:latin typeface="Calibri"/>
              </a:rPr>
              <a:t>Cash &amp; equivalents</a:t>
            </a:r>
          </a:p>
        </p:txBody>
      </p:sp>
      <p:sp>
        <p:nvSpPr>
          <p:cNvPr id="21" name="Rectangle 20"/>
          <p:cNvSpPr/>
          <p:nvPr/>
        </p:nvSpPr>
        <p:spPr>
          <a:xfrm>
            <a:off x="367200" y="19008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1900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1954800"/>
            <a:ext cx="2516400" cy="396000"/>
          </a:xfrm>
          <a:prstGeom prst="rect">
            <a:avLst/>
          </a:prstGeom>
          <a:noFill/>
        </p:spPr>
        <p:txBody>
          <a:bodyPr wrap="square">
            <a:spAutoFit/>
          </a:bodyPr>
          <a:lstStyle/>
          <a:p>
            <a:pPr algn="l"/>
            <a:r>
              <a:rPr sz="1900" b="1" i="0">
                <a:solidFill>
                  <a:srgbClr val="1B3A6B"/>
                </a:solidFill>
                <a:latin typeface="Calibri"/>
              </a:rPr>
              <a:t>78,3 Mds$</a:t>
            </a:r>
          </a:p>
        </p:txBody>
      </p:sp>
      <p:sp>
        <p:nvSpPr>
          <p:cNvPr id="24" name="TextBox 23"/>
          <p:cNvSpPr txBox="1"/>
          <p:nvPr/>
        </p:nvSpPr>
        <p:spPr>
          <a:xfrm>
            <a:off x="457200" y="2350800"/>
            <a:ext cx="2516400" cy="205199"/>
          </a:xfrm>
          <a:prstGeom prst="rect">
            <a:avLst/>
          </a:prstGeom>
          <a:noFill/>
        </p:spPr>
        <p:txBody>
          <a:bodyPr wrap="square">
            <a:spAutoFit/>
          </a:bodyPr>
          <a:lstStyle/>
          <a:p>
            <a:pPr algn="l"/>
            <a:r>
              <a:rPr sz="800" b="0" i="0">
                <a:solidFill>
                  <a:srgbClr val="555555"/>
                </a:solidFill>
                <a:latin typeface="Calibri"/>
              </a:rPr>
              <a:t>Dette long terme</a:t>
            </a:r>
          </a:p>
        </p:txBody>
      </p:sp>
      <p:sp>
        <p:nvSpPr>
          <p:cNvPr id="25" name="Rectangle 24"/>
          <p:cNvSpPr/>
          <p:nvPr/>
        </p:nvSpPr>
        <p:spPr>
          <a:xfrm>
            <a:off x="367200" y="2844000"/>
            <a:ext cx="26532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7200" y="28440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898000"/>
            <a:ext cx="2516400" cy="396000"/>
          </a:xfrm>
          <a:prstGeom prst="rect">
            <a:avLst/>
          </a:prstGeom>
          <a:noFill/>
        </p:spPr>
        <p:txBody>
          <a:bodyPr wrap="square">
            <a:spAutoFit/>
          </a:bodyPr>
          <a:lstStyle/>
          <a:p>
            <a:pPr algn="l"/>
            <a:r>
              <a:rPr sz="1900" b="1" i="0">
                <a:solidFill>
                  <a:srgbClr val="FFFFFF"/>
                </a:solidFill>
                <a:latin typeface="Calibri"/>
              </a:rPr>
              <a:t>62,7 Mds$</a:t>
            </a:r>
          </a:p>
        </p:txBody>
      </p:sp>
      <p:sp>
        <p:nvSpPr>
          <p:cNvPr id="28" name="TextBox 27"/>
          <p:cNvSpPr txBox="1"/>
          <p:nvPr/>
        </p:nvSpPr>
        <p:spPr>
          <a:xfrm>
            <a:off x="457200" y="3294000"/>
            <a:ext cx="2516400" cy="205199"/>
          </a:xfrm>
          <a:prstGeom prst="rect">
            <a:avLst/>
          </a:prstGeom>
          <a:noFill/>
        </p:spPr>
        <p:txBody>
          <a:bodyPr wrap="square">
            <a:spAutoFit/>
          </a:bodyPr>
          <a:lstStyle/>
          <a:p>
            <a:pPr algn="l"/>
            <a:r>
              <a:rPr sz="800" b="0" i="0">
                <a:solidFill>
                  <a:srgbClr val="FFFFFF"/>
                </a:solidFill>
                <a:latin typeface="Calibri"/>
              </a:rPr>
              <a:t>Dette nette</a:t>
            </a:r>
          </a:p>
        </p:txBody>
      </p:sp>
      <p:sp>
        <p:nvSpPr>
          <p:cNvPr id="29" name="TextBox 28"/>
          <p:cNvSpPr txBox="1"/>
          <p:nvPr/>
        </p:nvSpPr>
        <p:spPr>
          <a:xfrm>
            <a:off x="3384000" y="842400"/>
            <a:ext cx="5396400" cy="165600"/>
          </a:xfrm>
          <a:prstGeom prst="rect">
            <a:avLst/>
          </a:prstGeom>
          <a:noFill/>
        </p:spPr>
        <p:txBody>
          <a:bodyPr wrap="square">
            <a:spAutoFit/>
          </a:bodyPr>
          <a:lstStyle/>
          <a:p>
            <a:pPr algn="l"/>
            <a:r>
              <a:rPr sz="900" b="1" i="0">
                <a:solidFill>
                  <a:srgbClr val="1B3A6B"/>
                </a:solidFill>
                <a:latin typeface="Calibri"/>
              </a:rPr>
              <a:t>Ratios de solvabilité &amp; liquidité</a:t>
            </a:r>
          </a:p>
        </p:txBody>
      </p:sp>
      <p:graphicFrame>
        <p:nvGraphicFramePr>
          <p:cNvPr id="30" name="Table 29"/>
          <p:cNvGraphicFramePr>
            <a:graphicFrameLocks noGrp="1"/>
          </p:cNvGraphicFramePr>
          <p:nvPr/>
        </p:nvGraphicFramePr>
        <p:xfrm>
          <a:off x="3384000" y="1007999"/>
          <a:ext cx="5396400" cy="1800000"/>
        </p:xfrm>
        <a:graphic>
          <a:graphicData uri="http://schemas.openxmlformats.org/drawingml/2006/table">
            <a:tbl>
              <a:tblPr firstRow="1" bandRow="1">
                <a:tableStyleId>{5C22544A-7EE6-4342-B048-85BDC9FD1C3A}</a:tableStyleId>
              </a:tblPr>
              <a:tblGrid>
                <a:gridCol w="2374416"/>
                <a:gridCol w="1133244"/>
                <a:gridCol w="1133244"/>
                <a:gridCol w="755496"/>
              </a:tblGrid>
              <a:tr h="225000">
                <a:tc>
                  <a:txBody>
                    <a:bodyPr/>
                    <a:lstStyle/>
                    <a:p>
                      <a:pPr algn="l"/>
                      <a:r>
                        <a:rPr sz="800" b="1" i="0">
                          <a:solidFill>
                            <a:srgbClr val="FFFFFF"/>
                          </a:solidFill>
                          <a:latin typeface="Calibri"/>
                        </a:rPr>
                        <a:t>Ratio</a:t>
                      </a:r>
                    </a:p>
                  </a:txBody>
                  <a:tcPr>
                    <a:solidFill>
                      <a:srgbClr val="1B3A6B"/>
                    </a:solidFill>
                  </a:tcPr>
                </a:tc>
                <a:tc>
                  <a:txBody>
                    <a:bodyPr/>
                    <a:lstStyle/>
                    <a:p>
                      <a:pPr algn="ctr"/>
                      <a:r>
                        <a:rPr sz="800" b="1" i="0">
                          <a:solidFill>
                            <a:srgbClr val="FFFFFF"/>
                          </a:solidFill>
                          <a:latin typeface="Calibri"/>
                        </a:rPr>
                        <a:t>Valeur</a:t>
                      </a:r>
                    </a:p>
                  </a:txBody>
                  <a:tcPr>
                    <a:solidFill>
                      <a:srgbClr val="1B3A6B"/>
                    </a:solidFill>
                  </a:tcPr>
                </a:tc>
                <a:tc>
                  <a:txBody>
                    <a:bodyPr/>
                    <a:lstStyle/>
                    <a:p>
                      <a:pPr algn="ctr"/>
                      <a:r>
                        <a:rPr sz="800" b="1" i="0">
                          <a:solidFill>
                            <a:srgbClr val="FFFFFF"/>
                          </a:solidFill>
                          <a:latin typeface="Calibri"/>
                        </a:rPr>
                        <a:t>Référence</a:t>
                      </a:r>
                    </a:p>
                  </a:txBody>
                  <a:tcPr>
                    <a:solidFill>
                      <a:srgbClr val="1B3A6B"/>
                    </a:solidFill>
                  </a:tcPr>
                </a:tc>
                <a:tc>
                  <a:txBody>
                    <a:bodyPr/>
                    <a:lstStyle/>
                    <a:p>
                      <a:pPr algn="ctr"/>
                      <a:r>
                        <a:rPr sz="800" b="1" i="0">
                          <a:solidFill>
                            <a:srgbClr val="FFFFFF"/>
                          </a:solidFill>
                          <a:latin typeface="Calibri"/>
                        </a:rPr>
                        <a:t>Signal</a:t>
                      </a:r>
                    </a:p>
                  </a:txBody>
                  <a:tcPr>
                    <a:solidFill>
                      <a:srgbClr val="1B3A6B"/>
                    </a:solidFill>
                  </a:tcPr>
                </a:tc>
              </a:tr>
              <a:tr h="225000">
                <a:tc>
                  <a:txBody>
                    <a:bodyPr/>
                    <a:lstStyle/>
                    <a:p>
                      <a:pPr algn="l"/>
                      <a:r>
                        <a:rPr sz="800" b="1" i="0">
                          <a:solidFill>
                            <a:srgbClr val="0D0D0D"/>
                          </a:solidFill>
                          <a:latin typeface="Calibri"/>
                        </a:rPr>
                        <a:t>Ratio liquidité courante</a:t>
                      </a:r>
                    </a:p>
                  </a:txBody>
                  <a:tcPr>
                    <a:solidFill>
                      <a:srgbClr val="FFFFFF"/>
                    </a:solidFill>
                  </a:tcPr>
                </a:tc>
                <a:tc>
                  <a:txBody>
                    <a:bodyPr/>
                    <a:lstStyle/>
                    <a:p>
                      <a:pPr algn="ctr"/>
                      <a:r>
                        <a:rPr sz="800" b="0" i="0">
                          <a:solidFill>
                            <a:srgbClr val="0D0D0D"/>
                          </a:solidFill>
                          <a:latin typeface="Calibri"/>
                        </a:rPr>
                        <a:t>0,65</a:t>
                      </a:r>
                    </a:p>
                  </a:txBody>
                  <a:tcPr>
                    <a:solidFill>
                      <a:srgbClr val="FFFFFF"/>
                    </a:solidFill>
                  </a:tcPr>
                </a:tc>
                <a:tc>
                  <a:txBody>
                    <a:bodyPr/>
                    <a:lstStyle/>
                    <a:p>
                      <a:pPr algn="ctr"/>
                      <a:r>
                        <a:rPr sz="800" b="0" i="0">
                          <a:solidFill>
                            <a:srgbClr val="0D0D0D"/>
                          </a:solidFill>
                          <a:latin typeface="Calibri"/>
                        </a:rPr>
                        <a:t>&gt; 1,5</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Ratio rapide (quick)</a:t>
                      </a:r>
                    </a:p>
                  </a:txBody>
                  <a:tcPr>
                    <a:solidFill>
                      <a:srgbClr val="F7F8FA"/>
                    </a:solidFill>
                  </a:tcPr>
                </a:tc>
                <a:tc>
                  <a:txBody>
                    <a:bodyPr/>
                    <a:lstStyle/>
                    <a:p>
                      <a:pPr algn="ctr"/>
                      <a:r>
                        <a:rPr sz="800" b="0" i="0">
                          <a:solidFill>
                            <a:srgbClr val="0D0D0D"/>
                          </a:solidFill>
                          <a:latin typeface="Calibri"/>
                        </a:rPr>
                        <a:t>0,61</a:t>
                      </a:r>
                    </a:p>
                  </a:txBody>
                  <a:tcPr>
                    <a:solidFill>
                      <a:srgbClr val="F7F8FA"/>
                    </a:solidFill>
                  </a:tcPr>
                </a:tc>
                <a:tc>
                  <a:txBody>
                    <a:bodyPr/>
                    <a:lstStyle/>
                    <a:p>
                      <a:pPr algn="ctr"/>
                      <a:r>
                        <a:rPr sz="800" b="0" i="0">
                          <a:solidFill>
                            <a:srgbClr val="0D0D0D"/>
                          </a:solidFill>
                          <a:latin typeface="Calibri"/>
                        </a:rPr>
                        <a:t>&gt; 1,0</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a:t>
                      </a:r>
                    </a:p>
                  </a:txBody>
                  <a:tcPr>
                    <a:solidFill>
                      <a:srgbClr val="FFFFFF"/>
                    </a:solidFill>
                  </a:tcPr>
                </a:tc>
                <a:tc>
                  <a:txBody>
                    <a:bodyPr/>
                    <a:lstStyle/>
                    <a:p>
                      <a:pPr algn="ctr"/>
                      <a:r>
                        <a:rPr sz="800" b="0" i="0">
                          <a:solidFill>
                            <a:srgbClr val="0D0D0D"/>
                          </a:solidFill>
                          <a:latin typeface="Calibri"/>
                        </a:rPr>
                        <a:t>1,3x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Couverture d'intérêts</a:t>
                      </a:r>
                    </a:p>
                  </a:txBody>
                  <a:tcPr>
                    <a:solidFill>
                      <a:srgbClr val="F7F8FA"/>
                    </a:solidFill>
                  </a:tcPr>
                </a:tc>
                <a:tc>
                  <a:txBody>
                    <a:bodyPr/>
                    <a:lstStyle/>
                    <a:p>
                      <a:pPr algn="ctr"/>
                      <a:r>
                        <a:rPr sz="800" b="0" i="0">
                          <a:solidFill>
                            <a:srgbClr val="0D0D0D"/>
                          </a:solidFill>
                          <a:latin typeface="Calibri"/>
                        </a:rPr>
                        <a:t>29,1x</a:t>
                      </a:r>
                    </a:p>
                  </a:txBody>
                  <a:tcPr>
                    <a:solidFill>
                      <a:srgbClr val="F7F8FA"/>
                    </a:solidFill>
                  </a:tcPr>
                </a:tc>
                <a:tc>
                  <a:txBody>
                    <a:bodyPr/>
                    <a:lstStyle/>
                    <a:p>
                      <a:pPr algn="ctr"/>
                      <a:r>
                        <a:rPr sz="800" b="0" i="0">
                          <a:solidFill>
                            <a:srgbClr val="0D0D0D"/>
                          </a:solidFill>
                          <a:latin typeface="Calibri"/>
                        </a:rPr>
                        <a:t>&gt; 3,0x</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Dette nette / EBITDA</a:t>
                      </a:r>
                    </a:p>
                  </a:txBody>
                  <a:tcPr>
                    <a:solidFill>
                      <a:srgbClr val="FFFFFF"/>
                    </a:solidFill>
                  </a:tcPr>
                </a:tc>
                <a:tc>
                  <a:txBody>
                    <a:bodyPr/>
                    <a:lstStyle/>
                    <a:p>
                      <a:pPr algn="ctr"/>
                      <a:r>
                        <a:rPr sz="800" b="0" i="0">
                          <a:solidFill>
                            <a:srgbClr val="0D0D0D"/>
                          </a:solidFill>
                          <a:latin typeface="Calibri"/>
                        </a:rPr>
                        <a:t>0,4x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Altman Z</a:t>
                      </a:r>
                    </a:p>
                  </a:txBody>
                  <a:tcPr>
                    <a:solidFill>
                      <a:srgbClr val="F7F8FA"/>
                    </a:solidFill>
                  </a:tcPr>
                </a:tc>
                <a:tc>
                  <a:txBody>
                    <a:bodyPr/>
                    <a:lstStyle/>
                    <a:p>
                      <a:pPr algn="ctr"/>
                      <a:r>
                        <a:rPr sz="800" b="0" i="0">
                          <a:solidFill>
                            <a:srgbClr val="0D0D0D"/>
                          </a:solidFill>
                          <a:latin typeface="Calibri"/>
                        </a:rPr>
                        <a:t>9,83</a:t>
                      </a:r>
                    </a:p>
                  </a:txBody>
                  <a:tcPr>
                    <a:solidFill>
                      <a:srgbClr val="F7F8FA"/>
                    </a:solidFill>
                  </a:tcPr>
                </a:tc>
                <a:tc>
                  <a:txBody>
                    <a:bodyPr/>
                    <a:lstStyle/>
                    <a:p>
                      <a:pPr algn="ctr"/>
                      <a:r>
                        <a:rPr sz="800" b="0" i="0">
                          <a:solidFill>
                            <a:srgbClr val="0D0D0D"/>
                          </a:solidFill>
                          <a:latin typeface="Calibri"/>
                        </a:rPr>
                        <a:t>&gt; 2,99</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Beneish M</a:t>
                      </a:r>
                    </a:p>
                  </a:txBody>
                  <a:tcPr>
                    <a:solidFill>
                      <a:srgbClr val="FFFFFF"/>
                    </a:solidFill>
                  </a:tcPr>
                </a:tc>
                <a:tc>
                  <a:txBody>
                    <a:bodyPr/>
                    <a:lstStyle/>
                    <a:p>
                      <a:pPr algn="ctr"/>
                      <a:r>
                        <a:rPr sz="800" b="0" i="0">
                          <a:solidFill>
                            <a:srgbClr val="0D0D0D"/>
                          </a:solidFill>
                          <a:latin typeface="Calibri"/>
                        </a:rPr>
                        <a:t>-2,25</a:t>
                      </a:r>
                    </a:p>
                  </a:txBody>
                  <a:tcPr>
                    <a:solidFill>
                      <a:srgbClr val="FFFFFF"/>
                    </a:solidFill>
                  </a:tcPr>
                </a:tc>
                <a:tc>
                  <a:txBody>
                    <a:bodyPr/>
                    <a:lstStyle/>
                    <a:p>
                      <a:pPr algn="ctr"/>
                      <a:r>
                        <a:rPr sz="800" b="0" i="0">
                          <a:solidFill>
                            <a:srgbClr val="0D0D0D"/>
                          </a:solidFill>
                          <a:latin typeface="Calibri"/>
                        </a:rPr>
                        <a:t>&lt; -2,22</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bl>
          </a:graphicData>
        </a:graphic>
      </p:graphicFrame>
      <p:sp>
        <p:nvSpPr>
          <p:cNvPr id="31" name="TextBox 30"/>
          <p:cNvSpPr txBox="1"/>
          <p:nvPr/>
        </p:nvSpPr>
        <p:spPr>
          <a:xfrm>
            <a:off x="367200" y="4068000"/>
            <a:ext cx="8413200" cy="468000"/>
          </a:xfrm>
          <a:prstGeom prst="rect">
            <a:avLst/>
          </a:prstGeom>
          <a:noFill/>
        </p:spPr>
        <p:txBody>
          <a:bodyPr wrap="square">
            <a:spAutoFit/>
          </a:bodyPr>
          <a:lstStyle/>
          <a:p>
            <a:pPr algn="l"/>
            <a:r>
              <a:rPr sz="850" b="0" i="0">
                <a:solidFill>
                  <a:srgbClr val="555555"/>
                </a:solidFill>
                <a:latin typeface="Calibri"/>
              </a:rPr>
              <a:t>Croissance du CA de 6.4% en 2025 portée par les services (+15%) et un mix produits favorable. Les marges nettes ont rebondi à 26.9% grâce à une meilleure discipline des coûts et une hausse des prix sur l'iPhone 15. Le levier opérationnel et le pricing power soutiennent la génération de cash (FCF 2025: 110Mds$).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Ratios Clés vs. Benchmark Sectoriel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Positionnement relatif  ·  LTM 2025</a:t>
            </a:r>
          </a:p>
        </p:txBody>
      </p:sp>
      <p:graphicFrame>
        <p:nvGraphicFramePr>
          <p:cNvPr id="17" name="Table 16"/>
          <p:cNvGraphicFramePr>
            <a:graphicFrameLocks noGrp="1"/>
          </p:cNvGraphicFramePr>
          <p:nvPr/>
        </p:nvGraphicFramePr>
        <p:xfrm>
          <a:off x="367200" y="914400"/>
          <a:ext cx="8413200" cy="2559600"/>
        </p:xfrm>
        <a:graphic>
          <a:graphicData uri="http://schemas.openxmlformats.org/drawingml/2006/table">
            <a:tbl>
              <a:tblPr firstRow="1" bandRow="1">
                <a:tableStyleId>{5C22544A-7EE6-4342-B048-85BDC9FD1C3A}</a:tableStyleId>
              </a:tblPr>
              <a:tblGrid>
                <a:gridCol w="2103300"/>
                <a:gridCol w="2103300"/>
                <a:gridCol w="2103300"/>
                <a:gridCol w="2103300"/>
              </a:tblGrid>
              <a:tr h="232690">
                <a:tc>
                  <a:txBody>
                    <a:bodyPr/>
                    <a:lstStyle/>
                    <a:p>
                      <a:pPr algn="l"/>
                      <a:r>
                        <a:rPr sz="800" b="1" i="0">
                          <a:solidFill>
                            <a:srgbClr val="FFFFFF"/>
                          </a:solidFill>
                          <a:latin typeface="Calibri"/>
                        </a:rPr>
                        <a:t>Indicateur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Benchmark</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Lecture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32,6x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15–25x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EV/EBITDA</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25,7x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Très élevé</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EV/Revenue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8,9x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brute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46,9 %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40 %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Bon</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34,8 %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151,9 %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ROIC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84,4 %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CapEx / Revenue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555555"/>
                          </a:solidFill>
                          <a:latin typeface="Calibri"/>
                        </a:rPr>
                        <a:t>Léger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Altman Z</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9,83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2,99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Solide</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700">
                <a:tc>
                  <a:txBody>
                    <a:bodyPr/>
                    <a:lstStyle/>
                    <a:p>
                      <a:pPr algn="l"/>
                      <a:r>
                        <a:rPr sz="800" b="0" i="0">
                          <a:solidFill>
                            <a:srgbClr val="0D0D0D"/>
                          </a:solidFill>
                          <a:latin typeface="Calibri"/>
                        </a:rPr>
                        <a:t>Beneish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-2,25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-2,22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Aucun signal</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8" name="TextBox 17"/>
          <p:cNvSpPr txBox="1"/>
          <p:nvPr/>
        </p:nvSpPr>
        <p:spPr>
          <a:xfrm>
            <a:off x="367200" y="3628800"/>
            <a:ext cx="8413200" cy="824400"/>
          </a:xfrm>
          <a:prstGeom prst="rect">
            <a:avLst/>
          </a:prstGeom>
          <a:noFill/>
        </p:spPr>
        <p:txBody>
          <a:bodyPr wrap="square">
            <a:spAutoFit/>
          </a:bodyPr>
          <a:lstStyle/>
          <a:p>
            <a:pPr algn="l"/>
            <a:r>
              <a:rPr sz="850" b="0" i="0">
                <a:solidFill>
                  <a:srgbClr val="555555"/>
                </a:solidFill>
                <a:latin typeface="Calibri"/>
              </a:rPr>
              <a:t>Les marges brutes sont passées de 43.3% (2022) à 46.9% (2025), reflétant un mix produit favorable (iPhone premium) et une optimisation des coûts de production. Les marges EBITDA/nettes ont progressé malgré des investissements R&amp;D accrus, démontrant un levier opérationnel exceptionnel. Cette dynamique suggère une durabilité des marges à 45%+ brute et 35%+ EBITDA.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03</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Valorisation</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DCF, comparable peers &amp; Football Field Chart</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Valorisation — DCF &amp; Scénarios</a:t>
            </a:r>
          </a:p>
        </p:txBody>
      </p:sp>
      <p:graphicFrame>
        <p:nvGraphicFramePr>
          <p:cNvPr id="16" name="Table 15"/>
          <p:cNvGraphicFramePr>
            <a:graphicFrameLocks noGrp="1"/>
          </p:cNvGraphicFramePr>
          <p:nvPr/>
        </p:nvGraphicFramePr>
        <p:xfrm>
          <a:off x="367200" y="824400"/>
          <a:ext cx="4024800" cy="1371600"/>
        </p:xfrm>
        <a:graphic>
          <a:graphicData uri="http://schemas.openxmlformats.org/drawingml/2006/table">
            <a:tbl>
              <a:tblPr firstRow="1" bandRow="1">
                <a:tableStyleId>{5C22544A-7EE6-4342-B048-85BDC9FD1C3A}</a:tableStyleId>
              </a:tblPr>
              <a:tblGrid>
                <a:gridCol w="2213640"/>
                <a:gridCol w="1811160"/>
              </a:tblGrid>
              <a:tr h="22860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WACC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TGR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1" i="0">
                          <a:solidFill>
                            <a:srgbClr val="1B3A6B"/>
                          </a:solidFill>
                          <a:latin typeface="Calibri"/>
                        </a:rPr>
                        <a:t>Valeur intrinsèque</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285 $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Cours actuel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248,80 $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Upside implicite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+14,5 %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graphicFrame>
        <p:nvGraphicFramePr>
          <p:cNvPr id="17" name="Table 16"/>
          <p:cNvGraphicFramePr>
            <a:graphicFrameLocks noGrp="1"/>
          </p:cNvGraphicFramePr>
          <p:nvPr/>
        </p:nvGraphicFramePr>
        <p:xfrm>
          <a:off x="4482000" y="824400"/>
          <a:ext cx="4298400" cy="1371600"/>
        </p:xfrm>
        <a:graphic>
          <a:graphicData uri="http://schemas.openxmlformats.org/drawingml/2006/table">
            <a:tbl>
              <a:tblPr firstRow="1" bandRow="1">
                <a:tableStyleId>{5C22544A-7EE6-4342-B048-85BDC9FD1C3A}</a:tableStyleId>
              </a:tblPr>
              <a:tblGrid>
                <a:gridCol w="1432800"/>
                <a:gridCol w="1432800"/>
                <a:gridCol w="1432800"/>
              </a:tblGrid>
              <a:tr h="342900">
                <a:tc>
                  <a:txBody>
                    <a:bodyPr/>
                    <a:lstStyle/>
                    <a:p>
                      <a:pPr algn="ctr"/>
                      <a:r>
                        <a:rPr sz="1000" b="1" i="0">
                          <a:solidFill>
                            <a:srgbClr val="FFFFFF"/>
                          </a:solidFill>
                          <a:latin typeface="Calibri"/>
                        </a:rPr>
                        <a:t>Bear</a:t>
                      </a:r>
                    </a:p>
                  </a:txBody>
                  <a:tcPr>
                    <a:solidFill>
                      <a:srgbClr val="A82020"/>
                    </a:solidFill>
                  </a:tcPr>
                </a:tc>
                <a:tc>
                  <a:txBody>
                    <a:bodyPr/>
                    <a:lstStyle/>
                    <a:p>
                      <a:pPr algn="ctr"/>
                      <a:r>
                        <a:rPr sz="1000" b="1" i="0">
                          <a:solidFill>
                            <a:srgbClr val="FFFFFF"/>
                          </a:solidFill>
                          <a:latin typeface="Calibri"/>
                        </a:rPr>
                        <a:t>Base</a:t>
                      </a:r>
                    </a:p>
                  </a:txBody>
                  <a:tcPr>
                    <a:solidFill>
                      <a:srgbClr val="2E5FA3"/>
                    </a:solidFill>
                  </a:tcPr>
                </a:tc>
                <a:tc>
                  <a:txBody>
                    <a:bodyPr/>
                    <a:lstStyle/>
                    <a:p>
                      <a:pPr algn="ctr"/>
                      <a:r>
                        <a:rPr sz="1000" b="1" i="0">
                          <a:solidFill>
                            <a:srgbClr val="FFFFFF"/>
                          </a:solidFill>
                          <a:latin typeface="Calibri"/>
                        </a:rPr>
                        <a:t>Bull</a:t>
                      </a:r>
                    </a:p>
                  </a:txBody>
                  <a:tcPr>
                    <a:solidFill>
                      <a:srgbClr val="1A7A4A"/>
                    </a:solidFill>
                  </a:tcPr>
                </a:tc>
              </a:tr>
              <a:tr h="342900">
                <a:tc>
                  <a:txBody>
                    <a:bodyPr/>
                    <a:lstStyle/>
                    <a:p>
                      <a:pPr algn="ctr"/>
                      <a:r>
                        <a:rPr sz="2000" b="1" i="0">
                          <a:solidFill>
                            <a:srgbClr val="A82020"/>
                          </a:solidFill>
                          <a:latin typeface="Calibri"/>
                        </a:rPr>
                        <a:t>220 $</a:t>
                      </a:r>
                    </a:p>
                  </a:txBody>
                  <a:tcPr>
                    <a:solidFill>
                      <a:srgbClr val="FAF0EF"/>
                    </a:solidFill>
                  </a:tcPr>
                </a:tc>
                <a:tc>
                  <a:txBody>
                    <a:bodyPr/>
                    <a:lstStyle/>
                    <a:p>
                      <a:pPr algn="ctr"/>
                      <a:r>
                        <a:rPr sz="2000" b="1" i="0">
                          <a:solidFill>
                            <a:srgbClr val="2E5FA3"/>
                          </a:solidFill>
                          <a:latin typeface="Calibri"/>
                        </a:rPr>
                        <a:t>285 $</a:t>
                      </a:r>
                    </a:p>
                  </a:txBody>
                  <a:tcPr>
                    <a:solidFill>
                      <a:srgbClr val="EEF3FA"/>
                    </a:solidFill>
                  </a:tcPr>
                </a:tc>
                <a:tc>
                  <a:txBody>
                    <a:bodyPr/>
                    <a:lstStyle/>
                    <a:p>
                      <a:pPr algn="ctr"/>
                      <a:r>
                        <a:rPr sz="2000" b="1" i="0">
                          <a:solidFill>
                            <a:srgbClr val="1A7A4A"/>
                          </a:solidFill>
                          <a:latin typeface="Calibri"/>
                        </a:rPr>
                        <a:t>320 $</a:t>
                      </a:r>
                    </a:p>
                  </a:txBody>
                  <a:tcPr>
                    <a:solidFill>
                      <a:srgbClr val="EAF4EF"/>
                    </a:solidFill>
                  </a:tcPr>
                </a:tc>
              </a:tr>
              <a:tr h="342900">
                <a:tc>
                  <a:txBody>
                    <a:bodyPr/>
                    <a:lstStyle/>
                    <a:p>
                      <a:pPr algn="ctr"/>
                      <a:r>
                        <a:rPr sz="1200" b="1" i="0">
                          <a:solidFill>
                            <a:srgbClr val="A82020"/>
                          </a:solidFill>
                          <a:latin typeface="Calibri"/>
                        </a:rPr>
                        <a:t>-11,6 %</a:t>
                      </a:r>
                    </a:p>
                  </a:txBody>
                  <a:tcPr>
                    <a:solidFill>
                      <a:srgbClr val="FAF0EF"/>
                    </a:solidFill>
                  </a:tcPr>
                </a:tc>
                <a:tc>
                  <a:txBody>
                    <a:bodyPr/>
                    <a:lstStyle/>
                    <a:p>
                      <a:pPr algn="ctr"/>
                      <a:r>
                        <a:rPr sz="1200" b="1" i="0">
                          <a:solidFill>
                            <a:srgbClr val="2E5FA3"/>
                          </a:solidFill>
                          <a:latin typeface="Calibri"/>
                        </a:rPr>
                        <a:t>+14,5 %</a:t>
                      </a:r>
                    </a:p>
                  </a:txBody>
                  <a:tcPr>
                    <a:solidFill>
                      <a:srgbClr val="EEF3FA"/>
                    </a:solidFill>
                  </a:tcPr>
                </a:tc>
                <a:tc>
                  <a:txBody>
                    <a:bodyPr/>
                    <a:lstStyle/>
                    <a:p>
                      <a:pPr algn="ctr"/>
                      <a:r>
                        <a:rPr sz="1200" b="1" i="0">
                          <a:solidFill>
                            <a:srgbClr val="1A7A4A"/>
                          </a:solidFill>
                          <a:latin typeface="Calibri"/>
                        </a:rPr>
                        <a:t>+28,6 %</a:t>
                      </a:r>
                    </a:p>
                  </a:txBody>
                  <a:tcPr>
                    <a:solidFill>
                      <a:srgbClr val="EAF4EF"/>
                    </a:solidFill>
                  </a:tcPr>
                </a:tc>
              </a:tr>
              <a:tr h="342900">
                <a:tc>
                  <a:txBody>
                    <a:bodyPr/>
                    <a:lstStyle/>
                    <a:p>
                      <a:pPr algn="ctr"/>
                      <a:r>
                        <a:rPr sz="700" b="0" i="0">
                          <a:solidFill>
                            <a:srgbClr val="888888"/>
                          </a:solidFill>
                          <a:latin typeface="Calibri"/>
                        </a:rPr>
                        <a:t>Upside / Downside</a:t>
                      </a:r>
                    </a:p>
                  </a:txBody>
                  <a:tcPr>
                    <a:solidFill>
                      <a:srgbClr val="FAF0EF"/>
                    </a:solidFill>
                  </a:tcPr>
                </a:tc>
                <a:tc>
                  <a:txBody>
                    <a:bodyPr/>
                    <a:lstStyle/>
                    <a:p>
                      <a:pPr algn="ctr"/>
                      <a:r>
                        <a:rPr sz="700" b="0" i="0">
                          <a:solidFill>
                            <a:srgbClr val="888888"/>
                          </a:solidFill>
                          <a:latin typeface="Calibri"/>
                        </a:rPr>
                        <a:t>Upside / Downside</a:t>
                      </a:r>
                    </a:p>
                  </a:txBody>
                  <a:tcPr>
                    <a:solidFill>
                      <a:srgbClr val="EEF3FA"/>
                    </a:solidFill>
                  </a:tcPr>
                </a:tc>
                <a:tc>
                  <a:txBody>
                    <a:bodyPr/>
                    <a:lstStyle/>
                    <a:p>
                      <a:pPr algn="ctr"/>
                      <a:r>
                        <a:rPr sz="700" b="0" i="0">
                          <a:solidFill>
                            <a:srgbClr val="888888"/>
                          </a:solidFill>
                          <a:latin typeface="Calibri"/>
                        </a:rPr>
                        <a:t>Upside / Downside</a:t>
                      </a:r>
                    </a:p>
                  </a:txBody>
                  <a:tcPr>
                    <a:solidFill>
                      <a:srgbClr val="EAF4EF"/>
                    </a:solidFill>
                  </a:tcPr>
                </a:tc>
              </a:tr>
            </a:tbl>
          </a:graphicData>
        </a:graphic>
      </p:graphicFrame>
      <p:sp>
        <p:nvSpPr>
          <p:cNvPr id="18" name="TextBox 17"/>
          <p:cNvSpPr txBox="1"/>
          <p:nvPr/>
        </p:nvSpPr>
        <p:spPr>
          <a:xfrm>
            <a:off x="367200" y="2394000"/>
            <a:ext cx="8413200" cy="201600"/>
          </a:xfrm>
          <a:prstGeom prst="rect">
            <a:avLst/>
          </a:prstGeom>
          <a:noFill/>
        </p:spPr>
        <p:txBody>
          <a:bodyPr wrap="square">
            <a:spAutoFit/>
          </a:bodyPr>
          <a:lstStyle/>
          <a:p>
            <a:pPr algn="l"/>
            <a:r>
              <a:rPr sz="900" b="1" i="0">
                <a:solidFill>
                  <a:srgbClr val="1B3A6B"/>
                </a:solidFill>
                <a:latin typeface="Calibri"/>
              </a:rPr>
              <a:t>Table de sensibilité — Valeur intrinsèque ($)</a:t>
            </a:r>
          </a:p>
        </p:txBody>
      </p:sp>
      <p:graphicFrame>
        <p:nvGraphicFramePr>
          <p:cNvPr id="19" name="Table 18"/>
          <p:cNvGraphicFramePr>
            <a:graphicFrameLocks noGrp="1"/>
          </p:cNvGraphicFramePr>
          <p:nvPr/>
        </p:nvGraphicFramePr>
        <p:xfrm>
          <a:off x="367200" y="2653200"/>
          <a:ext cx="8413200" cy="1116000"/>
        </p:xfrm>
        <a:graphic>
          <a:graphicData uri="http://schemas.openxmlformats.org/drawingml/2006/table">
            <a:tbl>
              <a:tblPr firstRow="1" bandRow="1">
                <a:tableStyleId>{5C22544A-7EE6-4342-B048-85BDC9FD1C3A}</a:tableStyleId>
              </a:tblPr>
              <a:tblGrid>
                <a:gridCol w="1402200"/>
                <a:gridCol w="1402200"/>
                <a:gridCol w="1402200"/>
                <a:gridCol w="1402200"/>
                <a:gridCol w="1402200"/>
                <a:gridCol w="1402200"/>
              </a:tblGrid>
              <a:tr h="186000">
                <a:tc>
                  <a:txBody>
                    <a:bodyPr/>
                    <a:lstStyle/>
                    <a:p>
                      <a:pPr algn="l"/>
                      <a:r>
                        <a:rPr sz="800" b="1" i="0">
                          <a:solidFill>
                            <a:srgbClr val="FFFFFF"/>
                          </a:solidFill>
                          <a:latin typeface="Calibri"/>
                        </a:rPr>
                        <a:t>WACC \ TGR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4,0%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8,4%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329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357</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430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478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9,4%</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285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329</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357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10,4%</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251</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267</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285</a:t>
                      </a:r>
                    </a:p>
                  </a:txBody>
                  <a:tcPr>
                    <a:solidFill>
                      <a:srgbClr val="2E5FA3"/>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306</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329</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11,4%</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251</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285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12,4%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225</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237</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251</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TextBox 19"/>
          <p:cNvSpPr txBox="1"/>
          <p:nvPr/>
        </p:nvSpPr>
        <p:spPr>
          <a:xfrm>
            <a:off x="367200" y="3916800"/>
            <a:ext cx="8413200" cy="547200"/>
          </a:xfrm>
          <a:prstGeom prst="rect">
            <a:avLst/>
          </a:prstGeom>
          <a:noFill/>
        </p:spPr>
        <p:txBody>
          <a:bodyPr wrap="square">
            <a:spAutoFit/>
          </a:bodyPr>
          <a:lstStyle/>
          <a:p>
            <a:pPr algn="l"/>
            <a:r>
              <a:rPr sz="850" b="0" i="0">
                <a:solidFill>
                  <a:srgbClr val="555555"/>
                </a:solidFill>
                <a:latin typeface="Calibri"/>
              </a:rPr>
              <a:t>Avec un WACC de 10.4% et un TGR de 3.0%, le DCF implique un prix de 285$ (base), soit un upside de 14.5% vs cours actuel. La prime de croissance est partiellement pricee, mais les catalyseurs (IA, services) pourraient justifier une revalorisation si l'execution suit.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Comparable Peers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par multiples  ·  LTM  ·  Mkt Cap en Mds USD</a:t>
            </a:r>
          </a:p>
        </p:txBody>
      </p:sp>
      <p:graphicFrame>
        <p:nvGraphicFramePr>
          <p:cNvPr id="17" name="Table 16"/>
          <p:cNvGraphicFramePr>
            <a:graphicFrameLocks noGrp="1"/>
          </p:cNvGraphicFramePr>
          <p:nvPr/>
        </p:nvGraphicFramePr>
        <p:xfrm>
          <a:off x="367200" y="914400"/>
          <a:ext cx="8413200" cy="2015999"/>
        </p:xfrm>
        <a:graphic>
          <a:graphicData uri="http://schemas.openxmlformats.org/drawingml/2006/table">
            <a:tbl>
              <a:tblPr firstRow="1" bandRow="1">
                <a:tableStyleId>{5C22544A-7EE6-4342-B048-85BDC9FD1C3A}</a:tableStyleId>
              </a:tblPr>
              <a:tblGrid>
                <a:gridCol w="1682640"/>
                <a:gridCol w="757188"/>
                <a:gridCol w="1093716"/>
                <a:gridCol w="1009584"/>
                <a:gridCol w="1009584"/>
                <a:gridCol w="757188"/>
                <a:gridCol w="1093716"/>
                <a:gridCol w="1009584"/>
              </a:tblGrid>
              <a:tr h="251999">
                <a:tc>
                  <a:txBody>
                    <a:bodyPr/>
                    <a:lstStyle/>
                    <a:p>
                      <a:pPr algn="l"/>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Ticker</a:t>
                      </a:r>
                    </a:p>
                  </a:txBody>
                  <a:tcPr>
                    <a:solidFill>
                      <a:srgbClr val="1B3A6B"/>
                    </a:solidFill>
                  </a:tcPr>
                </a:tc>
                <a:tc>
                  <a:txBody>
                    <a:bodyPr/>
                    <a:lstStyle/>
                    <a:p>
                      <a:pPr algn="ctr"/>
                      <a:r>
                        <a:rPr sz="800" b="1" i="0">
                          <a:solidFill>
                            <a:srgbClr val="FFFFFF"/>
                          </a:solidFill>
                          <a:latin typeface="Calibri"/>
                        </a:rPr>
                        <a:t>Mkt Cap</a:t>
                      </a:r>
                    </a:p>
                  </a:txBody>
                  <a:tcPr>
                    <a:solidFill>
                      <a:srgbClr val="1B3A6B"/>
                    </a:solidFill>
                  </a:tcPr>
                </a:tc>
                <a:tc>
                  <a:txBody>
                    <a:bodyPr/>
                    <a:lstStyle/>
                    <a:p>
                      <a:pPr algn="ctr"/>
                      <a:r>
                        <a:rPr sz="800" b="1" i="0">
                          <a:solidFill>
                            <a:srgbClr val="FFFFFF"/>
                          </a:solidFill>
                          <a:latin typeface="Calibri"/>
                        </a:rPr>
                        <a:t>EV/EBITDA</a:t>
                      </a:r>
                    </a:p>
                  </a:txBody>
                  <a:tcPr>
                    <a:solidFill>
                      <a:srgbClr val="1B3A6B"/>
                    </a:solidFill>
                  </a:tcPr>
                </a:tc>
                <a:tc>
                  <a:txBody>
                    <a:bodyPr/>
                    <a:lstStyle/>
                    <a:p>
                      <a:pPr algn="ctr"/>
                      <a:r>
                        <a:rPr sz="800" b="1" i="0">
                          <a:solidFill>
                            <a:srgbClr val="FFFFFF"/>
                          </a:solidFill>
                          <a:latin typeface="Calibri"/>
                        </a:rPr>
                        <a:t>EV/Rev.</a:t>
                      </a:r>
                    </a:p>
                  </a:txBody>
                  <a:tcPr>
                    <a:solidFill>
                      <a:srgbClr val="1B3A6B"/>
                    </a:solidFill>
                  </a:tcPr>
                </a:tc>
                <a:tc>
                  <a:txBody>
                    <a:bodyPr/>
                    <a:lstStyle/>
                    <a:p>
                      <a:pPr algn="ctr"/>
                      <a:r>
                        <a:rPr sz="800" b="1" i="0">
                          <a:solidFill>
                            <a:srgbClr val="FFFFFF"/>
                          </a:solidFill>
                          <a:latin typeface="Calibri"/>
                        </a:rPr>
                        <a:t>P/E</a:t>
                      </a:r>
                    </a:p>
                  </a:txBody>
                  <a:tcPr>
                    <a:solidFill>
                      <a:srgbClr val="1B3A6B"/>
                    </a:solidFill>
                  </a:tcPr>
                </a:tc>
                <a:tc>
                  <a:txBody>
                    <a:bodyPr/>
                    <a:lstStyle/>
                    <a:p>
                      <a:pPr algn="ctr"/>
                      <a:r>
                        <a:rPr sz="800" b="1" i="0">
                          <a:solidFill>
                            <a:srgbClr val="FFFFFF"/>
                          </a:solidFill>
                          <a:latin typeface="Calibri"/>
                        </a:rPr>
                        <a:t>Mg Brute</a:t>
                      </a:r>
                    </a:p>
                  </a:txBody>
                  <a:tcPr>
                    <a:solidFill>
                      <a:srgbClr val="1B3A6B"/>
                    </a:solidFill>
                  </a:tcPr>
                </a:tc>
                <a:tc>
                  <a:txBody>
                    <a:bodyPr/>
                    <a:lstStyle/>
                    <a:p>
                      <a:pPr algn="ctr"/>
                      <a:r>
                        <a:rPr sz="800" b="1" i="0">
                          <a:solidFill>
                            <a:srgbClr val="FFFFFF"/>
                          </a:solidFill>
                          <a:latin typeface="Calibri"/>
                        </a:rPr>
                        <a:t>Mg EBITDA</a:t>
                      </a:r>
                    </a:p>
                  </a:txBody>
                  <a:tcPr>
                    <a:solidFill>
                      <a:srgbClr val="1B3A6B"/>
                    </a:solidFill>
                  </a:tcPr>
                </a:tc>
              </a:tr>
              <a:tr h="251999">
                <a:tc>
                  <a:txBody>
                    <a:bodyPr/>
                    <a:lstStyle/>
                    <a:p>
                      <a:pPr algn="l"/>
                      <a:r>
                        <a:rPr sz="800" b="1" i="0">
                          <a:solidFill>
                            <a:srgbClr val="1B3A6B"/>
                          </a:solidFill>
                          <a:latin typeface="Calibri"/>
                        </a:rPr>
                        <a:t>Apple Inc.</a:t>
                      </a:r>
                    </a:p>
                  </a:txBody>
                  <a:tcPr>
                    <a:solidFill>
                      <a:srgbClr val="DDE8F5"/>
                    </a:solidFill>
                  </a:tcPr>
                </a:tc>
                <a:tc>
                  <a:txBody>
                    <a:bodyPr/>
                    <a:lstStyle/>
                    <a:p>
                      <a:pPr algn="ctr"/>
                      <a:r>
                        <a:rPr sz="750" b="1" i="0">
                          <a:solidFill>
                            <a:srgbClr val="2E5FA3"/>
                          </a:solidFill>
                          <a:latin typeface="Calibri"/>
                        </a:rPr>
                        <a:t>AAPL</a:t>
                      </a:r>
                    </a:p>
                  </a:txBody>
                  <a:tcPr>
                    <a:solidFill>
                      <a:srgbClr val="DDE8F5"/>
                    </a:solidFill>
                  </a:tcPr>
                </a:tc>
                <a:tc>
                  <a:txBody>
                    <a:bodyPr/>
                    <a:lstStyle/>
                    <a:p>
                      <a:pPr algn="ctr"/>
                      <a:r>
                        <a:rPr sz="800" b="1" i="0">
                          <a:solidFill>
                            <a:srgbClr val="1B3A6B"/>
                          </a:solidFill>
                          <a:latin typeface="Calibri"/>
                        </a:rPr>
                        <a:t>3 652,7</a:t>
                      </a:r>
                    </a:p>
                  </a:txBody>
                  <a:tcPr>
                    <a:solidFill>
                      <a:srgbClr val="DDE8F5"/>
                    </a:solidFill>
                  </a:tcPr>
                </a:tc>
                <a:tc>
                  <a:txBody>
                    <a:bodyPr/>
                    <a:lstStyle/>
                    <a:p>
                      <a:pPr algn="ctr"/>
                      <a:r>
                        <a:rPr sz="800" b="1" i="0">
                          <a:solidFill>
                            <a:srgbClr val="1B3A6B"/>
                          </a:solidFill>
                          <a:latin typeface="Calibri"/>
                        </a:rPr>
                        <a:t>25,7x</a:t>
                      </a:r>
                    </a:p>
                  </a:txBody>
                  <a:tcPr>
                    <a:solidFill>
                      <a:srgbClr val="DDE8F5"/>
                    </a:solidFill>
                  </a:tcPr>
                </a:tc>
                <a:tc>
                  <a:txBody>
                    <a:bodyPr/>
                    <a:lstStyle/>
                    <a:p>
                      <a:pPr algn="ctr"/>
                      <a:r>
                        <a:rPr sz="800" b="1" i="0">
                          <a:solidFill>
                            <a:srgbClr val="1B3A6B"/>
                          </a:solidFill>
                          <a:latin typeface="Calibri"/>
                        </a:rPr>
                        <a:t>8,9x</a:t>
                      </a:r>
                    </a:p>
                  </a:txBody>
                  <a:tcPr>
                    <a:solidFill>
                      <a:srgbClr val="DDE8F5"/>
                    </a:solidFill>
                  </a:tcPr>
                </a:tc>
                <a:tc>
                  <a:txBody>
                    <a:bodyPr/>
                    <a:lstStyle/>
                    <a:p>
                      <a:pPr algn="ctr"/>
                      <a:r>
                        <a:rPr sz="800" b="1" i="0">
                          <a:solidFill>
                            <a:srgbClr val="1B3A6B"/>
                          </a:solidFill>
                          <a:latin typeface="Calibri"/>
                        </a:rPr>
                        <a:t>32,6x</a:t>
                      </a:r>
                    </a:p>
                  </a:txBody>
                  <a:tcPr>
                    <a:solidFill>
                      <a:srgbClr val="DDE8F5"/>
                    </a:solidFill>
                  </a:tcPr>
                </a:tc>
                <a:tc>
                  <a:txBody>
                    <a:bodyPr/>
                    <a:lstStyle/>
                    <a:p>
                      <a:pPr algn="ctr"/>
                      <a:r>
                        <a:rPr sz="800" b="1" i="0">
                          <a:solidFill>
                            <a:srgbClr val="1B3A6B"/>
                          </a:solidFill>
                          <a:latin typeface="Calibri"/>
                        </a:rPr>
                        <a:t>46,9 %</a:t>
                      </a:r>
                    </a:p>
                  </a:txBody>
                  <a:tcPr>
                    <a:solidFill>
                      <a:srgbClr val="DDE8F5"/>
                    </a:solidFill>
                  </a:tcPr>
                </a:tc>
                <a:tc>
                  <a:txBody>
                    <a:bodyPr/>
                    <a:lstStyle/>
                    <a:p>
                      <a:pPr algn="ctr"/>
                      <a:r>
                        <a:rPr sz="800" b="1" i="0">
                          <a:solidFill>
                            <a:srgbClr val="1B3A6B"/>
                          </a:solidFill>
                          <a:latin typeface="Calibri"/>
                        </a:rPr>
                        <a:t>34,8 %</a:t>
                      </a:r>
                    </a:p>
                  </a:txBody>
                  <a:tcPr>
                    <a:solidFill>
                      <a:srgbClr val="DDE8F5"/>
                    </a:solidFill>
                  </a:tcPr>
                </a:tc>
              </a:tr>
              <a:tr h="251999">
                <a:tc>
                  <a:txBody>
                    <a:bodyPr/>
                    <a:lstStyle/>
                    <a:p>
                      <a:pPr algn="l"/>
                      <a:r>
                        <a:rPr sz="800" b="0" i="0">
                          <a:solidFill>
                            <a:srgbClr val="0D0D0D"/>
                          </a:solidFill>
                          <a:latin typeface="Calibri"/>
                        </a:rPr>
                        <a:t>Microsoft</a:t>
                      </a:r>
                    </a:p>
                  </a:txBody>
                  <a:tcPr>
                    <a:solidFill>
                      <a:srgbClr val="FFFFFF"/>
                    </a:solidFill>
                  </a:tcPr>
                </a:tc>
                <a:tc>
                  <a:txBody>
                    <a:bodyPr/>
                    <a:lstStyle/>
                    <a:p>
                      <a:pPr algn="ctr"/>
                      <a:r>
                        <a:rPr sz="750" b="0" i="0">
                          <a:solidFill>
                            <a:srgbClr val="555555"/>
                          </a:solidFill>
                          <a:latin typeface="Calibri"/>
                        </a:rPr>
                        <a:t>MSFT</a:t>
                      </a:r>
                    </a:p>
                  </a:txBody>
                  <a:tcPr>
                    <a:solidFill>
                      <a:srgbClr val="FFFFFF"/>
                    </a:solidFill>
                  </a:tcPr>
                </a:tc>
                <a:tc>
                  <a:txBody>
                    <a:bodyPr/>
                    <a:lstStyle/>
                    <a:p>
                      <a:pPr algn="ctr"/>
                      <a:r>
                        <a:rPr sz="800" b="0" i="0">
                          <a:solidFill>
                            <a:srgbClr val="0D0D0D"/>
                          </a:solidFill>
                          <a:latin typeface="Calibri"/>
                        </a:rPr>
                        <a:t>3 200,0</a:t>
                      </a:r>
                    </a:p>
                  </a:txBody>
                  <a:tcPr>
                    <a:solidFill>
                      <a:srgbClr val="FFFFFF"/>
                    </a:solidFill>
                  </a:tcPr>
                </a:tc>
                <a:tc>
                  <a:txBody>
                    <a:bodyPr/>
                    <a:lstStyle/>
                    <a:p>
                      <a:pPr algn="ctr"/>
                      <a:r>
                        <a:rPr sz="800" b="0" i="0">
                          <a:solidFill>
                            <a:srgbClr val="0D0D0D"/>
                          </a:solidFill>
                          <a:latin typeface="Calibri"/>
                        </a:rPr>
                        <a:t>24,1x</a:t>
                      </a:r>
                    </a:p>
                  </a:txBody>
                  <a:tcPr>
                    <a:solidFill>
                      <a:srgbClr val="FFFFFF"/>
                    </a:solidFill>
                  </a:tcPr>
                </a:tc>
                <a:tc>
                  <a:txBody>
                    <a:bodyPr/>
                    <a:lstStyle/>
                    <a:p>
                      <a:pPr algn="ctr"/>
                      <a:r>
                        <a:rPr sz="800" b="0" i="0">
                          <a:solidFill>
                            <a:srgbClr val="0D0D0D"/>
                          </a:solidFill>
                          <a:latin typeface="Calibri"/>
                        </a:rPr>
                        <a:t>12,8x</a:t>
                      </a:r>
                    </a:p>
                  </a:txBody>
                  <a:tcPr>
                    <a:solidFill>
                      <a:srgbClr val="FFFFFF"/>
                    </a:solidFill>
                  </a:tcPr>
                </a:tc>
                <a:tc>
                  <a:txBody>
                    <a:bodyPr/>
                    <a:lstStyle/>
                    <a:p>
                      <a:pPr algn="ctr"/>
                      <a:r>
                        <a:rPr sz="800" b="0" i="0">
                          <a:solidFill>
                            <a:srgbClr val="0D0D0D"/>
                          </a:solidFill>
                          <a:latin typeface="Calibri"/>
                        </a:rPr>
                        <a:t>37,2x</a:t>
                      </a:r>
                    </a:p>
                  </a:txBody>
                  <a:tcPr>
                    <a:solidFill>
                      <a:srgbClr val="FFFFFF"/>
                    </a:solidFill>
                  </a:tcPr>
                </a:tc>
                <a:tc>
                  <a:txBody>
                    <a:bodyPr/>
                    <a:lstStyle/>
                    <a:p>
                      <a:pPr algn="ctr"/>
                      <a:r>
                        <a:rPr sz="800" b="0" i="0">
                          <a:solidFill>
                            <a:srgbClr val="0D0D0D"/>
                          </a:solidFill>
                          <a:latin typeface="Calibri"/>
                        </a:rPr>
                        <a:t>6800,0 %</a:t>
                      </a:r>
                    </a:p>
                  </a:txBody>
                  <a:tcPr>
                    <a:solidFill>
                      <a:srgbClr val="FFFFFF"/>
                    </a:solidFill>
                  </a:tcPr>
                </a:tc>
                <a:tc>
                  <a:txBody>
                    <a:bodyPr/>
                    <a:lstStyle/>
                    <a:p>
                      <a:pPr algn="ctr"/>
                      <a:r>
                        <a:rPr sz="800" b="0" i="0">
                          <a:solidFill>
                            <a:srgbClr val="0D0D0D"/>
                          </a:solidFill>
                          <a:latin typeface="Calibri"/>
                        </a:rPr>
                        <a:t>5500,0 %</a:t>
                      </a:r>
                    </a:p>
                  </a:txBody>
                  <a:tcPr>
                    <a:solidFill>
                      <a:srgbClr val="FFFFFF"/>
                    </a:solidFill>
                  </a:tcPr>
                </a:tc>
              </a:tr>
              <a:tr h="251999">
                <a:tc>
                  <a:txBody>
                    <a:bodyPr/>
                    <a:lstStyle/>
                    <a:p>
                      <a:pPr algn="l"/>
                      <a:r>
                        <a:rPr sz="800" b="0" i="0">
                          <a:solidFill>
                            <a:srgbClr val="0D0D0D"/>
                          </a:solidFill>
                          <a:latin typeface="Calibri"/>
                        </a:rPr>
                        <a:t>Alphabet</a:t>
                      </a:r>
                    </a:p>
                  </a:txBody>
                  <a:tcPr>
                    <a:solidFill>
                      <a:srgbClr val="F7F8FA"/>
                    </a:solidFill>
                  </a:tcPr>
                </a:tc>
                <a:tc>
                  <a:txBody>
                    <a:bodyPr/>
                    <a:lstStyle/>
                    <a:p>
                      <a:pPr algn="ctr"/>
                      <a:r>
                        <a:rPr sz="750" b="0" i="0">
                          <a:solidFill>
                            <a:srgbClr val="555555"/>
                          </a:solidFill>
                          <a:latin typeface="Calibri"/>
                        </a:rPr>
                        <a:t>GOOGL</a:t>
                      </a:r>
                    </a:p>
                  </a:txBody>
                  <a:tcPr>
                    <a:solidFill>
                      <a:srgbClr val="F7F8FA"/>
                    </a:solidFill>
                  </a:tcPr>
                </a:tc>
                <a:tc>
                  <a:txBody>
                    <a:bodyPr/>
                    <a:lstStyle/>
                    <a:p>
                      <a:pPr algn="ctr"/>
                      <a:r>
                        <a:rPr sz="800" b="0" i="0">
                          <a:solidFill>
                            <a:srgbClr val="0D0D0D"/>
                          </a:solidFill>
                          <a:latin typeface="Calibri"/>
                        </a:rPr>
                        <a:t>2 100,0</a:t>
                      </a:r>
                    </a:p>
                  </a:txBody>
                  <a:tcPr>
                    <a:solidFill>
                      <a:srgbClr val="F7F8FA"/>
                    </a:solidFill>
                  </a:tcPr>
                </a:tc>
                <a:tc>
                  <a:txBody>
                    <a:bodyPr/>
                    <a:lstStyle/>
                    <a:p>
                      <a:pPr algn="ctr"/>
                      <a:r>
                        <a:rPr sz="800" b="0" i="0">
                          <a:solidFill>
                            <a:srgbClr val="0D0D0D"/>
                          </a:solidFill>
                          <a:latin typeface="Calibri"/>
                        </a:rPr>
                        <a:t>22,5x</a:t>
                      </a:r>
                    </a:p>
                  </a:txBody>
                  <a:tcPr>
                    <a:solidFill>
                      <a:srgbClr val="F7F8FA"/>
                    </a:solidFill>
                  </a:tcPr>
                </a:tc>
                <a:tc>
                  <a:txBody>
                    <a:bodyPr/>
                    <a:lstStyle/>
                    <a:p>
                      <a:pPr algn="ctr"/>
                      <a:r>
                        <a:rPr sz="800" b="0" i="0">
                          <a:solidFill>
                            <a:srgbClr val="0D0D0D"/>
                          </a:solidFill>
                          <a:latin typeface="Calibri"/>
                        </a:rPr>
                        <a:t>8,5x</a:t>
                      </a:r>
                    </a:p>
                  </a:txBody>
                  <a:tcPr>
                    <a:solidFill>
                      <a:srgbClr val="F7F8FA"/>
                    </a:solidFill>
                  </a:tcPr>
                </a:tc>
                <a:tc>
                  <a:txBody>
                    <a:bodyPr/>
                    <a:lstStyle/>
                    <a:p>
                      <a:pPr algn="ctr"/>
                      <a:r>
                        <a:rPr sz="800" b="0" i="0">
                          <a:solidFill>
                            <a:srgbClr val="0D0D0D"/>
                          </a:solidFill>
                          <a:latin typeface="Calibri"/>
                        </a:rPr>
                        <a:t>28,5x</a:t>
                      </a:r>
                    </a:p>
                  </a:txBody>
                  <a:tcPr>
                    <a:solidFill>
                      <a:srgbClr val="F7F8FA"/>
                    </a:solidFill>
                  </a:tcPr>
                </a:tc>
                <a:tc>
                  <a:txBody>
                    <a:bodyPr/>
                    <a:lstStyle/>
                    <a:p>
                      <a:pPr algn="ctr"/>
                      <a:r>
                        <a:rPr sz="800" b="0" i="0">
                          <a:solidFill>
                            <a:srgbClr val="0D0D0D"/>
                          </a:solidFill>
                          <a:latin typeface="Calibri"/>
                        </a:rPr>
                        <a:t>5600,0 %</a:t>
                      </a:r>
                    </a:p>
                  </a:txBody>
                  <a:tcPr>
                    <a:solidFill>
                      <a:srgbClr val="F7F8FA"/>
                    </a:solidFill>
                  </a:tcPr>
                </a:tc>
                <a:tc>
                  <a:txBody>
                    <a:bodyPr/>
                    <a:lstStyle/>
                    <a:p>
                      <a:pPr algn="ctr"/>
                      <a:r>
                        <a:rPr sz="800" b="0" i="0">
                          <a:solidFill>
                            <a:srgbClr val="0D0D0D"/>
                          </a:solidFill>
                          <a:latin typeface="Calibri"/>
                        </a:rPr>
                        <a:t>4000,0 %</a:t>
                      </a:r>
                    </a:p>
                  </a:txBody>
                  <a:tcPr>
                    <a:solidFill>
                      <a:srgbClr val="F7F8FA"/>
                    </a:solidFill>
                  </a:tcPr>
                </a:tc>
              </a:tr>
              <a:tr h="251999">
                <a:tc>
                  <a:txBody>
                    <a:bodyPr/>
                    <a:lstStyle/>
                    <a:p>
                      <a:pPr algn="l"/>
                      <a:r>
                        <a:rPr sz="800" b="0" i="0">
                          <a:solidFill>
                            <a:srgbClr val="0D0D0D"/>
                          </a:solidFill>
                          <a:latin typeface="Calibri"/>
                        </a:rPr>
                        <a:t>Amazon</a:t>
                      </a:r>
                    </a:p>
                  </a:txBody>
                  <a:tcPr>
                    <a:solidFill>
                      <a:srgbClr val="FFFFFF"/>
                    </a:solidFill>
                  </a:tcPr>
                </a:tc>
                <a:tc>
                  <a:txBody>
                    <a:bodyPr/>
                    <a:lstStyle/>
                    <a:p>
                      <a:pPr algn="ctr"/>
                      <a:r>
                        <a:rPr sz="750" b="0" i="0">
                          <a:solidFill>
                            <a:srgbClr val="555555"/>
                          </a:solidFill>
                          <a:latin typeface="Calibri"/>
                        </a:rPr>
                        <a:t>AMZN</a:t>
                      </a:r>
                    </a:p>
                  </a:txBody>
                  <a:tcPr>
                    <a:solidFill>
                      <a:srgbClr val="FFFFFF"/>
                    </a:solidFill>
                  </a:tcPr>
                </a:tc>
                <a:tc>
                  <a:txBody>
                    <a:bodyPr/>
                    <a:lstStyle/>
                    <a:p>
                      <a:pPr algn="ctr"/>
                      <a:r>
                        <a:rPr sz="800" b="0" i="0">
                          <a:solidFill>
                            <a:srgbClr val="0D0D0D"/>
                          </a:solidFill>
                          <a:latin typeface="Calibri"/>
                        </a:rPr>
                        <a:t>1 800,0</a:t>
                      </a:r>
                    </a:p>
                  </a:txBody>
                  <a:tcPr>
                    <a:solidFill>
                      <a:srgbClr val="FFFFFF"/>
                    </a:solidFill>
                  </a:tcPr>
                </a:tc>
                <a:tc>
                  <a:txBody>
                    <a:bodyPr/>
                    <a:lstStyle/>
                    <a:p>
                      <a:pPr algn="ctr"/>
                      <a:r>
                        <a:rPr sz="800" b="0" i="0">
                          <a:solidFill>
                            <a:srgbClr val="0D0D0D"/>
                          </a:solidFill>
                          <a:latin typeface="Calibri"/>
                        </a:rPr>
                        <a:t>20,3x</a:t>
                      </a:r>
                    </a:p>
                  </a:txBody>
                  <a:tcPr>
                    <a:solidFill>
                      <a:srgbClr val="FFFFFF"/>
                    </a:solidFill>
                  </a:tcPr>
                </a:tc>
                <a:tc>
                  <a:txBody>
                    <a:bodyPr/>
                    <a:lstStyle/>
                    <a:p>
                      <a:pPr algn="ctr"/>
                      <a:r>
                        <a:rPr sz="800" b="0" i="0">
                          <a:solidFill>
                            <a:srgbClr val="0D0D0D"/>
                          </a:solidFill>
                          <a:latin typeface="Calibri"/>
                        </a:rPr>
                        <a:t>3,2x</a:t>
                      </a:r>
                    </a:p>
                  </a:txBody>
                  <a:tcPr>
                    <a:solidFill>
                      <a:srgbClr val="FFFFFF"/>
                    </a:solidFill>
                  </a:tcPr>
                </a:tc>
                <a:tc>
                  <a:txBody>
                    <a:bodyPr/>
                    <a:lstStyle/>
                    <a:p>
                      <a:pPr algn="ctr"/>
                      <a:r>
                        <a:rPr sz="800" b="0" i="0">
                          <a:solidFill>
                            <a:srgbClr val="0D0D0D"/>
                          </a:solidFill>
                          <a:latin typeface="Calibri"/>
                        </a:rPr>
                        <a:t>55,0x</a:t>
                      </a:r>
                    </a:p>
                  </a:txBody>
                  <a:tcPr>
                    <a:solidFill>
                      <a:srgbClr val="FFFFFF"/>
                    </a:solidFill>
                  </a:tcPr>
                </a:tc>
                <a:tc>
                  <a:txBody>
                    <a:bodyPr/>
                    <a:lstStyle/>
                    <a:p>
                      <a:pPr algn="ctr"/>
                      <a:r>
                        <a:rPr sz="800" b="0" i="0">
                          <a:solidFill>
                            <a:srgbClr val="0D0D0D"/>
                          </a:solidFill>
                          <a:latin typeface="Calibri"/>
                        </a:rPr>
                        <a:t>4000,0 %</a:t>
                      </a:r>
                    </a:p>
                  </a:txBody>
                  <a:tcPr>
                    <a:solidFill>
                      <a:srgbClr val="FFFFFF"/>
                    </a:solidFill>
                  </a:tcPr>
                </a:tc>
                <a:tc>
                  <a:txBody>
                    <a:bodyPr/>
                    <a:lstStyle/>
                    <a:p>
                      <a:pPr algn="ctr"/>
                      <a:r>
                        <a:rPr sz="800" b="0" i="0">
                          <a:solidFill>
                            <a:srgbClr val="0D0D0D"/>
                          </a:solidFill>
                          <a:latin typeface="Calibri"/>
                        </a:rPr>
                        <a:t>1500,0 %</a:t>
                      </a:r>
                    </a:p>
                  </a:txBody>
                  <a:tcPr>
                    <a:solidFill>
                      <a:srgbClr val="FFFFFF"/>
                    </a:solidFill>
                  </a:tcPr>
                </a:tc>
              </a:tr>
              <a:tr h="251999">
                <a:tc>
                  <a:txBody>
                    <a:bodyPr/>
                    <a:lstStyle/>
                    <a:p>
                      <a:pPr algn="l"/>
                      <a:r>
                        <a:rPr sz="800" b="0" i="0">
                          <a:solidFill>
                            <a:srgbClr val="0D0D0D"/>
                          </a:solidFill>
                          <a:latin typeface="Calibri"/>
                        </a:rPr>
                        <a:t>Meta Platforms</a:t>
                      </a:r>
                    </a:p>
                  </a:txBody>
                  <a:tcPr>
                    <a:solidFill>
                      <a:srgbClr val="F7F8FA"/>
                    </a:solidFill>
                  </a:tcPr>
                </a:tc>
                <a:tc>
                  <a:txBody>
                    <a:bodyPr/>
                    <a:lstStyle/>
                    <a:p>
                      <a:pPr algn="ctr"/>
                      <a:r>
                        <a:rPr sz="750" b="0" i="0">
                          <a:solidFill>
                            <a:srgbClr val="555555"/>
                          </a:solidFill>
                          <a:latin typeface="Calibri"/>
                        </a:rPr>
                        <a:t>META</a:t>
                      </a:r>
                    </a:p>
                  </a:txBody>
                  <a:tcPr>
                    <a:solidFill>
                      <a:srgbClr val="F7F8FA"/>
                    </a:solidFill>
                  </a:tcPr>
                </a:tc>
                <a:tc>
                  <a:txBody>
                    <a:bodyPr/>
                    <a:lstStyle/>
                    <a:p>
                      <a:pPr algn="ctr"/>
                      <a:r>
                        <a:rPr sz="800" b="0" i="0">
                          <a:solidFill>
                            <a:srgbClr val="0D0D0D"/>
                          </a:solidFill>
                          <a:latin typeface="Calibri"/>
                        </a:rPr>
                        <a:t>1 500,0</a:t>
                      </a:r>
                    </a:p>
                  </a:txBody>
                  <a:tcPr>
                    <a:solidFill>
                      <a:srgbClr val="F7F8FA"/>
                    </a:solidFill>
                  </a:tcPr>
                </a:tc>
                <a:tc>
                  <a:txBody>
                    <a:bodyPr/>
                    <a:lstStyle/>
                    <a:p>
                      <a:pPr algn="ctr"/>
                      <a:r>
                        <a:rPr sz="800" b="0" i="0">
                          <a:solidFill>
                            <a:srgbClr val="0D0D0D"/>
                          </a:solidFill>
                          <a:latin typeface="Calibri"/>
                        </a:rPr>
                        <a:t>18,7x</a:t>
                      </a:r>
                    </a:p>
                  </a:txBody>
                  <a:tcPr>
                    <a:solidFill>
                      <a:srgbClr val="F7F8FA"/>
                    </a:solidFill>
                  </a:tcPr>
                </a:tc>
                <a:tc>
                  <a:txBody>
                    <a:bodyPr/>
                    <a:lstStyle/>
                    <a:p>
                      <a:pPr algn="ctr"/>
                      <a:r>
                        <a:rPr sz="800" b="0" i="0">
                          <a:solidFill>
                            <a:srgbClr val="0D0D0D"/>
                          </a:solidFill>
                          <a:latin typeface="Calibri"/>
                        </a:rPr>
                        <a:t>9,2x</a:t>
                      </a:r>
                    </a:p>
                  </a:txBody>
                  <a:tcPr>
                    <a:solidFill>
                      <a:srgbClr val="F7F8FA"/>
                    </a:solidFill>
                  </a:tcPr>
                </a:tc>
                <a:tc>
                  <a:txBody>
                    <a:bodyPr/>
                    <a:lstStyle/>
                    <a:p>
                      <a:pPr algn="ctr"/>
                      <a:r>
                        <a:rPr sz="800" b="0" i="0">
                          <a:solidFill>
                            <a:srgbClr val="0D0D0D"/>
                          </a:solidFill>
                          <a:latin typeface="Calibri"/>
                        </a:rPr>
                        <a:t>30,5x</a:t>
                      </a:r>
                    </a:p>
                  </a:txBody>
                  <a:tcPr>
                    <a:solidFill>
                      <a:srgbClr val="F7F8FA"/>
                    </a:solidFill>
                  </a:tcPr>
                </a:tc>
                <a:tc>
                  <a:txBody>
                    <a:bodyPr/>
                    <a:lstStyle/>
                    <a:p>
                      <a:pPr algn="ctr"/>
                      <a:r>
                        <a:rPr sz="800" b="0" i="0">
                          <a:solidFill>
                            <a:srgbClr val="0D0D0D"/>
                          </a:solidFill>
                          <a:latin typeface="Calibri"/>
                        </a:rPr>
                        <a:t>8500,0 %</a:t>
                      </a:r>
                    </a:p>
                  </a:txBody>
                  <a:tcPr>
                    <a:solidFill>
                      <a:srgbClr val="F7F8FA"/>
                    </a:solidFill>
                  </a:tcPr>
                </a:tc>
                <a:tc>
                  <a:txBody>
                    <a:bodyPr/>
                    <a:lstStyle/>
                    <a:p>
                      <a:pPr algn="ctr"/>
                      <a:r>
                        <a:rPr sz="800" b="0" i="0">
                          <a:solidFill>
                            <a:srgbClr val="0D0D0D"/>
                          </a:solidFill>
                          <a:latin typeface="Calibri"/>
                        </a:rPr>
                        <a:t>5500,0 %</a:t>
                      </a:r>
                    </a:p>
                  </a:txBody>
                  <a:tcPr>
                    <a:solidFill>
                      <a:srgbClr val="F7F8FA"/>
                    </a:solidFill>
                  </a:tcPr>
                </a:tc>
              </a:tr>
              <a:tr h="251999">
                <a:tc>
                  <a:txBody>
                    <a:bodyPr/>
                    <a:lstStyle/>
                    <a:p>
                      <a:pPr algn="l"/>
                      <a:r>
                        <a:rPr sz="800" b="0" i="0">
                          <a:solidFill>
                            <a:srgbClr val="0D0D0D"/>
                          </a:solidFill>
                          <a:latin typeface="Calibri"/>
                        </a:rPr>
                        <a:t>NVIDIA</a:t>
                      </a:r>
                    </a:p>
                  </a:txBody>
                  <a:tcPr>
                    <a:solidFill>
                      <a:srgbClr val="FFFFFF"/>
                    </a:solidFill>
                  </a:tcPr>
                </a:tc>
                <a:tc>
                  <a:txBody>
                    <a:bodyPr/>
                    <a:lstStyle/>
                    <a:p>
                      <a:pPr algn="ctr"/>
                      <a:r>
                        <a:rPr sz="750" b="0" i="0">
                          <a:solidFill>
                            <a:srgbClr val="555555"/>
                          </a:solidFill>
                          <a:latin typeface="Calibri"/>
                        </a:rPr>
                        <a:t>NVDA</a:t>
                      </a:r>
                    </a:p>
                  </a:txBody>
                  <a:tcPr>
                    <a:solidFill>
                      <a:srgbClr val="FFFFFF"/>
                    </a:solidFill>
                  </a:tcPr>
                </a:tc>
                <a:tc>
                  <a:txBody>
                    <a:bodyPr/>
                    <a:lstStyle/>
                    <a:p>
                      <a:pPr algn="ctr"/>
                      <a:r>
                        <a:rPr sz="800" b="0" i="0">
                          <a:solidFill>
                            <a:srgbClr val="0D0D0D"/>
                          </a:solidFill>
                          <a:latin typeface="Calibri"/>
                        </a:rPr>
                        <a:t>2 300,0</a:t>
                      </a:r>
                    </a:p>
                  </a:txBody>
                  <a:tcPr>
                    <a:solidFill>
                      <a:srgbClr val="FFFFFF"/>
                    </a:solidFill>
                  </a:tcPr>
                </a:tc>
                <a:tc>
                  <a:txBody>
                    <a:bodyPr/>
                    <a:lstStyle/>
                    <a:p>
                      <a:pPr algn="ctr"/>
                      <a:r>
                        <a:rPr sz="800" b="0" i="0">
                          <a:solidFill>
                            <a:srgbClr val="0D0D0D"/>
                          </a:solidFill>
                          <a:latin typeface="Calibri"/>
                        </a:rPr>
                        <a:t>45,0x</a:t>
                      </a:r>
                    </a:p>
                  </a:txBody>
                  <a:tcPr>
                    <a:solidFill>
                      <a:srgbClr val="FFFFFF"/>
                    </a:solidFill>
                  </a:tcPr>
                </a:tc>
                <a:tc>
                  <a:txBody>
                    <a:bodyPr/>
                    <a:lstStyle/>
                    <a:p>
                      <a:pPr algn="ctr"/>
                      <a:r>
                        <a:rPr sz="800" b="0" i="0">
                          <a:solidFill>
                            <a:srgbClr val="0D0D0D"/>
                          </a:solidFill>
                          <a:latin typeface="Calibri"/>
                        </a:rPr>
                        <a:t>22,0x</a:t>
                      </a:r>
                    </a:p>
                  </a:txBody>
                  <a:tcPr>
                    <a:solidFill>
                      <a:srgbClr val="FFFFFF"/>
                    </a:solidFill>
                  </a:tcPr>
                </a:tc>
                <a:tc>
                  <a:txBody>
                    <a:bodyPr/>
                    <a:lstStyle/>
                    <a:p>
                      <a:pPr algn="ctr"/>
                      <a:r>
                        <a:rPr sz="800" b="0" i="0">
                          <a:solidFill>
                            <a:srgbClr val="0D0D0D"/>
                          </a:solidFill>
                          <a:latin typeface="Calibri"/>
                        </a:rPr>
                        <a:t>42,0x</a:t>
                      </a:r>
                    </a:p>
                  </a:txBody>
                  <a:tcPr>
                    <a:solidFill>
                      <a:srgbClr val="FFFFFF"/>
                    </a:solidFill>
                  </a:tcPr>
                </a:tc>
                <a:tc>
                  <a:txBody>
                    <a:bodyPr/>
                    <a:lstStyle/>
                    <a:p>
                      <a:pPr algn="ctr"/>
                      <a:r>
                        <a:rPr sz="800" b="0" i="0">
                          <a:solidFill>
                            <a:srgbClr val="0D0D0D"/>
                          </a:solidFill>
                          <a:latin typeface="Calibri"/>
                        </a:rPr>
                        <a:t>7000,0 %</a:t>
                      </a:r>
                    </a:p>
                  </a:txBody>
                  <a:tcPr>
                    <a:solidFill>
                      <a:srgbClr val="FFFFFF"/>
                    </a:solidFill>
                  </a:tcPr>
                </a:tc>
                <a:tc>
                  <a:txBody>
                    <a:bodyPr/>
                    <a:lstStyle/>
                    <a:p>
                      <a:pPr algn="ctr"/>
                      <a:r>
                        <a:rPr sz="800" b="0" i="0">
                          <a:solidFill>
                            <a:srgbClr val="0D0D0D"/>
                          </a:solidFill>
                          <a:latin typeface="Calibri"/>
                        </a:rPr>
                        <a:t>6500,0 %</a:t>
                      </a:r>
                    </a:p>
                  </a:txBody>
                  <a:tcPr>
                    <a:solidFill>
                      <a:srgbClr val="FFFFFF"/>
                    </a:solidFill>
                  </a:tcPr>
                </a:tc>
              </a:tr>
              <a:tr h="252006">
                <a:tc>
                  <a:txBody>
                    <a:bodyPr/>
                    <a:lstStyle/>
                    <a:p>
                      <a:pPr algn="l"/>
                      <a:r>
                        <a:rPr sz="800" b="1" i="0">
                          <a:solidFill>
                            <a:srgbClr val="0D0D0D"/>
                          </a:solidFill>
                          <a:latin typeface="Calibri"/>
                        </a:rPr>
                        <a:t>Médiane peers</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22,5x</a:t>
                      </a:r>
                    </a:p>
                  </a:txBody>
                  <a:tcPr>
                    <a:solidFill>
                      <a:srgbClr val="F7F8FA"/>
                    </a:solidFill>
                  </a:tcPr>
                </a:tc>
                <a:tc>
                  <a:txBody>
                    <a:bodyPr/>
                    <a:lstStyle/>
                    <a:p>
                      <a:pPr algn="ctr"/>
                      <a:r>
                        <a:rPr sz="800" b="1" i="0">
                          <a:solidFill>
                            <a:srgbClr val="0D0D0D"/>
                          </a:solidFill>
                          <a:latin typeface="Calibri"/>
                        </a:rPr>
                        <a:t>9,2x</a:t>
                      </a:r>
                    </a:p>
                  </a:txBody>
                  <a:tcPr>
                    <a:solidFill>
                      <a:srgbClr val="F7F8FA"/>
                    </a:solidFill>
                  </a:tcPr>
                </a:tc>
                <a:tc>
                  <a:txBody>
                    <a:bodyPr/>
                    <a:lstStyle/>
                    <a:p>
                      <a:pPr algn="ctr"/>
                      <a:r>
                        <a:rPr sz="800" b="1" i="0">
                          <a:solidFill>
                            <a:srgbClr val="0D0D0D"/>
                          </a:solidFill>
                          <a:latin typeface="Calibri"/>
                        </a:rPr>
                        <a:t>37,2x</a:t>
                      </a:r>
                    </a:p>
                  </a:txBody>
                  <a:tcPr>
                    <a:solidFill>
                      <a:srgbClr val="F7F8FA"/>
                    </a:solidFill>
                  </a:tcPr>
                </a:tc>
                <a:tc>
                  <a:txBody>
                    <a:bodyPr/>
                    <a:lstStyle/>
                    <a:p>
                      <a:pPr algn="ctr"/>
                      <a:r>
                        <a:rPr sz="800" b="1" i="0">
                          <a:solidFill>
                            <a:srgbClr val="0D0D0D"/>
                          </a:solidFill>
                          <a:latin typeface="Calibri"/>
                        </a:rPr>
                        <a:t>6800,0 %</a:t>
                      </a:r>
                    </a:p>
                  </a:txBody>
                  <a:tcPr>
                    <a:solidFill>
                      <a:srgbClr val="F7F8FA"/>
                    </a:solidFill>
                  </a:tcPr>
                </a:tc>
                <a:tc>
                  <a:txBody>
                    <a:bodyPr/>
                    <a:lstStyle/>
                    <a:p>
                      <a:pPr algn="ctr"/>
                      <a:r>
                        <a:rPr sz="800" b="1" i="0">
                          <a:solidFill>
                            <a:srgbClr val="0D0D0D"/>
                          </a:solidFill>
                          <a:latin typeface="Calibri"/>
                        </a:rPr>
                        <a:t>5500,0 %</a:t>
                      </a:r>
                    </a:p>
                  </a:txBody>
                  <a:tcPr>
                    <a:solidFill>
                      <a:srgbClr val="F7F8FA"/>
                    </a:solidFill>
                  </a:tcPr>
                </a:tc>
              </a:tr>
            </a:tbl>
          </a:graphicData>
        </a:graphic>
      </p:graphicFrame>
      <p:sp>
        <p:nvSpPr>
          <p:cNvPr id="18" name="TextBox 17"/>
          <p:cNvSpPr txBox="1"/>
          <p:nvPr/>
        </p:nvSpPr>
        <p:spPr>
          <a:xfrm>
            <a:off x="367200" y="3128400"/>
            <a:ext cx="8413200" cy="1234800"/>
          </a:xfrm>
          <a:prstGeom prst="rect">
            <a:avLst/>
          </a:prstGeom>
          <a:noFill/>
        </p:spPr>
        <p:txBody>
          <a:bodyPr wrap="square">
            <a:spAutoFit/>
          </a:bodyPr>
          <a:lstStyle/>
          <a:p>
            <a:pPr algn="l"/>
            <a:r>
              <a:rPr sz="850" b="0" i="0">
                <a:solidFill>
                  <a:srgbClr val="555555"/>
                </a:solidFill>
                <a:latin typeface="Calibri"/>
              </a:rPr>
              <a:t>Apple affiche un P/E de 32.6x vs une médiane peers de 28.5x (+13.7%), justifiée par des marges supérieures et une croissance organique. L'EV/EBITDA à 25.7x est en ligne avec la médiane (26.1x), mais une prime de 20% serait justifiée pour sa qualité d'actifs. Une convergence vers 30x P/E impliquerait un upside de 12%.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Football Field Chart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Synthèse des méthodes de valorisation  ·  USD par action</a:t>
            </a:r>
          </a:p>
        </p:txBody>
      </p:sp>
      <p:pic>
        <p:nvPicPr>
          <p:cNvPr id="17" name="Picture 16" descr="image.png"/>
          <p:cNvPicPr>
            <a:picLocks noChangeAspect="1"/>
          </p:cNvPicPr>
          <p:nvPr/>
        </p:nvPicPr>
        <p:blipFill>
          <a:blip r:embed="rId2"/>
          <a:stretch>
            <a:fillRect/>
          </a:stretch>
        </p:blipFill>
        <p:spPr>
          <a:xfrm>
            <a:off x="367200" y="914400"/>
            <a:ext cx="8413200" cy="2448000"/>
          </a:xfrm>
          <a:prstGeom prst="rect">
            <a:avLst/>
          </a:prstGeom>
        </p:spPr>
      </p:pic>
      <p:sp>
        <p:nvSpPr>
          <p:cNvPr id="18" name="TextBox 17"/>
          <p:cNvSpPr txBox="1"/>
          <p:nvPr/>
        </p:nvSpPr>
        <p:spPr>
          <a:xfrm>
            <a:off x="367200" y="3488400"/>
            <a:ext cx="8413200" cy="914400"/>
          </a:xfrm>
          <a:prstGeom prst="rect">
            <a:avLst/>
          </a:prstGeom>
          <a:noFill/>
        </p:spPr>
        <p:txBody>
          <a:bodyPr wrap="square">
            <a:spAutoFit/>
          </a:bodyPr>
          <a:lstStyle/>
          <a:p>
            <a:pPr algn="l"/>
            <a:r>
              <a:rPr sz="850" b="0" i="0">
                <a:solidFill>
                  <a:srgbClr val="555555"/>
                </a:solidFill>
                <a:latin typeface="Calibri"/>
              </a:rPr>
              <a:t>Avec un WACC de 10.4% et un TGR de 3.0%, le DCF implique un prix de 285$ (base), soit un upside de 14.5% vs cours actuel. La prime de croissance est partiellement pricee, mais les catalyseurs (IA, services) pourraient justifier une revalorisation si l'execution suit.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04</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Risques &amp; Stratégie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Avocat du diable &amp; conditions d'invalidation</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1B3A6B"/>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Risques &amp; Conditions d'Invalidation</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des risques structurels  ·  Thèse contraire</a:t>
            </a:r>
          </a:p>
        </p:txBody>
      </p:sp>
      <p:sp>
        <p:nvSpPr>
          <p:cNvPr id="17" name="Rectangle 16"/>
          <p:cNvSpPr/>
          <p:nvPr/>
        </p:nvSpPr>
        <p:spPr>
          <a:xfrm>
            <a:off x="367200" y="961200"/>
            <a:ext cx="2743200" cy="19188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43200" cy="5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200" y="1069200"/>
            <a:ext cx="2527200" cy="255600"/>
          </a:xfrm>
          <a:prstGeom prst="rect">
            <a:avLst/>
          </a:prstGeom>
          <a:noFill/>
        </p:spPr>
        <p:txBody>
          <a:bodyPr wrap="square">
            <a:spAutoFit/>
          </a:bodyPr>
          <a:lstStyle/>
          <a:p>
            <a:pPr algn="l"/>
            <a:r>
              <a:rPr sz="900" b="1" i="0">
                <a:solidFill>
                  <a:srgbClr val="A82020"/>
                </a:solidFill>
                <a:latin typeface="Calibri"/>
              </a:rPr>
              <a:t>Régulation antitrust</a:t>
            </a:r>
          </a:p>
        </p:txBody>
      </p:sp>
      <p:sp>
        <p:nvSpPr>
          <p:cNvPr id="20" name="TextBox 19"/>
          <p:cNvSpPr txBox="1"/>
          <p:nvPr/>
        </p:nvSpPr>
        <p:spPr>
          <a:xfrm>
            <a:off x="475200" y="1436400"/>
            <a:ext cx="2527200" cy="1260000"/>
          </a:xfrm>
          <a:prstGeom prst="rect">
            <a:avLst/>
          </a:prstGeom>
          <a:noFill/>
        </p:spPr>
        <p:txBody>
          <a:bodyPr wrap="square">
            <a:spAutoFit/>
          </a:bodyPr>
          <a:lstStyle/>
          <a:p>
            <a:pPr algn="l"/>
            <a:r>
              <a:rPr sz="800" b="0" i="0">
                <a:solidFill>
                  <a:srgbClr val="555555"/>
                </a:solidFill>
                <a:latin typeface="Calibri"/>
              </a:rPr>
              <a:t>La marge nette de 26.9% repose sur des ventes d'iPhone en Chine en chute de 19% en 2024, avec une dépendance à 23% des revenus asiatiques qui s'érode sous les tensions géopolitiques. Les marges premium de 46.9% masquent des coûts logistiques en hausse de 12% liés aux ruptures de stock en 2023. Le ROE de 151.9% est gonflé par des rachats d'actions record de 110 milliards en 2024, artificiellement boostant la rentabilité.</a:t>
            </a:r>
          </a:p>
        </p:txBody>
      </p:sp>
      <p:sp>
        <p:nvSpPr>
          <p:cNvPr id="21" name="Rectangle 20"/>
          <p:cNvSpPr/>
          <p:nvPr/>
        </p:nvSpPr>
        <p:spPr>
          <a:xfrm>
            <a:off x="3229200" y="961200"/>
            <a:ext cx="2743200" cy="191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29200" y="961200"/>
            <a:ext cx="27432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200" y="1069200"/>
            <a:ext cx="2527200" cy="255600"/>
          </a:xfrm>
          <a:prstGeom prst="rect">
            <a:avLst/>
          </a:prstGeom>
          <a:noFill/>
        </p:spPr>
        <p:txBody>
          <a:bodyPr wrap="square">
            <a:spAutoFit/>
          </a:bodyPr>
          <a:lstStyle/>
          <a:p>
            <a:pPr algn="l"/>
            <a:r>
              <a:rPr sz="900" b="1" i="0">
                <a:solidFill>
                  <a:srgbClr val="2E5FA3"/>
                </a:solidFill>
                <a:latin typeface="Calibri"/>
              </a:rPr>
              <a:t>Dépendance Chine</a:t>
            </a:r>
          </a:p>
        </p:txBody>
      </p:sp>
      <p:sp>
        <p:nvSpPr>
          <p:cNvPr id="24" name="TextBox 23"/>
          <p:cNvSpPr txBox="1"/>
          <p:nvPr/>
        </p:nvSpPr>
        <p:spPr>
          <a:xfrm>
            <a:off x="3337200" y="1436400"/>
            <a:ext cx="2527200" cy="1260000"/>
          </a:xfrm>
          <a:prstGeom prst="rect">
            <a:avLst/>
          </a:prstGeom>
          <a:noFill/>
        </p:spPr>
        <p:txBody>
          <a:bodyPr wrap="square">
            <a:spAutoFit/>
          </a:bodyPr>
          <a:lstStyle/>
          <a:p>
            <a:pPr algn="l"/>
            <a:r>
              <a:rPr sz="800" b="0" i="0">
                <a:solidFill>
                  <a:srgbClr val="555555"/>
                </a:solidFill>
                <a:latin typeface="Calibri"/>
              </a:rPr>
              <a:t>Les ratios de valorisation sont historiquement élevés : P/E à 32.61x dépasse la moyenne sectorielle de 22x, avec un EV/EBITDA de 25.67x supérieur de 40% à celui de Microsoft. L'Altman Z-score de 9.83, bien au-dessus du seuil de 2.98, suggère une surévaluation du risque de faillite, reflétant une bulle spéculative. La croissance des revenus de 6.4% en 2025 est inférieure à la moyenne des 8.2% des 5 dernières années, indiquant un essoufflement structurel.</a:t>
            </a:r>
          </a:p>
        </p:txBody>
      </p:sp>
      <p:sp>
        <p:nvSpPr>
          <p:cNvPr id="25" name="Rectangle 24"/>
          <p:cNvSpPr/>
          <p:nvPr/>
        </p:nvSpPr>
        <p:spPr>
          <a:xfrm>
            <a:off x="6091200" y="961200"/>
            <a:ext cx="2743200" cy="19188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091200" y="961200"/>
            <a:ext cx="2743200" cy="5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99200" y="1069200"/>
            <a:ext cx="2527200" cy="255600"/>
          </a:xfrm>
          <a:prstGeom prst="rect">
            <a:avLst/>
          </a:prstGeom>
          <a:noFill/>
        </p:spPr>
        <p:txBody>
          <a:bodyPr wrap="square">
            <a:spAutoFit/>
          </a:bodyPr>
          <a:lstStyle/>
          <a:p>
            <a:pPr algn="l"/>
            <a:r>
              <a:rPr sz="900" b="1" i="0">
                <a:solidFill>
                  <a:srgbClr val="B06000"/>
                </a:solidFill>
                <a:latin typeface="Calibri"/>
              </a:rPr>
              <a:t>Surévaluation marché</a:t>
            </a:r>
          </a:p>
        </p:txBody>
      </p:sp>
      <p:sp>
        <p:nvSpPr>
          <p:cNvPr id="28" name="TextBox 27"/>
          <p:cNvSpPr txBox="1"/>
          <p:nvPr/>
        </p:nvSpPr>
        <p:spPr>
          <a:xfrm>
            <a:off x="6199200" y="1436400"/>
            <a:ext cx="2527200" cy="1260000"/>
          </a:xfrm>
          <a:prstGeom prst="rect">
            <a:avLst/>
          </a:prstGeom>
          <a:noFill/>
        </p:spPr>
        <p:txBody>
          <a:bodyPr wrap="square">
            <a:spAutoFit/>
          </a:bodyPr>
          <a:lstStyle/>
          <a:p>
            <a:pPr algn="l"/>
            <a:r>
              <a:rPr sz="800" b="0" i="0">
                <a:solidFill>
                  <a:srgbClr val="555555"/>
                </a:solidFill>
                <a:latin typeface="Calibri"/>
              </a:rPr>
              <a:t>L'écosystème fermé, autrefois un atout, devient un piège avec des régulations antitrust en Europe et aux États-Unis menaçant les marges de 30% sur les services. Les marges de l'iPhone, cœur de profit à 52% des revenus, sont sous pression avec des coûts de composants en hausse de 8% en 2024 et une concurrence accrue de Samsung et Xiaomi en milieu de gamme.</a:t>
            </a:r>
          </a:p>
        </p:txBody>
      </p:sp>
      <p:sp>
        <p:nvSpPr>
          <p:cNvPr id="29" name="Rectangle 28"/>
          <p:cNvSpPr/>
          <p:nvPr/>
        </p:nvSpPr>
        <p:spPr>
          <a:xfrm>
            <a:off x="367200" y="2998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200" y="3070800"/>
            <a:ext cx="8413200" cy="165600"/>
          </a:xfrm>
          <a:prstGeom prst="rect">
            <a:avLst/>
          </a:prstGeom>
          <a:noFill/>
        </p:spPr>
        <p:txBody>
          <a:bodyPr wrap="square">
            <a:spAutoFit/>
          </a:bodyPr>
          <a:lstStyle/>
          <a:p>
            <a:pPr algn="l"/>
            <a:r>
              <a:rPr sz="900" b="1" i="0">
                <a:solidFill>
                  <a:srgbClr val="1B3A6B"/>
                </a:solidFill>
                <a:latin typeface="Calibri"/>
              </a:rPr>
              <a:t>Conditions d'invalidation de la thèse</a:t>
            </a:r>
          </a:p>
        </p:txBody>
      </p:sp>
      <p:graphicFrame>
        <p:nvGraphicFramePr>
          <p:cNvPr id="31" name="Table 30"/>
          <p:cNvGraphicFramePr>
            <a:graphicFrameLocks noGrp="1"/>
          </p:cNvGraphicFramePr>
          <p:nvPr/>
        </p:nvGraphicFramePr>
        <p:xfrm>
          <a:off x="367200" y="3308400"/>
          <a:ext cx="8413200" cy="1098000"/>
        </p:xfrm>
        <a:graphic>
          <a:graphicData uri="http://schemas.openxmlformats.org/drawingml/2006/table">
            <a:tbl>
              <a:tblPr firstRow="1" bandRow="1">
                <a:tableStyleId>{5C22544A-7EE6-4342-B048-85BDC9FD1C3A}</a:tableStyleId>
              </a:tblPr>
              <a:tblGrid>
                <a:gridCol w="1261980"/>
                <a:gridCol w="5468580"/>
                <a:gridCol w="1682640"/>
              </a:tblGrid>
              <a:tr h="274500">
                <a:tc>
                  <a:txBody>
                    <a:bodyPr/>
                    <a:lstStyle/>
                    <a:p>
                      <a:pPr algn="l"/>
                      <a:r>
                        <a:rPr sz="800" b="1" i="0">
                          <a:solidFill>
                            <a:srgbClr val="FFFFFF"/>
                          </a:solidFill>
                          <a:latin typeface="Calibri"/>
                        </a:rPr>
                        <a:t>Axe</a:t>
                      </a:r>
                    </a:p>
                  </a:txBody>
                  <a:tcPr>
                    <a:solidFill>
                      <a:srgbClr val="1B3A6B"/>
                    </a:solidFill>
                  </a:tcPr>
                </a:tc>
                <a:tc>
                  <a:txBody>
                    <a:bodyPr/>
                    <a:lstStyle/>
                    <a:p>
                      <a:pPr algn="ctr"/>
                      <a:r>
                        <a:rPr sz="800" b="1" i="0">
                          <a:solidFill>
                            <a:srgbClr val="FFFFFF"/>
                          </a:solidFill>
                          <a:latin typeface="Calibri"/>
                        </a:rPr>
                        <a:t>Condition d'invalidation</a:t>
                      </a:r>
                    </a:p>
                  </a:txBody>
                  <a:tcPr>
                    <a:solidFill>
                      <a:srgbClr val="1B3A6B"/>
                    </a:solidFill>
                  </a:tcPr>
                </a:tc>
                <a:tc>
                  <a:txBody>
                    <a:bodyPr/>
                    <a:lstStyle/>
                    <a:p>
                      <a:pPr algn="ctr"/>
                      <a:r>
                        <a:rPr sz="800" b="1" i="0">
                          <a:solidFill>
                            <a:srgbClr val="FFFFFF"/>
                          </a:solidFill>
                          <a:latin typeface="Calibri"/>
                        </a:rPr>
                        <a:t>Horizon</a:t>
                      </a:r>
                    </a:p>
                  </a:txBody>
                  <a:tcPr>
                    <a:solidFill>
                      <a:srgbClr val="1B3A6B"/>
                    </a:solidFill>
                  </a:tcPr>
                </a:tc>
              </a:tr>
              <a:tr h="274500">
                <a:tc>
                  <a:txBody>
                    <a:bodyPr/>
                    <a:lstStyle/>
                    <a:p>
                      <a:pPr algn="l"/>
                      <a:r>
                        <a:rPr sz="800" b="1" i="0">
                          <a:solidFill>
                            <a:srgbClr val="1B3A6B"/>
                          </a:solidFill>
                          <a:latin typeface="Calibri"/>
                        </a:rPr>
                        <a:t>Macro</a:t>
                      </a:r>
                    </a:p>
                  </a:txBody>
                  <a:tcPr>
                    <a:solidFill>
                      <a:srgbClr val="FFFFFF"/>
                    </a:solidFill>
                  </a:tcPr>
                </a:tc>
                <a:tc>
                  <a:txBody>
                    <a:bodyPr/>
                    <a:lstStyle/>
                    <a:p>
                      <a:pPr algn="ctr"/>
                      <a:r>
                        <a:rPr sz="800" b="0" i="0">
                          <a:solidFill>
                            <a:srgbClr val="0D0D0D"/>
                          </a:solidFill>
                          <a:latin typeface="Calibri"/>
                        </a:rPr>
                        <a:t>Récession mondiale avec baisse du PIB de -2% en 2026</a:t>
                      </a:r>
                    </a:p>
                  </a:txBody>
                  <a:tcPr>
                    <a:solidFill>
                      <a:srgbClr val="FFFFFF"/>
                    </a:solidFill>
                  </a:tcPr>
                </a:tc>
                <a:tc>
                  <a:txBody>
                    <a:bodyPr/>
                    <a:lstStyle/>
                    <a:p>
                      <a:pPr algn="ctr"/>
                      <a:r>
                        <a:rPr sz="800" b="0" i="0">
                          <a:solidFill>
                            <a:srgbClr val="0D0D0D"/>
                          </a:solidFill>
                          <a:latin typeface="Calibri"/>
                        </a:rPr>
                        <a:t>6-12 mois</a:t>
                      </a:r>
                    </a:p>
                  </a:txBody>
                  <a:tcPr>
                    <a:solidFill>
                      <a:srgbClr val="FFFFFF"/>
                    </a:solidFill>
                  </a:tcPr>
                </a:tc>
              </a:tr>
              <a:tr h="274500">
                <a:tc>
                  <a:txBody>
                    <a:bodyPr/>
                    <a:lstStyle/>
                    <a:p>
                      <a:pPr algn="l"/>
                      <a:r>
                        <a:rPr sz="800" b="1" i="0">
                          <a:solidFill>
                            <a:srgbClr val="1B3A6B"/>
                          </a:solidFill>
                          <a:latin typeface="Calibri"/>
                        </a:rPr>
                        <a:t>Sectoriel</a:t>
                      </a:r>
                    </a:p>
                  </a:txBody>
                  <a:tcPr>
                    <a:solidFill>
                      <a:srgbClr val="F7F8FA"/>
                    </a:solidFill>
                  </a:tcPr>
                </a:tc>
                <a:tc>
                  <a:txBody>
                    <a:bodyPr/>
                    <a:lstStyle/>
                    <a:p>
                      <a:pPr algn="ctr"/>
                      <a:r>
                        <a:rPr sz="800" b="0" i="0">
                          <a:solidFill>
                            <a:srgbClr val="0D0D0D"/>
                          </a:solidFill>
                          <a:latin typeface="Calibri"/>
                        </a:rPr>
                        <a:t>Régulation stricte sur les services numériques en UE/US</a:t>
                      </a:r>
                    </a:p>
                  </a:txBody>
                  <a:tcPr>
                    <a:solidFill>
                      <a:srgbClr val="F7F8FA"/>
                    </a:solidFill>
                  </a:tcPr>
                </a:tc>
                <a:tc>
                  <a:txBody>
                    <a:bodyPr/>
                    <a:lstStyle/>
                    <a:p>
                      <a:pPr algn="ctr"/>
                      <a:r>
                        <a:rPr sz="800" b="0" i="0">
                          <a:solidFill>
                            <a:srgbClr val="0D0D0D"/>
                          </a:solidFill>
                          <a:latin typeface="Calibri"/>
                        </a:rPr>
                        <a:t>12-18 mois</a:t>
                      </a:r>
                    </a:p>
                  </a:txBody>
                  <a:tcPr>
                    <a:solidFill>
                      <a:srgbClr val="F7F8FA"/>
                    </a:solidFill>
                  </a:tcPr>
                </a:tc>
              </a:tr>
              <a:tr h="274500">
                <a:tc>
                  <a:txBody>
                    <a:bodyPr/>
                    <a:lstStyle/>
                    <a:p>
                      <a:pPr algn="l"/>
                      <a:r>
                        <a:rPr sz="800" b="1" i="0">
                          <a:solidFill>
                            <a:srgbClr val="1B3A6B"/>
                          </a:solidFill>
                          <a:latin typeface="Calibri"/>
                        </a:rPr>
                        <a:t>Société</a:t>
                      </a:r>
                    </a:p>
                  </a:txBody>
                  <a:tcPr>
                    <a:solidFill>
                      <a:srgbClr val="FFFFFF"/>
                    </a:solidFill>
                  </a:tcPr>
                </a:tc>
                <a:tc>
                  <a:txBody>
                    <a:bodyPr/>
                    <a:lstStyle/>
                    <a:p>
                      <a:pPr algn="ctr"/>
                      <a:r>
                        <a:rPr sz="800" b="0" i="0">
                          <a:solidFill>
                            <a:srgbClr val="0D0D0D"/>
                          </a:solidFill>
                          <a:latin typeface="Calibri"/>
                        </a:rPr>
                        <a:t>Échec commercial de l'iPhone 16 avec baisse des parts de marché</a:t>
                      </a:r>
                    </a:p>
                  </a:txBody>
                  <a:tcPr>
                    <a:solidFill>
                      <a:srgbClr val="FFFFFF"/>
                    </a:solidFill>
                  </a:tcPr>
                </a:tc>
                <a:tc>
                  <a:txBody>
                    <a:bodyPr/>
                    <a:lstStyle/>
                    <a:p>
                      <a:pPr algn="ctr"/>
                      <a:r>
                        <a:rPr sz="800" b="0" i="0">
                          <a:solidFill>
                            <a:srgbClr val="0D0D0D"/>
                          </a:solidFill>
                          <a:latin typeface="Calibri"/>
                        </a:rPr>
                        <a:t>2-3 trim.</a:t>
                      </a:r>
                    </a:p>
                  </a:txBody>
                  <a:tcPr>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05</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Sentiment &amp; Annexes</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FinBERT, actionnariat &amp; historique de cours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Sentiment de Marché — FinBERT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sémantique  ·  30 articles  ·  7 derniers jours</a:t>
            </a:r>
          </a:p>
        </p:txBody>
      </p:sp>
      <p:sp>
        <p:nvSpPr>
          <p:cNvPr id="17" name="Rectangle 16"/>
          <p:cNvSpPr/>
          <p:nvPr/>
        </p:nvSpPr>
        <p:spPr>
          <a:xfrm>
            <a:off x="367200" y="961200"/>
            <a:ext cx="25596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422800" cy="396000"/>
          </a:xfrm>
          <a:prstGeom prst="rect">
            <a:avLst/>
          </a:prstGeom>
          <a:noFill/>
        </p:spPr>
        <p:txBody>
          <a:bodyPr wrap="square">
            <a:spAutoFit/>
          </a:bodyPr>
          <a:lstStyle/>
          <a:p>
            <a:pPr algn="l"/>
            <a:r>
              <a:rPr sz="1900" b="1" i="0">
                <a:solidFill>
                  <a:srgbClr val="1B3A6B"/>
                </a:solidFill>
                <a:latin typeface="Calibri"/>
              </a:rPr>
              <a:t>Neutre</a:t>
            </a:r>
          </a:p>
        </p:txBody>
      </p:sp>
      <p:sp>
        <p:nvSpPr>
          <p:cNvPr id="20" name="TextBox 19"/>
          <p:cNvSpPr txBox="1"/>
          <p:nvPr/>
        </p:nvSpPr>
        <p:spPr>
          <a:xfrm>
            <a:off x="457200" y="1411200"/>
            <a:ext cx="2422800" cy="205199"/>
          </a:xfrm>
          <a:prstGeom prst="rect">
            <a:avLst/>
          </a:prstGeom>
          <a:noFill/>
        </p:spPr>
        <p:txBody>
          <a:bodyPr wrap="square">
            <a:spAutoFit/>
          </a:bodyPr>
          <a:lstStyle/>
          <a:p>
            <a:pPr algn="l"/>
            <a:r>
              <a:rPr sz="800" b="0" i="0">
                <a:solidFill>
                  <a:srgbClr val="555555"/>
                </a:solidFill>
                <a:latin typeface="Calibri"/>
              </a:rPr>
              <a:t>Orientation globale</a:t>
            </a:r>
          </a:p>
        </p:txBody>
      </p:sp>
      <p:sp>
        <p:nvSpPr>
          <p:cNvPr id="21" name="TextBox 20"/>
          <p:cNvSpPr txBox="1"/>
          <p:nvPr/>
        </p:nvSpPr>
        <p:spPr>
          <a:xfrm>
            <a:off x="457200" y="1609200"/>
            <a:ext cx="2422800" cy="165600"/>
          </a:xfrm>
          <a:prstGeom prst="rect">
            <a:avLst/>
          </a:prstGeom>
          <a:noFill/>
        </p:spPr>
        <p:txBody>
          <a:bodyPr wrap="square">
            <a:spAutoFit/>
          </a:bodyPr>
          <a:lstStyle/>
          <a:p>
            <a:pPr algn="l"/>
            <a:r>
              <a:rPr sz="700" b="0" i="0">
                <a:solidFill>
                  <a:srgbClr val="888888"/>
                </a:solidFill>
                <a:latin typeface="Calibri"/>
              </a:rPr>
              <a:t>Score agrégé : -0,077</a:t>
            </a:r>
          </a:p>
        </p:txBody>
      </p:sp>
      <p:sp>
        <p:nvSpPr>
          <p:cNvPr id="22" name="Rectangle 21"/>
          <p:cNvSpPr/>
          <p:nvPr/>
        </p:nvSpPr>
        <p:spPr>
          <a:xfrm>
            <a:off x="3110400" y="961200"/>
            <a:ext cx="182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1104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1015200"/>
            <a:ext cx="1692000" cy="396000"/>
          </a:xfrm>
          <a:prstGeom prst="rect">
            <a:avLst/>
          </a:prstGeom>
          <a:noFill/>
        </p:spPr>
        <p:txBody>
          <a:bodyPr wrap="square">
            <a:spAutoFit/>
          </a:bodyPr>
          <a:lstStyle/>
          <a:p>
            <a:pPr algn="l"/>
            <a:r>
              <a:rPr sz="1900" b="1" i="0">
                <a:solidFill>
                  <a:srgbClr val="1B3A6B"/>
                </a:solidFill>
                <a:latin typeface="Calibri"/>
              </a:rPr>
              <a:t>30</a:t>
            </a:r>
          </a:p>
        </p:txBody>
      </p:sp>
      <p:sp>
        <p:nvSpPr>
          <p:cNvPr id="25" name="TextBox 24"/>
          <p:cNvSpPr txBox="1"/>
          <p:nvPr/>
        </p:nvSpPr>
        <p:spPr>
          <a:xfrm>
            <a:off x="3200400" y="1411200"/>
            <a:ext cx="1692000" cy="205199"/>
          </a:xfrm>
          <a:prstGeom prst="rect">
            <a:avLst/>
          </a:prstGeom>
          <a:noFill/>
        </p:spPr>
        <p:txBody>
          <a:bodyPr wrap="square">
            <a:spAutoFit/>
          </a:bodyPr>
          <a:lstStyle/>
          <a:p>
            <a:pPr algn="l"/>
            <a:r>
              <a:rPr sz="800" b="0" i="0">
                <a:solidFill>
                  <a:srgbClr val="555555"/>
                </a:solidFill>
                <a:latin typeface="Calibri"/>
              </a:rPr>
              <a:t>Articles analysés</a:t>
            </a:r>
          </a:p>
        </p:txBody>
      </p:sp>
      <p:sp>
        <p:nvSpPr>
          <p:cNvPr id="26" name="TextBox 25"/>
          <p:cNvSpPr txBox="1"/>
          <p:nvPr/>
        </p:nvSpPr>
        <p:spPr>
          <a:xfrm>
            <a:off x="3200400" y="1609200"/>
            <a:ext cx="1692000" cy="165600"/>
          </a:xfrm>
          <a:prstGeom prst="rect">
            <a:avLst/>
          </a:prstGeom>
          <a:noFill/>
        </p:spPr>
        <p:txBody>
          <a:bodyPr wrap="square">
            <a:spAutoFit/>
          </a:bodyPr>
          <a:lstStyle/>
          <a:p>
            <a:pPr algn="l"/>
            <a:r>
              <a:rPr sz="700" b="0" i="0">
                <a:solidFill>
                  <a:srgbClr val="888888"/>
                </a:solidFill>
                <a:latin typeface="Calibri"/>
              </a:rPr>
              <a:t>Fenêtre : 7 jours</a:t>
            </a:r>
          </a:p>
        </p:txBody>
      </p:sp>
      <p:sp>
        <p:nvSpPr>
          <p:cNvPr id="27" name="Rectangle 26"/>
          <p:cNvSpPr/>
          <p:nvPr/>
        </p:nvSpPr>
        <p:spPr>
          <a:xfrm>
            <a:off x="5119200" y="961200"/>
            <a:ext cx="16452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19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09200" y="1015200"/>
            <a:ext cx="1508400" cy="396000"/>
          </a:xfrm>
          <a:prstGeom prst="rect">
            <a:avLst/>
          </a:prstGeom>
          <a:noFill/>
        </p:spPr>
        <p:txBody>
          <a:bodyPr wrap="square">
            <a:spAutoFit/>
          </a:bodyPr>
          <a:lstStyle/>
          <a:p>
            <a:pPr algn="l"/>
            <a:r>
              <a:rPr sz="1900" b="1" i="0">
                <a:solidFill>
                  <a:srgbClr val="1B3A6B"/>
                </a:solidFill>
                <a:latin typeface="Calibri"/>
              </a:rPr>
              <a:t>44,5 %</a:t>
            </a:r>
          </a:p>
        </p:txBody>
      </p:sp>
      <p:sp>
        <p:nvSpPr>
          <p:cNvPr id="30" name="TextBox 29"/>
          <p:cNvSpPr txBox="1"/>
          <p:nvPr/>
        </p:nvSpPr>
        <p:spPr>
          <a:xfrm>
            <a:off x="5209200" y="1411200"/>
            <a:ext cx="1508400" cy="205199"/>
          </a:xfrm>
          <a:prstGeom prst="rect">
            <a:avLst/>
          </a:prstGeom>
          <a:noFill/>
        </p:spPr>
        <p:txBody>
          <a:bodyPr wrap="square">
            <a:spAutoFit/>
          </a:bodyPr>
          <a:lstStyle/>
          <a:p>
            <a:pPr algn="l"/>
            <a:r>
              <a:rPr sz="800" b="0" i="0">
                <a:solidFill>
                  <a:srgbClr val="555555"/>
                </a:solidFill>
                <a:latin typeface="Calibri"/>
              </a:rPr>
              <a:t>Confiance IA</a:t>
            </a:r>
          </a:p>
        </p:txBody>
      </p:sp>
      <p:sp>
        <p:nvSpPr>
          <p:cNvPr id="31" name="TextBox 30"/>
          <p:cNvSpPr txBox="1"/>
          <p:nvPr/>
        </p:nvSpPr>
        <p:spPr>
          <a:xfrm>
            <a:off x="5209200" y="1609200"/>
            <a:ext cx="1508400" cy="165600"/>
          </a:xfrm>
          <a:prstGeom prst="rect">
            <a:avLst/>
          </a:prstGeom>
          <a:noFill/>
        </p:spPr>
        <p:txBody>
          <a:bodyPr wrap="square">
            <a:spAutoFit/>
          </a:bodyPr>
          <a:lstStyle/>
          <a:p>
            <a:pPr algn="l"/>
            <a:r>
              <a:rPr sz="700" b="0" i="0">
                <a:solidFill>
                  <a:srgbClr val="888888"/>
                </a:solidFill>
                <a:latin typeface="Calibri"/>
              </a:rPr>
              <a:t>Modèle FinBERT</a:t>
            </a:r>
          </a:p>
        </p:txBody>
      </p:sp>
      <p:sp>
        <p:nvSpPr>
          <p:cNvPr id="32" name="Rectangle 31"/>
          <p:cNvSpPr/>
          <p:nvPr/>
        </p:nvSpPr>
        <p:spPr>
          <a:xfrm>
            <a:off x="6948000" y="961200"/>
            <a:ext cx="173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480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8000" y="1015200"/>
            <a:ext cx="1602000" cy="396000"/>
          </a:xfrm>
          <a:prstGeom prst="rect">
            <a:avLst/>
          </a:prstGeom>
          <a:noFill/>
        </p:spPr>
        <p:txBody>
          <a:bodyPr wrap="square">
            <a:spAutoFit/>
          </a:bodyPr>
          <a:lstStyle/>
          <a:p>
            <a:pPr algn="l"/>
            <a:r>
              <a:rPr sz="1900" b="1" i="0">
                <a:solidFill>
                  <a:srgbClr val="1B3A6B"/>
                </a:solidFill>
                <a:latin typeface="Calibri"/>
              </a:rPr>
              <a:t>BUY</a:t>
            </a:r>
          </a:p>
        </p:txBody>
      </p:sp>
      <p:sp>
        <p:nvSpPr>
          <p:cNvPr id="35" name="TextBox 34"/>
          <p:cNvSpPr txBox="1"/>
          <p:nvPr/>
        </p:nvSpPr>
        <p:spPr>
          <a:xfrm>
            <a:off x="7038000" y="1411200"/>
            <a:ext cx="1602000" cy="205199"/>
          </a:xfrm>
          <a:prstGeom prst="rect">
            <a:avLst/>
          </a:prstGeom>
          <a:noFill/>
        </p:spPr>
        <p:txBody>
          <a:bodyPr wrap="square">
            <a:spAutoFit/>
          </a:bodyPr>
          <a:lstStyle/>
          <a:p>
            <a:pPr algn="l"/>
            <a:r>
              <a:rPr sz="800" b="0" i="0">
                <a:solidFill>
                  <a:srgbClr val="555555"/>
                </a:solidFill>
                <a:latin typeface="Calibri"/>
              </a:rPr>
              <a:t>Cohérence</a:t>
            </a:r>
          </a:p>
        </p:txBody>
      </p:sp>
      <p:sp>
        <p:nvSpPr>
          <p:cNvPr id="36" name="TextBox 35"/>
          <p:cNvSpPr txBox="1"/>
          <p:nvPr/>
        </p:nvSpPr>
        <p:spPr>
          <a:xfrm>
            <a:off x="7038000" y="1609200"/>
            <a:ext cx="1602000" cy="165600"/>
          </a:xfrm>
          <a:prstGeom prst="rect">
            <a:avLst/>
          </a:prstGeom>
          <a:noFill/>
        </p:spPr>
        <p:txBody>
          <a:bodyPr wrap="square">
            <a:spAutoFit/>
          </a:bodyPr>
          <a:lstStyle/>
          <a:p>
            <a:pPr algn="l"/>
            <a:r>
              <a:rPr sz="700" b="0" i="0">
                <a:solidFill>
                  <a:srgbClr val="888888"/>
                </a:solidFill>
                <a:latin typeface="Calibri"/>
              </a:rPr>
              <a:t>Aligné avec la thèse</a:t>
            </a:r>
          </a:p>
        </p:txBody>
      </p:sp>
      <p:sp>
        <p:nvSpPr>
          <p:cNvPr id="37" name="TextBox 36"/>
          <p:cNvSpPr txBox="1"/>
          <p:nvPr/>
        </p:nvSpPr>
        <p:spPr>
          <a:xfrm>
            <a:off x="367200" y="2084400"/>
            <a:ext cx="8413200" cy="165600"/>
          </a:xfrm>
          <a:prstGeom prst="rect">
            <a:avLst/>
          </a:prstGeom>
          <a:noFill/>
        </p:spPr>
        <p:txBody>
          <a:bodyPr wrap="square">
            <a:spAutoFit/>
          </a:bodyPr>
          <a:lstStyle/>
          <a:p>
            <a:pPr algn="l"/>
            <a:r>
              <a:rPr sz="900" b="1" i="0">
                <a:solidFill>
                  <a:srgbClr val="2E5FA3"/>
                </a:solidFill>
                <a:latin typeface="Calibri"/>
              </a:rPr>
              <a:t>Détail par orientation</a:t>
            </a:r>
          </a:p>
        </p:txBody>
      </p:sp>
      <p:graphicFrame>
        <p:nvGraphicFramePr>
          <p:cNvPr id="38" name="Table 37"/>
          <p:cNvGraphicFramePr>
            <a:graphicFrameLocks noGrp="1"/>
          </p:cNvGraphicFramePr>
          <p:nvPr/>
        </p:nvGraphicFramePr>
        <p:xfrm>
          <a:off x="367200" y="2332800"/>
          <a:ext cx="8413200" cy="1152000"/>
        </p:xfrm>
        <a:graphic>
          <a:graphicData uri="http://schemas.openxmlformats.org/drawingml/2006/table">
            <a:tbl>
              <a:tblPr firstRow="1" bandRow="1">
                <a:tableStyleId>{5C22544A-7EE6-4342-B048-85BDC9FD1C3A}</a:tableStyleId>
              </a:tblPr>
              <a:tblGrid>
                <a:gridCol w="1261980"/>
                <a:gridCol w="1261980"/>
                <a:gridCol w="1682640"/>
                <a:gridCol w="4206600"/>
              </a:tblGrid>
              <a:tr h="288000">
                <a:tc>
                  <a:txBody>
                    <a:bodyPr/>
                    <a:lstStyle/>
                    <a:p>
                      <a:pPr algn="l"/>
                      <a:r>
                        <a:rPr sz="800" b="1" i="0">
                          <a:solidFill>
                            <a:srgbClr val="FFFFFF"/>
                          </a:solidFill>
                          <a:latin typeface="Calibri"/>
                        </a:rPr>
                        <a:t>Orientation</a:t>
                      </a:r>
                    </a:p>
                  </a:txBody>
                  <a:tcPr>
                    <a:solidFill>
                      <a:srgbClr val="1B3A6B"/>
                    </a:solidFill>
                  </a:tcPr>
                </a:tc>
                <a:tc>
                  <a:txBody>
                    <a:bodyPr/>
                    <a:lstStyle/>
                    <a:p>
                      <a:pPr algn="ctr"/>
                      <a:r>
                        <a:rPr sz="800" b="1" i="0">
                          <a:solidFill>
                            <a:srgbClr val="FFFFFF"/>
                          </a:solidFill>
                          <a:latin typeface="Calibri"/>
                        </a:rPr>
                        <a:t>Articles</a:t>
                      </a:r>
                    </a:p>
                  </a:txBody>
                  <a:tcPr>
                    <a:solidFill>
                      <a:srgbClr val="1B3A6B"/>
                    </a:solidFill>
                  </a:tcPr>
                </a:tc>
                <a:tc>
                  <a:txBody>
                    <a:bodyPr/>
                    <a:lstStyle/>
                    <a:p>
                      <a:pPr algn="ctr"/>
                      <a:r>
                        <a:rPr sz="800" b="1" i="0">
                          <a:solidFill>
                            <a:srgbClr val="FFFFFF"/>
                          </a:solidFill>
                          <a:latin typeface="Calibri"/>
                        </a:rPr>
                        <a:t>Score moyen</a:t>
                      </a:r>
                    </a:p>
                  </a:txBody>
                  <a:tcPr>
                    <a:solidFill>
                      <a:srgbClr val="1B3A6B"/>
                    </a:solidFill>
                  </a:tcPr>
                </a:tc>
                <a:tc>
                  <a:txBody>
                    <a:bodyPr/>
                    <a:lstStyle/>
                    <a:p>
                      <a:pPr algn="ctr"/>
                      <a:r>
                        <a:rPr sz="800" b="1" i="0">
                          <a:solidFill>
                            <a:srgbClr val="FFFFFF"/>
                          </a:solidFill>
                          <a:latin typeface="Calibri"/>
                        </a:rPr>
                        <a:t>Thèmes principaux</a:t>
                      </a:r>
                    </a:p>
                  </a:txBody>
                  <a:tcPr>
                    <a:solidFill>
                      <a:srgbClr val="1B3A6B"/>
                    </a:solidFill>
                  </a:tcPr>
                </a:tc>
              </a:tr>
              <a:tr h="288000">
                <a:tc>
                  <a:txBody>
                    <a:bodyPr/>
                    <a:lstStyle/>
                    <a:p>
                      <a:pPr algn="l"/>
                      <a:r>
                        <a:rPr sz="800" b="1" i="0">
                          <a:solidFill>
                            <a:srgbClr val="1A7A4A"/>
                          </a:solidFill>
                          <a:latin typeface="Calibri"/>
                        </a:rPr>
                        <a:t>Positif</a:t>
                      </a:r>
                    </a:p>
                  </a:txBody>
                  <a:tcPr>
                    <a:solidFill>
                      <a:srgbClr val="EAF4EF"/>
                    </a:solidFill>
                  </a:tcPr>
                </a:tc>
                <a:tc>
                  <a:txBody>
                    <a:bodyPr/>
                    <a:lstStyle/>
                    <a:p>
                      <a:pPr algn="ctr"/>
                      <a:r>
                        <a:rPr sz="800" b="1" i="0">
                          <a:solidFill>
                            <a:srgbClr val="1A7A4A"/>
                          </a:solidFill>
                          <a:latin typeface="Calibri"/>
                        </a:rPr>
                        <a:t>5</a:t>
                      </a:r>
                    </a:p>
                  </a:txBody>
                  <a:tcPr>
                    <a:solidFill>
                      <a:srgbClr val="EAF4EF"/>
                    </a:solidFill>
                  </a:tcPr>
                </a:tc>
                <a:tc>
                  <a:txBody>
                    <a:bodyPr/>
                    <a:lstStyle/>
                    <a:p>
                      <a:pPr algn="ctr"/>
                      <a:r>
                        <a:rPr sz="800" b="0" i="0">
                          <a:solidFill>
                            <a:srgbClr val="0D0D0D"/>
                          </a:solidFill>
                          <a:latin typeface="Calibri"/>
                        </a:rPr>
                        <a:t>+0,239</a:t>
                      </a:r>
                    </a:p>
                  </a:txBody>
                  <a:tcPr>
                    <a:solidFill>
                      <a:srgbClr val="EAF4EF"/>
                    </a:solidFill>
                  </a:tcPr>
                </a:tc>
                <a:tc>
                  <a:txBody>
                    <a:bodyPr/>
                    <a:lstStyle/>
                    <a:p>
                      <a:pPr algn="ctr"/>
                      <a:r>
                        <a:rPr sz="800" b="0" i="0">
                          <a:solidFill>
                            <a:srgbClr val="0D0D0D"/>
                          </a:solidFill>
                          <a:latin typeface="Calibri"/>
                        </a:rPr>
                        <a:t>Lancement iPhone 16 en 2026 avec IA intégrée pourrait booster les ventes de 8% et l'EPS de 10% | Horizon: 12 mois | Impact: +15Mds$ CA</a:t>
                      </a:r>
                    </a:p>
                  </a:txBody>
                  <a:tcPr>
                    <a:solidFill>
                      <a:srgbClr val="EAF4EF"/>
                    </a:solidFill>
                  </a:tcPr>
                </a:tc>
              </a:tr>
              <a:tr h="288000">
                <a:tc>
                  <a:txBody>
                    <a:bodyPr/>
                    <a:lstStyle/>
                    <a:p>
                      <a:pPr algn="l"/>
                      <a:r>
                        <a:rPr sz="800" b="1" i="0">
                          <a:solidFill>
                            <a:srgbClr val="555555"/>
                          </a:solidFill>
                          <a:latin typeface="Calibri"/>
                        </a:rPr>
                        <a:t>Neutre</a:t>
                      </a:r>
                    </a:p>
                  </a:txBody>
                  <a:tcPr>
                    <a:solidFill>
                      <a:srgbClr val="FFFFFF"/>
                    </a:solidFill>
                  </a:tcPr>
                </a:tc>
                <a:tc>
                  <a:txBody>
                    <a:bodyPr/>
                    <a:lstStyle/>
                    <a:p>
                      <a:pPr algn="ctr"/>
                      <a:r>
                        <a:rPr sz="800" b="1" i="0">
                          <a:solidFill>
                            <a:srgbClr val="555555"/>
                          </a:solidFill>
                          <a:latin typeface="Calibri"/>
                        </a:rPr>
                        <a:t>16</a:t>
                      </a:r>
                    </a:p>
                  </a:txBody>
                  <a:tcPr>
                    <a:solidFill>
                      <a:srgbClr val="FFFFFF"/>
                    </a:solidFill>
                  </a:tcPr>
                </a:tc>
                <a:tc>
                  <a:txBody>
                    <a:bodyPr/>
                    <a:lstStyle/>
                    <a:p>
                      <a:pPr algn="ctr"/>
                      <a:r>
                        <a:rPr sz="800" b="0" i="0">
                          <a:solidFill>
                            <a:srgbClr val="0D0D0D"/>
                          </a:solidFill>
                          <a:latin typeface="Calibri"/>
                        </a:rPr>
                        <a:t>+0,445</a:t>
                      </a:r>
                    </a:p>
                  </a:txBody>
                  <a:tcPr>
                    <a:solidFill>
                      <a:srgbClr val="FFFFFF"/>
                    </a:solidFill>
                  </a:tcPr>
                </a:tc>
                <a:tc>
                  <a:txBody>
                    <a:bodyPr/>
                    <a:lstStyle/>
                    <a:p>
                      <a:pPr algn="ctr"/>
                      <a:r>
                        <a:rPr sz="800" b="0" i="0">
                          <a:solidFill>
                            <a:srgbClr val="0D0D0D"/>
                          </a:solidFill>
                          <a:latin typeface="Calibri"/>
                        </a:rPr>
                        <a:t>Actualité sectorielle générale</a:t>
                      </a:r>
                    </a:p>
                  </a:txBody>
                  <a:tcPr>
                    <a:solidFill>
                      <a:srgbClr val="FFFFFF"/>
                    </a:solidFill>
                  </a:tcPr>
                </a:tc>
              </a:tr>
              <a:tr h="288000">
                <a:tc>
                  <a:txBody>
                    <a:bodyPr/>
                    <a:lstStyle/>
                    <a:p>
                      <a:pPr algn="l"/>
                      <a:r>
                        <a:rPr sz="800" b="1" i="0">
                          <a:solidFill>
                            <a:srgbClr val="A82020"/>
                          </a:solidFill>
                          <a:latin typeface="Calibri"/>
                        </a:rPr>
                        <a:t>Négatif</a:t>
                      </a:r>
                    </a:p>
                  </a:txBody>
                  <a:tcPr>
                    <a:solidFill>
                      <a:srgbClr val="FAF0EF"/>
                    </a:solidFill>
                  </a:tcPr>
                </a:tc>
                <a:tc>
                  <a:txBody>
                    <a:bodyPr/>
                    <a:lstStyle/>
                    <a:p>
                      <a:pPr algn="ctr"/>
                      <a:r>
                        <a:rPr sz="800" b="1" i="0">
                          <a:solidFill>
                            <a:srgbClr val="A82020"/>
                          </a:solidFill>
                          <a:latin typeface="Calibri"/>
                        </a:rPr>
                        <a:t>9</a:t>
                      </a:r>
                    </a:p>
                  </a:txBody>
                  <a:tcPr>
                    <a:solidFill>
                      <a:srgbClr val="FAF0EF"/>
                    </a:solidFill>
                  </a:tcPr>
                </a:tc>
                <a:tc>
                  <a:txBody>
                    <a:bodyPr/>
                    <a:lstStyle/>
                    <a:p>
                      <a:pPr algn="ctr"/>
                      <a:r>
                        <a:rPr sz="800" b="0" i="0">
                          <a:solidFill>
                            <a:srgbClr val="0D0D0D"/>
                          </a:solidFill>
                          <a:latin typeface="Calibri"/>
                        </a:rPr>
                        <a:t>+0,316</a:t>
                      </a:r>
                    </a:p>
                  </a:txBody>
                  <a:tcPr>
                    <a:solidFill>
                      <a:srgbClr val="FAF0EF"/>
                    </a:solidFill>
                  </a:tcPr>
                </a:tc>
                <a:tc>
                  <a:txBody>
                    <a:bodyPr/>
                    <a:lstStyle/>
                    <a:p>
                      <a:pPr algn="ctr"/>
                      <a:r>
                        <a:rPr sz="800" b="0" i="0">
                          <a:solidFill>
                            <a:srgbClr val="0D0D0D"/>
                          </a:solidFill>
                          <a:latin typeface="Calibri"/>
                        </a:rPr>
                        <a:t>Régulation européenne sur les services (DMA) pourrait réduire les revenus App Store de 10% d'ici 2027 | Horizon: 12 mois | Impact: -8Mds$ CA</a:t>
                      </a:r>
                    </a:p>
                  </a:txBody>
                  <a:tcPr>
                    <a:solidFill>
                      <a:srgbClr val="FAF0EF"/>
                    </a:solidFill>
                  </a:tcPr>
                </a:tc>
              </a:tr>
            </a:tbl>
          </a:graphicData>
        </a:graphic>
      </p:graphicFrame>
      <p:sp>
        <p:nvSpPr>
          <p:cNvPr id="39" name="TextBox 38"/>
          <p:cNvSpPr txBox="1"/>
          <p:nvPr/>
        </p:nvSpPr>
        <p:spPr>
          <a:xfrm>
            <a:off x="367200" y="4140000"/>
            <a:ext cx="8413200" cy="914400"/>
          </a:xfrm>
          <a:prstGeom prst="rect">
            <a:avLst/>
          </a:prstGeom>
          <a:noFill/>
        </p:spPr>
        <p:txBody>
          <a:bodyPr wrap="square">
            <a:spAutoFit/>
          </a:bodyPr>
          <a:lstStyle/>
          <a:p>
            <a:pPr algn="l"/>
            <a:r>
              <a:rPr sz="850" b="0" i="0">
                <a:solidFill>
                  <a:srgbClr val="333333"/>
                </a:solidFill>
                <a:latin typeface="Calibri"/>
              </a:rPr>
              <a:t>La presse financière souligne à la fois des avancées technologiques positives pour Apple, notamment avec l'ouverture de Siri à d'autres assistants IA, mais aussi des défis majeurs liés à l'IA et à la concurrence qui pourraient peser sur sa domination future. Les prédictions de surpassement par d'autres acteurs d'ici une décennie ajoutent une pression sur le titre.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Actionnariat &amp; Structure du Capital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Répartition de l'actionnariat  ·  Au 29 mars 2026</a:t>
            </a:r>
          </a:p>
        </p:txBody>
      </p:sp>
      <p:sp>
        <p:nvSpPr>
          <p:cNvPr id="17" name="TextBox 16"/>
          <p:cNvSpPr txBox="1"/>
          <p:nvPr/>
        </p:nvSpPr>
        <p:spPr>
          <a:xfrm>
            <a:off x="367200" y="748800"/>
            <a:ext cx="5029200" cy="201600"/>
          </a:xfrm>
          <a:prstGeom prst="rect">
            <a:avLst/>
          </a:prstGeom>
          <a:noFill/>
        </p:spPr>
        <p:txBody>
          <a:bodyPr wrap="square">
            <a:spAutoFit/>
          </a:bodyPr>
          <a:lstStyle/>
          <a:p>
            <a:pPr algn="l"/>
            <a:r>
              <a:rPr sz="900" b="1" i="0">
                <a:solidFill>
                  <a:srgbClr val="2E5FA3"/>
                </a:solidFill>
                <a:latin typeface="Calibri"/>
              </a:rPr>
              <a:t>Top actionnaires</a:t>
            </a:r>
          </a:p>
        </p:txBody>
      </p:sp>
      <p:graphicFrame>
        <p:nvGraphicFramePr>
          <p:cNvPr id="18" name="Table 17"/>
          <p:cNvGraphicFramePr>
            <a:graphicFrameLocks noGrp="1"/>
          </p:cNvGraphicFramePr>
          <p:nvPr/>
        </p:nvGraphicFramePr>
        <p:xfrm>
          <a:off x="367200" y="968400"/>
          <a:ext cx="5302800" cy="2232000"/>
        </p:xfrm>
        <a:graphic>
          <a:graphicData uri="http://schemas.openxmlformats.org/drawingml/2006/table">
            <a:tbl>
              <a:tblPr firstRow="1" bandRow="1">
                <a:tableStyleId>{5C22544A-7EE6-4342-B048-85BDC9FD1C3A}</a:tableStyleId>
              </a:tblPr>
              <a:tblGrid>
                <a:gridCol w="2015064"/>
                <a:gridCol w="1378728"/>
                <a:gridCol w="1060560"/>
                <a:gridCol w="848448"/>
              </a:tblGrid>
              <a:tr h="223200">
                <a:tc>
                  <a:txBody>
                    <a:bodyPr/>
                    <a:lstStyle/>
                    <a:p>
                      <a:pPr algn="l"/>
                      <a:r>
                        <a:rPr sz="800" b="1" i="0">
                          <a:solidFill>
                            <a:srgbClr val="FFFFFF"/>
                          </a:solidFill>
                          <a:latin typeface="Calibri"/>
                        </a:rPr>
                        <a:t>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Type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Détention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Style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Apple (Insiders)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Insiders &amp; dirigeants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B06000"/>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Vanguard Group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Blackrock Inc.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7.9 %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State Street Corporation</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Geode Capital Management, LLC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FMR, LLC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Morgan Stanley</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Berkshire Hathaway,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Retail &amp; 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555555"/>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9" name="TextBox 18"/>
          <p:cNvSpPr txBox="1"/>
          <p:nvPr/>
        </p:nvSpPr>
        <p:spPr>
          <a:xfrm>
            <a:off x="5760000" y="748800"/>
            <a:ext cx="3016800" cy="201600"/>
          </a:xfrm>
          <a:prstGeom prst="rect">
            <a:avLst/>
          </a:prstGeom>
          <a:noFill/>
        </p:spPr>
        <p:txBody>
          <a:bodyPr wrap="square">
            <a:spAutoFit/>
          </a:bodyPr>
          <a:lstStyle/>
          <a:p>
            <a:pPr algn="l"/>
            <a:r>
              <a:rPr sz="900" b="1" i="0">
                <a:solidFill>
                  <a:srgbClr val="2E5FA3"/>
                </a:solidFill>
                <a:latin typeface="Calibri"/>
              </a:rPr>
              <a:t>Répartition par type</a:t>
            </a:r>
          </a:p>
        </p:txBody>
      </p:sp>
      <p:graphicFrame>
        <p:nvGraphicFramePr>
          <p:cNvPr id="20" name="Table 19"/>
          <p:cNvGraphicFramePr>
            <a:graphicFrameLocks noGrp="1"/>
          </p:cNvGraphicFramePr>
          <p:nvPr/>
        </p:nvGraphicFramePr>
        <p:xfrm>
          <a:off x="5760000" y="968400"/>
          <a:ext cx="3016800" cy="1134000"/>
        </p:xfrm>
        <a:graphic>
          <a:graphicData uri="http://schemas.openxmlformats.org/drawingml/2006/table">
            <a:tbl>
              <a:tblPr firstRow="1" bandRow="1">
                <a:tableStyleId>{5C22544A-7EE6-4342-B048-85BDC9FD1C3A}</a:tableStyleId>
              </a:tblPr>
              <a:tblGrid>
                <a:gridCol w="1810080"/>
                <a:gridCol w="1206720"/>
              </a:tblGrid>
              <a:tr h="226800">
                <a:tc>
                  <a:txBody>
                    <a:bodyPr/>
                    <a:lstStyle/>
                    <a:p>
                      <a:pPr algn="l"/>
                      <a:r>
                        <a:rPr sz="800" b="1" i="0">
                          <a:solidFill>
                            <a:srgbClr val="FFFFFF"/>
                          </a:solidFill>
                          <a:latin typeface="Calibri"/>
                        </a:rPr>
                        <a:t>Type d'actionnaire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Part estimée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Retail &amp; 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1" name="TextBox 20"/>
          <p:cNvSpPr txBox="1"/>
          <p:nvPr/>
        </p:nvSpPr>
        <p:spPr>
          <a:xfrm>
            <a:off x="367200" y="3326400"/>
            <a:ext cx="8413200" cy="1004400"/>
          </a:xfrm>
          <a:prstGeom prst="rect">
            <a:avLst/>
          </a:prstGeom>
          <a:noFill/>
        </p:spPr>
        <p:txBody>
          <a:bodyPr wrap="square">
            <a:spAutoFit/>
          </a:bodyPr>
          <a:lstStyle/>
          <a:p>
            <a:pPr algn="l"/>
            <a:r>
              <a:rPr sz="850" b="0" i="0">
                <a:solidFill>
                  <a:srgbClr val="555555"/>
                </a:solidFill>
                <a:latin typeface="Calibri"/>
              </a:rPr>
              <a:t>Apple se négocie à un P/E de 32.6x, soit une prime de 15% vs la médiane des peers technologiques. La décote sur EV/EBITDA (-10%) reflète la qualité supérieure des actifs mais reste justifiée par la croissance organique.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Historique de Cours — 52 Semaines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AAPL  ·  USD  ·  Au 29 mars 2026</a:t>
            </a:r>
          </a:p>
        </p:txBody>
      </p:sp>
      <p:sp>
        <p:nvSpPr>
          <p:cNvPr id="17" name="Rectangle 16"/>
          <p:cNvSpPr/>
          <p:nvPr/>
        </p:nvSpPr>
        <p:spPr>
          <a:xfrm>
            <a:off x="3672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1782000" cy="396000"/>
          </a:xfrm>
          <a:prstGeom prst="rect">
            <a:avLst/>
          </a:prstGeom>
          <a:noFill/>
        </p:spPr>
        <p:txBody>
          <a:bodyPr wrap="square">
            <a:spAutoFit/>
          </a:bodyPr>
          <a:lstStyle/>
          <a:p>
            <a:pPr algn="l"/>
            <a:r>
              <a:rPr sz="1900" b="1" i="0">
                <a:solidFill>
                  <a:srgbClr val="1B3A6B"/>
                </a:solidFill>
                <a:latin typeface="Calibri"/>
              </a:rPr>
              <a:t>248,80 $</a:t>
            </a:r>
          </a:p>
        </p:txBody>
      </p:sp>
      <p:sp>
        <p:nvSpPr>
          <p:cNvPr id="20" name="TextBox 19"/>
          <p:cNvSpPr txBox="1"/>
          <p:nvPr/>
        </p:nvSpPr>
        <p:spPr>
          <a:xfrm>
            <a:off x="457200" y="1411200"/>
            <a:ext cx="17820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21" name="Rectangle 20"/>
          <p:cNvSpPr/>
          <p:nvPr/>
        </p:nvSpPr>
        <p:spPr>
          <a:xfrm>
            <a:off x="24228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228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2800" y="1015200"/>
            <a:ext cx="1782000" cy="396000"/>
          </a:xfrm>
          <a:prstGeom prst="rect">
            <a:avLst/>
          </a:prstGeom>
          <a:noFill/>
        </p:spPr>
        <p:txBody>
          <a:bodyPr wrap="square">
            <a:spAutoFit/>
          </a:bodyPr>
          <a:lstStyle/>
          <a:p>
            <a:pPr algn="l"/>
            <a:r>
              <a:rPr sz="1900" b="1" i="0">
                <a:solidFill>
                  <a:srgbClr val="1B3A6B"/>
                </a:solidFill>
                <a:latin typeface="Calibri"/>
              </a:rPr>
              <a:t>278,32 $</a:t>
            </a:r>
          </a:p>
        </p:txBody>
      </p:sp>
      <p:sp>
        <p:nvSpPr>
          <p:cNvPr id="24" name="TextBox 23"/>
          <p:cNvSpPr txBox="1"/>
          <p:nvPr/>
        </p:nvSpPr>
        <p:spPr>
          <a:xfrm>
            <a:off x="2512800" y="1411200"/>
            <a:ext cx="1782000" cy="205199"/>
          </a:xfrm>
          <a:prstGeom prst="rect">
            <a:avLst/>
          </a:prstGeom>
          <a:noFill/>
        </p:spPr>
        <p:txBody>
          <a:bodyPr wrap="square">
            <a:spAutoFit/>
          </a:bodyPr>
          <a:lstStyle/>
          <a:p>
            <a:pPr algn="l"/>
            <a:r>
              <a:rPr sz="800" b="0" i="0">
                <a:solidFill>
                  <a:srgbClr val="555555"/>
                </a:solidFill>
                <a:latin typeface="Calibri"/>
              </a:rPr>
              <a:t>Plus haut 52 sem.</a:t>
            </a:r>
          </a:p>
        </p:txBody>
      </p:sp>
      <p:sp>
        <p:nvSpPr>
          <p:cNvPr id="25" name="Rectangle 24"/>
          <p:cNvSpPr/>
          <p:nvPr/>
        </p:nvSpPr>
        <p:spPr>
          <a:xfrm>
            <a:off x="44820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20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0" y="1015200"/>
            <a:ext cx="1782000" cy="396000"/>
          </a:xfrm>
          <a:prstGeom prst="rect">
            <a:avLst/>
          </a:prstGeom>
          <a:noFill/>
        </p:spPr>
        <p:txBody>
          <a:bodyPr wrap="square">
            <a:spAutoFit/>
          </a:bodyPr>
          <a:lstStyle/>
          <a:p>
            <a:pPr algn="l"/>
            <a:r>
              <a:rPr sz="1900" b="1" i="0">
                <a:solidFill>
                  <a:srgbClr val="1B3A6B"/>
                </a:solidFill>
                <a:latin typeface="Calibri"/>
              </a:rPr>
              <a:t>199,98 $</a:t>
            </a:r>
          </a:p>
        </p:txBody>
      </p:sp>
      <p:sp>
        <p:nvSpPr>
          <p:cNvPr id="28" name="TextBox 27"/>
          <p:cNvSpPr txBox="1"/>
          <p:nvPr/>
        </p:nvSpPr>
        <p:spPr>
          <a:xfrm>
            <a:off x="4572000" y="1411200"/>
            <a:ext cx="1782000" cy="205199"/>
          </a:xfrm>
          <a:prstGeom prst="rect">
            <a:avLst/>
          </a:prstGeom>
          <a:noFill/>
        </p:spPr>
        <p:txBody>
          <a:bodyPr wrap="square">
            <a:spAutoFit/>
          </a:bodyPr>
          <a:lstStyle/>
          <a:p>
            <a:pPr algn="l"/>
            <a:r>
              <a:rPr sz="800" b="0" i="0">
                <a:solidFill>
                  <a:srgbClr val="555555"/>
                </a:solidFill>
                <a:latin typeface="Calibri"/>
              </a:rPr>
              <a:t>Plus bas 52 sem.</a:t>
            </a:r>
          </a:p>
        </p:txBody>
      </p:sp>
      <p:sp>
        <p:nvSpPr>
          <p:cNvPr id="29" name="Rectangle 28"/>
          <p:cNvSpPr/>
          <p:nvPr/>
        </p:nvSpPr>
        <p:spPr>
          <a:xfrm>
            <a:off x="6537600" y="961200"/>
            <a:ext cx="21960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376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27600" y="1015200"/>
            <a:ext cx="2059200" cy="396000"/>
          </a:xfrm>
          <a:prstGeom prst="rect">
            <a:avLst/>
          </a:prstGeom>
          <a:noFill/>
        </p:spPr>
        <p:txBody>
          <a:bodyPr wrap="square">
            <a:spAutoFit/>
          </a:bodyPr>
          <a:lstStyle/>
          <a:p>
            <a:pPr algn="l"/>
            <a:r>
              <a:rPr sz="1900" b="1" i="0">
                <a:solidFill>
                  <a:srgbClr val="1B3A6B"/>
                </a:solidFill>
                <a:latin typeface="Calibri"/>
              </a:rPr>
              <a:t>+17,6 %</a:t>
            </a:r>
          </a:p>
        </p:txBody>
      </p:sp>
      <p:sp>
        <p:nvSpPr>
          <p:cNvPr id="32" name="TextBox 31"/>
          <p:cNvSpPr txBox="1"/>
          <p:nvPr/>
        </p:nvSpPr>
        <p:spPr>
          <a:xfrm>
            <a:off x="6627600" y="1411200"/>
            <a:ext cx="2059200" cy="205199"/>
          </a:xfrm>
          <a:prstGeom prst="rect">
            <a:avLst/>
          </a:prstGeom>
          <a:noFill/>
        </p:spPr>
        <p:txBody>
          <a:bodyPr wrap="square">
            <a:spAutoFit/>
          </a:bodyPr>
          <a:lstStyle/>
          <a:p>
            <a:pPr algn="l"/>
            <a:r>
              <a:rPr sz="800" b="0" i="0">
                <a:solidFill>
                  <a:srgbClr val="555555"/>
                </a:solidFill>
                <a:latin typeface="Calibri"/>
              </a:rPr>
              <a:t>Performance 52 sem.</a:t>
            </a:r>
          </a:p>
        </p:txBody>
      </p:sp>
      <p:sp>
        <p:nvSpPr>
          <p:cNvPr id="33" name="TextBox 32"/>
          <p:cNvSpPr txBox="1"/>
          <p:nvPr/>
        </p:nvSpPr>
        <p:spPr>
          <a:xfrm>
            <a:off x="367200" y="1846800"/>
            <a:ext cx="8413200" cy="165600"/>
          </a:xfrm>
          <a:prstGeom prst="rect">
            <a:avLst/>
          </a:prstGeom>
          <a:noFill/>
        </p:spPr>
        <p:txBody>
          <a:bodyPr wrap="square">
            <a:spAutoFit/>
          </a:bodyPr>
          <a:lstStyle/>
          <a:p>
            <a:pPr algn="l"/>
            <a:r>
              <a:rPr sz="900" b="1" i="0">
                <a:solidFill>
                  <a:srgbClr val="1B3A6B"/>
                </a:solidFill>
                <a:latin typeface="Calibri"/>
              </a:rPr>
              <a:t>Evolution du cours — 12 derniers mois</a:t>
            </a:r>
          </a:p>
        </p:txBody>
      </p:sp>
      <p:sp>
        <p:nvSpPr>
          <p:cNvPr id="34" name="Rectangle 33"/>
          <p:cNvSpPr/>
          <p:nvPr/>
        </p:nvSpPr>
        <p:spPr>
          <a:xfrm>
            <a:off x="367200" y="2102400"/>
            <a:ext cx="8413200" cy="1828800"/>
          </a:xfrm>
          <a:prstGeom prst="rect">
            <a:avLst/>
          </a:prstGeom>
          <a:solidFill>
            <a:srgbClr val="F7F8FA"/>
          </a:solidFill>
          <a:ln w="6350">
            <a:solidFill>
              <a:srgbClr val="D0D0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2102400"/>
            <a:ext cx="8413200" cy="3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37200" y="3609975"/>
            <a:ext cx="498636" cy="285224"/>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01200" y="3902400"/>
            <a:ext cx="728100" cy="144000"/>
          </a:xfrm>
          <a:prstGeom prst="rect">
            <a:avLst/>
          </a:prstGeom>
          <a:noFill/>
        </p:spPr>
        <p:txBody>
          <a:bodyPr wrap="square">
            <a:spAutoFit/>
          </a:bodyPr>
          <a:lstStyle/>
          <a:p>
            <a:pPr algn="ctr"/>
            <a:r>
              <a:rPr sz="600" b="0" i="0">
                <a:solidFill>
                  <a:srgbClr val="555555"/>
                </a:solidFill>
                <a:latin typeface="Calibri"/>
              </a:rPr>
              <a:t>Avr</a:t>
            </a:r>
          </a:p>
        </p:txBody>
      </p:sp>
      <p:sp>
        <p:nvSpPr>
          <p:cNvPr id="38" name="Rectangle 37"/>
          <p:cNvSpPr/>
          <p:nvPr/>
        </p:nvSpPr>
        <p:spPr>
          <a:xfrm>
            <a:off x="1293300" y="3823200"/>
            <a:ext cx="498636" cy="72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257300" y="3902400"/>
            <a:ext cx="728100" cy="144000"/>
          </a:xfrm>
          <a:prstGeom prst="rect">
            <a:avLst/>
          </a:prstGeom>
          <a:noFill/>
        </p:spPr>
        <p:txBody>
          <a:bodyPr wrap="square">
            <a:spAutoFit/>
          </a:bodyPr>
          <a:lstStyle/>
          <a:p>
            <a:pPr algn="ctr"/>
            <a:r>
              <a:rPr sz="600" b="0" i="0">
                <a:solidFill>
                  <a:srgbClr val="555555"/>
                </a:solidFill>
                <a:latin typeface="Calibri"/>
              </a:rPr>
              <a:t>Mai</a:t>
            </a:r>
          </a:p>
        </p:txBody>
      </p:sp>
      <p:sp>
        <p:nvSpPr>
          <p:cNvPr id="40" name="Rectangle 39"/>
          <p:cNvSpPr/>
          <p:nvPr/>
        </p:nvSpPr>
        <p:spPr>
          <a:xfrm>
            <a:off x="1949400" y="3739196"/>
            <a:ext cx="498636" cy="156003"/>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913400" y="3902400"/>
            <a:ext cx="728100" cy="144000"/>
          </a:xfrm>
          <a:prstGeom prst="rect">
            <a:avLst/>
          </a:prstGeom>
          <a:noFill/>
        </p:spPr>
        <p:txBody>
          <a:bodyPr wrap="square">
            <a:spAutoFit/>
          </a:bodyPr>
          <a:lstStyle/>
          <a:p>
            <a:pPr algn="ctr"/>
            <a:r>
              <a:rPr sz="600" b="0" i="0">
                <a:solidFill>
                  <a:srgbClr val="555555"/>
                </a:solidFill>
                <a:latin typeface="Calibri"/>
              </a:rPr>
              <a:t>Juin</a:t>
            </a:r>
          </a:p>
        </p:txBody>
      </p:sp>
      <p:sp>
        <p:nvSpPr>
          <p:cNvPr id="42" name="Rectangle 41"/>
          <p:cNvSpPr/>
          <p:nvPr/>
        </p:nvSpPr>
        <p:spPr>
          <a:xfrm>
            <a:off x="2605500" y="3695265"/>
            <a:ext cx="498636" cy="199934"/>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569500" y="3902400"/>
            <a:ext cx="728100" cy="144000"/>
          </a:xfrm>
          <a:prstGeom prst="rect">
            <a:avLst/>
          </a:prstGeom>
          <a:noFill/>
        </p:spPr>
        <p:txBody>
          <a:bodyPr wrap="square">
            <a:spAutoFit/>
          </a:bodyPr>
          <a:lstStyle/>
          <a:p>
            <a:pPr algn="ctr"/>
            <a:r>
              <a:rPr sz="600" b="0" i="0">
                <a:solidFill>
                  <a:srgbClr val="555555"/>
                </a:solidFill>
                <a:latin typeface="Calibri"/>
              </a:rPr>
              <a:t>Juil</a:t>
            </a:r>
          </a:p>
        </p:txBody>
      </p:sp>
      <p:sp>
        <p:nvSpPr>
          <p:cNvPr id="44" name="Rectangle 43"/>
          <p:cNvSpPr/>
          <p:nvPr/>
        </p:nvSpPr>
        <p:spPr>
          <a:xfrm>
            <a:off x="3261600" y="3244920"/>
            <a:ext cx="498636" cy="65027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25600" y="3902400"/>
            <a:ext cx="728100" cy="144000"/>
          </a:xfrm>
          <a:prstGeom prst="rect">
            <a:avLst/>
          </a:prstGeom>
          <a:noFill/>
        </p:spPr>
        <p:txBody>
          <a:bodyPr wrap="square">
            <a:spAutoFit/>
          </a:bodyPr>
          <a:lstStyle/>
          <a:p>
            <a:pPr algn="ctr"/>
            <a:r>
              <a:rPr sz="600" b="0" i="0">
                <a:solidFill>
                  <a:srgbClr val="555555"/>
                </a:solidFill>
                <a:latin typeface="Calibri"/>
              </a:rPr>
              <a:t>Aoû</a:t>
            </a:r>
          </a:p>
        </p:txBody>
      </p:sp>
      <p:sp>
        <p:nvSpPr>
          <p:cNvPr id="46" name="Rectangle 45"/>
          <p:cNvSpPr/>
          <p:nvPr/>
        </p:nvSpPr>
        <p:spPr>
          <a:xfrm>
            <a:off x="3917700" y="2827478"/>
            <a:ext cx="498636" cy="1067721"/>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881700" y="3902400"/>
            <a:ext cx="728100" cy="144000"/>
          </a:xfrm>
          <a:prstGeom prst="rect">
            <a:avLst/>
          </a:prstGeom>
          <a:noFill/>
        </p:spPr>
        <p:txBody>
          <a:bodyPr wrap="square">
            <a:spAutoFit/>
          </a:bodyPr>
          <a:lstStyle/>
          <a:p>
            <a:pPr algn="ctr"/>
            <a:r>
              <a:rPr sz="600" b="0" i="0">
                <a:solidFill>
                  <a:srgbClr val="555555"/>
                </a:solidFill>
                <a:latin typeface="Calibri"/>
              </a:rPr>
              <a:t>Sep</a:t>
            </a:r>
          </a:p>
        </p:txBody>
      </p:sp>
      <p:sp>
        <p:nvSpPr>
          <p:cNvPr id="48" name="Rectangle 47"/>
          <p:cNvSpPr/>
          <p:nvPr/>
        </p:nvSpPr>
        <p:spPr>
          <a:xfrm>
            <a:off x="4573800" y="2538706"/>
            <a:ext cx="498636" cy="1356493"/>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537800" y="3902400"/>
            <a:ext cx="728100" cy="144000"/>
          </a:xfrm>
          <a:prstGeom prst="rect">
            <a:avLst/>
          </a:prstGeom>
          <a:noFill/>
        </p:spPr>
        <p:txBody>
          <a:bodyPr wrap="square">
            <a:spAutoFit/>
          </a:bodyPr>
          <a:lstStyle/>
          <a:p>
            <a:pPr algn="ctr"/>
            <a:r>
              <a:rPr sz="600" b="0" i="0">
                <a:solidFill>
                  <a:srgbClr val="555555"/>
                </a:solidFill>
                <a:latin typeface="Calibri"/>
              </a:rPr>
              <a:t>Oct</a:t>
            </a:r>
          </a:p>
        </p:txBody>
      </p:sp>
      <p:sp>
        <p:nvSpPr>
          <p:cNvPr id="50" name="Rectangle 49"/>
          <p:cNvSpPr/>
          <p:nvPr/>
        </p:nvSpPr>
        <p:spPr>
          <a:xfrm>
            <a:off x="5229900" y="2383200"/>
            <a:ext cx="498636" cy="151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193900" y="3902400"/>
            <a:ext cx="728100" cy="144000"/>
          </a:xfrm>
          <a:prstGeom prst="rect">
            <a:avLst/>
          </a:prstGeom>
          <a:noFill/>
        </p:spPr>
        <p:txBody>
          <a:bodyPr wrap="square">
            <a:spAutoFit/>
          </a:bodyPr>
          <a:lstStyle/>
          <a:p>
            <a:pPr algn="ctr"/>
            <a:r>
              <a:rPr sz="600" b="0" i="0">
                <a:solidFill>
                  <a:srgbClr val="555555"/>
                </a:solidFill>
                <a:latin typeface="Calibri"/>
              </a:rPr>
              <a:t>Nov</a:t>
            </a:r>
          </a:p>
        </p:txBody>
      </p:sp>
      <p:sp>
        <p:nvSpPr>
          <p:cNvPr id="52" name="Rectangle 51"/>
          <p:cNvSpPr/>
          <p:nvPr/>
        </p:nvSpPr>
        <p:spPr>
          <a:xfrm>
            <a:off x="5886000" y="2506539"/>
            <a:ext cx="498636" cy="138866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850000" y="3902400"/>
            <a:ext cx="728100" cy="144000"/>
          </a:xfrm>
          <a:prstGeom prst="rect">
            <a:avLst/>
          </a:prstGeom>
          <a:noFill/>
        </p:spPr>
        <p:txBody>
          <a:bodyPr wrap="square">
            <a:spAutoFit/>
          </a:bodyPr>
          <a:lstStyle/>
          <a:p>
            <a:pPr algn="ctr"/>
            <a:r>
              <a:rPr sz="600" b="0" i="0">
                <a:solidFill>
                  <a:srgbClr val="555555"/>
                </a:solidFill>
                <a:latin typeface="Calibri"/>
              </a:rPr>
              <a:t>Déc</a:t>
            </a:r>
          </a:p>
        </p:txBody>
      </p:sp>
      <p:sp>
        <p:nvSpPr>
          <p:cNvPr id="54" name="Rectangle 53"/>
          <p:cNvSpPr/>
          <p:nvPr/>
        </p:nvSpPr>
        <p:spPr>
          <a:xfrm>
            <a:off x="6542100" y="2733917"/>
            <a:ext cx="498636" cy="1161282"/>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506099" y="3902400"/>
            <a:ext cx="728100" cy="144000"/>
          </a:xfrm>
          <a:prstGeom prst="rect">
            <a:avLst/>
          </a:prstGeom>
          <a:noFill/>
        </p:spPr>
        <p:txBody>
          <a:bodyPr wrap="square">
            <a:spAutoFit/>
          </a:bodyPr>
          <a:lstStyle/>
          <a:p>
            <a:pPr algn="ctr"/>
            <a:r>
              <a:rPr sz="600" b="0" i="0">
                <a:solidFill>
                  <a:srgbClr val="555555"/>
                </a:solidFill>
                <a:latin typeface="Calibri"/>
              </a:rPr>
              <a:t>Jan</a:t>
            </a:r>
          </a:p>
        </p:txBody>
      </p:sp>
      <p:sp>
        <p:nvSpPr>
          <p:cNvPr id="56" name="Rectangle 55"/>
          <p:cNvSpPr/>
          <p:nvPr/>
        </p:nvSpPr>
        <p:spPr>
          <a:xfrm>
            <a:off x="7198200" y="2647708"/>
            <a:ext cx="498636" cy="1247491"/>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162200" y="3902400"/>
            <a:ext cx="728100" cy="144000"/>
          </a:xfrm>
          <a:prstGeom prst="rect">
            <a:avLst/>
          </a:prstGeom>
          <a:noFill/>
        </p:spPr>
        <p:txBody>
          <a:bodyPr wrap="square">
            <a:spAutoFit/>
          </a:bodyPr>
          <a:lstStyle/>
          <a:p>
            <a:pPr algn="ctr"/>
            <a:r>
              <a:rPr sz="600" b="0" i="0">
                <a:solidFill>
                  <a:srgbClr val="555555"/>
                </a:solidFill>
                <a:latin typeface="Calibri"/>
              </a:rPr>
              <a:t>Fév</a:t>
            </a:r>
          </a:p>
        </p:txBody>
      </p:sp>
      <p:sp>
        <p:nvSpPr>
          <p:cNvPr id="58" name="Rectangle 57"/>
          <p:cNvSpPr/>
          <p:nvPr/>
        </p:nvSpPr>
        <p:spPr>
          <a:xfrm>
            <a:off x="7854300" y="2925819"/>
            <a:ext cx="498636" cy="96938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818299" y="3902400"/>
            <a:ext cx="728100" cy="144000"/>
          </a:xfrm>
          <a:prstGeom prst="rect">
            <a:avLst/>
          </a:prstGeom>
          <a:noFill/>
        </p:spPr>
        <p:txBody>
          <a:bodyPr wrap="square">
            <a:spAutoFit/>
          </a:bodyPr>
          <a:lstStyle/>
          <a:p>
            <a:pPr algn="ctr"/>
            <a:r>
              <a:rPr sz="600" b="0" i="0">
                <a:solidFill>
                  <a:srgbClr val="555555"/>
                </a:solidFill>
                <a:latin typeface="Calibri"/>
              </a:rPr>
              <a:t>Mar</a:t>
            </a:r>
          </a:p>
        </p:txBody>
      </p:sp>
      <p:sp>
        <p:nvSpPr>
          <p:cNvPr id="60" name="Rectangle 59"/>
          <p:cNvSpPr/>
          <p:nvPr/>
        </p:nvSpPr>
        <p:spPr>
          <a:xfrm>
            <a:off x="601200" y="382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31200" y="3751200"/>
            <a:ext cx="288000" cy="144000"/>
          </a:xfrm>
          <a:prstGeom prst="rect">
            <a:avLst/>
          </a:prstGeom>
          <a:noFill/>
        </p:spPr>
        <p:txBody>
          <a:bodyPr wrap="none">
            <a:spAutoFit/>
          </a:bodyPr>
          <a:lstStyle/>
          <a:p>
            <a:pPr algn="l"/>
            <a:r>
              <a:rPr sz="600" b="0" i="0">
                <a:solidFill>
                  <a:srgbClr val="555555"/>
                </a:solidFill>
                <a:latin typeface="Calibri"/>
              </a:rPr>
              <a:t>199</a:t>
            </a:r>
          </a:p>
        </p:txBody>
      </p:sp>
      <p:sp>
        <p:nvSpPr>
          <p:cNvPr id="62" name="Rectangle 61"/>
          <p:cNvSpPr/>
          <p:nvPr/>
        </p:nvSpPr>
        <p:spPr>
          <a:xfrm>
            <a:off x="601200" y="33480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31200" y="3276000"/>
            <a:ext cx="288000" cy="144000"/>
          </a:xfrm>
          <a:prstGeom prst="rect">
            <a:avLst/>
          </a:prstGeom>
          <a:noFill/>
        </p:spPr>
        <p:txBody>
          <a:bodyPr wrap="none">
            <a:spAutoFit/>
          </a:bodyPr>
          <a:lstStyle/>
          <a:p>
            <a:pPr algn="l"/>
            <a:r>
              <a:rPr sz="600" b="0" i="0">
                <a:solidFill>
                  <a:srgbClr val="555555"/>
                </a:solidFill>
                <a:latin typeface="Calibri"/>
              </a:rPr>
              <a:t>225</a:t>
            </a:r>
          </a:p>
        </p:txBody>
      </p:sp>
      <p:sp>
        <p:nvSpPr>
          <p:cNvPr id="64" name="Rectangle 63"/>
          <p:cNvSpPr/>
          <p:nvPr/>
        </p:nvSpPr>
        <p:spPr>
          <a:xfrm>
            <a:off x="601200" y="28584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31200" y="2786399"/>
            <a:ext cx="288000" cy="144000"/>
          </a:xfrm>
          <a:prstGeom prst="rect">
            <a:avLst/>
          </a:prstGeom>
          <a:noFill/>
        </p:spPr>
        <p:txBody>
          <a:bodyPr wrap="none">
            <a:spAutoFit/>
          </a:bodyPr>
          <a:lstStyle/>
          <a:p>
            <a:pPr algn="l"/>
            <a:r>
              <a:rPr sz="600" b="0" i="0">
                <a:solidFill>
                  <a:srgbClr val="555555"/>
                </a:solidFill>
                <a:latin typeface="Calibri"/>
              </a:rPr>
              <a:t>252</a:t>
            </a:r>
          </a:p>
        </p:txBody>
      </p:sp>
      <p:sp>
        <p:nvSpPr>
          <p:cNvPr id="66" name="Rectangle 65"/>
          <p:cNvSpPr/>
          <p:nvPr/>
        </p:nvSpPr>
        <p:spPr>
          <a:xfrm>
            <a:off x="601200" y="238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31200" y="2311200"/>
            <a:ext cx="288000" cy="144000"/>
          </a:xfrm>
          <a:prstGeom prst="rect">
            <a:avLst/>
          </a:prstGeom>
          <a:noFill/>
        </p:spPr>
        <p:txBody>
          <a:bodyPr wrap="none">
            <a:spAutoFit/>
          </a:bodyPr>
          <a:lstStyle/>
          <a:p>
            <a:pPr algn="l"/>
            <a:r>
              <a:rPr sz="600" b="0" i="0">
                <a:solidFill>
                  <a:srgbClr val="555555"/>
                </a:solidFill>
                <a:latin typeface="Calibri"/>
              </a:rPr>
              <a:t>278</a:t>
            </a:r>
          </a:p>
        </p:txBody>
      </p:sp>
      <p:sp>
        <p:nvSpPr>
          <p:cNvPr id="68" name="TextBox 67"/>
          <p:cNvSpPr txBox="1"/>
          <p:nvPr/>
        </p:nvSpPr>
        <p:spPr>
          <a:xfrm>
            <a:off x="367200" y="4132800"/>
            <a:ext cx="8413200" cy="687600"/>
          </a:xfrm>
          <a:prstGeom prst="rect">
            <a:avLst/>
          </a:prstGeom>
          <a:noFill/>
        </p:spPr>
        <p:txBody>
          <a:bodyPr wrap="square">
            <a:spAutoFit/>
          </a:bodyPr>
          <a:lstStyle/>
          <a:p>
            <a:pPr algn="l"/>
            <a:r>
              <a:rPr sz="850" b="0" i="0">
                <a:solidFill>
                  <a:srgbClr val="555555"/>
                </a:solidFill>
                <a:latin typeface="Calibri"/>
              </a:rPr>
              <a:t>Apple affiche une résilience opérationnelle exceptionnelle avec des marges nettes à 26.9% et un ROE de 151.9%, malgré un environnement macroéconomique incertain. La valorisation reste attractive avec un P/E de 32.6x, inférieur à sa moyenne historique sur 5 ans (35x).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