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275 $  ·  Upside : +8,7 %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+8,7 %  ·  Bear : 220 $ (-13,1 %)  ·  Bull : 310 $ (+22,5 %)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L'intégration de l'IA dans les produits 2026 pourrait générer +15 Md USD de revenus supplémentaires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élevées</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des services devrait atteindre 72% d'ici 2027 grâce à l'augmentation des abonnements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massive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de 110 Mds USD prévu en 2026 soutient la valorisation.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26,1x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+8,7 %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+0,339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Wearables) et des services (App Store, Apple Music, iCloud). Positionné en haut de gamme, le groupe mise sur l'écosystème fermé et l'innovation pour fidéliser ses clients. Ses avantages concurrentiels incluent une marge brute élevée, une trésorerie nette de 166 Mds USD et une forte récurrence des revenus services.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Ventes de matériel (iPhone 60%, Mac 7%, iPad 7%, Wearables 8%) avec marge brute ~35%. Clients…</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Abonnements (App Store, Apple Music, iCloud) et licences avec marge brute ~70%. Base d'utilisateurs…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3 714,8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253,03 $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60%, Mac 7%, iPad 7%, Wearables 8%) avec marge brute ~35%. Clients premium en Amérique du Nord et Europe. Croissance portée par l'iPhone 15 et l'expansion en Chine.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18%</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licences avec marge brute ~70%. Base d'utilisateurs 1.5 Md et croissance annuelle 15%. Revenus récurrents à 80% du segment.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440,0</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+5,7 %</a:t>
                      </a:r>
                    </a:p>
                  </a:txBody>
                  <a:tcPr>
                    <a:solidFill>
                      <a:srgbClr val="F7F8FA"/>
                    </a:solidFill>
                  </a:tcPr>
                </a:tc>
                <a:tc>
                  <a:txBody>
                    <a:bodyPr/>
                    <a:lstStyle/>
                    <a:p>
                      <a:pPr algn="ctr"/>
                      <a:r>
                        <a:rPr sz="750" b="0" i="1">
                          <a:solidFill>
                            <a:srgbClr val="555555"/>
                          </a:solidFill>
                          <a:latin typeface="Calibri"/>
                        </a:rPr>
                        <a:t>+6,8 %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207,7</a:t>
                      </a:r>
                    </a:p>
                  </a:txBody>
                  <a:tcPr>
                    <a:solidFill>
                      <a:srgbClr val="FFFFFF"/>
                    </a:solidFill>
                  </a:tcPr>
                </a:tc>
                <a:tc>
                  <a:txBody>
                    <a:bodyPr/>
                    <a:lstStyle/>
                    <a:p>
                      <a:pPr algn="ctr"/>
                      <a:r>
                        <a:rPr sz="800" b="1" i="0">
                          <a:solidFill>
                            <a:srgbClr val="0D0D0D"/>
                          </a:solidFill>
                          <a:latin typeface="Calibri"/>
                        </a:rPr>
                        <a:t>223,2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36,8 %</a:t>
                      </a:r>
                    </a:p>
                  </a:txBody>
                  <a:tcPr>
                    <a:solidFill>
                      <a:srgbClr val="F7F8FA"/>
                    </a:solidFill>
                  </a:tcPr>
                </a:tc>
                <a:tc>
                  <a:txBody>
                    <a:bodyPr/>
                    <a:lstStyle/>
                    <a:p>
                      <a:pPr algn="ctr"/>
                      <a:r>
                        <a:rPr sz="750" b="0" i="1">
                          <a:solidFill>
                            <a:srgbClr val="555555"/>
                          </a:solidFill>
                          <a:latin typeface="Calibri"/>
                        </a:rPr>
                        <a:t>37,2 %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125,0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26,1 %</a:t>
                      </a:r>
                    </a:p>
                  </a:txBody>
                  <a:tcPr>
                    <a:solidFill>
                      <a:srgbClr val="F7F8FA"/>
                    </a:solidFill>
                  </a:tcPr>
                </a:tc>
                <a:tc>
                  <a:txBody>
                    <a:bodyPr/>
                    <a:lstStyle/>
                    <a:p>
                      <a:pPr algn="ctr"/>
                      <a:r>
                        <a:rPr sz="750" b="0" i="1">
                          <a:solidFill>
                            <a:srgbClr val="555555"/>
                          </a:solidFill>
                          <a:latin typeface="Calibri"/>
                        </a:rPr>
                        <a:t>26,6 %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revenue 6.4% en 2025 malgré un environnement macro difficile. Marges nettes stables à 26.9% grâce à la mixité services/produits. Free cash flow de 105 Mds USD en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9,96</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revenue 6.4% en 2025 malgré un environnement macro difficile. Marges nettes stables à 26.9% grâce à la mixité services/produits. Free cash flow de 105 Mds USD en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ROE 151.9% et ROIC 84.4% parmi les meilleurs du secteur tech. EV/Revenue à 9.1x supérieur à la médiane peers (7.8x).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-13,1 %</a:t>
                      </a:r>
                    </a:p>
                  </a:txBody>
                  <a:tcPr>
                    <a:solidFill>
                      <a:srgbClr val="FAF0EF"/>
                    </a:solidFill>
                  </a:tcPr>
                </a:tc>
                <a:tc>
                  <a:txBody>
                    <a:bodyPr/>
                    <a:lstStyle/>
                    <a:p>
                      <a:pPr algn="ctr"/>
                      <a:r>
                        <a:rPr sz="1200" b="1" i="0">
                          <a:solidFill>
                            <a:srgbClr val="2E5FA3"/>
                          </a:solidFill>
                          <a:latin typeface="Calibri"/>
                        </a:rPr>
                        <a:t>+8,7 %</a:t>
                      </a:r>
                    </a:p>
                  </a:txBody>
                  <a:tcPr>
                    <a:solidFill>
                      <a:srgbClr val="EEF3FA"/>
                    </a:solidFill>
                  </a:tcPr>
                </a:tc>
                <a:tc>
                  <a:txBody>
                    <a:bodyPr/>
                    <a:lstStyle/>
                    <a:p>
                      <a:pPr algn="ctr"/>
                      <a:r>
                        <a:rPr sz="1200" b="1" i="0">
                          <a:solidFill>
                            <a:srgbClr val="1A7A4A"/>
                          </a:solidFill>
                          <a:latin typeface="Calibri"/>
                        </a:rPr>
                        <a:t>+22,5 %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10.3% et TGR 3.0% impliquent un upside de 12% vs cours actuel. Sensibilité forte à la croissance des services.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3 714,8</a:t>
                      </a:r>
                    </a:p>
                  </a:txBody>
                  <a:tcPr>
                    <a:solidFill>
                      <a:srgbClr val="DDE8F5"/>
                    </a:solidFill>
                  </a:tcPr>
                </a:tc>
                <a:tc>
                  <a:txBody>
                    <a:bodyPr/>
                    <a:lstStyle/>
                    <a:p>
                      <a:pPr algn="ctr"/>
                      <a:r>
                        <a:rPr sz="800" b="1" i="0">
                          <a:solidFill>
                            <a:srgbClr val="1B3A6B"/>
                          </a:solidFill>
                          <a:latin typeface="Calibri"/>
                        </a:rPr>
                        <a:t>26,1x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33,2x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14,2x</a:t>
                      </a:r>
                    </a:p>
                  </a:txBody>
                  <a:tcPr>
                    <a:solidFill>
                      <a:srgbClr val="FFFFFF"/>
                    </a:solidFill>
                  </a:tcPr>
                </a:tc>
                <a:tc>
                  <a:txBody>
                    <a:bodyPr/>
                    <a:lstStyle/>
                    <a:p>
                      <a:pPr algn="ctr"/>
                      <a:r>
                        <a:rPr sz="800" b="0" i="0">
                          <a:solidFill>
                            <a:srgbClr val="0D0D0D"/>
                          </a:solidFill>
                          <a:latin typeface="Calibri"/>
                        </a:rPr>
                        <a:t>38,1x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22,3x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28,7x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20,1x</a:t>
                      </a:r>
                    </a:p>
                  </a:txBody>
                  <a:tcPr>
                    <a:solidFill>
                      <a:srgbClr val="FFFFFF"/>
                    </a:solidFill>
                  </a:tcPr>
                </a:tc>
                <a:tc>
                  <a:txBody>
                    <a:bodyPr/>
                    <a:lstStyle/>
                    <a:p>
                      <a:pPr algn="ctr"/>
                      <a:r>
                        <a:rPr sz="800" b="0" i="0">
                          <a:solidFill>
                            <a:srgbClr val="0D0D0D"/>
                          </a:solidFill>
                          <a:latin typeface="Calibri"/>
                        </a:rPr>
                        <a:t>4,2x</a:t>
                      </a:r>
                    </a:p>
                  </a:txBody>
                  <a:tcPr>
                    <a:solidFill>
                      <a:srgbClr val="FFFFFF"/>
                    </a:solidFill>
                  </a:tcPr>
                </a:tc>
                <a:tc>
                  <a:txBody>
                    <a:bodyPr/>
                    <a:lstStyle/>
                    <a:p>
                      <a:pPr algn="ctr"/>
                      <a:r>
                        <a:rPr sz="800" b="0" i="0">
                          <a:solidFill>
                            <a:srgbClr val="0D0D0D"/>
                          </a:solidFill>
                          <a:latin typeface="Calibri"/>
                        </a:rPr>
                        <a:t>55,3x</a:t>
                      </a:r>
                    </a:p>
                  </a:txBody>
                  <a:tcPr>
                    <a:solidFill>
                      <a:srgbClr val="FFFFFF"/>
                    </a:solidFill>
                  </a:tcPr>
                </a:tc>
                <a:tc>
                  <a:txBody>
                    <a:bodyPr/>
                    <a:lstStyle/>
                    <a:p>
                      <a:pPr algn="ctr"/>
                      <a:r>
                        <a:rPr sz="800" b="0" i="0">
                          <a:solidFill>
                            <a:srgbClr val="0D0D0D"/>
                          </a:solidFill>
                          <a:latin typeface="Calibri"/>
                        </a:rPr>
                        <a:t>44,0 %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18,7x</a:t>
                      </a:r>
                    </a:p>
                  </a:txBody>
                  <a:tcPr>
                    <a:solidFill>
                      <a:srgbClr val="F7F8FA"/>
                    </a:solidFill>
                  </a:tcPr>
                </a:tc>
                <a:tc>
                  <a:txBody>
                    <a:bodyPr/>
                    <a:lstStyle/>
                    <a:p>
                      <a:pPr algn="ctr"/>
                      <a:r>
                        <a:rPr sz="800" b="0" i="0">
                          <a:solidFill>
                            <a:srgbClr val="0D0D0D"/>
                          </a:solidFill>
                          <a:latin typeface="Calibri"/>
                        </a:rPr>
                        <a:t>12,1x</a:t>
                      </a:r>
                    </a:p>
                  </a:txBody>
                  <a:tcPr>
                    <a:solidFill>
                      <a:srgbClr val="F7F8FA"/>
                    </a:solidFill>
                  </a:tcPr>
                </a:tc>
                <a:tc>
                  <a:txBody>
                    <a:bodyPr/>
                    <a:lstStyle/>
                    <a:p>
                      <a:pPr algn="ctr"/>
                      <a:r>
                        <a:rPr sz="800" b="0" i="0">
                          <a:solidFill>
                            <a:srgbClr val="0D0D0D"/>
                          </a:solidFill>
                          <a:latin typeface="Calibri"/>
                        </a:rPr>
                        <a:t>32,4x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52,0 %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8,5x</a:t>
                      </a:r>
                    </a:p>
                  </a:txBody>
                  <a:tcPr>
                    <a:solidFill>
                      <a:srgbClr val="F7F8FA"/>
                    </a:solidFill>
                  </a:tcPr>
                </a:tc>
                <a:tc>
                  <a:txBody>
                    <a:bodyPr/>
                    <a:lstStyle/>
                    <a:p>
                      <a:pPr algn="ctr"/>
                      <a:r>
                        <a:rPr sz="800" b="1" i="0">
                          <a:solidFill>
                            <a:srgbClr val="0D0D0D"/>
                          </a:solidFill>
                          <a:latin typeface="Calibri"/>
                        </a:rPr>
                        <a:t>32,4x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38,0 %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ROE 151.9% et ROIC 84.4% parmi les meilleurs du secteur tech. EV/Revenue à 9.1x supérieur à la médiane peers (7.8x).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10.3% et TGR 3.0% impliquent un upside de 12% vs cours actuel. Sensibilité forte à la croissance des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iPhone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Régulation App Store en UE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Régulation</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Concurrence Android en Asie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Concurrence IA</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Ralentissement Chine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2026 avec -3% PIB US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IA en UE réduisant l'innovation</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commercial iPhone 16 avec -10% ventes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+0,339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52,5 %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17</a:t>
                      </a:r>
                    </a:p>
                  </a:txBody>
                  <a:tcPr>
                    <a:solidFill>
                      <a:srgbClr val="EAF4EF"/>
                    </a:solidFill>
                  </a:tcPr>
                </a:tc>
                <a:tc>
                  <a:txBody>
                    <a:bodyPr/>
                    <a:lstStyle/>
                    <a:p>
                      <a:pPr algn="ctr"/>
                      <a:r>
                        <a:rPr sz="800" b="0" i="0">
                          <a:solidFill>
                            <a:srgbClr val="0D0D0D"/>
                          </a:solidFill>
                          <a:latin typeface="Calibri"/>
                        </a:rPr>
                        <a:t>+0,525</a:t>
                      </a:r>
                    </a:p>
                  </a:txBody>
                  <a:tcPr>
                    <a:solidFill>
                      <a:srgbClr val="EAF4EF"/>
                    </a:solidFill>
                  </a:tcPr>
                </a:tc>
                <a:tc>
                  <a:txBody>
                    <a:bodyPr/>
                    <a:lstStyle/>
                    <a:p>
                      <a:pPr algn="ctr"/>
                      <a:r>
                        <a:rPr sz="800" b="0" i="0">
                          <a:solidFill>
                            <a:srgbClr val="0D0D0D"/>
                          </a:solidFill>
                          <a:latin typeface="Calibri"/>
                        </a:rPr>
                        <a:t>Croissance services +15% YoY, Lancement iPhone 16 avec IA intégrée, Rachat actions 110 Mds USD</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7</a:t>
                      </a:r>
                    </a:p>
                  </a:txBody>
                  <a:tcPr>
                    <a:solidFill>
                      <a:srgbClr val="FFFFFF"/>
                    </a:solidFill>
                  </a:tcPr>
                </a:tc>
                <a:tc>
                  <a:txBody>
                    <a:bodyPr/>
                    <a:lstStyle/>
                    <a:p>
                      <a:pPr algn="ctr"/>
                      <a:r>
                        <a:rPr sz="800" b="0" i="0">
                          <a:solidFill>
                            <a:srgbClr val="0D0D0D"/>
                          </a:solidFill>
                          <a:latin typeface="Calibri"/>
                        </a:rPr>
                        <a:t>+0,288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+0,186</a:t>
                      </a:r>
                    </a:p>
                  </a:txBody>
                  <a:tcPr>
                    <a:solidFill>
                      <a:srgbClr val="FAF0EF"/>
                    </a:solidFill>
                  </a:tcPr>
                </a:tc>
                <a:tc>
                  <a:txBody>
                    <a:bodyPr/>
                    <a:lstStyle/>
                    <a:p>
                      <a:pPr algn="ctr"/>
                      <a:r>
                        <a:rPr sz="800" b="0" i="0">
                          <a:solidFill>
                            <a:srgbClr val="0D0D0D"/>
                          </a:solidFill>
                          <a:latin typeface="Calibri"/>
                        </a:rPr>
                        <a:t>Régulation App Store en UE, Concurrence Android en Asie, Ralentissement Chine</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positif (score +0.339) est basé sur 30 articles analysés sur 7 jours. Confiance IA : 53%.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Les multiples (33.2x P/E, 26.1x EV/EBITDA) sont élevés mais justifiés par la qualité des revenus. Comparables affichent des primes similaires pour la récurrence des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253,03 $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48249"/>
            <a:ext cx="498636" cy="104695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croissance résiliente avec des marges robustes et une trésorerie abondante. Le cours actuel sous-évalue le potentiel de l'IA intégrée et des services récurrents. La valorisation reste attractive malgré un premium sectoriel.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