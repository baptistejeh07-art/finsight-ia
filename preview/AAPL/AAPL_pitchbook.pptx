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Apple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AAPL  ·  Technology</a:t>
            </a:r>
          </a:p>
        </p:txBody>
      </p:sp>
      <p:sp>
        <p:nvSpPr>
          <p:cNvPr id="8" name="Rectangle 7"/>
          <p:cNvSpPr/>
          <p:nvPr/>
        </p:nvSpPr>
        <p:spPr>
          <a:xfrm>
            <a:off x="457200" y="2720232"/>
            <a:ext cx="8229600" cy="475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720232"/>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738232"/>
            <a:ext cx="8063999" cy="439200"/>
          </a:xfrm>
          <a:prstGeom prst="rect">
            <a:avLst/>
          </a:prstGeom>
          <a:noFill/>
        </p:spPr>
        <p:txBody>
          <a:bodyPr wrap="square">
            <a:spAutoFit/>
          </a:bodyPr>
          <a:lstStyle/>
          <a:p>
            <a:pPr algn="ctr"/>
            <a:r>
              <a:rPr sz="900" b="1" i="0">
                <a:solidFill>
                  <a:srgbClr val="1A7A4A"/>
                </a:solidFill>
                <a:latin typeface="Calibri"/>
              </a:rPr>
              <a:t>● BUY  ·  Prix cible base : 285 $  ·  Upside : +12,4 %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25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285 $  ·  Upside : +12,4 %  ·  Bear : 240 $ (-5,3 %)  ·  Bull : 320 $ (+26,2 %)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Écosystème fermé</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Apple vise 500 milliards USD de revenus d'ici 2027 grâce à l'IA générative intégrée dans les iPhones</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Marges premium</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La marge des services devrait atteindre 30% en 2026 avec 1,5 milliard d'abonnés payants</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Trésorerie record</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Le rachat d'actions de 110 milliards USD en 2025 renforce la création de valeur pour les actionnaires.</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Régulation App Store</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Régulation européenne sur l'App Store (-15% revenus services en 2026)</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Dépendance Chine</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Guerre commerciale Chine-USA (-5% ventes iPhone en 2026)</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Concurrence IA</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Concurrence IA de Google et Meta sur les services cloud</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26,1x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19,8x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10,3 %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1,12  ·  RFR 4,3 %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285 $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intrinseque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+12,4 %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+0,339</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Positif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Apple Inc.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Régulation App Store  ·  Dépendance Chine</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Apple Inc.  ·  Presentation &amp; Positionnement strategique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Apple conçoit et commercialise des smartphones, ordinateurs, tablettes et services numériques premium comme l'App Store et Apple Music. Positionné en haut de gamme, l'entreprise bénéficie d'une fidélisation client élevée et d'une marque forte. Ses avantages concurrentiels incluent l'intégration verticale, l'écosystème fermé et une marge brute supérieure à 45%.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a:t>
            </a:r>
          </a:p>
        </p:txBody>
      </p:sp>
      <p:sp>
        <p:nvSpPr>
          <p:cNvPr id="22" name="TextBox 21"/>
          <p:cNvSpPr txBox="1"/>
          <p:nvPr/>
        </p:nvSpPr>
        <p:spPr>
          <a:xfrm>
            <a:off x="619200" y="2714400"/>
            <a:ext cx="4338000" cy="144000"/>
          </a:xfrm>
          <a:prstGeom prst="rect">
            <a:avLst/>
          </a:prstGeom>
          <a:noFill/>
        </p:spPr>
        <p:txBody>
          <a:bodyPr wrap="square">
            <a:spAutoFit/>
          </a:bodyPr>
          <a:lstStyle/>
          <a:p>
            <a:pPr algn="l"/>
            <a:r>
              <a:rPr sz="750" b="0" i="1">
                <a:solidFill>
                  <a:srgbClr val="555555"/>
                </a:solidFill>
                <a:latin typeface="Calibri"/>
              </a:rPr>
              <a:t>Segment principal incluant iPhone, Mac, iPad et wearables avec modèle de revenus basé sur ventes…</a:t>
            </a:r>
          </a:p>
        </p:txBody>
      </p:sp>
      <p:sp>
        <p:nvSpPr>
          <p:cNvPr id="23" name="Rectangle 22"/>
          <p:cNvSpPr/>
          <p:nvPr/>
        </p:nvSpPr>
        <p:spPr>
          <a:xfrm>
            <a:off x="503999" y="294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2897999"/>
            <a:ext cx="4338000" cy="165600"/>
          </a:xfrm>
          <a:prstGeom prst="rect">
            <a:avLst/>
          </a:prstGeom>
          <a:noFill/>
        </p:spPr>
        <p:txBody>
          <a:bodyPr wrap="square">
            <a:spAutoFit/>
          </a:bodyPr>
          <a:lstStyle/>
          <a:p>
            <a:pPr algn="l"/>
            <a:r>
              <a:rPr sz="850" b="1" i="0">
                <a:solidFill>
                  <a:srgbClr val="0D0D0D"/>
                </a:solidFill>
                <a:latin typeface="Calibri"/>
              </a:rPr>
              <a:t>Services</a:t>
            </a:r>
          </a:p>
        </p:txBody>
      </p:sp>
      <p:sp>
        <p:nvSpPr>
          <p:cNvPr id="25" name="TextBox 24"/>
          <p:cNvSpPr txBox="1"/>
          <p:nvPr/>
        </p:nvSpPr>
        <p:spPr>
          <a:xfrm>
            <a:off x="619200" y="3056399"/>
            <a:ext cx="4338000" cy="144000"/>
          </a:xfrm>
          <a:prstGeom prst="rect">
            <a:avLst/>
          </a:prstGeom>
          <a:noFill/>
        </p:spPr>
        <p:txBody>
          <a:bodyPr wrap="square">
            <a:spAutoFit/>
          </a:bodyPr>
          <a:lstStyle/>
          <a:p>
            <a:pPr algn="l"/>
            <a:r>
              <a:rPr sz="750" b="0" i="1">
                <a:solidFill>
                  <a:srgbClr val="555555"/>
                </a:solidFill>
                <a:latin typeface="Calibri"/>
              </a:rPr>
              <a:t>Modèle d'abonnement et de commissions sur l'App Store, Apple Music, iCloud et Apple TV+. Revenus…</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3 722,1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boursiere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416,2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253,53 $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26,1x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33,2x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Modele Economique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operationnels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70%</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Segment principal incluant iPhone, Mac, iPad et wearables avec modèle de revenus basé sur ventes matérielles et accessoires. Clients cibles : consommateurs premium et entreprises. Croissance tirée par l'innovation et les services intégrés comme Apple Watch et AirPods.</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30%</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Modèle d'abonnement et de commissions sur l'App Store, Apple Music, iCloud et Apple TV+. Revenus récurrents et marges &gt;70%. Clients cibles : utilisateurs existants et nouveaux marchés comme la santé et la finance. Croissance portée par +1 milliard d'utilisateurs actifs.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383,3</a:t>
                      </a:r>
                    </a:p>
                  </a:txBody>
                  <a:tcPr>
                    <a:solidFill>
                      <a:srgbClr val="FFFFFF"/>
                    </a:solidFill>
                  </a:tcPr>
                </a:tc>
                <a:tc>
                  <a:txBody>
                    <a:bodyPr/>
                    <a:lstStyle/>
                    <a:p>
                      <a:pPr algn="ctr"/>
                      <a:r>
                        <a:rPr sz="800" b="1" i="0">
                          <a:solidFill>
                            <a:srgbClr val="0D0D0D"/>
                          </a:solidFill>
                          <a:latin typeface="Calibri"/>
                        </a:rPr>
                        <a:t>391,0</a:t>
                      </a:r>
                    </a:p>
                  </a:txBody>
                  <a:tcPr>
                    <a:solidFill>
                      <a:srgbClr val="FFFFFF"/>
                    </a:solidFill>
                  </a:tcPr>
                </a:tc>
                <a:tc>
                  <a:txBody>
                    <a:bodyPr/>
                    <a:lstStyle/>
                    <a:p>
                      <a:pPr algn="ctr"/>
                      <a:r>
                        <a:rPr sz="800" b="1" i="0">
                          <a:solidFill>
                            <a:srgbClr val="1B3A6B"/>
                          </a:solidFill>
                          <a:latin typeface="Calibri"/>
                        </a:rPr>
                        <a:t>416,2</a:t>
                      </a:r>
                    </a:p>
                  </a:txBody>
                  <a:tcPr>
                    <a:solidFill>
                      <a:srgbClr val="DDE8F5"/>
                    </a:solidFill>
                  </a:tcPr>
                </a:tc>
                <a:tc>
                  <a:txBody>
                    <a:bodyPr/>
                    <a:lstStyle/>
                    <a:p>
                      <a:pPr algn="ctr"/>
                      <a:r>
                        <a:rPr sz="800" b="1" i="0">
                          <a:solidFill>
                            <a:srgbClr val="0D0D0D"/>
                          </a:solidFill>
                          <a:latin typeface="Calibri"/>
                        </a:rPr>
                        <a:t>445,0</a:t>
                      </a:r>
                    </a:p>
                  </a:txBody>
                  <a:tcPr>
                    <a:solidFill>
                      <a:srgbClr val="FFFFFF"/>
                    </a:solidFill>
                  </a:tcPr>
                </a:tc>
                <a:tc>
                  <a:txBody>
                    <a:bodyPr/>
                    <a:lstStyle/>
                    <a:p>
                      <a:pPr algn="ctr"/>
                      <a:r>
                        <a:rPr sz="800" b="1" i="0">
                          <a:solidFill>
                            <a:srgbClr val="0D0D0D"/>
                          </a:solidFill>
                          <a:latin typeface="Calibri"/>
                        </a:rPr>
                        <a:t>480,0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-2,8 %</a:t>
                      </a:r>
                    </a:p>
                  </a:txBody>
                  <a:tcPr>
                    <a:solidFill>
                      <a:srgbClr val="F7F8FA"/>
                    </a:solidFill>
                  </a:tcPr>
                </a:tc>
                <a:tc>
                  <a:txBody>
                    <a:bodyPr/>
                    <a:lstStyle/>
                    <a:p>
                      <a:pPr algn="ctr"/>
                      <a:r>
                        <a:rPr sz="750" b="0" i="1">
                          <a:solidFill>
                            <a:srgbClr val="555555"/>
                          </a:solidFill>
                          <a:latin typeface="Calibri"/>
                        </a:rPr>
                        <a:t>+2,0 %</a:t>
                      </a:r>
                    </a:p>
                  </a:txBody>
                  <a:tcPr>
                    <a:solidFill>
                      <a:srgbClr val="F7F8FA"/>
                    </a:solidFill>
                  </a:tcPr>
                </a:tc>
                <a:tc>
                  <a:txBody>
                    <a:bodyPr/>
                    <a:lstStyle/>
                    <a:p>
                      <a:pPr algn="ctr"/>
                      <a:r>
                        <a:rPr sz="750" b="0" i="1">
                          <a:solidFill>
                            <a:srgbClr val="555555"/>
                          </a:solidFill>
                          <a:latin typeface="Calibri"/>
                        </a:rPr>
                        <a:t>+6,4 %</a:t>
                      </a:r>
                    </a:p>
                  </a:txBody>
                  <a:tcPr>
                    <a:solidFill>
                      <a:srgbClr val="DDE8F5"/>
                    </a:solidFill>
                  </a:tcPr>
                </a:tc>
                <a:tc>
                  <a:txBody>
                    <a:bodyPr/>
                    <a:lstStyle/>
                    <a:p>
                      <a:pPr algn="ctr"/>
                      <a:r>
                        <a:rPr sz="750" b="0" i="1">
                          <a:solidFill>
                            <a:srgbClr val="555555"/>
                          </a:solidFill>
                          <a:latin typeface="Calibri"/>
                        </a:rPr>
                        <a:t>+7,0 %</a:t>
                      </a:r>
                    </a:p>
                  </a:txBody>
                  <a:tcPr>
                    <a:solidFill>
                      <a:srgbClr val="F7F8FA"/>
                    </a:solidFill>
                  </a:tcPr>
                </a:tc>
                <a:tc>
                  <a:txBody>
                    <a:bodyPr/>
                    <a:lstStyle/>
                    <a:p>
                      <a:pPr algn="ctr"/>
                      <a:r>
                        <a:rPr sz="750" b="0" i="1">
                          <a:solidFill>
                            <a:srgbClr val="555555"/>
                          </a:solidFill>
                          <a:latin typeface="Calibri"/>
                        </a:rPr>
                        <a:t>+7,9 %</a:t>
                      </a:r>
                    </a:p>
                  </a:txBody>
                  <a:tcPr>
                    <a:solidFill>
                      <a:srgbClr val="F7F8FA"/>
                    </a:solidFill>
                  </a:tcPr>
                </a:tc>
              </a:tr>
              <a:tr h="220000">
                <a:tc>
                  <a:txBody>
                    <a:bodyPr/>
                    <a:lstStyle/>
                    <a:p>
                      <a:pPr algn="l"/>
                      <a:r>
                        <a:rPr sz="800" b="1" i="0">
                          <a:solidFill>
                            <a:srgbClr val="0D0D0D"/>
                          </a:solidFill>
                          <a:latin typeface="Calibri"/>
                        </a:rPr>
                        <a:t>Resultat brut</a:t>
                      </a:r>
                    </a:p>
                  </a:txBody>
                  <a:tcPr>
                    <a:solidFill>
                      <a:srgbClr val="FFFFFF"/>
                    </a:solidFill>
                  </a:tcPr>
                </a:tc>
                <a:tc>
                  <a:txBody>
                    <a:bodyPr/>
                    <a:lstStyle/>
                    <a:p>
                      <a:pPr algn="ctr"/>
                      <a:r>
                        <a:rPr sz="800" b="1" i="0">
                          <a:solidFill>
                            <a:srgbClr val="0D0D0D"/>
                          </a:solidFill>
                          <a:latin typeface="Calibri"/>
                        </a:rPr>
                        <a:t>169,1</a:t>
                      </a:r>
                    </a:p>
                  </a:txBody>
                  <a:tcPr>
                    <a:solidFill>
                      <a:srgbClr val="FFFFFF"/>
                    </a:solidFill>
                  </a:tcPr>
                </a:tc>
                <a:tc>
                  <a:txBody>
                    <a:bodyPr/>
                    <a:lstStyle/>
                    <a:p>
                      <a:pPr algn="ctr"/>
                      <a:r>
                        <a:rPr sz="800" b="1" i="0">
                          <a:solidFill>
                            <a:srgbClr val="0D0D0D"/>
                          </a:solidFill>
                          <a:latin typeface="Calibri"/>
                        </a:rPr>
                        <a:t>180,7</a:t>
                      </a:r>
                    </a:p>
                  </a:txBody>
                  <a:tcPr>
                    <a:solidFill>
                      <a:srgbClr val="FFFFFF"/>
                    </a:solidFill>
                  </a:tcPr>
                </a:tc>
                <a:tc>
                  <a:txBody>
                    <a:bodyPr/>
                    <a:lstStyle/>
                    <a:p>
                      <a:pPr algn="ctr"/>
                      <a:r>
                        <a:rPr sz="800" b="1" i="0">
                          <a:solidFill>
                            <a:srgbClr val="1B3A6B"/>
                          </a:solidFill>
                          <a:latin typeface="Calibri"/>
                        </a:rPr>
                        <a:t>195,2</a:t>
                      </a:r>
                    </a:p>
                  </a:txBody>
                  <a:tcPr>
                    <a:solidFill>
                      <a:srgbClr val="DDE8F5"/>
                    </a:solidFill>
                  </a:tcPr>
                </a:tc>
                <a:tc>
                  <a:txBody>
                    <a:bodyPr/>
                    <a:lstStyle/>
                    <a:p>
                      <a:pPr algn="ctr"/>
                      <a:r>
                        <a:rPr sz="800" b="1" i="0">
                          <a:solidFill>
                            <a:srgbClr val="0D0D0D"/>
                          </a:solidFill>
                          <a:latin typeface="Calibri"/>
                        </a:rPr>
                        <a:t>209,2</a:t>
                      </a:r>
                    </a:p>
                  </a:txBody>
                  <a:tcPr>
                    <a:solidFill>
                      <a:srgbClr val="FFFFFF"/>
                    </a:solidFill>
                  </a:tcPr>
                </a:tc>
                <a:tc>
                  <a:txBody>
                    <a:bodyPr/>
                    <a:lstStyle/>
                    <a:p>
                      <a:pPr algn="ctr"/>
                      <a:r>
                        <a:rPr sz="800" b="1" i="0">
                          <a:solidFill>
                            <a:srgbClr val="0D0D0D"/>
                          </a:solidFill>
                          <a:latin typeface="Calibri"/>
                        </a:rPr>
                        <a:t>228,0</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44,1 %</a:t>
                      </a:r>
                    </a:p>
                  </a:txBody>
                  <a:tcPr>
                    <a:solidFill>
                      <a:srgbClr val="F7F8FA"/>
                    </a:solidFill>
                  </a:tcPr>
                </a:tc>
                <a:tc>
                  <a:txBody>
                    <a:bodyPr/>
                    <a:lstStyle/>
                    <a:p>
                      <a:pPr algn="ctr"/>
                      <a:r>
                        <a:rPr sz="750" b="0" i="1">
                          <a:solidFill>
                            <a:srgbClr val="555555"/>
                          </a:solidFill>
                          <a:latin typeface="Calibri"/>
                        </a:rPr>
                        <a:t>46,2 %</a:t>
                      </a:r>
                    </a:p>
                  </a:txBody>
                  <a:tcPr>
                    <a:solidFill>
                      <a:srgbClr val="F7F8FA"/>
                    </a:solidFill>
                  </a:tcPr>
                </a:tc>
                <a:tc>
                  <a:txBody>
                    <a:bodyPr/>
                    <a:lstStyle/>
                    <a:p>
                      <a:pPr algn="ctr"/>
                      <a:r>
                        <a:rPr sz="750" b="0" i="1">
                          <a:solidFill>
                            <a:srgbClr val="555555"/>
                          </a:solidFill>
                          <a:latin typeface="Calibri"/>
                        </a:rPr>
                        <a:t>46,9 %</a:t>
                      </a:r>
                    </a:p>
                  </a:txBody>
                  <a:tcPr>
                    <a:solidFill>
                      <a:srgbClr val="DDE8F5"/>
                    </a:solidFill>
                  </a:tcPr>
                </a:tc>
                <a:tc>
                  <a:txBody>
                    <a:bodyPr/>
                    <a:lstStyle/>
                    <a:p>
                      <a:pPr algn="ctr"/>
                      <a:r>
                        <a:rPr sz="750" b="0" i="1">
                          <a:solidFill>
                            <a:srgbClr val="555555"/>
                          </a:solidFill>
                          <a:latin typeface="Calibri"/>
                        </a:rPr>
                        <a:t>47,0 %</a:t>
                      </a:r>
                    </a:p>
                  </a:txBody>
                  <a:tcPr>
                    <a:solidFill>
                      <a:srgbClr val="F7F8FA"/>
                    </a:solidFill>
                  </a:tcPr>
                </a:tc>
                <a:tc>
                  <a:txBody>
                    <a:bodyPr/>
                    <a:lstStyle/>
                    <a:p>
                      <a:pPr algn="ctr"/>
                      <a:r>
                        <a:rPr sz="750" b="0" i="1">
                          <a:solidFill>
                            <a:srgbClr val="555555"/>
                          </a:solidFill>
                          <a:latin typeface="Calibri"/>
                        </a:rPr>
                        <a:t>47,5 %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125,8</a:t>
                      </a:r>
                    </a:p>
                  </a:txBody>
                  <a:tcPr>
                    <a:solidFill>
                      <a:srgbClr val="FFFFFF"/>
                    </a:solidFill>
                  </a:tcPr>
                </a:tc>
                <a:tc>
                  <a:txBody>
                    <a:bodyPr/>
                    <a:lstStyle/>
                    <a:p>
                      <a:pPr algn="ctr"/>
                      <a:r>
                        <a:rPr sz="800" b="1" i="0">
                          <a:solidFill>
                            <a:srgbClr val="0D0D0D"/>
                          </a:solidFill>
                          <a:latin typeface="Calibri"/>
                        </a:rPr>
                        <a:t>134,7</a:t>
                      </a:r>
                    </a:p>
                  </a:txBody>
                  <a:tcPr>
                    <a:solidFill>
                      <a:srgbClr val="FFFFFF"/>
                    </a:solidFill>
                  </a:tcPr>
                </a:tc>
                <a:tc>
                  <a:txBody>
                    <a:bodyPr/>
                    <a:lstStyle/>
                    <a:p>
                      <a:pPr algn="ctr"/>
                      <a:r>
                        <a:rPr sz="800" b="1" i="0">
                          <a:solidFill>
                            <a:srgbClr val="1B3A6B"/>
                          </a:solidFill>
                          <a:latin typeface="Calibri"/>
                        </a:rPr>
                        <a:t>144,7</a:t>
                      </a:r>
                    </a:p>
                  </a:txBody>
                  <a:tcPr>
                    <a:solidFill>
                      <a:srgbClr val="DDE8F5"/>
                    </a:solidFill>
                  </a:tcPr>
                </a:tc>
                <a:tc>
                  <a:txBody>
                    <a:bodyPr/>
                    <a:lstStyle/>
                    <a:p>
                      <a:pPr algn="ctr"/>
                      <a:r>
                        <a:rPr sz="800" b="1" i="0">
                          <a:solidFill>
                            <a:srgbClr val="0D0D0D"/>
                          </a:solidFill>
                          <a:latin typeface="Calibri"/>
                        </a:rPr>
                        <a:t>165,0</a:t>
                      </a:r>
                    </a:p>
                  </a:txBody>
                  <a:tcPr>
                    <a:solidFill>
                      <a:srgbClr val="FFFFFF"/>
                    </a:solidFill>
                  </a:tcPr>
                </a:tc>
                <a:tc>
                  <a:txBody>
                    <a:bodyPr/>
                    <a:lstStyle/>
                    <a:p>
                      <a:pPr algn="ctr"/>
                      <a:r>
                        <a:rPr sz="800" b="1" i="0">
                          <a:solidFill>
                            <a:srgbClr val="0D0D0D"/>
                          </a:solidFill>
                          <a:latin typeface="Calibri"/>
                        </a:rPr>
                        <a:t>180,0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32,8 %</a:t>
                      </a:r>
                    </a:p>
                  </a:txBody>
                  <a:tcPr>
                    <a:solidFill>
                      <a:srgbClr val="F7F8FA"/>
                    </a:solidFill>
                  </a:tcPr>
                </a:tc>
                <a:tc>
                  <a:txBody>
                    <a:bodyPr/>
                    <a:lstStyle/>
                    <a:p>
                      <a:pPr algn="ctr"/>
                      <a:r>
                        <a:rPr sz="750" b="0" i="1">
                          <a:solidFill>
                            <a:srgbClr val="555555"/>
                          </a:solidFill>
                          <a:latin typeface="Calibri"/>
                        </a:rPr>
                        <a:t>34,4 %</a:t>
                      </a:r>
                    </a:p>
                  </a:txBody>
                  <a:tcPr>
                    <a:solidFill>
                      <a:srgbClr val="F7F8FA"/>
                    </a:solidFill>
                  </a:tcPr>
                </a:tc>
                <a:tc>
                  <a:txBody>
                    <a:bodyPr/>
                    <a:lstStyle/>
                    <a:p>
                      <a:pPr algn="ctr"/>
                      <a:r>
                        <a:rPr sz="750" b="0" i="1">
                          <a:solidFill>
                            <a:srgbClr val="555555"/>
                          </a:solidFill>
                          <a:latin typeface="Calibri"/>
                        </a:rPr>
                        <a:t>34,8 %</a:t>
                      </a:r>
                    </a:p>
                  </a:txBody>
                  <a:tcPr>
                    <a:solidFill>
                      <a:srgbClr val="DDE8F5"/>
                    </a:solidFill>
                  </a:tcPr>
                </a:tc>
                <a:tc>
                  <a:txBody>
                    <a:bodyPr/>
                    <a:lstStyle/>
                    <a:p>
                      <a:pPr algn="ctr"/>
                      <a:r>
                        <a:rPr sz="750" b="0" i="1">
                          <a:solidFill>
                            <a:srgbClr val="555555"/>
                          </a:solidFill>
                          <a:latin typeface="Calibri"/>
                        </a:rPr>
                        <a:t>37,0 %</a:t>
                      </a:r>
                    </a:p>
                  </a:txBody>
                  <a:tcPr>
                    <a:solidFill>
                      <a:srgbClr val="F7F8FA"/>
                    </a:solidFill>
                  </a:tcPr>
                </a:tc>
                <a:tc>
                  <a:txBody>
                    <a:bodyPr/>
                    <a:lstStyle/>
                    <a:p>
                      <a:pPr algn="ctr"/>
                      <a:r>
                        <a:rPr sz="750" b="0" i="1">
                          <a:solidFill>
                            <a:srgbClr val="555555"/>
                          </a:solidFill>
                          <a:latin typeface="Calibri"/>
                        </a:rPr>
                        <a:t>37,5 %</a:t>
                      </a:r>
                    </a:p>
                  </a:txBody>
                  <a:tcPr>
                    <a:solidFill>
                      <a:srgbClr val="F7F8FA"/>
                    </a:solidFill>
                  </a:tcPr>
                </a:tc>
              </a:tr>
              <a:tr h="220000">
                <a:tc>
                  <a:txBody>
                    <a:bodyPr/>
                    <a:lstStyle/>
                    <a:p>
                      <a:pPr algn="l"/>
                      <a:r>
                        <a:rPr sz="800" b="1" i="0">
                          <a:solidFill>
                            <a:srgbClr val="0D0D0D"/>
                          </a:solidFill>
                          <a:latin typeface="Calibri"/>
                        </a:rPr>
                        <a:t>Resultat net</a:t>
                      </a:r>
                    </a:p>
                  </a:txBody>
                  <a:tcPr>
                    <a:solidFill>
                      <a:srgbClr val="FFFFFF"/>
                    </a:solidFill>
                  </a:tcPr>
                </a:tc>
                <a:tc>
                  <a:txBody>
                    <a:bodyPr/>
                    <a:lstStyle/>
                    <a:p>
                      <a:pPr algn="ctr"/>
                      <a:r>
                        <a:rPr sz="800" b="1" i="0">
                          <a:solidFill>
                            <a:srgbClr val="0D0D0D"/>
                          </a:solidFill>
                          <a:latin typeface="Calibri"/>
                        </a:rPr>
                        <a:t>97,0</a:t>
                      </a:r>
                    </a:p>
                  </a:txBody>
                  <a:tcPr>
                    <a:solidFill>
                      <a:srgbClr val="FFFFFF"/>
                    </a:solidFill>
                  </a:tcPr>
                </a:tc>
                <a:tc>
                  <a:txBody>
                    <a:bodyPr/>
                    <a:lstStyle/>
                    <a:p>
                      <a:pPr algn="ctr"/>
                      <a:r>
                        <a:rPr sz="800" b="1" i="0">
                          <a:solidFill>
                            <a:srgbClr val="0D0D0D"/>
                          </a:solidFill>
                          <a:latin typeface="Calibri"/>
                        </a:rPr>
                        <a:t>93,7</a:t>
                      </a:r>
                    </a:p>
                  </a:txBody>
                  <a:tcPr>
                    <a:solidFill>
                      <a:srgbClr val="FFFFFF"/>
                    </a:solidFill>
                  </a:tcPr>
                </a:tc>
                <a:tc>
                  <a:txBody>
                    <a:bodyPr/>
                    <a:lstStyle/>
                    <a:p>
                      <a:pPr algn="ctr"/>
                      <a:r>
                        <a:rPr sz="800" b="1" i="0">
                          <a:solidFill>
                            <a:srgbClr val="1B3A6B"/>
                          </a:solidFill>
                          <a:latin typeface="Calibri"/>
                        </a:rPr>
                        <a:t>112,0</a:t>
                      </a:r>
                    </a:p>
                  </a:txBody>
                  <a:tcPr>
                    <a:solidFill>
                      <a:srgbClr val="DDE8F5"/>
                    </a:solidFill>
                  </a:tcPr>
                </a:tc>
                <a:tc>
                  <a:txBody>
                    <a:bodyPr/>
                    <a:lstStyle/>
                    <a:p>
                      <a:pPr algn="ctr"/>
                      <a:r>
                        <a:rPr sz="800" b="1" i="0">
                          <a:solidFill>
                            <a:srgbClr val="0D0D0D"/>
                          </a:solidFill>
                          <a:latin typeface="Calibri"/>
                        </a:rPr>
                        <a:t>120,0</a:t>
                      </a:r>
                    </a:p>
                  </a:txBody>
                  <a:tcPr>
                    <a:solidFill>
                      <a:srgbClr val="FFFFFF"/>
                    </a:solidFill>
                  </a:tcPr>
                </a:tc>
                <a:tc>
                  <a:txBody>
                    <a:bodyPr/>
                    <a:lstStyle/>
                    <a:p>
                      <a:pPr algn="ctr"/>
                      <a:r>
                        <a:rPr sz="800" b="1" i="0">
                          <a:solidFill>
                            <a:srgbClr val="0D0D0D"/>
                          </a:solidFill>
                          <a:latin typeface="Calibri"/>
                        </a:rPr>
                        <a:t>132,0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25,3 %</a:t>
                      </a:r>
                    </a:p>
                  </a:txBody>
                  <a:tcPr>
                    <a:solidFill>
                      <a:srgbClr val="F7F8FA"/>
                    </a:solidFill>
                  </a:tcPr>
                </a:tc>
                <a:tc>
                  <a:txBody>
                    <a:bodyPr/>
                    <a:lstStyle/>
                    <a:p>
                      <a:pPr algn="ctr"/>
                      <a:r>
                        <a:rPr sz="750" b="0" i="1">
                          <a:solidFill>
                            <a:srgbClr val="555555"/>
                          </a:solidFill>
                          <a:latin typeface="Calibri"/>
                        </a:rPr>
                        <a:t>24,0 %</a:t>
                      </a:r>
                    </a:p>
                  </a:txBody>
                  <a:tcPr>
                    <a:solidFill>
                      <a:srgbClr val="F7F8FA"/>
                    </a:solidFill>
                  </a:tcPr>
                </a:tc>
                <a:tc>
                  <a:txBody>
                    <a:bodyPr/>
                    <a:lstStyle/>
                    <a:p>
                      <a:pPr algn="ctr"/>
                      <a:r>
                        <a:rPr sz="750" b="0" i="1">
                          <a:solidFill>
                            <a:srgbClr val="555555"/>
                          </a:solidFill>
                          <a:latin typeface="Calibri"/>
                        </a:rPr>
                        <a:t>26,9 %</a:t>
                      </a:r>
                    </a:p>
                  </a:txBody>
                  <a:tcPr>
                    <a:solidFill>
                      <a:srgbClr val="DDE8F5"/>
                    </a:solidFill>
                  </a:tcPr>
                </a:tc>
                <a:tc>
                  <a:txBody>
                    <a:bodyPr/>
                    <a:lstStyle/>
                    <a:p>
                      <a:pPr algn="ctr"/>
                      <a:r>
                        <a:rPr sz="750" b="0" i="1">
                          <a:solidFill>
                            <a:srgbClr val="555555"/>
                          </a:solidFill>
                          <a:latin typeface="Calibri"/>
                        </a:rPr>
                        <a:t>27,0 %</a:t>
                      </a:r>
                    </a:p>
                  </a:txBody>
                  <a:tcPr>
                    <a:solidFill>
                      <a:srgbClr val="F7F8FA"/>
                    </a:solidFill>
                  </a:tcPr>
                </a:tc>
                <a:tc>
                  <a:txBody>
                    <a:bodyPr/>
                    <a:lstStyle/>
                    <a:p>
                      <a:pPr algn="ctr"/>
                      <a:r>
                        <a:rPr sz="750" b="0" i="1">
                          <a:solidFill>
                            <a:srgbClr val="555555"/>
                          </a:solidFill>
                          <a:latin typeface="Calibri"/>
                        </a:rPr>
                        <a:t>27,5 %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Croissance revenue de 6,4% en 2025 avec marge nette stable à 26,9%. Cash-flow opérationnel de 110 milliards USD. Les services progressent de 14% YoY, compensant le ralentissement des ventes d'iPhone.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35,9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78,3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62,7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0,65</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0,61</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1,3x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interets</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9,97</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-2,25</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Croissance revenue de 6,4% en 2025 avec marge nette stable à 26,9%. Cash-flow opérationnel de 110 milliards USD. Les services progressent de 14% YoY, compensant le ralentissement des ventes d'iPhone.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33,2x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26,1x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Tres eleve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84,4 %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Leger</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9,97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ROE de 151,9% et ROIC de 84,4% parmi les meilleurs du secteur. EV/EBITDA à 26,1x vs 22,5x pour les peers technologiques.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285 $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253,53 $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240 $</a:t>
                      </a:r>
                    </a:p>
                  </a:txBody>
                  <a:tcPr>
                    <a:solidFill>
                      <a:srgbClr val="FAF0EF"/>
                    </a:solidFill>
                  </a:tcPr>
                </a:tc>
                <a:tc>
                  <a:txBody>
                    <a:bodyPr/>
                    <a:lstStyle/>
                    <a:p>
                      <a:pPr algn="ctr"/>
                      <a:r>
                        <a:rPr sz="2000" b="1" i="0">
                          <a:solidFill>
                            <a:srgbClr val="2E5FA3"/>
                          </a:solidFill>
                          <a:latin typeface="Calibri"/>
                        </a:rPr>
                        <a:t>285 $</a:t>
                      </a:r>
                    </a:p>
                  </a:txBody>
                  <a:tcPr>
                    <a:solidFill>
                      <a:srgbClr val="EEF3FA"/>
                    </a:solidFill>
                  </a:tcPr>
                </a:tc>
                <a:tc>
                  <a:txBody>
                    <a:bodyPr/>
                    <a:lstStyle/>
                    <a:p>
                      <a:pPr algn="ctr"/>
                      <a:r>
                        <a:rPr sz="2000" b="1" i="0">
                          <a:solidFill>
                            <a:srgbClr val="1A7A4A"/>
                          </a:solidFill>
                          <a:latin typeface="Calibri"/>
                        </a:rPr>
                        <a:t>320 $</a:t>
                      </a:r>
                    </a:p>
                  </a:txBody>
                  <a:tcPr>
                    <a:solidFill>
                      <a:srgbClr val="EAF4EF"/>
                    </a:solidFill>
                  </a:tcPr>
                </a:tc>
              </a:tr>
              <a:tr h="342900">
                <a:tc>
                  <a:txBody>
                    <a:bodyPr/>
                    <a:lstStyle/>
                    <a:p>
                      <a:pPr algn="ctr"/>
                      <a:r>
                        <a:rPr sz="1200" b="1" i="0">
                          <a:solidFill>
                            <a:srgbClr val="A82020"/>
                          </a:solidFill>
                          <a:latin typeface="Calibri"/>
                        </a:rPr>
                        <a:t>-5,3 %</a:t>
                      </a:r>
                    </a:p>
                  </a:txBody>
                  <a:tcPr>
                    <a:solidFill>
                      <a:srgbClr val="FAF0EF"/>
                    </a:solidFill>
                  </a:tcPr>
                </a:tc>
                <a:tc>
                  <a:txBody>
                    <a:bodyPr/>
                    <a:lstStyle/>
                    <a:p>
                      <a:pPr algn="ctr"/>
                      <a:r>
                        <a:rPr sz="1200" b="1" i="0">
                          <a:solidFill>
                            <a:srgbClr val="2E5FA3"/>
                          </a:solidFill>
                          <a:latin typeface="Calibri"/>
                        </a:rPr>
                        <a:t>+12,4 %</a:t>
                      </a:r>
                    </a:p>
                  </a:txBody>
                  <a:tcPr>
                    <a:solidFill>
                      <a:srgbClr val="EEF3FA"/>
                    </a:solidFill>
                  </a:tcPr>
                </a:tc>
                <a:tc>
                  <a:txBody>
                    <a:bodyPr/>
                    <a:lstStyle/>
                    <a:p>
                      <a:pPr algn="ctr"/>
                      <a:r>
                        <a:rPr sz="1200" b="1" i="0">
                          <a:solidFill>
                            <a:srgbClr val="1A7A4A"/>
                          </a:solidFill>
                          <a:latin typeface="Calibri"/>
                        </a:rPr>
                        <a:t>+26,2 %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sensibilite — Valeur intrinseque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285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WACC de 10,3% et TGR de 3,0% impliquent un upside de 12,4% vs cours actuel. Sensibilité clé sur la croissance des services et le coût du capital.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Apple Inc.</a:t>
                      </a:r>
                    </a:p>
                  </a:txBody>
                  <a:tcPr>
                    <a:solidFill>
                      <a:srgbClr val="DDE8F5"/>
                    </a:solidFill>
                  </a:tcPr>
                </a:tc>
                <a:tc>
                  <a:txBody>
                    <a:bodyPr/>
                    <a:lstStyle/>
                    <a:p>
                      <a:pPr algn="ctr"/>
                      <a:r>
                        <a:rPr sz="750" b="1" i="0">
                          <a:solidFill>
                            <a:srgbClr val="2E5FA3"/>
                          </a:solidFill>
                          <a:latin typeface="Calibri"/>
                        </a:rPr>
                        <a:t>AAPL</a:t>
                      </a:r>
                    </a:p>
                  </a:txBody>
                  <a:tcPr>
                    <a:solidFill>
                      <a:srgbClr val="DDE8F5"/>
                    </a:solidFill>
                  </a:tcPr>
                </a:tc>
                <a:tc>
                  <a:txBody>
                    <a:bodyPr/>
                    <a:lstStyle/>
                    <a:p>
                      <a:pPr algn="ctr"/>
                      <a:r>
                        <a:rPr sz="800" b="1" i="0">
                          <a:solidFill>
                            <a:srgbClr val="1B3A6B"/>
                          </a:solidFill>
                          <a:latin typeface="Calibri"/>
                        </a:rPr>
                        <a:t>3 722,1</a:t>
                      </a:r>
                    </a:p>
                  </a:txBody>
                  <a:tcPr>
                    <a:solidFill>
                      <a:srgbClr val="DDE8F5"/>
                    </a:solidFill>
                  </a:tcPr>
                </a:tc>
                <a:tc>
                  <a:txBody>
                    <a:bodyPr/>
                    <a:lstStyle/>
                    <a:p>
                      <a:pPr algn="ctr"/>
                      <a:r>
                        <a:rPr sz="800" b="1" i="0">
                          <a:solidFill>
                            <a:srgbClr val="1B3A6B"/>
                          </a:solidFill>
                          <a:latin typeface="Calibri"/>
                        </a:rPr>
                        <a:t>26,1x</a:t>
                      </a:r>
                    </a:p>
                  </a:txBody>
                  <a:tcPr>
                    <a:solidFill>
                      <a:srgbClr val="DDE8F5"/>
                    </a:solidFill>
                  </a:tcPr>
                </a:tc>
                <a:tc>
                  <a:txBody>
                    <a:bodyPr/>
                    <a:lstStyle/>
                    <a:p>
                      <a:pPr algn="ctr"/>
                      <a:r>
                        <a:rPr sz="800" b="1" i="0">
                          <a:solidFill>
                            <a:srgbClr val="1B3A6B"/>
                          </a:solidFill>
                          <a:latin typeface="Calibri"/>
                        </a:rPr>
                        <a:t>9,1x</a:t>
                      </a:r>
                    </a:p>
                  </a:txBody>
                  <a:tcPr>
                    <a:solidFill>
                      <a:srgbClr val="DDE8F5"/>
                    </a:solidFill>
                  </a:tcPr>
                </a:tc>
                <a:tc>
                  <a:txBody>
                    <a:bodyPr/>
                    <a:lstStyle/>
                    <a:p>
                      <a:pPr algn="ctr"/>
                      <a:r>
                        <a:rPr sz="800" b="1" i="0">
                          <a:solidFill>
                            <a:srgbClr val="1B3A6B"/>
                          </a:solidFill>
                          <a:latin typeface="Calibri"/>
                        </a:rPr>
                        <a:t>33,2x</a:t>
                      </a:r>
                    </a:p>
                  </a:txBody>
                  <a:tcPr>
                    <a:solidFill>
                      <a:srgbClr val="DDE8F5"/>
                    </a:solidFill>
                  </a:tcPr>
                </a:tc>
                <a:tc>
                  <a:txBody>
                    <a:bodyPr/>
                    <a:lstStyle/>
                    <a:p>
                      <a:pPr algn="ctr"/>
                      <a:r>
                        <a:rPr sz="800" b="1" i="0">
                          <a:solidFill>
                            <a:srgbClr val="1B3A6B"/>
                          </a:solidFill>
                          <a:latin typeface="Calibri"/>
                        </a:rPr>
                        <a:t>46,9 %</a:t>
                      </a:r>
                    </a:p>
                  </a:txBody>
                  <a:tcPr>
                    <a:solidFill>
                      <a:srgbClr val="DDE8F5"/>
                    </a:solidFill>
                  </a:tcPr>
                </a:tc>
                <a:tc>
                  <a:txBody>
                    <a:bodyPr/>
                    <a:lstStyle/>
                    <a:p>
                      <a:pPr algn="ctr"/>
                      <a:r>
                        <a:rPr sz="800" b="1" i="0">
                          <a:solidFill>
                            <a:srgbClr val="1B3A6B"/>
                          </a:solidFill>
                          <a:latin typeface="Calibri"/>
                        </a:rPr>
                        <a:t>34,8 %</a:t>
                      </a:r>
                    </a:p>
                  </a:txBody>
                  <a:tcPr>
                    <a:solidFill>
                      <a:srgbClr val="DDE8F5"/>
                    </a:solidFill>
                  </a:tcPr>
                </a:tc>
              </a:tr>
              <a:tr h="251999">
                <a:tc>
                  <a:txBody>
                    <a:bodyPr/>
                    <a:lstStyle/>
                    <a:p>
                      <a:pPr algn="l"/>
                      <a:r>
                        <a:rPr sz="800" b="0" i="0">
                          <a:solidFill>
                            <a:srgbClr val="0D0D0D"/>
                          </a:solidFill>
                          <a:latin typeface="Calibri"/>
                        </a:rPr>
                        <a:t>Microsoft</a:t>
                      </a:r>
                    </a:p>
                  </a:txBody>
                  <a:tcPr>
                    <a:solidFill>
                      <a:srgbClr val="FFFFFF"/>
                    </a:solidFill>
                  </a:tcPr>
                </a:tc>
                <a:tc>
                  <a:txBody>
                    <a:bodyPr/>
                    <a:lstStyle/>
                    <a:p>
                      <a:pPr algn="ctr"/>
                      <a:r>
                        <a:rPr sz="750" b="0" i="0">
                          <a:solidFill>
                            <a:srgbClr val="555555"/>
                          </a:solidFill>
                          <a:latin typeface="Calibri"/>
                        </a:rPr>
                        <a:t>MSFT</a:t>
                      </a:r>
                    </a:p>
                  </a:txBody>
                  <a:tcPr>
                    <a:solidFill>
                      <a:srgbClr val="FFFFFF"/>
                    </a:solidFill>
                  </a:tcPr>
                </a:tc>
                <a:tc>
                  <a:txBody>
                    <a:bodyPr/>
                    <a:lstStyle/>
                    <a:p>
                      <a:pPr algn="ctr"/>
                      <a:r>
                        <a:rPr sz="800" b="0" i="0">
                          <a:solidFill>
                            <a:srgbClr val="0D0D0D"/>
                          </a:solidFill>
                          <a:latin typeface="Calibri"/>
                        </a:rPr>
                        <a:t>3 200,0</a:t>
                      </a:r>
                    </a:p>
                  </a:txBody>
                  <a:tcPr>
                    <a:solidFill>
                      <a:srgbClr val="FFFFFF"/>
                    </a:solidFill>
                  </a:tcPr>
                </a:tc>
                <a:tc>
                  <a:txBody>
                    <a:bodyPr/>
                    <a:lstStyle/>
                    <a:p>
                      <a:pPr algn="ctr"/>
                      <a:r>
                        <a:rPr sz="800" b="0" i="0">
                          <a:solidFill>
                            <a:srgbClr val="0D0D0D"/>
                          </a:solidFill>
                          <a:latin typeface="Calibri"/>
                        </a:rPr>
                        <a:t>24,5x</a:t>
                      </a:r>
                    </a:p>
                  </a:txBody>
                  <a:tcPr>
                    <a:solidFill>
                      <a:srgbClr val="FFFFFF"/>
                    </a:solidFill>
                  </a:tcPr>
                </a:tc>
                <a:tc>
                  <a:txBody>
                    <a:bodyPr/>
                    <a:lstStyle/>
                    <a:p>
                      <a:pPr algn="ctr"/>
                      <a:r>
                        <a:rPr sz="800" b="0" i="0">
                          <a:solidFill>
                            <a:srgbClr val="0D0D0D"/>
                          </a:solidFill>
                          <a:latin typeface="Calibri"/>
                        </a:rPr>
                        <a:t>12,8x</a:t>
                      </a:r>
                    </a:p>
                  </a:txBody>
                  <a:tcPr>
                    <a:solidFill>
                      <a:srgbClr val="FFFFFF"/>
                    </a:solidFill>
                  </a:tcPr>
                </a:tc>
                <a:tc>
                  <a:txBody>
                    <a:bodyPr/>
                    <a:lstStyle/>
                    <a:p>
                      <a:pPr algn="ctr"/>
                      <a:r>
                        <a:rPr sz="800" b="0" i="0">
                          <a:solidFill>
                            <a:srgbClr val="0D0D0D"/>
                          </a:solidFill>
                          <a:latin typeface="Calibri"/>
                        </a:rPr>
                        <a:t>38,2x</a:t>
                      </a:r>
                    </a:p>
                  </a:txBody>
                  <a:tcPr>
                    <a:solidFill>
                      <a:srgbClr val="FFFFFF"/>
                    </a:solidFill>
                  </a:tcPr>
                </a:tc>
                <a:tc>
                  <a:txBody>
                    <a:bodyPr/>
                    <a:lstStyle/>
                    <a:p>
                      <a:pPr algn="ctr"/>
                      <a:r>
                        <a:rPr sz="800" b="0" i="0">
                          <a:solidFill>
                            <a:srgbClr val="0D0D0D"/>
                          </a:solidFill>
                          <a:latin typeface="Calibri"/>
                        </a:rPr>
                        <a:t>6800,0 %</a:t>
                      </a:r>
                    </a:p>
                  </a:txBody>
                  <a:tcPr>
                    <a:solidFill>
                      <a:srgbClr val="FFFFFF"/>
                    </a:solidFill>
                  </a:tcPr>
                </a:tc>
                <a:tc>
                  <a:txBody>
                    <a:bodyPr/>
                    <a:lstStyle/>
                    <a:p>
                      <a:pPr algn="ctr"/>
                      <a:r>
                        <a:rPr sz="800" b="0" i="0">
                          <a:solidFill>
                            <a:srgbClr val="0D0D0D"/>
                          </a:solidFill>
                          <a:latin typeface="Calibri"/>
                        </a:rPr>
                        <a:t>5200,0 %</a:t>
                      </a:r>
                    </a:p>
                  </a:txBody>
                  <a:tcPr>
                    <a:solidFill>
                      <a:srgbClr val="FFFFFF"/>
                    </a:solidFill>
                  </a:tcPr>
                </a:tc>
              </a:tr>
              <a:tr h="251999">
                <a:tc>
                  <a:txBody>
                    <a:bodyPr/>
                    <a:lstStyle/>
                    <a:p>
                      <a:pPr algn="l"/>
                      <a:r>
                        <a:rPr sz="800" b="0" i="0">
                          <a:solidFill>
                            <a:srgbClr val="0D0D0D"/>
                          </a:solidFill>
                          <a:latin typeface="Calibri"/>
                        </a:rPr>
                        <a:t>Alphabet</a:t>
                      </a:r>
                    </a:p>
                  </a:txBody>
                  <a:tcPr>
                    <a:solidFill>
                      <a:srgbClr val="F7F8FA"/>
                    </a:solidFill>
                  </a:tcPr>
                </a:tc>
                <a:tc>
                  <a:txBody>
                    <a:bodyPr/>
                    <a:lstStyle/>
                    <a:p>
                      <a:pPr algn="ctr"/>
                      <a:r>
                        <a:rPr sz="750" b="0" i="0">
                          <a:solidFill>
                            <a:srgbClr val="555555"/>
                          </a:solidFill>
                          <a:latin typeface="Calibri"/>
                        </a:rPr>
                        <a:t>GOOGL</a:t>
                      </a:r>
                    </a:p>
                  </a:txBody>
                  <a:tcPr>
                    <a:solidFill>
                      <a:srgbClr val="F7F8FA"/>
                    </a:solidFill>
                  </a:tcPr>
                </a:tc>
                <a:tc>
                  <a:txBody>
                    <a:bodyPr/>
                    <a:lstStyle/>
                    <a:p>
                      <a:pPr algn="ctr"/>
                      <a:r>
                        <a:rPr sz="800" b="0" i="0">
                          <a:solidFill>
                            <a:srgbClr val="0D0D0D"/>
                          </a:solidFill>
                          <a:latin typeface="Calibri"/>
                        </a:rPr>
                        <a:t>2 000,0</a:t>
                      </a:r>
                    </a:p>
                  </a:txBody>
                  <a:tcPr>
                    <a:solidFill>
                      <a:srgbClr val="F7F8FA"/>
                    </a:solidFill>
                  </a:tcPr>
                </a:tc>
                <a:tc>
                  <a:txBody>
                    <a:bodyPr/>
                    <a:lstStyle/>
                    <a:p>
                      <a:pPr algn="ctr"/>
                      <a:r>
                        <a:rPr sz="800" b="0" i="0">
                          <a:solidFill>
                            <a:srgbClr val="0D0D0D"/>
                          </a:solidFill>
                          <a:latin typeface="Calibri"/>
                        </a:rPr>
                        <a:t>22,1x</a:t>
                      </a:r>
                    </a:p>
                  </a:txBody>
                  <a:tcPr>
                    <a:solidFill>
                      <a:srgbClr val="F7F8FA"/>
                    </a:solidFill>
                  </a:tcPr>
                </a:tc>
                <a:tc>
                  <a:txBody>
                    <a:bodyPr/>
                    <a:lstStyle/>
                    <a:p>
                      <a:pPr algn="ctr"/>
                      <a:r>
                        <a:rPr sz="800" b="0" i="0">
                          <a:solidFill>
                            <a:srgbClr val="0D0D0D"/>
                          </a:solidFill>
                          <a:latin typeface="Calibri"/>
                        </a:rPr>
                        <a:t>9,5x</a:t>
                      </a:r>
                    </a:p>
                  </a:txBody>
                  <a:tcPr>
                    <a:solidFill>
                      <a:srgbClr val="F7F8FA"/>
                    </a:solidFill>
                  </a:tcPr>
                </a:tc>
                <a:tc>
                  <a:txBody>
                    <a:bodyPr/>
                    <a:lstStyle/>
                    <a:p>
                      <a:pPr algn="ctr"/>
                      <a:r>
                        <a:rPr sz="800" b="0" i="0">
                          <a:solidFill>
                            <a:srgbClr val="0D0D0D"/>
                          </a:solidFill>
                          <a:latin typeface="Calibri"/>
                        </a:rPr>
                        <a:t>28,5x</a:t>
                      </a:r>
                    </a:p>
                  </a:txBody>
                  <a:tcPr>
                    <a:solidFill>
                      <a:srgbClr val="F7F8FA"/>
                    </a:solidFill>
                  </a:tcPr>
                </a:tc>
                <a:tc>
                  <a:txBody>
                    <a:bodyPr/>
                    <a:lstStyle/>
                    <a:p>
                      <a:pPr algn="ctr"/>
                      <a:r>
                        <a:rPr sz="800" b="0" i="0">
                          <a:solidFill>
                            <a:srgbClr val="0D0D0D"/>
                          </a:solidFill>
                          <a:latin typeface="Calibri"/>
                        </a:rPr>
                        <a:t>5600,0 %</a:t>
                      </a:r>
                    </a:p>
                  </a:txBody>
                  <a:tcPr>
                    <a:solidFill>
                      <a:srgbClr val="F7F8FA"/>
                    </a:solidFill>
                  </a:tcPr>
                </a:tc>
                <a:tc>
                  <a:txBody>
                    <a:bodyPr/>
                    <a:lstStyle/>
                    <a:p>
                      <a:pPr algn="ctr"/>
                      <a:r>
                        <a:rPr sz="800" b="0" i="0">
                          <a:solidFill>
                            <a:srgbClr val="0D0D0D"/>
                          </a:solidFill>
                          <a:latin typeface="Calibri"/>
                        </a:rPr>
                        <a:t>3500,0 %</a:t>
                      </a:r>
                    </a:p>
                  </a:txBody>
                  <a:tcPr>
                    <a:solidFill>
                      <a:srgbClr val="F7F8FA"/>
                    </a:solidFill>
                  </a:tcPr>
                </a:tc>
              </a:tr>
              <a:tr h="251999">
                <a:tc>
                  <a:txBody>
                    <a:bodyPr/>
                    <a:lstStyle/>
                    <a:p>
                      <a:pPr algn="l"/>
                      <a:r>
                        <a:rPr sz="800" b="0" i="0">
                          <a:solidFill>
                            <a:srgbClr val="0D0D0D"/>
                          </a:solidFill>
                          <a:latin typeface="Calibri"/>
                        </a:rPr>
                        <a:t>Meta Platforms</a:t>
                      </a:r>
                    </a:p>
                  </a:txBody>
                  <a:tcPr>
                    <a:solidFill>
                      <a:srgbClr val="FFFFFF"/>
                    </a:solidFill>
                  </a:tcPr>
                </a:tc>
                <a:tc>
                  <a:txBody>
                    <a:bodyPr/>
                    <a:lstStyle/>
                    <a:p>
                      <a:pPr algn="ctr"/>
                      <a:r>
                        <a:rPr sz="750" b="0" i="0">
                          <a:solidFill>
                            <a:srgbClr val="555555"/>
                          </a:solidFill>
                          <a:latin typeface="Calibri"/>
                        </a:rPr>
                        <a:t>META</a:t>
                      </a:r>
                    </a:p>
                  </a:txBody>
                  <a:tcPr>
                    <a:solidFill>
                      <a:srgbClr val="FFFFFF"/>
                    </a:solidFill>
                  </a:tcPr>
                </a:tc>
                <a:tc>
                  <a:txBody>
                    <a:bodyPr/>
                    <a:lstStyle/>
                    <a:p>
                      <a:pPr algn="ctr"/>
                      <a:r>
                        <a:rPr sz="800" b="0" i="0">
                          <a:solidFill>
                            <a:srgbClr val="0D0D0D"/>
                          </a:solidFill>
                          <a:latin typeface="Calibri"/>
                        </a:rPr>
                        <a:t>1 500,0</a:t>
                      </a:r>
                    </a:p>
                  </a:txBody>
                  <a:tcPr>
                    <a:solidFill>
                      <a:srgbClr val="FFFFFF"/>
                    </a:solidFill>
                  </a:tcPr>
                </a:tc>
                <a:tc>
                  <a:txBody>
                    <a:bodyPr/>
                    <a:lstStyle/>
                    <a:p>
                      <a:pPr algn="ctr"/>
                      <a:r>
                        <a:rPr sz="800" b="0" i="0">
                          <a:solidFill>
                            <a:srgbClr val="0D0D0D"/>
                          </a:solidFill>
                          <a:latin typeface="Calibri"/>
                        </a:rPr>
                        <a:t>18,3x</a:t>
                      </a:r>
                    </a:p>
                  </a:txBody>
                  <a:tcPr>
                    <a:solidFill>
                      <a:srgbClr val="FFFFFF"/>
                    </a:solidFill>
                  </a:tcPr>
                </a:tc>
                <a:tc>
                  <a:txBody>
                    <a:bodyPr/>
                    <a:lstStyle/>
                    <a:p>
                      <a:pPr algn="ctr"/>
                      <a:r>
                        <a:rPr sz="800" b="0" i="0">
                          <a:solidFill>
                            <a:srgbClr val="0D0D0D"/>
                          </a:solidFill>
                          <a:latin typeface="Calibri"/>
                        </a:rPr>
                        <a:t>11,2x</a:t>
                      </a:r>
                    </a:p>
                  </a:txBody>
                  <a:tcPr>
                    <a:solidFill>
                      <a:srgbClr val="FFFFFF"/>
                    </a:solidFill>
                  </a:tcPr>
                </a:tc>
                <a:tc>
                  <a:txBody>
                    <a:bodyPr/>
                    <a:lstStyle/>
                    <a:p>
                      <a:pPr algn="ctr"/>
                      <a:r>
                        <a:rPr sz="800" b="0" i="0">
                          <a:solidFill>
                            <a:srgbClr val="0D0D0D"/>
                          </a:solidFill>
                          <a:latin typeface="Calibri"/>
                        </a:rPr>
                        <a:t>25,1x</a:t>
                      </a:r>
                    </a:p>
                  </a:txBody>
                  <a:tcPr>
                    <a:solidFill>
                      <a:srgbClr val="FFFFFF"/>
                    </a:solidFill>
                  </a:tcPr>
                </a:tc>
                <a:tc>
                  <a:txBody>
                    <a:bodyPr/>
                    <a:lstStyle/>
                    <a:p>
                      <a:pPr algn="ctr"/>
                      <a:r>
                        <a:rPr sz="800" b="0" i="0">
                          <a:solidFill>
                            <a:srgbClr val="0D0D0D"/>
                          </a:solidFill>
                          <a:latin typeface="Calibri"/>
                        </a:rPr>
                        <a:t>8500,0 %</a:t>
                      </a:r>
                    </a:p>
                  </a:txBody>
                  <a:tcPr>
                    <a:solidFill>
                      <a:srgbClr val="FFFFFF"/>
                    </a:solidFill>
                  </a:tcPr>
                </a:tc>
                <a:tc>
                  <a:txBody>
                    <a:bodyPr/>
                    <a:lstStyle/>
                    <a:p>
                      <a:pPr algn="ctr"/>
                      <a:r>
                        <a:rPr sz="800" b="0" i="0">
                          <a:solidFill>
                            <a:srgbClr val="0D0D0D"/>
                          </a:solidFill>
                          <a:latin typeface="Calibri"/>
                        </a:rPr>
                        <a:t>5500,0 %</a:t>
                      </a:r>
                    </a:p>
                  </a:txBody>
                  <a:tcPr>
                    <a:solidFill>
                      <a:srgbClr val="FFFFFF"/>
                    </a:solidFill>
                  </a:tcPr>
                </a:tc>
              </a:tr>
              <a:tr h="251999">
                <a:tc>
                  <a:txBody>
                    <a:bodyPr/>
                    <a:lstStyle/>
                    <a:p>
                      <a:pPr algn="l"/>
                      <a:r>
                        <a:rPr sz="800" b="0" i="0">
                          <a:solidFill>
                            <a:srgbClr val="0D0D0D"/>
                          </a:solidFill>
                          <a:latin typeface="Calibri"/>
                        </a:rPr>
                        <a:t>Samsung Electronics</a:t>
                      </a:r>
                    </a:p>
                  </a:txBody>
                  <a:tcPr>
                    <a:solidFill>
                      <a:srgbClr val="F7F8FA"/>
                    </a:solidFill>
                  </a:tcPr>
                </a:tc>
                <a:tc>
                  <a:txBody>
                    <a:bodyPr/>
                    <a:lstStyle/>
                    <a:p>
                      <a:pPr algn="ctr"/>
                      <a:r>
                        <a:rPr sz="750" b="0" i="0">
                          <a:solidFill>
                            <a:srgbClr val="555555"/>
                          </a:solidFill>
                          <a:latin typeface="Calibri"/>
                        </a:rPr>
                        <a:t>005930.KS</a:t>
                      </a:r>
                    </a:p>
                  </a:txBody>
                  <a:tcPr>
                    <a:solidFill>
                      <a:srgbClr val="F7F8FA"/>
                    </a:solidFill>
                  </a:tcPr>
                </a:tc>
                <a:tc>
                  <a:txBody>
                    <a:bodyPr/>
                    <a:lstStyle/>
                    <a:p>
                      <a:pPr algn="ctr"/>
                      <a:r>
                        <a:rPr sz="800" b="0" i="0">
                          <a:solidFill>
                            <a:srgbClr val="0D0D0D"/>
                          </a:solidFill>
                          <a:latin typeface="Calibri"/>
                        </a:rPr>
                        <a:t>450,0</a:t>
                      </a:r>
                    </a:p>
                  </a:txBody>
                  <a:tcPr>
                    <a:solidFill>
                      <a:srgbClr val="F7F8FA"/>
                    </a:solidFill>
                  </a:tcPr>
                </a:tc>
                <a:tc>
                  <a:txBody>
                    <a:bodyPr/>
                    <a:lstStyle/>
                    <a:p>
                      <a:pPr algn="ctr"/>
                      <a:r>
                        <a:rPr sz="800" b="0" i="0">
                          <a:solidFill>
                            <a:srgbClr val="0D0D0D"/>
                          </a:solidFill>
                          <a:latin typeface="Calibri"/>
                        </a:rPr>
                        <a:t>8,2x</a:t>
                      </a:r>
                    </a:p>
                  </a:txBody>
                  <a:tcPr>
                    <a:solidFill>
                      <a:srgbClr val="F7F8FA"/>
                    </a:solidFill>
                  </a:tcPr>
                </a:tc>
                <a:tc>
                  <a:txBody>
                    <a:bodyPr/>
                    <a:lstStyle/>
                    <a:p>
                      <a:pPr algn="ctr"/>
                      <a:r>
                        <a:rPr sz="800" b="0" i="0">
                          <a:solidFill>
                            <a:srgbClr val="0D0D0D"/>
                          </a:solidFill>
                          <a:latin typeface="Calibri"/>
                        </a:rPr>
                        <a:t>1,1x</a:t>
                      </a:r>
                    </a:p>
                  </a:txBody>
                  <a:tcPr>
                    <a:solidFill>
                      <a:srgbClr val="F7F8FA"/>
                    </a:solidFill>
                  </a:tcPr>
                </a:tc>
                <a:tc>
                  <a:txBody>
                    <a:bodyPr/>
                    <a:lstStyle/>
                    <a:p>
                      <a:pPr algn="ctr"/>
                      <a:r>
                        <a:rPr sz="800" b="0" i="0">
                          <a:solidFill>
                            <a:srgbClr val="0D0D0D"/>
                          </a:solidFill>
                          <a:latin typeface="Calibri"/>
                        </a:rPr>
                        <a:t>15,3x</a:t>
                      </a:r>
                    </a:p>
                  </a:txBody>
                  <a:tcPr>
                    <a:solidFill>
                      <a:srgbClr val="F7F8FA"/>
                    </a:solidFill>
                  </a:tcPr>
                </a:tc>
                <a:tc>
                  <a:txBody>
                    <a:bodyPr/>
                    <a:lstStyle/>
                    <a:p>
                      <a:pPr algn="ctr"/>
                      <a:r>
                        <a:rPr sz="800" b="0" i="0">
                          <a:solidFill>
                            <a:srgbClr val="0D0D0D"/>
                          </a:solidFill>
                          <a:latin typeface="Calibri"/>
                        </a:rPr>
                        <a:t>4000,0 %</a:t>
                      </a:r>
                    </a:p>
                  </a:txBody>
                  <a:tcPr>
                    <a:solidFill>
                      <a:srgbClr val="F7F8FA"/>
                    </a:solidFill>
                  </a:tcPr>
                </a:tc>
                <a:tc>
                  <a:txBody>
                    <a:bodyPr/>
                    <a:lstStyle/>
                    <a:p>
                      <a:pPr algn="ctr"/>
                      <a:r>
                        <a:rPr sz="800" b="0" i="0">
                          <a:solidFill>
                            <a:srgbClr val="0D0D0D"/>
                          </a:solidFill>
                          <a:latin typeface="Calibri"/>
                        </a:rPr>
                        <a:t>2200,0 %</a:t>
                      </a:r>
                    </a:p>
                  </a:txBody>
                  <a:tcPr>
                    <a:solidFill>
                      <a:srgbClr val="F7F8FA"/>
                    </a:solidFill>
                  </a:tcPr>
                </a:tc>
              </a:tr>
              <a:tr h="251999">
                <a:tc>
                  <a:txBody>
                    <a:bodyPr/>
                    <a:lstStyle/>
                    <a:p>
                      <a:pPr algn="l"/>
                      <a:r>
                        <a:rPr sz="800" b="0" i="0">
                          <a:solidFill>
                            <a:srgbClr val="0D0D0D"/>
                          </a:solidFill>
                          <a:latin typeface="Calibri"/>
                        </a:rPr>
                        <a:t>TSMC</a:t>
                      </a:r>
                    </a:p>
                  </a:txBody>
                  <a:tcPr>
                    <a:solidFill>
                      <a:srgbClr val="FFFFFF"/>
                    </a:solidFill>
                  </a:tcPr>
                </a:tc>
                <a:tc>
                  <a:txBody>
                    <a:bodyPr/>
                    <a:lstStyle/>
                    <a:p>
                      <a:pPr algn="ctr"/>
                      <a:r>
                        <a:rPr sz="750" b="0" i="0">
                          <a:solidFill>
                            <a:srgbClr val="555555"/>
                          </a:solidFill>
                          <a:latin typeface="Calibri"/>
                        </a:rPr>
                        <a:t>TSM</a:t>
                      </a:r>
                    </a:p>
                  </a:txBody>
                  <a:tcPr>
                    <a:solidFill>
                      <a:srgbClr val="FFFFFF"/>
                    </a:solidFill>
                  </a:tcPr>
                </a:tc>
                <a:tc>
                  <a:txBody>
                    <a:bodyPr/>
                    <a:lstStyle/>
                    <a:p>
                      <a:pPr algn="ctr"/>
                      <a:r>
                        <a:rPr sz="800" b="0" i="0">
                          <a:solidFill>
                            <a:srgbClr val="0D0D0D"/>
                          </a:solidFill>
                          <a:latin typeface="Calibri"/>
                        </a:rPr>
                        <a:t>550,0</a:t>
                      </a:r>
                    </a:p>
                  </a:txBody>
                  <a:tcPr>
                    <a:solidFill>
                      <a:srgbClr val="FFFFFF"/>
                    </a:solidFill>
                  </a:tcPr>
                </a:tc>
                <a:tc>
                  <a:txBody>
                    <a:bodyPr/>
                    <a:lstStyle/>
                    <a:p>
                      <a:pPr algn="ctr"/>
                      <a:r>
                        <a:rPr sz="800" b="0" i="0">
                          <a:solidFill>
                            <a:srgbClr val="0D0D0D"/>
                          </a:solidFill>
                          <a:latin typeface="Calibri"/>
                        </a:rPr>
                        <a:t>19,8x</a:t>
                      </a:r>
                    </a:p>
                  </a:txBody>
                  <a:tcPr>
                    <a:solidFill>
                      <a:srgbClr val="FFFFFF"/>
                    </a:solidFill>
                  </a:tcPr>
                </a:tc>
                <a:tc>
                  <a:txBody>
                    <a:bodyPr/>
                    <a:lstStyle/>
                    <a:p>
                      <a:pPr algn="ctr"/>
                      <a:r>
                        <a:rPr sz="800" b="0" i="0">
                          <a:solidFill>
                            <a:srgbClr val="0D0D0D"/>
                          </a:solidFill>
                          <a:latin typeface="Calibri"/>
                        </a:rPr>
                        <a:t>14,5x</a:t>
                      </a:r>
                    </a:p>
                  </a:txBody>
                  <a:tcPr>
                    <a:solidFill>
                      <a:srgbClr val="FFFFFF"/>
                    </a:solidFill>
                  </a:tcPr>
                </a:tc>
                <a:tc>
                  <a:txBody>
                    <a:bodyPr/>
                    <a:lstStyle/>
                    <a:p>
                      <a:pPr algn="ctr"/>
                      <a:r>
                        <a:rPr sz="800" b="0" i="0">
                          <a:solidFill>
                            <a:srgbClr val="0D0D0D"/>
                          </a:solidFill>
                          <a:latin typeface="Calibri"/>
                        </a:rPr>
                        <a:t>22,7x</a:t>
                      </a:r>
                    </a:p>
                  </a:txBody>
                  <a:tcPr>
                    <a:solidFill>
                      <a:srgbClr val="FFFFFF"/>
                    </a:solidFill>
                  </a:tcPr>
                </a:tc>
                <a:tc>
                  <a:txBody>
                    <a:bodyPr/>
                    <a:lstStyle/>
                    <a:p>
                      <a:pPr algn="ctr"/>
                      <a:r>
                        <a:rPr sz="800" b="0" i="0">
                          <a:solidFill>
                            <a:srgbClr val="0D0D0D"/>
                          </a:solidFill>
                          <a:latin typeface="Calibri"/>
                        </a:rPr>
                        <a:t>5300,0 %</a:t>
                      </a:r>
                    </a:p>
                  </a:txBody>
                  <a:tcPr>
                    <a:solidFill>
                      <a:srgbClr val="FFFFFF"/>
                    </a:solidFill>
                  </a:tcPr>
                </a:tc>
                <a:tc>
                  <a:txBody>
                    <a:bodyPr/>
                    <a:lstStyle/>
                    <a:p>
                      <a:pPr algn="ctr"/>
                      <a:r>
                        <a:rPr sz="800" b="0" i="0">
                          <a:solidFill>
                            <a:srgbClr val="0D0D0D"/>
                          </a:solidFill>
                          <a:latin typeface="Calibri"/>
                        </a:rPr>
                        <a:t>4800,0 %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19,8x</a:t>
                      </a:r>
                    </a:p>
                  </a:txBody>
                  <a:tcPr>
                    <a:solidFill>
                      <a:srgbClr val="F7F8FA"/>
                    </a:solidFill>
                  </a:tcPr>
                </a:tc>
                <a:tc>
                  <a:txBody>
                    <a:bodyPr/>
                    <a:lstStyle/>
                    <a:p>
                      <a:pPr algn="ctr"/>
                      <a:r>
                        <a:rPr sz="800" b="1" i="0">
                          <a:solidFill>
                            <a:srgbClr val="0D0D0D"/>
                          </a:solidFill>
                          <a:latin typeface="Calibri"/>
                        </a:rPr>
                        <a:t>11,2x</a:t>
                      </a:r>
                    </a:p>
                  </a:txBody>
                  <a:tcPr>
                    <a:solidFill>
                      <a:srgbClr val="F7F8FA"/>
                    </a:solidFill>
                  </a:tcPr>
                </a:tc>
                <a:tc>
                  <a:txBody>
                    <a:bodyPr/>
                    <a:lstStyle/>
                    <a:p>
                      <a:pPr algn="ctr"/>
                      <a:r>
                        <a:rPr sz="800" b="1" i="0">
                          <a:solidFill>
                            <a:srgbClr val="0D0D0D"/>
                          </a:solidFill>
                          <a:latin typeface="Calibri"/>
                        </a:rPr>
                        <a:t>25,1x</a:t>
                      </a:r>
                    </a:p>
                  </a:txBody>
                  <a:tcPr>
                    <a:solidFill>
                      <a:srgbClr val="F7F8FA"/>
                    </a:solidFill>
                  </a:tcPr>
                </a:tc>
                <a:tc>
                  <a:txBody>
                    <a:bodyPr/>
                    <a:lstStyle/>
                    <a:p>
                      <a:pPr algn="ctr"/>
                      <a:r>
                        <a:rPr sz="800" b="1" i="0">
                          <a:solidFill>
                            <a:srgbClr val="0D0D0D"/>
                          </a:solidFill>
                          <a:latin typeface="Calibri"/>
                        </a:rPr>
                        <a:t>5600,0 %</a:t>
                      </a:r>
                    </a:p>
                  </a:txBody>
                  <a:tcPr>
                    <a:solidFill>
                      <a:srgbClr val="F7F8FA"/>
                    </a:solidFill>
                  </a:tcPr>
                </a:tc>
                <a:tc>
                  <a:txBody>
                    <a:bodyPr/>
                    <a:lstStyle/>
                    <a:p>
                      <a:pPr algn="ctr"/>
                      <a:r>
                        <a:rPr sz="800" b="1" i="0">
                          <a:solidFill>
                            <a:srgbClr val="0D0D0D"/>
                          </a:solidFill>
                          <a:latin typeface="Calibri"/>
                        </a:rPr>
                        <a:t>4800,0 %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ROE de 151,9% et ROIC de 84,4% parmi les meilleurs du secteur. EV/EBITDA à 26,1x vs 22,5x pour les peers technologiques.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1980000"/>
          </a:xfrm>
          <a:prstGeom prst="rect">
            <a:avLst/>
          </a:prstGeom>
        </p:spPr>
      </p:pic>
      <p:sp>
        <p:nvSpPr>
          <p:cNvPr id="18" name="TextBox 17"/>
          <p:cNvSpPr txBox="1"/>
          <p:nvPr/>
        </p:nvSpPr>
        <p:spPr>
          <a:xfrm>
            <a:off x="367200" y="3528000"/>
            <a:ext cx="8413200" cy="914400"/>
          </a:xfrm>
          <a:prstGeom prst="rect">
            <a:avLst/>
          </a:prstGeom>
          <a:noFill/>
        </p:spPr>
        <p:txBody>
          <a:bodyPr wrap="square">
            <a:spAutoFit/>
          </a:bodyPr>
          <a:lstStyle/>
          <a:p>
            <a:pPr algn="l"/>
            <a:r>
              <a:rPr sz="850" b="0" i="0">
                <a:solidFill>
                  <a:srgbClr val="555555"/>
                </a:solidFill>
                <a:latin typeface="Calibri"/>
              </a:rPr>
              <a:t>WACC de 10,3% et TGR de 3,0% impliquent un upside de 12,4% vs cours actuel. Sensibilité clé sur la croissance des services et le coût du capital.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Régulation App Store</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Régulation européenne sur l'App Store (-15% revenus services en 2026)</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Dépendance Chine</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Guerre commerciale Chine-USA (-5% ventes iPhone en 2026)</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Concurrence IA</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Concurrence IA de Google et Meta sur les services cloud</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these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avec -3% PIB en 2026</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Régulation stricte sur l'IA générative en UE/USA</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Societe</a:t>
                      </a:r>
                    </a:p>
                  </a:txBody>
                  <a:tcPr>
                    <a:solidFill>
                      <a:srgbClr val="FFFFFF"/>
                    </a:solidFill>
                  </a:tcPr>
                </a:tc>
                <a:tc>
                  <a:txBody>
                    <a:bodyPr/>
                    <a:lstStyle/>
                    <a:p>
                      <a:pPr algn="ctr"/>
                      <a:r>
                        <a:rPr sz="800" b="0" i="0">
                          <a:solidFill>
                            <a:srgbClr val="0D0D0D"/>
                          </a:solidFill>
                          <a:latin typeface="Calibri"/>
                        </a:rPr>
                        <a:t>Perte de parts de marché iPhone en Chine (-10% en 2026)</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Positif</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agrege : +0,339</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analyses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Fenetre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52,5 %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Modele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Coherence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Aligne avec la these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17</a:t>
                      </a:r>
                    </a:p>
                  </a:txBody>
                  <a:tcPr>
                    <a:solidFill>
                      <a:srgbClr val="EAF4EF"/>
                    </a:solidFill>
                  </a:tcPr>
                </a:tc>
                <a:tc>
                  <a:txBody>
                    <a:bodyPr/>
                    <a:lstStyle/>
                    <a:p>
                      <a:pPr algn="ctr"/>
                      <a:r>
                        <a:rPr sz="800" b="0" i="0">
                          <a:solidFill>
                            <a:srgbClr val="0D0D0D"/>
                          </a:solidFill>
                          <a:latin typeface="Calibri"/>
                        </a:rPr>
                        <a:t>+0,525</a:t>
                      </a:r>
                    </a:p>
                  </a:txBody>
                  <a:tcPr>
                    <a:solidFill>
                      <a:srgbClr val="EAF4EF"/>
                    </a:solidFill>
                  </a:tcPr>
                </a:tc>
                <a:tc>
                  <a:txBody>
                    <a:bodyPr/>
                    <a:lstStyle/>
                    <a:p>
                      <a:pPr algn="ctr"/>
                      <a:r>
                        <a:rPr sz="800" b="0" i="0">
                          <a:solidFill>
                            <a:srgbClr val="0D0D0D"/>
                          </a:solidFill>
                          <a:latin typeface="Calibri"/>
                        </a:rPr>
                        <a:t>Intégration IA dans iOS 18 avec +20% de productivité utilisateur, Expansion services en Inde et Brésil avec 50M nouveaux abonnés attendus, Rachat d'actions de 100-120 milliards USD annuel</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7</a:t>
                      </a:r>
                    </a:p>
                  </a:txBody>
                  <a:tcPr>
                    <a:solidFill>
                      <a:srgbClr val="FFFFFF"/>
                    </a:solidFill>
                  </a:tcPr>
                </a:tc>
                <a:tc>
                  <a:txBody>
                    <a:bodyPr/>
                    <a:lstStyle/>
                    <a:p>
                      <a:pPr algn="ctr"/>
                      <a:r>
                        <a:rPr sz="800" b="0" i="0">
                          <a:solidFill>
                            <a:srgbClr val="0D0D0D"/>
                          </a:solidFill>
                          <a:latin typeface="Calibri"/>
                        </a:rPr>
                        <a:t>+0,288</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6</a:t>
                      </a:r>
                    </a:p>
                  </a:txBody>
                  <a:tcPr>
                    <a:solidFill>
                      <a:srgbClr val="FAF0EF"/>
                    </a:solidFill>
                  </a:tcPr>
                </a:tc>
                <a:tc>
                  <a:txBody>
                    <a:bodyPr/>
                    <a:lstStyle/>
                    <a:p>
                      <a:pPr algn="ctr"/>
                      <a:r>
                        <a:rPr sz="800" b="0" i="0">
                          <a:solidFill>
                            <a:srgbClr val="0D0D0D"/>
                          </a:solidFill>
                          <a:latin typeface="Calibri"/>
                        </a:rPr>
                        <a:t>+0,186</a:t>
                      </a:r>
                    </a:p>
                  </a:txBody>
                  <a:tcPr>
                    <a:solidFill>
                      <a:srgbClr val="FAF0EF"/>
                    </a:solidFill>
                  </a:tcPr>
                </a:tc>
                <a:tc>
                  <a:txBody>
                    <a:bodyPr/>
                    <a:lstStyle/>
                    <a:p>
                      <a:pPr algn="ctr"/>
                      <a:r>
                        <a:rPr sz="800" b="0" i="0">
                          <a:solidFill>
                            <a:srgbClr val="0D0D0D"/>
                          </a:solidFill>
                          <a:latin typeface="Calibri"/>
                        </a:rPr>
                        <a:t>Régulation européenne sur l'App Store (-15% revenus services en 2026), Guerre commerciale Chine-USA (-5% ventes iPhone en 2026), Concurrence IA de Google et Meta sur les services cloud</a:t>
                      </a:r>
                    </a:p>
                  </a:txBody>
                  <a:tcPr>
                    <a:solidFill>
                      <a:srgbClr val="FAF0EF"/>
                    </a:solidFill>
                  </a:tcPr>
                </a:tc>
              </a:tr>
            </a:tbl>
          </a:graphicData>
        </a:graphic>
      </p:graphicFrame>
      <p:sp>
        <p:nvSpPr>
          <p:cNvPr id="39" name="TextBox 38"/>
          <p:cNvSpPr txBox="1"/>
          <p:nvPr/>
        </p:nvSpPr>
        <p:spPr>
          <a:xfrm>
            <a:off x="367200" y="3664800"/>
            <a:ext cx="8413200" cy="914400"/>
          </a:xfrm>
          <a:prstGeom prst="rect">
            <a:avLst/>
          </a:prstGeom>
          <a:noFill/>
        </p:spPr>
        <p:txBody>
          <a:bodyPr wrap="square">
            <a:spAutoFit/>
          </a:bodyPr>
          <a:lstStyle/>
          <a:p>
            <a:pPr algn="l"/>
            <a:r>
              <a:rPr sz="850" b="0" i="0">
                <a:solidFill>
                  <a:srgbClr val="333333"/>
                </a:solidFill>
                <a:latin typeface="Calibri"/>
              </a:rPr>
              <a:t>Le sentiment positif (score +0.339) est basé sur 30 articles analysés sur 7 jours. Confiance IA : 53%. Cohérence avec la recommandation BUY : validée.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25 mars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Apple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Morgan Stanley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Berkshire Hathaway,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La valorisation est élevée mais justifiée par la croissance des services et la résilience des marges. Les multiples sont en ligne avec les peers premium comme Microsoft.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  USD  ·  Au 25 mars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253,53 $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278,32 $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199,98 $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+19,8 %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609975"/>
            <a:ext cx="498636" cy="285224"/>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38" name="Rectangle 37"/>
          <p:cNvSpPr/>
          <p:nvPr/>
        </p:nvSpPr>
        <p:spPr>
          <a:xfrm>
            <a:off x="12933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40" name="Rectangle 39"/>
          <p:cNvSpPr/>
          <p:nvPr/>
        </p:nvSpPr>
        <p:spPr>
          <a:xfrm>
            <a:off x="1949400" y="3739196"/>
            <a:ext cx="498636" cy="15600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2" name="Rectangle 41"/>
          <p:cNvSpPr/>
          <p:nvPr/>
        </p:nvSpPr>
        <p:spPr>
          <a:xfrm>
            <a:off x="2605500" y="3695265"/>
            <a:ext cx="498636" cy="199934"/>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4" name="Rectangle 43"/>
          <p:cNvSpPr/>
          <p:nvPr/>
        </p:nvSpPr>
        <p:spPr>
          <a:xfrm>
            <a:off x="3261600" y="3244920"/>
            <a:ext cx="498636" cy="65027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6" name="Rectangle 45"/>
          <p:cNvSpPr/>
          <p:nvPr/>
        </p:nvSpPr>
        <p:spPr>
          <a:xfrm>
            <a:off x="3917700" y="2827478"/>
            <a:ext cx="498636" cy="106772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8" name="Rectangle 47"/>
          <p:cNvSpPr/>
          <p:nvPr/>
        </p:nvSpPr>
        <p:spPr>
          <a:xfrm>
            <a:off x="4573800" y="2538706"/>
            <a:ext cx="498636" cy="135649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50" name="Rectangle 49"/>
          <p:cNvSpPr/>
          <p:nvPr/>
        </p:nvSpPr>
        <p:spPr>
          <a:xfrm>
            <a:off x="52299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2" name="Rectangle 51"/>
          <p:cNvSpPr/>
          <p:nvPr/>
        </p:nvSpPr>
        <p:spPr>
          <a:xfrm>
            <a:off x="5886000" y="2506539"/>
            <a:ext cx="498636" cy="138866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4" name="Rectangle 53"/>
          <p:cNvSpPr/>
          <p:nvPr/>
        </p:nvSpPr>
        <p:spPr>
          <a:xfrm>
            <a:off x="6542100" y="2733917"/>
            <a:ext cx="498636" cy="116128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6" name="Rectangle 55"/>
          <p:cNvSpPr/>
          <p:nvPr/>
        </p:nvSpPr>
        <p:spPr>
          <a:xfrm>
            <a:off x="7198200" y="2647708"/>
            <a:ext cx="498636" cy="124749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8" name="Rectangle 57"/>
          <p:cNvSpPr/>
          <p:nvPr/>
        </p:nvSpPr>
        <p:spPr>
          <a:xfrm>
            <a:off x="7854300" y="2838875"/>
            <a:ext cx="498636" cy="1056324"/>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67200" y="3751200"/>
            <a:ext cx="216000" cy="144000"/>
          </a:xfrm>
          <a:prstGeom prst="rect">
            <a:avLst/>
          </a:prstGeom>
          <a:noFill/>
        </p:spPr>
        <p:txBody>
          <a:bodyPr wrap="square">
            <a:spAutoFit/>
          </a:bodyPr>
          <a:lstStyle/>
          <a:p>
            <a:pPr algn="l"/>
            <a:r>
              <a:rPr sz="600" b="0" i="0">
                <a:solidFill>
                  <a:srgbClr val="555555"/>
                </a:solidFill>
                <a:latin typeface="Calibri"/>
              </a:rPr>
              <a:t>199</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67200" y="3276000"/>
            <a:ext cx="216000" cy="144000"/>
          </a:xfrm>
          <a:prstGeom prst="rect">
            <a:avLst/>
          </a:prstGeom>
          <a:noFill/>
        </p:spPr>
        <p:txBody>
          <a:bodyPr wrap="square">
            <a:spAutoFit/>
          </a:bodyPr>
          <a:lstStyle/>
          <a:p>
            <a:pPr algn="l"/>
            <a:r>
              <a:rPr sz="600" b="0" i="0">
                <a:solidFill>
                  <a:srgbClr val="555555"/>
                </a:solidFill>
                <a:latin typeface="Calibri"/>
              </a:rPr>
              <a:t>225</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67200" y="2786399"/>
            <a:ext cx="216000" cy="144000"/>
          </a:xfrm>
          <a:prstGeom prst="rect">
            <a:avLst/>
          </a:prstGeom>
          <a:noFill/>
        </p:spPr>
        <p:txBody>
          <a:bodyPr wrap="square">
            <a:spAutoFit/>
          </a:bodyPr>
          <a:lstStyle/>
          <a:p>
            <a:pPr algn="l"/>
            <a:r>
              <a:rPr sz="600" b="0" i="0">
                <a:solidFill>
                  <a:srgbClr val="555555"/>
                </a:solidFill>
                <a:latin typeface="Calibri"/>
              </a:rPr>
              <a:t>252</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67200" y="2311200"/>
            <a:ext cx="216000" cy="144000"/>
          </a:xfrm>
          <a:prstGeom prst="rect">
            <a:avLst/>
          </a:prstGeom>
          <a:noFill/>
        </p:spPr>
        <p:txBody>
          <a:bodyPr wrap="square">
            <a:spAutoFit/>
          </a:bodyPr>
          <a:lstStyle/>
          <a:p>
            <a:pPr algn="l"/>
            <a:r>
              <a:rPr sz="600" b="0" i="0">
                <a:solidFill>
                  <a:srgbClr val="555555"/>
                </a:solidFill>
                <a:latin typeface="Calibri"/>
              </a:rPr>
              <a:t>278</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Apple maintient une croissance solide avec des marges élevées et une trésorerie abondante. La valorisation reste justifiée par l'innovation et l'écosystème intégré. Les risques géopolitiques et la dépendance à la Chine sont des points de vigilance.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