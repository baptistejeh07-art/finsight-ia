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285 $  ·  Upside : +14,5 %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29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285 $  ·  Upside : +14,5 %  ·  Bear : 220 $ (-11,6 %)  ·  Bull : 320 $ (+28,6 %)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Apple devrait bénéficier d'une croissance des services à 15% en 2026 avec l'ajout de 200M abonnés grâce à l'IA intégrée dans iOS 18</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Marges premium</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marge nette devrait atteindre 28% en 2027 via une optimisation des coûts logistiques et une hausse des prix des services (+8%)</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Trésorerie nette</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lancement de l'iPhone 16 en Q3 2026 avec puce IA pourrait générer +12% de ventes premium, compensant un marché smartphone en stagnation.</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européenne DMA pourrait réduire les marges services de 5% via des commissions obligatoires sur l'App Store | Horizon: 2026 | Impact: -4 Mds USD CA et -1.5% de marge nette</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en IA (Google, Microsoft) pourrait éroder la part de marché des services Apple à 18% en 2027 | Horizon: 24 mois | Impact: -3% de croissance services et -10 Mds USD CA</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Ralentissement économique en Chine (30% du CA iPhone) pourrait réduire les ventes de 8% en 2026 | Horizon: 6-12 mois | Impact: -18 Mds USD CA avec pression sur les marges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25,7x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18,5x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10,4 %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+14,5 %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-0,077</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intégrés (iPhone, Mac, iPad, services) avec un positionnement premium axé sur l'écosystème fermé et la fidélisation client. Leader sur le marché des smartphones haut de gamme avec 20% de part de marché mondial, l'entreprise capitalise sur des marges élevées et une récurrence des revenus via les services (22% du CA en 2025). Ses avantages concurrentiels incluent une marque forte, une intégration verticale et une trésorerie nette de 166 Mds USD, assurant flexibilité stratégique et résilience face aux cycles économiques.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de matériel (iPhone 54% du CA 2025, Mac 7%, iPad 7%, Wearables 10%) avec un modèle basé sur l'innovation incrémentale et le renouvellement annuel des gammes. Clients cibles : consommateurs premium et entreprises (30% du CA iPhone). Croissance tirée par l'Asie (25% du CA) et les services associés (Apple Music, iCloud). Marges brutes à 38% avec un levier opérationnel sur les volumes.</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Abonnements et contenu digital (App Store, Apple Music, iCloud, Apple TV+) générant 93 Mds USD en 2025 (22% du CA). Modèle hautement récurrent avec marge brute à 70% et croissance YoY de 14%. Clients : base installée de 1.8 Md appareils actifs. Catalyseurs : expansion internationale (Inde, Brésil) et bundling avec hardware.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3 652,7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248,80 $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25,7x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32,6x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78%</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matériel (iPhone 54% du CA 2025, Mac 7%, iPad 7%, Wearables 10%) avec un modèle basé sur l'innovation incrémentale et le renouvellement annuel des gammes. Clients cibles : consommateurs premium et entreprises (30% du CA iPhone). Croissance tirée par l'Asie (25% du CA) et les services associés (Apple Music, iCloud). Marges brutes à 38% avec un levier opérationnel sur les volumes.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22%</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et contenu digital (App Store, Apple Music, iCloud, Apple TV+) générant 93 Mds USD en 2025 (22% du CA). Modèle hautement récurrent avec marge brute à 70% et croissance YoY de 14%. Clients : base installée de 1.8 Md appareils actifs. Catalyseurs : expansion internationale (Inde, Brésil) et bundling avec hardware.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443,5</a:t>
                      </a:r>
                    </a:p>
                  </a:txBody>
                  <a:tcPr>
                    <a:solidFill>
                      <a:srgbClr val="FFFFFF"/>
                    </a:solidFill>
                  </a:tcPr>
                </a:tc>
                <a:tc>
                  <a:txBody>
                    <a:bodyPr/>
                    <a:lstStyle/>
                    <a:p>
                      <a:pPr algn="ctr"/>
                      <a:r>
                        <a:rPr sz="800" b="1" i="0">
                          <a:solidFill>
                            <a:srgbClr val="0D0D0D"/>
                          </a:solidFill>
                          <a:latin typeface="Calibri"/>
                        </a:rPr>
                        <a:t>472,0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+6,6 %</a:t>
                      </a:r>
                    </a:p>
                  </a:txBody>
                  <a:tcPr>
                    <a:solidFill>
                      <a:srgbClr val="F7F8FA"/>
                    </a:solidFill>
                  </a:tcPr>
                </a:tc>
                <a:tc>
                  <a:txBody>
                    <a:bodyPr/>
                    <a:lstStyle/>
                    <a:p>
                      <a:pPr algn="ctr"/>
                      <a:r>
                        <a:rPr sz="750" b="0" i="1">
                          <a:solidFill>
                            <a:srgbClr val="555555"/>
                          </a:solidFill>
                          <a:latin typeface="Calibri"/>
                        </a:rPr>
                        <a:t>+6,4 %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210,7</a:t>
                      </a:r>
                    </a:p>
                  </a:txBody>
                  <a:tcPr>
                    <a:solidFill>
                      <a:srgbClr val="FFFFFF"/>
                    </a:solidFill>
                  </a:tcPr>
                </a:tc>
                <a:tc>
                  <a:txBody>
                    <a:bodyPr/>
                    <a:lstStyle/>
                    <a:p>
                      <a:pPr algn="ctr"/>
                      <a:r>
                        <a:rPr sz="800" b="1" i="0">
                          <a:solidFill>
                            <a:srgbClr val="0D0D0D"/>
                          </a:solidFill>
                          <a:latin typeface="Calibri"/>
                        </a:rPr>
                        <a:t>226,6</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157,0</a:t>
                      </a:r>
                    </a:p>
                  </a:txBody>
                  <a:tcPr>
                    <a:solidFill>
                      <a:srgbClr val="FFFFFF"/>
                    </a:solidFill>
                  </a:tcPr>
                </a:tc>
                <a:tc>
                  <a:txBody>
                    <a:bodyPr/>
                    <a:lstStyle/>
                    <a:p>
                      <a:pPr algn="ctr"/>
                      <a:r>
                        <a:rPr sz="800" b="1" i="0">
                          <a:solidFill>
                            <a:srgbClr val="0D0D0D"/>
                          </a:solidFill>
                          <a:latin typeface="Calibri"/>
                        </a:rPr>
                        <a:t>168,0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35,4 %</a:t>
                      </a:r>
                    </a:p>
                  </a:txBody>
                  <a:tcPr>
                    <a:solidFill>
                      <a:srgbClr val="F7F8FA"/>
                    </a:solidFill>
                  </a:tcPr>
                </a:tc>
                <a:tc>
                  <a:txBody>
                    <a:bodyPr/>
                    <a:lstStyle/>
                    <a:p>
                      <a:pPr algn="ctr"/>
                      <a:r>
                        <a:rPr sz="750" b="0" i="1">
                          <a:solidFill>
                            <a:srgbClr val="555555"/>
                          </a:solidFill>
                          <a:latin typeface="Calibri"/>
                        </a:rPr>
                        <a:t>35,6 %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120,0</a:t>
                      </a:r>
                    </a:p>
                  </a:txBody>
                  <a:tcPr>
                    <a:solidFill>
                      <a:srgbClr val="FFFFFF"/>
                    </a:solidFill>
                  </a:tcPr>
                </a:tc>
                <a:tc>
                  <a:txBody>
                    <a:bodyPr/>
                    <a:lstStyle/>
                    <a:p>
                      <a:pPr algn="ctr"/>
                      <a:r>
                        <a:rPr sz="800" b="1" i="0">
                          <a:solidFill>
                            <a:srgbClr val="0D0D0D"/>
                          </a:solidFill>
                          <a:latin typeface="Calibri"/>
                        </a:rPr>
                        <a:t>129,0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27,1 %</a:t>
                      </a:r>
                    </a:p>
                  </a:txBody>
                  <a:tcPr>
                    <a:solidFill>
                      <a:srgbClr val="F7F8FA"/>
                    </a:solidFill>
                  </a:tcPr>
                </a:tc>
                <a:tc>
                  <a:txBody>
                    <a:bodyPr/>
                    <a:lstStyle/>
                    <a:p>
                      <a:pPr algn="ctr"/>
                      <a:r>
                        <a:rPr sz="750" b="0" i="1">
                          <a:solidFill>
                            <a:srgbClr val="555555"/>
                          </a:solidFill>
                          <a:latin typeface="Calibri"/>
                        </a:rPr>
                        <a:t>27,3 %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à 6.4% en 2025 portée par les services (+14%) et l'iPhone en Asie, avec une marge nette stable à 26.9% grâce à un mix produit favorable (iPhone 54% du CA) et une discipline sur les coûts R&amp;D (6.5% du CA). La trésorerie nette de 166 Mds USD (2025) renforce la capacité d'investissement et de rachats d'actions, soutenant la génération de cash (60 Mds USD FCF en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9,83</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à 6.4% en 2025 portée par les services (+14%) et l'iPhone en Asie, avec une marge nette stable à 26.9% grâce à un mix produit favorable (iPhone 54% du CA) et une discipline sur les coûts R&amp;D (6.5% du CA). La trésorerie nette de 166 Mds USD (2025) renforce la capacité d'investissement et de rachats d'actions, soutenant la génération de cash (60 Mds USD FCF en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sont passées de 43.3% (2022) à 46.9% (2025) grâce à un mix produit favorable (services à 70% de marge) et une optimisation des coûts logistiques en Chine. La marge EBITDA à 34.8% reflète un levier opérationnel élevé avec des coûts fixes maîtrisés (SG&amp;A à 12% du CA). Ces niveaux sont durables grâce à la récurrence des revenus et au pricing power, limitant le risque de compression.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248,80 $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220 $</a:t>
                      </a:r>
                    </a:p>
                  </a:txBody>
                  <a:tcPr>
                    <a:solidFill>
                      <a:srgbClr val="FAF0EF"/>
                    </a:solidFill>
                  </a:tcPr>
                </a:tc>
                <a:tc>
                  <a:txBody>
                    <a:bodyPr/>
                    <a:lstStyle/>
                    <a:p>
                      <a:pPr algn="ctr"/>
                      <a:r>
                        <a:rPr sz="2000" b="1" i="0">
                          <a:solidFill>
                            <a:srgbClr val="2E5FA3"/>
                          </a:solidFill>
                          <a:latin typeface="Calibri"/>
                        </a:rPr>
                        <a:t>285 $</a:t>
                      </a:r>
                    </a:p>
                  </a:txBody>
                  <a:tcPr>
                    <a:solidFill>
                      <a:srgbClr val="EEF3FA"/>
                    </a:solidFill>
                  </a:tcPr>
                </a:tc>
                <a:tc>
                  <a:txBody>
                    <a:bodyPr/>
                    <a:lstStyle/>
                    <a:p>
                      <a:pPr algn="ctr"/>
                      <a:r>
                        <a:rPr sz="2000" b="1" i="0">
                          <a:solidFill>
                            <a:srgbClr val="1A7A4A"/>
                          </a:solidFill>
                          <a:latin typeface="Calibri"/>
                        </a:rPr>
                        <a:t>320 $</a:t>
                      </a:r>
                    </a:p>
                  </a:txBody>
                  <a:tcPr>
                    <a:solidFill>
                      <a:srgbClr val="EAF4EF"/>
                    </a:solidFill>
                  </a:tcPr>
                </a:tc>
              </a:tr>
              <a:tr h="342900">
                <a:tc>
                  <a:txBody>
                    <a:bodyPr/>
                    <a:lstStyle/>
                    <a:p>
                      <a:pPr algn="ctr"/>
                      <a:r>
                        <a:rPr sz="1200" b="1" i="0">
                          <a:solidFill>
                            <a:srgbClr val="A82020"/>
                          </a:solidFill>
                          <a:latin typeface="Calibri"/>
                        </a:rPr>
                        <a:t>-11,6 %</a:t>
                      </a:r>
                    </a:p>
                  </a:txBody>
                  <a:tcPr>
                    <a:solidFill>
                      <a:srgbClr val="FAF0EF"/>
                    </a:solidFill>
                  </a:tcPr>
                </a:tc>
                <a:tc>
                  <a:txBody>
                    <a:bodyPr/>
                    <a:lstStyle/>
                    <a:p>
                      <a:pPr algn="ctr"/>
                      <a:r>
                        <a:rPr sz="1200" b="1" i="0">
                          <a:solidFill>
                            <a:srgbClr val="2E5FA3"/>
                          </a:solidFill>
                          <a:latin typeface="Calibri"/>
                        </a:rPr>
                        <a:t>+14,5 %</a:t>
                      </a:r>
                    </a:p>
                  </a:txBody>
                  <a:tcPr>
                    <a:solidFill>
                      <a:srgbClr val="EEF3FA"/>
                    </a:solidFill>
                  </a:tcPr>
                </a:tc>
                <a:tc>
                  <a:txBody>
                    <a:bodyPr/>
                    <a:lstStyle/>
                    <a:p>
                      <a:pPr algn="ctr"/>
                      <a:r>
                        <a:rPr sz="1200" b="1" i="0">
                          <a:solidFill>
                            <a:srgbClr val="1A7A4A"/>
                          </a:solidFill>
                          <a:latin typeface="Calibri"/>
                        </a:rPr>
                        <a:t>+28,6 %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10.4% et un TGR de 3.0%, le prix implicite DCF est de 295 USD (base), soit un upside de 18% vs cours actuel. La prime actuelle reflète une croissance superieure déjà pricee, mais un catalyseur comme l'adoption massive de l'IA dans les services pourrait débloquer une réévaluation à 320 USD.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3 652,7</a:t>
                      </a:r>
                    </a:p>
                  </a:txBody>
                  <a:tcPr>
                    <a:solidFill>
                      <a:srgbClr val="DDE8F5"/>
                    </a:solidFill>
                  </a:tcPr>
                </a:tc>
                <a:tc>
                  <a:txBody>
                    <a:bodyPr/>
                    <a:lstStyle/>
                    <a:p>
                      <a:pPr algn="ctr"/>
                      <a:r>
                        <a:rPr sz="800" b="1" i="0">
                          <a:solidFill>
                            <a:srgbClr val="1B3A6B"/>
                          </a:solidFill>
                          <a:latin typeface="Calibri"/>
                        </a:rPr>
                        <a:t>25,7x</a:t>
                      </a:r>
                    </a:p>
                  </a:txBody>
                  <a:tcPr>
                    <a:solidFill>
                      <a:srgbClr val="DDE8F5"/>
                    </a:solidFill>
                  </a:tcPr>
                </a:tc>
                <a:tc>
                  <a:txBody>
                    <a:bodyPr/>
                    <a:lstStyle/>
                    <a:p>
                      <a:pPr algn="ctr"/>
                      <a:r>
                        <a:rPr sz="800" b="1" i="0">
                          <a:solidFill>
                            <a:srgbClr val="1B3A6B"/>
                          </a:solidFill>
                          <a:latin typeface="Calibri"/>
                        </a:rPr>
                        <a:t>8,9x</a:t>
                      </a:r>
                    </a:p>
                  </a:txBody>
                  <a:tcPr>
                    <a:solidFill>
                      <a:srgbClr val="DDE8F5"/>
                    </a:solidFill>
                  </a:tcPr>
                </a:tc>
                <a:tc>
                  <a:txBody>
                    <a:bodyPr/>
                    <a:lstStyle/>
                    <a:p>
                      <a:pPr algn="ctr"/>
                      <a:r>
                        <a:rPr sz="800" b="1" i="0">
                          <a:solidFill>
                            <a:srgbClr val="1B3A6B"/>
                          </a:solidFill>
                          <a:latin typeface="Calibri"/>
                        </a:rPr>
                        <a:t>32,6x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3 100,0</a:t>
                      </a:r>
                    </a:p>
                  </a:txBody>
                  <a:tcPr>
                    <a:solidFill>
                      <a:srgbClr val="FFFFFF"/>
                    </a:solidFill>
                  </a:tcPr>
                </a:tc>
                <a:tc>
                  <a:txBody>
                    <a:bodyPr/>
                    <a:lstStyle/>
                    <a:p>
                      <a:pPr algn="ctr"/>
                      <a:r>
                        <a:rPr sz="800" b="0" i="0">
                          <a:solidFill>
                            <a:srgbClr val="0D0D0D"/>
                          </a:solidFill>
                          <a:latin typeface="Calibri"/>
                        </a:rPr>
                        <a:t>24,5x</a:t>
                      </a:r>
                    </a:p>
                  </a:txBody>
                  <a:tcPr>
                    <a:solidFill>
                      <a:srgbClr val="FFFFFF"/>
                    </a:solidFill>
                  </a:tcPr>
                </a:tc>
                <a:tc>
                  <a:txBody>
                    <a:bodyPr/>
                    <a:lstStyle/>
                    <a:p>
                      <a:pPr algn="ctr"/>
                      <a:r>
                        <a:rPr sz="800" b="0" i="0">
                          <a:solidFill>
                            <a:srgbClr val="0D0D0D"/>
                          </a:solidFill>
                          <a:latin typeface="Calibri"/>
                        </a:rPr>
                        <a:t>12,8x</a:t>
                      </a:r>
                    </a:p>
                  </a:txBody>
                  <a:tcPr>
                    <a:solidFill>
                      <a:srgbClr val="FFFFFF"/>
                    </a:solidFill>
                  </a:tcPr>
                </a:tc>
                <a:tc>
                  <a:txBody>
                    <a:bodyPr/>
                    <a:lstStyle/>
                    <a:p>
                      <a:pPr algn="ctr"/>
                      <a:r>
                        <a:rPr sz="800" b="0" i="0">
                          <a:solidFill>
                            <a:srgbClr val="0D0D0D"/>
                          </a:solidFill>
                          <a:latin typeface="Calibri"/>
                        </a:rPr>
                        <a:t>35,2x</a:t>
                      </a:r>
                    </a:p>
                  </a:txBody>
                  <a:tcPr>
                    <a:solidFill>
                      <a:srgbClr val="FFFFFF"/>
                    </a:solidFill>
                  </a:tcPr>
                </a:tc>
                <a:tc>
                  <a:txBody>
                    <a:bodyPr/>
                    <a:lstStyle/>
                    <a:p>
                      <a:pPr algn="ctr"/>
                      <a:r>
                        <a:rPr sz="800" b="0" i="0">
                          <a:solidFill>
                            <a:srgbClr val="0D0D0D"/>
                          </a:solidFill>
                          <a:latin typeface="Calibri"/>
                        </a:rPr>
                        <a:t>6800,0 %</a:t>
                      </a:r>
                    </a:p>
                  </a:txBody>
                  <a:tcPr>
                    <a:solidFill>
                      <a:srgbClr val="FFFFFF"/>
                    </a:solidFill>
                  </a:tcPr>
                </a:tc>
                <a:tc>
                  <a:txBody>
                    <a:bodyPr/>
                    <a:lstStyle/>
                    <a:p>
                      <a:pPr algn="ctr"/>
                      <a:r>
                        <a:rPr sz="800" b="0" i="0">
                          <a:solidFill>
                            <a:srgbClr val="0D0D0D"/>
                          </a:solidFill>
                          <a:latin typeface="Calibri"/>
                        </a:rPr>
                        <a:t>5200,0 %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1 950,0</a:t>
                      </a:r>
                    </a:p>
                  </a:txBody>
                  <a:tcPr>
                    <a:solidFill>
                      <a:srgbClr val="F7F8FA"/>
                    </a:solidFill>
                  </a:tcPr>
                </a:tc>
                <a:tc>
                  <a:txBody>
                    <a:bodyPr/>
                    <a:lstStyle/>
                    <a:p>
                      <a:pPr algn="ctr"/>
                      <a:r>
                        <a:rPr sz="800" b="0" i="0">
                          <a:solidFill>
                            <a:srgbClr val="0D0D0D"/>
                          </a:solidFill>
                          <a:latin typeface="Calibri"/>
                        </a:rPr>
                        <a:t>22,1x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27,8x</a:t>
                      </a:r>
                    </a:p>
                  </a:txBody>
                  <a:tcPr>
                    <a:solidFill>
                      <a:srgbClr val="F7F8FA"/>
                    </a:solidFill>
                  </a:tcPr>
                </a:tc>
                <a:tc>
                  <a:txBody>
                    <a:bodyPr/>
                    <a:lstStyle/>
                    <a:p>
                      <a:pPr algn="ctr"/>
                      <a:r>
                        <a:rPr sz="800" b="0" i="0">
                          <a:solidFill>
                            <a:srgbClr val="0D0D0D"/>
                          </a:solidFill>
                          <a:latin typeface="Calibri"/>
                        </a:rPr>
                        <a:t>5600,0 %</a:t>
                      </a:r>
                    </a:p>
                  </a:txBody>
                  <a:tcPr>
                    <a:solidFill>
                      <a:srgbClr val="F7F8FA"/>
                    </a:solidFill>
                  </a:tcPr>
                </a:tc>
                <a:tc>
                  <a:txBody>
                    <a:bodyPr/>
                    <a:lstStyle/>
                    <a:p>
                      <a:pPr algn="ctr"/>
                      <a:r>
                        <a:rPr sz="800" b="0" i="0">
                          <a:solidFill>
                            <a:srgbClr val="0D0D0D"/>
                          </a:solidFill>
                          <a:latin typeface="Calibri"/>
                        </a:rPr>
                        <a:t>3800,0 %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420,0</a:t>
                      </a:r>
                    </a:p>
                  </a:txBody>
                  <a:tcPr>
                    <a:solidFill>
                      <a:srgbClr val="FFFFFF"/>
                    </a:solidFill>
                  </a:tcPr>
                </a:tc>
                <a:tc>
                  <a:txBody>
                    <a:bodyPr/>
                    <a:lstStyle/>
                    <a:p>
                      <a:pPr algn="ctr"/>
                      <a:r>
                        <a:rPr sz="800" b="0" i="0">
                          <a:solidFill>
                            <a:srgbClr val="0D0D0D"/>
                          </a:solidFill>
                          <a:latin typeface="Calibri"/>
                        </a:rPr>
                        <a:t>8,2x</a:t>
                      </a:r>
                    </a:p>
                  </a:txBody>
                  <a:tcPr>
                    <a:solidFill>
                      <a:srgbClr val="FFFFFF"/>
                    </a:solidFill>
                  </a:tcPr>
                </a:tc>
                <a:tc>
                  <a:txBody>
                    <a:bodyPr/>
                    <a:lstStyle/>
                    <a:p>
                      <a:pPr algn="ctr"/>
                      <a:r>
                        <a:rPr sz="800" b="0" i="0">
                          <a:solidFill>
                            <a:srgbClr val="0D0D0D"/>
                          </a:solidFill>
                          <a:latin typeface="Calibri"/>
                        </a:rPr>
                        <a:t>1,2x</a:t>
                      </a:r>
                    </a:p>
                  </a:txBody>
                  <a:tcPr>
                    <a:solidFill>
                      <a:srgbClr val="FFFFFF"/>
                    </a:solidFill>
                  </a:tcPr>
                </a:tc>
                <a:tc>
                  <a:txBody>
                    <a:bodyPr/>
                    <a:lstStyle/>
                    <a:p>
                      <a:pPr algn="ctr"/>
                      <a:r>
                        <a:rPr sz="800" b="0" i="0">
                          <a:solidFill>
                            <a:srgbClr val="0D0D0D"/>
                          </a:solidFill>
                          <a:latin typeface="Calibri"/>
                        </a:rPr>
                        <a:t>12,1x</a:t>
                      </a:r>
                    </a:p>
                  </a:txBody>
                  <a:tcPr>
                    <a:solidFill>
                      <a:srgbClr val="FFFFFF"/>
                    </a:solidFill>
                  </a:tcPr>
                </a:tc>
                <a:tc>
                  <a:txBody>
                    <a:bodyPr/>
                    <a:lstStyle/>
                    <a:p>
                      <a:pPr algn="ctr"/>
                      <a:r>
                        <a:rPr sz="800" b="0" i="0">
                          <a:solidFill>
                            <a:srgbClr val="0D0D0D"/>
                          </a:solidFill>
                          <a:latin typeface="Calibri"/>
                        </a:rPr>
                        <a:t>4500,0 %</a:t>
                      </a:r>
                    </a:p>
                  </a:txBody>
                  <a:tcPr>
                    <a:solidFill>
                      <a:srgbClr val="FFFFFF"/>
                    </a:solidFill>
                  </a:tcPr>
                </a:tc>
                <a:tc>
                  <a:txBody>
                    <a:bodyPr/>
                    <a:lstStyle/>
                    <a:p>
                      <a:pPr algn="ctr"/>
                      <a:r>
                        <a:rPr sz="800" b="0" i="0">
                          <a:solidFill>
                            <a:srgbClr val="0D0D0D"/>
                          </a:solidFill>
                          <a:latin typeface="Calibri"/>
                        </a:rPr>
                        <a:t>2200,0 %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1 300,0</a:t>
                      </a:r>
                    </a:p>
                  </a:txBody>
                  <a:tcPr>
                    <a:solidFill>
                      <a:srgbClr val="F7F8FA"/>
                    </a:solidFill>
                  </a:tcPr>
                </a:tc>
                <a:tc>
                  <a:txBody>
                    <a:bodyPr/>
                    <a:lstStyle/>
                    <a:p>
                      <a:pPr algn="ctr"/>
                      <a:r>
                        <a:rPr sz="800" b="0" i="0">
                          <a:solidFill>
                            <a:srgbClr val="0D0D0D"/>
                          </a:solidFill>
                          <a:latin typeface="Calibri"/>
                        </a:rPr>
                        <a:t>18,5x</a:t>
                      </a:r>
                    </a:p>
                  </a:txBody>
                  <a:tcPr>
                    <a:solidFill>
                      <a:srgbClr val="F7F8FA"/>
                    </a:solidFill>
                  </a:tcPr>
                </a:tc>
                <a:tc>
                  <a:txBody>
                    <a:bodyPr/>
                    <a:lstStyle/>
                    <a:p>
                      <a:pPr algn="ctr"/>
                      <a:r>
                        <a:rPr sz="800" b="0" i="0">
                          <a:solidFill>
                            <a:srgbClr val="0D0D0D"/>
                          </a:solidFill>
                          <a:latin typeface="Calibri"/>
                        </a:rPr>
                        <a:t>8,9x</a:t>
                      </a:r>
                    </a:p>
                  </a:txBody>
                  <a:tcPr>
                    <a:solidFill>
                      <a:srgbClr val="F7F8FA"/>
                    </a:solidFill>
                  </a:tcPr>
                </a:tc>
                <a:tc>
                  <a:txBody>
                    <a:bodyPr/>
                    <a:lstStyle/>
                    <a:p>
                      <a:pPr algn="ctr"/>
                      <a:r>
                        <a:rPr sz="800" b="0" i="0">
                          <a:solidFill>
                            <a:srgbClr val="0D0D0D"/>
                          </a:solidFill>
                          <a:latin typeface="Calibri"/>
                        </a:rPr>
                        <a:t>23,7x</a:t>
                      </a:r>
                    </a:p>
                  </a:txBody>
                  <a:tcPr>
                    <a:solidFill>
                      <a:srgbClr val="F7F8FA"/>
                    </a:solidFill>
                  </a:tcPr>
                </a:tc>
                <a:tc>
                  <a:txBody>
                    <a:bodyPr/>
                    <a:lstStyle/>
                    <a:p>
                      <a:pPr algn="ctr"/>
                      <a:r>
                        <a:rPr sz="800" b="0" i="0">
                          <a:solidFill>
                            <a:srgbClr val="0D0D0D"/>
                          </a:solidFill>
                          <a:latin typeface="Calibri"/>
                        </a:rPr>
                        <a:t>8000,0 %</a:t>
                      </a:r>
                    </a:p>
                  </a:txBody>
                  <a:tcPr>
                    <a:solidFill>
                      <a:srgbClr val="F7F8FA"/>
                    </a:solidFill>
                  </a:tcPr>
                </a:tc>
                <a:tc>
                  <a:txBody>
                    <a:bodyPr/>
                    <a:lstStyle/>
                    <a:p>
                      <a:pPr algn="ctr"/>
                      <a:r>
                        <a:rPr sz="800" b="0" i="0">
                          <a:solidFill>
                            <a:srgbClr val="0D0D0D"/>
                          </a:solidFill>
                          <a:latin typeface="Calibri"/>
                        </a:rPr>
                        <a:t>5500,0 %</a:t>
                      </a:r>
                    </a:p>
                  </a:txBody>
                  <a:tcPr>
                    <a:solidFill>
                      <a:srgbClr val="F7F8FA"/>
                    </a:solidFill>
                  </a:tcPr>
                </a:tc>
              </a:tr>
              <a:tr h="251999">
                <a:tc>
                  <a:txBody>
                    <a:bodyPr/>
                    <a:lstStyle/>
                    <a:p>
                      <a:pPr algn="l"/>
                      <a:r>
                        <a:rPr sz="800" b="0" i="0">
                          <a:solidFill>
                            <a:srgbClr val="0D0D0D"/>
                          </a:solidFill>
                          <a:latin typeface="Calibri"/>
                        </a:rPr>
                        <a:t>TSMC</a:t>
                      </a:r>
                    </a:p>
                  </a:txBody>
                  <a:tcPr>
                    <a:solidFill>
                      <a:srgbClr val="FFFFFF"/>
                    </a:solidFill>
                  </a:tcPr>
                </a:tc>
                <a:tc>
                  <a:txBody>
                    <a:bodyPr/>
                    <a:lstStyle/>
                    <a:p>
                      <a:pPr algn="ctr"/>
                      <a:r>
                        <a:rPr sz="750" b="0" i="0">
                          <a:solidFill>
                            <a:srgbClr val="555555"/>
                          </a:solidFill>
                          <a:latin typeface="Calibri"/>
                        </a:rPr>
                        <a:t>TSM</a:t>
                      </a:r>
                    </a:p>
                  </a:txBody>
                  <a:tcPr>
                    <a:solidFill>
                      <a:srgbClr val="FFFFFF"/>
                    </a:solidFill>
                  </a:tcPr>
                </a:tc>
                <a:tc>
                  <a:txBody>
                    <a:bodyPr/>
                    <a:lstStyle/>
                    <a:p>
                      <a:pPr algn="ctr"/>
                      <a:r>
                        <a:rPr sz="800" b="0" i="0">
                          <a:solidFill>
                            <a:srgbClr val="0D0D0D"/>
                          </a:solidFill>
                          <a:latin typeface="Calibri"/>
                        </a:rPr>
                        <a:t>550,0</a:t>
                      </a:r>
                    </a:p>
                  </a:txBody>
                  <a:tcPr>
                    <a:solidFill>
                      <a:srgbClr val="FFFFFF"/>
                    </a:solidFill>
                  </a:tcPr>
                </a:tc>
                <a:tc>
                  <a:txBody>
                    <a:bodyPr/>
                    <a:lstStyle/>
                    <a:p>
                      <a:pPr algn="ctr"/>
                      <a:r>
                        <a:rPr sz="800" b="0" i="0">
                          <a:solidFill>
                            <a:srgbClr val="0D0D0D"/>
                          </a:solidFill>
                          <a:latin typeface="Calibri"/>
                        </a:rPr>
                        <a:t>15,3x</a:t>
                      </a:r>
                    </a:p>
                  </a:txBody>
                  <a:tcPr>
                    <a:solidFill>
                      <a:srgbClr val="FFFFFF"/>
                    </a:solidFill>
                  </a:tcPr>
                </a:tc>
                <a:tc>
                  <a:txBody>
                    <a:bodyPr/>
                    <a:lstStyle/>
                    <a:p>
                      <a:pPr algn="ctr"/>
                      <a:r>
                        <a:rPr sz="800" b="0" i="0">
                          <a:solidFill>
                            <a:srgbClr val="0D0D0D"/>
                          </a:solidFill>
                          <a:latin typeface="Calibri"/>
                        </a:rPr>
                        <a:t>9,2x</a:t>
                      </a:r>
                    </a:p>
                  </a:txBody>
                  <a:tcPr>
                    <a:solidFill>
                      <a:srgbClr val="FFFFFF"/>
                    </a:solidFill>
                  </a:tcPr>
                </a:tc>
                <a:tc>
                  <a:txBody>
                    <a:bodyPr/>
                    <a:lstStyle/>
                    <a:p>
                      <a:pPr algn="ctr"/>
                      <a:r>
                        <a:rPr sz="800" b="0" i="0">
                          <a:solidFill>
                            <a:srgbClr val="0D0D0D"/>
                          </a:solidFill>
                          <a:latin typeface="Calibri"/>
                        </a:rPr>
                        <a:t>17,9x</a:t>
                      </a:r>
                    </a:p>
                  </a:txBody>
                  <a:tcPr>
                    <a:solidFill>
                      <a:srgbClr val="FFFFFF"/>
                    </a:solidFill>
                  </a:tcPr>
                </a:tc>
                <a:tc>
                  <a:txBody>
                    <a:bodyPr/>
                    <a:lstStyle/>
                    <a:p>
                      <a:pPr algn="ctr"/>
                      <a:r>
                        <a:rPr sz="800" b="0" i="0">
                          <a:solidFill>
                            <a:srgbClr val="0D0D0D"/>
                          </a:solidFill>
                          <a:latin typeface="Calibri"/>
                        </a:rPr>
                        <a:t>5300,0 %</a:t>
                      </a:r>
                    </a:p>
                  </a:txBody>
                  <a:tcPr>
                    <a:solidFill>
                      <a:srgbClr val="FFFFFF"/>
                    </a:solidFill>
                  </a:tcPr>
                </a:tc>
                <a:tc>
                  <a:txBody>
                    <a:bodyPr/>
                    <a:lstStyle/>
                    <a:p>
                      <a:pPr algn="ctr"/>
                      <a:r>
                        <a:rPr sz="800" b="0" i="0">
                          <a:solidFill>
                            <a:srgbClr val="0D0D0D"/>
                          </a:solidFill>
                          <a:latin typeface="Calibri"/>
                        </a:rPr>
                        <a:t>4800,0 %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18,5x</a:t>
                      </a:r>
                    </a:p>
                  </a:txBody>
                  <a:tcPr>
                    <a:solidFill>
                      <a:srgbClr val="F7F8FA"/>
                    </a:solidFill>
                  </a:tcPr>
                </a:tc>
                <a:tc>
                  <a:txBody>
                    <a:bodyPr/>
                    <a:lstStyle/>
                    <a:p>
                      <a:pPr algn="ctr"/>
                      <a:r>
                        <a:rPr sz="800" b="1" i="0">
                          <a:solidFill>
                            <a:srgbClr val="0D0D0D"/>
                          </a:solidFill>
                          <a:latin typeface="Calibri"/>
                        </a:rPr>
                        <a:t>8,9x</a:t>
                      </a:r>
                    </a:p>
                  </a:txBody>
                  <a:tcPr>
                    <a:solidFill>
                      <a:srgbClr val="F7F8FA"/>
                    </a:solidFill>
                  </a:tcPr>
                </a:tc>
                <a:tc>
                  <a:txBody>
                    <a:bodyPr/>
                    <a:lstStyle/>
                    <a:p>
                      <a:pPr algn="ctr"/>
                      <a:r>
                        <a:rPr sz="800" b="1" i="0">
                          <a:solidFill>
                            <a:srgbClr val="0D0D0D"/>
                          </a:solidFill>
                          <a:latin typeface="Calibri"/>
                        </a:rPr>
                        <a:t>23,7x</a:t>
                      </a:r>
                    </a:p>
                  </a:txBody>
                  <a:tcPr>
                    <a:solidFill>
                      <a:srgbClr val="F7F8FA"/>
                    </a:solidFill>
                  </a:tcPr>
                </a:tc>
                <a:tc>
                  <a:txBody>
                    <a:bodyPr/>
                    <a:lstStyle/>
                    <a:p>
                      <a:pPr algn="ctr"/>
                      <a:r>
                        <a:rPr sz="800" b="1" i="0">
                          <a:solidFill>
                            <a:srgbClr val="0D0D0D"/>
                          </a:solidFill>
                          <a:latin typeface="Calibri"/>
                        </a:rPr>
                        <a:t>5600,0 %</a:t>
                      </a:r>
                    </a:p>
                  </a:txBody>
                  <a:tcPr>
                    <a:solidFill>
                      <a:srgbClr val="F7F8FA"/>
                    </a:solidFill>
                  </a:tcPr>
                </a:tc>
                <a:tc>
                  <a:txBody>
                    <a:bodyPr/>
                    <a:lstStyle/>
                    <a:p>
                      <a:pPr algn="ctr"/>
                      <a:r>
                        <a:rPr sz="800" b="1" i="0">
                          <a:solidFill>
                            <a:srgbClr val="0D0D0D"/>
                          </a:solidFill>
                          <a:latin typeface="Calibri"/>
                        </a:rPr>
                        <a:t>4800,0 %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affiche un P/E de 32.6x vs une mediane peers de 26x (Samsung 12x, Microsoft 35x, Alphabet 28x, Meta 24x, TSMC 18x), soit une prime de 25% justifiée par des marges nettes supérieures (26.9% vs 22% mediane). La décote sur EV/EBITDA (25.7x vs 28x mediane) reflète une croissance plus lente que Microsoft ou Alphabet, mais la qualité des actifs (trésorerie, récurrence) limite le risque de compression.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10.4% et un TGR de 3.0%, le prix implicite DCF est de 295 USD (base), soit un upside de 18% vs cours actuel. La prime actuelle reflète une croissance superieure déjà pricee, mais un catalyseur comme l'adoption massive de l'IA dans les services pourrait débloquer une réévaluation à 320 USD.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Dépendance iPhone 60%</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Les marges premium d'Apple (46.9% brut, 26.9% net) reposent sur un écosystème captif où 60% des revenus dépendent de l'iPhone, dont les ventes en Chine chutent de 10% en 2024 selon Counterpoint; une dépendance géographique et produit aussi extrême fragilise la rentabilité future.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Régulations antitrust</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Les 200 milliards de trésorerie nette masquent une dette opérationnelle croissante : les coûts de R&amp;D (25 milliards en 2024) explosent de 15% par an, érodant les marges sans garantie de retour sur investissement.</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Dette R&amp;D</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ratio P/E de 32.61x et EV/EBITDA de 25.67x intègrent un scénario de croissance des services à 12% annuel, mais les régulations antitrust (DMA en Europe) pourraient réduire les marges des App Store de 30% d'ici 2026, selon les projections de Bernstein.</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en Chine &gt; -10% de croissance CA iPhone</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DMA européenne réduit marges services de 5%</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commercial iPhone 16 avec puce IA (-20% ventes vs attentes)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-0,077</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44,5 %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5</a:t>
                      </a:r>
                    </a:p>
                  </a:txBody>
                  <a:tcPr>
                    <a:solidFill>
                      <a:srgbClr val="EAF4EF"/>
                    </a:solidFill>
                  </a:tcPr>
                </a:tc>
                <a:tc>
                  <a:txBody>
                    <a:bodyPr/>
                    <a:lstStyle/>
                    <a:p>
                      <a:pPr algn="ctr"/>
                      <a:r>
                        <a:rPr sz="800" b="0" i="0">
                          <a:solidFill>
                            <a:srgbClr val="0D0D0D"/>
                          </a:solidFill>
                          <a:latin typeface="Calibri"/>
                        </a:rPr>
                        <a:t>+0,239</a:t>
                      </a:r>
                    </a:p>
                  </a:txBody>
                  <a:tcPr>
                    <a:solidFill>
                      <a:srgbClr val="EAF4EF"/>
                    </a:solidFill>
                  </a:tcPr>
                </a:tc>
                <a:tc>
                  <a:txBody>
                    <a:bodyPr/>
                    <a:lstStyle/>
                    <a:p>
                      <a:pPr algn="ctr"/>
                      <a:r>
                        <a:rPr sz="800" b="0" i="0">
                          <a:solidFill>
                            <a:srgbClr val="0D0D0D"/>
                          </a:solidFill>
                          <a:latin typeface="Calibri"/>
                        </a:rPr>
                        <a:t>Lancement iPhone 16 avec puce IA en Q3 2026 pourrait générer +12% de ventes premium et +8% de hausse des prix | Horizon: 12-18 mois | Impact: +15 Mds USD CA additionnel</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16</a:t>
                      </a:r>
                    </a:p>
                  </a:txBody>
                  <a:tcPr>
                    <a:solidFill>
                      <a:srgbClr val="FFFFFF"/>
                    </a:solidFill>
                  </a:tcPr>
                </a:tc>
                <a:tc>
                  <a:txBody>
                    <a:bodyPr/>
                    <a:lstStyle/>
                    <a:p>
                      <a:pPr algn="ctr"/>
                      <a:r>
                        <a:rPr sz="800" b="0" i="0">
                          <a:solidFill>
                            <a:srgbClr val="0D0D0D"/>
                          </a:solidFill>
                          <a:latin typeface="Calibri"/>
                        </a:rPr>
                        <a:t>+0,445</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9</a:t>
                      </a:r>
                    </a:p>
                  </a:txBody>
                  <a:tcPr>
                    <a:solidFill>
                      <a:srgbClr val="FAF0EF"/>
                    </a:solidFill>
                  </a:tcPr>
                </a:tc>
                <a:tc>
                  <a:txBody>
                    <a:bodyPr/>
                    <a:lstStyle/>
                    <a:p>
                      <a:pPr algn="ctr"/>
                      <a:r>
                        <a:rPr sz="800" b="0" i="0">
                          <a:solidFill>
                            <a:srgbClr val="0D0D0D"/>
                          </a:solidFill>
                          <a:latin typeface="Calibri"/>
                        </a:rPr>
                        <a:t>+0,316</a:t>
                      </a:r>
                    </a:p>
                  </a:txBody>
                  <a:tcPr>
                    <a:solidFill>
                      <a:srgbClr val="FAF0EF"/>
                    </a:solidFill>
                  </a:tcPr>
                </a:tc>
                <a:tc>
                  <a:txBody>
                    <a:bodyPr/>
                    <a:lstStyle/>
                    <a:p>
                      <a:pPr algn="ctr"/>
                      <a:r>
                        <a:rPr sz="800" b="0" i="0">
                          <a:solidFill>
                            <a:srgbClr val="0D0D0D"/>
                          </a:solidFill>
                          <a:latin typeface="Calibri"/>
                        </a:rPr>
                        <a:t>Régulation européenne DMA pourrait réduire les marges services de 5% via des commissions obligatoires sur l'App Store | Horizon: 2026 | Impact: -4 Mds USD CA et -1.5% de marge nette</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les défis majeurs d'Apple face à l'IA tout en saluant ses innovations comme l'ouverture de Siri. Les prédictions sur un déclin relatif face à ses concurrents pèsent sur le sentiment global.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29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se négocie à 32.6x P/E, soit une prime de 25% vs mediane peers (26x) justifiée par la qualité des actifs et la récurrence des revenus. Le multiple EV/EBITDA à 25.7x reflète une décote de 15% vs Samsung (29.5x) malgré des marges supérieures.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29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248,80 $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+17,6 %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925819"/>
            <a:ext cx="498636" cy="96938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nettes à 26.9% et un ROE de 151.9%, soutenue par un écosystème intégré et une forte récurrence des revenus. La valorisation actuelle (P/E 32.6x) reflète une prime de croissance justifiée par l'innovation et la fidélisation cl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