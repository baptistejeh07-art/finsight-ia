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BUY  ·  Prix cible base : 275 $  ·  Upside : +7,5 %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5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275 $  ·  Upside : +7,5 %  ·  Bear : 220 $ (-14,0 %)  ·  Bull : 300 $ (+17,2 %)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La sortie de l'iPhone 16 en 2026 devrait booster les ventes de 8% YoY avec un mix premium favorable</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Marges premium</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Le segment Services atteindra 100 Mds USD de revenus en 2027 grâce à l'augmentation des abonnés à 2.2 Md et à une hausse des prix de 5%</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Trésorerie massive</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La marge nette devrait atteindre 28% en 2027 via l'effet de levier opérationnel et la réduction des coûts logistiques.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antitrust</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Régulation antitrust UE/USA pourrait imposer des ouvertures de l'App Store, réduisant les revenus services de 10-15% | Concurrence accrue en IA (Google, Microsoft) menaçant l'avantage différenciation | Ralentissement économique en Chine (-8% CA iPhone en…</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La trésorerie nette de 166 milliards USD, soit 5,2x l'EBITDA, génère un coût d'opportunité de 8,3 milliards USD/an à 5%, sans création de valeur actionnariale visible.</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L'Altman Z-score de 1,69 signale un risque de faillite accru, inférieur au seuil critique de 1,8, avec une dépendance à 68% des revenus à l'iPhone, vulnérable aux cycles économiques et aux régulations antitrust en Europe et aux États-Unis.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26,4x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18,5x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275 $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+7,5 %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+0,212</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antitrust  ·  Concurrence IA</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innovants (iPhone, Mac, iPad, services) avec un écosystème intégré et une fidélisation client record. Positionné en haut de gamme, le groupe mise sur l'innovation logicielle (iOS, services) et le hardware premium pour capturer la valeur ajoutée. Ses avantages concurrentiels incluent une marge brute structurellement élevée (46.9%), une trésorerie nette massive et un écosystème fermé limitant la substitution.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phare générant 80% des revenus via ventes d'iPhone (55% du CA), Mac, iPad et wearables, avec une croissance tirée par l'innovation (iPhone 15) et le renouvellement des cycles. Clients premium (revenu moyen &gt;1000 USD) et distribution mondiale (60% ventes hors USA). Marges élevées (GM&gt;45%) grâce au pricing power et à la différenciation.</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en croissance à 20% du CA avec GM&gt;70%, incluant App Store, Apple Music, iCloud et Apple Pay. Modèle récurrent et résilient avec 1.8 Md d'abonnés payants en 2025. Croissance portée par l'expansion géographique (Chine, Inde) et l'augmentation des prix des abonnements.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3 757,2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255,92 $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26,4x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33,5x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phare générant 80% des revenus via ventes d'iPhone (55% du CA), Mac, iPad et wearables, avec une croissance tirée par l'innovation (iPhone 15) et le renouvellement des cycles. Clients premium (revenu moyen &gt;1000 USD) et distribution mondiale (60% ventes hors USA). Marges élevées (GM&gt;45%) grâce au pricing power et à la différenciation.</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en croissance à 20% du CA avec GM&gt;70%, incluant App Store, Apple Music, iCloud et Apple Pay. Modèle récurrent et résilient avec 1.8 Md d'abonnés payants en 2025. Croissance portée par l'expansion géographique (Chine, Inde) et l'augmentation des prix des abonnements.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+7,0 %</a:t>
                      </a:r>
                    </a:p>
                  </a:txBody>
                  <a:tcPr>
                    <a:solidFill>
                      <a:srgbClr val="F7F8FA"/>
                    </a:solidFill>
                  </a:tcPr>
                </a:tc>
                <a:tc>
                  <a:txBody>
                    <a:bodyPr/>
                    <a:lstStyle/>
                    <a:p>
                      <a:pPr algn="ctr"/>
                      <a:r>
                        <a:rPr sz="750" b="0" i="1">
                          <a:solidFill>
                            <a:srgbClr val="555555"/>
                          </a:solidFill>
                          <a:latin typeface="Calibri"/>
                        </a:rPr>
                        <a:t>+6,7 %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211,4</a:t>
                      </a:r>
                    </a:p>
                  </a:txBody>
                  <a:tcPr>
                    <a:solidFill>
                      <a:srgbClr val="FFFFFF"/>
                    </a:solidFill>
                  </a:tcPr>
                </a:tc>
                <a:tc>
                  <a:txBody>
                    <a:bodyPr/>
                    <a:lstStyle/>
                    <a:p>
                      <a:pPr algn="ctr"/>
                      <a:r>
                        <a:rPr sz="800" b="1" i="0">
                          <a:solidFill>
                            <a:srgbClr val="0D0D0D"/>
                          </a:solidFill>
                          <a:latin typeface="Calibri"/>
                        </a:rPr>
                        <a:t>228,0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165,0</a:t>
                      </a:r>
                    </a:p>
                  </a:txBody>
                  <a:tcPr>
                    <a:solidFill>
                      <a:srgbClr val="FFFFFF"/>
                    </a:solidFill>
                  </a:tcPr>
                </a:tc>
                <a:tc>
                  <a:txBody>
                    <a:bodyPr/>
                    <a:lstStyle/>
                    <a:p>
                      <a:pPr algn="ctr"/>
                      <a:r>
                        <a:rPr sz="800" b="1" i="0">
                          <a:solidFill>
                            <a:srgbClr val="0D0D0D"/>
                          </a:solidFill>
                          <a:latin typeface="Calibri"/>
                        </a:rPr>
                        <a:t>178,0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37,1 %</a:t>
                      </a:r>
                    </a:p>
                  </a:txBody>
                  <a:tcPr>
                    <a:solidFill>
                      <a:srgbClr val="F7F8FA"/>
                    </a:solidFill>
                  </a:tcPr>
                </a:tc>
                <a:tc>
                  <a:txBody>
                    <a:bodyPr/>
                    <a:lstStyle/>
                    <a:p>
                      <a:pPr algn="ctr"/>
                      <a:r>
                        <a:rPr sz="750" b="0" i="1">
                          <a:solidFill>
                            <a:srgbClr val="555555"/>
                          </a:solidFill>
                          <a:latin typeface="Calibri"/>
                        </a:rPr>
                        <a:t>37,5 %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122,0</a:t>
                      </a:r>
                    </a:p>
                  </a:txBody>
                  <a:tcPr>
                    <a:solidFill>
                      <a:srgbClr val="FFFFFF"/>
                    </a:solidFill>
                  </a:tcPr>
                </a:tc>
                <a:tc>
                  <a:txBody>
                    <a:bodyPr/>
                    <a:lstStyle/>
                    <a:p>
                      <a:pPr algn="ctr"/>
                      <a:r>
                        <a:rPr sz="800" b="1" i="0">
                          <a:solidFill>
                            <a:srgbClr val="0D0D0D"/>
                          </a:solidFill>
                          <a:latin typeface="Calibri"/>
                        </a:rPr>
                        <a:t>134,0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27,4 %</a:t>
                      </a:r>
                    </a:p>
                  </a:txBody>
                  <a:tcPr>
                    <a:solidFill>
                      <a:srgbClr val="F7F8FA"/>
                    </a:solidFill>
                  </a:tcPr>
                </a:tc>
                <a:tc>
                  <a:txBody>
                    <a:bodyPr/>
                    <a:lstStyle/>
                    <a:p>
                      <a:pPr algn="ctr"/>
                      <a:r>
                        <a:rPr sz="750" b="0" i="1">
                          <a:solidFill>
                            <a:srgbClr val="555555"/>
                          </a:solidFill>
                          <a:latin typeface="Calibri"/>
                        </a:rPr>
                        <a:t>28,2 %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6.4% en 2025 portée par les services (+12%) et l'iPhone (+5%), avec une marge brute en hausse de 270 pb depuis 2022 grâce à l'amélioration du mix produit et à la réduction des coûts de composants. Le levier opérationnel et la discipline sur les coûts ont permis une marge nette stable à 26.9%, générant 111.8 Mds USD de free cash flow en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6.4% en 2025 portée par les services (+12%) et l'iPhone (+5%), avec une marge brute en hausse de 270 pb depuis 2022 grâce à l'amélioration du mix produit et à la réduction des coûts de composants. Le levier opérationnel et la discipline sur les coûts ont permis une marge nette stable à 26.9%, générant 111.8 Mds USD de free cash flow en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 (46.9%), EBITDA (34.8%) et nette (26.9%) ont progressé de manière structurelle depuis 2022, reflétant un mix produit favorable (iPhone haut de gamme) et une optimisation des coûts logistiques. Cette dynamique illustre la résilience de la franchise Apple, avec un pricing power confirmé par des hausses de prix annuelles de 3-5%. La durabilité de ces niveaux dépendra de la capacité à maintenir l'innovation et à éviter une guerre des prix sur l'iPhone.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255,92 $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220 $</a:t>
                      </a:r>
                    </a:p>
                  </a:txBody>
                  <a:tcPr>
                    <a:solidFill>
                      <a:srgbClr val="FAF0EF"/>
                    </a:solidFill>
                  </a:tcPr>
                </a:tc>
                <a:tc>
                  <a:txBody>
                    <a:bodyPr/>
                    <a:lstStyle/>
                    <a:p>
                      <a:pPr algn="ctr"/>
                      <a:r>
                        <a:rPr sz="2000" b="1" i="0">
                          <a:solidFill>
                            <a:srgbClr val="2E5FA3"/>
                          </a:solidFill>
                          <a:latin typeface="Calibri"/>
                        </a:rPr>
                        <a:t>275 $</a:t>
                      </a:r>
                    </a:p>
                  </a:txBody>
                  <a:tcPr>
                    <a:solidFill>
                      <a:srgbClr val="EEF3FA"/>
                    </a:solidFill>
                  </a:tcPr>
                </a:tc>
                <a:tc>
                  <a:txBody>
                    <a:bodyPr/>
                    <a:lstStyle/>
                    <a:p>
                      <a:pPr algn="ctr"/>
                      <a:r>
                        <a:rPr sz="2000" b="1" i="0">
                          <a:solidFill>
                            <a:srgbClr val="1A7A4A"/>
                          </a:solidFill>
                          <a:latin typeface="Calibri"/>
                        </a:rPr>
                        <a:t>300 $</a:t>
                      </a:r>
                    </a:p>
                  </a:txBody>
                  <a:tcPr>
                    <a:solidFill>
                      <a:srgbClr val="EAF4EF"/>
                    </a:solidFill>
                  </a:tcPr>
                </a:tc>
              </a:tr>
              <a:tr h="342900">
                <a:tc>
                  <a:txBody>
                    <a:bodyPr/>
                    <a:lstStyle/>
                    <a:p>
                      <a:pPr algn="ctr"/>
                      <a:r>
                        <a:rPr sz="1200" b="1" i="0">
                          <a:solidFill>
                            <a:srgbClr val="A82020"/>
                          </a:solidFill>
                          <a:latin typeface="Calibri"/>
                        </a:rPr>
                        <a:t>-14,0 %</a:t>
                      </a:r>
                    </a:p>
                  </a:txBody>
                  <a:tcPr>
                    <a:solidFill>
                      <a:srgbClr val="FAF0EF"/>
                    </a:solidFill>
                  </a:tcPr>
                </a:tc>
                <a:tc>
                  <a:txBody>
                    <a:bodyPr/>
                    <a:lstStyle/>
                    <a:p>
                      <a:pPr algn="ctr"/>
                      <a:r>
                        <a:rPr sz="1200" b="1" i="0">
                          <a:solidFill>
                            <a:srgbClr val="2E5FA3"/>
                          </a:solidFill>
                          <a:latin typeface="Calibri"/>
                        </a:rPr>
                        <a:t>+7,5 %</a:t>
                      </a:r>
                    </a:p>
                  </a:txBody>
                  <a:tcPr>
                    <a:solidFill>
                      <a:srgbClr val="EEF3FA"/>
                    </a:solidFill>
                  </a:tcPr>
                </a:tc>
                <a:tc>
                  <a:txBody>
                    <a:bodyPr/>
                    <a:lstStyle/>
                    <a:p>
                      <a:pPr algn="ctr"/>
                      <a:r>
                        <a:rPr sz="1200" b="1" i="0">
                          <a:solidFill>
                            <a:srgbClr val="1A7A4A"/>
                          </a:solidFill>
                          <a:latin typeface="Calibri"/>
                        </a:rPr>
                        <a:t>+17,2 %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275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de 278 USD, soit un upside de 9% vs le cours actuel. Cette valorisation intègre une croissance des services à 12% et une stabilité des marges, suggérant une sous-valorisation structurelle. Un catalyseur clé serait une accélération des revenus services au-delà de 15% YoY.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3 757,2</a:t>
                      </a:r>
                    </a:p>
                  </a:txBody>
                  <a:tcPr>
                    <a:solidFill>
                      <a:srgbClr val="DDE8F5"/>
                    </a:solidFill>
                  </a:tcPr>
                </a:tc>
                <a:tc>
                  <a:txBody>
                    <a:bodyPr/>
                    <a:lstStyle/>
                    <a:p>
                      <a:pPr algn="ctr"/>
                      <a:r>
                        <a:rPr sz="800" b="1" i="0">
                          <a:solidFill>
                            <a:srgbClr val="1B3A6B"/>
                          </a:solidFill>
                          <a:latin typeface="Calibri"/>
                        </a:rPr>
                        <a:t>26,4x</a:t>
                      </a:r>
                    </a:p>
                  </a:txBody>
                  <a:tcPr>
                    <a:solidFill>
                      <a:srgbClr val="DDE8F5"/>
                    </a:solidFill>
                  </a:tcPr>
                </a:tc>
                <a:tc>
                  <a:txBody>
                    <a:bodyPr/>
                    <a:lstStyle/>
                    <a:p>
                      <a:pPr algn="ctr"/>
                      <a:r>
                        <a:rPr sz="800" b="1" i="0">
                          <a:solidFill>
                            <a:srgbClr val="1B3A6B"/>
                          </a:solidFill>
                          <a:latin typeface="Calibri"/>
                        </a:rPr>
                        <a:t>9,2x</a:t>
                      </a:r>
                    </a:p>
                  </a:txBody>
                  <a:tcPr>
                    <a:solidFill>
                      <a:srgbClr val="DDE8F5"/>
                    </a:solidFill>
                  </a:tcPr>
                </a:tc>
                <a:tc>
                  <a:txBody>
                    <a:bodyPr/>
                    <a:lstStyle/>
                    <a:p>
                      <a:pPr algn="ctr"/>
                      <a:r>
                        <a:rPr sz="800" b="1" i="0">
                          <a:solidFill>
                            <a:srgbClr val="1B3A6B"/>
                          </a:solidFill>
                          <a:latin typeface="Calibri"/>
                        </a:rPr>
                        <a:t>33,5x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55,0 %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22,1x</a:t>
                      </a:r>
                    </a:p>
                  </a:txBody>
                  <a:tcPr>
                    <a:solidFill>
                      <a:srgbClr val="F7F8FA"/>
                    </a:solidFill>
                  </a:tcPr>
                </a:tc>
                <a:tc>
                  <a:txBody>
                    <a:bodyPr/>
                    <a:lstStyle/>
                    <a:p>
                      <a:pPr algn="ctr"/>
                      <a:r>
                        <a:rPr sz="800" b="0" i="0">
                          <a:solidFill>
                            <a:srgbClr val="0D0D0D"/>
                          </a:solidFill>
                          <a:latin typeface="Calibri"/>
                        </a:rPr>
                        <a:t>9,5x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8,5x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40,0 %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1 300,0</a:t>
                      </a:r>
                    </a:p>
                  </a:txBody>
                  <a:tcPr>
                    <a:solidFill>
                      <a:srgbClr val="F7F8FA"/>
                    </a:solidFill>
                  </a:tcPr>
                </a:tc>
                <a:tc>
                  <a:txBody>
                    <a:bodyPr/>
                    <a:lstStyle/>
                    <a:p>
                      <a:pPr algn="ctr"/>
                      <a:r>
                        <a:rPr sz="800" b="0" i="0">
                          <a:solidFill>
                            <a:srgbClr val="0D0D0D"/>
                          </a:solidFill>
                          <a:latin typeface="Calibri"/>
                        </a:rPr>
                        <a:t>18,5x</a:t>
                      </a:r>
                    </a:p>
                  </a:txBody>
                  <a:tcPr>
                    <a:solidFill>
                      <a:srgbClr val="F7F8FA"/>
                    </a:solidFill>
                  </a:tcPr>
                </a:tc>
                <a:tc>
                  <a:txBody>
                    <a:bodyPr/>
                    <a:lstStyle/>
                    <a:p>
                      <a:pPr algn="ctr"/>
                      <a:r>
                        <a:rPr sz="800" b="0" i="0">
                          <a:solidFill>
                            <a:srgbClr val="0D0D0D"/>
                          </a:solidFill>
                          <a:latin typeface="Calibri"/>
                        </a:rPr>
                        <a:t>10,2x</a:t>
                      </a:r>
                    </a:p>
                  </a:txBody>
                  <a:tcPr>
                    <a:solidFill>
                      <a:srgbClr val="F7F8FA"/>
                    </a:solidFill>
                  </a:tcPr>
                </a:tc>
                <a:tc>
                  <a:txBody>
                    <a:bodyPr/>
                    <a:lstStyle/>
                    <a:p>
                      <a:pPr algn="ctr"/>
                      <a:r>
                        <a:rPr sz="800" b="0" i="0">
                          <a:solidFill>
                            <a:srgbClr val="0D0D0D"/>
                          </a:solidFill>
                          <a:latin typeface="Calibri"/>
                        </a:rPr>
                        <a:t>32,1x</a:t>
                      </a:r>
                    </a:p>
                  </a:txBody>
                  <a:tcPr>
                    <a:solidFill>
                      <a:srgbClr val="F7F8FA"/>
                    </a:solidFill>
                  </a:tcPr>
                </a:tc>
                <a:tc>
                  <a:txBody>
                    <a:bodyPr/>
                    <a:lstStyle/>
                    <a:p>
                      <a:pPr algn="ctr"/>
                      <a:r>
                        <a:rPr sz="800" b="0" i="0">
                          <a:solidFill>
                            <a:srgbClr val="0D0D0D"/>
                          </a:solidFill>
                          <a:latin typeface="Calibri"/>
                        </a:rPr>
                        <a:t>85,0 %</a:t>
                      </a:r>
                    </a:p>
                  </a:txBody>
                  <a:tcPr>
                    <a:solidFill>
                      <a:srgbClr val="F7F8FA"/>
                    </a:solidFill>
                  </a:tcPr>
                </a:tc>
                <a:tc>
                  <a:txBody>
                    <a:bodyPr/>
                    <a:lstStyle/>
                    <a:p>
                      <a:pPr algn="ctr"/>
                      <a:r>
                        <a:rPr sz="800" b="0" i="0">
                          <a:solidFill>
                            <a:srgbClr val="0D0D0D"/>
                          </a:solidFill>
                          <a:latin typeface="Calibri"/>
                        </a:rPr>
                        <a:t>58,0 %</a:t>
                      </a:r>
                    </a:p>
                  </a:txBody>
                  <a:tcPr>
                    <a:solidFill>
                      <a:srgbClr val="F7F8FA"/>
                    </a:solidFill>
                  </a:tcPr>
                </a:tc>
              </a:tr>
              <a:tr h="251999">
                <a:tc>
                  <a:txBody>
                    <a:bodyPr/>
                    <a:lstStyle/>
                    <a:p>
                      <a:pPr algn="l"/>
                      <a:r>
                        <a:rPr sz="800" b="0" i="0">
                          <a:solidFill>
                            <a:srgbClr val="0D0D0D"/>
                          </a:solidFill>
                          <a:latin typeface="Calibri"/>
                        </a:rPr>
                        <a:t>TSMC</a:t>
                      </a:r>
                    </a:p>
                  </a:txBody>
                  <a:tcPr>
                    <a:solidFill>
                      <a:srgbClr val="FFFFFF"/>
                    </a:solidFill>
                  </a:tcPr>
                </a:tc>
                <a:tc>
                  <a:txBody>
                    <a:bodyPr/>
                    <a:lstStyle/>
                    <a:p>
                      <a:pPr algn="ctr"/>
                      <a:r>
                        <a:rPr sz="750" b="0" i="0">
                          <a:solidFill>
                            <a:srgbClr val="555555"/>
                          </a:solidFill>
                          <a:latin typeface="Calibri"/>
                        </a:rPr>
                        <a:t>TSM</a:t>
                      </a:r>
                    </a:p>
                  </a:txBody>
                  <a:tcPr>
                    <a:solidFill>
                      <a:srgbClr val="FFFFFF"/>
                    </a:solidFill>
                  </a:tcPr>
                </a:tc>
                <a:tc>
                  <a:txBody>
                    <a:bodyPr/>
                    <a:lstStyle/>
                    <a:p>
                      <a:pPr algn="ctr"/>
                      <a:r>
                        <a:rPr sz="800" b="0" i="0">
                          <a:solidFill>
                            <a:srgbClr val="0D0D0D"/>
                          </a:solidFill>
                          <a:latin typeface="Calibri"/>
                        </a:rPr>
                        <a:t>500,0</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11,5x</a:t>
                      </a:r>
                    </a:p>
                  </a:txBody>
                  <a:tcPr>
                    <a:solidFill>
                      <a:srgbClr val="FFFFFF"/>
                    </a:solidFill>
                  </a:tcPr>
                </a:tc>
                <a:tc>
                  <a:txBody>
                    <a:bodyPr/>
                    <a:lstStyle/>
                    <a:p>
                      <a:pPr algn="ctr"/>
                      <a:r>
                        <a:rPr sz="800" b="0" i="0">
                          <a:solidFill>
                            <a:srgbClr val="0D0D0D"/>
                          </a:solidFill>
                          <a:latin typeface="Calibri"/>
                        </a:rPr>
                        <a:t>22,3x</a:t>
                      </a:r>
                    </a:p>
                  </a:txBody>
                  <a:tcPr>
                    <a:solidFill>
                      <a:srgbClr val="FFFFFF"/>
                    </a:solidFill>
                  </a:tcPr>
                </a:tc>
                <a:tc>
                  <a:txBody>
                    <a:bodyPr/>
                    <a:lstStyle/>
                    <a:p>
                      <a:pPr algn="ctr"/>
                      <a:r>
                        <a:rPr sz="800" b="0" i="0">
                          <a:solidFill>
                            <a:srgbClr val="0D0D0D"/>
                          </a:solidFill>
                          <a:latin typeface="Calibri"/>
                        </a:rPr>
                        <a:t>55,0 %</a:t>
                      </a:r>
                    </a:p>
                  </a:txBody>
                  <a:tcPr>
                    <a:solidFill>
                      <a:srgbClr val="FFFFFF"/>
                    </a:solidFill>
                  </a:tcPr>
                </a:tc>
                <a:tc>
                  <a:txBody>
                    <a:bodyPr/>
                    <a:lstStyle/>
                    <a:p>
                      <a:pPr algn="ctr"/>
                      <a:r>
                        <a:rPr sz="800" b="0" i="0">
                          <a:solidFill>
                            <a:srgbClr val="0D0D0D"/>
                          </a:solidFill>
                          <a:latin typeface="Calibri"/>
                        </a:rPr>
                        <a:t>48,0 %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18,5x</a:t>
                      </a:r>
                    </a:p>
                  </a:txBody>
                  <a:tcPr>
                    <a:solidFill>
                      <a:srgbClr val="F7F8FA"/>
                    </a:solidFill>
                  </a:tcPr>
                </a:tc>
                <a:tc>
                  <a:txBody>
                    <a:bodyPr/>
                    <a:lstStyle/>
                    <a:p>
                      <a:pPr algn="ctr"/>
                      <a:r>
                        <a:rPr sz="800" b="1" i="0">
                          <a:solidFill>
                            <a:srgbClr val="0D0D0D"/>
                          </a:solidFill>
                          <a:latin typeface="Calibri"/>
                        </a:rPr>
                        <a:t>10,2x</a:t>
                      </a:r>
                    </a:p>
                  </a:txBody>
                  <a:tcPr>
                    <a:solidFill>
                      <a:srgbClr val="F7F8FA"/>
                    </a:solidFill>
                  </a:tcPr>
                </a:tc>
                <a:tc>
                  <a:txBody>
                    <a:bodyPr/>
                    <a:lstStyle/>
                    <a:p>
                      <a:pPr algn="ctr"/>
                      <a:r>
                        <a:rPr sz="800" b="1" i="0">
                          <a:solidFill>
                            <a:srgbClr val="0D0D0D"/>
                          </a:solidFill>
                          <a:latin typeface="Calibri"/>
                        </a:rPr>
                        <a:t>28,5x</a:t>
                      </a:r>
                    </a:p>
                  </a:txBody>
                  <a:tcPr>
                    <a:solidFill>
                      <a:srgbClr val="F7F8FA"/>
                    </a:solidFill>
                  </a:tcPr>
                </a:tc>
                <a:tc>
                  <a:txBody>
                    <a:bodyPr/>
                    <a:lstStyle/>
                    <a:p>
                      <a:pPr algn="ctr"/>
                      <a:r>
                        <a:rPr sz="800" b="1" i="0">
                          <a:solidFill>
                            <a:srgbClr val="0D0D0D"/>
                          </a:solidFill>
                          <a:latin typeface="Calibri"/>
                        </a:rPr>
                        <a:t>56,0 %</a:t>
                      </a:r>
                    </a:p>
                  </a:txBody>
                  <a:tcPr>
                    <a:solidFill>
                      <a:srgbClr val="F7F8FA"/>
                    </a:solidFill>
                  </a:tcPr>
                </a:tc>
                <a:tc>
                  <a:txBody>
                    <a:bodyPr/>
                    <a:lstStyle/>
                    <a:p>
                      <a:pPr algn="ctr"/>
                      <a:r>
                        <a:rPr sz="800" b="1" i="0">
                          <a:solidFill>
                            <a:srgbClr val="0D0D0D"/>
                          </a:solidFill>
                          <a:latin typeface="Calibri"/>
                        </a:rPr>
                        <a:t>48,0 %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 EV/EBITDA de 26.4x vs une médiane peers de 22.1x (+19%), et un P/E de 33.5x vs 28.5x (+18%). Cette prime est justifiée par des marges supérieures (GM 46.9% vs 38% peers) et une croissance des services plus rapide. Une convergence vers la médiane peers impliquerait un downside de 12% sur l'EV/EBITDA, mais reste peu probable compte tenu de la qualité des actifs.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de 278 USD, soit un upside de 9% vs le cours actuel. Cette valorisation intègre une croissance des services à 12% et une stabilité des marges, suggérant une sous-valorisation structurelle. Un catalyseur clé serait une accélération des revenus services au-delà de 15% YoY.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Surévaluation 52%</a:t>
            </a:r>
          </a:p>
        </p:txBody>
      </p:sp>
      <p:sp>
        <p:nvSpPr>
          <p:cNvPr id="20" name="TextBox 19"/>
          <p:cNvSpPr txBox="1"/>
          <p:nvPr/>
        </p:nvSpPr>
        <p:spPr>
          <a:xfrm>
            <a:off x="475200" y="1537199"/>
            <a:ext cx="2527200" cy="1152000"/>
          </a:xfrm>
          <a:prstGeom prst="rect">
            <a:avLst/>
          </a:prstGeom>
          <a:noFill/>
        </p:spPr>
        <p:txBody>
          <a:bodyPr wrap="square">
            <a:spAutoFit/>
          </a:bodyPr>
          <a:lstStyle/>
          <a:p>
            <a:pPr algn="l"/>
            <a:r>
              <a:rPr sz="800" b="0" i="0">
                <a:solidFill>
                  <a:srgbClr val="555555"/>
                </a:solidFill>
                <a:latin typeface="Calibri"/>
              </a:rPr>
              <a:t>Le P/E à 33,54x surpasse la moyenne sectorielle de 22x, reflétant une surévaluation de 52% sans justification tangible de croissance future. Les marges brutes de 46,9% stagnent depuis 2021, masquant une pression concurrentielle accrue sur les iPhone en Chine où Huawei regagne 12% de parts de marché en 2024.</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Dépendance iPhone 68%</a:t>
            </a:r>
          </a:p>
        </p:txBody>
      </p:sp>
      <p:sp>
        <p:nvSpPr>
          <p:cNvPr id="24" name="TextBox 23"/>
          <p:cNvSpPr txBox="1"/>
          <p:nvPr/>
        </p:nvSpPr>
        <p:spPr>
          <a:xfrm>
            <a:off x="3337200" y="1537199"/>
            <a:ext cx="2527200" cy="1152000"/>
          </a:xfrm>
          <a:prstGeom prst="rect">
            <a:avLst/>
          </a:prstGeom>
          <a:noFill/>
        </p:spPr>
        <p:txBody>
          <a:bodyPr wrap="square">
            <a:spAutoFit/>
          </a:bodyPr>
          <a:lstStyle/>
          <a:p>
            <a:pPr algn="l"/>
            <a:r>
              <a:rPr sz="800" b="0" i="0">
                <a:solidFill>
                  <a:srgbClr val="555555"/>
                </a:solidFill>
                <a:latin typeface="Calibri"/>
              </a:rPr>
              <a:t>La trésorerie nette de 166 milliards USD, soit 5,2x l'EBITDA, génère un coût d'opportunité de 8,3 milliards USD/an à 5%, sans création de valeur actionnariale visible.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Régulations antitrust</a:t>
            </a:r>
          </a:p>
        </p:txBody>
      </p:sp>
      <p:sp>
        <p:nvSpPr>
          <p:cNvPr id="28" name="TextBox 27"/>
          <p:cNvSpPr txBox="1"/>
          <p:nvPr/>
        </p:nvSpPr>
        <p:spPr>
          <a:xfrm>
            <a:off x="6199200" y="1537199"/>
            <a:ext cx="2527200" cy="1152000"/>
          </a:xfrm>
          <a:prstGeom prst="rect">
            <a:avLst/>
          </a:prstGeom>
          <a:noFill/>
        </p:spPr>
        <p:txBody>
          <a:bodyPr wrap="square">
            <a:spAutoFit/>
          </a:bodyPr>
          <a:lstStyle/>
          <a:p>
            <a:pPr algn="l"/>
            <a:r>
              <a:rPr sz="800" b="0" i="0">
                <a:solidFill>
                  <a:srgbClr val="555555"/>
                </a:solidFill>
                <a:latin typeface="Calibri"/>
              </a:rPr>
              <a:t>L'Altman Z-score de 1,69 signale un risque de faillite accru, inférieur au seuil critique de 1,8, avec une dépendance à 68% des revenus à l'iPhone, vulnérable aux cycles économiques et aux régulations antitrust en Europe et aux États-Unis.</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baisse de 15% des ventes iPhone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Guerre des prix sur l'IA générative réduisant les marges services de 200 pb</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Amende antitrust UE de 20 Mds USD sur l'App Store en 2026</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+0,212</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41,4 %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12</a:t>
                      </a:r>
                    </a:p>
                  </a:txBody>
                  <a:tcPr>
                    <a:solidFill>
                      <a:srgbClr val="EAF4EF"/>
                    </a:solidFill>
                  </a:tcPr>
                </a:tc>
                <a:tc>
                  <a:txBody>
                    <a:bodyPr/>
                    <a:lstStyle/>
                    <a:p>
                      <a:pPr algn="ctr"/>
                      <a:r>
                        <a:rPr sz="800" b="0" i="0">
                          <a:solidFill>
                            <a:srgbClr val="0D0D0D"/>
                          </a:solidFill>
                          <a:latin typeface="Calibri"/>
                        </a:rPr>
                        <a:t>+0,399</a:t>
                      </a:r>
                    </a:p>
                  </a:txBody>
                  <a:tcPr>
                    <a:solidFill>
                      <a:srgbClr val="EAF4EF"/>
                    </a:solidFill>
                  </a:tcPr>
                </a:tc>
                <a:tc>
                  <a:txBody>
                    <a:bodyPr/>
                    <a:lstStyle/>
                    <a:p>
                      <a:pPr algn="ctr"/>
                      <a:r>
                        <a:rPr sz="800" b="0" i="0">
                          <a:solidFill>
                            <a:srgbClr val="0D0D0D"/>
                          </a:solidFill>
                          <a:latin typeface="Calibri"/>
                        </a:rPr>
                        <a:t>Croissance services à 12% YoY d'ici 2027, générant 25 Mds USD de revenus additionnels | Expansion géographique en Inde et Brésil avec un potentiel de 15% de croissance CA | Hausse des prix des abonnements services (+5%) boostant les marges…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13</a:t>
                      </a:r>
                    </a:p>
                  </a:txBody>
                  <a:tcPr>
                    <a:solidFill>
                      <a:srgbClr val="FFFFFF"/>
                    </a:solidFill>
                  </a:tcPr>
                </a:tc>
                <a:tc>
                  <a:txBody>
                    <a:bodyPr/>
                    <a:lstStyle/>
                    <a:p>
                      <a:pPr algn="ctr"/>
                      <a:r>
                        <a:rPr sz="800" b="0" i="0">
                          <a:solidFill>
                            <a:srgbClr val="0D0D0D"/>
                          </a:solidFill>
                          <a:latin typeface="Calibri"/>
                        </a:rPr>
                        <a:t>+0,414</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5</a:t>
                      </a:r>
                    </a:p>
                  </a:txBody>
                  <a:tcPr>
                    <a:solidFill>
                      <a:srgbClr val="FAF0EF"/>
                    </a:solidFill>
                  </a:tcPr>
                </a:tc>
                <a:tc>
                  <a:txBody>
                    <a:bodyPr/>
                    <a:lstStyle/>
                    <a:p>
                      <a:pPr algn="ctr"/>
                      <a:r>
                        <a:rPr sz="800" b="0" i="0">
                          <a:solidFill>
                            <a:srgbClr val="0D0D0D"/>
                          </a:solidFill>
                          <a:latin typeface="Calibri"/>
                        </a:rPr>
                        <a:t>+0,187</a:t>
                      </a:r>
                    </a:p>
                  </a:txBody>
                  <a:tcPr>
                    <a:solidFill>
                      <a:srgbClr val="FAF0EF"/>
                    </a:solidFill>
                  </a:tcPr>
                </a:tc>
                <a:tc>
                  <a:txBody>
                    <a:bodyPr/>
                    <a:lstStyle/>
                    <a:p>
                      <a:pPr algn="ctr"/>
                      <a:r>
                        <a:rPr sz="800" b="0" i="0">
                          <a:solidFill>
                            <a:srgbClr val="0D0D0D"/>
                          </a:solidFill>
                          <a:latin typeface="Calibri"/>
                        </a:rPr>
                        <a:t>Régulation antitrust UE/USA pourrait imposer des ouvertures de l'App Store, réduisant les revenus services de 10-15% | Concurrence accrue en IA (Google, Microsoft) menaçant l'avantage différenciation | Ralentissement économique en Chine…</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souligne l’héritage exceptionnel d’Apple à l’occasion de ses 50 ans, mais s’interroge sur sa capacité à maintenir une croissance aussi spectaculaire dans les décennies à venir. Les risques géopolitiques et concurrentiels, notamment autour des satellites et des VPN, assombrissent légèrement le tableau global.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5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26.4x EV/EBITDA vs une médiane peers à 22.1x, soit une prime de 19% justifiée par la qualité des actifs. Le P/E de 33.5x reflète une croissance supérieure mais reste sensible aux anticipations de services.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5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255,92 $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+28,0 %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2834096"/>
            <a:ext cx="498636" cy="106110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2794943"/>
            <a:ext cx="498636" cy="1100256"/>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ROE de 151.9%, malgré un environnement macroéconomique incertain. La valorisation reste élevée mais justifiée par une franchise client captive et une trésorerie abondante de 166 Mds USD.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