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285 $  ·  Upside : +11,5 %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+11,5 %  ·  Bear : 240 $ (-6,1 %)  ·  Bull : 310 $ (+21,3 %)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Apple devrait bénéficier d'un rebond des ventes iPhone en 2026 avec +8% de croissance YoY grâce au cycle de renouvellement des modèles 16/Pro</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Marges premium</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marge brute devrait atteindre 47,5% en 2027 via optimisation des coûts de production et mix produit premium</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Trésorerie nette</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Les services pourraient croître de 18% en 2026 avec une marge EBIT de 38%, tirée par l'expansion internationale et l'augmentation des prix des abonnements.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européenne DMA en 2026 réduisant les marges App Store de 15% à 10% | Impact EBIT -5 milliards USD en 2026 | Horizon 6-12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en services cloud avec AWS et Google Cloud gagnant 5 points de part de marché d'ici 2027 | Baisse des marges services à 65% | Horizon 18 mois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Concurrence services</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Ralentissement économique en Chine (-2% de ventes iPhone en 2026) | CA Asie -4% YoY avec impact net marginel de -150 bps | Horizon 12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26,4x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21,5x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+11,5 %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+0,043</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services comme Apple Music et iCloud). Leader mondial sur les smartphones haut de gamme avec une part de marché de 20% en 2025, l'entreprise mise sur son écosystème fermé pour fidéliser ses 1,5 milliard d'utilisateurs actifs. Ses avantages concurrentiels incluent une marge brute supérieure à 46%, une trésorerie nette de 167 milliards USD et une capacité d'innovation soutenue par des investissements R&amp;D de 26 milliards USD en 2025.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historique générant 80% du CA via vente d'iPhone (55% du CA 2025), Mac, iPad et accessoires. Modèle basé sur des cycles de renouvellement de 2-3 ans avec pricing premium et mix produit favorable (iPhone 15 représente 60% des ventes smartphones en 2025). Clients premium (revenu moyen &gt;100k USD) et fidélisation via écosystème Apple. Croissance portée par l'Asie (25% du CA) et les services intégrés.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en croissance rapide (20% du CA 2025) incluant Apple Music, iCloud, App Store et Apple Pay. Modèle récurrent avec marge brute &gt;70% et taux de rétention &gt;90%. Croissance annuelle de 15% en 2025 portée par l'abonnement à Apple One (12,99 USD/mois) et l'expansion en Chine (30% des abonnés). Services représentent 35% de l'EBIT en 2025.</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3 752,9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255,63 $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26,4x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33,5x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historique générant 80% du CA via vente d'iPhone (55% du CA 2025), Mac, iPad et accessoires. Modèle basé sur des cycles de renouvellement de 2-3 ans avec pricing premium et mix produit favorable (iPhone 15 représente 60% des ventes smartphones en 2025). Clients premium (revenu moyen &gt;100k USD) et fidélisation via écosystème Apple. Croissance portée par l'Asie (25% du CA) et les services intégrés.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en croissance rapide (20% du CA 2025) incluant Apple Music, iCloud, App Store et Apple Pay. Modèle récurrent avec marge brute &gt;70% et taux de rétention &gt;90%. Croissance annuelle de 15% en 2025 portée par l'abonnement à Apple One (12,99 USD/mois) et l'expansion en Chine (30% des abonnés). Services représentent 35% de l'EBIT en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443,5</a:t>
                      </a:r>
                    </a:p>
                  </a:txBody>
                  <a:tcPr>
                    <a:solidFill>
                      <a:srgbClr val="FFFFFF"/>
                    </a:solidFill>
                  </a:tcPr>
                </a:tc>
                <a:tc>
                  <a:txBody>
                    <a:bodyPr/>
                    <a:lstStyle/>
                    <a:p>
                      <a:pPr algn="ctr"/>
                      <a:r>
                        <a:rPr sz="800" b="1" i="0">
                          <a:solidFill>
                            <a:srgbClr val="0D0D0D"/>
                          </a:solidFill>
                          <a:latin typeface="Calibri"/>
                        </a:rPr>
                        <a:t>470,0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+6,6 %</a:t>
                      </a:r>
                    </a:p>
                  </a:txBody>
                  <a:tcPr>
                    <a:solidFill>
                      <a:srgbClr val="F7F8FA"/>
                    </a:solidFill>
                  </a:tcPr>
                </a:tc>
                <a:tc>
                  <a:txBody>
                    <a:bodyPr/>
                    <a:lstStyle/>
                    <a:p>
                      <a:pPr algn="ctr"/>
                      <a:r>
                        <a:rPr sz="750" b="0" i="1">
                          <a:solidFill>
                            <a:srgbClr val="555555"/>
                          </a:solidFill>
                          <a:latin typeface="Calibri"/>
                        </a:rPr>
                        <a:t>+6,0 %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209,3</a:t>
                      </a:r>
                    </a:p>
                  </a:txBody>
                  <a:tcPr>
                    <a:solidFill>
                      <a:srgbClr val="FFFFFF"/>
                    </a:solidFill>
                  </a:tcPr>
                </a:tc>
                <a:tc>
                  <a:txBody>
                    <a:bodyPr/>
                    <a:lstStyle/>
                    <a:p>
                      <a:pPr algn="ctr"/>
                      <a:r>
                        <a:rPr sz="800" b="1" i="0">
                          <a:solidFill>
                            <a:srgbClr val="0D0D0D"/>
                          </a:solidFill>
                          <a:latin typeface="Calibri"/>
                        </a:rPr>
                        <a:t>223,2</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47,2 %</a:t>
                      </a:r>
                    </a:p>
                  </a:txBody>
                  <a:tcPr>
                    <a:solidFill>
                      <a:srgbClr val="F7F8FA"/>
                    </a:solidFill>
                  </a:tcPr>
                </a:tc>
                <a:tc>
                  <a:txBody>
                    <a:bodyPr/>
                    <a:lstStyle/>
                    <a:p>
                      <a:pPr algn="ctr"/>
                      <a:r>
                        <a:rPr sz="750" b="0" i="1">
                          <a:solidFill>
                            <a:srgbClr val="555555"/>
                          </a:solidFill>
                          <a:latin typeface="Calibri"/>
                        </a:rPr>
                        <a:t>47,5 %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160,0</a:t>
                      </a:r>
                    </a:p>
                  </a:txBody>
                  <a:tcPr>
                    <a:solidFill>
                      <a:srgbClr val="FFFFFF"/>
                    </a:solidFill>
                  </a:tcPr>
                </a:tc>
                <a:tc>
                  <a:txBody>
                    <a:bodyPr/>
                    <a:lstStyle/>
                    <a:p>
                      <a:pPr algn="ctr"/>
                      <a:r>
                        <a:rPr sz="800" b="1" i="0">
                          <a:solidFill>
                            <a:srgbClr val="0D0D0D"/>
                          </a:solidFill>
                          <a:latin typeface="Calibri"/>
                        </a:rPr>
                        <a:t>170,0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36,1 %</a:t>
                      </a:r>
                    </a:p>
                  </a:txBody>
                  <a:tcPr>
                    <a:solidFill>
                      <a:srgbClr val="F7F8FA"/>
                    </a:solidFill>
                  </a:tcPr>
                </a:tc>
                <a:tc>
                  <a:txBody>
                    <a:bodyPr/>
                    <a:lstStyle/>
                    <a:p>
                      <a:pPr algn="ctr"/>
                      <a:r>
                        <a:rPr sz="750" b="0" i="1">
                          <a:solidFill>
                            <a:srgbClr val="555555"/>
                          </a:solidFill>
                          <a:latin typeface="Calibri"/>
                        </a:rPr>
                        <a:t>36,2 %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115,0</a:t>
                      </a:r>
                    </a:p>
                  </a:txBody>
                  <a:tcPr>
                    <a:solidFill>
                      <a:srgbClr val="FFFFFF"/>
                    </a:solidFill>
                  </a:tcPr>
                </a:tc>
                <a:tc>
                  <a:txBody>
                    <a:bodyPr/>
                    <a:lstStyle/>
                    <a:p>
                      <a:pPr algn="ctr"/>
                      <a:r>
                        <a:rPr sz="800" b="1" i="0">
                          <a:solidFill>
                            <a:srgbClr val="0D0D0D"/>
                          </a:solidFill>
                          <a:latin typeface="Calibri"/>
                        </a:rPr>
                        <a:t>122,0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26,0 %</a:t>
                      </a:r>
                    </a:p>
                  </a:txBody>
                  <a:tcPr>
                    <a:solidFill>
                      <a:srgbClr val="F7F8FA"/>
                    </a:solidFill>
                  </a:tcPr>
                </a:tc>
                <a:tc>
                  <a:txBody>
                    <a:bodyPr/>
                    <a:lstStyle/>
                    <a:p>
                      <a:pPr algn="ctr"/>
                      <a:r>
                        <a:rPr sz="750" b="0" i="1">
                          <a:solidFill>
                            <a:srgbClr val="555555"/>
                          </a:solidFill>
                          <a:latin typeface="Calibri"/>
                        </a:rPr>
                        <a:t>26,0 %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de 6,4% en 2025 portée par les services (+12%) compensant un ralentissement des ventes iPhone (+3%). Les marges brute/EBITDA/nette atteignent des records historiques grâce au mix produit premium et à la discipline opérationnelle. La trésorerie nette de 167 milliards USD renforce la flexibilité financière pour les rachats d'actions et investissements R&amp;D.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de 6,4% en 2025 portée par les services (+12%) compensant un ralentissement des ventes iPhone (+3%). Les marges brute/EBITDA/nette atteignent des records historiques grâce au mix produit premium et à la discipline opérationnelle. La trésorerie nette de 167 milliards USD renforce la flexibilité financière pour les rachats d'actions et investissements R&amp;D.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 (46,9%), EBITDA (34,8%) et nette (26,9%) ont progressé de manière structurelle depuis 2022, passant de 43,3% à 46,9% pour la marge brute. Cette amélioration reflète l'optimisation des coûts de production (iPhone 15 à 400 USD de coût vs 450 USD en 2022) et le mix produit favorable (iPhone Pro à 1 100 USD de prix moyen). La durabilité de ces niveaux est renforcée par le pricing power et la fidélisation client.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255,63 $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310 $</a:t>
                      </a:r>
                    </a:p>
                  </a:txBody>
                  <a:tcPr>
                    <a:solidFill>
                      <a:srgbClr val="EAF4EF"/>
                    </a:solidFill>
                  </a:tcPr>
                </a:tc>
              </a:tr>
              <a:tr h="342900">
                <a:tc>
                  <a:txBody>
                    <a:bodyPr/>
                    <a:lstStyle/>
                    <a:p>
                      <a:pPr algn="ctr"/>
                      <a:r>
                        <a:rPr sz="1200" b="1" i="0">
                          <a:solidFill>
                            <a:srgbClr val="A82020"/>
                          </a:solidFill>
                          <a:latin typeface="Calibri"/>
                        </a:rPr>
                        <a:t>-6,1 %</a:t>
                      </a:r>
                    </a:p>
                  </a:txBody>
                  <a:tcPr>
                    <a:solidFill>
                      <a:srgbClr val="FAF0EF"/>
                    </a:solidFill>
                  </a:tcPr>
                </a:tc>
                <a:tc>
                  <a:txBody>
                    <a:bodyPr/>
                    <a:lstStyle/>
                    <a:p>
                      <a:pPr algn="ctr"/>
                      <a:r>
                        <a:rPr sz="1200" b="1" i="0">
                          <a:solidFill>
                            <a:srgbClr val="2E5FA3"/>
                          </a:solidFill>
                          <a:latin typeface="Calibri"/>
                        </a:rPr>
                        <a:t>+11,5 %</a:t>
                      </a:r>
                    </a:p>
                  </a:txBody>
                  <a:tcPr>
                    <a:solidFill>
                      <a:srgbClr val="EEF3FA"/>
                    </a:solidFill>
                  </a:tcPr>
                </a:tc>
                <a:tc>
                  <a:txBody>
                    <a:bodyPr/>
                    <a:lstStyle/>
                    <a:p>
                      <a:pPr algn="ctr"/>
                      <a:r>
                        <a:rPr sz="1200" b="1" i="0">
                          <a:solidFill>
                            <a:srgbClr val="1A7A4A"/>
                          </a:solidFill>
                          <a:latin typeface="Calibri"/>
                        </a:rPr>
                        <a:t>+21,3 %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une TGR de 3,0%, le DCF implicite suggère un prix de 285 USD (base), soit un upside de 11,5% vs cours actuel. Cette valorisation intègre une croissance des services à 15% et un rebond des ventes iPhone à +6% en 2026. Le risque principal réside dans une exécution sous-optimale des nouveaux produits (iPhone 17) prévue pour septembre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3 752,9</a:t>
                      </a:r>
                    </a:p>
                  </a:txBody>
                  <a:tcPr>
                    <a:solidFill>
                      <a:srgbClr val="DDE8F5"/>
                    </a:solidFill>
                  </a:tcPr>
                </a:tc>
                <a:tc>
                  <a:txBody>
                    <a:bodyPr/>
                    <a:lstStyle/>
                    <a:p>
                      <a:pPr algn="ctr"/>
                      <a:r>
                        <a:rPr sz="800" b="1" i="0">
                          <a:solidFill>
                            <a:srgbClr val="1B3A6B"/>
                          </a:solidFill>
                          <a:latin typeface="Calibri"/>
                        </a:rPr>
                        <a:t>26,4x</a:t>
                      </a:r>
                    </a:p>
                  </a:txBody>
                  <a:tcPr>
                    <a:solidFill>
                      <a:srgbClr val="DDE8F5"/>
                    </a:solidFill>
                  </a:tcPr>
                </a:tc>
                <a:tc>
                  <a:txBody>
                    <a:bodyPr/>
                    <a:lstStyle/>
                    <a:p>
                      <a:pPr algn="ctr"/>
                      <a:r>
                        <a:rPr sz="800" b="1" i="0">
                          <a:solidFill>
                            <a:srgbClr val="1B3A6B"/>
                          </a:solidFill>
                          <a:latin typeface="Calibri"/>
                        </a:rPr>
                        <a:t>9,2x</a:t>
                      </a:r>
                    </a:p>
                  </a:txBody>
                  <a:tcPr>
                    <a:solidFill>
                      <a:srgbClr val="DDE8F5"/>
                    </a:solidFill>
                  </a:tcPr>
                </a:tc>
                <a:tc>
                  <a:txBody>
                    <a:bodyPr/>
                    <a:lstStyle/>
                    <a:p>
                      <a:pPr algn="ctr"/>
                      <a:r>
                        <a:rPr sz="800" b="1" i="0">
                          <a:solidFill>
                            <a:srgbClr val="1B3A6B"/>
                          </a:solidFill>
                          <a:latin typeface="Calibri"/>
                        </a:rPr>
                        <a:t>33,5x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3 100,0</a:t>
                      </a:r>
                    </a:p>
                  </a:txBody>
                  <a:tcPr>
                    <a:solidFill>
                      <a:srgbClr val="FFFFFF"/>
                    </a:solidFill>
                  </a:tcPr>
                </a:tc>
                <a:tc>
                  <a:txBody>
                    <a:bodyPr/>
                    <a:lstStyle/>
                    <a:p>
                      <a:pPr algn="ctr"/>
                      <a:r>
                        <a:rPr sz="800" b="0" i="0">
                          <a:solidFill>
                            <a:srgbClr val="0D0D0D"/>
                          </a:solidFill>
                          <a:latin typeface="Calibri"/>
                        </a:rPr>
                        <a:t>25,1x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38,2x</a:t>
                      </a:r>
                    </a:p>
                  </a:txBody>
                  <a:tcPr>
                    <a:solidFill>
                      <a:srgbClr val="FFFFFF"/>
                    </a:solidFill>
                  </a:tcPr>
                </a:tc>
                <a:tc>
                  <a:txBody>
                    <a:bodyPr/>
                    <a:lstStyle/>
                    <a:p>
                      <a:pPr algn="ctr"/>
                      <a:r>
                        <a:rPr sz="800" b="0" i="0">
                          <a:solidFill>
                            <a:srgbClr val="0D0D0D"/>
                          </a:solidFill>
                          <a:latin typeface="Calibri"/>
                        </a:rPr>
                        <a:t>6800,0 %</a:t>
                      </a:r>
                    </a:p>
                  </a:txBody>
                  <a:tcPr>
                    <a:solidFill>
                      <a:srgbClr val="FFFFFF"/>
                    </a:solidFill>
                  </a:tcPr>
                </a:tc>
                <a:tc>
                  <a:txBody>
                    <a:bodyPr/>
                    <a:lstStyle/>
                    <a:p>
                      <a:pPr algn="ctr"/>
                      <a:r>
                        <a:rPr sz="800" b="0" i="0">
                          <a:solidFill>
                            <a:srgbClr val="0D0D0D"/>
                          </a:solidFill>
                          <a:latin typeface="Calibri"/>
                        </a:rPr>
                        <a:t>5200,0 %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2 000,0</a:t>
                      </a:r>
                    </a:p>
                  </a:txBody>
                  <a:tcPr>
                    <a:solidFill>
                      <a:srgbClr val="F7F8FA"/>
                    </a:solidFill>
                  </a:tcPr>
                </a:tc>
                <a:tc>
                  <a:txBody>
                    <a:bodyPr/>
                    <a:lstStyle/>
                    <a:p>
                      <a:pPr algn="ctr"/>
                      <a:r>
                        <a:rPr sz="800" b="0" i="0">
                          <a:solidFill>
                            <a:srgbClr val="0D0D0D"/>
                          </a:solidFill>
                          <a:latin typeface="Calibri"/>
                        </a:rPr>
                        <a:t>21,5x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26,8x</a:t>
                      </a:r>
                    </a:p>
                  </a:txBody>
                  <a:tcPr>
                    <a:solidFill>
                      <a:srgbClr val="F7F8FA"/>
                    </a:solidFill>
                  </a:tcPr>
                </a:tc>
                <a:tc>
                  <a:txBody>
                    <a:bodyPr/>
                    <a:lstStyle/>
                    <a:p>
                      <a:pPr algn="ctr"/>
                      <a:r>
                        <a:rPr sz="800" b="0" i="0">
                          <a:solidFill>
                            <a:srgbClr val="0D0D0D"/>
                          </a:solidFill>
                          <a:latin typeface="Calibri"/>
                        </a:rPr>
                        <a:t>5600,0 %</a:t>
                      </a:r>
                    </a:p>
                  </a:txBody>
                  <a:tcPr>
                    <a:solidFill>
                      <a:srgbClr val="F7F8FA"/>
                    </a:solidFill>
                  </a:tcPr>
                </a:tc>
                <a:tc>
                  <a:txBody>
                    <a:bodyPr/>
                    <a:lstStyle/>
                    <a:p>
                      <a:pPr algn="ctr"/>
                      <a:r>
                        <a:rPr sz="800" b="0" i="0">
                          <a:solidFill>
                            <a:srgbClr val="0D0D0D"/>
                          </a:solidFill>
                          <a:latin typeface="Calibri"/>
                        </a:rPr>
                        <a:t>3500,0 %</a:t>
                      </a:r>
                    </a:p>
                  </a:txBody>
                  <a:tcPr>
                    <a:solidFill>
                      <a:srgbClr val="F7F8FA"/>
                    </a:solidFill>
                  </a:tcPr>
                </a:tc>
              </a:tr>
              <a:tr h="251999">
                <a:tc>
                  <a:txBody>
                    <a:bodyPr/>
                    <a:lstStyle/>
                    <a:p>
                      <a:pPr algn="l"/>
                      <a:r>
                        <a:rPr sz="800" b="0" i="0">
                          <a:solidFill>
                            <a:srgbClr val="0D0D0D"/>
                          </a:solidFill>
                          <a:latin typeface="Calibri"/>
                        </a:rPr>
                        <a:t>Meta Platforms</a:t>
                      </a:r>
                    </a:p>
                  </a:txBody>
                  <a:tcPr>
                    <a:solidFill>
                      <a:srgbClr val="FFFFFF"/>
                    </a:solidFill>
                  </a:tcPr>
                </a:tc>
                <a:tc>
                  <a:txBody>
                    <a:bodyPr/>
                    <a:lstStyle/>
                    <a:p>
                      <a:pPr algn="ctr"/>
                      <a:r>
                        <a:rPr sz="750" b="0" i="0">
                          <a:solidFill>
                            <a:srgbClr val="555555"/>
                          </a:solidFill>
                          <a:latin typeface="Calibri"/>
                        </a:rPr>
                        <a:t>META</a:t>
                      </a:r>
                    </a:p>
                  </a:txBody>
                  <a:tcPr>
                    <a:solidFill>
                      <a:srgbClr val="FFFFFF"/>
                    </a:solidFill>
                  </a:tcPr>
                </a:tc>
                <a:tc>
                  <a:txBody>
                    <a:bodyPr/>
                    <a:lstStyle/>
                    <a:p>
                      <a:pPr algn="ctr"/>
                      <a:r>
                        <a:rPr sz="800" b="0" i="0">
                          <a:solidFill>
                            <a:srgbClr val="0D0D0D"/>
                          </a:solidFill>
                          <a:latin typeface="Calibri"/>
                        </a:rPr>
                        <a:t>1 400,0</a:t>
                      </a:r>
                    </a:p>
                  </a:txBody>
                  <a:tcPr>
                    <a:solidFill>
                      <a:srgbClr val="FFFFFF"/>
                    </a:solidFill>
                  </a:tcPr>
                </a:tc>
                <a:tc>
                  <a:txBody>
                    <a:bodyPr/>
                    <a:lstStyle/>
                    <a:p>
                      <a:pPr algn="ctr"/>
                      <a:r>
                        <a:rPr sz="800" b="0" i="0">
                          <a:solidFill>
                            <a:srgbClr val="0D0D0D"/>
                          </a:solidFill>
                          <a:latin typeface="Calibri"/>
                        </a:rPr>
                        <a:t>18,2x</a:t>
                      </a:r>
                    </a:p>
                  </a:txBody>
                  <a:tcPr>
                    <a:solidFill>
                      <a:srgbClr val="FFFFFF"/>
                    </a:solidFill>
                  </a:tcPr>
                </a:tc>
                <a:tc>
                  <a:txBody>
                    <a:bodyPr/>
                    <a:lstStyle/>
                    <a:p>
                      <a:pPr algn="ctr"/>
                      <a:r>
                        <a:rPr sz="800" b="0" i="0">
                          <a:solidFill>
                            <a:srgbClr val="0D0D0D"/>
                          </a:solidFill>
                          <a:latin typeface="Calibri"/>
                        </a:rPr>
                        <a:t>10,2x</a:t>
                      </a:r>
                    </a:p>
                  </a:txBody>
                  <a:tcPr>
                    <a:solidFill>
                      <a:srgbClr val="FFFFFF"/>
                    </a:solidFill>
                  </a:tcPr>
                </a:tc>
                <a:tc>
                  <a:txBody>
                    <a:bodyPr/>
                    <a:lstStyle/>
                    <a:p>
                      <a:pPr algn="ctr"/>
                      <a:r>
                        <a:rPr sz="800" b="0" i="0">
                          <a:solidFill>
                            <a:srgbClr val="0D0D0D"/>
                          </a:solidFill>
                          <a:latin typeface="Calibri"/>
                        </a:rPr>
                        <a:t>28,5x</a:t>
                      </a:r>
                    </a:p>
                  </a:txBody>
                  <a:tcPr>
                    <a:solidFill>
                      <a:srgbClr val="FFFFFF"/>
                    </a:solidFill>
                  </a:tcPr>
                </a:tc>
                <a:tc>
                  <a:txBody>
                    <a:bodyPr/>
                    <a:lstStyle/>
                    <a:p>
                      <a:pPr algn="ctr"/>
                      <a:r>
                        <a:rPr sz="800" b="0" i="0">
                          <a:solidFill>
                            <a:srgbClr val="0D0D0D"/>
                          </a:solidFill>
                          <a:latin typeface="Calibri"/>
                        </a:rPr>
                        <a:t>8500,0 %</a:t>
                      </a:r>
                    </a:p>
                  </a:txBody>
                  <a:tcPr>
                    <a:solidFill>
                      <a:srgbClr val="FFFFFF"/>
                    </a:solidFill>
                  </a:tcPr>
                </a:tc>
                <a:tc>
                  <a:txBody>
                    <a:bodyPr/>
                    <a:lstStyle/>
                    <a:p>
                      <a:pPr algn="ctr"/>
                      <a:r>
                        <a:rPr sz="800" b="0" i="0">
                          <a:solidFill>
                            <a:srgbClr val="0D0D0D"/>
                          </a:solidFill>
                          <a:latin typeface="Calibri"/>
                        </a:rPr>
                        <a:t>5500,0 %</a:t>
                      </a:r>
                    </a:p>
                  </a:txBody>
                  <a:tcPr>
                    <a:solidFill>
                      <a:srgbClr val="FFFFFF"/>
                    </a:solidFill>
                  </a:tcPr>
                </a:tc>
              </a:tr>
              <a:tr h="251999">
                <a:tc>
                  <a:txBody>
                    <a:bodyPr/>
                    <a:lstStyle/>
                    <a:p>
                      <a:pPr algn="l"/>
                      <a:r>
                        <a:rPr sz="800" b="0" i="0">
                          <a:solidFill>
                            <a:srgbClr val="0D0D0D"/>
                          </a:solidFill>
                          <a:latin typeface="Calibri"/>
                        </a:rPr>
                        <a:t>Nvidia</a:t>
                      </a:r>
                    </a:p>
                  </a:txBody>
                  <a:tcPr>
                    <a:solidFill>
                      <a:srgbClr val="F7F8FA"/>
                    </a:solidFill>
                  </a:tcPr>
                </a:tc>
                <a:tc>
                  <a:txBody>
                    <a:bodyPr/>
                    <a:lstStyle/>
                    <a:p>
                      <a:pPr algn="ctr"/>
                      <a:r>
                        <a:rPr sz="750" b="0" i="0">
                          <a:solidFill>
                            <a:srgbClr val="555555"/>
                          </a:solidFill>
                          <a:latin typeface="Calibri"/>
                        </a:rPr>
                        <a:t>NVDA</a:t>
                      </a:r>
                    </a:p>
                  </a:txBody>
                  <a:tcPr>
                    <a:solidFill>
                      <a:srgbClr val="F7F8FA"/>
                    </a:solidFill>
                  </a:tcPr>
                </a:tc>
                <a:tc>
                  <a:txBody>
                    <a:bodyPr/>
                    <a:lstStyle/>
                    <a:p>
                      <a:pPr algn="ctr"/>
                      <a:r>
                        <a:rPr sz="800" b="0" i="0">
                          <a:solidFill>
                            <a:srgbClr val="0D0D0D"/>
                          </a:solidFill>
                          <a:latin typeface="Calibri"/>
                        </a:rPr>
                        <a:t>2 200,0</a:t>
                      </a:r>
                    </a:p>
                  </a:txBody>
                  <a:tcPr>
                    <a:solidFill>
                      <a:srgbClr val="F7F8FA"/>
                    </a:solidFill>
                  </a:tcPr>
                </a:tc>
                <a:tc>
                  <a:txBody>
                    <a:bodyPr/>
                    <a:lstStyle/>
                    <a:p>
                      <a:pPr algn="ctr"/>
                      <a:r>
                        <a:rPr sz="800" b="0" i="0">
                          <a:solidFill>
                            <a:srgbClr val="0D0D0D"/>
                          </a:solidFill>
                          <a:latin typeface="Calibri"/>
                        </a:rPr>
                        <a:t>50,3x</a:t>
                      </a:r>
                    </a:p>
                  </a:txBody>
                  <a:tcPr>
                    <a:solidFill>
                      <a:srgbClr val="F7F8FA"/>
                    </a:solidFill>
                  </a:tcPr>
                </a:tc>
                <a:tc>
                  <a:txBody>
                    <a:bodyPr/>
                    <a:lstStyle/>
                    <a:p>
                      <a:pPr algn="ctr"/>
                      <a:r>
                        <a:rPr sz="800" b="0" i="0">
                          <a:solidFill>
                            <a:srgbClr val="0D0D0D"/>
                          </a:solidFill>
                          <a:latin typeface="Calibri"/>
                        </a:rPr>
                        <a:t>22,1x</a:t>
                      </a:r>
                    </a:p>
                  </a:txBody>
                  <a:tcPr>
                    <a:solidFill>
                      <a:srgbClr val="F7F8FA"/>
                    </a:solidFill>
                  </a:tcPr>
                </a:tc>
                <a:tc>
                  <a:txBody>
                    <a:bodyPr/>
                    <a:lstStyle/>
                    <a:p>
                      <a:pPr algn="ctr"/>
                      <a:r>
                        <a:rPr sz="800" b="0" i="0">
                          <a:solidFill>
                            <a:srgbClr val="0D0D0D"/>
                          </a:solidFill>
                          <a:latin typeface="Calibri"/>
                        </a:rPr>
                        <a:t>45,6x</a:t>
                      </a:r>
                    </a:p>
                  </a:txBody>
                  <a:tcPr>
                    <a:solidFill>
                      <a:srgbClr val="F7F8FA"/>
                    </a:solidFill>
                  </a:tcPr>
                </a:tc>
                <a:tc>
                  <a:txBody>
                    <a:bodyPr/>
                    <a:lstStyle/>
                    <a:p>
                      <a:pPr algn="ctr"/>
                      <a:r>
                        <a:rPr sz="800" b="0" i="0">
                          <a:solidFill>
                            <a:srgbClr val="0D0D0D"/>
                          </a:solidFill>
                          <a:latin typeface="Calibri"/>
                        </a:rPr>
                        <a:t>7500,0 %</a:t>
                      </a:r>
                    </a:p>
                  </a:txBody>
                  <a:tcPr>
                    <a:solidFill>
                      <a:srgbClr val="F7F8FA"/>
                    </a:solidFill>
                  </a:tcPr>
                </a:tc>
                <a:tc>
                  <a:txBody>
                    <a:bodyPr/>
                    <a:lstStyle/>
                    <a:p>
                      <a:pPr algn="ctr"/>
                      <a:r>
                        <a:rPr sz="800" b="0" i="0">
                          <a:solidFill>
                            <a:srgbClr val="0D0D0D"/>
                          </a:solidFill>
                          <a:latin typeface="Calibri"/>
                        </a:rPr>
                        <a:t>6500,0 %</a:t>
                      </a:r>
                    </a:p>
                  </a:txBody>
                  <a:tcPr>
                    <a:solidFill>
                      <a:srgbClr val="F7F8FA"/>
                    </a:solidFill>
                  </a:tcPr>
                </a:tc>
              </a:tr>
              <a:tr h="251999">
                <a:tc>
                  <a:txBody>
                    <a:bodyPr/>
                    <a:lstStyle/>
                    <a:p>
                      <a:pPr algn="l"/>
                      <a:r>
                        <a:rPr sz="800" b="0" i="0">
                          <a:solidFill>
                            <a:srgbClr val="0D0D0D"/>
                          </a:solidFill>
                          <a:latin typeface="Calibri"/>
                        </a:rPr>
                        <a:t>TSMC</a:t>
                      </a:r>
                    </a:p>
                  </a:txBody>
                  <a:tcPr>
                    <a:solidFill>
                      <a:srgbClr val="FFFFFF"/>
                    </a:solidFill>
                  </a:tcPr>
                </a:tc>
                <a:tc>
                  <a:txBody>
                    <a:bodyPr/>
                    <a:lstStyle/>
                    <a:p>
                      <a:pPr algn="ctr"/>
                      <a:r>
                        <a:rPr sz="750" b="0" i="0">
                          <a:solidFill>
                            <a:srgbClr val="555555"/>
                          </a:solidFill>
                          <a:latin typeface="Calibri"/>
                        </a:rPr>
                        <a:t>TSM</a:t>
                      </a:r>
                    </a:p>
                  </a:txBody>
                  <a:tcPr>
                    <a:solidFill>
                      <a:srgbClr val="FFFFFF"/>
                    </a:solidFill>
                  </a:tcPr>
                </a:tc>
                <a:tc>
                  <a:txBody>
                    <a:bodyPr/>
                    <a:lstStyle/>
                    <a:p>
                      <a:pPr algn="ctr"/>
                      <a:r>
                        <a:rPr sz="800" b="0" i="0">
                          <a:solidFill>
                            <a:srgbClr val="0D0D0D"/>
                          </a:solidFill>
                          <a:latin typeface="Calibri"/>
                        </a:rPr>
                        <a:t>600,0</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7,8x</a:t>
                      </a:r>
                    </a:p>
                  </a:txBody>
                  <a:tcPr>
                    <a:solidFill>
                      <a:srgbClr val="FFFFFF"/>
                    </a:solidFill>
                  </a:tcPr>
                </a:tc>
                <a:tc>
                  <a:txBody>
                    <a:bodyPr/>
                    <a:lstStyle/>
                    <a:p>
                      <a:pPr algn="ctr"/>
                      <a:r>
                        <a:rPr sz="800" b="0" i="0">
                          <a:solidFill>
                            <a:srgbClr val="0D0D0D"/>
                          </a:solidFill>
                          <a:latin typeface="Calibri"/>
                        </a:rPr>
                        <a:t>22,1x</a:t>
                      </a:r>
                    </a:p>
                  </a:txBody>
                  <a:tcPr>
                    <a:solidFill>
                      <a:srgbClr val="FFFFFF"/>
                    </a:solidFill>
                  </a:tcPr>
                </a:tc>
                <a:tc>
                  <a:txBody>
                    <a:bodyPr/>
                    <a:lstStyle/>
                    <a:p>
                      <a:pPr algn="ctr"/>
                      <a:r>
                        <a:rPr sz="800" b="0" i="0">
                          <a:solidFill>
                            <a:srgbClr val="0D0D0D"/>
                          </a:solidFill>
                          <a:latin typeface="Calibri"/>
                        </a:rPr>
                        <a:t>5000,0 %</a:t>
                      </a:r>
                    </a:p>
                  </a:txBody>
                  <a:tcPr>
                    <a:solidFill>
                      <a:srgbClr val="FFFFFF"/>
                    </a:solidFill>
                  </a:tcPr>
                </a:tc>
                <a:tc>
                  <a:txBody>
                    <a:bodyPr/>
                    <a:lstStyle/>
                    <a:p>
                      <a:pPr algn="ctr"/>
                      <a:r>
                        <a:rPr sz="800" b="0" i="0">
                          <a:solidFill>
                            <a:srgbClr val="0D0D0D"/>
                          </a:solidFill>
                          <a:latin typeface="Calibri"/>
                        </a:rPr>
                        <a:t>4500,0 %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21,5x</a:t>
                      </a:r>
                    </a:p>
                  </a:txBody>
                  <a:tcPr>
                    <a:solidFill>
                      <a:srgbClr val="F7F8FA"/>
                    </a:solidFill>
                  </a:tcPr>
                </a:tc>
                <a:tc>
                  <a:txBody>
                    <a:bodyPr/>
                    <a:lstStyle/>
                    <a:p>
                      <a:pPr algn="ctr"/>
                      <a:r>
                        <a:rPr sz="800" b="1" i="0">
                          <a:solidFill>
                            <a:srgbClr val="0D0D0D"/>
                          </a:solidFill>
                          <a:latin typeface="Calibri"/>
                        </a:rPr>
                        <a:t>10,2x</a:t>
                      </a:r>
                    </a:p>
                  </a:txBody>
                  <a:tcPr>
                    <a:solidFill>
                      <a:srgbClr val="F7F8FA"/>
                    </a:solidFill>
                  </a:tcPr>
                </a:tc>
                <a:tc>
                  <a:txBody>
                    <a:bodyPr/>
                    <a:lstStyle/>
                    <a:p>
                      <a:pPr algn="ctr"/>
                      <a:r>
                        <a:rPr sz="800" b="1" i="0">
                          <a:solidFill>
                            <a:srgbClr val="0D0D0D"/>
                          </a:solidFill>
                          <a:latin typeface="Calibri"/>
                        </a:rPr>
                        <a:t>28,5x</a:t>
                      </a:r>
                    </a:p>
                  </a:txBody>
                  <a:tcPr>
                    <a:solidFill>
                      <a:srgbClr val="F7F8FA"/>
                    </a:solidFill>
                  </a:tcPr>
                </a:tc>
                <a:tc>
                  <a:txBody>
                    <a:bodyPr/>
                    <a:lstStyle/>
                    <a:p>
                      <a:pPr algn="ctr"/>
                      <a:r>
                        <a:rPr sz="800" b="1" i="0">
                          <a:solidFill>
                            <a:srgbClr val="0D0D0D"/>
                          </a:solidFill>
                          <a:latin typeface="Calibri"/>
                        </a:rPr>
                        <a:t>6800,0 %</a:t>
                      </a:r>
                    </a:p>
                  </a:txBody>
                  <a:tcPr>
                    <a:solidFill>
                      <a:srgbClr val="F7F8FA"/>
                    </a:solidFill>
                  </a:tcPr>
                </a:tc>
                <a:tc>
                  <a:txBody>
                    <a:bodyPr/>
                    <a:lstStyle/>
                    <a:p>
                      <a:pPr algn="ctr"/>
                      <a:r>
                        <a:rPr sz="800" b="1" i="0">
                          <a:solidFill>
                            <a:srgbClr val="0D0D0D"/>
                          </a:solidFill>
                          <a:latin typeface="Calibri"/>
                        </a:rPr>
                        <a:t>5200,0 %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se traite à 33,5x P/E vs 28,2x pour la médiane peers (Microsoft, Alphabet, Meta, Nvidia, TSMC). La prime de 19% est justifiée par une croissance des services supérieure (+15% vs +10% peers) et une marge brute supérieure de 8 points. Une convergence vers la médiane peers impliquerait un downside de 12%, tandis qu'une prime de 30% (scénario bull) offrirait un upside de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une TGR de 3,0%, le DCF implicite suggère un prix de 285 USD (base), soit un upside de 11,5% vs cours actuel. Cette valorisation intègre une croissance des services à 15% et un rebond des ventes iPhone à +6% en 2026. Le risque principal réside dans une exécution sous-optimale des nouveaux produits (iPhone 17) prévue pour septembre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Dépendance iPhone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La marge brute de 46.9% repose sur un écosystème captif où 70% des revenus viennent de l'iPhone, secteur en stagnation avec -2% de croissance en 2024 selon IDC; une baisse de 10% des ventes d'iPhone réduirait le CA de 7% et la marge de 3 points.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Ralentissement services</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Les marges premium de 26.9% sont gonflées par des services à forte marge comme Apple Pay, mais leur croissance ralentit à +8% en 2024 contre +15% en 2023, et leur contribution au CA chute de 18% à 15% depuis 2022.</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Coûts financiers</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La trésorerie nette de 166 milliards cache un endettement latent de 110 milliards à taux variables, exposant Apple à une hausse des coûts financiers si les taux restent à 5.5% en 2025, réduisant le bénéfice net de 12% selon les projections de Goldman Sachs.</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-3% de PIB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antitrust US sur les services (App Store, Apple Pay)</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commercial iPhone 17 avec -5% de ventes vs attentes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Detresse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Regime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Qualite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Moderee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+0,043</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59,2 %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4</a:t>
                      </a:r>
                    </a:p>
                  </a:txBody>
                  <a:tcPr>
                    <a:solidFill>
                      <a:srgbClr val="EAF4EF"/>
                    </a:solidFill>
                  </a:tcPr>
                </a:tc>
                <a:tc>
                  <a:txBody>
                    <a:bodyPr/>
                    <a:lstStyle/>
                    <a:p>
                      <a:pPr algn="ctr"/>
                      <a:r>
                        <a:rPr sz="800" b="0" i="0">
                          <a:solidFill>
                            <a:srgbClr val="0D0D0D"/>
                          </a:solidFill>
                          <a:latin typeface="Calibri"/>
                        </a:rPr>
                        <a:t>+0,225</a:t>
                      </a:r>
                    </a:p>
                  </a:txBody>
                  <a:tcPr>
                    <a:solidFill>
                      <a:srgbClr val="EAF4EF"/>
                    </a:solidFill>
                  </a:tcPr>
                </a:tc>
                <a:tc>
                  <a:txBody>
                    <a:bodyPr/>
                    <a:lstStyle/>
                    <a:p>
                      <a:pPr algn="ctr"/>
                      <a:r>
                        <a:rPr sz="800" b="0" i="0">
                          <a:solidFill>
                            <a:srgbClr val="0D0D0D"/>
                          </a:solidFill>
                          <a:latin typeface="Calibri"/>
                        </a:rPr>
                        <a:t>Lancement iPhone 17 en septembre 2026 avec +10% de ventes YoY et prix moyen à 1 150 USD | Impact CA +7% en 2026 et marge brute à 48% | Horizon 12 mois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21</a:t>
                      </a:r>
                    </a:p>
                  </a:txBody>
                  <a:tcPr>
                    <a:solidFill>
                      <a:srgbClr val="FFFFFF"/>
                    </a:solidFill>
                  </a:tcPr>
                </a:tc>
                <a:tc>
                  <a:txBody>
                    <a:bodyPr/>
                    <a:lstStyle/>
                    <a:p>
                      <a:pPr algn="ctr"/>
                      <a:r>
                        <a:rPr sz="800" b="0" i="0">
                          <a:solidFill>
                            <a:srgbClr val="0D0D0D"/>
                          </a:solidFill>
                          <a:latin typeface="Calibri"/>
                        </a:rPr>
                        <a:t>+0,592</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5</a:t>
                      </a:r>
                    </a:p>
                  </a:txBody>
                  <a:tcPr>
                    <a:solidFill>
                      <a:srgbClr val="FAF0EF"/>
                    </a:solidFill>
                  </a:tcPr>
                </a:tc>
                <a:tc>
                  <a:txBody>
                    <a:bodyPr/>
                    <a:lstStyle/>
                    <a:p>
                      <a:pPr algn="ctr"/>
                      <a:r>
                        <a:rPr sz="800" b="0" i="0">
                          <a:solidFill>
                            <a:srgbClr val="0D0D0D"/>
                          </a:solidFill>
                          <a:latin typeface="Calibri"/>
                        </a:rPr>
                        <a:t>+0,183</a:t>
                      </a:r>
                    </a:p>
                  </a:txBody>
                  <a:tcPr>
                    <a:solidFill>
                      <a:srgbClr val="FAF0EF"/>
                    </a:solidFill>
                  </a:tcPr>
                </a:tc>
                <a:tc>
                  <a:txBody>
                    <a:bodyPr/>
                    <a:lstStyle/>
                    <a:p>
                      <a:pPr algn="ctr"/>
                      <a:r>
                        <a:rPr sz="800" b="0" i="0">
                          <a:solidFill>
                            <a:srgbClr val="0D0D0D"/>
                          </a:solidFill>
                          <a:latin typeface="Calibri"/>
                        </a:rPr>
                        <a:t>Régulation européenne DMA en 2026 réduisant les marges App Store de 15% à 10% | Impact EBIT -5 milliards USD en 2026 | Horizon 6-12 mois</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des signaux mitigés pour Apple cette semaine, avec des analyses positives sur son potentiel futur en IA et innovation, mais des alertes sur des erreurs de lancement en Chine. Les célébrations des 50 ans de l'entreprise dominent l'actualité, sans impact majeur sur les perspectives immédiates.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se négocie à 26,4x EV/EBITDA vs 22,1x pour la médiane des peers technologiques. La prime de 19% est justifiée par la qualité des actifs et la croissance des services, mais reste modérée au regard de la résilience historique.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2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255,63 $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+20,8 %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2834096"/>
            <a:ext cx="498636" cy="106110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2800274"/>
            <a:ext cx="498636" cy="1094925"/>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malgré un environnement macroéconomique difficile. Les marges se maintiennent à des niveaux records, portées par l'innovation et l'écosystème intégré. La valorisation reste attractive malgré une prime modérée aux peers technologiques.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