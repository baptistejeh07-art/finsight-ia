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+12,1 %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+12,1 %  ·  Bear : 240 $ (-5,6 %)  ·  Bull : 320 $ (+25,9 %)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d'une croissance des services à +12% en 2026 grâce à l'expansion de l'App Store et des abonnements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brute devrait atteindre 48% en 2027 via un mix produits favorable et une optimisation des coûts logistiques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nette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rachat d'actions pour 100 milliards USD en 2026 soutiendra la valorisation malgré un environnement de taux élevés.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App Store en UE/USA | Amende potentielle 50 milliards USD | Horizon 6-12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hardware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hardware (Samsung, Huawei) | Baisse part de marché iPhone à 15% | Horizon 2026-2027</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Chine | Baisse CA iPhone de 8% | Horizon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22,3x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+12,1 %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+0,028</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App Store  ·  Concurrence hardware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écosystème intégré et une fidélisation client élevée. Positionné en haut de gamme, l'entreprise bénéficie d'un pricing power inégalé et d'une marge brute structurellement supérieure à 45%. Son avantage concurrentiel repose sur l'innovation, la marque forte et une base d'utilisateurs captive via l'App Store et les services récurrents.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historique générant 80% du CA via vente d'iPhone (50% du CA), Mac, iPad et wearables (Apple Watch, AirPods). Modèle reposant sur des cycles de renouvellement et une forte fidélisation. Clients cibles : consommateurs premium et entreprises. Moteurs : innovation hardware, écosystème intégré et services associés.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croissance rapide (20% du CA) incluant App Store, Apple Music, iCloud et Apple Pay. Modèle à abonnements avec marge brute &gt;70% et revenus récurrents. Clients cibles : utilisateurs existants et nouveaux segments (paiements, santé). Moteurs : expansion géographique et diversification des services (TV+, Fitness+).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3 731,2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254,15 $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33,3x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historique générant 80% du CA via vente d'iPhone (50% du CA), Mac, iPad et wearables (Apple Watch, AirPods). Modèle reposant sur des cycles de renouvellement et une forte fidélisation. Clients cibles : consommateurs premium et entreprises. Moteurs : innovation hardware, écosystème intégré et services associés.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croissance rapide (20% du CA) incluant App Store, Apple Music, iCloud et Apple Pay. Modèle à abonnements avec marge brute &gt;70% et revenus récurrents. Clients cibles : utilisateurs existants et nouveaux segments (paiements, santé). Moteurs : expansion géographique et diversification des services (TV+, Fitness+).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162,0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36,4 %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27,4 %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et l'iPhone (+5%). Les marges nettes ont rebondi à 26.9% grâce à un mix produits favorable et une discipline sur les coûts. La génération de cash reste robuste avec un FCF de 110 milliards USD en 2025, soutenant les rachats d'actions et les investissements R&amp;D.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et l'iPhone (+5%). Les marges nettes ont rebondi à 26.9% grâce à un mix produits favorable et une discipline sur les coûts. La génération de cash reste robuste avec un FCF de 110 milliards USD en 2025, soutenant les rachats d'actions et les investissements R&amp;D.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en 2022 à 46.9% en 2025, reflétant un mix produits favorable (iPhone premium) et une optimisation des coûts logistiques. Les marges EBITDA et nettes ont suivi une tendance similaire, confirmant un levier opérationnel élevé et un pricing power durable. Cette durabilité justifie une prime de valorisation.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254,15 $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-5,6 %</a:t>
                      </a:r>
                    </a:p>
                  </a:txBody>
                  <a:tcPr>
                    <a:solidFill>
                      <a:srgbClr val="FAF0EF"/>
                    </a:solidFill>
                  </a:tcPr>
                </a:tc>
                <a:tc>
                  <a:txBody>
                    <a:bodyPr/>
                    <a:lstStyle/>
                    <a:p>
                      <a:pPr algn="ctr"/>
                      <a:r>
                        <a:rPr sz="1200" b="1" i="0">
                          <a:solidFill>
                            <a:srgbClr val="2E5FA3"/>
                          </a:solidFill>
                          <a:latin typeface="Calibri"/>
                        </a:rPr>
                        <a:t>+12,1 %</a:t>
                      </a:r>
                    </a:p>
                  </a:txBody>
                  <a:tcPr>
                    <a:solidFill>
                      <a:srgbClr val="EEF3FA"/>
                    </a:solidFill>
                  </a:tcPr>
                </a:tc>
                <a:tc>
                  <a:txBody>
                    <a:bodyPr/>
                    <a:lstStyle/>
                    <a:p>
                      <a:pPr algn="ctr"/>
                      <a:r>
                        <a:rPr sz="1200" b="1" i="0">
                          <a:solidFill>
                            <a:srgbClr val="1A7A4A"/>
                          </a:solidFill>
                          <a:latin typeface="Calibri"/>
                        </a:rPr>
                        <a:t>+25,9 %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 TGR de 3.0%, le DCF implicite est de 285 USD (base), soit +12% vs le cours actuel. L'upside est principalement lié à la croissance des services et à la discipline financière. Une compression des marges ou un ralentissement des services réduirait significativement l'upside.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3 731,2</a:t>
                      </a:r>
                    </a:p>
                  </a:txBody>
                  <a:tcPr>
                    <a:solidFill>
                      <a:srgbClr val="DDE8F5"/>
                    </a:solidFill>
                  </a:tcPr>
                </a:tc>
                <a:tc>
                  <a:txBody>
                    <a:bodyPr/>
                    <a:lstStyle/>
                    <a:p>
                      <a:pPr algn="ctr"/>
                      <a:r>
                        <a:rPr sz="800" b="1" i="0">
                          <a:solidFill>
                            <a:srgbClr val="1B3A6B"/>
                          </a:solidFill>
                          <a:latin typeface="Calibri"/>
                        </a:rPr>
                        <a:t>26,2x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33,3x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21,8x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1 500,0</a:t>
                      </a:r>
                    </a:p>
                  </a:txBody>
                  <a:tcPr>
                    <a:solidFill>
                      <a:srgbClr val="FFFFFF"/>
                    </a:solidFill>
                  </a:tcPr>
                </a:tc>
                <a:tc>
                  <a:txBody>
                    <a:bodyPr/>
                    <a:lstStyle/>
                    <a:p>
                      <a:pPr algn="ctr"/>
                      <a:r>
                        <a:rPr sz="800" b="0" i="0">
                          <a:solidFill>
                            <a:srgbClr val="0D0D0D"/>
                          </a:solidFill>
                          <a:latin typeface="Calibri"/>
                        </a:rPr>
                        <a:t>18,2x</a:t>
                      </a:r>
                    </a:p>
                  </a:txBody>
                  <a:tcPr>
                    <a:solidFill>
                      <a:srgbClr val="FFFFFF"/>
                    </a:solidFill>
                  </a:tcPr>
                </a:tc>
                <a:tc>
                  <a:txBody>
                    <a:bodyPr/>
                    <a:lstStyle/>
                    <a:p>
                      <a:pPr algn="ctr"/>
                      <a:r>
                        <a:rPr sz="800" b="0" i="0">
                          <a:solidFill>
                            <a:srgbClr val="0D0D0D"/>
                          </a:solidFill>
                          <a:latin typeface="Calibri"/>
                        </a:rPr>
                        <a:t>10,1x</a:t>
                      </a:r>
                    </a:p>
                  </a:txBody>
                  <a:tcPr>
                    <a:solidFill>
                      <a:srgbClr val="FFFFFF"/>
                    </a:solidFill>
                  </a:tcPr>
                </a:tc>
                <a:tc>
                  <a:txBody>
                    <a:bodyPr/>
                    <a:lstStyle/>
                    <a:p>
                      <a:pPr algn="ctr"/>
                      <a:r>
                        <a:rPr sz="800" b="0" i="0">
                          <a:solidFill>
                            <a:srgbClr val="0D0D0D"/>
                          </a:solidFill>
                          <a:latin typeface="Calibri"/>
                        </a:rPr>
                        <a:t>25,3x</a:t>
                      </a:r>
                    </a:p>
                  </a:txBody>
                  <a:tcPr>
                    <a:solidFill>
                      <a:srgbClr val="FFFFFF"/>
                    </a:solidFill>
                  </a:tcPr>
                </a:tc>
                <a:tc>
                  <a:txBody>
                    <a:bodyPr/>
                    <a:lstStyle/>
                    <a:p>
                      <a:pPr algn="ctr"/>
                      <a:r>
                        <a:rPr sz="800" b="0" i="0">
                          <a:solidFill>
                            <a:srgbClr val="0D0D0D"/>
                          </a:solidFill>
                          <a:latin typeface="Calibri"/>
                        </a:rPr>
                        <a:t>88,0 %</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r>
              <a:tr h="251999">
                <a:tc>
                  <a:txBody>
                    <a:bodyPr/>
                    <a:lstStyle/>
                    <a:p>
                      <a:pPr algn="l"/>
                      <a:r>
                        <a:rPr sz="800" b="0" i="0">
                          <a:solidFill>
                            <a:srgbClr val="0D0D0D"/>
                          </a:solidFill>
                          <a:latin typeface="Calibri"/>
                        </a:rPr>
                        <a:t>Nvidia</a:t>
                      </a:r>
                    </a:p>
                  </a:txBody>
                  <a:tcPr>
                    <a:solidFill>
                      <a:srgbClr val="F7F8FA"/>
                    </a:solidFill>
                  </a:tcPr>
                </a:tc>
                <a:tc>
                  <a:txBody>
                    <a:bodyPr/>
                    <a:lstStyle/>
                    <a:p>
                      <a:pPr algn="ctr"/>
                      <a:r>
                        <a:rPr sz="750" b="0" i="0">
                          <a:solidFill>
                            <a:srgbClr val="555555"/>
                          </a:solidFill>
                          <a:latin typeface="Calibri"/>
                        </a:rPr>
                        <a:t>NVDA</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45,1x</a:t>
                      </a:r>
                    </a:p>
                  </a:txBody>
                  <a:tcPr>
                    <a:solidFill>
                      <a:srgbClr val="F7F8FA"/>
                    </a:solidFill>
                  </a:tcPr>
                </a:tc>
                <a:tc>
                  <a:txBody>
                    <a:bodyPr/>
                    <a:lstStyle/>
                    <a:p>
                      <a:pPr algn="ctr"/>
                      <a:r>
                        <a:rPr sz="800" b="0" i="0">
                          <a:solidFill>
                            <a:srgbClr val="0D0D0D"/>
                          </a:solidFill>
                          <a:latin typeface="Calibri"/>
                        </a:rPr>
                        <a:t>22,5x</a:t>
                      </a:r>
                    </a:p>
                  </a:txBody>
                  <a:tcPr>
                    <a:solidFill>
                      <a:srgbClr val="F7F8FA"/>
                    </a:solidFill>
                  </a:tcPr>
                </a:tc>
                <a:tc>
                  <a:txBody>
                    <a:bodyPr/>
                    <a:lstStyle/>
                    <a:p>
                      <a:pPr algn="ctr"/>
                      <a:r>
                        <a:rPr sz="800" b="0" i="0">
                          <a:solidFill>
                            <a:srgbClr val="0D0D0D"/>
                          </a:solidFill>
                          <a:latin typeface="Calibri"/>
                        </a:rPr>
                        <a:t>42,1x</a:t>
                      </a:r>
                    </a:p>
                  </a:txBody>
                  <a:tcPr>
                    <a:solidFill>
                      <a:srgbClr val="F7F8FA"/>
                    </a:solidFill>
                  </a:tcPr>
                </a:tc>
                <a:tc>
                  <a:txBody>
                    <a:bodyPr/>
                    <a:lstStyle/>
                    <a:p>
                      <a:pPr algn="ctr"/>
                      <a:r>
                        <a:rPr sz="800" b="0" i="0">
                          <a:solidFill>
                            <a:srgbClr val="0D0D0D"/>
                          </a:solidFill>
                          <a:latin typeface="Calibri"/>
                        </a:rPr>
                        <a:t>78,0 %</a:t>
                      </a:r>
                    </a:p>
                  </a:txBody>
                  <a:tcPr>
                    <a:solidFill>
                      <a:srgbClr val="F7F8FA"/>
                    </a:solidFill>
                  </a:tcPr>
                </a:tc>
                <a:tc>
                  <a:txBody>
                    <a:bodyPr/>
                    <a:lstStyle/>
                    <a:p>
                      <a:pPr algn="ctr"/>
                      <a:r>
                        <a:rPr sz="800" b="0" i="0">
                          <a:solidFill>
                            <a:srgbClr val="0D0D0D"/>
                          </a:solidFill>
                          <a:latin typeface="Calibri"/>
                        </a:rPr>
                        <a:t>65,0 %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1 800,0</a:t>
                      </a:r>
                    </a:p>
                  </a:txBody>
                  <a:tcPr>
                    <a:solidFill>
                      <a:srgbClr val="FFFFFF"/>
                    </a:solidFill>
                  </a:tcPr>
                </a:tc>
                <a:tc>
                  <a:txBody>
                    <a:bodyPr/>
                    <a:lstStyle/>
                    <a:p>
                      <a:pPr algn="ctr"/>
                      <a:r>
                        <a:rPr sz="800" b="0" i="0">
                          <a:solidFill>
                            <a:srgbClr val="0D0D0D"/>
                          </a:solidFill>
                          <a:latin typeface="Calibri"/>
                        </a:rPr>
                        <a:t>22,3x</a:t>
                      </a:r>
                    </a:p>
                  </a:txBody>
                  <a:tcPr>
                    <a:solidFill>
                      <a:srgbClr val="FFFFFF"/>
                    </a:solidFill>
                  </a:tcPr>
                </a:tc>
                <a:tc>
                  <a:txBody>
                    <a:bodyPr/>
                    <a:lstStyle/>
                    <a:p>
                      <a:pPr algn="ctr"/>
                      <a:r>
                        <a:rPr sz="800" b="0" i="0">
                          <a:solidFill>
                            <a:srgbClr val="0D0D0D"/>
                          </a:solidFill>
                          <a:latin typeface="Calibri"/>
                        </a:rPr>
                        <a:t>3,8x</a:t>
                      </a:r>
                    </a:p>
                  </a:txBody>
                  <a:tcPr>
                    <a:solidFill>
                      <a:srgbClr val="FFFFFF"/>
                    </a:solidFill>
                  </a:tcPr>
                </a:tc>
                <a:tc>
                  <a:txBody>
                    <a:bodyPr/>
                    <a:lstStyle/>
                    <a:p>
                      <a:pPr algn="ctr"/>
                      <a:r>
                        <a:rPr sz="800" b="0" i="0">
                          <a:solidFill>
                            <a:srgbClr val="0D0D0D"/>
                          </a:solidFill>
                          <a:latin typeface="Calibri"/>
                        </a:rPr>
                        <a:t>55,2x</a:t>
                      </a:r>
                    </a:p>
                  </a:txBody>
                  <a:tcPr>
                    <a:solidFill>
                      <a:srgbClr val="FFFFFF"/>
                    </a:solidFill>
                  </a:tcPr>
                </a:tc>
                <a:tc>
                  <a:txBody>
                    <a:bodyPr/>
                    <a:lstStyle/>
                    <a:p>
                      <a:pPr algn="ctr"/>
                      <a:r>
                        <a:rPr sz="800" b="0" i="0">
                          <a:solidFill>
                            <a:srgbClr val="0D0D0D"/>
                          </a:solidFill>
                          <a:latin typeface="Calibri"/>
                        </a:rPr>
                        <a:t>44,0 %</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22,3x</a:t>
                      </a:r>
                    </a:p>
                  </a:txBody>
                  <a:tcPr>
                    <a:solidFill>
                      <a:srgbClr val="F7F8FA"/>
                    </a:solidFill>
                  </a:tcPr>
                </a:tc>
                <a:tc>
                  <a:txBody>
                    <a:bodyPr/>
                    <a:lstStyle/>
                    <a:p>
                      <a:pPr algn="ctr"/>
                      <a:r>
                        <a:rPr sz="800" b="1" i="0">
                          <a:solidFill>
                            <a:srgbClr val="0D0D0D"/>
                          </a:solidFill>
                          <a:latin typeface="Calibri"/>
                        </a:rPr>
                        <a:t>10,1x</a:t>
                      </a:r>
                    </a:p>
                  </a:txBody>
                  <a:tcPr>
                    <a:solidFill>
                      <a:srgbClr val="F7F8FA"/>
                    </a:solidFill>
                  </a:tcPr>
                </a:tc>
                <a:tc>
                  <a:txBody>
                    <a:bodyPr/>
                    <a:lstStyle/>
                    <a:p>
                      <a:pPr algn="ctr"/>
                      <a:r>
                        <a:rPr sz="800" b="1" i="0">
                          <a:solidFill>
                            <a:srgbClr val="0D0D0D"/>
                          </a:solidFill>
                          <a:latin typeface="Calibri"/>
                        </a:rPr>
                        <a:t>38,2x</a:t>
                      </a:r>
                    </a:p>
                  </a:txBody>
                  <a:tcPr>
                    <a:solidFill>
                      <a:srgbClr val="F7F8FA"/>
                    </a:solidFill>
                  </a:tcPr>
                </a:tc>
                <a:tc>
                  <a:txBody>
                    <a:bodyPr/>
                    <a:lstStyle/>
                    <a:p>
                      <a:pPr algn="ctr"/>
                      <a:r>
                        <a:rPr sz="800" b="1" i="0">
                          <a:solidFill>
                            <a:srgbClr val="0D0D0D"/>
                          </a:solidFill>
                          <a:latin typeface="Calibri"/>
                        </a:rPr>
                        <a:t>68,0 %</a:t>
                      </a:r>
                    </a:p>
                  </a:txBody>
                  <a:tcPr>
                    <a:solidFill>
                      <a:srgbClr val="F7F8FA"/>
                    </a:solidFill>
                  </a:tcPr>
                </a:tc>
                <a:tc>
                  <a:txBody>
                    <a:bodyPr/>
                    <a:lstStyle/>
                    <a:p>
                      <a:pPr algn="ctr"/>
                      <a:r>
                        <a:rPr sz="800" b="1" i="0">
                          <a:solidFill>
                            <a:srgbClr val="0D0D0D"/>
                          </a:solidFill>
                          <a:latin typeface="Calibri"/>
                        </a:rPr>
                        <a:t>48,0 %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EV/EBITDA de 26.2x vs 22.1x pour la médiane peers (Microsoft, Alphabet, Meta, Nvidia, Amazon). La prime de 18% est justifiée par des marges supérieures et une croissance organique plus élevée. Une convergence vers la médiane impliquerait un downside de 15%, peu probable compte tenu des fondamentaux.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 TGR de 3.0%, le DCF implicite est de 285 USD (base), soit +12% vs le cours actuel. L'upside est principalement lié à la croissance des services et à la discipline financière. Une compression des marges ou un ralentissement des services réduirait significativement l'upside.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marge brute de 46.9% repose sur un mix produits vieillissant avec des iPhone représentant 52% du CA en 2024, dépendant d'une demande asiatique en déclin de 8% par an selon Counterpoint Research. Les services, seul relais de croissance, voient leur croissance ralentir à 12% en 2025 contre 18% en 2023, limitant la capacité à compenser le déclin hardware.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Surévaluation évidente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 ROE de 151.9% est artificiellement gonflé par une trésorerie nette de 166 milliards$, soit 60% de la capitalisation, masquant une rentabilité opérationnelle réelle de 20% hors trésorerie. Les rachats d'actions massifs (75 milliards$ en 2024) ne créent aucune valeur durable mais épuisent les flux disponibles pour l'innovation.</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Dépendance Asie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P/E de 33.31x est 40% supérieur à la moyenne sectorielle de 23.8x, justifié par un 'écosystème fermé' dont l'avantage s'érode face aux régulations européennes DMA et aux alternatives Android moins chères. Les marges pourraient chuter de 5 points d'ici 2027 si la part de marché iPhone passe sous 18% en Chine selon IDC.</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du pouvoir d'achat des consommateurs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accrue sur les services numériques en UE et USA</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16 avec baisse de part de marché &gt;5%</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Detresse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Regime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Qualite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Moderee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+0,028</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54,2 %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4</a:t>
                      </a:r>
                    </a:p>
                  </a:txBody>
                  <a:tcPr>
                    <a:solidFill>
                      <a:srgbClr val="EAF4EF"/>
                    </a:solidFill>
                  </a:tcPr>
                </a:tc>
                <a:tc>
                  <a:txBody>
                    <a:bodyPr/>
                    <a:lstStyle/>
                    <a:p>
                      <a:pPr algn="ctr"/>
                      <a:r>
                        <a:rPr sz="800" b="0" i="0">
                          <a:solidFill>
                            <a:srgbClr val="0D0D0D"/>
                          </a:solidFill>
                          <a:latin typeface="Calibri"/>
                        </a:rPr>
                        <a:t>+0,243</a:t>
                      </a:r>
                    </a:p>
                  </a:txBody>
                  <a:tcPr>
                    <a:solidFill>
                      <a:srgbClr val="EAF4EF"/>
                    </a:solidFill>
                  </a:tcPr>
                </a:tc>
                <a:tc>
                  <a:txBody>
                    <a:bodyPr/>
                    <a:lstStyle/>
                    <a:p>
                      <a:pPr algn="ctr"/>
                      <a:r>
                        <a:rPr sz="800" b="0" i="0">
                          <a:solidFill>
                            <a:srgbClr val="0D0D0D"/>
                          </a:solidFill>
                          <a:latin typeface="Calibri"/>
                        </a:rPr>
                        <a:t>Croissance services +12% en 2026 avec marge brute &gt;70% | Impact +15 milliards USD sur EBITDA | Horizon 2026</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20</a:t>
                      </a:r>
                    </a:p>
                  </a:txBody>
                  <a:tcPr>
                    <a:solidFill>
                      <a:srgbClr val="FFFFFF"/>
                    </a:solidFill>
                  </a:tcPr>
                </a:tc>
                <a:tc>
                  <a:txBody>
                    <a:bodyPr/>
                    <a:lstStyle/>
                    <a:p>
                      <a:pPr algn="ctr"/>
                      <a:r>
                        <a:rPr sz="800" b="0" i="0">
                          <a:solidFill>
                            <a:srgbClr val="0D0D0D"/>
                          </a:solidFill>
                          <a:latin typeface="Calibri"/>
                        </a:rPr>
                        <a:t>+0,542</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+0,215</a:t>
                      </a:r>
                    </a:p>
                  </a:txBody>
                  <a:tcPr>
                    <a:solidFill>
                      <a:srgbClr val="FAF0EF"/>
                    </a:solidFill>
                  </a:tcPr>
                </a:tc>
                <a:tc>
                  <a:txBody>
                    <a:bodyPr/>
                    <a:lstStyle/>
                    <a:p>
                      <a:pPr algn="ctr"/>
                      <a:r>
                        <a:rPr sz="800" b="0" i="0">
                          <a:solidFill>
                            <a:srgbClr val="0D0D0D"/>
                          </a:solidFill>
                          <a:latin typeface="Calibri"/>
                        </a:rPr>
                        <a:t>Régulation App Store en UE/USA | Amende potentielle 50 milliards USD | Horizon 6-12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d'Apple face à la concurrence en IA et aux tensions géopolitiques, tout en reconnaissant sa résilience à 50 ans. Les analystes restent globalement optimistes grâce aux signaux positifs de croissance et de soutien d'investisseurs majeurs.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26.2x EV/EBITDA vs 22.1x pour les peers technologiques, reflétant une prime de qualité. Le P/E de 33.3x est justifié par une croissance supérieure et des marges durables.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254,15 $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+20,1 %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827478"/>
            <a:ext cx="498636" cy="1067721"/>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malgré un environnement macroéconomique incertain. La valorisation reste élevée mais justifiée par une croissance organique soutenue et une trésorerie abondante.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