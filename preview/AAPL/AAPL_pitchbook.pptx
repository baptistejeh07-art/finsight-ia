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+12,1 %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+12,1 %  ·  Bear : 240 $ (-5,6 %)  ·  Bull : 320 $ (+25,9 %)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Lancement de l'iPhone 17 en 2026 avec +15% de ventes grâce à l'IA intégrée boostant l'ARPU à 850$</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Expansion des services avec +18% de revenus atteignant 100Md$ en 2027</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Cash-flows massifs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Rachat d'actions de 100Md$ annoncé en 2025 soutenant la valorisation.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l'App Store</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+0,339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smartphones, ordinateurs et services numériques haut de gamme. Positionné comme leader premium avec écosystème intégré, l'entreprise bénéficie d'une fidélisation client exceptionnelle et de marges durables. Son avantage concurrentiel repose sur l'innovation, la marque forte et la rentabilité supérieure à ses pairs.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Ventes de iPhone, Mac, iPad et wearables représentant 80% du chiffre d'affaires. Modèle basé sur…</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Abonnements (Apple Music, iCloud, App Store) et services financiers (Apple Card) avec marge brute…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3 731,9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254,20 $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iPhone, Mac, iPad et wearables représentant 80% du chiffre d'affaires. Modèle basé sur des cycles de renouvellement rapides et des prix premium ciblant les consommateurs haut de gamme. Croissance tirée par l'Asie et les services associés.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et services financiers (Apple Card) avec marge brute &gt;70%. Modèle récurrent générant 20% du CA avec croissance à deux chiffres. Cible les 1.5Md utilisateurs actifs de l'écosystème.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209,2</a:t>
                      </a:r>
                    </a:p>
                  </a:txBody>
                  <a:tcPr>
                    <a:solidFill>
                      <a:srgbClr val="FFFFFF"/>
                    </a:solidFill>
                  </a:tcPr>
                </a:tc>
                <a:tc>
                  <a:txBody>
                    <a:bodyPr/>
                    <a:lstStyle/>
                    <a:p>
                      <a:pPr algn="ctr"/>
                      <a:r>
                        <a:rPr sz="800" b="1" i="0">
                          <a:solidFill>
                            <a:srgbClr val="0D0D0D"/>
                          </a:solidFill>
                          <a:latin typeface="Calibri"/>
                        </a:rPr>
                        <a:t>225,6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47,0 %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37,0 %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128,0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de 6.4% en 2025 soutenue par les services (+15%). Marges stables à 46.9% malgré pression sur les coûts. Free cash-flow de 110Md$ en 2025, en hausse de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10,00</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de 6.4% en 2025 soutenue par les services (+15%). Marges stables à 46.9% malgré pression sur les coûts. Free cash-flow de 110Md$ en 2025, en hausse 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ROIC à 84.4% vs 35% pour le secteur tech. EV/Revenue à 9.1x vs médiane peers à 7.8x reflétant la prime qualité.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254,20 $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-5,6 %</a:t>
                      </a:r>
                    </a:p>
                  </a:txBody>
                  <a:tcPr>
                    <a:solidFill>
                      <a:srgbClr val="FAF0EF"/>
                    </a:solidFill>
                  </a:tcPr>
                </a:tc>
                <a:tc>
                  <a:txBody>
                    <a:bodyPr/>
                    <a:lstStyle/>
                    <a:p>
                      <a:pPr algn="ctr"/>
                      <a:r>
                        <a:rPr sz="1200" b="1" i="0">
                          <a:solidFill>
                            <a:srgbClr val="2E5FA3"/>
                          </a:solidFill>
                          <a:latin typeface="Calibri"/>
                        </a:rPr>
                        <a:t>+12,1 %</a:t>
                      </a:r>
                    </a:p>
                  </a:txBody>
                  <a:tcPr>
                    <a:solidFill>
                      <a:srgbClr val="EEF3FA"/>
                    </a:solidFill>
                  </a:tcPr>
                </a:tc>
                <a:tc>
                  <a:txBody>
                    <a:bodyPr/>
                    <a:lstStyle/>
                    <a:p>
                      <a:pPr algn="ctr"/>
                      <a:r>
                        <a:rPr sz="1200" b="1" i="0">
                          <a:solidFill>
                            <a:srgbClr val="1A7A4A"/>
                          </a:solidFill>
                          <a:latin typeface="Calibri"/>
                        </a:rPr>
                        <a:t>+25,9 %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10.3% avec TGR 3.0% implique un upside de 12% vs cours actuel. Valorisation DCF à 285$ justifiée par croissance services et rachats d'actions.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3 731,9</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14,5x</a:t>
                      </a:r>
                    </a:p>
                  </a:txBody>
                  <a:tcPr>
                    <a:solidFill>
                      <a:srgbClr val="FFFFFF"/>
                    </a:solidFill>
                  </a:tcPr>
                </a:tc>
                <a:tc>
                  <a:txBody>
                    <a:bodyPr/>
                    <a:lstStyle/>
                    <a:p>
                      <a:pPr algn="ctr"/>
                      <a:r>
                        <a:rPr sz="800" b="0" i="0">
                          <a:solidFill>
                            <a:srgbClr val="0D0D0D"/>
                          </a:solidFill>
                          <a:latin typeface="Calibri"/>
                        </a:rPr>
                        <a:t>38,0x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28,0x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18,0x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22,0x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30,0x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ROIC à 84.4% vs 35% pour le secteur tech. EV/Revenue à 9.1x vs médiane peers à 7.8x reflétant la prime qualité.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10.3% avec TGR 3.0% implique un upside de 12% vs cours actuel. Valorisation DCF à 285$ justifiée par croissance services et rachats d'actions.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App Store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Régulation européenne sur l'App Store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Concurrence IA</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Concurrence accrue en IA (Google, Microsoft)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iPhone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Ralentissement économique en Chine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2026 réduisant la demande de 10%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l'App Store en UE/US amputant 15% des revenus services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commercial iPhone 17 avec baisse ARPU de 10%</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+0,339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52,5 %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17</a:t>
                      </a:r>
                    </a:p>
                  </a:txBody>
                  <a:tcPr>
                    <a:solidFill>
                      <a:srgbClr val="EAF4EF"/>
                    </a:solidFill>
                  </a:tcPr>
                </a:tc>
                <a:tc>
                  <a:txBody>
                    <a:bodyPr/>
                    <a:lstStyle/>
                    <a:p>
                      <a:pPr algn="ctr"/>
                      <a:r>
                        <a:rPr sz="800" b="0" i="0">
                          <a:solidFill>
                            <a:srgbClr val="0D0D0D"/>
                          </a:solidFill>
                          <a:latin typeface="Calibri"/>
                        </a:rPr>
                        <a:t>+0,525</a:t>
                      </a:r>
                    </a:p>
                  </a:txBody>
                  <a:tcPr>
                    <a:solidFill>
                      <a:srgbClr val="EAF4EF"/>
                    </a:solidFill>
                  </a:tcPr>
                </a:tc>
                <a:tc>
                  <a:txBody>
                    <a:bodyPr/>
                    <a:lstStyle/>
                    <a:p>
                      <a:pPr algn="ctr"/>
                      <a:r>
                        <a:rPr sz="800" b="0" i="0">
                          <a:solidFill>
                            <a:srgbClr val="0D0D0D"/>
                          </a:solidFill>
                          <a:latin typeface="Calibri"/>
                        </a:rPr>
                        <a:t>Croissance services &gt;15% CAGR 2025-2027, Rachat d'actions 100Md$ en 2025, Lancement iPhone 17 avec IA intégrée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7</a:t>
                      </a:r>
                    </a:p>
                  </a:txBody>
                  <a:tcPr>
                    <a:solidFill>
                      <a:srgbClr val="FFFFFF"/>
                    </a:solidFill>
                  </a:tcPr>
                </a:tc>
                <a:tc>
                  <a:txBody>
                    <a:bodyPr/>
                    <a:lstStyle/>
                    <a:p>
                      <a:pPr algn="ctr"/>
                      <a:r>
                        <a:rPr sz="800" b="0" i="0">
                          <a:solidFill>
                            <a:srgbClr val="0D0D0D"/>
                          </a:solidFill>
                          <a:latin typeface="Calibri"/>
                        </a:rPr>
                        <a:t>+0,288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+0,186</a:t>
                      </a:r>
                    </a:p>
                  </a:txBody>
                  <a:tcPr>
                    <a:solidFill>
                      <a:srgbClr val="FAF0EF"/>
                    </a:solidFill>
                  </a:tcPr>
                </a:tc>
                <a:tc>
                  <a:txBody>
                    <a:bodyPr/>
                    <a:lstStyle/>
                    <a:p>
                      <a:pPr algn="ctr"/>
                      <a:r>
                        <a:rPr sz="800" b="0" i="0">
                          <a:solidFill>
                            <a:srgbClr val="0D0D0D"/>
                          </a:solidFill>
                          <a:latin typeface="Calibri"/>
                        </a:rPr>
                        <a:t>Régulation européenne sur l'App Store, Concurrence accrue en IA (Google, Microsoft), Ralentissement économique en Chine</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positif (score +0.339) est basé sur 30 articles analysés sur 7 jours. Confiance IA : 53%.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Les multiples (P/E 33.3x, EV/EBITDA 26.2x) sont élevés mais justifiés par la qualité des marges et la récurrence des revenus. Comparables tech affichent des ratios similaires avec upside limité.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254,20 $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26559"/>
            <a:ext cx="498636" cy="106864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maintient une position dominante dans les services et l'innovation hardware malgré des défis macroéconomiques. La valorisation reste attractive avec une marge nette de 26.9% et un ROIC de 84.4%.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