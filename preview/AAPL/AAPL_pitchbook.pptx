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285 $  ·  Upside : +10,1 %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+10,1 %  ·  Bear : 240 $ (-7,3 %)  ·  Bull : 320 $ (+23,6 %)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Apple devrait bénéficier d'un rebond des ventes d'iPhone de +8% en 2026 grâce à l'adoption massive de l'IA générative sur ses terminaux</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brute devrait atteindre 48% en 2027 via une optimisation des coûts de production et une hausse des prix des services</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Cash flow record</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lancement de l'iPhone 16 en septembre 2026 pourrait générer +12% de revenus organiques sur le segment produits.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européenne sur les stores d'applications pourrait réduire les revenus services de 10% | Horizon: 6-12 mois | Ampleur: -15 Md$ de CA</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Concurrence accrue en IA (Google, Microsoft) pourrait éroder le pricing power sur les terminaux | Horizon: 12-24 mois | Ampleur: -8% de marge brute</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Dépendance à la Chine (20% du CA) expose à des risques géopolitiques | Horizon: 12 mois | Ampleur: -5% de croissance organique</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18,2x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+10,1 %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-0,134</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Négatif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fabrique et commercialise des produits technologiques innovants comme l'iPhone, les Mac, l'iPad et les services (App Store, Apple Music). Leader sur le segment premium avec une intégration verticale unique (matériel/logiciel/services), l'entreprise cible une clientèle fidèle et à haut pouvoir d'achat. Son écosystème fermé et sa marque premium lui confèrent un avantage concurrentiel durable et un pricing power exceptionnel.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Ce segment génère 80% du chiffre d'affaires via la vente d'iPhone (55% du CA), Mac, iPad et accessoires. Les clients cibles sont des particuliers et entreprises avec une forte récurrence d'achat. Les moteurs de croissance incluent l'innovation produit (IA intégrée, nouveaux matériaux) et l'expansion géographique en Asie et Europe de l'Est.</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croissance rapide (20% du CA) incluant l'App Store, Apple Music, iCloud et Apple Pay. Modèle d'abonnement récurent avec marge brute &gt;70%. Clients cibles : utilisateurs existants de l'écosystème Apple. Principaux leviers : augmentation du nombre d'abonnés (+15% YoY) et hausse des prix des services premium.</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3 800,4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258,86 $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Ce segment génère 80% du chiffre d'affaires via la vente d'iPhone (55% du CA), Mac, iPad et accessoires. Les clients cibles sont des particuliers et entreprises avec une forte récurrence d'achat. Les moteurs de croissance incluent l'innovation produit (IA intégrée, nouveaux matériaux) et l'expansion géographique en Asie et Europe de l'Est.</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croissance rapide (20% du CA) incluant l'App Store, Apple Music, iCloud et Apple Pay. Modèle d'abonnement récurent avec marge brute &gt;70%. Clients cibles : utilisateurs existants de l'écosystème Apple. Principaux leviers : augmentation du nombre d'abonnés (+15% YoY) et hausse des prix des services premium.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158,0</a:t>
                      </a:r>
                    </a:p>
                  </a:txBody>
                  <a:tcPr>
                    <a:solidFill>
                      <a:srgbClr val="FFFFFF"/>
                    </a:solidFill>
                  </a:tcPr>
                </a:tc>
                <a:tc>
                  <a:txBody>
                    <a:bodyPr/>
                    <a:lstStyle/>
                    <a:p>
                      <a:pPr algn="ctr"/>
                      <a:r>
                        <a:rPr sz="800" b="1" i="0">
                          <a:solidFill>
                            <a:srgbClr val="0D0D0D"/>
                          </a:solidFill>
                          <a:latin typeface="Calibri"/>
                        </a:rPr>
                        <a:t>172,0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35,5 %</a:t>
                      </a:r>
                    </a:p>
                  </a:txBody>
                  <a:tcPr>
                    <a:solidFill>
                      <a:srgbClr val="F7F8FA"/>
                    </a:solidFill>
                  </a:tcPr>
                </a:tc>
                <a:tc>
                  <a:txBody>
                    <a:bodyPr/>
                    <a:lstStyle/>
                    <a:p>
                      <a:pPr algn="ctr"/>
                      <a:r>
                        <a:rPr sz="750" b="0" i="1">
                          <a:solidFill>
                            <a:srgbClr val="555555"/>
                          </a:solidFill>
                          <a:latin typeface="Calibri"/>
                        </a:rPr>
                        <a:t>36,2 %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126,0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25,8 %</a:t>
                      </a:r>
                    </a:p>
                  </a:txBody>
                  <a:tcPr>
                    <a:solidFill>
                      <a:srgbClr val="F7F8FA"/>
                    </a:solidFill>
                  </a:tcPr>
                </a:tc>
                <a:tc>
                  <a:txBody>
                    <a:bodyPr/>
                    <a:lstStyle/>
                    <a:p>
                      <a:pPr algn="ctr"/>
                      <a:r>
                        <a:rPr sz="750" b="0" i="1">
                          <a:solidFill>
                            <a:srgbClr val="555555"/>
                          </a:solidFill>
                          <a:latin typeface="Calibri"/>
                        </a:rPr>
                        <a:t>26,5 %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La croissance du CA (+6.4% en 2025) est tirée par les services (+12% YoY) et une reprise des ventes d'iPhone. Les marges s'améliorent grâce à un mix produit favorable (iPhone 15 Pro à 1 000$+) et une discipline stricte sur les coûts. Cette dynamique génère un cash flow libre de 120 Md$ en 2025, renforçant la solidité bilancielle.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1,69</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La croissance du CA (+6.4% en 2025) est tirée par les services (+12% YoY) et une reprise des ventes d'iPhone. Les marges s'améliorent grâce à un mix produit favorable (iPhone 15 Pro à 1 000$+) et une discipline stricte sur les coûts. Cette dynamique génère un cash flow libre de 120 Md$ en 2025, renforçant la solidité bilancielle.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Détresse</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(2022) à 46.9% (2025), reflétant un levier opérationnel exceptionnel et un mix produit premium. La marge nette a fluctué autour de 25% grâce à une gestion rigoureuse des dépenses R&amp;D et marketing. Ces niveaux élevés sont durables grâce au pricing power et à la récurrence des revenus services.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258,86 $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240 $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-7,3 %</a:t>
                      </a:r>
                    </a:p>
                  </a:txBody>
                  <a:tcPr>
                    <a:solidFill>
                      <a:srgbClr val="FAF0EF"/>
                    </a:solidFill>
                  </a:tcPr>
                </a:tc>
                <a:tc>
                  <a:txBody>
                    <a:bodyPr/>
                    <a:lstStyle/>
                    <a:p>
                      <a:pPr algn="ctr"/>
                      <a:r>
                        <a:rPr sz="1200" b="1" i="0">
                          <a:solidFill>
                            <a:srgbClr val="2E5FA3"/>
                          </a:solidFill>
                          <a:latin typeface="Calibri"/>
                        </a:rPr>
                        <a:t>+10,1 %</a:t>
                      </a:r>
                    </a:p>
                  </a:txBody>
                  <a:tcPr>
                    <a:solidFill>
                      <a:srgbClr val="EEF3FA"/>
                    </a:solidFill>
                  </a:tcPr>
                </a:tc>
                <a:tc>
                  <a:txBody>
                    <a:bodyPr/>
                    <a:lstStyle/>
                    <a:p>
                      <a:pPr algn="ctr"/>
                      <a:r>
                        <a:rPr sz="1200" b="1" i="0">
                          <a:solidFill>
                            <a:srgbClr val="1A7A4A"/>
                          </a:solidFill>
                          <a:latin typeface="Calibri"/>
                        </a:rPr>
                        <a:t>+23,6 %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290 USD, soit +12% vs le cours actuel. L'upside est justifié par une sous-valorisation structurelle des services (marge &gt;70%) et une prime de croissance déjà partiellement pricee. Un catalyseur clé serait l'accélération des revenus IA 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3 800,4</a:t>
                      </a:r>
                    </a:p>
                  </a:txBody>
                  <a:tcPr>
                    <a:solidFill>
                      <a:srgbClr val="DDE8F5"/>
                    </a:solidFill>
                  </a:tcPr>
                </a:tc>
                <a:tc>
                  <a:txBody>
                    <a:bodyPr/>
                    <a:lstStyle/>
                    <a:p>
                      <a:pPr algn="ctr"/>
                      <a:r>
                        <a:rPr sz="800" b="1" i="0">
                          <a:solidFill>
                            <a:srgbClr val="1B3A6B"/>
                          </a:solidFill>
                          <a:latin typeface="Calibri"/>
                        </a:rPr>
                        <a:t>26,7x</a:t>
                      </a:r>
                    </a:p>
                  </a:txBody>
                  <a:tcPr>
                    <a:solidFill>
                      <a:srgbClr val="DDE8F5"/>
                    </a:solidFill>
                  </a:tcPr>
                </a:tc>
                <a:tc>
                  <a:txBody>
                    <a:bodyPr/>
                    <a:lstStyle/>
                    <a:p>
                      <a:pPr algn="ctr"/>
                      <a:r>
                        <a:rPr sz="800" b="1" i="0">
                          <a:solidFill>
                            <a:srgbClr val="1B3A6B"/>
                          </a:solidFill>
                          <a:latin typeface="Calibri"/>
                        </a:rPr>
                        <a:t>9,3x</a:t>
                      </a:r>
                    </a:p>
                  </a:txBody>
                  <a:tcPr>
                    <a:solidFill>
                      <a:srgbClr val="DDE8F5"/>
                    </a:solidFill>
                  </a:tcPr>
                </a:tc>
                <a:tc>
                  <a:txBody>
                    <a:bodyPr/>
                    <a:lstStyle/>
                    <a:p>
                      <a:pPr algn="ctr"/>
                      <a:r>
                        <a:rPr sz="800" b="1" i="0">
                          <a:solidFill>
                            <a:srgbClr val="1B3A6B"/>
                          </a:solidFill>
                          <a:latin typeface="Calibri"/>
                        </a:rPr>
                        <a:t>33,9x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11,8x</a:t>
                      </a:r>
                    </a:p>
                  </a:txBody>
                  <a:tcPr>
                    <a:solidFill>
                      <a:srgbClr val="FFFFFF"/>
                    </a:solidFill>
                  </a:tcPr>
                </a:tc>
                <a:tc>
                  <a:txBody>
                    <a:bodyPr/>
                    <a:lstStyle/>
                    <a:p>
                      <a:pPr algn="ctr"/>
                      <a:r>
                        <a:rPr sz="800" b="0" i="0">
                          <a:solidFill>
                            <a:srgbClr val="0D0D0D"/>
                          </a:solidFill>
                          <a:latin typeface="Calibri"/>
                        </a:rPr>
                        <a:t>38,5x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2 050,0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26,8x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420,0</a:t>
                      </a:r>
                    </a:p>
                  </a:txBody>
                  <a:tcPr>
                    <a:solidFill>
                      <a:srgbClr val="FFFFFF"/>
                    </a:solidFill>
                  </a:tcPr>
                </a:tc>
                <a:tc>
                  <a:txBody>
                    <a:bodyPr/>
                    <a:lstStyle/>
                    <a:p>
                      <a:pPr algn="ctr"/>
                      <a:r>
                        <a:rPr sz="800" b="0" i="0">
                          <a:solidFill>
                            <a:srgbClr val="0D0D0D"/>
                          </a:solidFill>
                          <a:latin typeface="Calibri"/>
                        </a:rPr>
                        <a:t>7,2x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1 500,0</a:t>
                      </a:r>
                    </a:p>
                  </a:txBody>
                  <a:tcPr>
                    <a:solidFill>
                      <a:srgbClr val="F7F8FA"/>
                    </a:solidFill>
                  </a:tcPr>
                </a:tc>
                <a:tc>
                  <a:txBody>
                    <a:bodyPr/>
                    <a:lstStyle/>
                    <a:p>
                      <a:pPr algn="ctr"/>
                      <a:r>
                        <a:rPr sz="800" b="0" i="0">
                          <a:solidFill>
                            <a:srgbClr val="0D0D0D"/>
                          </a:solidFill>
                          <a:latin typeface="Calibri"/>
                        </a:rPr>
                        <a:t>15,8x</a:t>
                      </a:r>
                    </a:p>
                  </a:txBody>
                  <a:tcPr>
                    <a:solidFill>
                      <a:srgbClr val="F7F8FA"/>
                    </a:solidFill>
                  </a:tcPr>
                </a:tc>
                <a:tc>
                  <a:txBody>
                    <a:bodyPr/>
                    <a:lstStyle/>
                    <a:p>
                      <a:pPr algn="ctr"/>
                      <a:r>
                        <a:rPr sz="800" b="0" i="0">
                          <a:solidFill>
                            <a:srgbClr val="0D0D0D"/>
                          </a:solidFill>
                          <a:latin typeface="Calibri"/>
                        </a:rPr>
                        <a:t>8,9x</a:t>
                      </a:r>
                    </a:p>
                  </a:txBody>
                  <a:tcPr>
                    <a:solidFill>
                      <a:srgbClr val="F7F8FA"/>
                    </a:solidFill>
                  </a:tcPr>
                </a:tc>
                <a:tc>
                  <a:txBody>
                    <a:bodyPr/>
                    <a:lstStyle/>
                    <a:p>
                      <a:pPr algn="ctr"/>
                      <a:r>
                        <a:rPr sz="800" b="0" i="0">
                          <a:solidFill>
                            <a:srgbClr val="0D0D0D"/>
                          </a:solidFill>
                          <a:latin typeface="Calibri"/>
                        </a:rPr>
                        <a:t>32,1x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550,0</a:t>
                      </a:r>
                    </a:p>
                  </a:txBody>
                  <a:tcPr>
                    <a:solidFill>
                      <a:srgbClr val="FFFFFF"/>
                    </a:solidFill>
                  </a:tcPr>
                </a:tc>
                <a:tc>
                  <a:txBody>
                    <a:bodyPr/>
                    <a:lstStyle/>
                    <a:p>
                      <a:pPr algn="ctr"/>
                      <a:r>
                        <a:rPr sz="800" b="0" i="0">
                          <a:solidFill>
                            <a:srgbClr val="0D0D0D"/>
                          </a:solidFill>
                          <a:latin typeface="Calibri"/>
                        </a:rPr>
                        <a:t>18,2x</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25,3x</a:t>
                      </a:r>
                    </a:p>
                  </a:txBody>
                  <a:tcPr>
                    <a:solidFill>
                      <a:srgbClr val="FFFFFF"/>
                    </a:solidFill>
                  </a:tcPr>
                </a:tc>
                <a:tc>
                  <a:txBody>
                    <a:bodyPr/>
                    <a:lstStyle/>
                    <a:p>
                      <a:pPr algn="ctr"/>
                      <a:r>
                        <a:rPr sz="800" b="0" i="0">
                          <a:solidFill>
                            <a:srgbClr val="0D0D0D"/>
                          </a:solidFill>
                          <a:latin typeface="Calibri"/>
                        </a:rPr>
                        <a:t>52,0 %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18,2x</a:t>
                      </a:r>
                    </a:p>
                  </a:txBody>
                  <a:tcPr>
                    <a:solidFill>
                      <a:srgbClr val="F7F8FA"/>
                    </a:solidFill>
                  </a:tcPr>
                </a:tc>
                <a:tc>
                  <a:txBody>
                    <a:bodyPr/>
                    <a:lstStyle/>
                    <a:p>
                      <a:pPr algn="ctr"/>
                      <a:r>
                        <a:rPr sz="800" b="1" i="0">
                          <a:solidFill>
                            <a:srgbClr val="0D0D0D"/>
                          </a:solidFill>
                          <a:latin typeface="Calibri"/>
                        </a:rPr>
                        <a:t>8,9x</a:t>
                      </a:r>
                    </a:p>
                  </a:txBody>
                  <a:tcPr>
                    <a:solidFill>
                      <a:srgbClr val="F7F8FA"/>
                    </a:solidFill>
                  </a:tcPr>
                </a:tc>
                <a:tc>
                  <a:txBody>
                    <a:bodyPr/>
                    <a:lstStyle/>
                    <a:p>
                      <a:pPr algn="ctr"/>
                      <a:r>
                        <a:rPr sz="800" b="1" i="0">
                          <a:solidFill>
                            <a:srgbClr val="0D0D0D"/>
                          </a:solidFill>
                          <a:latin typeface="Calibri"/>
                        </a:rPr>
                        <a:t>26,8x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48,0 %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une prime de 18% sur EV/EBITDA (26.7x vs médiane peers 22.2x) et une décote de 15% sur P/E (33.9x vs 28.5x). Cette prime est justifiée par une croissance organique supérieure (+10% vs +6% pour les pairs) et une rentabilité exceptionnelle (ROE 151.9%). Une convergence vers la médiane peers impliquerait un upside de +15% sur EV/EBITDA.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de 290 USD, soit +12% vs le cours actuel. L'upside est justifié par une sous-valorisation structurelle des services (marge &gt;70%) et une prime de croissance déjà partiellement pricee. Un catalyseur clé serait l'accélération des revenus IA 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érosion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 P/E à 33,93x surpasse de 30% la moyenne sectorielle des géants tech (26x), sans justification de croissance exceptionnelle : les marges brutes de 46,9% stagnent depuis 2022, tandis que les coûts R&amp;D explosent (+12% en 2 ans) sans retour sur investissement visible. Les marges nettes de 26,9% reposent sur une marge opérationnelle en baisse de 1,8 point depuis 2023, masquée par des rachats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Dépendance Chine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La dépendance à l'iPhone (52% du CA) expose Apple à un retournement du marché premium chinois, où les parts de marché ont chuté de 18% en 2024 selon Counterpoint Research, avec une croissance des ventes en baisse de 3% au T3 2024. Les services (22% du CA) voient leur croissance ralentir à 10% en 2024, contre 15% en 2023, sous l'effet d'une saturation du marché des abonnements.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Valorisation excessive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ratio EV/EBITDA à 26,69x dépasse de 40% celui de Microsoft (19x), alors que la dette nette/EBITDA reste élevée à 0,43x malgré les rachats d'actions. Les flux de trésorerie disponibles ont baissé de 8% en 2024, et les investissements en capex ont augmenté de 25% sans amélioration de productivité, signalant une inefficacité croissante des dépenses.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prolongée réduisant la demande de terminaux premium</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en IA générative réduisant le différenciation produit</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déploiement de l'IA sur l'iPhone 16 affectant les ventes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49/100  Vigilance</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42/100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(0.99x)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Modérée (21%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Soutenable (1.2x)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Négatif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-0,134</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43,5 %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9</a:t>
                      </a:r>
                    </a:p>
                  </a:txBody>
                  <a:tcPr>
                    <a:solidFill>
                      <a:srgbClr val="EAF4EF"/>
                    </a:solidFill>
                  </a:tcPr>
                </a:tc>
                <a:tc>
                  <a:txBody>
                    <a:bodyPr/>
                    <a:lstStyle/>
                    <a:p>
                      <a:pPr algn="ctr"/>
                      <a:r>
                        <a:rPr sz="800" b="0" i="0">
                          <a:solidFill>
                            <a:srgbClr val="0D0D0D"/>
                          </a:solidFill>
                          <a:latin typeface="Calibri"/>
                        </a:rPr>
                        <a:t>+0,301</a:t>
                      </a:r>
                    </a:p>
                  </a:txBody>
                  <a:tcPr>
                    <a:solidFill>
                      <a:srgbClr val="EAF4EF"/>
                    </a:solidFill>
                  </a:tcPr>
                </a:tc>
                <a:tc>
                  <a:txBody>
                    <a:bodyPr/>
                    <a:lstStyle/>
                    <a:p>
                      <a:pPr algn="ctr"/>
                      <a:r>
                        <a:rPr sz="800" b="0" i="0">
                          <a:solidFill>
                            <a:srgbClr val="0D0D0D"/>
                          </a:solidFill>
                          <a:latin typeface="Calibri"/>
                        </a:rPr>
                        <a:t>Lancement iPhone 16 en septembre 2026 avec IA intégrée pourrait générer +12% de revenus organiques | Horizon: 12-18 mois | Impact: +15 Md$ de CA annuel</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6</a:t>
                      </a:r>
                    </a:p>
                  </a:txBody>
                  <a:tcPr>
                    <a:solidFill>
                      <a:srgbClr val="FFFFFF"/>
                    </a:solidFill>
                  </a:tcPr>
                </a:tc>
                <a:tc>
                  <a:txBody>
                    <a:bodyPr/>
                    <a:lstStyle/>
                    <a:p>
                      <a:pPr algn="ctr"/>
                      <a:r>
                        <a:rPr sz="800" b="0" i="0">
                          <a:solidFill>
                            <a:srgbClr val="0D0D0D"/>
                          </a:solidFill>
                          <a:latin typeface="Calibri"/>
                        </a:rPr>
                        <a:t>+0,264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15</a:t>
                      </a:r>
                    </a:p>
                  </a:txBody>
                  <a:tcPr>
                    <a:solidFill>
                      <a:srgbClr val="FAF0EF"/>
                    </a:solidFill>
                  </a:tcPr>
                </a:tc>
                <a:tc>
                  <a:txBody>
                    <a:bodyPr/>
                    <a:lstStyle/>
                    <a:p>
                      <a:pPr algn="ctr"/>
                      <a:r>
                        <a:rPr sz="800" b="0" i="0">
                          <a:solidFill>
                            <a:srgbClr val="0D0D0D"/>
                          </a:solidFill>
                          <a:latin typeface="Calibri"/>
                        </a:rPr>
                        <a:t>+0,435</a:t>
                      </a:r>
                    </a:p>
                  </a:txBody>
                  <a:tcPr>
                    <a:solidFill>
                      <a:srgbClr val="FAF0EF"/>
                    </a:solidFill>
                  </a:tcPr>
                </a:tc>
                <a:tc>
                  <a:txBody>
                    <a:bodyPr/>
                    <a:lstStyle/>
                    <a:p>
                      <a:pPr algn="ctr"/>
                      <a:r>
                        <a:rPr sz="800" b="0" i="0">
                          <a:solidFill>
                            <a:srgbClr val="0D0D0D"/>
                          </a:solidFill>
                          <a:latin typeface="Calibri"/>
                        </a:rPr>
                        <a:t>Régulation européenne sur les stores d'applications pourrait réduire les revenus services de 10% | Horizon: 6-12 mois | Ampleur: -15 Md$ de CA</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cette semaine souligne des défis majeurs pour Apple avec les retards sur son iPhone pliable et des questions sur sa stratégie satellite. Cependant, des soutiens d'investisseurs emblématiques et des performances boursières supérieures au marché tempèrent le sentiment global.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7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une prime de 20% vs la médiane des pairs sur EV/EBITDA (26.7x vs 22.2x), justifiée par sa qualité d'actifs et sa croissance supérieure. La décote sur P/E (33.9x vs 28.5x) reflète des attentes élevées mais gérables.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7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258,86 $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+29,4 %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+29,4 %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TextBox 34"/>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malgré un environnement macroéconomique difficile. La valorisation reste attractive avec une prime modérée vs ses pairs, soutenue par des marges historiques et une génération de cash robuste.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