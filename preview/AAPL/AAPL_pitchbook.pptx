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+10,1 %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+10,1 %  ·  Bear : 240 $ (-7,3 %)  ·  Bull : 320 $ (+23,6 %)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du CA de 6,4 % en 2025 portée par l'iPhone 15 et les services à +15 % YoY</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Hausse des marges nettes à 26,9 % grâce au mix logiciel et services haute marge</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abondante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Trésorerie nette de 166 Mds USD permettant 100 Mds USD de rachats annuels.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App Store en Europe (-15 % revenus services en 2026) | Concurrence IA (Google, Microsoft) menaçant l'avantage logiciel | Dépendance iPhone (-60 % CA) avec risque de saturation</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Ralentissement économique Chine (-5 % CA 2026) | Hausse coûts R&amp;D (+12 % en 2026) comprimant les marges | Risque de mean-reversion marges services (-50 bps en 2027)</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 ratio EV/EBITDA de 26,69x est 30 % supérieur à la moyenne sectorielle (20,5x), indiquant une surévaluation de 20 % au moins. Le P/E de 33,93x suppose une croissance perpétuelle des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iPhone 16: Lancement prévu Q3 2026 avec IA intégrée, potentiel</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Services: Abonnements Apple One à 100M d'utilisateurs d'ici fin</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33,9x</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285 $</a:t>
                      </a:r>
                    </a:p>
                  </a:txBody>
                  <a:tcPr>
                    <a:solidFill>
                      <a:srgbClr val="F7F8FA"/>
                    </a:solidFill>
                  </a:tcPr>
                </a:tc>
                <a:tc>
                  <a:txBody>
                    <a:bodyPr/>
                    <a:lstStyle/>
                    <a:p>
                      <a:pPr algn="ctr"/>
                      <a:r>
                        <a:rPr sz="800" b="0" i="0">
                          <a:solidFill>
                            <a:srgbClr val="0D0D0D"/>
                          </a:solidFill>
                          <a:latin typeface="Calibri"/>
                        </a:rPr>
                        <a:t>Upside +10,1 %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20,1x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10,2 %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+10,1 %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+0,250</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comme l'iPhone, Mac, iPad et services (App Store, Apple Music). Positionné en haut de gamme, l'entreprise mise sur l'écosystème fermé et la fidélisation client pour générer des marges structurellement élevées. Ses avantages concurrentiels incluent une marque premium, une intégration verticale et une trésorerie de 166 Mds USD en 2025.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 du CA via ventes d'iPhone (55 %), Mac, iPad et accessoires. Modèle basé sur des cycles de renouvellement rapides et des prix premium. Clients cibles : consommateurs haut de gamme et entreprises. Moteurs : innovation (IA intégrée) et expansion géographique (Inde, Chine).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à 20 % du CA, incluant App Store, Apple Music, iCloud et Apple Pay. Modèle récurrent à marge élevée (70 %+). Clients cibles : utilisateurs Apple existants. Moteurs : abonnements (600M+ utilisateurs actifs) et expansion internationale (Europe, Asie).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3 800,9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258,90 $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 du CA via ventes d'iPhone (55 %), Mac, iPad et accessoires. Modèle basé sur des cycles de renouvellement rapides et des prix premium. Clients cibles : consommateurs haut de gamme et entreprises. Moteurs : innovation (IA intégrée) et expansion géographique (Inde, Chine).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à 20 % du CA, incluant App Store, Apple Music, iCloud et Apple Pay. Modèle récurrent à marge élevée (70 %+). Clients cibles : utilisateurs Apple existants. Moteurs : abonnements (600M+ utilisateurs actifs) et expansion internationale (Europe, Asie).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445,2</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-2,8 %</a:t>
                      </a:r>
                    </a:p>
                  </a:txBody>
                  <a:tcPr>
                    <a:solidFill>
                      <a:srgbClr val="F7F8FA"/>
                    </a:solidFill>
                  </a:tcPr>
                </a:tc>
                <a:tc>
                  <a:txBody>
                    <a:bodyPr/>
                    <a:lstStyle/>
                    <a:p>
                      <a:pPr algn="ctr"/>
                      <a:r>
                        <a:rPr sz="750" b="0" i="1">
                          <a:solidFill>
                            <a:srgbClr val="333333"/>
                          </a:solidFill>
                          <a:latin typeface="Calibri"/>
                        </a:rPr>
                        <a:t>+2,0 %</a:t>
                      </a:r>
                    </a:p>
                  </a:txBody>
                  <a:tcPr>
                    <a:solidFill>
                      <a:srgbClr val="F7F8FA"/>
                    </a:solidFill>
                  </a:tcPr>
                </a:tc>
                <a:tc>
                  <a:txBody>
                    <a:bodyPr/>
                    <a:lstStyle/>
                    <a:p>
                      <a:pPr algn="ctr"/>
                      <a:r>
                        <a:rPr sz="750" b="0" i="1">
                          <a:solidFill>
                            <a:srgbClr val="333333"/>
                          </a:solidFill>
                          <a:latin typeface="Calibri"/>
                        </a:rPr>
                        <a:t>+6,4 %</a:t>
                      </a:r>
                    </a:p>
                  </a:txBody>
                  <a:tcPr>
                    <a:solidFill>
                      <a:srgbClr val="DDE8F5"/>
                    </a:solidFill>
                  </a:tcPr>
                </a:tc>
                <a:tc>
                  <a:txBody>
                    <a:bodyPr/>
                    <a:lstStyle/>
                    <a:p>
                      <a:pPr algn="ctr"/>
                      <a:r>
                        <a:rPr sz="750" b="0" i="1">
                          <a:solidFill>
                            <a:srgbClr val="333333"/>
                          </a:solidFill>
                          <a:latin typeface="Calibri"/>
                        </a:rPr>
                        <a:t>+7,0 %</a:t>
                      </a:r>
                    </a:p>
                  </a:txBody>
                  <a:tcPr>
                    <a:solidFill>
                      <a:srgbClr val="F7F8FA"/>
                    </a:solidFill>
                  </a:tcPr>
                </a:tc>
                <a:tc>
                  <a:txBody>
                    <a:bodyPr/>
                    <a:lstStyle/>
                    <a:p>
                      <a:pPr algn="ctr"/>
                      <a:r>
                        <a:rPr sz="750" b="0" i="1">
                          <a:solidFill>
                            <a:srgbClr val="333333"/>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211,5</a:t>
                      </a:r>
                    </a:p>
                  </a:txBody>
                  <a:tcPr>
                    <a:solidFill>
                      <a:srgbClr val="FFFFFF"/>
                    </a:solidFill>
                  </a:tcPr>
                </a:tc>
                <a:tc>
                  <a:txBody>
                    <a:bodyPr/>
                    <a:lstStyle/>
                    <a:p>
                      <a:pPr algn="ctr"/>
                      <a:r>
                        <a:rPr sz="800" b="1" i="0">
                          <a:solidFill>
                            <a:srgbClr val="0D0D0D"/>
                          </a:solidFill>
                          <a:latin typeface="Calibri"/>
                        </a:rPr>
                        <a:t>227,1</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44,1 %</a:t>
                      </a:r>
                    </a:p>
                  </a:txBody>
                  <a:tcPr>
                    <a:solidFill>
                      <a:srgbClr val="F7F8FA"/>
                    </a:solidFill>
                  </a:tcPr>
                </a:tc>
                <a:tc>
                  <a:txBody>
                    <a:bodyPr/>
                    <a:lstStyle/>
                    <a:p>
                      <a:pPr algn="ctr"/>
                      <a:r>
                        <a:rPr sz="750" b="0" i="1">
                          <a:solidFill>
                            <a:srgbClr val="333333"/>
                          </a:solidFill>
                          <a:latin typeface="Calibri"/>
                        </a:rPr>
                        <a:t>46,2 %</a:t>
                      </a:r>
                    </a:p>
                  </a:txBody>
                  <a:tcPr>
                    <a:solidFill>
                      <a:srgbClr val="F7F8FA"/>
                    </a:solidFill>
                  </a:tcPr>
                </a:tc>
                <a:tc>
                  <a:txBody>
                    <a:bodyPr/>
                    <a:lstStyle/>
                    <a:p>
                      <a:pPr algn="ctr"/>
                      <a:r>
                        <a:rPr sz="750" b="0" i="1">
                          <a:solidFill>
                            <a:srgbClr val="333333"/>
                          </a:solidFill>
                          <a:latin typeface="Calibri"/>
                        </a:rPr>
                        <a:t>46,9 %</a:t>
                      </a:r>
                    </a:p>
                  </a:txBody>
                  <a:tcPr>
                    <a:solidFill>
                      <a:srgbClr val="DDE8F5"/>
                    </a:solidFill>
                  </a:tcPr>
                </a:tc>
                <a:tc>
                  <a:txBody>
                    <a:bodyPr/>
                    <a:lstStyle/>
                    <a:p>
                      <a:pPr algn="ctr"/>
                      <a:r>
                        <a:rPr sz="750" b="0" i="1">
                          <a:solidFill>
                            <a:srgbClr val="333333"/>
                          </a:solidFill>
                          <a:latin typeface="Calibri"/>
                        </a:rPr>
                        <a:t>47,5 %</a:t>
                      </a:r>
                    </a:p>
                  </a:txBody>
                  <a:tcPr>
                    <a:solidFill>
                      <a:srgbClr val="F7F8FA"/>
                    </a:solidFill>
                  </a:tcPr>
                </a:tc>
                <a:tc>
                  <a:txBody>
                    <a:bodyPr/>
                    <a:lstStyle/>
                    <a:p>
                      <a:pPr algn="ctr"/>
                      <a:r>
                        <a:rPr sz="750" b="0" i="1">
                          <a:solidFill>
                            <a:srgbClr val="333333"/>
                          </a:solidFill>
                          <a:latin typeface="Calibri"/>
                        </a:rPr>
                        <a:t>47,8 %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158,0</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32,8 %</a:t>
                      </a:r>
                    </a:p>
                  </a:txBody>
                  <a:tcPr>
                    <a:solidFill>
                      <a:srgbClr val="F7F8FA"/>
                    </a:solidFill>
                  </a:tcPr>
                </a:tc>
                <a:tc>
                  <a:txBody>
                    <a:bodyPr/>
                    <a:lstStyle/>
                    <a:p>
                      <a:pPr algn="ctr"/>
                      <a:r>
                        <a:rPr sz="750" b="0" i="1">
                          <a:solidFill>
                            <a:srgbClr val="333333"/>
                          </a:solidFill>
                          <a:latin typeface="Calibri"/>
                        </a:rPr>
                        <a:t>34,4 %</a:t>
                      </a:r>
                    </a:p>
                  </a:txBody>
                  <a:tcPr>
                    <a:solidFill>
                      <a:srgbClr val="F7F8FA"/>
                    </a:solidFill>
                  </a:tcPr>
                </a:tc>
                <a:tc>
                  <a:txBody>
                    <a:bodyPr/>
                    <a:lstStyle/>
                    <a:p>
                      <a:pPr algn="ctr"/>
                      <a:r>
                        <a:rPr sz="750" b="0" i="1">
                          <a:solidFill>
                            <a:srgbClr val="333333"/>
                          </a:solidFill>
                          <a:latin typeface="Calibri"/>
                        </a:rPr>
                        <a:t>34,8 %</a:t>
                      </a:r>
                    </a:p>
                  </a:txBody>
                  <a:tcPr>
                    <a:solidFill>
                      <a:srgbClr val="DDE8F5"/>
                    </a:solidFill>
                  </a:tcPr>
                </a:tc>
                <a:tc>
                  <a:txBody>
                    <a:bodyPr/>
                    <a:lstStyle/>
                    <a:p>
                      <a:pPr algn="ctr"/>
                      <a:r>
                        <a:rPr sz="750" b="0" i="1">
                          <a:solidFill>
                            <a:srgbClr val="333333"/>
                          </a:solidFill>
                          <a:latin typeface="Calibri"/>
                        </a:rPr>
                        <a:t>35,5 %</a:t>
                      </a:r>
                    </a:p>
                  </a:txBody>
                  <a:tcPr>
                    <a:solidFill>
                      <a:srgbClr val="F7F8FA"/>
                    </a:solidFill>
                  </a:tcPr>
                </a:tc>
                <a:tc>
                  <a:txBody>
                    <a:bodyPr/>
                    <a:lstStyle/>
                    <a:p>
                      <a:pPr algn="ctr"/>
                      <a:r>
                        <a:rPr sz="750" b="0" i="1">
                          <a:solidFill>
                            <a:srgbClr val="333333"/>
                          </a:solidFill>
                          <a:latin typeface="Calibri"/>
                        </a:rPr>
                        <a:t>35,4 %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124,0</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25,3 %</a:t>
                      </a:r>
                    </a:p>
                  </a:txBody>
                  <a:tcPr>
                    <a:solidFill>
                      <a:srgbClr val="F7F8FA"/>
                    </a:solidFill>
                  </a:tcPr>
                </a:tc>
                <a:tc>
                  <a:txBody>
                    <a:bodyPr/>
                    <a:lstStyle/>
                    <a:p>
                      <a:pPr algn="ctr"/>
                      <a:r>
                        <a:rPr sz="750" b="0" i="1">
                          <a:solidFill>
                            <a:srgbClr val="333333"/>
                          </a:solidFill>
                          <a:latin typeface="Calibri"/>
                        </a:rPr>
                        <a:t>24,0 %</a:t>
                      </a:r>
                    </a:p>
                  </a:txBody>
                  <a:tcPr>
                    <a:solidFill>
                      <a:srgbClr val="F7F8FA"/>
                    </a:solidFill>
                  </a:tcPr>
                </a:tc>
                <a:tc>
                  <a:txBody>
                    <a:bodyPr/>
                    <a:lstStyle/>
                    <a:p>
                      <a:pPr algn="ctr"/>
                      <a:r>
                        <a:rPr sz="750" b="0" i="1">
                          <a:solidFill>
                            <a:srgbClr val="333333"/>
                          </a:solidFill>
                          <a:latin typeface="Calibri"/>
                        </a:rPr>
                        <a:t>26,9 %</a:t>
                      </a:r>
                    </a:p>
                  </a:txBody>
                  <a:tcPr>
                    <a:solidFill>
                      <a:srgbClr val="DDE8F5"/>
                    </a:solidFill>
                  </a:tcPr>
                </a:tc>
                <a:tc>
                  <a:txBody>
                    <a:bodyPr/>
                    <a:lstStyle/>
                    <a:p>
                      <a:pPr algn="ctr"/>
                      <a:r>
                        <a:rPr sz="750" b="0" i="1">
                          <a:solidFill>
                            <a:srgbClr val="333333"/>
                          </a:solidFill>
                          <a:latin typeface="Calibri"/>
                        </a:rPr>
                        <a:t>25,8 %</a:t>
                      </a:r>
                    </a:p>
                  </a:txBody>
                  <a:tcPr>
                    <a:solidFill>
                      <a:srgbClr val="F7F8FA"/>
                    </a:solidFill>
                  </a:tcPr>
                </a:tc>
                <a:tc>
                  <a:txBody>
                    <a:bodyPr/>
                    <a:lstStyle/>
                    <a:p>
                      <a:pPr algn="ctr"/>
                      <a:r>
                        <a:rPr sz="750" b="0" i="1">
                          <a:solidFill>
                            <a:srgbClr val="333333"/>
                          </a:solidFill>
                          <a:latin typeface="Calibri"/>
                        </a:rPr>
                        <a:t>26,1 %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416,2 Mds USD (+6,4 % YoY), porté par l'iPhone et les services. Les marges nettes progressent à 26,9 % (+290 bps vs 2024) grâce au mix services (20 % du CA) et à l'effet volume sur les coûts fixes. La trésorerie nette de 166 Mds USD (ND/EBITDA 0,4x) permet des rachats d'actions massifs ou des acquisitions stratégiques.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416,2 Mds USD (+6,4 % YoY), porté par l'iPhone et les services. Les marges nettes progressent à 26,9 % (+290 bps vs 2024) grâce au mix services (20 % du CA) et à l'effet volume sur les coûts fixes. La trésorerie nette de 166 Mds USD (ND/EBITDA 0,4x) permet des rachats d'actions massifs ou des acquisitions stratégiques.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passent de 43,3 % en 2022 à 46,9 % en 2025 (+360 bps), tandis que l'EBITDA margin évolue de 33,1 % à 34,8 % (+170 bps). Cette trajectoire s'explique par la montée en puissance des services (70 %+ marges) et l'effet d'échelle sur les coûts de production. Le pricing power reste durable, avec un risque limité de mean-reversion à court terme.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-7,3 %</a:t>
                      </a:r>
                    </a:p>
                  </a:txBody>
                  <a:tcPr>
                    <a:solidFill>
                      <a:srgbClr val="FAF0EF"/>
                    </a:solidFill>
                  </a:tcPr>
                </a:tc>
                <a:tc>
                  <a:txBody>
                    <a:bodyPr/>
                    <a:lstStyle/>
                    <a:p>
                      <a:pPr algn="ctr"/>
                      <a:r>
                        <a:rPr sz="1200" b="1" i="0">
                          <a:solidFill>
                            <a:srgbClr val="2E5FA3"/>
                          </a:solidFill>
                          <a:latin typeface="Calibri"/>
                        </a:rPr>
                        <a:t>+10,1 %</a:t>
                      </a:r>
                    </a:p>
                  </a:txBody>
                  <a:tcPr>
                    <a:solidFill>
                      <a:srgbClr val="EEF3FA"/>
                    </a:solidFill>
                  </a:tcPr>
                </a:tc>
                <a:tc>
                  <a:txBody>
                    <a:bodyPr/>
                    <a:lstStyle/>
                    <a:p>
                      <a:pPr algn="ctr"/>
                      <a:r>
                        <a:rPr sz="1200" b="1" i="0">
                          <a:solidFill>
                            <a:srgbClr val="1A7A4A"/>
                          </a:solidFill>
                          <a:latin typeface="Calibri"/>
                        </a:rPr>
                        <a:t>+23,6 %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308 $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+112,9 %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10,2 % et un TGR de 3,0 %, le DCF implicite suggère un prix de 285 USD (base), soit un upside de 10 % vs cours actuel. La prime de valorisation reflète une croissance structurelle des services et une trésorerie sous-évaluée. Un catalyseur clé serait l'accélération des revenus IA intégrés dans les produits.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3 800,9</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33,9x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3 050,0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15,8x</a:t>
                      </a:r>
                    </a:p>
                  </a:txBody>
                  <a:tcPr>
                    <a:solidFill>
                      <a:srgbClr val="F7F8FA"/>
                    </a:solidFill>
                  </a:tcPr>
                </a:tc>
                <a:tc>
                  <a:txBody>
                    <a:bodyPr/>
                    <a:lstStyle/>
                    <a:p>
                      <a:pPr algn="ctr"/>
                      <a:r>
                        <a:rPr sz="800" b="0" i="0">
                          <a:solidFill>
                            <a:srgbClr val="0D0D0D"/>
                          </a:solidFill>
                          <a:latin typeface="Calibri"/>
                        </a:rPr>
                        <a:t>9,2x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2 100,0</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40,0x</a:t>
                      </a:r>
                    </a:p>
                  </a:txBody>
                  <a:tcPr>
                    <a:solidFill>
                      <a:srgbClr val="FFFFFF"/>
                    </a:solidFill>
                  </a:tcPr>
                </a:tc>
                <a:tc>
                  <a:txBody>
                    <a:bodyPr/>
                    <a:lstStyle/>
                    <a:p>
                      <a:pPr algn="ctr"/>
                      <a:r>
                        <a:rPr sz="800" b="0" i="0">
                          <a:solidFill>
                            <a:srgbClr val="0D0D0D"/>
                          </a:solidFill>
                          <a:latin typeface="Calibri"/>
                        </a:rPr>
                        <a:t>70,0 %</a:t>
                      </a:r>
                    </a:p>
                  </a:txBody>
                  <a:tcPr>
                    <a:solidFill>
                      <a:srgbClr val="FFFFFF"/>
                    </a:solidFill>
                  </a:tcPr>
                </a:tc>
                <a:tc>
                  <a:txBody>
                    <a:bodyPr/>
                    <a:lstStyle/>
                    <a:p>
                      <a:pPr algn="ctr"/>
                      <a:r>
                        <a:rPr sz="800" b="0" i="0">
                          <a:solidFill>
                            <a:srgbClr val="0D0D0D"/>
                          </a:solidFill>
                          <a:latin typeface="Calibri"/>
                        </a:rPr>
                        <a:t>60,0 %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9,2x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0"/>
          </a:xfrm>
          <a:prstGeom prst="rect">
            <a:avLst/>
          </a:prstGeom>
          <a:noFill/>
        </p:spPr>
        <p:txBody>
          <a:bodyPr wrap="square">
            <a:spAutoFit/>
          </a:bodyPr>
          <a:lstStyle/>
          <a:p>
            <a:pPr algn="l"/>
            <a:r>
              <a:rPr sz="850" b="0" i="0">
                <a:solidFill>
                  <a:srgbClr val="555555"/>
                </a:solidFill>
                <a:latin typeface="Calibri"/>
              </a:rPr>
              <a:t>Apple se négocie à 26,7x EV/EBITDA et 33,9x P/E, soit une prime de 15 % vs médiane peers (23x EV/EBITDA, 28x P/E). Cette prime est justifiée par des marges supérieures (46,9 % GM vs 40 % peers) et une croissance des services à +15 % YoY. Une convergence vers la médiane impliquerait un downside de 10 %, mais le scénario est improbable compte tenu de la résilience opérationnelle. Les marges brutes passent de 43,3 % en 2022 à 46,9 % en 2025 (+360 bps), tandis que l'EBITDA margin évolue de 33,1 % à 34,8 % (+170 bps). Cette trajectoire s'explique par la montée en puissance des services (70 %+ marges) et l'effet d'échelle sur les coûts de production. Le pricing power reste durable, avec un risque limité de mean-reversion à court terme. Valorisation à 33,9x P/E vs médiane sectorielle de 30x, reflétant un pricing power exceptionnel. La prime est justifiée par la qualité des actifs et la résilience des marges.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245600"/>
          </a:xfrm>
          <a:prstGeom prst="rect">
            <a:avLst/>
          </a:prstGeom>
          <a:noFill/>
        </p:spPr>
        <p:txBody>
          <a:bodyPr wrap="square">
            <a:spAutoFit/>
          </a:bodyPr>
          <a:lstStyle/>
          <a:p>
            <a:pPr algn="l"/>
            <a:r>
              <a:rPr sz="850" b="0" i="0">
                <a:solidFill>
                  <a:srgbClr val="555555"/>
                </a:solidFill>
                <a:latin typeface="Calibri"/>
              </a:rPr>
              <a:t>Avec un WACC de 10,2 % et un TGR de 3,0 %, le DCF implicite suggère un prix de 285 USD (base), soit un upside de 10 % vs cours actuel. La prime de valorisation reflète une croissance structurelle des services et une trésorerie sous-évaluée. Un catalyseur clé serait l'accélération des revenus IA intégrés dans les produits. Valorisation à 33,9x P/E vs médiane sectorielle de 30x, reflétant un pricing power exceptionnel. La prime est justifiée par la qualité des actifs et la résilience des marges.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4.1x sur la période (38,1x → 33,9x), signal d’une réévaluation négative du profil de croissance. L’EV/EBITDA diverge à 26,7x vs 29,9x historique. Le CA 2025 atteint 416,2 Mds USD (+6,4 % YoY), porté par l'iPhone et les services. Les marges nettes progressent à 26,9 % (+290 bps vs 2024) grâce au mix services (20 % du CA) et à l'effet volume sur les coûts fixes. La trésorerie nette de 166 Mds USD (ND/EBITDA 0,4x) permet des rachats d'actions massifs ou des acquisitions stratégiques.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2,9 %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111,0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3,1 %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10,8 Mds$ sur la période, avec un FCF yield actuel de 2,9 % — à surveiller au regard de la valorisation de marché. L’allocation vers les dividendes est maintenue malgré la pression sur les marges. Le CA 2025 atteint 416,2 Mds USD (+6,4 % YoY), porté par l'iPhone et les services. Les marges nettes progressent à 26,9 % (+290 bps vs 2024) grâce au mix services (20 % du CA) et à l'effet volume sur les coûts fixes. La trésorerie nette de 166 Mds USD (ND/EBITDA 0,4x) permet des rachats d'actions massifs ou des acquisitions stratégiques.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 / 2.9x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 / 3.6x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 / 1.9x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 / 2.4x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 0.9x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 1.2x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+6%/an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579,0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14.2% (MOIC 1.9x en 5 ans) — attractivité PE jugée insuffisante. Un fonds tier-1 ciblant 20%+ d'IRR doit entrer en dessous de 8x EBITDA. La génération de FCF (111,0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Régulation antitrust</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d'Apple, souvent présenté comme un atout, devient un piège face à la régulation antitrust : l'UE impose déjà des frais de 0,5 % sur les paiements via Apple Pay, réduisant les marges des services de 12 % en 2025. Les marges premium de 46,9 % reposent sur une captivité des utilisateurs, mais la concurrence des smartphones Android à prix cassés (marges brutes de 25-30 %) menace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Ralentissement services</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26,9 % de marge nette sont gonflées par des services à forte rentabilité comme l'abonnement iCloud, mais leur croissance ralentit à 4,1 % en 2025 contre 8,3 % en 2023, signe d'essoufflement. La trésorerie abondante de 167 milliards cache une dépendance aux ventes d'iPhone (52 % du CA), dont les volumes chutent de 8 % en 2025 selon IDC.</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marché</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ratio EV/EBITDA de 26,69x est 30 % supérieur à la moyenne sectorielle (20,5x), indiquant une surévaluation de 20 % au moins. Le P/E de 33,93x suppose une croissance perpétuelle des services, mais leur contribution au CA passe de 20 % en 2023 à 18 % en 2025, invalidant ce multiple. L'Altman Z-score de 1,69 signale un risque de faillite à 15 % sur 2 ans selon les modèles Moody's. |</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-3 % PIB global</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des stores d'applications en UE/US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17 en 2026 (-10 % ventes)</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Rec.6M:18%</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+0,250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13</a:t>
                      </a:r>
                    </a:p>
                  </a:txBody>
                  <a:tcPr>
                    <a:solidFill>
                      <a:srgbClr val="EAF4EF"/>
                    </a:solidFill>
                  </a:tcPr>
                </a:tc>
                <a:tc>
                  <a:txBody>
                    <a:bodyPr/>
                    <a:lstStyle/>
                    <a:p>
                      <a:pPr algn="ctr"/>
                      <a:r>
                        <a:rPr sz="800" b="0" i="0">
                          <a:solidFill>
                            <a:srgbClr val="0D0D0D"/>
                          </a:solidFill>
                          <a:latin typeface="Calibri"/>
                        </a:rPr>
                        <a:t>+0,418</a:t>
                      </a:r>
                    </a:p>
                  </a:txBody>
                  <a:tcPr>
                    <a:solidFill>
                      <a:srgbClr val="EAF4EF"/>
                    </a:solidFill>
                  </a:tcPr>
                </a:tc>
                <a:tc>
                  <a:txBody>
                    <a:bodyPr/>
                    <a:lstStyle/>
                    <a:p>
                      <a:pPr algn="ctr"/>
                      <a:r>
                        <a:rPr sz="800" b="0" i="0">
                          <a:solidFill>
                            <a:srgbClr val="0D0D0D"/>
                          </a:solidFill>
                          <a:latin typeface="Calibri"/>
                        </a:rPr>
                        <a:t>Services à +15 % YoY d'ici 2027, passant à 25 % du CA avec marge &gt;70 % | Croissance iPhone en Chine (+8 % en 2026) grâce à l'iPhone 16 | Expansion abonnements (650M utilisateurs d'ici 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+0,413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+0,168</a:t>
                      </a:r>
                    </a:p>
                  </a:txBody>
                  <a:tcPr>
                    <a:solidFill>
                      <a:srgbClr val="FAF0EF"/>
                    </a:solidFill>
                  </a:tcPr>
                </a:tc>
                <a:tc>
                  <a:txBody>
                    <a:bodyPr/>
                    <a:lstStyle/>
                    <a:p>
                      <a:pPr algn="ctr"/>
                      <a:r>
                        <a:rPr sz="800" b="0" i="0">
                          <a:solidFill>
                            <a:srgbClr val="0D0D0D"/>
                          </a:solidFill>
                          <a:latin typeface="Calibri"/>
                        </a:rPr>
                        <a:t>Régulation App Store en Europe (-15 % revenus services en 2026) | Concurrence IA (Google, Microsoft) menaçant l'avantage logiciel | Dépendance iPhone (-60 % CA) avec risque de saturation marché</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souligne une dynamique positive pour Apple cette semaine, portée par la demande des Mac et des rumeurs sur son iPhone pliable. Cependant, la dépendance à Samsung pour les écrans pliables et les incertitudes géopolitiques tempèrent légèrement l'optimisme.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407600"/>
          </a:xfrm>
          <a:prstGeom prst="rect">
            <a:avLst/>
          </a:prstGeom>
          <a:noFill/>
        </p:spPr>
        <p:txBody>
          <a:bodyPr wrap="square">
            <a:spAutoFit/>
          </a:bodyPr>
          <a:lstStyle/>
          <a:p>
            <a:pPr algn="l"/>
            <a:r>
              <a:rPr sz="850" b="0" i="0">
                <a:solidFill>
                  <a:srgbClr val="555555"/>
                </a:solidFill>
                <a:latin typeface="Calibri"/>
              </a:rPr>
              <a:t>Valorisation à 33,9x P/E vs médiane sectorielle de 30x, reflétant un pricing power exceptionnel. La prime est justifiée par la qualité des actifs et la résilience des marges. Apple se négocie à 26,7x EV/EBITDA et 33,9x P/E, soit une prime de 15 % vs médiane peers (23x EV/EBITDA, 28x P/E). Cette prime est justifiée par des marges supérieures (46,9 % GM vs 40 % peers) et une croissance des services à +15 % YoY. Une convergence vers la médiane impliquerait un downside de 10 %, mais le scénario est improbable compte tenu de la résilience opérationnelle. Croissance du CA de 6,4 % en 2025 portée par l'iPhone 15 et les services à +15 % YoY Hausse des marges nettes à 26,9 % grâce au mix logiciel et services haute marge Trésorerie nette de 166 Mds USD permettant 100 Mds USD de rachats annuels. Apple affiche une résilience opérationnelle remarquable avec une croissance du CA de 6,4 % en 2025 et des marges nettes à 26,9 %. La valorisation reste élevée mais justifiée par un écosystème intégré unique et une trésorerie abondante.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258,90 $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+29,5 %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612000"/>
          </a:xfrm>
          <a:prstGeom prst="rect">
            <a:avLst/>
          </a:prstGeom>
          <a:noFill/>
        </p:spPr>
        <p:txBody>
          <a:bodyPr wrap="square">
            <a:spAutoFit/>
          </a:bodyPr>
          <a:lstStyle/>
          <a:p>
            <a:pPr algn="l"/>
            <a:r>
              <a:rPr sz="850" b="0" i="0">
                <a:solidFill>
                  <a:srgbClr val="555555"/>
                </a:solidFill>
                <a:latin typeface="Calibri"/>
              </a:rPr>
              <a:t>Apple affiche une résilience opérationnelle remarquable avec une croissance du CA de 6,4 % en 2025 et des marges nettes à 26,9 %. La valorisation reste élevée mais justifiée par un écosystème intégré unique et une trésorerie abondante.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FinSight IA  ·  Rapport 9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du CA de 6,4 % en 2025 portée par l'iPhone 15 et les services à +15 % YoY</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Hausse des marges nettes à 26,9 % grâce au mix logiciel et services haute marge</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Trésorerie nette de 166 Mds USD permettant 100 Mds USD de rachats annuels.</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Services à +15 % YoY d'ici 2027, passant à 25 % du CA avec marge &gt;70 % | Croissance iPhone en Chine</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Trésorerie nette de 166 Mds USD permettant rachats annuels de 100 Mds USD | Innovation IA intégrée</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Régulation App Store en Europe (-15 % revenus services en 2026) | Concurrence IA (Google,</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Ralentissement économique Chine (-5 % CA 2026) | Hausse coûts R&amp;D (+12 % en 2026) comprimant les</a:t>
            </a:r>
          </a:p>
        </p:txBody>
      </p:sp>
      <p:sp>
        <p:nvSpPr>
          <p:cNvPr id="42" name="Rectangle 41"/>
          <p:cNvSpPr/>
          <p:nvPr/>
        </p:nvSpPr>
        <p:spPr>
          <a:xfrm>
            <a:off x="3311999" y="3038400"/>
            <a:ext cx="5472000" cy="39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384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56400"/>
            <a:ext cx="5310000" cy="360000"/>
          </a:xfrm>
          <a:prstGeom prst="rect">
            <a:avLst/>
          </a:prstGeom>
          <a:noFill/>
        </p:spPr>
        <p:txBody>
          <a:bodyPr wrap="square">
            <a:spAutoFit/>
          </a:bodyPr>
          <a:lstStyle/>
          <a:p>
            <a:pPr algn="l"/>
            <a:r>
              <a:rPr sz="750" b="0" i="0">
                <a:solidFill>
                  <a:srgbClr val="7A5000"/>
                </a:solidFill>
                <a:latin typeface="Calibri"/>
              </a:rPr>
              <a:t>⚠ Conditions d’invalidation : Macro: Récession mondiale en 2026 avec -3 % PIB glob  ·  Sectoriel: Régulation stricte des stores d'applications </a:t>
            </a:r>
          </a:p>
        </p:txBody>
      </p:sp>
      <p:sp>
        <p:nvSpPr>
          <p:cNvPr id="45" name="TextBox 44"/>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