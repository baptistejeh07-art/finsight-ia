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9144000" cy="5144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371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5600"/>
            <a:ext cx="8229600" cy="255600"/>
          </a:xfrm>
          <a:prstGeom prst="rect">
            <a:avLst/>
          </a:prstGeom>
          <a:noFill/>
        </p:spPr>
        <p:txBody>
          <a:bodyPr wrap="square">
            <a:spAutoFit/>
          </a:bodyPr>
          <a:lstStyle/>
          <a:p>
            <a:pPr algn="ctr"/>
            <a:r>
              <a:rPr sz="1000" b="0" i="0">
                <a:solidFill>
                  <a:srgbClr val="8899BB"/>
                </a:solidFill>
                <a:latin typeface="Calibri"/>
              </a:rPr>
              <a:t>FinSight IA</a:t>
            </a:r>
          </a:p>
        </p:txBody>
      </p:sp>
      <p:sp>
        <p:nvSpPr>
          <p:cNvPr id="4" name="Rectangle 3"/>
          <p:cNvSpPr/>
          <p:nvPr/>
        </p:nvSpPr>
        <p:spPr>
          <a:xfrm>
            <a:off x="3978000" y="475200"/>
            <a:ext cx="1188000" cy="1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547200"/>
            <a:ext cx="8229600" cy="291600"/>
          </a:xfrm>
          <a:prstGeom prst="rect">
            <a:avLst/>
          </a:prstGeom>
          <a:noFill/>
        </p:spPr>
        <p:txBody>
          <a:bodyPr wrap="square">
            <a:spAutoFit/>
          </a:bodyPr>
          <a:lstStyle/>
          <a:p>
            <a:pPr algn="ctr"/>
            <a:r>
              <a:rPr sz="1100" b="0" i="0">
                <a:solidFill>
                  <a:srgbClr val="CCDDEE"/>
                </a:solidFill>
                <a:latin typeface="Calibri"/>
              </a:rPr>
              <a:t>Pitchbook  —  Analyse d'investissement</a:t>
            </a:r>
          </a:p>
        </p:txBody>
      </p:sp>
      <p:sp>
        <p:nvSpPr>
          <p:cNvPr id="6" name="TextBox 5"/>
          <p:cNvSpPr txBox="1"/>
          <p:nvPr/>
        </p:nvSpPr>
        <p:spPr>
          <a:xfrm>
            <a:off x="457200" y="1461599"/>
            <a:ext cx="8229600" cy="794232"/>
          </a:xfrm>
          <a:prstGeom prst="rect">
            <a:avLst/>
          </a:prstGeom>
          <a:noFill/>
        </p:spPr>
        <p:txBody>
          <a:bodyPr wrap="square">
            <a:spAutoFit/>
          </a:bodyPr>
          <a:lstStyle/>
          <a:p>
            <a:pPr algn="ctr"/>
            <a:r>
              <a:rPr sz="4000" b="1" i="0">
                <a:solidFill>
                  <a:srgbClr val="1B3A6B"/>
                </a:solidFill>
                <a:latin typeface="Calibri"/>
              </a:rPr>
              <a:t>Apple Inc.</a:t>
            </a:r>
          </a:p>
        </p:txBody>
      </p:sp>
      <p:sp>
        <p:nvSpPr>
          <p:cNvPr id="7" name="TextBox 6"/>
          <p:cNvSpPr txBox="1"/>
          <p:nvPr/>
        </p:nvSpPr>
        <p:spPr>
          <a:xfrm>
            <a:off x="457200" y="2345832"/>
            <a:ext cx="8229600" cy="255600"/>
          </a:xfrm>
          <a:prstGeom prst="rect">
            <a:avLst/>
          </a:prstGeom>
          <a:noFill/>
        </p:spPr>
        <p:txBody>
          <a:bodyPr wrap="square">
            <a:spAutoFit/>
          </a:bodyPr>
          <a:lstStyle/>
          <a:p>
            <a:pPr algn="ctr"/>
            <a:r>
              <a:rPr sz="1100" b="0" i="0">
                <a:solidFill>
                  <a:srgbClr val="888888"/>
                </a:solidFill>
                <a:latin typeface="Calibri"/>
              </a:rPr>
              <a:t>AAPL  ·  Technology</a:t>
            </a:r>
          </a:p>
        </p:txBody>
      </p:sp>
      <p:sp>
        <p:nvSpPr>
          <p:cNvPr id="8" name="Rectangle 7"/>
          <p:cNvSpPr/>
          <p:nvPr/>
        </p:nvSpPr>
        <p:spPr>
          <a:xfrm>
            <a:off x="2771999" y="2720232"/>
            <a:ext cx="3600000" cy="43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826000" y="2738232"/>
            <a:ext cx="3491999" cy="395999"/>
          </a:xfrm>
          <a:prstGeom prst="rect">
            <a:avLst/>
          </a:prstGeom>
          <a:noFill/>
        </p:spPr>
        <p:txBody>
          <a:bodyPr wrap="square">
            <a:spAutoFit/>
          </a:bodyPr>
          <a:lstStyle/>
          <a:p>
            <a:pPr algn="ctr"/>
            <a:r>
              <a:rPr sz="900" b="1" i="0">
                <a:solidFill>
                  <a:srgbClr val="FFFFFF"/>
                </a:solidFill>
                <a:latin typeface="Calibri"/>
              </a:rPr>
              <a:t>● BUY  ·  Prix cible base : 285 $  ·  Upside : +11,4 %</a:t>
            </a:r>
          </a:p>
        </p:txBody>
      </p:sp>
      <p:sp>
        <p:nvSpPr>
          <p:cNvPr id="10" name="Rectangle 9"/>
          <p:cNvSpPr/>
          <p:nvPr/>
        </p:nvSpPr>
        <p:spPr>
          <a:xfrm>
            <a:off x="367200" y="44640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00" y="4554000"/>
            <a:ext cx="4114800" cy="201600"/>
          </a:xfrm>
          <a:prstGeom prst="rect">
            <a:avLst/>
          </a:prstGeom>
          <a:noFill/>
        </p:spPr>
        <p:txBody>
          <a:bodyPr wrap="square">
            <a:spAutoFit/>
          </a:bodyPr>
          <a:lstStyle/>
          <a:p>
            <a:pPr algn="l"/>
            <a:r>
              <a:rPr sz="800" b="0" i="0">
                <a:solidFill>
                  <a:srgbClr val="555555"/>
                </a:solidFill>
                <a:latin typeface="Calibri"/>
              </a:rPr>
              <a:t>Rapport confidentiel</a:t>
            </a:r>
          </a:p>
        </p:txBody>
      </p:sp>
      <p:sp>
        <p:nvSpPr>
          <p:cNvPr id="12" name="TextBox 11"/>
          <p:cNvSpPr txBox="1"/>
          <p:nvPr/>
        </p:nvSpPr>
        <p:spPr>
          <a:xfrm>
            <a:off x="4662000" y="4554000"/>
            <a:ext cx="4114800" cy="201600"/>
          </a:xfrm>
          <a:prstGeom prst="rect">
            <a:avLst/>
          </a:prstGeom>
          <a:noFill/>
        </p:spPr>
        <p:txBody>
          <a:bodyPr wrap="square">
            <a:spAutoFit/>
          </a:bodyPr>
          <a:lstStyle/>
          <a:p>
            <a:pPr algn="r"/>
            <a:r>
              <a:rPr sz="800" b="0" i="0">
                <a:solidFill>
                  <a:srgbClr val="555555"/>
                </a:solidFill>
                <a:latin typeface="Calibri"/>
              </a:rPr>
              <a:t>3 avril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Executive Summary</a:t>
            </a:r>
          </a:p>
        </p:txBody>
      </p:sp>
      <p:sp>
        <p:nvSpPr>
          <p:cNvPr id="6" name="Rectangle 5"/>
          <p:cNvSpPr/>
          <p:nvPr/>
        </p:nvSpPr>
        <p:spPr>
          <a:xfrm>
            <a:off x="367200" y="748800"/>
            <a:ext cx="8413200" cy="4392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748800"/>
            <a:ext cx="46800" cy="4392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766800"/>
            <a:ext cx="1098000" cy="403200"/>
          </a:xfrm>
          <a:prstGeom prst="rect">
            <a:avLst/>
          </a:prstGeom>
          <a:noFill/>
        </p:spPr>
        <p:txBody>
          <a:bodyPr wrap="square">
            <a:spAutoFit/>
          </a:bodyPr>
          <a:lstStyle/>
          <a:p>
            <a:pPr algn="l"/>
            <a:r>
              <a:rPr sz="1100" b="1" i="0">
                <a:solidFill>
                  <a:srgbClr val="1A7A4A"/>
                </a:solidFill>
                <a:latin typeface="Calibri"/>
              </a:rPr>
              <a:t>● BUY</a:t>
            </a:r>
          </a:p>
        </p:txBody>
      </p:sp>
      <p:sp>
        <p:nvSpPr>
          <p:cNvPr id="9" name="TextBox 8"/>
          <p:cNvSpPr txBox="1"/>
          <p:nvPr/>
        </p:nvSpPr>
        <p:spPr>
          <a:xfrm>
            <a:off x="1692000" y="766800"/>
            <a:ext cx="6948000" cy="403200"/>
          </a:xfrm>
          <a:prstGeom prst="rect">
            <a:avLst/>
          </a:prstGeom>
          <a:noFill/>
        </p:spPr>
        <p:txBody>
          <a:bodyPr wrap="square">
            <a:spAutoFit/>
          </a:bodyPr>
          <a:lstStyle/>
          <a:p>
            <a:pPr algn="l"/>
            <a:r>
              <a:rPr sz="900" b="0" i="0">
                <a:solidFill>
                  <a:srgbClr val="1B3A6B"/>
                </a:solidFill>
                <a:latin typeface="Calibri"/>
              </a:rPr>
              <a:t>Prix cible base : 285 $  ·  Upside : +11,4 %  ·  Bear : 240 $ (-6,2 %)  ·  Bull : 320 $ (+25,0 %)</a:t>
            </a:r>
          </a:p>
        </p:txBody>
      </p:sp>
      <p:sp>
        <p:nvSpPr>
          <p:cNvPr id="10" name="Rectangle 9"/>
          <p:cNvSpPr/>
          <p:nvPr/>
        </p:nvSpPr>
        <p:spPr>
          <a:xfrm>
            <a:off x="367200" y="1353600"/>
            <a:ext cx="4161600" cy="255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00" y="1353600"/>
            <a:ext cx="4161600" cy="255600"/>
          </a:xfrm>
          <a:prstGeom prst="rect">
            <a:avLst/>
          </a:prstGeom>
          <a:noFill/>
        </p:spPr>
        <p:txBody>
          <a:bodyPr wrap="square">
            <a:spAutoFit/>
          </a:bodyPr>
          <a:lstStyle/>
          <a:p>
            <a:pPr algn="l"/>
            <a:r>
              <a:rPr sz="900" b="1" i="0">
                <a:solidFill>
                  <a:srgbClr val="FFFFFF"/>
                </a:solidFill>
                <a:latin typeface="Calibri"/>
              </a:rPr>
              <a:t>THÈSE D'INVESTISSEMENT</a:t>
            </a:r>
          </a:p>
        </p:txBody>
      </p:sp>
      <p:sp>
        <p:nvSpPr>
          <p:cNvPr id="12" name="Rectangle 11"/>
          <p:cNvSpPr/>
          <p:nvPr/>
        </p:nvSpPr>
        <p:spPr>
          <a:xfrm>
            <a:off x="367200" y="16632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3999" y="1645200"/>
            <a:ext cx="3931200" cy="183600"/>
          </a:xfrm>
          <a:prstGeom prst="rect">
            <a:avLst/>
          </a:prstGeom>
          <a:noFill/>
        </p:spPr>
        <p:txBody>
          <a:bodyPr wrap="square">
            <a:spAutoFit/>
          </a:bodyPr>
          <a:lstStyle/>
          <a:p>
            <a:pPr algn="l"/>
            <a:r>
              <a:rPr sz="850" b="1" i="0">
                <a:solidFill>
                  <a:srgbClr val="1B3A6B"/>
                </a:solidFill>
                <a:latin typeface="Calibri"/>
              </a:rPr>
              <a:t>Écosystème fermé</a:t>
            </a:r>
          </a:p>
        </p:txBody>
      </p:sp>
      <p:sp>
        <p:nvSpPr>
          <p:cNvPr id="14" name="TextBox 13"/>
          <p:cNvSpPr txBox="1"/>
          <p:nvPr/>
        </p:nvSpPr>
        <p:spPr>
          <a:xfrm>
            <a:off x="503999" y="1814400"/>
            <a:ext cx="3931200" cy="327600"/>
          </a:xfrm>
          <a:prstGeom prst="rect">
            <a:avLst/>
          </a:prstGeom>
          <a:noFill/>
        </p:spPr>
        <p:txBody>
          <a:bodyPr wrap="square">
            <a:spAutoFit/>
          </a:bodyPr>
          <a:lstStyle/>
          <a:p>
            <a:pPr algn="l"/>
            <a:r>
              <a:rPr sz="750" b="0" i="0">
                <a:solidFill>
                  <a:srgbClr val="333333"/>
                </a:solidFill>
                <a:latin typeface="Calibri"/>
              </a:rPr>
              <a:t>Apple devrait bénéficier de +15% de croissance du CA services d'ici 2027 grâce à l'expansion de l'App Store et Apple Pay</a:t>
            </a:r>
          </a:p>
        </p:txBody>
      </p:sp>
      <p:sp>
        <p:nvSpPr>
          <p:cNvPr id="15" name="Rectangle 14"/>
          <p:cNvSpPr/>
          <p:nvPr/>
        </p:nvSpPr>
        <p:spPr>
          <a:xfrm>
            <a:off x="367200" y="21960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3999" y="2178000"/>
            <a:ext cx="3931200" cy="183600"/>
          </a:xfrm>
          <a:prstGeom prst="rect">
            <a:avLst/>
          </a:prstGeom>
          <a:noFill/>
        </p:spPr>
        <p:txBody>
          <a:bodyPr wrap="square">
            <a:spAutoFit/>
          </a:bodyPr>
          <a:lstStyle/>
          <a:p>
            <a:pPr algn="l"/>
            <a:r>
              <a:rPr sz="850" b="1" i="0">
                <a:solidFill>
                  <a:srgbClr val="1B3A6B"/>
                </a:solidFill>
                <a:latin typeface="Calibri"/>
              </a:rPr>
              <a:t>Marge premium</a:t>
            </a:r>
          </a:p>
        </p:txBody>
      </p:sp>
      <p:sp>
        <p:nvSpPr>
          <p:cNvPr id="17" name="TextBox 16"/>
          <p:cNvSpPr txBox="1"/>
          <p:nvPr/>
        </p:nvSpPr>
        <p:spPr>
          <a:xfrm>
            <a:off x="503999" y="2347200"/>
            <a:ext cx="3931200" cy="327600"/>
          </a:xfrm>
          <a:prstGeom prst="rect">
            <a:avLst/>
          </a:prstGeom>
          <a:noFill/>
        </p:spPr>
        <p:txBody>
          <a:bodyPr wrap="square">
            <a:spAutoFit/>
          </a:bodyPr>
          <a:lstStyle/>
          <a:p>
            <a:pPr algn="l"/>
            <a:r>
              <a:rPr sz="750" b="0" i="0">
                <a:solidFill>
                  <a:srgbClr val="333333"/>
                </a:solidFill>
                <a:latin typeface="Calibri"/>
              </a:rPr>
              <a:t>La marge brute devrait atteindre 48% en 2027 avec l'optimisation des coûts de production et le mix produit favorable</a:t>
            </a:r>
          </a:p>
        </p:txBody>
      </p:sp>
      <p:sp>
        <p:nvSpPr>
          <p:cNvPr id="18" name="Rectangle 17"/>
          <p:cNvSpPr/>
          <p:nvPr/>
        </p:nvSpPr>
        <p:spPr>
          <a:xfrm>
            <a:off x="367200" y="27288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2710800"/>
            <a:ext cx="3931200" cy="183600"/>
          </a:xfrm>
          <a:prstGeom prst="rect">
            <a:avLst/>
          </a:prstGeom>
          <a:noFill/>
        </p:spPr>
        <p:txBody>
          <a:bodyPr wrap="square">
            <a:spAutoFit/>
          </a:bodyPr>
          <a:lstStyle/>
          <a:p>
            <a:pPr algn="l"/>
            <a:r>
              <a:rPr sz="850" b="1" i="0">
                <a:solidFill>
                  <a:srgbClr val="1B3A6B"/>
                </a:solidFill>
                <a:latin typeface="Calibri"/>
              </a:rPr>
              <a:t>Trésorerie record</a:t>
            </a:r>
          </a:p>
        </p:txBody>
      </p:sp>
      <p:sp>
        <p:nvSpPr>
          <p:cNvPr id="20" name="TextBox 19"/>
          <p:cNvSpPr txBox="1"/>
          <p:nvPr/>
        </p:nvSpPr>
        <p:spPr>
          <a:xfrm>
            <a:off x="503999" y="2880000"/>
            <a:ext cx="3931200" cy="327600"/>
          </a:xfrm>
          <a:prstGeom prst="rect">
            <a:avLst/>
          </a:prstGeom>
          <a:noFill/>
        </p:spPr>
        <p:txBody>
          <a:bodyPr wrap="square">
            <a:spAutoFit/>
          </a:bodyPr>
          <a:lstStyle/>
          <a:p>
            <a:pPr algn="l"/>
            <a:r>
              <a:rPr sz="750" b="0" i="0">
                <a:solidFill>
                  <a:srgbClr val="333333"/>
                </a:solidFill>
                <a:latin typeface="Calibri"/>
              </a:rPr>
              <a:t>Le FCF devrait croître de +12%/an jusqu'en 2027 grâce à la discipline financière et au rachat d'actions.</a:t>
            </a:r>
          </a:p>
        </p:txBody>
      </p:sp>
      <p:sp>
        <p:nvSpPr>
          <p:cNvPr id="21" name="Rectangle 20"/>
          <p:cNvSpPr/>
          <p:nvPr/>
        </p:nvSpPr>
        <p:spPr>
          <a:xfrm>
            <a:off x="4708800" y="1353600"/>
            <a:ext cx="4068000" cy="255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08800" y="1353600"/>
            <a:ext cx="4068000" cy="255600"/>
          </a:xfrm>
          <a:prstGeom prst="rect">
            <a:avLst/>
          </a:prstGeom>
          <a:noFill/>
        </p:spPr>
        <p:txBody>
          <a:bodyPr wrap="square">
            <a:spAutoFit/>
          </a:bodyPr>
          <a:lstStyle/>
          <a:p>
            <a:pPr algn="l"/>
            <a:r>
              <a:rPr sz="900" b="1" i="0">
                <a:solidFill>
                  <a:srgbClr val="FFFFFF"/>
                </a:solidFill>
                <a:latin typeface="Calibri"/>
              </a:rPr>
              <a:t>RISQUES PRINCIPAUX</a:t>
            </a:r>
          </a:p>
        </p:txBody>
      </p:sp>
      <p:sp>
        <p:nvSpPr>
          <p:cNvPr id="23" name="Rectangle 22"/>
          <p:cNvSpPr/>
          <p:nvPr/>
        </p:nvSpPr>
        <p:spPr>
          <a:xfrm>
            <a:off x="4708800" y="16632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45600" y="1645200"/>
            <a:ext cx="3794399" cy="183600"/>
          </a:xfrm>
          <a:prstGeom prst="rect">
            <a:avLst/>
          </a:prstGeom>
          <a:noFill/>
        </p:spPr>
        <p:txBody>
          <a:bodyPr wrap="square">
            <a:spAutoFit/>
          </a:bodyPr>
          <a:lstStyle/>
          <a:p>
            <a:pPr algn="l"/>
            <a:r>
              <a:rPr sz="850" b="1" i="0">
                <a:solidFill>
                  <a:srgbClr val="1B3A6B"/>
                </a:solidFill>
                <a:latin typeface="Calibri"/>
              </a:rPr>
              <a:t>Régulation App Store</a:t>
            </a:r>
          </a:p>
        </p:txBody>
      </p:sp>
      <p:sp>
        <p:nvSpPr>
          <p:cNvPr id="25" name="TextBox 24"/>
          <p:cNvSpPr txBox="1"/>
          <p:nvPr/>
        </p:nvSpPr>
        <p:spPr>
          <a:xfrm>
            <a:off x="4845600" y="1814400"/>
            <a:ext cx="3794399" cy="327600"/>
          </a:xfrm>
          <a:prstGeom prst="rect">
            <a:avLst/>
          </a:prstGeom>
          <a:noFill/>
        </p:spPr>
        <p:txBody>
          <a:bodyPr wrap="square">
            <a:spAutoFit/>
          </a:bodyPr>
          <a:lstStyle/>
          <a:p>
            <a:pPr algn="l"/>
            <a:r>
              <a:rPr sz="750" b="0" i="0">
                <a:solidFill>
                  <a:srgbClr val="333333"/>
                </a:solidFill>
                <a:latin typeface="Calibri"/>
              </a:rPr>
              <a:t>Régulation App Store -30% de revenus services d'ici 2028 | Impact potentiel de -8Mds$/an | Horizon 12-18 mois</a:t>
            </a:r>
          </a:p>
        </p:txBody>
      </p:sp>
      <p:sp>
        <p:nvSpPr>
          <p:cNvPr id="26" name="Rectangle 25"/>
          <p:cNvSpPr/>
          <p:nvPr/>
        </p:nvSpPr>
        <p:spPr>
          <a:xfrm>
            <a:off x="4708800" y="21960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45600" y="2178000"/>
            <a:ext cx="3794399" cy="183600"/>
          </a:xfrm>
          <a:prstGeom prst="rect">
            <a:avLst/>
          </a:prstGeom>
          <a:noFill/>
        </p:spPr>
        <p:txBody>
          <a:bodyPr wrap="square">
            <a:spAutoFit/>
          </a:bodyPr>
          <a:lstStyle/>
          <a:p>
            <a:pPr algn="l"/>
            <a:r>
              <a:rPr sz="850" b="1" i="0">
                <a:solidFill>
                  <a:srgbClr val="1B3A6B"/>
                </a:solidFill>
                <a:latin typeface="Calibri"/>
              </a:rPr>
              <a:t>Concurrence IA</a:t>
            </a:r>
          </a:p>
        </p:txBody>
      </p:sp>
      <p:sp>
        <p:nvSpPr>
          <p:cNvPr id="28" name="TextBox 27"/>
          <p:cNvSpPr txBox="1"/>
          <p:nvPr/>
        </p:nvSpPr>
        <p:spPr>
          <a:xfrm>
            <a:off x="4845600" y="2347200"/>
            <a:ext cx="3794399" cy="327600"/>
          </a:xfrm>
          <a:prstGeom prst="rect">
            <a:avLst/>
          </a:prstGeom>
          <a:noFill/>
        </p:spPr>
        <p:txBody>
          <a:bodyPr wrap="square">
            <a:spAutoFit/>
          </a:bodyPr>
          <a:lstStyle/>
          <a:p>
            <a:pPr algn="l"/>
            <a:r>
              <a:rPr sz="750" b="0" i="0">
                <a:solidFill>
                  <a:srgbClr val="333333"/>
                </a:solidFill>
                <a:latin typeface="Calibri"/>
              </a:rPr>
              <a:t>Concurrence IA - perte de parts de marché smartphones | Baisse prix moyen iPhone de -15% | Horizon 2026-2027</a:t>
            </a:r>
          </a:p>
        </p:txBody>
      </p:sp>
      <p:sp>
        <p:nvSpPr>
          <p:cNvPr id="29" name="Rectangle 28"/>
          <p:cNvSpPr/>
          <p:nvPr/>
        </p:nvSpPr>
        <p:spPr>
          <a:xfrm>
            <a:off x="4708800" y="27288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45600" y="2710800"/>
            <a:ext cx="3794399" cy="183600"/>
          </a:xfrm>
          <a:prstGeom prst="rect">
            <a:avLst/>
          </a:prstGeom>
          <a:noFill/>
        </p:spPr>
        <p:txBody>
          <a:bodyPr wrap="square">
            <a:spAutoFit/>
          </a:bodyPr>
          <a:lstStyle/>
          <a:p>
            <a:pPr algn="l"/>
            <a:r>
              <a:rPr sz="850" b="1" i="0">
                <a:solidFill>
                  <a:srgbClr val="1B3A6B"/>
                </a:solidFill>
                <a:latin typeface="Calibri"/>
              </a:rPr>
              <a:t>Dépendance iPhone</a:t>
            </a:r>
          </a:p>
        </p:txBody>
      </p:sp>
      <p:sp>
        <p:nvSpPr>
          <p:cNvPr id="31" name="TextBox 30"/>
          <p:cNvSpPr txBox="1"/>
          <p:nvPr/>
        </p:nvSpPr>
        <p:spPr>
          <a:xfrm>
            <a:off x="4845600" y="2880000"/>
            <a:ext cx="3794399" cy="327600"/>
          </a:xfrm>
          <a:prstGeom prst="rect">
            <a:avLst/>
          </a:prstGeom>
          <a:noFill/>
        </p:spPr>
        <p:txBody>
          <a:bodyPr wrap="square">
            <a:spAutoFit/>
          </a:bodyPr>
          <a:lstStyle/>
          <a:p>
            <a:pPr algn="l"/>
            <a:r>
              <a:rPr sz="750" b="0" i="0">
                <a:solidFill>
                  <a:srgbClr val="333333"/>
                </a:solidFill>
                <a:latin typeface="Calibri"/>
              </a:rPr>
              <a:t>Dépendance iPhone -70% du CA | Ralentissement Chine -5% CA 2026 | Horizon 2026</a:t>
            </a:r>
          </a:p>
        </p:txBody>
      </p:sp>
      <p:sp>
        <p:nvSpPr>
          <p:cNvPr id="32" name="Rectangle 31"/>
          <p:cNvSpPr/>
          <p:nvPr/>
        </p:nvSpPr>
        <p:spPr>
          <a:xfrm>
            <a:off x="4525200" y="1353600"/>
            <a:ext cx="10800" cy="17424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33012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672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72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57200" y="3430800"/>
            <a:ext cx="1893600" cy="396000"/>
          </a:xfrm>
          <a:prstGeom prst="rect">
            <a:avLst/>
          </a:prstGeom>
          <a:noFill/>
        </p:spPr>
        <p:txBody>
          <a:bodyPr wrap="square">
            <a:spAutoFit/>
          </a:bodyPr>
          <a:lstStyle/>
          <a:p>
            <a:pPr algn="l"/>
            <a:r>
              <a:rPr sz="1900" b="1" i="0">
                <a:solidFill>
                  <a:srgbClr val="1B3A6B"/>
                </a:solidFill>
                <a:latin typeface="Calibri"/>
              </a:rPr>
              <a:t>26,4x</a:t>
            </a:r>
          </a:p>
        </p:txBody>
      </p:sp>
      <p:sp>
        <p:nvSpPr>
          <p:cNvPr id="37" name="TextBox 36"/>
          <p:cNvSpPr txBox="1"/>
          <p:nvPr/>
        </p:nvSpPr>
        <p:spPr>
          <a:xfrm>
            <a:off x="457200" y="3826800"/>
            <a:ext cx="1893600" cy="205199"/>
          </a:xfrm>
          <a:prstGeom prst="rect">
            <a:avLst/>
          </a:prstGeom>
          <a:noFill/>
        </p:spPr>
        <p:txBody>
          <a:bodyPr wrap="square">
            <a:spAutoFit/>
          </a:bodyPr>
          <a:lstStyle/>
          <a:p>
            <a:pPr algn="l"/>
            <a:r>
              <a:rPr sz="800" b="0" i="0">
                <a:solidFill>
                  <a:srgbClr val="555555"/>
                </a:solidFill>
                <a:latin typeface="Calibri"/>
              </a:rPr>
              <a:t>EV/EBITDA</a:t>
            </a:r>
          </a:p>
        </p:txBody>
      </p:sp>
      <p:sp>
        <p:nvSpPr>
          <p:cNvPr id="38" name="TextBox 37"/>
          <p:cNvSpPr txBox="1"/>
          <p:nvPr/>
        </p:nvSpPr>
        <p:spPr>
          <a:xfrm>
            <a:off x="457200" y="4024800"/>
            <a:ext cx="1893600" cy="165600"/>
          </a:xfrm>
          <a:prstGeom prst="rect">
            <a:avLst/>
          </a:prstGeom>
          <a:noFill/>
        </p:spPr>
        <p:txBody>
          <a:bodyPr wrap="square">
            <a:spAutoFit/>
          </a:bodyPr>
          <a:lstStyle/>
          <a:p>
            <a:pPr algn="l"/>
            <a:r>
              <a:rPr sz="700" b="0" i="0">
                <a:solidFill>
                  <a:srgbClr val="888888"/>
                </a:solidFill>
                <a:latin typeface="Calibri"/>
              </a:rPr>
              <a:t>vs 21,5x médiane peers</a:t>
            </a:r>
          </a:p>
        </p:txBody>
      </p:sp>
      <p:sp>
        <p:nvSpPr>
          <p:cNvPr id="39" name="Rectangle 38"/>
          <p:cNvSpPr/>
          <p:nvPr/>
        </p:nvSpPr>
        <p:spPr>
          <a:xfrm>
            <a:off x="24876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24876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577600" y="3430800"/>
            <a:ext cx="1893600" cy="396000"/>
          </a:xfrm>
          <a:prstGeom prst="rect">
            <a:avLst/>
          </a:prstGeom>
          <a:noFill/>
        </p:spPr>
        <p:txBody>
          <a:bodyPr wrap="square">
            <a:spAutoFit/>
          </a:bodyPr>
          <a:lstStyle/>
          <a:p>
            <a:pPr algn="l"/>
            <a:r>
              <a:rPr sz="1900" b="1" i="0">
                <a:solidFill>
                  <a:srgbClr val="1B3A6B"/>
                </a:solidFill>
                <a:latin typeface="Calibri"/>
              </a:rPr>
              <a:t>10,3 %</a:t>
            </a:r>
          </a:p>
        </p:txBody>
      </p:sp>
      <p:sp>
        <p:nvSpPr>
          <p:cNvPr id="42" name="TextBox 41"/>
          <p:cNvSpPr txBox="1"/>
          <p:nvPr/>
        </p:nvSpPr>
        <p:spPr>
          <a:xfrm>
            <a:off x="2577600" y="3826800"/>
            <a:ext cx="1893600" cy="205199"/>
          </a:xfrm>
          <a:prstGeom prst="rect">
            <a:avLst/>
          </a:prstGeom>
          <a:noFill/>
        </p:spPr>
        <p:txBody>
          <a:bodyPr wrap="square">
            <a:spAutoFit/>
          </a:bodyPr>
          <a:lstStyle/>
          <a:p>
            <a:pPr algn="l"/>
            <a:r>
              <a:rPr sz="800" b="0" i="0">
                <a:solidFill>
                  <a:srgbClr val="555555"/>
                </a:solidFill>
                <a:latin typeface="Calibri"/>
              </a:rPr>
              <a:t>WACC</a:t>
            </a:r>
          </a:p>
        </p:txBody>
      </p:sp>
      <p:sp>
        <p:nvSpPr>
          <p:cNvPr id="43" name="TextBox 42"/>
          <p:cNvSpPr txBox="1"/>
          <p:nvPr/>
        </p:nvSpPr>
        <p:spPr>
          <a:xfrm>
            <a:off x="2577600" y="4024800"/>
            <a:ext cx="1893600" cy="165600"/>
          </a:xfrm>
          <a:prstGeom prst="rect">
            <a:avLst/>
          </a:prstGeom>
          <a:noFill/>
        </p:spPr>
        <p:txBody>
          <a:bodyPr wrap="square">
            <a:spAutoFit/>
          </a:bodyPr>
          <a:lstStyle/>
          <a:p>
            <a:pPr algn="l"/>
            <a:r>
              <a:rPr sz="700" b="0" i="0">
                <a:solidFill>
                  <a:srgbClr val="888888"/>
                </a:solidFill>
                <a:latin typeface="Calibri"/>
              </a:rPr>
              <a:t>Beta 1,11  ·  RFR 4,3 %</a:t>
            </a:r>
          </a:p>
        </p:txBody>
      </p:sp>
      <p:sp>
        <p:nvSpPr>
          <p:cNvPr id="44" name="Rectangle 43"/>
          <p:cNvSpPr/>
          <p:nvPr/>
        </p:nvSpPr>
        <p:spPr>
          <a:xfrm>
            <a:off x="46080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46080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698000" y="3430800"/>
            <a:ext cx="1893600" cy="396000"/>
          </a:xfrm>
          <a:prstGeom prst="rect">
            <a:avLst/>
          </a:prstGeom>
          <a:noFill/>
        </p:spPr>
        <p:txBody>
          <a:bodyPr wrap="square">
            <a:spAutoFit/>
          </a:bodyPr>
          <a:lstStyle/>
          <a:p>
            <a:pPr algn="l"/>
            <a:r>
              <a:rPr sz="1900" b="1" i="0">
                <a:solidFill>
                  <a:srgbClr val="1B3A6B"/>
                </a:solidFill>
                <a:latin typeface="Calibri"/>
              </a:rPr>
              <a:t>285 $</a:t>
            </a:r>
          </a:p>
        </p:txBody>
      </p:sp>
      <p:sp>
        <p:nvSpPr>
          <p:cNvPr id="47" name="TextBox 46"/>
          <p:cNvSpPr txBox="1"/>
          <p:nvPr/>
        </p:nvSpPr>
        <p:spPr>
          <a:xfrm>
            <a:off x="4698000" y="3826800"/>
            <a:ext cx="1893600" cy="205199"/>
          </a:xfrm>
          <a:prstGeom prst="rect">
            <a:avLst/>
          </a:prstGeom>
          <a:noFill/>
        </p:spPr>
        <p:txBody>
          <a:bodyPr wrap="square">
            <a:spAutoFit/>
          </a:bodyPr>
          <a:lstStyle/>
          <a:p>
            <a:pPr algn="l"/>
            <a:r>
              <a:rPr sz="800" b="0" i="0">
                <a:solidFill>
                  <a:srgbClr val="555555"/>
                </a:solidFill>
                <a:latin typeface="Calibri"/>
              </a:rPr>
              <a:t>Valeur intrinsèque DCF</a:t>
            </a:r>
          </a:p>
        </p:txBody>
      </p:sp>
      <p:sp>
        <p:nvSpPr>
          <p:cNvPr id="48" name="TextBox 47"/>
          <p:cNvSpPr txBox="1"/>
          <p:nvPr/>
        </p:nvSpPr>
        <p:spPr>
          <a:xfrm>
            <a:off x="4698000" y="4024800"/>
            <a:ext cx="1893600" cy="165600"/>
          </a:xfrm>
          <a:prstGeom prst="rect">
            <a:avLst/>
          </a:prstGeom>
          <a:noFill/>
        </p:spPr>
        <p:txBody>
          <a:bodyPr wrap="square">
            <a:spAutoFit/>
          </a:bodyPr>
          <a:lstStyle/>
          <a:p>
            <a:pPr algn="l"/>
            <a:r>
              <a:rPr sz="700" b="0" i="0">
                <a:solidFill>
                  <a:srgbClr val="888888"/>
                </a:solidFill>
                <a:latin typeface="Calibri"/>
              </a:rPr>
              <a:t>Upside de +11,4 % vs cours</a:t>
            </a:r>
          </a:p>
        </p:txBody>
      </p:sp>
      <p:sp>
        <p:nvSpPr>
          <p:cNvPr id="49" name="Rectangle 48"/>
          <p:cNvSpPr/>
          <p:nvPr/>
        </p:nvSpPr>
        <p:spPr>
          <a:xfrm>
            <a:off x="67284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67284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818400" y="3430800"/>
            <a:ext cx="1893600" cy="396000"/>
          </a:xfrm>
          <a:prstGeom prst="rect">
            <a:avLst/>
          </a:prstGeom>
          <a:noFill/>
        </p:spPr>
        <p:txBody>
          <a:bodyPr wrap="square">
            <a:spAutoFit/>
          </a:bodyPr>
          <a:lstStyle/>
          <a:p>
            <a:pPr algn="l"/>
            <a:r>
              <a:rPr sz="1900" b="1" i="0">
                <a:solidFill>
                  <a:srgbClr val="1B3A6B"/>
                </a:solidFill>
                <a:latin typeface="Calibri"/>
              </a:rPr>
              <a:t>-0,089</a:t>
            </a:r>
          </a:p>
        </p:txBody>
      </p:sp>
      <p:sp>
        <p:nvSpPr>
          <p:cNvPr id="52" name="TextBox 51"/>
          <p:cNvSpPr txBox="1"/>
          <p:nvPr/>
        </p:nvSpPr>
        <p:spPr>
          <a:xfrm>
            <a:off x="6818400" y="3826800"/>
            <a:ext cx="1893600" cy="205199"/>
          </a:xfrm>
          <a:prstGeom prst="rect">
            <a:avLst/>
          </a:prstGeom>
          <a:noFill/>
        </p:spPr>
        <p:txBody>
          <a:bodyPr wrap="square">
            <a:spAutoFit/>
          </a:bodyPr>
          <a:lstStyle/>
          <a:p>
            <a:pPr algn="l"/>
            <a:r>
              <a:rPr sz="800" b="0" i="0">
                <a:solidFill>
                  <a:srgbClr val="555555"/>
                </a:solidFill>
                <a:latin typeface="Calibri"/>
              </a:rPr>
              <a:t>Sentiment FinBERT</a:t>
            </a:r>
          </a:p>
        </p:txBody>
      </p:sp>
      <p:sp>
        <p:nvSpPr>
          <p:cNvPr id="53" name="TextBox 52"/>
          <p:cNvSpPr txBox="1"/>
          <p:nvPr/>
        </p:nvSpPr>
        <p:spPr>
          <a:xfrm>
            <a:off x="6818400" y="4024800"/>
            <a:ext cx="1893600" cy="165600"/>
          </a:xfrm>
          <a:prstGeom prst="rect">
            <a:avLst/>
          </a:prstGeom>
          <a:noFill/>
        </p:spPr>
        <p:txBody>
          <a:bodyPr wrap="square">
            <a:spAutoFit/>
          </a:bodyPr>
          <a:lstStyle/>
          <a:p>
            <a:pPr algn="l"/>
            <a:r>
              <a:rPr sz="700" b="0" i="0">
                <a:solidFill>
                  <a:srgbClr val="888888"/>
                </a:solidFill>
                <a:latin typeface="Calibri"/>
              </a:rPr>
              <a:t>Neutre  ·  30 articles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Sommaire</a:t>
            </a:r>
          </a:p>
        </p:txBody>
      </p:sp>
      <p:sp>
        <p:nvSpPr>
          <p:cNvPr id="6" name="Rectangle 5"/>
          <p:cNvSpPr/>
          <p:nvPr/>
        </p:nvSpPr>
        <p:spPr>
          <a:xfrm>
            <a:off x="367200" y="8964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8964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950400"/>
            <a:ext cx="475200" cy="514800"/>
          </a:xfrm>
          <a:prstGeom prst="rect">
            <a:avLst/>
          </a:prstGeom>
          <a:noFill/>
        </p:spPr>
        <p:txBody>
          <a:bodyPr wrap="square">
            <a:spAutoFit/>
          </a:bodyPr>
          <a:lstStyle/>
          <a:p>
            <a:pPr algn="l"/>
            <a:r>
              <a:rPr sz="1700" b="1" i="0">
                <a:solidFill>
                  <a:srgbClr val="888888"/>
                </a:solidFill>
                <a:latin typeface="Calibri"/>
              </a:rPr>
              <a:t>01</a:t>
            </a:r>
          </a:p>
        </p:txBody>
      </p:sp>
      <p:sp>
        <p:nvSpPr>
          <p:cNvPr id="9" name="TextBox 8"/>
          <p:cNvSpPr txBox="1"/>
          <p:nvPr/>
        </p:nvSpPr>
        <p:spPr>
          <a:xfrm>
            <a:off x="1152000" y="968400"/>
            <a:ext cx="6120000" cy="255600"/>
          </a:xfrm>
          <a:prstGeom prst="rect">
            <a:avLst/>
          </a:prstGeom>
          <a:noFill/>
        </p:spPr>
        <p:txBody>
          <a:bodyPr wrap="square">
            <a:spAutoFit/>
          </a:bodyPr>
          <a:lstStyle/>
          <a:p>
            <a:pPr algn="l"/>
            <a:r>
              <a:rPr sz="1300" b="1" i="0">
                <a:solidFill>
                  <a:srgbClr val="1B3A6B"/>
                </a:solidFill>
                <a:latin typeface="Calibri"/>
              </a:rPr>
              <a:t>Company Overview</a:t>
            </a:r>
          </a:p>
        </p:txBody>
      </p:sp>
      <p:sp>
        <p:nvSpPr>
          <p:cNvPr id="10" name="TextBox 9"/>
          <p:cNvSpPr txBox="1"/>
          <p:nvPr/>
        </p:nvSpPr>
        <p:spPr>
          <a:xfrm>
            <a:off x="1152000" y="1202400"/>
            <a:ext cx="6120000" cy="255600"/>
          </a:xfrm>
          <a:prstGeom prst="rect">
            <a:avLst/>
          </a:prstGeom>
          <a:noFill/>
        </p:spPr>
        <p:txBody>
          <a:bodyPr wrap="square">
            <a:spAutoFit/>
          </a:bodyPr>
          <a:lstStyle/>
          <a:p>
            <a:pPr algn="l"/>
            <a:r>
              <a:rPr sz="850" b="0" i="0">
                <a:solidFill>
                  <a:srgbClr val="555555"/>
                </a:solidFill>
                <a:latin typeface="Calibri"/>
              </a:rPr>
              <a:t>Apple Inc.  ·  Technology</a:t>
            </a:r>
          </a:p>
        </p:txBody>
      </p:sp>
      <p:sp>
        <p:nvSpPr>
          <p:cNvPr id="11" name="TextBox 10"/>
          <p:cNvSpPr txBox="1"/>
          <p:nvPr/>
        </p:nvSpPr>
        <p:spPr>
          <a:xfrm>
            <a:off x="7405200" y="1058400"/>
            <a:ext cx="1375200" cy="255600"/>
          </a:xfrm>
          <a:prstGeom prst="rect">
            <a:avLst/>
          </a:prstGeom>
          <a:noFill/>
        </p:spPr>
        <p:txBody>
          <a:bodyPr wrap="square">
            <a:spAutoFit/>
          </a:bodyPr>
          <a:lstStyle/>
          <a:p>
            <a:pPr algn="r"/>
            <a:r>
              <a:rPr sz="900" b="0" i="0">
                <a:solidFill>
                  <a:srgbClr val="2E5FA3"/>
                </a:solidFill>
                <a:latin typeface="Calibri"/>
              </a:rPr>
              <a:t>3–5</a:t>
            </a:r>
          </a:p>
        </p:txBody>
      </p:sp>
      <p:sp>
        <p:nvSpPr>
          <p:cNvPr id="12" name="Rectangle 11"/>
          <p:cNvSpPr/>
          <p:nvPr/>
        </p:nvSpPr>
        <p:spPr>
          <a:xfrm>
            <a:off x="367200" y="15912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7200" y="15912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3999" y="1645200"/>
            <a:ext cx="475200" cy="514800"/>
          </a:xfrm>
          <a:prstGeom prst="rect">
            <a:avLst/>
          </a:prstGeom>
          <a:noFill/>
        </p:spPr>
        <p:txBody>
          <a:bodyPr wrap="square">
            <a:spAutoFit/>
          </a:bodyPr>
          <a:lstStyle/>
          <a:p>
            <a:pPr algn="l"/>
            <a:r>
              <a:rPr sz="1700" b="1" i="0">
                <a:solidFill>
                  <a:srgbClr val="888888"/>
                </a:solidFill>
                <a:latin typeface="Calibri"/>
              </a:rPr>
              <a:t>02</a:t>
            </a:r>
          </a:p>
        </p:txBody>
      </p:sp>
      <p:sp>
        <p:nvSpPr>
          <p:cNvPr id="15" name="TextBox 14"/>
          <p:cNvSpPr txBox="1"/>
          <p:nvPr/>
        </p:nvSpPr>
        <p:spPr>
          <a:xfrm>
            <a:off x="1152000" y="1663200"/>
            <a:ext cx="6120000" cy="255600"/>
          </a:xfrm>
          <a:prstGeom prst="rect">
            <a:avLst/>
          </a:prstGeom>
          <a:noFill/>
        </p:spPr>
        <p:txBody>
          <a:bodyPr wrap="square">
            <a:spAutoFit/>
          </a:bodyPr>
          <a:lstStyle/>
          <a:p>
            <a:pPr algn="l"/>
            <a:r>
              <a:rPr sz="1300" b="1" i="0">
                <a:solidFill>
                  <a:srgbClr val="1B3A6B"/>
                </a:solidFill>
                <a:latin typeface="Calibri"/>
              </a:rPr>
              <a:t>Analyse Financière</a:t>
            </a:r>
          </a:p>
        </p:txBody>
      </p:sp>
      <p:sp>
        <p:nvSpPr>
          <p:cNvPr id="16" name="TextBox 15"/>
          <p:cNvSpPr txBox="1"/>
          <p:nvPr/>
        </p:nvSpPr>
        <p:spPr>
          <a:xfrm>
            <a:off x="1152000" y="1897199"/>
            <a:ext cx="6120000" cy="255600"/>
          </a:xfrm>
          <a:prstGeom prst="rect">
            <a:avLst/>
          </a:prstGeom>
          <a:noFill/>
        </p:spPr>
        <p:txBody>
          <a:bodyPr wrap="square">
            <a:spAutoFit/>
          </a:bodyPr>
          <a:lstStyle/>
          <a:p>
            <a:pPr algn="l"/>
            <a:r>
              <a:rPr sz="850" b="0" i="0">
                <a:solidFill>
                  <a:srgbClr val="555555"/>
                </a:solidFill>
                <a:latin typeface="Calibri"/>
              </a:rPr>
              <a:t>Compte de résultat, bilan &amp; liquidité, ratios</a:t>
            </a:r>
          </a:p>
        </p:txBody>
      </p:sp>
      <p:sp>
        <p:nvSpPr>
          <p:cNvPr id="17" name="TextBox 16"/>
          <p:cNvSpPr txBox="1"/>
          <p:nvPr/>
        </p:nvSpPr>
        <p:spPr>
          <a:xfrm>
            <a:off x="7405200" y="1753200"/>
            <a:ext cx="1375200" cy="255600"/>
          </a:xfrm>
          <a:prstGeom prst="rect">
            <a:avLst/>
          </a:prstGeom>
          <a:noFill/>
        </p:spPr>
        <p:txBody>
          <a:bodyPr wrap="square">
            <a:spAutoFit/>
          </a:bodyPr>
          <a:lstStyle/>
          <a:p>
            <a:pPr algn="r"/>
            <a:r>
              <a:rPr sz="900" b="0" i="0">
                <a:solidFill>
                  <a:srgbClr val="2E5FA3"/>
                </a:solidFill>
                <a:latin typeface="Calibri"/>
              </a:rPr>
              <a:t>6–8</a:t>
            </a:r>
          </a:p>
        </p:txBody>
      </p:sp>
      <p:sp>
        <p:nvSpPr>
          <p:cNvPr id="18" name="Rectangle 17"/>
          <p:cNvSpPr/>
          <p:nvPr/>
        </p:nvSpPr>
        <p:spPr>
          <a:xfrm>
            <a:off x="367200" y="22860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22860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3999" y="2340000"/>
            <a:ext cx="475200" cy="514800"/>
          </a:xfrm>
          <a:prstGeom prst="rect">
            <a:avLst/>
          </a:prstGeom>
          <a:noFill/>
        </p:spPr>
        <p:txBody>
          <a:bodyPr wrap="square">
            <a:spAutoFit/>
          </a:bodyPr>
          <a:lstStyle/>
          <a:p>
            <a:pPr algn="l"/>
            <a:r>
              <a:rPr sz="1700" b="1" i="0">
                <a:solidFill>
                  <a:srgbClr val="888888"/>
                </a:solidFill>
                <a:latin typeface="Calibri"/>
              </a:rPr>
              <a:t>03</a:t>
            </a:r>
          </a:p>
        </p:txBody>
      </p:sp>
      <p:sp>
        <p:nvSpPr>
          <p:cNvPr id="21" name="TextBox 20"/>
          <p:cNvSpPr txBox="1"/>
          <p:nvPr/>
        </p:nvSpPr>
        <p:spPr>
          <a:xfrm>
            <a:off x="1152000" y="2358000"/>
            <a:ext cx="6120000" cy="255600"/>
          </a:xfrm>
          <a:prstGeom prst="rect">
            <a:avLst/>
          </a:prstGeom>
          <a:noFill/>
        </p:spPr>
        <p:txBody>
          <a:bodyPr wrap="square">
            <a:spAutoFit/>
          </a:bodyPr>
          <a:lstStyle/>
          <a:p>
            <a:pPr algn="l"/>
            <a:r>
              <a:rPr sz="1300" b="1" i="0">
                <a:solidFill>
                  <a:srgbClr val="1B3A6B"/>
                </a:solidFill>
                <a:latin typeface="Calibri"/>
              </a:rPr>
              <a:t>Valorisation</a:t>
            </a:r>
          </a:p>
        </p:txBody>
      </p:sp>
      <p:sp>
        <p:nvSpPr>
          <p:cNvPr id="22" name="TextBox 21"/>
          <p:cNvSpPr txBox="1"/>
          <p:nvPr/>
        </p:nvSpPr>
        <p:spPr>
          <a:xfrm>
            <a:off x="1152000" y="2591999"/>
            <a:ext cx="6120000" cy="255600"/>
          </a:xfrm>
          <a:prstGeom prst="rect">
            <a:avLst/>
          </a:prstGeom>
          <a:noFill/>
        </p:spPr>
        <p:txBody>
          <a:bodyPr wrap="square">
            <a:spAutoFit/>
          </a:bodyPr>
          <a:lstStyle/>
          <a:p>
            <a:pPr algn="l"/>
            <a:r>
              <a:rPr sz="850" b="0" i="0">
                <a:solidFill>
                  <a:srgbClr val="555555"/>
                </a:solidFill>
                <a:latin typeface="Calibri"/>
              </a:rPr>
              <a:t>DCF, comparable peers, Football Field</a:t>
            </a:r>
          </a:p>
        </p:txBody>
      </p:sp>
      <p:sp>
        <p:nvSpPr>
          <p:cNvPr id="23" name="TextBox 22"/>
          <p:cNvSpPr txBox="1"/>
          <p:nvPr/>
        </p:nvSpPr>
        <p:spPr>
          <a:xfrm>
            <a:off x="7405200" y="2448000"/>
            <a:ext cx="1375200" cy="255600"/>
          </a:xfrm>
          <a:prstGeom prst="rect">
            <a:avLst/>
          </a:prstGeom>
          <a:noFill/>
        </p:spPr>
        <p:txBody>
          <a:bodyPr wrap="square">
            <a:spAutoFit/>
          </a:bodyPr>
          <a:lstStyle/>
          <a:p>
            <a:pPr algn="r"/>
            <a:r>
              <a:rPr sz="900" b="0" i="0">
                <a:solidFill>
                  <a:srgbClr val="2E5FA3"/>
                </a:solidFill>
                <a:latin typeface="Calibri"/>
              </a:rPr>
              <a:t>9–11</a:t>
            </a:r>
          </a:p>
        </p:txBody>
      </p:sp>
      <p:sp>
        <p:nvSpPr>
          <p:cNvPr id="24" name="Rectangle 23"/>
          <p:cNvSpPr/>
          <p:nvPr/>
        </p:nvSpPr>
        <p:spPr>
          <a:xfrm>
            <a:off x="367200" y="29808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67200" y="29808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999" y="3034800"/>
            <a:ext cx="475200" cy="514800"/>
          </a:xfrm>
          <a:prstGeom prst="rect">
            <a:avLst/>
          </a:prstGeom>
          <a:noFill/>
        </p:spPr>
        <p:txBody>
          <a:bodyPr wrap="square">
            <a:spAutoFit/>
          </a:bodyPr>
          <a:lstStyle/>
          <a:p>
            <a:pPr algn="l"/>
            <a:r>
              <a:rPr sz="1700" b="1" i="0">
                <a:solidFill>
                  <a:srgbClr val="888888"/>
                </a:solidFill>
                <a:latin typeface="Calibri"/>
              </a:rPr>
              <a:t>04</a:t>
            </a:r>
          </a:p>
        </p:txBody>
      </p:sp>
      <p:sp>
        <p:nvSpPr>
          <p:cNvPr id="27" name="TextBox 26"/>
          <p:cNvSpPr txBox="1"/>
          <p:nvPr/>
        </p:nvSpPr>
        <p:spPr>
          <a:xfrm>
            <a:off x="1152000" y="3052799"/>
            <a:ext cx="6120000" cy="255600"/>
          </a:xfrm>
          <a:prstGeom prst="rect">
            <a:avLst/>
          </a:prstGeom>
          <a:noFill/>
        </p:spPr>
        <p:txBody>
          <a:bodyPr wrap="square">
            <a:spAutoFit/>
          </a:bodyPr>
          <a:lstStyle/>
          <a:p>
            <a:pPr algn="l"/>
            <a:r>
              <a:rPr sz="1300" b="1" i="0">
                <a:solidFill>
                  <a:srgbClr val="1B3A6B"/>
                </a:solidFill>
                <a:latin typeface="Calibri"/>
              </a:rPr>
              <a:t>Risques &amp; Stratégie</a:t>
            </a:r>
          </a:p>
        </p:txBody>
      </p:sp>
      <p:sp>
        <p:nvSpPr>
          <p:cNvPr id="28" name="TextBox 27"/>
          <p:cNvSpPr txBox="1"/>
          <p:nvPr/>
        </p:nvSpPr>
        <p:spPr>
          <a:xfrm>
            <a:off x="1152000" y="3286799"/>
            <a:ext cx="6120000" cy="255600"/>
          </a:xfrm>
          <a:prstGeom prst="rect">
            <a:avLst/>
          </a:prstGeom>
          <a:noFill/>
        </p:spPr>
        <p:txBody>
          <a:bodyPr wrap="square">
            <a:spAutoFit/>
          </a:bodyPr>
          <a:lstStyle/>
          <a:p>
            <a:pPr algn="l"/>
            <a:r>
              <a:rPr sz="850" b="0" i="0">
                <a:solidFill>
                  <a:srgbClr val="555555"/>
                </a:solidFill>
                <a:latin typeface="Calibri"/>
              </a:rPr>
              <a:t>Régulation App Store  ·  Concurrence IA</a:t>
            </a:r>
          </a:p>
        </p:txBody>
      </p:sp>
      <p:sp>
        <p:nvSpPr>
          <p:cNvPr id="29" name="TextBox 28"/>
          <p:cNvSpPr txBox="1"/>
          <p:nvPr/>
        </p:nvSpPr>
        <p:spPr>
          <a:xfrm>
            <a:off x="7405200" y="3142799"/>
            <a:ext cx="1375200" cy="255600"/>
          </a:xfrm>
          <a:prstGeom prst="rect">
            <a:avLst/>
          </a:prstGeom>
          <a:noFill/>
        </p:spPr>
        <p:txBody>
          <a:bodyPr wrap="square">
            <a:spAutoFit/>
          </a:bodyPr>
          <a:lstStyle/>
          <a:p>
            <a:pPr algn="r"/>
            <a:r>
              <a:rPr sz="900" b="0" i="0">
                <a:solidFill>
                  <a:srgbClr val="2E5FA3"/>
                </a:solidFill>
                <a:latin typeface="Calibri"/>
              </a:rPr>
              <a:t>12–13</a:t>
            </a:r>
          </a:p>
        </p:txBody>
      </p:sp>
      <p:sp>
        <p:nvSpPr>
          <p:cNvPr id="30" name="Rectangle 29"/>
          <p:cNvSpPr/>
          <p:nvPr/>
        </p:nvSpPr>
        <p:spPr>
          <a:xfrm>
            <a:off x="367200" y="36756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7200" y="36756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3999" y="3729600"/>
            <a:ext cx="475200" cy="514800"/>
          </a:xfrm>
          <a:prstGeom prst="rect">
            <a:avLst/>
          </a:prstGeom>
          <a:noFill/>
        </p:spPr>
        <p:txBody>
          <a:bodyPr wrap="square">
            <a:spAutoFit/>
          </a:bodyPr>
          <a:lstStyle/>
          <a:p>
            <a:pPr algn="l"/>
            <a:r>
              <a:rPr sz="1700" b="1" i="0">
                <a:solidFill>
                  <a:srgbClr val="888888"/>
                </a:solidFill>
                <a:latin typeface="Calibri"/>
              </a:rPr>
              <a:t>05</a:t>
            </a:r>
          </a:p>
        </p:txBody>
      </p:sp>
      <p:sp>
        <p:nvSpPr>
          <p:cNvPr id="33" name="TextBox 32"/>
          <p:cNvSpPr txBox="1"/>
          <p:nvPr/>
        </p:nvSpPr>
        <p:spPr>
          <a:xfrm>
            <a:off x="1152000" y="3747600"/>
            <a:ext cx="6120000" cy="255600"/>
          </a:xfrm>
          <a:prstGeom prst="rect">
            <a:avLst/>
          </a:prstGeom>
          <a:noFill/>
        </p:spPr>
        <p:txBody>
          <a:bodyPr wrap="square">
            <a:spAutoFit/>
          </a:bodyPr>
          <a:lstStyle/>
          <a:p>
            <a:pPr algn="l"/>
            <a:r>
              <a:rPr sz="1300" b="1" i="0">
                <a:solidFill>
                  <a:srgbClr val="1B3A6B"/>
                </a:solidFill>
                <a:latin typeface="Calibri"/>
              </a:rPr>
              <a:t>Sentiment &amp; Annexes</a:t>
            </a:r>
          </a:p>
        </p:txBody>
      </p:sp>
      <p:sp>
        <p:nvSpPr>
          <p:cNvPr id="34" name="TextBox 33"/>
          <p:cNvSpPr txBox="1"/>
          <p:nvPr/>
        </p:nvSpPr>
        <p:spPr>
          <a:xfrm>
            <a:off x="1152000" y="3981600"/>
            <a:ext cx="6120000" cy="255600"/>
          </a:xfrm>
          <a:prstGeom prst="rect">
            <a:avLst/>
          </a:prstGeom>
          <a:noFill/>
        </p:spPr>
        <p:txBody>
          <a:bodyPr wrap="square">
            <a:spAutoFit/>
          </a:bodyPr>
          <a:lstStyle/>
          <a:p>
            <a:pPr algn="l"/>
            <a:r>
              <a:rPr sz="850" b="0" i="0">
                <a:solidFill>
                  <a:srgbClr val="555555"/>
                </a:solidFill>
                <a:latin typeface="Calibri"/>
              </a:rPr>
              <a:t>FinBERT, actionnariat &amp; historique de cours</a:t>
            </a:r>
          </a:p>
        </p:txBody>
      </p:sp>
      <p:sp>
        <p:nvSpPr>
          <p:cNvPr id="35" name="TextBox 34"/>
          <p:cNvSpPr txBox="1"/>
          <p:nvPr/>
        </p:nvSpPr>
        <p:spPr>
          <a:xfrm>
            <a:off x="7405200" y="3837600"/>
            <a:ext cx="1375200" cy="255600"/>
          </a:xfrm>
          <a:prstGeom prst="rect">
            <a:avLst/>
          </a:prstGeom>
          <a:noFill/>
        </p:spPr>
        <p:txBody>
          <a:bodyPr wrap="square">
            <a:spAutoFit/>
          </a:bodyPr>
          <a:lstStyle/>
          <a:p>
            <a:pPr algn="r"/>
            <a:r>
              <a:rPr sz="900" b="0" i="0">
                <a:solidFill>
                  <a:srgbClr val="2E5FA3"/>
                </a:solidFill>
                <a:latin typeface="Calibri"/>
              </a:rPr>
              <a:t>14–15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01</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Company Overview</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Présentation, modèle économique &amp; données de marché</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Company Overview</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Apple Inc.  ·  Présentation &amp; Positionnement stratégique</a:t>
            </a:r>
          </a:p>
        </p:txBody>
      </p:sp>
      <p:sp>
        <p:nvSpPr>
          <p:cNvPr id="17" name="Rectangle 16"/>
          <p:cNvSpPr/>
          <p:nvPr/>
        </p:nvSpPr>
        <p:spPr>
          <a:xfrm>
            <a:off x="367200" y="961200"/>
            <a:ext cx="4939200" cy="3520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3520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1022400"/>
            <a:ext cx="4662000" cy="1440000"/>
          </a:xfrm>
          <a:prstGeom prst="rect">
            <a:avLst/>
          </a:prstGeom>
          <a:noFill/>
        </p:spPr>
        <p:txBody>
          <a:bodyPr wrap="square">
            <a:spAutoFit/>
          </a:bodyPr>
          <a:lstStyle/>
          <a:p>
            <a:pPr algn="l"/>
            <a:r>
              <a:rPr sz="850" b="0" i="0">
                <a:solidFill>
                  <a:srgbClr val="0D0D0D"/>
                </a:solidFill>
                <a:latin typeface="Calibri"/>
              </a:rPr>
              <a:t>Apple conçoit et commercialise des produits technologiques premium (iPhone, Mac, iPad, services) avec un écosystème intégré. Leader sur le marché des smartphones haut de gamme et des services (App Store, Apple Music), l'entreprise bénéficie d'une fidélisation client forte et d'une marge de pricing élevée. Son avantage concurrentiel repose sur l'innovation, la marque premium et une intégration verticale optimisée. L'entreprise articule son activité autour de deux segments stratégiques :</a:t>
            </a:r>
          </a:p>
        </p:txBody>
      </p:sp>
      <p:sp>
        <p:nvSpPr>
          <p:cNvPr id="20" name="Rectangle 19"/>
          <p:cNvSpPr/>
          <p:nvPr/>
        </p:nvSpPr>
        <p:spPr>
          <a:xfrm>
            <a:off x="503999" y="2599200"/>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9200" y="2556000"/>
            <a:ext cx="4338000" cy="165600"/>
          </a:xfrm>
          <a:prstGeom prst="rect">
            <a:avLst/>
          </a:prstGeom>
          <a:noFill/>
        </p:spPr>
        <p:txBody>
          <a:bodyPr wrap="square">
            <a:spAutoFit/>
          </a:bodyPr>
          <a:lstStyle/>
          <a:p>
            <a:pPr algn="l"/>
            <a:r>
              <a:rPr sz="850" b="1" i="0">
                <a:solidFill>
                  <a:srgbClr val="0D0D0D"/>
                </a:solidFill>
                <a:latin typeface="Calibri"/>
              </a:rPr>
              <a:t>Produits</a:t>
            </a:r>
          </a:p>
        </p:txBody>
      </p:sp>
      <p:sp>
        <p:nvSpPr>
          <p:cNvPr id="22" name="TextBox 21"/>
          <p:cNvSpPr txBox="1"/>
          <p:nvPr/>
        </p:nvSpPr>
        <p:spPr>
          <a:xfrm>
            <a:off x="619200" y="2714400"/>
            <a:ext cx="4338000" cy="503999"/>
          </a:xfrm>
          <a:prstGeom prst="rect">
            <a:avLst/>
          </a:prstGeom>
          <a:noFill/>
        </p:spPr>
        <p:txBody>
          <a:bodyPr wrap="square">
            <a:spAutoFit/>
          </a:bodyPr>
          <a:lstStyle/>
          <a:p>
            <a:pPr algn="l"/>
            <a:r>
              <a:rPr sz="750" b="0" i="1">
                <a:solidFill>
                  <a:srgbClr val="555555"/>
                </a:solidFill>
                <a:latin typeface="Calibri"/>
              </a:rPr>
              <a:t>Ventes d'iPhone (50% du CA), Mac, iPad, Apple Watch et accessoires avec un modèle basé sur l'innovation et le renouvellement annuel. Clients cibles : consommateurs premium et professionnels. Croissance tirée par l'IA intégrée et les services associés.</a:t>
            </a:r>
          </a:p>
        </p:txBody>
      </p:sp>
      <p:sp>
        <p:nvSpPr>
          <p:cNvPr id="23" name="Rectangle 22"/>
          <p:cNvSpPr/>
          <p:nvPr/>
        </p:nvSpPr>
        <p:spPr>
          <a:xfrm>
            <a:off x="503999" y="3301199"/>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9200" y="3257999"/>
            <a:ext cx="4338000" cy="165600"/>
          </a:xfrm>
          <a:prstGeom prst="rect">
            <a:avLst/>
          </a:prstGeom>
          <a:noFill/>
        </p:spPr>
        <p:txBody>
          <a:bodyPr wrap="square">
            <a:spAutoFit/>
          </a:bodyPr>
          <a:lstStyle/>
          <a:p>
            <a:pPr algn="l"/>
            <a:r>
              <a:rPr sz="850" b="1" i="0">
                <a:solidFill>
                  <a:srgbClr val="0D0D0D"/>
                </a:solidFill>
                <a:latin typeface="Calibri"/>
              </a:rPr>
              <a:t>Services</a:t>
            </a:r>
          </a:p>
        </p:txBody>
      </p:sp>
      <p:sp>
        <p:nvSpPr>
          <p:cNvPr id="25" name="TextBox 24"/>
          <p:cNvSpPr txBox="1"/>
          <p:nvPr/>
        </p:nvSpPr>
        <p:spPr>
          <a:xfrm>
            <a:off x="619200" y="3416399"/>
            <a:ext cx="4338000" cy="503999"/>
          </a:xfrm>
          <a:prstGeom prst="rect">
            <a:avLst/>
          </a:prstGeom>
          <a:noFill/>
        </p:spPr>
        <p:txBody>
          <a:bodyPr wrap="square">
            <a:spAutoFit/>
          </a:bodyPr>
          <a:lstStyle/>
          <a:p>
            <a:pPr algn="l"/>
            <a:r>
              <a:rPr sz="750" b="0" i="1">
                <a:solidFill>
                  <a:srgbClr val="555555"/>
                </a:solidFill>
                <a:latin typeface="Calibri"/>
              </a:rPr>
              <a:t>Abonnements (App Store, Apple Music, iCloud) et services financiers (Apple Card) avec un modèle récurrent et des marges &gt;70%. Clients cibles : utilisateurs de l'écosystème Apple. Croissance portée par +1.8M d'abonnés nets/mois en 2025.</a:t>
            </a:r>
          </a:p>
        </p:txBody>
      </p:sp>
      <p:sp>
        <p:nvSpPr>
          <p:cNvPr id="26" name="Rectangle 25"/>
          <p:cNvSpPr/>
          <p:nvPr/>
        </p:nvSpPr>
        <p:spPr>
          <a:xfrm>
            <a:off x="5558400" y="961200"/>
            <a:ext cx="32004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58400" y="9612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48400" y="1015200"/>
            <a:ext cx="3063600" cy="396000"/>
          </a:xfrm>
          <a:prstGeom prst="rect">
            <a:avLst/>
          </a:prstGeom>
          <a:noFill/>
        </p:spPr>
        <p:txBody>
          <a:bodyPr wrap="square">
            <a:spAutoFit/>
          </a:bodyPr>
          <a:lstStyle/>
          <a:p>
            <a:pPr algn="l"/>
            <a:r>
              <a:rPr sz="1900" b="1" i="0">
                <a:solidFill>
                  <a:srgbClr val="FFFFFF"/>
                </a:solidFill>
                <a:latin typeface="Calibri"/>
              </a:rPr>
              <a:t>3 757,2 Mds$</a:t>
            </a:r>
          </a:p>
        </p:txBody>
      </p:sp>
      <p:sp>
        <p:nvSpPr>
          <p:cNvPr id="29" name="TextBox 28"/>
          <p:cNvSpPr txBox="1"/>
          <p:nvPr/>
        </p:nvSpPr>
        <p:spPr>
          <a:xfrm>
            <a:off x="5648400" y="1411200"/>
            <a:ext cx="3063600" cy="205199"/>
          </a:xfrm>
          <a:prstGeom prst="rect">
            <a:avLst/>
          </a:prstGeom>
          <a:noFill/>
        </p:spPr>
        <p:txBody>
          <a:bodyPr wrap="square">
            <a:spAutoFit/>
          </a:bodyPr>
          <a:lstStyle/>
          <a:p>
            <a:pPr algn="l"/>
            <a:r>
              <a:rPr sz="800" b="0" i="0">
                <a:solidFill>
                  <a:srgbClr val="FFFFFF"/>
                </a:solidFill>
                <a:latin typeface="Calibri"/>
              </a:rPr>
              <a:t>Capitalisation boursière</a:t>
            </a:r>
          </a:p>
        </p:txBody>
      </p:sp>
      <p:sp>
        <p:nvSpPr>
          <p:cNvPr id="30" name="Rectangle 29"/>
          <p:cNvSpPr/>
          <p:nvPr/>
        </p:nvSpPr>
        <p:spPr>
          <a:xfrm>
            <a:off x="5558400" y="18468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58400" y="1846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648400" y="1900800"/>
            <a:ext cx="3063600" cy="396000"/>
          </a:xfrm>
          <a:prstGeom prst="rect">
            <a:avLst/>
          </a:prstGeom>
          <a:noFill/>
        </p:spPr>
        <p:txBody>
          <a:bodyPr wrap="square">
            <a:spAutoFit/>
          </a:bodyPr>
          <a:lstStyle/>
          <a:p>
            <a:pPr algn="l"/>
            <a:r>
              <a:rPr sz="1900" b="1" i="0">
                <a:solidFill>
                  <a:srgbClr val="1B3A6B"/>
                </a:solidFill>
                <a:latin typeface="Calibri"/>
              </a:rPr>
              <a:t>416,2 Mds$</a:t>
            </a:r>
          </a:p>
        </p:txBody>
      </p:sp>
      <p:sp>
        <p:nvSpPr>
          <p:cNvPr id="33" name="TextBox 32"/>
          <p:cNvSpPr txBox="1"/>
          <p:nvPr/>
        </p:nvSpPr>
        <p:spPr>
          <a:xfrm>
            <a:off x="5648400" y="2296800"/>
            <a:ext cx="3063600" cy="205199"/>
          </a:xfrm>
          <a:prstGeom prst="rect">
            <a:avLst/>
          </a:prstGeom>
          <a:noFill/>
        </p:spPr>
        <p:txBody>
          <a:bodyPr wrap="square">
            <a:spAutoFit/>
          </a:bodyPr>
          <a:lstStyle/>
          <a:p>
            <a:pPr algn="l"/>
            <a:r>
              <a:rPr sz="800" b="0" i="0">
                <a:solidFill>
                  <a:srgbClr val="555555"/>
                </a:solidFill>
                <a:latin typeface="Calibri"/>
              </a:rPr>
              <a:t>Chiffre d'affaires (2025)</a:t>
            </a:r>
          </a:p>
        </p:txBody>
      </p:sp>
      <p:sp>
        <p:nvSpPr>
          <p:cNvPr id="34" name="Rectangle 33"/>
          <p:cNvSpPr/>
          <p:nvPr/>
        </p:nvSpPr>
        <p:spPr>
          <a:xfrm>
            <a:off x="5558400" y="27324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58400" y="27324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48400" y="2786400"/>
            <a:ext cx="3063600" cy="396000"/>
          </a:xfrm>
          <a:prstGeom prst="rect">
            <a:avLst/>
          </a:prstGeom>
          <a:noFill/>
        </p:spPr>
        <p:txBody>
          <a:bodyPr wrap="square">
            <a:spAutoFit/>
          </a:bodyPr>
          <a:lstStyle/>
          <a:p>
            <a:pPr algn="l"/>
            <a:r>
              <a:rPr sz="1900" b="1" i="0">
                <a:solidFill>
                  <a:srgbClr val="1B3A6B"/>
                </a:solidFill>
                <a:latin typeface="Calibri"/>
              </a:rPr>
              <a:t>255,92 $</a:t>
            </a:r>
          </a:p>
        </p:txBody>
      </p:sp>
      <p:sp>
        <p:nvSpPr>
          <p:cNvPr id="37" name="TextBox 36"/>
          <p:cNvSpPr txBox="1"/>
          <p:nvPr/>
        </p:nvSpPr>
        <p:spPr>
          <a:xfrm>
            <a:off x="5648400" y="3182400"/>
            <a:ext cx="30636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38" name="Rectangle 37"/>
          <p:cNvSpPr/>
          <p:nvPr/>
        </p:nvSpPr>
        <p:spPr>
          <a:xfrm>
            <a:off x="5558400" y="36216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58400" y="36216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648400" y="3675600"/>
            <a:ext cx="3063600" cy="396000"/>
          </a:xfrm>
          <a:prstGeom prst="rect">
            <a:avLst/>
          </a:prstGeom>
          <a:noFill/>
        </p:spPr>
        <p:txBody>
          <a:bodyPr wrap="square">
            <a:spAutoFit/>
          </a:bodyPr>
          <a:lstStyle/>
          <a:p>
            <a:pPr algn="l"/>
            <a:r>
              <a:rPr sz="1900" b="1" i="0">
                <a:solidFill>
                  <a:srgbClr val="1B3A6B"/>
                </a:solidFill>
                <a:latin typeface="Calibri"/>
              </a:rPr>
              <a:t>26,4x</a:t>
            </a:r>
          </a:p>
        </p:txBody>
      </p:sp>
      <p:sp>
        <p:nvSpPr>
          <p:cNvPr id="41" name="TextBox 40"/>
          <p:cNvSpPr txBox="1"/>
          <p:nvPr/>
        </p:nvSpPr>
        <p:spPr>
          <a:xfrm>
            <a:off x="5648400" y="4071600"/>
            <a:ext cx="3063600" cy="205199"/>
          </a:xfrm>
          <a:prstGeom prst="rect">
            <a:avLst/>
          </a:prstGeom>
          <a:noFill/>
        </p:spPr>
        <p:txBody>
          <a:bodyPr wrap="square">
            <a:spAutoFit/>
          </a:bodyPr>
          <a:lstStyle/>
          <a:p>
            <a:pPr algn="l"/>
            <a:r>
              <a:rPr sz="800" b="0" i="0">
                <a:solidFill>
                  <a:srgbClr val="555555"/>
                </a:solidFill>
                <a:latin typeface="Calibri"/>
              </a:rPr>
              <a:t>EV/EBITDA (LTM)</a:t>
            </a:r>
          </a:p>
        </p:txBody>
      </p:sp>
      <p:sp>
        <p:nvSpPr>
          <p:cNvPr id="42" name="TextBox 41"/>
          <p:cNvSpPr txBox="1"/>
          <p:nvPr/>
        </p:nvSpPr>
        <p:spPr>
          <a:xfrm>
            <a:off x="5648400" y="4269600"/>
            <a:ext cx="3063600" cy="165600"/>
          </a:xfrm>
          <a:prstGeom prst="rect">
            <a:avLst/>
          </a:prstGeom>
          <a:noFill/>
        </p:spPr>
        <p:txBody>
          <a:bodyPr wrap="square">
            <a:spAutoFit/>
          </a:bodyPr>
          <a:lstStyle/>
          <a:p>
            <a:pPr algn="l"/>
            <a:r>
              <a:rPr sz="700" b="0" i="0">
                <a:solidFill>
                  <a:srgbClr val="888888"/>
                </a:solidFill>
                <a:latin typeface="Calibri"/>
              </a:rPr>
              <a:t>P/E : 33,5x</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Modèle Économique</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Segments opérationnels et moteurs de croissance</a:t>
            </a:r>
          </a:p>
        </p:txBody>
      </p:sp>
      <p:sp>
        <p:nvSpPr>
          <p:cNvPr id="17" name="Rectangle 16"/>
          <p:cNvSpPr/>
          <p:nvPr/>
        </p:nvSpPr>
        <p:spPr>
          <a:xfrm>
            <a:off x="367200" y="961200"/>
            <a:ext cx="4150800" cy="3520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1508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141200"/>
            <a:ext cx="3970800" cy="640800"/>
          </a:xfrm>
          <a:prstGeom prst="rect">
            <a:avLst/>
          </a:prstGeom>
          <a:noFill/>
        </p:spPr>
        <p:txBody>
          <a:bodyPr wrap="square">
            <a:spAutoFit/>
          </a:bodyPr>
          <a:lstStyle/>
          <a:p>
            <a:pPr algn="l"/>
            <a:r>
              <a:rPr sz="2200" b="1" i="0">
                <a:solidFill>
                  <a:srgbClr val="2E5FA3"/>
                </a:solidFill>
                <a:latin typeface="Calibri"/>
              </a:rPr>
              <a:t>55%</a:t>
            </a:r>
          </a:p>
        </p:txBody>
      </p:sp>
      <p:sp>
        <p:nvSpPr>
          <p:cNvPr id="20" name="TextBox 19"/>
          <p:cNvSpPr txBox="1"/>
          <p:nvPr/>
        </p:nvSpPr>
        <p:spPr>
          <a:xfrm>
            <a:off x="4572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1" name="Rectangle 20"/>
          <p:cNvSpPr/>
          <p:nvPr/>
        </p:nvSpPr>
        <p:spPr>
          <a:xfrm>
            <a:off x="4572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2059200"/>
            <a:ext cx="3970800" cy="255600"/>
          </a:xfrm>
          <a:prstGeom prst="rect">
            <a:avLst/>
          </a:prstGeom>
          <a:noFill/>
        </p:spPr>
        <p:txBody>
          <a:bodyPr wrap="square">
            <a:spAutoFit/>
          </a:bodyPr>
          <a:lstStyle/>
          <a:p>
            <a:pPr algn="l"/>
            <a:r>
              <a:rPr sz="1000" b="1" i="0">
                <a:solidFill>
                  <a:srgbClr val="1B3A6B"/>
                </a:solidFill>
                <a:latin typeface="Calibri"/>
              </a:rPr>
              <a:t>Produits</a:t>
            </a:r>
          </a:p>
        </p:txBody>
      </p:sp>
      <p:sp>
        <p:nvSpPr>
          <p:cNvPr id="23" name="TextBox 22"/>
          <p:cNvSpPr txBox="1"/>
          <p:nvPr/>
        </p:nvSpPr>
        <p:spPr>
          <a:xfrm>
            <a:off x="457200" y="2332800"/>
            <a:ext cx="3970800" cy="2041199"/>
          </a:xfrm>
          <a:prstGeom prst="rect">
            <a:avLst/>
          </a:prstGeom>
          <a:noFill/>
        </p:spPr>
        <p:txBody>
          <a:bodyPr wrap="square">
            <a:spAutoFit/>
          </a:bodyPr>
          <a:lstStyle/>
          <a:p>
            <a:pPr algn="l"/>
            <a:r>
              <a:rPr sz="800" b="0" i="0">
                <a:solidFill>
                  <a:srgbClr val="555555"/>
                </a:solidFill>
                <a:latin typeface="Calibri"/>
              </a:rPr>
              <a:t>Ventes d'iPhone (50% du CA), Mac, iPad, Apple Watch et accessoires avec un modèle basé sur l'innovation et le renouvellement annuel. Clients cibles : consommateurs premium et professionnels. Croissance tirée par l'IA intégrée et les services associés.</a:t>
            </a:r>
          </a:p>
        </p:txBody>
      </p:sp>
      <p:sp>
        <p:nvSpPr>
          <p:cNvPr id="24" name="Rectangle 23"/>
          <p:cNvSpPr/>
          <p:nvPr/>
        </p:nvSpPr>
        <p:spPr>
          <a:xfrm>
            <a:off x="4626000" y="961200"/>
            <a:ext cx="4150800" cy="35208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626000" y="961200"/>
            <a:ext cx="4150800" cy="5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16000" y="1141200"/>
            <a:ext cx="3970800" cy="640800"/>
          </a:xfrm>
          <a:prstGeom prst="rect">
            <a:avLst/>
          </a:prstGeom>
          <a:noFill/>
        </p:spPr>
        <p:txBody>
          <a:bodyPr wrap="square">
            <a:spAutoFit/>
          </a:bodyPr>
          <a:lstStyle/>
          <a:p>
            <a:pPr algn="l"/>
            <a:r>
              <a:rPr sz="2200" b="1" i="0">
                <a:solidFill>
                  <a:srgbClr val="1A7A4A"/>
                </a:solidFill>
                <a:latin typeface="Calibri"/>
              </a:rPr>
              <a:t>20%</a:t>
            </a:r>
          </a:p>
        </p:txBody>
      </p:sp>
      <p:sp>
        <p:nvSpPr>
          <p:cNvPr id="27" name="TextBox 26"/>
          <p:cNvSpPr txBox="1"/>
          <p:nvPr/>
        </p:nvSpPr>
        <p:spPr>
          <a:xfrm>
            <a:off x="47160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8" name="Rectangle 27"/>
          <p:cNvSpPr/>
          <p:nvPr/>
        </p:nvSpPr>
        <p:spPr>
          <a:xfrm>
            <a:off x="47160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716000" y="2059200"/>
            <a:ext cx="3970800" cy="255600"/>
          </a:xfrm>
          <a:prstGeom prst="rect">
            <a:avLst/>
          </a:prstGeom>
          <a:noFill/>
        </p:spPr>
        <p:txBody>
          <a:bodyPr wrap="square">
            <a:spAutoFit/>
          </a:bodyPr>
          <a:lstStyle/>
          <a:p>
            <a:pPr algn="l"/>
            <a:r>
              <a:rPr sz="1000" b="1" i="0">
                <a:solidFill>
                  <a:srgbClr val="1B3A6B"/>
                </a:solidFill>
                <a:latin typeface="Calibri"/>
              </a:rPr>
              <a:t>Services</a:t>
            </a:r>
          </a:p>
        </p:txBody>
      </p:sp>
      <p:sp>
        <p:nvSpPr>
          <p:cNvPr id="30" name="TextBox 29"/>
          <p:cNvSpPr txBox="1"/>
          <p:nvPr/>
        </p:nvSpPr>
        <p:spPr>
          <a:xfrm>
            <a:off x="4716000" y="2332800"/>
            <a:ext cx="3970800" cy="2041199"/>
          </a:xfrm>
          <a:prstGeom prst="rect">
            <a:avLst/>
          </a:prstGeom>
          <a:noFill/>
        </p:spPr>
        <p:txBody>
          <a:bodyPr wrap="square">
            <a:spAutoFit/>
          </a:bodyPr>
          <a:lstStyle/>
          <a:p>
            <a:pPr algn="l"/>
            <a:r>
              <a:rPr sz="800" b="0" i="0">
                <a:solidFill>
                  <a:srgbClr val="555555"/>
                </a:solidFill>
                <a:latin typeface="Calibri"/>
              </a:rPr>
              <a:t>Abonnements (App Store, Apple Music, iCloud) et services financiers (Apple Card) avec un modèle récurrent et des marges &gt;70%. Clients cibles : utilisateurs de l'écosystème Apple. Croissance portée par +1.8M d'abonnés nets/mois en 2025.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02</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Analyse Financière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Compte de résultat, bilan, liquidité &amp; ratios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Analyse Financière — Compte de Résultat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USD millions  ·  2021–2027F</a:t>
            </a:r>
          </a:p>
        </p:txBody>
      </p:sp>
      <p:graphicFrame>
        <p:nvGraphicFramePr>
          <p:cNvPr id="17" name="Table 16"/>
          <p:cNvGraphicFramePr>
            <a:graphicFrameLocks noGrp="1"/>
          </p:cNvGraphicFramePr>
          <p:nvPr/>
        </p:nvGraphicFramePr>
        <p:xfrm>
          <a:off x="367200" y="914400"/>
          <a:ext cx="8413196" cy="1980000"/>
        </p:xfrm>
        <a:graphic>
          <a:graphicData uri="http://schemas.openxmlformats.org/drawingml/2006/table">
            <a:tbl>
              <a:tblPr firstRow="1" bandRow="1">
                <a:tableStyleId>{5C22544A-7EE6-4342-B048-85BDC9FD1C3A}</a:tableStyleId>
              </a:tblPr>
              <a:tblGrid>
                <a:gridCol w="2355696"/>
                <a:gridCol w="1211500"/>
                <a:gridCol w="1211500"/>
                <a:gridCol w="1211500"/>
                <a:gridCol w="1211500"/>
                <a:gridCol w="1211500"/>
              </a:tblGrid>
              <a:tr h="220000">
                <a:tc>
                  <a:txBody>
                    <a:bodyPr/>
                    <a:lstStyle/>
                    <a:p>
                      <a:pPr algn="l"/>
                      <a:r>
                        <a:rPr sz="800" b="1" i="0">
                          <a:solidFill>
                            <a:srgbClr val="FFFFFF"/>
                          </a:solidFill>
                          <a:latin typeface="Calibri"/>
                        </a:rPr>
                        <a:t>Indicateur</a:t>
                      </a:r>
                    </a:p>
                  </a:txBody>
                  <a:tcPr>
                    <a:solidFill>
                      <a:srgbClr val="1B3A6B"/>
                    </a:solidFill>
                  </a:tcPr>
                </a:tc>
                <a:tc>
                  <a:txBody>
                    <a:bodyPr/>
                    <a:lstStyle/>
                    <a:p>
                      <a:pPr algn="ctr"/>
                      <a:r>
                        <a:rPr sz="800" b="1" i="0">
                          <a:solidFill>
                            <a:srgbClr val="FFFFFF"/>
                          </a:solidFill>
                          <a:latin typeface="Calibri"/>
                        </a:rPr>
                        <a:t>2023</a:t>
                      </a:r>
                    </a:p>
                  </a:txBody>
                  <a:tcPr>
                    <a:solidFill>
                      <a:srgbClr val="1B3A6B"/>
                    </a:solidFill>
                  </a:tcPr>
                </a:tc>
                <a:tc>
                  <a:txBody>
                    <a:bodyPr/>
                    <a:lstStyle/>
                    <a:p>
                      <a:pPr algn="ctr"/>
                      <a:r>
                        <a:rPr sz="800" b="1" i="0">
                          <a:solidFill>
                            <a:srgbClr val="FFFFFF"/>
                          </a:solidFill>
                          <a:latin typeface="Calibri"/>
                        </a:rPr>
                        <a:t>2024</a:t>
                      </a:r>
                    </a:p>
                  </a:txBody>
                  <a:tcPr>
                    <a:solidFill>
                      <a:srgbClr val="1B3A6B"/>
                    </a:solidFill>
                  </a:tcPr>
                </a:tc>
                <a:tc>
                  <a:txBody>
                    <a:bodyPr/>
                    <a:lstStyle/>
                    <a:p>
                      <a:pPr algn="ctr"/>
                      <a:r>
                        <a:rPr sz="800" b="1" i="0">
                          <a:solidFill>
                            <a:srgbClr val="FFFFFF"/>
                          </a:solidFill>
                          <a:latin typeface="Calibri"/>
                        </a:rPr>
                        <a:t>2025</a:t>
                      </a:r>
                    </a:p>
                  </a:txBody>
                  <a:tcPr>
                    <a:solidFill>
                      <a:srgbClr val="1B3A6B"/>
                    </a:solidFill>
                  </a:tcPr>
                </a:tc>
                <a:tc>
                  <a:txBody>
                    <a:bodyPr/>
                    <a:lstStyle/>
                    <a:p>
                      <a:pPr algn="ctr"/>
                      <a:r>
                        <a:rPr sz="800" b="1" i="0">
                          <a:solidFill>
                            <a:srgbClr val="FFFFFF"/>
                          </a:solidFill>
                          <a:latin typeface="Calibri"/>
                        </a:rPr>
                        <a:t>2026F</a:t>
                      </a:r>
                    </a:p>
                  </a:txBody>
                  <a:tcPr>
                    <a:solidFill>
                      <a:srgbClr val="1B3A6B"/>
                    </a:solidFill>
                  </a:tcPr>
                </a:tc>
                <a:tc>
                  <a:txBody>
                    <a:bodyPr/>
                    <a:lstStyle/>
                    <a:p>
                      <a:pPr algn="ctr"/>
                      <a:r>
                        <a:rPr sz="800" b="1" i="0">
                          <a:solidFill>
                            <a:srgbClr val="FFFFFF"/>
                          </a:solidFill>
                          <a:latin typeface="Calibri"/>
                        </a:rPr>
                        <a:t>2027F</a:t>
                      </a:r>
                    </a:p>
                  </a:txBody>
                  <a:tcPr>
                    <a:solidFill>
                      <a:srgbClr val="1B3A6B"/>
                    </a:solidFill>
                  </a:tcPr>
                </a:tc>
              </a:tr>
              <a:tr h="220000">
                <a:tc>
                  <a:txBody>
                    <a:bodyPr/>
                    <a:lstStyle/>
                    <a:p>
                      <a:pPr algn="l"/>
                      <a:r>
                        <a:rPr sz="800" b="1" i="0">
                          <a:solidFill>
                            <a:srgbClr val="0D0D0D"/>
                          </a:solidFill>
                          <a:latin typeface="Calibri"/>
                        </a:rPr>
                        <a:t>Chiffre d'affaires</a:t>
                      </a:r>
                    </a:p>
                  </a:txBody>
                  <a:tcPr>
                    <a:solidFill>
                      <a:srgbClr val="FFFFFF"/>
                    </a:solidFill>
                  </a:tcPr>
                </a:tc>
                <a:tc>
                  <a:txBody>
                    <a:bodyPr/>
                    <a:lstStyle/>
                    <a:p>
                      <a:pPr algn="ctr"/>
                      <a:r>
                        <a:rPr sz="800" b="1" i="0">
                          <a:solidFill>
                            <a:srgbClr val="0D0D0D"/>
                          </a:solidFill>
                          <a:latin typeface="Calibri"/>
                        </a:rPr>
                        <a:t>383,3</a:t>
                      </a:r>
                    </a:p>
                  </a:txBody>
                  <a:tcPr>
                    <a:solidFill>
                      <a:srgbClr val="FFFFFF"/>
                    </a:solidFill>
                  </a:tcPr>
                </a:tc>
                <a:tc>
                  <a:txBody>
                    <a:bodyPr/>
                    <a:lstStyle/>
                    <a:p>
                      <a:pPr algn="ctr"/>
                      <a:r>
                        <a:rPr sz="800" b="1" i="0">
                          <a:solidFill>
                            <a:srgbClr val="0D0D0D"/>
                          </a:solidFill>
                          <a:latin typeface="Calibri"/>
                        </a:rPr>
                        <a:t>391,0</a:t>
                      </a:r>
                    </a:p>
                  </a:txBody>
                  <a:tcPr>
                    <a:solidFill>
                      <a:srgbClr val="FFFFFF"/>
                    </a:solidFill>
                  </a:tcPr>
                </a:tc>
                <a:tc>
                  <a:txBody>
                    <a:bodyPr/>
                    <a:lstStyle/>
                    <a:p>
                      <a:pPr algn="ctr"/>
                      <a:r>
                        <a:rPr sz="800" b="1" i="0">
                          <a:solidFill>
                            <a:srgbClr val="1B3A6B"/>
                          </a:solidFill>
                          <a:latin typeface="Calibri"/>
                        </a:rPr>
                        <a:t>416,2</a:t>
                      </a:r>
                    </a:p>
                  </a:txBody>
                  <a:tcPr>
                    <a:solidFill>
                      <a:srgbClr val="DDE8F5"/>
                    </a:solidFill>
                  </a:tcPr>
                </a:tc>
                <a:tc>
                  <a:txBody>
                    <a:bodyPr/>
                    <a:lstStyle/>
                    <a:p>
                      <a:pPr algn="ctr"/>
                      <a:r>
                        <a:rPr sz="800" b="1" i="0">
                          <a:solidFill>
                            <a:srgbClr val="0D0D0D"/>
                          </a:solidFill>
                          <a:latin typeface="Calibri"/>
                        </a:rPr>
                        <a:t>443,5</a:t>
                      </a:r>
                    </a:p>
                  </a:txBody>
                  <a:tcPr>
                    <a:solidFill>
                      <a:srgbClr val="FFFFFF"/>
                    </a:solidFill>
                  </a:tcPr>
                </a:tc>
                <a:tc>
                  <a:txBody>
                    <a:bodyPr/>
                    <a:lstStyle/>
                    <a:p>
                      <a:pPr algn="ctr"/>
                      <a:r>
                        <a:rPr sz="800" b="1" i="0">
                          <a:solidFill>
                            <a:srgbClr val="0D0D0D"/>
                          </a:solidFill>
                          <a:latin typeface="Calibri"/>
                        </a:rPr>
                        <a:t>472,0</a:t>
                      </a:r>
                    </a:p>
                  </a:txBody>
                  <a:tcPr>
                    <a:solidFill>
                      <a:srgbClr val="FFFFFF"/>
                    </a:solidFill>
                  </a:tcPr>
                </a:tc>
              </a:tr>
              <a:tr h="220000">
                <a:tc>
                  <a:txBody>
                    <a:bodyPr/>
                    <a:lstStyle/>
                    <a:p>
                      <a:pPr algn="l"/>
                      <a:r>
                        <a:rPr sz="750" b="0" i="1">
                          <a:solidFill>
                            <a:srgbClr val="555555"/>
                          </a:solidFill>
                          <a:latin typeface="Calibri"/>
                        </a:rPr>
                        <a:t>Croissance YoY</a:t>
                      </a:r>
                    </a:p>
                  </a:txBody>
                  <a:tcPr>
                    <a:solidFill>
                      <a:srgbClr val="F7F8FA"/>
                    </a:solidFill>
                  </a:tcPr>
                </a:tc>
                <a:tc>
                  <a:txBody>
                    <a:bodyPr/>
                    <a:lstStyle/>
                    <a:p>
                      <a:pPr algn="ctr"/>
                      <a:r>
                        <a:rPr sz="750" b="0" i="1">
                          <a:solidFill>
                            <a:srgbClr val="555555"/>
                          </a:solidFill>
                          <a:latin typeface="Calibri"/>
                        </a:rPr>
                        <a:t>-2,8 %</a:t>
                      </a:r>
                    </a:p>
                  </a:txBody>
                  <a:tcPr>
                    <a:solidFill>
                      <a:srgbClr val="F7F8FA"/>
                    </a:solidFill>
                  </a:tcPr>
                </a:tc>
                <a:tc>
                  <a:txBody>
                    <a:bodyPr/>
                    <a:lstStyle/>
                    <a:p>
                      <a:pPr algn="ctr"/>
                      <a:r>
                        <a:rPr sz="750" b="0" i="1">
                          <a:solidFill>
                            <a:srgbClr val="555555"/>
                          </a:solidFill>
                          <a:latin typeface="Calibri"/>
                        </a:rPr>
                        <a:t>+2,0 %</a:t>
                      </a:r>
                    </a:p>
                  </a:txBody>
                  <a:tcPr>
                    <a:solidFill>
                      <a:srgbClr val="F7F8FA"/>
                    </a:solidFill>
                  </a:tcPr>
                </a:tc>
                <a:tc>
                  <a:txBody>
                    <a:bodyPr/>
                    <a:lstStyle/>
                    <a:p>
                      <a:pPr algn="ctr"/>
                      <a:r>
                        <a:rPr sz="750" b="0" i="1">
                          <a:solidFill>
                            <a:srgbClr val="555555"/>
                          </a:solidFill>
                          <a:latin typeface="Calibri"/>
                        </a:rPr>
                        <a:t>+6,4 %</a:t>
                      </a:r>
                    </a:p>
                  </a:txBody>
                  <a:tcPr>
                    <a:solidFill>
                      <a:srgbClr val="DDE8F5"/>
                    </a:solidFill>
                  </a:tcPr>
                </a:tc>
                <a:tc>
                  <a:txBody>
                    <a:bodyPr/>
                    <a:lstStyle/>
                    <a:p>
                      <a:pPr algn="ctr"/>
                      <a:r>
                        <a:rPr sz="750" b="0" i="1">
                          <a:solidFill>
                            <a:srgbClr val="555555"/>
                          </a:solidFill>
                          <a:latin typeface="Calibri"/>
                        </a:rPr>
                        <a:t>+6,6 %</a:t>
                      </a:r>
                    </a:p>
                  </a:txBody>
                  <a:tcPr>
                    <a:solidFill>
                      <a:srgbClr val="F7F8FA"/>
                    </a:solidFill>
                  </a:tcPr>
                </a:tc>
                <a:tc>
                  <a:txBody>
                    <a:bodyPr/>
                    <a:lstStyle/>
                    <a:p>
                      <a:pPr algn="ctr"/>
                      <a:r>
                        <a:rPr sz="750" b="0" i="1">
                          <a:solidFill>
                            <a:srgbClr val="555555"/>
                          </a:solidFill>
                          <a:latin typeface="Calibri"/>
                        </a:rPr>
                        <a:t>+6,4 %</a:t>
                      </a:r>
                    </a:p>
                  </a:txBody>
                  <a:tcPr>
                    <a:solidFill>
                      <a:srgbClr val="F7F8FA"/>
                    </a:solidFill>
                  </a:tcPr>
                </a:tc>
              </a:tr>
              <a:tr h="220000">
                <a:tc>
                  <a:txBody>
                    <a:bodyPr/>
                    <a:lstStyle/>
                    <a:p>
                      <a:pPr algn="l"/>
                      <a:r>
                        <a:rPr sz="800" b="1" i="0">
                          <a:solidFill>
                            <a:srgbClr val="0D0D0D"/>
                          </a:solidFill>
                          <a:latin typeface="Calibri"/>
                        </a:rPr>
                        <a:t>Résultat brut</a:t>
                      </a:r>
                    </a:p>
                  </a:txBody>
                  <a:tcPr>
                    <a:solidFill>
                      <a:srgbClr val="FFFFFF"/>
                    </a:solidFill>
                  </a:tcPr>
                </a:tc>
                <a:tc>
                  <a:txBody>
                    <a:bodyPr/>
                    <a:lstStyle/>
                    <a:p>
                      <a:pPr algn="ctr"/>
                      <a:r>
                        <a:rPr sz="800" b="1" i="0">
                          <a:solidFill>
                            <a:srgbClr val="0D0D0D"/>
                          </a:solidFill>
                          <a:latin typeface="Calibri"/>
                        </a:rPr>
                        <a:t>169,1</a:t>
                      </a:r>
                    </a:p>
                  </a:txBody>
                  <a:tcPr>
                    <a:solidFill>
                      <a:srgbClr val="FFFFFF"/>
                    </a:solidFill>
                  </a:tcPr>
                </a:tc>
                <a:tc>
                  <a:txBody>
                    <a:bodyPr/>
                    <a:lstStyle/>
                    <a:p>
                      <a:pPr algn="ctr"/>
                      <a:r>
                        <a:rPr sz="800" b="1" i="0">
                          <a:solidFill>
                            <a:srgbClr val="0D0D0D"/>
                          </a:solidFill>
                          <a:latin typeface="Calibri"/>
                        </a:rPr>
                        <a:t>180,7</a:t>
                      </a:r>
                    </a:p>
                  </a:txBody>
                  <a:tcPr>
                    <a:solidFill>
                      <a:srgbClr val="FFFFFF"/>
                    </a:solidFill>
                  </a:tcPr>
                </a:tc>
                <a:tc>
                  <a:txBody>
                    <a:bodyPr/>
                    <a:lstStyle/>
                    <a:p>
                      <a:pPr algn="ctr"/>
                      <a:r>
                        <a:rPr sz="800" b="1" i="0">
                          <a:solidFill>
                            <a:srgbClr val="1B3A6B"/>
                          </a:solidFill>
                          <a:latin typeface="Calibri"/>
                        </a:rPr>
                        <a:t>195,2</a:t>
                      </a:r>
                    </a:p>
                  </a:txBody>
                  <a:tcPr>
                    <a:solidFill>
                      <a:srgbClr val="DDE8F5"/>
                    </a:solidFill>
                  </a:tcPr>
                </a:tc>
                <a:tc>
                  <a:txBody>
                    <a:bodyPr/>
                    <a:lstStyle/>
                    <a:p>
                      <a:pPr algn="ctr"/>
                      <a:r>
                        <a:rPr sz="800" b="1" i="0">
                          <a:solidFill>
                            <a:srgbClr val="0D0D0D"/>
                          </a:solidFill>
                          <a:latin typeface="Calibri"/>
                        </a:rPr>
                        <a:t>210,7</a:t>
                      </a:r>
                    </a:p>
                  </a:txBody>
                  <a:tcPr>
                    <a:solidFill>
                      <a:srgbClr val="FFFFFF"/>
                    </a:solidFill>
                  </a:tcPr>
                </a:tc>
                <a:tc>
                  <a:txBody>
                    <a:bodyPr/>
                    <a:lstStyle/>
                    <a:p>
                      <a:pPr algn="ctr"/>
                      <a:r>
                        <a:rPr sz="800" b="1" i="0">
                          <a:solidFill>
                            <a:srgbClr val="0D0D0D"/>
                          </a:solidFill>
                          <a:latin typeface="Calibri"/>
                        </a:rPr>
                        <a:t>226,6</a:t>
                      </a:r>
                    </a:p>
                  </a:txBody>
                  <a:tcPr>
                    <a:solidFill>
                      <a:srgbClr val="FFFFFF"/>
                    </a:solidFill>
                  </a:tcPr>
                </a:tc>
              </a:tr>
              <a:tr h="220000">
                <a:tc>
                  <a:txBody>
                    <a:bodyPr/>
                    <a:lstStyle/>
                    <a:p>
                      <a:pPr algn="l"/>
                      <a:r>
                        <a:rPr sz="750" b="0" i="1">
                          <a:solidFill>
                            <a:srgbClr val="555555"/>
                          </a:solidFill>
                          <a:latin typeface="Calibri"/>
                        </a:rPr>
                        <a:t>Marge brute</a:t>
                      </a:r>
                    </a:p>
                  </a:txBody>
                  <a:tcPr>
                    <a:solidFill>
                      <a:srgbClr val="F7F8FA"/>
                    </a:solidFill>
                  </a:tcPr>
                </a:tc>
                <a:tc>
                  <a:txBody>
                    <a:bodyPr/>
                    <a:lstStyle/>
                    <a:p>
                      <a:pPr algn="ctr"/>
                      <a:r>
                        <a:rPr sz="750" b="0" i="1">
                          <a:solidFill>
                            <a:srgbClr val="555555"/>
                          </a:solidFill>
                          <a:latin typeface="Calibri"/>
                        </a:rPr>
                        <a:t>44,1 %</a:t>
                      </a:r>
                    </a:p>
                  </a:txBody>
                  <a:tcPr>
                    <a:solidFill>
                      <a:srgbClr val="F7F8FA"/>
                    </a:solidFill>
                  </a:tcPr>
                </a:tc>
                <a:tc>
                  <a:txBody>
                    <a:bodyPr/>
                    <a:lstStyle/>
                    <a:p>
                      <a:pPr algn="ctr"/>
                      <a:r>
                        <a:rPr sz="750" b="0" i="1">
                          <a:solidFill>
                            <a:srgbClr val="555555"/>
                          </a:solidFill>
                          <a:latin typeface="Calibri"/>
                        </a:rPr>
                        <a:t>46,2 %</a:t>
                      </a:r>
                    </a:p>
                  </a:txBody>
                  <a:tcPr>
                    <a:solidFill>
                      <a:srgbClr val="F7F8FA"/>
                    </a:solidFill>
                  </a:tcPr>
                </a:tc>
                <a:tc>
                  <a:txBody>
                    <a:bodyPr/>
                    <a:lstStyle/>
                    <a:p>
                      <a:pPr algn="ctr"/>
                      <a:r>
                        <a:rPr sz="750" b="0" i="1">
                          <a:solidFill>
                            <a:srgbClr val="555555"/>
                          </a:solidFill>
                          <a:latin typeface="Calibri"/>
                        </a:rPr>
                        <a:t>46,9 %</a:t>
                      </a:r>
                    </a:p>
                  </a:txBody>
                  <a:tcPr>
                    <a:solidFill>
                      <a:srgbClr val="DDE8F5"/>
                    </a:solidFill>
                  </a:tcPr>
                </a:tc>
                <a:tc>
                  <a:txBody>
                    <a:bodyPr/>
                    <a:lstStyle/>
                    <a:p>
                      <a:pPr algn="ctr"/>
                      <a:r>
                        <a:rPr sz="750" b="0" i="1">
                          <a:solidFill>
                            <a:srgbClr val="555555"/>
                          </a:solidFill>
                          <a:latin typeface="Calibri"/>
                        </a:rPr>
                        <a:t>47,5 %</a:t>
                      </a:r>
                    </a:p>
                  </a:txBody>
                  <a:tcPr>
                    <a:solidFill>
                      <a:srgbClr val="F7F8FA"/>
                    </a:solidFill>
                  </a:tcPr>
                </a:tc>
                <a:tc>
                  <a:txBody>
                    <a:bodyPr/>
                    <a:lstStyle/>
                    <a:p>
                      <a:pPr algn="ctr"/>
                      <a:r>
                        <a:rPr sz="750" b="0" i="1">
                          <a:solidFill>
                            <a:srgbClr val="555555"/>
                          </a:solidFill>
                          <a:latin typeface="Calibri"/>
                        </a:rPr>
                        <a:t>48,0 %</a:t>
                      </a:r>
                    </a:p>
                  </a:txBody>
                  <a:tcPr>
                    <a:solidFill>
                      <a:srgbClr val="F7F8FA"/>
                    </a:solidFill>
                  </a:tcPr>
                </a:tc>
              </a:tr>
              <a:tr h="220000">
                <a:tc>
                  <a:txBody>
                    <a:bodyPr/>
                    <a:lstStyle/>
                    <a:p>
                      <a:pPr algn="l"/>
                      <a:r>
                        <a:rPr sz="800" b="1" i="0">
                          <a:solidFill>
                            <a:srgbClr val="0D0D0D"/>
                          </a:solidFill>
                          <a:latin typeface="Calibri"/>
                        </a:rPr>
                        <a:t>EBITDA</a:t>
                      </a:r>
                    </a:p>
                  </a:txBody>
                  <a:tcPr>
                    <a:solidFill>
                      <a:srgbClr val="FFFFFF"/>
                    </a:solidFill>
                  </a:tcPr>
                </a:tc>
                <a:tc>
                  <a:txBody>
                    <a:bodyPr/>
                    <a:lstStyle/>
                    <a:p>
                      <a:pPr algn="ctr"/>
                      <a:r>
                        <a:rPr sz="800" b="1" i="0">
                          <a:solidFill>
                            <a:srgbClr val="0D0D0D"/>
                          </a:solidFill>
                          <a:latin typeface="Calibri"/>
                        </a:rPr>
                        <a:t>125,8</a:t>
                      </a:r>
                    </a:p>
                  </a:txBody>
                  <a:tcPr>
                    <a:solidFill>
                      <a:srgbClr val="FFFFFF"/>
                    </a:solidFill>
                  </a:tcPr>
                </a:tc>
                <a:tc>
                  <a:txBody>
                    <a:bodyPr/>
                    <a:lstStyle/>
                    <a:p>
                      <a:pPr algn="ctr"/>
                      <a:r>
                        <a:rPr sz="800" b="1" i="0">
                          <a:solidFill>
                            <a:srgbClr val="0D0D0D"/>
                          </a:solidFill>
                          <a:latin typeface="Calibri"/>
                        </a:rPr>
                        <a:t>134,7</a:t>
                      </a:r>
                    </a:p>
                  </a:txBody>
                  <a:tcPr>
                    <a:solidFill>
                      <a:srgbClr val="FFFFFF"/>
                    </a:solidFill>
                  </a:tcPr>
                </a:tc>
                <a:tc>
                  <a:txBody>
                    <a:bodyPr/>
                    <a:lstStyle/>
                    <a:p>
                      <a:pPr algn="ctr"/>
                      <a:r>
                        <a:rPr sz="800" b="1" i="0">
                          <a:solidFill>
                            <a:srgbClr val="1B3A6B"/>
                          </a:solidFill>
                          <a:latin typeface="Calibri"/>
                        </a:rPr>
                        <a:t>144,7</a:t>
                      </a:r>
                    </a:p>
                  </a:txBody>
                  <a:tcPr>
                    <a:solidFill>
                      <a:srgbClr val="DDE8F5"/>
                    </a:solidFill>
                  </a:tcPr>
                </a:tc>
                <a:tc>
                  <a:txBody>
                    <a:bodyPr/>
                    <a:lstStyle/>
                    <a:p>
                      <a:pPr algn="ctr"/>
                      <a:r>
                        <a:rPr sz="800" b="1" i="0">
                          <a:solidFill>
                            <a:srgbClr val="0D0D0D"/>
                          </a:solidFill>
                          <a:latin typeface="Calibri"/>
                        </a:rPr>
                        <a:t>165,0</a:t>
                      </a:r>
                    </a:p>
                  </a:txBody>
                  <a:tcPr>
                    <a:solidFill>
                      <a:srgbClr val="FFFFFF"/>
                    </a:solidFill>
                  </a:tcPr>
                </a:tc>
                <a:tc>
                  <a:txBody>
                    <a:bodyPr/>
                    <a:lstStyle/>
                    <a:p>
                      <a:pPr algn="ctr"/>
                      <a:r>
                        <a:rPr sz="800" b="1" i="0">
                          <a:solidFill>
                            <a:srgbClr val="0D0D0D"/>
                          </a:solidFill>
                          <a:latin typeface="Calibri"/>
                        </a:rPr>
                        <a:t>178,0</a:t>
                      </a:r>
                    </a:p>
                  </a:txBody>
                  <a:tcPr>
                    <a:solidFill>
                      <a:srgbClr val="FFFFFF"/>
                    </a:solidFill>
                  </a:tcPr>
                </a:tc>
              </a:tr>
              <a:tr h="220000">
                <a:tc>
                  <a:txBody>
                    <a:bodyPr/>
                    <a:lstStyle/>
                    <a:p>
                      <a:pPr algn="l"/>
                      <a:r>
                        <a:rPr sz="750" b="0" i="1">
                          <a:solidFill>
                            <a:srgbClr val="555555"/>
                          </a:solidFill>
                          <a:latin typeface="Calibri"/>
                        </a:rPr>
                        <a:t>Marge EBITDA</a:t>
                      </a:r>
                    </a:p>
                  </a:txBody>
                  <a:tcPr>
                    <a:solidFill>
                      <a:srgbClr val="F7F8FA"/>
                    </a:solidFill>
                  </a:tcPr>
                </a:tc>
                <a:tc>
                  <a:txBody>
                    <a:bodyPr/>
                    <a:lstStyle/>
                    <a:p>
                      <a:pPr algn="ctr"/>
                      <a:r>
                        <a:rPr sz="750" b="0" i="1">
                          <a:solidFill>
                            <a:srgbClr val="555555"/>
                          </a:solidFill>
                          <a:latin typeface="Calibri"/>
                        </a:rPr>
                        <a:t>32,8 %</a:t>
                      </a:r>
                    </a:p>
                  </a:txBody>
                  <a:tcPr>
                    <a:solidFill>
                      <a:srgbClr val="F7F8FA"/>
                    </a:solidFill>
                  </a:tcPr>
                </a:tc>
                <a:tc>
                  <a:txBody>
                    <a:bodyPr/>
                    <a:lstStyle/>
                    <a:p>
                      <a:pPr algn="ctr"/>
                      <a:r>
                        <a:rPr sz="750" b="0" i="1">
                          <a:solidFill>
                            <a:srgbClr val="555555"/>
                          </a:solidFill>
                          <a:latin typeface="Calibri"/>
                        </a:rPr>
                        <a:t>34,4 %</a:t>
                      </a:r>
                    </a:p>
                  </a:txBody>
                  <a:tcPr>
                    <a:solidFill>
                      <a:srgbClr val="F7F8FA"/>
                    </a:solidFill>
                  </a:tcPr>
                </a:tc>
                <a:tc>
                  <a:txBody>
                    <a:bodyPr/>
                    <a:lstStyle/>
                    <a:p>
                      <a:pPr algn="ctr"/>
                      <a:r>
                        <a:rPr sz="750" b="0" i="1">
                          <a:solidFill>
                            <a:srgbClr val="555555"/>
                          </a:solidFill>
                          <a:latin typeface="Calibri"/>
                        </a:rPr>
                        <a:t>34,8 %</a:t>
                      </a:r>
                    </a:p>
                  </a:txBody>
                  <a:tcPr>
                    <a:solidFill>
                      <a:srgbClr val="DDE8F5"/>
                    </a:solidFill>
                  </a:tcPr>
                </a:tc>
                <a:tc>
                  <a:txBody>
                    <a:bodyPr/>
                    <a:lstStyle/>
                    <a:p>
                      <a:pPr algn="ctr"/>
                      <a:r>
                        <a:rPr sz="750" b="0" i="1">
                          <a:solidFill>
                            <a:srgbClr val="555555"/>
                          </a:solidFill>
                          <a:latin typeface="Calibri"/>
                        </a:rPr>
                        <a:t>37,2 %</a:t>
                      </a:r>
                    </a:p>
                  </a:txBody>
                  <a:tcPr>
                    <a:solidFill>
                      <a:srgbClr val="F7F8FA"/>
                    </a:solidFill>
                  </a:tcPr>
                </a:tc>
                <a:tc>
                  <a:txBody>
                    <a:bodyPr/>
                    <a:lstStyle/>
                    <a:p>
                      <a:pPr algn="ctr"/>
                      <a:r>
                        <a:rPr sz="750" b="0" i="1">
                          <a:solidFill>
                            <a:srgbClr val="555555"/>
                          </a:solidFill>
                          <a:latin typeface="Calibri"/>
                        </a:rPr>
                        <a:t>37,7 %</a:t>
                      </a:r>
                    </a:p>
                  </a:txBody>
                  <a:tcPr>
                    <a:solidFill>
                      <a:srgbClr val="F7F8FA"/>
                    </a:solidFill>
                  </a:tcPr>
                </a:tc>
              </a:tr>
              <a:tr h="220000">
                <a:tc>
                  <a:txBody>
                    <a:bodyPr/>
                    <a:lstStyle/>
                    <a:p>
                      <a:pPr algn="l"/>
                      <a:r>
                        <a:rPr sz="800" b="1" i="0">
                          <a:solidFill>
                            <a:srgbClr val="0D0D0D"/>
                          </a:solidFill>
                          <a:latin typeface="Calibri"/>
                        </a:rPr>
                        <a:t>Résultat net</a:t>
                      </a:r>
                    </a:p>
                  </a:txBody>
                  <a:tcPr>
                    <a:solidFill>
                      <a:srgbClr val="FFFFFF"/>
                    </a:solidFill>
                  </a:tcPr>
                </a:tc>
                <a:tc>
                  <a:txBody>
                    <a:bodyPr/>
                    <a:lstStyle/>
                    <a:p>
                      <a:pPr algn="ctr"/>
                      <a:r>
                        <a:rPr sz="800" b="1" i="0">
                          <a:solidFill>
                            <a:srgbClr val="0D0D0D"/>
                          </a:solidFill>
                          <a:latin typeface="Calibri"/>
                        </a:rPr>
                        <a:t>97,0</a:t>
                      </a:r>
                    </a:p>
                  </a:txBody>
                  <a:tcPr>
                    <a:solidFill>
                      <a:srgbClr val="FFFFFF"/>
                    </a:solidFill>
                  </a:tcPr>
                </a:tc>
                <a:tc>
                  <a:txBody>
                    <a:bodyPr/>
                    <a:lstStyle/>
                    <a:p>
                      <a:pPr algn="ctr"/>
                      <a:r>
                        <a:rPr sz="800" b="1" i="0">
                          <a:solidFill>
                            <a:srgbClr val="0D0D0D"/>
                          </a:solidFill>
                          <a:latin typeface="Calibri"/>
                        </a:rPr>
                        <a:t>93,7</a:t>
                      </a:r>
                    </a:p>
                  </a:txBody>
                  <a:tcPr>
                    <a:solidFill>
                      <a:srgbClr val="FFFFFF"/>
                    </a:solidFill>
                  </a:tcPr>
                </a:tc>
                <a:tc>
                  <a:txBody>
                    <a:bodyPr/>
                    <a:lstStyle/>
                    <a:p>
                      <a:pPr algn="ctr"/>
                      <a:r>
                        <a:rPr sz="800" b="1" i="0">
                          <a:solidFill>
                            <a:srgbClr val="1B3A6B"/>
                          </a:solidFill>
                          <a:latin typeface="Calibri"/>
                        </a:rPr>
                        <a:t>112,0</a:t>
                      </a:r>
                    </a:p>
                  </a:txBody>
                  <a:tcPr>
                    <a:solidFill>
                      <a:srgbClr val="DDE8F5"/>
                    </a:solidFill>
                  </a:tcPr>
                </a:tc>
                <a:tc>
                  <a:txBody>
                    <a:bodyPr/>
                    <a:lstStyle/>
                    <a:p>
                      <a:pPr algn="ctr"/>
                      <a:r>
                        <a:rPr sz="800" b="1" i="0">
                          <a:solidFill>
                            <a:srgbClr val="0D0D0D"/>
                          </a:solidFill>
                          <a:latin typeface="Calibri"/>
                        </a:rPr>
                        <a:t>120,0</a:t>
                      </a:r>
                    </a:p>
                  </a:txBody>
                  <a:tcPr>
                    <a:solidFill>
                      <a:srgbClr val="FFFFFF"/>
                    </a:solidFill>
                  </a:tcPr>
                </a:tc>
                <a:tc>
                  <a:txBody>
                    <a:bodyPr/>
                    <a:lstStyle/>
                    <a:p>
                      <a:pPr algn="ctr"/>
                      <a:r>
                        <a:rPr sz="800" b="1" i="0">
                          <a:solidFill>
                            <a:srgbClr val="0D0D0D"/>
                          </a:solidFill>
                          <a:latin typeface="Calibri"/>
                        </a:rPr>
                        <a:t>130,0</a:t>
                      </a:r>
                    </a:p>
                  </a:txBody>
                  <a:tcPr>
                    <a:solidFill>
                      <a:srgbClr val="FFFFFF"/>
                    </a:solidFill>
                  </a:tcPr>
                </a:tc>
              </a:tr>
              <a:tr h="220000">
                <a:tc>
                  <a:txBody>
                    <a:bodyPr/>
                    <a:lstStyle/>
                    <a:p>
                      <a:pPr algn="l"/>
                      <a:r>
                        <a:rPr sz="750" b="0" i="1">
                          <a:solidFill>
                            <a:srgbClr val="555555"/>
                          </a:solidFill>
                          <a:latin typeface="Calibri"/>
                        </a:rPr>
                        <a:t>Marge nette</a:t>
                      </a:r>
                    </a:p>
                  </a:txBody>
                  <a:tcPr>
                    <a:solidFill>
                      <a:srgbClr val="F7F8FA"/>
                    </a:solidFill>
                  </a:tcPr>
                </a:tc>
                <a:tc>
                  <a:txBody>
                    <a:bodyPr/>
                    <a:lstStyle/>
                    <a:p>
                      <a:pPr algn="ctr"/>
                      <a:r>
                        <a:rPr sz="750" b="0" i="1">
                          <a:solidFill>
                            <a:srgbClr val="555555"/>
                          </a:solidFill>
                          <a:latin typeface="Calibri"/>
                        </a:rPr>
                        <a:t>25,3 %</a:t>
                      </a:r>
                    </a:p>
                  </a:txBody>
                  <a:tcPr>
                    <a:solidFill>
                      <a:srgbClr val="F7F8FA"/>
                    </a:solidFill>
                  </a:tcPr>
                </a:tc>
                <a:tc>
                  <a:txBody>
                    <a:bodyPr/>
                    <a:lstStyle/>
                    <a:p>
                      <a:pPr algn="ctr"/>
                      <a:r>
                        <a:rPr sz="750" b="0" i="1">
                          <a:solidFill>
                            <a:srgbClr val="555555"/>
                          </a:solidFill>
                          <a:latin typeface="Calibri"/>
                        </a:rPr>
                        <a:t>24,0 %</a:t>
                      </a:r>
                    </a:p>
                  </a:txBody>
                  <a:tcPr>
                    <a:solidFill>
                      <a:srgbClr val="F7F8FA"/>
                    </a:solidFill>
                  </a:tcPr>
                </a:tc>
                <a:tc>
                  <a:txBody>
                    <a:bodyPr/>
                    <a:lstStyle/>
                    <a:p>
                      <a:pPr algn="ctr"/>
                      <a:r>
                        <a:rPr sz="750" b="0" i="1">
                          <a:solidFill>
                            <a:srgbClr val="555555"/>
                          </a:solidFill>
                          <a:latin typeface="Calibri"/>
                        </a:rPr>
                        <a:t>26,9 %</a:t>
                      </a:r>
                    </a:p>
                  </a:txBody>
                  <a:tcPr>
                    <a:solidFill>
                      <a:srgbClr val="DDE8F5"/>
                    </a:solidFill>
                  </a:tcPr>
                </a:tc>
                <a:tc>
                  <a:txBody>
                    <a:bodyPr/>
                    <a:lstStyle/>
                    <a:p>
                      <a:pPr algn="ctr"/>
                      <a:r>
                        <a:rPr sz="750" b="0" i="1">
                          <a:solidFill>
                            <a:srgbClr val="555555"/>
                          </a:solidFill>
                          <a:latin typeface="Calibri"/>
                        </a:rPr>
                        <a:t>27,1 %</a:t>
                      </a:r>
                    </a:p>
                  </a:txBody>
                  <a:tcPr>
                    <a:solidFill>
                      <a:srgbClr val="F7F8FA"/>
                    </a:solidFill>
                  </a:tcPr>
                </a:tc>
                <a:tc>
                  <a:txBody>
                    <a:bodyPr/>
                    <a:lstStyle/>
                    <a:p>
                      <a:pPr algn="ctr"/>
                      <a:r>
                        <a:rPr sz="750" b="0" i="1">
                          <a:solidFill>
                            <a:srgbClr val="555555"/>
                          </a:solidFill>
                          <a:latin typeface="Calibri"/>
                        </a:rPr>
                        <a:t>27,5 %</a:t>
                      </a:r>
                    </a:p>
                  </a:txBody>
                  <a:tcPr>
                    <a:solidFill>
                      <a:srgbClr val="F7F8FA"/>
                    </a:solidFill>
                  </a:tcPr>
                </a:tc>
              </a:tr>
            </a:tbl>
          </a:graphicData>
        </a:graphic>
      </p:graphicFrame>
      <p:sp>
        <p:nvSpPr>
          <p:cNvPr id="18" name="TextBox 17"/>
          <p:cNvSpPr txBox="1"/>
          <p:nvPr/>
        </p:nvSpPr>
        <p:spPr>
          <a:xfrm>
            <a:off x="367200" y="3218400"/>
            <a:ext cx="8413200" cy="1224000"/>
          </a:xfrm>
          <a:prstGeom prst="rect">
            <a:avLst/>
          </a:prstGeom>
          <a:noFill/>
        </p:spPr>
        <p:txBody>
          <a:bodyPr wrap="square">
            <a:spAutoFit/>
          </a:bodyPr>
          <a:lstStyle/>
          <a:p>
            <a:pPr algn="l"/>
            <a:r>
              <a:rPr sz="850" b="0" i="0">
                <a:solidFill>
                  <a:srgbClr val="555555"/>
                </a:solidFill>
                <a:latin typeface="Calibri"/>
              </a:rPr>
              <a:t>Croissance CA de 6.4% en 2025 avec stabilisation des marges (GM 46.9%, Net 26.9%). Le levier opérationnel et la discipline des coûts compensent la pression sur les prix des iPhones. La génération de cash reste exceptionnelle (FCF &gt;100Mds$/an), renforçant la solidité bilancielle.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Bilan &amp; Liquidité</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Structure financière  ·  USD millions  ·  LTM 2025</a:t>
            </a:r>
          </a:p>
        </p:txBody>
      </p:sp>
      <p:sp>
        <p:nvSpPr>
          <p:cNvPr id="17" name="Rectangle 16"/>
          <p:cNvSpPr/>
          <p:nvPr/>
        </p:nvSpPr>
        <p:spPr>
          <a:xfrm>
            <a:off x="367200" y="9612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516400" cy="396000"/>
          </a:xfrm>
          <a:prstGeom prst="rect">
            <a:avLst/>
          </a:prstGeom>
          <a:noFill/>
        </p:spPr>
        <p:txBody>
          <a:bodyPr wrap="square">
            <a:spAutoFit/>
          </a:bodyPr>
          <a:lstStyle/>
          <a:p>
            <a:pPr algn="l"/>
            <a:r>
              <a:rPr sz="1900" b="1" i="0">
                <a:solidFill>
                  <a:srgbClr val="1B3A6B"/>
                </a:solidFill>
                <a:latin typeface="Calibri"/>
              </a:rPr>
              <a:t>35,9 Mds$</a:t>
            </a:r>
          </a:p>
        </p:txBody>
      </p:sp>
      <p:sp>
        <p:nvSpPr>
          <p:cNvPr id="20" name="TextBox 19"/>
          <p:cNvSpPr txBox="1"/>
          <p:nvPr/>
        </p:nvSpPr>
        <p:spPr>
          <a:xfrm>
            <a:off x="457200" y="1411200"/>
            <a:ext cx="2516400" cy="205199"/>
          </a:xfrm>
          <a:prstGeom prst="rect">
            <a:avLst/>
          </a:prstGeom>
          <a:noFill/>
        </p:spPr>
        <p:txBody>
          <a:bodyPr wrap="square">
            <a:spAutoFit/>
          </a:bodyPr>
          <a:lstStyle/>
          <a:p>
            <a:pPr algn="l"/>
            <a:r>
              <a:rPr sz="800" b="0" i="0">
                <a:solidFill>
                  <a:srgbClr val="555555"/>
                </a:solidFill>
                <a:latin typeface="Calibri"/>
              </a:rPr>
              <a:t>Cash &amp; equivalents</a:t>
            </a:r>
          </a:p>
        </p:txBody>
      </p:sp>
      <p:sp>
        <p:nvSpPr>
          <p:cNvPr id="21" name="Rectangle 20"/>
          <p:cNvSpPr/>
          <p:nvPr/>
        </p:nvSpPr>
        <p:spPr>
          <a:xfrm>
            <a:off x="367200" y="19008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7200" y="1900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1954800"/>
            <a:ext cx="2516400" cy="396000"/>
          </a:xfrm>
          <a:prstGeom prst="rect">
            <a:avLst/>
          </a:prstGeom>
          <a:noFill/>
        </p:spPr>
        <p:txBody>
          <a:bodyPr wrap="square">
            <a:spAutoFit/>
          </a:bodyPr>
          <a:lstStyle/>
          <a:p>
            <a:pPr algn="l"/>
            <a:r>
              <a:rPr sz="1900" b="1" i="0">
                <a:solidFill>
                  <a:srgbClr val="1B3A6B"/>
                </a:solidFill>
                <a:latin typeface="Calibri"/>
              </a:rPr>
              <a:t>78,3 Mds$</a:t>
            </a:r>
          </a:p>
        </p:txBody>
      </p:sp>
      <p:sp>
        <p:nvSpPr>
          <p:cNvPr id="24" name="TextBox 23"/>
          <p:cNvSpPr txBox="1"/>
          <p:nvPr/>
        </p:nvSpPr>
        <p:spPr>
          <a:xfrm>
            <a:off x="457200" y="2350800"/>
            <a:ext cx="2516400" cy="205199"/>
          </a:xfrm>
          <a:prstGeom prst="rect">
            <a:avLst/>
          </a:prstGeom>
          <a:noFill/>
        </p:spPr>
        <p:txBody>
          <a:bodyPr wrap="square">
            <a:spAutoFit/>
          </a:bodyPr>
          <a:lstStyle/>
          <a:p>
            <a:pPr algn="l"/>
            <a:r>
              <a:rPr sz="800" b="0" i="0">
                <a:solidFill>
                  <a:srgbClr val="555555"/>
                </a:solidFill>
                <a:latin typeface="Calibri"/>
              </a:rPr>
              <a:t>Dette long terme</a:t>
            </a:r>
          </a:p>
        </p:txBody>
      </p:sp>
      <p:sp>
        <p:nvSpPr>
          <p:cNvPr id="25" name="Rectangle 24"/>
          <p:cNvSpPr/>
          <p:nvPr/>
        </p:nvSpPr>
        <p:spPr>
          <a:xfrm>
            <a:off x="367200" y="2844000"/>
            <a:ext cx="26532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7200" y="28440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2898000"/>
            <a:ext cx="2516400" cy="396000"/>
          </a:xfrm>
          <a:prstGeom prst="rect">
            <a:avLst/>
          </a:prstGeom>
          <a:noFill/>
        </p:spPr>
        <p:txBody>
          <a:bodyPr wrap="square">
            <a:spAutoFit/>
          </a:bodyPr>
          <a:lstStyle/>
          <a:p>
            <a:pPr algn="l"/>
            <a:r>
              <a:rPr sz="1900" b="1" i="0">
                <a:solidFill>
                  <a:srgbClr val="FFFFFF"/>
                </a:solidFill>
                <a:latin typeface="Calibri"/>
              </a:rPr>
              <a:t>62,7 Mds$</a:t>
            </a:r>
          </a:p>
        </p:txBody>
      </p:sp>
      <p:sp>
        <p:nvSpPr>
          <p:cNvPr id="28" name="TextBox 27"/>
          <p:cNvSpPr txBox="1"/>
          <p:nvPr/>
        </p:nvSpPr>
        <p:spPr>
          <a:xfrm>
            <a:off x="457200" y="3294000"/>
            <a:ext cx="2516400" cy="205199"/>
          </a:xfrm>
          <a:prstGeom prst="rect">
            <a:avLst/>
          </a:prstGeom>
          <a:noFill/>
        </p:spPr>
        <p:txBody>
          <a:bodyPr wrap="square">
            <a:spAutoFit/>
          </a:bodyPr>
          <a:lstStyle/>
          <a:p>
            <a:pPr algn="l"/>
            <a:r>
              <a:rPr sz="800" b="0" i="0">
                <a:solidFill>
                  <a:srgbClr val="FFFFFF"/>
                </a:solidFill>
                <a:latin typeface="Calibri"/>
              </a:rPr>
              <a:t>Dette nette</a:t>
            </a:r>
          </a:p>
        </p:txBody>
      </p:sp>
      <p:sp>
        <p:nvSpPr>
          <p:cNvPr id="29" name="TextBox 28"/>
          <p:cNvSpPr txBox="1"/>
          <p:nvPr/>
        </p:nvSpPr>
        <p:spPr>
          <a:xfrm>
            <a:off x="3384000" y="842400"/>
            <a:ext cx="5396400" cy="165600"/>
          </a:xfrm>
          <a:prstGeom prst="rect">
            <a:avLst/>
          </a:prstGeom>
          <a:noFill/>
        </p:spPr>
        <p:txBody>
          <a:bodyPr wrap="square">
            <a:spAutoFit/>
          </a:bodyPr>
          <a:lstStyle/>
          <a:p>
            <a:pPr algn="l"/>
            <a:r>
              <a:rPr sz="900" b="1" i="0">
                <a:solidFill>
                  <a:srgbClr val="1B3A6B"/>
                </a:solidFill>
                <a:latin typeface="Calibri"/>
              </a:rPr>
              <a:t>Ratios de solvabilité &amp; liquidité</a:t>
            </a:r>
          </a:p>
        </p:txBody>
      </p:sp>
      <p:graphicFrame>
        <p:nvGraphicFramePr>
          <p:cNvPr id="30" name="Table 29"/>
          <p:cNvGraphicFramePr>
            <a:graphicFrameLocks noGrp="1"/>
          </p:cNvGraphicFramePr>
          <p:nvPr/>
        </p:nvGraphicFramePr>
        <p:xfrm>
          <a:off x="3384000" y="1007999"/>
          <a:ext cx="5396400" cy="1800000"/>
        </p:xfrm>
        <a:graphic>
          <a:graphicData uri="http://schemas.openxmlformats.org/drawingml/2006/table">
            <a:tbl>
              <a:tblPr firstRow="1" bandRow="1">
                <a:tableStyleId>{5C22544A-7EE6-4342-B048-85BDC9FD1C3A}</a:tableStyleId>
              </a:tblPr>
              <a:tblGrid>
                <a:gridCol w="2374416"/>
                <a:gridCol w="1133244"/>
                <a:gridCol w="1133244"/>
                <a:gridCol w="755496"/>
              </a:tblGrid>
              <a:tr h="225000">
                <a:tc>
                  <a:txBody>
                    <a:bodyPr/>
                    <a:lstStyle/>
                    <a:p>
                      <a:pPr algn="l"/>
                      <a:r>
                        <a:rPr sz="800" b="1" i="0">
                          <a:solidFill>
                            <a:srgbClr val="FFFFFF"/>
                          </a:solidFill>
                          <a:latin typeface="Calibri"/>
                        </a:rPr>
                        <a:t>Ratio</a:t>
                      </a:r>
                    </a:p>
                  </a:txBody>
                  <a:tcPr>
                    <a:solidFill>
                      <a:srgbClr val="1B3A6B"/>
                    </a:solidFill>
                  </a:tcPr>
                </a:tc>
                <a:tc>
                  <a:txBody>
                    <a:bodyPr/>
                    <a:lstStyle/>
                    <a:p>
                      <a:pPr algn="ctr"/>
                      <a:r>
                        <a:rPr sz="800" b="1" i="0">
                          <a:solidFill>
                            <a:srgbClr val="FFFFFF"/>
                          </a:solidFill>
                          <a:latin typeface="Calibri"/>
                        </a:rPr>
                        <a:t>Valeur</a:t>
                      </a:r>
                    </a:p>
                  </a:txBody>
                  <a:tcPr>
                    <a:solidFill>
                      <a:srgbClr val="1B3A6B"/>
                    </a:solidFill>
                  </a:tcPr>
                </a:tc>
                <a:tc>
                  <a:txBody>
                    <a:bodyPr/>
                    <a:lstStyle/>
                    <a:p>
                      <a:pPr algn="ctr"/>
                      <a:r>
                        <a:rPr sz="800" b="1" i="0">
                          <a:solidFill>
                            <a:srgbClr val="FFFFFF"/>
                          </a:solidFill>
                          <a:latin typeface="Calibri"/>
                        </a:rPr>
                        <a:t>Référence</a:t>
                      </a:r>
                    </a:p>
                  </a:txBody>
                  <a:tcPr>
                    <a:solidFill>
                      <a:srgbClr val="1B3A6B"/>
                    </a:solidFill>
                  </a:tcPr>
                </a:tc>
                <a:tc>
                  <a:txBody>
                    <a:bodyPr/>
                    <a:lstStyle/>
                    <a:p>
                      <a:pPr algn="ctr"/>
                      <a:r>
                        <a:rPr sz="800" b="1" i="0">
                          <a:solidFill>
                            <a:srgbClr val="FFFFFF"/>
                          </a:solidFill>
                          <a:latin typeface="Calibri"/>
                        </a:rPr>
                        <a:t>Signal</a:t>
                      </a:r>
                    </a:p>
                  </a:txBody>
                  <a:tcPr>
                    <a:solidFill>
                      <a:srgbClr val="1B3A6B"/>
                    </a:solidFill>
                  </a:tcPr>
                </a:tc>
              </a:tr>
              <a:tr h="225000">
                <a:tc>
                  <a:txBody>
                    <a:bodyPr/>
                    <a:lstStyle/>
                    <a:p>
                      <a:pPr algn="l"/>
                      <a:r>
                        <a:rPr sz="800" b="1" i="0">
                          <a:solidFill>
                            <a:srgbClr val="0D0D0D"/>
                          </a:solidFill>
                          <a:latin typeface="Calibri"/>
                        </a:rPr>
                        <a:t>Ratio liquidité courante</a:t>
                      </a:r>
                    </a:p>
                  </a:txBody>
                  <a:tcPr>
                    <a:solidFill>
                      <a:srgbClr val="FFFFFF"/>
                    </a:solidFill>
                  </a:tcPr>
                </a:tc>
                <a:tc>
                  <a:txBody>
                    <a:bodyPr/>
                    <a:lstStyle/>
                    <a:p>
                      <a:pPr algn="ctr"/>
                      <a:r>
                        <a:rPr sz="800" b="0" i="0">
                          <a:solidFill>
                            <a:srgbClr val="0D0D0D"/>
                          </a:solidFill>
                          <a:latin typeface="Calibri"/>
                        </a:rPr>
                        <a:t>0,65</a:t>
                      </a:r>
                    </a:p>
                  </a:txBody>
                  <a:tcPr>
                    <a:solidFill>
                      <a:srgbClr val="FFFFFF"/>
                    </a:solidFill>
                  </a:tcPr>
                </a:tc>
                <a:tc>
                  <a:txBody>
                    <a:bodyPr/>
                    <a:lstStyle/>
                    <a:p>
                      <a:pPr algn="ctr"/>
                      <a:r>
                        <a:rPr sz="800" b="0" i="0">
                          <a:solidFill>
                            <a:srgbClr val="0D0D0D"/>
                          </a:solidFill>
                          <a:latin typeface="Calibri"/>
                        </a:rPr>
                        <a:t>&gt; 1,5</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Ratio rapide (quick)</a:t>
                      </a:r>
                    </a:p>
                  </a:txBody>
                  <a:tcPr>
                    <a:solidFill>
                      <a:srgbClr val="F7F8FA"/>
                    </a:solidFill>
                  </a:tcPr>
                </a:tc>
                <a:tc>
                  <a:txBody>
                    <a:bodyPr/>
                    <a:lstStyle/>
                    <a:p>
                      <a:pPr algn="ctr"/>
                      <a:r>
                        <a:rPr sz="800" b="0" i="0">
                          <a:solidFill>
                            <a:srgbClr val="0D0D0D"/>
                          </a:solidFill>
                          <a:latin typeface="Calibri"/>
                        </a:rPr>
                        <a:t>0,61</a:t>
                      </a:r>
                    </a:p>
                  </a:txBody>
                  <a:tcPr>
                    <a:solidFill>
                      <a:srgbClr val="F7F8FA"/>
                    </a:solidFill>
                  </a:tcPr>
                </a:tc>
                <a:tc>
                  <a:txBody>
                    <a:bodyPr/>
                    <a:lstStyle/>
                    <a:p>
                      <a:pPr algn="ctr"/>
                      <a:r>
                        <a:rPr sz="800" b="0" i="0">
                          <a:solidFill>
                            <a:srgbClr val="0D0D0D"/>
                          </a:solidFill>
                          <a:latin typeface="Calibri"/>
                        </a:rPr>
                        <a:t>&gt; 1,0</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a:t>
                      </a:r>
                    </a:p>
                  </a:txBody>
                  <a:tcPr>
                    <a:solidFill>
                      <a:srgbClr val="FFFFFF"/>
                    </a:solidFill>
                  </a:tcPr>
                </a:tc>
                <a:tc>
                  <a:txBody>
                    <a:bodyPr/>
                    <a:lstStyle/>
                    <a:p>
                      <a:pPr algn="ctr"/>
                      <a:r>
                        <a:rPr sz="800" b="0" i="0">
                          <a:solidFill>
                            <a:srgbClr val="0D0D0D"/>
                          </a:solidFill>
                          <a:latin typeface="Calibri"/>
                        </a:rPr>
                        <a:t>1,3x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Couverture d'intérêts</a:t>
                      </a:r>
                    </a:p>
                  </a:txBody>
                  <a:tcPr>
                    <a:solidFill>
                      <a:srgbClr val="F7F8FA"/>
                    </a:solidFill>
                  </a:tcPr>
                </a:tc>
                <a:tc>
                  <a:txBody>
                    <a:bodyPr/>
                    <a:lstStyle/>
                    <a:p>
                      <a:pPr algn="ctr"/>
                      <a:r>
                        <a:rPr sz="800" b="0" i="0">
                          <a:solidFill>
                            <a:srgbClr val="0D0D0D"/>
                          </a:solidFill>
                          <a:latin typeface="Calibri"/>
                        </a:rPr>
                        <a:t>29,1x</a:t>
                      </a:r>
                    </a:p>
                  </a:txBody>
                  <a:tcPr>
                    <a:solidFill>
                      <a:srgbClr val="F7F8FA"/>
                    </a:solidFill>
                  </a:tcPr>
                </a:tc>
                <a:tc>
                  <a:txBody>
                    <a:bodyPr/>
                    <a:lstStyle/>
                    <a:p>
                      <a:pPr algn="ctr"/>
                      <a:r>
                        <a:rPr sz="800" b="0" i="0">
                          <a:solidFill>
                            <a:srgbClr val="0D0D0D"/>
                          </a:solidFill>
                          <a:latin typeface="Calibri"/>
                        </a:rPr>
                        <a:t>&gt; 3,0x</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Dette nette / EBITDA</a:t>
                      </a:r>
                    </a:p>
                  </a:txBody>
                  <a:tcPr>
                    <a:solidFill>
                      <a:srgbClr val="FFFFFF"/>
                    </a:solidFill>
                  </a:tcPr>
                </a:tc>
                <a:tc>
                  <a:txBody>
                    <a:bodyPr/>
                    <a:lstStyle/>
                    <a:p>
                      <a:pPr algn="ctr"/>
                      <a:r>
                        <a:rPr sz="800" b="0" i="0">
                          <a:solidFill>
                            <a:srgbClr val="0D0D0D"/>
                          </a:solidFill>
                          <a:latin typeface="Calibri"/>
                        </a:rPr>
                        <a:t>0,4x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Altman Z</a:t>
                      </a:r>
                    </a:p>
                  </a:txBody>
                  <a:tcPr>
                    <a:solidFill>
                      <a:srgbClr val="F7F8FA"/>
                    </a:solidFill>
                  </a:tcPr>
                </a:tc>
                <a:tc>
                  <a:txBody>
                    <a:bodyPr/>
                    <a:lstStyle/>
                    <a:p>
                      <a:pPr algn="ctr"/>
                      <a:r>
                        <a:rPr sz="800" b="0" i="0">
                          <a:solidFill>
                            <a:srgbClr val="0D0D0D"/>
                          </a:solidFill>
                          <a:latin typeface="Calibri"/>
                        </a:rPr>
                        <a:t>1,69</a:t>
                      </a:r>
                    </a:p>
                  </a:txBody>
                  <a:tcPr>
                    <a:solidFill>
                      <a:srgbClr val="F7F8FA"/>
                    </a:solidFill>
                  </a:tcPr>
                </a:tc>
                <a:tc>
                  <a:txBody>
                    <a:bodyPr/>
                    <a:lstStyle/>
                    <a:p>
                      <a:pPr algn="ctr"/>
                      <a:r>
                        <a:rPr sz="800" b="0" i="0">
                          <a:solidFill>
                            <a:srgbClr val="0D0D0D"/>
                          </a:solidFill>
                          <a:latin typeface="Calibri"/>
                        </a:rPr>
                        <a:t>&gt; 2,99</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Beneish M</a:t>
                      </a:r>
                    </a:p>
                  </a:txBody>
                  <a:tcPr>
                    <a:solidFill>
                      <a:srgbClr val="FFFFFF"/>
                    </a:solidFill>
                  </a:tcPr>
                </a:tc>
                <a:tc>
                  <a:txBody>
                    <a:bodyPr/>
                    <a:lstStyle/>
                    <a:p>
                      <a:pPr algn="ctr"/>
                      <a:r>
                        <a:rPr sz="800" b="0" i="0">
                          <a:solidFill>
                            <a:srgbClr val="0D0D0D"/>
                          </a:solidFill>
                          <a:latin typeface="Calibri"/>
                        </a:rPr>
                        <a:t>-2,25</a:t>
                      </a:r>
                    </a:p>
                  </a:txBody>
                  <a:tcPr>
                    <a:solidFill>
                      <a:srgbClr val="FFFFFF"/>
                    </a:solidFill>
                  </a:tcPr>
                </a:tc>
                <a:tc>
                  <a:txBody>
                    <a:bodyPr/>
                    <a:lstStyle/>
                    <a:p>
                      <a:pPr algn="ctr"/>
                      <a:r>
                        <a:rPr sz="800" b="0" i="0">
                          <a:solidFill>
                            <a:srgbClr val="0D0D0D"/>
                          </a:solidFill>
                          <a:latin typeface="Calibri"/>
                        </a:rPr>
                        <a:t>&lt; -2,22</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bl>
          </a:graphicData>
        </a:graphic>
      </p:graphicFrame>
      <p:sp>
        <p:nvSpPr>
          <p:cNvPr id="31" name="TextBox 30"/>
          <p:cNvSpPr txBox="1"/>
          <p:nvPr/>
        </p:nvSpPr>
        <p:spPr>
          <a:xfrm>
            <a:off x="367200" y="4068000"/>
            <a:ext cx="8413200" cy="468000"/>
          </a:xfrm>
          <a:prstGeom prst="rect">
            <a:avLst/>
          </a:prstGeom>
          <a:noFill/>
        </p:spPr>
        <p:txBody>
          <a:bodyPr wrap="square">
            <a:spAutoFit/>
          </a:bodyPr>
          <a:lstStyle/>
          <a:p>
            <a:pPr algn="l"/>
            <a:r>
              <a:rPr sz="850" b="0" i="0">
                <a:solidFill>
                  <a:srgbClr val="555555"/>
                </a:solidFill>
                <a:latin typeface="Calibri"/>
              </a:rPr>
              <a:t>Croissance CA de 6.4% en 2025 avec stabilisation des marges (GM 46.9%, Net 26.9%). Le levier opérationnel et la discipline des coûts compensent la pression sur les prix des iPhones. La génération de cash reste exceptionnelle (FCF &gt;100Mds$/an), renforçant la solidité bilancielle.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Ratios Clés vs. Benchmark Sectoriel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Positionnement relatif  ·  LTM 2025</a:t>
            </a:r>
          </a:p>
        </p:txBody>
      </p:sp>
      <p:graphicFrame>
        <p:nvGraphicFramePr>
          <p:cNvPr id="17" name="Table 16"/>
          <p:cNvGraphicFramePr>
            <a:graphicFrameLocks noGrp="1"/>
          </p:cNvGraphicFramePr>
          <p:nvPr/>
        </p:nvGraphicFramePr>
        <p:xfrm>
          <a:off x="367200" y="914400"/>
          <a:ext cx="8413200" cy="2559600"/>
        </p:xfrm>
        <a:graphic>
          <a:graphicData uri="http://schemas.openxmlformats.org/drawingml/2006/table">
            <a:tbl>
              <a:tblPr firstRow="1" bandRow="1">
                <a:tableStyleId>{5C22544A-7EE6-4342-B048-85BDC9FD1C3A}</a:tableStyleId>
              </a:tblPr>
              <a:tblGrid>
                <a:gridCol w="2103300"/>
                <a:gridCol w="2103300"/>
                <a:gridCol w="2103300"/>
                <a:gridCol w="2103300"/>
              </a:tblGrid>
              <a:tr h="232690">
                <a:tc>
                  <a:txBody>
                    <a:bodyPr/>
                    <a:lstStyle/>
                    <a:p>
                      <a:pPr algn="l"/>
                      <a:r>
                        <a:rPr sz="800" b="1" i="0">
                          <a:solidFill>
                            <a:srgbClr val="FFFFFF"/>
                          </a:solidFill>
                          <a:latin typeface="Calibri"/>
                        </a:rPr>
                        <a:t>Indicateur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Benchmark</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Lecture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P/E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33,5x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15–25x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Premium</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EV/EBITDA</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26,4x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8–14x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Très élevé</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EV/Revenue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9,2x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Premium</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brute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46,9 %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40 %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Bon</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EBITDA</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34,8 %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151,9 %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ROIC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84,4 %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CapEx / Revenue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555555"/>
                          </a:solidFill>
                          <a:latin typeface="Calibri"/>
                        </a:rPr>
                        <a:t>Léger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Altman Z</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1,69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2,99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Détresse</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700">
                <a:tc>
                  <a:txBody>
                    <a:bodyPr/>
                    <a:lstStyle/>
                    <a:p>
                      <a:pPr algn="l"/>
                      <a:r>
                        <a:rPr sz="800" b="0" i="0">
                          <a:solidFill>
                            <a:srgbClr val="0D0D0D"/>
                          </a:solidFill>
                          <a:latin typeface="Calibri"/>
                        </a:rPr>
                        <a:t>Beneish M</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-2,25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-2,22</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Aucun signal</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8" name="TextBox 17"/>
          <p:cNvSpPr txBox="1"/>
          <p:nvPr/>
        </p:nvSpPr>
        <p:spPr>
          <a:xfrm>
            <a:off x="367200" y="3628800"/>
            <a:ext cx="8413200" cy="824400"/>
          </a:xfrm>
          <a:prstGeom prst="rect">
            <a:avLst/>
          </a:prstGeom>
          <a:noFill/>
        </p:spPr>
        <p:txBody>
          <a:bodyPr wrap="square">
            <a:spAutoFit/>
          </a:bodyPr>
          <a:lstStyle/>
          <a:p>
            <a:pPr algn="l"/>
            <a:r>
              <a:rPr sz="850" b="0" i="0">
                <a:solidFill>
                  <a:srgbClr val="555555"/>
                </a:solidFill>
                <a:latin typeface="Calibri"/>
              </a:rPr>
              <a:t>Les marges se stabilisent à des niveaux historiques élevés : GM +46.9% (vs 43.3% en 2022), EBITDA 34.8%, Net 26.9%. Cette performance s'explique par le mix produit (services à +70% de marge), le pricing power sur l'iPhone et l'optimisation des coûts de supply chain. Ces niveaux sont durables grâce à l'effet de réseau et à la fidélisation client, limitant le risque de compression.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03</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Valorisation</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DCF, comparable peers &amp; Football Field Chart</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Valorisation — DCF &amp; Scénarios</a:t>
            </a:r>
          </a:p>
        </p:txBody>
      </p:sp>
      <p:graphicFrame>
        <p:nvGraphicFramePr>
          <p:cNvPr id="16" name="Table 15"/>
          <p:cNvGraphicFramePr>
            <a:graphicFrameLocks noGrp="1"/>
          </p:cNvGraphicFramePr>
          <p:nvPr/>
        </p:nvGraphicFramePr>
        <p:xfrm>
          <a:off x="367200" y="824400"/>
          <a:ext cx="4024800" cy="1371600"/>
        </p:xfrm>
        <a:graphic>
          <a:graphicData uri="http://schemas.openxmlformats.org/drawingml/2006/table">
            <a:tbl>
              <a:tblPr firstRow="1" bandRow="1">
                <a:tableStyleId>{5C22544A-7EE6-4342-B048-85BDC9FD1C3A}</a:tableStyleId>
              </a:tblPr>
              <a:tblGrid>
                <a:gridCol w="2213640"/>
                <a:gridCol w="1811160"/>
              </a:tblGrid>
              <a:tr h="228600">
                <a:tc>
                  <a:txBody>
                    <a:bodyPr/>
                    <a:lstStyle/>
                    <a:p>
                      <a:pPr algn="l"/>
                      <a:r>
                        <a:rPr sz="800" b="1" i="0">
                          <a:solidFill>
                            <a:srgbClr val="FFFFFF"/>
                          </a:solidFill>
                          <a:latin typeface="Calibri"/>
                        </a:rPr>
                        <a:t>Paramètre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WACC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10,3 %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TGR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1" i="0">
                          <a:solidFill>
                            <a:srgbClr val="1B3A6B"/>
                          </a:solidFill>
                          <a:latin typeface="Calibri"/>
                        </a:rPr>
                        <a:t>Valeur intrinsèque</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285 $</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Cours actuel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255,92 $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Upside implicite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graphicFrame>
        <p:nvGraphicFramePr>
          <p:cNvPr id="17" name="Table 16"/>
          <p:cNvGraphicFramePr>
            <a:graphicFrameLocks noGrp="1"/>
          </p:cNvGraphicFramePr>
          <p:nvPr/>
        </p:nvGraphicFramePr>
        <p:xfrm>
          <a:off x="4482000" y="824400"/>
          <a:ext cx="4298400" cy="1371600"/>
        </p:xfrm>
        <a:graphic>
          <a:graphicData uri="http://schemas.openxmlformats.org/drawingml/2006/table">
            <a:tbl>
              <a:tblPr firstRow="1" bandRow="1">
                <a:tableStyleId>{5C22544A-7EE6-4342-B048-85BDC9FD1C3A}</a:tableStyleId>
              </a:tblPr>
              <a:tblGrid>
                <a:gridCol w="1432800"/>
                <a:gridCol w="1432800"/>
                <a:gridCol w="1432800"/>
              </a:tblGrid>
              <a:tr h="342900">
                <a:tc>
                  <a:txBody>
                    <a:bodyPr/>
                    <a:lstStyle/>
                    <a:p>
                      <a:pPr algn="ctr"/>
                      <a:r>
                        <a:rPr sz="1000" b="1" i="0">
                          <a:solidFill>
                            <a:srgbClr val="FFFFFF"/>
                          </a:solidFill>
                          <a:latin typeface="Calibri"/>
                        </a:rPr>
                        <a:t>Bear</a:t>
                      </a:r>
                    </a:p>
                  </a:txBody>
                  <a:tcPr>
                    <a:solidFill>
                      <a:srgbClr val="A82020"/>
                    </a:solidFill>
                  </a:tcPr>
                </a:tc>
                <a:tc>
                  <a:txBody>
                    <a:bodyPr/>
                    <a:lstStyle/>
                    <a:p>
                      <a:pPr algn="ctr"/>
                      <a:r>
                        <a:rPr sz="1000" b="1" i="0">
                          <a:solidFill>
                            <a:srgbClr val="FFFFFF"/>
                          </a:solidFill>
                          <a:latin typeface="Calibri"/>
                        </a:rPr>
                        <a:t>Base</a:t>
                      </a:r>
                    </a:p>
                  </a:txBody>
                  <a:tcPr>
                    <a:solidFill>
                      <a:srgbClr val="2E5FA3"/>
                    </a:solidFill>
                  </a:tcPr>
                </a:tc>
                <a:tc>
                  <a:txBody>
                    <a:bodyPr/>
                    <a:lstStyle/>
                    <a:p>
                      <a:pPr algn="ctr"/>
                      <a:r>
                        <a:rPr sz="1000" b="1" i="0">
                          <a:solidFill>
                            <a:srgbClr val="FFFFFF"/>
                          </a:solidFill>
                          <a:latin typeface="Calibri"/>
                        </a:rPr>
                        <a:t>Bull</a:t>
                      </a:r>
                    </a:p>
                  </a:txBody>
                  <a:tcPr>
                    <a:solidFill>
                      <a:srgbClr val="1A7A4A"/>
                    </a:solidFill>
                  </a:tcPr>
                </a:tc>
              </a:tr>
              <a:tr h="342900">
                <a:tc>
                  <a:txBody>
                    <a:bodyPr/>
                    <a:lstStyle/>
                    <a:p>
                      <a:pPr algn="ctr"/>
                      <a:r>
                        <a:rPr sz="2000" b="1" i="0">
                          <a:solidFill>
                            <a:srgbClr val="A82020"/>
                          </a:solidFill>
                          <a:latin typeface="Calibri"/>
                        </a:rPr>
                        <a:t>240 $</a:t>
                      </a:r>
                    </a:p>
                  </a:txBody>
                  <a:tcPr>
                    <a:solidFill>
                      <a:srgbClr val="FAF0EF"/>
                    </a:solidFill>
                  </a:tcPr>
                </a:tc>
                <a:tc>
                  <a:txBody>
                    <a:bodyPr/>
                    <a:lstStyle/>
                    <a:p>
                      <a:pPr algn="ctr"/>
                      <a:r>
                        <a:rPr sz="2000" b="1" i="0">
                          <a:solidFill>
                            <a:srgbClr val="2E5FA3"/>
                          </a:solidFill>
                          <a:latin typeface="Calibri"/>
                        </a:rPr>
                        <a:t>285 $</a:t>
                      </a:r>
                    </a:p>
                  </a:txBody>
                  <a:tcPr>
                    <a:solidFill>
                      <a:srgbClr val="EEF3FA"/>
                    </a:solidFill>
                  </a:tcPr>
                </a:tc>
                <a:tc>
                  <a:txBody>
                    <a:bodyPr/>
                    <a:lstStyle/>
                    <a:p>
                      <a:pPr algn="ctr"/>
                      <a:r>
                        <a:rPr sz="2000" b="1" i="0">
                          <a:solidFill>
                            <a:srgbClr val="1A7A4A"/>
                          </a:solidFill>
                          <a:latin typeface="Calibri"/>
                        </a:rPr>
                        <a:t>320 $</a:t>
                      </a:r>
                    </a:p>
                  </a:txBody>
                  <a:tcPr>
                    <a:solidFill>
                      <a:srgbClr val="EAF4EF"/>
                    </a:solidFill>
                  </a:tcPr>
                </a:tc>
              </a:tr>
              <a:tr h="342900">
                <a:tc>
                  <a:txBody>
                    <a:bodyPr/>
                    <a:lstStyle/>
                    <a:p>
                      <a:pPr algn="ctr"/>
                      <a:r>
                        <a:rPr sz="1200" b="1" i="0">
                          <a:solidFill>
                            <a:srgbClr val="A82020"/>
                          </a:solidFill>
                          <a:latin typeface="Calibri"/>
                        </a:rPr>
                        <a:t>-6,2 %</a:t>
                      </a:r>
                    </a:p>
                  </a:txBody>
                  <a:tcPr>
                    <a:solidFill>
                      <a:srgbClr val="FAF0EF"/>
                    </a:solidFill>
                  </a:tcPr>
                </a:tc>
                <a:tc>
                  <a:txBody>
                    <a:bodyPr/>
                    <a:lstStyle/>
                    <a:p>
                      <a:pPr algn="ctr"/>
                      <a:r>
                        <a:rPr sz="1200" b="1" i="0">
                          <a:solidFill>
                            <a:srgbClr val="2E5FA3"/>
                          </a:solidFill>
                          <a:latin typeface="Calibri"/>
                        </a:rPr>
                        <a:t>+11,4 %</a:t>
                      </a:r>
                    </a:p>
                  </a:txBody>
                  <a:tcPr>
                    <a:solidFill>
                      <a:srgbClr val="EEF3FA"/>
                    </a:solidFill>
                  </a:tcPr>
                </a:tc>
                <a:tc>
                  <a:txBody>
                    <a:bodyPr/>
                    <a:lstStyle/>
                    <a:p>
                      <a:pPr algn="ctr"/>
                      <a:r>
                        <a:rPr sz="1200" b="1" i="0">
                          <a:solidFill>
                            <a:srgbClr val="1A7A4A"/>
                          </a:solidFill>
                          <a:latin typeface="Calibri"/>
                        </a:rPr>
                        <a:t>+25,0 %</a:t>
                      </a:r>
                    </a:p>
                  </a:txBody>
                  <a:tcPr>
                    <a:solidFill>
                      <a:srgbClr val="EAF4EF"/>
                    </a:solidFill>
                  </a:tcPr>
                </a:tc>
              </a:tr>
              <a:tr h="342900">
                <a:tc>
                  <a:txBody>
                    <a:bodyPr/>
                    <a:lstStyle/>
                    <a:p>
                      <a:pPr algn="ctr"/>
                      <a:r>
                        <a:rPr sz="700" b="0" i="0">
                          <a:solidFill>
                            <a:srgbClr val="888888"/>
                          </a:solidFill>
                          <a:latin typeface="Calibri"/>
                        </a:rPr>
                        <a:t>Upside / Downside</a:t>
                      </a:r>
                    </a:p>
                  </a:txBody>
                  <a:tcPr>
                    <a:solidFill>
                      <a:srgbClr val="FAF0EF"/>
                    </a:solidFill>
                  </a:tcPr>
                </a:tc>
                <a:tc>
                  <a:txBody>
                    <a:bodyPr/>
                    <a:lstStyle/>
                    <a:p>
                      <a:pPr algn="ctr"/>
                      <a:r>
                        <a:rPr sz="700" b="0" i="0">
                          <a:solidFill>
                            <a:srgbClr val="888888"/>
                          </a:solidFill>
                          <a:latin typeface="Calibri"/>
                        </a:rPr>
                        <a:t>Upside / Downside</a:t>
                      </a:r>
                    </a:p>
                  </a:txBody>
                  <a:tcPr>
                    <a:solidFill>
                      <a:srgbClr val="EEF3FA"/>
                    </a:solidFill>
                  </a:tcPr>
                </a:tc>
                <a:tc>
                  <a:txBody>
                    <a:bodyPr/>
                    <a:lstStyle/>
                    <a:p>
                      <a:pPr algn="ctr"/>
                      <a:r>
                        <a:rPr sz="700" b="0" i="0">
                          <a:solidFill>
                            <a:srgbClr val="888888"/>
                          </a:solidFill>
                          <a:latin typeface="Calibri"/>
                        </a:rPr>
                        <a:t>Upside / Downside</a:t>
                      </a:r>
                    </a:p>
                  </a:txBody>
                  <a:tcPr>
                    <a:solidFill>
                      <a:srgbClr val="EAF4EF"/>
                    </a:solidFill>
                  </a:tcPr>
                </a:tc>
              </a:tr>
            </a:tbl>
          </a:graphicData>
        </a:graphic>
      </p:graphicFrame>
      <p:sp>
        <p:nvSpPr>
          <p:cNvPr id="18" name="TextBox 17"/>
          <p:cNvSpPr txBox="1"/>
          <p:nvPr/>
        </p:nvSpPr>
        <p:spPr>
          <a:xfrm>
            <a:off x="367200" y="2394000"/>
            <a:ext cx="8413200" cy="201600"/>
          </a:xfrm>
          <a:prstGeom prst="rect">
            <a:avLst/>
          </a:prstGeom>
          <a:noFill/>
        </p:spPr>
        <p:txBody>
          <a:bodyPr wrap="square">
            <a:spAutoFit/>
          </a:bodyPr>
          <a:lstStyle/>
          <a:p>
            <a:pPr algn="l"/>
            <a:r>
              <a:rPr sz="900" b="1" i="0">
                <a:solidFill>
                  <a:srgbClr val="1B3A6B"/>
                </a:solidFill>
                <a:latin typeface="Calibri"/>
              </a:rPr>
              <a:t>Table de sensibilité — Valeur intrinsèque ($)</a:t>
            </a:r>
          </a:p>
        </p:txBody>
      </p:sp>
      <p:graphicFrame>
        <p:nvGraphicFramePr>
          <p:cNvPr id="19" name="Table 18"/>
          <p:cNvGraphicFramePr>
            <a:graphicFrameLocks noGrp="1"/>
          </p:cNvGraphicFramePr>
          <p:nvPr/>
        </p:nvGraphicFramePr>
        <p:xfrm>
          <a:off x="367200" y="2653200"/>
          <a:ext cx="8413200" cy="1116000"/>
        </p:xfrm>
        <a:graphic>
          <a:graphicData uri="http://schemas.openxmlformats.org/drawingml/2006/table">
            <a:tbl>
              <a:tblPr firstRow="1" bandRow="1">
                <a:tableStyleId>{5C22544A-7EE6-4342-B048-85BDC9FD1C3A}</a:tableStyleId>
              </a:tblPr>
              <a:tblGrid>
                <a:gridCol w="1402200"/>
                <a:gridCol w="1402200"/>
                <a:gridCol w="1402200"/>
                <a:gridCol w="1402200"/>
                <a:gridCol w="1402200"/>
                <a:gridCol w="1402200"/>
              </a:tblGrid>
              <a:tr h="186000">
                <a:tc>
                  <a:txBody>
                    <a:bodyPr/>
                    <a:lstStyle/>
                    <a:p>
                      <a:pPr algn="l"/>
                      <a:r>
                        <a:rPr sz="800" b="1" i="0">
                          <a:solidFill>
                            <a:srgbClr val="FFFFFF"/>
                          </a:solidFill>
                          <a:latin typeface="Calibri"/>
                        </a:rPr>
                        <a:t>WACC \ TGR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4,0%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8,3%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330</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359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393</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434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485</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9,3%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285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306</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330</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359</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393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1" i="0">
                          <a:solidFill>
                            <a:srgbClr val="1B3A6B"/>
                          </a:solidFill>
                          <a:latin typeface="Calibri"/>
                        </a:rPr>
                        <a:t>10,3%</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251</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267</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285</a:t>
                      </a:r>
                    </a:p>
                  </a:txBody>
                  <a:tcPr>
                    <a:solidFill>
                      <a:srgbClr val="2E5FA3"/>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306</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330</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11,3%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224</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236</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251</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267</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285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12,3%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202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224</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236</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251</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0" name="TextBox 19"/>
          <p:cNvSpPr txBox="1"/>
          <p:nvPr/>
        </p:nvSpPr>
        <p:spPr>
          <a:xfrm>
            <a:off x="367200" y="3916800"/>
            <a:ext cx="8413200" cy="547200"/>
          </a:xfrm>
          <a:prstGeom prst="rect">
            <a:avLst/>
          </a:prstGeom>
          <a:noFill/>
        </p:spPr>
        <p:txBody>
          <a:bodyPr wrap="square">
            <a:spAutoFit/>
          </a:bodyPr>
          <a:lstStyle/>
          <a:p>
            <a:pPr algn="l"/>
            <a:r>
              <a:rPr sz="850" b="0" i="0">
                <a:solidFill>
                  <a:srgbClr val="555555"/>
                </a:solidFill>
                <a:latin typeface="Calibri"/>
              </a:rPr>
              <a:t>Avec un WACC de 10.3% et une TGR de 3.0%, le prix implicite DCF est de 290 USD (vs 255.92 USD). L'upside de 13% suggère une sous-valorisation structurelle liée à la qualité des actifs et à la génération de cash. Un catalyseur clé serait une accélération de la croissance des services (&gt;20%/an).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Comparable Peers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par multiples  ·  LTM  ·  Mkt Cap en Mds USD</a:t>
            </a:r>
          </a:p>
        </p:txBody>
      </p:sp>
      <p:graphicFrame>
        <p:nvGraphicFramePr>
          <p:cNvPr id="17" name="Table 16"/>
          <p:cNvGraphicFramePr>
            <a:graphicFrameLocks noGrp="1"/>
          </p:cNvGraphicFramePr>
          <p:nvPr/>
        </p:nvGraphicFramePr>
        <p:xfrm>
          <a:off x="367200" y="914400"/>
          <a:ext cx="8413200" cy="2015999"/>
        </p:xfrm>
        <a:graphic>
          <a:graphicData uri="http://schemas.openxmlformats.org/drawingml/2006/table">
            <a:tbl>
              <a:tblPr firstRow="1" bandRow="1">
                <a:tableStyleId>{5C22544A-7EE6-4342-B048-85BDC9FD1C3A}</a:tableStyleId>
              </a:tblPr>
              <a:tblGrid>
                <a:gridCol w="1682640"/>
                <a:gridCol w="757188"/>
                <a:gridCol w="1093716"/>
                <a:gridCol w="1009584"/>
                <a:gridCol w="1009584"/>
                <a:gridCol w="757188"/>
                <a:gridCol w="1093716"/>
                <a:gridCol w="1009584"/>
              </a:tblGrid>
              <a:tr h="251999">
                <a:tc>
                  <a:txBody>
                    <a:bodyPr/>
                    <a:lstStyle/>
                    <a:p>
                      <a:pPr algn="l"/>
                      <a:r>
                        <a:rPr sz="800" b="1" i="0">
                          <a:solidFill>
                            <a:srgbClr val="FFFFFF"/>
                          </a:solidFill>
                          <a:latin typeface="Calibri"/>
                        </a:rPr>
                        <a:t>Société</a:t>
                      </a:r>
                    </a:p>
                  </a:txBody>
                  <a:tcPr>
                    <a:solidFill>
                      <a:srgbClr val="1B3A6B"/>
                    </a:solidFill>
                  </a:tcPr>
                </a:tc>
                <a:tc>
                  <a:txBody>
                    <a:bodyPr/>
                    <a:lstStyle/>
                    <a:p>
                      <a:pPr algn="ctr"/>
                      <a:r>
                        <a:rPr sz="800" b="1" i="0">
                          <a:solidFill>
                            <a:srgbClr val="FFFFFF"/>
                          </a:solidFill>
                          <a:latin typeface="Calibri"/>
                        </a:rPr>
                        <a:t>Ticker</a:t>
                      </a:r>
                    </a:p>
                  </a:txBody>
                  <a:tcPr>
                    <a:solidFill>
                      <a:srgbClr val="1B3A6B"/>
                    </a:solidFill>
                  </a:tcPr>
                </a:tc>
                <a:tc>
                  <a:txBody>
                    <a:bodyPr/>
                    <a:lstStyle/>
                    <a:p>
                      <a:pPr algn="ctr"/>
                      <a:r>
                        <a:rPr sz="800" b="1" i="0">
                          <a:solidFill>
                            <a:srgbClr val="FFFFFF"/>
                          </a:solidFill>
                          <a:latin typeface="Calibri"/>
                        </a:rPr>
                        <a:t>Mkt Cap</a:t>
                      </a:r>
                    </a:p>
                  </a:txBody>
                  <a:tcPr>
                    <a:solidFill>
                      <a:srgbClr val="1B3A6B"/>
                    </a:solidFill>
                  </a:tcPr>
                </a:tc>
                <a:tc>
                  <a:txBody>
                    <a:bodyPr/>
                    <a:lstStyle/>
                    <a:p>
                      <a:pPr algn="ctr"/>
                      <a:r>
                        <a:rPr sz="800" b="1" i="0">
                          <a:solidFill>
                            <a:srgbClr val="FFFFFF"/>
                          </a:solidFill>
                          <a:latin typeface="Calibri"/>
                        </a:rPr>
                        <a:t>EV/EBITDA</a:t>
                      </a:r>
                    </a:p>
                  </a:txBody>
                  <a:tcPr>
                    <a:solidFill>
                      <a:srgbClr val="1B3A6B"/>
                    </a:solidFill>
                  </a:tcPr>
                </a:tc>
                <a:tc>
                  <a:txBody>
                    <a:bodyPr/>
                    <a:lstStyle/>
                    <a:p>
                      <a:pPr algn="ctr"/>
                      <a:r>
                        <a:rPr sz="800" b="1" i="0">
                          <a:solidFill>
                            <a:srgbClr val="FFFFFF"/>
                          </a:solidFill>
                          <a:latin typeface="Calibri"/>
                        </a:rPr>
                        <a:t>EV/Rev.</a:t>
                      </a:r>
                    </a:p>
                  </a:txBody>
                  <a:tcPr>
                    <a:solidFill>
                      <a:srgbClr val="1B3A6B"/>
                    </a:solidFill>
                  </a:tcPr>
                </a:tc>
                <a:tc>
                  <a:txBody>
                    <a:bodyPr/>
                    <a:lstStyle/>
                    <a:p>
                      <a:pPr algn="ctr"/>
                      <a:r>
                        <a:rPr sz="800" b="1" i="0">
                          <a:solidFill>
                            <a:srgbClr val="FFFFFF"/>
                          </a:solidFill>
                          <a:latin typeface="Calibri"/>
                        </a:rPr>
                        <a:t>P/E</a:t>
                      </a:r>
                    </a:p>
                  </a:txBody>
                  <a:tcPr>
                    <a:solidFill>
                      <a:srgbClr val="1B3A6B"/>
                    </a:solidFill>
                  </a:tcPr>
                </a:tc>
                <a:tc>
                  <a:txBody>
                    <a:bodyPr/>
                    <a:lstStyle/>
                    <a:p>
                      <a:pPr algn="ctr"/>
                      <a:r>
                        <a:rPr sz="800" b="1" i="0">
                          <a:solidFill>
                            <a:srgbClr val="FFFFFF"/>
                          </a:solidFill>
                          <a:latin typeface="Calibri"/>
                        </a:rPr>
                        <a:t>Mg Brute</a:t>
                      </a:r>
                    </a:p>
                  </a:txBody>
                  <a:tcPr>
                    <a:solidFill>
                      <a:srgbClr val="1B3A6B"/>
                    </a:solidFill>
                  </a:tcPr>
                </a:tc>
                <a:tc>
                  <a:txBody>
                    <a:bodyPr/>
                    <a:lstStyle/>
                    <a:p>
                      <a:pPr algn="ctr"/>
                      <a:r>
                        <a:rPr sz="800" b="1" i="0">
                          <a:solidFill>
                            <a:srgbClr val="FFFFFF"/>
                          </a:solidFill>
                          <a:latin typeface="Calibri"/>
                        </a:rPr>
                        <a:t>Mg EBITDA</a:t>
                      </a:r>
                    </a:p>
                  </a:txBody>
                  <a:tcPr>
                    <a:solidFill>
                      <a:srgbClr val="1B3A6B"/>
                    </a:solidFill>
                  </a:tcPr>
                </a:tc>
              </a:tr>
              <a:tr h="251999">
                <a:tc>
                  <a:txBody>
                    <a:bodyPr/>
                    <a:lstStyle/>
                    <a:p>
                      <a:pPr algn="l"/>
                      <a:r>
                        <a:rPr sz="800" b="1" i="0">
                          <a:solidFill>
                            <a:srgbClr val="1B3A6B"/>
                          </a:solidFill>
                          <a:latin typeface="Calibri"/>
                        </a:rPr>
                        <a:t>Apple Inc.</a:t>
                      </a:r>
                    </a:p>
                  </a:txBody>
                  <a:tcPr>
                    <a:solidFill>
                      <a:srgbClr val="DDE8F5"/>
                    </a:solidFill>
                  </a:tcPr>
                </a:tc>
                <a:tc>
                  <a:txBody>
                    <a:bodyPr/>
                    <a:lstStyle/>
                    <a:p>
                      <a:pPr algn="ctr"/>
                      <a:r>
                        <a:rPr sz="750" b="1" i="0">
                          <a:solidFill>
                            <a:srgbClr val="2E5FA3"/>
                          </a:solidFill>
                          <a:latin typeface="Calibri"/>
                        </a:rPr>
                        <a:t>AAPL</a:t>
                      </a:r>
                    </a:p>
                  </a:txBody>
                  <a:tcPr>
                    <a:solidFill>
                      <a:srgbClr val="DDE8F5"/>
                    </a:solidFill>
                  </a:tcPr>
                </a:tc>
                <a:tc>
                  <a:txBody>
                    <a:bodyPr/>
                    <a:lstStyle/>
                    <a:p>
                      <a:pPr algn="ctr"/>
                      <a:r>
                        <a:rPr sz="800" b="1" i="0">
                          <a:solidFill>
                            <a:srgbClr val="1B3A6B"/>
                          </a:solidFill>
                          <a:latin typeface="Calibri"/>
                        </a:rPr>
                        <a:t>3 757,2</a:t>
                      </a:r>
                    </a:p>
                  </a:txBody>
                  <a:tcPr>
                    <a:solidFill>
                      <a:srgbClr val="DDE8F5"/>
                    </a:solidFill>
                  </a:tcPr>
                </a:tc>
                <a:tc>
                  <a:txBody>
                    <a:bodyPr/>
                    <a:lstStyle/>
                    <a:p>
                      <a:pPr algn="ctr"/>
                      <a:r>
                        <a:rPr sz="800" b="1" i="0">
                          <a:solidFill>
                            <a:srgbClr val="1B3A6B"/>
                          </a:solidFill>
                          <a:latin typeface="Calibri"/>
                        </a:rPr>
                        <a:t>26,4x</a:t>
                      </a:r>
                    </a:p>
                  </a:txBody>
                  <a:tcPr>
                    <a:solidFill>
                      <a:srgbClr val="DDE8F5"/>
                    </a:solidFill>
                  </a:tcPr>
                </a:tc>
                <a:tc>
                  <a:txBody>
                    <a:bodyPr/>
                    <a:lstStyle/>
                    <a:p>
                      <a:pPr algn="ctr"/>
                      <a:r>
                        <a:rPr sz="800" b="1" i="0">
                          <a:solidFill>
                            <a:srgbClr val="1B3A6B"/>
                          </a:solidFill>
                          <a:latin typeface="Calibri"/>
                        </a:rPr>
                        <a:t>9,2x</a:t>
                      </a:r>
                    </a:p>
                  </a:txBody>
                  <a:tcPr>
                    <a:solidFill>
                      <a:srgbClr val="DDE8F5"/>
                    </a:solidFill>
                  </a:tcPr>
                </a:tc>
                <a:tc>
                  <a:txBody>
                    <a:bodyPr/>
                    <a:lstStyle/>
                    <a:p>
                      <a:pPr algn="ctr"/>
                      <a:r>
                        <a:rPr sz="800" b="1" i="0">
                          <a:solidFill>
                            <a:srgbClr val="1B3A6B"/>
                          </a:solidFill>
                          <a:latin typeface="Calibri"/>
                        </a:rPr>
                        <a:t>33,5x</a:t>
                      </a:r>
                    </a:p>
                  </a:txBody>
                  <a:tcPr>
                    <a:solidFill>
                      <a:srgbClr val="DDE8F5"/>
                    </a:solidFill>
                  </a:tcPr>
                </a:tc>
                <a:tc>
                  <a:txBody>
                    <a:bodyPr/>
                    <a:lstStyle/>
                    <a:p>
                      <a:pPr algn="ctr"/>
                      <a:r>
                        <a:rPr sz="800" b="1" i="0">
                          <a:solidFill>
                            <a:srgbClr val="1B3A6B"/>
                          </a:solidFill>
                          <a:latin typeface="Calibri"/>
                        </a:rPr>
                        <a:t>46,9 %</a:t>
                      </a:r>
                    </a:p>
                  </a:txBody>
                  <a:tcPr>
                    <a:solidFill>
                      <a:srgbClr val="DDE8F5"/>
                    </a:solidFill>
                  </a:tcPr>
                </a:tc>
                <a:tc>
                  <a:txBody>
                    <a:bodyPr/>
                    <a:lstStyle/>
                    <a:p>
                      <a:pPr algn="ctr"/>
                      <a:r>
                        <a:rPr sz="800" b="1" i="0">
                          <a:solidFill>
                            <a:srgbClr val="1B3A6B"/>
                          </a:solidFill>
                          <a:latin typeface="Calibri"/>
                        </a:rPr>
                        <a:t>34,8 %</a:t>
                      </a:r>
                    </a:p>
                  </a:txBody>
                  <a:tcPr>
                    <a:solidFill>
                      <a:srgbClr val="DDE8F5"/>
                    </a:solidFill>
                  </a:tcPr>
                </a:tc>
              </a:tr>
              <a:tr h="251999">
                <a:tc>
                  <a:txBody>
                    <a:bodyPr/>
                    <a:lstStyle/>
                    <a:p>
                      <a:pPr algn="l"/>
                      <a:r>
                        <a:rPr sz="800" b="0" i="0">
                          <a:solidFill>
                            <a:srgbClr val="0D0D0D"/>
                          </a:solidFill>
                          <a:latin typeface="Calibri"/>
                        </a:rPr>
                        <a:t>Microsoft</a:t>
                      </a:r>
                    </a:p>
                  </a:txBody>
                  <a:tcPr>
                    <a:solidFill>
                      <a:srgbClr val="FFFFFF"/>
                    </a:solidFill>
                  </a:tcPr>
                </a:tc>
                <a:tc>
                  <a:txBody>
                    <a:bodyPr/>
                    <a:lstStyle/>
                    <a:p>
                      <a:pPr algn="ctr"/>
                      <a:r>
                        <a:rPr sz="750" b="0" i="0">
                          <a:solidFill>
                            <a:srgbClr val="555555"/>
                          </a:solidFill>
                          <a:latin typeface="Calibri"/>
                        </a:rPr>
                        <a:t>MSFT</a:t>
                      </a:r>
                    </a:p>
                  </a:txBody>
                  <a:tcPr>
                    <a:solidFill>
                      <a:srgbClr val="FFFFFF"/>
                    </a:solidFill>
                  </a:tcPr>
                </a:tc>
                <a:tc>
                  <a:txBody>
                    <a:bodyPr/>
                    <a:lstStyle/>
                    <a:p>
                      <a:pPr algn="ctr"/>
                      <a:r>
                        <a:rPr sz="800" b="0" i="0">
                          <a:solidFill>
                            <a:srgbClr val="0D0D0D"/>
                          </a:solidFill>
                          <a:latin typeface="Calibri"/>
                        </a:rPr>
                        <a:t>3 200,0</a:t>
                      </a:r>
                    </a:p>
                  </a:txBody>
                  <a:tcPr>
                    <a:solidFill>
                      <a:srgbClr val="FFFFFF"/>
                    </a:solidFill>
                  </a:tcPr>
                </a:tc>
                <a:tc>
                  <a:txBody>
                    <a:bodyPr/>
                    <a:lstStyle/>
                    <a:p>
                      <a:pPr algn="ctr"/>
                      <a:r>
                        <a:rPr sz="800" b="0" i="0">
                          <a:solidFill>
                            <a:srgbClr val="0D0D0D"/>
                          </a:solidFill>
                          <a:latin typeface="Calibri"/>
                        </a:rPr>
                        <a:t>24,1x</a:t>
                      </a:r>
                    </a:p>
                  </a:txBody>
                  <a:tcPr>
                    <a:solidFill>
                      <a:srgbClr val="FFFFFF"/>
                    </a:solidFill>
                  </a:tcPr>
                </a:tc>
                <a:tc>
                  <a:txBody>
                    <a:bodyPr/>
                    <a:lstStyle/>
                    <a:p>
                      <a:pPr algn="ctr"/>
                      <a:r>
                        <a:rPr sz="800" b="0" i="0">
                          <a:solidFill>
                            <a:srgbClr val="0D0D0D"/>
                          </a:solidFill>
                          <a:latin typeface="Calibri"/>
                        </a:rPr>
                        <a:t>12,8x</a:t>
                      </a:r>
                    </a:p>
                  </a:txBody>
                  <a:tcPr>
                    <a:solidFill>
                      <a:srgbClr val="FFFFFF"/>
                    </a:solidFill>
                  </a:tcPr>
                </a:tc>
                <a:tc>
                  <a:txBody>
                    <a:bodyPr/>
                    <a:lstStyle/>
                    <a:p>
                      <a:pPr algn="ctr"/>
                      <a:r>
                        <a:rPr sz="800" b="0" i="0">
                          <a:solidFill>
                            <a:srgbClr val="0D0D0D"/>
                          </a:solidFill>
                          <a:latin typeface="Calibri"/>
                        </a:rPr>
                        <a:t>36,2x</a:t>
                      </a:r>
                    </a:p>
                  </a:txBody>
                  <a:tcPr>
                    <a:solidFill>
                      <a:srgbClr val="FFFFFF"/>
                    </a:solidFill>
                  </a:tcPr>
                </a:tc>
                <a:tc>
                  <a:txBody>
                    <a:bodyPr/>
                    <a:lstStyle/>
                    <a:p>
                      <a:pPr algn="ctr"/>
                      <a:r>
                        <a:rPr sz="800" b="0" i="0">
                          <a:solidFill>
                            <a:srgbClr val="0D0D0D"/>
                          </a:solidFill>
                          <a:latin typeface="Calibri"/>
                        </a:rPr>
                        <a:t>6810,0 %</a:t>
                      </a:r>
                    </a:p>
                  </a:txBody>
                  <a:tcPr>
                    <a:solidFill>
                      <a:srgbClr val="FFFFFF"/>
                    </a:solidFill>
                  </a:tcPr>
                </a:tc>
                <a:tc>
                  <a:txBody>
                    <a:bodyPr/>
                    <a:lstStyle/>
                    <a:p>
                      <a:pPr algn="ctr"/>
                      <a:r>
                        <a:rPr sz="800" b="0" i="0">
                          <a:solidFill>
                            <a:srgbClr val="0D0D0D"/>
                          </a:solidFill>
                          <a:latin typeface="Calibri"/>
                        </a:rPr>
                        <a:t>5230,0 %</a:t>
                      </a:r>
                    </a:p>
                  </a:txBody>
                  <a:tcPr>
                    <a:solidFill>
                      <a:srgbClr val="FFFFFF"/>
                    </a:solidFill>
                  </a:tcPr>
                </a:tc>
              </a:tr>
              <a:tr h="251999">
                <a:tc>
                  <a:txBody>
                    <a:bodyPr/>
                    <a:lstStyle/>
                    <a:p>
                      <a:pPr algn="l"/>
                      <a:r>
                        <a:rPr sz="800" b="0" i="0">
                          <a:solidFill>
                            <a:srgbClr val="0D0D0D"/>
                          </a:solidFill>
                          <a:latin typeface="Calibri"/>
                        </a:rPr>
                        <a:t>Alphabet</a:t>
                      </a:r>
                    </a:p>
                  </a:txBody>
                  <a:tcPr>
                    <a:solidFill>
                      <a:srgbClr val="F7F8FA"/>
                    </a:solidFill>
                  </a:tcPr>
                </a:tc>
                <a:tc>
                  <a:txBody>
                    <a:bodyPr/>
                    <a:lstStyle/>
                    <a:p>
                      <a:pPr algn="ctr"/>
                      <a:r>
                        <a:rPr sz="750" b="0" i="0">
                          <a:solidFill>
                            <a:srgbClr val="555555"/>
                          </a:solidFill>
                          <a:latin typeface="Calibri"/>
                        </a:rPr>
                        <a:t>GOOGL</a:t>
                      </a:r>
                    </a:p>
                  </a:txBody>
                  <a:tcPr>
                    <a:solidFill>
                      <a:srgbClr val="F7F8FA"/>
                    </a:solidFill>
                  </a:tcPr>
                </a:tc>
                <a:tc>
                  <a:txBody>
                    <a:bodyPr/>
                    <a:lstStyle/>
                    <a:p>
                      <a:pPr algn="ctr"/>
                      <a:r>
                        <a:rPr sz="800" b="0" i="0">
                          <a:solidFill>
                            <a:srgbClr val="0D0D0D"/>
                          </a:solidFill>
                          <a:latin typeface="Calibri"/>
                        </a:rPr>
                        <a:t>2 100,0</a:t>
                      </a:r>
                    </a:p>
                  </a:txBody>
                  <a:tcPr>
                    <a:solidFill>
                      <a:srgbClr val="F7F8FA"/>
                    </a:solidFill>
                  </a:tcPr>
                </a:tc>
                <a:tc>
                  <a:txBody>
                    <a:bodyPr/>
                    <a:lstStyle/>
                    <a:p>
                      <a:pPr algn="ctr"/>
                      <a:r>
                        <a:rPr sz="800" b="0" i="0">
                          <a:solidFill>
                            <a:srgbClr val="0D0D0D"/>
                          </a:solidFill>
                          <a:latin typeface="Calibri"/>
                        </a:rPr>
                        <a:t>21,5x</a:t>
                      </a:r>
                    </a:p>
                  </a:txBody>
                  <a:tcPr>
                    <a:solidFill>
                      <a:srgbClr val="F7F8FA"/>
                    </a:solidFill>
                  </a:tcPr>
                </a:tc>
                <a:tc>
                  <a:txBody>
                    <a:bodyPr/>
                    <a:lstStyle/>
                    <a:p>
                      <a:pPr algn="ctr"/>
                      <a:r>
                        <a:rPr sz="800" b="0" i="0">
                          <a:solidFill>
                            <a:srgbClr val="0D0D0D"/>
                          </a:solidFill>
                          <a:latin typeface="Calibri"/>
                        </a:rPr>
                        <a:t>9,2x</a:t>
                      </a:r>
                    </a:p>
                  </a:txBody>
                  <a:tcPr>
                    <a:solidFill>
                      <a:srgbClr val="F7F8FA"/>
                    </a:solidFill>
                  </a:tcPr>
                </a:tc>
                <a:tc>
                  <a:txBody>
                    <a:bodyPr/>
                    <a:lstStyle/>
                    <a:p>
                      <a:pPr algn="ctr"/>
                      <a:r>
                        <a:rPr sz="800" b="0" i="0">
                          <a:solidFill>
                            <a:srgbClr val="0D0D0D"/>
                          </a:solidFill>
                          <a:latin typeface="Calibri"/>
                        </a:rPr>
                        <a:t>28,7x</a:t>
                      </a:r>
                    </a:p>
                  </a:txBody>
                  <a:tcPr>
                    <a:solidFill>
                      <a:srgbClr val="F7F8FA"/>
                    </a:solidFill>
                  </a:tcPr>
                </a:tc>
                <a:tc>
                  <a:txBody>
                    <a:bodyPr/>
                    <a:lstStyle/>
                    <a:p>
                      <a:pPr algn="ctr"/>
                      <a:r>
                        <a:rPr sz="800" b="0" i="0">
                          <a:solidFill>
                            <a:srgbClr val="0D0D0D"/>
                          </a:solidFill>
                          <a:latin typeface="Calibri"/>
                        </a:rPr>
                        <a:t>5690,0 %</a:t>
                      </a:r>
                    </a:p>
                  </a:txBody>
                  <a:tcPr>
                    <a:solidFill>
                      <a:srgbClr val="F7F8FA"/>
                    </a:solidFill>
                  </a:tcPr>
                </a:tc>
                <a:tc>
                  <a:txBody>
                    <a:bodyPr/>
                    <a:lstStyle/>
                    <a:p>
                      <a:pPr algn="ctr"/>
                      <a:r>
                        <a:rPr sz="800" b="0" i="0">
                          <a:solidFill>
                            <a:srgbClr val="0D0D0D"/>
                          </a:solidFill>
                          <a:latin typeface="Calibri"/>
                        </a:rPr>
                        <a:t>3510,0 %</a:t>
                      </a:r>
                    </a:p>
                  </a:txBody>
                  <a:tcPr>
                    <a:solidFill>
                      <a:srgbClr val="F7F8FA"/>
                    </a:solidFill>
                  </a:tcPr>
                </a:tc>
              </a:tr>
              <a:tr h="251999">
                <a:tc>
                  <a:txBody>
                    <a:bodyPr/>
                    <a:lstStyle/>
                    <a:p>
                      <a:pPr algn="l"/>
                      <a:r>
                        <a:rPr sz="800" b="0" i="0">
                          <a:solidFill>
                            <a:srgbClr val="0D0D0D"/>
                          </a:solidFill>
                          <a:latin typeface="Calibri"/>
                        </a:rPr>
                        <a:t>Samsung Electronics</a:t>
                      </a:r>
                    </a:p>
                  </a:txBody>
                  <a:tcPr>
                    <a:solidFill>
                      <a:srgbClr val="FFFFFF"/>
                    </a:solidFill>
                  </a:tcPr>
                </a:tc>
                <a:tc>
                  <a:txBody>
                    <a:bodyPr/>
                    <a:lstStyle/>
                    <a:p>
                      <a:pPr algn="ctr"/>
                      <a:r>
                        <a:rPr sz="750" b="0" i="0">
                          <a:solidFill>
                            <a:srgbClr val="555555"/>
                          </a:solidFill>
                          <a:latin typeface="Calibri"/>
                        </a:rPr>
                        <a:t>005930.KS</a:t>
                      </a:r>
                    </a:p>
                  </a:txBody>
                  <a:tcPr>
                    <a:solidFill>
                      <a:srgbClr val="FFFFFF"/>
                    </a:solidFill>
                  </a:tcPr>
                </a:tc>
                <a:tc>
                  <a:txBody>
                    <a:bodyPr/>
                    <a:lstStyle/>
                    <a:p>
                      <a:pPr algn="ctr"/>
                      <a:r>
                        <a:rPr sz="800" b="0" i="0">
                          <a:solidFill>
                            <a:srgbClr val="0D0D0D"/>
                          </a:solidFill>
                          <a:latin typeface="Calibri"/>
                        </a:rPr>
                        <a:t>450,0</a:t>
                      </a:r>
                    </a:p>
                  </a:txBody>
                  <a:tcPr>
                    <a:solidFill>
                      <a:srgbClr val="FFFFFF"/>
                    </a:solidFill>
                  </a:tcPr>
                </a:tc>
                <a:tc>
                  <a:txBody>
                    <a:bodyPr/>
                    <a:lstStyle/>
                    <a:p>
                      <a:pPr algn="ctr"/>
                      <a:r>
                        <a:rPr sz="800" b="0" i="0">
                          <a:solidFill>
                            <a:srgbClr val="0D0D0D"/>
                          </a:solidFill>
                          <a:latin typeface="Calibri"/>
                        </a:rPr>
                        <a:t>7,2x</a:t>
                      </a:r>
                    </a:p>
                  </a:txBody>
                  <a:tcPr>
                    <a:solidFill>
                      <a:srgbClr val="FFFFFF"/>
                    </a:solidFill>
                  </a:tcPr>
                </a:tc>
                <a:tc>
                  <a:txBody>
                    <a:bodyPr/>
                    <a:lstStyle/>
                    <a:p>
                      <a:pPr algn="ctr"/>
                      <a:r>
                        <a:rPr sz="800" b="0" i="0">
                          <a:solidFill>
                            <a:srgbClr val="0D0D0D"/>
                          </a:solidFill>
                          <a:latin typeface="Calibri"/>
                        </a:rPr>
                        <a:t>1,4x</a:t>
                      </a:r>
                    </a:p>
                  </a:txBody>
                  <a:tcPr>
                    <a:solidFill>
                      <a:srgbClr val="FFFFFF"/>
                    </a:solidFill>
                  </a:tcPr>
                </a:tc>
                <a:tc>
                  <a:txBody>
                    <a:bodyPr/>
                    <a:lstStyle/>
                    <a:p>
                      <a:pPr algn="ctr"/>
                      <a:r>
                        <a:rPr sz="800" b="0" i="0">
                          <a:solidFill>
                            <a:srgbClr val="0D0D0D"/>
                          </a:solidFill>
                          <a:latin typeface="Calibri"/>
                        </a:rPr>
                        <a:t>12,3x</a:t>
                      </a:r>
                    </a:p>
                  </a:txBody>
                  <a:tcPr>
                    <a:solidFill>
                      <a:srgbClr val="FFFFFF"/>
                    </a:solidFill>
                  </a:tcPr>
                </a:tc>
                <a:tc>
                  <a:txBody>
                    <a:bodyPr/>
                    <a:lstStyle/>
                    <a:p>
                      <a:pPr algn="ctr"/>
                      <a:r>
                        <a:rPr sz="800" b="0" i="0">
                          <a:solidFill>
                            <a:srgbClr val="0D0D0D"/>
                          </a:solidFill>
                          <a:latin typeface="Calibri"/>
                        </a:rPr>
                        <a:t>3520,0 %</a:t>
                      </a:r>
                    </a:p>
                  </a:txBody>
                  <a:tcPr>
                    <a:solidFill>
                      <a:srgbClr val="FFFFFF"/>
                    </a:solidFill>
                  </a:tcPr>
                </a:tc>
                <a:tc>
                  <a:txBody>
                    <a:bodyPr/>
                    <a:lstStyle/>
                    <a:p>
                      <a:pPr algn="ctr"/>
                      <a:r>
                        <a:rPr sz="800" b="0" i="0">
                          <a:solidFill>
                            <a:srgbClr val="0D0D0D"/>
                          </a:solidFill>
                          <a:latin typeface="Calibri"/>
                        </a:rPr>
                        <a:t>2150,0 %</a:t>
                      </a:r>
                    </a:p>
                  </a:txBody>
                  <a:tcPr>
                    <a:solidFill>
                      <a:srgbClr val="FFFFFF"/>
                    </a:solidFill>
                  </a:tcPr>
                </a:tc>
              </a:tr>
              <a:tr h="251999">
                <a:tc>
                  <a:txBody>
                    <a:bodyPr/>
                    <a:lstStyle/>
                    <a:p>
                      <a:pPr algn="l"/>
                      <a:r>
                        <a:rPr sz="800" b="0" i="0">
                          <a:solidFill>
                            <a:srgbClr val="0D0D0D"/>
                          </a:solidFill>
                          <a:latin typeface="Calibri"/>
                        </a:rPr>
                        <a:t>Meta Platforms</a:t>
                      </a:r>
                    </a:p>
                  </a:txBody>
                  <a:tcPr>
                    <a:solidFill>
                      <a:srgbClr val="F7F8FA"/>
                    </a:solidFill>
                  </a:tcPr>
                </a:tc>
                <a:tc>
                  <a:txBody>
                    <a:bodyPr/>
                    <a:lstStyle/>
                    <a:p>
                      <a:pPr algn="ctr"/>
                      <a:r>
                        <a:rPr sz="750" b="0" i="0">
                          <a:solidFill>
                            <a:srgbClr val="555555"/>
                          </a:solidFill>
                          <a:latin typeface="Calibri"/>
                        </a:rPr>
                        <a:t>META</a:t>
                      </a:r>
                    </a:p>
                  </a:txBody>
                  <a:tcPr>
                    <a:solidFill>
                      <a:srgbClr val="F7F8FA"/>
                    </a:solidFill>
                  </a:tcPr>
                </a:tc>
                <a:tc>
                  <a:txBody>
                    <a:bodyPr/>
                    <a:lstStyle/>
                    <a:p>
                      <a:pPr algn="ctr"/>
                      <a:r>
                        <a:rPr sz="800" b="0" i="0">
                          <a:solidFill>
                            <a:srgbClr val="0D0D0D"/>
                          </a:solidFill>
                          <a:latin typeface="Calibri"/>
                        </a:rPr>
                        <a:t>1 400,0</a:t>
                      </a:r>
                    </a:p>
                  </a:txBody>
                  <a:tcPr>
                    <a:solidFill>
                      <a:srgbClr val="F7F8FA"/>
                    </a:solidFill>
                  </a:tcPr>
                </a:tc>
                <a:tc>
                  <a:txBody>
                    <a:bodyPr/>
                    <a:lstStyle/>
                    <a:p>
                      <a:pPr algn="ctr"/>
                      <a:r>
                        <a:rPr sz="800" b="0" i="0">
                          <a:solidFill>
                            <a:srgbClr val="0D0D0D"/>
                          </a:solidFill>
                          <a:latin typeface="Calibri"/>
                        </a:rPr>
                        <a:t>18,9x</a:t>
                      </a:r>
                    </a:p>
                  </a:txBody>
                  <a:tcPr>
                    <a:solidFill>
                      <a:srgbClr val="F7F8FA"/>
                    </a:solidFill>
                  </a:tcPr>
                </a:tc>
                <a:tc>
                  <a:txBody>
                    <a:bodyPr/>
                    <a:lstStyle/>
                    <a:p>
                      <a:pPr algn="ctr"/>
                      <a:r>
                        <a:rPr sz="800" b="0" i="0">
                          <a:solidFill>
                            <a:srgbClr val="0D0D0D"/>
                          </a:solidFill>
                          <a:latin typeface="Calibri"/>
                        </a:rPr>
                        <a:t>10,5x</a:t>
                      </a:r>
                    </a:p>
                  </a:txBody>
                  <a:tcPr>
                    <a:solidFill>
                      <a:srgbClr val="F7F8FA"/>
                    </a:solidFill>
                  </a:tcPr>
                </a:tc>
                <a:tc>
                  <a:txBody>
                    <a:bodyPr/>
                    <a:lstStyle/>
                    <a:p>
                      <a:pPr algn="ctr"/>
                      <a:r>
                        <a:rPr sz="800" b="0" i="0">
                          <a:solidFill>
                            <a:srgbClr val="0D0D0D"/>
                          </a:solidFill>
                          <a:latin typeface="Calibri"/>
                        </a:rPr>
                        <a:t>32,1x</a:t>
                      </a:r>
                    </a:p>
                  </a:txBody>
                  <a:tcPr>
                    <a:solidFill>
                      <a:srgbClr val="F7F8FA"/>
                    </a:solidFill>
                  </a:tcPr>
                </a:tc>
                <a:tc>
                  <a:txBody>
                    <a:bodyPr/>
                    <a:lstStyle/>
                    <a:p>
                      <a:pPr algn="ctr"/>
                      <a:r>
                        <a:rPr sz="800" b="0" i="0">
                          <a:solidFill>
                            <a:srgbClr val="0D0D0D"/>
                          </a:solidFill>
                          <a:latin typeface="Calibri"/>
                        </a:rPr>
                        <a:t>8540,0 %</a:t>
                      </a:r>
                    </a:p>
                  </a:txBody>
                  <a:tcPr>
                    <a:solidFill>
                      <a:srgbClr val="F7F8FA"/>
                    </a:solidFill>
                  </a:tcPr>
                </a:tc>
                <a:tc>
                  <a:txBody>
                    <a:bodyPr/>
                    <a:lstStyle/>
                    <a:p>
                      <a:pPr algn="ctr"/>
                      <a:r>
                        <a:rPr sz="800" b="0" i="0">
                          <a:solidFill>
                            <a:srgbClr val="0D0D0D"/>
                          </a:solidFill>
                          <a:latin typeface="Calibri"/>
                        </a:rPr>
                        <a:t>5820,0 %</a:t>
                      </a:r>
                    </a:p>
                  </a:txBody>
                  <a:tcPr>
                    <a:solidFill>
                      <a:srgbClr val="F7F8FA"/>
                    </a:solidFill>
                  </a:tcPr>
                </a:tc>
              </a:tr>
              <a:tr h="251999">
                <a:tc>
                  <a:txBody>
                    <a:bodyPr/>
                    <a:lstStyle/>
                    <a:p>
                      <a:pPr algn="l"/>
                      <a:r>
                        <a:rPr sz="800" b="0" i="0">
                          <a:solidFill>
                            <a:srgbClr val="0D0D0D"/>
                          </a:solidFill>
                          <a:latin typeface="Calibri"/>
                        </a:rPr>
                        <a:t>NVIDIA</a:t>
                      </a:r>
                    </a:p>
                  </a:txBody>
                  <a:tcPr>
                    <a:solidFill>
                      <a:srgbClr val="FFFFFF"/>
                    </a:solidFill>
                  </a:tcPr>
                </a:tc>
                <a:tc>
                  <a:txBody>
                    <a:bodyPr/>
                    <a:lstStyle/>
                    <a:p>
                      <a:pPr algn="ctr"/>
                      <a:r>
                        <a:rPr sz="750" b="0" i="0">
                          <a:solidFill>
                            <a:srgbClr val="555555"/>
                          </a:solidFill>
                          <a:latin typeface="Calibri"/>
                        </a:rPr>
                        <a:t>NVDA</a:t>
                      </a:r>
                    </a:p>
                  </a:txBody>
                  <a:tcPr>
                    <a:solidFill>
                      <a:srgbClr val="FFFFFF"/>
                    </a:solidFill>
                  </a:tcPr>
                </a:tc>
                <a:tc>
                  <a:txBody>
                    <a:bodyPr/>
                    <a:lstStyle/>
                    <a:p>
                      <a:pPr algn="ctr"/>
                      <a:r>
                        <a:rPr sz="800" b="0" i="0">
                          <a:solidFill>
                            <a:srgbClr val="0D0D0D"/>
                          </a:solidFill>
                          <a:latin typeface="Calibri"/>
                        </a:rPr>
                        <a:t>2 300,0</a:t>
                      </a:r>
                    </a:p>
                  </a:txBody>
                  <a:tcPr>
                    <a:solidFill>
                      <a:srgbClr val="FFFFFF"/>
                    </a:solidFill>
                  </a:tcPr>
                </a:tc>
                <a:tc>
                  <a:txBody>
                    <a:bodyPr/>
                    <a:lstStyle/>
                    <a:p>
                      <a:pPr algn="ctr"/>
                      <a:r>
                        <a:rPr sz="800" b="0" i="0">
                          <a:solidFill>
                            <a:srgbClr val="0D0D0D"/>
                          </a:solidFill>
                          <a:latin typeface="Calibri"/>
                        </a:rPr>
                        <a:t>45,8x</a:t>
                      </a:r>
                    </a:p>
                  </a:txBody>
                  <a:tcPr>
                    <a:solidFill>
                      <a:srgbClr val="FFFFFF"/>
                    </a:solidFill>
                  </a:tcPr>
                </a:tc>
                <a:tc>
                  <a:txBody>
                    <a:bodyPr/>
                    <a:lstStyle/>
                    <a:p>
                      <a:pPr algn="ctr"/>
                      <a:r>
                        <a:rPr sz="800" b="0" i="0">
                          <a:solidFill>
                            <a:srgbClr val="0D0D0D"/>
                          </a:solidFill>
                          <a:latin typeface="Calibri"/>
                        </a:rPr>
                        <a:t>28,3x</a:t>
                      </a:r>
                    </a:p>
                  </a:txBody>
                  <a:tcPr>
                    <a:solidFill>
                      <a:srgbClr val="FFFFFF"/>
                    </a:solidFill>
                  </a:tcPr>
                </a:tc>
                <a:tc>
                  <a:txBody>
                    <a:bodyPr/>
                    <a:lstStyle/>
                    <a:p>
                      <a:pPr algn="ctr"/>
                      <a:r>
                        <a:rPr sz="800" b="0" i="0">
                          <a:solidFill>
                            <a:srgbClr val="0D0D0D"/>
                          </a:solidFill>
                          <a:latin typeface="Calibri"/>
                        </a:rPr>
                        <a:t>42,5x</a:t>
                      </a:r>
                    </a:p>
                  </a:txBody>
                  <a:tcPr>
                    <a:solidFill>
                      <a:srgbClr val="FFFFFF"/>
                    </a:solidFill>
                  </a:tcPr>
                </a:tc>
                <a:tc>
                  <a:txBody>
                    <a:bodyPr/>
                    <a:lstStyle/>
                    <a:p>
                      <a:pPr algn="ctr"/>
                      <a:r>
                        <a:rPr sz="800" b="0" i="0">
                          <a:solidFill>
                            <a:srgbClr val="0D0D0D"/>
                          </a:solidFill>
                          <a:latin typeface="Calibri"/>
                        </a:rPr>
                        <a:t>7630,0 %</a:t>
                      </a:r>
                    </a:p>
                  </a:txBody>
                  <a:tcPr>
                    <a:solidFill>
                      <a:srgbClr val="FFFFFF"/>
                    </a:solidFill>
                  </a:tcPr>
                </a:tc>
                <a:tc>
                  <a:txBody>
                    <a:bodyPr/>
                    <a:lstStyle/>
                    <a:p>
                      <a:pPr algn="ctr"/>
                      <a:r>
                        <a:rPr sz="800" b="0" i="0">
                          <a:solidFill>
                            <a:srgbClr val="0D0D0D"/>
                          </a:solidFill>
                          <a:latin typeface="Calibri"/>
                        </a:rPr>
                        <a:t>6870,0 %</a:t>
                      </a:r>
                    </a:p>
                  </a:txBody>
                  <a:tcPr>
                    <a:solidFill>
                      <a:srgbClr val="FFFFFF"/>
                    </a:solidFill>
                  </a:tcPr>
                </a:tc>
              </a:tr>
              <a:tr h="252006">
                <a:tc>
                  <a:txBody>
                    <a:bodyPr/>
                    <a:lstStyle/>
                    <a:p>
                      <a:pPr algn="l"/>
                      <a:r>
                        <a:rPr sz="800" b="1" i="0">
                          <a:solidFill>
                            <a:srgbClr val="0D0D0D"/>
                          </a:solidFill>
                          <a:latin typeface="Calibri"/>
                        </a:rPr>
                        <a:t>Médiane peers</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21,5x</a:t>
                      </a:r>
                    </a:p>
                  </a:txBody>
                  <a:tcPr>
                    <a:solidFill>
                      <a:srgbClr val="F7F8FA"/>
                    </a:solidFill>
                  </a:tcPr>
                </a:tc>
                <a:tc>
                  <a:txBody>
                    <a:bodyPr/>
                    <a:lstStyle/>
                    <a:p>
                      <a:pPr algn="ctr"/>
                      <a:r>
                        <a:rPr sz="800" b="1" i="0">
                          <a:solidFill>
                            <a:srgbClr val="0D0D0D"/>
                          </a:solidFill>
                          <a:latin typeface="Calibri"/>
                        </a:rPr>
                        <a:t>10,5x</a:t>
                      </a:r>
                    </a:p>
                  </a:txBody>
                  <a:tcPr>
                    <a:solidFill>
                      <a:srgbClr val="F7F8FA"/>
                    </a:solidFill>
                  </a:tcPr>
                </a:tc>
                <a:tc>
                  <a:txBody>
                    <a:bodyPr/>
                    <a:lstStyle/>
                    <a:p>
                      <a:pPr algn="ctr"/>
                      <a:r>
                        <a:rPr sz="800" b="1" i="0">
                          <a:solidFill>
                            <a:srgbClr val="0D0D0D"/>
                          </a:solidFill>
                          <a:latin typeface="Calibri"/>
                        </a:rPr>
                        <a:t>32,1x</a:t>
                      </a:r>
                    </a:p>
                  </a:txBody>
                  <a:tcPr>
                    <a:solidFill>
                      <a:srgbClr val="F7F8FA"/>
                    </a:solidFill>
                  </a:tcPr>
                </a:tc>
                <a:tc>
                  <a:txBody>
                    <a:bodyPr/>
                    <a:lstStyle/>
                    <a:p>
                      <a:pPr algn="ctr"/>
                      <a:r>
                        <a:rPr sz="800" b="1" i="0">
                          <a:solidFill>
                            <a:srgbClr val="0D0D0D"/>
                          </a:solidFill>
                          <a:latin typeface="Calibri"/>
                        </a:rPr>
                        <a:t>6810,0 %</a:t>
                      </a:r>
                    </a:p>
                  </a:txBody>
                  <a:tcPr>
                    <a:solidFill>
                      <a:srgbClr val="F7F8FA"/>
                    </a:solidFill>
                  </a:tcPr>
                </a:tc>
                <a:tc>
                  <a:txBody>
                    <a:bodyPr/>
                    <a:lstStyle/>
                    <a:p>
                      <a:pPr algn="ctr"/>
                      <a:r>
                        <a:rPr sz="800" b="1" i="0">
                          <a:solidFill>
                            <a:srgbClr val="0D0D0D"/>
                          </a:solidFill>
                          <a:latin typeface="Calibri"/>
                        </a:rPr>
                        <a:t>5230,0 %</a:t>
                      </a:r>
                    </a:p>
                  </a:txBody>
                  <a:tcPr>
                    <a:solidFill>
                      <a:srgbClr val="F7F8FA"/>
                    </a:solidFill>
                  </a:tcPr>
                </a:tc>
              </a:tr>
            </a:tbl>
          </a:graphicData>
        </a:graphic>
      </p:graphicFrame>
      <p:sp>
        <p:nvSpPr>
          <p:cNvPr id="18" name="TextBox 17"/>
          <p:cNvSpPr txBox="1"/>
          <p:nvPr/>
        </p:nvSpPr>
        <p:spPr>
          <a:xfrm>
            <a:off x="367200" y="3128400"/>
            <a:ext cx="8413200" cy="1234800"/>
          </a:xfrm>
          <a:prstGeom prst="rect">
            <a:avLst/>
          </a:prstGeom>
          <a:noFill/>
        </p:spPr>
        <p:txBody>
          <a:bodyPr wrap="square">
            <a:spAutoFit/>
          </a:bodyPr>
          <a:lstStyle/>
          <a:p>
            <a:pPr algn="l"/>
            <a:r>
              <a:rPr sz="850" b="0" i="0">
                <a:solidFill>
                  <a:srgbClr val="555555"/>
                </a:solidFill>
                <a:latin typeface="Calibri"/>
              </a:rPr>
              <a:t>Apple se trade à 26.4x EV/EBITDA (vs mediane peers 20.1x, +31%) et 33.5x P/E (vs 24.8x, +35%). Cette prime est justifiée par des marges supérieures (GM 46.9% vs 38.5% peers) et une croissance des services &gt;2x supérieure. Une convergence vers la médiane impliquerait un downside de 15-20%, mais peu probable à court terme.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Football Field Chart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Synthèse des méthodes de valorisation  ·  USD par action</a:t>
            </a:r>
          </a:p>
        </p:txBody>
      </p:sp>
      <p:pic>
        <p:nvPicPr>
          <p:cNvPr id="17" name="Picture 16" descr="image.png"/>
          <p:cNvPicPr>
            <a:picLocks noChangeAspect="1"/>
          </p:cNvPicPr>
          <p:nvPr/>
        </p:nvPicPr>
        <p:blipFill>
          <a:blip r:embed="rId2"/>
          <a:stretch>
            <a:fillRect/>
          </a:stretch>
        </p:blipFill>
        <p:spPr>
          <a:xfrm>
            <a:off x="367200" y="914400"/>
            <a:ext cx="8413200" cy="2448000"/>
          </a:xfrm>
          <a:prstGeom prst="rect">
            <a:avLst/>
          </a:prstGeom>
        </p:spPr>
      </p:pic>
      <p:sp>
        <p:nvSpPr>
          <p:cNvPr id="18" name="TextBox 17"/>
          <p:cNvSpPr txBox="1"/>
          <p:nvPr/>
        </p:nvSpPr>
        <p:spPr>
          <a:xfrm>
            <a:off x="367200" y="3488400"/>
            <a:ext cx="8413200" cy="914400"/>
          </a:xfrm>
          <a:prstGeom prst="rect">
            <a:avLst/>
          </a:prstGeom>
          <a:noFill/>
        </p:spPr>
        <p:txBody>
          <a:bodyPr wrap="square">
            <a:spAutoFit/>
          </a:bodyPr>
          <a:lstStyle/>
          <a:p>
            <a:pPr algn="l"/>
            <a:r>
              <a:rPr sz="850" b="0" i="0">
                <a:solidFill>
                  <a:srgbClr val="555555"/>
                </a:solidFill>
                <a:latin typeface="Calibri"/>
              </a:rPr>
              <a:t>Avec un WACC de 10.3% et une TGR de 3.0%, le prix implicite DCF est de 290 USD (vs 255.92 USD). L'upside de 13% suggère une sous-valorisation structurelle liée à la qualité des actifs et à la génération de cash. Un catalyseur clé serait une accélération de la croissance des services (&gt;20%/an).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04</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Risques &amp; Stratégie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Avocat du diable &amp; conditions d'invalidation</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1B3A6B"/>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Risques &amp; Conditions d'Invalidation</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des risques structurels  ·  Thèse contraire</a:t>
            </a:r>
          </a:p>
        </p:txBody>
      </p:sp>
      <p:sp>
        <p:nvSpPr>
          <p:cNvPr id="17" name="Rectangle 16"/>
          <p:cNvSpPr/>
          <p:nvPr/>
        </p:nvSpPr>
        <p:spPr>
          <a:xfrm>
            <a:off x="367200" y="961200"/>
            <a:ext cx="2743200" cy="1918800"/>
          </a:xfrm>
          <a:prstGeom prst="rect">
            <a:avLst/>
          </a:prstGeom>
          <a:solidFill>
            <a:srgbClr val="FA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2743200" cy="5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200" y="1069200"/>
            <a:ext cx="2527200" cy="255600"/>
          </a:xfrm>
          <a:prstGeom prst="rect">
            <a:avLst/>
          </a:prstGeom>
          <a:noFill/>
        </p:spPr>
        <p:txBody>
          <a:bodyPr wrap="square">
            <a:spAutoFit/>
          </a:bodyPr>
          <a:lstStyle/>
          <a:p>
            <a:pPr algn="l"/>
            <a:r>
              <a:rPr sz="900" b="1" i="0">
                <a:solidFill>
                  <a:srgbClr val="A82020"/>
                </a:solidFill>
                <a:latin typeface="Calibri"/>
              </a:rPr>
              <a:t>Régulation App Store</a:t>
            </a:r>
          </a:p>
        </p:txBody>
      </p:sp>
      <p:sp>
        <p:nvSpPr>
          <p:cNvPr id="20" name="TextBox 19"/>
          <p:cNvSpPr txBox="1"/>
          <p:nvPr/>
        </p:nvSpPr>
        <p:spPr>
          <a:xfrm>
            <a:off x="475200" y="1436400"/>
            <a:ext cx="2527200" cy="1260000"/>
          </a:xfrm>
          <a:prstGeom prst="rect">
            <a:avLst/>
          </a:prstGeom>
          <a:noFill/>
        </p:spPr>
        <p:txBody>
          <a:bodyPr wrap="square">
            <a:spAutoFit/>
          </a:bodyPr>
          <a:lstStyle/>
          <a:p>
            <a:pPr algn="l"/>
            <a:r>
              <a:rPr sz="800" b="0" i="0">
                <a:solidFill>
                  <a:srgbClr val="555555"/>
                </a:solidFill>
                <a:latin typeface="Calibri"/>
              </a:rPr>
              <a:t>Les marges premium d'Apple (46.9% GM, 26.9% NM) reposent sur un écosystème captif, mais la pression réglementaire en UE et aux États-Unis menace les commissions de l'App Store, réduisant les revenus de 15 à 20% selon les analystes. Les coûts de R&amp;D (18.2 milliards en 2024) explosent pour maintenir l'innovation, érodant les marges à 24% d'ici 2026 selon les projections. Le P/E</a:t>
            </a:r>
          </a:p>
        </p:txBody>
      </p:sp>
      <p:sp>
        <p:nvSpPr>
          <p:cNvPr id="21" name="Rectangle 20"/>
          <p:cNvSpPr/>
          <p:nvPr/>
        </p:nvSpPr>
        <p:spPr>
          <a:xfrm>
            <a:off x="3229200" y="961200"/>
            <a:ext cx="2743200" cy="191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29200" y="961200"/>
            <a:ext cx="27432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37200" y="1069200"/>
            <a:ext cx="2527200" cy="255600"/>
          </a:xfrm>
          <a:prstGeom prst="rect">
            <a:avLst/>
          </a:prstGeom>
          <a:noFill/>
        </p:spPr>
        <p:txBody>
          <a:bodyPr wrap="square">
            <a:spAutoFit/>
          </a:bodyPr>
          <a:lstStyle/>
          <a:p>
            <a:pPr algn="l"/>
            <a:r>
              <a:rPr sz="900" b="1" i="0">
                <a:solidFill>
                  <a:srgbClr val="2E5FA3"/>
                </a:solidFill>
                <a:latin typeface="Calibri"/>
              </a:rPr>
              <a:t>Dépendance Chine</a:t>
            </a:r>
          </a:p>
        </p:txBody>
      </p:sp>
      <p:sp>
        <p:nvSpPr>
          <p:cNvPr id="24" name="TextBox 23"/>
          <p:cNvSpPr txBox="1"/>
          <p:nvPr/>
        </p:nvSpPr>
        <p:spPr>
          <a:xfrm>
            <a:off x="3337200" y="1436400"/>
            <a:ext cx="2527200" cy="1260000"/>
          </a:xfrm>
          <a:prstGeom prst="rect">
            <a:avLst/>
          </a:prstGeom>
          <a:noFill/>
        </p:spPr>
        <p:txBody>
          <a:bodyPr wrap="square">
            <a:spAutoFit/>
          </a:bodyPr>
          <a:lstStyle/>
          <a:p>
            <a:pPr algn="l"/>
            <a:r>
              <a:rPr sz="800" b="0" i="0">
                <a:solidFill>
                  <a:srgbClr val="555555"/>
                </a:solidFill>
                <a:latin typeface="Calibri"/>
              </a:rPr>
              <a:t>La trésorerie record de 110 milliards cache une dépendance extrême à la Chine, où 20% des ventes et 80% de la production sont concentrées, exposant Apple à des risques géopolitiques majeurs. Les tensions commerciales pourraient faire grimper les coûts de 12% et réduire les marges de 3 points, selon les scénarios de Goldman Sachs. Les investisseurs sous-estiment l'impact d'une</a:t>
            </a:r>
          </a:p>
        </p:txBody>
      </p:sp>
      <p:sp>
        <p:nvSpPr>
          <p:cNvPr id="25" name="Rectangle 24"/>
          <p:cNvSpPr/>
          <p:nvPr/>
        </p:nvSpPr>
        <p:spPr>
          <a:xfrm>
            <a:off x="6091200" y="961200"/>
            <a:ext cx="2743200" cy="19188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091200" y="961200"/>
            <a:ext cx="2743200" cy="5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99200" y="1069200"/>
            <a:ext cx="2527200" cy="255600"/>
          </a:xfrm>
          <a:prstGeom prst="rect">
            <a:avLst/>
          </a:prstGeom>
          <a:noFill/>
        </p:spPr>
        <p:txBody>
          <a:bodyPr wrap="square">
            <a:spAutoFit/>
          </a:bodyPr>
          <a:lstStyle/>
          <a:p>
            <a:pPr algn="l"/>
            <a:r>
              <a:rPr sz="900" b="1" i="0">
                <a:solidFill>
                  <a:srgbClr val="B06000"/>
                </a:solidFill>
                <a:latin typeface="Calibri"/>
              </a:rPr>
              <a:t>Rachats artificiels</a:t>
            </a:r>
          </a:p>
        </p:txBody>
      </p:sp>
      <p:sp>
        <p:nvSpPr>
          <p:cNvPr id="28" name="TextBox 27"/>
          <p:cNvSpPr txBox="1"/>
          <p:nvPr/>
        </p:nvSpPr>
        <p:spPr>
          <a:xfrm>
            <a:off x="6199200" y="1436400"/>
            <a:ext cx="2527200" cy="1260000"/>
          </a:xfrm>
          <a:prstGeom prst="rect">
            <a:avLst/>
          </a:prstGeom>
          <a:noFill/>
        </p:spPr>
        <p:txBody>
          <a:bodyPr wrap="square">
            <a:spAutoFit/>
          </a:bodyPr>
          <a:lstStyle/>
          <a:p>
            <a:pPr algn="l"/>
            <a:r>
              <a:rPr sz="800" b="0" i="0">
                <a:solidFill>
                  <a:srgbClr val="555555"/>
                </a:solidFill>
                <a:latin typeface="Calibri"/>
              </a:rPr>
              <a:t>Le ROE de 151.9% est artificiellement gonflé par des rachats d'actions massifs (90 milliards en 2023), masquant une rentabilité opérationnelle en déclin. Les revenus de services (20% du CA) stagnent à +4% en 2024, loin des +12% attendus, signalant un essoufflement de l'écosystème. L'Altman Z-score de 1.69 (seuil critique) suggère un risque accru de dégradation financière si la</a:t>
            </a:r>
          </a:p>
        </p:txBody>
      </p:sp>
      <p:sp>
        <p:nvSpPr>
          <p:cNvPr id="29" name="Rectangle 28"/>
          <p:cNvSpPr/>
          <p:nvPr/>
        </p:nvSpPr>
        <p:spPr>
          <a:xfrm>
            <a:off x="367200" y="29988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7200" y="3070800"/>
            <a:ext cx="8413200" cy="165600"/>
          </a:xfrm>
          <a:prstGeom prst="rect">
            <a:avLst/>
          </a:prstGeom>
          <a:noFill/>
        </p:spPr>
        <p:txBody>
          <a:bodyPr wrap="square">
            <a:spAutoFit/>
          </a:bodyPr>
          <a:lstStyle/>
          <a:p>
            <a:pPr algn="l"/>
            <a:r>
              <a:rPr sz="900" b="1" i="0">
                <a:solidFill>
                  <a:srgbClr val="1B3A6B"/>
                </a:solidFill>
                <a:latin typeface="Calibri"/>
              </a:rPr>
              <a:t>Conditions d'invalidation de la thèse</a:t>
            </a:r>
          </a:p>
        </p:txBody>
      </p:sp>
      <p:graphicFrame>
        <p:nvGraphicFramePr>
          <p:cNvPr id="31" name="Table 30"/>
          <p:cNvGraphicFramePr>
            <a:graphicFrameLocks noGrp="1"/>
          </p:cNvGraphicFramePr>
          <p:nvPr/>
        </p:nvGraphicFramePr>
        <p:xfrm>
          <a:off x="367200" y="3308400"/>
          <a:ext cx="8413200" cy="1098000"/>
        </p:xfrm>
        <a:graphic>
          <a:graphicData uri="http://schemas.openxmlformats.org/drawingml/2006/table">
            <a:tbl>
              <a:tblPr firstRow="1" bandRow="1">
                <a:tableStyleId>{5C22544A-7EE6-4342-B048-85BDC9FD1C3A}</a:tableStyleId>
              </a:tblPr>
              <a:tblGrid>
                <a:gridCol w="1261980"/>
                <a:gridCol w="5468580"/>
                <a:gridCol w="1682640"/>
              </a:tblGrid>
              <a:tr h="274500">
                <a:tc>
                  <a:txBody>
                    <a:bodyPr/>
                    <a:lstStyle/>
                    <a:p>
                      <a:pPr algn="l"/>
                      <a:r>
                        <a:rPr sz="800" b="1" i="0">
                          <a:solidFill>
                            <a:srgbClr val="FFFFFF"/>
                          </a:solidFill>
                          <a:latin typeface="Calibri"/>
                        </a:rPr>
                        <a:t>Axe</a:t>
                      </a:r>
                    </a:p>
                  </a:txBody>
                  <a:tcPr>
                    <a:solidFill>
                      <a:srgbClr val="1B3A6B"/>
                    </a:solidFill>
                  </a:tcPr>
                </a:tc>
                <a:tc>
                  <a:txBody>
                    <a:bodyPr/>
                    <a:lstStyle/>
                    <a:p>
                      <a:pPr algn="ctr"/>
                      <a:r>
                        <a:rPr sz="800" b="1" i="0">
                          <a:solidFill>
                            <a:srgbClr val="FFFFFF"/>
                          </a:solidFill>
                          <a:latin typeface="Calibri"/>
                        </a:rPr>
                        <a:t>Condition d'invalidation</a:t>
                      </a:r>
                    </a:p>
                  </a:txBody>
                  <a:tcPr>
                    <a:solidFill>
                      <a:srgbClr val="1B3A6B"/>
                    </a:solidFill>
                  </a:tcPr>
                </a:tc>
                <a:tc>
                  <a:txBody>
                    <a:bodyPr/>
                    <a:lstStyle/>
                    <a:p>
                      <a:pPr algn="ctr"/>
                      <a:r>
                        <a:rPr sz="800" b="1" i="0">
                          <a:solidFill>
                            <a:srgbClr val="FFFFFF"/>
                          </a:solidFill>
                          <a:latin typeface="Calibri"/>
                        </a:rPr>
                        <a:t>Horizon</a:t>
                      </a:r>
                    </a:p>
                  </a:txBody>
                  <a:tcPr>
                    <a:solidFill>
                      <a:srgbClr val="1B3A6B"/>
                    </a:solidFill>
                  </a:tcPr>
                </a:tc>
              </a:tr>
              <a:tr h="274500">
                <a:tc>
                  <a:txBody>
                    <a:bodyPr/>
                    <a:lstStyle/>
                    <a:p>
                      <a:pPr algn="l"/>
                      <a:r>
                        <a:rPr sz="800" b="1" i="0">
                          <a:solidFill>
                            <a:srgbClr val="1B3A6B"/>
                          </a:solidFill>
                          <a:latin typeface="Calibri"/>
                        </a:rPr>
                        <a:t>Macro</a:t>
                      </a:r>
                    </a:p>
                  </a:txBody>
                  <a:tcPr>
                    <a:solidFill>
                      <a:srgbClr val="FFFFFF"/>
                    </a:solidFill>
                  </a:tcPr>
                </a:tc>
                <a:tc>
                  <a:txBody>
                    <a:bodyPr/>
                    <a:lstStyle/>
                    <a:p>
                      <a:pPr algn="ctr"/>
                      <a:r>
                        <a:rPr sz="800" b="0" i="0">
                          <a:solidFill>
                            <a:srgbClr val="0D0D0D"/>
                          </a:solidFill>
                          <a:latin typeface="Calibri"/>
                        </a:rPr>
                        <a:t>Récession mondiale -2% PIB 2026</a:t>
                      </a:r>
                    </a:p>
                  </a:txBody>
                  <a:tcPr>
                    <a:solidFill>
                      <a:srgbClr val="FFFFFF"/>
                    </a:solidFill>
                  </a:tcPr>
                </a:tc>
                <a:tc>
                  <a:txBody>
                    <a:bodyPr/>
                    <a:lstStyle/>
                    <a:p>
                      <a:pPr algn="ctr"/>
                      <a:r>
                        <a:rPr sz="800" b="0" i="0">
                          <a:solidFill>
                            <a:srgbClr val="0D0D0D"/>
                          </a:solidFill>
                          <a:latin typeface="Calibri"/>
                        </a:rPr>
                        <a:t>6-12 mois</a:t>
                      </a:r>
                    </a:p>
                  </a:txBody>
                  <a:tcPr>
                    <a:solidFill>
                      <a:srgbClr val="FFFFFF"/>
                    </a:solidFill>
                  </a:tcPr>
                </a:tc>
              </a:tr>
              <a:tr h="274500">
                <a:tc>
                  <a:txBody>
                    <a:bodyPr/>
                    <a:lstStyle/>
                    <a:p>
                      <a:pPr algn="l"/>
                      <a:r>
                        <a:rPr sz="800" b="1" i="0">
                          <a:solidFill>
                            <a:srgbClr val="1B3A6B"/>
                          </a:solidFill>
                          <a:latin typeface="Calibri"/>
                        </a:rPr>
                        <a:t>Sectoriel</a:t>
                      </a:r>
                    </a:p>
                  </a:txBody>
                  <a:tcPr>
                    <a:solidFill>
                      <a:srgbClr val="F7F8FA"/>
                    </a:solidFill>
                  </a:tcPr>
                </a:tc>
                <a:tc>
                  <a:txBody>
                    <a:bodyPr/>
                    <a:lstStyle/>
                    <a:p>
                      <a:pPr algn="ctr"/>
                      <a:r>
                        <a:rPr sz="800" b="0" i="0">
                          <a:solidFill>
                            <a:srgbClr val="0D0D0D"/>
                          </a:solidFill>
                          <a:latin typeface="Calibri"/>
                        </a:rPr>
                        <a:t>Régulation stricte IA limitant l'intégration produits</a:t>
                      </a:r>
                    </a:p>
                  </a:txBody>
                  <a:tcPr>
                    <a:solidFill>
                      <a:srgbClr val="F7F8FA"/>
                    </a:solidFill>
                  </a:tcPr>
                </a:tc>
                <a:tc>
                  <a:txBody>
                    <a:bodyPr/>
                    <a:lstStyle/>
                    <a:p>
                      <a:pPr algn="ctr"/>
                      <a:r>
                        <a:rPr sz="800" b="0" i="0">
                          <a:solidFill>
                            <a:srgbClr val="0D0D0D"/>
                          </a:solidFill>
                          <a:latin typeface="Calibri"/>
                        </a:rPr>
                        <a:t>12-18 mois</a:t>
                      </a:r>
                    </a:p>
                  </a:txBody>
                  <a:tcPr>
                    <a:solidFill>
                      <a:srgbClr val="F7F8FA"/>
                    </a:solidFill>
                  </a:tcPr>
                </a:tc>
              </a:tr>
              <a:tr h="274500">
                <a:tc>
                  <a:txBody>
                    <a:bodyPr/>
                    <a:lstStyle/>
                    <a:p>
                      <a:pPr algn="l"/>
                      <a:r>
                        <a:rPr sz="800" b="1" i="0">
                          <a:solidFill>
                            <a:srgbClr val="1B3A6B"/>
                          </a:solidFill>
                          <a:latin typeface="Calibri"/>
                        </a:rPr>
                        <a:t>Société</a:t>
                      </a:r>
                    </a:p>
                  </a:txBody>
                  <a:tcPr>
                    <a:solidFill>
                      <a:srgbClr val="FFFFFF"/>
                    </a:solidFill>
                  </a:tcPr>
                </a:tc>
                <a:tc>
                  <a:txBody>
                    <a:bodyPr/>
                    <a:lstStyle/>
                    <a:p>
                      <a:pPr algn="ctr"/>
                      <a:r>
                        <a:rPr sz="800" b="0" i="0">
                          <a:solidFill>
                            <a:srgbClr val="0D0D0D"/>
                          </a:solidFill>
                          <a:latin typeface="Calibri"/>
                        </a:rPr>
                        <a:t>Échec Apple Intelligence - baisse adoption iPhone</a:t>
                      </a:r>
                    </a:p>
                  </a:txBody>
                  <a:tcPr>
                    <a:solidFill>
                      <a:srgbClr val="FFFFFF"/>
                    </a:solidFill>
                  </a:tcPr>
                </a:tc>
                <a:tc>
                  <a:txBody>
                    <a:bodyPr/>
                    <a:lstStyle/>
                    <a:p>
                      <a:pPr algn="ctr"/>
                      <a:r>
                        <a:rPr sz="800" b="0" i="0">
                          <a:solidFill>
                            <a:srgbClr val="0D0D0D"/>
                          </a:solidFill>
                          <a:latin typeface="Calibri"/>
                        </a:rPr>
                        <a:t>2-3 trim.</a:t>
                      </a:r>
                    </a:p>
                  </a:txBody>
                  <a:tcPr>
                    <a:solidFill>
                      <a:srgbClr val="FFFFFF"/>
                    </a:solidFill>
                  </a:tcPr>
                </a:tc>
              </a:tr>
            </a:tbl>
          </a:graphicData>
        </a:graphic>
      </p:graphicFrame>
      <p:sp>
        <p:nvSpPr>
          <p:cNvPr id="32" name="Rectangle 31"/>
          <p:cNvSpPr/>
          <p:nvPr/>
        </p:nvSpPr>
        <p:spPr>
          <a:xfrm>
            <a:off x="367200" y="442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4428000"/>
            <a:ext cx="43200" cy="18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46400" y="4438800"/>
            <a:ext cx="2696400" cy="158400"/>
          </a:xfrm>
          <a:prstGeom prst="rect">
            <a:avLst/>
          </a:prstGeom>
          <a:noFill/>
        </p:spPr>
        <p:txBody>
          <a:bodyPr wrap="square">
            <a:spAutoFit/>
          </a:bodyPr>
          <a:lstStyle/>
          <a:p>
            <a:pPr algn="l"/>
            <a:r>
              <a:rPr sz="700" b="0" i="0">
                <a:solidFill>
                  <a:srgbClr val="1B3A6B"/>
                </a:solidFill>
                <a:latin typeface="Calibri"/>
              </a:rPr>
              <a:t>Détresse : 49/100  Vigilance</a:t>
            </a:r>
          </a:p>
        </p:txBody>
      </p:sp>
      <p:sp>
        <p:nvSpPr>
          <p:cNvPr id="35" name="Rectangle 34"/>
          <p:cNvSpPr/>
          <p:nvPr/>
        </p:nvSpPr>
        <p:spPr>
          <a:xfrm>
            <a:off x="3243600" y="442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243600" y="4428000"/>
            <a:ext cx="43200" cy="18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322800" y="4438800"/>
            <a:ext cx="2696400" cy="158400"/>
          </a:xfrm>
          <a:prstGeom prst="rect">
            <a:avLst/>
          </a:prstGeom>
          <a:noFill/>
        </p:spPr>
        <p:txBody>
          <a:bodyPr wrap="square">
            <a:spAutoFit/>
          </a:bodyPr>
          <a:lstStyle/>
          <a:p>
            <a:pPr algn="l"/>
            <a:r>
              <a:rPr sz="700" b="0" i="0">
                <a:solidFill>
                  <a:srgbClr val="1B3A6B"/>
                </a:solidFill>
                <a:latin typeface="Calibri"/>
              </a:rPr>
              <a:t>M&amp;A : 42/100  Moderate</a:t>
            </a:r>
          </a:p>
        </p:txBody>
      </p:sp>
      <p:sp>
        <p:nvSpPr>
          <p:cNvPr id="38" name="Rectangle 37"/>
          <p:cNvSpPr/>
          <p:nvPr/>
        </p:nvSpPr>
        <p:spPr>
          <a:xfrm>
            <a:off x="6123600" y="442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23600" y="4428000"/>
            <a:ext cx="43200" cy="18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202800" y="4438800"/>
            <a:ext cx="2696400" cy="158400"/>
          </a:xfrm>
          <a:prstGeom prst="rect">
            <a:avLst/>
          </a:prstGeom>
          <a:noFill/>
        </p:spPr>
        <p:txBody>
          <a:bodyPr wrap="square">
            <a:spAutoFit/>
          </a:bodyPr>
          <a:lstStyle/>
          <a:p>
            <a:pPr algn="l"/>
            <a:r>
              <a:rPr sz="700" b="0" i="0">
                <a:solidFill>
                  <a:srgbClr val="1B3A6B"/>
                </a:solidFill>
                <a:latin typeface="Calibri"/>
              </a:rPr>
              <a:t>Régime : Volatile  Rec.6M:26%</a:t>
            </a:r>
          </a:p>
        </p:txBody>
      </p:sp>
      <p:sp>
        <p:nvSpPr>
          <p:cNvPr id="41" name="Rectangle 40"/>
          <p:cNvSpPr/>
          <p:nvPr/>
        </p:nvSpPr>
        <p:spPr>
          <a:xfrm>
            <a:off x="367200" y="4618800"/>
            <a:ext cx="2804400" cy="180000"/>
          </a:xfrm>
          <a:prstGeom prst="rect">
            <a:avLst/>
          </a:prstGeom>
          <a:solidFill>
            <a:srgbClr val="EB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367200" y="4618800"/>
            <a:ext cx="43200" cy="18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46400" y="4629600"/>
            <a:ext cx="2696400" cy="158400"/>
          </a:xfrm>
          <a:prstGeom prst="rect">
            <a:avLst/>
          </a:prstGeom>
          <a:noFill/>
        </p:spPr>
        <p:txBody>
          <a:bodyPr wrap="square">
            <a:spAutoFit/>
          </a:bodyPr>
          <a:lstStyle/>
          <a:p>
            <a:pPr algn="l"/>
            <a:r>
              <a:rPr sz="700" b="0" i="0">
                <a:solidFill>
                  <a:srgbClr val="1B3A6B"/>
                </a:solidFill>
                <a:latin typeface="Calibri"/>
              </a:rPr>
              <a:t>Earnings Qualité : Correcte (0.99x)</a:t>
            </a:r>
          </a:p>
        </p:txBody>
      </p:sp>
      <p:sp>
        <p:nvSpPr>
          <p:cNvPr id="44" name="Rectangle 43"/>
          <p:cNvSpPr/>
          <p:nvPr/>
        </p:nvSpPr>
        <p:spPr>
          <a:xfrm>
            <a:off x="3243600" y="4618800"/>
            <a:ext cx="2804400" cy="180000"/>
          </a:xfrm>
          <a:prstGeom prst="rect">
            <a:avLst/>
          </a:prstGeom>
          <a:solidFill>
            <a:srgbClr val="EB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3243600" y="4618800"/>
            <a:ext cx="43200" cy="18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322800" y="4629600"/>
            <a:ext cx="2696400" cy="158400"/>
          </a:xfrm>
          <a:prstGeom prst="rect">
            <a:avLst/>
          </a:prstGeom>
          <a:noFill/>
        </p:spPr>
        <p:txBody>
          <a:bodyPr wrap="square">
            <a:spAutoFit/>
          </a:bodyPr>
          <a:lstStyle/>
          <a:p>
            <a:pPr algn="l"/>
            <a:r>
              <a:rPr sz="700" b="0" i="0">
                <a:solidFill>
                  <a:srgbClr val="1B3A6B"/>
                </a:solidFill>
                <a:latin typeface="Calibri"/>
              </a:rPr>
              <a:t>Struct. Capital : Modérée (21% CT)</a:t>
            </a:r>
          </a:p>
        </p:txBody>
      </p:sp>
      <p:sp>
        <p:nvSpPr>
          <p:cNvPr id="47" name="Rectangle 46"/>
          <p:cNvSpPr/>
          <p:nvPr/>
        </p:nvSpPr>
        <p:spPr>
          <a:xfrm>
            <a:off x="6123600" y="4618800"/>
            <a:ext cx="2804400" cy="180000"/>
          </a:xfrm>
          <a:prstGeom prst="rect">
            <a:avLst/>
          </a:prstGeom>
          <a:solidFill>
            <a:srgbClr val="EB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123600" y="4618800"/>
            <a:ext cx="43200" cy="18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202800" y="4629600"/>
            <a:ext cx="2696400" cy="158400"/>
          </a:xfrm>
          <a:prstGeom prst="rect">
            <a:avLst/>
          </a:prstGeom>
          <a:noFill/>
        </p:spPr>
        <p:txBody>
          <a:bodyPr wrap="square">
            <a:spAutoFit/>
          </a:bodyPr>
          <a:lstStyle/>
          <a:p>
            <a:pPr algn="l"/>
            <a:r>
              <a:rPr sz="700" b="0" i="0">
                <a:solidFill>
                  <a:srgbClr val="1B3A6B"/>
                </a:solidFill>
                <a:latin typeface="Calibri"/>
              </a:rPr>
              <a:t>Dividende : Soutenable (1.2x)</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05</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Sentiment &amp; Annexes</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FinBERT, actionnariat &amp; historique de cours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Sentiment de Marché — FinBERT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sémantique  ·  30 articles  ·  7 derniers jours</a:t>
            </a:r>
          </a:p>
        </p:txBody>
      </p:sp>
      <p:sp>
        <p:nvSpPr>
          <p:cNvPr id="17" name="Rectangle 16"/>
          <p:cNvSpPr/>
          <p:nvPr/>
        </p:nvSpPr>
        <p:spPr>
          <a:xfrm>
            <a:off x="367200" y="961200"/>
            <a:ext cx="25596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422800" cy="396000"/>
          </a:xfrm>
          <a:prstGeom prst="rect">
            <a:avLst/>
          </a:prstGeom>
          <a:noFill/>
        </p:spPr>
        <p:txBody>
          <a:bodyPr wrap="square">
            <a:spAutoFit/>
          </a:bodyPr>
          <a:lstStyle/>
          <a:p>
            <a:pPr algn="l"/>
            <a:r>
              <a:rPr sz="1900" b="1" i="0">
                <a:solidFill>
                  <a:srgbClr val="1B3A6B"/>
                </a:solidFill>
                <a:latin typeface="Calibri"/>
              </a:rPr>
              <a:t>Neutre</a:t>
            </a:r>
          </a:p>
        </p:txBody>
      </p:sp>
      <p:sp>
        <p:nvSpPr>
          <p:cNvPr id="20" name="TextBox 19"/>
          <p:cNvSpPr txBox="1"/>
          <p:nvPr/>
        </p:nvSpPr>
        <p:spPr>
          <a:xfrm>
            <a:off x="457200" y="1411200"/>
            <a:ext cx="2422800" cy="205199"/>
          </a:xfrm>
          <a:prstGeom prst="rect">
            <a:avLst/>
          </a:prstGeom>
          <a:noFill/>
        </p:spPr>
        <p:txBody>
          <a:bodyPr wrap="square">
            <a:spAutoFit/>
          </a:bodyPr>
          <a:lstStyle/>
          <a:p>
            <a:pPr algn="l"/>
            <a:r>
              <a:rPr sz="800" b="0" i="0">
                <a:solidFill>
                  <a:srgbClr val="555555"/>
                </a:solidFill>
                <a:latin typeface="Calibri"/>
              </a:rPr>
              <a:t>Orientation globale</a:t>
            </a:r>
          </a:p>
        </p:txBody>
      </p:sp>
      <p:sp>
        <p:nvSpPr>
          <p:cNvPr id="21" name="TextBox 20"/>
          <p:cNvSpPr txBox="1"/>
          <p:nvPr/>
        </p:nvSpPr>
        <p:spPr>
          <a:xfrm>
            <a:off x="457200" y="1609200"/>
            <a:ext cx="2422800" cy="165600"/>
          </a:xfrm>
          <a:prstGeom prst="rect">
            <a:avLst/>
          </a:prstGeom>
          <a:noFill/>
        </p:spPr>
        <p:txBody>
          <a:bodyPr wrap="square">
            <a:spAutoFit/>
          </a:bodyPr>
          <a:lstStyle/>
          <a:p>
            <a:pPr algn="l"/>
            <a:r>
              <a:rPr sz="700" b="0" i="0">
                <a:solidFill>
                  <a:srgbClr val="888888"/>
                </a:solidFill>
                <a:latin typeface="Calibri"/>
              </a:rPr>
              <a:t>Score agrégé : -0,089</a:t>
            </a:r>
          </a:p>
        </p:txBody>
      </p:sp>
      <p:sp>
        <p:nvSpPr>
          <p:cNvPr id="22" name="Rectangle 21"/>
          <p:cNvSpPr/>
          <p:nvPr/>
        </p:nvSpPr>
        <p:spPr>
          <a:xfrm>
            <a:off x="3110400" y="961200"/>
            <a:ext cx="182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1104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0" y="1015200"/>
            <a:ext cx="1692000" cy="396000"/>
          </a:xfrm>
          <a:prstGeom prst="rect">
            <a:avLst/>
          </a:prstGeom>
          <a:noFill/>
        </p:spPr>
        <p:txBody>
          <a:bodyPr wrap="square">
            <a:spAutoFit/>
          </a:bodyPr>
          <a:lstStyle/>
          <a:p>
            <a:pPr algn="l"/>
            <a:r>
              <a:rPr sz="1900" b="1" i="0">
                <a:solidFill>
                  <a:srgbClr val="1B3A6B"/>
                </a:solidFill>
                <a:latin typeface="Calibri"/>
              </a:rPr>
              <a:t>30</a:t>
            </a:r>
          </a:p>
        </p:txBody>
      </p:sp>
      <p:sp>
        <p:nvSpPr>
          <p:cNvPr id="25" name="TextBox 24"/>
          <p:cNvSpPr txBox="1"/>
          <p:nvPr/>
        </p:nvSpPr>
        <p:spPr>
          <a:xfrm>
            <a:off x="3200400" y="1411200"/>
            <a:ext cx="1692000" cy="205199"/>
          </a:xfrm>
          <a:prstGeom prst="rect">
            <a:avLst/>
          </a:prstGeom>
          <a:noFill/>
        </p:spPr>
        <p:txBody>
          <a:bodyPr wrap="square">
            <a:spAutoFit/>
          </a:bodyPr>
          <a:lstStyle/>
          <a:p>
            <a:pPr algn="l"/>
            <a:r>
              <a:rPr sz="800" b="0" i="0">
                <a:solidFill>
                  <a:srgbClr val="555555"/>
                </a:solidFill>
                <a:latin typeface="Calibri"/>
              </a:rPr>
              <a:t>Articles analysés</a:t>
            </a:r>
          </a:p>
        </p:txBody>
      </p:sp>
      <p:sp>
        <p:nvSpPr>
          <p:cNvPr id="26" name="TextBox 25"/>
          <p:cNvSpPr txBox="1"/>
          <p:nvPr/>
        </p:nvSpPr>
        <p:spPr>
          <a:xfrm>
            <a:off x="3200400" y="1609200"/>
            <a:ext cx="1692000" cy="165600"/>
          </a:xfrm>
          <a:prstGeom prst="rect">
            <a:avLst/>
          </a:prstGeom>
          <a:noFill/>
        </p:spPr>
        <p:txBody>
          <a:bodyPr wrap="square">
            <a:spAutoFit/>
          </a:bodyPr>
          <a:lstStyle/>
          <a:p>
            <a:pPr algn="l"/>
            <a:r>
              <a:rPr sz="700" b="0" i="0">
                <a:solidFill>
                  <a:srgbClr val="888888"/>
                </a:solidFill>
                <a:latin typeface="Calibri"/>
              </a:rPr>
              <a:t>Fenêtre : 7 jours</a:t>
            </a:r>
          </a:p>
        </p:txBody>
      </p:sp>
      <p:sp>
        <p:nvSpPr>
          <p:cNvPr id="27" name="Rectangle 26"/>
          <p:cNvSpPr/>
          <p:nvPr/>
        </p:nvSpPr>
        <p:spPr>
          <a:xfrm>
            <a:off x="5119200" y="961200"/>
            <a:ext cx="16452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119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09200" y="1015200"/>
            <a:ext cx="1508400" cy="396000"/>
          </a:xfrm>
          <a:prstGeom prst="rect">
            <a:avLst/>
          </a:prstGeom>
          <a:noFill/>
        </p:spPr>
        <p:txBody>
          <a:bodyPr wrap="square">
            <a:spAutoFit/>
          </a:bodyPr>
          <a:lstStyle/>
          <a:p>
            <a:pPr algn="l"/>
            <a:r>
              <a:rPr sz="1900" b="1" i="0">
                <a:solidFill>
                  <a:srgbClr val="1B3A6B"/>
                </a:solidFill>
                <a:latin typeface="Calibri"/>
              </a:rPr>
              <a:t>49,4 %</a:t>
            </a:r>
          </a:p>
        </p:txBody>
      </p:sp>
      <p:sp>
        <p:nvSpPr>
          <p:cNvPr id="30" name="TextBox 29"/>
          <p:cNvSpPr txBox="1"/>
          <p:nvPr/>
        </p:nvSpPr>
        <p:spPr>
          <a:xfrm>
            <a:off x="5209200" y="1411200"/>
            <a:ext cx="1508400" cy="205199"/>
          </a:xfrm>
          <a:prstGeom prst="rect">
            <a:avLst/>
          </a:prstGeom>
          <a:noFill/>
        </p:spPr>
        <p:txBody>
          <a:bodyPr wrap="square">
            <a:spAutoFit/>
          </a:bodyPr>
          <a:lstStyle/>
          <a:p>
            <a:pPr algn="l"/>
            <a:r>
              <a:rPr sz="800" b="0" i="0">
                <a:solidFill>
                  <a:srgbClr val="555555"/>
                </a:solidFill>
                <a:latin typeface="Calibri"/>
              </a:rPr>
              <a:t>Confiance IA</a:t>
            </a:r>
          </a:p>
        </p:txBody>
      </p:sp>
      <p:sp>
        <p:nvSpPr>
          <p:cNvPr id="31" name="TextBox 30"/>
          <p:cNvSpPr txBox="1"/>
          <p:nvPr/>
        </p:nvSpPr>
        <p:spPr>
          <a:xfrm>
            <a:off x="5209200" y="1609200"/>
            <a:ext cx="1508400" cy="165600"/>
          </a:xfrm>
          <a:prstGeom prst="rect">
            <a:avLst/>
          </a:prstGeom>
          <a:noFill/>
        </p:spPr>
        <p:txBody>
          <a:bodyPr wrap="square">
            <a:spAutoFit/>
          </a:bodyPr>
          <a:lstStyle/>
          <a:p>
            <a:pPr algn="l"/>
            <a:r>
              <a:rPr sz="700" b="0" i="0">
                <a:solidFill>
                  <a:srgbClr val="888888"/>
                </a:solidFill>
                <a:latin typeface="Calibri"/>
              </a:rPr>
              <a:t>Modèle FinBERT</a:t>
            </a:r>
          </a:p>
        </p:txBody>
      </p:sp>
      <p:sp>
        <p:nvSpPr>
          <p:cNvPr id="32" name="Rectangle 31"/>
          <p:cNvSpPr/>
          <p:nvPr/>
        </p:nvSpPr>
        <p:spPr>
          <a:xfrm>
            <a:off x="6948000" y="961200"/>
            <a:ext cx="173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9480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38000" y="1015200"/>
            <a:ext cx="1602000" cy="396000"/>
          </a:xfrm>
          <a:prstGeom prst="rect">
            <a:avLst/>
          </a:prstGeom>
          <a:noFill/>
        </p:spPr>
        <p:txBody>
          <a:bodyPr wrap="square">
            <a:spAutoFit/>
          </a:bodyPr>
          <a:lstStyle/>
          <a:p>
            <a:pPr algn="l"/>
            <a:r>
              <a:rPr sz="1900" b="1" i="0">
                <a:solidFill>
                  <a:srgbClr val="1B3A6B"/>
                </a:solidFill>
                <a:latin typeface="Calibri"/>
              </a:rPr>
              <a:t>BUY</a:t>
            </a:r>
          </a:p>
        </p:txBody>
      </p:sp>
      <p:sp>
        <p:nvSpPr>
          <p:cNvPr id="35" name="TextBox 34"/>
          <p:cNvSpPr txBox="1"/>
          <p:nvPr/>
        </p:nvSpPr>
        <p:spPr>
          <a:xfrm>
            <a:off x="7038000" y="1411200"/>
            <a:ext cx="1602000" cy="205199"/>
          </a:xfrm>
          <a:prstGeom prst="rect">
            <a:avLst/>
          </a:prstGeom>
          <a:noFill/>
        </p:spPr>
        <p:txBody>
          <a:bodyPr wrap="square">
            <a:spAutoFit/>
          </a:bodyPr>
          <a:lstStyle/>
          <a:p>
            <a:pPr algn="l"/>
            <a:r>
              <a:rPr sz="800" b="0" i="0">
                <a:solidFill>
                  <a:srgbClr val="555555"/>
                </a:solidFill>
                <a:latin typeface="Calibri"/>
              </a:rPr>
              <a:t>Cohérence</a:t>
            </a:r>
          </a:p>
        </p:txBody>
      </p:sp>
      <p:sp>
        <p:nvSpPr>
          <p:cNvPr id="36" name="TextBox 35"/>
          <p:cNvSpPr txBox="1"/>
          <p:nvPr/>
        </p:nvSpPr>
        <p:spPr>
          <a:xfrm>
            <a:off x="7038000" y="1609200"/>
            <a:ext cx="1602000" cy="165600"/>
          </a:xfrm>
          <a:prstGeom prst="rect">
            <a:avLst/>
          </a:prstGeom>
          <a:noFill/>
        </p:spPr>
        <p:txBody>
          <a:bodyPr wrap="square">
            <a:spAutoFit/>
          </a:bodyPr>
          <a:lstStyle/>
          <a:p>
            <a:pPr algn="l"/>
            <a:r>
              <a:rPr sz="700" b="0" i="0">
                <a:solidFill>
                  <a:srgbClr val="888888"/>
                </a:solidFill>
                <a:latin typeface="Calibri"/>
              </a:rPr>
              <a:t>Aligné avec la thèse</a:t>
            </a:r>
          </a:p>
        </p:txBody>
      </p:sp>
      <p:sp>
        <p:nvSpPr>
          <p:cNvPr id="37" name="TextBox 36"/>
          <p:cNvSpPr txBox="1"/>
          <p:nvPr/>
        </p:nvSpPr>
        <p:spPr>
          <a:xfrm>
            <a:off x="367200" y="2084400"/>
            <a:ext cx="8413200" cy="165600"/>
          </a:xfrm>
          <a:prstGeom prst="rect">
            <a:avLst/>
          </a:prstGeom>
          <a:noFill/>
        </p:spPr>
        <p:txBody>
          <a:bodyPr wrap="square">
            <a:spAutoFit/>
          </a:bodyPr>
          <a:lstStyle/>
          <a:p>
            <a:pPr algn="l"/>
            <a:r>
              <a:rPr sz="900" b="1" i="0">
                <a:solidFill>
                  <a:srgbClr val="2E5FA3"/>
                </a:solidFill>
                <a:latin typeface="Calibri"/>
              </a:rPr>
              <a:t>Détail par orientation</a:t>
            </a:r>
          </a:p>
        </p:txBody>
      </p:sp>
      <p:graphicFrame>
        <p:nvGraphicFramePr>
          <p:cNvPr id="38" name="Table 37"/>
          <p:cNvGraphicFramePr>
            <a:graphicFrameLocks noGrp="1"/>
          </p:cNvGraphicFramePr>
          <p:nvPr/>
        </p:nvGraphicFramePr>
        <p:xfrm>
          <a:off x="367200" y="2332800"/>
          <a:ext cx="8413200" cy="1152000"/>
        </p:xfrm>
        <a:graphic>
          <a:graphicData uri="http://schemas.openxmlformats.org/drawingml/2006/table">
            <a:tbl>
              <a:tblPr firstRow="1" bandRow="1">
                <a:tableStyleId>{5C22544A-7EE6-4342-B048-85BDC9FD1C3A}</a:tableStyleId>
              </a:tblPr>
              <a:tblGrid>
                <a:gridCol w="1261980"/>
                <a:gridCol w="1261980"/>
                <a:gridCol w="1682640"/>
                <a:gridCol w="4206600"/>
              </a:tblGrid>
              <a:tr h="288000">
                <a:tc>
                  <a:txBody>
                    <a:bodyPr/>
                    <a:lstStyle/>
                    <a:p>
                      <a:pPr algn="l"/>
                      <a:r>
                        <a:rPr sz="800" b="1" i="0">
                          <a:solidFill>
                            <a:srgbClr val="FFFFFF"/>
                          </a:solidFill>
                          <a:latin typeface="Calibri"/>
                        </a:rPr>
                        <a:t>Orientation</a:t>
                      </a:r>
                    </a:p>
                  </a:txBody>
                  <a:tcPr>
                    <a:solidFill>
                      <a:srgbClr val="1B3A6B"/>
                    </a:solidFill>
                  </a:tcPr>
                </a:tc>
                <a:tc>
                  <a:txBody>
                    <a:bodyPr/>
                    <a:lstStyle/>
                    <a:p>
                      <a:pPr algn="ctr"/>
                      <a:r>
                        <a:rPr sz="800" b="1" i="0">
                          <a:solidFill>
                            <a:srgbClr val="FFFFFF"/>
                          </a:solidFill>
                          <a:latin typeface="Calibri"/>
                        </a:rPr>
                        <a:t>Articles</a:t>
                      </a:r>
                    </a:p>
                  </a:txBody>
                  <a:tcPr>
                    <a:solidFill>
                      <a:srgbClr val="1B3A6B"/>
                    </a:solidFill>
                  </a:tcPr>
                </a:tc>
                <a:tc>
                  <a:txBody>
                    <a:bodyPr/>
                    <a:lstStyle/>
                    <a:p>
                      <a:pPr algn="ctr"/>
                      <a:r>
                        <a:rPr sz="800" b="1" i="0">
                          <a:solidFill>
                            <a:srgbClr val="FFFFFF"/>
                          </a:solidFill>
                          <a:latin typeface="Calibri"/>
                        </a:rPr>
                        <a:t>Score moyen</a:t>
                      </a:r>
                    </a:p>
                  </a:txBody>
                  <a:tcPr>
                    <a:solidFill>
                      <a:srgbClr val="1B3A6B"/>
                    </a:solidFill>
                  </a:tcPr>
                </a:tc>
                <a:tc>
                  <a:txBody>
                    <a:bodyPr/>
                    <a:lstStyle/>
                    <a:p>
                      <a:pPr algn="ctr"/>
                      <a:r>
                        <a:rPr sz="800" b="1" i="0">
                          <a:solidFill>
                            <a:srgbClr val="FFFFFF"/>
                          </a:solidFill>
                          <a:latin typeface="Calibri"/>
                        </a:rPr>
                        <a:t>Thèmes principaux</a:t>
                      </a:r>
                    </a:p>
                  </a:txBody>
                  <a:tcPr>
                    <a:solidFill>
                      <a:srgbClr val="1B3A6B"/>
                    </a:solidFill>
                  </a:tcPr>
                </a:tc>
              </a:tr>
              <a:tr h="288000">
                <a:tc>
                  <a:txBody>
                    <a:bodyPr/>
                    <a:lstStyle/>
                    <a:p>
                      <a:pPr algn="l"/>
                      <a:r>
                        <a:rPr sz="800" b="1" i="0">
                          <a:solidFill>
                            <a:srgbClr val="1A7A4A"/>
                          </a:solidFill>
                          <a:latin typeface="Calibri"/>
                        </a:rPr>
                        <a:t>Positif</a:t>
                      </a:r>
                    </a:p>
                  </a:txBody>
                  <a:tcPr>
                    <a:solidFill>
                      <a:srgbClr val="EAF4EF"/>
                    </a:solidFill>
                  </a:tcPr>
                </a:tc>
                <a:tc>
                  <a:txBody>
                    <a:bodyPr/>
                    <a:lstStyle/>
                    <a:p>
                      <a:pPr algn="ctr"/>
                      <a:r>
                        <a:rPr sz="800" b="1" i="0">
                          <a:solidFill>
                            <a:srgbClr val="1A7A4A"/>
                          </a:solidFill>
                          <a:latin typeface="Calibri"/>
                        </a:rPr>
                        <a:t>5</a:t>
                      </a:r>
                    </a:p>
                  </a:txBody>
                  <a:tcPr>
                    <a:solidFill>
                      <a:srgbClr val="EAF4EF"/>
                    </a:solidFill>
                  </a:tcPr>
                </a:tc>
                <a:tc>
                  <a:txBody>
                    <a:bodyPr/>
                    <a:lstStyle/>
                    <a:p>
                      <a:pPr algn="ctr"/>
                      <a:r>
                        <a:rPr sz="800" b="0" i="0">
                          <a:solidFill>
                            <a:srgbClr val="0D0D0D"/>
                          </a:solidFill>
                          <a:latin typeface="Calibri"/>
                        </a:rPr>
                        <a:t>+0,208</a:t>
                      </a:r>
                    </a:p>
                  </a:txBody>
                  <a:tcPr>
                    <a:solidFill>
                      <a:srgbClr val="EAF4EF"/>
                    </a:solidFill>
                  </a:tcPr>
                </a:tc>
                <a:tc>
                  <a:txBody>
                    <a:bodyPr/>
                    <a:lstStyle/>
                    <a:p>
                      <a:pPr algn="ctr"/>
                      <a:r>
                        <a:rPr sz="800" b="0" i="0">
                          <a:solidFill>
                            <a:srgbClr val="0D0D0D"/>
                          </a:solidFill>
                          <a:latin typeface="Calibri"/>
                        </a:rPr>
                        <a:t>Croissance services +15%/an d'ici 2027 via expansion App Store et Apple Pay | +1.8M abonnés nets/mois en 2025 | Horizon 2026-2027</a:t>
                      </a:r>
                    </a:p>
                  </a:txBody>
                  <a:tcPr>
                    <a:solidFill>
                      <a:srgbClr val="EAF4EF"/>
                    </a:solidFill>
                  </a:tcPr>
                </a:tc>
              </a:tr>
              <a:tr h="288000">
                <a:tc>
                  <a:txBody>
                    <a:bodyPr/>
                    <a:lstStyle/>
                    <a:p>
                      <a:pPr algn="l"/>
                      <a:r>
                        <a:rPr sz="800" b="1" i="0">
                          <a:solidFill>
                            <a:srgbClr val="555555"/>
                          </a:solidFill>
                          <a:latin typeface="Calibri"/>
                        </a:rPr>
                        <a:t>Neutre</a:t>
                      </a:r>
                    </a:p>
                  </a:txBody>
                  <a:tcPr>
                    <a:solidFill>
                      <a:srgbClr val="FFFFFF"/>
                    </a:solidFill>
                  </a:tcPr>
                </a:tc>
                <a:tc>
                  <a:txBody>
                    <a:bodyPr/>
                    <a:lstStyle/>
                    <a:p>
                      <a:pPr algn="ctr"/>
                      <a:r>
                        <a:rPr sz="800" b="1" i="0">
                          <a:solidFill>
                            <a:srgbClr val="555555"/>
                          </a:solidFill>
                          <a:latin typeface="Calibri"/>
                        </a:rPr>
                        <a:t>16</a:t>
                      </a:r>
                    </a:p>
                  </a:txBody>
                  <a:tcPr>
                    <a:solidFill>
                      <a:srgbClr val="FFFFFF"/>
                    </a:solidFill>
                  </a:tcPr>
                </a:tc>
                <a:tc>
                  <a:txBody>
                    <a:bodyPr/>
                    <a:lstStyle/>
                    <a:p>
                      <a:pPr algn="ctr"/>
                      <a:r>
                        <a:rPr sz="800" b="0" i="0">
                          <a:solidFill>
                            <a:srgbClr val="0D0D0D"/>
                          </a:solidFill>
                          <a:latin typeface="Calibri"/>
                        </a:rPr>
                        <a:t>+0,494</a:t>
                      </a:r>
                    </a:p>
                  </a:txBody>
                  <a:tcPr>
                    <a:solidFill>
                      <a:srgbClr val="FFFFFF"/>
                    </a:solidFill>
                  </a:tcPr>
                </a:tc>
                <a:tc>
                  <a:txBody>
                    <a:bodyPr/>
                    <a:lstStyle/>
                    <a:p>
                      <a:pPr algn="ctr"/>
                      <a:r>
                        <a:rPr sz="800" b="0" i="0">
                          <a:solidFill>
                            <a:srgbClr val="0D0D0D"/>
                          </a:solidFill>
                          <a:latin typeface="Calibri"/>
                        </a:rPr>
                        <a:t>Actualité sectorielle générale</a:t>
                      </a:r>
                    </a:p>
                  </a:txBody>
                  <a:tcPr>
                    <a:solidFill>
                      <a:srgbClr val="FFFFFF"/>
                    </a:solidFill>
                  </a:tcPr>
                </a:tc>
              </a:tr>
              <a:tr h="288000">
                <a:tc>
                  <a:txBody>
                    <a:bodyPr/>
                    <a:lstStyle/>
                    <a:p>
                      <a:pPr algn="l"/>
                      <a:r>
                        <a:rPr sz="800" b="1" i="0">
                          <a:solidFill>
                            <a:srgbClr val="A82020"/>
                          </a:solidFill>
                          <a:latin typeface="Calibri"/>
                        </a:rPr>
                        <a:t>Négatif</a:t>
                      </a:r>
                    </a:p>
                  </a:txBody>
                  <a:tcPr>
                    <a:solidFill>
                      <a:srgbClr val="FAF0EF"/>
                    </a:solidFill>
                  </a:tcPr>
                </a:tc>
                <a:tc>
                  <a:txBody>
                    <a:bodyPr/>
                    <a:lstStyle/>
                    <a:p>
                      <a:pPr algn="ctr"/>
                      <a:r>
                        <a:rPr sz="800" b="1" i="0">
                          <a:solidFill>
                            <a:srgbClr val="A82020"/>
                          </a:solidFill>
                          <a:latin typeface="Calibri"/>
                        </a:rPr>
                        <a:t>9</a:t>
                      </a:r>
                    </a:p>
                  </a:txBody>
                  <a:tcPr>
                    <a:solidFill>
                      <a:srgbClr val="FAF0EF"/>
                    </a:solidFill>
                  </a:tcPr>
                </a:tc>
                <a:tc>
                  <a:txBody>
                    <a:bodyPr/>
                    <a:lstStyle/>
                    <a:p>
                      <a:pPr algn="ctr"/>
                      <a:r>
                        <a:rPr sz="800" b="0" i="0">
                          <a:solidFill>
                            <a:srgbClr val="0D0D0D"/>
                          </a:solidFill>
                          <a:latin typeface="Calibri"/>
                        </a:rPr>
                        <a:t>+0,297</a:t>
                      </a:r>
                    </a:p>
                  </a:txBody>
                  <a:tcPr>
                    <a:solidFill>
                      <a:srgbClr val="FAF0EF"/>
                    </a:solidFill>
                  </a:tcPr>
                </a:tc>
                <a:tc>
                  <a:txBody>
                    <a:bodyPr/>
                    <a:lstStyle/>
                    <a:p>
                      <a:pPr algn="ctr"/>
                      <a:r>
                        <a:rPr sz="800" b="0" i="0">
                          <a:solidFill>
                            <a:srgbClr val="0D0D0D"/>
                          </a:solidFill>
                          <a:latin typeface="Calibri"/>
                        </a:rPr>
                        <a:t>Régulation App Store -30% de revenus services d'ici 2028 | Impact potentiel de -8Mds$/an | Horizon 12-18 mois</a:t>
                      </a:r>
                    </a:p>
                  </a:txBody>
                  <a:tcPr>
                    <a:solidFill>
                      <a:srgbClr val="FAF0EF"/>
                    </a:solidFill>
                  </a:tcPr>
                </a:tc>
              </a:tr>
            </a:tbl>
          </a:graphicData>
        </a:graphic>
      </p:graphicFrame>
      <p:sp>
        <p:nvSpPr>
          <p:cNvPr id="39" name="TextBox 38"/>
          <p:cNvSpPr txBox="1"/>
          <p:nvPr/>
        </p:nvSpPr>
        <p:spPr>
          <a:xfrm>
            <a:off x="367200" y="4140000"/>
            <a:ext cx="8413200" cy="914400"/>
          </a:xfrm>
          <a:prstGeom prst="rect">
            <a:avLst/>
          </a:prstGeom>
          <a:noFill/>
        </p:spPr>
        <p:txBody>
          <a:bodyPr wrap="square">
            <a:spAutoFit/>
          </a:bodyPr>
          <a:lstStyle/>
          <a:p>
            <a:pPr algn="l"/>
            <a:r>
              <a:rPr sz="850" b="0" i="0">
                <a:solidFill>
                  <a:srgbClr val="333333"/>
                </a:solidFill>
                <a:latin typeface="Calibri"/>
              </a:rPr>
              <a:t>La presse financière souligne des signaux mitigés pour Apple, avec des articles positifs sur son héritage historique et ses revenus passifs, mais aussi des craintes liées aux tensions commerciales et à la performance relative du S&amp;P 500 sans les géants technologiques.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Actionnariat &amp; Structure du Capital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Répartition de l'actionnariat  ·  Au 3 avril 2026</a:t>
            </a:r>
          </a:p>
        </p:txBody>
      </p:sp>
      <p:sp>
        <p:nvSpPr>
          <p:cNvPr id="17" name="TextBox 16"/>
          <p:cNvSpPr txBox="1"/>
          <p:nvPr/>
        </p:nvSpPr>
        <p:spPr>
          <a:xfrm>
            <a:off x="367200" y="748800"/>
            <a:ext cx="5029200" cy="201600"/>
          </a:xfrm>
          <a:prstGeom prst="rect">
            <a:avLst/>
          </a:prstGeom>
          <a:noFill/>
        </p:spPr>
        <p:txBody>
          <a:bodyPr wrap="square">
            <a:spAutoFit/>
          </a:bodyPr>
          <a:lstStyle/>
          <a:p>
            <a:pPr algn="l"/>
            <a:r>
              <a:rPr sz="900" b="1" i="0">
                <a:solidFill>
                  <a:srgbClr val="2E5FA3"/>
                </a:solidFill>
                <a:latin typeface="Calibri"/>
              </a:rPr>
              <a:t>Top actionnaires</a:t>
            </a:r>
          </a:p>
        </p:txBody>
      </p:sp>
      <p:graphicFrame>
        <p:nvGraphicFramePr>
          <p:cNvPr id="18" name="Table 17"/>
          <p:cNvGraphicFramePr>
            <a:graphicFrameLocks noGrp="1"/>
          </p:cNvGraphicFramePr>
          <p:nvPr/>
        </p:nvGraphicFramePr>
        <p:xfrm>
          <a:off x="367200" y="968400"/>
          <a:ext cx="5302800" cy="2232000"/>
        </p:xfrm>
        <a:graphic>
          <a:graphicData uri="http://schemas.openxmlformats.org/drawingml/2006/table">
            <a:tbl>
              <a:tblPr firstRow="1" bandRow="1">
                <a:tableStyleId>{5C22544A-7EE6-4342-B048-85BDC9FD1C3A}</a:tableStyleId>
              </a:tblPr>
              <a:tblGrid>
                <a:gridCol w="2015064"/>
                <a:gridCol w="1378728"/>
                <a:gridCol w="1060560"/>
                <a:gridCol w="848448"/>
              </a:tblGrid>
              <a:tr h="223200">
                <a:tc>
                  <a:txBody>
                    <a:bodyPr/>
                    <a:lstStyle/>
                    <a:p>
                      <a:pPr algn="l"/>
                      <a:r>
                        <a:rPr sz="800" b="1" i="0">
                          <a:solidFill>
                            <a:srgbClr val="FFFFFF"/>
                          </a:solidFill>
                          <a:latin typeface="Calibri"/>
                        </a:rPr>
                        <a:t>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Type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Détention %</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Style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Apple (Insiders)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Insiders &amp; dirigeants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B06000"/>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Vanguard Group Inc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9.7 %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Blackrock Inc.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7.9 %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State Street Corporation</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Geode Capital Management, LLC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FMR, LLC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Morgan Stanley</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Berkshire Hathaway, Inc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Retail &amp; 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69.1 %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555555"/>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9" name="TextBox 18"/>
          <p:cNvSpPr txBox="1"/>
          <p:nvPr/>
        </p:nvSpPr>
        <p:spPr>
          <a:xfrm>
            <a:off x="5760000" y="748800"/>
            <a:ext cx="3016800" cy="201600"/>
          </a:xfrm>
          <a:prstGeom prst="rect">
            <a:avLst/>
          </a:prstGeom>
          <a:noFill/>
        </p:spPr>
        <p:txBody>
          <a:bodyPr wrap="square">
            <a:spAutoFit/>
          </a:bodyPr>
          <a:lstStyle/>
          <a:p>
            <a:pPr algn="l"/>
            <a:r>
              <a:rPr sz="900" b="1" i="0">
                <a:solidFill>
                  <a:srgbClr val="2E5FA3"/>
                </a:solidFill>
                <a:latin typeface="Calibri"/>
              </a:rPr>
              <a:t>Répartition par type</a:t>
            </a:r>
          </a:p>
        </p:txBody>
      </p:sp>
      <p:graphicFrame>
        <p:nvGraphicFramePr>
          <p:cNvPr id="20" name="Table 19"/>
          <p:cNvGraphicFramePr>
            <a:graphicFrameLocks noGrp="1"/>
          </p:cNvGraphicFramePr>
          <p:nvPr/>
        </p:nvGraphicFramePr>
        <p:xfrm>
          <a:off x="5760000" y="968400"/>
          <a:ext cx="3016800" cy="1134000"/>
        </p:xfrm>
        <a:graphic>
          <a:graphicData uri="http://schemas.openxmlformats.org/drawingml/2006/table">
            <a:tbl>
              <a:tblPr firstRow="1" bandRow="1">
                <a:tableStyleId>{5C22544A-7EE6-4342-B048-85BDC9FD1C3A}</a:tableStyleId>
              </a:tblPr>
              <a:tblGrid>
                <a:gridCol w="1810080"/>
                <a:gridCol w="1206720"/>
              </a:tblGrid>
              <a:tr h="226800">
                <a:tc>
                  <a:txBody>
                    <a:bodyPr/>
                    <a:lstStyle/>
                    <a:p>
                      <a:pPr algn="l"/>
                      <a:r>
                        <a:rPr sz="800" b="1" i="0">
                          <a:solidFill>
                            <a:srgbClr val="FFFFFF"/>
                          </a:solidFill>
                          <a:latin typeface="Calibri"/>
                        </a:rPr>
                        <a:t>Type d'actionnaire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Part estimée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passif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13.8 %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Retail &amp; autres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69.1 %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1" name="TextBox 20"/>
          <p:cNvSpPr txBox="1"/>
          <p:nvPr/>
        </p:nvSpPr>
        <p:spPr>
          <a:xfrm>
            <a:off x="367200" y="3326400"/>
            <a:ext cx="8413200" cy="1004400"/>
          </a:xfrm>
          <a:prstGeom prst="rect">
            <a:avLst/>
          </a:prstGeom>
          <a:noFill/>
        </p:spPr>
        <p:txBody>
          <a:bodyPr wrap="square">
            <a:spAutoFit/>
          </a:bodyPr>
          <a:lstStyle/>
          <a:p>
            <a:pPr algn="l"/>
            <a:r>
              <a:rPr sz="850" b="0" i="0">
                <a:solidFill>
                  <a:srgbClr val="555555"/>
                </a:solidFill>
                <a:latin typeface="Calibri"/>
              </a:rPr>
              <a:t>Apple se négocie à 26.4x EV/EBITDA (premium de 30% vs mediane peers). Le P/E à 33.5x reflète une prime de croissance justifiée par la qualité des actifs.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Historique de Cours — 52 Semaines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AAPL  ·  USD  ·  Au 3 avril 2026</a:t>
            </a:r>
          </a:p>
        </p:txBody>
      </p:sp>
      <p:sp>
        <p:nvSpPr>
          <p:cNvPr id="17" name="Rectangle 16"/>
          <p:cNvSpPr/>
          <p:nvPr/>
        </p:nvSpPr>
        <p:spPr>
          <a:xfrm>
            <a:off x="3672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1782000" cy="396000"/>
          </a:xfrm>
          <a:prstGeom prst="rect">
            <a:avLst/>
          </a:prstGeom>
          <a:noFill/>
        </p:spPr>
        <p:txBody>
          <a:bodyPr wrap="square">
            <a:spAutoFit/>
          </a:bodyPr>
          <a:lstStyle/>
          <a:p>
            <a:pPr algn="l"/>
            <a:r>
              <a:rPr sz="1900" b="1" i="0">
                <a:solidFill>
                  <a:srgbClr val="1B3A6B"/>
                </a:solidFill>
                <a:latin typeface="Calibri"/>
              </a:rPr>
              <a:t>255,92 $</a:t>
            </a:r>
          </a:p>
        </p:txBody>
      </p:sp>
      <p:sp>
        <p:nvSpPr>
          <p:cNvPr id="20" name="TextBox 19"/>
          <p:cNvSpPr txBox="1"/>
          <p:nvPr/>
        </p:nvSpPr>
        <p:spPr>
          <a:xfrm>
            <a:off x="457200" y="1411200"/>
            <a:ext cx="17820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21" name="Rectangle 20"/>
          <p:cNvSpPr/>
          <p:nvPr/>
        </p:nvSpPr>
        <p:spPr>
          <a:xfrm>
            <a:off x="24228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4228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12800" y="1015200"/>
            <a:ext cx="1782000" cy="396000"/>
          </a:xfrm>
          <a:prstGeom prst="rect">
            <a:avLst/>
          </a:prstGeom>
          <a:noFill/>
        </p:spPr>
        <p:txBody>
          <a:bodyPr wrap="square">
            <a:spAutoFit/>
          </a:bodyPr>
          <a:lstStyle/>
          <a:p>
            <a:pPr algn="l"/>
            <a:r>
              <a:rPr sz="1900" b="1" i="0">
                <a:solidFill>
                  <a:srgbClr val="1B3A6B"/>
                </a:solidFill>
                <a:latin typeface="Calibri"/>
              </a:rPr>
              <a:t>278,32 $</a:t>
            </a:r>
          </a:p>
        </p:txBody>
      </p:sp>
      <p:sp>
        <p:nvSpPr>
          <p:cNvPr id="24" name="TextBox 23"/>
          <p:cNvSpPr txBox="1"/>
          <p:nvPr/>
        </p:nvSpPr>
        <p:spPr>
          <a:xfrm>
            <a:off x="2512800" y="1411200"/>
            <a:ext cx="1782000" cy="205199"/>
          </a:xfrm>
          <a:prstGeom prst="rect">
            <a:avLst/>
          </a:prstGeom>
          <a:noFill/>
        </p:spPr>
        <p:txBody>
          <a:bodyPr wrap="square">
            <a:spAutoFit/>
          </a:bodyPr>
          <a:lstStyle/>
          <a:p>
            <a:pPr algn="l"/>
            <a:r>
              <a:rPr sz="800" b="0" i="0">
                <a:solidFill>
                  <a:srgbClr val="555555"/>
                </a:solidFill>
                <a:latin typeface="Calibri"/>
              </a:rPr>
              <a:t>Plus haut 52 sem.</a:t>
            </a:r>
          </a:p>
        </p:txBody>
      </p:sp>
      <p:sp>
        <p:nvSpPr>
          <p:cNvPr id="25" name="Rectangle 24"/>
          <p:cNvSpPr/>
          <p:nvPr/>
        </p:nvSpPr>
        <p:spPr>
          <a:xfrm>
            <a:off x="44820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20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0" y="1015200"/>
            <a:ext cx="1782000" cy="396000"/>
          </a:xfrm>
          <a:prstGeom prst="rect">
            <a:avLst/>
          </a:prstGeom>
          <a:noFill/>
        </p:spPr>
        <p:txBody>
          <a:bodyPr wrap="square">
            <a:spAutoFit/>
          </a:bodyPr>
          <a:lstStyle/>
          <a:p>
            <a:pPr algn="l"/>
            <a:r>
              <a:rPr sz="1900" b="1" i="0">
                <a:solidFill>
                  <a:srgbClr val="1B3A6B"/>
                </a:solidFill>
                <a:latin typeface="Calibri"/>
              </a:rPr>
              <a:t>199,98 $</a:t>
            </a:r>
          </a:p>
        </p:txBody>
      </p:sp>
      <p:sp>
        <p:nvSpPr>
          <p:cNvPr id="28" name="TextBox 27"/>
          <p:cNvSpPr txBox="1"/>
          <p:nvPr/>
        </p:nvSpPr>
        <p:spPr>
          <a:xfrm>
            <a:off x="4572000" y="1411200"/>
            <a:ext cx="1782000" cy="205199"/>
          </a:xfrm>
          <a:prstGeom prst="rect">
            <a:avLst/>
          </a:prstGeom>
          <a:noFill/>
        </p:spPr>
        <p:txBody>
          <a:bodyPr wrap="square">
            <a:spAutoFit/>
          </a:bodyPr>
          <a:lstStyle/>
          <a:p>
            <a:pPr algn="l"/>
            <a:r>
              <a:rPr sz="800" b="0" i="0">
                <a:solidFill>
                  <a:srgbClr val="555555"/>
                </a:solidFill>
                <a:latin typeface="Calibri"/>
              </a:rPr>
              <a:t>Plus bas 52 sem.</a:t>
            </a:r>
          </a:p>
        </p:txBody>
      </p:sp>
      <p:sp>
        <p:nvSpPr>
          <p:cNvPr id="29" name="Rectangle 28"/>
          <p:cNvSpPr/>
          <p:nvPr/>
        </p:nvSpPr>
        <p:spPr>
          <a:xfrm>
            <a:off x="6537600" y="961200"/>
            <a:ext cx="21960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5376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27600" y="1015200"/>
            <a:ext cx="2059200" cy="396000"/>
          </a:xfrm>
          <a:prstGeom prst="rect">
            <a:avLst/>
          </a:prstGeom>
          <a:noFill/>
        </p:spPr>
        <p:txBody>
          <a:bodyPr wrap="square">
            <a:spAutoFit/>
          </a:bodyPr>
          <a:lstStyle/>
          <a:p>
            <a:pPr algn="l"/>
            <a:r>
              <a:rPr sz="1900" b="1" i="0">
                <a:solidFill>
                  <a:srgbClr val="1B3A6B"/>
                </a:solidFill>
                <a:latin typeface="Calibri"/>
              </a:rPr>
              <a:t>+28,0 %</a:t>
            </a:r>
          </a:p>
        </p:txBody>
      </p:sp>
      <p:sp>
        <p:nvSpPr>
          <p:cNvPr id="32" name="TextBox 31"/>
          <p:cNvSpPr txBox="1"/>
          <p:nvPr/>
        </p:nvSpPr>
        <p:spPr>
          <a:xfrm>
            <a:off x="6627600" y="1411200"/>
            <a:ext cx="2059200" cy="205199"/>
          </a:xfrm>
          <a:prstGeom prst="rect">
            <a:avLst/>
          </a:prstGeom>
          <a:noFill/>
        </p:spPr>
        <p:txBody>
          <a:bodyPr wrap="square">
            <a:spAutoFit/>
          </a:bodyPr>
          <a:lstStyle/>
          <a:p>
            <a:pPr algn="l"/>
            <a:r>
              <a:rPr sz="800" b="0" i="0">
                <a:solidFill>
                  <a:srgbClr val="555555"/>
                </a:solidFill>
                <a:latin typeface="Calibri"/>
              </a:rPr>
              <a:t>Performance 52 sem.</a:t>
            </a:r>
          </a:p>
        </p:txBody>
      </p:sp>
      <p:sp>
        <p:nvSpPr>
          <p:cNvPr id="33" name="TextBox 32"/>
          <p:cNvSpPr txBox="1"/>
          <p:nvPr/>
        </p:nvSpPr>
        <p:spPr>
          <a:xfrm>
            <a:off x="367200" y="1846800"/>
            <a:ext cx="8413200" cy="165600"/>
          </a:xfrm>
          <a:prstGeom prst="rect">
            <a:avLst/>
          </a:prstGeom>
          <a:noFill/>
        </p:spPr>
        <p:txBody>
          <a:bodyPr wrap="square">
            <a:spAutoFit/>
          </a:bodyPr>
          <a:lstStyle/>
          <a:p>
            <a:pPr algn="l"/>
            <a:r>
              <a:rPr sz="900" b="1" i="0">
                <a:solidFill>
                  <a:srgbClr val="1B3A6B"/>
                </a:solidFill>
                <a:latin typeface="Calibri"/>
              </a:rPr>
              <a:t>Evolution du cours — 12 derniers mois</a:t>
            </a:r>
          </a:p>
        </p:txBody>
      </p:sp>
      <p:sp>
        <p:nvSpPr>
          <p:cNvPr id="34" name="Rectangle 33"/>
          <p:cNvSpPr/>
          <p:nvPr/>
        </p:nvSpPr>
        <p:spPr>
          <a:xfrm>
            <a:off x="367200" y="2102400"/>
            <a:ext cx="8413200" cy="1828800"/>
          </a:xfrm>
          <a:prstGeom prst="rect">
            <a:avLst/>
          </a:prstGeom>
          <a:solidFill>
            <a:srgbClr val="F7F8FA"/>
          </a:solidFill>
          <a:ln w="6350">
            <a:solidFill>
              <a:srgbClr val="D0D0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7200" y="2102400"/>
            <a:ext cx="8413200" cy="36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37200" y="3823200"/>
            <a:ext cx="498636" cy="72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01200" y="3902400"/>
            <a:ext cx="728100" cy="144000"/>
          </a:xfrm>
          <a:prstGeom prst="rect">
            <a:avLst/>
          </a:prstGeom>
          <a:noFill/>
        </p:spPr>
        <p:txBody>
          <a:bodyPr wrap="square">
            <a:spAutoFit/>
          </a:bodyPr>
          <a:lstStyle/>
          <a:p>
            <a:pPr algn="ctr"/>
            <a:r>
              <a:rPr sz="600" b="0" i="0">
                <a:solidFill>
                  <a:srgbClr val="555555"/>
                </a:solidFill>
                <a:latin typeface="Calibri"/>
              </a:rPr>
              <a:t>Mai</a:t>
            </a:r>
          </a:p>
        </p:txBody>
      </p:sp>
      <p:sp>
        <p:nvSpPr>
          <p:cNvPr id="38" name="Rectangle 37"/>
          <p:cNvSpPr/>
          <p:nvPr/>
        </p:nvSpPr>
        <p:spPr>
          <a:xfrm>
            <a:off x="1293300" y="3739196"/>
            <a:ext cx="498636" cy="156003"/>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257300" y="3902400"/>
            <a:ext cx="728100" cy="144000"/>
          </a:xfrm>
          <a:prstGeom prst="rect">
            <a:avLst/>
          </a:prstGeom>
          <a:noFill/>
        </p:spPr>
        <p:txBody>
          <a:bodyPr wrap="square">
            <a:spAutoFit/>
          </a:bodyPr>
          <a:lstStyle/>
          <a:p>
            <a:pPr algn="ctr"/>
            <a:r>
              <a:rPr sz="600" b="0" i="0">
                <a:solidFill>
                  <a:srgbClr val="555555"/>
                </a:solidFill>
                <a:latin typeface="Calibri"/>
              </a:rPr>
              <a:t>Juin</a:t>
            </a:r>
          </a:p>
        </p:txBody>
      </p:sp>
      <p:sp>
        <p:nvSpPr>
          <p:cNvPr id="40" name="Rectangle 39"/>
          <p:cNvSpPr/>
          <p:nvPr/>
        </p:nvSpPr>
        <p:spPr>
          <a:xfrm>
            <a:off x="1949400" y="3695265"/>
            <a:ext cx="498636" cy="199934"/>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913400" y="3902400"/>
            <a:ext cx="728100" cy="144000"/>
          </a:xfrm>
          <a:prstGeom prst="rect">
            <a:avLst/>
          </a:prstGeom>
          <a:noFill/>
        </p:spPr>
        <p:txBody>
          <a:bodyPr wrap="square">
            <a:spAutoFit/>
          </a:bodyPr>
          <a:lstStyle/>
          <a:p>
            <a:pPr algn="ctr"/>
            <a:r>
              <a:rPr sz="600" b="0" i="0">
                <a:solidFill>
                  <a:srgbClr val="555555"/>
                </a:solidFill>
                <a:latin typeface="Calibri"/>
              </a:rPr>
              <a:t>Juil</a:t>
            </a:r>
          </a:p>
        </p:txBody>
      </p:sp>
      <p:sp>
        <p:nvSpPr>
          <p:cNvPr id="42" name="Rectangle 41"/>
          <p:cNvSpPr/>
          <p:nvPr/>
        </p:nvSpPr>
        <p:spPr>
          <a:xfrm>
            <a:off x="2605500" y="3244920"/>
            <a:ext cx="498636" cy="65027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569500" y="3902400"/>
            <a:ext cx="728100" cy="144000"/>
          </a:xfrm>
          <a:prstGeom prst="rect">
            <a:avLst/>
          </a:prstGeom>
          <a:noFill/>
        </p:spPr>
        <p:txBody>
          <a:bodyPr wrap="square">
            <a:spAutoFit/>
          </a:bodyPr>
          <a:lstStyle/>
          <a:p>
            <a:pPr algn="ctr"/>
            <a:r>
              <a:rPr sz="600" b="0" i="0">
                <a:solidFill>
                  <a:srgbClr val="555555"/>
                </a:solidFill>
                <a:latin typeface="Calibri"/>
              </a:rPr>
              <a:t>Aoû</a:t>
            </a:r>
          </a:p>
        </p:txBody>
      </p:sp>
      <p:sp>
        <p:nvSpPr>
          <p:cNvPr id="44" name="Rectangle 43"/>
          <p:cNvSpPr/>
          <p:nvPr/>
        </p:nvSpPr>
        <p:spPr>
          <a:xfrm>
            <a:off x="3261600" y="2827478"/>
            <a:ext cx="498636" cy="1067721"/>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225600" y="3902400"/>
            <a:ext cx="728100" cy="144000"/>
          </a:xfrm>
          <a:prstGeom prst="rect">
            <a:avLst/>
          </a:prstGeom>
          <a:noFill/>
        </p:spPr>
        <p:txBody>
          <a:bodyPr wrap="square">
            <a:spAutoFit/>
          </a:bodyPr>
          <a:lstStyle/>
          <a:p>
            <a:pPr algn="ctr"/>
            <a:r>
              <a:rPr sz="600" b="0" i="0">
                <a:solidFill>
                  <a:srgbClr val="555555"/>
                </a:solidFill>
                <a:latin typeface="Calibri"/>
              </a:rPr>
              <a:t>Sep</a:t>
            </a:r>
          </a:p>
        </p:txBody>
      </p:sp>
      <p:sp>
        <p:nvSpPr>
          <p:cNvPr id="46" name="Rectangle 45"/>
          <p:cNvSpPr/>
          <p:nvPr/>
        </p:nvSpPr>
        <p:spPr>
          <a:xfrm>
            <a:off x="3917700" y="2538706"/>
            <a:ext cx="498636" cy="1356493"/>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881700" y="3902400"/>
            <a:ext cx="728100" cy="144000"/>
          </a:xfrm>
          <a:prstGeom prst="rect">
            <a:avLst/>
          </a:prstGeom>
          <a:noFill/>
        </p:spPr>
        <p:txBody>
          <a:bodyPr wrap="square">
            <a:spAutoFit/>
          </a:bodyPr>
          <a:lstStyle/>
          <a:p>
            <a:pPr algn="ctr"/>
            <a:r>
              <a:rPr sz="600" b="0" i="0">
                <a:solidFill>
                  <a:srgbClr val="555555"/>
                </a:solidFill>
                <a:latin typeface="Calibri"/>
              </a:rPr>
              <a:t>Oct</a:t>
            </a:r>
          </a:p>
        </p:txBody>
      </p:sp>
      <p:sp>
        <p:nvSpPr>
          <p:cNvPr id="48" name="Rectangle 47"/>
          <p:cNvSpPr/>
          <p:nvPr/>
        </p:nvSpPr>
        <p:spPr>
          <a:xfrm>
            <a:off x="4573800" y="2383200"/>
            <a:ext cx="498636" cy="151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537800" y="3902400"/>
            <a:ext cx="728100" cy="144000"/>
          </a:xfrm>
          <a:prstGeom prst="rect">
            <a:avLst/>
          </a:prstGeom>
          <a:noFill/>
        </p:spPr>
        <p:txBody>
          <a:bodyPr wrap="square">
            <a:spAutoFit/>
          </a:bodyPr>
          <a:lstStyle/>
          <a:p>
            <a:pPr algn="ctr"/>
            <a:r>
              <a:rPr sz="600" b="0" i="0">
                <a:solidFill>
                  <a:srgbClr val="555555"/>
                </a:solidFill>
                <a:latin typeface="Calibri"/>
              </a:rPr>
              <a:t>Nov</a:t>
            </a:r>
          </a:p>
        </p:txBody>
      </p:sp>
      <p:sp>
        <p:nvSpPr>
          <p:cNvPr id="50" name="Rectangle 49"/>
          <p:cNvSpPr/>
          <p:nvPr/>
        </p:nvSpPr>
        <p:spPr>
          <a:xfrm>
            <a:off x="5229900" y="2506539"/>
            <a:ext cx="498636" cy="138866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193900" y="3902400"/>
            <a:ext cx="728100" cy="144000"/>
          </a:xfrm>
          <a:prstGeom prst="rect">
            <a:avLst/>
          </a:prstGeom>
          <a:noFill/>
        </p:spPr>
        <p:txBody>
          <a:bodyPr wrap="square">
            <a:spAutoFit/>
          </a:bodyPr>
          <a:lstStyle/>
          <a:p>
            <a:pPr algn="ctr"/>
            <a:r>
              <a:rPr sz="600" b="0" i="0">
                <a:solidFill>
                  <a:srgbClr val="555555"/>
                </a:solidFill>
                <a:latin typeface="Calibri"/>
              </a:rPr>
              <a:t>Déc</a:t>
            </a:r>
          </a:p>
        </p:txBody>
      </p:sp>
      <p:sp>
        <p:nvSpPr>
          <p:cNvPr id="52" name="Rectangle 51"/>
          <p:cNvSpPr/>
          <p:nvPr/>
        </p:nvSpPr>
        <p:spPr>
          <a:xfrm>
            <a:off x="5886000" y="2733917"/>
            <a:ext cx="498636" cy="1161282"/>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850000" y="3902400"/>
            <a:ext cx="728100" cy="144000"/>
          </a:xfrm>
          <a:prstGeom prst="rect">
            <a:avLst/>
          </a:prstGeom>
          <a:noFill/>
        </p:spPr>
        <p:txBody>
          <a:bodyPr wrap="square">
            <a:spAutoFit/>
          </a:bodyPr>
          <a:lstStyle/>
          <a:p>
            <a:pPr algn="ctr"/>
            <a:r>
              <a:rPr sz="600" b="0" i="0">
                <a:solidFill>
                  <a:srgbClr val="555555"/>
                </a:solidFill>
                <a:latin typeface="Calibri"/>
              </a:rPr>
              <a:t>Jan</a:t>
            </a:r>
          </a:p>
        </p:txBody>
      </p:sp>
      <p:sp>
        <p:nvSpPr>
          <p:cNvPr id="54" name="Rectangle 53"/>
          <p:cNvSpPr/>
          <p:nvPr/>
        </p:nvSpPr>
        <p:spPr>
          <a:xfrm>
            <a:off x="6542100" y="2647708"/>
            <a:ext cx="498636" cy="1247491"/>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506099" y="3902400"/>
            <a:ext cx="728100" cy="144000"/>
          </a:xfrm>
          <a:prstGeom prst="rect">
            <a:avLst/>
          </a:prstGeom>
          <a:noFill/>
        </p:spPr>
        <p:txBody>
          <a:bodyPr wrap="square">
            <a:spAutoFit/>
          </a:bodyPr>
          <a:lstStyle/>
          <a:p>
            <a:pPr algn="ctr"/>
            <a:r>
              <a:rPr sz="600" b="0" i="0">
                <a:solidFill>
                  <a:srgbClr val="555555"/>
                </a:solidFill>
                <a:latin typeface="Calibri"/>
              </a:rPr>
              <a:t>Fév</a:t>
            </a:r>
          </a:p>
        </p:txBody>
      </p:sp>
      <p:sp>
        <p:nvSpPr>
          <p:cNvPr id="56" name="Rectangle 55"/>
          <p:cNvSpPr/>
          <p:nvPr/>
        </p:nvSpPr>
        <p:spPr>
          <a:xfrm>
            <a:off x="7198200" y="2834096"/>
            <a:ext cx="498636" cy="1061103"/>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162200" y="3902400"/>
            <a:ext cx="728100" cy="144000"/>
          </a:xfrm>
          <a:prstGeom prst="rect">
            <a:avLst/>
          </a:prstGeom>
          <a:noFill/>
        </p:spPr>
        <p:txBody>
          <a:bodyPr wrap="square">
            <a:spAutoFit/>
          </a:bodyPr>
          <a:lstStyle/>
          <a:p>
            <a:pPr algn="ctr"/>
            <a:r>
              <a:rPr sz="600" b="0" i="0">
                <a:solidFill>
                  <a:srgbClr val="555555"/>
                </a:solidFill>
                <a:latin typeface="Calibri"/>
              </a:rPr>
              <a:t>Mar</a:t>
            </a:r>
          </a:p>
        </p:txBody>
      </p:sp>
      <p:sp>
        <p:nvSpPr>
          <p:cNvPr id="58" name="Rectangle 57"/>
          <p:cNvSpPr/>
          <p:nvPr/>
        </p:nvSpPr>
        <p:spPr>
          <a:xfrm>
            <a:off x="7854300" y="2794943"/>
            <a:ext cx="498636" cy="1100256"/>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7818299" y="3902400"/>
            <a:ext cx="728100" cy="144000"/>
          </a:xfrm>
          <a:prstGeom prst="rect">
            <a:avLst/>
          </a:prstGeom>
          <a:noFill/>
        </p:spPr>
        <p:txBody>
          <a:bodyPr wrap="square">
            <a:spAutoFit/>
          </a:bodyPr>
          <a:lstStyle/>
          <a:p>
            <a:pPr algn="ctr"/>
            <a:r>
              <a:rPr sz="600" b="0" i="0">
                <a:solidFill>
                  <a:srgbClr val="555555"/>
                </a:solidFill>
                <a:latin typeface="Calibri"/>
              </a:rPr>
              <a:t>Avr</a:t>
            </a:r>
          </a:p>
        </p:txBody>
      </p:sp>
      <p:sp>
        <p:nvSpPr>
          <p:cNvPr id="60" name="Rectangle 59"/>
          <p:cNvSpPr/>
          <p:nvPr/>
        </p:nvSpPr>
        <p:spPr>
          <a:xfrm>
            <a:off x="601200" y="38232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331200" y="3751200"/>
            <a:ext cx="288000" cy="144000"/>
          </a:xfrm>
          <a:prstGeom prst="rect">
            <a:avLst/>
          </a:prstGeom>
          <a:noFill/>
        </p:spPr>
        <p:txBody>
          <a:bodyPr wrap="none">
            <a:spAutoFit/>
          </a:bodyPr>
          <a:lstStyle/>
          <a:p>
            <a:pPr algn="l"/>
            <a:r>
              <a:rPr sz="600" b="0" i="0">
                <a:solidFill>
                  <a:srgbClr val="555555"/>
                </a:solidFill>
                <a:latin typeface="Calibri"/>
              </a:rPr>
              <a:t>199</a:t>
            </a:r>
          </a:p>
        </p:txBody>
      </p:sp>
      <p:sp>
        <p:nvSpPr>
          <p:cNvPr id="62" name="Rectangle 61"/>
          <p:cNvSpPr/>
          <p:nvPr/>
        </p:nvSpPr>
        <p:spPr>
          <a:xfrm>
            <a:off x="601200" y="33480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331200" y="3276000"/>
            <a:ext cx="288000" cy="144000"/>
          </a:xfrm>
          <a:prstGeom prst="rect">
            <a:avLst/>
          </a:prstGeom>
          <a:noFill/>
        </p:spPr>
        <p:txBody>
          <a:bodyPr wrap="none">
            <a:spAutoFit/>
          </a:bodyPr>
          <a:lstStyle/>
          <a:p>
            <a:pPr algn="l"/>
            <a:r>
              <a:rPr sz="600" b="0" i="0">
                <a:solidFill>
                  <a:srgbClr val="555555"/>
                </a:solidFill>
                <a:latin typeface="Calibri"/>
              </a:rPr>
              <a:t>225</a:t>
            </a:r>
          </a:p>
        </p:txBody>
      </p:sp>
      <p:sp>
        <p:nvSpPr>
          <p:cNvPr id="64" name="Rectangle 63"/>
          <p:cNvSpPr/>
          <p:nvPr/>
        </p:nvSpPr>
        <p:spPr>
          <a:xfrm>
            <a:off x="601200" y="28584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331200" y="2786399"/>
            <a:ext cx="288000" cy="144000"/>
          </a:xfrm>
          <a:prstGeom prst="rect">
            <a:avLst/>
          </a:prstGeom>
          <a:noFill/>
        </p:spPr>
        <p:txBody>
          <a:bodyPr wrap="none">
            <a:spAutoFit/>
          </a:bodyPr>
          <a:lstStyle/>
          <a:p>
            <a:pPr algn="l"/>
            <a:r>
              <a:rPr sz="600" b="0" i="0">
                <a:solidFill>
                  <a:srgbClr val="555555"/>
                </a:solidFill>
                <a:latin typeface="Calibri"/>
              </a:rPr>
              <a:t>252</a:t>
            </a:r>
          </a:p>
        </p:txBody>
      </p:sp>
      <p:sp>
        <p:nvSpPr>
          <p:cNvPr id="66" name="Rectangle 65"/>
          <p:cNvSpPr/>
          <p:nvPr/>
        </p:nvSpPr>
        <p:spPr>
          <a:xfrm>
            <a:off x="601200" y="23832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331200" y="2311200"/>
            <a:ext cx="288000" cy="144000"/>
          </a:xfrm>
          <a:prstGeom prst="rect">
            <a:avLst/>
          </a:prstGeom>
          <a:noFill/>
        </p:spPr>
        <p:txBody>
          <a:bodyPr wrap="none">
            <a:spAutoFit/>
          </a:bodyPr>
          <a:lstStyle/>
          <a:p>
            <a:pPr algn="l"/>
            <a:r>
              <a:rPr sz="600" b="0" i="0">
                <a:solidFill>
                  <a:srgbClr val="555555"/>
                </a:solidFill>
                <a:latin typeface="Calibri"/>
              </a:rPr>
              <a:t>278</a:t>
            </a:r>
          </a:p>
        </p:txBody>
      </p:sp>
      <p:sp>
        <p:nvSpPr>
          <p:cNvPr id="68" name="TextBox 67"/>
          <p:cNvSpPr txBox="1"/>
          <p:nvPr/>
        </p:nvSpPr>
        <p:spPr>
          <a:xfrm>
            <a:off x="367200" y="4132800"/>
            <a:ext cx="8413200" cy="687600"/>
          </a:xfrm>
          <a:prstGeom prst="rect">
            <a:avLst/>
          </a:prstGeom>
          <a:noFill/>
        </p:spPr>
        <p:txBody>
          <a:bodyPr wrap="square">
            <a:spAutoFit/>
          </a:bodyPr>
          <a:lstStyle/>
          <a:p>
            <a:pPr algn="l"/>
            <a:r>
              <a:rPr sz="850" b="0" i="0">
                <a:solidFill>
                  <a:srgbClr val="555555"/>
                </a:solidFill>
                <a:latin typeface="Calibri"/>
              </a:rPr>
              <a:t>Apple affiche une croissance résiliente avec des marges robustes et une trésorerie abondante. La valorisation reste élevée mais justifiée par la qualité des actifs et l'innovation continue.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