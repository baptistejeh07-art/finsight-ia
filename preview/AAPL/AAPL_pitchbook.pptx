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Lst>
  <p:sldSz cx="9144000" cy="5144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371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5600"/>
            <a:ext cx="8229600" cy="255600"/>
          </a:xfrm>
          <a:prstGeom prst="rect">
            <a:avLst/>
          </a:prstGeom>
          <a:noFill/>
        </p:spPr>
        <p:txBody>
          <a:bodyPr wrap="square">
            <a:spAutoFit/>
          </a:bodyPr>
          <a:lstStyle/>
          <a:p>
            <a:pPr algn="ctr"/>
            <a:r>
              <a:rPr sz="1000" b="0" i="0">
                <a:solidFill>
                  <a:srgbClr val="8899BB"/>
                </a:solidFill>
                <a:latin typeface="Calibri"/>
              </a:rPr>
              <a:t>FinSight IA</a:t>
            </a:r>
          </a:p>
        </p:txBody>
      </p:sp>
      <p:sp>
        <p:nvSpPr>
          <p:cNvPr id="4" name="Rectangle 3"/>
          <p:cNvSpPr/>
          <p:nvPr/>
        </p:nvSpPr>
        <p:spPr>
          <a:xfrm>
            <a:off x="3978000" y="475200"/>
            <a:ext cx="1188000" cy="1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547200"/>
            <a:ext cx="8229600" cy="291600"/>
          </a:xfrm>
          <a:prstGeom prst="rect">
            <a:avLst/>
          </a:prstGeom>
          <a:noFill/>
        </p:spPr>
        <p:txBody>
          <a:bodyPr wrap="square">
            <a:spAutoFit/>
          </a:bodyPr>
          <a:lstStyle/>
          <a:p>
            <a:pPr algn="ctr"/>
            <a:r>
              <a:rPr sz="1100" b="0" i="0">
                <a:solidFill>
                  <a:srgbClr val="CCDDEE"/>
                </a:solidFill>
                <a:latin typeface="Calibri"/>
              </a:rPr>
              <a:t>Pitchbook  —  Analyse d'investissement</a:t>
            </a:r>
          </a:p>
        </p:txBody>
      </p:sp>
      <p:sp>
        <p:nvSpPr>
          <p:cNvPr id="6" name="TextBox 5"/>
          <p:cNvSpPr txBox="1"/>
          <p:nvPr/>
        </p:nvSpPr>
        <p:spPr>
          <a:xfrm>
            <a:off x="457200" y="1461599"/>
            <a:ext cx="8229600" cy="794232"/>
          </a:xfrm>
          <a:prstGeom prst="rect">
            <a:avLst/>
          </a:prstGeom>
          <a:noFill/>
        </p:spPr>
        <p:txBody>
          <a:bodyPr wrap="square">
            <a:spAutoFit/>
          </a:bodyPr>
          <a:lstStyle/>
          <a:p>
            <a:pPr algn="ctr"/>
            <a:r>
              <a:rPr sz="4000" b="1" i="0">
                <a:solidFill>
                  <a:srgbClr val="1B3A6B"/>
                </a:solidFill>
                <a:latin typeface="Calibri"/>
              </a:rPr>
              <a:t>Apple Inc.</a:t>
            </a:r>
          </a:p>
        </p:txBody>
      </p:sp>
      <p:sp>
        <p:nvSpPr>
          <p:cNvPr id="7" name="TextBox 6"/>
          <p:cNvSpPr txBox="1"/>
          <p:nvPr/>
        </p:nvSpPr>
        <p:spPr>
          <a:xfrm>
            <a:off x="457200" y="2345832"/>
            <a:ext cx="8229600" cy="255600"/>
          </a:xfrm>
          <a:prstGeom prst="rect">
            <a:avLst/>
          </a:prstGeom>
          <a:noFill/>
        </p:spPr>
        <p:txBody>
          <a:bodyPr wrap="square">
            <a:spAutoFit/>
          </a:bodyPr>
          <a:lstStyle/>
          <a:p>
            <a:pPr algn="ctr"/>
            <a:r>
              <a:rPr sz="1100" b="0" i="0">
                <a:solidFill>
                  <a:srgbClr val="888888"/>
                </a:solidFill>
                <a:latin typeface="Calibri"/>
              </a:rPr>
              <a:t>AAPL  ·  Technology</a:t>
            </a:r>
          </a:p>
        </p:txBody>
      </p:sp>
      <p:sp>
        <p:nvSpPr>
          <p:cNvPr id="8" name="Rectangle 7"/>
          <p:cNvSpPr/>
          <p:nvPr/>
        </p:nvSpPr>
        <p:spPr>
          <a:xfrm>
            <a:off x="2771999" y="2720232"/>
            <a:ext cx="3600000" cy="432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826000" y="2738232"/>
            <a:ext cx="3491999" cy="395999"/>
          </a:xfrm>
          <a:prstGeom prst="rect">
            <a:avLst/>
          </a:prstGeom>
          <a:noFill/>
        </p:spPr>
        <p:txBody>
          <a:bodyPr wrap="square">
            <a:spAutoFit/>
          </a:bodyPr>
          <a:lstStyle/>
          <a:p>
            <a:pPr algn="ctr"/>
            <a:r>
              <a:rPr sz="900" b="1" i="0">
                <a:solidFill>
                  <a:srgbClr val="FFFFFF"/>
                </a:solidFill>
                <a:latin typeface="Calibri"/>
              </a:rPr>
              <a:t>● HOLD  ·  Prix cible base : — $  ·  Upside : —</a:t>
            </a:r>
          </a:p>
        </p:txBody>
      </p:sp>
      <p:sp>
        <p:nvSpPr>
          <p:cNvPr id="10" name="Rectangle 9"/>
          <p:cNvSpPr/>
          <p:nvPr/>
        </p:nvSpPr>
        <p:spPr>
          <a:xfrm>
            <a:off x="367200" y="44640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7200" y="4554000"/>
            <a:ext cx="4114800" cy="201600"/>
          </a:xfrm>
          <a:prstGeom prst="rect">
            <a:avLst/>
          </a:prstGeom>
          <a:noFill/>
        </p:spPr>
        <p:txBody>
          <a:bodyPr wrap="square">
            <a:spAutoFit/>
          </a:bodyPr>
          <a:lstStyle/>
          <a:p>
            <a:pPr algn="l"/>
            <a:r>
              <a:rPr sz="800" b="0" i="0">
                <a:solidFill>
                  <a:srgbClr val="555555"/>
                </a:solidFill>
                <a:latin typeface="Calibri"/>
              </a:rPr>
              <a:t>Rapport confidentiel</a:t>
            </a:r>
          </a:p>
        </p:txBody>
      </p:sp>
      <p:sp>
        <p:nvSpPr>
          <p:cNvPr id="12" name="TextBox 11"/>
          <p:cNvSpPr txBox="1"/>
          <p:nvPr/>
        </p:nvSpPr>
        <p:spPr>
          <a:xfrm>
            <a:off x="4662000" y="4554000"/>
            <a:ext cx="4114800" cy="201600"/>
          </a:xfrm>
          <a:prstGeom prst="rect">
            <a:avLst/>
          </a:prstGeom>
          <a:noFill/>
        </p:spPr>
        <p:txBody>
          <a:bodyPr wrap="square">
            <a:spAutoFit/>
          </a:bodyPr>
          <a:lstStyle/>
          <a:p>
            <a:pPr algn="r"/>
            <a:r>
              <a:rPr sz="800" b="0" i="0">
                <a:solidFill>
                  <a:srgbClr val="555555"/>
                </a:solidFill>
                <a:latin typeface="Calibri"/>
              </a:rPr>
              <a:t>10 avril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Executive Summary</a:t>
            </a:r>
          </a:p>
        </p:txBody>
      </p:sp>
      <p:sp>
        <p:nvSpPr>
          <p:cNvPr id="6" name="Rectangle 5"/>
          <p:cNvSpPr/>
          <p:nvPr/>
        </p:nvSpPr>
        <p:spPr>
          <a:xfrm>
            <a:off x="367200" y="748800"/>
            <a:ext cx="8413200" cy="439200"/>
          </a:xfrm>
          <a:prstGeom prst="rect">
            <a:avLst/>
          </a:prstGeom>
          <a:solidFill>
            <a:srgbClr val="FDF6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748800"/>
            <a:ext cx="46800" cy="4392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766800"/>
            <a:ext cx="1098000" cy="403200"/>
          </a:xfrm>
          <a:prstGeom prst="rect">
            <a:avLst/>
          </a:prstGeom>
          <a:noFill/>
        </p:spPr>
        <p:txBody>
          <a:bodyPr wrap="square">
            <a:spAutoFit/>
          </a:bodyPr>
          <a:lstStyle/>
          <a:p>
            <a:pPr algn="l"/>
            <a:r>
              <a:rPr sz="1100" b="1" i="0">
                <a:solidFill>
                  <a:srgbClr val="B06000"/>
                </a:solidFill>
                <a:latin typeface="Calibri"/>
              </a:rPr>
              <a:t>● HOLD</a:t>
            </a:r>
          </a:p>
        </p:txBody>
      </p:sp>
      <p:sp>
        <p:nvSpPr>
          <p:cNvPr id="9" name="TextBox 8"/>
          <p:cNvSpPr txBox="1"/>
          <p:nvPr/>
        </p:nvSpPr>
        <p:spPr>
          <a:xfrm>
            <a:off x="1692000" y="766800"/>
            <a:ext cx="6948000" cy="403200"/>
          </a:xfrm>
          <a:prstGeom prst="rect">
            <a:avLst/>
          </a:prstGeom>
          <a:noFill/>
        </p:spPr>
        <p:txBody>
          <a:bodyPr wrap="square">
            <a:spAutoFit/>
          </a:bodyPr>
          <a:lstStyle/>
          <a:p>
            <a:pPr algn="l"/>
            <a:r>
              <a:rPr sz="900" b="0" i="0">
                <a:solidFill>
                  <a:srgbClr val="1B3A6B"/>
                </a:solidFill>
                <a:latin typeface="Calibri"/>
              </a:rPr>
              <a:t>Prix cible base : — $  ·  Upside : —  ·  Bear : — $ (—)  ·  Bull : — $ (—)</a:t>
            </a:r>
          </a:p>
        </p:txBody>
      </p:sp>
      <p:sp>
        <p:nvSpPr>
          <p:cNvPr id="10" name="Rectangle 9"/>
          <p:cNvSpPr/>
          <p:nvPr/>
        </p:nvSpPr>
        <p:spPr>
          <a:xfrm>
            <a:off x="367200" y="1353600"/>
            <a:ext cx="4161600" cy="255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7200" y="1353600"/>
            <a:ext cx="4161600" cy="255600"/>
          </a:xfrm>
          <a:prstGeom prst="rect">
            <a:avLst/>
          </a:prstGeom>
          <a:noFill/>
        </p:spPr>
        <p:txBody>
          <a:bodyPr wrap="square">
            <a:spAutoFit/>
          </a:bodyPr>
          <a:lstStyle/>
          <a:p>
            <a:pPr algn="l"/>
            <a:r>
              <a:rPr sz="900" b="1" i="0">
                <a:solidFill>
                  <a:srgbClr val="FFFFFF"/>
                </a:solidFill>
                <a:latin typeface="Calibri"/>
              </a:rPr>
              <a:t>THÈSE D'INVESTISSEMENT</a:t>
            </a:r>
          </a:p>
        </p:txBody>
      </p:sp>
      <p:sp>
        <p:nvSpPr>
          <p:cNvPr id="12" name="Rectangle 11"/>
          <p:cNvSpPr/>
          <p:nvPr/>
        </p:nvSpPr>
        <p:spPr>
          <a:xfrm>
            <a:off x="367200" y="16632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3999" y="1645200"/>
            <a:ext cx="3931200" cy="183600"/>
          </a:xfrm>
          <a:prstGeom prst="rect">
            <a:avLst/>
          </a:prstGeom>
          <a:noFill/>
        </p:spPr>
        <p:txBody>
          <a:bodyPr wrap="square">
            <a:spAutoFit/>
          </a:bodyPr>
          <a:lstStyle/>
          <a:p>
            <a:pPr algn="l"/>
            <a:r>
              <a:rPr sz="850" b="1" i="0">
                <a:solidFill>
                  <a:srgbClr val="1B3A6B"/>
                </a:solidFill>
                <a:latin typeface="Calibri"/>
              </a:rPr>
              <a:t>—</a:t>
            </a:r>
          </a:p>
        </p:txBody>
      </p:sp>
      <p:sp>
        <p:nvSpPr>
          <p:cNvPr id="14" name="TextBox 13"/>
          <p:cNvSpPr txBox="1"/>
          <p:nvPr/>
        </p:nvSpPr>
        <p:spPr>
          <a:xfrm>
            <a:off x="503999" y="1814400"/>
            <a:ext cx="3931200" cy="378000"/>
          </a:xfrm>
          <a:prstGeom prst="rect">
            <a:avLst/>
          </a:prstGeom>
          <a:noFill/>
        </p:spPr>
        <p:txBody>
          <a:bodyPr wrap="square">
            <a:spAutoFit/>
          </a:bodyPr>
          <a:lstStyle/>
          <a:p>
            <a:pPr algn="l"/>
            <a:r>
              <a:rPr sz="750" b="0" i="0">
                <a:solidFill>
                  <a:srgbClr val="333333"/>
                </a:solidFill>
                <a:latin typeface="Calibri"/>
              </a:rPr>
              <a:t>—</a:t>
            </a:r>
          </a:p>
        </p:txBody>
      </p:sp>
      <p:sp>
        <p:nvSpPr>
          <p:cNvPr id="15" name="Rectangle 14"/>
          <p:cNvSpPr/>
          <p:nvPr/>
        </p:nvSpPr>
        <p:spPr>
          <a:xfrm>
            <a:off x="367200" y="22140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3999" y="2196000"/>
            <a:ext cx="3931200" cy="183600"/>
          </a:xfrm>
          <a:prstGeom prst="rect">
            <a:avLst/>
          </a:prstGeom>
          <a:noFill/>
        </p:spPr>
        <p:txBody>
          <a:bodyPr wrap="square">
            <a:spAutoFit/>
          </a:bodyPr>
          <a:lstStyle/>
          <a:p>
            <a:pPr algn="l"/>
            <a:r>
              <a:rPr sz="850" b="1" i="0">
                <a:solidFill>
                  <a:srgbClr val="1B3A6B"/>
                </a:solidFill>
                <a:latin typeface="Calibri"/>
              </a:rPr>
              <a:t>—</a:t>
            </a:r>
          </a:p>
        </p:txBody>
      </p:sp>
      <p:sp>
        <p:nvSpPr>
          <p:cNvPr id="17" name="TextBox 16"/>
          <p:cNvSpPr txBox="1"/>
          <p:nvPr/>
        </p:nvSpPr>
        <p:spPr>
          <a:xfrm>
            <a:off x="503999" y="2365200"/>
            <a:ext cx="3931200" cy="378000"/>
          </a:xfrm>
          <a:prstGeom prst="rect">
            <a:avLst/>
          </a:prstGeom>
          <a:noFill/>
        </p:spPr>
        <p:txBody>
          <a:bodyPr wrap="square">
            <a:spAutoFit/>
          </a:bodyPr>
          <a:lstStyle/>
          <a:p>
            <a:pPr algn="l"/>
            <a:r>
              <a:rPr sz="750" b="0" i="0">
                <a:solidFill>
                  <a:srgbClr val="333333"/>
                </a:solidFill>
                <a:latin typeface="Calibri"/>
              </a:rPr>
              <a:t>—</a:t>
            </a:r>
          </a:p>
        </p:txBody>
      </p:sp>
      <p:sp>
        <p:nvSpPr>
          <p:cNvPr id="18" name="Rectangle 17"/>
          <p:cNvSpPr/>
          <p:nvPr/>
        </p:nvSpPr>
        <p:spPr>
          <a:xfrm>
            <a:off x="367200" y="27648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2746800"/>
            <a:ext cx="3931200" cy="183600"/>
          </a:xfrm>
          <a:prstGeom prst="rect">
            <a:avLst/>
          </a:prstGeom>
          <a:noFill/>
        </p:spPr>
        <p:txBody>
          <a:bodyPr wrap="square">
            <a:spAutoFit/>
          </a:bodyPr>
          <a:lstStyle/>
          <a:p>
            <a:pPr algn="l"/>
            <a:r>
              <a:rPr sz="850" b="1" i="0">
                <a:solidFill>
                  <a:srgbClr val="1B3A6B"/>
                </a:solidFill>
                <a:latin typeface="Calibri"/>
              </a:rPr>
              <a:t>—</a:t>
            </a:r>
          </a:p>
        </p:txBody>
      </p:sp>
      <p:sp>
        <p:nvSpPr>
          <p:cNvPr id="20" name="TextBox 19"/>
          <p:cNvSpPr txBox="1"/>
          <p:nvPr/>
        </p:nvSpPr>
        <p:spPr>
          <a:xfrm>
            <a:off x="503999" y="2916000"/>
            <a:ext cx="3931200" cy="378000"/>
          </a:xfrm>
          <a:prstGeom prst="rect">
            <a:avLst/>
          </a:prstGeom>
          <a:noFill/>
        </p:spPr>
        <p:txBody>
          <a:bodyPr wrap="square">
            <a:spAutoFit/>
          </a:bodyPr>
          <a:lstStyle/>
          <a:p>
            <a:pPr algn="l"/>
            <a:r>
              <a:rPr sz="750" b="0" i="0">
                <a:solidFill>
                  <a:srgbClr val="333333"/>
                </a:solidFill>
                <a:latin typeface="Calibri"/>
              </a:rPr>
              <a:t>—</a:t>
            </a:r>
          </a:p>
        </p:txBody>
      </p:sp>
      <p:sp>
        <p:nvSpPr>
          <p:cNvPr id="21" name="Rectangle 20"/>
          <p:cNvSpPr/>
          <p:nvPr/>
        </p:nvSpPr>
        <p:spPr>
          <a:xfrm>
            <a:off x="4708800" y="1353600"/>
            <a:ext cx="4068000" cy="255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08800" y="1353600"/>
            <a:ext cx="4068000" cy="255600"/>
          </a:xfrm>
          <a:prstGeom prst="rect">
            <a:avLst/>
          </a:prstGeom>
          <a:noFill/>
        </p:spPr>
        <p:txBody>
          <a:bodyPr wrap="square">
            <a:spAutoFit/>
          </a:bodyPr>
          <a:lstStyle/>
          <a:p>
            <a:pPr algn="l"/>
            <a:r>
              <a:rPr sz="900" b="1" i="0">
                <a:solidFill>
                  <a:srgbClr val="FFFFFF"/>
                </a:solidFill>
                <a:latin typeface="Calibri"/>
              </a:rPr>
              <a:t>RISQUES PRINCIPAUX</a:t>
            </a:r>
          </a:p>
        </p:txBody>
      </p:sp>
      <p:sp>
        <p:nvSpPr>
          <p:cNvPr id="23" name="Rectangle 22"/>
          <p:cNvSpPr/>
          <p:nvPr/>
        </p:nvSpPr>
        <p:spPr>
          <a:xfrm>
            <a:off x="4708800" y="16632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845600" y="1645200"/>
            <a:ext cx="3794399" cy="183600"/>
          </a:xfrm>
          <a:prstGeom prst="rect">
            <a:avLst/>
          </a:prstGeom>
          <a:noFill/>
        </p:spPr>
        <p:txBody>
          <a:bodyPr wrap="square">
            <a:spAutoFit/>
          </a:bodyPr>
          <a:lstStyle/>
          <a:p>
            <a:pPr algn="l"/>
            <a:r>
              <a:rPr sz="850" b="1" i="0">
                <a:solidFill>
                  <a:srgbClr val="1B3A6B"/>
                </a:solidFill>
                <a:latin typeface="Calibri"/>
              </a:rPr>
              <a:t>—</a:t>
            </a:r>
          </a:p>
        </p:txBody>
      </p:sp>
      <p:sp>
        <p:nvSpPr>
          <p:cNvPr id="25" name="TextBox 24"/>
          <p:cNvSpPr txBox="1"/>
          <p:nvPr/>
        </p:nvSpPr>
        <p:spPr>
          <a:xfrm>
            <a:off x="4845600" y="1814400"/>
            <a:ext cx="3794399" cy="378000"/>
          </a:xfrm>
          <a:prstGeom prst="rect">
            <a:avLst/>
          </a:prstGeom>
          <a:noFill/>
        </p:spPr>
        <p:txBody>
          <a:bodyPr wrap="square">
            <a:spAutoFit/>
          </a:bodyPr>
          <a:lstStyle/>
          <a:p>
            <a:pPr algn="l"/>
            <a:r>
              <a:rPr sz="750" b="0" i="0">
                <a:solidFill>
                  <a:srgbClr val="333333"/>
                </a:solidFill>
                <a:latin typeface="Calibri"/>
              </a:rPr>
              <a:t>Impact potentiel sur la thèse d'investissement — surveillance recommandée sur les 6-12 prochains mois.</a:t>
            </a:r>
          </a:p>
        </p:txBody>
      </p:sp>
      <p:sp>
        <p:nvSpPr>
          <p:cNvPr id="26" name="Rectangle 25"/>
          <p:cNvSpPr/>
          <p:nvPr/>
        </p:nvSpPr>
        <p:spPr>
          <a:xfrm>
            <a:off x="4708800" y="22140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845600" y="2196000"/>
            <a:ext cx="3794399" cy="183600"/>
          </a:xfrm>
          <a:prstGeom prst="rect">
            <a:avLst/>
          </a:prstGeom>
          <a:noFill/>
        </p:spPr>
        <p:txBody>
          <a:bodyPr wrap="square">
            <a:spAutoFit/>
          </a:bodyPr>
          <a:lstStyle/>
          <a:p>
            <a:pPr algn="l"/>
            <a:r>
              <a:rPr sz="850" b="1" i="0">
                <a:solidFill>
                  <a:srgbClr val="1B3A6B"/>
                </a:solidFill>
                <a:latin typeface="Calibri"/>
              </a:rPr>
              <a:t>—</a:t>
            </a:r>
          </a:p>
        </p:txBody>
      </p:sp>
      <p:sp>
        <p:nvSpPr>
          <p:cNvPr id="28" name="TextBox 27"/>
          <p:cNvSpPr txBox="1"/>
          <p:nvPr/>
        </p:nvSpPr>
        <p:spPr>
          <a:xfrm>
            <a:off x="4845600" y="2365200"/>
            <a:ext cx="3794399" cy="378000"/>
          </a:xfrm>
          <a:prstGeom prst="rect">
            <a:avLst/>
          </a:prstGeom>
          <a:noFill/>
        </p:spPr>
        <p:txBody>
          <a:bodyPr wrap="square">
            <a:spAutoFit/>
          </a:bodyPr>
          <a:lstStyle/>
          <a:p>
            <a:pPr algn="l"/>
            <a:r>
              <a:rPr sz="750" b="0" i="0">
                <a:solidFill>
                  <a:srgbClr val="333333"/>
                </a:solidFill>
                <a:latin typeface="Calibri"/>
              </a:rPr>
              <a:t>Impact potentiel sur la thèse d'investissement — surveillance recommandée sur les 6-12 prochains mois.</a:t>
            </a:r>
          </a:p>
        </p:txBody>
      </p:sp>
      <p:sp>
        <p:nvSpPr>
          <p:cNvPr id="29" name="Rectangle 28"/>
          <p:cNvSpPr/>
          <p:nvPr/>
        </p:nvSpPr>
        <p:spPr>
          <a:xfrm>
            <a:off x="4708800" y="27648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45600" y="2746800"/>
            <a:ext cx="3794399" cy="183600"/>
          </a:xfrm>
          <a:prstGeom prst="rect">
            <a:avLst/>
          </a:prstGeom>
          <a:noFill/>
        </p:spPr>
        <p:txBody>
          <a:bodyPr wrap="square">
            <a:spAutoFit/>
          </a:bodyPr>
          <a:lstStyle/>
          <a:p>
            <a:pPr algn="l"/>
            <a:r>
              <a:rPr sz="850" b="1" i="0">
                <a:solidFill>
                  <a:srgbClr val="1B3A6B"/>
                </a:solidFill>
                <a:latin typeface="Calibri"/>
              </a:rPr>
              <a:t>—</a:t>
            </a:r>
          </a:p>
        </p:txBody>
      </p:sp>
      <p:sp>
        <p:nvSpPr>
          <p:cNvPr id="31" name="TextBox 30"/>
          <p:cNvSpPr txBox="1"/>
          <p:nvPr/>
        </p:nvSpPr>
        <p:spPr>
          <a:xfrm>
            <a:off x="4845600" y="2916000"/>
            <a:ext cx="3794399" cy="378000"/>
          </a:xfrm>
          <a:prstGeom prst="rect">
            <a:avLst/>
          </a:prstGeom>
          <a:noFill/>
        </p:spPr>
        <p:txBody>
          <a:bodyPr wrap="square">
            <a:spAutoFit/>
          </a:bodyPr>
          <a:lstStyle/>
          <a:p>
            <a:pPr algn="l"/>
            <a:r>
              <a:rPr sz="750" b="0" i="0">
                <a:solidFill>
                  <a:srgbClr val="333333"/>
                </a:solidFill>
                <a:latin typeface="Calibri"/>
              </a:rPr>
              <a:t>Impact potentiel sur la thèse d'investissement — surveillance recommandée sur les 6-12 prochains mois.</a:t>
            </a:r>
          </a:p>
        </p:txBody>
      </p:sp>
      <p:sp>
        <p:nvSpPr>
          <p:cNvPr id="32" name="Rectangle 31"/>
          <p:cNvSpPr/>
          <p:nvPr/>
        </p:nvSpPr>
        <p:spPr>
          <a:xfrm>
            <a:off x="4525200" y="1353600"/>
            <a:ext cx="10800" cy="17424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7200" y="33012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67200" y="3333600"/>
            <a:ext cx="4010400" cy="198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13999" y="3333600"/>
            <a:ext cx="3960000" cy="198000"/>
          </a:xfrm>
          <a:prstGeom prst="rect">
            <a:avLst/>
          </a:prstGeom>
          <a:noFill/>
        </p:spPr>
        <p:txBody>
          <a:bodyPr wrap="square">
            <a:spAutoFit/>
          </a:bodyPr>
          <a:lstStyle/>
          <a:p>
            <a:pPr algn="l"/>
            <a:r>
              <a:rPr sz="750" b="1" i="0">
                <a:solidFill>
                  <a:srgbClr val="FFFFFF"/>
                </a:solidFill>
                <a:latin typeface="Calibri"/>
              </a:rPr>
              <a:t>CATALYSEURS À SURVEILLER (12M)</a:t>
            </a:r>
          </a:p>
        </p:txBody>
      </p:sp>
      <p:sp>
        <p:nvSpPr>
          <p:cNvPr id="36" name="Rectangle 35"/>
          <p:cNvSpPr/>
          <p:nvPr/>
        </p:nvSpPr>
        <p:spPr>
          <a:xfrm>
            <a:off x="367200" y="3582000"/>
            <a:ext cx="43200" cy="936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39200" y="3560400"/>
            <a:ext cx="3837600" cy="172800"/>
          </a:xfrm>
          <a:prstGeom prst="rect">
            <a:avLst/>
          </a:prstGeom>
          <a:noFill/>
        </p:spPr>
        <p:txBody>
          <a:bodyPr wrap="square">
            <a:spAutoFit/>
          </a:bodyPr>
          <a:lstStyle/>
          <a:p>
            <a:pPr algn="l"/>
            <a:r>
              <a:rPr sz="750" b="0" i="0">
                <a:solidFill>
                  <a:srgbClr val="333333"/>
                </a:solidFill>
                <a:latin typeface="Calibri"/>
              </a:rPr>
              <a:t>—</a:t>
            </a:r>
          </a:p>
        </p:txBody>
      </p:sp>
      <p:sp>
        <p:nvSpPr>
          <p:cNvPr id="38" name="Rectangle 37"/>
          <p:cNvSpPr/>
          <p:nvPr/>
        </p:nvSpPr>
        <p:spPr>
          <a:xfrm>
            <a:off x="367200" y="3780000"/>
            <a:ext cx="43200" cy="936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39200" y="3758400"/>
            <a:ext cx="3837600" cy="172800"/>
          </a:xfrm>
          <a:prstGeom prst="rect">
            <a:avLst/>
          </a:prstGeom>
          <a:noFill/>
        </p:spPr>
        <p:txBody>
          <a:bodyPr wrap="square">
            <a:spAutoFit/>
          </a:bodyPr>
          <a:lstStyle/>
          <a:p>
            <a:pPr algn="l"/>
            <a:r>
              <a:rPr sz="750" b="0" i="0">
                <a:solidFill>
                  <a:srgbClr val="333333"/>
                </a:solidFill>
                <a:latin typeface="Calibri"/>
              </a:rPr>
              <a:t>—</a:t>
            </a:r>
          </a:p>
        </p:txBody>
      </p:sp>
      <p:sp>
        <p:nvSpPr>
          <p:cNvPr id="40" name="Rectangle 39"/>
          <p:cNvSpPr/>
          <p:nvPr/>
        </p:nvSpPr>
        <p:spPr>
          <a:xfrm>
            <a:off x="4708800" y="3333600"/>
            <a:ext cx="4068000" cy="19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755600" y="3333600"/>
            <a:ext cx="3996000" cy="198000"/>
          </a:xfrm>
          <a:prstGeom prst="rect">
            <a:avLst/>
          </a:prstGeom>
          <a:noFill/>
        </p:spPr>
        <p:txBody>
          <a:bodyPr wrap="square">
            <a:spAutoFit/>
          </a:bodyPr>
          <a:lstStyle/>
          <a:p>
            <a:pPr algn="l"/>
            <a:r>
              <a:rPr sz="750" b="1" i="0">
                <a:solidFill>
                  <a:srgbClr val="FFFFFF"/>
                </a:solidFill>
                <a:latin typeface="Calibri"/>
              </a:rPr>
              <a:t>VALORISATION SYNTHÉTIQUE</a:t>
            </a:r>
          </a:p>
        </p:txBody>
      </p:sp>
      <p:graphicFrame>
        <p:nvGraphicFramePr>
          <p:cNvPr id="42" name="Table 41"/>
          <p:cNvGraphicFramePr>
            <a:graphicFrameLocks noGrp="1"/>
          </p:cNvGraphicFramePr>
          <p:nvPr/>
        </p:nvGraphicFramePr>
        <p:xfrm>
          <a:off x="4708800" y="3531600"/>
          <a:ext cx="4068000" cy="511200"/>
        </p:xfrm>
        <a:graphic>
          <a:graphicData uri="http://schemas.openxmlformats.org/drawingml/2006/table">
            <a:tbl>
              <a:tblPr firstRow="1" bandRow="1">
                <a:tableStyleId>{5C22544A-7EE6-4342-B048-85BDC9FD1C3A}</a:tableStyleId>
              </a:tblPr>
              <a:tblGrid>
                <a:gridCol w="2034000"/>
                <a:gridCol w="1017000"/>
                <a:gridCol w="1017000"/>
              </a:tblGrid>
              <a:tr h="170400">
                <a:tc>
                  <a:txBody>
                    <a:bodyPr/>
                    <a:lstStyle/>
                    <a:p>
                      <a:pPr algn="l"/>
                      <a:r>
                        <a:rPr sz="800" b="1" i="0">
                          <a:solidFill>
                            <a:srgbClr val="FFFFFF"/>
                          </a:solidFill>
                          <a:latin typeface="Calibri"/>
                        </a:rPr>
                        <a:t>Multiple</a:t>
                      </a:r>
                    </a:p>
                  </a:txBody>
                  <a:tcPr>
                    <a:solidFill>
                      <a:srgbClr val="1B3A6B"/>
                    </a:solidFill>
                  </a:tcPr>
                </a:tc>
                <a:tc>
                  <a:txBody>
                    <a:bodyPr/>
                    <a:lstStyle/>
                    <a:p>
                      <a:pPr algn="ctr"/>
                      <a:r>
                        <a:rPr sz="800" b="1" i="0">
                          <a:solidFill>
                            <a:srgbClr val="FFFFFF"/>
                          </a:solidFill>
                          <a:latin typeface="Calibri"/>
                        </a:rPr>
                        <a:t>Société</a:t>
                      </a:r>
                    </a:p>
                  </a:txBody>
                  <a:tcPr>
                    <a:solidFill>
                      <a:srgbClr val="1B3A6B"/>
                    </a:solidFill>
                  </a:tcPr>
                </a:tc>
                <a:tc>
                  <a:txBody>
                    <a:bodyPr/>
                    <a:lstStyle/>
                    <a:p>
                      <a:pPr algn="ctr"/>
                      <a:r>
                        <a:rPr sz="800" b="1" i="0">
                          <a:solidFill>
                            <a:srgbClr val="FFFFFF"/>
                          </a:solidFill>
                          <a:latin typeface="Calibri"/>
                        </a:rPr>
                        <a:t>Médiane pairs</a:t>
                      </a:r>
                    </a:p>
                  </a:txBody>
                  <a:tcPr>
                    <a:solidFill>
                      <a:srgbClr val="1B3A6B"/>
                    </a:solidFill>
                  </a:tcPr>
                </a:tc>
              </a:tr>
              <a:tr h="170400">
                <a:tc>
                  <a:txBody>
                    <a:bodyPr/>
                    <a:lstStyle/>
                    <a:p>
                      <a:pPr algn="l"/>
                      <a:r>
                        <a:rPr sz="800" b="0" i="0">
                          <a:solidFill>
                            <a:srgbClr val="0D0D0D"/>
                          </a:solidFill>
                          <a:latin typeface="Calibri"/>
                        </a:rPr>
                        <a:t>P/E NTM (x)</a:t>
                      </a:r>
                    </a:p>
                  </a:txBody>
                  <a:tcPr>
                    <a:solidFill>
                      <a:srgbClr val="FFFFFF"/>
                    </a:solidFill>
                  </a:tcPr>
                </a:tc>
                <a:tc>
                  <a:txBody>
                    <a:bodyPr/>
                    <a:lstStyle/>
                    <a:p>
                      <a:pPr algn="ctr"/>
                      <a:r>
                        <a:rPr sz="800" b="0" i="0">
                          <a:solidFill>
                            <a:srgbClr val="0D0D0D"/>
                          </a:solidFill>
                          <a:latin typeface="Calibri"/>
                        </a:rPr>
                        <a:t>34,2x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170400">
                <a:tc>
                  <a:txBody>
                    <a:bodyPr/>
                    <a:lstStyle/>
                    <a:p>
                      <a:pPr algn="l"/>
                      <a:r>
                        <a:rPr sz="800" b="0" i="0">
                          <a:solidFill>
                            <a:srgbClr val="0D0D0D"/>
                          </a:solidFill>
                          <a:latin typeface="Calibri"/>
                        </a:rPr>
                        <a:t>Cible DCF ($)</a:t>
                      </a:r>
                    </a:p>
                  </a:txBody>
                  <a:tcPr>
                    <a:solidFill>
                      <a:srgbClr val="F7F8FA"/>
                    </a:solidFill>
                  </a:tcPr>
                </a:tc>
                <a:tc>
                  <a:txBody>
                    <a:bodyPr/>
                    <a:lstStyle/>
                    <a:p>
                      <a:pPr algn="ctr"/>
                      <a:r>
                        <a:rPr sz="800" b="0" i="0">
                          <a:solidFill>
                            <a:srgbClr val="0D0D0D"/>
                          </a:solidFill>
                          <a:latin typeface="Calibri"/>
                        </a:rPr>
                        <a:t>— $</a:t>
                      </a:r>
                    </a:p>
                  </a:txBody>
                  <a:tcPr>
                    <a:solidFill>
                      <a:srgbClr val="F7F8FA"/>
                    </a:solidFill>
                  </a:tcPr>
                </a:tc>
                <a:tc>
                  <a:txBody>
                    <a:bodyPr/>
                    <a:lstStyle/>
                    <a:p>
                      <a:pPr algn="ctr"/>
                      <a:r>
                        <a:rPr sz="800" b="0" i="0">
                          <a:solidFill>
                            <a:srgbClr val="0D0D0D"/>
                          </a:solidFill>
                          <a:latin typeface="Calibri"/>
                        </a:rPr>
                        <a:t>Upside —</a:t>
                      </a:r>
                    </a:p>
                  </a:txBody>
                  <a:tcPr>
                    <a:solidFill>
                      <a:srgbClr val="F7F8FA"/>
                    </a:solidFill>
                  </a:tcPr>
                </a:tc>
              </a:tr>
            </a:tbl>
          </a:graphicData>
        </a:graphic>
      </p:graphicFrame>
      <p:sp>
        <p:nvSpPr>
          <p:cNvPr id="43" name="Rectangle 42"/>
          <p:cNvSpPr/>
          <p:nvPr/>
        </p:nvSpPr>
        <p:spPr>
          <a:xfrm>
            <a:off x="367200" y="40428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367200" y="4082400"/>
            <a:ext cx="2030400" cy="6480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367200" y="4082400"/>
            <a:ext cx="46800" cy="648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57200" y="4136400"/>
            <a:ext cx="1893600" cy="396000"/>
          </a:xfrm>
          <a:prstGeom prst="rect">
            <a:avLst/>
          </a:prstGeom>
          <a:noFill/>
        </p:spPr>
        <p:txBody>
          <a:bodyPr wrap="square">
            <a:spAutoFit/>
          </a:bodyPr>
          <a:lstStyle/>
          <a:p>
            <a:pPr algn="l"/>
            <a:r>
              <a:rPr sz="1900" b="1" i="0">
                <a:solidFill>
                  <a:srgbClr val="1B3A6B"/>
                </a:solidFill>
                <a:latin typeface="Calibri"/>
              </a:rPr>
              <a:t>26,9x</a:t>
            </a:r>
          </a:p>
        </p:txBody>
      </p:sp>
      <p:sp>
        <p:nvSpPr>
          <p:cNvPr id="47" name="TextBox 46"/>
          <p:cNvSpPr txBox="1"/>
          <p:nvPr/>
        </p:nvSpPr>
        <p:spPr>
          <a:xfrm>
            <a:off x="457200" y="4532400"/>
            <a:ext cx="1893600" cy="205199"/>
          </a:xfrm>
          <a:prstGeom prst="rect">
            <a:avLst/>
          </a:prstGeom>
          <a:noFill/>
        </p:spPr>
        <p:txBody>
          <a:bodyPr wrap="square">
            <a:spAutoFit/>
          </a:bodyPr>
          <a:lstStyle/>
          <a:p>
            <a:pPr algn="l"/>
            <a:r>
              <a:rPr sz="800" b="0" i="0">
                <a:solidFill>
                  <a:srgbClr val="555555"/>
                </a:solidFill>
                <a:latin typeface="Calibri"/>
              </a:rPr>
              <a:t>EV/EBITDA</a:t>
            </a:r>
          </a:p>
        </p:txBody>
      </p:sp>
      <p:sp>
        <p:nvSpPr>
          <p:cNvPr id="48" name="TextBox 47"/>
          <p:cNvSpPr txBox="1"/>
          <p:nvPr/>
        </p:nvSpPr>
        <p:spPr>
          <a:xfrm>
            <a:off x="457200" y="4730400"/>
            <a:ext cx="1893600" cy="165600"/>
          </a:xfrm>
          <a:prstGeom prst="rect">
            <a:avLst/>
          </a:prstGeom>
          <a:noFill/>
        </p:spPr>
        <p:txBody>
          <a:bodyPr wrap="square">
            <a:spAutoFit/>
          </a:bodyPr>
          <a:lstStyle/>
          <a:p>
            <a:pPr algn="l"/>
            <a:r>
              <a:rPr sz="700" b="0" i="0">
                <a:solidFill>
                  <a:srgbClr val="888888"/>
                </a:solidFill>
                <a:latin typeface="Calibri"/>
              </a:rPr>
              <a:t>vs — med. pairs</a:t>
            </a:r>
          </a:p>
        </p:txBody>
      </p:sp>
      <p:sp>
        <p:nvSpPr>
          <p:cNvPr id="49" name="Rectangle 48"/>
          <p:cNvSpPr/>
          <p:nvPr/>
        </p:nvSpPr>
        <p:spPr>
          <a:xfrm>
            <a:off x="2487600" y="4082400"/>
            <a:ext cx="2030400" cy="6480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2487600" y="4082400"/>
            <a:ext cx="46800" cy="648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2577600" y="4136400"/>
            <a:ext cx="1893600" cy="396000"/>
          </a:xfrm>
          <a:prstGeom prst="rect">
            <a:avLst/>
          </a:prstGeom>
          <a:noFill/>
        </p:spPr>
        <p:txBody>
          <a:bodyPr wrap="square">
            <a:spAutoFit/>
          </a:bodyPr>
          <a:lstStyle/>
          <a:p>
            <a:pPr algn="l"/>
            <a:r>
              <a:rPr sz="1900" b="1" i="0">
                <a:solidFill>
                  <a:srgbClr val="1B3A6B"/>
                </a:solidFill>
                <a:latin typeface="Calibri"/>
              </a:rPr>
              <a:t>10,3 %</a:t>
            </a:r>
          </a:p>
        </p:txBody>
      </p:sp>
      <p:sp>
        <p:nvSpPr>
          <p:cNvPr id="52" name="TextBox 51"/>
          <p:cNvSpPr txBox="1"/>
          <p:nvPr/>
        </p:nvSpPr>
        <p:spPr>
          <a:xfrm>
            <a:off x="2577600" y="4532400"/>
            <a:ext cx="1893600" cy="205199"/>
          </a:xfrm>
          <a:prstGeom prst="rect">
            <a:avLst/>
          </a:prstGeom>
          <a:noFill/>
        </p:spPr>
        <p:txBody>
          <a:bodyPr wrap="square">
            <a:spAutoFit/>
          </a:bodyPr>
          <a:lstStyle/>
          <a:p>
            <a:pPr algn="l"/>
            <a:r>
              <a:rPr sz="800" b="0" i="0">
                <a:solidFill>
                  <a:srgbClr val="555555"/>
                </a:solidFill>
                <a:latin typeface="Calibri"/>
              </a:rPr>
              <a:t>WACC</a:t>
            </a:r>
          </a:p>
        </p:txBody>
      </p:sp>
      <p:sp>
        <p:nvSpPr>
          <p:cNvPr id="53" name="TextBox 52"/>
          <p:cNvSpPr txBox="1"/>
          <p:nvPr/>
        </p:nvSpPr>
        <p:spPr>
          <a:xfrm>
            <a:off x="2577600" y="4730400"/>
            <a:ext cx="1893600" cy="165600"/>
          </a:xfrm>
          <a:prstGeom prst="rect">
            <a:avLst/>
          </a:prstGeom>
          <a:noFill/>
        </p:spPr>
        <p:txBody>
          <a:bodyPr wrap="square">
            <a:spAutoFit/>
          </a:bodyPr>
          <a:lstStyle/>
          <a:p>
            <a:pPr algn="l"/>
            <a:r>
              <a:rPr sz="700" b="0" i="0">
                <a:solidFill>
                  <a:srgbClr val="888888"/>
                </a:solidFill>
                <a:latin typeface="Calibri"/>
              </a:rPr>
              <a:t>Beta 1,11  ·  RFR 4,3 %</a:t>
            </a:r>
          </a:p>
        </p:txBody>
      </p:sp>
      <p:sp>
        <p:nvSpPr>
          <p:cNvPr id="54" name="Rectangle 53"/>
          <p:cNvSpPr/>
          <p:nvPr/>
        </p:nvSpPr>
        <p:spPr>
          <a:xfrm>
            <a:off x="4608000" y="4082400"/>
            <a:ext cx="2030400" cy="6480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4608000" y="4082400"/>
            <a:ext cx="46800" cy="648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4698000" y="4136400"/>
            <a:ext cx="1893600" cy="396000"/>
          </a:xfrm>
          <a:prstGeom prst="rect">
            <a:avLst/>
          </a:prstGeom>
          <a:noFill/>
        </p:spPr>
        <p:txBody>
          <a:bodyPr wrap="square">
            <a:spAutoFit/>
          </a:bodyPr>
          <a:lstStyle/>
          <a:p>
            <a:pPr algn="l"/>
            <a:r>
              <a:rPr sz="1900" b="1" i="0">
                <a:solidFill>
                  <a:srgbClr val="1B3A6B"/>
                </a:solidFill>
                <a:latin typeface="Calibri"/>
              </a:rPr>
              <a:t>— $</a:t>
            </a:r>
          </a:p>
        </p:txBody>
      </p:sp>
      <p:sp>
        <p:nvSpPr>
          <p:cNvPr id="57" name="TextBox 56"/>
          <p:cNvSpPr txBox="1"/>
          <p:nvPr/>
        </p:nvSpPr>
        <p:spPr>
          <a:xfrm>
            <a:off x="4698000" y="4532400"/>
            <a:ext cx="1893600" cy="205199"/>
          </a:xfrm>
          <a:prstGeom prst="rect">
            <a:avLst/>
          </a:prstGeom>
          <a:noFill/>
        </p:spPr>
        <p:txBody>
          <a:bodyPr wrap="square">
            <a:spAutoFit/>
          </a:bodyPr>
          <a:lstStyle/>
          <a:p>
            <a:pPr algn="l"/>
            <a:r>
              <a:rPr sz="800" b="0" i="0">
                <a:solidFill>
                  <a:srgbClr val="555555"/>
                </a:solidFill>
                <a:latin typeface="Calibri"/>
              </a:rPr>
              <a:t>Valeur DCF base</a:t>
            </a:r>
          </a:p>
        </p:txBody>
      </p:sp>
      <p:sp>
        <p:nvSpPr>
          <p:cNvPr id="58" name="TextBox 57"/>
          <p:cNvSpPr txBox="1"/>
          <p:nvPr/>
        </p:nvSpPr>
        <p:spPr>
          <a:xfrm>
            <a:off x="4698000" y="4730400"/>
            <a:ext cx="1893600" cy="165600"/>
          </a:xfrm>
          <a:prstGeom prst="rect">
            <a:avLst/>
          </a:prstGeom>
          <a:noFill/>
        </p:spPr>
        <p:txBody>
          <a:bodyPr wrap="square">
            <a:spAutoFit/>
          </a:bodyPr>
          <a:lstStyle/>
          <a:p>
            <a:pPr algn="l"/>
            <a:r>
              <a:rPr sz="700" b="0" i="0">
                <a:solidFill>
                  <a:srgbClr val="888888"/>
                </a:solidFill>
                <a:latin typeface="Calibri"/>
              </a:rPr>
              <a:t>Upside — vs cours</a:t>
            </a:r>
          </a:p>
        </p:txBody>
      </p:sp>
      <p:sp>
        <p:nvSpPr>
          <p:cNvPr id="59" name="Rectangle 58"/>
          <p:cNvSpPr/>
          <p:nvPr/>
        </p:nvSpPr>
        <p:spPr>
          <a:xfrm>
            <a:off x="6728400" y="4082400"/>
            <a:ext cx="2030400" cy="6480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6728400" y="4082400"/>
            <a:ext cx="46800" cy="648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6818400" y="4136400"/>
            <a:ext cx="1893600" cy="396000"/>
          </a:xfrm>
          <a:prstGeom prst="rect">
            <a:avLst/>
          </a:prstGeom>
          <a:noFill/>
        </p:spPr>
        <p:txBody>
          <a:bodyPr wrap="square">
            <a:spAutoFit/>
          </a:bodyPr>
          <a:lstStyle/>
          <a:p>
            <a:pPr algn="l"/>
            <a:r>
              <a:rPr sz="1900" b="1" i="0">
                <a:solidFill>
                  <a:srgbClr val="1B3A6B"/>
                </a:solidFill>
                <a:latin typeface="Calibri"/>
              </a:rPr>
              <a:t>+0,224</a:t>
            </a:r>
          </a:p>
        </p:txBody>
      </p:sp>
      <p:sp>
        <p:nvSpPr>
          <p:cNvPr id="62" name="TextBox 61"/>
          <p:cNvSpPr txBox="1"/>
          <p:nvPr/>
        </p:nvSpPr>
        <p:spPr>
          <a:xfrm>
            <a:off x="6818400" y="4532400"/>
            <a:ext cx="1893600" cy="205199"/>
          </a:xfrm>
          <a:prstGeom prst="rect">
            <a:avLst/>
          </a:prstGeom>
          <a:noFill/>
        </p:spPr>
        <p:txBody>
          <a:bodyPr wrap="square">
            <a:spAutoFit/>
          </a:bodyPr>
          <a:lstStyle/>
          <a:p>
            <a:pPr algn="l"/>
            <a:r>
              <a:rPr sz="800" b="0" i="0">
                <a:solidFill>
                  <a:srgbClr val="555555"/>
                </a:solidFill>
                <a:latin typeface="Calibri"/>
              </a:rPr>
              <a:t>Sentiment FinBERT</a:t>
            </a:r>
          </a:p>
        </p:txBody>
      </p:sp>
      <p:sp>
        <p:nvSpPr>
          <p:cNvPr id="63" name="TextBox 62"/>
          <p:cNvSpPr txBox="1"/>
          <p:nvPr/>
        </p:nvSpPr>
        <p:spPr>
          <a:xfrm>
            <a:off x="6818400" y="4730400"/>
            <a:ext cx="1893600" cy="165600"/>
          </a:xfrm>
          <a:prstGeom prst="rect">
            <a:avLst/>
          </a:prstGeom>
          <a:noFill/>
        </p:spPr>
        <p:txBody>
          <a:bodyPr wrap="square">
            <a:spAutoFit/>
          </a:bodyPr>
          <a:lstStyle/>
          <a:p>
            <a:pPr algn="l"/>
            <a:r>
              <a:rPr sz="700" b="0" i="0">
                <a:solidFill>
                  <a:srgbClr val="888888"/>
                </a:solidFill>
                <a:latin typeface="Calibri"/>
              </a:rPr>
              <a:t>Positif  ·  30 art.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Sommaire</a:t>
            </a:r>
          </a:p>
        </p:txBody>
      </p:sp>
      <p:sp>
        <p:nvSpPr>
          <p:cNvPr id="6" name="Rectangle 5"/>
          <p:cNvSpPr/>
          <p:nvPr/>
        </p:nvSpPr>
        <p:spPr>
          <a:xfrm>
            <a:off x="367200" y="8964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8964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950400"/>
            <a:ext cx="475200" cy="514800"/>
          </a:xfrm>
          <a:prstGeom prst="rect">
            <a:avLst/>
          </a:prstGeom>
          <a:noFill/>
        </p:spPr>
        <p:txBody>
          <a:bodyPr wrap="square">
            <a:spAutoFit/>
          </a:bodyPr>
          <a:lstStyle/>
          <a:p>
            <a:pPr algn="l"/>
            <a:r>
              <a:rPr sz="1700" b="1" i="0">
                <a:solidFill>
                  <a:srgbClr val="888888"/>
                </a:solidFill>
                <a:latin typeface="Calibri"/>
              </a:rPr>
              <a:t>01</a:t>
            </a:r>
          </a:p>
        </p:txBody>
      </p:sp>
      <p:sp>
        <p:nvSpPr>
          <p:cNvPr id="9" name="TextBox 8"/>
          <p:cNvSpPr txBox="1"/>
          <p:nvPr/>
        </p:nvSpPr>
        <p:spPr>
          <a:xfrm>
            <a:off x="1152000" y="968400"/>
            <a:ext cx="6120000" cy="255600"/>
          </a:xfrm>
          <a:prstGeom prst="rect">
            <a:avLst/>
          </a:prstGeom>
          <a:noFill/>
        </p:spPr>
        <p:txBody>
          <a:bodyPr wrap="square">
            <a:spAutoFit/>
          </a:bodyPr>
          <a:lstStyle/>
          <a:p>
            <a:pPr algn="l"/>
            <a:r>
              <a:rPr sz="1300" b="1" i="0">
                <a:solidFill>
                  <a:srgbClr val="1B3A6B"/>
                </a:solidFill>
                <a:latin typeface="Calibri"/>
              </a:rPr>
              <a:t>Company Overview</a:t>
            </a:r>
          </a:p>
        </p:txBody>
      </p:sp>
      <p:sp>
        <p:nvSpPr>
          <p:cNvPr id="10" name="TextBox 9"/>
          <p:cNvSpPr txBox="1"/>
          <p:nvPr/>
        </p:nvSpPr>
        <p:spPr>
          <a:xfrm>
            <a:off x="1152000" y="1202400"/>
            <a:ext cx="6120000" cy="255600"/>
          </a:xfrm>
          <a:prstGeom prst="rect">
            <a:avLst/>
          </a:prstGeom>
          <a:noFill/>
        </p:spPr>
        <p:txBody>
          <a:bodyPr wrap="square">
            <a:spAutoFit/>
          </a:bodyPr>
          <a:lstStyle/>
          <a:p>
            <a:pPr algn="l"/>
            <a:r>
              <a:rPr sz="850" b="0" i="0">
                <a:solidFill>
                  <a:srgbClr val="555555"/>
                </a:solidFill>
                <a:latin typeface="Calibri"/>
              </a:rPr>
              <a:t>Apple Inc.  ·  Technology</a:t>
            </a:r>
          </a:p>
        </p:txBody>
      </p:sp>
      <p:sp>
        <p:nvSpPr>
          <p:cNvPr id="11" name="TextBox 10"/>
          <p:cNvSpPr txBox="1"/>
          <p:nvPr/>
        </p:nvSpPr>
        <p:spPr>
          <a:xfrm>
            <a:off x="7405200" y="1058400"/>
            <a:ext cx="1375200" cy="255600"/>
          </a:xfrm>
          <a:prstGeom prst="rect">
            <a:avLst/>
          </a:prstGeom>
          <a:noFill/>
        </p:spPr>
        <p:txBody>
          <a:bodyPr wrap="square">
            <a:spAutoFit/>
          </a:bodyPr>
          <a:lstStyle/>
          <a:p>
            <a:pPr algn="r"/>
            <a:r>
              <a:rPr sz="900" b="0" i="0">
                <a:solidFill>
                  <a:srgbClr val="2E5FA3"/>
                </a:solidFill>
                <a:latin typeface="Calibri"/>
              </a:rPr>
              <a:t>4–6</a:t>
            </a:r>
          </a:p>
        </p:txBody>
      </p:sp>
      <p:sp>
        <p:nvSpPr>
          <p:cNvPr id="12" name="Rectangle 11"/>
          <p:cNvSpPr/>
          <p:nvPr/>
        </p:nvSpPr>
        <p:spPr>
          <a:xfrm>
            <a:off x="367200" y="15912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67200" y="15912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3999" y="1645200"/>
            <a:ext cx="475200" cy="514800"/>
          </a:xfrm>
          <a:prstGeom prst="rect">
            <a:avLst/>
          </a:prstGeom>
          <a:noFill/>
        </p:spPr>
        <p:txBody>
          <a:bodyPr wrap="square">
            <a:spAutoFit/>
          </a:bodyPr>
          <a:lstStyle/>
          <a:p>
            <a:pPr algn="l"/>
            <a:r>
              <a:rPr sz="1700" b="1" i="0">
                <a:solidFill>
                  <a:srgbClr val="888888"/>
                </a:solidFill>
                <a:latin typeface="Calibri"/>
              </a:rPr>
              <a:t>02</a:t>
            </a:r>
          </a:p>
        </p:txBody>
      </p:sp>
      <p:sp>
        <p:nvSpPr>
          <p:cNvPr id="15" name="TextBox 14"/>
          <p:cNvSpPr txBox="1"/>
          <p:nvPr/>
        </p:nvSpPr>
        <p:spPr>
          <a:xfrm>
            <a:off x="1152000" y="1663200"/>
            <a:ext cx="6120000" cy="255600"/>
          </a:xfrm>
          <a:prstGeom prst="rect">
            <a:avLst/>
          </a:prstGeom>
          <a:noFill/>
        </p:spPr>
        <p:txBody>
          <a:bodyPr wrap="square">
            <a:spAutoFit/>
          </a:bodyPr>
          <a:lstStyle/>
          <a:p>
            <a:pPr algn="l"/>
            <a:r>
              <a:rPr sz="1300" b="1" i="0">
                <a:solidFill>
                  <a:srgbClr val="1B3A6B"/>
                </a:solidFill>
                <a:latin typeface="Calibri"/>
              </a:rPr>
              <a:t>Analyse Financière</a:t>
            </a:r>
          </a:p>
        </p:txBody>
      </p:sp>
      <p:sp>
        <p:nvSpPr>
          <p:cNvPr id="16" name="TextBox 15"/>
          <p:cNvSpPr txBox="1"/>
          <p:nvPr/>
        </p:nvSpPr>
        <p:spPr>
          <a:xfrm>
            <a:off x="1152000" y="1897199"/>
            <a:ext cx="6120000" cy="255600"/>
          </a:xfrm>
          <a:prstGeom prst="rect">
            <a:avLst/>
          </a:prstGeom>
          <a:noFill/>
        </p:spPr>
        <p:txBody>
          <a:bodyPr wrap="square">
            <a:spAutoFit/>
          </a:bodyPr>
          <a:lstStyle/>
          <a:p>
            <a:pPr algn="l"/>
            <a:r>
              <a:rPr sz="850" b="0" i="0">
                <a:solidFill>
                  <a:srgbClr val="555555"/>
                </a:solidFill>
                <a:latin typeface="Calibri"/>
              </a:rPr>
              <a:t>Compte de résultat, bilan &amp; liquidité, ratios</a:t>
            </a:r>
          </a:p>
        </p:txBody>
      </p:sp>
      <p:sp>
        <p:nvSpPr>
          <p:cNvPr id="17" name="TextBox 16"/>
          <p:cNvSpPr txBox="1"/>
          <p:nvPr/>
        </p:nvSpPr>
        <p:spPr>
          <a:xfrm>
            <a:off x="7405200" y="1753200"/>
            <a:ext cx="1375200" cy="255600"/>
          </a:xfrm>
          <a:prstGeom prst="rect">
            <a:avLst/>
          </a:prstGeom>
          <a:noFill/>
        </p:spPr>
        <p:txBody>
          <a:bodyPr wrap="square">
            <a:spAutoFit/>
          </a:bodyPr>
          <a:lstStyle/>
          <a:p>
            <a:pPr algn="r"/>
            <a:r>
              <a:rPr sz="900" b="0" i="0">
                <a:solidFill>
                  <a:srgbClr val="2E5FA3"/>
                </a:solidFill>
                <a:latin typeface="Calibri"/>
              </a:rPr>
              <a:t>7–10</a:t>
            </a:r>
          </a:p>
        </p:txBody>
      </p:sp>
      <p:sp>
        <p:nvSpPr>
          <p:cNvPr id="18" name="Rectangle 17"/>
          <p:cNvSpPr/>
          <p:nvPr/>
        </p:nvSpPr>
        <p:spPr>
          <a:xfrm>
            <a:off x="367200" y="22860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7200" y="22860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3999" y="2340000"/>
            <a:ext cx="475200" cy="514800"/>
          </a:xfrm>
          <a:prstGeom prst="rect">
            <a:avLst/>
          </a:prstGeom>
          <a:noFill/>
        </p:spPr>
        <p:txBody>
          <a:bodyPr wrap="square">
            <a:spAutoFit/>
          </a:bodyPr>
          <a:lstStyle/>
          <a:p>
            <a:pPr algn="l"/>
            <a:r>
              <a:rPr sz="1700" b="1" i="0">
                <a:solidFill>
                  <a:srgbClr val="888888"/>
                </a:solidFill>
                <a:latin typeface="Calibri"/>
              </a:rPr>
              <a:t>03</a:t>
            </a:r>
          </a:p>
        </p:txBody>
      </p:sp>
      <p:sp>
        <p:nvSpPr>
          <p:cNvPr id="21" name="TextBox 20"/>
          <p:cNvSpPr txBox="1"/>
          <p:nvPr/>
        </p:nvSpPr>
        <p:spPr>
          <a:xfrm>
            <a:off x="1152000" y="2358000"/>
            <a:ext cx="6120000" cy="255600"/>
          </a:xfrm>
          <a:prstGeom prst="rect">
            <a:avLst/>
          </a:prstGeom>
          <a:noFill/>
        </p:spPr>
        <p:txBody>
          <a:bodyPr wrap="square">
            <a:spAutoFit/>
          </a:bodyPr>
          <a:lstStyle/>
          <a:p>
            <a:pPr algn="l"/>
            <a:r>
              <a:rPr sz="1300" b="1" i="0">
                <a:solidFill>
                  <a:srgbClr val="1B3A6B"/>
                </a:solidFill>
                <a:latin typeface="Calibri"/>
              </a:rPr>
              <a:t>Valorisation</a:t>
            </a:r>
          </a:p>
        </p:txBody>
      </p:sp>
      <p:sp>
        <p:nvSpPr>
          <p:cNvPr id="22" name="TextBox 21"/>
          <p:cNvSpPr txBox="1"/>
          <p:nvPr/>
        </p:nvSpPr>
        <p:spPr>
          <a:xfrm>
            <a:off x="1152000" y="2591999"/>
            <a:ext cx="6120000" cy="255600"/>
          </a:xfrm>
          <a:prstGeom prst="rect">
            <a:avLst/>
          </a:prstGeom>
          <a:noFill/>
        </p:spPr>
        <p:txBody>
          <a:bodyPr wrap="square">
            <a:spAutoFit/>
          </a:bodyPr>
          <a:lstStyle/>
          <a:p>
            <a:pPr algn="l"/>
            <a:r>
              <a:rPr sz="850" b="0" i="0">
                <a:solidFill>
                  <a:srgbClr val="555555"/>
                </a:solidFill>
                <a:latin typeface="Calibri"/>
              </a:rPr>
              <a:t>DCF, comparable peers, Football Field</a:t>
            </a:r>
          </a:p>
        </p:txBody>
      </p:sp>
      <p:sp>
        <p:nvSpPr>
          <p:cNvPr id="23" name="TextBox 22"/>
          <p:cNvSpPr txBox="1"/>
          <p:nvPr/>
        </p:nvSpPr>
        <p:spPr>
          <a:xfrm>
            <a:off x="7405200" y="2448000"/>
            <a:ext cx="1375200" cy="255600"/>
          </a:xfrm>
          <a:prstGeom prst="rect">
            <a:avLst/>
          </a:prstGeom>
          <a:noFill/>
        </p:spPr>
        <p:txBody>
          <a:bodyPr wrap="square">
            <a:spAutoFit/>
          </a:bodyPr>
          <a:lstStyle/>
          <a:p>
            <a:pPr algn="r"/>
            <a:r>
              <a:rPr sz="900" b="0" i="0">
                <a:solidFill>
                  <a:srgbClr val="2E5FA3"/>
                </a:solidFill>
                <a:latin typeface="Calibri"/>
              </a:rPr>
              <a:t>11–14</a:t>
            </a:r>
          </a:p>
        </p:txBody>
      </p:sp>
      <p:sp>
        <p:nvSpPr>
          <p:cNvPr id="24" name="Rectangle 23"/>
          <p:cNvSpPr/>
          <p:nvPr/>
        </p:nvSpPr>
        <p:spPr>
          <a:xfrm>
            <a:off x="367200" y="29808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67200" y="29808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3999" y="3034800"/>
            <a:ext cx="475200" cy="514800"/>
          </a:xfrm>
          <a:prstGeom prst="rect">
            <a:avLst/>
          </a:prstGeom>
          <a:noFill/>
        </p:spPr>
        <p:txBody>
          <a:bodyPr wrap="square">
            <a:spAutoFit/>
          </a:bodyPr>
          <a:lstStyle/>
          <a:p>
            <a:pPr algn="l"/>
            <a:r>
              <a:rPr sz="1700" b="1" i="0">
                <a:solidFill>
                  <a:srgbClr val="888888"/>
                </a:solidFill>
                <a:latin typeface="Calibri"/>
              </a:rPr>
              <a:t>04</a:t>
            </a:r>
          </a:p>
        </p:txBody>
      </p:sp>
      <p:sp>
        <p:nvSpPr>
          <p:cNvPr id="27" name="TextBox 26"/>
          <p:cNvSpPr txBox="1"/>
          <p:nvPr/>
        </p:nvSpPr>
        <p:spPr>
          <a:xfrm>
            <a:off x="1152000" y="3052799"/>
            <a:ext cx="6120000" cy="255600"/>
          </a:xfrm>
          <a:prstGeom prst="rect">
            <a:avLst/>
          </a:prstGeom>
          <a:noFill/>
        </p:spPr>
        <p:txBody>
          <a:bodyPr wrap="square">
            <a:spAutoFit/>
          </a:bodyPr>
          <a:lstStyle/>
          <a:p>
            <a:pPr algn="l"/>
            <a:r>
              <a:rPr sz="1300" b="1" i="0">
                <a:solidFill>
                  <a:srgbClr val="1B3A6B"/>
                </a:solidFill>
                <a:latin typeface="Calibri"/>
              </a:rPr>
              <a:t>Risques &amp; Stratégie</a:t>
            </a:r>
          </a:p>
        </p:txBody>
      </p:sp>
      <p:sp>
        <p:nvSpPr>
          <p:cNvPr id="28" name="TextBox 27"/>
          <p:cNvSpPr txBox="1"/>
          <p:nvPr/>
        </p:nvSpPr>
        <p:spPr>
          <a:xfrm>
            <a:off x="1152000" y="3286799"/>
            <a:ext cx="6120000" cy="255600"/>
          </a:xfrm>
          <a:prstGeom prst="rect">
            <a:avLst/>
          </a:prstGeom>
          <a:noFill/>
        </p:spPr>
        <p:txBody>
          <a:bodyPr wrap="square">
            <a:spAutoFit/>
          </a:bodyPr>
          <a:lstStyle/>
          <a:p>
            <a:pPr algn="l"/>
            <a:r>
              <a:rPr sz="850" b="0" i="0">
                <a:solidFill>
                  <a:srgbClr val="555555"/>
                </a:solidFill>
                <a:latin typeface="Calibri"/>
              </a:rPr>
              <a:t>Risques structurels &amp; thèse contraire</a:t>
            </a:r>
          </a:p>
        </p:txBody>
      </p:sp>
      <p:sp>
        <p:nvSpPr>
          <p:cNvPr id="29" name="TextBox 28"/>
          <p:cNvSpPr txBox="1"/>
          <p:nvPr/>
        </p:nvSpPr>
        <p:spPr>
          <a:xfrm>
            <a:off x="7405200" y="3142799"/>
            <a:ext cx="1375200" cy="255600"/>
          </a:xfrm>
          <a:prstGeom prst="rect">
            <a:avLst/>
          </a:prstGeom>
          <a:noFill/>
        </p:spPr>
        <p:txBody>
          <a:bodyPr wrap="square">
            <a:spAutoFit/>
          </a:bodyPr>
          <a:lstStyle/>
          <a:p>
            <a:pPr algn="r"/>
            <a:r>
              <a:rPr sz="900" b="0" i="0">
                <a:solidFill>
                  <a:srgbClr val="2E5FA3"/>
                </a:solidFill>
                <a:latin typeface="Calibri"/>
              </a:rPr>
              <a:t>15–16</a:t>
            </a:r>
          </a:p>
        </p:txBody>
      </p:sp>
      <p:sp>
        <p:nvSpPr>
          <p:cNvPr id="30" name="Rectangle 29"/>
          <p:cNvSpPr/>
          <p:nvPr/>
        </p:nvSpPr>
        <p:spPr>
          <a:xfrm>
            <a:off x="367200" y="36756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7200" y="36756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3999" y="3729600"/>
            <a:ext cx="475200" cy="514800"/>
          </a:xfrm>
          <a:prstGeom prst="rect">
            <a:avLst/>
          </a:prstGeom>
          <a:noFill/>
        </p:spPr>
        <p:txBody>
          <a:bodyPr wrap="square">
            <a:spAutoFit/>
          </a:bodyPr>
          <a:lstStyle/>
          <a:p>
            <a:pPr algn="l"/>
            <a:r>
              <a:rPr sz="1700" b="1" i="0">
                <a:solidFill>
                  <a:srgbClr val="888888"/>
                </a:solidFill>
                <a:latin typeface="Calibri"/>
              </a:rPr>
              <a:t>05</a:t>
            </a:r>
          </a:p>
        </p:txBody>
      </p:sp>
      <p:sp>
        <p:nvSpPr>
          <p:cNvPr id="33" name="TextBox 32"/>
          <p:cNvSpPr txBox="1"/>
          <p:nvPr/>
        </p:nvSpPr>
        <p:spPr>
          <a:xfrm>
            <a:off x="1152000" y="3747600"/>
            <a:ext cx="6120000" cy="255600"/>
          </a:xfrm>
          <a:prstGeom prst="rect">
            <a:avLst/>
          </a:prstGeom>
          <a:noFill/>
        </p:spPr>
        <p:txBody>
          <a:bodyPr wrap="square">
            <a:spAutoFit/>
          </a:bodyPr>
          <a:lstStyle/>
          <a:p>
            <a:pPr algn="l"/>
            <a:r>
              <a:rPr sz="1300" b="1" i="0">
                <a:solidFill>
                  <a:srgbClr val="1B3A6B"/>
                </a:solidFill>
                <a:latin typeface="Calibri"/>
              </a:rPr>
              <a:t>Sentiment &amp; Annexes</a:t>
            </a:r>
          </a:p>
        </p:txBody>
      </p:sp>
      <p:sp>
        <p:nvSpPr>
          <p:cNvPr id="34" name="TextBox 33"/>
          <p:cNvSpPr txBox="1"/>
          <p:nvPr/>
        </p:nvSpPr>
        <p:spPr>
          <a:xfrm>
            <a:off x="1152000" y="3981600"/>
            <a:ext cx="6120000" cy="255600"/>
          </a:xfrm>
          <a:prstGeom prst="rect">
            <a:avLst/>
          </a:prstGeom>
          <a:noFill/>
        </p:spPr>
        <p:txBody>
          <a:bodyPr wrap="square">
            <a:spAutoFit/>
          </a:bodyPr>
          <a:lstStyle/>
          <a:p>
            <a:pPr algn="l"/>
            <a:r>
              <a:rPr sz="850" b="0" i="0">
                <a:solidFill>
                  <a:srgbClr val="555555"/>
                </a:solidFill>
                <a:latin typeface="Calibri"/>
              </a:rPr>
              <a:t>FinBERT, actionnariat, historique &amp; conviction</a:t>
            </a:r>
          </a:p>
        </p:txBody>
      </p:sp>
      <p:sp>
        <p:nvSpPr>
          <p:cNvPr id="35" name="TextBox 34"/>
          <p:cNvSpPr txBox="1"/>
          <p:nvPr/>
        </p:nvSpPr>
        <p:spPr>
          <a:xfrm>
            <a:off x="7405200" y="3837600"/>
            <a:ext cx="1375200" cy="255600"/>
          </a:xfrm>
          <a:prstGeom prst="rect">
            <a:avLst/>
          </a:prstGeom>
          <a:noFill/>
        </p:spPr>
        <p:txBody>
          <a:bodyPr wrap="square">
            <a:spAutoFit/>
          </a:bodyPr>
          <a:lstStyle/>
          <a:p>
            <a:pPr algn="r"/>
            <a:r>
              <a:rPr sz="900" b="0" i="0">
                <a:solidFill>
                  <a:srgbClr val="2E5FA3"/>
                </a:solidFill>
                <a:latin typeface="Calibri"/>
              </a:rPr>
              <a:t>17–21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01</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Company Overview</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Présentation, modèle économique &amp; données de marché</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Company Overview</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Apple Inc.  ·  Présentation &amp; Positionnement stratégique</a:t>
            </a:r>
          </a:p>
        </p:txBody>
      </p:sp>
      <p:sp>
        <p:nvSpPr>
          <p:cNvPr id="17" name="Rectangle 16"/>
          <p:cNvSpPr/>
          <p:nvPr/>
        </p:nvSpPr>
        <p:spPr>
          <a:xfrm>
            <a:off x="367200" y="961200"/>
            <a:ext cx="4939200" cy="3520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3520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1022400"/>
            <a:ext cx="4662000" cy="1440000"/>
          </a:xfrm>
          <a:prstGeom prst="rect">
            <a:avLst/>
          </a:prstGeom>
          <a:noFill/>
        </p:spPr>
        <p:txBody>
          <a:bodyPr wrap="square">
            <a:spAutoFit/>
          </a:bodyPr>
          <a:lstStyle/>
          <a:p>
            <a:pPr algn="l"/>
            <a:r>
              <a:rPr sz="850" b="0" i="0">
                <a:solidFill>
                  <a:srgbClr val="0D0D0D"/>
                </a:solidFill>
                <a:latin typeface="Calibri"/>
              </a:rPr>
              <a:t>Apple Inc. (AAPL) opere dans le secteur Technology. Analyse FinSight IA en cours -- donnees de synthese non disponibles pour cette session. Lancer une nouvelle analyse pour obtenir la description complete, les segments et le positionnement strategique.</a:t>
            </a:r>
          </a:p>
        </p:txBody>
      </p:sp>
      <p:sp>
        <p:nvSpPr>
          <p:cNvPr id="20" name="TextBox 19"/>
          <p:cNvSpPr txBox="1"/>
          <p:nvPr/>
        </p:nvSpPr>
        <p:spPr>
          <a:xfrm>
            <a:off x="503999" y="2358000"/>
            <a:ext cx="4662000" cy="183600"/>
          </a:xfrm>
          <a:prstGeom prst="rect">
            <a:avLst/>
          </a:prstGeom>
          <a:noFill/>
        </p:spPr>
        <p:txBody>
          <a:bodyPr wrap="square">
            <a:spAutoFit/>
          </a:bodyPr>
          <a:lstStyle/>
          <a:p>
            <a:pPr algn="l"/>
            <a:r>
              <a:rPr sz="900" b="1" i="0">
                <a:solidFill>
                  <a:srgbClr val="1B3A6B"/>
                </a:solidFill>
                <a:latin typeface="Calibri"/>
              </a:rPr>
              <a:t>Positionnement stratégique</a:t>
            </a:r>
          </a:p>
        </p:txBody>
      </p:sp>
      <p:sp>
        <p:nvSpPr>
          <p:cNvPr id="21" name="Rectangle 20"/>
          <p:cNvSpPr/>
          <p:nvPr/>
        </p:nvSpPr>
        <p:spPr>
          <a:xfrm>
            <a:off x="5558400" y="961200"/>
            <a:ext cx="32004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58400" y="9612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48400" y="1015200"/>
            <a:ext cx="3063600" cy="396000"/>
          </a:xfrm>
          <a:prstGeom prst="rect">
            <a:avLst/>
          </a:prstGeom>
          <a:noFill/>
        </p:spPr>
        <p:txBody>
          <a:bodyPr wrap="square">
            <a:spAutoFit/>
          </a:bodyPr>
          <a:lstStyle/>
          <a:p>
            <a:pPr algn="l"/>
            <a:r>
              <a:rPr sz="1900" b="1" i="0">
                <a:solidFill>
                  <a:srgbClr val="FFFFFF"/>
                </a:solidFill>
                <a:latin typeface="Calibri"/>
              </a:rPr>
              <a:t>3 836,2 Mds$</a:t>
            </a:r>
          </a:p>
        </p:txBody>
      </p:sp>
      <p:sp>
        <p:nvSpPr>
          <p:cNvPr id="24" name="TextBox 23"/>
          <p:cNvSpPr txBox="1"/>
          <p:nvPr/>
        </p:nvSpPr>
        <p:spPr>
          <a:xfrm>
            <a:off x="5648400" y="1411200"/>
            <a:ext cx="3063600" cy="205199"/>
          </a:xfrm>
          <a:prstGeom prst="rect">
            <a:avLst/>
          </a:prstGeom>
          <a:noFill/>
        </p:spPr>
        <p:txBody>
          <a:bodyPr wrap="square">
            <a:spAutoFit/>
          </a:bodyPr>
          <a:lstStyle/>
          <a:p>
            <a:pPr algn="l"/>
            <a:r>
              <a:rPr sz="800" b="0" i="0">
                <a:solidFill>
                  <a:srgbClr val="FFFFFF"/>
                </a:solidFill>
                <a:latin typeface="Calibri"/>
              </a:rPr>
              <a:t>Capitalisation boursière</a:t>
            </a:r>
          </a:p>
        </p:txBody>
      </p:sp>
      <p:sp>
        <p:nvSpPr>
          <p:cNvPr id="25" name="Rectangle 24"/>
          <p:cNvSpPr/>
          <p:nvPr/>
        </p:nvSpPr>
        <p:spPr>
          <a:xfrm>
            <a:off x="5558400" y="18468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58400" y="1846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48400" y="1900800"/>
            <a:ext cx="3063600" cy="396000"/>
          </a:xfrm>
          <a:prstGeom prst="rect">
            <a:avLst/>
          </a:prstGeom>
          <a:noFill/>
        </p:spPr>
        <p:txBody>
          <a:bodyPr wrap="square">
            <a:spAutoFit/>
          </a:bodyPr>
          <a:lstStyle/>
          <a:p>
            <a:pPr algn="l"/>
            <a:r>
              <a:rPr sz="1900" b="1" i="0">
                <a:solidFill>
                  <a:srgbClr val="1B3A6B"/>
                </a:solidFill>
                <a:latin typeface="Calibri"/>
              </a:rPr>
              <a:t>416,2 Mds$</a:t>
            </a:r>
          </a:p>
        </p:txBody>
      </p:sp>
      <p:sp>
        <p:nvSpPr>
          <p:cNvPr id="28" name="TextBox 27"/>
          <p:cNvSpPr txBox="1"/>
          <p:nvPr/>
        </p:nvSpPr>
        <p:spPr>
          <a:xfrm>
            <a:off x="5648400" y="2296800"/>
            <a:ext cx="3063600" cy="205199"/>
          </a:xfrm>
          <a:prstGeom prst="rect">
            <a:avLst/>
          </a:prstGeom>
          <a:noFill/>
        </p:spPr>
        <p:txBody>
          <a:bodyPr wrap="square">
            <a:spAutoFit/>
          </a:bodyPr>
          <a:lstStyle/>
          <a:p>
            <a:pPr algn="l"/>
            <a:r>
              <a:rPr sz="800" b="0" i="0">
                <a:solidFill>
                  <a:srgbClr val="555555"/>
                </a:solidFill>
                <a:latin typeface="Calibri"/>
              </a:rPr>
              <a:t>Chiffre d'affaires (2025)</a:t>
            </a:r>
          </a:p>
        </p:txBody>
      </p:sp>
      <p:sp>
        <p:nvSpPr>
          <p:cNvPr id="29" name="Rectangle 28"/>
          <p:cNvSpPr/>
          <p:nvPr/>
        </p:nvSpPr>
        <p:spPr>
          <a:xfrm>
            <a:off x="5558400" y="27324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58400" y="27324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648400" y="2786400"/>
            <a:ext cx="3063600" cy="396000"/>
          </a:xfrm>
          <a:prstGeom prst="rect">
            <a:avLst/>
          </a:prstGeom>
          <a:noFill/>
        </p:spPr>
        <p:txBody>
          <a:bodyPr wrap="square">
            <a:spAutoFit/>
          </a:bodyPr>
          <a:lstStyle/>
          <a:p>
            <a:pPr algn="l"/>
            <a:r>
              <a:rPr sz="1900" b="1" i="0">
                <a:solidFill>
                  <a:srgbClr val="1B3A6B"/>
                </a:solidFill>
                <a:latin typeface="Calibri"/>
              </a:rPr>
              <a:t>261,30 $</a:t>
            </a:r>
          </a:p>
        </p:txBody>
      </p:sp>
      <p:sp>
        <p:nvSpPr>
          <p:cNvPr id="32" name="TextBox 31"/>
          <p:cNvSpPr txBox="1"/>
          <p:nvPr/>
        </p:nvSpPr>
        <p:spPr>
          <a:xfrm>
            <a:off x="5648400" y="3182400"/>
            <a:ext cx="30636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33" name="Rectangle 32"/>
          <p:cNvSpPr/>
          <p:nvPr/>
        </p:nvSpPr>
        <p:spPr>
          <a:xfrm>
            <a:off x="5558400" y="36216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558400" y="36216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648400" y="3675600"/>
            <a:ext cx="3063600" cy="396000"/>
          </a:xfrm>
          <a:prstGeom prst="rect">
            <a:avLst/>
          </a:prstGeom>
          <a:noFill/>
        </p:spPr>
        <p:txBody>
          <a:bodyPr wrap="square">
            <a:spAutoFit/>
          </a:bodyPr>
          <a:lstStyle/>
          <a:p>
            <a:pPr algn="l"/>
            <a:r>
              <a:rPr sz="1900" b="1" i="0">
                <a:solidFill>
                  <a:srgbClr val="1B3A6B"/>
                </a:solidFill>
                <a:latin typeface="Calibri"/>
              </a:rPr>
              <a:t>26,9x</a:t>
            </a:r>
          </a:p>
        </p:txBody>
      </p:sp>
      <p:sp>
        <p:nvSpPr>
          <p:cNvPr id="36" name="TextBox 35"/>
          <p:cNvSpPr txBox="1"/>
          <p:nvPr/>
        </p:nvSpPr>
        <p:spPr>
          <a:xfrm>
            <a:off x="5648400" y="4071600"/>
            <a:ext cx="3063600" cy="205199"/>
          </a:xfrm>
          <a:prstGeom prst="rect">
            <a:avLst/>
          </a:prstGeom>
          <a:noFill/>
        </p:spPr>
        <p:txBody>
          <a:bodyPr wrap="square">
            <a:spAutoFit/>
          </a:bodyPr>
          <a:lstStyle/>
          <a:p>
            <a:pPr algn="l"/>
            <a:r>
              <a:rPr sz="800" b="0" i="0">
                <a:solidFill>
                  <a:srgbClr val="555555"/>
                </a:solidFill>
                <a:latin typeface="Calibri"/>
              </a:rPr>
              <a:t>EV/EBITDA (LTM)</a:t>
            </a:r>
          </a:p>
        </p:txBody>
      </p:sp>
      <p:sp>
        <p:nvSpPr>
          <p:cNvPr id="37" name="TextBox 36"/>
          <p:cNvSpPr txBox="1"/>
          <p:nvPr/>
        </p:nvSpPr>
        <p:spPr>
          <a:xfrm>
            <a:off x="5648400" y="4269600"/>
            <a:ext cx="3063600" cy="165600"/>
          </a:xfrm>
          <a:prstGeom prst="rect">
            <a:avLst/>
          </a:prstGeom>
          <a:noFill/>
        </p:spPr>
        <p:txBody>
          <a:bodyPr wrap="square">
            <a:spAutoFit/>
          </a:bodyPr>
          <a:lstStyle/>
          <a:p>
            <a:pPr algn="l"/>
            <a:r>
              <a:rPr sz="700" b="0" i="0">
                <a:solidFill>
                  <a:srgbClr val="888888"/>
                </a:solidFill>
                <a:latin typeface="Calibri"/>
              </a:rPr>
              <a:t>P/E : 34,2x</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Modèle Économique</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Segments opérationnels et moteurs de croissance</a:t>
            </a:r>
          </a:p>
        </p:txBody>
      </p:sp>
      <p:sp>
        <p:nvSpPr>
          <p:cNvPr id="17" name="Rectangle 16"/>
          <p:cNvSpPr/>
          <p:nvPr/>
        </p:nvSpPr>
        <p:spPr>
          <a:xfrm>
            <a:off x="367200" y="961200"/>
            <a:ext cx="2731199" cy="3520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2731199"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141200"/>
            <a:ext cx="2551199" cy="640800"/>
          </a:xfrm>
          <a:prstGeom prst="rect">
            <a:avLst/>
          </a:prstGeom>
          <a:noFill/>
        </p:spPr>
        <p:txBody>
          <a:bodyPr wrap="square">
            <a:spAutoFit/>
          </a:bodyPr>
          <a:lstStyle/>
          <a:p>
            <a:pPr algn="l"/>
            <a:r>
              <a:rPr sz="2200" b="1" i="0">
                <a:solidFill>
                  <a:srgbClr val="2E5FA3"/>
                </a:solidFill>
                <a:latin typeface="Calibri"/>
              </a:rPr>
              <a:t>—</a:t>
            </a:r>
          </a:p>
        </p:txBody>
      </p:sp>
      <p:sp>
        <p:nvSpPr>
          <p:cNvPr id="20" name="TextBox 19"/>
          <p:cNvSpPr txBox="1"/>
          <p:nvPr/>
        </p:nvSpPr>
        <p:spPr>
          <a:xfrm>
            <a:off x="457200" y="1785600"/>
            <a:ext cx="2551199" cy="108000"/>
          </a:xfrm>
          <a:prstGeom prst="rect">
            <a:avLst/>
          </a:prstGeom>
          <a:noFill/>
        </p:spPr>
        <p:txBody>
          <a:bodyPr wrap="square">
            <a:spAutoFit/>
          </a:bodyPr>
          <a:lstStyle/>
          <a:p>
            <a:pPr algn="l"/>
            <a:r>
              <a:rPr sz="900" b="0" i="0">
                <a:solidFill>
                  <a:srgbClr val="555555"/>
                </a:solidFill>
                <a:latin typeface="Calibri"/>
              </a:rPr>
              <a:t>du CA</a:t>
            </a:r>
          </a:p>
        </p:txBody>
      </p:sp>
      <p:sp>
        <p:nvSpPr>
          <p:cNvPr id="21" name="Rectangle 20"/>
          <p:cNvSpPr/>
          <p:nvPr/>
        </p:nvSpPr>
        <p:spPr>
          <a:xfrm>
            <a:off x="457200" y="1965600"/>
            <a:ext cx="2551199"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2059200"/>
            <a:ext cx="2551199" cy="255600"/>
          </a:xfrm>
          <a:prstGeom prst="rect">
            <a:avLst/>
          </a:prstGeom>
          <a:noFill/>
        </p:spPr>
        <p:txBody>
          <a:bodyPr wrap="square">
            <a:spAutoFit/>
          </a:bodyPr>
          <a:lstStyle/>
          <a:p>
            <a:pPr algn="l"/>
            <a:r>
              <a:rPr sz="1000" b="1" i="0">
                <a:solidFill>
                  <a:srgbClr val="1B3A6B"/>
                </a:solidFill>
                <a:latin typeface="Calibri"/>
              </a:rPr>
              <a:t>Core Business</a:t>
            </a:r>
          </a:p>
        </p:txBody>
      </p:sp>
      <p:sp>
        <p:nvSpPr>
          <p:cNvPr id="23" name="TextBox 22"/>
          <p:cNvSpPr txBox="1"/>
          <p:nvPr/>
        </p:nvSpPr>
        <p:spPr>
          <a:xfrm>
            <a:off x="457200" y="2332800"/>
            <a:ext cx="2551199" cy="2041199"/>
          </a:xfrm>
          <a:prstGeom prst="rect">
            <a:avLst/>
          </a:prstGeom>
          <a:noFill/>
        </p:spPr>
        <p:txBody>
          <a:bodyPr wrap="square">
            <a:spAutoFit/>
          </a:bodyPr>
          <a:lstStyle/>
          <a:p>
            <a:pPr algn="l"/>
            <a:r>
              <a:rPr sz="800" b="0" i="0">
                <a:solidFill>
                  <a:srgbClr val="555555"/>
                </a:solidFill>
                <a:latin typeface="Calibri"/>
              </a:rPr>
              <a:t>—</a:t>
            </a:r>
          </a:p>
        </p:txBody>
      </p:sp>
      <p:sp>
        <p:nvSpPr>
          <p:cNvPr id="24" name="Rectangle 23"/>
          <p:cNvSpPr/>
          <p:nvPr/>
        </p:nvSpPr>
        <p:spPr>
          <a:xfrm>
            <a:off x="3206400" y="961200"/>
            <a:ext cx="2731199" cy="35208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206400" y="961200"/>
            <a:ext cx="2731199" cy="5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296400" y="1141200"/>
            <a:ext cx="2551199" cy="640800"/>
          </a:xfrm>
          <a:prstGeom prst="rect">
            <a:avLst/>
          </a:prstGeom>
          <a:noFill/>
        </p:spPr>
        <p:txBody>
          <a:bodyPr wrap="square">
            <a:spAutoFit/>
          </a:bodyPr>
          <a:lstStyle/>
          <a:p>
            <a:pPr algn="l"/>
            <a:r>
              <a:rPr sz="2200" b="1" i="0">
                <a:solidFill>
                  <a:srgbClr val="1A7A4A"/>
                </a:solidFill>
                <a:latin typeface="Calibri"/>
              </a:rPr>
              <a:t>—</a:t>
            </a:r>
          </a:p>
        </p:txBody>
      </p:sp>
      <p:sp>
        <p:nvSpPr>
          <p:cNvPr id="27" name="TextBox 26"/>
          <p:cNvSpPr txBox="1"/>
          <p:nvPr/>
        </p:nvSpPr>
        <p:spPr>
          <a:xfrm>
            <a:off x="3296400" y="1785600"/>
            <a:ext cx="2551199" cy="108000"/>
          </a:xfrm>
          <a:prstGeom prst="rect">
            <a:avLst/>
          </a:prstGeom>
          <a:noFill/>
        </p:spPr>
        <p:txBody>
          <a:bodyPr wrap="square">
            <a:spAutoFit/>
          </a:bodyPr>
          <a:lstStyle/>
          <a:p>
            <a:pPr algn="l"/>
            <a:r>
              <a:rPr sz="900" b="0" i="0">
                <a:solidFill>
                  <a:srgbClr val="555555"/>
                </a:solidFill>
                <a:latin typeface="Calibri"/>
              </a:rPr>
              <a:t>du CA</a:t>
            </a:r>
          </a:p>
        </p:txBody>
      </p:sp>
      <p:sp>
        <p:nvSpPr>
          <p:cNvPr id="28" name="Rectangle 27"/>
          <p:cNvSpPr/>
          <p:nvPr/>
        </p:nvSpPr>
        <p:spPr>
          <a:xfrm>
            <a:off x="3296400" y="1965600"/>
            <a:ext cx="2551199"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96400" y="2059200"/>
            <a:ext cx="2551199" cy="255600"/>
          </a:xfrm>
          <a:prstGeom prst="rect">
            <a:avLst/>
          </a:prstGeom>
          <a:noFill/>
        </p:spPr>
        <p:txBody>
          <a:bodyPr wrap="square">
            <a:spAutoFit/>
          </a:bodyPr>
          <a:lstStyle/>
          <a:p>
            <a:pPr algn="l"/>
            <a:r>
              <a:rPr sz="1000" b="1" i="0">
                <a:solidFill>
                  <a:srgbClr val="1B3A6B"/>
                </a:solidFill>
                <a:latin typeface="Calibri"/>
              </a:rPr>
              <a:t>Growth Driver</a:t>
            </a:r>
          </a:p>
        </p:txBody>
      </p:sp>
      <p:sp>
        <p:nvSpPr>
          <p:cNvPr id="30" name="TextBox 29"/>
          <p:cNvSpPr txBox="1"/>
          <p:nvPr/>
        </p:nvSpPr>
        <p:spPr>
          <a:xfrm>
            <a:off x="3296400" y="2332800"/>
            <a:ext cx="2551199" cy="2041199"/>
          </a:xfrm>
          <a:prstGeom prst="rect">
            <a:avLst/>
          </a:prstGeom>
          <a:noFill/>
        </p:spPr>
        <p:txBody>
          <a:bodyPr wrap="square">
            <a:spAutoFit/>
          </a:bodyPr>
          <a:lstStyle/>
          <a:p>
            <a:pPr algn="l"/>
            <a:r>
              <a:rPr sz="800" b="0" i="0">
                <a:solidFill>
                  <a:srgbClr val="555555"/>
                </a:solidFill>
                <a:latin typeface="Calibri"/>
              </a:rPr>
              <a:t>—</a:t>
            </a:r>
          </a:p>
        </p:txBody>
      </p:sp>
      <p:sp>
        <p:nvSpPr>
          <p:cNvPr id="31" name="Rectangle 30"/>
          <p:cNvSpPr/>
          <p:nvPr/>
        </p:nvSpPr>
        <p:spPr>
          <a:xfrm>
            <a:off x="6045600" y="961200"/>
            <a:ext cx="2731199" cy="3520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045600" y="961200"/>
            <a:ext cx="2731199" cy="54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135600" y="1141200"/>
            <a:ext cx="2551199" cy="640800"/>
          </a:xfrm>
          <a:prstGeom prst="rect">
            <a:avLst/>
          </a:prstGeom>
          <a:noFill/>
        </p:spPr>
        <p:txBody>
          <a:bodyPr wrap="square">
            <a:spAutoFit/>
          </a:bodyPr>
          <a:lstStyle/>
          <a:p>
            <a:pPr algn="l"/>
            <a:r>
              <a:rPr sz="2200" b="1" i="0">
                <a:solidFill>
                  <a:srgbClr val="888888"/>
                </a:solidFill>
                <a:latin typeface="Calibri"/>
              </a:rPr>
              <a:t>—</a:t>
            </a:r>
          </a:p>
        </p:txBody>
      </p:sp>
      <p:sp>
        <p:nvSpPr>
          <p:cNvPr id="34" name="TextBox 33"/>
          <p:cNvSpPr txBox="1"/>
          <p:nvPr/>
        </p:nvSpPr>
        <p:spPr>
          <a:xfrm>
            <a:off x="6135600" y="1785600"/>
            <a:ext cx="2551199" cy="108000"/>
          </a:xfrm>
          <a:prstGeom prst="rect">
            <a:avLst/>
          </a:prstGeom>
          <a:noFill/>
        </p:spPr>
        <p:txBody>
          <a:bodyPr wrap="square">
            <a:spAutoFit/>
          </a:bodyPr>
          <a:lstStyle/>
          <a:p>
            <a:pPr algn="l"/>
            <a:r>
              <a:rPr sz="900" b="0" i="0">
                <a:solidFill>
                  <a:srgbClr val="555555"/>
                </a:solidFill>
                <a:latin typeface="Calibri"/>
              </a:rPr>
              <a:t>du CA</a:t>
            </a:r>
          </a:p>
        </p:txBody>
      </p:sp>
      <p:sp>
        <p:nvSpPr>
          <p:cNvPr id="35" name="Rectangle 34"/>
          <p:cNvSpPr/>
          <p:nvPr/>
        </p:nvSpPr>
        <p:spPr>
          <a:xfrm>
            <a:off x="6135600" y="1965600"/>
            <a:ext cx="2551199"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135600" y="2059200"/>
            <a:ext cx="2551199" cy="255600"/>
          </a:xfrm>
          <a:prstGeom prst="rect">
            <a:avLst/>
          </a:prstGeom>
          <a:noFill/>
        </p:spPr>
        <p:txBody>
          <a:bodyPr wrap="square">
            <a:spAutoFit/>
          </a:bodyPr>
          <a:lstStyle/>
          <a:p>
            <a:pPr algn="l"/>
            <a:r>
              <a:rPr sz="1000" b="1" i="0">
                <a:solidFill>
                  <a:srgbClr val="1B3A6B"/>
                </a:solidFill>
                <a:latin typeface="Calibri"/>
              </a:rPr>
              <a:t>International</a:t>
            </a:r>
          </a:p>
        </p:txBody>
      </p:sp>
      <p:sp>
        <p:nvSpPr>
          <p:cNvPr id="37" name="TextBox 36"/>
          <p:cNvSpPr txBox="1"/>
          <p:nvPr/>
        </p:nvSpPr>
        <p:spPr>
          <a:xfrm>
            <a:off x="6135600" y="2332800"/>
            <a:ext cx="2551199" cy="2041199"/>
          </a:xfrm>
          <a:prstGeom prst="rect">
            <a:avLst/>
          </a:prstGeom>
          <a:noFill/>
        </p:spPr>
        <p:txBody>
          <a:bodyPr wrap="square">
            <a:spAutoFit/>
          </a:bodyPr>
          <a:lstStyle/>
          <a:p>
            <a:pPr algn="l"/>
            <a:r>
              <a:rPr sz="800" b="0" i="0">
                <a:solidFill>
                  <a:srgbClr val="555555"/>
                </a:solidFill>
                <a:latin typeface="Calibri"/>
              </a:rPr>
              <a: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02</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Analyse Financière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Compte de résultat, bilan, liquidité &amp; ratios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Analyse Financière — Compte de Résultat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USD millions  ·  2021–2025</a:t>
            </a:r>
          </a:p>
        </p:txBody>
      </p:sp>
      <p:graphicFrame>
        <p:nvGraphicFramePr>
          <p:cNvPr id="17" name="Table 16"/>
          <p:cNvGraphicFramePr>
            <a:graphicFrameLocks noGrp="1"/>
          </p:cNvGraphicFramePr>
          <p:nvPr/>
        </p:nvGraphicFramePr>
        <p:xfrm>
          <a:off x="367200" y="914400"/>
          <a:ext cx="8413200" cy="1980000"/>
        </p:xfrm>
        <a:graphic>
          <a:graphicData uri="http://schemas.openxmlformats.org/drawingml/2006/table">
            <a:tbl>
              <a:tblPr firstRow="1" bandRow="1">
                <a:tableStyleId>{5C22544A-7EE6-4342-B048-85BDC9FD1C3A}</a:tableStyleId>
              </a:tblPr>
              <a:tblGrid>
                <a:gridCol w="2355696"/>
                <a:gridCol w="2019168"/>
                <a:gridCol w="2019168"/>
                <a:gridCol w="2019168"/>
              </a:tblGrid>
              <a:tr h="220000">
                <a:tc>
                  <a:txBody>
                    <a:bodyPr/>
                    <a:lstStyle/>
                    <a:p>
                      <a:pPr algn="l"/>
                      <a:r>
                        <a:rPr sz="800" b="1" i="0">
                          <a:solidFill>
                            <a:srgbClr val="FFFFFF"/>
                          </a:solidFill>
                          <a:latin typeface="Calibri"/>
                        </a:rPr>
                        <a:t>Indicateur</a:t>
                      </a:r>
                    </a:p>
                  </a:txBody>
                  <a:tcPr>
                    <a:solidFill>
                      <a:srgbClr val="1B3A6B"/>
                    </a:solidFill>
                  </a:tcPr>
                </a:tc>
                <a:tc>
                  <a:txBody>
                    <a:bodyPr/>
                    <a:lstStyle/>
                    <a:p>
                      <a:pPr algn="ctr"/>
                      <a:r>
                        <a:rPr sz="800" b="1" i="0">
                          <a:solidFill>
                            <a:srgbClr val="FFFFFF"/>
                          </a:solidFill>
                          <a:latin typeface="Calibri"/>
                        </a:rPr>
                        <a:t>2023</a:t>
                      </a:r>
                    </a:p>
                  </a:txBody>
                  <a:tcPr>
                    <a:solidFill>
                      <a:srgbClr val="1B3A6B"/>
                    </a:solidFill>
                  </a:tcPr>
                </a:tc>
                <a:tc>
                  <a:txBody>
                    <a:bodyPr/>
                    <a:lstStyle/>
                    <a:p>
                      <a:pPr algn="ctr"/>
                      <a:r>
                        <a:rPr sz="800" b="1" i="0">
                          <a:solidFill>
                            <a:srgbClr val="FFFFFF"/>
                          </a:solidFill>
                          <a:latin typeface="Calibri"/>
                        </a:rPr>
                        <a:t>2024</a:t>
                      </a:r>
                    </a:p>
                  </a:txBody>
                  <a:tcPr>
                    <a:solidFill>
                      <a:srgbClr val="1B3A6B"/>
                    </a:solidFill>
                  </a:tcPr>
                </a:tc>
                <a:tc>
                  <a:txBody>
                    <a:bodyPr/>
                    <a:lstStyle/>
                    <a:p>
                      <a:pPr algn="ctr"/>
                      <a:r>
                        <a:rPr sz="800" b="1" i="0">
                          <a:solidFill>
                            <a:srgbClr val="FFFFFF"/>
                          </a:solidFill>
                          <a:latin typeface="Calibri"/>
                        </a:rPr>
                        <a:t>2025</a:t>
                      </a:r>
                    </a:p>
                  </a:txBody>
                  <a:tcPr>
                    <a:solidFill>
                      <a:srgbClr val="1B3A6B"/>
                    </a:solidFill>
                  </a:tcPr>
                </a:tc>
              </a:tr>
              <a:tr h="220000">
                <a:tc>
                  <a:txBody>
                    <a:bodyPr/>
                    <a:lstStyle/>
                    <a:p>
                      <a:pPr algn="l"/>
                      <a:r>
                        <a:rPr sz="800" b="1" i="0">
                          <a:solidFill>
                            <a:srgbClr val="0D0D0D"/>
                          </a:solidFill>
                          <a:latin typeface="Calibri"/>
                        </a:rPr>
                        <a:t>Chiffre d'affaires</a:t>
                      </a:r>
                    </a:p>
                  </a:txBody>
                  <a:tcPr>
                    <a:solidFill>
                      <a:srgbClr val="FFFFFF"/>
                    </a:solidFill>
                  </a:tcPr>
                </a:tc>
                <a:tc>
                  <a:txBody>
                    <a:bodyPr/>
                    <a:lstStyle/>
                    <a:p>
                      <a:pPr algn="ctr"/>
                      <a:r>
                        <a:rPr sz="800" b="1" i="0">
                          <a:solidFill>
                            <a:srgbClr val="0D0D0D"/>
                          </a:solidFill>
                          <a:latin typeface="Calibri"/>
                        </a:rPr>
                        <a:t>383,3</a:t>
                      </a:r>
                    </a:p>
                  </a:txBody>
                  <a:tcPr>
                    <a:solidFill>
                      <a:srgbClr val="FFFFFF"/>
                    </a:solidFill>
                  </a:tcPr>
                </a:tc>
                <a:tc>
                  <a:txBody>
                    <a:bodyPr/>
                    <a:lstStyle/>
                    <a:p>
                      <a:pPr algn="ctr"/>
                      <a:r>
                        <a:rPr sz="800" b="1" i="0">
                          <a:solidFill>
                            <a:srgbClr val="0D0D0D"/>
                          </a:solidFill>
                          <a:latin typeface="Calibri"/>
                        </a:rPr>
                        <a:t>391,0</a:t>
                      </a:r>
                    </a:p>
                  </a:txBody>
                  <a:tcPr>
                    <a:solidFill>
                      <a:srgbClr val="FFFFFF"/>
                    </a:solidFill>
                  </a:tcPr>
                </a:tc>
                <a:tc>
                  <a:txBody>
                    <a:bodyPr/>
                    <a:lstStyle/>
                    <a:p>
                      <a:pPr algn="ctr"/>
                      <a:r>
                        <a:rPr sz="800" b="1" i="0">
                          <a:solidFill>
                            <a:srgbClr val="1B3A6B"/>
                          </a:solidFill>
                          <a:latin typeface="Calibri"/>
                        </a:rPr>
                        <a:t>416,2</a:t>
                      </a:r>
                    </a:p>
                  </a:txBody>
                  <a:tcPr>
                    <a:solidFill>
                      <a:srgbClr val="DDE8F5"/>
                    </a:solidFill>
                  </a:tcPr>
                </a:tc>
              </a:tr>
              <a:tr h="220000">
                <a:tc>
                  <a:txBody>
                    <a:bodyPr/>
                    <a:lstStyle/>
                    <a:p>
                      <a:pPr algn="l"/>
                      <a:r>
                        <a:rPr sz="750" b="0" i="1">
                          <a:solidFill>
                            <a:srgbClr val="333333"/>
                          </a:solidFill>
                          <a:latin typeface="Calibri"/>
                        </a:rPr>
                        <a:t>Croissance YoY</a:t>
                      </a:r>
                    </a:p>
                  </a:txBody>
                  <a:tcPr>
                    <a:solidFill>
                      <a:srgbClr val="F7F8FA"/>
                    </a:solidFill>
                  </a:tcPr>
                </a:tc>
                <a:tc>
                  <a:txBody>
                    <a:bodyPr/>
                    <a:lstStyle/>
                    <a:p>
                      <a:pPr algn="ctr"/>
                      <a:r>
                        <a:rPr sz="750" b="0" i="1">
                          <a:solidFill>
                            <a:srgbClr val="333333"/>
                          </a:solidFill>
                          <a:latin typeface="Calibri"/>
                        </a:rPr>
                        <a:t>-2,8 %</a:t>
                      </a:r>
                    </a:p>
                  </a:txBody>
                  <a:tcPr>
                    <a:solidFill>
                      <a:srgbClr val="F7F8FA"/>
                    </a:solidFill>
                  </a:tcPr>
                </a:tc>
                <a:tc>
                  <a:txBody>
                    <a:bodyPr/>
                    <a:lstStyle/>
                    <a:p>
                      <a:pPr algn="ctr"/>
                      <a:r>
                        <a:rPr sz="750" b="0" i="1">
                          <a:solidFill>
                            <a:srgbClr val="333333"/>
                          </a:solidFill>
                          <a:latin typeface="Calibri"/>
                        </a:rPr>
                        <a:t>+2,0 %</a:t>
                      </a:r>
                    </a:p>
                  </a:txBody>
                  <a:tcPr>
                    <a:solidFill>
                      <a:srgbClr val="F7F8FA"/>
                    </a:solidFill>
                  </a:tcPr>
                </a:tc>
                <a:tc>
                  <a:txBody>
                    <a:bodyPr/>
                    <a:lstStyle/>
                    <a:p>
                      <a:pPr algn="ctr"/>
                      <a:r>
                        <a:rPr sz="750" b="0" i="1">
                          <a:solidFill>
                            <a:srgbClr val="333333"/>
                          </a:solidFill>
                          <a:latin typeface="Calibri"/>
                        </a:rPr>
                        <a:t>+6,4 %</a:t>
                      </a:r>
                    </a:p>
                  </a:txBody>
                  <a:tcPr>
                    <a:solidFill>
                      <a:srgbClr val="DDE8F5"/>
                    </a:solidFill>
                  </a:tcPr>
                </a:tc>
              </a:tr>
              <a:tr h="220000">
                <a:tc>
                  <a:txBody>
                    <a:bodyPr/>
                    <a:lstStyle/>
                    <a:p>
                      <a:pPr algn="l"/>
                      <a:r>
                        <a:rPr sz="800" b="1" i="0">
                          <a:solidFill>
                            <a:srgbClr val="0D0D0D"/>
                          </a:solidFill>
                          <a:latin typeface="Calibri"/>
                        </a:rPr>
                        <a:t>Résultat brut</a:t>
                      </a:r>
                    </a:p>
                  </a:txBody>
                  <a:tcPr>
                    <a:solidFill>
                      <a:srgbClr val="FFFFFF"/>
                    </a:solidFill>
                  </a:tcPr>
                </a:tc>
                <a:tc>
                  <a:txBody>
                    <a:bodyPr/>
                    <a:lstStyle/>
                    <a:p>
                      <a:pPr algn="ctr"/>
                      <a:r>
                        <a:rPr sz="800" b="1" i="0">
                          <a:solidFill>
                            <a:srgbClr val="0D0D0D"/>
                          </a:solidFill>
                          <a:latin typeface="Calibri"/>
                        </a:rPr>
                        <a:t>169,1</a:t>
                      </a:r>
                    </a:p>
                  </a:txBody>
                  <a:tcPr>
                    <a:solidFill>
                      <a:srgbClr val="FFFFFF"/>
                    </a:solidFill>
                  </a:tcPr>
                </a:tc>
                <a:tc>
                  <a:txBody>
                    <a:bodyPr/>
                    <a:lstStyle/>
                    <a:p>
                      <a:pPr algn="ctr"/>
                      <a:r>
                        <a:rPr sz="800" b="1" i="0">
                          <a:solidFill>
                            <a:srgbClr val="0D0D0D"/>
                          </a:solidFill>
                          <a:latin typeface="Calibri"/>
                        </a:rPr>
                        <a:t>180,7</a:t>
                      </a:r>
                    </a:p>
                  </a:txBody>
                  <a:tcPr>
                    <a:solidFill>
                      <a:srgbClr val="FFFFFF"/>
                    </a:solidFill>
                  </a:tcPr>
                </a:tc>
                <a:tc>
                  <a:txBody>
                    <a:bodyPr/>
                    <a:lstStyle/>
                    <a:p>
                      <a:pPr algn="ctr"/>
                      <a:r>
                        <a:rPr sz="800" b="1" i="0">
                          <a:solidFill>
                            <a:srgbClr val="1B3A6B"/>
                          </a:solidFill>
                          <a:latin typeface="Calibri"/>
                        </a:rPr>
                        <a:t>195,2</a:t>
                      </a:r>
                    </a:p>
                  </a:txBody>
                  <a:tcPr>
                    <a:solidFill>
                      <a:srgbClr val="DDE8F5"/>
                    </a:solidFill>
                  </a:tcPr>
                </a:tc>
              </a:tr>
              <a:tr h="220000">
                <a:tc>
                  <a:txBody>
                    <a:bodyPr/>
                    <a:lstStyle/>
                    <a:p>
                      <a:pPr algn="l"/>
                      <a:r>
                        <a:rPr sz="750" b="0" i="1">
                          <a:solidFill>
                            <a:srgbClr val="333333"/>
                          </a:solidFill>
                          <a:latin typeface="Calibri"/>
                        </a:rPr>
                        <a:t>Marge brute</a:t>
                      </a:r>
                    </a:p>
                  </a:txBody>
                  <a:tcPr>
                    <a:solidFill>
                      <a:srgbClr val="F7F8FA"/>
                    </a:solidFill>
                  </a:tcPr>
                </a:tc>
                <a:tc>
                  <a:txBody>
                    <a:bodyPr/>
                    <a:lstStyle/>
                    <a:p>
                      <a:pPr algn="ctr"/>
                      <a:r>
                        <a:rPr sz="750" b="0" i="1">
                          <a:solidFill>
                            <a:srgbClr val="333333"/>
                          </a:solidFill>
                          <a:latin typeface="Calibri"/>
                        </a:rPr>
                        <a:t>44,1 %</a:t>
                      </a:r>
                    </a:p>
                  </a:txBody>
                  <a:tcPr>
                    <a:solidFill>
                      <a:srgbClr val="F7F8FA"/>
                    </a:solidFill>
                  </a:tcPr>
                </a:tc>
                <a:tc>
                  <a:txBody>
                    <a:bodyPr/>
                    <a:lstStyle/>
                    <a:p>
                      <a:pPr algn="ctr"/>
                      <a:r>
                        <a:rPr sz="750" b="0" i="1">
                          <a:solidFill>
                            <a:srgbClr val="333333"/>
                          </a:solidFill>
                          <a:latin typeface="Calibri"/>
                        </a:rPr>
                        <a:t>46,2 %</a:t>
                      </a:r>
                    </a:p>
                  </a:txBody>
                  <a:tcPr>
                    <a:solidFill>
                      <a:srgbClr val="F7F8FA"/>
                    </a:solidFill>
                  </a:tcPr>
                </a:tc>
                <a:tc>
                  <a:txBody>
                    <a:bodyPr/>
                    <a:lstStyle/>
                    <a:p>
                      <a:pPr algn="ctr"/>
                      <a:r>
                        <a:rPr sz="750" b="0" i="1">
                          <a:solidFill>
                            <a:srgbClr val="333333"/>
                          </a:solidFill>
                          <a:latin typeface="Calibri"/>
                        </a:rPr>
                        <a:t>46,9 %</a:t>
                      </a:r>
                    </a:p>
                  </a:txBody>
                  <a:tcPr>
                    <a:solidFill>
                      <a:srgbClr val="DDE8F5"/>
                    </a:solidFill>
                  </a:tcPr>
                </a:tc>
              </a:tr>
              <a:tr h="220000">
                <a:tc>
                  <a:txBody>
                    <a:bodyPr/>
                    <a:lstStyle/>
                    <a:p>
                      <a:pPr algn="l"/>
                      <a:r>
                        <a:rPr sz="800" b="1" i="0">
                          <a:solidFill>
                            <a:srgbClr val="0D0D0D"/>
                          </a:solidFill>
                          <a:latin typeface="Calibri"/>
                        </a:rPr>
                        <a:t>EBITDA</a:t>
                      </a:r>
                    </a:p>
                  </a:txBody>
                  <a:tcPr>
                    <a:solidFill>
                      <a:srgbClr val="FFFFFF"/>
                    </a:solidFill>
                  </a:tcPr>
                </a:tc>
                <a:tc>
                  <a:txBody>
                    <a:bodyPr/>
                    <a:lstStyle/>
                    <a:p>
                      <a:pPr algn="ctr"/>
                      <a:r>
                        <a:rPr sz="800" b="1" i="0">
                          <a:solidFill>
                            <a:srgbClr val="0D0D0D"/>
                          </a:solidFill>
                          <a:latin typeface="Calibri"/>
                        </a:rPr>
                        <a:t>125,8</a:t>
                      </a:r>
                    </a:p>
                  </a:txBody>
                  <a:tcPr>
                    <a:solidFill>
                      <a:srgbClr val="FFFFFF"/>
                    </a:solidFill>
                  </a:tcPr>
                </a:tc>
                <a:tc>
                  <a:txBody>
                    <a:bodyPr/>
                    <a:lstStyle/>
                    <a:p>
                      <a:pPr algn="ctr"/>
                      <a:r>
                        <a:rPr sz="800" b="1" i="0">
                          <a:solidFill>
                            <a:srgbClr val="0D0D0D"/>
                          </a:solidFill>
                          <a:latin typeface="Calibri"/>
                        </a:rPr>
                        <a:t>134,7</a:t>
                      </a:r>
                    </a:p>
                  </a:txBody>
                  <a:tcPr>
                    <a:solidFill>
                      <a:srgbClr val="FFFFFF"/>
                    </a:solidFill>
                  </a:tcPr>
                </a:tc>
                <a:tc>
                  <a:txBody>
                    <a:bodyPr/>
                    <a:lstStyle/>
                    <a:p>
                      <a:pPr algn="ctr"/>
                      <a:r>
                        <a:rPr sz="800" b="1" i="0">
                          <a:solidFill>
                            <a:srgbClr val="1B3A6B"/>
                          </a:solidFill>
                          <a:latin typeface="Calibri"/>
                        </a:rPr>
                        <a:t>144,7</a:t>
                      </a:r>
                    </a:p>
                  </a:txBody>
                  <a:tcPr>
                    <a:solidFill>
                      <a:srgbClr val="DDE8F5"/>
                    </a:solidFill>
                  </a:tcPr>
                </a:tc>
              </a:tr>
              <a:tr h="220000">
                <a:tc>
                  <a:txBody>
                    <a:bodyPr/>
                    <a:lstStyle/>
                    <a:p>
                      <a:pPr algn="l"/>
                      <a:r>
                        <a:rPr sz="750" b="0" i="1">
                          <a:solidFill>
                            <a:srgbClr val="333333"/>
                          </a:solidFill>
                          <a:latin typeface="Calibri"/>
                        </a:rPr>
                        <a:t>Marge EBITDA</a:t>
                      </a:r>
                    </a:p>
                  </a:txBody>
                  <a:tcPr>
                    <a:solidFill>
                      <a:srgbClr val="F7F8FA"/>
                    </a:solidFill>
                  </a:tcPr>
                </a:tc>
                <a:tc>
                  <a:txBody>
                    <a:bodyPr/>
                    <a:lstStyle/>
                    <a:p>
                      <a:pPr algn="ctr"/>
                      <a:r>
                        <a:rPr sz="750" b="0" i="1">
                          <a:solidFill>
                            <a:srgbClr val="333333"/>
                          </a:solidFill>
                          <a:latin typeface="Calibri"/>
                        </a:rPr>
                        <a:t>32,8 %</a:t>
                      </a:r>
                    </a:p>
                  </a:txBody>
                  <a:tcPr>
                    <a:solidFill>
                      <a:srgbClr val="F7F8FA"/>
                    </a:solidFill>
                  </a:tcPr>
                </a:tc>
                <a:tc>
                  <a:txBody>
                    <a:bodyPr/>
                    <a:lstStyle/>
                    <a:p>
                      <a:pPr algn="ctr"/>
                      <a:r>
                        <a:rPr sz="750" b="0" i="1">
                          <a:solidFill>
                            <a:srgbClr val="333333"/>
                          </a:solidFill>
                          <a:latin typeface="Calibri"/>
                        </a:rPr>
                        <a:t>34,4 %</a:t>
                      </a:r>
                    </a:p>
                  </a:txBody>
                  <a:tcPr>
                    <a:solidFill>
                      <a:srgbClr val="F7F8FA"/>
                    </a:solidFill>
                  </a:tcPr>
                </a:tc>
                <a:tc>
                  <a:txBody>
                    <a:bodyPr/>
                    <a:lstStyle/>
                    <a:p>
                      <a:pPr algn="ctr"/>
                      <a:r>
                        <a:rPr sz="750" b="0" i="1">
                          <a:solidFill>
                            <a:srgbClr val="333333"/>
                          </a:solidFill>
                          <a:latin typeface="Calibri"/>
                        </a:rPr>
                        <a:t>34,8 %</a:t>
                      </a:r>
                    </a:p>
                  </a:txBody>
                  <a:tcPr>
                    <a:solidFill>
                      <a:srgbClr val="DDE8F5"/>
                    </a:solidFill>
                  </a:tcPr>
                </a:tc>
              </a:tr>
              <a:tr h="220000">
                <a:tc>
                  <a:txBody>
                    <a:bodyPr/>
                    <a:lstStyle/>
                    <a:p>
                      <a:pPr algn="l"/>
                      <a:r>
                        <a:rPr sz="800" b="1" i="0">
                          <a:solidFill>
                            <a:srgbClr val="0D0D0D"/>
                          </a:solidFill>
                          <a:latin typeface="Calibri"/>
                        </a:rPr>
                        <a:t>Résultat net</a:t>
                      </a:r>
                    </a:p>
                  </a:txBody>
                  <a:tcPr>
                    <a:solidFill>
                      <a:srgbClr val="FFFFFF"/>
                    </a:solidFill>
                  </a:tcPr>
                </a:tc>
                <a:tc>
                  <a:txBody>
                    <a:bodyPr/>
                    <a:lstStyle/>
                    <a:p>
                      <a:pPr algn="ctr"/>
                      <a:r>
                        <a:rPr sz="800" b="1" i="0">
                          <a:solidFill>
                            <a:srgbClr val="0D0D0D"/>
                          </a:solidFill>
                          <a:latin typeface="Calibri"/>
                        </a:rPr>
                        <a:t>97,0</a:t>
                      </a:r>
                    </a:p>
                  </a:txBody>
                  <a:tcPr>
                    <a:solidFill>
                      <a:srgbClr val="FFFFFF"/>
                    </a:solidFill>
                  </a:tcPr>
                </a:tc>
                <a:tc>
                  <a:txBody>
                    <a:bodyPr/>
                    <a:lstStyle/>
                    <a:p>
                      <a:pPr algn="ctr"/>
                      <a:r>
                        <a:rPr sz="800" b="1" i="0">
                          <a:solidFill>
                            <a:srgbClr val="0D0D0D"/>
                          </a:solidFill>
                          <a:latin typeface="Calibri"/>
                        </a:rPr>
                        <a:t>93,7</a:t>
                      </a:r>
                    </a:p>
                  </a:txBody>
                  <a:tcPr>
                    <a:solidFill>
                      <a:srgbClr val="FFFFFF"/>
                    </a:solidFill>
                  </a:tcPr>
                </a:tc>
                <a:tc>
                  <a:txBody>
                    <a:bodyPr/>
                    <a:lstStyle/>
                    <a:p>
                      <a:pPr algn="ctr"/>
                      <a:r>
                        <a:rPr sz="800" b="1" i="0">
                          <a:solidFill>
                            <a:srgbClr val="1B3A6B"/>
                          </a:solidFill>
                          <a:latin typeface="Calibri"/>
                        </a:rPr>
                        <a:t>112,0</a:t>
                      </a:r>
                    </a:p>
                  </a:txBody>
                  <a:tcPr>
                    <a:solidFill>
                      <a:srgbClr val="DDE8F5"/>
                    </a:solidFill>
                  </a:tcPr>
                </a:tc>
              </a:tr>
              <a:tr h="220000">
                <a:tc>
                  <a:txBody>
                    <a:bodyPr/>
                    <a:lstStyle/>
                    <a:p>
                      <a:pPr algn="l"/>
                      <a:r>
                        <a:rPr sz="750" b="0" i="1">
                          <a:solidFill>
                            <a:srgbClr val="333333"/>
                          </a:solidFill>
                          <a:latin typeface="Calibri"/>
                        </a:rPr>
                        <a:t>Marge nette</a:t>
                      </a:r>
                    </a:p>
                  </a:txBody>
                  <a:tcPr>
                    <a:solidFill>
                      <a:srgbClr val="F7F8FA"/>
                    </a:solidFill>
                  </a:tcPr>
                </a:tc>
                <a:tc>
                  <a:txBody>
                    <a:bodyPr/>
                    <a:lstStyle/>
                    <a:p>
                      <a:pPr algn="ctr"/>
                      <a:r>
                        <a:rPr sz="750" b="0" i="1">
                          <a:solidFill>
                            <a:srgbClr val="333333"/>
                          </a:solidFill>
                          <a:latin typeface="Calibri"/>
                        </a:rPr>
                        <a:t>25,3 %</a:t>
                      </a:r>
                    </a:p>
                  </a:txBody>
                  <a:tcPr>
                    <a:solidFill>
                      <a:srgbClr val="F7F8FA"/>
                    </a:solidFill>
                  </a:tcPr>
                </a:tc>
                <a:tc>
                  <a:txBody>
                    <a:bodyPr/>
                    <a:lstStyle/>
                    <a:p>
                      <a:pPr algn="ctr"/>
                      <a:r>
                        <a:rPr sz="750" b="0" i="1">
                          <a:solidFill>
                            <a:srgbClr val="333333"/>
                          </a:solidFill>
                          <a:latin typeface="Calibri"/>
                        </a:rPr>
                        <a:t>24,0 %</a:t>
                      </a:r>
                    </a:p>
                  </a:txBody>
                  <a:tcPr>
                    <a:solidFill>
                      <a:srgbClr val="F7F8FA"/>
                    </a:solidFill>
                  </a:tcPr>
                </a:tc>
                <a:tc>
                  <a:txBody>
                    <a:bodyPr/>
                    <a:lstStyle/>
                    <a:p>
                      <a:pPr algn="ctr"/>
                      <a:r>
                        <a:rPr sz="750" b="0" i="1">
                          <a:solidFill>
                            <a:srgbClr val="333333"/>
                          </a:solidFill>
                          <a:latin typeface="Calibri"/>
                        </a:rPr>
                        <a:t>26,9 %</a:t>
                      </a:r>
                    </a:p>
                  </a:txBody>
                  <a:tcPr>
                    <a:solidFill>
                      <a:srgbClr val="DDE8F5"/>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Bilan &amp; Liquidité</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Structure financière  ·  USD millions  ·  LTM 2025</a:t>
            </a:r>
          </a:p>
        </p:txBody>
      </p:sp>
      <p:sp>
        <p:nvSpPr>
          <p:cNvPr id="17" name="Rectangle 16"/>
          <p:cNvSpPr/>
          <p:nvPr/>
        </p:nvSpPr>
        <p:spPr>
          <a:xfrm>
            <a:off x="367200" y="9612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516400" cy="396000"/>
          </a:xfrm>
          <a:prstGeom prst="rect">
            <a:avLst/>
          </a:prstGeom>
          <a:noFill/>
        </p:spPr>
        <p:txBody>
          <a:bodyPr wrap="square">
            <a:spAutoFit/>
          </a:bodyPr>
          <a:lstStyle/>
          <a:p>
            <a:pPr algn="l"/>
            <a:r>
              <a:rPr sz="1900" b="1" i="0">
                <a:solidFill>
                  <a:srgbClr val="1B3A6B"/>
                </a:solidFill>
                <a:latin typeface="Calibri"/>
              </a:rPr>
              <a:t>35,9 Mds$</a:t>
            </a:r>
          </a:p>
        </p:txBody>
      </p:sp>
      <p:sp>
        <p:nvSpPr>
          <p:cNvPr id="20" name="TextBox 19"/>
          <p:cNvSpPr txBox="1"/>
          <p:nvPr/>
        </p:nvSpPr>
        <p:spPr>
          <a:xfrm>
            <a:off x="457200" y="1411200"/>
            <a:ext cx="2516400" cy="205199"/>
          </a:xfrm>
          <a:prstGeom prst="rect">
            <a:avLst/>
          </a:prstGeom>
          <a:noFill/>
        </p:spPr>
        <p:txBody>
          <a:bodyPr wrap="square">
            <a:spAutoFit/>
          </a:bodyPr>
          <a:lstStyle/>
          <a:p>
            <a:pPr algn="l"/>
            <a:r>
              <a:rPr sz="800" b="0" i="0">
                <a:solidFill>
                  <a:srgbClr val="555555"/>
                </a:solidFill>
                <a:latin typeface="Calibri"/>
              </a:rPr>
              <a:t>Cash &amp; equivalents</a:t>
            </a:r>
          </a:p>
        </p:txBody>
      </p:sp>
      <p:sp>
        <p:nvSpPr>
          <p:cNvPr id="21" name="Rectangle 20"/>
          <p:cNvSpPr/>
          <p:nvPr/>
        </p:nvSpPr>
        <p:spPr>
          <a:xfrm>
            <a:off x="367200" y="19008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7200" y="1900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1954800"/>
            <a:ext cx="2516400" cy="396000"/>
          </a:xfrm>
          <a:prstGeom prst="rect">
            <a:avLst/>
          </a:prstGeom>
          <a:noFill/>
        </p:spPr>
        <p:txBody>
          <a:bodyPr wrap="square">
            <a:spAutoFit/>
          </a:bodyPr>
          <a:lstStyle/>
          <a:p>
            <a:pPr algn="l"/>
            <a:r>
              <a:rPr sz="1900" b="1" i="0">
                <a:solidFill>
                  <a:srgbClr val="1B3A6B"/>
                </a:solidFill>
                <a:latin typeface="Calibri"/>
              </a:rPr>
              <a:t>78,3 Mds$</a:t>
            </a:r>
          </a:p>
        </p:txBody>
      </p:sp>
      <p:sp>
        <p:nvSpPr>
          <p:cNvPr id="24" name="TextBox 23"/>
          <p:cNvSpPr txBox="1"/>
          <p:nvPr/>
        </p:nvSpPr>
        <p:spPr>
          <a:xfrm>
            <a:off x="457200" y="2350800"/>
            <a:ext cx="2516400" cy="205199"/>
          </a:xfrm>
          <a:prstGeom prst="rect">
            <a:avLst/>
          </a:prstGeom>
          <a:noFill/>
        </p:spPr>
        <p:txBody>
          <a:bodyPr wrap="square">
            <a:spAutoFit/>
          </a:bodyPr>
          <a:lstStyle/>
          <a:p>
            <a:pPr algn="l"/>
            <a:r>
              <a:rPr sz="800" b="0" i="0">
                <a:solidFill>
                  <a:srgbClr val="555555"/>
                </a:solidFill>
                <a:latin typeface="Calibri"/>
              </a:rPr>
              <a:t>Dette long terme</a:t>
            </a:r>
          </a:p>
        </p:txBody>
      </p:sp>
      <p:sp>
        <p:nvSpPr>
          <p:cNvPr id="25" name="Rectangle 24"/>
          <p:cNvSpPr/>
          <p:nvPr/>
        </p:nvSpPr>
        <p:spPr>
          <a:xfrm>
            <a:off x="367200" y="2844000"/>
            <a:ext cx="26532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7200" y="28440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 y="2898000"/>
            <a:ext cx="2516400" cy="396000"/>
          </a:xfrm>
          <a:prstGeom prst="rect">
            <a:avLst/>
          </a:prstGeom>
          <a:noFill/>
        </p:spPr>
        <p:txBody>
          <a:bodyPr wrap="square">
            <a:spAutoFit/>
          </a:bodyPr>
          <a:lstStyle/>
          <a:p>
            <a:pPr algn="l"/>
            <a:r>
              <a:rPr sz="1900" b="1" i="0">
                <a:solidFill>
                  <a:srgbClr val="FFFFFF"/>
                </a:solidFill>
                <a:latin typeface="Calibri"/>
              </a:rPr>
              <a:t>62,7 Mds$</a:t>
            </a:r>
          </a:p>
        </p:txBody>
      </p:sp>
      <p:sp>
        <p:nvSpPr>
          <p:cNvPr id="28" name="TextBox 27"/>
          <p:cNvSpPr txBox="1"/>
          <p:nvPr/>
        </p:nvSpPr>
        <p:spPr>
          <a:xfrm>
            <a:off x="457200" y="3294000"/>
            <a:ext cx="2516400" cy="205199"/>
          </a:xfrm>
          <a:prstGeom prst="rect">
            <a:avLst/>
          </a:prstGeom>
          <a:noFill/>
        </p:spPr>
        <p:txBody>
          <a:bodyPr wrap="square">
            <a:spAutoFit/>
          </a:bodyPr>
          <a:lstStyle/>
          <a:p>
            <a:pPr algn="l"/>
            <a:r>
              <a:rPr sz="800" b="0" i="0">
                <a:solidFill>
                  <a:srgbClr val="FFFFFF"/>
                </a:solidFill>
                <a:latin typeface="Calibri"/>
              </a:rPr>
              <a:t>Dette nette</a:t>
            </a:r>
          </a:p>
        </p:txBody>
      </p:sp>
      <p:sp>
        <p:nvSpPr>
          <p:cNvPr id="29" name="TextBox 28"/>
          <p:cNvSpPr txBox="1"/>
          <p:nvPr/>
        </p:nvSpPr>
        <p:spPr>
          <a:xfrm>
            <a:off x="3384000" y="842400"/>
            <a:ext cx="5396400" cy="165600"/>
          </a:xfrm>
          <a:prstGeom prst="rect">
            <a:avLst/>
          </a:prstGeom>
          <a:noFill/>
        </p:spPr>
        <p:txBody>
          <a:bodyPr wrap="square">
            <a:spAutoFit/>
          </a:bodyPr>
          <a:lstStyle/>
          <a:p>
            <a:pPr algn="l"/>
            <a:r>
              <a:rPr sz="900" b="1" i="0">
                <a:solidFill>
                  <a:srgbClr val="1B3A6B"/>
                </a:solidFill>
                <a:latin typeface="Calibri"/>
              </a:rPr>
              <a:t>Ratios de solvabilité &amp; liquidité</a:t>
            </a:r>
          </a:p>
        </p:txBody>
      </p:sp>
      <p:graphicFrame>
        <p:nvGraphicFramePr>
          <p:cNvPr id="30" name="Table 29"/>
          <p:cNvGraphicFramePr>
            <a:graphicFrameLocks noGrp="1"/>
          </p:cNvGraphicFramePr>
          <p:nvPr/>
        </p:nvGraphicFramePr>
        <p:xfrm>
          <a:off x="3384000" y="1007999"/>
          <a:ext cx="5396400" cy="1800000"/>
        </p:xfrm>
        <a:graphic>
          <a:graphicData uri="http://schemas.openxmlformats.org/drawingml/2006/table">
            <a:tbl>
              <a:tblPr firstRow="1" bandRow="1">
                <a:tableStyleId>{5C22544A-7EE6-4342-B048-85BDC9FD1C3A}</a:tableStyleId>
              </a:tblPr>
              <a:tblGrid>
                <a:gridCol w="2374416"/>
                <a:gridCol w="1133244"/>
                <a:gridCol w="1133244"/>
                <a:gridCol w="755496"/>
              </a:tblGrid>
              <a:tr h="225000">
                <a:tc>
                  <a:txBody>
                    <a:bodyPr/>
                    <a:lstStyle/>
                    <a:p>
                      <a:pPr algn="l"/>
                      <a:r>
                        <a:rPr sz="800" b="1" i="0">
                          <a:solidFill>
                            <a:srgbClr val="FFFFFF"/>
                          </a:solidFill>
                          <a:latin typeface="Calibri"/>
                        </a:rPr>
                        <a:t>Ratio</a:t>
                      </a:r>
                    </a:p>
                  </a:txBody>
                  <a:tcPr>
                    <a:solidFill>
                      <a:srgbClr val="1B3A6B"/>
                    </a:solidFill>
                  </a:tcPr>
                </a:tc>
                <a:tc>
                  <a:txBody>
                    <a:bodyPr/>
                    <a:lstStyle/>
                    <a:p>
                      <a:pPr algn="ctr"/>
                      <a:r>
                        <a:rPr sz="800" b="1" i="0">
                          <a:solidFill>
                            <a:srgbClr val="FFFFFF"/>
                          </a:solidFill>
                          <a:latin typeface="Calibri"/>
                        </a:rPr>
                        <a:t>Valeur</a:t>
                      </a:r>
                    </a:p>
                  </a:txBody>
                  <a:tcPr>
                    <a:solidFill>
                      <a:srgbClr val="1B3A6B"/>
                    </a:solidFill>
                  </a:tcPr>
                </a:tc>
                <a:tc>
                  <a:txBody>
                    <a:bodyPr/>
                    <a:lstStyle/>
                    <a:p>
                      <a:pPr algn="ctr"/>
                      <a:r>
                        <a:rPr sz="800" b="1" i="0">
                          <a:solidFill>
                            <a:srgbClr val="FFFFFF"/>
                          </a:solidFill>
                          <a:latin typeface="Calibri"/>
                        </a:rPr>
                        <a:t>Référence</a:t>
                      </a:r>
                    </a:p>
                  </a:txBody>
                  <a:tcPr>
                    <a:solidFill>
                      <a:srgbClr val="1B3A6B"/>
                    </a:solidFill>
                  </a:tcPr>
                </a:tc>
                <a:tc>
                  <a:txBody>
                    <a:bodyPr/>
                    <a:lstStyle/>
                    <a:p>
                      <a:pPr algn="ctr"/>
                      <a:r>
                        <a:rPr sz="800" b="1" i="0">
                          <a:solidFill>
                            <a:srgbClr val="FFFFFF"/>
                          </a:solidFill>
                          <a:latin typeface="Calibri"/>
                        </a:rPr>
                        <a:t>Signal</a:t>
                      </a:r>
                    </a:p>
                  </a:txBody>
                  <a:tcPr>
                    <a:solidFill>
                      <a:srgbClr val="1B3A6B"/>
                    </a:solidFill>
                  </a:tcPr>
                </a:tc>
              </a:tr>
              <a:tr h="225000">
                <a:tc>
                  <a:txBody>
                    <a:bodyPr/>
                    <a:lstStyle/>
                    <a:p>
                      <a:pPr algn="l"/>
                      <a:r>
                        <a:rPr sz="800" b="1" i="0">
                          <a:solidFill>
                            <a:srgbClr val="0D0D0D"/>
                          </a:solidFill>
                          <a:latin typeface="Calibri"/>
                        </a:rPr>
                        <a:t>Ratio liquidité courante</a:t>
                      </a:r>
                    </a:p>
                  </a:txBody>
                  <a:tcPr>
                    <a:solidFill>
                      <a:srgbClr val="FFFFFF"/>
                    </a:solidFill>
                  </a:tcPr>
                </a:tc>
                <a:tc>
                  <a:txBody>
                    <a:bodyPr/>
                    <a:lstStyle/>
                    <a:p>
                      <a:pPr algn="ctr"/>
                      <a:r>
                        <a:rPr sz="800" b="0" i="0">
                          <a:solidFill>
                            <a:srgbClr val="0D0D0D"/>
                          </a:solidFill>
                          <a:latin typeface="Calibri"/>
                        </a:rPr>
                        <a:t>0,65</a:t>
                      </a:r>
                    </a:p>
                  </a:txBody>
                  <a:tcPr>
                    <a:solidFill>
                      <a:srgbClr val="FFFFFF"/>
                    </a:solidFill>
                  </a:tcPr>
                </a:tc>
                <a:tc>
                  <a:txBody>
                    <a:bodyPr/>
                    <a:lstStyle/>
                    <a:p>
                      <a:pPr algn="ctr"/>
                      <a:r>
                        <a:rPr sz="800" b="0" i="0">
                          <a:solidFill>
                            <a:srgbClr val="0D0D0D"/>
                          </a:solidFill>
                          <a:latin typeface="Calibri"/>
                        </a:rPr>
                        <a:t>&gt; 1,5</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Ratio rapide (quick)</a:t>
                      </a:r>
                    </a:p>
                  </a:txBody>
                  <a:tcPr>
                    <a:solidFill>
                      <a:srgbClr val="F7F8FA"/>
                    </a:solidFill>
                  </a:tcPr>
                </a:tc>
                <a:tc>
                  <a:txBody>
                    <a:bodyPr/>
                    <a:lstStyle/>
                    <a:p>
                      <a:pPr algn="ctr"/>
                      <a:r>
                        <a:rPr sz="800" b="0" i="0">
                          <a:solidFill>
                            <a:srgbClr val="0D0D0D"/>
                          </a:solidFill>
                          <a:latin typeface="Calibri"/>
                        </a:rPr>
                        <a:t>0,61</a:t>
                      </a:r>
                    </a:p>
                  </a:txBody>
                  <a:tcPr>
                    <a:solidFill>
                      <a:srgbClr val="F7F8FA"/>
                    </a:solidFill>
                  </a:tcPr>
                </a:tc>
                <a:tc>
                  <a:txBody>
                    <a:bodyPr/>
                    <a:lstStyle/>
                    <a:p>
                      <a:pPr algn="ctr"/>
                      <a:r>
                        <a:rPr sz="800" b="0" i="0">
                          <a:solidFill>
                            <a:srgbClr val="0D0D0D"/>
                          </a:solidFill>
                          <a:latin typeface="Calibri"/>
                        </a:rPr>
                        <a:t>&gt; 1,0</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a:t>
                      </a:r>
                    </a:p>
                  </a:txBody>
                  <a:tcPr>
                    <a:solidFill>
                      <a:srgbClr val="FFFFFF"/>
                    </a:solidFill>
                  </a:tcPr>
                </a:tc>
                <a:tc>
                  <a:txBody>
                    <a:bodyPr/>
                    <a:lstStyle/>
                    <a:p>
                      <a:pPr algn="ctr"/>
                      <a:r>
                        <a:rPr sz="800" b="0" i="0">
                          <a:solidFill>
                            <a:srgbClr val="0D0D0D"/>
                          </a:solidFill>
                          <a:latin typeface="Calibri"/>
                        </a:rPr>
                        <a:t>1,3x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Couverture d'intérêts</a:t>
                      </a:r>
                    </a:p>
                  </a:txBody>
                  <a:tcPr>
                    <a:solidFill>
                      <a:srgbClr val="F7F8FA"/>
                    </a:solidFill>
                  </a:tcPr>
                </a:tc>
                <a:tc>
                  <a:txBody>
                    <a:bodyPr/>
                    <a:lstStyle/>
                    <a:p>
                      <a:pPr algn="ctr"/>
                      <a:r>
                        <a:rPr sz="800" b="0" i="0">
                          <a:solidFill>
                            <a:srgbClr val="0D0D0D"/>
                          </a:solidFill>
                          <a:latin typeface="Calibri"/>
                        </a:rPr>
                        <a:t>29,1x</a:t>
                      </a:r>
                    </a:p>
                  </a:txBody>
                  <a:tcPr>
                    <a:solidFill>
                      <a:srgbClr val="F7F8FA"/>
                    </a:solidFill>
                  </a:tcPr>
                </a:tc>
                <a:tc>
                  <a:txBody>
                    <a:bodyPr/>
                    <a:lstStyle/>
                    <a:p>
                      <a:pPr algn="ctr"/>
                      <a:r>
                        <a:rPr sz="800" b="0" i="0">
                          <a:solidFill>
                            <a:srgbClr val="0D0D0D"/>
                          </a:solidFill>
                          <a:latin typeface="Calibri"/>
                        </a:rPr>
                        <a:t>&gt; 3,0x</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Dette nette / EBITDA</a:t>
                      </a:r>
                    </a:p>
                  </a:txBody>
                  <a:tcPr>
                    <a:solidFill>
                      <a:srgbClr val="FFFFFF"/>
                    </a:solidFill>
                  </a:tcPr>
                </a:tc>
                <a:tc>
                  <a:txBody>
                    <a:bodyPr/>
                    <a:lstStyle/>
                    <a:p>
                      <a:pPr algn="ctr"/>
                      <a:r>
                        <a:rPr sz="800" b="0" i="0">
                          <a:solidFill>
                            <a:srgbClr val="0D0D0D"/>
                          </a:solidFill>
                          <a:latin typeface="Calibri"/>
                        </a:rPr>
                        <a:t>0,4x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Altman Z</a:t>
                      </a:r>
                    </a:p>
                  </a:txBody>
                  <a:tcPr>
                    <a:solidFill>
                      <a:srgbClr val="F7F8FA"/>
                    </a:solidFill>
                  </a:tcPr>
                </a:tc>
                <a:tc>
                  <a:txBody>
                    <a:bodyPr/>
                    <a:lstStyle/>
                    <a:p>
                      <a:pPr algn="ctr"/>
                      <a:r>
                        <a:rPr sz="800" b="0" i="0">
                          <a:solidFill>
                            <a:srgbClr val="0D0D0D"/>
                          </a:solidFill>
                          <a:latin typeface="Calibri"/>
                        </a:rPr>
                        <a:t>1,69</a:t>
                      </a:r>
                    </a:p>
                  </a:txBody>
                  <a:tcPr>
                    <a:solidFill>
                      <a:srgbClr val="F7F8FA"/>
                    </a:solidFill>
                  </a:tcPr>
                </a:tc>
                <a:tc>
                  <a:txBody>
                    <a:bodyPr/>
                    <a:lstStyle/>
                    <a:p>
                      <a:pPr algn="ctr"/>
                      <a:r>
                        <a:rPr sz="800" b="0" i="0">
                          <a:solidFill>
                            <a:srgbClr val="0D0D0D"/>
                          </a:solidFill>
                          <a:latin typeface="Calibri"/>
                        </a:rPr>
                        <a:t>&gt; 2,99</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Beneish M</a:t>
                      </a:r>
                    </a:p>
                  </a:txBody>
                  <a:tcPr>
                    <a:solidFill>
                      <a:srgbClr val="FFFFFF"/>
                    </a:solidFill>
                  </a:tcPr>
                </a:tc>
                <a:tc>
                  <a:txBody>
                    <a:bodyPr/>
                    <a:lstStyle/>
                    <a:p>
                      <a:pPr algn="ctr"/>
                      <a:r>
                        <a:rPr sz="800" b="0" i="0">
                          <a:solidFill>
                            <a:srgbClr val="0D0D0D"/>
                          </a:solidFill>
                          <a:latin typeface="Calibri"/>
                        </a:rPr>
                        <a:t>-2,25</a:t>
                      </a:r>
                    </a:p>
                  </a:txBody>
                  <a:tcPr>
                    <a:solidFill>
                      <a:srgbClr val="FFFFFF"/>
                    </a:solidFill>
                  </a:tcPr>
                </a:tc>
                <a:tc>
                  <a:txBody>
                    <a:bodyPr/>
                    <a:lstStyle/>
                    <a:p>
                      <a:pPr algn="ctr"/>
                      <a:r>
                        <a:rPr sz="800" b="0" i="0">
                          <a:solidFill>
                            <a:srgbClr val="0D0D0D"/>
                          </a:solidFill>
                          <a:latin typeface="Calibri"/>
                        </a:rPr>
                        <a:t>&lt; -2,22</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Ratios Clés vs. Benchmark Sectoriel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Positionnement relatif  ·  LTM 2025</a:t>
            </a:r>
          </a:p>
        </p:txBody>
      </p:sp>
      <p:graphicFrame>
        <p:nvGraphicFramePr>
          <p:cNvPr id="17" name="Table 16"/>
          <p:cNvGraphicFramePr>
            <a:graphicFrameLocks noGrp="1"/>
          </p:cNvGraphicFramePr>
          <p:nvPr/>
        </p:nvGraphicFramePr>
        <p:xfrm>
          <a:off x="367200" y="914400"/>
          <a:ext cx="8413200" cy="2559600"/>
        </p:xfrm>
        <a:graphic>
          <a:graphicData uri="http://schemas.openxmlformats.org/drawingml/2006/table">
            <a:tbl>
              <a:tblPr firstRow="1" bandRow="1">
                <a:tableStyleId>{5C22544A-7EE6-4342-B048-85BDC9FD1C3A}</a:tableStyleId>
              </a:tblPr>
              <a:tblGrid>
                <a:gridCol w="2103300"/>
                <a:gridCol w="2103300"/>
                <a:gridCol w="2103300"/>
                <a:gridCol w="2103300"/>
              </a:tblGrid>
              <a:tr h="232690">
                <a:tc>
                  <a:txBody>
                    <a:bodyPr/>
                    <a:lstStyle/>
                    <a:p>
                      <a:pPr algn="l"/>
                      <a:r>
                        <a:rPr sz="800" b="1" i="0">
                          <a:solidFill>
                            <a:srgbClr val="FFFFFF"/>
                          </a:solidFill>
                          <a:latin typeface="Calibri"/>
                        </a:rPr>
                        <a:t>Indicateur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Benchmark</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Lecture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P/E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34,2x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15–25x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Premium</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EV/EBITDA</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26,9x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8–14x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Très élevé</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EV/Revenue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9,4x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Premium</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brute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46,9 %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40 %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Bon</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EBITDA</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34,8 %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151,9 %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ROIC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84,4 %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CapEx / Revenue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555555"/>
                          </a:solidFill>
                          <a:latin typeface="Calibri"/>
                        </a:rPr>
                        <a:t>Léger</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Altman Z</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1,69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2,99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Détresse</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700">
                <a:tc>
                  <a:txBody>
                    <a:bodyPr/>
                    <a:lstStyle/>
                    <a:p>
                      <a:pPr algn="l"/>
                      <a:r>
                        <a:rPr sz="800" b="0" i="0">
                          <a:solidFill>
                            <a:srgbClr val="0D0D0D"/>
                          </a:solidFill>
                          <a:latin typeface="Calibri"/>
                        </a:rPr>
                        <a:t>Beneish M</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-2,25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-2,22</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Aucun signal</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03</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Valorisation</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DCF, comparable peers &amp; Football Field Chart</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Valorisation — DCF &amp; Scénarios</a:t>
            </a:r>
          </a:p>
        </p:txBody>
      </p:sp>
      <p:graphicFrame>
        <p:nvGraphicFramePr>
          <p:cNvPr id="16" name="Table 15"/>
          <p:cNvGraphicFramePr>
            <a:graphicFrameLocks noGrp="1"/>
          </p:cNvGraphicFramePr>
          <p:nvPr/>
        </p:nvGraphicFramePr>
        <p:xfrm>
          <a:off x="367200" y="824400"/>
          <a:ext cx="4024800" cy="1371600"/>
        </p:xfrm>
        <a:graphic>
          <a:graphicData uri="http://schemas.openxmlformats.org/drawingml/2006/table">
            <a:tbl>
              <a:tblPr firstRow="1" bandRow="1">
                <a:tableStyleId>{5C22544A-7EE6-4342-B048-85BDC9FD1C3A}</a:tableStyleId>
              </a:tblPr>
              <a:tblGrid>
                <a:gridCol w="2213640"/>
                <a:gridCol w="1811160"/>
              </a:tblGrid>
              <a:tr h="228600">
                <a:tc>
                  <a:txBody>
                    <a:bodyPr/>
                    <a:lstStyle/>
                    <a:p>
                      <a:pPr algn="l"/>
                      <a:r>
                        <a:rPr sz="800" b="1" i="0">
                          <a:solidFill>
                            <a:srgbClr val="FFFFFF"/>
                          </a:solidFill>
                          <a:latin typeface="Calibri"/>
                        </a:rPr>
                        <a:t>Paramètre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WACC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10,3 %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TGR</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1" i="0">
                          <a:solidFill>
                            <a:srgbClr val="1B3A6B"/>
                          </a:solidFill>
                          <a:latin typeface="Calibri"/>
                        </a:rPr>
                        <a:t>Valeur intrinsèque</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Cours actuel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261,30 $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Upside implicite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graphicFrame>
        <p:nvGraphicFramePr>
          <p:cNvPr id="17" name="Table 16"/>
          <p:cNvGraphicFramePr>
            <a:graphicFrameLocks noGrp="1"/>
          </p:cNvGraphicFramePr>
          <p:nvPr/>
        </p:nvGraphicFramePr>
        <p:xfrm>
          <a:off x="4482000" y="824400"/>
          <a:ext cx="4298400" cy="1371600"/>
        </p:xfrm>
        <a:graphic>
          <a:graphicData uri="http://schemas.openxmlformats.org/drawingml/2006/table">
            <a:tbl>
              <a:tblPr firstRow="1" bandRow="1">
                <a:tableStyleId>{5C22544A-7EE6-4342-B048-85BDC9FD1C3A}</a:tableStyleId>
              </a:tblPr>
              <a:tblGrid>
                <a:gridCol w="1432800"/>
                <a:gridCol w="1432800"/>
                <a:gridCol w="1432800"/>
              </a:tblGrid>
              <a:tr h="342900">
                <a:tc>
                  <a:txBody>
                    <a:bodyPr/>
                    <a:lstStyle/>
                    <a:p>
                      <a:pPr algn="ctr"/>
                      <a:r>
                        <a:rPr sz="1000" b="1" i="0">
                          <a:solidFill>
                            <a:srgbClr val="FFFFFF"/>
                          </a:solidFill>
                          <a:latin typeface="Calibri"/>
                        </a:rPr>
                        <a:t>Bear</a:t>
                      </a:r>
                    </a:p>
                  </a:txBody>
                  <a:tcPr>
                    <a:solidFill>
                      <a:srgbClr val="A82020"/>
                    </a:solidFill>
                  </a:tcPr>
                </a:tc>
                <a:tc>
                  <a:txBody>
                    <a:bodyPr/>
                    <a:lstStyle/>
                    <a:p>
                      <a:pPr algn="ctr"/>
                      <a:r>
                        <a:rPr sz="1000" b="1" i="0">
                          <a:solidFill>
                            <a:srgbClr val="FFFFFF"/>
                          </a:solidFill>
                          <a:latin typeface="Calibri"/>
                        </a:rPr>
                        <a:t>Base</a:t>
                      </a:r>
                    </a:p>
                  </a:txBody>
                  <a:tcPr>
                    <a:solidFill>
                      <a:srgbClr val="2E5FA3"/>
                    </a:solidFill>
                  </a:tcPr>
                </a:tc>
                <a:tc>
                  <a:txBody>
                    <a:bodyPr/>
                    <a:lstStyle/>
                    <a:p>
                      <a:pPr algn="ctr"/>
                      <a:r>
                        <a:rPr sz="1000" b="1" i="0">
                          <a:solidFill>
                            <a:srgbClr val="FFFFFF"/>
                          </a:solidFill>
                          <a:latin typeface="Calibri"/>
                        </a:rPr>
                        <a:t>Bull</a:t>
                      </a:r>
                    </a:p>
                  </a:txBody>
                  <a:tcPr>
                    <a:solidFill>
                      <a:srgbClr val="1A7A4A"/>
                    </a:solidFill>
                  </a:tcPr>
                </a:tc>
              </a:tr>
              <a:tr h="342900">
                <a:tc>
                  <a:txBody>
                    <a:bodyPr/>
                    <a:lstStyle/>
                    <a:p>
                      <a:pPr algn="ctr"/>
                      <a:r>
                        <a:rPr sz="2000" b="1" i="0">
                          <a:solidFill>
                            <a:srgbClr val="A82020"/>
                          </a:solidFill>
                          <a:latin typeface="Calibri"/>
                        </a:rPr>
                        <a:t>—</a:t>
                      </a:r>
                    </a:p>
                  </a:txBody>
                  <a:tcPr>
                    <a:solidFill>
                      <a:srgbClr val="FAF0EF"/>
                    </a:solidFill>
                  </a:tcPr>
                </a:tc>
                <a:tc>
                  <a:txBody>
                    <a:bodyPr/>
                    <a:lstStyle/>
                    <a:p>
                      <a:pPr algn="ctr"/>
                      <a:r>
                        <a:rPr sz="2000" b="1" i="0">
                          <a:solidFill>
                            <a:srgbClr val="2E5FA3"/>
                          </a:solidFill>
                          <a:latin typeface="Calibri"/>
                        </a:rPr>
                        <a:t>—</a:t>
                      </a:r>
                    </a:p>
                  </a:txBody>
                  <a:tcPr>
                    <a:solidFill>
                      <a:srgbClr val="EEF3FA"/>
                    </a:solidFill>
                  </a:tcPr>
                </a:tc>
                <a:tc>
                  <a:txBody>
                    <a:bodyPr/>
                    <a:lstStyle/>
                    <a:p>
                      <a:pPr algn="ctr"/>
                      <a:r>
                        <a:rPr sz="2000" b="1" i="0">
                          <a:solidFill>
                            <a:srgbClr val="1A7A4A"/>
                          </a:solidFill>
                          <a:latin typeface="Calibri"/>
                        </a:rPr>
                        <a:t>—</a:t>
                      </a:r>
                    </a:p>
                  </a:txBody>
                  <a:tcPr>
                    <a:solidFill>
                      <a:srgbClr val="EAF4EF"/>
                    </a:solidFill>
                  </a:tcPr>
                </a:tc>
              </a:tr>
              <a:tr h="342900">
                <a:tc>
                  <a:txBody>
                    <a:bodyPr/>
                    <a:lstStyle/>
                    <a:p>
                      <a:pPr algn="ctr"/>
                      <a:r>
                        <a:rPr sz="1200" b="1" i="0">
                          <a:solidFill>
                            <a:srgbClr val="A82020"/>
                          </a:solidFill>
                          <a:latin typeface="Calibri"/>
                        </a:rPr>
                        <a:t>—</a:t>
                      </a:r>
                    </a:p>
                  </a:txBody>
                  <a:tcPr>
                    <a:solidFill>
                      <a:srgbClr val="FAF0EF"/>
                    </a:solidFill>
                  </a:tcPr>
                </a:tc>
                <a:tc>
                  <a:txBody>
                    <a:bodyPr/>
                    <a:lstStyle/>
                    <a:p>
                      <a:pPr algn="ctr"/>
                      <a:r>
                        <a:rPr sz="1200" b="1" i="0">
                          <a:solidFill>
                            <a:srgbClr val="2E5FA3"/>
                          </a:solidFill>
                          <a:latin typeface="Calibri"/>
                        </a:rPr>
                        <a:t>—</a:t>
                      </a:r>
                    </a:p>
                  </a:txBody>
                  <a:tcPr>
                    <a:solidFill>
                      <a:srgbClr val="EEF3FA"/>
                    </a:solidFill>
                  </a:tcPr>
                </a:tc>
                <a:tc>
                  <a:txBody>
                    <a:bodyPr/>
                    <a:lstStyle/>
                    <a:p>
                      <a:pPr algn="ctr"/>
                      <a:r>
                        <a:rPr sz="1200" b="1" i="0">
                          <a:solidFill>
                            <a:srgbClr val="1A7A4A"/>
                          </a:solidFill>
                          <a:latin typeface="Calibri"/>
                        </a:rPr>
                        <a:t>—</a:t>
                      </a:r>
                    </a:p>
                  </a:txBody>
                  <a:tcPr>
                    <a:solidFill>
                      <a:srgbClr val="EAF4EF"/>
                    </a:solidFill>
                  </a:tcPr>
                </a:tc>
              </a:tr>
              <a:tr h="342900">
                <a:tc>
                  <a:txBody>
                    <a:bodyPr/>
                    <a:lstStyle/>
                    <a:p>
                      <a:pPr algn="ctr"/>
                      <a:r>
                        <a:rPr sz="700" b="0" i="0">
                          <a:solidFill>
                            <a:srgbClr val="888888"/>
                          </a:solidFill>
                          <a:latin typeface="Calibri"/>
                        </a:rPr>
                        <a:t>Upside / Downside</a:t>
                      </a:r>
                    </a:p>
                  </a:txBody>
                  <a:tcPr>
                    <a:solidFill>
                      <a:srgbClr val="FAF0EF"/>
                    </a:solidFill>
                  </a:tcPr>
                </a:tc>
                <a:tc>
                  <a:txBody>
                    <a:bodyPr/>
                    <a:lstStyle/>
                    <a:p>
                      <a:pPr algn="ctr"/>
                      <a:r>
                        <a:rPr sz="700" b="0" i="0">
                          <a:solidFill>
                            <a:srgbClr val="888888"/>
                          </a:solidFill>
                          <a:latin typeface="Calibri"/>
                        </a:rPr>
                        <a:t>Upside / Downside</a:t>
                      </a:r>
                    </a:p>
                  </a:txBody>
                  <a:tcPr>
                    <a:solidFill>
                      <a:srgbClr val="EEF3FA"/>
                    </a:solidFill>
                  </a:tcPr>
                </a:tc>
                <a:tc>
                  <a:txBody>
                    <a:bodyPr/>
                    <a:lstStyle/>
                    <a:p>
                      <a:pPr algn="ctr"/>
                      <a:r>
                        <a:rPr sz="700" b="0" i="0">
                          <a:solidFill>
                            <a:srgbClr val="888888"/>
                          </a:solidFill>
                          <a:latin typeface="Calibri"/>
                        </a:rPr>
                        <a:t>Upside / Downside</a:t>
                      </a:r>
                    </a:p>
                  </a:txBody>
                  <a:tcPr>
                    <a:solidFill>
                      <a:srgbClr val="EAF4EF"/>
                    </a:solidFill>
                  </a:tcPr>
                </a:tc>
              </a:tr>
            </a:tbl>
          </a:graphicData>
        </a:graphic>
      </p:graphicFrame>
      <p:sp>
        <p:nvSpPr>
          <p:cNvPr id="18" name="TextBox 17"/>
          <p:cNvSpPr txBox="1"/>
          <p:nvPr/>
        </p:nvSpPr>
        <p:spPr>
          <a:xfrm>
            <a:off x="367200" y="2394000"/>
            <a:ext cx="4024800" cy="201600"/>
          </a:xfrm>
          <a:prstGeom prst="rect">
            <a:avLst/>
          </a:prstGeom>
          <a:noFill/>
        </p:spPr>
        <p:txBody>
          <a:bodyPr wrap="square">
            <a:spAutoFit/>
          </a:bodyPr>
          <a:lstStyle/>
          <a:p>
            <a:pPr algn="l"/>
            <a:r>
              <a:rPr sz="900" b="1" i="0">
                <a:solidFill>
                  <a:srgbClr val="1B3A6B"/>
                </a:solidFill>
                <a:latin typeface="Calibri"/>
              </a:rPr>
              <a:t>Monte Carlo GBM — 10 000 simulations</a:t>
            </a:r>
          </a:p>
        </p:txBody>
      </p:sp>
      <p:graphicFrame>
        <p:nvGraphicFramePr>
          <p:cNvPr id="19" name="Table 18"/>
          <p:cNvGraphicFramePr>
            <a:graphicFrameLocks noGrp="1"/>
          </p:cNvGraphicFramePr>
          <p:nvPr/>
        </p:nvGraphicFramePr>
        <p:xfrm>
          <a:off x="367200" y="2653200"/>
          <a:ext cx="4024800" cy="1116000"/>
        </p:xfrm>
        <a:graphic>
          <a:graphicData uri="http://schemas.openxmlformats.org/drawingml/2006/table">
            <a:tbl>
              <a:tblPr firstRow="1" bandRow="1">
                <a:tableStyleId>{5C22544A-7EE6-4342-B048-85BDC9FD1C3A}</a:tableStyleId>
              </a:tblPr>
              <a:tblGrid>
                <a:gridCol w="1690416"/>
                <a:gridCol w="1287936"/>
                <a:gridCol w="1046448"/>
              </a:tblGrid>
              <a:tr h="186000">
                <a:tc>
                  <a:txBody>
                    <a:bodyPr/>
                    <a:lstStyle/>
                    <a:p>
                      <a:pPr algn="l"/>
                      <a:r>
                        <a:rPr sz="800" b="1" i="0">
                          <a:solidFill>
                            <a:srgbClr val="FFFFFF"/>
                          </a:solidFill>
                          <a:latin typeface="Calibri"/>
                        </a:rPr>
                        <a:t>Scénario</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Cours prédit (12M)</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vs Cours</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Stress Down (P2)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176 $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-32,7 %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Pessimiste (P10)</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217 $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-16,8 %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1" i="0">
                          <a:solidFill>
                            <a:srgbClr val="1B3A6B"/>
                          </a:solidFill>
                          <a:latin typeface="Calibri"/>
                        </a:rPr>
                        <a:t>● Médian (P50)</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314 $</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+20,2 %</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Optimiste (P90)</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452 $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+73,1 %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Stress Up (P98)</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561 $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+114,8 %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0" name="TextBox 19"/>
          <p:cNvSpPr txBox="1"/>
          <p:nvPr/>
        </p:nvSpPr>
        <p:spPr>
          <a:xfrm>
            <a:off x="4482000" y="2394000"/>
            <a:ext cx="4298400" cy="201600"/>
          </a:xfrm>
          <a:prstGeom prst="rect">
            <a:avLst/>
          </a:prstGeom>
          <a:noFill/>
        </p:spPr>
        <p:txBody>
          <a:bodyPr wrap="square">
            <a:spAutoFit/>
          </a:bodyPr>
          <a:lstStyle/>
          <a:p>
            <a:pPr algn="l"/>
            <a:r>
              <a:rPr sz="900" b="1" i="0">
                <a:solidFill>
                  <a:srgbClr val="1B3A6B"/>
                </a:solidFill>
                <a:latin typeface="Calibri"/>
              </a:rPr>
              <a:t>Sensibilité WACC × TGR — Valeur ($)</a:t>
            </a:r>
          </a:p>
        </p:txBody>
      </p:sp>
      <p:graphicFrame>
        <p:nvGraphicFramePr>
          <p:cNvPr id="21" name="Table 20"/>
          <p:cNvGraphicFramePr>
            <a:graphicFrameLocks noGrp="1"/>
          </p:cNvGraphicFramePr>
          <p:nvPr/>
        </p:nvGraphicFramePr>
        <p:xfrm>
          <a:off x="4482000" y="2653200"/>
          <a:ext cx="4298400" cy="1116000"/>
        </p:xfrm>
        <a:graphic>
          <a:graphicData uri="http://schemas.openxmlformats.org/drawingml/2006/table">
            <a:tbl>
              <a:tblPr firstRow="1" bandRow="1">
                <a:tableStyleId>{5C22544A-7EE6-4342-B048-85BDC9FD1C3A}</a:tableStyleId>
              </a:tblPr>
              <a:tblGrid>
                <a:gridCol w="716400"/>
                <a:gridCol w="716400"/>
                <a:gridCol w="716400"/>
                <a:gridCol w="716400"/>
                <a:gridCol w="716400"/>
                <a:gridCol w="716400"/>
              </a:tblGrid>
              <a:tr h="186000">
                <a:tc>
                  <a:txBody>
                    <a:bodyPr/>
                    <a:lstStyle/>
                    <a:p>
                      <a:pPr algn="l"/>
                      <a:r>
                        <a:rPr sz="800" b="1" i="0">
                          <a:solidFill>
                            <a:srgbClr val="FFFFFF"/>
                          </a:solidFill>
                          <a:latin typeface="Calibri"/>
                        </a:rPr>
                        <a:t>WACC \ TGR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4,0%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8,3%</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9,3%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1" i="0">
                          <a:solidFill>
                            <a:srgbClr val="1B3A6B"/>
                          </a:solidFill>
                          <a:latin typeface="Calibri"/>
                        </a:rPr>
                        <a:t>10,3%</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a:t>
                      </a:r>
                    </a:p>
                  </a:txBody>
                  <a:tcPr>
                    <a:solidFill>
                      <a:srgbClr val="2E5FA3"/>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11,3%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12,3%</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Comparable Peers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par multiples  ·  LTM  ·  Mkt Cap en Mds USD</a:t>
            </a:r>
          </a:p>
        </p:txBody>
      </p:sp>
      <p:graphicFrame>
        <p:nvGraphicFramePr>
          <p:cNvPr id="17" name="Table 16"/>
          <p:cNvGraphicFramePr>
            <a:graphicFrameLocks noGrp="1"/>
          </p:cNvGraphicFramePr>
          <p:nvPr/>
        </p:nvGraphicFramePr>
        <p:xfrm>
          <a:off x="367200" y="914400"/>
          <a:ext cx="8413200" cy="871200"/>
        </p:xfrm>
        <a:graphic>
          <a:graphicData uri="http://schemas.openxmlformats.org/drawingml/2006/table">
            <a:tbl>
              <a:tblPr firstRow="1" bandRow="1">
                <a:tableStyleId>{5C22544A-7EE6-4342-B048-85BDC9FD1C3A}</a:tableStyleId>
              </a:tblPr>
              <a:tblGrid>
                <a:gridCol w="1682640"/>
                <a:gridCol w="757188"/>
                <a:gridCol w="1093716"/>
                <a:gridCol w="1009584"/>
                <a:gridCol w="1009584"/>
                <a:gridCol w="757188"/>
                <a:gridCol w="1093716"/>
                <a:gridCol w="1009584"/>
              </a:tblGrid>
              <a:tr h="290400">
                <a:tc>
                  <a:txBody>
                    <a:bodyPr/>
                    <a:lstStyle/>
                    <a:p>
                      <a:pPr algn="l"/>
                      <a:r>
                        <a:rPr sz="800" b="1" i="0">
                          <a:solidFill>
                            <a:srgbClr val="FFFFFF"/>
                          </a:solidFill>
                          <a:latin typeface="Calibri"/>
                        </a:rPr>
                        <a:t>Société</a:t>
                      </a:r>
                    </a:p>
                  </a:txBody>
                  <a:tcPr>
                    <a:solidFill>
                      <a:srgbClr val="1B3A6B"/>
                    </a:solidFill>
                  </a:tcPr>
                </a:tc>
                <a:tc>
                  <a:txBody>
                    <a:bodyPr/>
                    <a:lstStyle/>
                    <a:p>
                      <a:pPr algn="ctr"/>
                      <a:r>
                        <a:rPr sz="800" b="1" i="0">
                          <a:solidFill>
                            <a:srgbClr val="FFFFFF"/>
                          </a:solidFill>
                          <a:latin typeface="Calibri"/>
                        </a:rPr>
                        <a:t>Ticker</a:t>
                      </a:r>
                    </a:p>
                  </a:txBody>
                  <a:tcPr>
                    <a:solidFill>
                      <a:srgbClr val="1B3A6B"/>
                    </a:solidFill>
                  </a:tcPr>
                </a:tc>
                <a:tc>
                  <a:txBody>
                    <a:bodyPr/>
                    <a:lstStyle/>
                    <a:p>
                      <a:pPr algn="ctr"/>
                      <a:r>
                        <a:rPr sz="800" b="1" i="0">
                          <a:solidFill>
                            <a:srgbClr val="FFFFFF"/>
                          </a:solidFill>
                          <a:latin typeface="Calibri"/>
                        </a:rPr>
                        <a:t>Mkt Cap</a:t>
                      </a:r>
                    </a:p>
                  </a:txBody>
                  <a:tcPr>
                    <a:solidFill>
                      <a:srgbClr val="1B3A6B"/>
                    </a:solidFill>
                  </a:tcPr>
                </a:tc>
                <a:tc>
                  <a:txBody>
                    <a:bodyPr/>
                    <a:lstStyle/>
                    <a:p>
                      <a:pPr algn="ctr"/>
                      <a:r>
                        <a:rPr sz="800" b="1" i="0">
                          <a:solidFill>
                            <a:srgbClr val="FFFFFF"/>
                          </a:solidFill>
                          <a:latin typeface="Calibri"/>
                        </a:rPr>
                        <a:t>EV/EBITDA</a:t>
                      </a:r>
                    </a:p>
                  </a:txBody>
                  <a:tcPr>
                    <a:solidFill>
                      <a:srgbClr val="1B3A6B"/>
                    </a:solidFill>
                  </a:tcPr>
                </a:tc>
                <a:tc>
                  <a:txBody>
                    <a:bodyPr/>
                    <a:lstStyle/>
                    <a:p>
                      <a:pPr algn="ctr"/>
                      <a:r>
                        <a:rPr sz="800" b="1" i="0">
                          <a:solidFill>
                            <a:srgbClr val="FFFFFF"/>
                          </a:solidFill>
                          <a:latin typeface="Calibri"/>
                        </a:rPr>
                        <a:t>EV/Rev.</a:t>
                      </a:r>
                    </a:p>
                  </a:txBody>
                  <a:tcPr>
                    <a:solidFill>
                      <a:srgbClr val="1B3A6B"/>
                    </a:solidFill>
                  </a:tcPr>
                </a:tc>
                <a:tc>
                  <a:txBody>
                    <a:bodyPr/>
                    <a:lstStyle/>
                    <a:p>
                      <a:pPr algn="ctr"/>
                      <a:r>
                        <a:rPr sz="800" b="1" i="0">
                          <a:solidFill>
                            <a:srgbClr val="FFFFFF"/>
                          </a:solidFill>
                          <a:latin typeface="Calibri"/>
                        </a:rPr>
                        <a:t>P/E</a:t>
                      </a:r>
                    </a:p>
                  </a:txBody>
                  <a:tcPr>
                    <a:solidFill>
                      <a:srgbClr val="1B3A6B"/>
                    </a:solidFill>
                  </a:tcPr>
                </a:tc>
                <a:tc>
                  <a:txBody>
                    <a:bodyPr/>
                    <a:lstStyle/>
                    <a:p>
                      <a:pPr algn="ctr"/>
                      <a:r>
                        <a:rPr sz="800" b="1" i="0">
                          <a:solidFill>
                            <a:srgbClr val="FFFFFF"/>
                          </a:solidFill>
                          <a:latin typeface="Calibri"/>
                        </a:rPr>
                        <a:t>Mg Brute</a:t>
                      </a:r>
                    </a:p>
                  </a:txBody>
                  <a:tcPr>
                    <a:solidFill>
                      <a:srgbClr val="1B3A6B"/>
                    </a:solidFill>
                  </a:tcPr>
                </a:tc>
                <a:tc>
                  <a:txBody>
                    <a:bodyPr/>
                    <a:lstStyle/>
                    <a:p>
                      <a:pPr algn="ctr"/>
                      <a:r>
                        <a:rPr sz="800" b="1" i="0">
                          <a:solidFill>
                            <a:srgbClr val="FFFFFF"/>
                          </a:solidFill>
                          <a:latin typeface="Calibri"/>
                        </a:rPr>
                        <a:t>Mg EBITDA</a:t>
                      </a:r>
                    </a:p>
                  </a:txBody>
                  <a:tcPr>
                    <a:solidFill>
                      <a:srgbClr val="1B3A6B"/>
                    </a:solidFill>
                  </a:tcPr>
                </a:tc>
              </a:tr>
              <a:tr h="290400">
                <a:tc>
                  <a:txBody>
                    <a:bodyPr/>
                    <a:lstStyle/>
                    <a:p>
                      <a:pPr algn="l"/>
                      <a:r>
                        <a:rPr sz="800" b="1" i="0">
                          <a:solidFill>
                            <a:srgbClr val="1B3A6B"/>
                          </a:solidFill>
                          <a:latin typeface="Calibri"/>
                        </a:rPr>
                        <a:t>Apple Inc.</a:t>
                      </a:r>
                    </a:p>
                  </a:txBody>
                  <a:tcPr>
                    <a:solidFill>
                      <a:srgbClr val="DDE8F5"/>
                    </a:solidFill>
                  </a:tcPr>
                </a:tc>
                <a:tc>
                  <a:txBody>
                    <a:bodyPr/>
                    <a:lstStyle/>
                    <a:p>
                      <a:pPr algn="ctr"/>
                      <a:r>
                        <a:rPr sz="750" b="1" i="0">
                          <a:solidFill>
                            <a:srgbClr val="2E5FA3"/>
                          </a:solidFill>
                          <a:latin typeface="Calibri"/>
                        </a:rPr>
                        <a:t>AAPL</a:t>
                      </a:r>
                    </a:p>
                  </a:txBody>
                  <a:tcPr>
                    <a:solidFill>
                      <a:srgbClr val="DDE8F5"/>
                    </a:solidFill>
                  </a:tcPr>
                </a:tc>
                <a:tc>
                  <a:txBody>
                    <a:bodyPr/>
                    <a:lstStyle/>
                    <a:p>
                      <a:pPr algn="ctr"/>
                      <a:r>
                        <a:rPr sz="800" b="1" i="0">
                          <a:solidFill>
                            <a:srgbClr val="1B3A6B"/>
                          </a:solidFill>
                          <a:latin typeface="Calibri"/>
                        </a:rPr>
                        <a:t>3 836,2</a:t>
                      </a:r>
                    </a:p>
                  </a:txBody>
                  <a:tcPr>
                    <a:solidFill>
                      <a:srgbClr val="DDE8F5"/>
                    </a:solidFill>
                  </a:tcPr>
                </a:tc>
                <a:tc>
                  <a:txBody>
                    <a:bodyPr/>
                    <a:lstStyle/>
                    <a:p>
                      <a:pPr algn="ctr"/>
                      <a:r>
                        <a:rPr sz="800" b="1" i="0">
                          <a:solidFill>
                            <a:srgbClr val="1B3A6B"/>
                          </a:solidFill>
                          <a:latin typeface="Calibri"/>
                        </a:rPr>
                        <a:t>26,9x</a:t>
                      </a:r>
                    </a:p>
                  </a:txBody>
                  <a:tcPr>
                    <a:solidFill>
                      <a:srgbClr val="DDE8F5"/>
                    </a:solidFill>
                  </a:tcPr>
                </a:tc>
                <a:tc>
                  <a:txBody>
                    <a:bodyPr/>
                    <a:lstStyle/>
                    <a:p>
                      <a:pPr algn="ctr"/>
                      <a:r>
                        <a:rPr sz="800" b="1" i="0">
                          <a:solidFill>
                            <a:srgbClr val="1B3A6B"/>
                          </a:solidFill>
                          <a:latin typeface="Calibri"/>
                        </a:rPr>
                        <a:t>9,4x</a:t>
                      </a:r>
                    </a:p>
                  </a:txBody>
                  <a:tcPr>
                    <a:solidFill>
                      <a:srgbClr val="DDE8F5"/>
                    </a:solidFill>
                  </a:tcPr>
                </a:tc>
                <a:tc>
                  <a:txBody>
                    <a:bodyPr/>
                    <a:lstStyle/>
                    <a:p>
                      <a:pPr algn="ctr"/>
                      <a:r>
                        <a:rPr sz="800" b="1" i="0">
                          <a:solidFill>
                            <a:srgbClr val="1B3A6B"/>
                          </a:solidFill>
                          <a:latin typeface="Calibri"/>
                        </a:rPr>
                        <a:t>34,2x</a:t>
                      </a:r>
                    </a:p>
                  </a:txBody>
                  <a:tcPr>
                    <a:solidFill>
                      <a:srgbClr val="DDE8F5"/>
                    </a:solidFill>
                  </a:tcPr>
                </a:tc>
                <a:tc>
                  <a:txBody>
                    <a:bodyPr/>
                    <a:lstStyle/>
                    <a:p>
                      <a:pPr algn="ctr"/>
                      <a:r>
                        <a:rPr sz="800" b="1" i="0">
                          <a:solidFill>
                            <a:srgbClr val="1B3A6B"/>
                          </a:solidFill>
                          <a:latin typeface="Calibri"/>
                        </a:rPr>
                        <a:t>46,9 %</a:t>
                      </a:r>
                    </a:p>
                  </a:txBody>
                  <a:tcPr>
                    <a:solidFill>
                      <a:srgbClr val="DDE8F5"/>
                    </a:solidFill>
                  </a:tcPr>
                </a:tc>
                <a:tc>
                  <a:txBody>
                    <a:bodyPr/>
                    <a:lstStyle/>
                    <a:p>
                      <a:pPr algn="ctr"/>
                      <a:r>
                        <a:rPr sz="800" b="1" i="0">
                          <a:solidFill>
                            <a:srgbClr val="1B3A6B"/>
                          </a:solidFill>
                          <a:latin typeface="Calibri"/>
                        </a:rPr>
                        <a:t>34,8 %</a:t>
                      </a:r>
                    </a:p>
                  </a:txBody>
                  <a:tcPr>
                    <a:solidFill>
                      <a:srgbClr val="DDE8F5"/>
                    </a:solidFill>
                  </a:tcPr>
                </a:tc>
              </a:tr>
              <a:tr h="290400">
                <a:tc>
                  <a:txBody>
                    <a:bodyPr/>
                    <a:lstStyle/>
                    <a:p>
                      <a:pPr algn="l"/>
                      <a:r>
                        <a:rPr sz="800" b="1" i="0">
                          <a:solidFill>
                            <a:srgbClr val="0D0D0D"/>
                          </a:solidFill>
                          <a:latin typeface="Calibri"/>
                        </a:rPr>
                        <a:t>Médiane peers</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Football Field Chart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Synthèse des méthodes de valorisation  ·  USD par action</a:t>
            </a:r>
          </a:p>
        </p:txBody>
      </p:sp>
      <p:graphicFrame>
        <p:nvGraphicFramePr>
          <p:cNvPr id="17" name="Table 16"/>
          <p:cNvGraphicFramePr>
            <a:graphicFrameLocks noGrp="1"/>
          </p:cNvGraphicFramePr>
          <p:nvPr/>
        </p:nvGraphicFramePr>
        <p:xfrm>
          <a:off x="367200" y="914400"/>
          <a:ext cx="8413200" cy="615600"/>
        </p:xfrm>
        <a:graphic>
          <a:graphicData uri="http://schemas.openxmlformats.org/drawingml/2006/table">
            <a:tbl>
              <a:tblPr firstRow="1" bandRow="1">
                <a:tableStyleId>{5C22544A-7EE6-4342-B048-85BDC9FD1C3A}</a:tableStyleId>
              </a:tblPr>
              <a:tblGrid>
                <a:gridCol w="2944620"/>
                <a:gridCol w="1682640"/>
                <a:gridCol w="1682640"/>
                <a:gridCol w="2103300"/>
              </a:tblGrid>
              <a:tr h="307800">
                <a:tc>
                  <a:txBody>
                    <a:bodyPr/>
                    <a:lstStyle/>
                    <a:p>
                      <a:pPr algn="l"/>
                      <a:r>
                        <a:rPr sz="800" b="1" i="0">
                          <a:solidFill>
                            <a:srgbClr val="FFFFFF"/>
                          </a:solidFill>
                          <a:latin typeface="Calibri"/>
                        </a:rPr>
                        <a:t>Méthode</a:t>
                      </a:r>
                    </a:p>
                  </a:txBody>
                  <a:tcPr>
                    <a:solidFill>
                      <a:srgbClr val="1B3A6B"/>
                    </a:solidFill>
                  </a:tcPr>
                </a:tc>
                <a:tc>
                  <a:txBody>
                    <a:bodyPr/>
                    <a:lstStyle/>
                    <a:p>
                      <a:pPr algn="ctr"/>
                      <a:r>
                        <a:rPr sz="800" b="1" i="0">
                          <a:solidFill>
                            <a:srgbClr val="FFFFFF"/>
                          </a:solidFill>
                          <a:latin typeface="Calibri"/>
                        </a:rPr>
                        <a:t>Fourchette basse</a:t>
                      </a:r>
                    </a:p>
                  </a:txBody>
                  <a:tcPr>
                    <a:solidFill>
                      <a:srgbClr val="1B3A6B"/>
                    </a:solidFill>
                  </a:tcPr>
                </a:tc>
                <a:tc>
                  <a:txBody>
                    <a:bodyPr/>
                    <a:lstStyle/>
                    <a:p>
                      <a:pPr algn="ctr"/>
                      <a:r>
                        <a:rPr sz="800" b="1" i="0">
                          <a:solidFill>
                            <a:srgbClr val="FFFFFF"/>
                          </a:solidFill>
                          <a:latin typeface="Calibri"/>
                        </a:rPr>
                        <a:t>Fourchette haute</a:t>
                      </a:r>
                    </a:p>
                  </a:txBody>
                  <a:tcPr>
                    <a:solidFill>
                      <a:srgbClr val="1B3A6B"/>
                    </a:solidFill>
                  </a:tcPr>
                </a:tc>
                <a:tc>
                  <a:txBody>
                    <a:bodyPr/>
                    <a:lstStyle/>
                    <a:p>
                      <a:pPr algn="ctr"/>
                      <a:r>
                        <a:rPr sz="800" b="1" i="0">
                          <a:solidFill>
                            <a:srgbClr val="FFFFFF"/>
                          </a:solidFill>
                          <a:latin typeface="Calibri"/>
                        </a:rPr>
                        <a:t>Point central</a:t>
                      </a:r>
                    </a:p>
                  </a:txBody>
                  <a:tcPr>
                    <a:solidFill>
                      <a:srgbClr val="1B3A6B"/>
                    </a:solidFill>
                  </a:tcPr>
                </a:tc>
              </a:tr>
              <a:tr h="307800">
                <a:tc>
                  <a:txBody>
                    <a:bodyPr/>
                    <a:lstStyle/>
                    <a:p>
                      <a:pPr algn="l"/>
                      <a:r>
                        <a:rPr sz="800" b="0" i="0">
                          <a:solidFill>
                            <a:srgbClr val="0D0D0D"/>
                          </a:solidFill>
                          <a:latin typeface="Calibri"/>
                        </a:rPr>
                        <a:t>Cours actuel (261,30)</a:t>
                      </a:r>
                    </a:p>
                  </a:txBody>
                  <a:tcPr>
                    <a:solidFill>
                      <a:srgbClr val="EEF3FA"/>
                    </a:solidFill>
                  </a:tcPr>
                </a:tc>
                <a:tc>
                  <a:txBody>
                    <a:bodyPr/>
                    <a:lstStyle/>
                    <a:p>
                      <a:pPr algn="ctr"/>
                      <a:r>
                        <a:rPr sz="800" b="0" i="0">
                          <a:solidFill>
                            <a:srgbClr val="0D0D0D"/>
                          </a:solidFill>
                          <a:latin typeface="Calibri"/>
                        </a:rPr>
                        <a:t>—</a:t>
                      </a:r>
                    </a:p>
                  </a:txBody>
                  <a:tcPr>
                    <a:solidFill>
                      <a:srgbClr val="EEF3FA"/>
                    </a:solidFill>
                  </a:tcPr>
                </a:tc>
                <a:tc>
                  <a:txBody>
                    <a:bodyPr/>
                    <a:lstStyle/>
                    <a:p>
                      <a:pPr algn="ctr"/>
                      <a:r>
                        <a:rPr sz="800" b="0" i="0">
                          <a:solidFill>
                            <a:srgbClr val="0D0D0D"/>
                          </a:solidFill>
                          <a:latin typeface="Calibri"/>
                        </a:rPr>
                        <a:t>—</a:t>
                      </a:r>
                    </a:p>
                  </a:txBody>
                  <a:tcPr>
                    <a:solidFill>
                      <a:srgbClr val="EEF3FA"/>
                    </a:solidFill>
                  </a:tcPr>
                </a:tc>
                <a:tc>
                  <a:txBody>
                    <a:bodyPr/>
                    <a:lstStyle/>
                    <a:p>
                      <a:pPr algn="ctr"/>
                      <a:r>
                        <a:rPr sz="800" b="0" i="0">
                          <a:solidFill>
                            <a:srgbClr val="0D0D0D"/>
                          </a:solidFill>
                          <a:latin typeface="Calibri"/>
                        </a:rPr>
                        <a:t>261,30</a:t>
                      </a:r>
                    </a:p>
                  </a:txBody>
                  <a:tcPr>
                    <a:solidFill>
                      <a:srgbClr val="EEF3FA"/>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Multiples de Valorisation Historiques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AAPL · P/E &amp; EV/EBITDA sur 5 ans · Standards marché</a:t>
            </a:r>
          </a:p>
        </p:txBody>
      </p:sp>
      <p:pic>
        <p:nvPicPr>
          <p:cNvPr id="17" name="Picture 16" descr="image.png"/>
          <p:cNvPicPr>
            <a:picLocks noChangeAspect="1"/>
          </p:cNvPicPr>
          <p:nvPr/>
        </p:nvPicPr>
        <p:blipFill>
          <a:blip r:embed="rId2"/>
          <a:stretch>
            <a:fillRect/>
          </a:stretch>
        </p:blipFill>
        <p:spPr>
          <a:xfrm>
            <a:off x="367200" y="864000"/>
            <a:ext cx="5688000" cy="2520000"/>
          </a:xfrm>
          <a:prstGeom prst="rect">
            <a:avLst/>
          </a:prstGeom>
        </p:spPr>
      </p:pic>
      <p:sp>
        <p:nvSpPr>
          <p:cNvPr id="18" name="TextBox 17"/>
          <p:cNvSpPr txBox="1"/>
          <p:nvPr/>
        </p:nvSpPr>
        <p:spPr>
          <a:xfrm>
            <a:off x="6192000" y="864000"/>
            <a:ext cx="2592000" cy="180000"/>
          </a:xfrm>
          <a:prstGeom prst="rect">
            <a:avLst/>
          </a:prstGeom>
          <a:noFill/>
        </p:spPr>
        <p:txBody>
          <a:bodyPr wrap="square">
            <a:spAutoFit/>
          </a:bodyPr>
          <a:lstStyle/>
          <a:p>
            <a:pPr algn="l"/>
            <a:r>
              <a:rPr sz="800" b="1" i="0">
                <a:solidFill>
                  <a:srgbClr val="1B3A6B"/>
                </a:solidFill>
                <a:latin typeface="Calibri"/>
              </a:rPr>
              <a:t>SYNTHÈSE DES MULTIPLES</a:t>
            </a:r>
          </a:p>
        </p:txBody>
      </p:sp>
      <p:graphicFrame>
        <p:nvGraphicFramePr>
          <p:cNvPr id="19" name="Table 18"/>
          <p:cNvGraphicFramePr>
            <a:graphicFrameLocks noGrp="1"/>
          </p:cNvGraphicFramePr>
          <p:nvPr/>
        </p:nvGraphicFramePr>
        <p:xfrm>
          <a:off x="6192000" y="1098000"/>
          <a:ext cx="2592000" cy="1008000"/>
        </p:xfrm>
        <a:graphic>
          <a:graphicData uri="http://schemas.openxmlformats.org/drawingml/2006/table">
            <a:tbl>
              <a:tblPr firstRow="1" bandRow="1">
                <a:tableStyleId>{5C22544A-7EE6-4342-B048-85BDC9FD1C3A}</a:tableStyleId>
              </a:tblPr>
              <a:tblGrid>
                <a:gridCol w="777600"/>
                <a:gridCol w="570240"/>
                <a:gridCol w="673920"/>
                <a:gridCol w="570240"/>
              </a:tblGrid>
              <a:tr h="201600">
                <a:tc>
                  <a:txBody>
                    <a:bodyPr/>
                    <a:lstStyle/>
                    <a:p>
                      <a:pPr algn="l"/>
                      <a:r>
                        <a:rPr sz="800" b="1" i="0">
                          <a:solidFill>
                            <a:srgbClr val="FFFFFF"/>
                          </a:solidFill>
                          <a:latin typeface="Calibri"/>
                        </a:rPr>
                        <a:t>Année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P/E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EV/EB</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P/B</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38,4x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30,1x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75,7x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39,5x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31,1x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61,7x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2024</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40,9x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29,1x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67,4x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34,2x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26,9x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52,0x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0" name="Rectangle 19"/>
          <p:cNvSpPr/>
          <p:nvPr/>
        </p:nvSpPr>
        <p:spPr>
          <a:xfrm>
            <a:off x="367200" y="3600000"/>
            <a:ext cx="8413200" cy="111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67200" y="3600000"/>
            <a:ext cx="79200" cy="1116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5200" y="3628800"/>
            <a:ext cx="8298000" cy="1080000"/>
          </a:xfrm>
          <a:prstGeom prst="rect">
            <a:avLst/>
          </a:prstGeom>
          <a:noFill/>
        </p:spPr>
        <p:txBody>
          <a:bodyPr wrap="square">
            <a:spAutoFit/>
          </a:bodyPr>
          <a:lstStyle/>
          <a:p>
            <a:pPr algn="l"/>
            <a:r>
              <a:rPr sz="850" b="0" i="0">
                <a:solidFill>
                  <a:srgbClr val="555555"/>
                </a:solidFill>
                <a:latin typeface="Calibri"/>
              </a:rPr>
              <a:t>Le P/E affiche une compression multiple de 4.2x sur la période (38,4x → 34,2x), signal d’une réévaluation négative du profil de croissance. L’EV/EBITDA diverge à 26,9x vs 30,1x historique.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Capital Returns &amp; Free Cash Flow</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AAPL · FCF yield, dividendes &amp; allocation du capital</a:t>
            </a:r>
          </a:p>
        </p:txBody>
      </p:sp>
      <p:sp>
        <p:nvSpPr>
          <p:cNvPr id="17" name="Rectangle 16"/>
          <p:cNvSpPr/>
          <p:nvPr/>
        </p:nvSpPr>
        <p:spPr>
          <a:xfrm>
            <a:off x="367200" y="824400"/>
            <a:ext cx="2015999" cy="5472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824400"/>
            <a:ext cx="64800" cy="5472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0800" y="871200"/>
            <a:ext cx="1900799" cy="234000"/>
          </a:xfrm>
          <a:prstGeom prst="rect">
            <a:avLst/>
          </a:prstGeom>
          <a:noFill/>
        </p:spPr>
        <p:txBody>
          <a:bodyPr wrap="square">
            <a:spAutoFit/>
          </a:bodyPr>
          <a:lstStyle/>
          <a:p>
            <a:pPr algn="l"/>
            <a:r>
              <a:rPr sz="1600" b="1" i="0">
                <a:solidFill>
                  <a:srgbClr val="1B3A6B"/>
                </a:solidFill>
                <a:latin typeface="Calibri"/>
              </a:rPr>
              <a:t>2,9 %</a:t>
            </a:r>
          </a:p>
        </p:txBody>
      </p:sp>
      <p:sp>
        <p:nvSpPr>
          <p:cNvPr id="20" name="TextBox 19"/>
          <p:cNvSpPr txBox="1"/>
          <p:nvPr/>
        </p:nvSpPr>
        <p:spPr>
          <a:xfrm>
            <a:off x="460800" y="1098000"/>
            <a:ext cx="1900799" cy="234000"/>
          </a:xfrm>
          <a:prstGeom prst="rect">
            <a:avLst/>
          </a:prstGeom>
          <a:noFill/>
        </p:spPr>
        <p:txBody>
          <a:bodyPr wrap="square">
            <a:spAutoFit/>
          </a:bodyPr>
          <a:lstStyle/>
          <a:p>
            <a:pPr algn="l"/>
            <a:r>
              <a:rPr sz="800" b="0" i="0">
                <a:solidFill>
                  <a:srgbClr val="555555"/>
                </a:solidFill>
                <a:latin typeface="Calibri"/>
              </a:rPr>
              <a:t>FCF Yield</a:t>
            </a:r>
          </a:p>
        </p:txBody>
      </p:sp>
      <p:sp>
        <p:nvSpPr>
          <p:cNvPr id="21" name="Rectangle 20"/>
          <p:cNvSpPr/>
          <p:nvPr/>
        </p:nvSpPr>
        <p:spPr>
          <a:xfrm>
            <a:off x="2447999" y="824400"/>
            <a:ext cx="2015999" cy="5472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447999" y="824400"/>
            <a:ext cx="64800" cy="5472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541599" y="871200"/>
            <a:ext cx="1900799" cy="234000"/>
          </a:xfrm>
          <a:prstGeom prst="rect">
            <a:avLst/>
          </a:prstGeom>
          <a:noFill/>
        </p:spPr>
        <p:txBody>
          <a:bodyPr wrap="square">
            <a:spAutoFit/>
          </a:bodyPr>
          <a:lstStyle/>
          <a:p>
            <a:pPr algn="l"/>
            <a:r>
              <a:rPr sz="1600" b="1" i="0">
                <a:solidFill>
                  <a:srgbClr val="1B3A6B"/>
                </a:solidFill>
                <a:latin typeface="Calibri"/>
              </a:rPr>
              <a:t>111,0 Mds$</a:t>
            </a:r>
          </a:p>
        </p:txBody>
      </p:sp>
      <p:sp>
        <p:nvSpPr>
          <p:cNvPr id="24" name="TextBox 23"/>
          <p:cNvSpPr txBox="1"/>
          <p:nvPr/>
        </p:nvSpPr>
        <p:spPr>
          <a:xfrm>
            <a:off x="2541599" y="1098000"/>
            <a:ext cx="1900799" cy="234000"/>
          </a:xfrm>
          <a:prstGeom prst="rect">
            <a:avLst/>
          </a:prstGeom>
          <a:noFill/>
        </p:spPr>
        <p:txBody>
          <a:bodyPr wrap="square">
            <a:spAutoFit/>
          </a:bodyPr>
          <a:lstStyle/>
          <a:p>
            <a:pPr algn="l"/>
            <a:r>
              <a:rPr sz="800" b="0" i="0">
                <a:solidFill>
                  <a:srgbClr val="555555"/>
                </a:solidFill>
                <a:latin typeface="Calibri"/>
              </a:rPr>
              <a:t>FCF (LTM)</a:t>
            </a:r>
          </a:p>
        </p:txBody>
      </p:sp>
      <p:sp>
        <p:nvSpPr>
          <p:cNvPr id="25" name="Rectangle 24"/>
          <p:cNvSpPr/>
          <p:nvPr/>
        </p:nvSpPr>
        <p:spPr>
          <a:xfrm>
            <a:off x="4528799" y="824400"/>
            <a:ext cx="2015999" cy="5472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528799" y="824400"/>
            <a:ext cx="64800" cy="5472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22399" y="871200"/>
            <a:ext cx="1900799" cy="234000"/>
          </a:xfrm>
          <a:prstGeom prst="rect">
            <a:avLst/>
          </a:prstGeom>
          <a:noFill/>
        </p:spPr>
        <p:txBody>
          <a:bodyPr wrap="square">
            <a:spAutoFit/>
          </a:bodyPr>
          <a:lstStyle/>
          <a:p>
            <a:pPr algn="l"/>
            <a:r>
              <a:rPr sz="1600" b="1" i="0">
                <a:solidFill>
                  <a:srgbClr val="1B3A6B"/>
                </a:solidFill>
                <a:latin typeface="Calibri"/>
              </a:rPr>
              <a:t>3,1 %</a:t>
            </a:r>
          </a:p>
        </p:txBody>
      </p:sp>
      <p:sp>
        <p:nvSpPr>
          <p:cNvPr id="28" name="TextBox 27"/>
          <p:cNvSpPr txBox="1"/>
          <p:nvPr/>
        </p:nvSpPr>
        <p:spPr>
          <a:xfrm>
            <a:off x="4622399" y="1098000"/>
            <a:ext cx="1900799" cy="234000"/>
          </a:xfrm>
          <a:prstGeom prst="rect">
            <a:avLst/>
          </a:prstGeom>
          <a:noFill/>
        </p:spPr>
        <p:txBody>
          <a:bodyPr wrap="square">
            <a:spAutoFit/>
          </a:bodyPr>
          <a:lstStyle/>
          <a:p>
            <a:pPr algn="l"/>
            <a:r>
              <a:rPr sz="800" b="0" i="0">
                <a:solidFill>
                  <a:srgbClr val="555555"/>
                </a:solidFill>
                <a:latin typeface="Calibri"/>
              </a:rPr>
              <a:t>Capex / Rev</a:t>
            </a:r>
          </a:p>
        </p:txBody>
      </p:sp>
      <p:sp>
        <p:nvSpPr>
          <p:cNvPr id="29" name="Rectangle 28"/>
          <p:cNvSpPr/>
          <p:nvPr/>
        </p:nvSpPr>
        <p:spPr>
          <a:xfrm>
            <a:off x="6609599" y="824400"/>
            <a:ext cx="2015999" cy="5472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609599" y="824400"/>
            <a:ext cx="64800" cy="5472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703199" y="871200"/>
            <a:ext cx="1900799" cy="234000"/>
          </a:xfrm>
          <a:prstGeom prst="rect">
            <a:avLst/>
          </a:prstGeom>
          <a:noFill/>
        </p:spPr>
        <p:txBody>
          <a:bodyPr wrap="square">
            <a:spAutoFit/>
          </a:bodyPr>
          <a:lstStyle/>
          <a:p>
            <a:pPr algn="l"/>
            <a:r>
              <a:rPr sz="1600" b="1" i="0">
                <a:solidFill>
                  <a:srgbClr val="1B3A6B"/>
                </a:solidFill>
                <a:latin typeface="Calibri"/>
              </a:rPr>
              <a:t>81,0 %</a:t>
            </a:r>
          </a:p>
        </p:txBody>
      </p:sp>
      <p:sp>
        <p:nvSpPr>
          <p:cNvPr id="32" name="TextBox 31"/>
          <p:cNvSpPr txBox="1"/>
          <p:nvPr/>
        </p:nvSpPr>
        <p:spPr>
          <a:xfrm>
            <a:off x="6703199" y="1098000"/>
            <a:ext cx="1900799" cy="234000"/>
          </a:xfrm>
          <a:prstGeom prst="rect">
            <a:avLst/>
          </a:prstGeom>
          <a:noFill/>
        </p:spPr>
        <p:txBody>
          <a:bodyPr wrap="square">
            <a:spAutoFit/>
          </a:bodyPr>
          <a:lstStyle/>
          <a:p>
            <a:pPr algn="l"/>
            <a:r>
              <a:rPr sz="800" b="0" i="0">
                <a:solidFill>
                  <a:srgbClr val="555555"/>
                </a:solidFill>
                <a:latin typeface="Calibri"/>
              </a:rPr>
              <a:t>Div. Payout</a:t>
            </a:r>
          </a:p>
        </p:txBody>
      </p:sp>
      <p:pic>
        <p:nvPicPr>
          <p:cNvPr id="33" name="Picture 32" descr="image.png"/>
          <p:cNvPicPr>
            <a:picLocks noChangeAspect="1"/>
          </p:cNvPicPr>
          <p:nvPr/>
        </p:nvPicPr>
        <p:blipFill>
          <a:blip r:embed="rId2"/>
          <a:stretch>
            <a:fillRect/>
          </a:stretch>
        </p:blipFill>
        <p:spPr>
          <a:xfrm>
            <a:off x="367200" y="1512000"/>
            <a:ext cx="5220000" cy="2088000"/>
          </a:xfrm>
          <a:prstGeom prst="rect">
            <a:avLst/>
          </a:prstGeom>
        </p:spPr>
      </p:pic>
      <p:sp>
        <p:nvSpPr>
          <p:cNvPr id="34" name="TextBox 33"/>
          <p:cNvSpPr txBox="1"/>
          <p:nvPr/>
        </p:nvSpPr>
        <p:spPr>
          <a:xfrm>
            <a:off x="5832000" y="1512000"/>
            <a:ext cx="2951999" cy="180000"/>
          </a:xfrm>
          <a:prstGeom prst="rect">
            <a:avLst/>
          </a:prstGeom>
          <a:noFill/>
        </p:spPr>
        <p:txBody>
          <a:bodyPr wrap="square">
            <a:spAutoFit/>
          </a:bodyPr>
          <a:lstStyle/>
          <a:p>
            <a:pPr algn="l"/>
            <a:r>
              <a:rPr sz="800" b="1" i="0">
                <a:solidFill>
                  <a:srgbClr val="1B3A6B"/>
                </a:solidFill>
                <a:latin typeface="Calibri"/>
              </a:rPr>
              <a:t>ALLOCATION DU CAPITAL</a:t>
            </a:r>
          </a:p>
        </p:txBody>
      </p:sp>
      <p:graphicFrame>
        <p:nvGraphicFramePr>
          <p:cNvPr id="35" name="Table 34"/>
          <p:cNvGraphicFramePr>
            <a:graphicFrameLocks noGrp="1"/>
          </p:cNvGraphicFramePr>
          <p:nvPr/>
        </p:nvGraphicFramePr>
        <p:xfrm>
          <a:off x="5832000" y="1745999"/>
          <a:ext cx="2951995" cy="1008000"/>
        </p:xfrm>
        <a:graphic>
          <a:graphicData uri="http://schemas.openxmlformats.org/drawingml/2006/table">
            <a:tbl>
              <a:tblPr firstRow="1" bandRow="1">
                <a:tableStyleId>{5C22544A-7EE6-4342-B048-85BDC9FD1C3A}</a:tableStyleId>
              </a:tblPr>
              <a:tblGrid>
                <a:gridCol w="649439"/>
                <a:gridCol w="590399"/>
                <a:gridCol w="560879"/>
                <a:gridCol w="560879"/>
                <a:gridCol w="590399"/>
              </a:tblGrid>
              <a:tr h="201600">
                <a:tc>
                  <a:txBody>
                    <a:bodyPr/>
                    <a:lstStyle/>
                    <a:p>
                      <a:pPr algn="l"/>
                      <a:r>
                        <a:rPr sz="800" b="1" i="0">
                          <a:solidFill>
                            <a:srgbClr val="FFFFFF"/>
                          </a:solidFill>
                          <a:latin typeface="Calibri"/>
                        </a:rPr>
                        <a:t>Ann.</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FCF</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Yield</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Div%</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Capex%</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100,2 Mds$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89,6 %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2,7 %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97,6 Mds$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80,0 %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2,9 %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2024</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95,7 Mds$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101,3 %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2,4 %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111,0 Mds$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2,9 %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81,0 %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36" name="Rectangle 35"/>
          <p:cNvSpPr/>
          <p:nvPr/>
        </p:nvSpPr>
        <p:spPr>
          <a:xfrm>
            <a:off x="367200" y="3708000"/>
            <a:ext cx="8413200" cy="1007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367200" y="3708000"/>
            <a:ext cx="79200" cy="1007999"/>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75200" y="3736800"/>
            <a:ext cx="8298000" cy="971999"/>
          </a:xfrm>
          <a:prstGeom prst="rect">
            <a:avLst/>
          </a:prstGeom>
          <a:noFill/>
        </p:spPr>
        <p:txBody>
          <a:bodyPr wrap="square">
            <a:spAutoFit/>
          </a:bodyPr>
          <a:lstStyle/>
          <a:p>
            <a:pPr algn="l"/>
            <a:r>
              <a:rPr sz="850" b="0" i="0">
                <a:solidFill>
                  <a:srgbClr val="555555"/>
                </a:solidFill>
                <a:latin typeface="Calibri"/>
              </a:rPr>
              <a:t>Le FCF affiche une croissance de 10,8 Mds$ sur la période, avec un FCF yield actuel de 2,9 % — à surveiller au regard de la valorisation de marché. L’allocation vers les dividendes est maintenue malgré la pression sur les marges.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Analyse LBO — Leveraged Buyout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AAPL · Attractivité PE · Multiples d’entrée vs IRR cible</a:t>
            </a:r>
          </a:p>
        </p:txBody>
      </p:sp>
      <p:graphicFrame>
        <p:nvGraphicFramePr>
          <p:cNvPr id="17" name="Table 16"/>
          <p:cNvGraphicFramePr>
            <a:graphicFrameLocks noGrp="1"/>
          </p:cNvGraphicFramePr>
          <p:nvPr/>
        </p:nvGraphicFramePr>
        <p:xfrm>
          <a:off x="367200" y="900000"/>
          <a:ext cx="4860000" cy="1170000"/>
        </p:xfrm>
        <a:graphic>
          <a:graphicData uri="http://schemas.openxmlformats.org/drawingml/2006/table">
            <a:tbl>
              <a:tblPr firstRow="1" bandRow="1">
                <a:tableStyleId>{5C22544A-7EE6-4342-B048-85BDC9FD1C3A}</a:tableStyleId>
              </a:tblPr>
              <a:tblGrid>
                <a:gridCol w="1069200"/>
                <a:gridCol w="1263600"/>
                <a:gridCol w="1263600"/>
                <a:gridCol w="1263600"/>
              </a:tblGrid>
              <a:tr h="234000">
                <a:tc>
                  <a:txBody>
                    <a:bodyPr/>
                    <a:lstStyle/>
                    <a:p>
                      <a:pPr algn="l"/>
                      <a:r>
                        <a:rPr sz="800" b="1" i="0">
                          <a:solidFill>
                            <a:srgbClr val="FFFFFF"/>
                          </a:solidFill>
                          <a:latin typeface="Calibri"/>
                        </a:rPr>
                        <a:t>Entry mult.</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Exit 8x</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Exit 10x</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Exit 12x</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34000">
                <a:tc>
                  <a:txBody>
                    <a:bodyPr/>
                    <a:lstStyle/>
                    <a:p>
                      <a:pPr algn="l"/>
                      <a:r>
                        <a:rPr sz="800" b="0" i="0">
                          <a:solidFill>
                            <a:srgbClr val="0D0D0D"/>
                          </a:solidFill>
                          <a:latin typeface="Calibri"/>
                        </a:rPr>
                        <a:t>8x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17.4% / 2.2x</a:t>
                      </a:r>
                    </a:p>
                  </a:txBody>
                  <a:tcPr>
                    <a:solidFill>
                      <a:srgbClr val="FDF6E8"/>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23.8% / 2.9x</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29.2% / 3.6x</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4000">
                <a:tc>
                  <a:txBody>
                    <a:bodyPr/>
                    <a:lstStyle/>
                    <a:p>
                      <a:pPr algn="l"/>
                      <a:r>
                        <a:rPr sz="800" b="0" i="0">
                          <a:solidFill>
                            <a:srgbClr val="0D0D0D"/>
                          </a:solidFill>
                          <a:latin typeface="Calibri"/>
                        </a:rPr>
                        <a:t>10x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8.3% / 1.5x</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14.2% / 1.9x</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19.1% / 2.4x</a:t>
                      </a:r>
                    </a:p>
                  </a:txBody>
                  <a:tcPr>
                    <a:solidFill>
                      <a:srgbClr val="FDF6E8"/>
                    </a:solidFill>
                    <a:lnL w="6350">
                      <a:solidFill>
                        <a:srgbClr val="DDDDDD"/>
                      </a:solidFill>
                    </a:lnL>
                    <a:lnR w="6350">
                      <a:solidFill>
                        <a:srgbClr val="DDDDDD"/>
                      </a:solidFill>
                    </a:lnR>
                    <a:lnT w="6350">
                      <a:solidFill>
                        <a:srgbClr val="DDDDDD"/>
                      </a:solidFill>
                    </a:lnT>
                    <a:lnB w="6350">
                      <a:solidFill>
                        <a:srgbClr val="DDDDDD"/>
                      </a:solidFill>
                    </a:lnB>
                  </a:tcPr>
                </a:tc>
              </a:tr>
              <a:tr h="234000">
                <a:tc>
                  <a:txBody>
                    <a:bodyPr/>
                    <a:lstStyle/>
                    <a:p>
                      <a:pPr algn="l"/>
                      <a:r>
                        <a:rPr sz="800" b="0" i="0">
                          <a:solidFill>
                            <a:srgbClr val="0D0D0D"/>
                          </a:solidFill>
                          <a:latin typeface="Calibri"/>
                        </a:rPr>
                        <a:t>12x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2.2% / 1.1x</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7.8% / 1.5x</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12.4% / 1.8x</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4000">
                <a:tc>
                  <a:txBody>
                    <a:bodyPr/>
                    <a:lstStyle/>
                    <a:p>
                      <a:pPr algn="l"/>
                      <a:r>
                        <a:rPr sz="800" b="0" i="0">
                          <a:solidFill>
                            <a:srgbClr val="0D0D0D"/>
                          </a:solidFill>
                          <a:latin typeface="Calibri"/>
                        </a:rPr>
                        <a:t>14x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-2.3% / 0.9x</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3.1% / 1.2x</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7.5% / 1.4x</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8" name="TextBox 17"/>
          <p:cNvSpPr txBox="1"/>
          <p:nvPr/>
        </p:nvSpPr>
        <p:spPr>
          <a:xfrm>
            <a:off x="367200" y="2592000"/>
            <a:ext cx="4860000" cy="180000"/>
          </a:xfrm>
          <a:prstGeom prst="rect">
            <a:avLst/>
          </a:prstGeom>
          <a:noFill/>
        </p:spPr>
        <p:txBody>
          <a:bodyPr wrap="square">
            <a:spAutoFit/>
          </a:bodyPr>
          <a:lstStyle/>
          <a:p>
            <a:pPr algn="l"/>
            <a:r>
              <a:rPr sz="750" b="0" i="0">
                <a:solidFill>
                  <a:srgbClr val="555555"/>
                </a:solidFill>
                <a:latin typeface="Calibri"/>
              </a:rPr>
              <a:t>Hypotheses : Levier 4x EBITDA · 5 ans holding · 50% remboursement dette · EBITDA +6%/an</a:t>
            </a:r>
          </a:p>
        </p:txBody>
      </p:sp>
      <p:sp>
        <p:nvSpPr>
          <p:cNvPr id="19" name="TextBox 18"/>
          <p:cNvSpPr txBox="1"/>
          <p:nvPr/>
        </p:nvSpPr>
        <p:spPr>
          <a:xfrm>
            <a:off x="367200" y="2754000"/>
            <a:ext cx="4860000" cy="180000"/>
          </a:xfrm>
          <a:prstGeom prst="rect">
            <a:avLst/>
          </a:prstGeom>
          <a:noFill/>
        </p:spPr>
        <p:txBody>
          <a:bodyPr wrap="square">
            <a:spAutoFit/>
          </a:bodyPr>
          <a:lstStyle/>
          <a:p>
            <a:pPr algn="l"/>
            <a:r>
              <a:rPr sz="750" b="0" i="0">
                <a:solidFill>
                  <a:srgbClr val="888888"/>
                </a:solidFill>
                <a:latin typeface="Calibri"/>
              </a:rPr>
              <a:t>Lecture : IRR / MOIC  ● vert ≥ 20%  ● ambre 15-20%  ● rouge &lt; 15%</a:t>
            </a:r>
          </a:p>
        </p:txBody>
      </p:sp>
      <p:sp>
        <p:nvSpPr>
          <p:cNvPr id="20" name="TextBox 19"/>
          <p:cNvSpPr txBox="1"/>
          <p:nvPr/>
        </p:nvSpPr>
        <p:spPr>
          <a:xfrm>
            <a:off x="5472000" y="900000"/>
            <a:ext cx="3311999" cy="180000"/>
          </a:xfrm>
          <a:prstGeom prst="rect">
            <a:avLst/>
          </a:prstGeom>
          <a:noFill/>
        </p:spPr>
        <p:txBody>
          <a:bodyPr wrap="square">
            <a:spAutoFit/>
          </a:bodyPr>
          <a:lstStyle/>
          <a:p>
            <a:pPr algn="l"/>
            <a:r>
              <a:rPr sz="800" b="1" i="0">
                <a:solidFill>
                  <a:srgbClr val="1B3A6B"/>
                </a:solidFill>
                <a:latin typeface="Calibri"/>
              </a:rPr>
              <a:t>HYPOTHÈSES &amp; STRUCTURE LBO</a:t>
            </a:r>
          </a:p>
        </p:txBody>
      </p:sp>
      <p:graphicFrame>
        <p:nvGraphicFramePr>
          <p:cNvPr id="21" name="Table 20"/>
          <p:cNvGraphicFramePr>
            <a:graphicFrameLocks noGrp="1"/>
          </p:cNvGraphicFramePr>
          <p:nvPr/>
        </p:nvGraphicFramePr>
        <p:xfrm>
          <a:off x="5472000" y="1116000"/>
          <a:ext cx="3311998" cy="1602000"/>
        </p:xfrm>
        <a:graphic>
          <a:graphicData uri="http://schemas.openxmlformats.org/drawingml/2006/table">
            <a:tbl>
              <a:tblPr firstRow="1" bandRow="1">
                <a:tableStyleId>{5C22544A-7EE6-4342-B048-85BDC9FD1C3A}</a:tableStyleId>
              </a:tblPr>
              <a:tblGrid>
                <a:gridCol w="1722239"/>
                <a:gridCol w="1589759"/>
              </a:tblGrid>
              <a:tr h="200250">
                <a:tc>
                  <a:txBody>
                    <a:bodyPr/>
                    <a:lstStyle/>
                    <a:p>
                      <a:pPr algn="l"/>
                      <a:r>
                        <a:rPr sz="800" b="1" i="0">
                          <a:solidFill>
                            <a:srgbClr val="FFFFFF"/>
                          </a:solidFill>
                          <a:latin typeface="Calibri"/>
                        </a:rPr>
                        <a:t>Paramètre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00250">
                <a:tc>
                  <a:txBody>
                    <a:bodyPr/>
                    <a:lstStyle/>
                    <a:p>
                      <a:pPr algn="l"/>
                      <a:r>
                        <a:rPr sz="800" b="0" i="0">
                          <a:solidFill>
                            <a:srgbClr val="0D0D0D"/>
                          </a:solidFill>
                          <a:latin typeface="Calibri"/>
                        </a:rPr>
                        <a:t>EBITDA LTM</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144,7 Mds$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00250">
                <a:tc>
                  <a:txBody>
                    <a:bodyPr/>
                    <a:lstStyle/>
                    <a:p>
                      <a:pPr algn="l"/>
                      <a:r>
                        <a:rPr sz="800" b="0" i="0">
                          <a:solidFill>
                            <a:srgbClr val="0D0D0D"/>
                          </a:solidFill>
                          <a:latin typeface="Calibri"/>
                        </a:rPr>
                        <a:t>FCF LTM</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111,0 Mds$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00250">
                <a:tc>
                  <a:txBody>
                    <a:bodyPr/>
                    <a:lstStyle/>
                    <a:p>
                      <a:pPr algn="l"/>
                      <a:r>
                        <a:rPr sz="800" b="0" i="0">
                          <a:solidFill>
                            <a:srgbClr val="0D0D0D"/>
                          </a:solidFill>
                          <a:latin typeface="Calibri"/>
                        </a:rPr>
                        <a:t>Levier PE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4x EBITDA</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00250">
                <a:tc>
                  <a:txBody>
                    <a:bodyPr/>
                    <a:lstStyle/>
                    <a:p>
                      <a:pPr algn="l"/>
                      <a:r>
                        <a:rPr sz="800" b="0" i="0">
                          <a:solidFill>
                            <a:srgbClr val="0D0D0D"/>
                          </a:solidFill>
                          <a:latin typeface="Calibri"/>
                        </a:rPr>
                        <a:t>Dette entrée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579,0 Mds$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00250">
                <a:tc>
                  <a:txBody>
                    <a:bodyPr/>
                    <a:lstStyle/>
                    <a:p>
                      <a:pPr algn="l"/>
                      <a:r>
                        <a:rPr sz="800" b="0" i="0">
                          <a:solidFill>
                            <a:srgbClr val="0D0D0D"/>
                          </a:solidFill>
                          <a:latin typeface="Calibri"/>
                        </a:rPr>
                        <a:t>EBITDA exit (est.)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197,6 Mds$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00250">
                <a:tc>
                  <a:txBody>
                    <a:bodyPr/>
                    <a:lstStyle/>
                    <a:p>
                      <a:pPr algn="l"/>
                      <a:r>
                        <a:rPr sz="800" b="0" i="0">
                          <a:solidFill>
                            <a:srgbClr val="0D0D0D"/>
                          </a:solidFill>
                          <a:latin typeface="Calibri"/>
                        </a:rPr>
                        <a:t>Holding</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 ans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00250">
                <a:tc>
                  <a:txBody>
                    <a:bodyPr/>
                    <a:lstStyle/>
                    <a:p>
                      <a:pPr algn="l"/>
                      <a:r>
                        <a:rPr sz="800" b="0" i="0">
                          <a:solidFill>
                            <a:srgbClr val="0D0D0D"/>
                          </a:solidFill>
                          <a:latin typeface="Calibri"/>
                        </a:rPr>
                        <a:t>IRR cible PE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 20%</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2" name="Rectangle 21"/>
          <p:cNvSpPr/>
          <p:nvPr/>
        </p:nvSpPr>
        <p:spPr>
          <a:xfrm>
            <a:off x="5472000" y="3096000"/>
            <a:ext cx="3311999" cy="1007999"/>
          </a:xfrm>
          <a:prstGeom prst="rect">
            <a:avLst/>
          </a:prstGeom>
          <a:solidFill>
            <a:srgbClr val="FDF6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472000" y="3096000"/>
            <a:ext cx="72000" cy="1007999"/>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580000" y="3131999"/>
            <a:ext cx="3168000" cy="162000"/>
          </a:xfrm>
          <a:prstGeom prst="rect">
            <a:avLst/>
          </a:prstGeom>
          <a:noFill/>
        </p:spPr>
        <p:txBody>
          <a:bodyPr wrap="square">
            <a:spAutoFit/>
          </a:bodyPr>
          <a:lstStyle/>
          <a:p>
            <a:pPr algn="l"/>
            <a:r>
              <a:rPr sz="750" b="1" i="0">
                <a:solidFill>
                  <a:srgbClr val="B06000"/>
                </a:solidFill>
                <a:latin typeface="Calibri"/>
              </a:rPr>
              <a:t>NOTE MÉTHODOLOGIQUE</a:t>
            </a:r>
          </a:p>
        </p:txBody>
      </p:sp>
      <p:sp>
        <p:nvSpPr>
          <p:cNvPr id="25" name="TextBox 24"/>
          <p:cNvSpPr txBox="1"/>
          <p:nvPr/>
        </p:nvSpPr>
        <p:spPr>
          <a:xfrm>
            <a:off x="5580000" y="3294000"/>
            <a:ext cx="3168000" cy="792000"/>
          </a:xfrm>
          <a:prstGeom prst="rect">
            <a:avLst/>
          </a:prstGeom>
          <a:noFill/>
        </p:spPr>
        <p:txBody>
          <a:bodyPr wrap="square">
            <a:spAutoFit/>
          </a:bodyPr>
          <a:lstStyle/>
          <a:p>
            <a:pPr algn="l"/>
            <a:r>
              <a:rPr sz="800" b="0" i="0">
                <a:solidFill>
                  <a:srgbClr val="555555"/>
                </a:solidFill>
                <a:latin typeface="Calibri"/>
              </a:rPr>
              <a:t>Analyse indicative uniquement. Le LBO assume un rachat 100% equity par un fonds PE. La dette est remboursée par le FCF de la cible. L'IRR ne tient pas compte des frais de transaction ni de la structure fiscale optimisée. Un IRR ≥ 20% est le seuil standard d'un fonds PE tier-1.</a:t>
            </a:r>
          </a:p>
        </p:txBody>
      </p:sp>
      <p:sp>
        <p:nvSpPr>
          <p:cNvPr id="26" name="Rectangle 25"/>
          <p:cNvSpPr/>
          <p:nvPr/>
        </p:nvSpPr>
        <p:spPr>
          <a:xfrm>
            <a:off x="367200" y="4176000"/>
            <a:ext cx="8413200" cy="57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67200" y="4176000"/>
            <a:ext cx="79200" cy="576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75200" y="4204800"/>
            <a:ext cx="8298000" cy="540000"/>
          </a:xfrm>
          <a:prstGeom prst="rect">
            <a:avLst/>
          </a:prstGeom>
          <a:noFill/>
        </p:spPr>
        <p:txBody>
          <a:bodyPr wrap="square">
            <a:spAutoFit/>
          </a:bodyPr>
          <a:lstStyle/>
          <a:p>
            <a:pPr algn="l"/>
            <a:r>
              <a:rPr sz="850" b="0" i="0">
                <a:solidFill>
                  <a:srgbClr val="555555"/>
                </a:solidFill>
                <a:latin typeface="Calibri"/>
              </a:rPr>
              <a:t>A 10x EBITDA d'entrée / 10x de sortie, le LBO génère un IRR de 14.2% (MOIC 1.9x en 5 ans) — attractivité PE jugée insuffisante. Un fonds tier-1 ciblant 20%+ d'IRR doit entrer en dessous de 8x EBITDA. La génération de FCF (111,0 Mds$) est le principal levier de remboursement de la dette.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04</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Risques &amp; Stratégie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Avocat du diable &amp; conditions d'invalidation</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1B3A6B"/>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Risques &amp; Conditions d'Invalidation</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des risques structurels  ·  Thèse contraire</a:t>
            </a:r>
          </a:p>
        </p:txBody>
      </p:sp>
      <p:sp>
        <p:nvSpPr>
          <p:cNvPr id="17" name="Rectangle 16"/>
          <p:cNvSpPr/>
          <p:nvPr/>
        </p:nvSpPr>
        <p:spPr>
          <a:xfrm>
            <a:off x="367200" y="961200"/>
            <a:ext cx="2743200" cy="1918800"/>
          </a:xfrm>
          <a:prstGeom prst="rect">
            <a:avLst/>
          </a:prstGeom>
          <a:solidFill>
            <a:srgbClr val="FAF0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2743200" cy="5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200" y="1069200"/>
            <a:ext cx="2527200" cy="396000"/>
          </a:xfrm>
          <a:prstGeom prst="rect">
            <a:avLst/>
          </a:prstGeom>
          <a:noFill/>
        </p:spPr>
        <p:txBody>
          <a:bodyPr wrap="square">
            <a:spAutoFit/>
          </a:bodyPr>
          <a:lstStyle/>
          <a:p>
            <a:pPr algn="l"/>
            <a:r>
              <a:rPr sz="900" b="1" i="0">
                <a:solidFill>
                  <a:srgbClr val="A82020"/>
                </a:solidFill>
                <a:latin typeface="Calibri"/>
              </a:rPr>
              <a:t>Risque 1</a:t>
            </a:r>
          </a:p>
        </p:txBody>
      </p:sp>
      <p:sp>
        <p:nvSpPr>
          <p:cNvPr id="20" name="TextBox 19"/>
          <p:cNvSpPr txBox="1"/>
          <p:nvPr/>
        </p:nvSpPr>
        <p:spPr>
          <a:xfrm>
            <a:off x="475200" y="1537199"/>
            <a:ext cx="2527200" cy="1260000"/>
          </a:xfrm>
          <a:prstGeom prst="rect">
            <a:avLst/>
          </a:prstGeom>
          <a:noFill/>
        </p:spPr>
        <p:txBody>
          <a:bodyPr wrap="square">
            <a:spAutoFit/>
          </a:bodyPr>
          <a:lstStyle/>
          <a:p>
            <a:pPr algn="l"/>
            <a:r>
              <a:rPr sz="800" b="0" i="0">
                <a:solidFill>
                  <a:srgbClr val="555555"/>
                </a:solidFill>
                <a:latin typeface="Calibri"/>
              </a:rPr>
              <a:t>Risque macro-économique : remontée des taux ou ralentissement de la demande mondiale.</a:t>
            </a:r>
          </a:p>
        </p:txBody>
      </p:sp>
      <p:sp>
        <p:nvSpPr>
          <p:cNvPr id="21" name="Rectangle 20"/>
          <p:cNvSpPr/>
          <p:nvPr/>
        </p:nvSpPr>
        <p:spPr>
          <a:xfrm>
            <a:off x="3229200" y="961200"/>
            <a:ext cx="2743200" cy="191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29200" y="961200"/>
            <a:ext cx="2743200"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337200" y="1069200"/>
            <a:ext cx="2527200" cy="396000"/>
          </a:xfrm>
          <a:prstGeom prst="rect">
            <a:avLst/>
          </a:prstGeom>
          <a:noFill/>
        </p:spPr>
        <p:txBody>
          <a:bodyPr wrap="square">
            <a:spAutoFit/>
          </a:bodyPr>
          <a:lstStyle/>
          <a:p>
            <a:pPr algn="l"/>
            <a:r>
              <a:rPr sz="900" b="1" i="0">
                <a:solidFill>
                  <a:srgbClr val="2E5FA3"/>
                </a:solidFill>
                <a:latin typeface="Calibri"/>
              </a:rPr>
              <a:t>Risque 2</a:t>
            </a:r>
          </a:p>
        </p:txBody>
      </p:sp>
      <p:sp>
        <p:nvSpPr>
          <p:cNvPr id="24" name="TextBox 23"/>
          <p:cNvSpPr txBox="1"/>
          <p:nvPr/>
        </p:nvSpPr>
        <p:spPr>
          <a:xfrm>
            <a:off x="3337200" y="1537199"/>
            <a:ext cx="2527200" cy="1260000"/>
          </a:xfrm>
          <a:prstGeom prst="rect">
            <a:avLst/>
          </a:prstGeom>
          <a:noFill/>
        </p:spPr>
        <p:txBody>
          <a:bodyPr wrap="square">
            <a:spAutoFit/>
          </a:bodyPr>
          <a:lstStyle/>
          <a:p>
            <a:pPr algn="l"/>
            <a:r>
              <a:rPr sz="800" b="0" i="0">
                <a:solidFill>
                  <a:srgbClr val="555555"/>
                </a:solidFill>
                <a:latin typeface="Calibri"/>
              </a:rPr>
              <a:t>Risque sectoriel : intensification de la concurrence ou disruption technologique.</a:t>
            </a:r>
          </a:p>
        </p:txBody>
      </p:sp>
      <p:sp>
        <p:nvSpPr>
          <p:cNvPr id="25" name="Rectangle 24"/>
          <p:cNvSpPr/>
          <p:nvPr/>
        </p:nvSpPr>
        <p:spPr>
          <a:xfrm>
            <a:off x="6091200" y="961200"/>
            <a:ext cx="2743200" cy="1918800"/>
          </a:xfrm>
          <a:prstGeom prst="rect">
            <a:avLst/>
          </a:prstGeom>
          <a:solidFill>
            <a:srgbClr val="FDF6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091200" y="961200"/>
            <a:ext cx="2743200" cy="54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99200" y="1069200"/>
            <a:ext cx="2527200" cy="396000"/>
          </a:xfrm>
          <a:prstGeom prst="rect">
            <a:avLst/>
          </a:prstGeom>
          <a:noFill/>
        </p:spPr>
        <p:txBody>
          <a:bodyPr wrap="square">
            <a:spAutoFit/>
          </a:bodyPr>
          <a:lstStyle/>
          <a:p>
            <a:pPr algn="l"/>
            <a:r>
              <a:rPr sz="900" b="1" i="0">
                <a:solidFill>
                  <a:srgbClr val="B06000"/>
                </a:solidFill>
                <a:latin typeface="Calibri"/>
              </a:rPr>
              <a:t>Risque 3</a:t>
            </a:r>
          </a:p>
        </p:txBody>
      </p:sp>
      <p:sp>
        <p:nvSpPr>
          <p:cNvPr id="28" name="TextBox 27"/>
          <p:cNvSpPr txBox="1"/>
          <p:nvPr/>
        </p:nvSpPr>
        <p:spPr>
          <a:xfrm>
            <a:off x="6199200" y="1537199"/>
            <a:ext cx="2527200" cy="1260000"/>
          </a:xfrm>
          <a:prstGeom prst="rect">
            <a:avLst/>
          </a:prstGeom>
          <a:noFill/>
        </p:spPr>
        <p:txBody>
          <a:bodyPr wrap="square">
            <a:spAutoFit/>
          </a:bodyPr>
          <a:lstStyle/>
          <a:p>
            <a:pPr algn="l"/>
            <a:r>
              <a:rPr sz="800" b="0" i="0">
                <a:solidFill>
                  <a:srgbClr val="555555"/>
                </a:solidFill>
                <a:latin typeface="Calibri"/>
              </a:rPr>
              <a:t>Risque spécifique : détérioration des marges ou exécution stratégique.</a:t>
            </a:r>
          </a:p>
        </p:txBody>
      </p:sp>
      <p:sp>
        <p:nvSpPr>
          <p:cNvPr id="29" name="Rectangle 28"/>
          <p:cNvSpPr/>
          <p:nvPr/>
        </p:nvSpPr>
        <p:spPr>
          <a:xfrm>
            <a:off x="367200" y="29988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67200" y="3070800"/>
            <a:ext cx="8413200" cy="165600"/>
          </a:xfrm>
          <a:prstGeom prst="rect">
            <a:avLst/>
          </a:prstGeom>
          <a:noFill/>
        </p:spPr>
        <p:txBody>
          <a:bodyPr wrap="square">
            <a:spAutoFit/>
          </a:bodyPr>
          <a:lstStyle/>
          <a:p>
            <a:pPr algn="l"/>
            <a:r>
              <a:rPr sz="900" b="1" i="0">
                <a:solidFill>
                  <a:srgbClr val="1B3A6B"/>
                </a:solidFill>
                <a:latin typeface="Calibri"/>
              </a:rPr>
              <a:t>Conditions d'invalidation de la thèse</a:t>
            </a:r>
          </a:p>
        </p:txBody>
      </p:sp>
      <p:graphicFrame>
        <p:nvGraphicFramePr>
          <p:cNvPr id="31" name="Table 30"/>
          <p:cNvGraphicFramePr>
            <a:graphicFrameLocks noGrp="1"/>
          </p:cNvGraphicFramePr>
          <p:nvPr/>
        </p:nvGraphicFramePr>
        <p:xfrm>
          <a:off x="367200" y="3308400"/>
          <a:ext cx="8413200" cy="1098000"/>
        </p:xfrm>
        <a:graphic>
          <a:graphicData uri="http://schemas.openxmlformats.org/drawingml/2006/table">
            <a:tbl>
              <a:tblPr firstRow="1" bandRow="1">
                <a:tableStyleId>{5C22544A-7EE6-4342-B048-85BDC9FD1C3A}</a:tableStyleId>
              </a:tblPr>
              <a:tblGrid>
                <a:gridCol w="1261980"/>
                <a:gridCol w="5468580"/>
                <a:gridCol w="1682640"/>
              </a:tblGrid>
              <a:tr h="274500">
                <a:tc>
                  <a:txBody>
                    <a:bodyPr/>
                    <a:lstStyle/>
                    <a:p>
                      <a:pPr algn="l"/>
                      <a:r>
                        <a:rPr sz="800" b="1" i="0">
                          <a:solidFill>
                            <a:srgbClr val="FFFFFF"/>
                          </a:solidFill>
                          <a:latin typeface="Calibri"/>
                        </a:rPr>
                        <a:t>Axe</a:t>
                      </a:r>
                    </a:p>
                  </a:txBody>
                  <a:tcPr>
                    <a:solidFill>
                      <a:srgbClr val="1B3A6B"/>
                    </a:solidFill>
                  </a:tcPr>
                </a:tc>
                <a:tc>
                  <a:txBody>
                    <a:bodyPr/>
                    <a:lstStyle/>
                    <a:p>
                      <a:pPr algn="ctr"/>
                      <a:r>
                        <a:rPr sz="800" b="1" i="0">
                          <a:solidFill>
                            <a:srgbClr val="FFFFFF"/>
                          </a:solidFill>
                          <a:latin typeface="Calibri"/>
                        </a:rPr>
                        <a:t>Condition d'invalidation</a:t>
                      </a:r>
                    </a:p>
                  </a:txBody>
                  <a:tcPr>
                    <a:solidFill>
                      <a:srgbClr val="1B3A6B"/>
                    </a:solidFill>
                  </a:tcPr>
                </a:tc>
                <a:tc>
                  <a:txBody>
                    <a:bodyPr/>
                    <a:lstStyle/>
                    <a:p>
                      <a:pPr algn="ctr"/>
                      <a:r>
                        <a:rPr sz="800" b="1" i="0">
                          <a:solidFill>
                            <a:srgbClr val="FFFFFF"/>
                          </a:solidFill>
                          <a:latin typeface="Calibri"/>
                        </a:rPr>
                        <a:t>Horizon</a:t>
                      </a:r>
                    </a:p>
                  </a:txBody>
                  <a:tcPr>
                    <a:solidFill>
                      <a:srgbClr val="1B3A6B"/>
                    </a:solidFill>
                  </a:tcPr>
                </a:tc>
              </a:tr>
              <a:tr h="274500">
                <a:tc>
                  <a:txBody>
                    <a:bodyPr/>
                    <a:lstStyle/>
                    <a:p>
                      <a:pPr algn="l"/>
                      <a:r>
                        <a:rPr sz="800" b="1" i="0">
                          <a:solidFill>
                            <a:srgbClr val="1B3A6B"/>
                          </a:solidFill>
                          <a:latin typeface="Calibri"/>
                        </a:rPr>
                        <a:t>Macro</a:t>
                      </a:r>
                    </a:p>
                  </a:txBody>
                  <a:tcPr>
                    <a:solidFill>
                      <a:srgbClr val="FFFFFF"/>
                    </a:solidFill>
                  </a:tcPr>
                </a:tc>
                <a:tc>
                  <a:txBody>
                    <a:bodyPr/>
                    <a:lstStyle/>
                    <a:p>
                      <a:pPr algn="ctr"/>
                      <a:r>
                        <a:rPr sz="800" b="0" i="0">
                          <a:solidFill>
                            <a:srgbClr val="0D0D0D"/>
                          </a:solidFill>
                          <a:latin typeface="Calibri"/>
                        </a:rPr>
                        <a:t>Remontée des taux directeurs &gt; 200bps</a:t>
                      </a:r>
                    </a:p>
                  </a:txBody>
                  <a:tcPr>
                    <a:solidFill>
                      <a:srgbClr val="FFFFFF"/>
                    </a:solidFill>
                  </a:tcPr>
                </a:tc>
                <a:tc>
                  <a:txBody>
                    <a:bodyPr/>
                    <a:lstStyle/>
                    <a:p>
                      <a:pPr algn="ctr"/>
                      <a:r>
                        <a:rPr sz="800" b="0" i="0">
                          <a:solidFill>
                            <a:srgbClr val="0D0D0D"/>
                          </a:solidFill>
                          <a:latin typeface="Calibri"/>
                        </a:rPr>
                        <a:t>6-12 mois</a:t>
                      </a:r>
                    </a:p>
                  </a:txBody>
                  <a:tcPr>
                    <a:solidFill>
                      <a:srgbClr val="FFFFFF"/>
                    </a:solidFill>
                  </a:tcPr>
                </a:tc>
              </a:tr>
              <a:tr h="274500">
                <a:tc>
                  <a:txBody>
                    <a:bodyPr/>
                    <a:lstStyle/>
                    <a:p>
                      <a:pPr algn="l"/>
                      <a:r>
                        <a:rPr sz="800" b="1" i="0">
                          <a:solidFill>
                            <a:srgbClr val="1B3A6B"/>
                          </a:solidFill>
                          <a:latin typeface="Calibri"/>
                        </a:rPr>
                        <a:t>Sectoriel</a:t>
                      </a:r>
                    </a:p>
                  </a:txBody>
                  <a:tcPr>
                    <a:solidFill>
                      <a:srgbClr val="F7F8FA"/>
                    </a:solidFill>
                  </a:tcPr>
                </a:tc>
                <a:tc>
                  <a:txBody>
                    <a:bodyPr/>
                    <a:lstStyle/>
                    <a:p>
                      <a:pPr algn="ctr"/>
                      <a:r>
                        <a:rPr sz="800" b="0" i="0">
                          <a:solidFill>
                            <a:srgbClr val="0D0D0D"/>
                          </a:solidFill>
                          <a:latin typeface="Calibri"/>
                        </a:rPr>
                        <a:t>Rupture technologique remettant en cause le modèle</a:t>
                      </a:r>
                    </a:p>
                  </a:txBody>
                  <a:tcPr>
                    <a:solidFill>
                      <a:srgbClr val="F7F8FA"/>
                    </a:solidFill>
                  </a:tcPr>
                </a:tc>
                <a:tc>
                  <a:txBody>
                    <a:bodyPr/>
                    <a:lstStyle/>
                    <a:p>
                      <a:pPr algn="ctr"/>
                      <a:r>
                        <a:rPr sz="800" b="0" i="0">
                          <a:solidFill>
                            <a:srgbClr val="0D0D0D"/>
                          </a:solidFill>
                          <a:latin typeface="Calibri"/>
                        </a:rPr>
                        <a:t>12-18 mois</a:t>
                      </a:r>
                    </a:p>
                  </a:txBody>
                  <a:tcPr>
                    <a:solidFill>
                      <a:srgbClr val="F7F8FA"/>
                    </a:solidFill>
                  </a:tcPr>
                </a:tc>
              </a:tr>
              <a:tr h="274500">
                <a:tc>
                  <a:txBody>
                    <a:bodyPr/>
                    <a:lstStyle/>
                    <a:p>
                      <a:pPr algn="l"/>
                      <a:r>
                        <a:rPr sz="800" b="1" i="0">
                          <a:solidFill>
                            <a:srgbClr val="1B3A6B"/>
                          </a:solidFill>
                          <a:latin typeface="Calibri"/>
                        </a:rPr>
                        <a:t>Société</a:t>
                      </a:r>
                    </a:p>
                  </a:txBody>
                  <a:tcPr>
                    <a:solidFill>
                      <a:srgbClr val="FFFFFF"/>
                    </a:solidFill>
                  </a:tcPr>
                </a:tc>
                <a:tc>
                  <a:txBody>
                    <a:bodyPr/>
                    <a:lstStyle/>
                    <a:p>
                      <a:pPr algn="ctr"/>
                      <a:r>
                        <a:rPr sz="800" b="0" i="0">
                          <a:solidFill>
                            <a:srgbClr val="0D0D0D"/>
                          </a:solidFill>
                          <a:latin typeface="Calibri"/>
                        </a:rPr>
                        <a:t>Détérioration matérielle des marges opérationnelles</a:t>
                      </a:r>
                    </a:p>
                  </a:txBody>
                  <a:tcPr>
                    <a:solidFill>
                      <a:srgbClr val="FFFFFF"/>
                    </a:solidFill>
                  </a:tcPr>
                </a:tc>
                <a:tc>
                  <a:txBody>
                    <a:bodyPr/>
                    <a:lstStyle/>
                    <a:p>
                      <a:pPr algn="ctr"/>
                      <a:r>
                        <a:rPr sz="800" b="0" i="0">
                          <a:solidFill>
                            <a:srgbClr val="0D0D0D"/>
                          </a:solidFill>
                          <a:latin typeface="Calibri"/>
                        </a:rPr>
                        <a:t>2-3 trim.</a:t>
                      </a:r>
                    </a:p>
                  </a:txBody>
                  <a:tcPr>
                    <a:solidFill>
                      <a:srgbClr val="FFFFFF"/>
                    </a:solidFill>
                  </a:tcPr>
                </a:tc>
              </a:tr>
            </a:tbl>
          </a:graphicData>
        </a:graphic>
      </p:graphicFrame>
      <p:sp>
        <p:nvSpPr>
          <p:cNvPr id="32" name="Rectangle 31"/>
          <p:cNvSpPr/>
          <p:nvPr/>
        </p:nvSpPr>
        <p:spPr>
          <a:xfrm>
            <a:off x="367200" y="4428000"/>
            <a:ext cx="2804400" cy="180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7200" y="4428000"/>
            <a:ext cx="43200" cy="180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46400" y="4438800"/>
            <a:ext cx="2696400" cy="158400"/>
          </a:xfrm>
          <a:prstGeom prst="rect">
            <a:avLst/>
          </a:prstGeom>
          <a:noFill/>
        </p:spPr>
        <p:txBody>
          <a:bodyPr wrap="square">
            <a:spAutoFit/>
          </a:bodyPr>
          <a:lstStyle/>
          <a:p>
            <a:pPr algn="l"/>
            <a:r>
              <a:rPr sz="700" b="0" i="0">
                <a:solidFill>
                  <a:srgbClr val="1B3A6B"/>
                </a:solidFill>
                <a:latin typeface="Calibri"/>
              </a:rPr>
              <a:t>Détresse : 49/100  Vigilance</a:t>
            </a:r>
          </a:p>
        </p:txBody>
      </p:sp>
      <p:sp>
        <p:nvSpPr>
          <p:cNvPr id="35" name="Rectangle 34"/>
          <p:cNvSpPr/>
          <p:nvPr/>
        </p:nvSpPr>
        <p:spPr>
          <a:xfrm>
            <a:off x="3243600" y="4428000"/>
            <a:ext cx="2804400" cy="180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243600" y="4428000"/>
            <a:ext cx="43200" cy="180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322800" y="4438800"/>
            <a:ext cx="2696400" cy="158400"/>
          </a:xfrm>
          <a:prstGeom prst="rect">
            <a:avLst/>
          </a:prstGeom>
          <a:noFill/>
        </p:spPr>
        <p:txBody>
          <a:bodyPr wrap="square">
            <a:spAutoFit/>
          </a:bodyPr>
          <a:lstStyle/>
          <a:p>
            <a:pPr algn="l"/>
            <a:r>
              <a:rPr sz="700" b="0" i="0">
                <a:solidFill>
                  <a:srgbClr val="1B3A6B"/>
                </a:solidFill>
                <a:latin typeface="Calibri"/>
              </a:rPr>
              <a:t>M&amp;A : 42/100  Moderate</a:t>
            </a:r>
          </a:p>
        </p:txBody>
      </p:sp>
      <p:sp>
        <p:nvSpPr>
          <p:cNvPr id="38" name="Rectangle 37"/>
          <p:cNvSpPr/>
          <p:nvPr/>
        </p:nvSpPr>
        <p:spPr>
          <a:xfrm>
            <a:off x="6123600" y="4428000"/>
            <a:ext cx="2804400" cy="180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123600" y="4428000"/>
            <a:ext cx="43200" cy="18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202800" y="4438800"/>
            <a:ext cx="2696400" cy="158400"/>
          </a:xfrm>
          <a:prstGeom prst="rect">
            <a:avLst/>
          </a:prstGeom>
          <a:noFill/>
        </p:spPr>
        <p:txBody>
          <a:bodyPr wrap="square">
            <a:spAutoFit/>
          </a:bodyPr>
          <a:lstStyle/>
          <a:p>
            <a:pPr algn="l"/>
            <a:r>
              <a:rPr sz="700" b="0" i="0">
                <a:solidFill>
                  <a:srgbClr val="1B3A6B"/>
                </a:solidFill>
                <a:latin typeface="Calibri"/>
              </a:rPr>
              <a:t>Régime : Bull  Rec.6M:10%</a:t>
            </a:r>
          </a:p>
        </p:txBody>
      </p:sp>
      <p:sp>
        <p:nvSpPr>
          <p:cNvPr id="41" name="Rectangle 40"/>
          <p:cNvSpPr/>
          <p:nvPr/>
        </p:nvSpPr>
        <p:spPr>
          <a:xfrm>
            <a:off x="367200" y="4618800"/>
            <a:ext cx="2804400" cy="180000"/>
          </a:xfrm>
          <a:prstGeom prst="rect">
            <a:avLst/>
          </a:prstGeom>
          <a:solidFill>
            <a:srgbClr val="EBF0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367200" y="4618800"/>
            <a:ext cx="43200" cy="18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46400" y="4629600"/>
            <a:ext cx="2696400" cy="158400"/>
          </a:xfrm>
          <a:prstGeom prst="rect">
            <a:avLst/>
          </a:prstGeom>
          <a:noFill/>
        </p:spPr>
        <p:txBody>
          <a:bodyPr wrap="square">
            <a:spAutoFit/>
          </a:bodyPr>
          <a:lstStyle/>
          <a:p>
            <a:pPr algn="l"/>
            <a:r>
              <a:rPr sz="700" b="0" i="0">
                <a:solidFill>
                  <a:srgbClr val="1B3A6B"/>
                </a:solidFill>
                <a:latin typeface="Calibri"/>
              </a:rPr>
              <a:t>Earnings Qualité : Correcte (0.99x)</a:t>
            </a:r>
          </a:p>
        </p:txBody>
      </p:sp>
      <p:sp>
        <p:nvSpPr>
          <p:cNvPr id="44" name="Rectangle 43"/>
          <p:cNvSpPr/>
          <p:nvPr/>
        </p:nvSpPr>
        <p:spPr>
          <a:xfrm>
            <a:off x="3243600" y="4618800"/>
            <a:ext cx="2804400" cy="180000"/>
          </a:xfrm>
          <a:prstGeom prst="rect">
            <a:avLst/>
          </a:prstGeom>
          <a:solidFill>
            <a:srgbClr val="EBF0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3243600" y="4618800"/>
            <a:ext cx="43200" cy="18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322800" y="4629600"/>
            <a:ext cx="2696400" cy="158400"/>
          </a:xfrm>
          <a:prstGeom prst="rect">
            <a:avLst/>
          </a:prstGeom>
          <a:noFill/>
        </p:spPr>
        <p:txBody>
          <a:bodyPr wrap="square">
            <a:spAutoFit/>
          </a:bodyPr>
          <a:lstStyle/>
          <a:p>
            <a:pPr algn="l"/>
            <a:r>
              <a:rPr sz="700" b="0" i="0">
                <a:solidFill>
                  <a:srgbClr val="1B3A6B"/>
                </a:solidFill>
                <a:latin typeface="Calibri"/>
              </a:rPr>
              <a:t>Struct. Capital : Modérée (21% CT)</a:t>
            </a:r>
          </a:p>
        </p:txBody>
      </p:sp>
      <p:sp>
        <p:nvSpPr>
          <p:cNvPr id="47" name="Rectangle 46"/>
          <p:cNvSpPr/>
          <p:nvPr/>
        </p:nvSpPr>
        <p:spPr>
          <a:xfrm>
            <a:off x="6123600" y="4618800"/>
            <a:ext cx="2804400" cy="180000"/>
          </a:xfrm>
          <a:prstGeom prst="rect">
            <a:avLst/>
          </a:prstGeom>
          <a:solidFill>
            <a:srgbClr val="EBF0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123600" y="4618800"/>
            <a:ext cx="43200" cy="18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202800" y="4629600"/>
            <a:ext cx="2696400" cy="158400"/>
          </a:xfrm>
          <a:prstGeom prst="rect">
            <a:avLst/>
          </a:prstGeom>
          <a:noFill/>
        </p:spPr>
        <p:txBody>
          <a:bodyPr wrap="square">
            <a:spAutoFit/>
          </a:bodyPr>
          <a:lstStyle/>
          <a:p>
            <a:pPr algn="l"/>
            <a:r>
              <a:rPr sz="700" b="0" i="0">
                <a:solidFill>
                  <a:srgbClr val="1B3A6B"/>
                </a:solidFill>
                <a:latin typeface="Calibri"/>
              </a:rPr>
              <a:t>Dividende : Soutenable (1.2x)</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05</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Sentiment &amp; Annexes</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FinBERT, actionnariat &amp; historique de cours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Sentiment de Marché — LLM Groq</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sémantique  ·  30 articles  ·  7 derniers jours  ·  Classification LLM</a:t>
            </a:r>
          </a:p>
        </p:txBody>
      </p:sp>
      <p:sp>
        <p:nvSpPr>
          <p:cNvPr id="17" name="Rectangle 16"/>
          <p:cNvSpPr/>
          <p:nvPr/>
        </p:nvSpPr>
        <p:spPr>
          <a:xfrm>
            <a:off x="367200" y="961200"/>
            <a:ext cx="25596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422800" cy="396000"/>
          </a:xfrm>
          <a:prstGeom prst="rect">
            <a:avLst/>
          </a:prstGeom>
          <a:noFill/>
        </p:spPr>
        <p:txBody>
          <a:bodyPr wrap="square">
            <a:spAutoFit/>
          </a:bodyPr>
          <a:lstStyle/>
          <a:p>
            <a:pPr algn="l"/>
            <a:r>
              <a:rPr sz="1900" b="1" i="0">
                <a:solidFill>
                  <a:srgbClr val="1B3A6B"/>
                </a:solidFill>
                <a:latin typeface="Calibri"/>
              </a:rPr>
              <a:t>Positif</a:t>
            </a:r>
          </a:p>
        </p:txBody>
      </p:sp>
      <p:sp>
        <p:nvSpPr>
          <p:cNvPr id="20" name="TextBox 19"/>
          <p:cNvSpPr txBox="1"/>
          <p:nvPr/>
        </p:nvSpPr>
        <p:spPr>
          <a:xfrm>
            <a:off x="457200" y="1411200"/>
            <a:ext cx="2422800" cy="205199"/>
          </a:xfrm>
          <a:prstGeom prst="rect">
            <a:avLst/>
          </a:prstGeom>
          <a:noFill/>
        </p:spPr>
        <p:txBody>
          <a:bodyPr wrap="square">
            <a:spAutoFit/>
          </a:bodyPr>
          <a:lstStyle/>
          <a:p>
            <a:pPr algn="l"/>
            <a:r>
              <a:rPr sz="800" b="0" i="0">
                <a:solidFill>
                  <a:srgbClr val="555555"/>
                </a:solidFill>
                <a:latin typeface="Calibri"/>
              </a:rPr>
              <a:t>Orientation globale</a:t>
            </a:r>
          </a:p>
        </p:txBody>
      </p:sp>
      <p:sp>
        <p:nvSpPr>
          <p:cNvPr id="21" name="TextBox 20"/>
          <p:cNvSpPr txBox="1"/>
          <p:nvPr/>
        </p:nvSpPr>
        <p:spPr>
          <a:xfrm>
            <a:off x="457200" y="1609200"/>
            <a:ext cx="2422800" cy="165600"/>
          </a:xfrm>
          <a:prstGeom prst="rect">
            <a:avLst/>
          </a:prstGeom>
          <a:noFill/>
        </p:spPr>
        <p:txBody>
          <a:bodyPr wrap="square">
            <a:spAutoFit/>
          </a:bodyPr>
          <a:lstStyle/>
          <a:p>
            <a:pPr algn="l"/>
            <a:r>
              <a:rPr sz="700" b="0" i="0">
                <a:solidFill>
                  <a:srgbClr val="888888"/>
                </a:solidFill>
                <a:latin typeface="Calibri"/>
              </a:rPr>
              <a:t>Score agrégé : +0,224</a:t>
            </a:r>
          </a:p>
        </p:txBody>
      </p:sp>
      <p:sp>
        <p:nvSpPr>
          <p:cNvPr id="22" name="Rectangle 21"/>
          <p:cNvSpPr/>
          <p:nvPr/>
        </p:nvSpPr>
        <p:spPr>
          <a:xfrm>
            <a:off x="3110400" y="961200"/>
            <a:ext cx="182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1104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0" y="1015200"/>
            <a:ext cx="1692000" cy="396000"/>
          </a:xfrm>
          <a:prstGeom prst="rect">
            <a:avLst/>
          </a:prstGeom>
          <a:noFill/>
        </p:spPr>
        <p:txBody>
          <a:bodyPr wrap="square">
            <a:spAutoFit/>
          </a:bodyPr>
          <a:lstStyle/>
          <a:p>
            <a:pPr algn="l"/>
            <a:r>
              <a:rPr sz="1900" b="1" i="0">
                <a:solidFill>
                  <a:srgbClr val="1B3A6B"/>
                </a:solidFill>
                <a:latin typeface="Calibri"/>
              </a:rPr>
              <a:t>30</a:t>
            </a:r>
          </a:p>
        </p:txBody>
      </p:sp>
      <p:sp>
        <p:nvSpPr>
          <p:cNvPr id="25" name="TextBox 24"/>
          <p:cNvSpPr txBox="1"/>
          <p:nvPr/>
        </p:nvSpPr>
        <p:spPr>
          <a:xfrm>
            <a:off x="3200400" y="1411200"/>
            <a:ext cx="1692000" cy="205199"/>
          </a:xfrm>
          <a:prstGeom prst="rect">
            <a:avLst/>
          </a:prstGeom>
          <a:noFill/>
        </p:spPr>
        <p:txBody>
          <a:bodyPr wrap="square">
            <a:spAutoFit/>
          </a:bodyPr>
          <a:lstStyle/>
          <a:p>
            <a:pPr algn="l"/>
            <a:r>
              <a:rPr sz="800" b="0" i="0">
                <a:solidFill>
                  <a:srgbClr val="555555"/>
                </a:solidFill>
                <a:latin typeface="Calibri"/>
              </a:rPr>
              <a:t>Articles analysés</a:t>
            </a:r>
          </a:p>
        </p:txBody>
      </p:sp>
      <p:sp>
        <p:nvSpPr>
          <p:cNvPr id="26" name="TextBox 25"/>
          <p:cNvSpPr txBox="1"/>
          <p:nvPr/>
        </p:nvSpPr>
        <p:spPr>
          <a:xfrm>
            <a:off x="3200400" y="1609200"/>
            <a:ext cx="1692000" cy="165600"/>
          </a:xfrm>
          <a:prstGeom prst="rect">
            <a:avLst/>
          </a:prstGeom>
          <a:noFill/>
        </p:spPr>
        <p:txBody>
          <a:bodyPr wrap="square">
            <a:spAutoFit/>
          </a:bodyPr>
          <a:lstStyle/>
          <a:p>
            <a:pPr algn="l"/>
            <a:r>
              <a:rPr sz="700" b="0" i="0">
                <a:solidFill>
                  <a:srgbClr val="888888"/>
                </a:solidFill>
                <a:latin typeface="Calibri"/>
              </a:rPr>
              <a:t>Fenêtre : 7 jours</a:t>
            </a:r>
          </a:p>
        </p:txBody>
      </p:sp>
      <p:sp>
        <p:nvSpPr>
          <p:cNvPr id="27" name="Rectangle 26"/>
          <p:cNvSpPr/>
          <p:nvPr/>
        </p:nvSpPr>
        <p:spPr>
          <a:xfrm>
            <a:off x="5119200" y="961200"/>
            <a:ext cx="16452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119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09200" y="1015200"/>
            <a:ext cx="1508400" cy="396000"/>
          </a:xfrm>
          <a:prstGeom prst="rect">
            <a:avLst/>
          </a:prstGeom>
          <a:noFill/>
        </p:spPr>
        <p:txBody>
          <a:bodyPr wrap="square">
            <a:spAutoFit/>
          </a:bodyPr>
          <a:lstStyle/>
          <a:p>
            <a:pPr algn="l"/>
            <a:r>
              <a:rPr sz="1900" b="1" i="0">
                <a:solidFill>
                  <a:srgbClr val="1B3A6B"/>
                </a:solidFill>
                <a:latin typeface="Calibri"/>
              </a:rPr>
              <a:t>47,6 %</a:t>
            </a:r>
          </a:p>
        </p:txBody>
      </p:sp>
      <p:sp>
        <p:nvSpPr>
          <p:cNvPr id="30" name="TextBox 29"/>
          <p:cNvSpPr txBox="1"/>
          <p:nvPr/>
        </p:nvSpPr>
        <p:spPr>
          <a:xfrm>
            <a:off x="5209200" y="1411200"/>
            <a:ext cx="1508400" cy="205199"/>
          </a:xfrm>
          <a:prstGeom prst="rect">
            <a:avLst/>
          </a:prstGeom>
          <a:noFill/>
        </p:spPr>
        <p:txBody>
          <a:bodyPr wrap="square">
            <a:spAutoFit/>
          </a:bodyPr>
          <a:lstStyle/>
          <a:p>
            <a:pPr algn="l"/>
            <a:r>
              <a:rPr sz="800" b="0" i="0">
                <a:solidFill>
                  <a:srgbClr val="555555"/>
                </a:solidFill>
                <a:latin typeface="Calibri"/>
              </a:rPr>
              <a:t>Confiance IA</a:t>
            </a:r>
          </a:p>
        </p:txBody>
      </p:sp>
      <p:sp>
        <p:nvSpPr>
          <p:cNvPr id="31" name="TextBox 30"/>
          <p:cNvSpPr txBox="1"/>
          <p:nvPr/>
        </p:nvSpPr>
        <p:spPr>
          <a:xfrm>
            <a:off x="5209200" y="1609200"/>
            <a:ext cx="1508400" cy="165600"/>
          </a:xfrm>
          <a:prstGeom prst="rect">
            <a:avLst/>
          </a:prstGeom>
          <a:noFill/>
        </p:spPr>
        <p:txBody>
          <a:bodyPr wrap="square">
            <a:spAutoFit/>
          </a:bodyPr>
          <a:lstStyle/>
          <a:p>
            <a:pPr algn="l"/>
            <a:r>
              <a:rPr sz="700" b="0" i="0">
                <a:solidFill>
                  <a:srgbClr val="888888"/>
                </a:solidFill>
                <a:latin typeface="Calibri"/>
              </a:rPr>
              <a:t>Modèle LLM Groq</a:t>
            </a:r>
          </a:p>
        </p:txBody>
      </p:sp>
      <p:sp>
        <p:nvSpPr>
          <p:cNvPr id="32" name="Rectangle 31"/>
          <p:cNvSpPr/>
          <p:nvPr/>
        </p:nvSpPr>
        <p:spPr>
          <a:xfrm>
            <a:off x="6948000" y="961200"/>
            <a:ext cx="173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9480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038000" y="1015200"/>
            <a:ext cx="1602000" cy="396000"/>
          </a:xfrm>
          <a:prstGeom prst="rect">
            <a:avLst/>
          </a:prstGeom>
          <a:noFill/>
        </p:spPr>
        <p:txBody>
          <a:bodyPr wrap="square">
            <a:spAutoFit/>
          </a:bodyPr>
          <a:lstStyle/>
          <a:p>
            <a:pPr algn="l"/>
            <a:r>
              <a:rPr sz="1900" b="1" i="0">
                <a:solidFill>
                  <a:srgbClr val="1B3A6B"/>
                </a:solidFill>
                <a:latin typeface="Calibri"/>
              </a:rPr>
              <a:t>HOLD</a:t>
            </a:r>
          </a:p>
        </p:txBody>
      </p:sp>
      <p:sp>
        <p:nvSpPr>
          <p:cNvPr id="35" name="TextBox 34"/>
          <p:cNvSpPr txBox="1"/>
          <p:nvPr/>
        </p:nvSpPr>
        <p:spPr>
          <a:xfrm>
            <a:off x="7038000" y="1411200"/>
            <a:ext cx="1602000" cy="205199"/>
          </a:xfrm>
          <a:prstGeom prst="rect">
            <a:avLst/>
          </a:prstGeom>
          <a:noFill/>
        </p:spPr>
        <p:txBody>
          <a:bodyPr wrap="square">
            <a:spAutoFit/>
          </a:bodyPr>
          <a:lstStyle/>
          <a:p>
            <a:pPr algn="l"/>
            <a:r>
              <a:rPr sz="800" b="0" i="0">
                <a:solidFill>
                  <a:srgbClr val="555555"/>
                </a:solidFill>
                <a:latin typeface="Calibri"/>
              </a:rPr>
              <a:t>Cohérence</a:t>
            </a:r>
          </a:p>
        </p:txBody>
      </p:sp>
      <p:sp>
        <p:nvSpPr>
          <p:cNvPr id="36" name="TextBox 35"/>
          <p:cNvSpPr txBox="1"/>
          <p:nvPr/>
        </p:nvSpPr>
        <p:spPr>
          <a:xfrm>
            <a:off x="7038000" y="1609200"/>
            <a:ext cx="1602000" cy="165600"/>
          </a:xfrm>
          <a:prstGeom prst="rect">
            <a:avLst/>
          </a:prstGeom>
          <a:noFill/>
        </p:spPr>
        <p:txBody>
          <a:bodyPr wrap="square">
            <a:spAutoFit/>
          </a:bodyPr>
          <a:lstStyle/>
          <a:p>
            <a:pPr algn="l"/>
            <a:r>
              <a:rPr sz="700" b="0" i="0">
                <a:solidFill>
                  <a:srgbClr val="888888"/>
                </a:solidFill>
                <a:latin typeface="Calibri"/>
              </a:rPr>
              <a:t>Aligné avec la thèse</a:t>
            </a:r>
          </a:p>
        </p:txBody>
      </p:sp>
      <p:sp>
        <p:nvSpPr>
          <p:cNvPr id="37" name="TextBox 36"/>
          <p:cNvSpPr txBox="1"/>
          <p:nvPr/>
        </p:nvSpPr>
        <p:spPr>
          <a:xfrm>
            <a:off x="367200" y="2084400"/>
            <a:ext cx="8413200" cy="165600"/>
          </a:xfrm>
          <a:prstGeom prst="rect">
            <a:avLst/>
          </a:prstGeom>
          <a:noFill/>
        </p:spPr>
        <p:txBody>
          <a:bodyPr wrap="square">
            <a:spAutoFit/>
          </a:bodyPr>
          <a:lstStyle/>
          <a:p>
            <a:pPr algn="l"/>
            <a:r>
              <a:rPr sz="900" b="1" i="0">
                <a:solidFill>
                  <a:srgbClr val="2E5FA3"/>
                </a:solidFill>
                <a:latin typeface="Calibri"/>
              </a:rPr>
              <a:t>Détail par orientation</a:t>
            </a:r>
          </a:p>
        </p:txBody>
      </p:sp>
      <p:graphicFrame>
        <p:nvGraphicFramePr>
          <p:cNvPr id="38" name="Table 37"/>
          <p:cNvGraphicFramePr>
            <a:graphicFrameLocks noGrp="1"/>
          </p:cNvGraphicFramePr>
          <p:nvPr/>
        </p:nvGraphicFramePr>
        <p:xfrm>
          <a:off x="367200" y="2332800"/>
          <a:ext cx="8413200" cy="1152000"/>
        </p:xfrm>
        <a:graphic>
          <a:graphicData uri="http://schemas.openxmlformats.org/drawingml/2006/table">
            <a:tbl>
              <a:tblPr firstRow="1" bandRow="1">
                <a:tableStyleId>{5C22544A-7EE6-4342-B048-85BDC9FD1C3A}</a:tableStyleId>
              </a:tblPr>
              <a:tblGrid>
                <a:gridCol w="1261980"/>
                <a:gridCol w="1261980"/>
                <a:gridCol w="1682640"/>
                <a:gridCol w="4206600"/>
              </a:tblGrid>
              <a:tr h="288000">
                <a:tc>
                  <a:txBody>
                    <a:bodyPr/>
                    <a:lstStyle/>
                    <a:p>
                      <a:pPr algn="l"/>
                      <a:r>
                        <a:rPr sz="800" b="1" i="0">
                          <a:solidFill>
                            <a:srgbClr val="FFFFFF"/>
                          </a:solidFill>
                          <a:latin typeface="Calibri"/>
                        </a:rPr>
                        <a:t>Orientation</a:t>
                      </a:r>
                    </a:p>
                  </a:txBody>
                  <a:tcPr>
                    <a:solidFill>
                      <a:srgbClr val="1B3A6B"/>
                    </a:solidFill>
                  </a:tcPr>
                </a:tc>
                <a:tc>
                  <a:txBody>
                    <a:bodyPr/>
                    <a:lstStyle/>
                    <a:p>
                      <a:pPr algn="ctr"/>
                      <a:r>
                        <a:rPr sz="800" b="1" i="0">
                          <a:solidFill>
                            <a:srgbClr val="FFFFFF"/>
                          </a:solidFill>
                          <a:latin typeface="Calibri"/>
                        </a:rPr>
                        <a:t>Articles</a:t>
                      </a:r>
                    </a:p>
                  </a:txBody>
                  <a:tcPr>
                    <a:solidFill>
                      <a:srgbClr val="1B3A6B"/>
                    </a:solidFill>
                  </a:tcPr>
                </a:tc>
                <a:tc>
                  <a:txBody>
                    <a:bodyPr/>
                    <a:lstStyle/>
                    <a:p>
                      <a:pPr algn="ctr"/>
                      <a:r>
                        <a:rPr sz="800" b="1" i="0">
                          <a:solidFill>
                            <a:srgbClr val="FFFFFF"/>
                          </a:solidFill>
                          <a:latin typeface="Calibri"/>
                        </a:rPr>
                        <a:t>Score moyen</a:t>
                      </a:r>
                    </a:p>
                  </a:txBody>
                  <a:tcPr>
                    <a:solidFill>
                      <a:srgbClr val="1B3A6B"/>
                    </a:solidFill>
                  </a:tcPr>
                </a:tc>
                <a:tc>
                  <a:txBody>
                    <a:bodyPr/>
                    <a:lstStyle/>
                    <a:p>
                      <a:pPr algn="ctr"/>
                      <a:r>
                        <a:rPr sz="800" b="1" i="0">
                          <a:solidFill>
                            <a:srgbClr val="FFFFFF"/>
                          </a:solidFill>
                          <a:latin typeface="Calibri"/>
                        </a:rPr>
                        <a:t>Thèmes principaux</a:t>
                      </a:r>
                    </a:p>
                  </a:txBody>
                  <a:tcPr>
                    <a:solidFill>
                      <a:srgbClr val="1B3A6B"/>
                    </a:solidFill>
                  </a:tcPr>
                </a:tc>
              </a:tr>
              <a:tr h="288000">
                <a:tc>
                  <a:txBody>
                    <a:bodyPr/>
                    <a:lstStyle/>
                    <a:p>
                      <a:pPr algn="l"/>
                      <a:r>
                        <a:rPr sz="800" b="1" i="0">
                          <a:solidFill>
                            <a:srgbClr val="1A7A4A"/>
                          </a:solidFill>
                          <a:latin typeface="Calibri"/>
                        </a:rPr>
                        <a:t>Positif</a:t>
                      </a:r>
                    </a:p>
                  </a:txBody>
                  <a:tcPr>
                    <a:solidFill>
                      <a:srgbClr val="EAF4EF"/>
                    </a:solidFill>
                  </a:tcPr>
                </a:tc>
                <a:tc>
                  <a:txBody>
                    <a:bodyPr/>
                    <a:lstStyle/>
                    <a:p>
                      <a:pPr algn="ctr"/>
                      <a:r>
                        <a:rPr sz="800" b="1" i="0">
                          <a:solidFill>
                            <a:srgbClr val="1A7A4A"/>
                          </a:solidFill>
                          <a:latin typeface="Calibri"/>
                        </a:rPr>
                        <a:t>16</a:t>
                      </a:r>
                    </a:p>
                  </a:txBody>
                  <a:tcPr>
                    <a:solidFill>
                      <a:srgbClr val="EAF4EF"/>
                    </a:solidFill>
                  </a:tcPr>
                </a:tc>
                <a:tc>
                  <a:txBody>
                    <a:bodyPr/>
                    <a:lstStyle/>
                    <a:p>
                      <a:pPr algn="ctr"/>
                      <a:r>
                        <a:rPr sz="800" b="0" i="0">
                          <a:solidFill>
                            <a:srgbClr val="0D0D0D"/>
                          </a:solidFill>
                          <a:latin typeface="Calibri"/>
                        </a:rPr>
                        <a:t>+0,476</a:t>
                      </a:r>
                    </a:p>
                  </a:txBody>
                  <a:tcPr>
                    <a:solidFill>
                      <a:srgbClr val="EAF4EF"/>
                    </a:solidFill>
                  </a:tcPr>
                </a:tc>
                <a:tc>
                  <a:txBody>
                    <a:bodyPr/>
                    <a:lstStyle/>
                    <a:p>
                      <a:pPr algn="ctr"/>
                      <a:r>
                        <a:rPr sz="800" b="0" i="0">
                          <a:solidFill>
                            <a:srgbClr val="0D0D0D"/>
                          </a:solidFill>
                          <a:latin typeface="Calibri"/>
                        </a:rPr>
                        <a:t>Catalyseurs, croissance, résultats</a:t>
                      </a:r>
                    </a:p>
                  </a:txBody>
                  <a:tcPr>
                    <a:solidFill>
                      <a:srgbClr val="EAF4EF"/>
                    </a:solidFill>
                  </a:tcPr>
                </a:tc>
              </a:tr>
              <a:tr h="288000">
                <a:tc>
                  <a:txBody>
                    <a:bodyPr/>
                    <a:lstStyle/>
                    <a:p>
                      <a:pPr algn="l"/>
                      <a:r>
                        <a:rPr sz="800" b="1" i="0">
                          <a:solidFill>
                            <a:srgbClr val="555555"/>
                          </a:solidFill>
                          <a:latin typeface="Calibri"/>
                        </a:rPr>
                        <a:t>Neutre</a:t>
                      </a:r>
                    </a:p>
                  </a:txBody>
                  <a:tcPr>
                    <a:solidFill>
                      <a:srgbClr val="FFFFFF"/>
                    </a:solidFill>
                  </a:tcPr>
                </a:tc>
                <a:tc>
                  <a:txBody>
                    <a:bodyPr/>
                    <a:lstStyle/>
                    <a:p>
                      <a:pPr algn="ctr"/>
                      <a:r>
                        <a:rPr sz="800" b="1" i="0">
                          <a:solidFill>
                            <a:srgbClr val="555555"/>
                          </a:solidFill>
                          <a:latin typeface="Calibri"/>
                        </a:rPr>
                        <a:t>7</a:t>
                      </a:r>
                    </a:p>
                  </a:txBody>
                  <a:tcPr>
                    <a:solidFill>
                      <a:srgbClr val="FFFFFF"/>
                    </a:solidFill>
                  </a:tcPr>
                </a:tc>
                <a:tc>
                  <a:txBody>
                    <a:bodyPr/>
                    <a:lstStyle/>
                    <a:p>
                      <a:pPr algn="ctr"/>
                      <a:r>
                        <a:rPr sz="800" b="0" i="0">
                          <a:solidFill>
                            <a:srgbClr val="0D0D0D"/>
                          </a:solidFill>
                          <a:latin typeface="Calibri"/>
                        </a:rPr>
                        <a:t>+0,271</a:t>
                      </a:r>
                    </a:p>
                  </a:txBody>
                  <a:tcPr>
                    <a:solidFill>
                      <a:srgbClr val="FFFFFF"/>
                    </a:solidFill>
                  </a:tcPr>
                </a:tc>
                <a:tc>
                  <a:txBody>
                    <a:bodyPr/>
                    <a:lstStyle/>
                    <a:p>
                      <a:pPr algn="ctr"/>
                      <a:r>
                        <a:rPr sz="800" b="0" i="0">
                          <a:solidFill>
                            <a:srgbClr val="0D0D0D"/>
                          </a:solidFill>
                          <a:latin typeface="Calibri"/>
                        </a:rPr>
                        <a:t>Actualité sectorielle générale</a:t>
                      </a:r>
                    </a:p>
                  </a:txBody>
                  <a:tcPr>
                    <a:solidFill>
                      <a:srgbClr val="FFFFFF"/>
                    </a:solidFill>
                  </a:tcPr>
                </a:tc>
              </a:tr>
              <a:tr h="288000">
                <a:tc>
                  <a:txBody>
                    <a:bodyPr/>
                    <a:lstStyle/>
                    <a:p>
                      <a:pPr algn="l"/>
                      <a:r>
                        <a:rPr sz="800" b="1" i="0">
                          <a:solidFill>
                            <a:srgbClr val="A82020"/>
                          </a:solidFill>
                          <a:latin typeface="Calibri"/>
                        </a:rPr>
                        <a:t>Négatif</a:t>
                      </a:r>
                    </a:p>
                  </a:txBody>
                  <a:tcPr>
                    <a:solidFill>
                      <a:srgbClr val="FAF0EF"/>
                    </a:solidFill>
                  </a:tcPr>
                </a:tc>
                <a:tc>
                  <a:txBody>
                    <a:bodyPr/>
                    <a:lstStyle/>
                    <a:p>
                      <a:pPr algn="ctr"/>
                      <a:r>
                        <a:rPr sz="800" b="1" i="0">
                          <a:solidFill>
                            <a:srgbClr val="A82020"/>
                          </a:solidFill>
                          <a:latin typeface="Calibri"/>
                        </a:rPr>
                        <a:t>7</a:t>
                      </a:r>
                    </a:p>
                  </a:txBody>
                  <a:tcPr>
                    <a:solidFill>
                      <a:srgbClr val="FAF0EF"/>
                    </a:solidFill>
                  </a:tcPr>
                </a:tc>
                <a:tc>
                  <a:txBody>
                    <a:bodyPr/>
                    <a:lstStyle/>
                    <a:p>
                      <a:pPr algn="ctr"/>
                      <a:r>
                        <a:rPr sz="800" b="0" i="0">
                          <a:solidFill>
                            <a:srgbClr val="0D0D0D"/>
                          </a:solidFill>
                          <a:latin typeface="Calibri"/>
                        </a:rPr>
                        <a:t>+0,253</a:t>
                      </a:r>
                    </a:p>
                  </a:txBody>
                  <a:tcPr>
                    <a:solidFill>
                      <a:srgbClr val="FAF0EF"/>
                    </a:solidFill>
                  </a:tcPr>
                </a:tc>
                <a:tc>
                  <a:txBody>
                    <a:bodyPr/>
                    <a:lstStyle/>
                    <a:p>
                      <a:pPr algn="ctr"/>
                      <a:r>
                        <a:rPr sz="800" b="0" i="0">
                          <a:solidFill>
                            <a:srgbClr val="0D0D0D"/>
                          </a:solidFill>
                          <a:latin typeface="Calibri"/>
                        </a:rPr>
                        <a:t>Risques macro, concurrence, dette</a:t>
                      </a:r>
                    </a:p>
                  </a:txBody>
                  <a:tcPr>
                    <a:solidFill>
                      <a:srgbClr val="FAF0EF"/>
                    </a:solidFill>
                  </a:tcPr>
                </a:tc>
              </a:tr>
            </a:tbl>
          </a:graphicData>
        </a:graphic>
      </p:graphicFrame>
      <p:sp>
        <p:nvSpPr>
          <p:cNvPr id="39" name="TextBox 38"/>
          <p:cNvSpPr txBox="1"/>
          <p:nvPr/>
        </p:nvSpPr>
        <p:spPr>
          <a:xfrm>
            <a:off x="367200" y="4140000"/>
            <a:ext cx="8413200" cy="630000"/>
          </a:xfrm>
          <a:prstGeom prst="rect">
            <a:avLst/>
          </a:prstGeom>
          <a:noFill/>
        </p:spPr>
        <p:txBody>
          <a:bodyPr wrap="square">
            <a:spAutoFit/>
          </a:bodyPr>
          <a:lstStyle/>
          <a:p>
            <a:pPr algn="l"/>
            <a:r>
              <a:rPr sz="850" b="0" i="0">
                <a:solidFill>
                  <a:srgbClr val="333333"/>
                </a:solidFill>
                <a:latin typeface="Calibri"/>
              </a:rPr>
              <a:t>La presse financière salue cette semaine les performances solides d’Apple, notamment grâce à ses partenariats stratégiques et sa domination sur le marché des smartphones. Cependant, les tensions liées à l’ouverture de ses premiers magasins syndiqués et un litige juridique en Chine assombrissent partiellement ce tableau.</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Actionnariat &amp; Structure du Capital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Répartition de l'actionnariat  ·  Au 10 avril 2026</a:t>
            </a:r>
          </a:p>
        </p:txBody>
      </p:sp>
      <p:sp>
        <p:nvSpPr>
          <p:cNvPr id="17" name="TextBox 16"/>
          <p:cNvSpPr txBox="1"/>
          <p:nvPr/>
        </p:nvSpPr>
        <p:spPr>
          <a:xfrm>
            <a:off x="367200" y="748800"/>
            <a:ext cx="5029200" cy="201600"/>
          </a:xfrm>
          <a:prstGeom prst="rect">
            <a:avLst/>
          </a:prstGeom>
          <a:noFill/>
        </p:spPr>
        <p:txBody>
          <a:bodyPr wrap="square">
            <a:spAutoFit/>
          </a:bodyPr>
          <a:lstStyle/>
          <a:p>
            <a:pPr algn="l"/>
            <a:r>
              <a:rPr sz="900" b="1" i="0">
                <a:solidFill>
                  <a:srgbClr val="2E5FA3"/>
                </a:solidFill>
                <a:latin typeface="Calibri"/>
              </a:rPr>
              <a:t>Top actionnaires</a:t>
            </a:r>
          </a:p>
        </p:txBody>
      </p:sp>
      <p:graphicFrame>
        <p:nvGraphicFramePr>
          <p:cNvPr id="18" name="Table 17"/>
          <p:cNvGraphicFramePr>
            <a:graphicFrameLocks noGrp="1"/>
          </p:cNvGraphicFramePr>
          <p:nvPr/>
        </p:nvGraphicFramePr>
        <p:xfrm>
          <a:off x="367200" y="968400"/>
          <a:ext cx="5302800" cy="2232000"/>
        </p:xfrm>
        <a:graphic>
          <a:graphicData uri="http://schemas.openxmlformats.org/drawingml/2006/table">
            <a:tbl>
              <a:tblPr firstRow="1" bandRow="1">
                <a:tableStyleId>{5C22544A-7EE6-4342-B048-85BDC9FD1C3A}</a:tableStyleId>
              </a:tblPr>
              <a:tblGrid>
                <a:gridCol w="2015064"/>
                <a:gridCol w="1378728"/>
                <a:gridCol w="1060560"/>
                <a:gridCol w="848448"/>
              </a:tblGrid>
              <a:tr h="223200">
                <a:tc>
                  <a:txBody>
                    <a:bodyPr/>
                    <a:lstStyle/>
                    <a:p>
                      <a:pPr algn="l"/>
                      <a:r>
                        <a:rPr sz="800" b="1" i="0">
                          <a:solidFill>
                            <a:srgbClr val="FFFFFF"/>
                          </a:solidFill>
                          <a:latin typeface="Calibri"/>
                        </a:rPr>
                        <a:t>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Type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Détention %</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Style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Apple (Insiders)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Insiders &amp; dirigeants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B06000"/>
                          </a:solidFill>
                          <a:latin typeface="Calibri"/>
                        </a:rPr>
                        <a:t>Insider</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Vanguard Group Inc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9.7 %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Blackrock Inc.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7.9 %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State Street Corporation</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Geode Capital Management, LLC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2.4 %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FMR, LLC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Morgan Stanley</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Berkshire Hathaway, Inc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Autres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Retail &amp; autres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69.1 %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555555"/>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9" name="TextBox 18"/>
          <p:cNvSpPr txBox="1"/>
          <p:nvPr/>
        </p:nvSpPr>
        <p:spPr>
          <a:xfrm>
            <a:off x="5760000" y="748800"/>
            <a:ext cx="3016800" cy="201600"/>
          </a:xfrm>
          <a:prstGeom prst="rect">
            <a:avLst/>
          </a:prstGeom>
          <a:noFill/>
        </p:spPr>
        <p:txBody>
          <a:bodyPr wrap="square">
            <a:spAutoFit/>
          </a:bodyPr>
          <a:lstStyle/>
          <a:p>
            <a:pPr algn="l"/>
            <a:r>
              <a:rPr sz="900" b="1" i="0">
                <a:solidFill>
                  <a:srgbClr val="2E5FA3"/>
                </a:solidFill>
                <a:latin typeface="Calibri"/>
              </a:rPr>
              <a:t>Répartition par type</a:t>
            </a:r>
          </a:p>
        </p:txBody>
      </p:sp>
      <p:graphicFrame>
        <p:nvGraphicFramePr>
          <p:cNvPr id="20" name="Table 19"/>
          <p:cNvGraphicFramePr>
            <a:graphicFrameLocks noGrp="1"/>
          </p:cNvGraphicFramePr>
          <p:nvPr/>
        </p:nvGraphicFramePr>
        <p:xfrm>
          <a:off x="5760000" y="968400"/>
          <a:ext cx="3016800" cy="1134000"/>
        </p:xfrm>
        <a:graphic>
          <a:graphicData uri="http://schemas.openxmlformats.org/drawingml/2006/table">
            <a:tbl>
              <a:tblPr firstRow="1" bandRow="1">
                <a:tableStyleId>{5C22544A-7EE6-4342-B048-85BDC9FD1C3A}</a:tableStyleId>
              </a:tblPr>
              <a:tblGrid>
                <a:gridCol w="1810080"/>
                <a:gridCol w="1206720"/>
              </a:tblGrid>
              <a:tr h="226800">
                <a:tc>
                  <a:txBody>
                    <a:bodyPr/>
                    <a:lstStyle/>
                    <a:p>
                      <a:pPr algn="l"/>
                      <a:r>
                        <a:rPr sz="800" b="1" i="0">
                          <a:solidFill>
                            <a:srgbClr val="FFFFFF"/>
                          </a:solidFill>
                          <a:latin typeface="Calibri"/>
                        </a:rPr>
                        <a:t>Type d'actionnaire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Part estimée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Institutionnel passif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13.8 %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Institutionnel 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Insider</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Retail &amp; autres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69.1 %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Historique de Cours — 52 Semaines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AAPL  ·  USD  ·  Au 10 avril 2026</a:t>
            </a:r>
          </a:p>
        </p:txBody>
      </p:sp>
      <p:sp>
        <p:nvSpPr>
          <p:cNvPr id="17" name="Rectangle 16"/>
          <p:cNvSpPr/>
          <p:nvPr/>
        </p:nvSpPr>
        <p:spPr>
          <a:xfrm>
            <a:off x="3672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1782000" cy="396000"/>
          </a:xfrm>
          <a:prstGeom prst="rect">
            <a:avLst/>
          </a:prstGeom>
          <a:noFill/>
        </p:spPr>
        <p:txBody>
          <a:bodyPr wrap="square">
            <a:spAutoFit/>
          </a:bodyPr>
          <a:lstStyle/>
          <a:p>
            <a:pPr algn="l"/>
            <a:r>
              <a:rPr sz="1900" b="1" i="0">
                <a:solidFill>
                  <a:srgbClr val="1B3A6B"/>
                </a:solidFill>
                <a:latin typeface="Calibri"/>
              </a:rPr>
              <a:t>261,30 $</a:t>
            </a:r>
          </a:p>
        </p:txBody>
      </p:sp>
      <p:sp>
        <p:nvSpPr>
          <p:cNvPr id="20" name="TextBox 19"/>
          <p:cNvSpPr txBox="1"/>
          <p:nvPr/>
        </p:nvSpPr>
        <p:spPr>
          <a:xfrm>
            <a:off x="457200" y="1411200"/>
            <a:ext cx="17820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21" name="Rectangle 20"/>
          <p:cNvSpPr/>
          <p:nvPr/>
        </p:nvSpPr>
        <p:spPr>
          <a:xfrm>
            <a:off x="24228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4228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512800" y="1015200"/>
            <a:ext cx="1782000" cy="396000"/>
          </a:xfrm>
          <a:prstGeom prst="rect">
            <a:avLst/>
          </a:prstGeom>
          <a:noFill/>
        </p:spPr>
        <p:txBody>
          <a:bodyPr wrap="square">
            <a:spAutoFit/>
          </a:bodyPr>
          <a:lstStyle/>
          <a:p>
            <a:pPr algn="l"/>
            <a:r>
              <a:rPr sz="1900" b="1" i="0">
                <a:solidFill>
                  <a:srgbClr val="1B3A6B"/>
                </a:solidFill>
                <a:latin typeface="Calibri"/>
              </a:rPr>
              <a:t>278,32 $</a:t>
            </a:r>
          </a:p>
        </p:txBody>
      </p:sp>
      <p:sp>
        <p:nvSpPr>
          <p:cNvPr id="24" name="TextBox 23"/>
          <p:cNvSpPr txBox="1"/>
          <p:nvPr/>
        </p:nvSpPr>
        <p:spPr>
          <a:xfrm>
            <a:off x="2512800" y="1411200"/>
            <a:ext cx="1782000" cy="205199"/>
          </a:xfrm>
          <a:prstGeom prst="rect">
            <a:avLst/>
          </a:prstGeom>
          <a:noFill/>
        </p:spPr>
        <p:txBody>
          <a:bodyPr wrap="square">
            <a:spAutoFit/>
          </a:bodyPr>
          <a:lstStyle/>
          <a:p>
            <a:pPr algn="l"/>
            <a:r>
              <a:rPr sz="800" b="0" i="0">
                <a:solidFill>
                  <a:srgbClr val="555555"/>
                </a:solidFill>
                <a:latin typeface="Calibri"/>
              </a:rPr>
              <a:t>Plus haut 52 sem.</a:t>
            </a:r>
          </a:p>
        </p:txBody>
      </p:sp>
      <p:sp>
        <p:nvSpPr>
          <p:cNvPr id="25" name="Rectangle 24"/>
          <p:cNvSpPr/>
          <p:nvPr/>
        </p:nvSpPr>
        <p:spPr>
          <a:xfrm>
            <a:off x="44820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820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0" y="1015200"/>
            <a:ext cx="1782000" cy="396000"/>
          </a:xfrm>
          <a:prstGeom prst="rect">
            <a:avLst/>
          </a:prstGeom>
          <a:noFill/>
        </p:spPr>
        <p:txBody>
          <a:bodyPr wrap="square">
            <a:spAutoFit/>
          </a:bodyPr>
          <a:lstStyle/>
          <a:p>
            <a:pPr algn="l"/>
            <a:r>
              <a:rPr sz="1900" b="1" i="0">
                <a:solidFill>
                  <a:srgbClr val="1B3A6B"/>
                </a:solidFill>
                <a:latin typeface="Calibri"/>
              </a:rPr>
              <a:t>199,98 $</a:t>
            </a:r>
          </a:p>
        </p:txBody>
      </p:sp>
      <p:sp>
        <p:nvSpPr>
          <p:cNvPr id="28" name="TextBox 27"/>
          <p:cNvSpPr txBox="1"/>
          <p:nvPr/>
        </p:nvSpPr>
        <p:spPr>
          <a:xfrm>
            <a:off x="4572000" y="1411200"/>
            <a:ext cx="1782000" cy="205199"/>
          </a:xfrm>
          <a:prstGeom prst="rect">
            <a:avLst/>
          </a:prstGeom>
          <a:noFill/>
        </p:spPr>
        <p:txBody>
          <a:bodyPr wrap="square">
            <a:spAutoFit/>
          </a:bodyPr>
          <a:lstStyle/>
          <a:p>
            <a:pPr algn="l"/>
            <a:r>
              <a:rPr sz="800" b="0" i="0">
                <a:solidFill>
                  <a:srgbClr val="555555"/>
                </a:solidFill>
                <a:latin typeface="Calibri"/>
              </a:rPr>
              <a:t>Plus bas 52 sem.</a:t>
            </a:r>
          </a:p>
        </p:txBody>
      </p:sp>
      <p:sp>
        <p:nvSpPr>
          <p:cNvPr id="29" name="Rectangle 28"/>
          <p:cNvSpPr/>
          <p:nvPr/>
        </p:nvSpPr>
        <p:spPr>
          <a:xfrm>
            <a:off x="6537600" y="961200"/>
            <a:ext cx="21960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5376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27600" y="1015200"/>
            <a:ext cx="2059200" cy="396000"/>
          </a:xfrm>
          <a:prstGeom prst="rect">
            <a:avLst/>
          </a:prstGeom>
          <a:noFill/>
        </p:spPr>
        <p:txBody>
          <a:bodyPr wrap="square">
            <a:spAutoFit/>
          </a:bodyPr>
          <a:lstStyle/>
          <a:p>
            <a:pPr algn="l"/>
            <a:r>
              <a:rPr sz="1900" b="1" i="0">
                <a:solidFill>
                  <a:srgbClr val="1B3A6B"/>
                </a:solidFill>
                <a:latin typeface="Calibri"/>
              </a:rPr>
              <a:t>+30,7 %</a:t>
            </a:r>
          </a:p>
        </p:txBody>
      </p:sp>
      <p:sp>
        <p:nvSpPr>
          <p:cNvPr id="32" name="TextBox 31"/>
          <p:cNvSpPr txBox="1"/>
          <p:nvPr/>
        </p:nvSpPr>
        <p:spPr>
          <a:xfrm>
            <a:off x="6627600" y="1411200"/>
            <a:ext cx="2059200" cy="205199"/>
          </a:xfrm>
          <a:prstGeom prst="rect">
            <a:avLst/>
          </a:prstGeom>
          <a:noFill/>
        </p:spPr>
        <p:txBody>
          <a:bodyPr wrap="square">
            <a:spAutoFit/>
          </a:bodyPr>
          <a:lstStyle/>
          <a:p>
            <a:pPr algn="l"/>
            <a:r>
              <a:rPr sz="800" b="0" i="0">
                <a:solidFill>
                  <a:srgbClr val="555555"/>
                </a:solidFill>
                <a:latin typeface="Calibri"/>
              </a:rPr>
              <a:t>Performance 52 sem.</a:t>
            </a:r>
          </a:p>
        </p:txBody>
      </p:sp>
      <p:sp>
        <p:nvSpPr>
          <p:cNvPr id="33" name="TextBox 32"/>
          <p:cNvSpPr txBox="1"/>
          <p:nvPr/>
        </p:nvSpPr>
        <p:spPr>
          <a:xfrm>
            <a:off x="367200" y="1846800"/>
            <a:ext cx="8413200" cy="165600"/>
          </a:xfrm>
          <a:prstGeom prst="rect">
            <a:avLst/>
          </a:prstGeom>
          <a:noFill/>
        </p:spPr>
        <p:txBody>
          <a:bodyPr wrap="square">
            <a:spAutoFit/>
          </a:bodyPr>
          <a:lstStyle/>
          <a:p>
            <a:pPr algn="l"/>
            <a:r>
              <a:rPr sz="900" b="1" i="0">
                <a:solidFill>
                  <a:srgbClr val="1B3A6B"/>
                </a:solidFill>
                <a:latin typeface="Calibri"/>
              </a:rPr>
              <a:t>Cours en hausse de +30,7 % sur 12 mois</a:t>
            </a:r>
          </a:p>
        </p:txBody>
      </p:sp>
      <p:pic>
        <p:nvPicPr>
          <p:cNvPr id="34" name="Picture 33" descr="image.png"/>
          <p:cNvPicPr>
            <a:picLocks noChangeAspect="1"/>
          </p:cNvPicPr>
          <p:nvPr/>
        </p:nvPicPr>
        <p:blipFill>
          <a:blip r:embed="rId2"/>
          <a:stretch>
            <a:fillRect/>
          </a:stretch>
        </p:blipFill>
        <p:spPr>
          <a:xfrm>
            <a:off x="367200" y="2102400"/>
            <a:ext cx="8413200" cy="18288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Conviction &amp; Thèse d’Investissement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AAPL  ·  FinSight IA  ·  Rapport 10 avril 2026</a:t>
            </a:r>
          </a:p>
        </p:txBody>
      </p:sp>
      <p:sp>
        <p:nvSpPr>
          <p:cNvPr id="17" name="Rectangle 16"/>
          <p:cNvSpPr/>
          <p:nvPr/>
        </p:nvSpPr>
        <p:spPr>
          <a:xfrm>
            <a:off x="324000" y="827999"/>
            <a:ext cx="2700000" cy="1260000"/>
          </a:xfrm>
          <a:prstGeom prst="rect">
            <a:avLst/>
          </a:prstGeom>
          <a:solidFill>
            <a:srgbClr val="FFF8E1"/>
          </a:solidFill>
          <a:ln w="25400">
            <a:solidFill>
              <a:srgbClr val="B06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24000" y="864000"/>
            <a:ext cx="2700000" cy="396000"/>
          </a:xfrm>
          <a:prstGeom prst="rect">
            <a:avLst/>
          </a:prstGeom>
          <a:noFill/>
        </p:spPr>
        <p:txBody>
          <a:bodyPr wrap="square">
            <a:spAutoFit/>
          </a:bodyPr>
          <a:lstStyle/>
          <a:p>
            <a:pPr algn="ctr"/>
            <a:r>
              <a:rPr sz="3600" b="1" i="0">
                <a:solidFill>
                  <a:srgbClr val="B06000"/>
                </a:solidFill>
                <a:latin typeface="Calibri"/>
              </a:rPr>
              <a:t>HOLD</a:t>
            </a:r>
          </a:p>
        </p:txBody>
      </p:sp>
      <p:sp>
        <p:nvSpPr>
          <p:cNvPr id="19" name="TextBox 18"/>
          <p:cNvSpPr txBox="1"/>
          <p:nvPr/>
        </p:nvSpPr>
        <p:spPr>
          <a:xfrm>
            <a:off x="324000" y="1278000"/>
            <a:ext cx="2700000" cy="198000"/>
          </a:xfrm>
          <a:prstGeom prst="rect">
            <a:avLst/>
          </a:prstGeom>
          <a:noFill/>
        </p:spPr>
        <p:txBody>
          <a:bodyPr wrap="square">
            <a:spAutoFit/>
          </a:bodyPr>
          <a:lstStyle/>
          <a:p>
            <a:pPr algn="ctr"/>
            <a:r>
              <a:rPr sz="1100" b="0" i="0">
                <a:solidFill>
                  <a:srgbClr val="555555"/>
                </a:solidFill>
                <a:latin typeface="Calibri"/>
              </a:rPr>
              <a:t>Conviction : 50%</a:t>
            </a:r>
          </a:p>
        </p:txBody>
      </p:sp>
      <p:sp>
        <p:nvSpPr>
          <p:cNvPr id="20" name="TextBox 19"/>
          <p:cNvSpPr txBox="1"/>
          <p:nvPr/>
        </p:nvSpPr>
        <p:spPr>
          <a:xfrm>
            <a:off x="324000" y="1494000"/>
            <a:ext cx="2700000" cy="198000"/>
          </a:xfrm>
          <a:prstGeom prst="rect">
            <a:avLst/>
          </a:prstGeom>
          <a:noFill/>
        </p:spPr>
        <p:txBody>
          <a:bodyPr wrap="square">
            <a:spAutoFit/>
          </a:bodyPr>
          <a:lstStyle/>
          <a:p>
            <a:pPr algn="ctr"/>
            <a:r>
              <a:rPr sz="850" b="0" i="0">
                <a:solidFill>
                  <a:srgbClr val="555555"/>
                </a:solidFill>
                <a:latin typeface="Calibri"/>
              </a:rPr>
              <a:t>10 avril 2026</a:t>
            </a:r>
          </a:p>
        </p:txBody>
      </p:sp>
      <p:sp>
        <p:nvSpPr>
          <p:cNvPr id="21" name="Rectangle 20"/>
          <p:cNvSpPr/>
          <p:nvPr/>
        </p:nvSpPr>
        <p:spPr>
          <a:xfrm>
            <a:off x="324000" y="2196000"/>
            <a:ext cx="2700000" cy="1980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4000" y="2196000"/>
            <a:ext cx="1350000" cy="198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2051999"/>
            <a:ext cx="2700000" cy="136800"/>
          </a:xfrm>
          <a:prstGeom prst="rect">
            <a:avLst/>
          </a:prstGeom>
          <a:noFill/>
        </p:spPr>
        <p:txBody>
          <a:bodyPr wrap="square">
            <a:spAutoFit/>
          </a:bodyPr>
          <a:lstStyle/>
          <a:p>
            <a:pPr algn="l"/>
            <a:r>
              <a:rPr sz="700" b="1" i="0">
                <a:solidFill>
                  <a:srgbClr val="1B3A6B"/>
                </a:solidFill>
                <a:latin typeface="Calibri"/>
              </a:rPr>
              <a:t>NIVEAU DE CONVICTION</a:t>
            </a:r>
          </a:p>
        </p:txBody>
      </p:sp>
      <p:sp>
        <p:nvSpPr>
          <p:cNvPr id="24" name="Rectangle 23"/>
          <p:cNvSpPr/>
          <p:nvPr/>
        </p:nvSpPr>
        <p:spPr>
          <a:xfrm>
            <a:off x="324000" y="2520000"/>
            <a:ext cx="2700000" cy="27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60000" y="2538000"/>
            <a:ext cx="2628000" cy="234000"/>
          </a:xfrm>
          <a:prstGeom prst="rect">
            <a:avLst/>
          </a:prstGeom>
          <a:noFill/>
        </p:spPr>
        <p:txBody>
          <a:bodyPr wrap="square">
            <a:spAutoFit/>
          </a:bodyPr>
          <a:lstStyle/>
          <a:p>
            <a:pPr algn="l"/>
            <a:r>
              <a:rPr sz="850" b="1" i="0">
                <a:solidFill>
                  <a:srgbClr val="1A7A4A"/>
                </a:solidFill>
                <a:latin typeface="Calibri"/>
              </a:rPr>
              <a:t>Delta conviction : +0% vs Avocat du Diable</a:t>
            </a:r>
          </a:p>
        </p:txBody>
      </p:sp>
      <p:sp>
        <p:nvSpPr>
          <p:cNvPr id="26" name="Rectangle 25"/>
          <p:cNvSpPr/>
          <p:nvPr/>
        </p:nvSpPr>
        <p:spPr>
          <a:xfrm>
            <a:off x="3311999" y="827999"/>
            <a:ext cx="5472000" cy="19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366000" y="846000"/>
            <a:ext cx="5400000" cy="162000"/>
          </a:xfrm>
          <a:prstGeom prst="rect">
            <a:avLst/>
          </a:prstGeom>
          <a:noFill/>
        </p:spPr>
        <p:txBody>
          <a:bodyPr wrap="square">
            <a:spAutoFit/>
          </a:bodyPr>
          <a:lstStyle/>
          <a:p>
            <a:pPr algn="l"/>
            <a:r>
              <a:rPr sz="800" b="1" i="0">
                <a:solidFill>
                  <a:srgbClr val="FFFFFF"/>
                </a:solidFill>
                <a:latin typeface="Calibri"/>
              </a:rPr>
              <a:t>THÈSE D’INVESTISSEMENT</a:t>
            </a:r>
          </a:p>
        </p:txBody>
      </p:sp>
      <p:sp>
        <p:nvSpPr>
          <p:cNvPr id="28" name="Rectangle 27"/>
          <p:cNvSpPr/>
          <p:nvPr/>
        </p:nvSpPr>
        <p:spPr>
          <a:xfrm>
            <a:off x="3311999" y="1062000"/>
            <a:ext cx="36000" cy="288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401999" y="1080000"/>
            <a:ext cx="5346000" cy="270000"/>
          </a:xfrm>
          <a:prstGeom prst="rect">
            <a:avLst/>
          </a:prstGeom>
          <a:noFill/>
        </p:spPr>
        <p:txBody>
          <a:bodyPr wrap="square">
            <a:spAutoFit/>
          </a:bodyPr>
          <a:lstStyle/>
          <a:p>
            <a:pPr algn="l"/>
            <a:r>
              <a:rPr sz="850" b="0" i="0">
                <a:solidFill>
                  <a:srgbClr val="555555"/>
                </a:solidFill>
                <a:latin typeface="Calibri"/>
              </a:rPr>
              <a:t>Recommandation HOLD pour Apple Inc., secteur Technology.</a:t>
            </a:r>
          </a:p>
        </p:txBody>
      </p:sp>
      <p:sp>
        <p:nvSpPr>
          <p:cNvPr id="30" name="Rectangle 29"/>
          <p:cNvSpPr/>
          <p:nvPr/>
        </p:nvSpPr>
        <p:spPr>
          <a:xfrm>
            <a:off x="3311999" y="1404000"/>
            <a:ext cx="36000" cy="288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401999" y="1422000"/>
            <a:ext cx="5346000" cy="270000"/>
          </a:xfrm>
          <a:prstGeom prst="rect">
            <a:avLst/>
          </a:prstGeom>
          <a:noFill/>
        </p:spPr>
        <p:txBody>
          <a:bodyPr wrap="square">
            <a:spAutoFit/>
          </a:bodyPr>
          <a:lstStyle/>
          <a:p>
            <a:pPr algn="l"/>
            <a:r>
              <a:rPr sz="850" b="0" i="0">
                <a:solidFill>
                  <a:srgbClr val="555555"/>
                </a:solidFill>
                <a:latin typeface="Calibri"/>
              </a:rPr>
              <a:t>Relancer l'analyse pour obtenir la these complete avec synthese IA.</a:t>
            </a:r>
          </a:p>
        </p:txBody>
      </p:sp>
      <p:sp>
        <p:nvSpPr>
          <p:cNvPr id="32" name="Rectangle 31"/>
          <p:cNvSpPr/>
          <p:nvPr/>
        </p:nvSpPr>
        <p:spPr>
          <a:xfrm>
            <a:off x="3311999" y="2142000"/>
            <a:ext cx="2664000" cy="18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366000" y="2160000"/>
            <a:ext cx="2592000" cy="144000"/>
          </a:xfrm>
          <a:prstGeom prst="rect">
            <a:avLst/>
          </a:prstGeom>
          <a:noFill/>
        </p:spPr>
        <p:txBody>
          <a:bodyPr wrap="square">
            <a:spAutoFit/>
          </a:bodyPr>
          <a:lstStyle/>
          <a:p>
            <a:pPr algn="l"/>
            <a:r>
              <a:rPr sz="750" b="1" i="0">
                <a:solidFill>
                  <a:srgbClr val="FFFFFF"/>
                </a:solidFill>
                <a:latin typeface="Calibri"/>
              </a:rPr>
              <a:t>CATALYSEURS BULLS</a:t>
            </a:r>
          </a:p>
        </p:txBody>
      </p:sp>
      <p:sp>
        <p:nvSpPr>
          <p:cNvPr id="34" name="TextBox 33"/>
          <p:cNvSpPr txBox="1"/>
          <p:nvPr/>
        </p:nvSpPr>
        <p:spPr>
          <a:xfrm>
            <a:off x="3401999" y="2358000"/>
            <a:ext cx="2556000" cy="234000"/>
          </a:xfrm>
          <a:prstGeom prst="rect">
            <a:avLst/>
          </a:prstGeom>
          <a:noFill/>
        </p:spPr>
        <p:txBody>
          <a:bodyPr wrap="square">
            <a:spAutoFit/>
          </a:bodyPr>
          <a:lstStyle/>
          <a:p>
            <a:pPr algn="l"/>
            <a:r>
              <a:rPr sz="700" b="0" i="0">
                <a:solidFill>
                  <a:srgbClr val="555555"/>
                </a:solidFill>
                <a:latin typeface="Calibri"/>
              </a:rPr>
              <a:t>• N/D</a:t>
            </a:r>
          </a:p>
        </p:txBody>
      </p:sp>
      <p:sp>
        <p:nvSpPr>
          <p:cNvPr id="35" name="Rectangle 34"/>
          <p:cNvSpPr/>
          <p:nvPr/>
        </p:nvSpPr>
        <p:spPr>
          <a:xfrm>
            <a:off x="6120000" y="2142000"/>
            <a:ext cx="2448000" cy="18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156000" y="2160000"/>
            <a:ext cx="2376000" cy="144000"/>
          </a:xfrm>
          <a:prstGeom prst="rect">
            <a:avLst/>
          </a:prstGeom>
          <a:noFill/>
        </p:spPr>
        <p:txBody>
          <a:bodyPr wrap="square">
            <a:spAutoFit/>
          </a:bodyPr>
          <a:lstStyle/>
          <a:p>
            <a:pPr algn="l"/>
            <a:r>
              <a:rPr sz="750" b="1" i="0">
                <a:solidFill>
                  <a:srgbClr val="FFFFFF"/>
                </a:solidFill>
                <a:latin typeface="Calibri"/>
              </a:rPr>
              <a:t>RISQUES BEARS</a:t>
            </a:r>
          </a:p>
        </p:txBody>
      </p:sp>
      <p:sp>
        <p:nvSpPr>
          <p:cNvPr id="37" name="TextBox 36"/>
          <p:cNvSpPr txBox="1"/>
          <p:nvPr/>
        </p:nvSpPr>
        <p:spPr>
          <a:xfrm>
            <a:off x="6156000" y="2358000"/>
            <a:ext cx="2376000" cy="234000"/>
          </a:xfrm>
          <a:prstGeom prst="rect">
            <a:avLst/>
          </a:prstGeom>
          <a:noFill/>
        </p:spPr>
        <p:txBody>
          <a:bodyPr wrap="square">
            <a:spAutoFit/>
          </a:bodyPr>
          <a:lstStyle/>
          <a:p>
            <a:pPr algn="l"/>
            <a:r>
              <a:rPr sz="700" b="0" i="0">
                <a:solidFill>
                  <a:srgbClr val="555555"/>
                </a:solidFill>
                <a:latin typeface="Calibri"/>
              </a:rPr>
              <a:t>• N/D</a:t>
            </a:r>
          </a:p>
        </p:txBody>
      </p:sp>
      <p:sp>
        <p:nvSpPr>
          <p:cNvPr id="38" name="TextBox 37"/>
          <p:cNvSpPr txBox="1"/>
          <p:nvPr/>
        </p:nvSpPr>
        <p:spPr>
          <a:xfrm>
            <a:off x="324000" y="4662000"/>
            <a:ext cx="8496000" cy="125999"/>
          </a:xfrm>
          <a:prstGeom prst="rect">
            <a:avLst/>
          </a:prstGeom>
          <a:noFill/>
        </p:spPr>
        <p:txBody>
          <a:bodyPr wrap="square">
            <a:spAutoFit/>
          </a:bodyPr>
          <a:lstStyle/>
          <a:p>
            <a:pPr algn="l"/>
            <a:r>
              <a:rPr sz="700" b="0" i="0">
                <a:solidFill>
                  <a:srgbClr val="555555"/>
                </a:solidFill>
                <a:latin typeface="Calibri"/>
              </a:rPr>
              <a:t>FinSight IA genere cette analyse a un instant T. Pour le suivi dans le temps, comparer les rapports successifs. La conviction reflete les donnees disponibles a la date d'analyse.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