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+11,4 %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+11,4 %  ·  Bear : 240 $ (-6,2 %)  ·  Bull : 320 $ (+25,0 %)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Croissance des services à 15% YoY soutenue par 1.4 Md d'utilisateurs actifs</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Expansion de la marge brute à 48% d'ici 2027 grâce au mix services et iPhone premium</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abyssale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Trésorerie nette de 166 Mds USD permettant rachats d'actions (10 Mds USD/an) et dividendes croissants.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européenne (DMA) réduisant les marges App Store de 30% à 15% d'ici 2026 | Concurrence accrue en IA (Google, Microsoft) avec risque de perte de parts de marché | Ralentissement économique en Chine (-5% CA 2025) impactant les ventes iPhone premium</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Dépendance à l'iPhone (50% du CA) avec risque de saturation du marché mature | Coûts de R&amp;D en hausse (+15% YoY) pesant sur les marges à long terme | Risque géopolitique (taxe 30% sur les importations en Inde) affectant la rentabilité</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La trésorerie abyssale de 166 milliards en 2025 est un fardeau : 90% est bloquée hors des États-Unis, soumise à des taxes de rapatriement de 15%, et les dividendes versés (14 milliards annuels) peinent à justifier un ROE de 151,9%, artificiellement gonflé par…</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+11,4 %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+0,166</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renforçant la fidélisation. Positionnée en haut de gamme, la marque capitalise sur l'innovation, le design et un pricing power inégalé. Ses avantages concurrentiels incluent une marge brute supérieure à 45%, une base d'utilisateurs fidèles et une trésorerie record pour financer R&amp;D et acquisitions stratégiques.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80% des revenus via iPhone (50% du CA), Mac, iPad et wearables. Modèle basé sur des cycles de renouvellement rapides et des prix premium ciblant les consommateurs haut de gamme. Croissance tirée par l'Asie (25% du CA) et les services intégrés (Apple Music, iCloud).</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expansion (20% du CA) incluant App Store, Apple Pay, Apple TV+ et iCloud. Modèle récurrent avec marge brute &gt;70% et croissance annuelle &gt;15%. Cible les utilisateurs existants via abonnements et monétisation des données anonymisées.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80% des revenus via iPhone (50% du CA), Mac, iPad et wearables. Modèle basé sur des cycles de renouvellement rapides et des prix premium ciblant les consommateurs haut de gamme. Croissance tirée par l'Asie (25% du CA) et les services intégrés (Apple Music, iCloud).</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expansion (20% du CA) incluant App Store, Apple Pay, Apple TV+ et iCloud. Modèle récurrent avec marge brute &gt;70% et croissance annuelle &gt;15%. Cible les utilisateurs existants via abonnements et monétisation des données anonymisées.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440,0</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+5,7 %</a:t>
                      </a:r>
                    </a:p>
                  </a:txBody>
                  <a:tcPr>
                    <a:solidFill>
                      <a:srgbClr val="F7F8FA"/>
                    </a:solidFill>
                  </a:tcPr>
                </a:tc>
                <a:tc>
                  <a:txBody>
                    <a:bodyPr/>
                    <a:lstStyle/>
                    <a:p>
                      <a:pPr algn="ctr"/>
                      <a:r>
                        <a:rPr sz="750" b="0" i="1">
                          <a:solidFill>
                            <a:srgbClr val="555555"/>
                          </a:solidFill>
                          <a:latin typeface="Calibri"/>
                        </a:rPr>
                        <a:t>+6,8 %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209,0</a:t>
                      </a:r>
                    </a:p>
                  </a:txBody>
                  <a:tcPr>
                    <a:solidFill>
                      <a:srgbClr val="FFFFFF"/>
                    </a:solidFill>
                  </a:tcPr>
                </a:tc>
                <a:tc>
                  <a:txBody>
                    <a:bodyPr/>
                    <a:lstStyle/>
                    <a:p>
                      <a:pPr algn="ctr"/>
                      <a:r>
                        <a:rPr sz="800" b="1" i="0">
                          <a:solidFill>
                            <a:srgbClr val="0D0D0D"/>
                          </a:solidFill>
                          <a:latin typeface="Calibri"/>
                        </a:rPr>
                        <a:t>225,6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155,0</a:t>
                      </a:r>
                    </a:p>
                  </a:txBody>
                  <a:tcPr>
                    <a:solidFill>
                      <a:srgbClr val="FFFFFF"/>
                    </a:solidFill>
                  </a:tcPr>
                </a:tc>
                <a:tc>
                  <a:txBody>
                    <a:bodyPr/>
                    <a:lstStyle/>
                    <a:p>
                      <a:pPr algn="ctr"/>
                      <a:r>
                        <a:rPr sz="800" b="1" i="0">
                          <a:solidFill>
                            <a:srgbClr val="0D0D0D"/>
                          </a:solidFill>
                          <a:latin typeface="Calibri"/>
                        </a:rPr>
                        <a:t>165,0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35,2 %</a:t>
                      </a:r>
                    </a:p>
                  </a:txBody>
                  <a:tcPr>
                    <a:solidFill>
                      <a:srgbClr val="F7F8FA"/>
                    </a:solidFill>
                  </a:tcPr>
                </a:tc>
                <a:tc>
                  <a:txBody>
                    <a:bodyPr/>
                    <a:lstStyle/>
                    <a:p>
                      <a:pPr algn="ctr"/>
                      <a:r>
                        <a:rPr sz="750" b="0" i="1">
                          <a:solidFill>
                            <a:srgbClr val="555555"/>
                          </a:solidFill>
                          <a:latin typeface="Calibri"/>
                        </a:rPr>
                        <a:t>35,1 %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116,0</a:t>
                      </a:r>
                    </a:p>
                  </a:txBody>
                  <a:tcPr>
                    <a:solidFill>
                      <a:srgbClr val="FFFFFF"/>
                    </a:solidFill>
                  </a:tcPr>
                </a:tc>
                <a:tc>
                  <a:txBody>
                    <a:bodyPr/>
                    <a:lstStyle/>
                    <a:p>
                      <a:pPr algn="ctr"/>
                      <a:r>
                        <a:rPr sz="800" b="1" i="0">
                          <a:solidFill>
                            <a:srgbClr val="0D0D0D"/>
                          </a:solidFill>
                          <a:latin typeface="Calibri"/>
                        </a:rPr>
                        <a:t>125,0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26,4 %</a:t>
                      </a:r>
                    </a:p>
                  </a:txBody>
                  <a:tcPr>
                    <a:solidFill>
                      <a:srgbClr val="F7F8FA"/>
                    </a:solidFill>
                  </a:tcPr>
                </a:tc>
                <a:tc>
                  <a:txBody>
                    <a:bodyPr/>
                    <a:lstStyle/>
                    <a:p>
                      <a:pPr algn="ctr"/>
                      <a:r>
                        <a:rPr sz="750" b="0" i="1">
                          <a:solidFill>
                            <a:srgbClr val="555555"/>
                          </a:solidFill>
                          <a:latin typeface="Calibri"/>
                        </a:rPr>
                        <a:t>26,6 %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avec une marge nette stable à 26.9%. Le levier opérationnel est renforcé par la discipline des coûts (SG&amp;A à 12% du CA) et un mix produits favorable vers les services à haute marge. La génération de cash reste robuste (58 Mds USD FCF 2025) soutenant les rachats d'actions et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avec une marge nette stable à 26.9%. Le levier opérationnel est renforcé par la discipline des coûts (SG&amp;A à 12% du CA) et un mix produits favorable vers les services à haute marge. La génération de cash reste robuste (58 Mds USD FCF 2025) soutenant les rachats d'actions et dividendes.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brute/EBITDA/nette progressent depuis 2022 (43.3%/33.1%/25.3% → 46.9%/34.8%/26.9%) grâce à l'optimisation des coûts de production et au mix services. La marge nette à 26.9% est parmi les plus élevées du secteur, reflétant un pricing power exceptionnel et une gestion rigoureuse des dépenses. Cette durabilité justifie une prime de valorisation durable.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-6,2 %</a:t>
                      </a:r>
                    </a:p>
                  </a:txBody>
                  <a:tcPr>
                    <a:solidFill>
                      <a:srgbClr val="FAF0EF"/>
                    </a:solidFill>
                  </a:tcPr>
                </a:tc>
                <a:tc>
                  <a:txBody>
                    <a:bodyPr/>
                    <a:lstStyle/>
                    <a:p>
                      <a:pPr algn="ctr"/>
                      <a:r>
                        <a:rPr sz="1200" b="1" i="0">
                          <a:solidFill>
                            <a:srgbClr val="2E5FA3"/>
                          </a:solidFill>
                          <a:latin typeface="Calibri"/>
                        </a:rPr>
                        <a:t>+11,4 %</a:t>
                      </a:r>
                    </a:p>
                  </a:txBody>
                  <a:tcPr>
                    <a:solidFill>
                      <a:srgbClr val="EEF3FA"/>
                    </a:solidFill>
                  </a:tcPr>
                </a:tc>
                <a:tc>
                  <a:txBody>
                    <a:bodyPr/>
                    <a:lstStyle/>
                    <a:p>
                      <a:pPr algn="ctr"/>
                      <a:r>
                        <a:rPr sz="1200" b="1" i="0">
                          <a:solidFill>
                            <a:srgbClr val="1A7A4A"/>
                          </a:solidFill>
                          <a:latin typeface="Calibri"/>
                        </a:rPr>
                        <a:t>+25,0 %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 TGR de 3.0%, le prix implicite DCF est de 278 USD (base), soit un upside de 9% vs cours actuel. La prime reflète une croissance organique soutenue et une trésorerie sous-évaluée. Un catalyseur clé serait l'accélération des services (&gt;20% de croissance) ou une expansion en Inde/Brésil.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11,2x</a:t>
                      </a:r>
                    </a:p>
                  </a:txBody>
                  <a:tcPr>
                    <a:solidFill>
                      <a:srgbClr val="FFFFFF"/>
                    </a:solidFill>
                  </a:tcPr>
                </a:tc>
                <a:tc>
                  <a:txBody>
                    <a:bodyPr/>
                    <a:lstStyle/>
                    <a:p>
                      <a:pPr algn="ctr"/>
                      <a:r>
                        <a:rPr sz="800" b="0" i="0">
                          <a:solidFill>
                            <a:srgbClr val="0D0D0D"/>
                          </a:solidFill>
                          <a:latin typeface="Calibri"/>
                        </a:rPr>
                        <a:t>36,8x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44,0 %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15,2x</a:t>
                      </a:r>
                    </a:p>
                  </a:txBody>
                  <a:tcPr>
                    <a:solidFill>
                      <a:srgbClr val="F7F8FA"/>
                    </a:solidFill>
                  </a:tcPr>
                </a:tc>
                <a:tc>
                  <a:txBody>
                    <a:bodyPr/>
                    <a:lstStyle/>
                    <a:p>
                      <a:pPr algn="ctr"/>
                      <a:r>
                        <a:rPr sz="800" b="0" i="0">
                          <a:solidFill>
                            <a:srgbClr val="0D0D0D"/>
                          </a:solidFill>
                          <a:latin typeface="Calibri"/>
                        </a:rPr>
                        <a:t>8,1x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Tesla</a:t>
                      </a:r>
                    </a:p>
                  </a:txBody>
                  <a:tcPr>
                    <a:solidFill>
                      <a:srgbClr val="FFFFFF"/>
                    </a:solidFill>
                  </a:tcPr>
                </a:tc>
                <a:tc>
                  <a:txBody>
                    <a:bodyPr/>
                    <a:lstStyle/>
                    <a:p>
                      <a:pPr algn="ctr"/>
                      <a:r>
                        <a:rPr sz="750" b="0" i="0">
                          <a:solidFill>
                            <a:srgbClr val="555555"/>
                          </a:solidFill>
                          <a:latin typeface="Calibri"/>
                        </a:rPr>
                        <a:t>TSLA</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35,0x</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60,0x</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22,5x</a:t>
                      </a:r>
                    </a:p>
                  </a:txBody>
                  <a:tcPr>
                    <a:solidFill>
                      <a:srgbClr val="F7F8FA"/>
                    </a:solidFill>
                  </a:tcPr>
                </a:tc>
                <a:tc>
                  <a:txBody>
                    <a:bodyPr/>
                    <a:lstStyle/>
                    <a:p>
                      <a:pPr algn="ctr"/>
                      <a:r>
                        <a:rPr sz="800" b="1" i="0">
                          <a:solidFill>
                            <a:srgbClr val="0D0D0D"/>
                          </a:solidFill>
                          <a:latin typeface="Calibri"/>
                        </a:rPr>
                        <a:t>8,5x</a:t>
                      </a:r>
                    </a:p>
                  </a:txBody>
                  <a:tcPr>
                    <a:solidFill>
                      <a:srgbClr val="F7F8FA"/>
                    </a:solidFill>
                  </a:tcPr>
                </a:tc>
                <a:tc>
                  <a:txBody>
                    <a:bodyPr/>
                    <a:lstStyle/>
                    <a:p>
                      <a:pPr algn="ctr"/>
                      <a:r>
                        <a:rPr sz="800" b="1" i="0">
                          <a:solidFill>
                            <a:srgbClr val="0D0D0D"/>
                          </a:solidFill>
                          <a:latin typeface="Calibri"/>
                        </a:rPr>
                        <a:t>36,8x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35,0 %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traite à 26.4x EV/EBITDA vs médiane peers (MSFT, GOOGL, AMZN, META, TSLA) à 22.1x (+19%), justifiée par une marge nette supérieure de 500 pbs et une croissance des services &gt;2x supérieure. Une convergence vers la médiane impliquerait un downside de 15%, mais la prime semble durable compte tenu de la qualité des actifs et du pricing power.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 TGR de 3.0%, le prix implicite DCF est de 278 USD (base), soit un upside de 9% vs cours actuel. La prime reflète une croissance organique soutenue et une trésorerie sous-évaluée. Un catalyseur clé serait l'accélération des services (&gt;20% de croissance) ou une expansion en Inde/Brésil.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compression</a:t>
            </a:r>
          </a:p>
        </p:txBody>
      </p:sp>
      <p:sp>
        <p:nvSpPr>
          <p:cNvPr id="20" name="TextBox 19"/>
          <p:cNvSpPr txBox="1"/>
          <p:nvPr/>
        </p:nvSpPr>
        <p:spPr>
          <a:xfrm>
            <a:off x="475200" y="1537199"/>
            <a:ext cx="2527200" cy="1152000"/>
          </a:xfrm>
          <a:prstGeom prst="rect">
            <a:avLst/>
          </a:prstGeom>
          <a:noFill/>
        </p:spPr>
        <p:txBody>
          <a:bodyPr wrap="square">
            <a:spAutoFit/>
          </a:bodyPr>
          <a:lstStyle/>
          <a:p>
            <a:pPr algn="l"/>
            <a:r>
              <a:rPr sz="800" b="0" i="0">
                <a:solidFill>
                  <a:srgbClr val="555555"/>
                </a:solidFill>
                <a:latin typeface="Calibri"/>
              </a:rPr>
              <a:t>L’écosystème fermé d’Apple, souvent présenté comme un atout, devient un piège à innovation avec des marges stagnantes depuis 2021 malgré des prix premiums : l’iPhone représente 52% du CA en 2025, en baisse de 3 points vs 2020, signe d’un essoufflement de la différenciation. Les coûts de R&amp;D (8,1 milliards en 2024) n’ont généré aucun nouveau segment rentable depuis l’Apple Watch en 2015, creusant l’écart avec des concurrents comme Samsung ou</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Chine critique</a:t>
            </a:r>
          </a:p>
        </p:txBody>
      </p:sp>
      <p:sp>
        <p:nvSpPr>
          <p:cNvPr id="24" name="TextBox 23"/>
          <p:cNvSpPr txBox="1"/>
          <p:nvPr/>
        </p:nvSpPr>
        <p:spPr>
          <a:xfrm>
            <a:off x="3337200" y="1537199"/>
            <a:ext cx="2527200" cy="1152000"/>
          </a:xfrm>
          <a:prstGeom prst="rect">
            <a:avLst/>
          </a:prstGeom>
          <a:noFill/>
        </p:spPr>
        <p:txBody>
          <a:bodyPr wrap="square">
            <a:spAutoFit/>
          </a:bodyPr>
          <a:lstStyle/>
          <a:p>
            <a:pPr algn="l"/>
            <a:r>
              <a:rPr sz="800" b="0" i="0">
                <a:solidFill>
                  <a:srgbClr val="555555"/>
                </a:solidFill>
                <a:latin typeface="Calibri"/>
              </a:rPr>
              <a:t>Le pricing power d’Apple, mesuré par son P/E à 33,54x, repose sur une clientèle captive mais de plus en plus sensible aux prix : les ventes d’iPhone en Chine ont chuté de 15% en volume au T1 2025, forçant des baisses de prix de 10% sur les modèles haut de gamme. Les marges brutes de 46,9% en 2025 masquent une compression structurelle, avec un coût des ventes en hausse de 4,2% sur un an, lié aux tensions sur les composants et à la concurrence des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Trésorerie improductive</a:t>
            </a:r>
          </a:p>
        </p:txBody>
      </p:sp>
      <p:sp>
        <p:nvSpPr>
          <p:cNvPr id="28" name="TextBox 27"/>
          <p:cNvSpPr txBox="1"/>
          <p:nvPr/>
        </p:nvSpPr>
        <p:spPr>
          <a:xfrm>
            <a:off x="6199200" y="1537199"/>
            <a:ext cx="2527200" cy="1152000"/>
          </a:xfrm>
          <a:prstGeom prst="rect">
            <a:avLst/>
          </a:prstGeom>
          <a:noFill/>
        </p:spPr>
        <p:txBody>
          <a:bodyPr wrap="square">
            <a:spAutoFit/>
          </a:bodyPr>
          <a:lstStyle/>
          <a:p>
            <a:pPr algn="l"/>
            <a:r>
              <a:rPr sz="800" b="0" i="0">
                <a:solidFill>
                  <a:srgbClr val="555555"/>
                </a:solidFill>
                <a:latin typeface="Calibri"/>
              </a:rPr>
              <a:t>La trésorerie abyssale de 166 milliards en 2025 est un fardeau : 90% est bloquée hors des États-Unis, soumise à des taxes de rapatriement de 15%, et les dividendes versés (14 milliards annuels) peinent à justifier un ROE de 151,9%, artificiellement gonflé par des rachats d’actions massifs (75 milliards en 2024) qui masquent l’absence de projets d’investissement productifs.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de 10% des dépenses tech des consommateurs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les commissions App Store réduisant les marges de 30%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lancement de l'iPhone 16 avec baisse des parts de marché en Chine</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+0,166</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45,4 %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+0,356</a:t>
                      </a:r>
                    </a:p>
                  </a:txBody>
                  <a:tcPr>
                    <a:solidFill>
                      <a:srgbClr val="EAF4EF"/>
                    </a:solidFill>
                  </a:tcPr>
                </a:tc>
                <a:tc>
                  <a:txBody>
                    <a:bodyPr/>
                    <a:lstStyle/>
                    <a:p>
                      <a:pPr algn="ctr"/>
                      <a:r>
                        <a:rPr sz="800" b="0" i="0">
                          <a:solidFill>
                            <a:srgbClr val="0D0D0D"/>
                          </a:solidFill>
                          <a:latin typeface="Calibri"/>
                        </a:rPr>
                        <a:t>Services en croissance à 15% YoY d'ici 2027, passant de 20% à 25% du CA avec marge &gt;70% | Expansion en Inde (CA +30% YoY) via partenariats locaux et prix adaptés | Rachats d'actions de 10 Mds USD/an soutenus par trésorerie excédentaire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+0,454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+0,190</a:t>
                      </a:r>
                    </a:p>
                  </a:txBody>
                  <a:tcPr>
                    <a:solidFill>
                      <a:srgbClr val="FAF0EF"/>
                    </a:solidFill>
                  </a:tcPr>
                </a:tc>
                <a:tc>
                  <a:txBody>
                    <a:bodyPr/>
                    <a:lstStyle/>
                    <a:p>
                      <a:pPr algn="ctr"/>
                      <a:r>
                        <a:rPr sz="800" b="0" i="0">
                          <a:solidFill>
                            <a:srgbClr val="0D0D0D"/>
                          </a:solidFill>
                          <a:latin typeface="Calibri"/>
                        </a:rPr>
                        <a:t>Régulation européenne (DMA) réduisant les marges App Store de 30% à 15% d'ici 2026 | Concurrence accrue en IA (Google, Microsoft) avec risque de perte de parts de marché | Ralentissement économique en Chine (-5% CA 2025) impactant les…</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salue l’héritage et la performance historique d’Apple à l’occasion de ses 50 ans, mais s’interroge sur sa capacité à maintenir une croissance aussi exceptionnelle. Les risques géopolitiques et les mouvements stratégiques des concurrents (comme Amazon) introduisent une dose de prudence sur le titre.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cote à 26.4x EV/EBITDA vs médiane peers à 22.1x, soit une prime de 19%. Le P/E à 33.5x reflète une croissance supérieure mais aussi des attentes élevées en matière d'innovation et de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malgré un contexte macroéconomique incertain. La valorisation reste élevée mais justifiée par une franchise premium et une trésorerie abyssale de 166 Mds USD.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