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9144000" cy="5144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371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5600"/>
            <a:ext cx="8229600" cy="255600"/>
          </a:xfrm>
          <a:prstGeom prst="rect">
            <a:avLst/>
          </a:prstGeom>
          <a:noFill/>
        </p:spPr>
        <p:txBody>
          <a:bodyPr wrap="square">
            <a:spAutoFit/>
          </a:bodyPr>
          <a:lstStyle/>
          <a:p>
            <a:pPr algn="ctr"/>
            <a:r>
              <a:rPr sz="1000" b="0" i="0">
                <a:solidFill>
                  <a:srgbClr val="8899BB"/>
                </a:solidFill>
                <a:latin typeface="Calibri"/>
              </a:rPr>
              <a:t>FinSight IA</a:t>
            </a:r>
          </a:p>
        </p:txBody>
      </p:sp>
      <p:sp>
        <p:nvSpPr>
          <p:cNvPr id="4" name="Rectangle 3"/>
          <p:cNvSpPr/>
          <p:nvPr/>
        </p:nvSpPr>
        <p:spPr>
          <a:xfrm>
            <a:off x="3978000" y="475200"/>
            <a:ext cx="1188000" cy="1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547200"/>
            <a:ext cx="8229600" cy="291600"/>
          </a:xfrm>
          <a:prstGeom prst="rect">
            <a:avLst/>
          </a:prstGeom>
          <a:noFill/>
        </p:spPr>
        <p:txBody>
          <a:bodyPr wrap="square">
            <a:spAutoFit/>
          </a:bodyPr>
          <a:lstStyle/>
          <a:p>
            <a:pPr algn="ctr"/>
            <a:r>
              <a:rPr sz="1100" b="0" i="0">
                <a:solidFill>
                  <a:srgbClr val="CCDDEE"/>
                </a:solidFill>
                <a:latin typeface="Calibri"/>
              </a:rPr>
              <a:t>Pitchbook  —  Analyse d'investissement</a:t>
            </a:r>
          </a:p>
        </p:txBody>
      </p:sp>
      <p:sp>
        <p:nvSpPr>
          <p:cNvPr id="6" name="TextBox 5"/>
          <p:cNvSpPr txBox="1"/>
          <p:nvPr/>
        </p:nvSpPr>
        <p:spPr>
          <a:xfrm>
            <a:off x="457200" y="1461599"/>
            <a:ext cx="8229600" cy="794232"/>
          </a:xfrm>
          <a:prstGeom prst="rect">
            <a:avLst/>
          </a:prstGeom>
          <a:noFill/>
        </p:spPr>
        <p:txBody>
          <a:bodyPr wrap="square">
            <a:spAutoFit/>
          </a:bodyPr>
          <a:lstStyle/>
          <a:p>
            <a:pPr algn="ctr"/>
            <a:r>
              <a:rPr sz="4000" b="1" i="0">
                <a:solidFill>
                  <a:srgbClr val="1B3A6B"/>
                </a:solidFill>
                <a:latin typeface="Calibri"/>
              </a:rPr>
              <a:t>Apple Inc.</a:t>
            </a:r>
          </a:p>
        </p:txBody>
      </p:sp>
      <p:sp>
        <p:nvSpPr>
          <p:cNvPr id="7" name="TextBox 6"/>
          <p:cNvSpPr txBox="1"/>
          <p:nvPr/>
        </p:nvSpPr>
        <p:spPr>
          <a:xfrm>
            <a:off x="457200" y="2345832"/>
            <a:ext cx="8229600" cy="255600"/>
          </a:xfrm>
          <a:prstGeom prst="rect">
            <a:avLst/>
          </a:prstGeom>
          <a:noFill/>
        </p:spPr>
        <p:txBody>
          <a:bodyPr wrap="square">
            <a:spAutoFit/>
          </a:bodyPr>
          <a:lstStyle/>
          <a:p>
            <a:pPr algn="ctr"/>
            <a:r>
              <a:rPr sz="1100" b="0" i="0">
                <a:solidFill>
                  <a:srgbClr val="888888"/>
                </a:solidFill>
                <a:latin typeface="Calibri"/>
              </a:rPr>
              <a:t>AAPL  ·  Technology</a:t>
            </a:r>
          </a:p>
        </p:txBody>
      </p:sp>
      <p:sp>
        <p:nvSpPr>
          <p:cNvPr id="8" name="Rectangle 7"/>
          <p:cNvSpPr/>
          <p:nvPr/>
        </p:nvSpPr>
        <p:spPr>
          <a:xfrm>
            <a:off x="457200" y="2720232"/>
            <a:ext cx="8229600" cy="4752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720232"/>
            <a:ext cx="46800" cy="4752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76000" y="2738232"/>
            <a:ext cx="8063999" cy="439200"/>
          </a:xfrm>
          <a:prstGeom prst="rect">
            <a:avLst/>
          </a:prstGeom>
          <a:noFill/>
        </p:spPr>
        <p:txBody>
          <a:bodyPr wrap="square">
            <a:spAutoFit/>
          </a:bodyPr>
          <a:lstStyle/>
          <a:p>
            <a:pPr algn="ctr"/>
            <a:r>
              <a:rPr sz="900" b="1" i="0">
                <a:solidFill>
                  <a:srgbClr val="1A7A4A"/>
                </a:solidFill>
                <a:latin typeface="Calibri"/>
              </a:rPr>
              <a:t>● BUY  ·  Prix cible base : 280 $  ·  Upside : +10,7 %</a:t>
            </a:r>
          </a:p>
        </p:txBody>
      </p:sp>
      <p:sp>
        <p:nvSpPr>
          <p:cNvPr id="11" name="Rectangle 10"/>
          <p:cNvSpPr/>
          <p:nvPr/>
        </p:nvSpPr>
        <p:spPr>
          <a:xfrm>
            <a:off x="367200" y="44640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7200" y="4554000"/>
            <a:ext cx="4114800" cy="201600"/>
          </a:xfrm>
          <a:prstGeom prst="rect">
            <a:avLst/>
          </a:prstGeom>
          <a:noFill/>
        </p:spPr>
        <p:txBody>
          <a:bodyPr wrap="square">
            <a:spAutoFit/>
          </a:bodyPr>
          <a:lstStyle/>
          <a:p>
            <a:pPr algn="l"/>
            <a:r>
              <a:rPr sz="800" b="0" i="0">
                <a:solidFill>
                  <a:srgbClr val="555555"/>
                </a:solidFill>
                <a:latin typeface="Calibri"/>
              </a:rPr>
              <a:t>Rapport confidentiel</a:t>
            </a:r>
          </a:p>
        </p:txBody>
      </p:sp>
      <p:sp>
        <p:nvSpPr>
          <p:cNvPr id="13" name="TextBox 12"/>
          <p:cNvSpPr txBox="1"/>
          <p:nvPr/>
        </p:nvSpPr>
        <p:spPr>
          <a:xfrm>
            <a:off x="4662000" y="4554000"/>
            <a:ext cx="4114800" cy="201600"/>
          </a:xfrm>
          <a:prstGeom prst="rect">
            <a:avLst/>
          </a:prstGeom>
          <a:noFill/>
        </p:spPr>
        <p:txBody>
          <a:bodyPr wrap="square">
            <a:spAutoFit/>
          </a:bodyPr>
          <a:lstStyle/>
          <a:p>
            <a:pPr algn="r"/>
            <a:r>
              <a:rPr sz="800" b="0" i="0">
                <a:solidFill>
                  <a:srgbClr val="555555"/>
                </a:solidFill>
                <a:latin typeface="Calibri"/>
              </a:rPr>
              <a:t>25 mars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Executive Summary</a:t>
            </a:r>
          </a:p>
        </p:txBody>
      </p:sp>
      <p:sp>
        <p:nvSpPr>
          <p:cNvPr id="6" name="Rectangle 5"/>
          <p:cNvSpPr/>
          <p:nvPr/>
        </p:nvSpPr>
        <p:spPr>
          <a:xfrm>
            <a:off x="367200" y="748800"/>
            <a:ext cx="8413200" cy="4392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748800"/>
            <a:ext cx="46800" cy="4392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766800"/>
            <a:ext cx="1098000" cy="403200"/>
          </a:xfrm>
          <a:prstGeom prst="rect">
            <a:avLst/>
          </a:prstGeom>
          <a:noFill/>
        </p:spPr>
        <p:txBody>
          <a:bodyPr wrap="square">
            <a:spAutoFit/>
          </a:bodyPr>
          <a:lstStyle/>
          <a:p>
            <a:pPr algn="l"/>
            <a:r>
              <a:rPr sz="1100" b="1" i="0">
                <a:solidFill>
                  <a:srgbClr val="1A7A4A"/>
                </a:solidFill>
                <a:latin typeface="Calibri"/>
              </a:rPr>
              <a:t>● BUY</a:t>
            </a:r>
          </a:p>
        </p:txBody>
      </p:sp>
      <p:sp>
        <p:nvSpPr>
          <p:cNvPr id="9" name="TextBox 8"/>
          <p:cNvSpPr txBox="1"/>
          <p:nvPr/>
        </p:nvSpPr>
        <p:spPr>
          <a:xfrm>
            <a:off x="1692000" y="766800"/>
            <a:ext cx="6948000" cy="403200"/>
          </a:xfrm>
          <a:prstGeom prst="rect">
            <a:avLst/>
          </a:prstGeom>
          <a:noFill/>
        </p:spPr>
        <p:txBody>
          <a:bodyPr wrap="square">
            <a:spAutoFit/>
          </a:bodyPr>
          <a:lstStyle/>
          <a:p>
            <a:pPr algn="l"/>
            <a:r>
              <a:rPr sz="900" b="0" i="0">
                <a:solidFill>
                  <a:srgbClr val="1B3A6B"/>
                </a:solidFill>
                <a:latin typeface="Calibri"/>
              </a:rPr>
              <a:t>Prix cible base : 280 $  ·  Upside : +10,7 %  ·  Bear : 241 $ (-5,0 %)  ·  Bull : 310 $ (+22,4 %)</a:t>
            </a:r>
          </a:p>
        </p:txBody>
      </p:sp>
      <p:sp>
        <p:nvSpPr>
          <p:cNvPr id="10" name="Rectangle 9"/>
          <p:cNvSpPr/>
          <p:nvPr/>
        </p:nvSpPr>
        <p:spPr>
          <a:xfrm>
            <a:off x="367200" y="1353600"/>
            <a:ext cx="4161600" cy="255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200" y="1353600"/>
            <a:ext cx="4161600" cy="255600"/>
          </a:xfrm>
          <a:prstGeom prst="rect">
            <a:avLst/>
          </a:prstGeom>
          <a:noFill/>
        </p:spPr>
        <p:txBody>
          <a:bodyPr wrap="square">
            <a:spAutoFit/>
          </a:bodyPr>
          <a:lstStyle/>
          <a:p>
            <a:pPr algn="l"/>
            <a:r>
              <a:rPr sz="900" b="1" i="0">
                <a:solidFill>
                  <a:srgbClr val="FFFFFF"/>
                </a:solidFill>
                <a:latin typeface="Calibri"/>
              </a:rPr>
              <a:t>THÈSE D'INVESTISSEMENT</a:t>
            </a:r>
          </a:p>
        </p:txBody>
      </p:sp>
      <p:sp>
        <p:nvSpPr>
          <p:cNvPr id="12" name="Rectangle 11"/>
          <p:cNvSpPr/>
          <p:nvPr/>
        </p:nvSpPr>
        <p:spPr>
          <a:xfrm>
            <a:off x="367200" y="16632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3999" y="1645200"/>
            <a:ext cx="3931200" cy="183600"/>
          </a:xfrm>
          <a:prstGeom prst="rect">
            <a:avLst/>
          </a:prstGeom>
          <a:noFill/>
        </p:spPr>
        <p:txBody>
          <a:bodyPr wrap="square">
            <a:spAutoFit/>
          </a:bodyPr>
          <a:lstStyle/>
          <a:p>
            <a:pPr algn="l"/>
            <a:r>
              <a:rPr sz="850" b="1" i="0">
                <a:solidFill>
                  <a:srgbClr val="1B3A6B"/>
                </a:solidFill>
                <a:latin typeface="Calibri"/>
              </a:rPr>
              <a:t>Marque forte</a:t>
            </a:r>
          </a:p>
        </p:txBody>
      </p:sp>
      <p:sp>
        <p:nvSpPr>
          <p:cNvPr id="14" name="TextBox 13"/>
          <p:cNvSpPr txBox="1"/>
          <p:nvPr/>
        </p:nvSpPr>
        <p:spPr>
          <a:xfrm>
            <a:off x="503999" y="1814400"/>
            <a:ext cx="3931200" cy="327600"/>
          </a:xfrm>
          <a:prstGeom prst="rect">
            <a:avLst/>
          </a:prstGeom>
          <a:noFill/>
        </p:spPr>
        <p:txBody>
          <a:bodyPr wrap="square">
            <a:spAutoFit/>
          </a:bodyPr>
          <a:lstStyle/>
          <a:p>
            <a:pPr algn="l"/>
            <a:r>
              <a:rPr sz="750" b="0" i="0">
                <a:solidFill>
                  <a:srgbClr val="333333"/>
                </a:solidFill>
                <a:latin typeface="Calibri"/>
              </a:rPr>
              <a:t>La croissance de la demande pour les smartphones et les ordinateurs portables devrait atteindre 10% d'ici 2027</a:t>
            </a:r>
          </a:p>
        </p:txBody>
      </p:sp>
      <p:sp>
        <p:nvSpPr>
          <p:cNvPr id="15" name="Rectangle 14"/>
          <p:cNvSpPr/>
          <p:nvPr/>
        </p:nvSpPr>
        <p:spPr>
          <a:xfrm>
            <a:off x="367200" y="21960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3999" y="2178000"/>
            <a:ext cx="3931200" cy="183600"/>
          </a:xfrm>
          <a:prstGeom prst="rect">
            <a:avLst/>
          </a:prstGeom>
          <a:noFill/>
        </p:spPr>
        <p:txBody>
          <a:bodyPr wrap="square">
            <a:spAutoFit/>
          </a:bodyPr>
          <a:lstStyle/>
          <a:p>
            <a:pPr algn="l"/>
            <a:r>
              <a:rPr sz="850" b="1" i="0">
                <a:solidFill>
                  <a:srgbClr val="1B3A6B"/>
                </a:solidFill>
                <a:latin typeface="Calibri"/>
              </a:rPr>
              <a:t>Ecosystème intégré</a:t>
            </a:r>
          </a:p>
        </p:txBody>
      </p:sp>
      <p:sp>
        <p:nvSpPr>
          <p:cNvPr id="17" name="TextBox 16"/>
          <p:cNvSpPr txBox="1"/>
          <p:nvPr/>
        </p:nvSpPr>
        <p:spPr>
          <a:xfrm>
            <a:off x="503999" y="2347200"/>
            <a:ext cx="3931200" cy="327600"/>
          </a:xfrm>
          <a:prstGeom prst="rect">
            <a:avLst/>
          </a:prstGeom>
          <a:noFill/>
        </p:spPr>
        <p:txBody>
          <a:bodyPr wrap="square">
            <a:spAutoFit/>
          </a:bodyPr>
          <a:lstStyle/>
          <a:p>
            <a:pPr algn="l"/>
            <a:r>
              <a:rPr sz="750" b="0" i="0">
                <a:solidFill>
                  <a:srgbClr val="333333"/>
                </a:solidFill>
                <a:latin typeface="Calibri"/>
              </a:rPr>
              <a:t>Les services d'Apple devraient générer 20% des revenus de l'entreprise d'ici 2028</a:t>
            </a:r>
          </a:p>
        </p:txBody>
      </p:sp>
      <p:sp>
        <p:nvSpPr>
          <p:cNvPr id="18" name="Rectangle 17"/>
          <p:cNvSpPr/>
          <p:nvPr/>
        </p:nvSpPr>
        <p:spPr>
          <a:xfrm>
            <a:off x="367200" y="27288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2710800"/>
            <a:ext cx="3931200" cy="183600"/>
          </a:xfrm>
          <a:prstGeom prst="rect">
            <a:avLst/>
          </a:prstGeom>
          <a:noFill/>
        </p:spPr>
        <p:txBody>
          <a:bodyPr wrap="square">
            <a:spAutoFit/>
          </a:bodyPr>
          <a:lstStyle/>
          <a:p>
            <a:pPr algn="l"/>
            <a:r>
              <a:rPr sz="850" b="1" i="0">
                <a:solidFill>
                  <a:srgbClr val="1B3A6B"/>
                </a:solidFill>
                <a:latin typeface="Calibri"/>
              </a:rPr>
              <a:t>Innovation</a:t>
            </a:r>
          </a:p>
        </p:txBody>
      </p:sp>
      <p:sp>
        <p:nvSpPr>
          <p:cNvPr id="20" name="TextBox 19"/>
          <p:cNvSpPr txBox="1"/>
          <p:nvPr/>
        </p:nvSpPr>
        <p:spPr>
          <a:xfrm>
            <a:off x="503999" y="2880000"/>
            <a:ext cx="3931200" cy="327600"/>
          </a:xfrm>
          <a:prstGeom prst="rect">
            <a:avLst/>
          </a:prstGeom>
          <a:noFill/>
        </p:spPr>
        <p:txBody>
          <a:bodyPr wrap="square">
            <a:spAutoFit/>
          </a:bodyPr>
          <a:lstStyle/>
          <a:p>
            <a:pPr algn="l"/>
            <a:r>
              <a:rPr sz="750" b="0" i="0">
                <a:solidFill>
                  <a:srgbClr val="333333"/>
                </a:solidFill>
                <a:latin typeface="Calibri"/>
              </a:rPr>
              <a:t>L'expansion de l'écosystème d'Apple devrait atteindre 500 millions d'utilisateurs actifs d'ici 2029</a:t>
            </a:r>
          </a:p>
        </p:txBody>
      </p:sp>
      <p:sp>
        <p:nvSpPr>
          <p:cNvPr id="21" name="Rectangle 20"/>
          <p:cNvSpPr/>
          <p:nvPr/>
        </p:nvSpPr>
        <p:spPr>
          <a:xfrm>
            <a:off x="4708800" y="1353600"/>
            <a:ext cx="4068000" cy="255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08800" y="1353600"/>
            <a:ext cx="4068000" cy="255600"/>
          </a:xfrm>
          <a:prstGeom prst="rect">
            <a:avLst/>
          </a:prstGeom>
          <a:noFill/>
        </p:spPr>
        <p:txBody>
          <a:bodyPr wrap="square">
            <a:spAutoFit/>
          </a:bodyPr>
          <a:lstStyle/>
          <a:p>
            <a:pPr algn="l"/>
            <a:r>
              <a:rPr sz="900" b="1" i="0">
                <a:solidFill>
                  <a:srgbClr val="FFFFFF"/>
                </a:solidFill>
                <a:latin typeface="Calibri"/>
              </a:rPr>
              <a:t>RISQUES PRINCIPAUX</a:t>
            </a:r>
          </a:p>
        </p:txBody>
      </p:sp>
      <p:sp>
        <p:nvSpPr>
          <p:cNvPr id="23" name="Rectangle 22"/>
          <p:cNvSpPr/>
          <p:nvPr/>
        </p:nvSpPr>
        <p:spPr>
          <a:xfrm>
            <a:off x="4708800" y="16632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45600" y="1645200"/>
            <a:ext cx="3794399" cy="183600"/>
          </a:xfrm>
          <a:prstGeom prst="rect">
            <a:avLst/>
          </a:prstGeom>
          <a:noFill/>
        </p:spPr>
        <p:txBody>
          <a:bodyPr wrap="square">
            <a:spAutoFit/>
          </a:bodyPr>
          <a:lstStyle/>
          <a:p>
            <a:pPr algn="l"/>
            <a:r>
              <a:rPr sz="850" b="1" i="0">
                <a:solidFill>
                  <a:srgbClr val="1B3A6B"/>
                </a:solidFill>
                <a:latin typeface="Calibri"/>
              </a:rPr>
              <a:t>Concurrence accrue</a:t>
            </a:r>
          </a:p>
        </p:txBody>
      </p:sp>
      <p:sp>
        <p:nvSpPr>
          <p:cNvPr id="25" name="TextBox 24"/>
          <p:cNvSpPr txBox="1"/>
          <p:nvPr/>
        </p:nvSpPr>
        <p:spPr>
          <a:xfrm>
            <a:off x="4845600" y="1814400"/>
            <a:ext cx="3794399" cy="327600"/>
          </a:xfrm>
          <a:prstGeom prst="rect">
            <a:avLst/>
          </a:prstGeom>
          <a:noFill/>
        </p:spPr>
        <p:txBody>
          <a:bodyPr wrap="square">
            <a:spAutoFit/>
          </a:bodyPr>
          <a:lstStyle/>
          <a:p>
            <a:pPr algn="l"/>
            <a:r>
              <a:rPr sz="750" b="0" i="0">
                <a:solidFill>
                  <a:srgbClr val="333333"/>
                </a:solidFill>
                <a:latin typeface="Calibri"/>
              </a:rPr>
              <a:t>Concurrence accrue</a:t>
            </a:r>
          </a:p>
        </p:txBody>
      </p:sp>
      <p:sp>
        <p:nvSpPr>
          <p:cNvPr id="26" name="Rectangle 25"/>
          <p:cNvSpPr/>
          <p:nvPr/>
        </p:nvSpPr>
        <p:spPr>
          <a:xfrm>
            <a:off x="4708800" y="21960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45600" y="2178000"/>
            <a:ext cx="3794399" cy="183600"/>
          </a:xfrm>
          <a:prstGeom prst="rect">
            <a:avLst/>
          </a:prstGeom>
          <a:noFill/>
        </p:spPr>
        <p:txBody>
          <a:bodyPr wrap="square">
            <a:spAutoFit/>
          </a:bodyPr>
          <a:lstStyle/>
          <a:p>
            <a:pPr algn="l"/>
            <a:r>
              <a:rPr sz="850" b="1" i="0">
                <a:solidFill>
                  <a:srgbClr val="1B3A6B"/>
                </a:solidFill>
                <a:latin typeface="Calibri"/>
              </a:rPr>
              <a:t>Dépendance aux smartphones</a:t>
            </a:r>
          </a:p>
        </p:txBody>
      </p:sp>
      <p:sp>
        <p:nvSpPr>
          <p:cNvPr id="28" name="TextBox 27"/>
          <p:cNvSpPr txBox="1"/>
          <p:nvPr/>
        </p:nvSpPr>
        <p:spPr>
          <a:xfrm>
            <a:off x="4845600" y="2347200"/>
            <a:ext cx="3794399" cy="327600"/>
          </a:xfrm>
          <a:prstGeom prst="rect">
            <a:avLst/>
          </a:prstGeom>
          <a:noFill/>
        </p:spPr>
        <p:txBody>
          <a:bodyPr wrap="square">
            <a:spAutoFit/>
          </a:bodyPr>
          <a:lstStyle/>
          <a:p>
            <a:pPr algn="l"/>
            <a:r>
              <a:rPr sz="750" b="0" i="0">
                <a:solidFill>
                  <a:srgbClr val="333333"/>
                </a:solidFill>
                <a:latin typeface="Calibri"/>
              </a:rPr>
              <a:t>Risques politiques</a:t>
            </a:r>
          </a:p>
        </p:txBody>
      </p:sp>
      <p:sp>
        <p:nvSpPr>
          <p:cNvPr id="29" name="Rectangle 28"/>
          <p:cNvSpPr/>
          <p:nvPr/>
        </p:nvSpPr>
        <p:spPr>
          <a:xfrm>
            <a:off x="4708800" y="27288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45600" y="2710800"/>
            <a:ext cx="3794399" cy="183600"/>
          </a:xfrm>
          <a:prstGeom prst="rect">
            <a:avLst/>
          </a:prstGeom>
          <a:noFill/>
        </p:spPr>
        <p:txBody>
          <a:bodyPr wrap="square">
            <a:spAutoFit/>
          </a:bodyPr>
          <a:lstStyle/>
          <a:p>
            <a:pPr algn="l"/>
            <a:r>
              <a:rPr sz="850" b="1" i="0">
                <a:solidFill>
                  <a:srgbClr val="1B3A6B"/>
                </a:solidFill>
                <a:latin typeface="Calibri"/>
              </a:rPr>
              <a:t>Risques politiques</a:t>
            </a:r>
          </a:p>
        </p:txBody>
      </p:sp>
      <p:sp>
        <p:nvSpPr>
          <p:cNvPr id="31" name="TextBox 30"/>
          <p:cNvSpPr txBox="1"/>
          <p:nvPr/>
        </p:nvSpPr>
        <p:spPr>
          <a:xfrm>
            <a:off x="4845600" y="2880000"/>
            <a:ext cx="3794399" cy="327600"/>
          </a:xfrm>
          <a:prstGeom prst="rect">
            <a:avLst/>
          </a:prstGeom>
          <a:noFill/>
        </p:spPr>
        <p:txBody>
          <a:bodyPr wrap="square">
            <a:spAutoFit/>
          </a:bodyPr>
          <a:lstStyle/>
          <a:p>
            <a:pPr algn="l"/>
            <a:r>
              <a:rPr sz="750" b="0" i="0">
                <a:solidFill>
                  <a:srgbClr val="333333"/>
                </a:solidFill>
                <a:latin typeface="Calibri"/>
              </a:rPr>
              <a:t>Dépendance aux smartphones</a:t>
            </a:r>
          </a:p>
        </p:txBody>
      </p:sp>
      <p:sp>
        <p:nvSpPr>
          <p:cNvPr id="32" name="Rectangle 31"/>
          <p:cNvSpPr/>
          <p:nvPr/>
        </p:nvSpPr>
        <p:spPr>
          <a:xfrm>
            <a:off x="4525200" y="1353600"/>
            <a:ext cx="10800" cy="17424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33012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672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672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57200" y="3430800"/>
            <a:ext cx="1893600" cy="396000"/>
          </a:xfrm>
          <a:prstGeom prst="rect">
            <a:avLst/>
          </a:prstGeom>
          <a:noFill/>
        </p:spPr>
        <p:txBody>
          <a:bodyPr wrap="square">
            <a:spAutoFit/>
          </a:bodyPr>
          <a:lstStyle/>
          <a:p>
            <a:pPr algn="l"/>
            <a:r>
              <a:rPr sz="1900" b="1" i="0">
                <a:solidFill>
                  <a:srgbClr val="1B3A6B"/>
                </a:solidFill>
                <a:latin typeface="Calibri"/>
              </a:rPr>
              <a:t>26,1x</a:t>
            </a:r>
          </a:p>
        </p:txBody>
      </p:sp>
      <p:sp>
        <p:nvSpPr>
          <p:cNvPr id="37" name="TextBox 36"/>
          <p:cNvSpPr txBox="1"/>
          <p:nvPr/>
        </p:nvSpPr>
        <p:spPr>
          <a:xfrm>
            <a:off x="457200" y="3826800"/>
            <a:ext cx="1893600" cy="205199"/>
          </a:xfrm>
          <a:prstGeom prst="rect">
            <a:avLst/>
          </a:prstGeom>
          <a:noFill/>
        </p:spPr>
        <p:txBody>
          <a:bodyPr wrap="square">
            <a:spAutoFit/>
          </a:bodyPr>
          <a:lstStyle/>
          <a:p>
            <a:pPr algn="l"/>
            <a:r>
              <a:rPr sz="800" b="0" i="0">
                <a:solidFill>
                  <a:srgbClr val="555555"/>
                </a:solidFill>
                <a:latin typeface="Calibri"/>
              </a:rPr>
              <a:t>EV/EBITDA</a:t>
            </a:r>
          </a:p>
        </p:txBody>
      </p:sp>
      <p:sp>
        <p:nvSpPr>
          <p:cNvPr id="38" name="TextBox 37"/>
          <p:cNvSpPr txBox="1"/>
          <p:nvPr/>
        </p:nvSpPr>
        <p:spPr>
          <a:xfrm>
            <a:off x="457200" y="4024800"/>
            <a:ext cx="1893600" cy="165600"/>
          </a:xfrm>
          <a:prstGeom prst="rect">
            <a:avLst/>
          </a:prstGeom>
          <a:noFill/>
        </p:spPr>
        <p:txBody>
          <a:bodyPr wrap="square">
            <a:spAutoFit/>
          </a:bodyPr>
          <a:lstStyle/>
          <a:p>
            <a:pPr algn="l"/>
            <a:r>
              <a:rPr sz="700" b="0" i="0">
                <a:solidFill>
                  <a:srgbClr val="888888"/>
                </a:solidFill>
                <a:latin typeface="Calibri"/>
              </a:rPr>
              <a:t>vs 20,5x médiane peers</a:t>
            </a:r>
          </a:p>
        </p:txBody>
      </p:sp>
      <p:sp>
        <p:nvSpPr>
          <p:cNvPr id="39" name="Rectangle 38"/>
          <p:cNvSpPr/>
          <p:nvPr/>
        </p:nvSpPr>
        <p:spPr>
          <a:xfrm>
            <a:off x="24876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24876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577600" y="3430800"/>
            <a:ext cx="1893600" cy="396000"/>
          </a:xfrm>
          <a:prstGeom prst="rect">
            <a:avLst/>
          </a:prstGeom>
          <a:noFill/>
        </p:spPr>
        <p:txBody>
          <a:bodyPr wrap="square">
            <a:spAutoFit/>
          </a:bodyPr>
          <a:lstStyle/>
          <a:p>
            <a:pPr algn="l"/>
            <a:r>
              <a:rPr sz="1900" b="1" i="0">
                <a:solidFill>
                  <a:srgbClr val="1B3A6B"/>
                </a:solidFill>
                <a:latin typeface="Calibri"/>
              </a:rPr>
              <a:t>10,3 %</a:t>
            </a:r>
          </a:p>
        </p:txBody>
      </p:sp>
      <p:sp>
        <p:nvSpPr>
          <p:cNvPr id="42" name="TextBox 41"/>
          <p:cNvSpPr txBox="1"/>
          <p:nvPr/>
        </p:nvSpPr>
        <p:spPr>
          <a:xfrm>
            <a:off x="2577600" y="3826800"/>
            <a:ext cx="1893600" cy="205199"/>
          </a:xfrm>
          <a:prstGeom prst="rect">
            <a:avLst/>
          </a:prstGeom>
          <a:noFill/>
        </p:spPr>
        <p:txBody>
          <a:bodyPr wrap="square">
            <a:spAutoFit/>
          </a:bodyPr>
          <a:lstStyle/>
          <a:p>
            <a:pPr algn="l"/>
            <a:r>
              <a:rPr sz="800" b="0" i="0">
                <a:solidFill>
                  <a:srgbClr val="555555"/>
                </a:solidFill>
                <a:latin typeface="Calibri"/>
              </a:rPr>
              <a:t>WACC</a:t>
            </a:r>
          </a:p>
        </p:txBody>
      </p:sp>
      <p:sp>
        <p:nvSpPr>
          <p:cNvPr id="43" name="TextBox 42"/>
          <p:cNvSpPr txBox="1"/>
          <p:nvPr/>
        </p:nvSpPr>
        <p:spPr>
          <a:xfrm>
            <a:off x="2577600" y="4024800"/>
            <a:ext cx="1893600" cy="165600"/>
          </a:xfrm>
          <a:prstGeom prst="rect">
            <a:avLst/>
          </a:prstGeom>
          <a:noFill/>
        </p:spPr>
        <p:txBody>
          <a:bodyPr wrap="square">
            <a:spAutoFit/>
          </a:bodyPr>
          <a:lstStyle/>
          <a:p>
            <a:pPr algn="l"/>
            <a:r>
              <a:rPr sz="700" b="0" i="0">
                <a:solidFill>
                  <a:srgbClr val="888888"/>
                </a:solidFill>
                <a:latin typeface="Calibri"/>
              </a:rPr>
              <a:t>Beta 1,12  ·  RFR 4,3 %</a:t>
            </a:r>
          </a:p>
        </p:txBody>
      </p:sp>
      <p:sp>
        <p:nvSpPr>
          <p:cNvPr id="44" name="Rectangle 43"/>
          <p:cNvSpPr/>
          <p:nvPr/>
        </p:nvSpPr>
        <p:spPr>
          <a:xfrm>
            <a:off x="46080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46080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698000" y="3430800"/>
            <a:ext cx="1893600" cy="396000"/>
          </a:xfrm>
          <a:prstGeom prst="rect">
            <a:avLst/>
          </a:prstGeom>
          <a:noFill/>
        </p:spPr>
        <p:txBody>
          <a:bodyPr wrap="square">
            <a:spAutoFit/>
          </a:bodyPr>
          <a:lstStyle/>
          <a:p>
            <a:pPr algn="l"/>
            <a:r>
              <a:rPr sz="1900" b="1" i="0">
                <a:solidFill>
                  <a:srgbClr val="1B3A6B"/>
                </a:solidFill>
                <a:latin typeface="Calibri"/>
              </a:rPr>
              <a:t>280 $</a:t>
            </a:r>
          </a:p>
        </p:txBody>
      </p:sp>
      <p:sp>
        <p:nvSpPr>
          <p:cNvPr id="47" name="TextBox 46"/>
          <p:cNvSpPr txBox="1"/>
          <p:nvPr/>
        </p:nvSpPr>
        <p:spPr>
          <a:xfrm>
            <a:off x="4698000" y="3826800"/>
            <a:ext cx="1893600" cy="205199"/>
          </a:xfrm>
          <a:prstGeom prst="rect">
            <a:avLst/>
          </a:prstGeom>
          <a:noFill/>
        </p:spPr>
        <p:txBody>
          <a:bodyPr wrap="square">
            <a:spAutoFit/>
          </a:bodyPr>
          <a:lstStyle/>
          <a:p>
            <a:pPr algn="l"/>
            <a:r>
              <a:rPr sz="800" b="0" i="0">
                <a:solidFill>
                  <a:srgbClr val="555555"/>
                </a:solidFill>
                <a:latin typeface="Calibri"/>
              </a:rPr>
              <a:t>Valeur intrinseque DCF</a:t>
            </a:r>
          </a:p>
        </p:txBody>
      </p:sp>
      <p:sp>
        <p:nvSpPr>
          <p:cNvPr id="48" name="TextBox 47"/>
          <p:cNvSpPr txBox="1"/>
          <p:nvPr/>
        </p:nvSpPr>
        <p:spPr>
          <a:xfrm>
            <a:off x="4698000" y="4024800"/>
            <a:ext cx="1893600" cy="165600"/>
          </a:xfrm>
          <a:prstGeom prst="rect">
            <a:avLst/>
          </a:prstGeom>
          <a:noFill/>
        </p:spPr>
        <p:txBody>
          <a:bodyPr wrap="square">
            <a:spAutoFit/>
          </a:bodyPr>
          <a:lstStyle/>
          <a:p>
            <a:pPr algn="l"/>
            <a:r>
              <a:rPr sz="700" b="0" i="0">
                <a:solidFill>
                  <a:srgbClr val="888888"/>
                </a:solidFill>
                <a:latin typeface="Calibri"/>
              </a:rPr>
              <a:t>Upside de +10,7 % vs cours</a:t>
            </a:r>
          </a:p>
        </p:txBody>
      </p:sp>
      <p:sp>
        <p:nvSpPr>
          <p:cNvPr id="49" name="Rectangle 48"/>
          <p:cNvSpPr/>
          <p:nvPr/>
        </p:nvSpPr>
        <p:spPr>
          <a:xfrm>
            <a:off x="67284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67284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818400" y="3430800"/>
            <a:ext cx="1893600" cy="396000"/>
          </a:xfrm>
          <a:prstGeom prst="rect">
            <a:avLst/>
          </a:prstGeom>
          <a:noFill/>
        </p:spPr>
        <p:txBody>
          <a:bodyPr wrap="square">
            <a:spAutoFit/>
          </a:bodyPr>
          <a:lstStyle/>
          <a:p>
            <a:pPr algn="l"/>
            <a:r>
              <a:rPr sz="1900" b="1" i="0">
                <a:solidFill>
                  <a:srgbClr val="1B3A6B"/>
                </a:solidFill>
                <a:latin typeface="Calibri"/>
              </a:rPr>
              <a:t>+0,035</a:t>
            </a:r>
          </a:p>
        </p:txBody>
      </p:sp>
      <p:sp>
        <p:nvSpPr>
          <p:cNvPr id="52" name="TextBox 51"/>
          <p:cNvSpPr txBox="1"/>
          <p:nvPr/>
        </p:nvSpPr>
        <p:spPr>
          <a:xfrm>
            <a:off x="6818400" y="3826800"/>
            <a:ext cx="1893600" cy="205199"/>
          </a:xfrm>
          <a:prstGeom prst="rect">
            <a:avLst/>
          </a:prstGeom>
          <a:noFill/>
        </p:spPr>
        <p:txBody>
          <a:bodyPr wrap="square">
            <a:spAutoFit/>
          </a:bodyPr>
          <a:lstStyle/>
          <a:p>
            <a:pPr algn="l"/>
            <a:r>
              <a:rPr sz="800" b="0" i="0">
                <a:solidFill>
                  <a:srgbClr val="555555"/>
                </a:solidFill>
                <a:latin typeface="Calibri"/>
              </a:rPr>
              <a:t>Sentiment FinBERT</a:t>
            </a:r>
          </a:p>
        </p:txBody>
      </p:sp>
      <p:sp>
        <p:nvSpPr>
          <p:cNvPr id="53" name="TextBox 52"/>
          <p:cNvSpPr txBox="1"/>
          <p:nvPr/>
        </p:nvSpPr>
        <p:spPr>
          <a:xfrm>
            <a:off x="6818400" y="4024800"/>
            <a:ext cx="1893600" cy="165600"/>
          </a:xfrm>
          <a:prstGeom prst="rect">
            <a:avLst/>
          </a:prstGeom>
          <a:noFill/>
        </p:spPr>
        <p:txBody>
          <a:bodyPr wrap="square">
            <a:spAutoFit/>
          </a:bodyPr>
          <a:lstStyle/>
          <a:p>
            <a:pPr algn="l"/>
            <a:r>
              <a:rPr sz="700" b="0" i="0">
                <a:solidFill>
                  <a:srgbClr val="888888"/>
                </a:solidFill>
                <a:latin typeface="Calibri"/>
              </a:rPr>
              <a:t>Neutre +  ·  30 articles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Sommaire</a:t>
            </a:r>
          </a:p>
        </p:txBody>
      </p:sp>
      <p:sp>
        <p:nvSpPr>
          <p:cNvPr id="6" name="Rectangle 5"/>
          <p:cNvSpPr/>
          <p:nvPr/>
        </p:nvSpPr>
        <p:spPr>
          <a:xfrm>
            <a:off x="367200" y="8964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8964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950400"/>
            <a:ext cx="475200" cy="514800"/>
          </a:xfrm>
          <a:prstGeom prst="rect">
            <a:avLst/>
          </a:prstGeom>
          <a:noFill/>
        </p:spPr>
        <p:txBody>
          <a:bodyPr wrap="square">
            <a:spAutoFit/>
          </a:bodyPr>
          <a:lstStyle/>
          <a:p>
            <a:pPr algn="l"/>
            <a:r>
              <a:rPr sz="1700" b="1" i="0">
                <a:solidFill>
                  <a:srgbClr val="888888"/>
                </a:solidFill>
                <a:latin typeface="Calibri"/>
              </a:rPr>
              <a:t>01</a:t>
            </a:r>
          </a:p>
        </p:txBody>
      </p:sp>
      <p:sp>
        <p:nvSpPr>
          <p:cNvPr id="9" name="TextBox 8"/>
          <p:cNvSpPr txBox="1"/>
          <p:nvPr/>
        </p:nvSpPr>
        <p:spPr>
          <a:xfrm>
            <a:off x="1152000" y="968400"/>
            <a:ext cx="6120000" cy="255600"/>
          </a:xfrm>
          <a:prstGeom prst="rect">
            <a:avLst/>
          </a:prstGeom>
          <a:noFill/>
        </p:spPr>
        <p:txBody>
          <a:bodyPr wrap="square">
            <a:spAutoFit/>
          </a:bodyPr>
          <a:lstStyle/>
          <a:p>
            <a:pPr algn="l"/>
            <a:r>
              <a:rPr sz="1300" b="1" i="0">
                <a:solidFill>
                  <a:srgbClr val="1B3A6B"/>
                </a:solidFill>
                <a:latin typeface="Calibri"/>
              </a:rPr>
              <a:t>Company Overview</a:t>
            </a:r>
          </a:p>
        </p:txBody>
      </p:sp>
      <p:sp>
        <p:nvSpPr>
          <p:cNvPr id="10" name="TextBox 9"/>
          <p:cNvSpPr txBox="1"/>
          <p:nvPr/>
        </p:nvSpPr>
        <p:spPr>
          <a:xfrm>
            <a:off x="1152000" y="1202400"/>
            <a:ext cx="6120000" cy="255600"/>
          </a:xfrm>
          <a:prstGeom prst="rect">
            <a:avLst/>
          </a:prstGeom>
          <a:noFill/>
        </p:spPr>
        <p:txBody>
          <a:bodyPr wrap="square">
            <a:spAutoFit/>
          </a:bodyPr>
          <a:lstStyle/>
          <a:p>
            <a:pPr algn="l"/>
            <a:r>
              <a:rPr sz="850" b="0" i="0">
                <a:solidFill>
                  <a:srgbClr val="555555"/>
                </a:solidFill>
                <a:latin typeface="Calibri"/>
              </a:rPr>
              <a:t>Apple Inc.  ·  Technology</a:t>
            </a:r>
          </a:p>
        </p:txBody>
      </p:sp>
      <p:sp>
        <p:nvSpPr>
          <p:cNvPr id="11" name="TextBox 10"/>
          <p:cNvSpPr txBox="1"/>
          <p:nvPr/>
        </p:nvSpPr>
        <p:spPr>
          <a:xfrm>
            <a:off x="7405200" y="1058400"/>
            <a:ext cx="1375200" cy="255600"/>
          </a:xfrm>
          <a:prstGeom prst="rect">
            <a:avLst/>
          </a:prstGeom>
          <a:noFill/>
        </p:spPr>
        <p:txBody>
          <a:bodyPr wrap="square">
            <a:spAutoFit/>
          </a:bodyPr>
          <a:lstStyle/>
          <a:p>
            <a:pPr algn="r"/>
            <a:r>
              <a:rPr sz="900" b="0" i="0">
                <a:solidFill>
                  <a:srgbClr val="2E5FA3"/>
                </a:solidFill>
                <a:latin typeface="Calibri"/>
              </a:rPr>
              <a:t>3–5</a:t>
            </a:r>
          </a:p>
        </p:txBody>
      </p:sp>
      <p:sp>
        <p:nvSpPr>
          <p:cNvPr id="12" name="Rectangle 11"/>
          <p:cNvSpPr/>
          <p:nvPr/>
        </p:nvSpPr>
        <p:spPr>
          <a:xfrm>
            <a:off x="367200" y="15912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7200" y="15912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3999" y="1645200"/>
            <a:ext cx="475200" cy="514800"/>
          </a:xfrm>
          <a:prstGeom prst="rect">
            <a:avLst/>
          </a:prstGeom>
          <a:noFill/>
        </p:spPr>
        <p:txBody>
          <a:bodyPr wrap="square">
            <a:spAutoFit/>
          </a:bodyPr>
          <a:lstStyle/>
          <a:p>
            <a:pPr algn="l"/>
            <a:r>
              <a:rPr sz="1700" b="1" i="0">
                <a:solidFill>
                  <a:srgbClr val="888888"/>
                </a:solidFill>
                <a:latin typeface="Calibri"/>
              </a:rPr>
              <a:t>02</a:t>
            </a:r>
          </a:p>
        </p:txBody>
      </p:sp>
      <p:sp>
        <p:nvSpPr>
          <p:cNvPr id="15" name="TextBox 14"/>
          <p:cNvSpPr txBox="1"/>
          <p:nvPr/>
        </p:nvSpPr>
        <p:spPr>
          <a:xfrm>
            <a:off x="1152000" y="1663200"/>
            <a:ext cx="6120000" cy="255600"/>
          </a:xfrm>
          <a:prstGeom prst="rect">
            <a:avLst/>
          </a:prstGeom>
          <a:noFill/>
        </p:spPr>
        <p:txBody>
          <a:bodyPr wrap="square">
            <a:spAutoFit/>
          </a:bodyPr>
          <a:lstStyle/>
          <a:p>
            <a:pPr algn="l"/>
            <a:r>
              <a:rPr sz="1300" b="1" i="0">
                <a:solidFill>
                  <a:srgbClr val="1B3A6B"/>
                </a:solidFill>
                <a:latin typeface="Calibri"/>
              </a:rPr>
              <a:t>Analyse Financière</a:t>
            </a:r>
          </a:p>
        </p:txBody>
      </p:sp>
      <p:sp>
        <p:nvSpPr>
          <p:cNvPr id="16" name="TextBox 15"/>
          <p:cNvSpPr txBox="1"/>
          <p:nvPr/>
        </p:nvSpPr>
        <p:spPr>
          <a:xfrm>
            <a:off x="1152000" y="1897199"/>
            <a:ext cx="6120000" cy="255600"/>
          </a:xfrm>
          <a:prstGeom prst="rect">
            <a:avLst/>
          </a:prstGeom>
          <a:noFill/>
        </p:spPr>
        <p:txBody>
          <a:bodyPr wrap="square">
            <a:spAutoFit/>
          </a:bodyPr>
          <a:lstStyle/>
          <a:p>
            <a:pPr algn="l"/>
            <a:r>
              <a:rPr sz="850" b="0" i="0">
                <a:solidFill>
                  <a:srgbClr val="555555"/>
                </a:solidFill>
                <a:latin typeface="Calibri"/>
              </a:rPr>
              <a:t>Compte de résultat, bilan &amp; liquidité, ratios</a:t>
            </a:r>
          </a:p>
        </p:txBody>
      </p:sp>
      <p:sp>
        <p:nvSpPr>
          <p:cNvPr id="17" name="TextBox 16"/>
          <p:cNvSpPr txBox="1"/>
          <p:nvPr/>
        </p:nvSpPr>
        <p:spPr>
          <a:xfrm>
            <a:off x="7405200" y="1753200"/>
            <a:ext cx="1375200" cy="255600"/>
          </a:xfrm>
          <a:prstGeom prst="rect">
            <a:avLst/>
          </a:prstGeom>
          <a:noFill/>
        </p:spPr>
        <p:txBody>
          <a:bodyPr wrap="square">
            <a:spAutoFit/>
          </a:bodyPr>
          <a:lstStyle/>
          <a:p>
            <a:pPr algn="r"/>
            <a:r>
              <a:rPr sz="900" b="0" i="0">
                <a:solidFill>
                  <a:srgbClr val="2E5FA3"/>
                </a:solidFill>
                <a:latin typeface="Calibri"/>
              </a:rPr>
              <a:t>6–8</a:t>
            </a:r>
          </a:p>
        </p:txBody>
      </p:sp>
      <p:sp>
        <p:nvSpPr>
          <p:cNvPr id="18" name="Rectangle 17"/>
          <p:cNvSpPr/>
          <p:nvPr/>
        </p:nvSpPr>
        <p:spPr>
          <a:xfrm>
            <a:off x="367200" y="22860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22860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3999" y="2340000"/>
            <a:ext cx="475200" cy="514800"/>
          </a:xfrm>
          <a:prstGeom prst="rect">
            <a:avLst/>
          </a:prstGeom>
          <a:noFill/>
        </p:spPr>
        <p:txBody>
          <a:bodyPr wrap="square">
            <a:spAutoFit/>
          </a:bodyPr>
          <a:lstStyle/>
          <a:p>
            <a:pPr algn="l"/>
            <a:r>
              <a:rPr sz="1700" b="1" i="0">
                <a:solidFill>
                  <a:srgbClr val="888888"/>
                </a:solidFill>
                <a:latin typeface="Calibri"/>
              </a:rPr>
              <a:t>03</a:t>
            </a:r>
          </a:p>
        </p:txBody>
      </p:sp>
      <p:sp>
        <p:nvSpPr>
          <p:cNvPr id="21" name="TextBox 20"/>
          <p:cNvSpPr txBox="1"/>
          <p:nvPr/>
        </p:nvSpPr>
        <p:spPr>
          <a:xfrm>
            <a:off x="1152000" y="2358000"/>
            <a:ext cx="6120000" cy="255600"/>
          </a:xfrm>
          <a:prstGeom prst="rect">
            <a:avLst/>
          </a:prstGeom>
          <a:noFill/>
        </p:spPr>
        <p:txBody>
          <a:bodyPr wrap="square">
            <a:spAutoFit/>
          </a:bodyPr>
          <a:lstStyle/>
          <a:p>
            <a:pPr algn="l"/>
            <a:r>
              <a:rPr sz="1300" b="1" i="0">
                <a:solidFill>
                  <a:srgbClr val="1B3A6B"/>
                </a:solidFill>
                <a:latin typeface="Calibri"/>
              </a:rPr>
              <a:t>Valorisation</a:t>
            </a:r>
          </a:p>
        </p:txBody>
      </p:sp>
      <p:sp>
        <p:nvSpPr>
          <p:cNvPr id="22" name="TextBox 21"/>
          <p:cNvSpPr txBox="1"/>
          <p:nvPr/>
        </p:nvSpPr>
        <p:spPr>
          <a:xfrm>
            <a:off x="1152000" y="2591999"/>
            <a:ext cx="6120000" cy="255600"/>
          </a:xfrm>
          <a:prstGeom prst="rect">
            <a:avLst/>
          </a:prstGeom>
          <a:noFill/>
        </p:spPr>
        <p:txBody>
          <a:bodyPr wrap="square">
            <a:spAutoFit/>
          </a:bodyPr>
          <a:lstStyle/>
          <a:p>
            <a:pPr algn="l"/>
            <a:r>
              <a:rPr sz="850" b="0" i="0">
                <a:solidFill>
                  <a:srgbClr val="555555"/>
                </a:solidFill>
                <a:latin typeface="Calibri"/>
              </a:rPr>
              <a:t>DCF, comparable peers, Football Field</a:t>
            </a:r>
          </a:p>
        </p:txBody>
      </p:sp>
      <p:sp>
        <p:nvSpPr>
          <p:cNvPr id="23" name="TextBox 22"/>
          <p:cNvSpPr txBox="1"/>
          <p:nvPr/>
        </p:nvSpPr>
        <p:spPr>
          <a:xfrm>
            <a:off x="7405200" y="2448000"/>
            <a:ext cx="1375200" cy="255600"/>
          </a:xfrm>
          <a:prstGeom prst="rect">
            <a:avLst/>
          </a:prstGeom>
          <a:noFill/>
        </p:spPr>
        <p:txBody>
          <a:bodyPr wrap="square">
            <a:spAutoFit/>
          </a:bodyPr>
          <a:lstStyle/>
          <a:p>
            <a:pPr algn="r"/>
            <a:r>
              <a:rPr sz="900" b="0" i="0">
                <a:solidFill>
                  <a:srgbClr val="2E5FA3"/>
                </a:solidFill>
                <a:latin typeface="Calibri"/>
              </a:rPr>
              <a:t>9–11</a:t>
            </a:r>
          </a:p>
        </p:txBody>
      </p:sp>
      <p:sp>
        <p:nvSpPr>
          <p:cNvPr id="24" name="Rectangle 23"/>
          <p:cNvSpPr/>
          <p:nvPr/>
        </p:nvSpPr>
        <p:spPr>
          <a:xfrm>
            <a:off x="367200" y="29808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67200" y="29808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3999" y="3034800"/>
            <a:ext cx="475200" cy="514800"/>
          </a:xfrm>
          <a:prstGeom prst="rect">
            <a:avLst/>
          </a:prstGeom>
          <a:noFill/>
        </p:spPr>
        <p:txBody>
          <a:bodyPr wrap="square">
            <a:spAutoFit/>
          </a:bodyPr>
          <a:lstStyle/>
          <a:p>
            <a:pPr algn="l"/>
            <a:r>
              <a:rPr sz="1700" b="1" i="0">
                <a:solidFill>
                  <a:srgbClr val="888888"/>
                </a:solidFill>
                <a:latin typeface="Calibri"/>
              </a:rPr>
              <a:t>04</a:t>
            </a:r>
          </a:p>
        </p:txBody>
      </p:sp>
      <p:sp>
        <p:nvSpPr>
          <p:cNvPr id="27" name="TextBox 26"/>
          <p:cNvSpPr txBox="1"/>
          <p:nvPr/>
        </p:nvSpPr>
        <p:spPr>
          <a:xfrm>
            <a:off x="1152000" y="3052799"/>
            <a:ext cx="6120000" cy="255600"/>
          </a:xfrm>
          <a:prstGeom prst="rect">
            <a:avLst/>
          </a:prstGeom>
          <a:noFill/>
        </p:spPr>
        <p:txBody>
          <a:bodyPr wrap="square">
            <a:spAutoFit/>
          </a:bodyPr>
          <a:lstStyle/>
          <a:p>
            <a:pPr algn="l"/>
            <a:r>
              <a:rPr sz="1300" b="1" i="0">
                <a:solidFill>
                  <a:srgbClr val="1B3A6B"/>
                </a:solidFill>
                <a:latin typeface="Calibri"/>
              </a:rPr>
              <a:t>Risques &amp; Stratégie</a:t>
            </a:r>
          </a:p>
        </p:txBody>
      </p:sp>
      <p:sp>
        <p:nvSpPr>
          <p:cNvPr id="28" name="TextBox 27"/>
          <p:cNvSpPr txBox="1"/>
          <p:nvPr/>
        </p:nvSpPr>
        <p:spPr>
          <a:xfrm>
            <a:off x="1152000" y="3286799"/>
            <a:ext cx="6120000" cy="255600"/>
          </a:xfrm>
          <a:prstGeom prst="rect">
            <a:avLst/>
          </a:prstGeom>
          <a:noFill/>
        </p:spPr>
        <p:txBody>
          <a:bodyPr wrap="square">
            <a:spAutoFit/>
          </a:bodyPr>
          <a:lstStyle/>
          <a:p>
            <a:pPr algn="l"/>
            <a:r>
              <a:rPr sz="850" b="0" i="0">
                <a:solidFill>
                  <a:srgbClr val="555555"/>
                </a:solidFill>
                <a:latin typeface="Calibri"/>
              </a:rPr>
              <a:t>Concurrence accrue  ·  Dépendance aux smartphones</a:t>
            </a:r>
          </a:p>
        </p:txBody>
      </p:sp>
      <p:sp>
        <p:nvSpPr>
          <p:cNvPr id="29" name="TextBox 28"/>
          <p:cNvSpPr txBox="1"/>
          <p:nvPr/>
        </p:nvSpPr>
        <p:spPr>
          <a:xfrm>
            <a:off x="7405200" y="3142799"/>
            <a:ext cx="1375200" cy="255600"/>
          </a:xfrm>
          <a:prstGeom prst="rect">
            <a:avLst/>
          </a:prstGeom>
          <a:noFill/>
        </p:spPr>
        <p:txBody>
          <a:bodyPr wrap="square">
            <a:spAutoFit/>
          </a:bodyPr>
          <a:lstStyle/>
          <a:p>
            <a:pPr algn="r"/>
            <a:r>
              <a:rPr sz="900" b="0" i="0">
                <a:solidFill>
                  <a:srgbClr val="2E5FA3"/>
                </a:solidFill>
                <a:latin typeface="Calibri"/>
              </a:rPr>
              <a:t>12–13</a:t>
            </a:r>
          </a:p>
        </p:txBody>
      </p:sp>
      <p:sp>
        <p:nvSpPr>
          <p:cNvPr id="30" name="Rectangle 29"/>
          <p:cNvSpPr/>
          <p:nvPr/>
        </p:nvSpPr>
        <p:spPr>
          <a:xfrm>
            <a:off x="367200" y="36756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7200" y="36756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3999" y="3729600"/>
            <a:ext cx="475200" cy="514800"/>
          </a:xfrm>
          <a:prstGeom prst="rect">
            <a:avLst/>
          </a:prstGeom>
          <a:noFill/>
        </p:spPr>
        <p:txBody>
          <a:bodyPr wrap="square">
            <a:spAutoFit/>
          </a:bodyPr>
          <a:lstStyle/>
          <a:p>
            <a:pPr algn="l"/>
            <a:r>
              <a:rPr sz="1700" b="1" i="0">
                <a:solidFill>
                  <a:srgbClr val="888888"/>
                </a:solidFill>
                <a:latin typeface="Calibri"/>
              </a:rPr>
              <a:t>05</a:t>
            </a:r>
          </a:p>
        </p:txBody>
      </p:sp>
      <p:sp>
        <p:nvSpPr>
          <p:cNvPr id="33" name="TextBox 32"/>
          <p:cNvSpPr txBox="1"/>
          <p:nvPr/>
        </p:nvSpPr>
        <p:spPr>
          <a:xfrm>
            <a:off x="1152000" y="3747600"/>
            <a:ext cx="6120000" cy="255600"/>
          </a:xfrm>
          <a:prstGeom prst="rect">
            <a:avLst/>
          </a:prstGeom>
          <a:noFill/>
        </p:spPr>
        <p:txBody>
          <a:bodyPr wrap="square">
            <a:spAutoFit/>
          </a:bodyPr>
          <a:lstStyle/>
          <a:p>
            <a:pPr algn="l"/>
            <a:r>
              <a:rPr sz="1300" b="1" i="0">
                <a:solidFill>
                  <a:srgbClr val="1B3A6B"/>
                </a:solidFill>
                <a:latin typeface="Calibri"/>
              </a:rPr>
              <a:t>Sentiment &amp; Annexes</a:t>
            </a:r>
          </a:p>
        </p:txBody>
      </p:sp>
      <p:sp>
        <p:nvSpPr>
          <p:cNvPr id="34" name="TextBox 33"/>
          <p:cNvSpPr txBox="1"/>
          <p:nvPr/>
        </p:nvSpPr>
        <p:spPr>
          <a:xfrm>
            <a:off x="1152000" y="3981600"/>
            <a:ext cx="6120000" cy="255600"/>
          </a:xfrm>
          <a:prstGeom prst="rect">
            <a:avLst/>
          </a:prstGeom>
          <a:noFill/>
        </p:spPr>
        <p:txBody>
          <a:bodyPr wrap="square">
            <a:spAutoFit/>
          </a:bodyPr>
          <a:lstStyle/>
          <a:p>
            <a:pPr algn="l"/>
            <a:r>
              <a:rPr sz="850" b="0" i="0">
                <a:solidFill>
                  <a:srgbClr val="555555"/>
                </a:solidFill>
                <a:latin typeface="Calibri"/>
              </a:rPr>
              <a:t>FinBERT, actionnariat &amp; historique de cours</a:t>
            </a:r>
          </a:p>
        </p:txBody>
      </p:sp>
      <p:sp>
        <p:nvSpPr>
          <p:cNvPr id="35" name="TextBox 34"/>
          <p:cNvSpPr txBox="1"/>
          <p:nvPr/>
        </p:nvSpPr>
        <p:spPr>
          <a:xfrm>
            <a:off x="7405200" y="3837600"/>
            <a:ext cx="1375200" cy="255600"/>
          </a:xfrm>
          <a:prstGeom prst="rect">
            <a:avLst/>
          </a:prstGeom>
          <a:noFill/>
        </p:spPr>
        <p:txBody>
          <a:bodyPr wrap="square">
            <a:spAutoFit/>
          </a:bodyPr>
          <a:lstStyle/>
          <a:p>
            <a:pPr algn="r"/>
            <a:r>
              <a:rPr sz="900" b="0" i="0">
                <a:solidFill>
                  <a:srgbClr val="2E5FA3"/>
                </a:solidFill>
                <a:latin typeface="Calibri"/>
              </a:rPr>
              <a:t>14–15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01</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Company Overview</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Présentation, modèle économique &amp; données de marché</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Company Overview</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Apple Inc.  ·  Presentation &amp; Positionnement strategique</a:t>
            </a:r>
          </a:p>
        </p:txBody>
      </p:sp>
      <p:sp>
        <p:nvSpPr>
          <p:cNvPr id="17" name="Rectangle 16"/>
          <p:cNvSpPr/>
          <p:nvPr/>
        </p:nvSpPr>
        <p:spPr>
          <a:xfrm>
            <a:off x="367200" y="961200"/>
            <a:ext cx="4939200" cy="3520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3520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1022400"/>
            <a:ext cx="4662000" cy="1440000"/>
          </a:xfrm>
          <a:prstGeom prst="rect">
            <a:avLst/>
          </a:prstGeom>
          <a:noFill/>
        </p:spPr>
        <p:txBody>
          <a:bodyPr wrap="square">
            <a:spAutoFit/>
          </a:bodyPr>
          <a:lstStyle/>
          <a:p>
            <a:pPr algn="l"/>
            <a:r>
              <a:rPr sz="850" b="0" i="0">
                <a:solidFill>
                  <a:srgbClr val="0D0D0D"/>
                </a:solidFill>
                <a:latin typeface="Calibri"/>
              </a:rPr>
              <a:t>Apple Inc. est un leader mondial dans la conception, la fabrication et la commercialisation de produits électroniques grand public. L'entreprise est positionnée comme un acteur majeur sur le marché des smartphones et des ordinateurs portables. Ses avantages concurrentiels incluent son écosystème intégré, sa marque forte et son innovante gamme de produits. L'entreprise articule son activité autour de deux segments stratégiques :</a:t>
            </a:r>
          </a:p>
        </p:txBody>
      </p:sp>
      <p:sp>
        <p:nvSpPr>
          <p:cNvPr id="20" name="Rectangle 19"/>
          <p:cNvSpPr/>
          <p:nvPr/>
        </p:nvSpPr>
        <p:spPr>
          <a:xfrm>
            <a:off x="503999" y="2599200"/>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9200" y="2556000"/>
            <a:ext cx="4338000" cy="165600"/>
          </a:xfrm>
          <a:prstGeom prst="rect">
            <a:avLst/>
          </a:prstGeom>
          <a:noFill/>
        </p:spPr>
        <p:txBody>
          <a:bodyPr wrap="square">
            <a:spAutoFit/>
          </a:bodyPr>
          <a:lstStyle/>
          <a:p>
            <a:pPr algn="l"/>
            <a:r>
              <a:rPr sz="850" b="1" i="0">
                <a:solidFill>
                  <a:srgbClr val="0D0D0D"/>
                </a:solidFill>
                <a:latin typeface="Calibri"/>
              </a:rPr>
              <a:t>Produits</a:t>
            </a:r>
          </a:p>
        </p:txBody>
      </p:sp>
      <p:sp>
        <p:nvSpPr>
          <p:cNvPr id="22" name="TextBox 21"/>
          <p:cNvSpPr txBox="1"/>
          <p:nvPr/>
        </p:nvSpPr>
        <p:spPr>
          <a:xfrm>
            <a:off x="619200" y="2714400"/>
            <a:ext cx="4338000" cy="144000"/>
          </a:xfrm>
          <a:prstGeom prst="rect">
            <a:avLst/>
          </a:prstGeom>
          <a:noFill/>
        </p:spPr>
        <p:txBody>
          <a:bodyPr wrap="square">
            <a:spAutoFit/>
          </a:bodyPr>
          <a:lstStyle/>
          <a:p>
            <a:pPr algn="l"/>
            <a:r>
              <a:rPr sz="750" b="0" i="1">
                <a:solidFill>
                  <a:srgbClr val="555555"/>
                </a:solidFill>
                <a:latin typeface="Calibri"/>
              </a:rPr>
              <a:t>Les produits d'Apple incluent les iPhone, les Mac, les iPad, les Apple Watch et les AirPods.…</a:t>
            </a:r>
          </a:p>
        </p:txBody>
      </p:sp>
      <p:sp>
        <p:nvSpPr>
          <p:cNvPr id="23" name="Rectangle 22"/>
          <p:cNvSpPr/>
          <p:nvPr/>
        </p:nvSpPr>
        <p:spPr>
          <a:xfrm>
            <a:off x="503999" y="2941199"/>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9200" y="2897999"/>
            <a:ext cx="4338000" cy="165600"/>
          </a:xfrm>
          <a:prstGeom prst="rect">
            <a:avLst/>
          </a:prstGeom>
          <a:noFill/>
        </p:spPr>
        <p:txBody>
          <a:bodyPr wrap="square">
            <a:spAutoFit/>
          </a:bodyPr>
          <a:lstStyle/>
          <a:p>
            <a:pPr algn="l"/>
            <a:r>
              <a:rPr sz="850" b="1" i="0">
                <a:solidFill>
                  <a:srgbClr val="0D0D0D"/>
                </a:solidFill>
                <a:latin typeface="Calibri"/>
              </a:rPr>
              <a:t>Services</a:t>
            </a:r>
          </a:p>
        </p:txBody>
      </p:sp>
      <p:sp>
        <p:nvSpPr>
          <p:cNvPr id="25" name="TextBox 24"/>
          <p:cNvSpPr txBox="1"/>
          <p:nvPr/>
        </p:nvSpPr>
        <p:spPr>
          <a:xfrm>
            <a:off x="619200" y="3056399"/>
            <a:ext cx="4338000" cy="144000"/>
          </a:xfrm>
          <a:prstGeom prst="rect">
            <a:avLst/>
          </a:prstGeom>
          <a:noFill/>
        </p:spPr>
        <p:txBody>
          <a:bodyPr wrap="square">
            <a:spAutoFit/>
          </a:bodyPr>
          <a:lstStyle/>
          <a:p>
            <a:pPr algn="l"/>
            <a:r>
              <a:rPr sz="750" b="0" i="1">
                <a:solidFill>
                  <a:srgbClr val="555555"/>
                </a:solidFill>
                <a:latin typeface="Calibri"/>
              </a:rPr>
              <a:t>Les services d'Apple incluent la musique, les films, les applications et les abonnements.…</a:t>
            </a:r>
          </a:p>
        </p:txBody>
      </p:sp>
      <p:sp>
        <p:nvSpPr>
          <p:cNvPr id="26" name="Rectangle 25"/>
          <p:cNvSpPr/>
          <p:nvPr/>
        </p:nvSpPr>
        <p:spPr>
          <a:xfrm>
            <a:off x="5558400" y="961200"/>
            <a:ext cx="32004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58400" y="9612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48400" y="1015200"/>
            <a:ext cx="3063600" cy="396000"/>
          </a:xfrm>
          <a:prstGeom prst="rect">
            <a:avLst/>
          </a:prstGeom>
          <a:noFill/>
        </p:spPr>
        <p:txBody>
          <a:bodyPr wrap="square">
            <a:spAutoFit/>
          </a:bodyPr>
          <a:lstStyle/>
          <a:p>
            <a:pPr algn="l"/>
            <a:r>
              <a:rPr sz="1900" b="1" i="0">
                <a:solidFill>
                  <a:srgbClr val="FFFFFF"/>
                </a:solidFill>
                <a:latin typeface="Calibri"/>
              </a:rPr>
              <a:t>3 719,9 Mds$</a:t>
            </a:r>
          </a:p>
        </p:txBody>
      </p:sp>
      <p:sp>
        <p:nvSpPr>
          <p:cNvPr id="29" name="TextBox 28"/>
          <p:cNvSpPr txBox="1"/>
          <p:nvPr/>
        </p:nvSpPr>
        <p:spPr>
          <a:xfrm>
            <a:off x="5648400" y="1411200"/>
            <a:ext cx="3063600" cy="205199"/>
          </a:xfrm>
          <a:prstGeom prst="rect">
            <a:avLst/>
          </a:prstGeom>
          <a:noFill/>
        </p:spPr>
        <p:txBody>
          <a:bodyPr wrap="square">
            <a:spAutoFit/>
          </a:bodyPr>
          <a:lstStyle/>
          <a:p>
            <a:pPr algn="l"/>
            <a:r>
              <a:rPr sz="800" b="0" i="0">
                <a:solidFill>
                  <a:srgbClr val="FFFFFF"/>
                </a:solidFill>
                <a:latin typeface="Calibri"/>
              </a:rPr>
              <a:t>Capitalisation boursiere</a:t>
            </a:r>
          </a:p>
        </p:txBody>
      </p:sp>
      <p:sp>
        <p:nvSpPr>
          <p:cNvPr id="30" name="Rectangle 29"/>
          <p:cNvSpPr/>
          <p:nvPr/>
        </p:nvSpPr>
        <p:spPr>
          <a:xfrm>
            <a:off x="5558400" y="18468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58400" y="1846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648400" y="1900800"/>
            <a:ext cx="3063600" cy="396000"/>
          </a:xfrm>
          <a:prstGeom prst="rect">
            <a:avLst/>
          </a:prstGeom>
          <a:noFill/>
        </p:spPr>
        <p:txBody>
          <a:bodyPr wrap="square">
            <a:spAutoFit/>
          </a:bodyPr>
          <a:lstStyle/>
          <a:p>
            <a:pPr algn="l"/>
            <a:r>
              <a:rPr sz="1900" b="1" i="0">
                <a:solidFill>
                  <a:srgbClr val="1B3A6B"/>
                </a:solidFill>
                <a:latin typeface="Calibri"/>
              </a:rPr>
              <a:t>416,2 Mds$</a:t>
            </a:r>
          </a:p>
        </p:txBody>
      </p:sp>
      <p:sp>
        <p:nvSpPr>
          <p:cNvPr id="33" name="TextBox 32"/>
          <p:cNvSpPr txBox="1"/>
          <p:nvPr/>
        </p:nvSpPr>
        <p:spPr>
          <a:xfrm>
            <a:off x="5648400" y="2296800"/>
            <a:ext cx="3063600" cy="205199"/>
          </a:xfrm>
          <a:prstGeom prst="rect">
            <a:avLst/>
          </a:prstGeom>
          <a:noFill/>
        </p:spPr>
        <p:txBody>
          <a:bodyPr wrap="square">
            <a:spAutoFit/>
          </a:bodyPr>
          <a:lstStyle/>
          <a:p>
            <a:pPr algn="l"/>
            <a:r>
              <a:rPr sz="800" b="0" i="0">
                <a:solidFill>
                  <a:srgbClr val="555555"/>
                </a:solidFill>
                <a:latin typeface="Calibri"/>
              </a:rPr>
              <a:t>Chiffre d'affaires (2025)</a:t>
            </a:r>
          </a:p>
        </p:txBody>
      </p:sp>
      <p:sp>
        <p:nvSpPr>
          <p:cNvPr id="34" name="Rectangle 33"/>
          <p:cNvSpPr/>
          <p:nvPr/>
        </p:nvSpPr>
        <p:spPr>
          <a:xfrm>
            <a:off x="5558400" y="27324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58400" y="27324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48400" y="2786400"/>
            <a:ext cx="3063600" cy="396000"/>
          </a:xfrm>
          <a:prstGeom prst="rect">
            <a:avLst/>
          </a:prstGeom>
          <a:noFill/>
        </p:spPr>
        <p:txBody>
          <a:bodyPr wrap="square">
            <a:spAutoFit/>
          </a:bodyPr>
          <a:lstStyle/>
          <a:p>
            <a:pPr algn="l"/>
            <a:r>
              <a:rPr sz="1900" b="1" i="0">
                <a:solidFill>
                  <a:srgbClr val="1B3A6B"/>
                </a:solidFill>
                <a:latin typeface="Calibri"/>
              </a:rPr>
              <a:t>253,38 $</a:t>
            </a:r>
          </a:p>
        </p:txBody>
      </p:sp>
      <p:sp>
        <p:nvSpPr>
          <p:cNvPr id="37" name="TextBox 36"/>
          <p:cNvSpPr txBox="1"/>
          <p:nvPr/>
        </p:nvSpPr>
        <p:spPr>
          <a:xfrm>
            <a:off x="5648400" y="3182400"/>
            <a:ext cx="30636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38" name="Rectangle 37"/>
          <p:cNvSpPr/>
          <p:nvPr/>
        </p:nvSpPr>
        <p:spPr>
          <a:xfrm>
            <a:off x="5558400" y="36216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558400" y="36216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648400" y="3675600"/>
            <a:ext cx="3063600" cy="396000"/>
          </a:xfrm>
          <a:prstGeom prst="rect">
            <a:avLst/>
          </a:prstGeom>
          <a:noFill/>
        </p:spPr>
        <p:txBody>
          <a:bodyPr wrap="square">
            <a:spAutoFit/>
          </a:bodyPr>
          <a:lstStyle/>
          <a:p>
            <a:pPr algn="l"/>
            <a:r>
              <a:rPr sz="1900" b="1" i="0">
                <a:solidFill>
                  <a:srgbClr val="1B3A6B"/>
                </a:solidFill>
                <a:latin typeface="Calibri"/>
              </a:rPr>
              <a:t>26,1x</a:t>
            </a:r>
          </a:p>
        </p:txBody>
      </p:sp>
      <p:sp>
        <p:nvSpPr>
          <p:cNvPr id="41" name="TextBox 40"/>
          <p:cNvSpPr txBox="1"/>
          <p:nvPr/>
        </p:nvSpPr>
        <p:spPr>
          <a:xfrm>
            <a:off x="5648400" y="4071600"/>
            <a:ext cx="3063600" cy="205199"/>
          </a:xfrm>
          <a:prstGeom prst="rect">
            <a:avLst/>
          </a:prstGeom>
          <a:noFill/>
        </p:spPr>
        <p:txBody>
          <a:bodyPr wrap="square">
            <a:spAutoFit/>
          </a:bodyPr>
          <a:lstStyle/>
          <a:p>
            <a:pPr algn="l"/>
            <a:r>
              <a:rPr sz="800" b="0" i="0">
                <a:solidFill>
                  <a:srgbClr val="555555"/>
                </a:solidFill>
                <a:latin typeface="Calibri"/>
              </a:rPr>
              <a:t>EV/EBITDA (LTM)</a:t>
            </a:r>
          </a:p>
        </p:txBody>
      </p:sp>
      <p:sp>
        <p:nvSpPr>
          <p:cNvPr id="42" name="TextBox 41"/>
          <p:cNvSpPr txBox="1"/>
          <p:nvPr/>
        </p:nvSpPr>
        <p:spPr>
          <a:xfrm>
            <a:off x="5648400" y="4269600"/>
            <a:ext cx="3063600" cy="165600"/>
          </a:xfrm>
          <a:prstGeom prst="rect">
            <a:avLst/>
          </a:prstGeom>
          <a:noFill/>
        </p:spPr>
        <p:txBody>
          <a:bodyPr wrap="square">
            <a:spAutoFit/>
          </a:bodyPr>
          <a:lstStyle/>
          <a:p>
            <a:pPr algn="l"/>
            <a:r>
              <a:rPr sz="700" b="0" i="0">
                <a:solidFill>
                  <a:srgbClr val="888888"/>
                </a:solidFill>
                <a:latin typeface="Calibri"/>
              </a:rPr>
              <a:t>P/E : 33,2x</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Modele Economique</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Segments operationnels et moteurs de croissance</a:t>
            </a:r>
          </a:p>
        </p:txBody>
      </p:sp>
      <p:sp>
        <p:nvSpPr>
          <p:cNvPr id="17" name="Rectangle 16"/>
          <p:cNvSpPr/>
          <p:nvPr/>
        </p:nvSpPr>
        <p:spPr>
          <a:xfrm>
            <a:off x="367200" y="961200"/>
            <a:ext cx="4150800" cy="3520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1508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141200"/>
            <a:ext cx="3970800" cy="640800"/>
          </a:xfrm>
          <a:prstGeom prst="rect">
            <a:avLst/>
          </a:prstGeom>
          <a:noFill/>
        </p:spPr>
        <p:txBody>
          <a:bodyPr wrap="square">
            <a:spAutoFit/>
          </a:bodyPr>
          <a:lstStyle/>
          <a:p>
            <a:pPr algn="l"/>
            <a:r>
              <a:rPr sz="2200" b="1" i="0">
                <a:solidFill>
                  <a:srgbClr val="2E5FA3"/>
                </a:solidFill>
                <a:latin typeface="Calibri"/>
              </a:rPr>
              <a:t>1%</a:t>
            </a:r>
          </a:p>
        </p:txBody>
      </p:sp>
      <p:sp>
        <p:nvSpPr>
          <p:cNvPr id="20" name="TextBox 19"/>
          <p:cNvSpPr txBox="1"/>
          <p:nvPr/>
        </p:nvSpPr>
        <p:spPr>
          <a:xfrm>
            <a:off x="457200" y="1785600"/>
            <a:ext cx="3970800" cy="108000"/>
          </a:xfrm>
          <a:prstGeom prst="rect">
            <a:avLst/>
          </a:prstGeom>
          <a:noFill/>
        </p:spPr>
        <p:txBody>
          <a:bodyPr wrap="square">
            <a:spAutoFit/>
          </a:bodyPr>
          <a:lstStyle/>
          <a:p>
            <a:pPr algn="l"/>
            <a:r>
              <a:rPr sz="900" b="0" i="0">
                <a:solidFill>
                  <a:srgbClr val="555555"/>
                </a:solidFill>
                <a:latin typeface="Calibri"/>
              </a:rPr>
              <a:t>du CA</a:t>
            </a:r>
          </a:p>
        </p:txBody>
      </p:sp>
      <p:sp>
        <p:nvSpPr>
          <p:cNvPr id="21" name="Rectangle 20"/>
          <p:cNvSpPr/>
          <p:nvPr/>
        </p:nvSpPr>
        <p:spPr>
          <a:xfrm>
            <a:off x="457200" y="1965600"/>
            <a:ext cx="3970800"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2059200"/>
            <a:ext cx="3970800" cy="255600"/>
          </a:xfrm>
          <a:prstGeom prst="rect">
            <a:avLst/>
          </a:prstGeom>
          <a:noFill/>
        </p:spPr>
        <p:txBody>
          <a:bodyPr wrap="square">
            <a:spAutoFit/>
          </a:bodyPr>
          <a:lstStyle/>
          <a:p>
            <a:pPr algn="l"/>
            <a:r>
              <a:rPr sz="1000" b="1" i="0">
                <a:solidFill>
                  <a:srgbClr val="1B3A6B"/>
                </a:solidFill>
                <a:latin typeface="Calibri"/>
              </a:rPr>
              <a:t>Produits</a:t>
            </a:r>
          </a:p>
        </p:txBody>
      </p:sp>
      <p:sp>
        <p:nvSpPr>
          <p:cNvPr id="23" name="TextBox 22"/>
          <p:cNvSpPr txBox="1"/>
          <p:nvPr/>
        </p:nvSpPr>
        <p:spPr>
          <a:xfrm>
            <a:off x="457200" y="2332800"/>
            <a:ext cx="3970800" cy="1800000"/>
          </a:xfrm>
          <a:prstGeom prst="rect">
            <a:avLst/>
          </a:prstGeom>
          <a:noFill/>
        </p:spPr>
        <p:txBody>
          <a:bodyPr wrap="square">
            <a:spAutoFit/>
          </a:bodyPr>
          <a:lstStyle/>
          <a:p>
            <a:pPr algn="l"/>
            <a:r>
              <a:rPr sz="800" b="0" i="0">
                <a:solidFill>
                  <a:srgbClr val="555555"/>
                </a:solidFill>
                <a:latin typeface="Calibri"/>
              </a:rPr>
              <a:t>Les produits d'Apple incluent les iPhone, les Mac, les iPad, les Apple Watch et les AirPods. L'entreprise génère la majorité de ses revenus grâce à la vente de ces produits. Les principaux moteurs de croissance sont la demande croissante pour les…</a:t>
            </a:r>
          </a:p>
        </p:txBody>
      </p:sp>
      <p:sp>
        <p:nvSpPr>
          <p:cNvPr id="24" name="Rectangle 23"/>
          <p:cNvSpPr/>
          <p:nvPr/>
        </p:nvSpPr>
        <p:spPr>
          <a:xfrm>
            <a:off x="4626000" y="961200"/>
            <a:ext cx="4150800" cy="35208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626000" y="961200"/>
            <a:ext cx="4150800" cy="5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16000" y="1141200"/>
            <a:ext cx="3970800" cy="640800"/>
          </a:xfrm>
          <a:prstGeom prst="rect">
            <a:avLst/>
          </a:prstGeom>
          <a:noFill/>
        </p:spPr>
        <p:txBody>
          <a:bodyPr wrap="square">
            <a:spAutoFit/>
          </a:bodyPr>
          <a:lstStyle/>
          <a:p>
            <a:pPr algn="l"/>
            <a:r>
              <a:rPr sz="2200" b="1" i="0">
                <a:solidFill>
                  <a:srgbClr val="1A7A4A"/>
                </a:solidFill>
                <a:latin typeface="Calibri"/>
              </a:rPr>
              <a:t>0%</a:t>
            </a:r>
          </a:p>
        </p:txBody>
      </p:sp>
      <p:sp>
        <p:nvSpPr>
          <p:cNvPr id="27" name="TextBox 26"/>
          <p:cNvSpPr txBox="1"/>
          <p:nvPr/>
        </p:nvSpPr>
        <p:spPr>
          <a:xfrm>
            <a:off x="4716000" y="1785600"/>
            <a:ext cx="3970800" cy="108000"/>
          </a:xfrm>
          <a:prstGeom prst="rect">
            <a:avLst/>
          </a:prstGeom>
          <a:noFill/>
        </p:spPr>
        <p:txBody>
          <a:bodyPr wrap="square">
            <a:spAutoFit/>
          </a:bodyPr>
          <a:lstStyle/>
          <a:p>
            <a:pPr algn="l"/>
            <a:r>
              <a:rPr sz="900" b="0" i="0">
                <a:solidFill>
                  <a:srgbClr val="555555"/>
                </a:solidFill>
                <a:latin typeface="Calibri"/>
              </a:rPr>
              <a:t>du CA</a:t>
            </a:r>
          </a:p>
        </p:txBody>
      </p:sp>
      <p:sp>
        <p:nvSpPr>
          <p:cNvPr id="28" name="Rectangle 27"/>
          <p:cNvSpPr/>
          <p:nvPr/>
        </p:nvSpPr>
        <p:spPr>
          <a:xfrm>
            <a:off x="4716000" y="1965600"/>
            <a:ext cx="3970800"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716000" y="2059200"/>
            <a:ext cx="3970800" cy="255600"/>
          </a:xfrm>
          <a:prstGeom prst="rect">
            <a:avLst/>
          </a:prstGeom>
          <a:noFill/>
        </p:spPr>
        <p:txBody>
          <a:bodyPr wrap="square">
            <a:spAutoFit/>
          </a:bodyPr>
          <a:lstStyle/>
          <a:p>
            <a:pPr algn="l"/>
            <a:r>
              <a:rPr sz="1000" b="1" i="0">
                <a:solidFill>
                  <a:srgbClr val="1B3A6B"/>
                </a:solidFill>
                <a:latin typeface="Calibri"/>
              </a:rPr>
              <a:t>Services</a:t>
            </a:r>
          </a:p>
        </p:txBody>
      </p:sp>
      <p:sp>
        <p:nvSpPr>
          <p:cNvPr id="30" name="TextBox 29"/>
          <p:cNvSpPr txBox="1"/>
          <p:nvPr/>
        </p:nvSpPr>
        <p:spPr>
          <a:xfrm>
            <a:off x="4716000" y="2332800"/>
            <a:ext cx="3970800" cy="1800000"/>
          </a:xfrm>
          <a:prstGeom prst="rect">
            <a:avLst/>
          </a:prstGeom>
          <a:noFill/>
        </p:spPr>
        <p:txBody>
          <a:bodyPr wrap="square">
            <a:spAutoFit/>
          </a:bodyPr>
          <a:lstStyle/>
          <a:p>
            <a:pPr algn="l"/>
            <a:r>
              <a:rPr sz="800" b="0" i="0">
                <a:solidFill>
                  <a:srgbClr val="555555"/>
                </a:solidFill>
                <a:latin typeface="Calibri"/>
              </a:rPr>
              <a:t>Les services d'Apple incluent la musique, les films, les applications et les abonnements. L'entreprise cherche à diversifier ses sources de revenus en développant ses services. Les moteurs de croissance incluent la croissance du marché des services…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02</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Analyse Financière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Compte de résultat, bilan, liquidité &amp; ratios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Analyse Financière — Compte de Résultat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USD millions  ·  2021–2027F</a:t>
            </a:r>
          </a:p>
        </p:txBody>
      </p:sp>
      <p:graphicFrame>
        <p:nvGraphicFramePr>
          <p:cNvPr id="17" name="Table 16"/>
          <p:cNvGraphicFramePr>
            <a:graphicFrameLocks noGrp="1"/>
          </p:cNvGraphicFramePr>
          <p:nvPr/>
        </p:nvGraphicFramePr>
        <p:xfrm>
          <a:off x="367200" y="914400"/>
          <a:ext cx="8413196" cy="1980000"/>
        </p:xfrm>
        <a:graphic>
          <a:graphicData uri="http://schemas.openxmlformats.org/drawingml/2006/table">
            <a:tbl>
              <a:tblPr firstRow="1" bandRow="1">
                <a:tableStyleId>{5C22544A-7EE6-4342-B048-85BDC9FD1C3A}</a:tableStyleId>
              </a:tblPr>
              <a:tblGrid>
                <a:gridCol w="2355696"/>
                <a:gridCol w="1211500"/>
                <a:gridCol w="1211500"/>
                <a:gridCol w="1211500"/>
                <a:gridCol w="1211500"/>
                <a:gridCol w="1211500"/>
              </a:tblGrid>
              <a:tr h="220000">
                <a:tc>
                  <a:txBody>
                    <a:bodyPr/>
                    <a:lstStyle/>
                    <a:p>
                      <a:pPr algn="l"/>
                      <a:r>
                        <a:rPr sz="800" b="1" i="0">
                          <a:solidFill>
                            <a:srgbClr val="FFFFFF"/>
                          </a:solidFill>
                          <a:latin typeface="Calibri"/>
                        </a:rPr>
                        <a:t>Indicateur</a:t>
                      </a:r>
                    </a:p>
                  </a:txBody>
                  <a:tcPr>
                    <a:solidFill>
                      <a:srgbClr val="1B3A6B"/>
                    </a:solidFill>
                  </a:tcPr>
                </a:tc>
                <a:tc>
                  <a:txBody>
                    <a:bodyPr/>
                    <a:lstStyle/>
                    <a:p>
                      <a:pPr algn="ctr"/>
                      <a:r>
                        <a:rPr sz="800" b="1" i="0">
                          <a:solidFill>
                            <a:srgbClr val="FFFFFF"/>
                          </a:solidFill>
                          <a:latin typeface="Calibri"/>
                        </a:rPr>
                        <a:t>2023</a:t>
                      </a:r>
                    </a:p>
                  </a:txBody>
                  <a:tcPr>
                    <a:solidFill>
                      <a:srgbClr val="1B3A6B"/>
                    </a:solidFill>
                  </a:tcPr>
                </a:tc>
                <a:tc>
                  <a:txBody>
                    <a:bodyPr/>
                    <a:lstStyle/>
                    <a:p>
                      <a:pPr algn="ctr"/>
                      <a:r>
                        <a:rPr sz="800" b="1" i="0">
                          <a:solidFill>
                            <a:srgbClr val="FFFFFF"/>
                          </a:solidFill>
                          <a:latin typeface="Calibri"/>
                        </a:rPr>
                        <a:t>2024</a:t>
                      </a:r>
                    </a:p>
                  </a:txBody>
                  <a:tcPr>
                    <a:solidFill>
                      <a:srgbClr val="1B3A6B"/>
                    </a:solidFill>
                  </a:tcPr>
                </a:tc>
                <a:tc>
                  <a:txBody>
                    <a:bodyPr/>
                    <a:lstStyle/>
                    <a:p>
                      <a:pPr algn="ctr"/>
                      <a:r>
                        <a:rPr sz="800" b="1" i="0">
                          <a:solidFill>
                            <a:srgbClr val="FFFFFF"/>
                          </a:solidFill>
                          <a:latin typeface="Calibri"/>
                        </a:rPr>
                        <a:t>2025</a:t>
                      </a:r>
                    </a:p>
                  </a:txBody>
                  <a:tcPr>
                    <a:solidFill>
                      <a:srgbClr val="1B3A6B"/>
                    </a:solidFill>
                  </a:tcPr>
                </a:tc>
                <a:tc>
                  <a:txBody>
                    <a:bodyPr/>
                    <a:lstStyle/>
                    <a:p>
                      <a:pPr algn="ctr"/>
                      <a:r>
                        <a:rPr sz="800" b="1" i="0">
                          <a:solidFill>
                            <a:srgbClr val="FFFFFF"/>
                          </a:solidFill>
                          <a:latin typeface="Calibri"/>
                        </a:rPr>
                        <a:t>2026F</a:t>
                      </a:r>
                    </a:p>
                  </a:txBody>
                  <a:tcPr>
                    <a:solidFill>
                      <a:srgbClr val="1B3A6B"/>
                    </a:solidFill>
                  </a:tcPr>
                </a:tc>
                <a:tc>
                  <a:txBody>
                    <a:bodyPr/>
                    <a:lstStyle/>
                    <a:p>
                      <a:pPr algn="ctr"/>
                      <a:r>
                        <a:rPr sz="800" b="1" i="0">
                          <a:solidFill>
                            <a:srgbClr val="FFFFFF"/>
                          </a:solidFill>
                          <a:latin typeface="Calibri"/>
                        </a:rPr>
                        <a:t>2027F</a:t>
                      </a:r>
                    </a:p>
                  </a:txBody>
                  <a:tcPr>
                    <a:solidFill>
                      <a:srgbClr val="1B3A6B"/>
                    </a:solidFill>
                  </a:tcPr>
                </a:tc>
              </a:tr>
              <a:tr h="220000">
                <a:tc>
                  <a:txBody>
                    <a:bodyPr/>
                    <a:lstStyle/>
                    <a:p>
                      <a:pPr algn="l"/>
                      <a:r>
                        <a:rPr sz="800" b="1" i="0">
                          <a:solidFill>
                            <a:srgbClr val="0D0D0D"/>
                          </a:solidFill>
                          <a:latin typeface="Calibri"/>
                        </a:rPr>
                        <a:t>Chiffre d'affaires</a:t>
                      </a:r>
                    </a:p>
                  </a:txBody>
                  <a:tcPr>
                    <a:solidFill>
                      <a:srgbClr val="FFFFFF"/>
                    </a:solidFill>
                  </a:tcPr>
                </a:tc>
                <a:tc>
                  <a:txBody>
                    <a:bodyPr/>
                    <a:lstStyle/>
                    <a:p>
                      <a:pPr algn="ctr"/>
                      <a:r>
                        <a:rPr sz="800" b="1" i="0">
                          <a:solidFill>
                            <a:srgbClr val="0D0D0D"/>
                          </a:solidFill>
                          <a:latin typeface="Calibri"/>
                        </a:rPr>
                        <a:t>383,3</a:t>
                      </a:r>
                    </a:p>
                  </a:txBody>
                  <a:tcPr>
                    <a:solidFill>
                      <a:srgbClr val="FFFFFF"/>
                    </a:solidFill>
                  </a:tcPr>
                </a:tc>
                <a:tc>
                  <a:txBody>
                    <a:bodyPr/>
                    <a:lstStyle/>
                    <a:p>
                      <a:pPr algn="ctr"/>
                      <a:r>
                        <a:rPr sz="800" b="1" i="0">
                          <a:solidFill>
                            <a:srgbClr val="0D0D0D"/>
                          </a:solidFill>
                          <a:latin typeface="Calibri"/>
                        </a:rPr>
                        <a:t>391,0</a:t>
                      </a:r>
                    </a:p>
                  </a:txBody>
                  <a:tcPr>
                    <a:solidFill>
                      <a:srgbClr val="FFFFFF"/>
                    </a:solidFill>
                  </a:tcPr>
                </a:tc>
                <a:tc>
                  <a:txBody>
                    <a:bodyPr/>
                    <a:lstStyle/>
                    <a:p>
                      <a:pPr algn="ctr"/>
                      <a:r>
                        <a:rPr sz="800" b="1" i="0">
                          <a:solidFill>
                            <a:srgbClr val="1B3A6B"/>
                          </a:solidFill>
                          <a:latin typeface="Calibri"/>
                        </a:rPr>
                        <a:t>416,2</a:t>
                      </a:r>
                    </a:p>
                  </a:txBody>
                  <a:tcPr>
                    <a:solidFill>
                      <a:srgbClr val="DDE8F5"/>
                    </a:solidFill>
                  </a:tcPr>
                </a:tc>
                <a:tc>
                  <a:txBody>
                    <a:bodyPr/>
                    <a:lstStyle/>
                    <a:p>
                      <a:pPr algn="ctr"/>
                      <a:r>
                        <a:rPr sz="800" b="1" i="0">
                          <a:solidFill>
                            <a:srgbClr val="0D0D0D"/>
                          </a:solidFill>
                          <a:latin typeface="Calibri"/>
                        </a:rPr>
                        <a:t>437,2</a:t>
                      </a:r>
                    </a:p>
                  </a:txBody>
                  <a:tcPr>
                    <a:solidFill>
                      <a:srgbClr val="FFFFFF"/>
                    </a:solidFill>
                  </a:tcPr>
                </a:tc>
                <a:tc>
                  <a:txBody>
                    <a:bodyPr/>
                    <a:lstStyle/>
                    <a:p>
                      <a:pPr algn="ctr"/>
                      <a:r>
                        <a:rPr sz="800" b="1" i="0">
                          <a:solidFill>
                            <a:srgbClr val="0D0D0D"/>
                          </a:solidFill>
                          <a:latin typeface="Calibri"/>
                        </a:rPr>
                        <a:t>468,4</a:t>
                      </a:r>
                    </a:p>
                  </a:txBody>
                  <a:tcPr>
                    <a:solidFill>
                      <a:srgbClr val="FFFFFF"/>
                    </a:solidFill>
                  </a:tcPr>
                </a:tc>
              </a:tr>
              <a:tr h="220000">
                <a:tc>
                  <a:txBody>
                    <a:bodyPr/>
                    <a:lstStyle/>
                    <a:p>
                      <a:pPr algn="l"/>
                      <a:r>
                        <a:rPr sz="750" b="0" i="1">
                          <a:solidFill>
                            <a:srgbClr val="555555"/>
                          </a:solidFill>
                          <a:latin typeface="Calibri"/>
                        </a:rPr>
                        <a:t>Croissance YoY</a:t>
                      </a:r>
                    </a:p>
                  </a:txBody>
                  <a:tcPr>
                    <a:solidFill>
                      <a:srgbClr val="F7F8FA"/>
                    </a:solidFill>
                  </a:tcPr>
                </a:tc>
                <a:tc>
                  <a:txBody>
                    <a:bodyPr/>
                    <a:lstStyle/>
                    <a:p>
                      <a:pPr algn="ctr"/>
                      <a:r>
                        <a:rPr sz="750" b="0" i="1">
                          <a:solidFill>
                            <a:srgbClr val="555555"/>
                          </a:solidFill>
                          <a:latin typeface="Calibri"/>
                        </a:rPr>
                        <a:t>-2,8 %</a:t>
                      </a:r>
                    </a:p>
                  </a:txBody>
                  <a:tcPr>
                    <a:solidFill>
                      <a:srgbClr val="F7F8FA"/>
                    </a:solidFill>
                  </a:tcPr>
                </a:tc>
                <a:tc>
                  <a:txBody>
                    <a:bodyPr/>
                    <a:lstStyle/>
                    <a:p>
                      <a:pPr algn="ctr"/>
                      <a:r>
                        <a:rPr sz="750" b="0" i="1">
                          <a:solidFill>
                            <a:srgbClr val="555555"/>
                          </a:solidFill>
                          <a:latin typeface="Calibri"/>
                        </a:rPr>
                        <a:t>+2,0 %</a:t>
                      </a:r>
                    </a:p>
                  </a:txBody>
                  <a:tcPr>
                    <a:solidFill>
                      <a:srgbClr val="F7F8FA"/>
                    </a:solidFill>
                  </a:tcPr>
                </a:tc>
                <a:tc>
                  <a:txBody>
                    <a:bodyPr/>
                    <a:lstStyle/>
                    <a:p>
                      <a:pPr algn="ctr"/>
                      <a:r>
                        <a:rPr sz="750" b="0" i="1">
                          <a:solidFill>
                            <a:srgbClr val="555555"/>
                          </a:solidFill>
                          <a:latin typeface="Calibri"/>
                        </a:rPr>
                        <a:t>+6,4 %</a:t>
                      </a:r>
                    </a:p>
                  </a:txBody>
                  <a:tcPr>
                    <a:solidFill>
                      <a:srgbClr val="DDE8F5"/>
                    </a:solidFill>
                  </a:tcPr>
                </a:tc>
                <a:tc>
                  <a:txBody>
                    <a:bodyPr/>
                    <a:lstStyle/>
                    <a:p>
                      <a:pPr algn="ctr"/>
                      <a:r>
                        <a:rPr sz="750" b="0" i="1">
                          <a:solidFill>
                            <a:srgbClr val="555555"/>
                          </a:solidFill>
                          <a:latin typeface="Calibri"/>
                        </a:rPr>
                        <a:t>+5,0 %</a:t>
                      </a:r>
                    </a:p>
                  </a:txBody>
                  <a:tcPr>
                    <a:solidFill>
                      <a:srgbClr val="F7F8FA"/>
                    </a:solidFill>
                  </a:tcPr>
                </a:tc>
                <a:tc>
                  <a:txBody>
                    <a:bodyPr/>
                    <a:lstStyle/>
                    <a:p>
                      <a:pPr algn="ctr"/>
                      <a:r>
                        <a:rPr sz="750" b="0" i="1">
                          <a:solidFill>
                            <a:srgbClr val="555555"/>
                          </a:solidFill>
                          <a:latin typeface="Calibri"/>
                        </a:rPr>
                        <a:t>+7,0 %</a:t>
                      </a:r>
                    </a:p>
                  </a:txBody>
                  <a:tcPr>
                    <a:solidFill>
                      <a:srgbClr val="F7F8FA"/>
                    </a:solidFill>
                  </a:tcPr>
                </a:tc>
              </a:tr>
              <a:tr h="220000">
                <a:tc>
                  <a:txBody>
                    <a:bodyPr/>
                    <a:lstStyle/>
                    <a:p>
                      <a:pPr algn="l"/>
                      <a:r>
                        <a:rPr sz="800" b="1" i="0">
                          <a:solidFill>
                            <a:srgbClr val="0D0D0D"/>
                          </a:solidFill>
                          <a:latin typeface="Calibri"/>
                        </a:rPr>
                        <a:t>Resultat brut</a:t>
                      </a:r>
                    </a:p>
                  </a:txBody>
                  <a:tcPr>
                    <a:solidFill>
                      <a:srgbClr val="FFFFFF"/>
                    </a:solidFill>
                  </a:tcPr>
                </a:tc>
                <a:tc>
                  <a:txBody>
                    <a:bodyPr/>
                    <a:lstStyle/>
                    <a:p>
                      <a:pPr algn="ctr"/>
                      <a:r>
                        <a:rPr sz="800" b="1" i="0">
                          <a:solidFill>
                            <a:srgbClr val="0D0D0D"/>
                          </a:solidFill>
                          <a:latin typeface="Calibri"/>
                        </a:rPr>
                        <a:t>169,1</a:t>
                      </a:r>
                    </a:p>
                  </a:txBody>
                  <a:tcPr>
                    <a:solidFill>
                      <a:srgbClr val="FFFFFF"/>
                    </a:solidFill>
                  </a:tcPr>
                </a:tc>
                <a:tc>
                  <a:txBody>
                    <a:bodyPr/>
                    <a:lstStyle/>
                    <a:p>
                      <a:pPr algn="ctr"/>
                      <a:r>
                        <a:rPr sz="800" b="1" i="0">
                          <a:solidFill>
                            <a:srgbClr val="0D0D0D"/>
                          </a:solidFill>
                          <a:latin typeface="Calibri"/>
                        </a:rPr>
                        <a:t>180,7</a:t>
                      </a:r>
                    </a:p>
                  </a:txBody>
                  <a:tcPr>
                    <a:solidFill>
                      <a:srgbClr val="FFFFFF"/>
                    </a:solidFill>
                  </a:tcPr>
                </a:tc>
                <a:tc>
                  <a:txBody>
                    <a:bodyPr/>
                    <a:lstStyle/>
                    <a:p>
                      <a:pPr algn="ctr"/>
                      <a:r>
                        <a:rPr sz="800" b="1" i="0">
                          <a:solidFill>
                            <a:srgbClr val="1B3A6B"/>
                          </a:solidFill>
                          <a:latin typeface="Calibri"/>
                        </a:rPr>
                        <a:t>195,2</a:t>
                      </a:r>
                    </a:p>
                  </a:txBody>
                  <a:tcPr>
                    <a:solidFill>
                      <a:srgbClr val="DDE8F5"/>
                    </a:solidFill>
                  </a:tcPr>
                </a:tc>
                <a:tc>
                  <a:txBody>
                    <a:bodyPr/>
                    <a:lstStyle/>
                    <a:p>
                      <a:pPr algn="ctr"/>
                      <a:r>
                        <a:rPr sz="800" b="1" i="0">
                          <a:solidFill>
                            <a:srgbClr val="0D0D0D"/>
                          </a:solidFill>
                          <a:latin typeface="Calibri"/>
                        </a:rPr>
                        <a:t>205,5</a:t>
                      </a:r>
                    </a:p>
                  </a:txBody>
                  <a:tcPr>
                    <a:solidFill>
                      <a:srgbClr val="FFFFFF"/>
                    </a:solidFill>
                  </a:tcPr>
                </a:tc>
                <a:tc>
                  <a:txBody>
                    <a:bodyPr/>
                    <a:lstStyle/>
                    <a:p>
                      <a:pPr algn="ctr"/>
                      <a:r>
                        <a:rPr sz="800" b="1" i="0">
                          <a:solidFill>
                            <a:srgbClr val="0D0D0D"/>
                          </a:solidFill>
                          <a:latin typeface="Calibri"/>
                        </a:rPr>
                        <a:t>224,8</a:t>
                      </a:r>
                    </a:p>
                  </a:txBody>
                  <a:tcPr>
                    <a:solidFill>
                      <a:srgbClr val="FFFFFF"/>
                    </a:solidFill>
                  </a:tcPr>
                </a:tc>
              </a:tr>
              <a:tr h="220000">
                <a:tc>
                  <a:txBody>
                    <a:bodyPr/>
                    <a:lstStyle/>
                    <a:p>
                      <a:pPr algn="l"/>
                      <a:r>
                        <a:rPr sz="750" b="0" i="1">
                          <a:solidFill>
                            <a:srgbClr val="555555"/>
                          </a:solidFill>
                          <a:latin typeface="Calibri"/>
                        </a:rPr>
                        <a:t>Marge brute</a:t>
                      </a:r>
                    </a:p>
                  </a:txBody>
                  <a:tcPr>
                    <a:solidFill>
                      <a:srgbClr val="F7F8FA"/>
                    </a:solidFill>
                  </a:tcPr>
                </a:tc>
                <a:tc>
                  <a:txBody>
                    <a:bodyPr/>
                    <a:lstStyle/>
                    <a:p>
                      <a:pPr algn="ctr"/>
                      <a:r>
                        <a:rPr sz="750" b="0" i="1">
                          <a:solidFill>
                            <a:srgbClr val="555555"/>
                          </a:solidFill>
                          <a:latin typeface="Calibri"/>
                        </a:rPr>
                        <a:t>44,1 %</a:t>
                      </a:r>
                    </a:p>
                  </a:txBody>
                  <a:tcPr>
                    <a:solidFill>
                      <a:srgbClr val="F7F8FA"/>
                    </a:solidFill>
                  </a:tcPr>
                </a:tc>
                <a:tc>
                  <a:txBody>
                    <a:bodyPr/>
                    <a:lstStyle/>
                    <a:p>
                      <a:pPr algn="ctr"/>
                      <a:r>
                        <a:rPr sz="750" b="0" i="1">
                          <a:solidFill>
                            <a:srgbClr val="555555"/>
                          </a:solidFill>
                          <a:latin typeface="Calibri"/>
                        </a:rPr>
                        <a:t>46,2 %</a:t>
                      </a:r>
                    </a:p>
                  </a:txBody>
                  <a:tcPr>
                    <a:solidFill>
                      <a:srgbClr val="F7F8FA"/>
                    </a:solidFill>
                  </a:tcPr>
                </a:tc>
                <a:tc>
                  <a:txBody>
                    <a:bodyPr/>
                    <a:lstStyle/>
                    <a:p>
                      <a:pPr algn="ctr"/>
                      <a:r>
                        <a:rPr sz="750" b="0" i="1">
                          <a:solidFill>
                            <a:srgbClr val="555555"/>
                          </a:solidFill>
                          <a:latin typeface="Calibri"/>
                        </a:rPr>
                        <a:t>46,9 %</a:t>
                      </a:r>
                    </a:p>
                  </a:txBody>
                  <a:tcPr>
                    <a:solidFill>
                      <a:srgbClr val="DDE8F5"/>
                    </a:solidFill>
                  </a:tcPr>
                </a:tc>
                <a:tc>
                  <a:txBody>
                    <a:bodyPr/>
                    <a:lstStyle/>
                    <a:p>
                      <a:pPr algn="ctr"/>
                      <a:r>
                        <a:rPr sz="750" b="0" i="1">
                          <a:solidFill>
                            <a:srgbClr val="555555"/>
                          </a:solidFill>
                          <a:latin typeface="Calibri"/>
                        </a:rPr>
                        <a:t>47,0 %</a:t>
                      </a:r>
                    </a:p>
                  </a:txBody>
                  <a:tcPr>
                    <a:solidFill>
                      <a:srgbClr val="F7F8FA"/>
                    </a:solidFill>
                  </a:tcPr>
                </a:tc>
                <a:tc>
                  <a:txBody>
                    <a:bodyPr/>
                    <a:lstStyle/>
                    <a:p>
                      <a:pPr algn="ctr"/>
                      <a:r>
                        <a:rPr sz="750" b="0" i="1">
                          <a:solidFill>
                            <a:srgbClr val="555555"/>
                          </a:solidFill>
                          <a:latin typeface="Calibri"/>
                        </a:rPr>
                        <a:t>48,0 %</a:t>
                      </a:r>
                    </a:p>
                  </a:txBody>
                  <a:tcPr>
                    <a:solidFill>
                      <a:srgbClr val="F7F8FA"/>
                    </a:solidFill>
                  </a:tcPr>
                </a:tc>
              </a:tr>
              <a:tr h="220000">
                <a:tc>
                  <a:txBody>
                    <a:bodyPr/>
                    <a:lstStyle/>
                    <a:p>
                      <a:pPr algn="l"/>
                      <a:r>
                        <a:rPr sz="800" b="1" i="0">
                          <a:solidFill>
                            <a:srgbClr val="0D0D0D"/>
                          </a:solidFill>
                          <a:latin typeface="Calibri"/>
                        </a:rPr>
                        <a:t>EBITDA</a:t>
                      </a:r>
                    </a:p>
                  </a:txBody>
                  <a:tcPr>
                    <a:solidFill>
                      <a:srgbClr val="FFFFFF"/>
                    </a:solidFill>
                  </a:tcPr>
                </a:tc>
                <a:tc>
                  <a:txBody>
                    <a:bodyPr/>
                    <a:lstStyle/>
                    <a:p>
                      <a:pPr algn="ctr"/>
                      <a:r>
                        <a:rPr sz="800" b="1" i="0">
                          <a:solidFill>
                            <a:srgbClr val="0D0D0D"/>
                          </a:solidFill>
                          <a:latin typeface="Calibri"/>
                        </a:rPr>
                        <a:t>125,8</a:t>
                      </a:r>
                    </a:p>
                  </a:txBody>
                  <a:tcPr>
                    <a:solidFill>
                      <a:srgbClr val="FFFFFF"/>
                    </a:solidFill>
                  </a:tcPr>
                </a:tc>
                <a:tc>
                  <a:txBody>
                    <a:bodyPr/>
                    <a:lstStyle/>
                    <a:p>
                      <a:pPr algn="ctr"/>
                      <a:r>
                        <a:rPr sz="800" b="1" i="0">
                          <a:solidFill>
                            <a:srgbClr val="0D0D0D"/>
                          </a:solidFill>
                          <a:latin typeface="Calibri"/>
                        </a:rPr>
                        <a:t>134,7</a:t>
                      </a:r>
                    </a:p>
                  </a:txBody>
                  <a:tcPr>
                    <a:solidFill>
                      <a:srgbClr val="FFFFFF"/>
                    </a:solidFill>
                  </a:tcPr>
                </a:tc>
                <a:tc>
                  <a:txBody>
                    <a:bodyPr/>
                    <a:lstStyle/>
                    <a:p>
                      <a:pPr algn="ctr"/>
                      <a:r>
                        <a:rPr sz="800" b="1" i="0">
                          <a:solidFill>
                            <a:srgbClr val="1B3A6B"/>
                          </a:solidFill>
                          <a:latin typeface="Calibri"/>
                        </a:rPr>
                        <a:t>144,7</a:t>
                      </a:r>
                    </a:p>
                  </a:txBody>
                  <a:tcPr>
                    <a:solidFill>
                      <a:srgbClr val="DDE8F5"/>
                    </a:solidFill>
                  </a:tcPr>
                </a:tc>
                <a:tc>
                  <a:txBody>
                    <a:bodyPr/>
                    <a:lstStyle/>
                    <a:p>
                      <a:pPr algn="ctr"/>
                      <a:r>
                        <a:rPr sz="800" b="1" i="0">
                          <a:solidFill>
                            <a:srgbClr val="0D0D0D"/>
                          </a:solidFill>
                          <a:latin typeface="Calibri"/>
                        </a:rPr>
                        <a:t>157,8</a:t>
                      </a:r>
                    </a:p>
                  </a:txBody>
                  <a:tcPr>
                    <a:solidFill>
                      <a:srgbClr val="FFFFFF"/>
                    </a:solidFill>
                  </a:tcPr>
                </a:tc>
                <a:tc>
                  <a:txBody>
                    <a:bodyPr/>
                    <a:lstStyle/>
                    <a:p>
                      <a:pPr algn="ctr"/>
                      <a:r>
                        <a:rPr sz="800" b="1" i="0">
                          <a:solidFill>
                            <a:srgbClr val="0D0D0D"/>
                          </a:solidFill>
                          <a:latin typeface="Calibri"/>
                        </a:rPr>
                        <a:t>173,2</a:t>
                      </a:r>
                    </a:p>
                  </a:txBody>
                  <a:tcPr>
                    <a:solidFill>
                      <a:srgbClr val="FFFFFF"/>
                    </a:solidFill>
                  </a:tcPr>
                </a:tc>
              </a:tr>
              <a:tr h="220000">
                <a:tc>
                  <a:txBody>
                    <a:bodyPr/>
                    <a:lstStyle/>
                    <a:p>
                      <a:pPr algn="l"/>
                      <a:r>
                        <a:rPr sz="750" b="0" i="1">
                          <a:solidFill>
                            <a:srgbClr val="555555"/>
                          </a:solidFill>
                          <a:latin typeface="Calibri"/>
                        </a:rPr>
                        <a:t>Marge EBITDA</a:t>
                      </a:r>
                    </a:p>
                  </a:txBody>
                  <a:tcPr>
                    <a:solidFill>
                      <a:srgbClr val="F7F8FA"/>
                    </a:solidFill>
                  </a:tcPr>
                </a:tc>
                <a:tc>
                  <a:txBody>
                    <a:bodyPr/>
                    <a:lstStyle/>
                    <a:p>
                      <a:pPr algn="ctr"/>
                      <a:r>
                        <a:rPr sz="750" b="0" i="1">
                          <a:solidFill>
                            <a:srgbClr val="555555"/>
                          </a:solidFill>
                          <a:latin typeface="Calibri"/>
                        </a:rPr>
                        <a:t>32,8 %</a:t>
                      </a:r>
                    </a:p>
                  </a:txBody>
                  <a:tcPr>
                    <a:solidFill>
                      <a:srgbClr val="F7F8FA"/>
                    </a:solidFill>
                  </a:tcPr>
                </a:tc>
                <a:tc>
                  <a:txBody>
                    <a:bodyPr/>
                    <a:lstStyle/>
                    <a:p>
                      <a:pPr algn="ctr"/>
                      <a:r>
                        <a:rPr sz="750" b="0" i="1">
                          <a:solidFill>
                            <a:srgbClr val="555555"/>
                          </a:solidFill>
                          <a:latin typeface="Calibri"/>
                        </a:rPr>
                        <a:t>34,4 %</a:t>
                      </a:r>
                    </a:p>
                  </a:txBody>
                  <a:tcPr>
                    <a:solidFill>
                      <a:srgbClr val="F7F8FA"/>
                    </a:solidFill>
                  </a:tcPr>
                </a:tc>
                <a:tc>
                  <a:txBody>
                    <a:bodyPr/>
                    <a:lstStyle/>
                    <a:p>
                      <a:pPr algn="ctr"/>
                      <a:r>
                        <a:rPr sz="750" b="0" i="1">
                          <a:solidFill>
                            <a:srgbClr val="555555"/>
                          </a:solidFill>
                          <a:latin typeface="Calibri"/>
                        </a:rPr>
                        <a:t>34,8 %</a:t>
                      </a:r>
                    </a:p>
                  </a:txBody>
                  <a:tcPr>
                    <a:solidFill>
                      <a:srgbClr val="DDE8F5"/>
                    </a:solidFill>
                  </a:tcPr>
                </a:tc>
                <a:tc>
                  <a:txBody>
                    <a:bodyPr/>
                    <a:lstStyle/>
                    <a:p>
                      <a:pPr algn="ctr"/>
                      <a:r>
                        <a:rPr sz="750" b="0" i="1">
                          <a:solidFill>
                            <a:srgbClr val="555555"/>
                          </a:solidFill>
                          <a:latin typeface="Calibri"/>
                        </a:rPr>
                        <a:t>36,0 %</a:t>
                      </a:r>
                    </a:p>
                  </a:txBody>
                  <a:tcPr>
                    <a:solidFill>
                      <a:srgbClr val="F7F8FA"/>
                    </a:solidFill>
                  </a:tcPr>
                </a:tc>
                <a:tc>
                  <a:txBody>
                    <a:bodyPr/>
                    <a:lstStyle/>
                    <a:p>
                      <a:pPr algn="ctr"/>
                      <a:r>
                        <a:rPr sz="750" b="0" i="1">
                          <a:solidFill>
                            <a:srgbClr val="555555"/>
                          </a:solidFill>
                          <a:latin typeface="Calibri"/>
                        </a:rPr>
                        <a:t>37,0 %</a:t>
                      </a:r>
                    </a:p>
                  </a:txBody>
                  <a:tcPr>
                    <a:solidFill>
                      <a:srgbClr val="F7F8FA"/>
                    </a:solidFill>
                  </a:tcPr>
                </a:tc>
              </a:tr>
              <a:tr h="220000">
                <a:tc>
                  <a:txBody>
                    <a:bodyPr/>
                    <a:lstStyle/>
                    <a:p>
                      <a:pPr algn="l"/>
                      <a:r>
                        <a:rPr sz="800" b="1" i="0">
                          <a:solidFill>
                            <a:srgbClr val="0D0D0D"/>
                          </a:solidFill>
                          <a:latin typeface="Calibri"/>
                        </a:rPr>
                        <a:t>Resultat net</a:t>
                      </a:r>
                    </a:p>
                  </a:txBody>
                  <a:tcPr>
                    <a:solidFill>
                      <a:srgbClr val="FFFFFF"/>
                    </a:solidFill>
                  </a:tcPr>
                </a:tc>
                <a:tc>
                  <a:txBody>
                    <a:bodyPr/>
                    <a:lstStyle/>
                    <a:p>
                      <a:pPr algn="ctr"/>
                      <a:r>
                        <a:rPr sz="800" b="1" i="0">
                          <a:solidFill>
                            <a:srgbClr val="0D0D0D"/>
                          </a:solidFill>
                          <a:latin typeface="Calibri"/>
                        </a:rPr>
                        <a:t>97,0</a:t>
                      </a:r>
                    </a:p>
                  </a:txBody>
                  <a:tcPr>
                    <a:solidFill>
                      <a:srgbClr val="FFFFFF"/>
                    </a:solidFill>
                  </a:tcPr>
                </a:tc>
                <a:tc>
                  <a:txBody>
                    <a:bodyPr/>
                    <a:lstStyle/>
                    <a:p>
                      <a:pPr algn="ctr"/>
                      <a:r>
                        <a:rPr sz="800" b="1" i="0">
                          <a:solidFill>
                            <a:srgbClr val="0D0D0D"/>
                          </a:solidFill>
                          <a:latin typeface="Calibri"/>
                        </a:rPr>
                        <a:t>93,7</a:t>
                      </a:r>
                    </a:p>
                  </a:txBody>
                  <a:tcPr>
                    <a:solidFill>
                      <a:srgbClr val="FFFFFF"/>
                    </a:solidFill>
                  </a:tcPr>
                </a:tc>
                <a:tc>
                  <a:txBody>
                    <a:bodyPr/>
                    <a:lstStyle/>
                    <a:p>
                      <a:pPr algn="ctr"/>
                      <a:r>
                        <a:rPr sz="800" b="1" i="0">
                          <a:solidFill>
                            <a:srgbClr val="1B3A6B"/>
                          </a:solidFill>
                          <a:latin typeface="Calibri"/>
                        </a:rPr>
                        <a:t>112,0</a:t>
                      </a:r>
                    </a:p>
                  </a:txBody>
                  <a:tcPr>
                    <a:solidFill>
                      <a:srgbClr val="DDE8F5"/>
                    </a:solidFill>
                  </a:tcPr>
                </a:tc>
                <a:tc>
                  <a:txBody>
                    <a:bodyPr/>
                    <a:lstStyle/>
                    <a:p>
                      <a:pPr algn="ctr"/>
                      <a:r>
                        <a:rPr sz="800" b="1" i="0">
                          <a:solidFill>
                            <a:srgbClr val="0D0D0D"/>
                          </a:solidFill>
                          <a:latin typeface="Calibri"/>
                        </a:rPr>
                        <a:t>114,8</a:t>
                      </a:r>
                    </a:p>
                  </a:txBody>
                  <a:tcPr>
                    <a:solidFill>
                      <a:srgbClr val="FFFFFF"/>
                    </a:solidFill>
                  </a:tcPr>
                </a:tc>
                <a:tc>
                  <a:txBody>
                    <a:bodyPr/>
                    <a:lstStyle/>
                    <a:p>
                      <a:pPr algn="ctr"/>
                      <a:r>
                        <a:rPr sz="800" b="1" i="0">
                          <a:solidFill>
                            <a:srgbClr val="0D0D0D"/>
                          </a:solidFill>
                          <a:latin typeface="Calibri"/>
                        </a:rPr>
                        <a:t>124,9</a:t>
                      </a:r>
                    </a:p>
                  </a:txBody>
                  <a:tcPr>
                    <a:solidFill>
                      <a:srgbClr val="FFFFFF"/>
                    </a:solidFill>
                  </a:tcPr>
                </a:tc>
              </a:tr>
              <a:tr h="220000">
                <a:tc>
                  <a:txBody>
                    <a:bodyPr/>
                    <a:lstStyle/>
                    <a:p>
                      <a:pPr algn="l"/>
                      <a:r>
                        <a:rPr sz="750" b="0" i="1">
                          <a:solidFill>
                            <a:srgbClr val="555555"/>
                          </a:solidFill>
                          <a:latin typeface="Calibri"/>
                        </a:rPr>
                        <a:t>Marge nette</a:t>
                      </a:r>
                    </a:p>
                  </a:txBody>
                  <a:tcPr>
                    <a:solidFill>
                      <a:srgbClr val="F7F8FA"/>
                    </a:solidFill>
                  </a:tcPr>
                </a:tc>
                <a:tc>
                  <a:txBody>
                    <a:bodyPr/>
                    <a:lstStyle/>
                    <a:p>
                      <a:pPr algn="ctr"/>
                      <a:r>
                        <a:rPr sz="750" b="0" i="1">
                          <a:solidFill>
                            <a:srgbClr val="555555"/>
                          </a:solidFill>
                          <a:latin typeface="Calibri"/>
                        </a:rPr>
                        <a:t>25,3 %</a:t>
                      </a:r>
                    </a:p>
                  </a:txBody>
                  <a:tcPr>
                    <a:solidFill>
                      <a:srgbClr val="F7F8FA"/>
                    </a:solidFill>
                  </a:tcPr>
                </a:tc>
                <a:tc>
                  <a:txBody>
                    <a:bodyPr/>
                    <a:lstStyle/>
                    <a:p>
                      <a:pPr algn="ctr"/>
                      <a:r>
                        <a:rPr sz="750" b="0" i="1">
                          <a:solidFill>
                            <a:srgbClr val="555555"/>
                          </a:solidFill>
                          <a:latin typeface="Calibri"/>
                        </a:rPr>
                        <a:t>24,0 %</a:t>
                      </a:r>
                    </a:p>
                  </a:txBody>
                  <a:tcPr>
                    <a:solidFill>
                      <a:srgbClr val="F7F8FA"/>
                    </a:solidFill>
                  </a:tcPr>
                </a:tc>
                <a:tc>
                  <a:txBody>
                    <a:bodyPr/>
                    <a:lstStyle/>
                    <a:p>
                      <a:pPr algn="ctr"/>
                      <a:r>
                        <a:rPr sz="750" b="0" i="1">
                          <a:solidFill>
                            <a:srgbClr val="555555"/>
                          </a:solidFill>
                          <a:latin typeface="Calibri"/>
                        </a:rPr>
                        <a:t>26,9 %</a:t>
                      </a:r>
                    </a:p>
                  </a:txBody>
                  <a:tcPr>
                    <a:solidFill>
                      <a:srgbClr val="DDE8F5"/>
                    </a:solidFill>
                  </a:tcPr>
                </a:tc>
                <a:tc>
                  <a:txBody>
                    <a:bodyPr/>
                    <a:lstStyle/>
                    <a:p>
                      <a:pPr algn="ctr"/>
                      <a:r>
                        <a:rPr sz="750" b="0" i="1">
                          <a:solidFill>
                            <a:srgbClr val="555555"/>
                          </a:solidFill>
                          <a:latin typeface="Calibri"/>
                        </a:rPr>
                        <a:t>26,0 %</a:t>
                      </a:r>
                    </a:p>
                  </a:txBody>
                  <a:tcPr>
                    <a:solidFill>
                      <a:srgbClr val="F7F8FA"/>
                    </a:solidFill>
                  </a:tcPr>
                </a:tc>
                <a:tc>
                  <a:txBody>
                    <a:bodyPr/>
                    <a:lstStyle/>
                    <a:p>
                      <a:pPr algn="ctr"/>
                      <a:r>
                        <a:rPr sz="750" b="0" i="1">
                          <a:solidFill>
                            <a:srgbClr val="555555"/>
                          </a:solidFill>
                          <a:latin typeface="Calibri"/>
                        </a:rPr>
                        <a:t>27,0 %</a:t>
                      </a:r>
                    </a:p>
                  </a:txBody>
                  <a:tcPr>
                    <a:solidFill>
                      <a:srgbClr val="F7F8FA"/>
                    </a:solidFill>
                  </a:tcPr>
                </a:tc>
              </a:tr>
            </a:tbl>
          </a:graphicData>
        </a:graphic>
      </p:graphicFrame>
      <p:sp>
        <p:nvSpPr>
          <p:cNvPr id="18" name="TextBox 17"/>
          <p:cNvSpPr txBox="1"/>
          <p:nvPr/>
        </p:nvSpPr>
        <p:spPr>
          <a:xfrm>
            <a:off x="367200" y="3218400"/>
            <a:ext cx="8413200" cy="1224000"/>
          </a:xfrm>
          <a:prstGeom prst="rect">
            <a:avLst/>
          </a:prstGeom>
          <a:noFill/>
        </p:spPr>
        <p:txBody>
          <a:bodyPr wrap="square">
            <a:spAutoFit/>
          </a:bodyPr>
          <a:lstStyle/>
          <a:p>
            <a:pPr algn="l"/>
            <a:r>
              <a:rPr sz="850" b="0" i="0">
                <a:solidFill>
                  <a:srgbClr val="555555"/>
                </a:solidFill>
                <a:latin typeface="Calibri"/>
              </a:rPr>
              <a:t>Les revenus d'Apple devraient augmenter de 5% en 2026 et de 7% en 2027, grâce à la croissance de la demande pour les smartphones et les ordinateurs portables.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Bilan &amp; Liquidité</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Structure financière  ·  USD millions  ·  LTM 2025</a:t>
            </a:r>
          </a:p>
        </p:txBody>
      </p:sp>
      <p:sp>
        <p:nvSpPr>
          <p:cNvPr id="17" name="Rectangle 16"/>
          <p:cNvSpPr/>
          <p:nvPr/>
        </p:nvSpPr>
        <p:spPr>
          <a:xfrm>
            <a:off x="367200" y="9612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516400" cy="396000"/>
          </a:xfrm>
          <a:prstGeom prst="rect">
            <a:avLst/>
          </a:prstGeom>
          <a:noFill/>
        </p:spPr>
        <p:txBody>
          <a:bodyPr wrap="square">
            <a:spAutoFit/>
          </a:bodyPr>
          <a:lstStyle/>
          <a:p>
            <a:pPr algn="l"/>
            <a:r>
              <a:rPr sz="1900" b="1" i="0">
                <a:solidFill>
                  <a:srgbClr val="1B3A6B"/>
                </a:solidFill>
                <a:latin typeface="Calibri"/>
              </a:rPr>
              <a:t>35,9 Mds$</a:t>
            </a:r>
          </a:p>
        </p:txBody>
      </p:sp>
      <p:sp>
        <p:nvSpPr>
          <p:cNvPr id="20" name="TextBox 19"/>
          <p:cNvSpPr txBox="1"/>
          <p:nvPr/>
        </p:nvSpPr>
        <p:spPr>
          <a:xfrm>
            <a:off x="457200" y="1411200"/>
            <a:ext cx="2516400" cy="205199"/>
          </a:xfrm>
          <a:prstGeom prst="rect">
            <a:avLst/>
          </a:prstGeom>
          <a:noFill/>
        </p:spPr>
        <p:txBody>
          <a:bodyPr wrap="square">
            <a:spAutoFit/>
          </a:bodyPr>
          <a:lstStyle/>
          <a:p>
            <a:pPr algn="l"/>
            <a:r>
              <a:rPr sz="800" b="0" i="0">
                <a:solidFill>
                  <a:srgbClr val="555555"/>
                </a:solidFill>
                <a:latin typeface="Calibri"/>
              </a:rPr>
              <a:t>Cash &amp; equivalents</a:t>
            </a:r>
          </a:p>
        </p:txBody>
      </p:sp>
      <p:sp>
        <p:nvSpPr>
          <p:cNvPr id="21" name="Rectangle 20"/>
          <p:cNvSpPr/>
          <p:nvPr/>
        </p:nvSpPr>
        <p:spPr>
          <a:xfrm>
            <a:off x="367200" y="19008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7200" y="1900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1954800"/>
            <a:ext cx="2516400" cy="396000"/>
          </a:xfrm>
          <a:prstGeom prst="rect">
            <a:avLst/>
          </a:prstGeom>
          <a:noFill/>
        </p:spPr>
        <p:txBody>
          <a:bodyPr wrap="square">
            <a:spAutoFit/>
          </a:bodyPr>
          <a:lstStyle/>
          <a:p>
            <a:pPr algn="l"/>
            <a:r>
              <a:rPr sz="1900" b="1" i="0">
                <a:solidFill>
                  <a:srgbClr val="1B3A6B"/>
                </a:solidFill>
                <a:latin typeface="Calibri"/>
              </a:rPr>
              <a:t>78,3 Mds$</a:t>
            </a:r>
          </a:p>
        </p:txBody>
      </p:sp>
      <p:sp>
        <p:nvSpPr>
          <p:cNvPr id="24" name="TextBox 23"/>
          <p:cNvSpPr txBox="1"/>
          <p:nvPr/>
        </p:nvSpPr>
        <p:spPr>
          <a:xfrm>
            <a:off x="457200" y="2350800"/>
            <a:ext cx="2516400" cy="205199"/>
          </a:xfrm>
          <a:prstGeom prst="rect">
            <a:avLst/>
          </a:prstGeom>
          <a:noFill/>
        </p:spPr>
        <p:txBody>
          <a:bodyPr wrap="square">
            <a:spAutoFit/>
          </a:bodyPr>
          <a:lstStyle/>
          <a:p>
            <a:pPr algn="l"/>
            <a:r>
              <a:rPr sz="800" b="0" i="0">
                <a:solidFill>
                  <a:srgbClr val="555555"/>
                </a:solidFill>
                <a:latin typeface="Calibri"/>
              </a:rPr>
              <a:t>Dette long terme</a:t>
            </a:r>
          </a:p>
        </p:txBody>
      </p:sp>
      <p:sp>
        <p:nvSpPr>
          <p:cNvPr id="25" name="Rectangle 24"/>
          <p:cNvSpPr/>
          <p:nvPr/>
        </p:nvSpPr>
        <p:spPr>
          <a:xfrm>
            <a:off x="367200" y="2844000"/>
            <a:ext cx="26532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7200" y="28440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2898000"/>
            <a:ext cx="2516400" cy="396000"/>
          </a:xfrm>
          <a:prstGeom prst="rect">
            <a:avLst/>
          </a:prstGeom>
          <a:noFill/>
        </p:spPr>
        <p:txBody>
          <a:bodyPr wrap="square">
            <a:spAutoFit/>
          </a:bodyPr>
          <a:lstStyle/>
          <a:p>
            <a:pPr algn="l"/>
            <a:r>
              <a:rPr sz="1900" b="1" i="0">
                <a:solidFill>
                  <a:srgbClr val="FFFFFF"/>
                </a:solidFill>
                <a:latin typeface="Calibri"/>
              </a:rPr>
              <a:t>62,7 Mds$</a:t>
            </a:r>
          </a:p>
        </p:txBody>
      </p:sp>
      <p:sp>
        <p:nvSpPr>
          <p:cNvPr id="28" name="TextBox 27"/>
          <p:cNvSpPr txBox="1"/>
          <p:nvPr/>
        </p:nvSpPr>
        <p:spPr>
          <a:xfrm>
            <a:off x="457200" y="3294000"/>
            <a:ext cx="2516400" cy="205199"/>
          </a:xfrm>
          <a:prstGeom prst="rect">
            <a:avLst/>
          </a:prstGeom>
          <a:noFill/>
        </p:spPr>
        <p:txBody>
          <a:bodyPr wrap="square">
            <a:spAutoFit/>
          </a:bodyPr>
          <a:lstStyle/>
          <a:p>
            <a:pPr algn="l"/>
            <a:r>
              <a:rPr sz="800" b="0" i="0">
                <a:solidFill>
                  <a:srgbClr val="FFFFFF"/>
                </a:solidFill>
                <a:latin typeface="Calibri"/>
              </a:rPr>
              <a:t>Dette nette</a:t>
            </a:r>
          </a:p>
        </p:txBody>
      </p:sp>
      <p:sp>
        <p:nvSpPr>
          <p:cNvPr id="29" name="TextBox 28"/>
          <p:cNvSpPr txBox="1"/>
          <p:nvPr/>
        </p:nvSpPr>
        <p:spPr>
          <a:xfrm>
            <a:off x="3384000" y="842400"/>
            <a:ext cx="5396400" cy="165600"/>
          </a:xfrm>
          <a:prstGeom prst="rect">
            <a:avLst/>
          </a:prstGeom>
          <a:noFill/>
        </p:spPr>
        <p:txBody>
          <a:bodyPr wrap="square">
            <a:spAutoFit/>
          </a:bodyPr>
          <a:lstStyle/>
          <a:p>
            <a:pPr algn="l"/>
            <a:r>
              <a:rPr sz="900" b="1" i="0">
                <a:solidFill>
                  <a:srgbClr val="1B3A6B"/>
                </a:solidFill>
                <a:latin typeface="Calibri"/>
              </a:rPr>
              <a:t>Ratios de solvabilité &amp; liquidité</a:t>
            </a:r>
          </a:p>
        </p:txBody>
      </p:sp>
      <p:graphicFrame>
        <p:nvGraphicFramePr>
          <p:cNvPr id="30" name="Table 29"/>
          <p:cNvGraphicFramePr>
            <a:graphicFrameLocks noGrp="1"/>
          </p:cNvGraphicFramePr>
          <p:nvPr/>
        </p:nvGraphicFramePr>
        <p:xfrm>
          <a:off x="3384000" y="1007999"/>
          <a:ext cx="5396400" cy="1800000"/>
        </p:xfrm>
        <a:graphic>
          <a:graphicData uri="http://schemas.openxmlformats.org/drawingml/2006/table">
            <a:tbl>
              <a:tblPr firstRow="1" bandRow="1">
                <a:tableStyleId>{5C22544A-7EE6-4342-B048-85BDC9FD1C3A}</a:tableStyleId>
              </a:tblPr>
              <a:tblGrid>
                <a:gridCol w="2374416"/>
                <a:gridCol w="1133244"/>
                <a:gridCol w="1133244"/>
                <a:gridCol w="755496"/>
              </a:tblGrid>
              <a:tr h="225000">
                <a:tc>
                  <a:txBody>
                    <a:bodyPr/>
                    <a:lstStyle/>
                    <a:p>
                      <a:pPr algn="l"/>
                      <a:r>
                        <a:rPr sz="800" b="1" i="0">
                          <a:solidFill>
                            <a:srgbClr val="FFFFFF"/>
                          </a:solidFill>
                          <a:latin typeface="Calibri"/>
                        </a:rPr>
                        <a:t>Ratio</a:t>
                      </a:r>
                    </a:p>
                  </a:txBody>
                  <a:tcPr>
                    <a:solidFill>
                      <a:srgbClr val="1B3A6B"/>
                    </a:solidFill>
                  </a:tcPr>
                </a:tc>
                <a:tc>
                  <a:txBody>
                    <a:bodyPr/>
                    <a:lstStyle/>
                    <a:p>
                      <a:pPr algn="ctr"/>
                      <a:r>
                        <a:rPr sz="800" b="1" i="0">
                          <a:solidFill>
                            <a:srgbClr val="FFFFFF"/>
                          </a:solidFill>
                          <a:latin typeface="Calibri"/>
                        </a:rPr>
                        <a:t>Valeur</a:t>
                      </a:r>
                    </a:p>
                  </a:txBody>
                  <a:tcPr>
                    <a:solidFill>
                      <a:srgbClr val="1B3A6B"/>
                    </a:solidFill>
                  </a:tcPr>
                </a:tc>
                <a:tc>
                  <a:txBody>
                    <a:bodyPr/>
                    <a:lstStyle/>
                    <a:p>
                      <a:pPr algn="ctr"/>
                      <a:r>
                        <a:rPr sz="800" b="1" i="0">
                          <a:solidFill>
                            <a:srgbClr val="FFFFFF"/>
                          </a:solidFill>
                          <a:latin typeface="Calibri"/>
                        </a:rPr>
                        <a:t>Référence</a:t>
                      </a:r>
                    </a:p>
                  </a:txBody>
                  <a:tcPr>
                    <a:solidFill>
                      <a:srgbClr val="1B3A6B"/>
                    </a:solidFill>
                  </a:tcPr>
                </a:tc>
                <a:tc>
                  <a:txBody>
                    <a:bodyPr/>
                    <a:lstStyle/>
                    <a:p>
                      <a:pPr algn="ctr"/>
                      <a:r>
                        <a:rPr sz="800" b="1" i="0">
                          <a:solidFill>
                            <a:srgbClr val="FFFFFF"/>
                          </a:solidFill>
                          <a:latin typeface="Calibri"/>
                        </a:rPr>
                        <a:t>Signal</a:t>
                      </a:r>
                    </a:p>
                  </a:txBody>
                  <a:tcPr>
                    <a:solidFill>
                      <a:srgbClr val="1B3A6B"/>
                    </a:solidFill>
                  </a:tcPr>
                </a:tc>
              </a:tr>
              <a:tr h="225000">
                <a:tc>
                  <a:txBody>
                    <a:bodyPr/>
                    <a:lstStyle/>
                    <a:p>
                      <a:pPr algn="l"/>
                      <a:r>
                        <a:rPr sz="800" b="1" i="0">
                          <a:solidFill>
                            <a:srgbClr val="0D0D0D"/>
                          </a:solidFill>
                          <a:latin typeface="Calibri"/>
                        </a:rPr>
                        <a:t>Ratio liquidité courante</a:t>
                      </a:r>
                    </a:p>
                  </a:txBody>
                  <a:tcPr>
                    <a:solidFill>
                      <a:srgbClr val="FFFFFF"/>
                    </a:solidFill>
                  </a:tcPr>
                </a:tc>
                <a:tc>
                  <a:txBody>
                    <a:bodyPr/>
                    <a:lstStyle/>
                    <a:p>
                      <a:pPr algn="ctr"/>
                      <a:r>
                        <a:rPr sz="800" b="0" i="0">
                          <a:solidFill>
                            <a:srgbClr val="0D0D0D"/>
                          </a:solidFill>
                          <a:latin typeface="Calibri"/>
                        </a:rPr>
                        <a:t>0,65</a:t>
                      </a:r>
                    </a:p>
                  </a:txBody>
                  <a:tcPr>
                    <a:solidFill>
                      <a:srgbClr val="FFFFFF"/>
                    </a:solidFill>
                  </a:tcPr>
                </a:tc>
                <a:tc>
                  <a:txBody>
                    <a:bodyPr/>
                    <a:lstStyle/>
                    <a:p>
                      <a:pPr algn="ctr"/>
                      <a:r>
                        <a:rPr sz="800" b="0" i="0">
                          <a:solidFill>
                            <a:srgbClr val="0D0D0D"/>
                          </a:solidFill>
                          <a:latin typeface="Calibri"/>
                        </a:rPr>
                        <a:t>&gt; 1,5</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Ratio rapide (quick)</a:t>
                      </a:r>
                    </a:p>
                  </a:txBody>
                  <a:tcPr>
                    <a:solidFill>
                      <a:srgbClr val="F7F8FA"/>
                    </a:solidFill>
                  </a:tcPr>
                </a:tc>
                <a:tc>
                  <a:txBody>
                    <a:bodyPr/>
                    <a:lstStyle/>
                    <a:p>
                      <a:pPr algn="ctr"/>
                      <a:r>
                        <a:rPr sz="800" b="0" i="0">
                          <a:solidFill>
                            <a:srgbClr val="0D0D0D"/>
                          </a:solidFill>
                          <a:latin typeface="Calibri"/>
                        </a:rPr>
                        <a:t>0,61</a:t>
                      </a:r>
                    </a:p>
                  </a:txBody>
                  <a:tcPr>
                    <a:solidFill>
                      <a:srgbClr val="F7F8FA"/>
                    </a:solidFill>
                  </a:tcPr>
                </a:tc>
                <a:tc>
                  <a:txBody>
                    <a:bodyPr/>
                    <a:lstStyle/>
                    <a:p>
                      <a:pPr algn="ctr"/>
                      <a:r>
                        <a:rPr sz="800" b="0" i="0">
                          <a:solidFill>
                            <a:srgbClr val="0D0D0D"/>
                          </a:solidFill>
                          <a:latin typeface="Calibri"/>
                        </a:rPr>
                        <a:t>&gt; 1,0</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a:t>
                      </a:r>
                    </a:p>
                  </a:txBody>
                  <a:tcPr>
                    <a:solidFill>
                      <a:srgbClr val="FFFFFF"/>
                    </a:solidFill>
                  </a:tcPr>
                </a:tc>
                <a:tc>
                  <a:txBody>
                    <a:bodyPr/>
                    <a:lstStyle/>
                    <a:p>
                      <a:pPr algn="ctr"/>
                      <a:r>
                        <a:rPr sz="800" b="0" i="0">
                          <a:solidFill>
                            <a:srgbClr val="0D0D0D"/>
                          </a:solidFill>
                          <a:latin typeface="Calibri"/>
                        </a:rPr>
                        <a:t>1,3x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Couverture interets</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c>
                  <a:txBody>
                    <a:bodyPr/>
                    <a:lstStyle/>
                    <a:p>
                      <a:pPr algn="ctr"/>
                      <a:r>
                        <a:rPr sz="800" b="0" i="0">
                          <a:solidFill>
                            <a:srgbClr val="0D0D0D"/>
                          </a:solidFill>
                          <a:latin typeface="Calibri"/>
                        </a:rPr>
                        <a:t>&gt; 3,0x</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Dette nette / EBITDA</a:t>
                      </a:r>
                    </a:p>
                  </a:txBody>
                  <a:tcPr>
                    <a:solidFill>
                      <a:srgbClr val="FFFFFF"/>
                    </a:solidFill>
                  </a:tcPr>
                </a:tc>
                <a:tc>
                  <a:txBody>
                    <a:bodyPr/>
                    <a:lstStyle/>
                    <a:p>
                      <a:pPr algn="ctr"/>
                      <a:r>
                        <a:rPr sz="800" b="0" i="0">
                          <a:solidFill>
                            <a:srgbClr val="0D0D0D"/>
                          </a:solidFill>
                          <a:latin typeface="Calibri"/>
                        </a:rPr>
                        <a:t>0,4x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Altman Z</a:t>
                      </a:r>
                    </a:p>
                  </a:txBody>
                  <a:tcPr>
                    <a:solidFill>
                      <a:srgbClr val="F7F8FA"/>
                    </a:solidFill>
                  </a:tcPr>
                </a:tc>
                <a:tc>
                  <a:txBody>
                    <a:bodyPr/>
                    <a:lstStyle/>
                    <a:p>
                      <a:pPr algn="ctr"/>
                      <a:r>
                        <a:rPr sz="800" b="0" i="0">
                          <a:solidFill>
                            <a:srgbClr val="0D0D0D"/>
                          </a:solidFill>
                          <a:latin typeface="Calibri"/>
                        </a:rPr>
                        <a:t>9,97</a:t>
                      </a:r>
                    </a:p>
                  </a:txBody>
                  <a:tcPr>
                    <a:solidFill>
                      <a:srgbClr val="F7F8FA"/>
                    </a:solidFill>
                  </a:tcPr>
                </a:tc>
                <a:tc>
                  <a:txBody>
                    <a:bodyPr/>
                    <a:lstStyle/>
                    <a:p>
                      <a:pPr algn="ctr"/>
                      <a:r>
                        <a:rPr sz="800" b="0" i="0">
                          <a:solidFill>
                            <a:srgbClr val="0D0D0D"/>
                          </a:solidFill>
                          <a:latin typeface="Calibri"/>
                        </a:rPr>
                        <a:t>&gt; 2,99</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Beneish M</a:t>
                      </a:r>
                    </a:p>
                  </a:txBody>
                  <a:tcPr>
                    <a:solidFill>
                      <a:srgbClr val="FFFFFF"/>
                    </a:solidFill>
                  </a:tcPr>
                </a:tc>
                <a:tc>
                  <a:txBody>
                    <a:bodyPr/>
                    <a:lstStyle/>
                    <a:p>
                      <a:pPr algn="ctr"/>
                      <a:r>
                        <a:rPr sz="800" b="0" i="0">
                          <a:solidFill>
                            <a:srgbClr val="0D0D0D"/>
                          </a:solidFill>
                          <a:latin typeface="Calibri"/>
                        </a:rPr>
                        <a:t>-2,25</a:t>
                      </a:r>
                    </a:p>
                  </a:txBody>
                  <a:tcPr>
                    <a:solidFill>
                      <a:srgbClr val="FFFFFF"/>
                    </a:solidFill>
                  </a:tcPr>
                </a:tc>
                <a:tc>
                  <a:txBody>
                    <a:bodyPr/>
                    <a:lstStyle/>
                    <a:p>
                      <a:pPr algn="ctr"/>
                      <a:r>
                        <a:rPr sz="800" b="0" i="0">
                          <a:solidFill>
                            <a:srgbClr val="0D0D0D"/>
                          </a:solidFill>
                          <a:latin typeface="Calibri"/>
                        </a:rPr>
                        <a:t>&lt; -2,22</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bl>
          </a:graphicData>
        </a:graphic>
      </p:graphicFrame>
      <p:sp>
        <p:nvSpPr>
          <p:cNvPr id="31" name="TextBox 30"/>
          <p:cNvSpPr txBox="1"/>
          <p:nvPr/>
        </p:nvSpPr>
        <p:spPr>
          <a:xfrm>
            <a:off x="367200" y="4068000"/>
            <a:ext cx="8413200" cy="468000"/>
          </a:xfrm>
          <a:prstGeom prst="rect">
            <a:avLst/>
          </a:prstGeom>
          <a:noFill/>
        </p:spPr>
        <p:txBody>
          <a:bodyPr wrap="square">
            <a:spAutoFit/>
          </a:bodyPr>
          <a:lstStyle/>
          <a:p>
            <a:pPr algn="l"/>
            <a:r>
              <a:rPr sz="850" b="0" i="0">
                <a:solidFill>
                  <a:srgbClr val="555555"/>
                </a:solidFill>
                <a:latin typeface="Calibri"/>
              </a:rPr>
              <a:t>Les revenus d'Apple devraient augmenter de 5% en 2026 et de 7% en 2027, grâce à la croissance de la demande pour les smartphones et les ordinateurs portables.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Ratios Clés vs. Benchmark Sectoriel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Positionnement relatif  ·  LTM 2025</a:t>
            </a:r>
          </a:p>
        </p:txBody>
      </p:sp>
      <p:graphicFrame>
        <p:nvGraphicFramePr>
          <p:cNvPr id="17" name="Table 16"/>
          <p:cNvGraphicFramePr>
            <a:graphicFrameLocks noGrp="1"/>
          </p:cNvGraphicFramePr>
          <p:nvPr/>
        </p:nvGraphicFramePr>
        <p:xfrm>
          <a:off x="367200" y="914400"/>
          <a:ext cx="8413200" cy="2559600"/>
        </p:xfrm>
        <a:graphic>
          <a:graphicData uri="http://schemas.openxmlformats.org/drawingml/2006/table">
            <a:tbl>
              <a:tblPr firstRow="1" bandRow="1">
                <a:tableStyleId>{5C22544A-7EE6-4342-B048-85BDC9FD1C3A}</a:tableStyleId>
              </a:tblPr>
              <a:tblGrid>
                <a:gridCol w="2103300"/>
                <a:gridCol w="2103300"/>
                <a:gridCol w="2103300"/>
                <a:gridCol w="2103300"/>
              </a:tblGrid>
              <a:tr h="232690">
                <a:tc>
                  <a:txBody>
                    <a:bodyPr/>
                    <a:lstStyle/>
                    <a:p>
                      <a:pPr algn="l"/>
                      <a:r>
                        <a:rPr sz="800" b="1" i="0">
                          <a:solidFill>
                            <a:srgbClr val="FFFFFF"/>
                          </a:solidFill>
                          <a:latin typeface="Calibri"/>
                        </a:rPr>
                        <a:t>Indicateur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Benchmark</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Lecture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P/E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33,2x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15–25x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Premium</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EV/EBITDA</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26,1x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8–14x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555555"/>
                          </a:solidFill>
                          <a:latin typeface="Calibri"/>
                        </a:rPr>
                        <a:t>Tres eleve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EV/Revenue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9,1x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Premium</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brute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46,9 %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40 %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Bon</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EBITDA</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34,8 %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151,9 %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ROIC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84,4 %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CapEx / Revenue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Leger</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Altman Z</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9,97</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2,99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Solide</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700">
                <a:tc>
                  <a:txBody>
                    <a:bodyPr/>
                    <a:lstStyle/>
                    <a:p>
                      <a:pPr algn="l"/>
                      <a:r>
                        <a:rPr sz="800" b="0" i="0">
                          <a:solidFill>
                            <a:srgbClr val="0D0D0D"/>
                          </a:solidFill>
                          <a:latin typeface="Calibri"/>
                        </a:rPr>
                        <a:t>Beneish M</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-2,25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-2,22</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Aucun signal</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8" name="TextBox 17"/>
          <p:cNvSpPr txBox="1"/>
          <p:nvPr/>
        </p:nvSpPr>
        <p:spPr>
          <a:xfrm>
            <a:off x="367200" y="3628800"/>
            <a:ext cx="8413200" cy="824400"/>
          </a:xfrm>
          <a:prstGeom prst="rect">
            <a:avLst/>
          </a:prstGeom>
          <a:noFill/>
        </p:spPr>
        <p:txBody>
          <a:bodyPr wrap="square">
            <a:spAutoFit/>
          </a:bodyPr>
          <a:lstStyle/>
          <a:p>
            <a:pPr algn="l"/>
            <a:r>
              <a:rPr sz="850" b="0" i="0">
                <a:solidFill>
                  <a:srgbClr val="555555"/>
                </a:solidFill>
                <a:latin typeface="Calibri"/>
              </a:rPr>
              <a:t>Le ratio EV/EBITDA d'Apple est inférieur à la moyenne de son secteur, ce qui indique une valorisation attractive.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03</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Valorisation</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DCF, comparable peers &amp; Football Field Chart</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Valorisation — DCF &amp; Scénarios</a:t>
            </a:r>
          </a:p>
        </p:txBody>
      </p:sp>
      <p:graphicFrame>
        <p:nvGraphicFramePr>
          <p:cNvPr id="16" name="Table 15"/>
          <p:cNvGraphicFramePr>
            <a:graphicFrameLocks noGrp="1"/>
          </p:cNvGraphicFramePr>
          <p:nvPr/>
        </p:nvGraphicFramePr>
        <p:xfrm>
          <a:off x="367200" y="824400"/>
          <a:ext cx="4024800" cy="1371600"/>
        </p:xfrm>
        <a:graphic>
          <a:graphicData uri="http://schemas.openxmlformats.org/drawingml/2006/table">
            <a:tbl>
              <a:tblPr firstRow="1" bandRow="1">
                <a:tableStyleId>{5C22544A-7EE6-4342-B048-85BDC9FD1C3A}</a:tableStyleId>
              </a:tblPr>
              <a:tblGrid>
                <a:gridCol w="2213640"/>
                <a:gridCol w="1811160"/>
              </a:tblGrid>
              <a:tr h="228600">
                <a:tc>
                  <a:txBody>
                    <a:bodyPr/>
                    <a:lstStyle/>
                    <a:p>
                      <a:pPr algn="l"/>
                      <a:r>
                        <a:rPr sz="800" b="1" i="0">
                          <a:solidFill>
                            <a:srgbClr val="FFFFFF"/>
                          </a:solidFill>
                          <a:latin typeface="Calibri"/>
                        </a:rPr>
                        <a:t>Paramètre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WACC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10,3 %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TGR</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1" i="0">
                          <a:solidFill>
                            <a:srgbClr val="1B3A6B"/>
                          </a:solidFill>
                          <a:latin typeface="Calibri"/>
                        </a:rPr>
                        <a:t>Valeur intrinsèque</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280 $</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Cours actuel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253,38 $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Upside implicite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+10,7 %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graphicFrame>
        <p:nvGraphicFramePr>
          <p:cNvPr id="17" name="Table 16"/>
          <p:cNvGraphicFramePr>
            <a:graphicFrameLocks noGrp="1"/>
          </p:cNvGraphicFramePr>
          <p:nvPr/>
        </p:nvGraphicFramePr>
        <p:xfrm>
          <a:off x="4482000" y="824400"/>
          <a:ext cx="4298400" cy="1371600"/>
        </p:xfrm>
        <a:graphic>
          <a:graphicData uri="http://schemas.openxmlformats.org/drawingml/2006/table">
            <a:tbl>
              <a:tblPr firstRow="1" bandRow="1">
                <a:tableStyleId>{5C22544A-7EE6-4342-B048-85BDC9FD1C3A}</a:tableStyleId>
              </a:tblPr>
              <a:tblGrid>
                <a:gridCol w="1432800"/>
                <a:gridCol w="1432800"/>
                <a:gridCol w="1432800"/>
              </a:tblGrid>
              <a:tr h="342900">
                <a:tc>
                  <a:txBody>
                    <a:bodyPr/>
                    <a:lstStyle/>
                    <a:p>
                      <a:pPr algn="ctr"/>
                      <a:r>
                        <a:rPr sz="1000" b="1" i="0">
                          <a:solidFill>
                            <a:srgbClr val="FFFFFF"/>
                          </a:solidFill>
                          <a:latin typeface="Calibri"/>
                        </a:rPr>
                        <a:t>Bear</a:t>
                      </a:r>
                    </a:p>
                  </a:txBody>
                  <a:tcPr>
                    <a:solidFill>
                      <a:srgbClr val="A82020"/>
                    </a:solidFill>
                  </a:tcPr>
                </a:tc>
                <a:tc>
                  <a:txBody>
                    <a:bodyPr/>
                    <a:lstStyle/>
                    <a:p>
                      <a:pPr algn="ctr"/>
                      <a:r>
                        <a:rPr sz="1000" b="1" i="0">
                          <a:solidFill>
                            <a:srgbClr val="FFFFFF"/>
                          </a:solidFill>
                          <a:latin typeface="Calibri"/>
                        </a:rPr>
                        <a:t>Base</a:t>
                      </a:r>
                    </a:p>
                  </a:txBody>
                  <a:tcPr>
                    <a:solidFill>
                      <a:srgbClr val="2E5FA3"/>
                    </a:solidFill>
                  </a:tcPr>
                </a:tc>
                <a:tc>
                  <a:txBody>
                    <a:bodyPr/>
                    <a:lstStyle/>
                    <a:p>
                      <a:pPr algn="ctr"/>
                      <a:r>
                        <a:rPr sz="1000" b="1" i="0">
                          <a:solidFill>
                            <a:srgbClr val="FFFFFF"/>
                          </a:solidFill>
                          <a:latin typeface="Calibri"/>
                        </a:rPr>
                        <a:t>Bull</a:t>
                      </a:r>
                    </a:p>
                  </a:txBody>
                  <a:tcPr>
                    <a:solidFill>
                      <a:srgbClr val="1A7A4A"/>
                    </a:solidFill>
                  </a:tcPr>
                </a:tc>
              </a:tr>
              <a:tr h="342900">
                <a:tc>
                  <a:txBody>
                    <a:bodyPr/>
                    <a:lstStyle/>
                    <a:p>
                      <a:pPr algn="ctr"/>
                      <a:r>
                        <a:rPr sz="2000" b="1" i="0">
                          <a:solidFill>
                            <a:srgbClr val="A82020"/>
                          </a:solidFill>
                          <a:latin typeface="Calibri"/>
                        </a:rPr>
                        <a:t>241 $</a:t>
                      </a:r>
                    </a:p>
                  </a:txBody>
                  <a:tcPr>
                    <a:solidFill>
                      <a:srgbClr val="FAF0EF"/>
                    </a:solidFill>
                  </a:tcPr>
                </a:tc>
                <a:tc>
                  <a:txBody>
                    <a:bodyPr/>
                    <a:lstStyle/>
                    <a:p>
                      <a:pPr algn="ctr"/>
                      <a:r>
                        <a:rPr sz="2000" b="1" i="0">
                          <a:solidFill>
                            <a:srgbClr val="2E5FA3"/>
                          </a:solidFill>
                          <a:latin typeface="Calibri"/>
                        </a:rPr>
                        <a:t>280 $</a:t>
                      </a:r>
                    </a:p>
                  </a:txBody>
                  <a:tcPr>
                    <a:solidFill>
                      <a:srgbClr val="EEF3FA"/>
                    </a:solidFill>
                  </a:tcPr>
                </a:tc>
                <a:tc>
                  <a:txBody>
                    <a:bodyPr/>
                    <a:lstStyle/>
                    <a:p>
                      <a:pPr algn="ctr"/>
                      <a:r>
                        <a:rPr sz="2000" b="1" i="0">
                          <a:solidFill>
                            <a:srgbClr val="1A7A4A"/>
                          </a:solidFill>
                          <a:latin typeface="Calibri"/>
                        </a:rPr>
                        <a:t>310 $</a:t>
                      </a:r>
                    </a:p>
                  </a:txBody>
                  <a:tcPr>
                    <a:solidFill>
                      <a:srgbClr val="EAF4EF"/>
                    </a:solidFill>
                  </a:tcPr>
                </a:tc>
              </a:tr>
              <a:tr h="342900">
                <a:tc>
                  <a:txBody>
                    <a:bodyPr/>
                    <a:lstStyle/>
                    <a:p>
                      <a:pPr algn="ctr"/>
                      <a:r>
                        <a:rPr sz="1200" b="1" i="0">
                          <a:solidFill>
                            <a:srgbClr val="A82020"/>
                          </a:solidFill>
                          <a:latin typeface="Calibri"/>
                        </a:rPr>
                        <a:t>-5,0 %</a:t>
                      </a:r>
                    </a:p>
                  </a:txBody>
                  <a:tcPr>
                    <a:solidFill>
                      <a:srgbClr val="FAF0EF"/>
                    </a:solidFill>
                  </a:tcPr>
                </a:tc>
                <a:tc>
                  <a:txBody>
                    <a:bodyPr/>
                    <a:lstStyle/>
                    <a:p>
                      <a:pPr algn="ctr"/>
                      <a:r>
                        <a:rPr sz="1200" b="1" i="0">
                          <a:solidFill>
                            <a:srgbClr val="2E5FA3"/>
                          </a:solidFill>
                          <a:latin typeface="Calibri"/>
                        </a:rPr>
                        <a:t>+10,7 %</a:t>
                      </a:r>
                    </a:p>
                  </a:txBody>
                  <a:tcPr>
                    <a:solidFill>
                      <a:srgbClr val="EEF3FA"/>
                    </a:solidFill>
                  </a:tcPr>
                </a:tc>
                <a:tc>
                  <a:txBody>
                    <a:bodyPr/>
                    <a:lstStyle/>
                    <a:p>
                      <a:pPr algn="ctr"/>
                      <a:r>
                        <a:rPr sz="1200" b="1" i="0">
                          <a:solidFill>
                            <a:srgbClr val="1A7A4A"/>
                          </a:solidFill>
                          <a:latin typeface="Calibri"/>
                        </a:rPr>
                        <a:t>+22,4 %</a:t>
                      </a:r>
                    </a:p>
                  </a:txBody>
                  <a:tcPr>
                    <a:solidFill>
                      <a:srgbClr val="EAF4EF"/>
                    </a:solidFill>
                  </a:tcPr>
                </a:tc>
              </a:tr>
              <a:tr h="342900">
                <a:tc>
                  <a:txBody>
                    <a:bodyPr/>
                    <a:lstStyle/>
                    <a:p>
                      <a:pPr algn="ctr"/>
                      <a:r>
                        <a:rPr sz="700" b="0" i="0">
                          <a:solidFill>
                            <a:srgbClr val="888888"/>
                          </a:solidFill>
                          <a:latin typeface="Calibri"/>
                        </a:rPr>
                        <a:t>Upside / Downside</a:t>
                      </a:r>
                    </a:p>
                  </a:txBody>
                  <a:tcPr>
                    <a:solidFill>
                      <a:srgbClr val="FAF0EF"/>
                    </a:solidFill>
                  </a:tcPr>
                </a:tc>
                <a:tc>
                  <a:txBody>
                    <a:bodyPr/>
                    <a:lstStyle/>
                    <a:p>
                      <a:pPr algn="ctr"/>
                      <a:r>
                        <a:rPr sz="700" b="0" i="0">
                          <a:solidFill>
                            <a:srgbClr val="888888"/>
                          </a:solidFill>
                          <a:latin typeface="Calibri"/>
                        </a:rPr>
                        <a:t>Upside / Downside</a:t>
                      </a:r>
                    </a:p>
                  </a:txBody>
                  <a:tcPr>
                    <a:solidFill>
                      <a:srgbClr val="EEF3FA"/>
                    </a:solidFill>
                  </a:tcPr>
                </a:tc>
                <a:tc>
                  <a:txBody>
                    <a:bodyPr/>
                    <a:lstStyle/>
                    <a:p>
                      <a:pPr algn="ctr"/>
                      <a:r>
                        <a:rPr sz="700" b="0" i="0">
                          <a:solidFill>
                            <a:srgbClr val="888888"/>
                          </a:solidFill>
                          <a:latin typeface="Calibri"/>
                        </a:rPr>
                        <a:t>Upside / Downside</a:t>
                      </a:r>
                    </a:p>
                  </a:txBody>
                  <a:tcPr>
                    <a:solidFill>
                      <a:srgbClr val="EAF4EF"/>
                    </a:solidFill>
                  </a:tcPr>
                </a:tc>
              </a:tr>
            </a:tbl>
          </a:graphicData>
        </a:graphic>
      </p:graphicFrame>
      <p:sp>
        <p:nvSpPr>
          <p:cNvPr id="18" name="TextBox 17"/>
          <p:cNvSpPr txBox="1"/>
          <p:nvPr/>
        </p:nvSpPr>
        <p:spPr>
          <a:xfrm>
            <a:off x="367200" y="2394000"/>
            <a:ext cx="8413200" cy="201600"/>
          </a:xfrm>
          <a:prstGeom prst="rect">
            <a:avLst/>
          </a:prstGeom>
          <a:noFill/>
        </p:spPr>
        <p:txBody>
          <a:bodyPr wrap="square">
            <a:spAutoFit/>
          </a:bodyPr>
          <a:lstStyle/>
          <a:p>
            <a:pPr algn="l"/>
            <a:r>
              <a:rPr sz="900" b="1" i="0">
                <a:solidFill>
                  <a:srgbClr val="1B3A6B"/>
                </a:solidFill>
                <a:latin typeface="Calibri"/>
              </a:rPr>
              <a:t>Table de sensibilite — Valeur intrinseque ($)</a:t>
            </a:r>
          </a:p>
        </p:txBody>
      </p:sp>
      <p:graphicFrame>
        <p:nvGraphicFramePr>
          <p:cNvPr id="19" name="Table 18"/>
          <p:cNvGraphicFramePr>
            <a:graphicFrameLocks noGrp="1"/>
          </p:cNvGraphicFramePr>
          <p:nvPr/>
        </p:nvGraphicFramePr>
        <p:xfrm>
          <a:off x="367200" y="2653200"/>
          <a:ext cx="8413200" cy="1116000"/>
        </p:xfrm>
        <a:graphic>
          <a:graphicData uri="http://schemas.openxmlformats.org/drawingml/2006/table">
            <a:tbl>
              <a:tblPr firstRow="1" bandRow="1">
                <a:tableStyleId>{5C22544A-7EE6-4342-B048-85BDC9FD1C3A}</a:tableStyleId>
              </a:tblPr>
              <a:tblGrid>
                <a:gridCol w="1402200"/>
                <a:gridCol w="1402200"/>
                <a:gridCol w="1402200"/>
                <a:gridCol w="1402200"/>
                <a:gridCol w="1402200"/>
                <a:gridCol w="1402200"/>
              </a:tblGrid>
              <a:tr h="186000">
                <a:tc>
                  <a:txBody>
                    <a:bodyPr/>
                    <a:lstStyle/>
                    <a:p>
                      <a:pPr algn="l"/>
                      <a:r>
                        <a:rPr sz="800" b="1" i="0">
                          <a:solidFill>
                            <a:srgbClr val="FFFFFF"/>
                          </a:solidFill>
                          <a:latin typeface="Calibri"/>
                        </a:rPr>
                        <a:t>WACC \ TGR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4,0%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8,3%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325</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353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386</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426</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475</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9,3%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280</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301</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325</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353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386</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1" i="0">
                          <a:solidFill>
                            <a:srgbClr val="1B3A6B"/>
                          </a:solidFill>
                          <a:latin typeface="Calibri"/>
                        </a:rPr>
                        <a:t>10,3%</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247</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263</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280</a:t>
                      </a:r>
                    </a:p>
                  </a:txBody>
                  <a:tcPr>
                    <a:solidFill>
                      <a:srgbClr val="2E5FA3"/>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301</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325</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11,3%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220</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233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247</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263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281</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12,3%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199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209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220</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233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247</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0" name="TextBox 19"/>
          <p:cNvSpPr txBox="1"/>
          <p:nvPr/>
        </p:nvSpPr>
        <p:spPr>
          <a:xfrm>
            <a:off x="367200" y="3916800"/>
            <a:ext cx="8413200" cy="547200"/>
          </a:xfrm>
          <a:prstGeom prst="rect">
            <a:avLst/>
          </a:prstGeom>
          <a:noFill/>
        </p:spPr>
        <p:txBody>
          <a:bodyPr wrap="square">
            <a:spAutoFit/>
          </a:bodyPr>
          <a:lstStyle/>
          <a:p>
            <a:pPr algn="l"/>
            <a:r>
              <a:rPr sz="850" b="0" i="0">
                <a:solidFill>
                  <a:srgbClr val="555555"/>
                </a:solidFill>
                <a:latin typeface="Calibri"/>
              </a:rPr>
              <a:t>Le prix implicite d'Apple sur la base d'un modèle de flux de trésorerie disponible est de 280,5 USD, ce qui suggère un upside de 10% par rapport au cours actuel.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Comparable Peers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par multiples  ·  LTM  ·  Mkt Cap en Mds USD</a:t>
            </a:r>
          </a:p>
        </p:txBody>
      </p:sp>
      <p:graphicFrame>
        <p:nvGraphicFramePr>
          <p:cNvPr id="17" name="Table 16"/>
          <p:cNvGraphicFramePr>
            <a:graphicFrameLocks noGrp="1"/>
          </p:cNvGraphicFramePr>
          <p:nvPr/>
        </p:nvGraphicFramePr>
        <p:xfrm>
          <a:off x="367200" y="914400"/>
          <a:ext cx="8413200" cy="2015999"/>
        </p:xfrm>
        <a:graphic>
          <a:graphicData uri="http://schemas.openxmlformats.org/drawingml/2006/table">
            <a:tbl>
              <a:tblPr firstRow="1" bandRow="1">
                <a:tableStyleId>{5C22544A-7EE6-4342-B048-85BDC9FD1C3A}</a:tableStyleId>
              </a:tblPr>
              <a:tblGrid>
                <a:gridCol w="1682640"/>
                <a:gridCol w="757188"/>
                <a:gridCol w="1093716"/>
                <a:gridCol w="1009584"/>
                <a:gridCol w="1009584"/>
                <a:gridCol w="757188"/>
                <a:gridCol w="1093716"/>
                <a:gridCol w="1009584"/>
              </a:tblGrid>
              <a:tr h="251999">
                <a:tc>
                  <a:txBody>
                    <a:bodyPr/>
                    <a:lstStyle/>
                    <a:p>
                      <a:pPr algn="l"/>
                      <a:r>
                        <a:rPr sz="800" b="1" i="0">
                          <a:solidFill>
                            <a:srgbClr val="FFFFFF"/>
                          </a:solidFill>
                          <a:latin typeface="Calibri"/>
                        </a:rPr>
                        <a:t>Société</a:t>
                      </a:r>
                    </a:p>
                  </a:txBody>
                  <a:tcPr>
                    <a:solidFill>
                      <a:srgbClr val="1B3A6B"/>
                    </a:solidFill>
                  </a:tcPr>
                </a:tc>
                <a:tc>
                  <a:txBody>
                    <a:bodyPr/>
                    <a:lstStyle/>
                    <a:p>
                      <a:pPr algn="ctr"/>
                      <a:r>
                        <a:rPr sz="800" b="1" i="0">
                          <a:solidFill>
                            <a:srgbClr val="FFFFFF"/>
                          </a:solidFill>
                          <a:latin typeface="Calibri"/>
                        </a:rPr>
                        <a:t>Ticker</a:t>
                      </a:r>
                    </a:p>
                  </a:txBody>
                  <a:tcPr>
                    <a:solidFill>
                      <a:srgbClr val="1B3A6B"/>
                    </a:solidFill>
                  </a:tcPr>
                </a:tc>
                <a:tc>
                  <a:txBody>
                    <a:bodyPr/>
                    <a:lstStyle/>
                    <a:p>
                      <a:pPr algn="ctr"/>
                      <a:r>
                        <a:rPr sz="800" b="1" i="0">
                          <a:solidFill>
                            <a:srgbClr val="FFFFFF"/>
                          </a:solidFill>
                          <a:latin typeface="Calibri"/>
                        </a:rPr>
                        <a:t>Mkt Cap</a:t>
                      </a:r>
                    </a:p>
                  </a:txBody>
                  <a:tcPr>
                    <a:solidFill>
                      <a:srgbClr val="1B3A6B"/>
                    </a:solidFill>
                  </a:tcPr>
                </a:tc>
                <a:tc>
                  <a:txBody>
                    <a:bodyPr/>
                    <a:lstStyle/>
                    <a:p>
                      <a:pPr algn="ctr"/>
                      <a:r>
                        <a:rPr sz="800" b="1" i="0">
                          <a:solidFill>
                            <a:srgbClr val="FFFFFF"/>
                          </a:solidFill>
                          <a:latin typeface="Calibri"/>
                        </a:rPr>
                        <a:t>EV/EBITDA</a:t>
                      </a:r>
                    </a:p>
                  </a:txBody>
                  <a:tcPr>
                    <a:solidFill>
                      <a:srgbClr val="1B3A6B"/>
                    </a:solidFill>
                  </a:tcPr>
                </a:tc>
                <a:tc>
                  <a:txBody>
                    <a:bodyPr/>
                    <a:lstStyle/>
                    <a:p>
                      <a:pPr algn="ctr"/>
                      <a:r>
                        <a:rPr sz="800" b="1" i="0">
                          <a:solidFill>
                            <a:srgbClr val="FFFFFF"/>
                          </a:solidFill>
                          <a:latin typeface="Calibri"/>
                        </a:rPr>
                        <a:t>EV/Rev.</a:t>
                      </a:r>
                    </a:p>
                  </a:txBody>
                  <a:tcPr>
                    <a:solidFill>
                      <a:srgbClr val="1B3A6B"/>
                    </a:solidFill>
                  </a:tcPr>
                </a:tc>
                <a:tc>
                  <a:txBody>
                    <a:bodyPr/>
                    <a:lstStyle/>
                    <a:p>
                      <a:pPr algn="ctr"/>
                      <a:r>
                        <a:rPr sz="800" b="1" i="0">
                          <a:solidFill>
                            <a:srgbClr val="FFFFFF"/>
                          </a:solidFill>
                          <a:latin typeface="Calibri"/>
                        </a:rPr>
                        <a:t>P/E</a:t>
                      </a:r>
                    </a:p>
                  </a:txBody>
                  <a:tcPr>
                    <a:solidFill>
                      <a:srgbClr val="1B3A6B"/>
                    </a:solidFill>
                  </a:tcPr>
                </a:tc>
                <a:tc>
                  <a:txBody>
                    <a:bodyPr/>
                    <a:lstStyle/>
                    <a:p>
                      <a:pPr algn="ctr"/>
                      <a:r>
                        <a:rPr sz="800" b="1" i="0">
                          <a:solidFill>
                            <a:srgbClr val="FFFFFF"/>
                          </a:solidFill>
                          <a:latin typeface="Calibri"/>
                        </a:rPr>
                        <a:t>Mg Brute</a:t>
                      </a:r>
                    </a:p>
                  </a:txBody>
                  <a:tcPr>
                    <a:solidFill>
                      <a:srgbClr val="1B3A6B"/>
                    </a:solidFill>
                  </a:tcPr>
                </a:tc>
                <a:tc>
                  <a:txBody>
                    <a:bodyPr/>
                    <a:lstStyle/>
                    <a:p>
                      <a:pPr algn="ctr"/>
                      <a:r>
                        <a:rPr sz="800" b="1" i="0">
                          <a:solidFill>
                            <a:srgbClr val="FFFFFF"/>
                          </a:solidFill>
                          <a:latin typeface="Calibri"/>
                        </a:rPr>
                        <a:t>Mg EBITDA</a:t>
                      </a:r>
                    </a:p>
                  </a:txBody>
                  <a:tcPr>
                    <a:solidFill>
                      <a:srgbClr val="1B3A6B"/>
                    </a:solidFill>
                  </a:tcPr>
                </a:tc>
              </a:tr>
              <a:tr h="251999">
                <a:tc>
                  <a:txBody>
                    <a:bodyPr/>
                    <a:lstStyle/>
                    <a:p>
                      <a:pPr algn="l"/>
                      <a:r>
                        <a:rPr sz="800" b="1" i="0">
                          <a:solidFill>
                            <a:srgbClr val="1B3A6B"/>
                          </a:solidFill>
                          <a:latin typeface="Calibri"/>
                        </a:rPr>
                        <a:t>Apple Inc.</a:t>
                      </a:r>
                    </a:p>
                  </a:txBody>
                  <a:tcPr>
                    <a:solidFill>
                      <a:srgbClr val="DDE8F5"/>
                    </a:solidFill>
                  </a:tcPr>
                </a:tc>
                <a:tc>
                  <a:txBody>
                    <a:bodyPr/>
                    <a:lstStyle/>
                    <a:p>
                      <a:pPr algn="ctr"/>
                      <a:r>
                        <a:rPr sz="750" b="1" i="0">
                          <a:solidFill>
                            <a:srgbClr val="2E5FA3"/>
                          </a:solidFill>
                          <a:latin typeface="Calibri"/>
                        </a:rPr>
                        <a:t>AAPL</a:t>
                      </a:r>
                    </a:p>
                  </a:txBody>
                  <a:tcPr>
                    <a:solidFill>
                      <a:srgbClr val="DDE8F5"/>
                    </a:solidFill>
                  </a:tcPr>
                </a:tc>
                <a:tc>
                  <a:txBody>
                    <a:bodyPr/>
                    <a:lstStyle/>
                    <a:p>
                      <a:pPr algn="ctr"/>
                      <a:r>
                        <a:rPr sz="800" b="1" i="0">
                          <a:solidFill>
                            <a:srgbClr val="1B3A6B"/>
                          </a:solidFill>
                          <a:latin typeface="Calibri"/>
                        </a:rPr>
                        <a:t>3 719,9</a:t>
                      </a:r>
                    </a:p>
                  </a:txBody>
                  <a:tcPr>
                    <a:solidFill>
                      <a:srgbClr val="DDE8F5"/>
                    </a:solidFill>
                  </a:tcPr>
                </a:tc>
                <a:tc>
                  <a:txBody>
                    <a:bodyPr/>
                    <a:lstStyle/>
                    <a:p>
                      <a:pPr algn="ctr"/>
                      <a:r>
                        <a:rPr sz="800" b="1" i="0">
                          <a:solidFill>
                            <a:srgbClr val="1B3A6B"/>
                          </a:solidFill>
                          <a:latin typeface="Calibri"/>
                        </a:rPr>
                        <a:t>26,1x</a:t>
                      </a:r>
                    </a:p>
                  </a:txBody>
                  <a:tcPr>
                    <a:solidFill>
                      <a:srgbClr val="DDE8F5"/>
                    </a:solidFill>
                  </a:tcPr>
                </a:tc>
                <a:tc>
                  <a:txBody>
                    <a:bodyPr/>
                    <a:lstStyle/>
                    <a:p>
                      <a:pPr algn="ctr"/>
                      <a:r>
                        <a:rPr sz="800" b="1" i="0">
                          <a:solidFill>
                            <a:srgbClr val="1B3A6B"/>
                          </a:solidFill>
                          <a:latin typeface="Calibri"/>
                        </a:rPr>
                        <a:t>9,1x</a:t>
                      </a:r>
                    </a:p>
                  </a:txBody>
                  <a:tcPr>
                    <a:solidFill>
                      <a:srgbClr val="DDE8F5"/>
                    </a:solidFill>
                  </a:tcPr>
                </a:tc>
                <a:tc>
                  <a:txBody>
                    <a:bodyPr/>
                    <a:lstStyle/>
                    <a:p>
                      <a:pPr algn="ctr"/>
                      <a:r>
                        <a:rPr sz="800" b="1" i="0">
                          <a:solidFill>
                            <a:srgbClr val="1B3A6B"/>
                          </a:solidFill>
                          <a:latin typeface="Calibri"/>
                        </a:rPr>
                        <a:t>33,2x</a:t>
                      </a:r>
                    </a:p>
                  </a:txBody>
                  <a:tcPr>
                    <a:solidFill>
                      <a:srgbClr val="DDE8F5"/>
                    </a:solidFill>
                  </a:tcPr>
                </a:tc>
                <a:tc>
                  <a:txBody>
                    <a:bodyPr/>
                    <a:lstStyle/>
                    <a:p>
                      <a:pPr algn="ctr"/>
                      <a:r>
                        <a:rPr sz="800" b="1" i="0">
                          <a:solidFill>
                            <a:srgbClr val="1B3A6B"/>
                          </a:solidFill>
                          <a:latin typeface="Calibri"/>
                        </a:rPr>
                        <a:t>46,9 %</a:t>
                      </a:r>
                    </a:p>
                  </a:txBody>
                  <a:tcPr>
                    <a:solidFill>
                      <a:srgbClr val="DDE8F5"/>
                    </a:solidFill>
                  </a:tcPr>
                </a:tc>
                <a:tc>
                  <a:txBody>
                    <a:bodyPr/>
                    <a:lstStyle/>
                    <a:p>
                      <a:pPr algn="ctr"/>
                      <a:r>
                        <a:rPr sz="800" b="1" i="0">
                          <a:solidFill>
                            <a:srgbClr val="1B3A6B"/>
                          </a:solidFill>
                          <a:latin typeface="Calibri"/>
                        </a:rPr>
                        <a:t>34,8 %</a:t>
                      </a:r>
                    </a:p>
                  </a:txBody>
                  <a:tcPr>
                    <a:solidFill>
                      <a:srgbClr val="DDE8F5"/>
                    </a:solidFill>
                  </a:tcPr>
                </a:tc>
              </a:tr>
              <a:tr h="251999">
                <a:tc>
                  <a:txBody>
                    <a:bodyPr/>
                    <a:lstStyle/>
                    <a:p>
                      <a:pPr algn="l"/>
                      <a:r>
                        <a:rPr sz="800" b="0" i="0">
                          <a:solidFill>
                            <a:srgbClr val="0D0D0D"/>
                          </a:solidFill>
                          <a:latin typeface="Calibri"/>
                        </a:rPr>
                        <a:t>Microsoft</a:t>
                      </a:r>
                    </a:p>
                  </a:txBody>
                  <a:tcPr>
                    <a:solidFill>
                      <a:srgbClr val="FFFFFF"/>
                    </a:solidFill>
                  </a:tcPr>
                </a:tc>
                <a:tc>
                  <a:txBody>
                    <a:bodyPr/>
                    <a:lstStyle/>
                    <a:p>
                      <a:pPr algn="ctr"/>
                      <a:r>
                        <a:rPr sz="750" b="0" i="0">
                          <a:solidFill>
                            <a:srgbClr val="555555"/>
                          </a:solidFill>
                          <a:latin typeface="Calibri"/>
                        </a:rPr>
                        <a:t>MSFT</a:t>
                      </a:r>
                    </a:p>
                  </a:txBody>
                  <a:tcPr>
                    <a:solidFill>
                      <a:srgbClr val="FFFFFF"/>
                    </a:solidFill>
                  </a:tcPr>
                </a:tc>
                <a:tc>
                  <a:txBody>
                    <a:bodyPr/>
                    <a:lstStyle/>
                    <a:p>
                      <a:pPr algn="ctr"/>
                      <a:r>
                        <a:rPr sz="800" b="0" i="0">
                          <a:solidFill>
                            <a:srgbClr val="0D0D0D"/>
                          </a:solidFill>
                          <a:latin typeface="Calibri"/>
                        </a:rPr>
                        <a:t>2 351,9</a:t>
                      </a:r>
                    </a:p>
                  </a:txBody>
                  <a:tcPr>
                    <a:solidFill>
                      <a:srgbClr val="FFFFFF"/>
                    </a:solidFill>
                  </a:tcPr>
                </a:tc>
                <a:tc>
                  <a:txBody>
                    <a:bodyPr/>
                    <a:lstStyle/>
                    <a:p>
                      <a:pPr algn="ctr"/>
                      <a:r>
                        <a:rPr sz="800" b="0" i="0">
                          <a:solidFill>
                            <a:srgbClr val="0D0D0D"/>
                          </a:solidFill>
                          <a:latin typeface="Calibri"/>
                        </a:rPr>
                        <a:t>23,1x</a:t>
                      </a:r>
                    </a:p>
                  </a:txBody>
                  <a:tcPr>
                    <a:solidFill>
                      <a:srgbClr val="FFFFFF"/>
                    </a:solidFill>
                  </a:tcPr>
                </a:tc>
                <a:tc>
                  <a:txBody>
                    <a:bodyPr/>
                    <a:lstStyle/>
                    <a:p>
                      <a:pPr algn="ctr"/>
                      <a:r>
                        <a:rPr sz="800" b="0" i="0">
                          <a:solidFill>
                            <a:srgbClr val="0D0D0D"/>
                          </a:solidFill>
                          <a:latin typeface="Calibri"/>
                        </a:rPr>
                        <a:t>8,5x</a:t>
                      </a:r>
                    </a:p>
                  </a:txBody>
                  <a:tcPr>
                    <a:solidFill>
                      <a:srgbClr val="FFFFFF"/>
                    </a:solidFill>
                  </a:tcPr>
                </a:tc>
                <a:tc>
                  <a:txBody>
                    <a:bodyPr/>
                    <a:lstStyle/>
                    <a:p>
                      <a:pPr algn="ctr"/>
                      <a:r>
                        <a:rPr sz="800" b="0" i="0">
                          <a:solidFill>
                            <a:srgbClr val="0D0D0D"/>
                          </a:solidFill>
                          <a:latin typeface="Calibri"/>
                        </a:rPr>
                        <a:t>34,2x</a:t>
                      </a:r>
                    </a:p>
                  </a:txBody>
                  <a:tcPr>
                    <a:solidFill>
                      <a:srgbClr val="FFFFFF"/>
                    </a:solidFill>
                  </a:tcPr>
                </a:tc>
                <a:tc>
                  <a:txBody>
                    <a:bodyPr/>
                    <a:lstStyle/>
                    <a:p>
                      <a:pPr algn="ctr"/>
                      <a:r>
                        <a:rPr sz="800" b="0" i="0">
                          <a:solidFill>
                            <a:srgbClr val="0D0D0D"/>
                          </a:solidFill>
                          <a:latin typeface="Calibri"/>
                        </a:rPr>
                        <a:t>68,0 %</a:t>
                      </a:r>
                    </a:p>
                  </a:txBody>
                  <a:tcPr>
                    <a:solidFill>
                      <a:srgbClr val="FFFFFF"/>
                    </a:solidFill>
                  </a:tcPr>
                </a:tc>
                <a:tc>
                  <a:txBody>
                    <a:bodyPr/>
                    <a:lstStyle/>
                    <a:p>
                      <a:pPr algn="ctr"/>
                      <a:r>
                        <a:rPr sz="800" b="0" i="0">
                          <a:solidFill>
                            <a:srgbClr val="0D0D0D"/>
                          </a:solidFill>
                          <a:latin typeface="Calibri"/>
                        </a:rPr>
                        <a:t>43,0 %</a:t>
                      </a:r>
                    </a:p>
                  </a:txBody>
                  <a:tcPr>
                    <a:solidFill>
                      <a:srgbClr val="FFFFFF"/>
                    </a:solidFill>
                  </a:tcPr>
                </a:tc>
              </a:tr>
              <a:tr h="251999">
                <a:tc>
                  <a:txBody>
                    <a:bodyPr/>
                    <a:lstStyle/>
                    <a:p>
                      <a:pPr algn="l"/>
                      <a:r>
                        <a:rPr sz="800" b="0" i="0">
                          <a:solidFill>
                            <a:srgbClr val="0D0D0D"/>
                          </a:solidFill>
                          <a:latin typeface="Calibri"/>
                        </a:rPr>
                        <a:t>Alphabet</a:t>
                      </a:r>
                    </a:p>
                  </a:txBody>
                  <a:tcPr>
                    <a:solidFill>
                      <a:srgbClr val="F7F8FA"/>
                    </a:solidFill>
                  </a:tcPr>
                </a:tc>
                <a:tc>
                  <a:txBody>
                    <a:bodyPr/>
                    <a:lstStyle/>
                    <a:p>
                      <a:pPr algn="ctr"/>
                      <a:r>
                        <a:rPr sz="750" b="0" i="0">
                          <a:solidFill>
                            <a:srgbClr val="555555"/>
                          </a:solidFill>
                          <a:latin typeface="Calibri"/>
                        </a:rPr>
                        <a:t>GOOGL</a:t>
                      </a:r>
                    </a:p>
                  </a:txBody>
                  <a:tcPr>
                    <a:solidFill>
                      <a:srgbClr val="F7F8FA"/>
                    </a:solidFill>
                  </a:tcPr>
                </a:tc>
                <a:tc>
                  <a:txBody>
                    <a:bodyPr/>
                    <a:lstStyle/>
                    <a:p>
                      <a:pPr algn="ctr"/>
                      <a:r>
                        <a:rPr sz="800" b="0" i="0">
                          <a:solidFill>
                            <a:srgbClr val="0D0D0D"/>
                          </a:solidFill>
                          <a:latin typeface="Calibri"/>
                        </a:rPr>
                        <a:t>1 571,9</a:t>
                      </a:r>
                    </a:p>
                  </a:txBody>
                  <a:tcPr>
                    <a:solidFill>
                      <a:srgbClr val="F7F8FA"/>
                    </a:solidFill>
                  </a:tcPr>
                </a:tc>
                <a:tc>
                  <a:txBody>
                    <a:bodyPr/>
                    <a:lstStyle/>
                    <a:p>
                      <a:pPr algn="ctr"/>
                      <a:r>
                        <a:rPr sz="800" b="0" i="0">
                          <a:solidFill>
                            <a:srgbClr val="0D0D0D"/>
                          </a:solidFill>
                          <a:latin typeface="Calibri"/>
                        </a:rPr>
                        <a:t>20,5x</a:t>
                      </a:r>
                    </a:p>
                  </a:txBody>
                  <a:tcPr>
                    <a:solidFill>
                      <a:srgbClr val="F7F8FA"/>
                    </a:solidFill>
                  </a:tcPr>
                </a:tc>
                <a:tc>
                  <a:txBody>
                    <a:bodyPr/>
                    <a:lstStyle/>
                    <a:p>
                      <a:pPr algn="ctr"/>
                      <a:r>
                        <a:rPr sz="800" b="0" i="0">
                          <a:solidFill>
                            <a:srgbClr val="0D0D0D"/>
                          </a:solidFill>
                          <a:latin typeface="Calibri"/>
                        </a:rPr>
                        <a:t>7,3x</a:t>
                      </a:r>
                    </a:p>
                  </a:txBody>
                  <a:tcPr>
                    <a:solidFill>
                      <a:srgbClr val="F7F8FA"/>
                    </a:solidFill>
                  </a:tcPr>
                </a:tc>
                <a:tc>
                  <a:txBody>
                    <a:bodyPr/>
                    <a:lstStyle/>
                    <a:p>
                      <a:pPr algn="ctr"/>
                      <a:r>
                        <a:rPr sz="800" b="0" i="0">
                          <a:solidFill>
                            <a:srgbClr val="0D0D0D"/>
                          </a:solidFill>
                          <a:latin typeface="Calibri"/>
                        </a:rPr>
                        <a:t>29,1x</a:t>
                      </a:r>
                    </a:p>
                  </a:txBody>
                  <a:tcPr>
                    <a:solidFill>
                      <a:srgbClr val="F7F8FA"/>
                    </a:solidFill>
                  </a:tcPr>
                </a:tc>
                <a:tc>
                  <a:txBody>
                    <a:bodyPr/>
                    <a:lstStyle/>
                    <a:p>
                      <a:pPr algn="ctr"/>
                      <a:r>
                        <a:rPr sz="800" b="0" i="0">
                          <a:solidFill>
                            <a:srgbClr val="0D0D0D"/>
                          </a:solidFill>
                          <a:latin typeface="Calibri"/>
                        </a:rPr>
                        <a:t>55,0 %</a:t>
                      </a:r>
                    </a:p>
                  </a:txBody>
                  <a:tcPr>
                    <a:solidFill>
                      <a:srgbClr val="F7F8FA"/>
                    </a:solidFill>
                  </a:tcPr>
                </a:tc>
                <a:tc>
                  <a:txBody>
                    <a:bodyPr/>
                    <a:lstStyle/>
                    <a:p>
                      <a:pPr algn="ctr"/>
                      <a:r>
                        <a:rPr sz="800" b="0" i="0">
                          <a:solidFill>
                            <a:srgbClr val="0D0D0D"/>
                          </a:solidFill>
                          <a:latin typeface="Calibri"/>
                        </a:rPr>
                        <a:t>32,0 %</a:t>
                      </a:r>
                    </a:p>
                  </a:txBody>
                  <a:tcPr>
                    <a:solidFill>
                      <a:srgbClr val="F7F8FA"/>
                    </a:solidFill>
                  </a:tcPr>
                </a:tc>
              </a:tr>
              <a:tr h="251999">
                <a:tc>
                  <a:txBody>
                    <a:bodyPr/>
                    <a:lstStyle/>
                    <a:p>
                      <a:pPr algn="l"/>
                      <a:r>
                        <a:rPr sz="800" b="0" i="0">
                          <a:solidFill>
                            <a:srgbClr val="0D0D0D"/>
                          </a:solidFill>
                          <a:latin typeface="Calibri"/>
                        </a:rPr>
                        <a:t>Amazon</a:t>
                      </a:r>
                    </a:p>
                  </a:txBody>
                  <a:tcPr>
                    <a:solidFill>
                      <a:srgbClr val="FFFFFF"/>
                    </a:solidFill>
                  </a:tcPr>
                </a:tc>
                <a:tc>
                  <a:txBody>
                    <a:bodyPr/>
                    <a:lstStyle/>
                    <a:p>
                      <a:pPr algn="ctr"/>
                      <a:r>
                        <a:rPr sz="750" b="0" i="0">
                          <a:solidFill>
                            <a:srgbClr val="555555"/>
                          </a:solidFill>
                          <a:latin typeface="Calibri"/>
                        </a:rPr>
                        <a:t>AMZN</a:t>
                      </a:r>
                    </a:p>
                  </a:txBody>
                  <a:tcPr>
                    <a:solidFill>
                      <a:srgbClr val="FFFFFF"/>
                    </a:solidFill>
                  </a:tcPr>
                </a:tc>
                <a:tc>
                  <a:txBody>
                    <a:bodyPr/>
                    <a:lstStyle/>
                    <a:p>
                      <a:pPr algn="ctr"/>
                      <a:r>
                        <a:rPr sz="800" b="0" i="0">
                          <a:solidFill>
                            <a:srgbClr val="0D0D0D"/>
                          </a:solidFill>
                          <a:latin typeface="Calibri"/>
                        </a:rPr>
                        <a:t>1 034,9</a:t>
                      </a:r>
                    </a:p>
                  </a:txBody>
                  <a:tcPr>
                    <a:solidFill>
                      <a:srgbClr val="FFFFFF"/>
                    </a:solidFill>
                  </a:tcPr>
                </a:tc>
                <a:tc>
                  <a:txBody>
                    <a:bodyPr/>
                    <a:lstStyle/>
                    <a:p>
                      <a:pPr algn="ctr"/>
                      <a:r>
                        <a:rPr sz="800" b="0" i="0">
                          <a:solidFill>
                            <a:srgbClr val="0D0D0D"/>
                          </a:solidFill>
                          <a:latin typeface="Calibri"/>
                        </a:rPr>
                        <a:t>18,3x</a:t>
                      </a:r>
                    </a:p>
                  </a:txBody>
                  <a:tcPr>
                    <a:solidFill>
                      <a:srgbClr val="FFFFFF"/>
                    </a:solidFill>
                  </a:tcPr>
                </a:tc>
                <a:tc>
                  <a:txBody>
                    <a:bodyPr/>
                    <a:lstStyle/>
                    <a:p>
                      <a:pPr algn="ctr"/>
                      <a:r>
                        <a:rPr sz="800" b="0" i="0">
                          <a:solidFill>
                            <a:srgbClr val="0D0D0D"/>
                          </a:solidFill>
                          <a:latin typeface="Calibri"/>
                        </a:rPr>
                        <a:t>6,5x</a:t>
                      </a:r>
                    </a:p>
                  </a:txBody>
                  <a:tcPr>
                    <a:solidFill>
                      <a:srgbClr val="FFFFFF"/>
                    </a:solidFill>
                  </a:tcPr>
                </a:tc>
                <a:tc>
                  <a:txBody>
                    <a:bodyPr/>
                    <a:lstStyle/>
                    <a:p>
                      <a:pPr algn="ctr"/>
                      <a:r>
                        <a:rPr sz="800" b="0" i="0">
                          <a:solidFill>
                            <a:srgbClr val="0D0D0D"/>
                          </a:solidFill>
                          <a:latin typeface="Calibri"/>
                        </a:rPr>
                        <a:t>24,5x</a:t>
                      </a:r>
                    </a:p>
                  </a:txBody>
                  <a:tcPr>
                    <a:solidFill>
                      <a:srgbClr val="FFFFFF"/>
                    </a:solidFill>
                  </a:tcPr>
                </a:tc>
                <a:tc>
                  <a:txBody>
                    <a:bodyPr/>
                    <a:lstStyle/>
                    <a:p>
                      <a:pPr algn="ctr"/>
                      <a:r>
                        <a:rPr sz="800" b="0" i="0">
                          <a:solidFill>
                            <a:srgbClr val="0D0D0D"/>
                          </a:solidFill>
                          <a:latin typeface="Calibri"/>
                        </a:rPr>
                        <a:t>42,0 %</a:t>
                      </a:r>
                    </a:p>
                  </a:txBody>
                  <a:tcPr>
                    <a:solidFill>
                      <a:srgbClr val="FFFFFF"/>
                    </a:solidFill>
                  </a:tcPr>
                </a:tc>
                <a:tc>
                  <a:txBody>
                    <a:bodyPr/>
                    <a:lstStyle/>
                    <a:p>
                      <a:pPr algn="ctr"/>
                      <a:r>
                        <a:rPr sz="800" b="0" i="0">
                          <a:solidFill>
                            <a:srgbClr val="0D0D0D"/>
                          </a:solidFill>
                          <a:latin typeface="Calibri"/>
                        </a:rPr>
                        <a:t>25,0 %</a:t>
                      </a:r>
                    </a:p>
                  </a:txBody>
                  <a:tcPr>
                    <a:solidFill>
                      <a:srgbClr val="FFFFFF"/>
                    </a:solidFill>
                  </a:tcPr>
                </a:tc>
              </a:tr>
              <a:tr h="251999">
                <a:tc>
                  <a:txBody>
                    <a:bodyPr/>
                    <a:lstStyle/>
                    <a:p>
                      <a:pPr algn="l"/>
                      <a:r>
                        <a:rPr sz="800" b="0" i="0">
                          <a:solidFill>
                            <a:srgbClr val="0D0D0D"/>
                          </a:solidFill>
                          <a:latin typeface="Calibri"/>
                        </a:rPr>
                        <a:t>Facebook</a:t>
                      </a:r>
                    </a:p>
                  </a:txBody>
                  <a:tcPr>
                    <a:solidFill>
                      <a:srgbClr val="F7F8FA"/>
                    </a:solidFill>
                  </a:tcPr>
                </a:tc>
                <a:tc>
                  <a:txBody>
                    <a:bodyPr/>
                    <a:lstStyle/>
                    <a:p>
                      <a:pPr algn="ctr"/>
                      <a:r>
                        <a:rPr sz="750" b="0" i="0">
                          <a:solidFill>
                            <a:srgbClr val="555555"/>
                          </a:solidFill>
                          <a:latin typeface="Calibri"/>
                        </a:rPr>
                        <a:t>META</a:t>
                      </a:r>
                    </a:p>
                  </a:txBody>
                  <a:tcPr>
                    <a:solidFill>
                      <a:srgbClr val="F7F8FA"/>
                    </a:solidFill>
                  </a:tcPr>
                </a:tc>
                <a:tc>
                  <a:txBody>
                    <a:bodyPr/>
                    <a:lstStyle/>
                    <a:p>
                      <a:pPr algn="ctr"/>
                      <a:r>
                        <a:rPr sz="800" b="0" i="0">
                          <a:solidFill>
                            <a:srgbClr val="0D0D0D"/>
                          </a:solidFill>
                          <a:latin typeface="Calibri"/>
                        </a:rPr>
                        <a:t>846,9</a:t>
                      </a:r>
                    </a:p>
                  </a:txBody>
                  <a:tcPr>
                    <a:solidFill>
                      <a:srgbClr val="F7F8FA"/>
                    </a:solidFill>
                  </a:tcPr>
                </a:tc>
                <a:tc>
                  <a:txBody>
                    <a:bodyPr/>
                    <a:lstStyle/>
                    <a:p>
                      <a:pPr algn="ctr"/>
                      <a:r>
                        <a:rPr sz="800" b="0" i="0">
                          <a:solidFill>
                            <a:srgbClr val="0D0D0D"/>
                          </a:solidFill>
                          <a:latin typeface="Calibri"/>
                        </a:rPr>
                        <a:t>16,2x</a:t>
                      </a:r>
                    </a:p>
                  </a:txBody>
                  <a:tcPr>
                    <a:solidFill>
                      <a:srgbClr val="F7F8FA"/>
                    </a:solidFill>
                  </a:tcPr>
                </a:tc>
                <a:tc>
                  <a:txBody>
                    <a:bodyPr/>
                    <a:lstStyle/>
                    <a:p>
                      <a:pPr algn="ctr"/>
                      <a:r>
                        <a:rPr sz="800" b="0" i="0">
                          <a:solidFill>
                            <a:srgbClr val="0D0D0D"/>
                          </a:solidFill>
                          <a:latin typeface="Calibri"/>
                        </a:rPr>
                        <a:t>5,8x</a:t>
                      </a:r>
                    </a:p>
                  </a:txBody>
                  <a:tcPr>
                    <a:solidFill>
                      <a:srgbClr val="F7F8FA"/>
                    </a:solidFill>
                  </a:tcPr>
                </a:tc>
                <a:tc>
                  <a:txBody>
                    <a:bodyPr/>
                    <a:lstStyle/>
                    <a:p>
                      <a:pPr algn="ctr"/>
                      <a:r>
                        <a:rPr sz="800" b="0" i="0">
                          <a:solidFill>
                            <a:srgbClr val="0D0D0D"/>
                          </a:solidFill>
                          <a:latin typeface="Calibri"/>
                        </a:rPr>
                        <a:t>20,5x</a:t>
                      </a:r>
                    </a:p>
                  </a:txBody>
                  <a:tcPr>
                    <a:solidFill>
                      <a:srgbClr val="F7F8FA"/>
                    </a:solidFill>
                  </a:tcPr>
                </a:tc>
                <a:tc>
                  <a:txBody>
                    <a:bodyPr/>
                    <a:lstStyle/>
                    <a:p>
                      <a:pPr algn="ctr"/>
                      <a:r>
                        <a:rPr sz="800" b="0" i="0">
                          <a:solidFill>
                            <a:srgbClr val="0D0D0D"/>
                          </a:solidFill>
                          <a:latin typeface="Calibri"/>
                        </a:rPr>
                        <a:t>38,0 %</a:t>
                      </a:r>
                    </a:p>
                  </a:txBody>
                  <a:tcPr>
                    <a:solidFill>
                      <a:srgbClr val="F7F8FA"/>
                    </a:solidFill>
                  </a:tcPr>
                </a:tc>
                <a:tc>
                  <a:txBody>
                    <a:bodyPr/>
                    <a:lstStyle/>
                    <a:p>
                      <a:pPr algn="ctr"/>
                      <a:r>
                        <a:rPr sz="800" b="0" i="0">
                          <a:solidFill>
                            <a:srgbClr val="0D0D0D"/>
                          </a:solidFill>
                          <a:latin typeface="Calibri"/>
                        </a:rPr>
                        <a:t>22,0 %</a:t>
                      </a:r>
                    </a:p>
                  </a:txBody>
                  <a:tcPr>
                    <a:solidFill>
                      <a:srgbClr val="F7F8FA"/>
                    </a:solidFill>
                  </a:tcPr>
                </a:tc>
              </a:tr>
              <a:tr h="251999">
                <a:tc>
                  <a:txBody>
                    <a:bodyPr/>
                    <a:lstStyle/>
                    <a:p>
                      <a:pPr algn="l"/>
                      <a:r>
                        <a:rPr sz="800" b="0" i="0">
                          <a:solidFill>
                            <a:srgbClr val="0D0D0D"/>
                          </a:solidFill>
                          <a:latin typeface="Calibri"/>
                        </a:rPr>
                        <a:t>Tesla</a:t>
                      </a:r>
                    </a:p>
                  </a:txBody>
                  <a:tcPr>
                    <a:solidFill>
                      <a:srgbClr val="FFFFFF"/>
                    </a:solidFill>
                  </a:tcPr>
                </a:tc>
                <a:tc>
                  <a:txBody>
                    <a:bodyPr/>
                    <a:lstStyle/>
                    <a:p>
                      <a:pPr algn="ctr"/>
                      <a:r>
                        <a:rPr sz="750" b="0" i="0">
                          <a:solidFill>
                            <a:srgbClr val="555555"/>
                          </a:solidFill>
                          <a:latin typeface="Calibri"/>
                        </a:rPr>
                        <a:t>TSLA</a:t>
                      </a:r>
                    </a:p>
                  </a:txBody>
                  <a:tcPr>
                    <a:solidFill>
                      <a:srgbClr val="FFFFFF"/>
                    </a:solidFill>
                  </a:tcPr>
                </a:tc>
                <a:tc>
                  <a:txBody>
                    <a:bodyPr/>
                    <a:lstStyle/>
                    <a:p>
                      <a:pPr algn="ctr"/>
                      <a:r>
                        <a:rPr sz="800" b="0" i="0">
                          <a:solidFill>
                            <a:srgbClr val="0D0D0D"/>
                          </a:solidFill>
                          <a:latin typeface="Calibri"/>
                        </a:rPr>
                        <a:t>574,9</a:t>
                      </a:r>
                    </a:p>
                  </a:txBody>
                  <a:tcPr>
                    <a:solidFill>
                      <a:srgbClr val="FFFFFF"/>
                    </a:solidFill>
                  </a:tcPr>
                </a:tc>
                <a:tc>
                  <a:txBody>
                    <a:bodyPr/>
                    <a:lstStyle/>
                    <a:p>
                      <a:pPr algn="ctr"/>
                      <a:r>
                        <a:rPr sz="800" b="0" i="0">
                          <a:solidFill>
                            <a:srgbClr val="0D0D0D"/>
                          </a:solidFill>
                          <a:latin typeface="Calibri"/>
                        </a:rPr>
                        <a:t>24,9x</a:t>
                      </a:r>
                    </a:p>
                  </a:txBody>
                  <a:tcPr>
                    <a:solidFill>
                      <a:srgbClr val="FFFFFF"/>
                    </a:solidFill>
                  </a:tcPr>
                </a:tc>
                <a:tc>
                  <a:txBody>
                    <a:bodyPr/>
                    <a:lstStyle/>
                    <a:p>
                      <a:pPr algn="ctr"/>
                      <a:r>
                        <a:rPr sz="800" b="0" i="0">
                          <a:solidFill>
                            <a:srgbClr val="0D0D0D"/>
                          </a:solidFill>
                          <a:latin typeface="Calibri"/>
                        </a:rPr>
                        <a:t>9,2x</a:t>
                      </a:r>
                    </a:p>
                  </a:txBody>
                  <a:tcPr>
                    <a:solidFill>
                      <a:srgbClr val="FFFFFF"/>
                    </a:solidFill>
                  </a:tcPr>
                </a:tc>
                <a:tc>
                  <a:txBody>
                    <a:bodyPr/>
                    <a:lstStyle/>
                    <a:p>
                      <a:pPr algn="ctr"/>
                      <a:r>
                        <a:rPr sz="800" b="0" i="0">
                          <a:solidFill>
                            <a:srgbClr val="0D0D0D"/>
                          </a:solidFill>
                          <a:latin typeface="Calibri"/>
                        </a:rPr>
                        <a:t>35,1x</a:t>
                      </a:r>
                    </a:p>
                  </a:txBody>
                  <a:tcPr>
                    <a:solidFill>
                      <a:srgbClr val="FFFFFF"/>
                    </a:solidFill>
                  </a:tcPr>
                </a:tc>
                <a:tc>
                  <a:txBody>
                    <a:bodyPr/>
                    <a:lstStyle/>
                    <a:p>
                      <a:pPr algn="ctr"/>
                      <a:r>
                        <a:rPr sz="800" b="0" i="0">
                          <a:solidFill>
                            <a:srgbClr val="0D0D0D"/>
                          </a:solidFill>
                          <a:latin typeface="Calibri"/>
                        </a:rPr>
                        <a:t>25,0 %</a:t>
                      </a:r>
                    </a:p>
                  </a:txBody>
                  <a:tcPr>
                    <a:solidFill>
                      <a:srgbClr val="FFFFFF"/>
                    </a:solidFill>
                  </a:tcPr>
                </a:tc>
                <a:tc>
                  <a:txBody>
                    <a:bodyPr/>
                    <a:lstStyle/>
                    <a:p>
                      <a:pPr algn="ctr"/>
                      <a:r>
                        <a:rPr sz="800" b="0" i="0">
                          <a:solidFill>
                            <a:srgbClr val="0D0D0D"/>
                          </a:solidFill>
                          <a:latin typeface="Calibri"/>
                        </a:rPr>
                        <a:t>15,0 %</a:t>
                      </a:r>
                    </a:p>
                  </a:txBody>
                  <a:tcPr>
                    <a:solidFill>
                      <a:srgbClr val="FFFFFF"/>
                    </a:solidFill>
                  </a:tcPr>
                </a:tc>
              </a:tr>
              <a:tr h="252006">
                <a:tc>
                  <a:txBody>
                    <a:bodyPr/>
                    <a:lstStyle/>
                    <a:p>
                      <a:pPr algn="l"/>
                      <a:r>
                        <a:rPr sz="800" b="1" i="0">
                          <a:solidFill>
                            <a:srgbClr val="0D0D0D"/>
                          </a:solidFill>
                          <a:latin typeface="Calibri"/>
                        </a:rPr>
                        <a:t>Médiane peers</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20,5x</a:t>
                      </a:r>
                    </a:p>
                  </a:txBody>
                  <a:tcPr>
                    <a:solidFill>
                      <a:srgbClr val="F7F8FA"/>
                    </a:solidFill>
                  </a:tcPr>
                </a:tc>
                <a:tc>
                  <a:txBody>
                    <a:bodyPr/>
                    <a:lstStyle/>
                    <a:p>
                      <a:pPr algn="ctr"/>
                      <a:r>
                        <a:rPr sz="800" b="1" i="0">
                          <a:solidFill>
                            <a:srgbClr val="0D0D0D"/>
                          </a:solidFill>
                          <a:latin typeface="Calibri"/>
                        </a:rPr>
                        <a:t>7,3x</a:t>
                      </a:r>
                    </a:p>
                  </a:txBody>
                  <a:tcPr>
                    <a:solidFill>
                      <a:srgbClr val="F7F8FA"/>
                    </a:solidFill>
                  </a:tcPr>
                </a:tc>
                <a:tc>
                  <a:txBody>
                    <a:bodyPr/>
                    <a:lstStyle/>
                    <a:p>
                      <a:pPr algn="ctr"/>
                      <a:r>
                        <a:rPr sz="800" b="1" i="0">
                          <a:solidFill>
                            <a:srgbClr val="0D0D0D"/>
                          </a:solidFill>
                          <a:latin typeface="Calibri"/>
                        </a:rPr>
                        <a:t>29,1x</a:t>
                      </a:r>
                    </a:p>
                  </a:txBody>
                  <a:tcPr>
                    <a:solidFill>
                      <a:srgbClr val="F7F8FA"/>
                    </a:solidFill>
                  </a:tcPr>
                </a:tc>
                <a:tc>
                  <a:txBody>
                    <a:bodyPr/>
                    <a:lstStyle/>
                    <a:p>
                      <a:pPr algn="ctr"/>
                      <a:r>
                        <a:rPr sz="800" b="1" i="0">
                          <a:solidFill>
                            <a:srgbClr val="0D0D0D"/>
                          </a:solidFill>
                          <a:latin typeface="Calibri"/>
                        </a:rPr>
                        <a:t>42,0 %</a:t>
                      </a:r>
                    </a:p>
                  </a:txBody>
                  <a:tcPr>
                    <a:solidFill>
                      <a:srgbClr val="F7F8FA"/>
                    </a:solidFill>
                  </a:tcPr>
                </a:tc>
                <a:tc>
                  <a:txBody>
                    <a:bodyPr/>
                    <a:lstStyle/>
                    <a:p>
                      <a:pPr algn="ctr"/>
                      <a:r>
                        <a:rPr sz="800" b="1" i="0">
                          <a:solidFill>
                            <a:srgbClr val="0D0D0D"/>
                          </a:solidFill>
                          <a:latin typeface="Calibri"/>
                        </a:rPr>
                        <a:t>25,0 %</a:t>
                      </a:r>
                    </a:p>
                  </a:txBody>
                  <a:tcPr>
                    <a:solidFill>
                      <a:srgbClr val="F7F8FA"/>
                    </a:solidFill>
                  </a:tcPr>
                </a:tc>
              </a:tr>
            </a:tbl>
          </a:graphicData>
        </a:graphic>
      </p:graphicFrame>
      <p:sp>
        <p:nvSpPr>
          <p:cNvPr id="18" name="TextBox 17"/>
          <p:cNvSpPr txBox="1"/>
          <p:nvPr/>
        </p:nvSpPr>
        <p:spPr>
          <a:xfrm>
            <a:off x="367200" y="3128400"/>
            <a:ext cx="8413200" cy="1234800"/>
          </a:xfrm>
          <a:prstGeom prst="rect">
            <a:avLst/>
          </a:prstGeom>
          <a:noFill/>
        </p:spPr>
        <p:txBody>
          <a:bodyPr wrap="square">
            <a:spAutoFit/>
          </a:bodyPr>
          <a:lstStyle/>
          <a:p>
            <a:pPr algn="l"/>
            <a:r>
              <a:rPr sz="850" b="0" i="0">
                <a:solidFill>
                  <a:srgbClr val="555555"/>
                </a:solidFill>
                <a:latin typeface="Calibri"/>
              </a:rPr>
              <a:t>Le ratio EV/EBITDA d'Apple est inférieur à la moyenne de son secteur, ce qui indique une valorisation attractive.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Football Field Chart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Synthèse des méthodes de valorisation  ·  USD par action</a:t>
            </a:r>
          </a:p>
        </p:txBody>
      </p:sp>
      <p:graphicFrame>
        <p:nvGraphicFramePr>
          <p:cNvPr id="17" name="Table 16"/>
          <p:cNvGraphicFramePr>
            <a:graphicFrameLocks noGrp="1"/>
          </p:cNvGraphicFramePr>
          <p:nvPr/>
        </p:nvGraphicFramePr>
        <p:xfrm>
          <a:off x="367200" y="914400"/>
          <a:ext cx="8413200" cy="2149200"/>
        </p:xfrm>
        <a:graphic>
          <a:graphicData uri="http://schemas.openxmlformats.org/drawingml/2006/table">
            <a:tbl>
              <a:tblPr firstRow="1" bandRow="1">
                <a:tableStyleId>{5C22544A-7EE6-4342-B048-85BDC9FD1C3A}</a:tableStyleId>
              </a:tblPr>
              <a:tblGrid>
                <a:gridCol w="2944620"/>
                <a:gridCol w="1682640"/>
                <a:gridCol w="1682640"/>
                <a:gridCol w="2103300"/>
              </a:tblGrid>
              <a:tr h="268650">
                <a:tc>
                  <a:txBody>
                    <a:bodyPr/>
                    <a:lstStyle/>
                    <a:p>
                      <a:pPr algn="l"/>
                      <a:r>
                        <a:rPr sz="800" b="1" i="0">
                          <a:solidFill>
                            <a:srgbClr val="FFFFFF"/>
                          </a:solidFill>
                          <a:latin typeface="Calibri"/>
                        </a:rPr>
                        <a:t>Methode</a:t>
                      </a:r>
                    </a:p>
                  </a:txBody>
                  <a:tcPr>
                    <a:solidFill>
                      <a:srgbClr val="1B3A6B"/>
                    </a:solidFill>
                  </a:tcPr>
                </a:tc>
                <a:tc>
                  <a:txBody>
                    <a:bodyPr/>
                    <a:lstStyle/>
                    <a:p>
                      <a:pPr algn="ctr"/>
                      <a:r>
                        <a:rPr sz="800" b="1" i="0">
                          <a:solidFill>
                            <a:srgbClr val="FFFFFF"/>
                          </a:solidFill>
                          <a:latin typeface="Calibri"/>
                        </a:rPr>
                        <a:t>Fourchette basse</a:t>
                      </a:r>
                    </a:p>
                  </a:txBody>
                  <a:tcPr>
                    <a:solidFill>
                      <a:srgbClr val="1B3A6B"/>
                    </a:solidFill>
                  </a:tcPr>
                </a:tc>
                <a:tc>
                  <a:txBody>
                    <a:bodyPr/>
                    <a:lstStyle/>
                    <a:p>
                      <a:pPr algn="ctr"/>
                      <a:r>
                        <a:rPr sz="800" b="1" i="0">
                          <a:solidFill>
                            <a:srgbClr val="FFFFFF"/>
                          </a:solidFill>
                          <a:latin typeface="Calibri"/>
                        </a:rPr>
                        <a:t>Fourchette haute</a:t>
                      </a:r>
                    </a:p>
                  </a:txBody>
                  <a:tcPr>
                    <a:solidFill>
                      <a:srgbClr val="1B3A6B"/>
                    </a:solidFill>
                  </a:tcPr>
                </a:tc>
                <a:tc>
                  <a:txBody>
                    <a:bodyPr/>
                    <a:lstStyle/>
                    <a:p>
                      <a:pPr algn="ctr"/>
                      <a:r>
                        <a:rPr sz="800" b="1" i="0">
                          <a:solidFill>
                            <a:srgbClr val="FFFFFF"/>
                          </a:solidFill>
                          <a:latin typeface="Calibri"/>
                        </a:rPr>
                        <a:t>Point central</a:t>
                      </a:r>
                    </a:p>
                  </a:txBody>
                  <a:tcPr>
                    <a:solidFill>
                      <a:srgbClr val="1B3A6B"/>
                    </a:solidFill>
                  </a:tcPr>
                </a:tc>
              </a:tr>
              <a:tr h="268650">
                <a:tc>
                  <a:txBody>
                    <a:bodyPr/>
                    <a:lstStyle/>
                    <a:p>
                      <a:pPr algn="l"/>
                      <a:r>
                        <a:rPr sz="800" b="0" i="0">
                          <a:solidFill>
                            <a:srgbClr val="0D0D0D"/>
                          </a:solidFill>
                          <a:latin typeface="Calibri"/>
                        </a:rPr>
                        <a:t>DCF - Bear</a:t>
                      </a:r>
                    </a:p>
                  </a:txBody>
                  <a:tcPr>
                    <a:solidFill>
                      <a:srgbClr val="FAF0EF"/>
                    </a:solidFill>
                  </a:tcPr>
                </a:tc>
                <a:tc>
                  <a:txBody>
                    <a:bodyPr/>
                    <a:lstStyle/>
                    <a:p>
                      <a:pPr algn="ctr"/>
                      <a:r>
                        <a:rPr sz="800" b="0" i="0">
                          <a:solidFill>
                            <a:srgbClr val="0D0D0D"/>
                          </a:solidFill>
                          <a:latin typeface="Calibri"/>
                        </a:rPr>
                        <a:t>220</a:t>
                      </a:r>
                    </a:p>
                  </a:txBody>
                  <a:tcPr>
                    <a:solidFill>
                      <a:srgbClr val="FAF0EF"/>
                    </a:solidFill>
                  </a:tcPr>
                </a:tc>
                <a:tc>
                  <a:txBody>
                    <a:bodyPr/>
                    <a:lstStyle/>
                    <a:p>
                      <a:pPr algn="ctr"/>
                      <a:r>
                        <a:rPr sz="800" b="0" i="0">
                          <a:solidFill>
                            <a:srgbClr val="0D0D0D"/>
                          </a:solidFill>
                          <a:latin typeface="Calibri"/>
                        </a:rPr>
                        <a:t>250</a:t>
                      </a:r>
                    </a:p>
                  </a:txBody>
                  <a:tcPr>
                    <a:solidFill>
                      <a:srgbClr val="FAF0EF"/>
                    </a:solidFill>
                  </a:tcPr>
                </a:tc>
                <a:tc>
                  <a:txBody>
                    <a:bodyPr/>
                    <a:lstStyle/>
                    <a:p>
                      <a:pPr algn="ctr"/>
                      <a:r>
                        <a:rPr sz="800" b="0" i="0">
                          <a:solidFill>
                            <a:srgbClr val="0D0D0D"/>
                          </a:solidFill>
                          <a:latin typeface="Calibri"/>
                        </a:rPr>
                        <a:t>241</a:t>
                      </a:r>
                    </a:p>
                  </a:txBody>
                  <a:tcPr>
                    <a:solidFill>
                      <a:srgbClr val="FAF0EF"/>
                    </a:solidFill>
                  </a:tcPr>
                </a:tc>
              </a:tr>
              <a:tr h="268650">
                <a:tc>
                  <a:txBody>
                    <a:bodyPr/>
                    <a:lstStyle/>
                    <a:p>
                      <a:pPr algn="l"/>
                      <a:r>
                        <a:rPr sz="800" b="0" i="0">
                          <a:solidFill>
                            <a:srgbClr val="0D0D0D"/>
                          </a:solidFill>
                          <a:latin typeface="Calibri"/>
                        </a:rPr>
                        <a:t>DCF - Base</a:t>
                      </a:r>
                    </a:p>
                  </a:txBody>
                  <a:tcPr>
                    <a:solidFill>
                      <a:srgbClr val="EEF3FA"/>
                    </a:solidFill>
                  </a:tcPr>
                </a:tc>
                <a:tc>
                  <a:txBody>
                    <a:bodyPr/>
                    <a:lstStyle/>
                    <a:p>
                      <a:pPr algn="ctr"/>
                      <a:r>
                        <a:rPr sz="800" b="0" i="0">
                          <a:solidFill>
                            <a:srgbClr val="0D0D0D"/>
                          </a:solidFill>
                          <a:latin typeface="Calibri"/>
                        </a:rPr>
                        <a:t>250</a:t>
                      </a:r>
                    </a:p>
                  </a:txBody>
                  <a:tcPr>
                    <a:solidFill>
                      <a:srgbClr val="EEF3FA"/>
                    </a:solidFill>
                  </a:tcPr>
                </a:tc>
                <a:tc>
                  <a:txBody>
                    <a:bodyPr/>
                    <a:lstStyle/>
                    <a:p>
                      <a:pPr algn="ctr"/>
                      <a:r>
                        <a:rPr sz="800" b="0" i="0">
                          <a:solidFill>
                            <a:srgbClr val="0D0D0D"/>
                          </a:solidFill>
                          <a:latin typeface="Calibri"/>
                        </a:rPr>
                        <a:t>300</a:t>
                      </a:r>
                    </a:p>
                  </a:txBody>
                  <a:tcPr>
                    <a:solidFill>
                      <a:srgbClr val="EEF3FA"/>
                    </a:solidFill>
                  </a:tcPr>
                </a:tc>
                <a:tc>
                  <a:txBody>
                    <a:bodyPr/>
                    <a:lstStyle/>
                    <a:p>
                      <a:pPr algn="ctr"/>
                      <a:r>
                        <a:rPr sz="800" b="0" i="0">
                          <a:solidFill>
                            <a:srgbClr val="0D0D0D"/>
                          </a:solidFill>
                          <a:latin typeface="Calibri"/>
                        </a:rPr>
                        <a:t>280</a:t>
                      </a:r>
                    </a:p>
                  </a:txBody>
                  <a:tcPr>
                    <a:solidFill>
                      <a:srgbClr val="EEF3FA"/>
                    </a:solidFill>
                  </a:tcPr>
                </a:tc>
              </a:tr>
              <a:tr h="268650">
                <a:tc>
                  <a:txBody>
                    <a:bodyPr/>
                    <a:lstStyle/>
                    <a:p>
                      <a:pPr algn="l"/>
                      <a:r>
                        <a:rPr sz="800" b="0" i="0">
                          <a:solidFill>
                            <a:srgbClr val="0D0D0D"/>
                          </a:solidFill>
                          <a:latin typeface="Calibri"/>
                        </a:rPr>
                        <a:t>DCF - Bull</a:t>
                      </a:r>
                    </a:p>
                  </a:txBody>
                  <a:tcPr>
                    <a:solidFill>
                      <a:srgbClr val="EAF4EF"/>
                    </a:solidFill>
                  </a:tcPr>
                </a:tc>
                <a:tc>
                  <a:txBody>
                    <a:bodyPr/>
                    <a:lstStyle/>
                    <a:p>
                      <a:pPr algn="ctr"/>
                      <a:r>
                        <a:rPr sz="800" b="0" i="0">
                          <a:solidFill>
                            <a:srgbClr val="0D0D0D"/>
                          </a:solidFill>
                          <a:latin typeface="Calibri"/>
                        </a:rPr>
                        <a:t>300</a:t>
                      </a:r>
                    </a:p>
                  </a:txBody>
                  <a:tcPr>
                    <a:solidFill>
                      <a:srgbClr val="EAF4EF"/>
                    </a:solidFill>
                  </a:tcPr>
                </a:tc>
                <a:tc>
                  <a:txBody>
                    <a:bodyPr/>
                    <a:lstStyle/>
                    <a:p>
                      <a:pPr algn="ctr"/>
                      <a:r>
                        <a:rPr sz="800" b="0" i="0">
                          <a:solidFill>
                            <a:srgbClr val="0D0D0D"/>
                          </a:solidFill>
                          <a:latin typeface="Calibri"/>
                        </a:rPr>
                        <a:t>350</a:t>
                      </a:r>
                    </a:p>
                  </a:txBody>
                  <a:tcPr>
                    <a:solidFill>
                      <a:srgbClr val="EAF4EF"/>
                    </a:solidFill>
                  </a:tcPr>
                </a:tc>
                <a:tc>
                  <a:txBody>
                    <a:bodyPr/>
                    <a:lstStyle/>
                    <a:p>
                      <a:pPr algn="ctr"/>
                      <a:r>
                        <a:rPr sz="800" b="0" i="0">
                          <a:solidFill>
                            <a:srgbClr val="0D0D0D"/>
                          </a:solidFill>
                          <a:latin typeface="Calibri"/>
                        </a:rPr>
                        <a:t>310</a:t>
                      </a:r>
                    </a:p>
                  </a:txBody>
                  <a:tcPr>
                    <a:solidFill>
                      <a:srgbClr val="EAF4EF"/>
                    </a:solidFill>
                  </a:tcPr>
                </a:tc>
              </a:tr>
              <a:tr h="268650">
                <a:tc>
                  <a:txBody>
                    <a:bodyPr/>
                    <a:lstStyle/>
                    <a:p>
                      <a:pPr algn="l"/>
                      <a:r>
                        <a:rPr sz="800" b="0" i="0">
                          <a:solidFill>
                            <a:srgbClr val="0D0D0D"/>
                          </a:solidFill>
                          <a:latin typeface="Calibri"/>
                        </a:rPr>
                        <a:t>EV/EBITDA - Mediane peers</a:t>
                      </a:r>
                    </a:p>
                  </a:txBody>
                  <a:tcPr>
                    <a:solidFill>
                      <a:srgbClr val="F7F8FA"/>
                    </a:solidFill>
                  </a:tcPr>
                </a:tc>
                <a:tc>
                  <a:txBody>
                    <a:bodyPr/>
                    <a:lstStyle/>
                    <a:p>
                      <a:pPr algn="ctr"/>
                      <a:r>
                        <a:rPr sz="800" b="0" i="0">
                          <a:solidFill>
                            <a:srgbClr val="0D0D0D"/>
                          </a:solidFill>
                          <a:latin typeface="Calibri"/>
                        </a:rPr>
                        <a:t>240</a:t>
                      </a:r>
                    </a:p>
                  </a:txBody>
                  <a:tcPr>
                    <a:solidFill>
                      <a:srgbClr val="F7F8FA"/>
                    </a:solidFill>
                  </a:tcPr>
                </a:tc>
                <a:tc>
                  <a:txBody>
                    <a:bodyPr/>
                    <a:lstStyle/>
                    <a:p>
                      <a:pPr algn="ctr"/>
                      <a:r>
                        <a:rPr sz="800" b="0" i="0">
                          <a:solidFill>
                            <a:srgbClr val="0D0D0D"/>
                          </a:solidFill>
                          <a:latin typeface="Calibri"/>
                        </a:rPr>
                        <a:t>280</a:t>
                      </a:r>
                    </a:p>
                  </a:txBody>
                  <a:tcPr>
                    <a:solidFill>
                      <a:srgbClr val="F7F8FA"/>
                    </a:solidFill>
                  </a:tcPr>
                </a:tc>
                <a:tc>
                  <a:txBody>
                    <a:bodyPr/>
                    <a:lstStyle/>
                    <a:p>
                      <a:pPr algn="ctr"/>
                      <a:r>
                        <a:rPr sz="800" b="0" i="0">
                          <a:solidFill>
                            <a:srgbClr val="0D0D0D"/>
                          </a:solidFill>
                          <a:latin typeface="Calibri"/>
                        </a:rPr>
                        <a:t>260</a:t>
                      </a:r>
                    </a:p>
                  </a:txBody>
                  <a:tcPr>
                    <a:solidFill>
                      <a:srgbClr val="F7F8FA"/>
                    </a:solidFill>
                  </a:tcPr>
                </a:tc>
              </a:tr>
              <a:tr h="268650">
                <a:tc>
                  <a:txBody>
                    <a:bodyPr/>
                    <a:lstStyle/>
                    <a:p>
                      <a:pPr algn="l"/>
                      <a:r>
                        <a:rPr sz="800" b="0" i="0">
                          <a:solidFill>
                            <a:srgbClr val="0D0D0D"/>
                          </a:solidFill>
                          <a:latin typeface="Calibri"/>
                        </a:rPr>
                        <a:t>EV/EBITDA - Prime tech +50%</a:t>
                      </a:r>
                    </a:p>
                  </a:txBody>
                  <a:tcPr>
                    <a:solidFill>
                      <a:srgbClr val="F7F8FA"/>
                    </a:solidFill>
                  </a:tcPr>
                </a:tc>
                <a:tc>
                  <a:txBody>
                    <a:bodyPr/>
                    <a:lstStyle/>
                    <a:p>
                      <a:pPr algn="ctr"/>
                      <a:r>
                        <a:rPr sz="800" b="0" i="0">
                          <a:solidFill>
                            <a:srgbClr val="0D0D0D"/>
                          </a:solidFill>
                          <a:latin typeface="Calibri"/>
                        </a:rPr>
                        <a:t>280</a:t>
                      </a:r>
                    </a:p>
                  </a:txBody>
                  <a:tcPr>
                    <a:solidFill>
                      <a:srgbClr val="F7F8FA"/>
                    </a:solidFill>
                  </a:tcPr>
                </a:tc>
                <a:tc>
                  <a:txBody>
                    <a:bodyPr/>
                    <a:lstStyle/>
                    <a:p>
                      <a:pPr algn="ctr"/>
                      <a:r>
                        <a:rPr sz="800" b="0" i="0">
                          <a:solidFill>
                            <a:srgbClr val="0D0D0D"/>
                          </a:solidFill>
                          <a:latin typeface="Calibri"/>
                        </a:rPr>
                        <a:t>330</a:t>
                      </a:r>
                    </a:p>
                  </a:txBody>
                  <a:tcPr>
                    <a:solidFill>
                      <a:srgbClr val="F7F8FA"/>
                    </a:solidFill>
                  </a:tcPr>
                </a:tc>
                <a:tc>
                  <a:txBody>
                    <a:bodyPr/>
                    <a:lstStyle/>
                    <a:p>
                      <a:pPr algn="ctr"/>
                      <a:r>
                        <a:rPr sz="800" b="0" i="0">
                          <a:solidFill>
                            <a:srgbClr val="0D0D0D"/>
                          </a:solidFill>
                          <a:latin typeface="Calibri"/>
                        </a:rPr>
                        <a:t>300</a:t>
                      </a:r>
                    </a:p>
                  </a:txBody>
                  <a:tcPr>
                    <a:solidFill>
                      <a:srgbClr val="F7F8FA"/>
                    </a:solidFill>
                  </a:tcPr>
                </a:tc>
              </a:tr>
              <a:tr h="268650">
                <a:tc>
                  <a:txBody>
                    <a:bodyPr/>
                    <a:lstStyle/>
                    <a:p>
                      <a:pPr algn="l"/>
                      <a:r>
                        <a:rPr sz="800" b="0" i="0">
                          <a:solidFill>
                            <a:srgbClr val="0D0D0D"/>
                          </a:solidFill>
                          <a:latin typeface="Calibri"/>
                        </a:rPr>
                        <a:t>EV/Revenue - Mediane peers</a:t>
                      </a:r>
                    </a:p>
                  </a:txBody>
                  <a:tcPr>
                    <a:solidFill>
                      <a:srgbClr val="F7F8FA"/>
                    </a:solidFill>
                  </a:tcPr>
                </a:tc>
                <a:tc>
                  <a:txBody>
                    <a:bodyPr/>
                    <a:lstStyle/>
                    <a:p>
                      <a:pPr algn="ctr"/>
                      <a:r>
                        <a:rPr sz="800" b="0" i="0">
                          <a:solidFill>
                            <a:srgbClr val="0D0D0D"/>
                          </a:solidFill>
                          <a:latin typeface="Calibri"/>
                        </a:rPr>
                        <a:t>200</a:t>
                      </a:r>
                    </a:p>
                  </a:txBody>
                  <a:tcPr>
                    <a:solidFill>
                      <a:srgbClr val="F7F8FA"/>
                    </a:solidFill>
                  </a:tcPr>
                </a:tc>
                <a:tc>
                  <a:txBody>
                    <a:bodyPr/>
                    <a:lstStyle/>
                    <a:p>
                      <a:pPr algn="ctr"/>
                      <a:r>
                        <a:rPr sz="800" b="0" i="0">
                          <a:solidFill>
                            <a:srgbClr val="0D0D0D"/>
                          </a:solidFill>
                          <a:latin typeface="Calibri"/>
                        </a:rPr>
                        <a:t>240</a:t>
                      </a:r>
                    </a:p>
                  </a:txBody>
                  <a:tcPr>
                    <a:solidFill>
                      <a:srgbClr val="F7F8FA"/>
                    </a:solidFill>
                  </a:tcPr>
                </a:tc>
                <a:tc>
                  <a:txBody>
                    <a:bodyPr/>
                    <a:lstStyle/>
                    <a:p>
                      <a:pPr algn="ctr"/>
                      <a:r>
                        <a:rPr sz="800" b="0" i="0">
                          <a:solidFill>
                            <a:srgbClr val="0D0D0D"/>
                          </a:solidFill>
                          <a:latin typeface="Calibri"/>
                        </a:rPr>
                        <a:t>220</a:t>
                      </a:r>
                    </a:p>
                  </a:txBody>
                  <a:tcPr>
                    <a:solidFill>
                      <a:srgbClr val="F7F8FA"/>
                    </a:solidFill>
                  </a:tcPr>
                </a:tc>
              </a:tr>
              <a:tr h="268650">
                <a:tc>
                  <a:txBody>
                    <a:bodyPr/>
                    <a:lstStyle/>
                    <a:p>
                      <a:pPr algn="l"/>
                      <a:r>
                        <a:rPr sz="800" b="0" i="0">
                          <a:solidFill>
                            <a:srgbClr val="0D0D0D"/>
                          </a:solidFill>
                          <a:latin typeface="Calibri"/>
                        </a:rPr>
                        <a:t>Cours actuel (253,38)</a:t>
                      </a:r>
                    </a:p>
                  </a:txBody>
                  <a:tcPr>
                    <a:solidFill>
                      <a:srgbClr val="EEF3FA"/>
                    </a:solidFill>
                  </a:tcPr>
                </a:tc>
                <a:tc>
                  <a:txBody>
                    <a:bodyPr/>
                    <a:lstStyle/>
                    <a:p>
                      <a:pPr algn="ctr"/>
                      <a:r>
                        <a:rPr sz="800" b="0" i="0">
                          <a:solidFill>
                            <a:srgbClr val="0D0D0D"/>
                          </a:solidFill>
                          <a:latin typeface="Calibri"/>
                        </a:rPr>
                        <a:t>—</a:t>
                      </a:r>
                    </a:p>
                  </a:txBody>
                  <a:tcPr>
                    <a:solidFill>
                      <a:srgbClr val="EEF3FA"/>
                    </a:solidFill>
                  </a:tcPr>
                </a:tc>
                <a:tc>
                  <a:txBody>
                    <a:bodyPr/>
                    <a:lstStyle/>
                    <a:p>
                      <a:pPr algn="ctr"/>
                      <a:r>
                        <a:rPr sz="800" b="0" i="0">
                          <a:solidFill>
                            <a:srgbClr val="0D0D0D"/>
                          </a:solidFill>
                          <a:latin typeface="Calibri"/>
                        </a:rPr>
                        <a:t>—</a:t>
                      </a:r>
                    </a:p>
                  </a:txBody>
                  <a:tcPr>
                    <a:solidFill>
                      <a:srgbClr val="EEF3FA"/>
                    </a:solidFill>
                  </a:tcPr>
                </a:tc>
                <a:tc>
                  <a:txBody>
                    <a:bodyPr/>
                    <a:lstStyle/>
                    <a:p>
                      <a:pPr algn="ctr"/>
                      <a:r>
                        <a:rPr sz="800" b="0" i="0">
                          <a:solidFill>
                            <a:srgbClr val="0D0D0D"/>
                          </a:solidFill>
                          <a:latin typeface="Calibri"/>
                        </a:rPr>
                        <a:t>253,38</a:t>
                      </a:r>
                    </a:p>
                  </a:txBody>
                  <a:tcPr>
                    <a:solidFill>
                      <a:srgbClr val="EEF3FA"/>
                    </a:solidFill>
                  </a:tcPr>
                </a:tc>
              </a:tr>
            </a:tbl>
          </a:graphicData>
        </a:graphic>
      </p:graphicFrame>
      <p:sp>
        <p:nvSpPr>
          <p:cNvPr id="18" name="TextBox 17"/>
          <p:cNvSpPr txBox="1"/>
          <p:nvPr/>
        </p:nvSpPr>
        <p:spPr>
          <a:xfrm>
            <a:off x="367200" y="3528000"/>
            <a:ext cx="8413200" cy="914400"/>
          </a:xfrm>
          <a:prstGeom prst="rect">
            <a:avLst/>
          </a:prstGeom>
          <a:noFill/>
        </p:spPr>
        <p:txBody>
          <a:bodyPr wrap="square">
            <a:spAutoFit/>
          </a:bodyPr>
          <a:lstStyle/>
          <a:p>
            <a:pPr algn="l"/>
            <a:r>
              <a:rPr sz="850" b="0" i="0">
                <a:solidFill>
                  <a:srgbClr val="555555"/>
                </a:solidFill>
                <a:latin typeface="Calibri"/>
              </a:rPr>
              <a:t>Le prix implicite d'Apple sur la base d'un modèle de flux de trésorerie disponible est de 280,5 USD, ce qui suggère un upside de 10% par rapport au cours actuel.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04</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Risques &amp; Stratégie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Avocat du diable &amp; conditions d'invalidation</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1B3A6B"/>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Risques &amp; Conditions d'Invalidation</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des risques structurels  ·  Thèse contraire</a:t>
            </a:r>
          </a:p>
        </p:txBody>
      </p:sp>
      <p:sp>
        <p:nvSpPr>
          <p:cNvPr id="17" name="Rectangle 16"/>
          <p:cNvSpPr/>
          <p:nvPr/>
        </p:nvSpPr>
        <p:spPr>
          <a:xfrm>
            <a:off x="367200" y="961200"/>
            <a:ext cx="2743200" cy="1918800"/>
          </a:xfrm>
          <a:prstGeom prst="rect">
            <a:avLst/>
          </a:prstGeom>
          <a:solidFill>
            <a:srgbClr val="FAF0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2743200" cy="5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200" y="1069200"/>
            <a:ext cx="2527200" cy="255600"/>
          </a:xfrm>
          <a:prstGeom prst="rect">
            <a:avLst/>
          </a:prstGeom>
          <a:noFill/>
        </p:spPr>
        <p:txBody>
          <a:bodyPr wrap="square">
            <a:spAutoFit/>
          </a:bodyPr>
          <a:lstStyle/>
          <a:p>
            <a:pPr algn="l"/>
            <a:r>
              <a:rPr sz="900" b="1" i="0">
                <a:solidFill>
                  <a:srgbClr val="A82020"/>
                </a:solidFill>
                <a:latin typeface="Calibri"/>
              </a:rPr>
              <a:t>Concurrence accrue</a:t>
            </a:r>
          </a:p>
        </p:txBody>
      </p:sp>
      <p:sp>
        <p:nvSpPr>
          <p:cNvPr id="20" name="TextBox 19"/>
          <p:cNvSpPr txBox="1"/>
          <p:nvPr/>
        </p:nvSpPr>
        <p:spPr>
          <a:xfrm>
            <a:off x="475200" y="1436400"/>
            <a:ext cx="2527200" cy="1260000"/>
          </a:xfrm>
          <a:prstGeom prst="rect">
            <a:avLst/>
          </a:prstGeom>
          <a:noFill/>
        </p:spPr>
        <p:txBody>
          <a:bodyPr wrap="square">
            <a:spAutoFit/>
          </a:bodyPr>
          <a:lstStyle/>
          <a:p>
            <a:pPr algn="l"/>
            <a:r>
              <a:rPr sz="800" b="0" i="0">
                <a:solidFill>
                  <a:srgbClr val="555555"/>
                </a:solidFill>
                <a:latin typeface="Calibri"/>
              </a:rPr>
              <a:t>Concurrence accrue</a:t>
            </a:r>
          </a:p>
        </p:txBody>
      </p:sp>
      <p:sp>
        <p:nvSpPr>
          <p:cNvPr id="21" name="Rectangle 20"/>
          <p:cNvSpPr/>
          <p:nvPr/>
        </p:nvSpPr>
        <p:spPr>
          <a:xfrm>
            <a:off x="3229200" y="961200"/>
            <a:ext cx="2743200" cy="191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29200" y="961200"/>
            <a:ext cx="27432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337200" y="1069200"/>
            <a:ext cx="2527200" cy="255600"/>
          </a:xfrm>
          <a:prstGeom prst="rect">
            <a:avLst/>
          </a:prstGeom>
          <a:noFill/>
        </p:spPr>
        <p:txBody>
          <a:bodyPr wrap="square">
            <a:spAutoFit/>
          </a:bodyPr>
          <a:lstStyle/>
          <a:p>
            <a:pPr algn="l"/>
            <a:r>
              <a:rPr sz="900" b="1" i="0">
                <a:solidFill>
                  <a:srgbClr val="2E5FA3"/>
                </a:solidFill>
                <a:latin typeface="Calibri"/>
              </a:rPr>
              <a:t>Dépendance aux smartphones</a:t>
            </a:r>
          </a:p>
        </p:txBody>
      </p:sp>
      <p:sp>
        <p:nvSpPr>
          <p:cNvPr id="24" name="TextBox 23"/>
          <p:cNvSpPr txBox="1"/>
          <p:nvPr/>
        </p:nvSpPr>
        <p:spPr>
          <a:xfrm>
            <a:off x="3337200" y="1436400"/>
            <a:ext cx="2527200" cy="1260000"/>
          </a:xfrm>
          <a:prstGeom prst="rect">
            <a:avLst/>
          </a:prstGeom>
          <a:noFill/>
        </p:spPr>
        <p:txBody>
          <a:bodyPr wrap="square">
            <a:spAutoFit/>
          </a:bodyPr>
          <a:lstStyle/>
          <a:p>
            <a:pPr algn="l"/>
            <a:r>
              <a:rPr sz="800" b="0" i="0">
                <a:solidFill>
                  <a:srgbClr val="555555"/>
                </a:solidFill>
                <a:latin typeface="Calibri"/>
              </a:rPr>
              <a:t>Risques politiques</a:t>
            </a:r>
          </a:p>
        </p:txBody>
      </p:sp>
      <p:sp>
        <p:nvSpPr>
          <p:cNvPr id="25" name="Rectangle 24"/>
          <p:cNvSpPr/>
          <p:nvPr/>
        </p:nvSpPr>
        <p:spPr>
          <a:xfrm>
            <a:off x="6091200" y="961200"/>
            <a:ext cx="2743200" cy="1918800"/>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091200" y="961200"/>
            <a:ext cx="2743200" cy="5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99200" y="1069200"/>
            <a:ext cx="2527200" cy="255600"/>
          </a:xfrm>
          <a:prstGeom prst="rect">
            <a:avLst/>
          </a:prstGeom>
          <a:noFill/>
        </p:spPr>
        <p:txBody>
          <a:bodyPr wrap="square">
            <a:spAutoFit/>
          </a:bodyPr>
          <a:lstStyle/>
          <a:p>
            <a:pPr algn="l"/>
            <a:r>
              <a:rPr sz="900" b="1" i="0">
                <a:solidFill>
                  <a:srgbClr val="B06000"/>
                </a:solidFill>
                <a:latin typeface="Calibri"/>
              </a:rPr>
              <a:t>Risques politiques</a:t>
            </a:r>
          </a:p>
        </p:txBody>
      </p:sp>
      <p:sp>
        <p:nvSpPr>
          <p:cNvPr id="28" name="TextBox 27"/>
          <p:cNvSpPr txBox="1"/>
          <p:nvPr/>
        </p:nvSpPr>
        <p:spPr>
          <a:xfrm>
            <a:off x="6199200" y="1436400"/>
            <a:ext cx="2527200" cy="1260000"/>
          </a:xfrm>
          <a:prstGeom prst="rect">
            <a:avLst/>
          </a:prstGeom>
          <a:noFill/>
        </p:spPr>
        <p:txBody>
          <a:bodyPr wrap="square">
            <a:spAutoFit/>
          </a:bodyPr>
          <a:lstStyle/>
          <a:p>
            <a:pPr algn="l"/>
            <a:r>
              <a:rPr sz="800" b="0" i="0">
                <a:solidFill>
                  <a:srgbClr val="555555"/>
                </a:solidFill>
                <a:latin typeface="Calibri"/>
              </a:rPr>
              <a:t>Dépendance aux smartphones</a:t>
            </a:r>
          </a:p>
        </p:txBody>
      </p:sp>
      <p:sp>
        <p:nvSpPr>
          <p:cNvPr id="29" name="Rectangle 28"/>
          <p:cNvSpPr/>
          <p:nvPr/>
        </p:nvSpPr>
        <p:spPr>
          <a:xfrm>
            <a:off x="367200" y="29988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7200" y="3070800"/>
            <a:ext cx="8413200" cy="165600"/>
          </a:xfrm>
          <a:prstGeom prst="rect">
            <a:avLst/>
          </a:prstGeom>
          <a:noFill/>
        </p:spPr>
        <p:txBody>
          <a:bodyPr wrap="square">
            <a:spAutoFit/>
          </a:bodyPr>
          <a:lstStyle/>
          <a:p>
            <a:pPr algn="l"/>
            <a:r>
              <a:rPr sz="900" b="1" i="0">
                <a:solidFill>
                  <a:srgbClr val="1B3A6B"/>
                </a:solidFill>
                <a:latin typeface="Calibri"/>
              </a:rPr>
              <a:t>Conditions d'invalidation de la these</a:t>
            </a:r>
          </a:p>
        </p:txBody>
      </p:sp>
      <p:graphicFrame>
        <p:nvGraphicFramePr>
          <p:cNvPr id="31" name="Table 30"/>
          <p:cNvGraphicFramePr>
            <a:graphicFrameLocks noGrp="1"/>
          </p:cNvGraphicFramePr>
          <p:nvPr/>
        </p:nvGraphicFramePr>
        <p:xfrm>
          <a:off x="367200" y="3308400"/>
          <a:ext cx="8413200" cy="1098000"/>
        </p:xfrm>
        <a:graphic>
          <a:graphicData uri="http://schemas.openxmlformats.org/drawingml/2006/table">
            <a:tbl>
              <a:tblPr firstRow="1" bandRow="1">
                <a:tableStyleId>{5C22544A-7EE6-4342-B048-85BDC9FD1C3A}</a:tableStyleId>
              </a:tblPr>
              <a:tblGrid>
                <a:gridCol w="1261980"/>
                <a:gridCol w="5468580"/>
                <a:gridCol w="1682640"/>
              </a:tblGrid>
              <a:tr h="274500">
                <a:tc>
                  <a:txBody>
                    <a:bodyPr/>
                    <a:lstStyle/>
                    <a:p>
                      <a:pPr algn="l"/>
                      <a:r>
                        <a:rPr sz="800" b="1" i="0">
                          <a:solidFill>
                            <a:srgbClr val="FFFFFF"/>
                          </a:solidFill>
                          <a:latin typeface="Calibri"/>
                        </a:rPr>
                        <a:t>Axe</a:t>
                      </a:r>
                    </a:p>
                  </a:txBody>
                  <a:tcPr>
                    <a:solidFill>
                      <a:srgbClr val="1B3A6B"/>
                    </a:solidFill>
                  </a:tcPr>
                </a:tc>
                <a:tc>
                  <a:txBody>
                    <a:bodyPr/>
                    <a:lstStyle/>
                    <a:p>
                      <a:pPr algn="ctr"/>
                      <a:r>
                        <a:rPr sz="800" b="1" i="0">
                          <a:solidFill>
                            <a:srgbClr val="FFFFFF"/>
                          </a:solidFill>
                          <a:latin typeface="Calibri"/>
                        </a:rPr>
                        <a:t>Condition d'invalidation</a:t>
                      </a:r>
                    </a:p>
                  </a:txBody>
                  <a:tcPr>
                    <a:solidFill>
                      <a:srgbClr val="1B3A6B"/>
                    </a:solidFill>
                  </a:tcPr>
                </a:tc>
                <a:tc>
                  <a:txBody>
                    <a:bodyPr/>
                    <a:lstStyle/>
                    <a:p>
                      <a:pPr algn="ctr"/>
                      <a:r>
                        <a:rPr sz="800" b="1" i="0">
                          <a:solidFill>
                            <a:srgbClr val="FFFFFF"/>
                          </a:solidFill>
                          <a:latin typeface="Calibri"/>
                        </a:rPr>
                        <a:t>Horizon</a:t>
                      </a:r>
                    </a:p>
                  </a:txBody>
                  <a:tcPr>
                    <a:solidFill>
                      <a:srgbClr val="1B3A6B"/>
                    </a:solidFill>
                  </a:tcPr>
                </a:tc>
              </a:tr>
              <a:tr h="274500">
                <a:tc>
                  <a:txBody>
                    <a:bodyPr/>
                    <a:lstStyle/>
                    <a:p>
                      <a:pPr algn="l"/>
                      <a:r>
                        <a:rPr sz="800" b="1" i="0">
                          <a:solidFill>
                            <a:srgbClr val="1B3A6B"/>
                          </a:solidFill>
                          <a:latin typeface="Calibri"/>
                        </a:rPr>
                        <a:t>Macro</a:t>
                      </a:r>
                    </a:p>
                  </a:txBody>
                  <a:tcPr>
                    <a:solidFill>
                      <a:srgbClr val="FFFFFF"/>
                    </a:solidFill>
                  </a:tcPr>
                </a:tc>
                <a:tc>
                  <a:txBody>
                    <a:bodyPr/>
                    <a:lstStyle/>
                    <a:p>
                      <a:pPr algn="ctr"/>
                      <a:r>
                        <a:rPr sz="800" b="0" i="0">
                          <a:solidFill>
                            <a:srgbClr val="0D0D0D"/>
                          </a:solidFill>
                          <a:latin typeface="Calibri"/>
                        </a:rPr>
                        <a:t>Récession économique mondiale</a:t>
                      </a:r>
                    </a:p>
                  </a:txBody>
                  <a:tcPr>
                    <a:solidFill>
                      <a:srgbClr val="FFFFFF"/>
                    </a:solidFill>
                  </a:tcPr>
                </a:tc>
                <a:tc>
                  <a:txBody>
                    <a:bodyPr/>
                    <a:lstStyle/>
                    <a:p>
                      <a:pPr algn="ctr"/>
                      <a:r>
                        <a:rPr sz="800" b="0" i="0">
                          <a:solidFill>
                            <a:srgbClr val="0D0D0D"/>
                          </a:solidFill>
                          <a:latin typeface="Calibri"/>
                        </a:rPr>
                        <a:t>6-12 mois</a:t>
                      </a:r>
                    </a:p>
                  </a:txBody>
                  <a:tcPr>
                    <a:solidFill>
                      <a:srgbClr val="FFFFFF"/>
                    </a:solidFill>
                  </a:tcPr>
                </a:tc>
              </a:tr>
              <a:tr h="274500">
                <a:tc>
                  <a:txBody>
                    <a:bodyPr/>
                    <a:lstStyle/>
                    <a:p>
                      <a:pPr algn="l"/>
                      <a:r>
                        <a:rPr sz="800" b="1" i="0">
                          <a:solidFill>
                            <a:srgbClr val="1B3A6B"/>
                          </a:solidFill>
                          <a:latin typeface="Calibri"/>
                        </a:rPr>
                        <a:t>Sectoriel</a:t>
                      </a:r>
                    </a:p>
                  </a:txBody>
                  <a:tcPr>
                    <a:solidFill>
                      <a:srgbClr val="F7F8FA"/>
                    </a:solidFill>
                  </a:tcPr>
                </a:tc>
                <a:tc>
                  <a:txBody>
                    <a:bodyPr/>
                    <a:lstStyle/>
                    <a:p>
                      <a:pPr algn="ctr"/>
                      <a:r>
                        <a:rPr sz="800" b="0" i="0">
                          <a:solidFill>
                            <a:srgbClr val="0D0D0D"/>
                          </a:solidFill>
                          <a:latin typeface="Calibri"/>
                        </a:rPr>
                        <a:t>Concurrence accrue dans le secteur des smartphones</a:t>
                      </a:r>
                    </a:p>
                  </a:txBody>
                  <a:tcPr>
                    <a:solidFill>
                      <a:srgbClr val="F7F8FA"/>
                    </a:solidFill>
                  </a:tcPr>
                </a:tc>
                <a:tc>
                  <a:txBody>
                    <a:bodyPr/>
                    <a:lstStyle/>
                    <a:p>
                      <a:pPr algn="ctr"/>
                      <a:r>
                        <a:rPr sz="800" b="0" i="0">
                          <a:solidFill>
                            <a:srgbClr val="0D0D0D"/>
                          </a:solidFill>
                          <a:latin typeface="Calibri"/>
                        </a:rPr>
                        <a:t>12-18 mois</a:t>
                      </a:r>
                    </a:p>
                  </a:txBody>
                  <a:tcPr>
                    <a:solidFill>
                      <a:srgbClr val="F7F8FA"/>
                    </a:solidFill>
                  </a:tcPr>
                </a:tc>
              </a:tr>
              <a:tr h="274500">
                <a:tc>
                  <a:txBody>
                    <a:bodyPr/>
                    <a:lstStyle/>
                    <a:p>
                      <a:pPr algn="l"/>
                      <a:r>
                        <a:rPr sz="800" b="1" i="0">
                          <a:solidFill>
                            <a:srgbClr val="1B3A6B"/>
                          </a:solidFill>
                          <a:latin typeface="Calibri"/>
                        </a:rPr>
                        <a:t>Societe</a:t>
                      </a:r>
                    </a:p>
                  </a:txBody>
                  <a:tcPr>
                    <a:solidFill>
                      <a:srgbClr val="FFFFFF"/>
                    </a:solidFill>
                  </a:tcPr>
                </a:tc>
                <a:tc>
                  <a:txBody>
                    <a:bodyPr/>
                    <a:lstStyle/>
                    <a:p>
                      <a:pPr algn="ctr"/>
                      <a:r>
                        <a:rPr sz="800" b="0" i="0">
                          <a:solidFill>
                            <a:srgbClr val="0D0D0D"/>
                          </a:solidFill>
                          <a:latin typeface="Calibri"/>
                        </a:rPr>
                        <a:t>Problèmes de production ou de livraison</a:t>
                      </a:r>
                    </a:p>
                  </a:txBody>
                  <a:tcPr>
                    <a:solidFill>
                      <a:srgbClr val="FFFFFF"/>
                    </a:solidFill>
                  </a:tcPr>
                </a:tc>
                <a:tc>
                  <a:txBody>
                    <a:bodyPr/>
                    <a:lstStyle/>
                    <a:p>
                      <a:pPr algn="ctr"/>
                      <a:r>
                        <a:rPr sz="800" b="0" i="0">
                          <a:solidFill>
                            <a:srgbClr val="0D0D0D"/>
                          </a:solidFill>
                          <a:latin typeface="Calibri"/>
                        </a:rPr>
                        <a:t>2-3 trimestres</a:t>
                      </a:r>
                    </a:p>
                  </a:txBody>
                  <a:tcPr>
                    <a:solidFill>
                      <a:srgbClr val="FFFFFF"/>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05</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Sentiment &amp; Annexes</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FinBERT, actionnariat &amp; historique de cours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Sentiment de Marché — FinBERT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sémantique  ·  30 articles  ·  7 derniers jours</a:t>
            </a:r>
          </a:p>
        </p:txBody>
      </p:sp>
      <p:sp>
        <p:nvSpPr>
          <p:cNvPr id="17" name="Rectangle 16"/>
          <p:cNvSpPr/>
          <p:nvPr/>
        </p:nvSpPr>
        <p:spPr>
          <a:xfrm>
            <a:off x="367200" y="961200"/>
            <a:ext cx="25596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422800" cy="396000"/>
          </a:xfrm>
          <a:prstGeom prst="rect">
            <a:avLst/>
          </a:prstGeom>
          <a:noFill/>
        </p:spPr>
        <p:txBody>
          <a:bodyPr wrap="square">
            <a:spAutoFit/>
          </a:bodyPr>
          <a:lstStyle/>
          <a:p>
            <a:pPr algn="l"/>
            <a:r>
              <a:rPr sz="1900" b="1" i="0">
                <a:solidFill>
                  <a:srgbClr val="1B3A6B"/>
                </a:solidFill>
                <a:latin typeface="Calibri"/>
              </a:rPr>
              <a:t>Neutre +</a:t>
            </a:r>
          </a:p>
        </p:txBody>
      </p:sp>
      <p:sp>
        <p:nvSpPr>
          <p:cNvPr id="20" name="TextBox 19"/>
          <p:cNvSpPr txBox="1"/>
          <p:nvPr/>
        </p:nvSpPr>
        <p:spPr>
          <a:xfrm>
            <a:off x="457200" y="1411200"/>
            <a:ext cx="2422800" cy="205199"/>
          </a:xfrm>
          <a:prstGeom prst="rect">
            <a:avLst/>
          </a:prstGeom>
          <a:noFill/>
        </p:spPr>
        <p:txBody>
          <a:bodyPr wrap="square">
            <a:spAutoFit/>
          </a:bodyPr>
          <a:lstStyle/>
          <a:p>
            <a:pPr algn="l"/>
            <a:r>
              <a:rPr sz="800" b="0" i="0">
                <a:solidFill>
                  <a:srgbClr val="555555"/>
                </a:solidFill>
                <a:latin typeface="Calibri"/>
              </a:rPr>
              <a:t>Orientation globale</a:t>
            </a:r>
          </a:p>
        </p:txBody>
      </p:sp>
      <p:sp>
        <p:nvSpPr>
          <p:cNvPr id="21" name="TextBox 20"/>
          <p:cNvSpPr txBox="1"/>
          <p:nvPr/>
        </p:nvSpPr>
        <p:spPr>
          <a:xfrm>
            <a:off x="457200" y="1609200"/>
            <a:ext cx="2422800" cy="165600"/>
          </a:xfrm>
          <a:prstGeom prst="rect">
            <a:avLst/>
          </a:prstGeom>
          <a:noFill/>
        </p:spPr>
        <p:txBody>
          <a:bodyPr wrap="square">
            <a:spAutoFit/>
          </a:bodyPr>
          <a:lstStyle/>
          <a:p>
            <a:pPr algn="l"/>
            <a:r>
              <a:rPr sz="700" b="0" i="0">
                <a:solidFill>
                  <a:srgbClr val="888888"/>
                </a:solidFill>
                <a:latin typeface="Calibri"/>
              </a:rPr>
              <a:t>Score agrege : +0,035</a:t>
            </a:r>
          </a:p>
        </p:txBody>
      </p:sp>
      <p:sp>
        <p:nvSpPr>
          <p:cNvPr id="22" name="Rectangle 21"/>
          <p:cNvSpPr/>
          <p:nvPr/>
        </p:nvSpPr>
        <p:spPr>
          <a:xfrm>
            <a:off x="3110400" y="961200"/>
            <a:ext cx="182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1104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0" y="1015200"/>
            <a:ext cx="1692000" cy="396000"/>
          </a:xfrm>
          <a:prstGeom prst="rect">
            <a:avLst/>
          </a:prstGeom>
          <a:noFill/>
        </p:spPr>
        <p:txBody>
          <a:bodyPr wrap="square">
            <a:spAutoFit/>
          </a:bodyPr>
          <a:lstStyle/>
          <a:p>
            <a:pPr algn="l"/>
            <a:r>
              <a:rPr sz="1900" b="1" i="0">
                <a:solidFill>
                  <a:srgbClr val="1B3A6B"/>
                </a:solidFill>
                <a:latin typeface="Calibri"/>
              </a:rPr>
              <a:t>30</a:t>
            </a:r>
          </a:p>
        </p:txBody>
      </p:sp>
      <p:sp>
        <p:nvSpPr>
          <p:cNvPr id="25" name="TextBox 24"/>
          <p:cNvSpPr txBox="1"/>
          <p:nvPr/>
        </p:nvSpPr>
        <p:spPr>
          <a:xfrm>
            <a:off x="3200400" y="1411200"/>
            <a:ext cx="1692000" cy="205199"/>
          </a:xfrm>
          <a:prstGeom prst="rect">
            <a:avLst/>
          </a:prstGeom>
          <a:noFill/>
        </p:spPr>
        <p:txBody>
          <a:bodyPr wrap="square">
            <a:spAutoFit/>
          </a:bodyPr>
          <a:lstStyle/>
          <a:p>
            <a:pPr algn="l"/>
            <a:r>
              <a:rPr sz="800" b="0" i="0">
                <a:solidFill>
                  <a:srgbClr val="555555"/>
                </a:solidFill>
                <a:latin typeface="Calibri"/>
              </a:rPr>
              <a:t>Articles analyses</a:t>
            </a:r>
          </a:p>
        </p:txBody>
      </p:sp>
      <p:sp>
        <p:nvSpPr>
          <p:cNvPr id="26" name="TextBox 25"/>
          <p:cNvSpPr txBox="1"/>
          <p:nvPr/>
        </p:nvSpPr>
        <p:spPr>
          <a:xfrm>
            <a:off x="3200400" y="1609200"/>
            <a:ext cx="1692000" cy="165600"/>
          </a:xfrm>
          <a:prstGeom prst="rect">
            <a:avLst/>
          </a:prstGeom>
          <a:noFill/>
        </p:spPr>
        <p:txBody>
          <a:bodyPr wrap="square">
            <a:spAutoFit/>
          </a:bodyPr>
          <a:lstStyle/>
          <a:p>
            <a:pPr algn="l"/>
            <a:r>
              <a:rPr sz="700" b="0" i="0">
                <a:solidFill>
                  <a:srgbClr val="888888"/>
                </a:solidFill>
                <a:latin typeface="Calibri"/>
              </a:rPr>
              <a:t>Fenetre : 7 jours</a:t>
            </a:r>
          </a:p>
        </p:txBody>
      </p:sp>
      <p:sp>
        <p:nvSpPr>
          <p:cNvPr id="27" name="Rectangle 26"/>
          <p:cNvSpPr/>
          <p:nvPr/>
        </p:nvSpPr>
        <p:spPr>
          <a:xfrm>
            <a:off x="5119200" y="961200"/>
            <a:ext cx="16452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119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09200" y="1015200"/>
            <a:ext cx="1508400" cy="396000"/>
          </a:xfrm>
          <a:prstGeom prst="rect">
            <a:avLst/>
          </a:prstGeom>
          <a:noFill/>
        </p:spPr>
        <p:txBody>
          <a:bodyPr wrap="square">
            <a:spAutoFit/>
          </a:bodyPr>
          <a:lstStyle/>
          <a:p>
            <a:pPr algn="l"/>
            <a:r>
              <a:rPr sz="1900" b="1" i="0">
                <a:solidFill>
                  <a:srgbClr val="1B3A6B"/>
                </a:solidFill>
                <a:latin typeface="Calibri"/>
              </a:rPr>
              <a:t>49,7 %</a:t>
            </a:r>
          </a:p>
        </p:txBody>
      </p:sp>
      <p:sp>
        <p:nvSpPr>
          <p:cNvPr id="30" name="TextBox 29"/>
          <p:cNvSpPr txBox="1"/>
          <p:nvPr/>
        </p:nvSpPr>
        <p:spPr>
          <a:xfrm>
            <a:off x="5209200" y="1411200"/>
            <a:ext cx="1508400" cy="205199"/>
          </a:xfrm>
          <a:prstGeom prst="rect">
            <a:avLst/>
          </a:prstGeom>
          <a:noFill/>
        </p:spPr>
        <p:txBody>
          <a:bodyPr wrap="square">
            <a:spAutoFit/>
          </a:bodyPr>
          <a:lstStyle/>
          <a:p>
            <a:pPr algn="l"/>
            <a:r>
              <a:rPr sz="800" b="0" i="0">
                <a:solidFill>
                  <a:srgbClr val="555555"/>
                </a:solidFill>
                <a:latin typeface="Calibri"/>
              </a:rPr>
              <a:t>Confiance IA</a:t>
            </a:r>
          </a:p>
        </p:txBody>
      </p:sp>
      <p:sp>
        <p:nvSpPr>
          <p:cNvPr id="31" name="TextBox 30"/>
          <p:cNvSpPr txBox="1"/>
          <p:nvPr/>
        </p:nvSpPr>
        <p:spPr>
          <a:xfrm>
            <a:off x="5209200" y="1609200"/>
            <a:ext cx="1508400" cy="165600"/>
          </a:xfrm>
          <a:prstGeom prst="rect">
            <a:avLst/>
          </a:prstGeom>
          <a:noFill/>
        </p:spPr>
        <p:txBody>
          <a:bodyPr wrap="square">
            <a:spAutoFit/>
          </a:bodyPr>
          <a:lstStyle/>
          <a:p>
            <a:pPr algn="l"/>
            <a:r>
              <a:rPr sz="700" b="0" i="0">
                <a:solidFill>
                  <a:srgbClr val="888888"/>
                </a:solidFill>
                <a:latin typeface="Calibri"/>
              </a:rPr>
              <a:t>Modele FinBERT</a:t>
            </a:r>
          </a:p>
        </p:txBody>
      </p:sp>
      <p:sp>
        <p:nvSpPr>
          <p:cNvPr id="32" name="Rectangle 31"/>
          <p:cNvSpPr/>
          <p:nvPr/>
        </p:nvSpPr>
        <p:spPr>
          <a:xfrm>
            <a:off x="6948000" y="961200"/>
            <a:ext cx="173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9480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38000" y="1015200"/>
            <a:ext cx="1602000" cy="396000"/>
          </a:xfrm>
          <a:prstGeom prst="rect">
            <a:avLst/>
          </a:prstGeom>
          <a:noFill/>
        </p:spPr>
        <p:txBody>
          <a:bodyPr wrap="square">
            <a:spAutoFit/>
          </a:bodyPr>
          <a:lstStyle/>
          <a:p>
            <a:pPr algn="l"/>
            <a:r>
              <a:rPr sz="1900" b="1" i="0">
                <a:solidFill>
                  <a:srgbClr val="1B3A6B"/>
                </a:solidFill>
                <a:latin typeface="Calibri"/>
              </a:rPr>
              <a:t>BUY</a:t>
            </a:r>
          </a:p>
        </p:txBody>
      </p:sp>
      <p:sp>
        <p:nvSpPr>
          <p:cNvPr id="35" name="TextBox 34"/>
          <p:cNvSpPr txBox="1"/>
          <p:nvPr/>
        </p:nvSpPr>
        <p:spPr>
          <a:xfrm>
            <a:off x="7038000" y="1411200"/>
            <a:ext cx="1602000" cy="205199"/>
          </a:xfrm>
          <a:prstGeom prst="rect">
            <a:avLst/>
          </a:prstGeom>
          <a:noFill/>
        </p:spPr>
        <p:txBody>
          <a:bodyPr wrap="square">
            <a:spAutoFit/>
          </a:bodyPr>
          <a:lstStyle/>
          <a:p>
            <a:pPr algn="l"/>
            <a:r>
              <a:rPr sz="800" b="0" i="0">
                <a:solidFill>
                  <a:srgbClr val="555555"/>
                </a:solidFill>
                <a:latin typeface="Calibri"/>
              </a:rPr>
              <a:t>Coherence</a:t>
            </a:r>
          </a:p>
        </p:txBody>
      </p:sp>
      <p:sp>
        <p:nvSpPr>
          <p:cNvPr id="36" name="TextBox 35"/>
          <p:cNvSpPr txBox="1"/>
          <p:nvPr/>
        </p:nvSpPr>
        <p:spPr>
          <a:xfrm>
            <a:off x="7038000" y="1609200"/>
            <a:ext cx="1602000" cy="165600"/>
          </a:xfrm>
          <a:prstGeom prst="rect">
            <a:avLst/>
          </a:prstGeom>
          <a:noFill/>
        </p:spPr>
        <p:txBody>
          <a:bodyPr wrap="square">
            <a:spAutoFit/>
          </a:bodyPr>
          <a:lstStyle/>
          <a:p>
            <a:pPr algn="l"/>
            <a:r>
              <a:rPr sz="700" b="0" i="0">
                <a:solidFill>
                  <a:srgbClr val="888888"/>
                </a:solidFill>
                <a:latin typeface="Calibri"/>
              </a:rPr>
              <a:t>Aligne avec la these</a:t>
            </a:r>
          </a:p>
        </p:txBody>
      </p:sp>
      <p:sp>
        <p:nvSpPr>
          <p:cNvPr id="37" name="TextBox 36"/>
          <p:cNvSpPr txBox="1"/>
          <p:nvPr/>
        </p:nvSpPr>
        <p:spPr>
          <a:xfrm>
            <a:off x="367200" y="2084400"/>
            <a:ext cx="8413200" cy="165600"/>
          </a:xfrm>
          <a:prstGeom prst="rect">
            <a:avLst/>
          </a:prstGeom>
          <a:noFill/>
        </p:spPr>
        <p:txBody>
          <a:bodyPr wrap="square">
            <a:spAutoFit/>
          </a:bodyPr>
          <a:lstStyle/>
          <a:p>
            <a:pPr algn="l"/>
            <a:r>
              <a:rPr sz="900" b="1" i="0">
                <a:solidFill>
                  <a:srgbClr val="2E5FA3"/>
                </a:solidFill>
                <a:latin typeface="Calibri"/>
              </a:rPr>
              <a:t>Détail par orientation</a:t>
            </a:r>
          </a:p>
        </p:txBody>
      </p:sp>
      <p:graphicFrame>
        <p:nvGraphicFramePr>
          <p:cNvPr id="38" name="Table 37"/>
          <p:cNvGraphicFramePr>
            <a:graphicFrameLocks noGrp="1"/>
          </p:cNvGraphicFramePr>
          <p:nvPr/>
        </p:nvGraphicFramePr>
        <p:xfrm>
          <a:off x="367200" y="2332800"/>
          <a:ext cx="8413200" cy="1152000"/>
        </p:xfrm>
        <a:graphic>
          <a:graphicData uri="http://schemas.openxmlformats.org/drawingml/2006/table">
            <a:tbl>
              <a:tblPr firstRow="1" bandRow="1">
                <a:tableStyleId>{5C22544A-7EE6-4342-B048-85BDC9FD1C3A}</a:tableStyleId>
              </a:tblPr>
              <a:tblGrid>
                <a:gridCol w="1261980"/>
                <a:gridCol w="1261980"/>
                <a:gridCol w="1682640"/>
                <a:gridCol w="4206600"/>
              </a:tblGrid>
              <a:tr h="288000">
                <a:tc>
                  <a:txBody>
                    <a:bodyPr/>
                    <a:lstStyle/>
                    <a:p>
                      <a:pPr algn="l"/>
                      <a:r>
                        <a:rPr sz="800" b="1" i="0">
                          <a:solidFill>
                            <a:srgbClr val="FFFFFF"/>
                          </a:solidFill>
                          <a:latin typeface="Calibri"/>
                        </a:rPr>
                        <a:t>Orientation</a:t>
                      </a:r>
                    </a:p>
                  </a:txBody>
                  <a:tcPr>
                    <a:solidFill>
                      <a:srgbClr val="1B3A6B"/>
                    </a:solidFill>
                  </a:tcPr>
                </a:tc>
                <a:tc>
                  <a:txBody>
                    <a:bodyPr/>
                    <a:lstStyle/>
                    <a:p>
                      <a:pPr algn="ctr"/>
                      <a:r>
                        <a:rPr sz="800" b="1" i="0">
                          <a:solidFill>
                            <a:srgbClr val="FFFFFF"/>
                          </a:solidFill>
                          <a:latin typeface="Calibri"/>
                        </a:rPr>
                        <a:t>Articles</a:t>
                      </a:r>
                    </a:p>
                  </a:txBody>
                  <a:tcPr>
                    <a:solidFill>
                      <a:srgbClr val="1B3A6B"/>
                    </a:solidFill>
                  </a:tcPr>
                </a:tc>
                <a:tc>
                  <a:txBody>
                    <a:bodyPr/>
                    <a:lstStyle/>
                    <a:p>
                      <a:pPr algn="ctr"/>
                      <a:r>
                        <a:rPr sz="800" b="1" i="0">
                          <a:solidFill>
                            <a:srgbClr val="FFFFFF"/>
                          </a:solidFill>
                          <a:latin typeface="Calibri"/>
                        </a:rPr>
                        <a:t>Score moyen</a:t>
                      </a:r>
                    </a:p>
                  </a:txBody>
                  <a:tcPr>
                    <a:solidFill>
                      <a:srgbClr val="1B3A6B"/>
                    </a:solidFill>
                  </a:tcPr>
                </a:tc>
                <a:tc>
                  <a:txBody>
                    <a:bodyPr/>
                    <a:lstStyle/>
                    <a:p>
                      <a:pPr algn="ctr"/>
                      <a:r>
                        <a:rPr sz="800" b="1" i="0">
                          <a:solidFill>
                            <a:srgbClr val="FFFFFF"/>
                          </a:solidFill>
                          <a:latin typeface="Calibri"/>
                        </a:rPr>
                        <a:t>Thèmes principaux</a:t>
                      </a:r>
                    </a:p>
                  </a:txBody>
                  <a:tcPr>
                    <a:solidFill>
                      <a:srgbClr val="1B3A6B"/>
                    </a:solidFill>
                  </a:tcPr>
                </a:tc>
              </a:tr>
              <a:tr h="288000">
                <a:tc>
                  <a:txBody>
                    <a:bodyPr/>
                    <a:lstStyle/>
                    <a:p>
                      <a:pPr algn="l"/>
                      <a:r>
                        <a:rPr sz="800" b="1" i="0">
                          <a:solidFill>
                            <a:srgbClr val="1A7A4A"/>
                          </a:solidFill>
                          <a:latin typeface="Calibri"/>
                        </a:rPr>
                        <a:t>Positif</a:t>
                      </a:r>
                    </a:p>
                  </a:txBody>
                  <a:tcPr>
                    <a:solidFill>
                      <a:srgbClr val="EAF4EF"/>
                    </a:solidFill>
                  </a:tcPr>
                </a:tc>
                <a:tc>
                  <a:txBody>
                    <a:bodyPr/>
                    <a:lstStyle/>
                    <a:p>
                      <a:pPr algn="ctr"/>
                      <a:r>
                        <a:rPr sz="800" b="1" i="0">
                          <a:solidFill>
                            <a:srgbClr val="1A7A4A"/>
                          </a:solidFill>
                          <a:latin typeface="Calibri"/>
                        </a:rPr>
                        <a:t>7</a:t>
                      </a:r>
                    </a:p>
                  </a:txBody>
                  <a:tcPr>
                    <a:solidFill>
                      <a:srgbClr val="EAF4EF"/>
                    </a:solidFill>
                  </a:tcPr>
                </a:tc>
                <a:tc>
                  <a:txBody>
                    <a:bodyPr/>
                    <a:lstStyle/>
                    <a:p>
                      <a:pPr algn="ctr"/>
                      <a:r>
                        <a:rPr sz="800" b="0" i="0">
                          <a:solidFill>
                            <a:srgbClr val="0D0D0D"/>
                          </a:solidFill>
                          <a:latin typeface="Calibri"/>
                        </a:rPr>
                        <a:t>+0,269</a:t>
                      </a:r>
                    </a:p>
                  </a:txBody>
                  <a:tcPr>
                    <a:solidFill>
                      <a:srgbClr val="EAF4EF"/>
                    </a:solidFill>
                  </a:tcPr>
                </a:tc>
                <a:tc>
                  <a:txBody>
                    <a:bodyPr/>
                    <a:lstStyle/>
                    <a:p>
                      <a:pPr algn="ctr"/>
                      <a:r>
                        <a:rPr sz="800" b="0" i="0">
                          <a:solidFill>
                            <a:srgbClr val="0D0D0D"/>
                          </a:solidFill>
                          <a:latin typeface="Calibri"/>
                        </a:rPr>
                        <a:t>Croissance de la demande pour les smartphones, Expansion de l'écosystème d'Apple, Innovation</a:t>
                      </a:r>
                    </a:p>
                  </a:txBody>
                  <a:tcPr>
                    <a:solidFill>
                      <a:srgbClr val="EAF4EF"/>
                    </a:solidFill>
                  </a:tcPr>
                </a:tc>
              </a:tr>
              <a:tr h="288000">
                <a:tc>
                  <a:txBody>
                    <a:bodyPr/>
                    <a:lstStyle/>
                    <a:p>
                      <a:pPr algn="l"/>
                      <a:r>
                        <a:rPr sz="800" b="1" i="0">
                          <a:solidFill>
                            <a:srgbClr val="555555"/>
                          </a:solidFill>
                          <a:latin typeface="Calibri"/>
                        </a:rPr>
                        <a:t>Neutre</a:t>
                      </a:r>
                    </a:p>
                  </a:txBody>
                  <a:tcPr>
                    <a:solidFill>
                      <a:srgbClr val="FFFFFF"/>
                    </a:solidFill>
                  </a:tcPr>
                </a:tc>
                <a:tc>
                  <a:txBody>
                    <a:bodyPr/>
                    <a:lstStyle/>
                    <a:p>
                      <a:pPr algn="ctr"/>
                      <a:r>
                        <a:rPr sz="800" b="1" i="0">
                          <a:solidFill>
                            <a:srgbClr val="555555"/>
                          </a:solidFill>
                          <a:latin typeface="Calibri"/>
                        </a:rPr>
                        <a:t>17</a:t>
                      </a:r>
                    </a:p>
                  </a:txBody>
                  <a:tcPr>
                    <a:solidFill>
                      <a:srgbClr val="FFFFFF"/>
                    </a:solidFill>
                  </a:tcPr>
                </a:tc>
                <a:tc>
                  <a:txBody>
                    <a:bodyPr/>
                    <a:lstStyle/>
                    <a:p>
                      <a:pPr algn="ctr"/>
                      <a:r>
                        <a:rPr sz="800" b="0" i="0">
                          <a:solidFill>
                            <a:srgbClr val="0D0D0D"/>
                          </a:solidFill>
                          <a:latin typeface="Calibri"/>
                        </a:rPr>
                        <a:t>+0,497</a:t>
                      </a:r>
                    </a:p>
                  </a:txBody>
                  <a:tcPr>
                    <a:solidFill>
                      <a:srgbClr val="FFFFFF"/>
                    </a:solidFill>
                  </a:tcPr>
                </a:tc>
                <a:tc>
                  <a:txBody>
                    <a:bodyPr/>
                    <a:lstStyle/>
                    <a:p>
                      <a:pPr algn="ctr"/>
                      <a:r>
                        <a:rPr sz="800" b="0" i="0">
                          <a:solidFill>
                            <a:srgbClr val="0D0D0D"/>
                          </a:solidFill>
                          <a:latin typeface="Calibri"/>
                        </a:rPr>
                        <a:t>Actualité sectorielle générale</a:t>
                      </a:r>
                    </a:p>
                  </a:txBody>
                  <a:tcPr>
                    <a:solidFill>
                      <a:srgbClr val="FFFFFF"/>
                    </a:solidFill>
                  </a:tcPr>
                </a:tc>
              </a:tr>
              <a:tr h="288000">
                <a:tc>
                  <a:txBody>
                    <a:bodyPr/>
                    <a:lstStyle/>
                    <a:p>
                      <a:pPr algn="l"/>
                      <a:r>
                        <a:rPr sz="800" b="1" i="0">
                          <a:solidFill>
                            <a:srgbClr val="A82020"/>
                          </a:solidFill>
                          <a:latin typeface="Calibri"/>
                        </a:rPr>
                        <a:t>Négatif</a:t>
                      </a:r>
                    </a:p>
                  </a:txBody>
                  <a:tcPr>
                    <a:solidFill>
                      <a:srgbClr val="FAF0EF"/>
                    </a:solidFill>
                  </a:tcPr>
                </a:tc>
                <a:tc>
                  <a:txBody>
                    <a:bodyPr/>
                    <a:lstStyle/>
                    <a:p>
                      <a:pPr algn="ctr"/>
                      <a:r>
                        <a:rPr sz="800" b="1" i="0">
                          <a:solidFill>
                            <a:srgbClr val="A82020"/>
                          </a:solidFill>
                          <a:latin typeface="Calibri"/>
                        </a:rPr>
                        <a:t>6</a:t>
                      </a:r>
                    </a:p>
                  </a:txBody>
                  <a:tcPr>
                    <a:solidFill>
                      <a:srgbClr val="FAF0EF"/>
                    </a:solidFill>
                  </a:tcPr>
                </a:tc>
                <a:tc>
                  <a:txBody>
                    <a:bodyPr/>
                    <a:lstStyle/>
                    <a:p>
                      <a:pPr algn="ctr"/>
                      <a:r>
                        <a:rPr sz="800" b="0" i="0">
                          <a:solidFill>
                            <a:srgbClr val="0D0D0D"/>
                          </a:solidFill>
                          <a:latin typeface="Calibri"/>
                        </a:rPr>
                        <a:t>+0,234</a:t>
                      </a:r>
                    </a:p>
                  </a:txBody>
                  <a:tcPr>
                    <a:solidFill>
                      <a:srgbClr val="FAF0EF"/>
                    </a:solidFill>
                  </a:tcPr>
                </a:tc>
                <a:tc>
                  <a:txBody>
                    <a:bodyPr/>
                    <a:lstStyle/>
                    <a:p>
                      <a:pPr algn="ctr"/>
                      <a:r>
                        <a:rPr sz="800" b="0" i="0">
                          <a:solidFill>
                            <a:srgbClr val="0D0D0D"/>
                          </a:solidFill>
                          <a:latin typeface="Calibri"/>
                        </a:rPr>
                        <a:t>Concurrence accrue, Risques politiques, Dépendance aux smartphones</a:t>
                      </a:r>
                    </a:p>
                  </a:txBody>
                  <a:tcPr>
                    <a:solidFill>
                      <a:srgbClr val="FAF0EF"/>
                    </a:solidFill>
                  </a:tcPr>
                </a:tc>
              </a:tr>
            </a:tbl>
          </a:graphicData>
        </a:graphic>
      </p:graphicFrame>
      <p:sp>
        <p:nvSpPr>
          <p:cNvPr id="39" name="TextBox 38"/>
          <p:cNvSpPr txBox="1"/>
          <p:nvPr/>
        </p:nvSpPr>
        <p:spPr>
          <a:xfrm>
            <a:off x="367200" y="3664800"/>
            <a:ext cx="8413200" cy="914400"/>
          </a:xfrm>
          <a:prstGeom prst="rect">
            <a:avLst/>
          </a:prstGeom>
          <a:noFill/>
        </p:spPr>
        <p:txBody>
          <a:bodyPr wrap="square">
            <a:spAutoFit/>
          </a:bodyPr>
          <a:lstStyle/>
          <a:p>
            <a:pPr algn="l"/>
            <a:r>
              <a:rPr sz="850" b="0" i="0">
                <a:solidFill>
                  <a:srgbClr val="333333"/>
                </a:solidFill>
                <a:latin typeface="Calibri"/>
              </a:rPr>
              <a:t>Le sentiment global de la presse financiere sur AAPL cette semaine est mitige, avec certains titres laissant apparaitre une croissance potentielle pour l'entreprise, notamment en termes d'adoption de ses produits en Europe. Cependant, d'autres titres font etat de defis potentiels pour l'entreprise, tels que la concurrence accrue dans le marché des smartphones et les risques lies aux partenariats avec d'autres entreprises technologiques.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Actionnariat &amp; Structure du Capital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Répartition de l'actionnariat  ·  Au 25 mars 2026</a:t>
            </a:r>
          </a:p>
        </p:txBody>
      </p:sp>
      <p:sp>
        <p:nvSpPr>
          <p:cNvPr id="17" name="TextBox 16"/>
          <p:cNvSpPr txBox="1"/>
          <p:nvPr/>
        </p:nvSpPr>
        <p:spPr>
          <a:xfrm>
            <a:off x="367200" y="748800"/>
            <a:ext cx="5029200" cy="201600"/>
          </a:xfrm>
          <a:prstGeom prst="rect">
            <a:avLst/>
          </a:prstGeom>
          <a:noFill/>
        </p:spPr>
        <p:txBody>
          <a:bodyPr wrap="square">
            <a:spAutoFit/>
          </a:bodyPr>
          <a:lstStyle/>
          <a:p>
            <a:pPr algn="l"/>
            <a:r>
              <a:rPr sz="900" b="1" i="0">
                <a:solidFill>
                  <a:srgbClr val="2E5FA3"/>
                </a:solidFill>
                <a:latin typeface="Calibri"/>
              </a:rPr>
              <a:t>Top actionnaires</a:t>
            </a:r>
          </a:p>
        </p:txBody>
      </p:sp>
      <p:graphicFrame>
        <p:nvGraphicFramePr>
          <p:cNvPr id="18" name="Table 17"/>
          <p:cNvGraphicFramePr>
            <a:graphicFrameLocks noGrp="1"/>
          </p:cNvGraphicFramePr>
          <p:nvPr/>
        </p:nvGraphicFramePr>
        <p:xfrm>
          <a:off x="367200" y="968400"/>
          <a:ext cx="5302800" cy="2232000"/>
        </p:xfrm>
        <a:graphic>
          <a:graphicData uri="http://schemas.openxmlformats.org/drawingml/2006/table">
            <a:tbl>
              <a:tblPr firstRow="1" bandRow="1">
                <a:tableStyleId>{5C22544A-7EE6-4342-B048-85BDC9FD1C3A}</a:tableStyleId>
              </a:tblPr>
              <a:tblGrid>
                <a:gridCol w="2015064"/>
                <a:gridCol w="1378728"/>
                <a:gridCol w="1060560"/>
                <a:gridCol w="848448"/>
              </a:tblGrid>
              <a:tr h="223200">
                <a:tc>
                  <a:txBody>
                    <a:bodyPr/>
                    <a:lstStyle/>
                    <a:p>
                      <a:pPr algn="l"/>
                      <a:r>
                        <a:rPr sz="800" b="1" i="0">
                          <a:solidFill>
                            <a:srgbClr val="FFFFFF"/>
                          </a:solidFill>
                          <a:latin typeface="Calibri"/>
                        </a:rPr>
                        <a:t>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Type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Détention %</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Style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Apple (Insiders)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Insiders &amp; dirigeants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B06000"/>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Vanguard Group Inc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9.7 %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Blackrock Inc.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7.9 %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State Street Corporation</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Geode Capital Management, LLC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FMR, LLC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Morgan Stanley</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Berkshire Hathaway, Inc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Retail &amp; 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69.1 %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555555"/>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9" name="TextBox 18"/>
          <p:cNvSpPr txBox="1"/>
          <p:nvPr/>
        </p:nvSpPr>
        <p:spPr>
          <a:xfrm>
            <a:off x="5760000" y="748800"/>
            <a:ext cx="3016800" cy="201600"/>
          </a:xfrm>
          <a:prstGeom prst="rect">
            <a:avLst/>
          </a:prstGeom>
          <a:noFill/>
        </p:spPr>
        <p:txBody>
          <a:bodyPr wrap="square">
            <a:spAutoFit/>
          </a:bodyPr>
          <a:lstStyle/>
          <a:p>
            <a:pPr algn="l"/>
            <a:r>
              <a:rPr sz="900" b="1" i="0">
                <a:solidFill>
                  <a:srgbClr val="2E5FA3"/>
                </a:solidFill>
                <a:latin typeface="Calibri"/>
              </a:rPr>
              <a:t>Répartition par type</a:t>
            </a:r>
          </a:p>
        </p:txBody>
      </p:sp>
      <p:graphicFrame>
        <p:nvGraphicFramePr>
          <p:cNvPr id="20" name="Table 19"/>
          <p:cNvGraphicFramePr>
            <a:graphicFrameLocks noGrp="1"/>
          </p:cNvGraphicFramePr>
          <p:nvPr/>
        </p:nvGraphicFramePr>
        <p:xfrm>
          <a:off x="5760000" y="968400"/>
          <a:ext cx="3016800" cy="1134000"/>
        </p:xfrm>
        <a:graphic>
          <a:graphicData uri="http://schemas.openxmlformats.org/drawingml/2006/table">
            <a:tbl>
              <a:tblPr firstRow="1" bandRow="1">
                <a:tableStyleId>{5C22544A-7EE6-4342-B048-85BDC9FD1C3A}</a:tableStyleId>
              </a:tblPr>
              <a:tblGrid>
                <a:gridCol w="1810080"/>
                <a:gridCol w="1206720"/>
              </a:tblGrid>
              <a:tr h="226800">
                <a:tc>
                  <a:txBody>
                    <a:bodyPr/>
                    <a:lstStyle/>
                    <a:p>
                      <a:pPr algn="l"/>
                      <a:r>
                        <a:rPr sz="800" b="1" i="0">
                          <a:solidFill>
                            <a:srgbClr val="FFFFFF"/>
                          </a:solidFill>
                          <a:latin typeface="Calibri"/>
                        </a:rPr>
                        <a:t>Type d'actionnaire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Part estimée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passif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13.8 %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Retail &amp; autres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69.1 %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1" name="TextBox 20"/>
          <p:cNvSpPr txBox="1"/>
          <p:nvPr/>
        </p:nvSpPr>
        <p:spPr>
          <a:xfrm>
            <a:off x="367200" y="3326400"/>
            <a:ext cx="8413200" cy="1004400"/>
          </a:xfrm>
          <a:prstGeom prst="rect">
            <a:avLst/>
          </a:prstGeom>
          <a:noFill/>
        </p:spPr>
        <p:txBody>
          <a:bodyPr wrap="square">
            <a:spAutoFit/>
          </a:bodyPr>
          <a:lstStyle/>
          <a:p>
            <a:pPr algn="l"/>
            <a:r>
              <a:rPr sz="850" b="0" i="0">
                <a:solidFill>
                  <a:srgbClr val="555555"/>
                </a:solidFill>
                <a:latin typeface="Calibri"/>
              </a:rPr>
              <a:t>La valorisation d'Apple est attractive par rapport à ses pairs, avec un ratio EV/EBITDA inférieur à 25. L'entreprise présente également un multiple de prix sur bénéfice inférieur à 30.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Historique de Cours — 52 Semaines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AAPL  ·    ·  USD  ·  Au 25 mars 2026</a:t>
            </a:r>
          </a:p>
        </p:txBody>
      </p:sp>
      <p:sp>
        <p:nvSpPr>
          <p:cNvPr id="17" name="Rectangle 16"/>
          <p:cNvSpPr/>
          <p:nvPr/>
        </p:nvSpPr>
        <p:spPr>
          <a:xfrm>
            <a:off x="3672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1782000" cy="396000"/>
          </a:xfrm>
          <a:prstGeom prst="rect">
            <a:avLst/>
          </a:prstGeom>
          <a:noFill/>
        </p:spPr>
        <p:txBody>
          <a:bodyPr wrap="square">
            <a:spAutoFit/>
          </a:bodyPr>
          <a:lstStyle/>
          <a:p>
            <a:pPr algn="l"/>
            <a:r>
              <a:rPr sz="1900" b="1" i="0">
                <a:solidFill>
                  <a:srgbClr val="1B3A6B"/>
                </a:solidFill>
                <a:latin typeface="Calibri"/>
              </a:rPr>
              <a:t>253,38 $</a:t>
            </a:r>
          </a:p>
        </p:txBody>
      </p:sp>
      <p:sp>
        <p:nvSpPr>
          <p:cNvPr id="20" name="TextBox 19"/>
          <p:cNvSpPr txBox="1"/>
          <p:nvPr/>
        </p:nvSpPr>
        <p:spPr>
          <a:xfrm>
            <a:off x="457200" y="1411200"/>
            <a:ext cx="17820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21" name="Rectangle 20"/>
          <p:cNvSpPr/>
          <p:nvPr/>
        </p:nvSpPr>
        <p:spPr>
          <a:xfrm>
            <a:off x="24228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4228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512800" y="1015200"/>
            <a:ext cx="1782000" cy="396000"/>
          </a:xfrm>
          <a:prstGeom prst="rect">
            <a:avLst/>
          </a:prstGeom>
          <a:noFill/>
        </p:spPr>
        <p:txBody>
          <a:bodyPr wrap="square">
            <a:spAutoFit/>
          </a:bodyPr>
          <a:lstStyle/>
          <a:p>
            <a:pPr algn="l"/>
            <a:r>
              <a:rPr sz="1900" b="1" i="0">
                <a:solidFill>
                  <a:srgbClr val="1B3A6B"/>
                </a:solidFill>
                <a:latin typeface="Calibri"/>
              </a:rPr>
              <a:t>278,32 $</a:t>
            </a:r>
          </a:p>
        </p:txBody>
      </p:sp>
      <p:sp>
        <p:nvSpPr>
          <p:cNvPr id="24" name="TextBox 23"/>
          <p:cNvSpPr txBox="1"/>
          <p:nvPr/>
        </p:nvSpPr>
        <p:spPr>
          <a:xfrm>
            <a:off x="2512800" y="1411200"/>
            <a:ext cx="1782000" cy="205199"/>
          </a:xfrm>
          <a:prstGeom prst="rect">
            <a:avLst/>
          </a:prstGeom>
          <a:noFill/>
        </p:spPr>
        <p:txBody>
          <a:bodyPr wrap="square">
            <a:spAutoFit/>
          </a:bodyPr>
          <a:lstStyle/>
          <a:p>
            <a:pPr algn="l"/>
            <a:r>
              <a:rPr sz="800" b="0" i="0">
                <a:solidFill>
                  <a:srgbClr val="555555"/>
                </a:solidFill>
                <a:latin typeface="Calibri"/>
              </a:rPr>
              <a:t>Plus haut 52 sem.</a:t>
            </a:r>
          </a:p>
        </p:txBody>
      </p:sp>
      <p:sp>
        <p:nvSpPr>
          <p:cNvPr id="25" name="Rectangle 24"/>
          <p:cNvSpPr/>
          <p:nvPr/>
        </p:nvSpPr>
        <p:spPr>
          <a:xfrm>
            <a:off x="44820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20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0" y="1015200"/>
            <a:ext cx="1782000" cy="396000"/>
          </a:xfrm>
          <a:prstGeom prst="rect">
            <a:avLst/>
          </a:prstGeom>
          <a:noFill/>
        </p:spPr>
        <p:txBody>
          <a:bodyPr wrap="square">
            <a:spAutoFit/>
          </a:bodyPr>
          <a:lstStyle/>
          <a:p>
            <a:pPr algn="l"/>
            <a:r>
              <a:rPr sz="1900" b="1" i="0">
                <a:solidFill>
                  <a:srgbClr val="1B3A6B"/>
                </a:solidFill>
                <a:latin typeface="Calibri"/>
              </a:rPr>
              <a:t>199,98 $</a:t>
            </a:r>
          </a:p>
        </p:txBody>
      </p:sp>
      <p:sp>
        <p:nvSpPr>
          <p:cNvPr id="28" name="TextBox 27"/>
          <p:cNvSpPr txBox="1"/>
          <p:nvPr/>
        </p:nvSpPr>
        <p:spPr>
          <a:xfrm>
            <a:off x="4572000" y="1411200"/>
            <a:ext cx="1782000" cy="205199"/>
          </a:xfrm>
          <a:prstGeom prst="rect">
            <a:avLst/>
          </a:prstGeom>
          <a:noFill/>
        </p:spPr>
        <p:txBody>
          <a:bodyPr wrap="square">
            <a:spAutoFit/>
          </a:bodyPr>
          <a:lstStyle/>
          <a:p>
            <a:pPr algn="l"/>
            <a:r>
              <a:rPr sz="800" b="0" i="0">
                <a:solidFill>
                  <a:srgbClr val="555555"/>
                </a:solidFill>
                <a:latin typeface="Calibri"/>
              </a:rPr>
              <a:t>Plus bas 52 sem.</a:t>
            </a:r>
          </a:p>
        </p:txBody>
      </p:sp>
      <p:sp>
        <p:nvSpPr>
          <p:cNvPr id="29" name="Rectangle 28"/>
          <p:cNvSpPr/>
          <p:nvPr/>
        </p:nvSpPr>
        <p:spPr>
          <a:xfrm>
            <a:off x="6537600" y="961200"/>
            <a:ext cx="21960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5376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27600" y="1015200"/>
            <a:ext cx="2059200" cy="396000"/>
          </a:xfrm>
          <a:prstGeom prst="rect">
            <a:avLst/>
          </a:prstGeom>
          <a:noFill/>
        </p:spPr>
        <p:txBody>
          <a:bodyPr wrap="square">
            <a:spAutoFit/>
          </a:bodyPr>
          <a:lstStyle/>
          <a:p>
            <a:pPr algn="l"/>
            <a:r>
              <a:rPr sz="1900" b="1" i="0">
                <a:solidFill>
                  <a:srgbClr val="1B3A6B"/>
                </a:solidFill>
                <a:latin typeface="Calibri"/>
              </a:rPr>
              <a:t>+19,7 %</a:t>
            </a:r>
          </a:p>
        </p:txBody>
      </p:sp>
      <p:sp>
        <p:nvSpPr>
          <p:cNvPr id="32" name="TextBox 31"/>
          <p:cNvSpPr txBox="1"/>
          <p:nvPr/>
        </p:nvSpPr>
        <p:spPr>
          <a:xfrm>
            <a:off x="6627600" y="1411200"/>
            <a:ext cx="2059200" cy="205199"/>
          </a:xfrm>
          <a:prstGeom prst="rect">
            <a:avLst/>
          </a:prstGeom>
          <a:noFill/>
        </p:spPr>
        <p:txBody>
          <a:bodyPr wrap="square">
            <a:spAutoFit/>
          </a:bodyPr>
          <a:lstStyle/>
          <a:p>
            <a:pPr algn="l"/>
            <a:r>
              <a:rPr sz="800" b="0" i="0">
                <a:solidFill>
                  <a:srgbClr val="555555"/>
                </a:solidFill>
                <a:latin typeface="Calibri"/>
              </a:rPr>
              <a:t>Performance 52 sem.</a:t>
            </a:r>
          </a:p>
        </p:txBody>
      </p:sp>
      <p:sp>
        <p:nvSpPr>
          <p:cNvPr id="33" name="TextBox 32"/>
          <p:cNvSpPr txBox="1"/>
          <p:nvPr/>
        </p:nvSpPr>
        <p:spPr>
          <a:xfrm>
            <a:off x="367200" y="1846800"/>
            <a:ext cx="8413200" cy="165600"/>
          </a:xfrm>
          <a:prstGeom prst="rect">
            <a:avLst/>
          </a:prstGeom>
          <a:noFill/>
        </p:spPr>
        <p:txBody>
          <a:bodyPr wrap="square">
            <a:spAutoFit/>
          </a:bodyPr>
          <a:lstStyle/>
          <a:p>
            <a:pPr algn="l"/>
            <a:r>
              <a:rPr sz="900" b="1" i="0">
                <a:solidFill>
                  <a:srgbClr val="1B3A6B"/>
                </a:solidFill>
                <a:latin typeface="Calibri"/>
              </a:rPr>
              <a:t>Evolution du cours — 12 derniers mois</a:t>
            </a:r>
          </a:p>
        </p:txBody>
      </p:sp>
      <p:sp>
        <p:nvSpPr>
          <p:cNvPr id="34" name="Rectangle 33"/>
          <p:cNvSpPr/>
          <p:nvPr/>
        </p:nvSpPr>
        <p:spPr>
          <a:xfrm>
            <a:off x="367200" y="2102400"/>
            <a:ext cx="8413200" cy="1828800"/>
          </a:xfrm>
          <a:prstGeom prst="rect">
            <a:avLst/>
          </a:prstGeom>
          <a:solidFill>
            <a:srgbClr val="F7F8FA"/>
          </a:solidFill>
          <a:ln w="6350">
            <a:solidFill>
              <a:srgbClr val="D0D0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67200" y="2102400"/>
            <a:ext cx="8413200" cy="36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37200" y="3609975"/>
            <a:ext cx="498636" cy="285224"/>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01200" y="3902400"/>
            <a:ext cx="728100" cy="144000"/>
          </a:xfrm>
          <a:prstGeom prst="rect">
            <a:avLst/>
          </a:prstGeom>
          <a:noFill/>
        </p:spPr>
        <p:txBody>
          <a:bodyPr wrap="square">
            <a:spAutoFit/>
          </a:bodyPr>
          <a:lstStyle/>
          <a:p>
            <a:pPr algn="ctr"/>
            <a:r>
              <a:rPr sz="600" b="0" i="0">
                <a:solidFill>
                  <a:srgbClr val="555555"/>
                </a:solidFill>
                <a:latin typeface="Calibri"/>
              </a:rPr>
              <a:t>Avr</a:t>
            </a:r>
          </a:p>
        </p:txBody>
      </p:sp>
      <p:sp>
        <p:nvSpPr>
          <p:cNvPr id="38" name="Rectangle 37"/>
          <p:cNvSpPr/>
          <p:nvPr/>
        </p:nvSpPr>
        <p:spPr>
          <a:xfrm>
            <a:off x="1293300" y="3823200"/>
            <a:ext cx="498636" cy="72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257300" y="3902400"/>
            <a:ext cx="728100" cy="144000"/>
          </a:xfrm>
          <a:prstGeom prst="rect">
            <a:avLst/>
          </a:prstGeom>
          <a:noFill/>
        </p:spPr>
        <p:txBody>
          <a:bodyPr wrap="square">
            <a:spAutoFit/>
          </a:bodyPr>
          <a:lstStyle/>
          <a:p>
            <a:pPr algn="ctr"/>
            <a:r>
              <a:rPr sz="600" b="0" i="0">
                <a:solidFill>
                  <a:srgbClr val="555555"/>
                </a:solidFill>
                <a:latin typeface="Calibri"/>
              </a:rPr>
              <a:t>Mai</a:t>
            </a:r>
          </a:p>
        </p:txBody>
      </p:sp>
      <p:sp>
        <p:nvSpPr>
          <p:cNvPr id="40" name="Rectangle 39"/>
          <p:cNvSpPr/>
          <p:nvPr/>
        </p:nvSpPr>
        <p:spPr>
          <a:xfrm>
            <a:off x="1949400" y="3739196"/>
            <a:ext cx="498636" cy="156003"/>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913400" y="3902400"/>
            <a:ext cx="728100" cy="144000"/>
          </a:xfrm>
          <a:prstGeom prst="rect">
            <a:avLst/>
          </a:prstGeom>
          <a:noFill/>
        </p:spPr>
        <p:txBody>
          <a:bodyPr wrap="square">
            <a:spAutoFit/>
          </a:bodyPr>
          <a:lstStyle/>
          <a:p>
            <a:pPr algn="ctr"/>
            <a:r>
              <a:rPr sz="600" b="0" i="0">
                <a:solidFill>
                  <a:srgbClr val="555555"/>
                </a:solidFill>
                <a:latin typeface="Calibri"/>
              </a:rPr>
              <a:t>Juin</a:t>
            </a:r>
          </a:p>
        </p:txBody>
      </p:sp>
      <p:sp>
        <p:nvSpPr>
          <p:cNvPr id="42" name="Rectangle 41"/>
          <p:cNvSpPr/>
          <p:nvPr/>
        </p:nvSpPr>
        <p:spPr>
          <a:xfrm>
            <a:off x="2605500" y="3695265"/>
            <a:ext cx="498636" cy="199934"/>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2569500" y="3902400"/>
            <a:ext cx="728100" cy="144000"/>
          </a:xfrm>
          <a:prstGeom prst="rect">
            <a:avLst/>
          </a:prstGeom>
          <a:noFill/>
        </p:spPr>
        <p:txBody>
          <a:bodyPr wrap="square">
            <a:spAutoFit/>
          </a:bodyPr>
          <a:lstStyle/>
          <a:p>
            <a:pPr algn="ctr"/>
            <a:r>
              <a:rPr sz="600" b="0" i="0">
                <a:solidFill>
                  <a:srgbClr val="555555"/>
                </a:solidFill>
                <a:latin typeface="Calibri"/>
              </a:rPr>
              <a:t>Juil</a:t>
            </a:r>
          </a:p>
        </p:txBody>
      </p:sp>
      <p:sp>
        <p:nvSpPr>
          <p:cNvPr id="44" name="Rectangle 43"/>
          <p:cNvSpPr/>
          <p:nvPr/>
        </p:nvSpPr>
        <p:spPr>
          <a:xfrm>
            <a:off x="3261600" y="3244920"/>
            <a:ext cx="498636" cy="65027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225600" y="3902400"/>
            <a:ext cx="728100" cy="144000"/>
          </a:xfrm>
          <a:prstGeom prst="rect">
            <a:avLst/>
          </a:prstGeom>
          <a:noFill/>
        </p:spPr>
        <p:txBody>
          <a:bodyPr wrap="square">
            <a:spAutoFit/>
          </a:bodyPr>
          <a:lstStyle/>
          <a:p>
            <a:pPr algn="ctr"/>
            <a:r>
              <a:rPr sz="600" b="0" i="0">
                <a:solidFill>
                  <a:srgbClr val="555555"/>
                </a:solidFill>
                <a:latin typeface="Calibri"/>
              </a:rPr>
              <a:t>Aoû</a:t>
            </a:r>
          </a:p>
        </p:txBody>
      </p:sp>
      <p:sp>
        <p:nvSpPr>
          <p:cNvPr id="46" name="Rectangle 45"/>
          <p:cNvSpPr/>
          <p:nvPr/>
        </p:nvSpPr>
        <p:spPr>
          <a:xfrm>
            <a:off x="3917700" y="2827478"/>
            <a:ext cx="498636" cy="1067721"/>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881700" y="3902400"/>
            <a:ext cx="728100" cy="144000"/>
          </a:xfrm>
          <a:prstGeom prst="rect">
            <a:avLst/>
          </a:prstGeom>
          <a:noFill/>
        </p:spPr>
        <p:txBody>
          <a:bodyPr wrap="square">
            <a:spAutoFit/>
          </a:bodyPr>
          <a:lstStyle/>
          <a:p>
            <a:pPr algn="ctr"/>
            <a:r>
              <a:rPr sz="600" b="0" i="0">
                <a:solidFill>
                  <a:srgbClr val="555555"/>
                </a:solidFill>
                <a:latin typeface="Calibri"/>
              </a:rPr>
              <a:t>Sep</a:t>
            </a:r>
          </a:p>
        </p:txBody>
      </p:sp>
      <p:sp>
        <p:nvSpPr>
          <p:cNvPr id="48" name="Rectangle 47"/>
          <p:cNvSpPr/>
          <p:nvPr/>
        </p:nvSpPr>
        <p:spPr>
          <a:xfrm>
            <a:off x="4573800" y="2538706"/>
            <a:ext cx="498636" cy="1356493"/>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537800" y="3902400"/>
            <a:ext cx="728100" cy="144000"/>
          </a:xfrm>
          <a:prstGeom prst="rect">
            <a:avLst/>
          </a:prstGeom>
          <a:noFill/>
        </p:spPr>
        <p:txBody>
          <a:bodyPr wrap="square">
            <a:spAutoFit/>
          </a:bodyPr>
          <a:lstStyle/>
          <a:p>
            <a:pPr algn="ctr"/>
            <a:r>
              <a:rPr sz="600" b="0" i="0">
                <a:solidFill>
                  <a:srgbClr val="555555"/>
                </a:solidFill>
                <a:latin typeface="Calibri"/>
              </a:rPr>
              <a:t>Oct</a:t>
            </a:r>
          </a:p>
        </p:txBody>
      </p:sp>
      <p:sp>
        <p:nvSpPr>
          <p:cNvPr id="50" name="Rectangle 49"/>
          <p:cNvSpPr/>
          <p:nvPr/>
        </p:nvSpPr>
        <p:spPr>
          <a:xfrm>
            <a:off x="5229900" y="2383200"/>
            <a:ext cx="498636" cy="151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193900" y="3902400"/>
            <a:ext cx="728100" cy="144000"/>
          </a:xfrm>
          <a:prstGeom prst="rect">
            <a:avLst/>
          </a:prstGeom>
          <a:noFill/>
        </p:spPr>
        <p:txBody>
          <a:bodyPr wrap="square">
            <a:spAutoFit/>
          </a:bodyPr>
          <a:lstStyle/>
          <a:p>
            <a:pPr algn="ctr"/>
            <a:r>
              <a:rPr sz="600" b="0" i="0">
                <a:solidFill>
                  <a:srgbClr val="555555"/>
                </a:solidFill>
                <a:latin typeface="Calibri"/>
              </a:rPr>
              <a:t>Nov</a:t>
            </a:r>
          </a:p>
        </p:txBody>
      </p:sp>
      <p:sp>
        <p:nvSpPr>
          <p:cNvPr id="52" name="Rectangle 51"/>
          <p:cNvSpPr/>
          <p:nvPr/>
        </p:nvSpPr>
        <p:spPr>
          <a:xfrm>
            <a:off x="5886000" y="2506539"/>
            <a:ext cx="498636" cy="138866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850000" y="3902400"/>
            <a:ext cx="728100" cy="144000"/>
          </a:xfrm>
          <a:prstGeom prst="rect">
            <a:avLst/>
          </a:prstGeom>
          <a:noFill/>
        </p:spPr>
        <p:txBody>
          <a:bodyPr wrap="square">
            <a:spAutoFit/>
          </a:bodyPr>
          <a:lstStyle/>
          <a:p>
            <a:pPr algn="ctr"/>
            <a:r>
              <a:rPr sz="600" b="0" i="0">
                <a:solidFill>
                  <a:srgbClr val="555555"/>
                </a:solidFill>
                <a:latin typeface="Calibri"/>
              </a:rPr>
              <a:t>Déc</a:t>
            </a:r>
          </a:p>
        </p:txBody>
      </p:sp>
      <p:sp>
        <p:nvSpPr>
          <p:cNvPr id="54" name="Rectangle 53"/>
          <p:cNvSpPr/>
          <p:nvPr/>
        </p:nvSpPr>
        <p:spPr>
          <a:xfrm>
            <a:off x="6542100" y="2733917"/>
            <a:ext cx="498636" cy="1161282"/>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506099" y="3902400"/>
            <a:ext cx="728100" cy="144000"/>
          </a:xfrm>
          <a:prstGeom prst="rect">
            <a:avLst/>
          </a:prstGeom>
          <a:noFill/>
        </p:spPr>
        <p:txBody>
          <a:bodyPr wrap="square">
            <a:spAutoFit/>
          </a:bodyPr>
          <a:lstStyle/>
          <a:p>
            <a:pPr algn="ctr"/>
            <a:r>
              <a:rPr sz="600" b="0" i="0">
                <a:solidFill>
                  <a:srgbClr val="555555"/>
                </a:solidFill>
                <a:latin typeface="Calibri"/>
              </a:rPr>
              <a:t>Jan</a:t>
            </a:r>
          </a:p>
        </p:txBody>
      </p:sp>
      <p:sp>
        <p:nvSpPr>
          <p:cNvPr id="56" name="Rectangle 55"/>
          <p:cNvSpPr/>
          <p:nvPr/>
        </p:nvSpPr>
        <p:spPr>
          <a:xfrm>
            <a:off x="7198200" y="2647708"/>
            <a:ext cx="498636" cy="1247491"/>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162200" y="3902400"/>
            <a:ext cx="728100" cy="144000"/>
          </a:xfrm>
          <a:prstGeom prst="rect">
            <a:avLst/>
          </a:prstGeom>
          <a:noFill/>
        </p:spPr>
        <p:txBody>
          <a:bodyPr wrap="square">
            <a:spAutoFit/>
          </a:bodyPr>
          <a:lstStyle/>
          <a:p>
            <a:pPr algn="ctr"/>
            <a:r>
              <a:rPr sz="600" b="0" i="0">
                <a:solidFill>
                  <a:srgbClr val="555555"/>
                </a:solidFill>
                <a:latin typeface="Calibri"/>
              </a:rPr>
              <a:t>Fév</a:t>
            </a:r>
          </a:p>
        </p:txBody>
      </p:sp>
      <p:sp>
        <p:nvSpPr>
          <p:cNvPr id="58" name="Rectangle 57"/>
          <p:cNvSpPr/>
          <p:nvPr/>
        </p:nvSpPr>
        <p:spPr>
          <a:xfrm>
            <a:off x="7854300" y="2842183"/>
            <a:ext cx="498636" cy="1053016"/>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7818299" y="3902400"/>
            <a:ext cx="728100" cy="144000"/>
          </a:xfrm>
          <a:prstGeom prst="rect">
            <a:avLst/>
          </a:prstGeom>
          <a:noFill/>
        </p:spPr>
        <p:txBody>
          <a:bodyPr wrap="square">
            <a:spAutoFit/>
          </a:bodyPr>
          <a:lstStyle/>
          <a:p>
            <a:pPr algn="ctr"/>
            <a:r>
              <a:rPr sz="600" b="0" i="0">
                <a:solidFill>
                  <a:srgbClr val="555555"/>
                </a:solidFill>
                <a:latin typeface="Calibri"/>
              </a:rPr>
              <a:t>Mar</a:t>
            </a:r>
          </a:p>
        </p:txBody>
      </p:sp>
      <p:sp>
        <p:nvSpPr>
          <p:cNvPr id="60" name="TextBox 59"/>
          <p:cNvSpPr txBox="1"/>
          <p:nvPr/>
        </p:nvSpPr>
        <p:spPr>
          <a:xfrm>
            <a:off x="439200" y="2174400"/>
            <a:ext cx="1800000" cy="144000"/>
          </a:xfrm>
          <a:prstGeom prst="rect">
            <a:avLst/>
          </a:prstGeom>
          <a:noFill/>
        </p:spPr>
        <p:txBody>
          <a:bodyPr wrap="square">
            <a:spAutoFit/>
          </a:bodyPr>
          <a:lstStyle/>
          <a:p>
            <a:pPr algn="l"/>
            <a:r>
              <a:rPr sz="700" b="0" i="0">
                <a:solidFill>
                  <a:srgbClr val="2E5FA3"/>
                </a:solidFill>
                <a:latin typeface="Calibri"/>
              </a:rPr>
              <a:t>▲ Max : 278,32 $</a:t>
            </a:r>
          </a:p>
        </p:txBody>
      </p:sp>
      <p:sp>
        <p:nvSpPr>
          <p:cNvPr id="61" name="TextBox 60"/>
          <p:cNvSpPr txBox="1"/>
          <p:nvPr/>
        </p:nvSpPr>
        <p:spPr>
          <a:xfrm>
            <a:off x="439200" y="3643199"/>
            <a:ext cx="1800000" cy="144000"/>
          </a:xfrm>
          <a:prstGeom prst="rect">
            <a:avLst/>
          </a:prstGeom>
          <a:noFill/>
        </p:spPr>
        <p:txBody>
          <a:bodyPr wrap="square">
            <a:spAutoFit/>
          </a:bodyPr>
          <a:lstStyle/>
          <a:p>
            <a:pPr algn="l"/>
            <a:r>
              <a:rPr sz="700" b="0" i="0">
                <a:solidFill>
                  <a:srgbClr val="555555"/>
                </a:solidFill>
                <a:latin typeface="Calibri"/>
              </a:rPr>
              <a:t>▼ Min : 199,98 $</a:t>
            </a:r>
          </a:p>
        </p:txBody>
      </p:sp>
      <p:sp>
        <p:nvSpPr>
          <p:cNvPr id="62" name="TextBox 61"/>
          <p:cNvSpPr txBox="1"/>
          <p:nvPr/>
        </p:nvSpPr>
        <p:spPr>
          <a:xfrm>
            <a:off x="367200" y="4132800"/>
            <a:ext cx="8413200" cy="687600"/>
          </a:xfrm>
          <a:prstGeom prst="rect">
            <a:avLst/>
          </a:prstGeom>
          <a:noFill/>
        </p:spPr>
        <p:txBody>
          <a:bodyPr wrap="square">
            <a:spAutoFit/>
          </a:bodyPr>
          <a:lstStyle/>
          <a:p>
            <a:pPr algn="l"/>
            <a:r>
              <a:rPr sz="850" b="0" i="0">
                <a:solidFill>
                  <a:srgbClr val="555555"/>
                </a:solidFill>
                <a:latin typeface="Calibri"/>
              </a:rPr>
              <a:t>Apple Inc. presente une opportunité d'investissement attractive avec des perspectives de croissance solides et une position dominante sur le marché. L'entreprise devrait poursuivre sa croissance grâce à ses produits innovants et à son écosystème intégré.</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