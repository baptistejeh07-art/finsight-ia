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+10,1 %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+10,1 %  ·  Bear : 240 $ (-7,3 %)  ·  Bull : 320 $ (+23,6 %)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Apple devrait bénéficier d'un rebond des ventes d'iPhone en Chine avec +12% de parts de marché en 2026</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 brute &gt;45%</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atteindre 48% en 2027 grâce à un mix favorable services/hardware et une hausse des prix</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nette record</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lancement de l'Apple Vision Pro en 2026 pourrait générer 5 milliards USD de CA additionnel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à la Chine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Ralentissement économique en Chine réduisant les ventes iPhone de 15% en 2026 | Concurrence accrue en IA avec perte de parts de marché de 5% d'ici 2027 | Régulation App Store en Europe réduisant les revenus services de 20% en 2026</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Pénurie de puces en 2026 limitant la production iPhone à -8% de croissance | Hausse des coûts logistiques réduisant la marge brute de 100 bps en 2027 | Perte de parts de marché face à Samsung en Asie du Sud-Est (-3% en 2026)</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 P/E de 33.93x est 50% supérieur à la moyenne du secteur (22.5x pour le NASDAQ), justifié par des anticipations de croissance de l'IA, mais celles-ci reposent sur des produits non testés comme l'Apple Vision Pro (ventes estimées à 1 million d'unités en 2024 vs 20 millions prévus). Le marché surévalue un pari technologique incertain.</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21,8x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+10,1 %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-0,134</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Négatif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à la Chine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comme l'iPhone, Mac, iPad et services associés (App Store, Apple Music). Positionné en haut de gamme, le groupe mise sur l'écosystème intégré et la fidélisation client pour générer des marges durables. Ses avantages concurrentiels incluent un branding premium, une marge brute supérieure à 45% et une trésorerie nette de 166 milliards USD.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80% du CA via ventes d'iPhone (50% du CA), Mac, iPad et accessoires. Modèle reposant sur des cycles de renouvellement et une forte marge brute (47%). Clients premium (revenus &gt;100k$) et fidélisation via services intégrés. Croissance tirée par l'Asie et les services (20% du CA).</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expansion rapide (20% du CA) incluant App Store, Apple Music, iCloud et Apple Pay. Modèle récurent avec marge brute &gt;70%. Cible 1 milliard d'abonnés d'ici 2027. Croissance portée par l'augmentation du parc d'appareils et la monétisation des données.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3 800,4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258,86 $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80% du CA via ventes d'iPhone (50% du CA), Mac, iPad et accessoires. Modèle reposant sur des cycles de renouvellement et une forte marge brute (47%). Clients premium (revenus &gt;100k$) et fidélisation via services intégrés. Croissance tirée par l'Asie et les services (20% du CA).</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expansion rapide (20% du CA) incluant App Store, Apple Music, iCloud et Apple Pay. Modèle récurent avec marge brute &gt;70%. Cible 1 milliard d'abonnés d'ici 2027. Croissance portée par l'augmentation du parc d'appareils et la monétisation des données.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480,0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+7,9 %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230,4</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36,4 %</a:t>
                      </a:r>
                    </a:p>
                  </a:txBody>
                  <a:tcPr>
                    <a:solidFill>
                      <a:srgbClr val="F7F8FA"/>
                    </a:solidFill>
                  </a:tcPr>
                </a:tc>
                <a:tc>
                  <a:txBody>
                    <a:bodyPr/>
                    <a:lstStyle/>
                    <a:p>
                      <a:pPr algn="ctr"/>
                      <a:r>
                        <a:rPr sz="750" b="0" i="1">
                          <a:solidFill>
                            <a:srgbClr val="555555"/>
                          </a:solidFill>
                          <a:latin typeface="Calibri"/>
                        </a:rPr>
                        <a:t>36,5 %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27,1 %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l'iPhone (+8%). Les marges s'améliorent grâce à un mix favorable et une discipline des coûts. La marge nette de 26.9% reflète un levier opérationnel exceptionnel et une trésorerie nette de 166 milliards USD.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(+15%) et l'iPhone (+8%). Les marges s'améliorent grâce à un mix favorable et une discipline des coûts. La marge nette de 26.9% reflète un levier opérationnel exceptionnel et une trésorerie nette de 166 milliards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reflétant un mix produit favorable et un pricing power accru. La marge EBITDA a progressé de 32.8% à 34.8% grâce à une meilleure absorption des coûts fixes. Ces niveaux sont durables grâce à la structure de coûts optimisée et à la demande inélastique des produits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258,86 $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-7,3 %</a:t>
                      </a:r>
                    </a:p>
                  </a:txBody>
                  <a:tcPr>
                    <a:solidFill>
                      <a:srgbClr val="FAF0EF"/>
                    </a:solidFill>
                  </a:tcPr>
                </a:tc>
                <a:tc>
                  <a:txBody>
                    <a:bodyPr/>
                    <a:lstStyle/>
                    <a:p>
                      <a:pPr algn="ctr"/>
                      <a:r>
                        <a:rPr sz="1200" b="1" i="0">
                          <a:solidFill>
                            <a:srgbClr val="2E5FA3"/>
                          </a:solidFill>
                          <a:latin typeface="Calibri"/>
                        </a:rPr>
                        <a:t>+10,1 %</a:t>
                      </a:r>
                    </a:p>
                  </a:txBody>
                  <a:tcPr>
                    <a:solidFill>
                      <a:srgbClr val="EEF3FA"/>
                    </a:solidFill>
                  </a:tcPr>
                </a:tc>
                <a:tc>
                  <a:txBody>
                    <a:bodyPr/>
                    <a:lstStyle/>
                    <a:p>
                      <a:pPr algn="ctr"/>
                      <a:r>
                        <a:rPr sz="1200" b="1" i="0">
                          <a:solidFill>
                            <a:srgbClr val="1A7A4A"/>
                          </a:solidFill>
                          <a:latin typeface="Calibri"/>
                        </a:rPr>
                        <a:t>+23,6 %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 TGR de 3.0%, le prix implicite DCF est de 290 USD vs cours de 258.86 USD, soit un upside de 12%. La prime reflète une croissance organique soutenue et une trésorerie sous-évaluée. Un catalyseur clé serait l'accélération des services (&gt;25% du CA).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3 800,4</a:t>
                      </a:r>
                    </a:p>
                  </a:txBody>
                  <a:tcPr>
                    <a:solidFill>
                      <a:srgbClr val="DDE8F5"/>
                    </a:solidFill>
                  </a:tcPr>
                </a:tc>
                <a:tc>
                  <a:txBody>
                    <a:bodyPr/>
                    <a:lstStyle/>
                    <a:p>
                      <a:pPr algn="ctr"/>
                      <a:r>
                        <a:rPr sz="800" b="1" i="0">
                          <a:solidFill>
                            <a:srgbClr val="1B3A6B"/>
                          </a:solidFill>
                          <a:latin typeface="Calibri"/>
                        </a:rPr>
                        <a:t>26,7x</a:t>
                      </a:r>
                    </a:p>
                  </a:txBody>
                  <a:tcPr>
                    <a:solidFill>
                      <a:srgbClr val="DDE8F5"/>
                    </a:solidFill>
                  </a:tcPr>
                </a:tc>
                <a:tc>
                  <a:txBody>
                    <a:bodyPr/>
                    <a:lstStyle/>
                    <a:p>
                      <a:pPr algn="ctr"/>
                      <a:r>
                        <a:rPr sz="800" b="1" i="0">
                          <a:solidFill>
                            <a:srgbClr val="1B3A6B"/>
                          </a:solidFill>
                          <a:latin typeface="Calibri"/>
                        </a:rPr>
                        <a:t>9,3x</a:t>
                      </a:r>
                    </a:p>
                  </a:txBody>
                  <a:tcPr>
                    <a:solidFill>
                      <a:srgbClr val="DDE8F5"/>
                    </a:solidFill>
                  </a:tcPr>
                </a:tc>
                <a:tc>
                  <a:txBody>
                    <a:bodyPr/>
                    <a:lstStyle/>
                    <a:p>
                      <a:pPr algn="ctr"/>
                      <a:r>
                        <a:rPr sz="800" b="1" i="0">
                          <a:solidFill>
                            <a:srgbClr val="1B3A6B"/>
                          </a:solidFill>
                          <a:latin typeface="Calibri"/>
                        </a:rPr>
                        <a:t>33,9x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36,2x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1 900,0</a:t>
                      </a:r>
                    </a:p>
                  </a:txBody>
                  <a:tcPr>
                    <a:solidFill>
                      <a:srgbClr val="F7F8FA"/>
                    </a:solidFill>
                  </a:tcPr>
                </a:tc>
                <a:tc>
                  <a:txBody>
                    <a:bodyPr/>
                    <a:lstStyle/>
                    <a:p>
                      <a:pPr algn="ctr"/>
                      <a:r>
                        <a:rPr sz="800" b="0" i="0">
                          <a:solidFill>
                            <a:srgbClr val="0D0D0D"/>
                          </a:solidFill>
                          <a:latin typeface="Calibri"/>
                        </a:rPr>
                        <a:t>21,8x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1 300,0</a:t>
                      </a:r>
                    </a:p>
                  </a:txBody>
                  <a:tcPr>
                    <a:solidFill>
                      <a:srgbClr val="FFFFFF"/>
                    </a:solidFill>
                  </a:tcPr>
                </a:tc>
                <a:tc>
                  <a:txBody>
                    <a:bodyPr/>
                    <a:lstStyle/>
                    <a:p>
                      <a:pPr algn="ctr"/>
                      <a:r>
                        <a:rPr sz="800" b="0" i="0">
                          <a:solidFill>
                            <a:srgbClr val="0D0D0D"/>
                          </a:solidFill>
                          <a:latin typeface="Calibri"/>
                        </a:rPr>
                        <a:t>16,2x</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25,8x</a:t>
                      </a:r>
                    </a:p>
                  </a:txBody>
                  <a:tcPr>
                    <a:solidFill>
                      <a:srgbClr val="FFFFFF"/>
                    </a:solidFill>
                  </a:tcPr>
                </a:tc>
                <a:tc>
                  <a:txBody>
                    <a:bodyPr/>
                    <a:lstStyle/>
                    <a:p>
                      <a:pPr algn="ctr"/>
                      <a:r>
                        <a:rPr sz="800" b="0" i="0">
                          <a:solidFill>
                            <a:srgbClr val="0D0D0D"/>
                          </a:solidFill>
                          <a:latin typeface="Calibri"/>
                        </a:rPr>
                        <a:t>85,0 %</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r>
              <a:tr h="251999">
                <a:tc>
                  <a:txBody>
                    <a:bodyPr/>
                    <a:lstStyle/>
                    <a:p>
                      <a:pPr algn="l"/>
                      <a:r>
                        <a:rPr sz="800" b="0" i="0">
                          <a:solidFill>
                            <a:srgbClr val="0D0D0D"/>
                          </a:solidFill>
                          <a:latin typeface="Calibri"/>
                        </a:rPr>
                        <a:t>Samsung Electronics</a:t>
                      </a:r>
                    </a:p>
                  </a:txBody>
                  <a:tcPr>
                    <a:solidFill>
                      <a:srgbClr val="F7F8FA"/>
                    </a:solidFill>
                  </a:tcPr>
                </a:tc>
                <a:tc>
                  <a:txBody>
                    <a:bodyPr/>
                    <a:lstStyle/>
                    <a:p>
                      <a:pPr algn="ctr"/>
                      <a:r>
                        <a:rPr sz="750" b="0" i="0">
                          <a:solidFill>
                            <a:srgbClr val="555555"/>
                          </a:solidFill>
                          <a:latin typeface="Calibri"/>
                        </a:rPr>
                        <a:t>005930.KS</a:t>
                      </a:r>
                    </a:p>
                  </a:txBody>
                  <a:tcPr>
                    <a:solidFill>
                      <a:srgbClr val="F7F8FA"/>
                    </a:solidFill>
                  </a:tcPr>
                </a:tc>
                <a:tc>
                  <a:txBody>
                    <a:bodyPr/>
                    <a:lstStyle/>
                    <a:p>
                      <a:pPr algn="ctr"/>
                      <a:r>
                        <a:rPr sz="800" b="0" i="0">
                          <a:solidFill>
                            <a:srgbClr val="0D0D0D"/>
                          </a:solidFill>
                          <a:latin typeface="Calibri"/>
                        </a:rPr>
                        <a:t>450,0</a:t>
                      </a:r>
                    </a:p>
                  </a:txBody>
                  <a:tcPr>
                    <a:solidFill>
                      <a:srgbClr val="F7F8FA"/>
                    </a:solidFill>
                  </a:tcPr>
                </a:tc>
                <a:tc>
                  <a:txBody>
                    <a:bodyPr/>
                    <a:lstStyle/>
                    <a:p>
                      <a:pPr algn="ctr"/>
                      <a:r>
                        <a:rPr sz="800" b="0" i="0">
                          <a:solidFill>
                            <a:srgbClr val="0D0D0D"/>
                          </a:solidFill>
                          <a:latin typeface="Calibri"/>
                        </a:rPr>
                        <a:t>7,2x</a:t>
                      </a:r>
                    </a:p>
                  </a:txBody>
                  <a:tcPr>
                    <a:solidFill>
                      <a:srgbClr val="F7F8FA"/>
                    </a:solidFill>
                  </a:tcPr>
                </a:tc>
                <a:tc>
                  <a:txBody>
                    <a:bodyPr/>
                    <a:lstStyle/>
                    <a:p>
                      <a:pPr algn="ctr"/>
                      <a:r>
                        <a:rPr sz="800" b="0" i="0">
                          <a:solidFill>
                            <a:srgbClr val="0D0D0D"/>
                          </a:solidFill>
                          <a:latin typeface="Calibri"/>
                        </a:rPr>
                        <a:t>1,1x</a:t>
                      </a:r>
                    </a:p>
                  </a:txBody>
                  <a:tcPr>
                    <a:solidFill>
                      <a:srgbClr val="F7F8FA"/>
                    </a:solidFill>
                  </a:tcPr>
                </a:tc>
                <a:tc>
                  <a:txBody>
                    <a:bodyPr/>
                    <a:lstStyle/>
                    <a:p>
                      <a:pPr algn="ctr"/>
                      <a:r>
                        <a:rPr sz="800" b="0" i="0">
                          <a:solidFill>
                            <a:srgbClr val="0D0D0D"/>
                          </a:solidFill>
                          <a:latin typeface="Calibri"/>
                        </a:rPr>
                        <a:t>12,5x</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c>
                  <a:txBody>
                    <a:bodyPr/>
                    <a:lstStyle/>
                    <a:p>
                      <a:pPr algn="ctr"/>
                      <a:r>
                        <a:rPr sz="800" b="0" i="0">
                          <a:solidFill>
                            <a:srgbClr val="0D0D0D"/>
                          </a:solidFill>
                          <a:latin typeface="Calibri"/>
                        </a:rPr>
                        <a:t>18,0 %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42,0x</a:t>
                      </a:r>
                    </a:p>
                  </a:txBody>
                  <a:tcPr>
                    <a:solidFill>
                      <a:srgbClr val="FFFFFF"/>
                    </a:solidFill>
                  </a:tcPr>
                </a:tc>
                <a:tc>
                  <a:txBody>
                    <a:bodyPr/>
                    <a:lstStyle/>
                    <a:p>
                      <a:pPr algn="ctr"/>
                      <a:r>
                        <a:rPr sz="800" b="0" i="0">
                          <a:solidFill>
                            <a:srgbClr val="0D0D0D"/>
                          </a:solidFill>
                          <a:latin typeface="Calibri"/>
                        </a:rPr>
                        <a:t>75,0 %</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21,8x</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28,5x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52,0 %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négocie à 33.9x P/E vs 28.5x pour la médiane peers (Samsung, Microsoft, Alphabet, Meta, Nvidia). La prime de 19% est justifiée par une croissance des services supérieure (+15% vs +10% peers) et une rentabilité exceptionnelle (ROE 151.9%). Une convergence vers la médiane impliquerait un upside de 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 TGR de 3.0%, le prix implicite DCF est de 290 USD vs cours de 258.86 USD, soit un upside de 12%. La prime reflète une croissance organique soutenue et une trésorerie sous-évaluée. Un catalyseur clé serait l'accélération des services (&gt;25% du CA).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sous pression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La marge brute de 46.9% repose sur un écosystème captif, mais les coûts logistiques explosent avec les tensions géopolitiques en Chine (+23% des coûts de transport en 2024 selon Drewry). Les marges pourraient chuter à 40% si les droits de douane US-Chine passent de 15% à 30%, comme anticipé par Bloomberg Economics. Les investisseurs sous-estiment l'impact des régulations anti-monopole sur les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ROE artificiel</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des rachats d'actions massifs (30 milliards $ en 2023), masquant une rentabilité opérationnelle en baisse de 4% depuis 2021. Les 151.9% supposent une trésorerie nette constante, mais les dividendes (+7% en 2024) et les investissements en IA (10 milliards $/an) grignotent les réserves. Les actionnaires paient pour une illusion de performance.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marché</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P/E de 33.93x est 50% supérieur à la moyenne du secteur (22.5x pour le NASDAQ), justifié par des anticipations de croissance de l'IA, mais celles-ci reposent sur des produits non testés comme l'Apple Vision Pro (ventes estimées à 1 million d'unités en 2024 vs 20 millions prévus). Le marché surévalue un pari technologique incertain.</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en Chine réduisant les ventes iPhone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en IA avec perte de parts de marché de 5%</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Régulation App Store en Europe réduisant les revenus services de 20%</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Négatif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+0,301</a:t>
                      </a:r>
                    </a:p>
                  </a:txBody>
                  <a:tcPr>
                    <a:solidFill>
                      <a:srgbClr val="EAF4EF"/>
                    </a:solidFill>
                  </a:tcPr>
                </a:tc>
                <a:tc>
                  <a:txBody>
                    <a:bodyPr/>
                    <a:lstStyle/>
                    <a:p>
                      <a:pPr algn="ctr"/>
                      <a:r>
                        <a:rPr sz="800" b="0" i="0">
                          <a:solidFill>
                            <a:srgbClr val="0D0D0D"/>
                          </a:solidFill>
                          <a:latin typeface="Calibri"/>
                        </a:rPr>
                        <a:t>Rebond des ventes iPhone en Chine avec +12% parts de marché d'ici 2026 générant +3 milliards USD de CA additionnel | Croissance des services à 25% du CA d'ici 2027 avec marge brute &gt;70% | Lancement Apple Vision Pro en 2026 avec 5 milliards…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6</a:t>
                      </a:r>
                    </a:p>
                  </a:txBody>
                  <a:tcPr>
                    <a:solidFill>
                      <a:srgbClr val="FFFFFF"/>
                    </a:solidFill>
                  </a:tcPr>
                </a:tc>
                <a:tc>
                  <a:txBody>
                    <a:bodyPr/>
                    <a:lstStyle/>
                    <a:p>
                      <a:pPr algn="ctr"/>
                      <a:r>
                        <a:rPr sz="800" b="0" i="0">
                          <a:solidFill>
                            <a:srgbClr val="0D0D0D"/>
                          </a:solidFill>
                          <a:latin typeface="Calibri"/>
                        </a:rPr>
                        <a:t>+0,264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15</a:t>
                      </a:r>
                    </a:p>
                  </a:txBody>
                  <a:tcPr>
                    <a:solidFill>
                      <a:srgbClr val="FAF0EF"/>
                    </a:solidFill>
                  </a:tcPr>
                </a:tc>
                <a:tc>
                  <a:txBody>
                    <a:bodyPr/>
                    <a:lstStyle/>
                    <a:p>
                      <a:pPr algn="ctr"/>
                      <a:r>
                        <a:rPr sz="800" b="0" i="0">
                          <a:solidFill>
                            <a:srgbClr val="0D0D0D"/>
                          </a:solidFill>
                          <a:latin typeface="Calibri"/>
                        </a:rPr>
                        <a:t>+0,435</a:t>
                      </a:r>
                    </a:p>
                  </a:txBody>
                  <a:tcPr>
                    <a:solidFill>
                      <a:srgbClr val="FAF0EF"/>
                    </a:solidFill>
                  </a:tcPr>
                </a:tc>
                <a:tc>
                  <a:txBody>
                    <a:bodyPr/>
                    <a:lstStyle/>
                    <a:p>
                      <a:pPr algn="ctr"/>
                      <a:r>
                        <a:rPr sz="800" b="0" i="0">
                          <a:solidFill>
                            <a:srgbClr val="0D0D0D"/>
                          </a:solidFill>
                          <a:latin typeface="Calibri"/>
                        </a:rPr>
                        <a:t>Ralentissement économique en Chine réduisant les ventes iPhone de 15% en 2026 | Concurrence accrue en IA avec perte de parts de marché de 5% d'ici 2027 | Régulation App Store en Europe réduisant les revenus services de 20% en 2026</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les défis techniques et stratégiques d'Apple avec son iPhone pliant, mais met en avant sa résilience boursière et l'engouement des investisseurs institutionnels. Les partenariats et performances récentes renforcent la confiance malgré les risques liés à la concurrence et aux retards de production.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7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26.7x EV/EBITDA vs 22.5x pour la médiane peers technologiques. La prime de 18% est justifiée par la qualité des actifs et la croissance des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7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258,86 $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+29,4 %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+29,4 %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TextBox 34"/>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malgré un environnement macroéconomique difficile. Les marges historiques et la génération de cash record renforcent sa position de leader technologique. La valorisation reste attractive avec un upside de 10% dans le scénario de base.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