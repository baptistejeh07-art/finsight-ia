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275 $  ·  Upside : +6,2 %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+6,2 %  ·  Bear : 240 $ (-7,3 %)  ·  Bull : 310 $ (+19,8 %)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Apple devrait bénéficier d'un rebond des ventes iPhone de +8% en 2026 grâce à l'adoption de l'iPhone 16</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services devrait atteindre 72% en 2027 avec une croissance annuelle de 12%</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Cash flow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rachat d'actions de 110 Mds$ en 2025-2026 soutiendra la valorisation à 310$ en scénario bull.</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européenne sur l'App Store en 2026 réduisant les revenus services de 15% | Concurrence accrue en IA avec Meta et Google captant 30% du marché logiciel d'ici 2027 | Dépendance à l'iPhone (50% du CA) avec un risque de saturation du marché premium en 2026</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Sanctions chinoises sur les composants critiques, impactant les marges de 200 bps en 2026 | Ralentissement économique en Europe réduisant les ventes de 5% en 2026 | Coûts accrus liés à la conformité RGPD et aux litiges en cours (+2 Mds$ en 2026)</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 ROE de 151,9% est artificiellement boosté par des rachats d'actions massifs (40 milliards $/an), masquant une rentabilité opérationnelle en baisse de 4% depuis 2022. L'EV/EBITDA de 26,69x est 40% supérieur à celui de Microsoft (19,1x), malgré une croissance des revenus inférieure de 2 points. La croissance des revenus de 6,4% en 2025 est inférieure à celle des concurrents (Samsung: 8,1%, Huawei: 9,3%).</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+6,2 %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-0,055</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App Store  ·  Concurrence IA</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haut de gamme (iPhone, Mac, iPad, services) avec un écosystème intégré renforçant la fidélisation. Positionné en premium, l'entreprise capitalise sur l'innovation, la marque forte et une marge de 46.9% grâce à un mix services à forte valeur ajoutée. Son avantage concurrentiel réside dans la synergie hardware-software et un réseau de distribution mondial optimisé.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80% du CA via iPhone (50%), Mac, iPad et wearables. Modèle basé sur des cycles de renouvellement fréquents et des prix premium. Clients : consommateurs haut de gamme et professionnels. Moteurs : innovation (A17 Pro), écosystème (AirPods, Apple Watch) et services associés.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à 20% du CA avec abonnements (Apple Music, iCloud, App Store). Modèle récurrent et marginaux élevés (70%+). Clients : utilisateurs existants fidélisés. Moteurs : expansion géographique, contenu exclusif (Apple TV+) et services financiers (Apple Card).</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3 800,4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258,86 $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80% du CA via iPhone (50%), Mac, iPad et wearables. Modèle basé sur des cycles de renouvellement fréquents et des prix premium. Clients : consommateurs haut de gamme et professionnels. Moteurs : innovation (A17 Pro), écosystème (AirPods, Apple Watch) et services associés.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à 20% du CA avec abonnements (Apple Music, iCloud, App Store). Modèle récurrent et marginaux élevés (70%+). Clients : utilisateurs existants fidélisés. Moteurs : expansion géographique, contenu exclusif (Apple TV+) et services financiers (Apple Card).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443,6</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209,4</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156,0</a:t>
                      </a:r>
                    </a:p>
                  </a:txBody>
                  <a:tcPr>
                    <a:solidFill>
                      <a:srgbClr val="FFFFFF"/>
                    </a:solidFill>
                  </a:tcPr>
                </a:tc>
                <a:tc>
                  <a:txBody>
                    <a:bodyPr/>
                    <a:lstStyle/>
                    <a:p>
                      <a:pPr algn="ctr"/>
                      <a:r>
                        <a:rPr sz="800" b="1" i="0">
                          <a:solidFill>
                            <a:srgbClr val="0D0D0D"/>
                          </a:solidFill>
                          <a:latin typeface="Calibri"/>
                        </a:rPr>
                        <a:t>165,0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35,2 %</a:t>
                      </a:r>
                    </a:p>
                  </a:txBody>
                  <a:tcPr>
                    <a:solidFill>
                      <a:srgbClr val="F7F8FA"/>
                    </a:solidFill>
                  </a:tcPr>
                </a:tc>
                <a:tc>
                  <a:txBody>
                    <a:bodyPr/>
                    <a:lstStyle/>
                    <a:p>
                      <a:pPr algn="ctr"/>
                      <a:r>
                        <a:rPr sz="750" b="0" i="1">
                          <a:solidFill>
                            <a:srgbClr val="555555"/>
                          </a:solidFill>
                          <a:latin typeface="Calibri"/>
                        </a:rPr>
                        <a:t>35,1 %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26,6 %</a:t>
                      </a:r>
                    </a:p>
                  </a:txBody>
                  <a:tcPr>
                    <a:solidFill>
                      <a:srgbClr val="F7F8FA"/>
                    </a:solidFill>
                  </a:tcPr>
                </a:tc>
                <a:tc>
                  <a:txBody>
                    <a:bodyPr/>
                    <a:lstStyle/>
                    <a:p>
                      <a:pPr algn="ctr"/>
                      <a:r>
                        <a:rPr sz="750" b="0" i="1">
                          <a:solidFill>
                            <a:srgbClr val="555555"/>
                          </a:solidFill>
                          <a:latin typeface="Calibri"/>
                        </a:rPr>
                        <a:t>26,6 %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un iPhone en légère reprise. Les marges nettes progressent à 26.9% grâce à un mix services en hausse et une discipline sur les coûts. La génération de cash reste exceptionnelle avec un FCF de 120 Mds$ en 2025,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de 6.4% en 2025 portée par les services (+15%) et un iPhone en légère reprise. Les marges nettes progressent à 26.9% grâce à un mix services en hausse et une discipline sur les coûts. La génération de cash reste exceptionnelle avec un FCF de 120 Mds$ en 2025,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en 2022 à 46.9% en 2025 (+360 bps), reflétant un mix services en hausse et une optimisation des coûts de production. Les marges EBITDA/nettes ont suivi une tendance similaire, confirmant un levier opérationnel élevé et un pricing power intact. Cette durabilité justifie une prime de valorisation durable.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-7,3 %</a:t>
                      </a:r>
                    </a:p>
                  </a:txBody>
                  <a:tcPr>
                    <a:solidFill>
                      <a:srgbClr val="FAF0EF"/>
                    </a:solidFill>
                  </a:tcPr>
                </a:tc>
                <a:tc>
                  <a:txBody>
                    <a:bodyPr/>
                    <a:lstStyle/>
                    <a:p>
                      <a:pPr algn="ctr"/>
                      <a:r>
                        <a:rPr sz="1200" b="1" i="0">
                          <a:solidFill>
                            <a:srgbClr val="2E5FA3"/>
                          </a:solidFill>
                          <a:latin typeface="Calibri"/>
                        </a:rPr>
                        <a:t>+6,2 %</a:t>
                      </a:r>
                    </a:p>
                  </a:txBody>
                  <a:tcPr>
                    <a:solidFill>
                      <a:srgbClr val="EEF3FA"/>
                    </a:solidFill>
                  </a:tcPr>
                </a:tc>
                <a:tc>
                  <a:txBody>
                    <a:bodyPr/>
                    <a:lstStyle/>
                    <a:p>
                      <a:pPr algn="ctr"/>
                      <a:r>
                        <a:rPr sz="1200" b="1" i="0">
                          <a:solidFill>
                            <a:srgbClr val="1A7A4A"/>
                          </a:solidFill>
                          <a:latin typeface="Calibri"/>
                        </a:rPr>
                        <a:t>+19,8 %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275$ (base), soit +6.2% vs cours actuel. L'upside limité suggère une prime de croissance déjà partiellement pricee. Un catalyseur comme un rebond des ventes iPhone ou une accélération des services pourrait déclencher un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3 800,4</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33,9x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13,2x</a:t>
                      </a:r>
                    </a:p>
                  </a:txBody>
                  <a:tcPr>
                    <a:solidFill>
                      <a:srgbClr val="FFFFFF"/>
                    </a:solidFill>
                  </a:tcPr>
                </a:tc>
                <a:tc>
                  <a:txBody>
                    <a:bodyPr/>
                    <a:lstStyle/>
                    <a:p>
                      <a:pPr algn="ctr"/>
                      <a:r>
                        <a:rPr sz="800" b="0" i="0">
                          <a:solidFill>
                            <a:srgbClr val="0D0D0D"/>
                          </a:solidFill>
                          <a:latin typeface="Calibri"/>
                        </a:rPr>
                        <a:t>32,1x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20,8x</a:t>
                      </a:r>
                    </a:p>
                  </a:txBody>
                  <a:tcPr>
                    <a:solidFill>
                      <a:srgbClr val="F7F8FA"/>
                    </a:solidFill>
                  </a:tcPr>
                </a:tc>
                <a:tc>
                  <a:txBody>
                    <a:bodyPr/>
                    <a:lstStyle/>
                    <a:p>
                      <a:pPr algn="ctr"/>
                      <a:r>
                        <a:rPr sz="800" b="0" i="0">
                          <a:solidFill>
                            <a:srgbClr val="0D0D0D"/>
                          </a:solidFill>
                          <a:latin typeface="Calibri"/>
                        </a:rPr>
                        <a:t>9,5x</a:t>
                      </a:r>
                    </a:p>
                  </a:txBody>
                  <a:tcPr>
                    <a:solidFill>
                      <a:srgbClr val="F7F8FA"/>
                    </a:solidFill>
                  </a:tcPr>
                </a:tc>
                <a:tc>
                  <a:txBody>
                    <a:bodyPr/>
                    <a:lstStyle/>
                    <a:p>
                      <a:pPr algn="ctr"/>
                      <a:r>
                        <a:rPr sz="800" b="0" i="0">
                          <a:solidFill>
                            <a:srgbClr val="0D0D0D"/>
                          </a:solidFill>
                          <a:latin typeface="Calibri"/>
                        </a:rPr>
                        <a:t>27,8x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1,1x</a:t>
                      </a:r>
                    </a:p>
                  </a:txBody>
                  <a:tcPr>
                    <a:solidFill>
                      <a:srgbClr val="FFFFFF"/>
                    </a:solidFill>
                  </a:tcPr>
                </a:tc>
                <a:tc>
                  <a:txBody>
                    <a:bodyPr/>
                    <a:lstStyle/>
                    <a:p>
                      <a:pPr algn="ctr"/>
                      <a:r>
                        <a:rPr sz="800" b="0" i="0">
                          <a:solidFill>
                            <a:srgbClr val="0D0D0D"/>
                          </a:solidFill>
                          <a:latin typeface="Calibri"/>
                        </a:rPr>
                        <a:t>15,6x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10,1x</a:t>
                      </a:r>
                    </a:p>
                  </a:txBody>
                  <a:tcPr>
                    <a:solidFill>
                      <a:srgbClr val="F7F8FA"/>
                    </a:solidFill>
                  </a:tcPr>
                </a:tc>
                <a:tc>
                  <a:txBody>
                    <a:bodyPr/>
                    <a:lstStyle/>
                    <a:p>
                      <a:pPr algn="ctr"/>
                      <a:r>
                        <a:rPr sz="800" b="0" i="0">
                          <a:solidFill>
                            <a:srgbClr val="0D0D0D"/>
                          </a:solidFill>
                          <a:latin typeface="Calibri"/>
                        </a:rPr>
                        <a:t>30,2x</a:t>
                      </a:r>
                    </a:p>
                  </a:txBody>
                  <a:tcPr>
                    <a:solidFill>
                      <a:srgbClr val="F7F8FA"/>
                    </a:solidFill>
                  </a:tcPr>
                </a:tc>
                <a:tc>
                  <a:txBody>
                    <a:bodyPr/>
                    <a:lstStyle/>
                    <a:p>
                      <a:pPr algn="ctr"/>
                      <a:r>
                        <a:rPr sz="800" b="0" i="0">
                          <a:solidFill>
                            <a:srgbClr val="0D0D0D"/>
                          </a:solidFill>
                          <a:latin typeface="Calibri"/>
                        </a:rPr>
                        <a:t>88,0 %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Oracle</a:t>
                      </a:r>
                    </a:p>
                  </a:txBody>
                  <a:tcPr>
                    <a:solidFill>
                      <a:srgbClr val="FFFFFF"/>
                    </a:solidFill>
                  </a:tcPr>
                </a:tc>
                <a:tc>
                  <a:txBody>
                    <a:bodyPr/>
                    <a:lstStyle/>
                    <a:p>
                      <a:pPr algn="ctr"/>
                      <a:r>
                        <a:rPr sz="750" b="0" i="0">
                          <a:solidFill>
                            <a:srgbClr val="555555"/>
                          </a:solidFill>
                          <a:latin typeface="Calibri"/>
                        </a:rPr>
                        <a:t>ORCL</a:t>
                      </a:r>
                    </a:p>
                  </a:txBody>
                  <a:tcPr>
                    <a:solidFill>
                      <a:srgbClr val="FFFFFF"/>
                    </a:solidFill>
                  </a:tcPr>
                </a:tc>
                <a:tc>
                  <a:txBody>
                    <a:bodyPr/>
                    <a:lstStyle/>
                    <a:p>
                      <a:pPr algn="ctr"/>
                      <a:r>
                        <a:rPr sz="800" b="0" i="0">
                          <a:solidFill>
                            <a:srgbClr val="0D0D0D"/>
                          </a:solidFill>
                          <a:latin typeface="Calibri"/>
                        </a:rPr>
                        <a:t>320,0</a:t>
                      </a:r>
                    </a:p>
                  </a:txBody>
                  <a:tcPr>
                    <a:solidFill>
                      <a:srgbClr val="FFFFFF"/>
                    </a:solidFill>
                  </a:tcPr>
                </a:tc>
                <a:tc>
                  <a:txBody>
                    <a:bodyPr/>
                    <a:lstStyle/>
                    <a:p>
                      <a:pPr algn="ctr"/>
                      <a:r>
                        <a:rPr sz="800" b="0" i="0">
                          <a:solidFill>
                            <a:srgbClr val="0D0D0D"/>
                          </a:solidFill>
                          <a:latin typeface="Calibri"/>
                        </a:rPr>
                        <a:t>16,8x</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25,4x</a:t>
                      </a:r>
                    </a:p>
                  </a:txBody>
                  <a:tcPr>
                    <a:solidFill>
                      <a:srgbClr val="FFFFFF"/>
                    </a:solidFill>
                  </a:tcPr>
                </a:tc>
                <a:tc>
                  <a:txBody>
                    <a:bodyPr/>
                    <a:lstStyle/>
                    <a:p>
                      <a:pPr algn="ctr"/>
                      <a:r>
                        <a:rPr sz="800" b="0" i="0">
                          <a:solidFill>
                            <a:srgbClr val="0D0D0D"/>
                          </a:solidFill>
                          <a:latin typeface="Calibri"/>
                        </a:rPr>
                        <a:t>82,0 %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18,5x</a:t>
                      </a:r>
                    </a:p>
                  </a:txBody>
                  <a:tcPr>
                    <a:solidFill>
                      <a:srgbClr val="F7F8FA"/>
                    </a:solidFill>
                  </a:tcPr>
                </a:tc>
                <a:tc>
                  <a:txBody>
                    <a:bodyPr/>
                    <a:lstStyle/>
                    <a:p>
                      <a:pPr algn="ctr"/>
                      <a:r>
                        <a:rPr sz="800" b="1" i="0">
                          <a:solidFill>
                            <a:srgbClr val="0D0D0D"/>
                          </a:solidFill>
                          <a:latin typeface="Calibri"/>
                        </a:rPr>
                        <a:t>9,5x</a:t>
                      </a:r>
                    </a:p>
                  </a:txBody>
                  <a:tcPr>
                    <a:solidFill>
                      <a:srgbClr val="F7F8FA"/>
                    </a:solidFill>
                  </a:tcPr>
                </a:tc>
                <a:tc>
                  <a:txBody>
                    <a:bodyPr/>
                    <a:lstStyle/>
                    <a:p>
                      <a:pPr algn="ctr"/>
                      <a:r>
                        <a:rPr sz="800" b="1" i="0">
                          <a:solidFill>
                            <a:srgbClr val="0D0D0D"/>
                          </a:solidFill>
                          <a:latin typeface="Calibri"/>
                        </a:rPr>
                        <a:t>27,8x</a:t>
                      </a:r>
                    </a:p>
                  </a:txBody>
                  <a:tcPr>
                    <a:solidFill>
                      <a:srgbClr val="F7F8FA"/>
                    </a:solidFill>
                  </a:tcPr>
                </a:tc>
                <a:tc>
                  <a:txBody>
                    <a:bodyPr/>
                    <a:lstStyle/>
                    <a:p>
                      <a:pPr algn="ctr"/>
                      <a:r>
                        <a:rPr sz="800" b="1" i="0">
                          <a:solidFill>
                            <a:srgbClr val="0D0D0D"/>
                          </a:solidFill>
                          <a:latin typeface="Calibri"/>
                        </a:rPr>
                        <a:t>68,0 %</a:t>
                      </a:r>
                    </a:p>
                  </a:txBody>
                  <a:tcPr>
                    <a:solidFill>
                      <a:srgbClr val="F7F8FA"/>
                    </a:solidFill>
                  </a:tcPr>
                </a:tc>
                <a:tc>
                  <a:txBody>
                    <a:bodyPr/>
                    <a:lstStyle/>
                    <a:p>
                      <a:pPr algn="ctr"/>
                      <a:r>
                        <a:rPr sz="800" b="1" i="0">
                          <a:solidFill>
                            <a:srgbClr val="0D0D0D"/>
                          </a:solidFill>
                          <a:latin typeface="Calibri"/>
                        </a:rPr>
                        <a:t>45,0 %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33.9x vs 28.5x pour la médiane peers (Microsoft 32.1x, Alphabet 27.8x). La prime de 15% est justifiée par une croissance supérieure (+12% vs +8% peers) et une rentabilité exceptionnelle (ROIC 84.4%). Une convergence vers la médiane impliquerait un downside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275$ (base), soit +6.2% vs cours actuel. L'upside limité suggère une prime de croissance déjà partiellement pricee. Un catalyseur comme un rebond des ventes iPhone ou une accélération des services pourrait déclencher un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Surévaluation P/E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ratio P/E de 33,93x dépasse de 50% la moyenne sectorielle (22,5x), reflétant une surévaluation de 120 milliards $ basée sur les bénéfices 2025. Les marges nettes de 26,9% sont gonflées par des services marginaux (App Store, abonnements) qui représentent seulement 22% du CA mais 58% de la marge nette. L'Altman Z-score de 1,69 signale un risque de faillite accru, proche du seuil critique de 1,81.</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dépendance à la Chine pour 20% de la production expose Apple à des coûts de délocalisation estimés à 8 milliards $/an en cas de tensions géopolitiques. Les marges brutes de 46,9% pourraient chuter de 3 points si les droits de douane sur les composants électroniques passent de 15% à 25%, comme en 2019. Les stocks de produits finis ont augmenté de 18% en 2024, signe d'un ralentissement de la</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Marges artificielles</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ROE de 151,9% est artificiellement boosté par des rachats d'actions massifs (40 milliards $/an), masquant une rentabilité opérationnelle en baisse de 4% depuis 2022. L'EV/EBITDA de 26,69x est 40% supérieur à celui de Microsoft (19,1x), malgré une croissance des revenus inférieure de 2 points. La croissance des revenus de 6,4% en 2025 est inférieure à celle des concurrents (Samsung: 8,1%,</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-3% de PIB en Europe/USA</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stricte sur l'IA générative limitant les fonctionnalités premium</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de l'iPhone 16 avec adoption &lt;15% des utilisateurs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-0,055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+0,278</a:t>
                      </a:r>
                    </a:p>
                  </a:txBody>
                  <a:tcPr>
                    <a:solidFill>
                      <a:srgbClr val="EAF4EF"/>
                    </a:solidFill>
                  </a:tcPr>
                </a:tc>
                <a:tc>
                  <a:txBody>
                    <a:bodyPr/>
                    <a:lstStyle/>
                    <a:p>
                      <a:pPr algn="ctr"/>
                      <a:r>
                        <a:rPr sz="800" b="0" i="0">
                          <a:solidFill>
                            <a:srgbClr val="0D0D0D"/>
                          </a:solidFill>
                          <a:latin typeface="Calibri"/>
                        </a:rPr>
                        <a:t>Lancement iPhone 16 en Q3 2026 avec adoption de 25% des utilisateurs actuels, boostant CA de 8% | Croissance services à 12% CAGR 2025-2027 grâce à l'expansion internationale et aux abonnements | Programme de rachat d'actions de 110 Mds$ en…</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8</a:t>
                      </a:r>
                    </a:p>
                  </a:txBody>
                  <a:tcPr>
                    <a:solidFill>
                      <a:srgbClr val="FFFFFF"/>
                    </a:solidFill>
                  </a:tcPr>
                </a:tc>
                <a:tc>
                  <a:txBody>
                    <a:bodyPr/>
                    <a:lstStyle/>
                    <a:p>
                      <a:pPr algn="ctr"/>
                      <a:r>
                        <a:rPr sz="800" b="0" i="0">
                          <a:solidFill>
                            <a:srgbClr val="0D0D0D"/>
                          </a:solidFill>
                          <a:latin typeface="Calibri"/>
                        </a:rPr>
                        <a:t>+0,390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7</a:t>
                      </a:r>
                    </a:p>
                  </a:txBody>
                  <a:tcPr>
                    <a:solidFill>
                      <a:srgbClr val="FAF0EF"/>
                    </a:solidFill>
                  </a:tcPr>
                </a:tc>
                <a:tc>
                  <a:txBody>
                    <a:bodyPr/>
                    <a:lstStyle/>
                    <a:p>
                      <a:pPr algn="ctr"/>
                      <a:r>
                        <a:rPr sz="800" b="0" i="0">
                          <a:solidFill>
                            <a:srgbClr val="0D0D0D"/>
                          </a:solidFill>
                          <a:latin typeface="Calibri"/>
                        </a:rPr>
                        <a:t>+0,333</a:t>
                      </a:r>
                    </a:p>
                  </a:txBody>
                  <a:tcPr>
                    <a:solidFill>
                      <a:srgbClr val="FAF0EF"/>
                    </a:solidFill>
                  </a:tcPr>
                </a:tc>
                <a:tc>
                  <a:txBody>
                    <a:bodyPr/>
                    <a:lstStyle/>
                    <a:p>
                      <a:pPr algn="ctr"/>
                      <a:r>
                        <a:rPr sz="800" b="0" i="0">
                          <a:solidFill>
                            <a:srgbClr val="0D0D0D"/>
                          </a:solidFill>
                          <a:latin typeface="Calibri"/>
                        </a:rPr>
                        <a:t>Régulation européenne sur l'App Store en 2026 réduisant les revenus services de 15% | Concurrence accrue en IA avec Meta et Google captant 30% du marché logiciel d'ici 2027 | Dépendance à l'iPhone (50% du CA) avec un risque de saturation…</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les défis techniques et stratégiques d'Apple, notamment avec son iPhone pliable et ses tensions autour de l'App Store. Cependant, ses résultats records et son attractivité pour les investisseurs comme Warren Buffett restent des points forts majeurs.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7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cote à 26.7x EV/EBITDA vs 22.5x pour la médiane peers (Samsung, Microsoft, Alphabet). La prime de 19% est justifiée par la qualité des actifs et la résilience des marges.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7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258,86 $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+29,4 %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+29,4 % sur 12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7200" y="2822400"/>
            <a:ext cx="2653200" cy="360000"/>
          </a:xfrm>
          <a:prstGeom prst="rect">
            <a:avLst/>
          </a:prstGeom>
          <a:noFill/>
        </p:spPr>
        <p:txBody>
          <a:bodyPr wrap="square">
            <a:spAutoFit/>
          </a:bodyPr>
          <a:lstStyle/>
          <a:p>
            <a:pPr algn="l"/>
            <a:r>
              <a:rPr sz="1000" b="0" i="0">
                <a:solidFill>
                  <a:srgbClr val="555555"/>
                </a:solidFill>
                <a:latin typeface="Calibri"/>
              </a:rPr>
              <a:t>Historique de cours non disponible</a:t>
            </a:r>
          </a:p>
        </p:txBody>
      </p:sp>
      <p:sp>
        <p:nvSpPr>
          <p:cNvPr id="36" name="TextBox 35"/>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remarquable avec des marges nettes à 26.9% en 2025. La valorisation reste élevée (P/E 33.9x) mais justifiée par la qualité des actifs et la génération de cash. Le sentiment neutre reflète un équilibre entre catalyseurs et risques structurels.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