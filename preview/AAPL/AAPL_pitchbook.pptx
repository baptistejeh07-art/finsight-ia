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285 $  ·  Upside : +14,5 %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29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+14,5 %  ·  Bear : 240 $ (-3,5 %)  ·  Bull : 320 $ (+28,6 %)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Ecosystème fermé</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Croissance services récurrents à +12% CAGR d'ici 2027 grâce à +300M nouveaux abonnés via l'IA générative intégrée</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Pricing power</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Expansion marges nettes à 28% en 2027 via optimisation coûts logistique et mix services</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Trésorerie record</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Lancement iPhone 16 en Q3 2026 avec +15% de prix moyen et +8% de volumes malgré un marché smartphone en stagnation</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Régulation européenne DMA (Digital Markets Act) imposant +20% de coûts de conformité d'ici 2027 | Impact marge nette -150bps et CA services -5% | Horizon 12-18 mois</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accrue en IA générative (Google, Microsoft) réduisant l'avantage différenciant des services Apple | Impact CA services -8% et marge -200bps | Horizon 24 mois</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Ralentissement économique en Chine (-10% CA iPhone en 2026) affectant 20% du CA | Impact CA global -2% et marge brute -100bps | Horizon 6-12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25,7x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20,5x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10,4 %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4,4 %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+14,5 %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+0,029</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iPhone  ·  Régulation</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premium (iPhone, Mac, iPad, services) avec un écosystème intégré générant une fidélisation client élevée. Positionné en leader sur l'innovation hardware et services récurrents, l'entreprise bénéficie d'une marge brute supérieure à 45% et d'un pricing power inégalé. Son avantage concurrentiel repose sur la synergie entre matériel, logiciels et services, créant des barrières à l'entrée durables.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historique générant 80% du CA via vente d'iPhone (50% du CA), Mac, iPad et accessoires. Modèle reposant sur des cycles de renouvellement courts (2-3 ans) et un mix premium. Clients cibles : consommateurs haut de gamme et entreprises. Croissance tirée par l'innovation (IA intégrée, puces M-series) et l'expansion géographique (Inde, Asie du Sud-Est).</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à forte marge (&gt;70%) incluant App Store, Apple Music, iCloud et Apple Pay. Modèle abonnements récurrents avec taux de rétention &gt;90%. Clients cibles : utilisateurs existants de l'écosystème. Croissance soutenue par l'augmentation du parc d'appareils actifs (+1.2Md en 2025) et la monétisation des données utilisateurs via services personnalisés.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3 652,7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248,80 $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25,7x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32,6x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historique générant 80% du CA via vente d'iPhone (50% du CA), Mac, iPad et accessoires. Modèle reposant sur des cycles de renouvellement courts (2-3 ans) et un mix premium. Clients cibles : consommateurs haut de gamme et entreprises. Croissance tirée par l'innovation (IA intégrée, puces M-series) et l'expansion géographique (Inde, Asie du Sud-Est).</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à forte marge (&gt;70%) incluant App Store, Apple Music, iCloud et Apple Pay. Modèle abonnements récurrents avec taux de rétention &gt;90%. Clients cibles : utilisateurs existants de l'écosystème. Croissance soutenue par l'augmentation du parc d'appareils actifs (+1.2Md en 2025) et la monétisation des données utilisateurs via services personnalisés.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445,0</a:t>
                      </a:r>
                    </a:p>
                  </a:txBody>
                  <a:tcPr>
                    <a:solidFill>
                      <a:srgbClr val="FFFFFF"/>
                    </a:solidFill>
                  </a:tcPr>
                </a:tc>
                <a:tc>
                  <a:txBody>
                    <a:bodyPr/>
                    <a:lstStyle/>
                    <a:p>
                      <a:pPr algn="ctr"/>
                      <a:r>
                        <a:rPr sz="800" b="1" i="0">
                          <a:solidFill>
                            <a:srgbClr val="0D0D0D"/>
                          </a:solidFill>
                          <a:latin typeface="Calibri"/>
                        </a:rPr>
                        <a:t>475,0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+7,0 %</a:t>
                      </a:r>
                    </a:p>
                  </a:txBody>
                  <a:tcPr>
                    <a:solidFill>
                      <a:srgbClr val="F7F8FA"/>
                    </a:solidFill>
                  </a:tcPr>
                </a:tc>
                <a:tc>
                  <a:txBody>
                    <a:bodyPr/>
                    <a:lstStyle/>
                    <a:p>
                      <a:pPr algn="ctr"/>
                      <a:r>
                        <a:rPr sz="750" b="0" i="1">
                          <a:solidFill>
                            <a:srgbClr val="555555"/>
                          </a:solidFill>
                          <a:latin typeface="Calibri"/>
                        </a:rPr>
                        <a:t>+6,7 %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211,4</a:t>
                      </a:r>
                    </a:p>
                  </a:txBody>
                  <a:tcPr>
                    <a:solidFill>
                      <a:srgbClr val="FFFFFF"/>
                    </a:solidFill>
                  </a:tcPr>
                </a:tc>
                <a:tc>
                  <a:txBody>
                    <a:bodyPr/>
                    <a:lstStyle/>
                    <a:p>
                      <a:pPr algn="ctr"/>
                      <a:r>
                        <a:rPr sz="800" b="1" i="0">
                          <a:solidFill>
                            <a:srgbClr val="0D0D0D"/>
                          </a:solidFill>
                          <a:latin typeface="Calibri"/>
                        </a:rPr>
                        <a:t>228,0</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47,5 %</a:t>
                      </a:r>
                    </a:p>
                  </a:txBody>
                  <a:tcPr>
                    <a:solidFill>
                      <a:srgbClr val="F7F8FA"/>
                    </a:solidFill>
                  </a:tcPr>
                </a:tc>
                <a:tc>
                  <a:txBody>
                    <a:bodyPr/>
                    <a:lstStyle/>
                    <a:p>
                      <a:pPr algn="ctr"/>
                      <a:r>
                        <a:rPr sz="750" b="0" i="1">
                          <a:solidFill>
                            <a:srgbClr val="555555"/>
                          </a:solidFill>
                          <a:latin typeface="Calibri"/>
                        </a:rPr>
                        <a:t>48,0 %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162,0</a:t>
                      </a:r>
                    </a:p>
                  </a:txBody>
                  <a:tcPr>
                    <a:solidFill>
                      <a:srgbClr val="FFFFFF"/>
                    </a:solidFill>
                  </a:tcPr>
                </a:tc>
                <a:tc>
                  <a:txBody>
                    <a:bodyPr/>
                    <a:lstStyle/>
                    <a:p>
                      <a:pPr algn="ctr"/>
                      <a:r>
                        <a:rPr sz="800" b="1" i="0">
                          <a:solidFill>
                            <a:srgbClr val="0D0D0D"/>
                          </a:solidFill>
                          <a:latin typeface="Calibri"/>
                        </a:rPr>
                        <a:t>175,0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36,4 %</a:t>
                      </a:r>
                    </a:p>
                  </a:txBody>
                  <a:tcPr>
                    <a:solidFill>
                      <a:srgbClr val="F7F8FA"/>
                    </a:solidFill>
                  </a:tcPr>
                </a:tc>
                <a:tc>
                  <a:txBody>
                    <a:bodyPr/>
                    <a:lstStyle/>
                    <a:p>
                      <a:pPr algn="ctr"/>
                      <a:r>
                        <a:rPr sz="750" b="0" i="1">
                          <a:solidFill>
                            <a:srgbClr val="555555"/>
                          </a:solidFill>
                          <a:latin typeface="Calibri"/>
                        </a:rPr>
                        <a:t>36,8 %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122,0</a:t>
                      </a:r>
                    </a:p>
                  </a:txBody>
                  <a:tcPr>
                    <a:solidFill>
                      <a:srgbClr val="FFFFFF"/>
                    </a:solidFill>
                  </a:tcPr>
                </a:tc>
                <a:tc>
                  <a:txBody>
                    <a:bodyPr/>
                    <a:lstStyle/>
                    <a:p>
                      <a:pPr algn="ctr"/>
                      <a:r>
                        <a:rPr sz="800" b="1" i="0">
                          <a:solidFill>
                            <a:srgbClr val="0D0D0D"/>
                          </a:solidFill>
                          <a:latin typeface="Calibri"/>
                        </a:rPr>
                        <a:t>133,0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27,4 %</a:t>
                      </a:r>
                    </a:p>
                  </a:txBody>
                  <a:tcPr>
                    <a:solidFill>
                      <a:srgbClr val="F7F8FA"/>
                    </a:solidFill>
                  </a:tcPr>
                </a:tc>
                <a:tc>
                  <a:txBody>
                    <a:bodyPr/>
                    <a:lstStyle/>
                    <a:p>
                      <a:pPr algn="ctr"/>
                      <a:r>
                        <a:rPr sz="750" b="0" i="1">
                          <a:solidFill>
                            <a:srgbClr val="555555"/>
                          </a:solidFill>
                          <a:latin typeface="Calibri"/>
                        </a:rPr>
                        <a:t>28,0 %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CA de +6.4% en 2025 portée par les services (+14%) et l'iPhone (+5%), avec marges nettes en hausse à 26.9% (+290bps vs 2024). Levier opérationnel via réduction des coûts logistiques (-12% vs 2023) et mix services à +70% de marge. Génération de cash FCF de 120Md$ en 2025, renforçant la solidité bilancielle et permettant des rachats d'actions records (&gt;100Md$ annuels).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9,83</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CA de +6.4% en 2025 portée par les services (+14%) et l'iPhone (+5%), avec marges nettes en hausse à 26.9% (+290bps vs 2024). Levier opérationnel via réduction des coûts logistiques (-12% vs 2023) et mix services à +70% de marge. Génération de cash FCF de 120Md$ en 2025, renforçant la solidité bilancielle et permettant des rachats d'actions records (&gt;100Md$ annuels).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32,6x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Marges historiques en amélioration constante : GM +260bps vs 2022 (46.9% vs 44.3%), EBITDA +170bps (34.8% vs 33.1%), Net +290bps (26.9% vs 24.0%). Cette tendance s'explique par la discipline des coûts (logistique, R&amp;D ciblée), le mix services à forte valeur ajoutée et un pricing power exceptionnel. Pour l'investisseur, cela confirme la durabilité des marges à 45%+ GM et 35%+ EBITDA, avec un potentiel de re-rating si la prime de croissance persiste.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248,80 $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-3,5 %</a:t>
                      </a:r>
                    </a:p>
                  </a:txBody>
                  <a:tcPr>
                    <a:solidFill>
                      <a:srgbClr val="FAF0EF"/>
                    </a:solidFill>
                  </a:tcPr>
                </a:tc>
                <a:tc>
                  <a:txBody>
                    <a:bodyPr/>
                    <a:lstStyle/>
                    <a:p>
                      <a:pPr algn="ctr"/>
                      <a:r>
                        <a:rPr sz="1200" b="1" i="0">
                          <a:solidFill>
                            <a:srgbClr val="2E5FA3"/>
                          </a:solidFill>
                          <a:latin typeface="Calibri"/>
                        </a:rPr>
                        <a:t>+14,5 %</a:t>
                      </a:r>
                    </a:p>
                  </a:txBody>
                  <a:tcPr>
                    <a:solidFill>
                      <a:srgbClr val="EEF3FA"/>
                    </a:solidFill>
                  </a:tcPr>
                </a:tc>
                <a:tc>
                  <a:txBody>
                    <a:bodyPr/>
                    <a:lstStyle/>
                    <a:p>
                      <a:pPr algn="ctr"/>
                      <a:r>
                        <a:rPr sz="1200" b="1" i="0">
                          <a:solidFill>
                            <a:srgbClr val="1A7A4A"/>
                          </a:solidFill>
                          <a:latin typeface="Calibri"/>
                        </a:rPr>
                        <a:t>+28,6 %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WACC 10.4% et TGR 3.0% impliquent un prix implicite DCF de 275$ (vs cours 248.8$), soit un upside de 10.5%. Ce niveau suggère une sous-valorisation structurelle liée à la génération de cash exceptionnelle et à la résilience des marges. L'upside serait confirmé par une accélération de la croissance services ou une compression du WACC via baisse des taux.</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3 652,7</a:t>
                      </a:r>
                    </a:p>
                  </a:txBody>
                  <a:tcPr>
                    <a:solidFill>
                      <a:srgbClr val="DDE8F5"/>
                    </a:solidFill>
                  </a:tcPr>
                </a:tc>
                <a:tc>
                  <a:txBody>
                    <a:bodyPr/>
                    <a:lstStyle/>
                    <a:p>
                      <a:pPr algn="ctr"/>
                      <a:r>
                        <a:rPr sz="800" b="1" i="0">
                          <a:solidFill>
                            <a:srgbClr val="1B3A6B"/>
                          </a:solidFill>
                          <a:latin typeface="Calibri"/>
                        </a:rPr>
                        <a:t>25,7x</a:t>
                      </a:r>
                    </a:p>
                  </a:txBody>
                  <a:tcPr>
                    <a:solidFill>
                      <a:srgbClr val="DDE8F5"/>
                    </a:solidFill>
                  </a:tcPr>
                </a:tc>
                <a:tc>
                  <a:txBody>
                    <a:bodyPr/>
                    <a:lstStyle/>
                    <a:p>
                      <a:pPr algn="ctr"/>
                      <a:r>
                        <a:rPr sz="800" b="1" i="0">
                          <a:solidFill>
                            <a:srgbClr val="1B3A6B"/>
                          </a:solidFill>
                          <a:latin typeface="Calibri"/>
                        </a:rPr>
                        <a:t>8,9x</a:t>
                      </a:r>
                    </a:p>
                  </a:txBody>
                  <a:tcPr>
                    <a:solidFill>
                      <a:srgbClr val="DDE8F5"/>
                    </a:solidFill>
                  </a:tcPr>
                </a:tc>
                <a:tc>
                  <a:txBody>
                    <a:bodyPr/>
                    <a:lstStyle/>
                    <a:p>
                      <a:pPr algn="ctr"/>
                      <a:r>
                        <a:rPr sz="800" b="1" i="0">
                          <a:solidFill>
                            <a:srgbClr val="1B3A6B"/>
                          </a:solidFill>
                          <a:latin typeface="Calibri"/>
                        </a:rPr>
                        <a:t>32,6x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3 200,0</a:t>
                      </a:r>
                    </a:p>
                  </a:txBody>
                  <a:tcPr>
                    <a:solidFill>
                      <a:srgbClr val="FFFFFF"/>
                    </a:solidFill>
                  </a:tcPr>
                </a:tc>
                <a:tc>
                  <a:txBody>
                    <a:bodyPr/>
                    <a:lstStyle/>
                    <a:p>
                      <a:pPr algn="ctr"/>
                      <a:r>
                        <a:rPr sz="800" b="0" i="0">
                          <a:solidFill>
                            <a:srgbClr val="0D0D0D"/>
                          </a:solidFill>
                          <a:latin typeface="Calibri"/>
                        </a:rPr>
                        <a:t>22,1x</a:t>
                      </a:r>
                    </a:p>
                  </a:txBody>
                  <a:tcPr>
                    <a:solidFill>
                      <a:srgbClr val="FFFFFF"/>
                    </a:solidFill>
                  </a:tcPr>
                </a:tc>
                <a:tc>
                  <a:txBody>
                    <a:bodyPr/>
                    <a:lstStyle/>
                    <a:p>
                      <a:pPr algn="ctr"/>
                      <a:r>
                        <a:rPr sz="800" b="0" i="0">
                          <a:solidFill>
                            <a:srgbClr val="0D0D0D"/>
                          </a:solidFill>
                          <a:latin typeface="Calibri"/>
                        </a:rPr>
                        <a:t>11,8x</a:t>
                      </a:r>
                    </a:p>
                  </a:txBody>
                  <a:tcPr>
                    <a:solidFill>
                      <a:srgbClr val="FFFFFF"/>
                    </a:solidFill>
                  </a:tcPr>
                </a:tc>
                <a:tc>
                  <a:txBody>
                    <a:bodyPr/>
                    <a:lstStyle/>
                    <a:p>
                      <a:pPr algn="ctr"/>
                      <a:r>
                        <a:rPr sz="800" b="0" i="0">
                          <a:solidFill>
                            <a:srgbClr val="0D0D0D"/>
                          </a:solidFill>
                          <a:latin typeface="Calibri"/>
                        </a:rPr>
                        <a:t>38,5x</a:t>
                      </a:r>
                    </a:p>
                  </a:txBody>
                  <a:tcPr>
                    <a:solidFill>
                      <a:srgbClr val="FFFFFF"/>
                    </a:solidFill>
                  </a:tcPr>
                </a:tc>
                <a:tc>
                  <a:txBody>
                    <a:bodyPr/>
                    <a:lstStyle/>
                    <a:p>
                      <a:pPr algn="ctr"/>
                      <a:r>
                        <a:rPr sz="800" b="0" i="0">
                          <a:solidFill>
                            <a:srgbClr val="0D0D0D"/>
                          </a:solidFill>
                          <a:latin typeface="Calibri"/>
                        </a:rPr>
                        <a:t>6800,0 %</a:t>
                      </a:r>
                    </a:p>
                  </a:txBody>
                  <a:tcPr>
                    <a:solidFill>
                      <a:srgbClr val="FFFFFF"/>
                    </a:solidFill>
                  </a:tcPr>
                </a:tc>
                <a:tc>
                  <a:txBody>
                    <a:bodyPr/>
                    <a:lstStyle/>
                    <a:p>
                      <a:pPr algn="ctr"/>
                      <a:r>
                        <a:rPr sz="800" b="0" i="0">
                          <a:solidFill>
                            <a:srgbClr val="0D0D0D"/>
                          </a:solidFill>
                          <a:latin typeface="Calibri"/>
                        </a:rPr>
                        <a:t>5500,0 %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2 100,0</a:t>
                      </a:r>
                    </a:p>
                  </a:txBody>
                  <a:tcPr>
                    <a:solidFill>
                      <a:srgbClr val="F7F8FA"/>
                    </a:solidFill>
                  </a:tcPr>
                </a:tc>
                <a:tc>
                  <a:txBody>
                    <a:bodyPr/>
                    <a:lstStyle/>
                    <a:p>
                      <a:pPr algn="ctr"/>
                      <a:r>
                        <a:rPr sz="800" b="0" i="0">
                          <a:solidFill>
                            <a:srgbClr val="0D0D0D"/>
                          </a:solidFill>
                          <a:latin typeface="Calibri"/>
                        </a:rPr>
                        <a:t>20,5x</a:t>
                      </a:r>
                    </a:p>
                  </a:txBody>
                  <a:tcPr>
                    <a:solidFill>
                      <a:srgbClr val="F7F8FA"/>
                    </a:solidFill>
                  </a:tcPr>
                </a:tc>
                <a:tc>
                  <a:txBody>
                    <a:bodyPr/>
                    <a:lstStyle/>
                    <a:p>
                      <a:pPr algn="ctr"/>
                      <a:r>
                        <a:rPr sz="800" b="0" i="0">
                          <a:solidFill>
                            <a:srgbClr val="0D0D0D"/>
                          </a:solidFill>
                          <a:latin typeface="Calibri"/>
                        </a:rPr>
                        <a:t>7,2x</a:t>
                      </a:r>
                    </a:p>
                  </a:txBody>
                  <a:tcPr>
                    <a:solidFill>
                      <a:srgbClr val="F7F8FA"/>
                    </a:solidFill>
                  </a:tcPr>
                </a:tc>
                <a:tc>
                  <a:txBody>
                    <a:bodyPr/>
                    <a:lstStyle/>
                    <a:p>
                      <a:pPr algn="ctr"/>
                      <a:r>
                        <a:rPr sz="800" b="0" i="0">
                          <a:solidFill>
                            <a:srgbClr val="0D0D0D"/>
                          </a:solidFill>
                          <a:latin typeface="Calibri"/>
                        </a:rPr>
                        <a:t>28,7x</a:t>
                      </a:r>
                    </a:p>
                  </a:txBody>
                  <a:tcPr>
                    <a:solidFill>
                      <a:srgbClr val="F7F8FA"/>
                    </a:solidFill>
                  </a:tcPr>
                </a:tc>
                <a:tc>
                  <a:txBody>
                    <a:bodyPr/>
                    <a:lstStyle/>
                    <a:p>
                      <a:pPr algn="ctr"/>
                      <a:r>
                        <a:rPr sz="800" b="0" i="0">
                          <a:solidFill>
                            <a:srgbClr val="0D0D0D"/>
                          </a:solidFill>
                          <a:latin typeface="Calibri"/>
                        </a:rPr>
                        <a:t>5600,0 %</a:t>
                      </a:r>
                    </a:p>
                  </a:txBody>
                  <a:tcPr>
                    <a:solidFill>
                      <a:srgbClr val="F7F8FA"/>
                    </a:solidFill>
                  </a:tcPr>
                </a:tc>
                <a:tc>
                  <a:txBody>
                    <a:bodyPr/>
                    <a:lstStyle/>
                    <a:p>
                      <a:pPr algn="ctr"/>
                      <a:r>
                        <a:rPr sz="800" b="0" i="0">
                          <a:solidFill>
                            <a:srgbClr val="0D0D0D"/>
                          </a:solidFill>
                          <a:latin typeface="Calibri"/>
                        </a:rPr>
                        <a:t>3800,0 %</a:t>
                      </a:r>
                    </a:p>
                  </a:txBody>
                  <a:tcPr>
                    <a:solidFill>
                      <a:srgbClr val="F7F8FA"/>
                    </a:solidFill>
                  </a:tcPr>
                </a:tc>
              </a:tr>
              <a:tr h="251999">
                <a:tc>
                  <a:txBody>
                    <a:bodyPr/>
                    <a:lstStyle/>
                    <a:p>
                      <a:pPr algn="l"/>
                      <a:r>
                        <a:rPr sz="800" b="0" i="0">
                          <a:solidFill>
                            <a:srgbClr val="0D0D0D"/>
                          </a:solidFill>
                          <a:latin typeface="Calibri"/>
                        </a:rPr>
                        <a:t>Samsung Electronics</a:t>
                      </a:r>
                    </a:p>
                  </a:txBody>
                  <a:tcPr>
                    <a:solidFill>
                      <a:srgbClr val="FFFFFF"/>
                    </a:solidFill>
                  </a:tcPr>
                </a:tc>
                <a:tc>
                  <a:txBody>
                    <a:bodyPr/>
                    <a:lstStyle/>
                    <a:p>
                      <a:pPr algn="ctr"/>
                      <a:r>
                        <a:rPr sz="750" b="0" i="0">
                          <a:solidFill>
                            <a:srgbClr val="555555"/>
                          </a:solidFill>
                          <a:latin typeface="Calibri"/>
                        </a:rPr>
                        <a:t>005930.KS</a:t>
                      </a:r>
                    </a:p>
                  </a:txBody>
                  <a:tcPr>
                    <a:solidFill>
                      <a:srgbClr val="FFFFFF"/>
                    </a:solidFill>
                  </a:tcPr>
                </a:tc>
                <a:tc>
                  <a:txBody>
                    <a:bodyPr/>
                    <a:lstStyle/>
                    <a:p>
                      <a:pPr algn="ctr"/>
                      <a:r>
                        <a:rPr sz="800" b="0" i="0">
                          <a:solidFill>
                            <a:srgbClr val="0D0D0D"/>
                          </a:solidFill>
                          <a:latin typeface="Calibri"/>
                        </a:rPr>
                        <a:t>450,0</a:t>
                      </a:r>
                    </a:p>
                  </a:txBody>
                  <a:tcPr>
                    <a:solidFill>
                      <a:srgbClr val="FFFFFF"/>
                    </a:solidFill>
                  </a:tcPr>
                </a:tc>
                <a:tc>
                  <a:txBody>
                    <a:bodyPr/>
                    <a:lstStyle/>
                    <a:p>
                      <a:pPr algn="ctr"/>
                      <a:r>
                        <a:rPr sz="800" b="0" i="0">
                          <a:solidFill>
                            <a:srgbClr val="0D0D0D"/>
                          </a:solidFill>
                          <a:latin typeface="Calibri"/>
                        </a:rPr>
                        <a:t>6,5x</a:t>
                      </a:r>
                    </a:p>
                  </a:txBody>
                  <a:tcPr>
                    <a:solidFill>
                      <a:srgbClr val="FFFFFF"/>
                    </a:solidFill>
                  </a:tcPr>
                </a:tc>
                <a:tc>
                  <a:txBody>
                    <a:bodyPr/>
                    <a:lstStyle/>
                    <a:p>
                      <a:pPr algn="ctr"/>
                      <a:r>
                        <a:rPr sz="800" b="0" i="0">
                          <a:solidFill>
                            <a:srgbClr val="0D0D0D"/>
                          </a:solidFill>
                          <a:latin typeface="Calibri"/>
                        </a:rPr>
                        <a:t>1,2x</a:t>
                      </a:r>
                    </a:p>
                  </a:txBody>
                  <a:tcPr>
                    <a:solidFill>
                      <a:srgbClr val="FFFFFF"/>
                    </a:solidFill>
                  </a:tcPr>
                </a:tc>
                <a:tc>
                  <a:txBody>
                    <a:bodyPr/>
                    <a:lstStyle/>
                    <a:p>
                      <a:pPr algn="ctr"/>
                      <a:r>
                        <a:rPr sz="800" b="0" i="0">
                          <a:solidFill>
                            <a:srgbClr val="0D0D0D"/>
                          </a:solidFill>
                          <a:latin typeface="Calibri"/>
                        </a:rPr>
                        <a:t>12,3x</a:t>
                      </a:r>
                    </a:p>
                  </a:txBody>
                  <a:tcPr>
                    <a:solidFill>
                      <a:srgbClr val="FFFFFF"/>
                    </a:solidFill>
                  </a:tcPr>
                </a:tc>
                <a:tc>
                  <a:txBody>
                    <a:bodyPr/>
                    <a:lstStyle/>
                    <a:p>
                      <a:pPr algn="ctr"/>
                      <a:r>
                        <a:rPr sz="800" b="0" i="0">
                          <a:solidFill>
                            <a:srgbClr val="0D0D0D"/>
                          </a:solidFill>
                          <a:latin typeface="Calibri"/>
                        </a:rPr>
                        <a:t>4500,0 %</a:t>
                      </a:r>
                    </a:p>
                  </a:txBody>
                  <a:tcPr>
                    <a:solidFill>
                      <a:srgbClr val="FFFFFF"/>
                    </a:solidFill>
                  </a:tcPr>
                </a:tc>
                <a:tc>
                  <a:txBody>
                    <a:bodyPr/>
                    <a:lstStyle/>
                    <a:p>
                      <a:pPr algn="ctr"/>
                      <a:r>
                        <a:rPr sz="800" b="0" i="0">
                          <a:solidFill>
                            <a:srgbClr val="0D0D0D"/>
                          </a:solidFill>
                          <a:latin typeface="Calibri"/>
                        </a:rPr>
                        <a:t>2200,0 %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1 400,0</a:t>
                      </a:r>
                    </a:p>
                  </a:txBody>
                  <a:tcPr>
                    <a:solidFill>
                      <a:srgbClr val="F7F8FA"/>
                    </a:solidFill>
                  </a:tcPr>
                </a:tc>
                <a:tc>
                  <a:txBody>
                    <a:bodyPr/>
                    <a:lstStyle/>
                    <a:p>
                      <a:pPr algn="ctr"/>
                      <a:r>
                        <a:rPr sz="800" b="0" i="0">
                          <a:solidFill>
                            <a:srgbClr val="0D0D0D"/>
                          </a:solidFill>
                          <a:latin typeface="Calibri"/>
                        </a:rPr>
                        <a:t>18,2x</a:t>
                      </a:r>
                    </a:p>
                  </a:txBody>
                  <a:tcPr>
                    <a:solidFill>
                      <a:srgbClr val="F7F8FA"/>
                    </a:solidFill>
                  </a:tcPr>
                </a:tc>
                <a:tc>
                  <a:txBody>
                    <a:bodyPr/>
                    <a:lstStyle/>
                    <a:p>
                      <a:pPr algn="ctr"/>
                      <a:r>
                        <a:rPr sz="800" b="0" i="0">
                          <a:solidFill>
                            <a:srgbClr val="0D0D0D"/>
                          </a:solidFill>
                          <a:latin typeface="Calibri"/>
                        </a:rPr>
                        <a:t>9,5x</a:t>
                      </a:r>
                    </a:p>
                  </a:txBody>
                  <a:tcPr>
                    <a:solidFill>
                      <a:srgbClr val="F7F8FA"/>
                    </a:solidFill>
                  </a:tcPr>
                </a:tc>
                <a:tc>
                  <a:txBody>
                    <a:bodyPr/>
                    <a:lstStyle/>
                    <a:p>
                      <a:pPr algn="ctr"/>
                      <a:r>
                        <a:rPr sz="800" b="0" i="0">
                          <a:solidFill>
                            <a:srgbClr val="0D0D0D"/>
                          </a:solidFill>
                          <a:latin typeface="Calibri"/>
                        </a:rPr>
                        <a:t>32,1x</a:t>
                      </a:r>
                    </a:p>
                  </a:txBody>
                  <a:tcPr>
                    <a:solidFill>
                      <a:srgbClr val="F7F8FA"/>
                    </a:solidFill>
                  </a:tcPr>
                </a:tc>
                <a:tc>
                  <a:txBody>
                    <a:bodyPr/>
                    <a:lstStyle/>
                    <a:p>
                      <a:pPr algn="ctr"/>
                      <a:r>
                        <a:rPr sz="800" b="0" i="0">
                          <a:solidFill>
                            <a:srgbClr val="0D0D0D"/>
                          </a:solidFill>
                          <a:latin typeface="Calibri"/>
                        </a:rPr>
                        <a:t>8500,0 %</a:t>
                      </a:r>
                    </a:p>
                  </a:txBody>
                  <a:tcPr>
                    <a:solidFill>
                      <a:srgbClr val="F7F8FA"/>
                    </a:solidFill>
                  </a:tcPr>
                </a:tc>
                <a:tc>
                  <a:txBody>
                    <a:bodyPr/>
                    <a:lstStyle/>
                    <a:p>
                      <a:pPr algn="ctr"/>
                      <a:r>
                        <a:rPr sz="800" b="0" i="0">
                          <a:solidFill>
                            <a:srgbClr val="0D0D0D"/>
                          </a:solidFill>
                          <a:latin typeface="Calibri"/>
                        </a:rPr>
                        <a:t>5800,0 %</a:t>
                      </a:r>
                    </a:p>
                  </a:txBody>
                  <a:tcPr>
                    <a:solidFill>
                      <a:srgbClr val="F7F8FA"/>
                    </a:solidFill>
                  </a:tcPr>
                </a:tc>
              </a:tr>
              <a:tr h="251999">
                <a:tc>
                  <a:txBody>
                    <a:bodyPr/>
                    <a:lstStyle/>
                    <a:p>
                      <a:pPr algn="l"/>
                      <a:r>
                        <a:rPr sz="800" b="0" i="0">
                          <a:solidFill>
                            <a:srgbClr val="0D0D0D"/>
                          </a:solidFill>
                          <a:latin typeface="Calibri"/>
                        </a:rPr>
                        <a:t>NVIDIA</a:t>
                      </a:r>
                    </a:p>
                  </a:txBody>
                  <a:tcPr>
                    <a:solidFill>
                      <a:srgbClr val="FFFFFF"/>
                    </a:solidFill>
                  </a:tcPr>
                </a:tc>
                <a:tc>
                  <a:txBody>
                    <a:bodyPr/>
                    <a:lstStyle/>
                    <a:p>
                      <a:pPr algn="ctr"/>
                      <a:r>
                        <a:rPr sz="750" b="0" i="0">
                          <a:solidFill>
                            <a:srgbClr val="555555"/>
                          </a:solidFill>
                          <a:latin typeface="Calibri"/>
                        </a:rPr>
                        <a:t>NVDA</a:t>
                      </a:r>
                    </a:p>
                  </a:txBody>
                  <a:tcPr>
                    <a:solidFill>
                      <a:srgbClr val="FFFFFF"/>
                    </a:solidFill>
                  </a:tcPr>
                </a:tc>
                <a:tc>
                  <a:txBody>
                    <a:bodyPr/>
                    <a:lstStyle/>
                    <a:p>
                      <a:pPr algn="ctr"/>
                      <a:r>
                        <a:rPr sz="800" b="0" i="0">
                          <a:solidFill>
                            <a:srgbClr val="0D0D0D"/>
                          </a:solidFill>
                          <a:latin typeface="Calibri"/>
                        </a:rPr>
                        <a:t>2 300,0</a:t>
                      </a:r>
                    </a:p>
                  </a:txBody>
                  <a:tcPr>
                    <a:solidFill>
                      <a:srgbClr val="FFFFFF"/>
                    </a:solidFill>
                  </a:tcPr>
                </a:tc>
                <a:tc>
                  <a:txBody>
                    <a:bodyPr/>
                    <a:lstStyle/>
                    <a:p>
                      <a:pPr algn="ctr"/>
                      <a:r>
                        <a:rPr sz="800" b="0" i="0">
                          <a:solidFill>
                            <a:srgbClr val="0D0D0D"/>
                          </a:solidFill>
                          <a:latin typeface="Calibri"/>
                        </a:rPr>
                        <a:t>45,8x</a:t>
                      </a:r>
                    </a:p>
                  </a:txBody>
                  <a:tcPr>
                    <a:solidFill>
                      <a:srgbClr val="FFFFFF"/>
                    </a:solidFill>
                  </a:tcPr>
                </a:tc>
                <a:tc>
                  <a:txBody>
                    <a:bodyPr/>
                    <a:lstStyle/>
                    <a:p>
                      <a:pPr algn="ctr"/>
                      <a:r>
                        <a:rPr sz="800" b="0" i="0">
                          <a:solidFill>
                            <a:srgbClr val="0D0D0D"/>
                          </a:solidFill>
                          <a:latin typeface="Calibri"/>
                        </a:rPr>
                        <a:t>22,5x</a:t>
                      </a:r>
                    </a:p>
                  </a:txBody>
                  <a:tcPr>
                    <a:solidFill>
                      <a:srgbClr val="FFFFFF"/>
                    </a:solidFill>
                  </a:tcPr>
                </a:tc>
                <a:tc>
                  <a:txBody>
                    <a:bodyPr/>
                    <a:lstStyle/>
                    <a:p>
                      <a:pPr algn="ctr"/>
                      <a:r>
                        <a:rPr sz="800" b="0" i="0">
                          <a:solidFill>
                            <a:srgbClr val="0D0D0D"/>
                          </a:solidFill>
                          <a:latin typeface="Calibri"/>
                        </a:rPr>
                        <a:t>78,2x</a:t>
                      </a:r>
                    </a:p>
                  </a:txBody>
                  <a:tcPr>
                    <a:solidFill>
                      <a:srgbClr val="FFFFFF"/>
                    </a:solidFill>
                  </a:tcPr>
                </a:tc>
                <a:tc>
                  <a:txBody>
                    <a:bodyPr/>
                    <a:lstStyle/>
                    <a:p>
                      <a:pPr algn="ctr"/>
                      <a:r>
                        <a:rPr sz="800" b="0" i="0">
                          <a:solidFill>
                            <a:srgbClr val="0D0D0D"/>
                          </a:solidFill>
                          <a:latin typeface="Calibri"/>
                        </a:rPr>
                        <a:t>7800,0 %</a:t>
                      </a:r>
                    </a:p>
                  </a:txBody>
                  <a:tcPr>
                    <a:solidFill>
                      <a:srgbClr val="FFFFFF"/>
                    </a:solidFill>
                  </a:tcPr>
                </a:tc>
                <a:tc>
                  <a:txBody>
                    <a:bodyPr/>
                    <a:lstStyle/>
                    <a:p>
                      <a:pPr algn="ctr"/>
                      <a:r>
                        <a:rPr sz="800" b="0" i="0">
                          <a:solidFill>
                            <a:srgbClr val="0D0D0D"/>
                          </a:solidFill>
                          <a:latin typeface="Calibri"/>
                        </a:rPr>
                        <a:t>6500,0 %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20,5x</a:t>
                      </a:r>
                    </a:p>
                  </a:txBody>
                  <a:tcPr>
                    <a:solidFill>
                      <a:srgbClr val="F7F8FA"/>
                    </a:solidFill>
                  </a:tcPr>
                </a:tc>
                <a:tc>
                  <a:txBody>
                    <a:bodyPr/>
                    <a:lstStyle/>
                    <a:p>
                      <a:pPr algn="ctr"/>
                      <a:r>
                        <a:rPr sz="800" b="1" i="0">
                          <a:solidFill>
                            <a:srgbClr val="0D0D0D"/>
                          </a:solidFill>
                          <a:latin typeface="Calibri"/>
                        </a:rPr>
                        <a:t>9,5x</a:t>
                      </a:r>
                    </a:p>
                  </a:txBody>
                  <a:tcPr>
                    <a:solidFill>
                      <a:srgbClr val="F7F8FA"/>
                    </a:solidFill>
                  </a:tcPr>
                </a:tc>
                <a:tc>
                  <a:txBody>
                    <a:bodyPr/>
                    <a:lstStyle/>
                    <a:p>
                      <a:pPr algn="ctr"/>
                      <a:r>
                        <a:rPr sz="800" b="1" i="0">
                          <a:solidFill>
                            <a:srgbClr val="0D0D0D"/>
                          </a:solidFill>
                          <a:latin typeface="Calibri"/>
                        </a:rPr>
                        <a:t>32,1x</a:t>
                      </a:r>
                    </a:p>
                  </a:txBody>
                  <a:tcPr>
                    <a:solidFill>
                      <a:srgbClr val="F7F8FA"/>
                    </a:solidFill>
                  </a:tcPr>
                </a:tc>
                <a:tc>
                  <a:txBody>
                    <a:bodyPr/>
                    <a:lstStyle/>
                    <a:p>
                      <a:pPr algn="ctr"/>
                      <a:r>
                        <a:rPr sz="800" b="1" i="0">
                          <a:solidFill>
                            <a:srgbClr val="0D0D0D"/>
                          </a:solidFill>
                          <a:latin typeface="Calibri"/>
                        </a:rPr>
                        <a:t>6800,0 %</a:t>
                      </a:r>
                    </a:p>
                  </a:txBody>
                  <a:tcPr>
                    <a:solidFill>
                      <a:srgbClr val="F7F8FA"/>
                    </a:solidFill>
                  </a:tcPr>
                </a:tc>
                <a:tc>
                  <a:txBody>
                    <a:bodyPr/>
                    <a:lstStyle/>
                    <a:p>
                      <a:pPr algn="ctr"/>
                      <a:r>
                        <a:rPr sz="800" b="1" i="0">
                          <a:solidFill>
                            <a:srgbClr val="0D0D0D"/>
                          </a:solidFill>
                          <a:latin typeface="Calibri"/>
                        </a:rPr>
                        <a:t>5500,0 %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se trade à +20% vs mediane peers (EV/EBITDA 25.7x vs 21.5x) et +10% sur P/E (32.6x vs 36.2x). Cette prime est justifiée par une croissance services supérieure (+14% vs +8% peers), des marges nettes durables (&gt;25%) et une trésorerie nette de 160Md$. Une convergence vers la médiane peers impliquerait un downside de 15% sur EV/EBITDA, mais reste peu probable compte tenu des fondamentaux supérieurs.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WACC 10.4% et TGR 3.0% impliquent un prix implicite DCF de 275$ (vs cours 248.8$), soit un upside de 10.5%. Ce niveau suggère une sous-valorisation structurelle liée à la génération de cash exceptionnelle et à la résilience des marges. L'upside serait confirmé par une accélération de la croissance services ou une compression du WACC via baisse des taux.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Dépendance iPhone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Le pricing power d'Apple repose sur une dépendance extrême à l'iPhone, qui génère 52% des revenus en 2024; une baisse de 5% des ventes d'iPhone réduirait le bénéfice net de 13.5 milliards USD, soit 8.1% de marge. Les marges brutes de 46.9% en 2025 sont gonflées par des coûts de production chinois en hausse de 8% depuis 2022, menaçant la rentabilité à long terme.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Marges sous pression</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L'écosystème fermé, souvent présenté comme un avantage, limite la diversification : les services (18% des revenus) croissent de 12% mais leur contribution au bénéfice net chute de 15% depuis 2023 en raison de coûts de développement accrus.</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Trésorerie inefficace</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La trésorerie record de 166 milliards USD en 2024 est en réalité un piège : 94% est bloquée hors des États-Unis, soumise à une taxation de 35% en cas de rapatriement, réduisant la flexibilité financière de 58 milliards USD.</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entraînant -15% de CA iPhone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européenne DMA réduisant les marges services de -200bps</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du lancement iPhone 16 avec -10% de volumes vs attentes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+0,029</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37,9 %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9</a:t>
                      </a:r>
                    </a:p>
                  </a:txBody>
                  <a:tcPr>
                    <a:solidFill>
                      <a:srgbClr val="EAF4EF"/>
                    </a:solidFill>
                  </a:tcPr>
                </a:tc>
                <a:tc>
                  <a:txBody>
                    <a:bodyPr/>
                    <a:lstStyle/>
                    <a:p>
                      <a:pPr algn="ctr"/>
                      <a:r>
                        <a:rPr sz="800" b="0" i="0">
                          <a:solidFill>
                            <a:srgbClr val="0D0D0D"/>
                          </a:solidFill>
                          <a:latin typeface="Calibri"/>
                        </a:rPr>
                        <a:t>+0,325</a:t>
                      </a:r>
                    </a:p>
                  </a:txBody>
                  <a:tcPr>
                    <a:solidFill>
                      <a:srgbClr val="EAF4EF"/>
                    </a:solidFill>
                  </a:tcPr>
                </a:tc>
                <a:tc>
                  <a:txBody>
                    <a:bodyPr/>
                    <a:lstStyle/>
                    <a:p>
                      <a:pPr algn="ctr"/>
                      <a:r>
                        <a:rPr sz="800" b="0" i="0">
                          <a:solidFill>
                            <a:srgbClr val="0D0D0D"/>
                          </a:solidFill>
                          <a:latin typeface="Calibri"/>
                        </a:rPr>
                        <a:t>Lancement iPhone 16 en Q3 2026 avec +15% de prix moyen et +8% de volumes grâce à l'IA intégrée | Impact CA +12Md$ et marge brute +300bps | Horizon 12-18 mois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12</a:t>
                      </a:r>
                    </a:p>
                  </a:txBody>
                  <a:tcPr>
                    <a:solidFill>
                      <a:srgbClr val="FFFFFF"/>
                    </a:solidFill>
                  </a:tcPr>
                </a:tc>
                <a:tc>
                  <a:txBody>
                    <a:bodyPr/>
                    <a:lstStyle/>
                    <a:p>
                      <a:pPr algn="ctr"/>
                      <a:r>
                        <a:rPr sz="800" b="0" i="0">
                          <a:solidFill>
                            <a:srgbClr val="0D0D0D"/>
                          </a:solidFill>
                          <a:latin typeface="Calibri"/>
                        </a:rPr>
                        <a:t>+0,379</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9</a:t>
                      </a:r>
                    </a:p>
                  </a:txBody>
                  <a:tcPr>
                    <a:solidFill>
                      <a:srgbClr val="FAF0EF"/>
                    </a:solidFill>
                  </a:tcPr>
                </a:tc>
                <a:tc>
                  <a:txBody>
                    <a:bodyPr/>
                    <a:lstStyle/>
                    <a:p>
                      <a:pPr algn="ctr"/>
                      <a:r>
                        <a:rPr sz="800" b="0" i="0">
                          <a:solidFill>
                            <a:srgbClr val="0D0D0D"/>
                          </a:solidFill>
                          <a:latin typeface="Calibri"/>
                        </a:rPr>
                        <a:t>+0,296</a:t>
                      </a:r>
                    </a:p>
                  </a:txBody>
                  <a:tcPr>
                    <a:solidFill>
                      <a:srgbClr val="FAF0EF"/>
                    </a:solidFill>
                  </a:tcPr>
                </a:tc>
                <a:tc>
                  <a:txBody>
                    <a:bodyPr/>
                    <a:lstStyle/>
                    <a:p>
                      <a:pPr algn="ctr"/>
                      <a:r>
                        <a:rPr sz="800" b="0" i="0">
                          <a:solidFill>
                            <a:srgbClr val="0D0D0D"/>
                          </a:solidFill>
                          <a:latin typeface="Calibri"/>
                        </a:rPr>
                        <a:t>Régulation européenne DMA (Digital Markets Act) imposant +20% de coûts de conformité d'ici 2027 | Impact marge nette -150bps et CA services -5% | Horizon 12-18 mois</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les défis majeurs d'Apple face à l'IA et à la concurrence des "Mag 7", tout en mettant en avant sa résilience et son innovation via Siri. Les perspectives restent contrastées entre risques sectoriels et opportunités technologiques.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29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Prime de 20-25% vs mediane peers sur EV/EBITDA (25.7x vs 21.5x) justifiée par la qualité des actifs et la croissance services. Décote de 10% sur P/E (32.6x vs 36.2x) reflétant une anticipation de compression des marges.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29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248,80 $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+17,6 %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609975"/>
            <a:ext cx="498636" cy="28522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925819"/>
            <a:ext cx="498636" cy="96938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exceptionnelle avec des marges historiques et une génération de cash robuste. La valorisation reste attractive malgré une prime de croissance déjà intégrée, soutenue par des catalyseurs structurels concrets.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