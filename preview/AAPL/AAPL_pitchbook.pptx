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générer 445,000M$ de CA en 2026 grâce à un iPhone 16 à 1,200$ et une croissance services de 12%</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marges nettes pourraient atteindre 27.5% en 2026 via un mix services plus rentable et optimisation des coûts logistiques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 généré</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FCF devrait dépasser 120,000M$ en 2026, soutenant un programme de rachat d'actions de 100,000M$.</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antitrust européenne sur l'App Store en 2026 | Impact CA services -15% et marge -300bps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avec Google et Microsoft en 2027 | Impact part de marché iPhone -5% et marge -200bps | Horizon 18-24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en 2026 | Impact CA iPhone -10% et marge -100bps | Horizon 6-12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smartphones, ordinateurs et services numériques haut de gamme. Positionné en leader premium, l'entreprise combine écosystème fermé et innovation technologique pour fidéliser ses clients. Son avantage concurrentiel repose sur la marge élevée, la récurrence des revenus via services et une logistique mondiale optimisée.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iPhone, Mac, iPad et wearables représentant 80% du CA en 2025. Modèle basé sur cycles de renouvellement et mix premium. Clients cibles : consommateurs haut de gamme et entreprises. Croissance tirée par l'Asie et les services intégrés (Apple Music, iCloud).</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TV+, Apple Music) et cloud avec marge &gt;70%. Modèle récurrent et à forte rentabilité. Clients : base installée de 2 milliards d'appareils. Croissance de 15% YoY en 2025, portée par l'expansion géographique et la hausse des prix.</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iPhone, Mac, iPad et wearables représentant 80% du CA en 2025. Modèle basé sur cycles de renouvellement et mix premium. Clients cibles : consommateurs haut de gamme et entreprises. Croissance tirée par l'Asie et les services intégrés (Apple Music, iCloud).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TV+, Apple Music) et cloud avec marge &gt;70%. Modèle récurrent et à forte rentabilité. Clients : base installée de 2 milliards d'appareils. Croissance de 15% YoY en 2025, portée par l'expansion géographique et la hausse des prix.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+740,0 %</a:t>
                      </a:r>
                    </a:p>
                  </a:txBody>
                  <a:tcPr>
                    <a:solidFill>
                      <a:srgbClr val="F7F8FA"/>
                    </a:solidFill>
                  </a:tcPr>
                </a:tc>
                <a:tc>
                  <a:txBody>
                    <a:bodyPr/>
                    <a:lstStyle/>
                    <a:p>
                      <a:pPr algn="ctr"/>
                      <a:r>
                        <a:rPr sz="750" b="0" i="1">
                          <a:solidFill>
                            <a:srgbClr val="555555"/>
                          </a:solidFill>
                          <a:latin typeface="Calibri"/>
                        </a:rPr>
                        <a:t>+670,0 %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21 004,0</a:t>
                      </a:r>
                    </a:p>
                  </a:txBody>
                  <a:tcPr>
                    <a:solidFill>
                      <a:srgbClr val="FFFFFF"/>
                    </a:solidFill>
                  </a:tcPr>
                </a:tc>
                <a:tc>
                  <a:txBody>
                    <a:bodyPr/>
                    <a:lstStyle/>
                    <a:p>
                      <a:pPr algn="ctr"/>
                      <a:r>
                        <a:rPr sz="800" b="1" i="0">
                          <a:solidFill>
                            <a:srgbClr val="0D0D0D"/>
                          </a:solidFill>
                          <a:latin typeface="Calibri"/>
                        </a:rPr>
                        <a:t>22 562,5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4720,0 %</a:t>
                      </a:r>
                    </a:p>
                  </a:txBody>
                  <a:tcPr>
                    <a:solidFill>
                      <a:srgbClr val="F7F8FA"/>
                    </a:solidFill>
                  </a:tcPr>
                </a:tc>
                <a:tc>
                  <a:txBody>
                    <a:bodyPr/>
                    <a:lstStyle/>
                    <a:p>
                      <a:pPr algn="ctr"/>
                      <a:r>
                        <a:rPr sz="750" b="0" i="1">
                          <a:solidFill>
                            <a:srgbClr val="555555"/>
                          </a:solidFill>
                          <a:latin typeface="Calibri"/>
                        </a:rPr>
                        <a:t>4750,0 %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154,2</a:t>
                      </a:r>
                    </a:p>
                  </a:txBody>
                  <a:tcPr>
                    <a:solidFill>
                      <a:srgbClr val="FFFFFF"/>
                    </a:solidFill>
                  </a:tcPr>
                </a:tc>
                <a:tc>
                  <a:txBody>
                    <a:bodyPr/>
                    <a:lstStyle/>
                    <a:p>
                      <a:pPr algn="ctr"/>
                      <a:r>
                        <a:rPr sz="800" b="1" i="0">
                          <a:solidFill>
                            <a:srgbClr val="0D0D0D"/>
                          </a:solidFill>
                          <a:latin typeface="Calibri"/>
                        </a:rPr>
                        <a:t>166,5</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3470,0 %</a:t>
                      </a:r>
                    </a:p>
                  </a:txBody>
                  <a:tcPr>
                    <a:solidFill>
                      <a:srgbClr val="F7F8FA"/>
                    </a:solidFill>
                  </a:tcPr>
                </a:tc>
                <a:tc>
                  <a:txBody>
                    <a:bodyPr/>
                    <a:lstStyle/>
                    <a:p>
                      <a:pPr algn="ctr"/>
                      <a:r>
                        <a:rPr sz="750" b="0" i="1">
                          <a:solidFill>
                            <a:srgbClr val="555555"/>
                          </a:solidFill>
                          <a:latin typeface="Calibri"/>
                        </a:rPr>
                        <a:t>3510,0 %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121,8</a:t>
                      </a:r>
                    </a:p>
                  </a:txBody>
                  <a:tcPr>
                    <a:solidFill>
                      <a:srgbClr val="FFFFFF"/>
                    </a:solidFill>
                  </a:tcPr>
                </a:tc>
                <a:tc>
                  <a:txBody>
                    <a:bodyPr/>
                    <a:lstStyle/>
                    <a:p>
                      <a:pPr algn="ctr"/>
                      <a:r>
                        <a:rPr sz="800" b="1" i="0">
                          <a:solidFill>
                            <a:srgbClr val="0D0D0D"/>
                          </a:solidFill>
                          <a:latin typeface="Calibri"/>
                        </a:rPr>
                        <a:t>131,2</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2740,0 %</a:t>
                      </a:r>
                    </a:p>
                  </a:txBody>
                  <a:tcPr>
                    <a:solidFill>
                      <a:srgbClr val="F7F8FA"/>
                    </a:solidFill>
                  </a:tcPr>
                </a:tc>
                <a:tc>
                  <a:txBody>
                    <a:bodyPr/>
                    <a:lstStyle/>
                    <a:p>
                      <a:pPr algn="ctr"/>
                      <a:r>
                        <a:rPr sz="750" b="0" i="1">
                          <a:solidFill>
                            <a:srgbClr val="555555"/>
                          </a:solidFill>
                          <a:latin typeface="Calibri"/>
                        </a:rPr>
                        <a:t>2760,0 %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l'iPhone (+5%). Les marges nettes ont rebondi à 26.9% grâce à une meilleure mixité produits et une discipline sur les coûts fixes. Cela renforce la génération de FCF (85,000M$ en 2025) et réduit la dépendance au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l'iPhone (+5%). Les marges nettes ont rebondi à 26.9% grâce à une meilleure mixité produits et une discipline sur les coûts fixes. Cela renforce la génération de FCF (85,000M$ en 2025) et réduit la dépendance au hardware.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reflétant un mix premium accru et une optimisation de la chaîne logistique. Les marges EBITDA et nettes ont suivi une tendance similaire, confirmant un levier opérationnel durable. La durabilité de ces niveaux dépend de la capacité à maintenir le pricing power face à la concurrence.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 TGR de 3.0%, le prix implicite DCF est de 285$ (base), soit 15% d'upside vs cours actuel. Cet écart suggère une sous-valorisation structurelle, mais la prime de croissance est partiellement pricee. Un catalyseur comme un succès de l'iPhone 16 ou une accélération des services pourrait déclencher un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21,5x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35,2x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5210,0 %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1 950,0</a:t>
                      </a:r>
                    </a:p>
                  </a:txBody>
                  <a:tcPr>
                    <a:solidFill>
                      <a:srgbClr val="F7F8FA"/>
                    </a:solidFill>
                  </a:tcPr>
                </a:tc>
                <a:tc>
                  <a:txBody>
                    <a:bodyPr/>
                    <a:lstStyle/>
                    <a:p>
                      <a:pPr algn="ctr"/>
                      <a:r>
                        <a:rPr sz="800" b="0" i="0">
                          <a:solidFill>
                            <a:srgbClr val="0D0D0D"/>
                          </a:solidFill>
                          <a:latin typeface="Calibri"/>
                        </a:rPr>
                        <a:t>20,8x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5620,0 %</a:t>
                      </a:r>
                    </a:p>
                  </a:txBody>
                  <a:tcPr>
                    <a:solidFill>
                      <a:srgbClr val="F7F8FA"/>
                    </a:solidFill>
                  </a:tcPr>
                </a:tc>
                <a:tc>
                  <a:txBody>
                    <a:bodyPr/>
                    <a:lstStyle/>
                    <a:p>
                      <a:pPr algn="ctr"/>
                      <a:r>
                        <a:rPr sz="800" b="0" i="0">
                          <a:solidFill>
                            <a:srgbClr val="0D0D0D"/>
                          </a:solidFill>
                          <a:latin typeface="Calibri"/>
                        </a:rPr>
                        <a:t>3870,0 %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420,0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12,3x</a:t>
                      </a:r>
                    </a:p>
                  </a:txBody>
                  <a:tcPr>
                    <a:solidFill>
                      <a:srgbClr val="FFFFFF"/>
                    </a:solidFill>
                  </a:tcPr>
                </a:tc>
                <a:tc>
                  <a:txBody>
                    <a:bodyPr/>
                    <a:lstStyle/>
                    <a:p>
                      <a:pPr algn="ctr"/>
                      <a:r>
                        <a:rPr sz="800" b="0" i="0">
                          <a:solidFill>
                            <a:srgbClr val="0D0D0D"/>
                          </a:solidFill>
                          <a:latin typeface="Calibri"/>
                        </a:rPr>
                        <a:t>3510,0 %</a:t>
                      </a:r>
                    </a:p>
                  </a:txBody>
                  <a:tcPr>
                    <a:solidFill>
                      <a:srgbClr val="FFFFFF"/>
                    </a:solidFill>
                  </a:tcPr>
                </a:tc>
                <a:tc>
                  <a:txBody>
                    <a:bodyPr/>
                    <a:lstStyle/>
                    <a:p>
                      <a:pPr algn="ctr"/>
                      <a:r>
                        <a:rPr sz="800" b="0" i="0">
                          <a:solidFill>
                            <a:srgbClr val="0D0D0D"/>
                          </a:solidFill>
                          <a:latin typeface="Calibri"/>
                        </a:rPr>
                        <a:t>2240,0 %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1 350,0</a:t>
                      </a:r>
                    </a:p>
                  </a:txBody>
                  <a:tcPr>
                    <a:solidFill>
                      <a:srgbClr val="F7F8FA"/>
                    </a:solidFill>
                  </a:tcPr>
                </a:tc>
                <a:tc>
                  <a:txBody>
                    <a:bodyPr/>
                    <a:lstStyle/>
                    <a:p>
                      <a:pPr algn="ctr"/>
                      <a:r>
                        <a:rPr sz="800" b="0" i="0">
                          <a:solidFill>
                            <a:srgbClr val="0D0D0D"/>
                          </a:solidFill>
                          <a:latin typeface="Calibri"/>
                        </a:rPr>
                        <a:t>18,9x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29,8x</a:t>
                      </a:r>
                    </a:p>
                  </a:txBody>
                  <a:tcPr>
                    <a:solidFill>
                      <a:srgbClr val="F7F8FA"/>
                    </a:solidFill>
                  </a:tcPr>
                </a:tc>
                <a:tc>
                  <a:txBody>
                    <a:bodyPr/>
                    <a:lstStyle/>
                    <a:p>
                      <a:pPr algn="ctr"/>
                      <a:r>
                        <a:rPr sz="800" b="0" i="0">
                          <a:solidFill>
                            <a:srgbClr val="0D0D0D"/>
                          </a:solidFill>
                          <a:latin typeface="Calibri"/>
                        </a:rPr>
                        <a:t>8700,0 %</a:t>
                      </a:r>
                    </a:p>
                  </a:txBody>
                  <a:tcPr>
                    <a:solidFill>
                      <a:srgbClr val="F7F8FA"/>
                    </a:solidFill>
                  </a:tcPr>
                </a:tc>
                <a:tc>
                  <a:txBody>
                    <a:bodyPr/>
                    <a:lstStyle/>
                    <a:p>
                      <a:pPr algn="ctr"/>
                      <a:r>
                        <a:rPr sz="800" b="0" i="0">
                          <a:solidFill>
                            <a:srgbClr val="0D0D0D"/>
                          </a:solidFill>
                          <a:latin typeface="Calibri"/>
                        </a:rPr>
                        <a:t>5830,0 %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55,3x</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42,1x</a:t>
                      </a:r>
                    </a:p>
                  </a:txBody>
                  <a:tcPr>
                    <a:solidFill>
                      <a:srgbClr val="FFFFFF"/>
                    </a:solidFill>
                  </a:tcPr>
                </a:tc>
                <a:tc>
                  <a:txBody>
                    <a:bodyPr/>
                    <a:lstStyle/>
                    <a:p>
                      <a:pPr algn="ctr"/>
                      <a:r>
                        <a:rPr sz="800" b="0" i="0">
                          <a:solidFill>
                            <a:srgbClr val="0D0D0D"/>
                          </a:solidFill>
                          <a:latin typeface="Calibri"/>
                        </a:rPr>
                        <a:t>7630,0 %</a:t>
                      </a:r>
                    </a:p>
                  </a:txBody>
                  <a:tcPr>
                    <a:solidFill>
                      <a:srgbClr val="FFFFFF"/>
                    </a:solidFill>
                  </a:tcPr>
                </a:tc>
                <a:tc>
                  <a:txBody>
                    <a:bodyPr/>
                    <a:lstStyle/>
                    <a:p>
                      <a:pPr algn="ctr"/>
                      <a:r>
                        <a:rPr sz="800" b="0" i="0">
                          <a:solidFill>
                            <a:srgbClr val="0D0D0D"/>
                          </a:solidFill>
                          <a:latin typeface="Calibri"/>
                        </a:rPr>
                        <a:t>6520,0 %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20,8x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29,8x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5210,0 %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32.6x vs 26.8x pour la médiane peers (Samsung, Microsoft, Alphabet, Meta, Nvidia). La prime de 22% est justifiée par une croissance supérieure (CA +6.4% vs +5.1% peers) et une rentabilité exceptionnelle (ROE 151.9% vs 35% peers). Une convergence vers la médiane impliquerait un downside de 15%, mais peu probable à court terme.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 TGR de 3.0%, le prix implicite DCF est de 285$ (base), soit 15% d'upside vs cours actuel. Cet écart suggère une sous-valorisation structurelle, mais la prime de croissance est partiellement pricee. Un catalyseur comme un succès de l'iPhone 16 ou une accélération des services pourrait déclencher un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premium d'Apple reposent sur un écosystème captif, mais la guerre des prix en Chine (iPhone 15 à -20% en 2024) réduit déjà les prix de vente moyens de 8% par an depuis 2022, érodant la rentabilité à long terme. Les marges brutes de 46,9% en 2025 supposent une demande inélastique, mais les ventes d'iPhone en Chine ont chuté de 12% au T1 2024, fragilisant le modèle.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Satur marché</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ROE de 151,9% est gonflé par des rachats d'actions massifs (50 milliards $ en 2023), masquant une rentabilité opérationnelle réelle de 22% hors effets de levier. Les 26,9% de marge nette incluent des revenus non récurrents comme les services (15% du CA), dont la croissance ralentit à 5% en 2024 contre 16% en 2021.</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Chine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L'évaluation à 32,61x P/E ignore le risque de saturation du marché des smartphones, où Apple détient déjà 55% des marges du secteur mais seulement 20% des volumes. Le multiple EV/EBITDA de 25,67x suppose une croissance perpétuelle, alors que les revenus totaux n'ont progressé que de 2% en 2023, le plus faible depuis 2001 hors pandémie.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-3% de PIB global</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US sur les services numériques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-15% de volumes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+0,237</a:t>
                      </a:r>
                    </a:p>
                  </a:txBody>
                  <a:tcPr>
                    <a:solidFill>
                      <a:srgbClr val="EAF4EF"/>
                    </a:solidFill>
                  </a:tcPr>
                </a:tc>
                <a:tc>
                  <a:txBody>
                    <a:bodyPr/>
                    <a:lstStyle/>
                    <a:p>
                      <a:pPr algn="ctr"/>
                      <a:r>
                        <a:rPr sz="800" b="0" i="0">
                          <a:solidFill>
                            <a:srgbClr val="0D0D0D"/>
                          </a:solidFill>
                          <a:latin typeface="Calibri"/>
                        </a:rPr>
                        <a:t>Lancement iPhone 16 en Q3 2026 avec prix à 1,200$ et +8% de volumes | Impact CA +12% et marge brute +150bps | Horizon 12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+0,320</a:t>
                      </a:r>
                    </a:p>
                  </a:txBody>
                  <a:tcPr>
                    <a:solidFill>
                      <a:srgbClr val="FAF0EF"/>
                    </a:solidFill>
                  </a:tcPr>
                </a:tc>
                <a:tc>
                  <a:txBody>
                    <a:bodyPr/>
                    <a:lstStyle/>
                    <a:p>
                      <a:pPr algn="ctr"/>
                      <a:r>
                        <a:rPr sz="800" b="0" i="0">
                          <a:solidFill>
                            <a:srgbClr val="0D0D0D"/>
                          </a:solidFill>
                          <a:latin typeface="Calibri"/>
                        </a:rPr>
                        <a:t>Régulation antitrust européenne sur l'App Store en 2026 | Impact CA services -15% et marge -300bps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à la fois des avancées technologiques positives pour Apple, notamment avec Siri et l'IA, mais aussi des défis majeurs liés à la concurrence et à l'évolution du marché. L'anniversaire des 50 ans d'Apple met en lumière ces opportunités et risques simultanés.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25.7x EV/EBITDA vs 22.1x pour la médiane des peers technologiques. La prime de 16% est justifiée par la qualité des actifs et la récurrence des revenus.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attractive malgré une prime vs pairs, justifiée par la qualité des actifs et la génération de cash robuste.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