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5144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5600"/>
            <a:ext cx="82296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99BB"/>
                </a:solidFill>
                <a:latin typeface="Calibri"/>
              </a:rPr>
              <a:t>FinSight IA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8000" y="475200"/>
            <a:ext cx="1188000" cy="1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547200"/>
            <a:ext cx="8229600" cy="29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DDEE"/>
                </a:solidFill>
                <a:latin typeface="Calibri"/>
              </a:rPr>
              <a:t>Pitchbook  —  Analyse d'investissement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1599"/>
            <a:ext cx="8229600" cy="794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B3A6B"/>
                </a:solidFill>
                <a:latin typeface="Calibri"/>
              </a:rPr>
              <a:t>Apple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45832"/>
            <a:ext cx="82296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8888"/>
                </a:solidFill>
                <a:latin typeface="Calibri"/>
              </a:rPr>
              <a:t>AAPL  ·  Technology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720232"/>
            <a:ext cx="8229600" cy="475200"/>
          </a:xfrm>
          <a:prstGeom prst="rect">
            <a:avLst/>
          </a:prstGeom>
          <a:solidFill>
            <a:srgbClr val="FDF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720232"/>
            <a:ext cx="46800" cy="475200"/>
          </a:xfrm>
          <a:prstGeom prst="rect">
            <a:avLst/>
          </a:prstGeom>
          <a:solidFill>
            <a:srgbClr val="B0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2738232"/>
            <a:ext cx="8063999" cy="43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B06000"/>
                </a:solidFill>
                <a:latin typeface="Calibri"/>
              </a:rPr>
              <a:t>● HOLD  ·  Prix cible base : — $  ·  Upside : 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7200" y="4464000"/>
            <a:ext cx="8413200" cy="108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200" y="4554000"/>
            <a:ext cx="41148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Rapport confidentiel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2000" y="4554000"/>
            <a:ext cx="41148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555555"/>
                </a:solidFill>
                <a:latin typeface="Calibri"/>
              </a:rPr>
              <a:t>29 mars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367200" y="748800"/>
            <a:ext cx="8413200" cy="439200"/>
          </a:xfrm>
          <a:prstGeom prst="rect">
            <a:avLst/>
          </a:prstGeom>
          <a:solidFill>
            <a:srgbClr val="FDF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7200" y="748800"/>
            <a:ext cx="46800" cy="439200"/>
          </a:xfrm>
          <a:prstGeom prst="rect">
            <a:avLst/>
          </a:prstGeom>
          <a:solidFill>
            <a:srgbClr val="B0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3999" y="766800"/>
            <a:ext cx="1098000" cy="4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06000"/>
                </a:solidFill>
                <a:latin typeface="Calibri"/>
              </a:rPr>
              <a:t>● HOLD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2000" y="766800"/>
            <a:ext cx="6948000" cy="4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3A6B"/>
                </a:solidFill>
                <a:latin typeface="Calibri"/>
              </a:rPr>
              <a:t>Prix cible base : — $  ·  Upside : —  ·  Bear : — $ (—)  ·  Bull : — $ (—)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7200" y="1353600"/>
            <a:ext cx="4161600" cy="2556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7200" y="1353600"/>
            <a:ext cx="41616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THÈSE D'INVESTISSEMENT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7200" y="1663200"/>
            <a:ext cx="54000" cy="129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3999" y="1645200"/>
            <a:ext cx="3931200" cy="18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3A6B"/>
                </a:solidFill>
                <a:latin typeface="Calibri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3999" y="1814400"/>
            <a:ext cx="3931200" cy="32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7200" y="2196000"/>
            <a:ext cx="54000" cy="129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3999" y="2178000"/>
            <a:ext cx="3931200" cy="18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3A6B"/>
                </a:solidFill>
                <a:latin typeface="Calibri"/>
              </a:rPr>
              <a:t>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3999" y="2347200"/>
            <a:ext cx="3931200" cy="32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7200" y="2728800"/>
            <a:ext cx="54000" cy="129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3999" y="2710800"/>
            <a:ext cx="3931200" cy="18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3A6B"/>
                </a:solidFill>
                <a:latin typeface="Calibri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3999" y="2880000"/>
            <a:ext cx="3931200" cy="32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8800" y="1353600"/>
            <a:ext cx="4068000" cy="25560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8800" y="1353600"/>
            <a:ext cx="4068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RISQUES PRINCIPAUX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8800" y="1663200"/>
            <a:ext cx="54000" cy="12960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5600" y="1645200"/>
            <a:ext cx="3794399" cy="18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3A6B"/>
                </a:solidFill>
                <a:latin typeface="Calibri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5600" y="1814400"/>
            <a:ext cx="3794399" cy="32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Impact potentiel sur la thèse d'investissement — surveillance recommandée sur les 6-12 prochains mois.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08800" y="2196000"/>
            <a:ext cx="54000" cy="12960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45600" y="2178000"/>
            <a:ext cx="3794399" cy="18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3A6B"/>
                </a:solidFill>
                <a:latin typeface="Calibri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5600" y="2347200"/>
            <a:ext cx="3794399" cy="32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Impact potentiel sur la thèse d'investissement — surveillance recommandée sur les 6-12 prochains mois.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08800" y="2728800"/>
            <a:ext cx="54000" cy="12960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5600" y="2710800"/>
            <a:ext cx="3794399" cy="18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3A6B"/>
                </a:solidFill>
                <a:latin typeface="Calibri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5600" y="2880000"/>
            <a:ext cx="3794399" cy="32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Impact potentiel sur la thèse d'investissement — surveillance recommandée sur les 6-12 prochains mois.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25200" y="1353600"/>
            <a:ext cx="10800" cy="17424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7200" y="3301200"/>
            <a:ext cx="8413200" cy="108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67200" y="3376800"/>
            <a:ext cx="2030400" cy="806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7200" y="3376800"/>
            <a:ext cx="46800" cy="806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3430800"/>
            <a:ext cx="189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25,7x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3826800"/>
            <a:ext cx="189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EV/EBITDA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4024800"/>
            <a:ext cx="18936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vs — médiane peers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87600" y="3376800"/>
            <a:ext cx="2030400" cy="806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487600" y="3376800"/>
            <a:ext cx="46800" cy="806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77600" y="3430800"/>
            <a:ext cx="189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10,4 %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77600" y="3826800"/>
            <a:ext cx="189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WACC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77600" y="4024800"/>
            <a:ext cx="18936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Beta 1,12  ·  RFR 4,4 %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08000" y="3376800"/>
            <a:ext cx="2030400" cy="806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608000" y="3376800"/>
            <a:ext cx="46800" cy="806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98000" y="3430800"/>
            <a:ext cx="189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— $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98000" y="3826800"/>
            <a:ext cx="189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Valeur intrinsèque DCF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98000" y="4024800"/>
            <a:ext cx="18936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Upside de — vs cours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728400" y="3376800"/>
            <a:ext cx="2030400" cy="806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728400" y="3376800"/>
            <a:ext cx="46800" cy="806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18400" y="3430800"/>
            <a:ext cx="189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-0,077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8400" y="3826800"/>
            <a:ext cx="189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Sentiment FinBERT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18400" y="4024800"/>
            <a:ext cx="18936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Neutre  ·  30 articles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Sommaire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7200" y="896400"/>
            <a:ext cx="8413200" cy="622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7200" y="896400"/>
            <a:ext cx="46800" cy="622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3999" y="950400"/>
            <a:ext cx="475200" cy="5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88888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000" y="968400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  <a:latin typeface="Calibri"/>
              </a:rPr>
              <a:t>Company 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000" y="1202400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Apple Inc.  ·  Technology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5200" y="1058400"/>
            <a:ext cx="13752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2E5FA3"/>
                </a:solidFill>
                <a:latin typeface="Calibri"/>
              </a:rPr>
              <a:t>3–5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7200" y="1591200"/>
            <a:ext cx="8413200" cy="6228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7200" y="1591200"/>
            <a:ext cx="46800" cy="622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3999" y="1645200"/>
            <a:ext cx="475200" cy="5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88888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000" y="1663200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  <a:latin typeface="Calibri"/>
              </a:rPr>
              <a:t>Analyse Financière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000" y="1897199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Compte de résultat, bilan &amp; liquidité, ratios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5200" y="1753200"/>
            <a:ext cx="13752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2E5FA3"/>
                </a:solidFill>
                <a:latin typeface="Calibri"/>
              </a:rPr>
              <a:t>6–8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7200" y="2286000"/>
            <a:ext cx="8413200" cy="622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7200" y="2286000"/>
            <a:ext cx="46800" cy="622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3999" y="2340000"/>
            <a:ext cx="475200" cy="5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88888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000" y="2358000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  <a:latin typeface="Calibri"/>
              </a:rPr>
              <a:t>Valorisation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2000" y="2591999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DCF, comparable peers, Football Field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5200" y="2448000"/>
            <a:ext cx="13752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2E5FA3"/>
                </a:solidFill>
                <a:latin typeface="Calibri"/>
              </a:rPr>
              <a:t>9–11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7200" y="2980800"/>
            <a:ext cx="8413200" cy="6228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7200" y="2980800"/>
            <a:ext cx="46800" cy="622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3999" y="3034800"/>
            <a:ext cx="475200" cy="5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88888"/>
                </a:solidFill>
                <a:latin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2000" y="3052799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  <a:latin typeface="Calibri"/>
              </a:rPr>
              <a:t>Risques &amp; Stratégie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2000" y="3286799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Risques structurels &amp; thèse contraire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5200" y="3142799"/>
            <a:ext cx="13752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2E5FA3"/>
                </a:solidFill>
                <a:latin typeface="Calibri"/>
              </a:rPr>
              <a:t>12–13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7200" y="3675600"/>
            <a:ext cx="8413200" cy="622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7200" y="3675600"/>
            <a:ext cx="46800" cy="622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3999" y="3729600"/>
            <a:ext cx="475200" cy="5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88888"/>
                </a:solidFill>
                <a:latin typeface="Calibr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52000" y="3747600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  <a:latin typeface="Calibri"/>
              </a:rPr>
              <a:t>Sentiment &amp; Annexes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52000" y="3981600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FinBERT, actionnariat &amp; historique de cours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5200" y="3837600"/>
            <a:ext cx="13752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2E5FA3"/>
                </a:solidFill>
                <a:latin typeface="Calibri"/>
              </a:rPr>
              <a:t>14–15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8000" cy="514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1599"/>
            <a:ext cx="8229600" cy="1645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0" b="1">
                <a:solidFill>
                  <a:srgbClr val="FFFFFF">
                    <a:alpha val="15000"/>
                  </a:srgbClr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75600"/>
            <a:ext cx="7772400" cy="82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Company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90000"/>
            <a:ext cx="2743200" cy="36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908800"/>
            <a:ext cx="6400800" cy="32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  <a:latin typeface="Calibri"/>
              </a:rPr>
              <a:t>Présentation, modèle économique &amp; données de marché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7200" y="4802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677AA"/>
                </a:solidFill>
                <a:latin typeface="Calibri"/>
              </a:rPr>
              <a:t>FinSight IA  ·  Usage confidentiel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Company Overview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Apple Inc.  ·  Présentation &amp; Positionnement stratégique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7200" y="961200"/>
            <a:ext cx="4939200" cy="35208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7200" y="961200"/>
            <a:ext cx="46800" cy="3520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3999" y="1022400"/>
            <a:ext cx="4662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D0D0D"/>
                </a:solidFill>
                <a:latin typeface="Calibri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3999" y="2358000"/>
            <a:ext cx="4662000" cy="18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3A6B"/>
                </a:solidFill>
                <a:latin typeface="Calibri"/>
              </a:rPr>
              <a:t>Positionnement stratégique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58400" y="961200"/>
            <a:ext cx="3200400" cy="824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558400" y="961200"/>
            <a:ext cx="46800" cy="82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48400" y="1015200"/>
            <a:ext cx="306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3 652,7 Mds$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48400" y="1411200"/>
            <a:ext cx="306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Capitalisation boursière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558400" y="1846800"/>
            <a:ext cx="3200400" cy="82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558400" y="1846800"/>
            <a:ext cx="46800" cy="82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48400" y="1900800"/>
            <a:ext cx="306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416,2 Mds$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48400" y="2296800"/>
            <a:ext cx="306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Chiffre d'affaires (2025)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558400" y="2732400"/>
            <a:ext cx="3200400" cy="82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558400" y="2732400"/>
            <a:ext cx="46800" cy="82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48400" y="2786400"/>
            <a:ext cx="306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248,80 $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48400" y="3182400"/>
            <a:ext cx="306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Cours actuel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58400" y="3621600"/>
            <a:ext cx="3200400" cy="82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558400" y="3621600"/>
            <a:ext cx="46800" cy="82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48400" y="3675600"/>
            <a:ext cx="306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25,7x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48400" y="4071600"/>
            <a:ext cx="306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EV/EBITDA (LTM)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48400" y="4269600"/>
            <a:ext cx="30636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P/E : 32,6x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Modèle Économique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Segments opérationnels et moteurs de croissance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7200" y="961200"/>
            <a:ext cx="2731199" cy="35208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7200" y="961200"/>
            <a:ext cx="2731199" cy="540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1141200"/>
            <a:ext cx="2551199" cy="64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E5FA3"/>
                </a:solidFill>
                <a:latin typeface="Calibri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85600"/>
            <a:ext cx="2551199" cy="1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Calibri"/>
              </a:rPr>
              <a:t>du CA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965600"/>
            <a:ext cx="2551199" cy="18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2059200"/>
            <a:ext cx="2551199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6B"/>
                </a:solidFill>
                <a:latin typeface="Calibri"/>
              </a:rPr>
              <a:t>Core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2332800"/>
            <a:ext cx="2551199" cy="204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6400" y="961200"/>
            <a:ext cx="2731199" cy="3520800"/>
          </a:xfrm>
          <a:prstGeom prst="rect">
            <a:avLst/>
          </a:prstGeom>
          <a:solidFill>
            <a:srgbClr val="EA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6400" y="961200"/>
            <a:ext cx="2731199" cy="540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6400" y="1141200"/>
            <a:ext cx="2551199" cy="64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7A4A"/>
                </a:solidFill>
                <a:latin typeface="Calibri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6400" y="1785600"/>
            <a:ext cx="2551199" cy="1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Calibri"/>
              </a:rPr>
              <a:t>du CA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96400" y="1965600"/>
            <a:ext cx="2551199" cy="18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96400" y="2059200"/>
            <a:ext cx="2551199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6B"/>
                </a:solidFill>
                <a:latin typeface="Calibri"/>
              </a:rPr>
              <a:t>Growth Driver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6400" y="2332800"/>
            <a:ext cx="2551199" cy="204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45600" y="961200"/>
            <a:ext cx="2731199" cy="35208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45600" y="961200"/>
            <a:ext cx="2731199" cy="54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35600" y="1141200"/>
            <a:ext cx="2551199" cy="64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888888"/>
                </a:solidFill>
                <a:latin typeface="Calibri"/>
              </a:rP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35600" y="1785600"/>
            <a:ext cx="2551199" cy="1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Calibri"/>
              </a:rPr>
              <a:t>du CA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35600" y="1965600"/>
            <a:ext cx="2551199" cy="18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35600" y="2059200"/>
            <a:ext cx="2551199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6B"/>
                </a:solidFill>
                <a:latin typeface="Calibri"/>
              </a:rPr>
              <a:t>International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35600" y="2332800"/>
            <a:ext cx="2551199" cy="204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8000" cy="514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1599"/>
            <a:ext cx="8229600" cy="1645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0" b="1">
                <a:solidFill>
                  <a:srgbClr val="FFFFFF">
                    <a:alpha val="15000"/>
                  </a:srgbClr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75600"/>
            <a:ext cx="7772400" cy="82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Analyse Financière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90000"/>
            <a:ext cx="2743200" cy="36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908800"/>
            <a:ext cx="6400800" cy="32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  <a:latin typeface="Calibri"/>
              </a:rPr>
              <a:t>Compte de résultat, bilan, liquidité &amp; ratios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7200" y="4802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677AA"/>
                </a:solidFill>
                <a:latin typeface="Calibri"/>
              </a:rPr>
              <a:t>FinSight IA  ·  Usage confidentiel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Analyse Financière — Compte de Résultat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USD millions  ·  2021–2025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7200" y="914400"/>
          <a:ext cx="8413200" cy="19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696"/>
                <a:gridCol w="2019168"/>
                <a:gridCol w="2019168"/>
                <a:gridCol w="2019168"/>
              </a:tblGrid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Indicateur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Chiffre d'affaires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383,3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391,0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416,2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Croissance YoY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-2,8 %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+2,0 %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+6,4 %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Résultat brut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169,1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180,7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195,2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Marge brute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44,1 %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46,2 %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46,9 %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125,8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134,7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144,7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Marge EBITDA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32,8 %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34,4 %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34,8 %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Résultat 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97,0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93,7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112,0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Marge nette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25,3 %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24,0 %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26,9 %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Bilan &amp; Liquidité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Structure financière  ·  USD millions  ·  LTM 2025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7200" y="961200"/>
            <a:ext cx="2653200" cy="82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7200" y="961200"/>
            <a:ext cx="46800" cy="82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1015200"/>
            <a:ext cx="25164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35,9 Mds$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411200"/>
            <a:ext cx="25164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Cash &amp; equivalents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7200" y="1900800"/>
            <a:ext cx="2653200" cy="82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7200" y="1900800"/>
            <a:ext cx="46800" cy="82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1954800"/>
            <a:ext cx="25164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78,3 Mds$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350800"/>
            <a:ext cx="25164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Dette long terme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7200" y="2844000"/>
            <a:ext cx="2653200" cy="824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7200" y="2844000"/>
            <a:ext cx="46800" cy="82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2898000"/>
            <a:ext cx="25164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62,7 Mds$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294000"/>
            <a:ext cx="25164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Dette nette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4000" y="842400"/>
            <a:ext cx="53964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3A6B"/>
                </a:solidFill>
                <a:latin typeface="Calibri"/>
              </a:rPr>
              <a:t>Ratios de solvabilité &amp; liquidité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384000" y="1007999"/>
          <a:ext cx="53964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4416"/>
                <a:gridCol w="1133244"/>
                <a:gridCol w="1133244"/>
                <a:gridCol w="755496"/>
              </a:tblGrid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Valeur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Référence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Signal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Ratio liquidité courante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0,65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1,5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Ratio rapide (quick)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0,61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1,0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❌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D/E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1,3x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&lt; 2,0x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Couverture d'intérêts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29,1x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3,0x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Dette nette / 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0,4x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&lt; 2,0x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Altman Z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9,83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2,99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Beneish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-2,25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&lt; -2,22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Ratios Clés vs. Benchmark Sectoriel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Positionnement relatif  ·  LTM 2025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7200" y="914400"/>
          <a:ext cx="8413200" cy="255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300"/>
                <a:gridCol w="2103300"/>
                <a:gridCol w="2103300"/>
                <a:gridCol w="2103300"/>
              </a:tblGrid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Indicateur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Valeur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Lecture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32,6x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15–25x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A82020"/>
                          </a:solidFill>
                          <a:latin typeface="Calibri"/>
                        </a:rPr>
                        <a:t>Premium</a:t>
                      </a:r>
                    </a:p>
                  </a:txBody>
                  <a:tcPr>
                    <a:solidFill>
                      <a:srgbClr val="FAF0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EV/EBITDA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25,7x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8–14x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A82020"/>
                          </a:solidFill>
                          <a:latin typeface="Calibri"/>
                        </a:rPr>
                        <a:t>Très élevé</a:t>
                      </a:r>
                    </a:p>
                  </a:txBody>
                  <a:tcPr>
                    <a:solidFill>
                      <a:srgbClr val="FAF0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EV/Revenue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8,9x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1–5x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A82020"/>
                          </a:solidFill>
                          <a:latin typeface="Calibri"/>
                        </a:rPr>
                        <a:t>Premium</a:t>
                      </a:r>
                    </a:p>
                  </a:txBody>
                  <a:tcPr>
                    <a:solidFill>
                      <a:srgbClr val="FAF0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Marge brute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46,9 %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40 %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Bon</a:t>
                      </a:r>
                    </a:p>
                  </a:txBody>
                  <a:tcPr>
                    <a:solidFill>
                      <a:srgbClr val="EAF4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Marge EBITDA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34,8 %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20 %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Excellent</a:t>
                      </a:r>
                    </a:p>
                  </a:txBody>
                  <a:tcPr>
                    <a:solidFill>
                      <a:srgbClr val="EAF4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ROE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151,9 %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15 %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Excellent</a:t>
                      </a:r>
                    </a:p>
                  </a:txBody>
                  <a:tcPr>
                    <a:solidFill>
                      <a:srgbClr val="EAF4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ROIC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84,4 %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10 %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Excellent</a:t>
                      </a:r>
                    </a:p>
                  </a:txBody>
                  <a:tcPr>
                    <a:solidFill>
                      <a:srgbClr val="EAF4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CapEx / Revenue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3,1 %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&lt; 15 %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555555"/>
                          </a:solidFill>
                          <a:latin typeface="Calibri"/>
                        </a:rPr>
                        <a:t>Léger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Altman Z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9,83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2,99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Solide</a:t>
                      </a:r>
                    </a:p>
                  </a:txBody>
                  <a:tcPr>
                    <a:solidFill>
                      <a:srgbClr val="EAF4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7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Beneish M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-2,25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&lt; -2,22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Aucun signal</a:t>
                      </a:r>
                    </a:p>
                  </a:txBody>
                  <a:tcPr>
                    <a:solidFill>
                      <a:srgbClr val="EAF4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8000" cy="514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1599"/>
            <a:ext cx="8229600" cy="1645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0" b="1">
                <a:solidFill>
                  <a:srgbClr val="FFFFFF">
                    <a:alpha val="15000"/>
                  </a:srgbClr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75600"/>
            <a:ext cx="7772400" cy="82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Valorisation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90000"/>
            <a:ext cx="2743200" cy="36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908800"/>
            <a:ext cx="6400800" cy="32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  <a:latin typeface="Calibri"/>
              </a:rPr>
              <a:t>DCF, comparable peers &amp; Football Field Chart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7200" y="4802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677AA"/>
                </a:solidFill>
                <a:latin typeface="Calibri"/>
              </a:rPr>
              <a:t>FinSight IA  ·  Usage confidentiel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Valorisation — DCF &amp; Scénarios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7200" y="824400"/>
          <a:ext cx="40248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3640"/>
                <a:gridCol w="181116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Paramètre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Valeur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WACC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10,4 %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TGR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3,0 %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Valeur intrinsèque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Cours actuel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248,80 $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Upside implicite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482000" y="824400"/>
          <a:ext cx="4298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2800"/>
                <a:gridCol w="1432800"/>
                <a:gridCol w="143280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Bear</a:t>
                      </a:r>
                    </a:p>
                  </a:txBody>
                  <a:tcPr>
                    <a:solidFill>
                      <a:srgbClr val="A820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Base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Bull</a:t>
                      </a:r>
                    </a:p>
                  </a:txBody>
                  <a:tcPr>
                    <a:solidFill>
                      <a:srgbClr val="1A7A4A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A8202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2E5FA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1A7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A8202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E5FA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A7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888888"/>
                          </a:solidFill>
                          <a:latin typeface="Calibri"/>
                        </a:rPr>
                        <a:t>Upside / Downside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888888"/>
                          </a:solidFill>
                          <a:latin typeface="Calibri"/>
                        </a:rPr>
                        <a:t>Upside / Downside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888888"/>
                          </a:solidFill>
                          <a:latin typeface="Calibri"/>
                        </a:rPr>
                        <a:t>Upside / Downside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67200" y="23940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3A6B"/>
                </a:solidFill>
                <a:latin typeface="Calibri"/>
              </a:rPr>
              <a:t>Table de sensibilité — Valeur intrinsèque ($)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67200" y="2653200"/>
          <a:ext cx="8413200" cy="111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2200"/>
                <a:gridCol w="1402200"/>
                <a:gridCol w="1402200"/>
                <a:gridCol w="1402200"/>
                <a:gridCol w="1402200"/>
                <a:gridCol w="1402200"/>
              </a:tblGrid>
              <a:tr h="186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WACC \ TGR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2,0%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2,5%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3,0%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3,5%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4,0%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1860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8,4%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1860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9,4%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186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10,4%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2E5FA3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1860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11,4%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1860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12,4%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Comparable Peers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Analyse par multiples  ·  LTM  ·  Mkt Cap en Mds USD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7200" y="914400"/>
          <a:ext cx="8413200" cy="87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2640"/>
                <a:gridCol w="757188"/>
                <a:gridCol w="1093716"/>
                <a:gridCol w="1009584"/>
                <a:gridCol w="1009584"/>
                <a:gridCol w="757188"/>
                <a:gridCol w="1093716"/>
                <a:gridCol w="1009584"/>
              </a:tblGrid>
              <a:tr h="2904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Société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Mkt Cap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EV/EBITDA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EV/Rev.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Mg Brute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Mg EBITDA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2904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Apple Inc.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E5FA3"/>
                          </a:solidFill>
                          <a:latin typeface="Calibri"/>
                        </a:rPr>
                        <a:t>AAPL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3 652,7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25,7x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8,9x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32,6x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46,9 %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34,8 %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</a:tr>
              <a:tr h="2904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Médiane peers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Football Field Chart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Synthèse des méthodes de valorisation  ·  USD par action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7200" y="914400"/>
          <a:ext cx="8413200" cy="61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4620"/>
                <a:gridCol w="1682640"/>
                <a:gridCol w="1682640"/>
                <a:gridCol w="2103300"/>
              </a:tblGrid>
              <a:tr h="3078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Méthode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Fourchette basse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Fourchette haute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Point central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3078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Cours actuel (248,80)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248,80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8000" cy="514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1599"/>
            <a:ext cx="8229600" cy="1645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0" b="1">
                <a:solidFill>
                  <a:srgbClr val="FFFFFF">
                    <a:alpha val="15000"/>
                  </a:srgbClr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75600"/>
            <a:ext cx="7772400" cy="82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Risques &amp; Stratégie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90000"/>
            <a:ext cx="2743200" cy="36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908800"/>
            <a:ext cx="6400800" cy="32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  <a:latin typeface="Calibri"/>
              </a:rPr>
              <a:t>Avocat du diable &amp; conditions d'invalidation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7200" y="4802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677AA"/>
                </a:solidFill>
                <a:latin typeface="Calibri"/>
              </a:rPr>
              <a:t>FinSight IA  ·  Usage confidentiel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Risques &amp; Conditions d'Invalidation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Analyse des risques structurels  ·  Thèse contraire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7200" y="961200"/>
            <a:ext cx="2743200" cy="1918800"/>
          </a:xfrm>
          <a:prstGeom prst="rect">
            <a:avLst/>
          </a:prstGeom>
          <a:solidFill>
            <a:srgbClr val="FAF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7200" y="961200"/>
            <a:ext cx="2743200" cy="5400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200" y="1069200"/>
            <a:ext cx="25272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82020"/>
                </a:solidFill>
                <a:latin typeface="Calibri"/>
              </a:rPr>
              <a:t>Risque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200" y="1436400"/>
            <a:ext cx="25272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Risque macro-économique : remontée des taux ou ralentissement de la demande mondiale.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29200" y="961200"/>
            <a:ext cx="2743200" cy="19188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29200" y="961200"/>
            <a:ext cx="2743200" cy="540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200" y="1069200"/>
            <a:ext cx="25272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E5FA3"/>
                </a:solidFill>
                <a:latin typeface="Calibri"/>
              </a:rPr>
              <a:t>Risque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200" y="1436400"/>
            <a:ext cx="25272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Risque sectoriel : intensification de la concurrence ou disruption technologique.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1200" y="961200"/>
            <a:ext cx="2743200" cy="1918800"/>
          </a:xfrm>
          <a:prstGeom prst="rect">
            <a:avLst/>
          </a:prstGeom>
          <a:solidFill>
            <a:srgbClr val="FDF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91200" y="961200"/>
            <a:ext cx="2743200" cy="54000"/>
          </a:xfrm>
          <a:prstGeom prst="rect">
            <a:avLst/>
          </a:prstGeom>
          <a:solidFill>
            <a:srgbClr val="B0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99200" y="1069200"/>
            <a:ext cx="25272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06000"/>
                </a:solidFill>
                <a:latin typeface="Calibri"/>
              </a:rPr>
              <a:t>Risque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99200" y="1436400"/>
            <a:ext cx="25272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Risque spécifique : détérioration des marges ou exécution stratégique.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7200" y="2998800"/>
            <a:ext cx="8413200" cy="108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7200" y="3070800"/>
            <a:ext cx="84132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3A6B"/>
                </a:solidFill>
                <a:latin typeface="Calibri"/>
              </a:rPr>
              <a:t>Conditions d'invalidation de la thèse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67200" y="3308400"/>
          <a:ext cx="8413200" cy="109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980"/>
                <a:gridCol w="5468580"/>
                <a:gridCol w="1682640"/>
              </a:tblGrid>
              <a:tr h="2745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Axe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Condition d'invalidation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Horizon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2745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Macro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Remontée des taux directeurs &gt; 200bps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6-12 mois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5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Sectoriel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Rupture technologique remettant en cause le modèle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12-18 mois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745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Société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Détérioration matérielle des marges opérationnelles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2-3 trim.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8000" cy="514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1599"/>
            <a:ext cx="8229600" cy="1645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0" b="1">
                <a:solidFill>
                  <a:srgbClr val="FFFFFF">
                    <a:alpha val="15000"/>
                  </a:srgbClr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75600"/>
            <a:ext cx="7772400" cy="82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Sentiment &amp; Annexes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90000"/>
            <a:ext cx="2743200" cy="36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908800"/>
            <a:ext cx="6400800" cy="32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  <a:latin typeface="Calibri"/>
              </a:rPr>
              <a:t>FinBERT, actionnariat &amp; historique de cours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7200" y="4802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677AA"/>
                </a:solidFill>
                <a:latin typeface="Calibri"/>
              </a:rPr>
              <a:t>FinSight IA  ·  Usage confidentiel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Sentiment de Marché — FinBERT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Analyse sémantique  ·  30 articles  ·  7 derniers jours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7200" y="961200"/>
            <a:ext cx="2559600" cy="100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7200" y="961200"/>
            <a:ext cx="46800" cy="100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1015200"/>
            <a:ext cx="24228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Neutre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411200"/>
            <a:ext cx="24228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Orientation globale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609200"/>
            <a:ext cx="24228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Score agrégé : -0,077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10400" y="961200"/>
            <a:ext cx="1828800" cy="100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110400" y="961200"/>
            <a:ext cx="46800" cy="100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0" y="1015200"/>
            <a:ext cx="1692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1411200"/>
            <a:ext cx="16920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Articles analysés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1609200"/>
            <a:ext cx="16920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Fenêtre : 7 jours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19200" y="961200"/>
            <a:ext cx="1645200" cy="100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119200" y="961200"/>
            <a:ext cx="46800" cy="100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09200" y="1015200"/>
            <a:ext cx="15084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44,5 %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09200" y="1411200"/>
            <a:ext cx="15084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Confiance 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09200" y="1609200"/>
            <a:ext cx="15084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Modèle FinBERT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8000" y="961200"/>
            <a:ext cx="1738800" cy="100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948000" y="961200"/>
            <a:ext cx="46800" cy="100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38000" y="1015200"/>
            <a:ext cx="1602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HOLD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38000" y="1411200"/>
            <a:ext cx="16020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Cohérence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38000" y="1609200"/>
            <a:ext cx="16020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Aligné avec la thèse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7200" y="2084400"/>
            <a:ext cx="84132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E5FA3"/>
                </a:solidFill>
                <a:latin typeface="Calibri"/>
              </a:rPr>
              <a:t>Détail par orientation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367200" y="2332800"/>
          <a:ext cx="8413200" cy="115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980"/>
                <a:gridCol w="1261980"/>
                <a:gridCol w="1682640"/>
                <a:gridCol w="4206600"/>
              </a:tblGrid>
              <a:tr h="288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Orientation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Articles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Score moyen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Thèmes principaux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Positif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+0,239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Catalyseurs, croissance, résultats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555555"/>
                          </a:solidFill>
                          <a:latin typeface="Calibri"/>
                        </a:rPr>
                        <a:t>Neutre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555555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+0,445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Actualité sectorielle générale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A82020"/>
                          </a:solidFill>
                          <a:latin typeface="Calibri"/>
                        </a:rPr>
                        <a:t>Négatif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A8202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+0,316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Risques macro, concurrence, dette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367200" y="4140000"/>
            <a:ext cx="841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La presse financière souligne à la fois des avancées technologiques prometteuses pour Apple, notamment autour de Siri et de l'IA, mais aussi des défis majeurs liés à la concurrence et à l'évolution du marché. L'anniversaire des 50 ans d'Apple met en lumière sa capacité à innover, tout en devant faire face à des pressions concurrentielles croissantes.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Actionnariat &amp; Structure du Capital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Répartition de l'actionnariat  ·  Au 29 mars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7200" y="748800"/>
            <a:ext cx="5029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E5FA3"/>
                </a:solidFill>
                <a:latin typeface="Calibri"/>
              </a:rPr>
              <a:t>Top actionnaires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67200" y="968400"/>
          <a:ext cx="5302800" cy="223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5064"/>
                <a:gridCol w="1378728"/>
                <a:gridCol w="1060560"/>
                <a:gridCol w="848448"/>
              </a:tblGrid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Actionnaire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Détention %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Style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Apple (Insiders)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Insiders &amp; dirigeants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1.6 %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B06000"/>
                          </a:solidFill>
                          <a:latin typeface="Calibri"/>
                        </a:rPr>
                        <a:t>Insider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Vanguard Group Inc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9.7 %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E5FA3"/>
                          </a:solidFill>
                          <a:latin typeface="Calibri"/>
                        </a:rPr>
                        <a:t>Passif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Blackrock Inc.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7.9 %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A7A4A"/>
                          </a:solidFill>
                          <a:latin typeface="Calibri"/>
                        </a:rPr>
                        <a:t>Actif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State Street Corporation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4.1 %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E5FA3"/>
                          </a:solidFill>
                          <a:latin typeface="Calibri"/>
                        </a:rPr>
                        <a:t>Passif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Geode Capital Management, LLC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2.4 %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A7A4A"/>
                          </a:solidFill>
                          <a:latin typeface="Calibri"/>
                        </a:rPr>
                        <a:t>Actif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FMR, LLC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2.1 %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A7A4A"/>
                          </a:solidFill>
                          <a:latin typeface="Calibri"/>
                        </a:rPr>
                        <a:t>Actif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Morgan Stanley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1.6 %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A7A4A"/>
                          </a:solidFill>
                          <a:latin typeface="Calibri"/>
                        </a:rPr>
                        <a:t>Actif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Berkshire Hathaway, Inc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1.6 %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A7A4A"/>
                          </a:solidFill>
                          <a:latin typeface="Calibri"/>
                        </a:rPr>
                        <a:t>Actif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Autres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Retail &amp; autres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69.1 %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555555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5760000" y="748800"/>
            <a:ext cx="30168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E5FA3"/>
                </a:solidFill>
                <a:latin typeface="Calibri"/>
              </a:rPr>
              <a:t>Répartition par type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760000" y="968400"/>
          <a:ext cx="3016800" cy="113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080"/>
                <a:gridCol w="1206720"/>
              </a:tblGrid>
              <a:tr h="2268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Type d'actionnaire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Part estimée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68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 passif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13.8 %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68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 actif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15.5 %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68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Insider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1.6 %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68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Retail &amp; autres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69.1 %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Historique de Cours — 52 Semaines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AAPL  ·  USD  ·  Au 29 mars 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7200" y="961200"/>
            <a:ext cx="1918800" cy="7488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7200" y="961200"/>
            <a:ext cx="46800" cy="748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1015200"/>
            <a:ext cx="1782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248,80 $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411200"/>
            <a:ext cx="17820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Cours actuel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22800" y="961200"/>
            <a:ext cx="1918800" cy="7488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422800" y="961200"/>
            <a:ext cx="46800" cy="748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12800" y="1015200"/>
            <a:ext cx="1782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278,32 $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2800" y="1411200"/>
            <a:ext cx="17820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Plus haut 52 sem.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2000" y="961200"/>
            <a:ext cx="1918800" cy="7488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2000" y="961200"/>
            <a:ext cx="46800" cy="748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1015200"/>
            <a:ext cx="1782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199,98 $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1411200"/>
            <a:ext cx="17820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Plus bas 52 sem.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37600" y="961200"/>
            <a:ext cx="2196000" cy="7488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37600" y="961200"/>
            <a:ext cx="46800" cy="748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27600" y="1015200"/>
            <a:ext cx="20592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+17,6 %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7600" y="1411200"/>
            <a:ext cx="20592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Performance 52 sem.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7200" y="1846800"/>
            <a:ext cx="84132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3A6B"/>
                </a:solidFill>
                <a:latin typeface="Calibri"/>
              </a:rPr>
              <a:t>Evolution du cours — 12 derniers mois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7200" y="2102400"/>
            <a:ext cx="8413200" cy="1828800"/>
          </a:xfrm>
          <a:prstGeom prst="rect">
            <a:avLst/>
          </a:prstGeom>
          <a:solidFill>
            <a:srgbClr val="F7F8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7200" y="2102400"/>
            <a:ext cx="8413200" cy="360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7200" y="3609975"/>
            <a:ext cx="498636" cy="285224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1200" y="3902400"/>
            <a:ext cx="7281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555555"/>
                </a:solidFill>
                <a:latin typeface="Calibri"/>
              </a:rPr>
              <a:t>Avr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293300" y="3823200"/>
            <a:ext cx="498636" cy="7200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57300" y="3902400"/>
            <a:ext cx="7281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555555"/>
                </a:solidFill>
                <a:latin typeface="Calibri"/>
              </a:rPr>
              <a:t>Mai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949400" y="3739196"/>
            <a:ext cx="498636" cy="156003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913400" y="3902400"/>
            <a:ext cx="7281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555555"/>
                </a:solidFill>
                <a:latin typeface="Calibri"/>
              </a:rPr>
              <a:t>Juin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05500" y="3695265"/>
            <a:ext cx="498636" cy="199934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69500" y="3902400"/>
            <a:ext cx="7281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555555"/>
                </a:solidFill>
                <a:latin typeface="Calibri"/>
              </a:rPr>
              <a:t>Juil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61600" y="3244920"/>
            <a:ext cx="498636" cy="650279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25600" y="3902400"/>
            <a:ext cx="7281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555555"/>
                </a:solidFill>
                <a:latin typeface="Calibri"/>
              </a:rPr>
              <a:t>Aoû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17700" y="2827478"/>
            <a:ext cx="498636" cy="1067721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881700" y="3902400"/>
            <a:ext cx="7281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555555"/>
                </a:solidFill>
                <a:latin typeface="Calibri"/>
              </a:rPr>
              <a:t>Sep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3800" y="2538706"/>
            <a:ext cx="498636" cy="1356493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37800" y="3902400"/>
            <a:ext cx="7281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555555"/>
                </a:solidFill>
                <a:latin typeface="Calibri"/>
              </a:rPr>
              <a:t>Oct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29900" y="2383200"/>
            <a:ext cx="498636" cy="15120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93900" y="3902400"/>
            <a:ext cx="7281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555555"/>
                </a:solidFill>
                <a:latin typeface="Calibri"/>
              </a:rPr>
              <a:t>Nov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86000" y="2506539"/>
            <a:ext cx="498636" cy="138866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0000" y="3902400"/>
            <a:ext cx="7281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555555"/>
                </a:solidFill>
                <a:latin typeface="Calibri"/>
              </a:rPr>
              <a:t>Déc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42100" y="2733917"/>
            <a:ext cx="498636" cy="1161282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06099" y="3902400"/>
            <a:ext cx="7281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555555"/>
                </a:solidFill>
                <a:latin typeface="Calibri"/>
              </a:rPr>
              <a:t>Jan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198200" y="2647708"/>
            <a:ext cx="498636" cy="1247491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162200" y="3902400"/>
            <a:ext cx="7281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555555"/>
                </a:solidFill>
                <a:latin typeface="Calibri"/>
              </a:rPr>
              <a:t>Fév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854300" y="2925819"/>
            <a:ext cx="498636" cy="96938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818299" y="3902400"/>
            <a:ext cx="7281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555555"/>
                </a:solidFill>
                <a:latin typeface="Calibri"/>
              </a:rPr>
              <a:t>Mar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1200" y="3823200"/>
            <a:ext cx="8179200" cy="72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31200" y="3751200"/>
            <a:ext cx="288000" cy="14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00" b="0" i="0">
                <a:solidFill>
                  <a:srgbClr val="555555"/>
                </a:solidFill>
                <a:latin typeface="Calibri"/>
              </a:rPr>
              <a:t>199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1200" y="3348000"/>
            <a:ext cx="8179200" cy="72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31200" y="3276000"/>
            <a:ext cx="288000" cy="14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00" b="0" i="0">
                <a:solidFill>
                  <a:srgbClr val="555555"/>
                </a:solidFill>
                <a:latin typeface="Calibri"/>
              </a:rPr>
              <a:t>225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1200" y="2858400"/>
            <a:ext cx="8179200" cy="72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31200" y="2786399"/>
            <a:ext cx="288000" cy="14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00" b="0" i="0">
                <a:solidFill>
                  <a:srgbClr val="555555"/>
                </a:solidFill>
                <a:latin typeface="Calibri"/>
              </a:rPr>
              <a:t>252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1200" y="2383200"/>
            <a:ext cx="8179200" cy="72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31200" y="2311200"/>
            <a:ext cx="288000" cy="14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00" b="0" i="0">
                <a:solidFill>
                  <a:srgbClr val="555555"/>
                </a:solidFill>
                <a:latin typeface="Calibri"/>
              </a:rPr>
              <a:t>278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