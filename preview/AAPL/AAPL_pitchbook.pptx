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Apple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AAPL  ·  Technology</a:t>
            </a:r>
          </a:p>
        </p:txBody>
      </p:sp>
      <p:sp>
        <p:nvSpPr>
          <p:cNvPr id="8" name="Rectangle 7"/>
          <p:cNvSpPr/>
          <p:nvPr/>
        </p:nvSpPr>
        <p:spPr>
          <a:xfrm>
            <a:off x="2771999" y="2720232"/>
            <a:ext cx="36000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6000" y="2738232"/>
            <a:ext cx="3491999" cy="395999"/>
          </a:xfrm>
          <a:prstGeom prst="rect">
            <a:avLst/>
          </a:prstGeom>
          <a:noFill/>
        </p:spPr>
        <p:txBody>
          <a:bodyPr wrap="square">
            <a:spAutoFit/>
          </a:bodyPr>
          <a:lstStyle/>
          <a:p>
            <a:pPr algn="ctr"/>
            <a:r>
              <a:rPr sz="900" b="1" i="0">
                <a:solidFill>
                  <a:srgbClr val="FFFFFF"/>
                </a:solidFill>
                <a:latin typeface="Calibri"/>
              </a:rPr>
              <a:t>● BUY  ·  Prix cible base : 285 $  ·  Upside : +10,1 %</a:t>
            </a:r>
          </a:p>
        </p:txBody>
      </p:sp>
      <p:sp>
        <p:nvSpPr>
          <p:cNvPr id="10" name="Rectangle 9"/>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2" name="TextBox 11"/>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9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285 $  ·  Upside : +10,1 %  ·  Bear : 240 $ (-7,3 %)  ·  Bull : 320 $ (+23,6 %)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Écosystème fermé</a:t>
            </a:r>
          </a:p>
        </p:txBody>
      </p:sp>
      <p:sp>
        <p:nvSpPr>
          <p:cNvPr id="14" name="TextBox 13"/>
          <p:cNvSpPr txBox="1"/>
          <p:nvPr/>
        </p:nvSpPr>
        <p:spPr>
          <a:xfrm>
            <a:off x="503999" y="1814400"/>
            <a:ext cx="3931200" cy="378000"/>
          </a:xfrm>
          <a:prstGeom prst="rect">
            <a:avLst/>
          </a:prstGeom>
          <a:noFill/>
        </p:spPr>
        <p:txBody>
          <a:bodyPr wrap="square">
            <a:spAutoFit/>
          </a:bodyPr>
          <a:lstStyle/>
          <a:p>
            <a:pPr algn="l"/>
            <a:r>
              <a:rPr sz="750" b="0" i="0">
                <a:solidFill>
                  <a:srgbClr val="333333"/>
                </a:solidFill>
                <a:latin typeface="Calibri"/>
              </a:rPr>
              <a:t>Croissance des services à +12 % YoY avec marge brute &gt;70 % grâce à l’expansion de l’App Store et des abonnements</a:t>
            </a:r>
          </a:p>
        </p:txBody>
      </p:sp>
      <p:sp>
        <p:nvSpPr>
          <p:cNvPr id="15" name="Rectangle 14"/>
          <p:cNvSpPr/>
          <p:nvPr/>
        </p:nvSpPr>
        <p:spPr>
          <a:xfrm>
            <a:off x="367200" y="2214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96000"/>
            <a:ext cx="3931200" cy="183600"/>
          </a:xfrm>
          <a:prstGeom prst="rect">
            <a:avLst/>
          </a:prstGeom>
          <a:noFill/>
        </p:spPr>
        <p:txBody>
          <a:bodyPr wrap="square">
            <a:spAutoFit/>
          </a:bodyPr>
          <a:lstStyle/>
          <a:p>
            <a:pPr algn="l"/>
            <a:r>
              <a:rPr sz="850" b="1" i="0">
                <a:solidFill>
                  <a:srgbClr val="1B3A6B"/>
                </a:solidFill>
                <a:latin typeface="Calibri"/>
              </a:rPr>
              <a:t>Pricing power</a:t>
            </a:r>
          </a:p>
        </p:txBody>
      </p:sp>
      <p:sp>
        <p:nvSpPr>
          <p:cNvPr id="17" name="TextBox 16"/>
          <p:cNvSpPr txBox="1"/>
          <p:nvPr/>
        </p:nvSpPr>
        <p:spPr>
          <a:xfrm>
            <a:off x="503999" y="2365200"/>
            <a:ext cx="3931200" cy="378000"/>
          </a:xfrm>
          <a:prstGeom prst="rect">
            <a:avLst/>
          </a:prstGeom>
          <a:noFill/>
        </p:spPr>
        <p:txBody>
          <a:bodyPr wrap="square">
            <a:spAutoFit/>
          </a:bodyPr>
          <a:lstStyle/>
          <a:p>
            <a:pPr algn="l"/>
            <a:r>
              <a:rPr sz="750" b="0" i="0">
                <a:solidFill>
                  <a:srgbClr val="333333"/>
                </a:solidFill>
                <a:latin typeface="Calibri"/>
              </a:rPr>
              <a:t>Déploiement de l’IA générative sur iPhone 16e (2026) avec potentiel de +5 % de prix moyen</a:t>
            </a:r>
          </a:p>
        </p:txBody>
      </p:sp>
      <p:sp>
        <p:nvSpPr>
          <p:cNvPr id="18" name="Rectangle 17"/>
          <p:cNvSpPr/>
          <p:nvPr/>
        </p:nvSpPr>
        <p:spPr>
          <a:xfrm>
            <a:off x="367200" y="2764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46800"/>
            <a:ext cx="3931200" cy="183600"/>
          </a:xfrm>
          <a:prstGeom prst="rect">
            <a:avLst/>
          </a:prstGeom>
          <a:noFill/>
        </p:spPr>
        <p:txBody>
          <a:bodyPr wrap="square">
            <a:spAutoFit/>
          </a:bodyPr>
          <a:lstStyle/>
          <a:p>
            <a:pPr algn="l"/>
            <a:r>
              <a:rPr sz="850" b="1" i="0">
                <a:solidFill>
                  <a:srgbClr val="1B3A6B"/>
                </a:solidFill>
                <a:latin typeface="Calibri"/>
              </a:rPr>
              <a:t>Services récurrents</a:t>
            </a:r>
          </a:p>
        </p:txBody>
      </p:sp>
      <p:sp>
        <p:nvSpPr>
          <p:cNvPr id="20" name="TextBox 19"/>
          <p:cNvSpPr txBox="1"/>
          <p:nvPr/>
        </p:nvSpPr>
        <p:spPr>
          <a:xfrm>
            <a:off x="503999" y="2916000"/>
            <a:ext cx="3931200" cy="378000"/>
          </a:xfrm>
          <a:prstGeom prst="rect">
            <a:avLst/>
          </a:prstGeom>
          <a:noFill/>
        </p:spPr>
        <p:txBody>
          <a:bodyPr wrap="square">
            <a:spAutoFit/>
          </a:bodyPr>
          <a:lstStyle/>
          <a:p>
            <a:pPr algn="l"/>
            <a:r>
              <a:rPr sz="750" b="0" i="0">
                <a:solidFill>
                  <a:srgbClr val="333333"/>
                </a:solidFill>
                <a:latin typeface="Calibri"/>
              </a:rPr>
              <a:t>Rachats d’actions de 100 Mds$ annoncés pour 2026, soutenant la valorisation à 33,9x P/E.</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Dépendance iPhone</a:t>
            </a:r>
          </a:p>
        </p:txBody>
      </p:sp>
      <p:sp>
        <p:nvSpPr>
          <p:cNvPr id="25" name="TextBox 24"/>
          <p:cNvSpPr txBox="1"/>
          <p:nvPr/>
        </p:nvSpPr>
        <p:spPr>
          <a:xfrm>
            <a:off x="4845600" y="1814400"/>
            <a:ext cx="3794399" cy="378000"/>
          </a:xfrm>
          <a:prstGeom prst="rect">
            <a:avLst/>
          </a:prstGeom>
          <a:noFill/>
        </p:spPr>
        <p:txBody>
          <a:bodyPr wrap="square">
            <a:spAutoFit/>
          </a:bodyPr>
          <a:lstStyle/>
          <a:p>
            <a:pPr algn="l"/>
            <a:r>
              <a:rPr sz="750" b="0" i="0">
                <a:solidFill>
                  <a:srgbClr val="333333"/>
                </a:solidFill>
                <a:latin typeface="Calibri"/>
              </a:rPr>
              <a:t>Ralentissement de la demande premium en Chine (-5 % CA 2026) avec pression sur les marges | Régulation européenne (DMA) réduisant les revenus App Store de 8 % en 2027 | Concurrence accrue</a:t>
            </a:r>
          </a:p>
        </p:txBody>
      </p:sp>
      <p:sp>
        <p:nvSpPr>
          <p:cNvPr id="26" name="Rectangle 25"/>
          <p:cNvSpPr/>
          <p:nvPr/>
        </p:nvSpPr>
        <p:spPr>
          <a:xfrm>
            <a:off x="4708800" y="2214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96000"/>
            <a:ext cx="3794399" cy="183600"/>
          </a:xfrm>
          <a:prstGeom prst="rect">
            <a:avLst/>
          </a:prstGeom>
          <a:noFill/>
        </p:spPr>
        <p:txBody>
          <a:bodyPr wrap="square">
            <a:spAutoFit/>
          </a:bodyPr>
          <a:lstStyle/>
          <a:p>
            <a:pPr algn="l"/>
            <a:r>
              <a:rPr sz="850" b="1" i="0">
                <a:solidFill>
                  <a:srgbClr val="1B3A6B"/>
                </a:solidFill>
                <a:latin typeface="Calibri"/>
              </a:rPr>
              <a:t>Régulation</a:t>
            </a:r>
          </a:p>
        </p:txBody>
      </p:sp>
      <p:sp>
        <p:nvSpPr>
          <p:cNvPr id="28" name="TextBox 27"/>
          <p:cNvSpPr txBox="1"/>
          <p:nvPr/>
        </p:nvSpPr>
        <p:spPr>
          <a:xfrm>
            <a:off x="4845600" y="2365200"/>
            <a:ext cx="3794399" cy="378000"/>
          </a:xfrm>
          <a:prstGeom prst="rect">
            <a:avLst/>
          </a:prstGeom>
          <a:noFill/>
        </p:spPr>
        <p:txBody>
          <a:bodyPr wrap="square">
            <a:spAutoFit/>
          </a:bodyPr>
          <a:lstStyle/>
          <a:p>
            <a:pPr algn="l"/>
            <a:r>
              <a:rPr sz="750" b="0" i="0">
                <a:solidFill>
                  <a:srgbClr val="333333"/>
                </a:solidFill>
                <a:latin typeface="Calibri"/>
              </a:rPr>
              <a:t>Le ratio P/E de 33.93x contre une croissance des revenus de seulement 6.4% en 2025 révèle une valorisation excessive de 30% par rapport à la moyenne sectorielle des géants tech (24x). Les</a:t>
            </a:r>
          </a:p>
        </p:txBody>
      </p:sp>
      <p:sp>
        <p:nvSpPr>
          <p:cNvPr id="29" name="Rectangle 28"/>
          <p:cNvSpPr/>
          <p:nvPr/>
        </p:nvSpPr>
        <p:spPr>
          <a:xfrm>
            <a:off x="4708800" y="2764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46800"/>
            <a:ext cx="3794399" cy="183600"/>
          </a:xfrm>
          <a:prstGeom prst="rect">
            <a:avLst/>
          </a:prstGeom>
          <a:noFill/>
        </p:spPr>
        <p:txBody>
          <a:bodyPr wrap="square">
            <a:spAutoFit/>
          </a:bodyPr>
          <a:lstStyle/>
          <a:p>
            <a:pPr algn="l"/>
            <a:r>
              <a:rPr sz="850" b="1" i="0">
                <a:solidFill>
                  <a:srgbClr val="1B3A6B"/>
                </a:solidFill>
                <a:latin typeface="Calibri"/>
              </a:rPr>
              <a:t>Concurrence IA</a:t>
            </a:r>
          </a:p>
        </p:txBody>
      </p:sp>
      <p:sp>
        <p:nvSpPr>
          <p:cNvPr id="31" name="TextBox 30"/>
          <p:cNvSpPr txBox="1"/>
          <p:nvPr/>
        </p:nvSpPr>
        <p:spPr>
          <a:xfrm>
            <a:off x="4845600" y="2916000"/>
            <a:ext cx="3794399" cy="378000"/>
          </a:xfrm>
          <a:prstGeom prst="rect">
            <a:avLst/>
          </a:prstGeom>
          <a:noFill/>
        </p:spPr>
        <p:txBody>
          <a:bodyPr wrap="square">
            <a:spAutoFit/>
          </a:bodyPr>
          <a:lstStyle/>
          <a:p>
            <a:pPr algn="l"/>
            <a:r>
              <a:rPr sz="750" b="0" i="0">
                <a:solidFill>
                  <a:srgbClr val="333333"/>
                </a:solidFill>
                <a:latin typeface="Calibri"/>
              </a:rPr>
              <a:t>La dépendance à la Chine pour 20% de la production expose Apple à des risques géopolitiques majeurs : un conflit autour de Taïwan pourrait paralyser 40% de ses capacités, comme en mars 2021</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33600"/>
            <a:ext cx="4010400" cy="19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333600"/>
            <a:ext cx="3960000" cy="198000"/>
          </a:xfrm>
          <a:prstGeom prst="rect">
            <a:avLst/>
          </a:prstGeom>
          <a:noFill/>
        </p:spPr>
        <p:txBody>
          <a:bodyPr wrap="square">
            <a:spAutoFit/>
          </a:bodyPr>
          <a:lstStyle/>
          <a:p>
            <a:pPr algn="l"/>
            <a:r>
              <a:rPr sz="750" b="1" i="0">
                <a:solidFill>
                  <a:srgbClr val="FFFFFF"/>
                </a:solidFill>
                <a:latin typeface="Calibri"/>
              </a:rPr>
              <a:t>CATALYSEURS À SURVEILLER (12M)</a:t>
            </a:r>
          </a:p>
        </p:txBody>
      </p:sp>
      <p:sp>
        <p:nvSpPr>
          <p:cNvPr id="36" name="Rectangle 35"/>
          <p:cNvSpPr/>
          <p:nvPr/>
        </p:nvSpPr>
        <p:spPr>
          <a:xfrm>
            <a:off x="367200" y="3582000"/>
            <a:ext cx="43200" cy="936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9200" y="3560400"/>
            <a:ext cx="3837600" cy="172800"/>
          </a:xfrm>
          <a:prstGeom prst="rect">
            <a:avLst/>
          </a:prstGeom>
          <a:noFill/>
        </p:spPr>
        <p:txBody>
          <a:bodyPr wrap="square">
            <a:spAutoFit/>
          </a:bodyPr>
          <a:lstStyle/>
          <a:p>
            <a:pPr algn="l"/>
            <a:r>
              <a:rPr sz="750" b="0" i="0">
                <a:solidFill>
                  <a:srgbClr val="333333"/>
                </a:solidFill>
                <a:latin typeface="Calibri"/>
              </a:rPr>
              <a:t>IA générative: Déploiement sur iPhone 16e (2026) avec potentiel</a:t>
            </a:r>
          </a:p>
        </p:txBody>
      </p:sp>
      <p:sp>
        <p:nvSpPr>
          <p:cNvPr id="38" name="Rectangle 37"/>
          <p:cNvSpPr/>
          <p:nvPr/>
        </p:nvSpPr>
        <p:spPr>
          <a:xfrm>
            <a:off x="367200" y="3780000"/>
            <a:ext cx="43200" cy="936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9200" y="3758400"/>
            <a:ext cx="3837600" cy="172800"/>
          </a:xfrm>
          <a:prstGeom prst="rect">
            <a:avLst/>
          </a:prstGeom>
          <a:noFill/>
        </p:spPr>
        <p:txBody>
          <a:bodyPr wrap="square">
            <a:spAutoFit/>
          </a:bodyPr>
          <a:lstStyle/>
          <a:p>
            <a:pPr algn="l"/>
            <a:r>
              <a:rPr sz="750" b="0" i="0">
                <a:solidFill>
                  <a:srgbClr val="333333"/>
                </a:solidFill>
                <a:latin typeface="Calibri"/>
              </a:rPr>
              <a:t>Rachats actions: Programme de 100 Mds$ annoncé pour 2026,</a:t>
            </a:r>
          </a:p>
        </p:txBody>
      </p:sp>
      <p:sp>
        <p:nvSpPr>
          <p:cNvPr id="40" name="Rectangle 39"/>
          <p:cNvSpPr/>
          <p:nvPr/>
        </p:nvSpPr>
        <p:spPr>
          <a:xfrm>
            <a:off x="4708800" y="3333600"/>
            <a:ext cx="4068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55600" y="3333600"/>
            <a:ext cx="3996000" cy="198000"/>
          </a:xfrm>
          <a:prstGeom prst="rect">
            <a:avLst/>
          </a:prstGeom>
          <a:noFill/>
        </p:spPr>
        <p:txBody>
          <a:bodyPr wrap="square">
            <a:spAutoFit/>
          </a:bodyPr>
          <a:lstStyle/>
          <a:p>
            <a:pPr algn="l"/>
            <a:r>
              <a:rPr sz="750" b="1" i="0">
                <a:solidFill>
                  <a:srgbClr val="FFFFFF"/>
                </a:solidFill>
                <a:latin typeface="Calibri"/>
              </a:rPr>
              <a:t>VALORISATION SYNTHÉTIQUE</a:t>
            </a:r>
          </a:p>
        </p:txBody>
      </p:sp>
      <p:graphicFrame>
        <p:nvGraphicFramePr>
          <p:cNvPr id="42" name="Table 41"/>
          <p:cNvGraphicFramePr>
            <a:graphicFrameLocks noGrp="1"/>
          </p:cNvGraphicFramePr>
          <p:nvPr/>
        </p:nvGraphicFramePr>
        <p:xfrm>
          <a:off x="4708800" y="3560400"/>
          <a:ext cx="4068000" cy="396000"/>
        </p:xfrm>
        <a:graphic>
          <a:graphicData uri="http://schemas.openxmlformats.org/drawingml/2006/table">
            <a:tbl>
              <a:tblPr firstRow="1" bandRow="1">
                <a:tableStyleId>{5C22544A-7EE6-4342-B048-85BDC9FD1C3A}</a:tableStyleId>
              </a:tblPr>
              <a:tblGrid>
                <a:gridCol w="2034000"/>
                <a:gridCol w="1017000"/>
                <a:gridCol w="1017000"/>
              </a:tblGrid>
              <a:tr h="99000">
                <a:tc>
                  <a:txBody>
                    <a:bodyPr/>
                    <a:lstStyle/>
                    <a:p>
                      <a:pPr algn="l"/>
                      <a:r>
                        <a:rPr sz="800" b="1" i="0">
                          <a:solidFill>
                            <a:srgbClr val="FFFFFF"/>
                          </a:solidFill>
                          <a:latin typeface="Calibri"/>
                        </a:rPr>
                        <a:t>Multiple</a:t>
                      </a:r>
                    </a:p>
                  </a:txBody>
                  <a:tcPr>
                    <a:solidFill>
                      <a:srgbClr val="1B3A6B"/>
                    </a:solidFill>
                  </a:tcPr>
                </a:tc>
                <a:tc>
                  <a:txBody>
                    <a:bodyPr/>
                    <a:lstStyle/>
                    <a:p>
                      <a:pPr algn="ctr"/>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Médiane pairs</a:t>
                      </a:r>
                    </a:p>
                  </a:txBody>
                  <a:tcPr>
                    <a:solidFill>
                      <a:srgbClr val="1B3A6B"/>
                    </a:solidFill>
                  </a:tcPr>
                </a:tc>
              </a:tr>
              <a:tr h="99000">
                <a:tc>
                  <a:txBody>
                    <a:bodyPr/>
                    <a:lstStyle/>
                    <a:p>
                      <a:pPr algn="l"/>
                      <a:r>
                        <a:rPr sz="800" b="0" i="0">
                          <a:solidFill>
                            <a:srgbClr val="0D0D0D"/>
                          </a:solidFill>
                          <a:latin typeface="Calibri"/>
                        </a:rPr>
                        <a:t>P/E NTM (x)</a:t>
                      </a:r>
                    </a:p>
                  </a:txBody>
                  <a:tcPr>
                    <a:solidFill>
                      <a:srgbClr val="FFFFFF"/>
                    </a:solidFill>
                  </a:tcPr>
                </a:tc>
                <a:tc>
                  <a:txBody>
                    <a:bodyPr/>
                    <a:lstStyle/>
                    <a:p>
                      <a:pPr algn="ctr"/>
                      <a:r>
                        <a:rPr sz="800" b="0" i="0">
                          <a:solidFill>
                            <a:srgbClr val="0D0D0D"/>
                          </a:solidFill>
                          <a:latin typeface="Calibri"/>
                        </a:rPr>
                        <a:t>33,9x</a:t>
                      </a:r>
                    </a:p>
                  </a:txBody>
                  <a:tcPr>
                    <a:solidFill>
                      <a:srgbClr val="FFFFFF"/>
                    </a:solidFill>
                  </a:tcPr>
                </a:tc>
                <a:tc>
                  <a:txBody>
                    <a:bodyPr/>
                    <a:lstStyle/>
                    <a:p>
                      <a:pPr algn="ctr"/>
                      <a:r>
                        <a:rPr sz="800" b="0" i="0">
                          <a:solidFill>
                            <a:srgbClr val="0D0D0D"/>
                          </a:solidFill>
                          <a:latin typeface="Calibri"/>
                        </a:rPr>
                        <a:t>28,5x</a:t>
                      </a:r>
                    </a:p>
                  </a:txBody>
                  <a:tcPr>
                    <a:solidFill>
                      <a:srgbClr val="FFFFFF"/>
                    </a:solidFill>
                  </a:tcPr>
                </a:tc>
              </a:tr>
              <a:tr h="99000">
                <a:tc>
                  <a:txBody>
                    <a:bodyPr/>
                    <a:lstStyle/>
                    <a:p>
                      <a:pPr algn="l"/>
                      <a:r>
                        <a:rPr sz="800" b="0" i="0">
                          <a:solidFill>
                            <a:srgbClr val="0D0D0D"/>
                          </a:solidFill>
                          <a:latin typeface="Calibri"/>
                        </a:rPr>
                        <a:t>EV/EBITDA (x)</a:t>
                      </a:r>
                    </a:p>
                  </a:txBody>
                  <a:tcPr>
                    <a:solidFill>
                      <a:srgbClr val="F7F8FA"/>
                    </a:solidFill>
                  </a:tcPr>
                </a:tc>
                <a:tc>
                  <a:txBody>
                    <a:bodyPr/>
                    <a:lstStyle/>
                    <a:p>
                      <a:pPr algn="ctr"/>
                      <a:r>
                        <a:rPr sz="800" b="0" i="0">
                          <a:solidFill>
                            <a:srgbClr val="0D0D0D"/>
                          </a:solidFill>
                          <a:latin typeface="Calibri"/>
                        </a:rPr>
                        <a:t>26,7x</a:t>
                      </a:r>
                    </a:p>
                  </a:txBody>
                  <a:tcPr>
                    <a:solidFill>
                      <a:srgbClr val="F7F8FA"/>
                    </a:solidFill>
                  </a:tcPr>
                </a:tc>
                <a:tc>
                  <a:txBody>
                    <a:bodyPr/>
                    <a:lstStyle/>
                    <a:p>
                      <a:pPr algn="ctr"/>
                      <a:r>
                        <a:rPr sz="800" b="0" i="0">
                          <a:solidFill>
                            <a:srgbClr val="0D0D0D"/>
                          </a:solidFill>
                          <a:latin typeface="Calibri"/>
                        </a:rPr>
                        <a:t>18,9x</a:t>
                      </a:r>
                    </a:p>
                  </a:txBody>
                  <a:tcPr>
                    <a:solidFill>
                      <a:srgbClr val="F7F8FA"/>
                    </a:solidFill>
                  </a:tcPr>
                </a:tc>
              </a:tr>
              <a:tr h="99000">
                <a:tc>
                  <a:txBody>
                    <a:bodyPr/>
                    <a:lstStyle/>
                    <a:p>
                      <a:pPr algn="l"/>
                      <a:r>
                        <a:rPr sz="800" b="0" i="0">
                          <a:solidFill>
                            <a:srgbClr val="0D0D0D"/>
                          </a:solidFill>
                          <a:latin typeface="Calibri"/>
                        </a:rPr>
                        <a:t>Cible DCF ($)</a:t>
                      </a:r>
                    </a:p>
                  </a:txBody>
                  <a:tcPr>
                    <a:solidFill>
                      <a:srgbClr val="FFFFFF"/>
                    </a:solidFill>
                  </a:tcPr>
                </a:tc>
                <a:tc>
                  <a:txBody>
                    <a:bodyPr/>
                    <a:lstStyle/>
                    <a:p>
                      <a:pPr algn="ctr"/>
                      <a:r>
                        <a:rPr sz="800" b="0" i="0">
                          <a:solidFill>
                            <a:srgbClr val="0D0D0D"/>
                          </a:solidFill>
                          <a:latin typeface="Calibri"/>
                        </a:rPr>
                        <a:t>285 $</a:t>
                      </a:r>
                    </a:p>
                  </a:txBody>
                  <a:tcPr>
                    <a:solidFill>
                      <a:srgbClr val="FFFFFF"/>
                    </a:solidFill>
                  </a:tcPr>
                </a:tc>
                <a:tc>
                  <a:txBody>
                    <a:bodyPr/>
                    <a:lstStyle/>
                    <a:p>
                      <a:pPr algn="ctr"/>
                      <a:r>
                        <a:rPr sz="800" b="0" i="0">
                          <a:solidFill>
                            <a:srgbClr val="0D0D0D"/>
                          </a:solidFill>
                          <a:latin typeface="Calibri"/>
                        </a:rPr>
                        <a:t>Upside +10,1 %</a:t>
                      </a:r>
                    </a:p>
                  </a:txBody>
                  <a:tcPr>
                    <a:solidFill>
                      <a:srgbClr val="FFFFFF"/>
                    </a:solidFill>
                  </a:tcPr>
                </a:tc>
              </a:tr>
            </a:tbl>
          </a:graphicData>
        </a:graphic>
      </p:graphicFrame>
      <p:sp>
        <p:nvSpPr>
          <p:cNvPr id="43" name="Rectangle 42"/>
          <p:cNvSpPr/>
          <p:nvPr/>
        </p:nvSpPr>
        <p:spPr>
          <a:xfrm>
            <a:off x="4525200" y="3301200"/>
            <a:ext cx="10800" cy="720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67200" y="4042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67200" y="4082400"/>
            <a:ext cx="2030400" cy="705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67200" y="4082400"/>
            <a:ext cx="46800" cy="705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7200" y="4136400"/>
            <a:ext cx="1893600" cy="396000"/>
          </a:xfrm>
          <a:prstGeom prst="rect">
            <a:avLst/>
          </a:prstGeom>
          <a:noFill/>
        </p:spPr>
        <p:txBody>
          <a:bodyPr wrap="square">
            <a:spAutoFit/>
          </a:bodyPr>
          <a:lstStyle/>
          <a:p>
            <a:pPr algn="l"/>
            <a:r>
              <a:rPr sz="1900" b="1" i="0">
                <a:solidFill>
                  <a:srgbClr val="1B3A6B"/>
                </a:solidFill>
                <a:latin typeface="Calibri"/>
              </a:rPr>
              <a:t>26,7x</a:t>
            </a:r>
          </a:p>
        </p:txBody>
      </p:sp>
      <p:sp>
        <p:nvSpPr>
          <p:cNvPr id="48" name="TextBox 47"/>
          <p:cNvSpPr txBox="1"/>
          <p:nvPr/>
        </p:nvSpPr>
        <p:spPr>
          <a:xfrm>
            <a:off x="457200" y="45324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49" name="TextBox 48"/>
          <p:cNvSpPr txBox="1"/>
          <p:nvPr/>
        </p:nvSpPr>
        <p:spPr>
          <a:xfrm>
            <a:off x="457200" y="4730400"/>
            <a:ext cx="1893600" cy="165600"/>
          </a:xfrm>
          <a:prstGeom prst="rect">
            <a:avLst/>
          </a:prstGeom>
          <a:noFill/>
        </p:spPr>
        <p:txBody>
          <a:bodyPr wrap="square">
            <a:spAutoFit/>
          </a:bodyPr>
          <a:lstStyle/>
          <a:p>
            <a:pPr algn="l"/>
            <a:r>
              <a:rPr sz="700" b="0" i="0">
                <a:solidFill>
                  <a:srgbClr val="888888"/>
                </a:solidFill>
                <a:latin typeface="Calibri"/>
              </a:rPr>
              <a:t>vs 18,9x med. pairs</a:t>
            </a:r>
          </a:p>
        </p:txBody>
      </p:sp>
      <p:sp>
        <p:nvSpPr>
          <p:cNvPr id="50" name="Rectangle 49"/>
          <p:cNvSpPr/>
          <p:nvPr/>
        </p:nvSpPr>
        <p:spPr>
          <a:xfrm>
            <a:off x="2487600" y="4082400"/>
            <a:ext cx="2030400" cy="705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487600" y="4082400"/>
            <a:ext cx="46800" cy="705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577600" y="4136400"/>
            <a:ext cx="1893600" cy="396000"/>
          </a:xfrm>
          <a:prstGeom prst="rect">
            <a:avLst/>
          </a:prstGeom>
          <a:noFill/>
        </p:spPr>
        <p:txBody>
          <a:bodyPr wrap="square">
            <a:spAutoFit/>
          </a:bodyPr>
          <a:lstStyle/>
          <a:p>
            <a:pPr algn="l"/>
            <a:r>
              <a:rPr sz="1900" b="1" i="0">
                <a:solidFill>
                  <a:srgbClr val="1B3A6B"/>
                </a:solidFill>
                <a:latin typeface="Calibri"/>
              </a:rPr>
              <a:t>10,3 %</a:t>
            </a:r>
          </a:p>
        </p:txBody>
      </p:sp>
      <p:sp>
        <p:nvSpPr>
          <p:cNvPr id="53" name="TextBox 52"/>
          <p:cNvSpPr txBox="1"/>
          <p:nvPr/>
        </p:nvSpPr>
        <p:spPr>
          <a:xfrm>
            <a:off x="2577600" y="45324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54" name="TextBox 53"/>
          <p:cNvSpPr txBox="1"/>
          <p:nvPr/>
        </p:nvSpPr>
        <p:spPr>
          <a:xfrm>
            <a:off x="2577600" y="4730400"/>
            <a:ext cx="1893600" cy="165600"/>
          </a:xfrm>
          <a:prstGeom prst="rect">
            <a:avLst/>
          </a:prstGeom>
          <a:noFill/>
        </p:spPr>
        <p:txBody>
          <a:bodyPr wrap="square">
            <a:spAutoFit/>
          </a:bodyPr>
          <a:lstStyle/>
          <a:p>
            <a:pPr algn="l"/>
            <a:r>
              <a:rPr sz="700" b="0" i="0">
                <a:solidFill>
                  <a:srgbClr val="888888"/>
                </a:solidFill>
                <a:latin typeface="Calibri"/>
              </a:rPr>
              <a:t>Beta 1,11  ·  RFR 4,3 %</a:t>
            </a:r>
          </a:p>
        </p:txBody>
      </p:sp>
      <p:sp>
        <p:nvSpPr>
          <p:cNvPr id="55" name="Rectangle 54"/>
          <p:cNvSpPr/>
          <p:nvPr/>
        </p:nvSpPr>
        <p:spPr>
          <a:xfrm>
            <a:off x="4608000" y="4082400"/>
            <a:ext cx="2030400" cy="705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608000" y="4082400"/>
            <a:ext cx="46800" cy="705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698000" y="4136400"/>
            <a:ext cx="1893600" cy="396000"/>
          </a:xfrm>
          <a:prstGeom prst="rect">
            <a:avLst/>
          </a:prstGeom>
          <a:noFill/>
        </p:spPr>
        <p:txBody>
          <a:bodyPr wrap="square">
            <a:spAutoFit/>
          </a:bodyPr>
          <a:lstStyle/>
          <a:p>
            <a:pPr algn="l"/>
            <a:r>
              <a:rPr sz="1900" b="1" i="0">
                <a:solidFill>
                  <a:srgbClr val="1B3A6B"/>
                </a:solidFill>
                <a:latin typeface="Calibri"/>
              </a:rPr>
              <a:t>285 $</a:t>
            </a:r>
          </a:p>
        </p:txBody>
      </p:sp>
      <p:sp>
        <p:nvSpPr>
          <p:cNvPr id="58" name="TextBox 57"/>
          <p:cNvSpPr txBox="1"/>
          <p:nvPr/>
        </p:nvSpPr>
        <p:spPr>
          <a:xfrm>
            <a:off x="4698000" y="4532400"/>
            <a:ext cx="1893600" cy="205199"/>
          </a:xfrm>
          <a:prstGeom prst="rect">
            <a:avLst/>
          </a:prstGeom>
          <a:noFill/>
        </p:spPr>
        <p:txBody>
          <a:bodyPr wrap="square">
            <a:spAutoFit/>
          </a:bodyPr>
          <a:lstStyle/>
          <a:p>
            <a:pPr algn="l"/>
            <a:r>
              <a:rPr sz="800" b="0" i="0">
                <a:solidFill>
                  <a:srgbClr val="555555"/>
                </a:solidFill>
                <a:latin typeface="Calibri"/>
              </a:rPr>
              <a:t>Valeur DCF base</a:t>
            </a:r>
          </a:p>
        </p:txBody>
      </p:sp>
      <p:sp>
        <p:nvSpPr>
          <p:cNvPr id="59" name="TextBox 58"/>
          <p:cNvSpPr txBox="1"/>
          <p:nvPr/>
        </p:nvSpPr>
        <p:spPr>
          <a:xfrm>
            <a:off x="4698000" y="4730400"/>
            <a:ext cx="1893600" cy="165600"/>
          </a:xfrm>
          <a:prstGeom prst="rect">
            <a:avLst/>
          </a:prstGeom>
          <a:noFill/>
        </p:spPr>
        <p:txBody>
          <a:bodyPr wrap="square">
            <a:spAutoFit/>
          </a:bodyPr>
          <a:lstStyle/>
          <a:p>
            <a:pPr algn="l"/>
            <a:r>
              <a:rPr sz="700" b="0" i="0">
                <a:solidFill>
                  <a:srgbClr val="888888"/>
                </a:solidFill>
                <a:latin typeface="Calibri"/>
              </a:rPr>
              <a:t>Upside +10,1 % vs cours</a:t>
            </a:r>
          </a:p>
        </p:txBody>
      </p:sp>
      <p:sp>
        <p:nvSpPr>
          <p:cNvPr id="60" name="Rectangle 59"/>
          <p:cNvSpPr/>
          <p:nvPr/>
        </p:nvSpPr>
        <p:spPr>
          <a:xfrm>
            <a:off x="6728400" y="4082400"/>
            <a:ext cx="2030400" cy="705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6728400" y="4082400"/>
            <a:ext cx="46800" cy="705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818400" y="4136400"/>
            <a:ext cx="1893600" cy="396000"/>
          </a:xfrm>
          <a:prstGeom prst="rect">
            <a:avLst/>
          </a:prstGeom>
          <a:noFill/>
        </p:spPr>
        <p:txBody>
          <a:bodyPr wrap="square">
            <a:spAutoFit/>
          </a:bodyPr>
          <a:lstStyle/>
          <a:p>
            <a:pPr algn="l"/>
            <a:r>
              <a:rPr sz="1900" b="1" i="0">
                <a:solidFill>
                  <a:srgbClr val="1B3A6B"/>
                </a:solidFill>
                <a:latin typeface="Calibri"/>
              </a:rPr>
              <a:t>+0,274</a:t>
            </a:r>
          </a:p>
        </p:txBody>
      </p:sp>
      <p:sp>
        <p:nvSpPr>
          <p:cNvPr id="63" name="TextBox 62"/>
          <p:cNvSpPr txBox="1"/>
          <p:nvPr/>
        </p:nvSpPr>
        <p:spPr>
          <a:xfrm>
            <a:off x="6818400" y="45324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64" name="TextBox 63"/>
          <p:cNvSpPr txBox="1"/>
          <p:nvPr/>
        </p:nvSpPr>
        <p:spPr>
          <a:xfrm>
            <a:off x="6818400" y="4730400"/>
            <a:ext cx="1893600" cy="165600"/>
          </a:xfrm>
          <a:prstGeom prst="rect">
            <a:avLst/>
          </a:prstGeom>
          <a:noFill/>
        </p:spPr>
        <p:txBody>
          <a:bodyPr wrap="square">
            <a:spAutoFit/>
          </a:bodyPr>
          <a:lstStyle/>
          <a:p>
            <a:pPr algn="l"/>
            <a:r>
              <a:rPr sz="700" b="0" i="0">
                <a:solidFill>
                  <a:srgbClr val="888888"/>
                </a:solidFill>
                <a:latin typeface="Calibri"/>
              </a:rPr>
              <a:t>Positif  ·  30 art.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Apple Inc.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4–6</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7–10</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11–14</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Dépendance iPhone  ·  Régulation</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15–16</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historique &amp; conviction</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17–21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Apple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Apple conçoit et commercialise des produits technologiques premium (iPhone, Mac, iPad, services) avec un positionnement axé sur l’écosystème fermé et l’innovation différenciante. Le groupe domine les segments haut de gamme avec une fidélisation client élevée et une marge brute de 46,9 %. Ses avantages concurrentiels incluent la propriété intellectuelle, la logistique intégrée et une base de services récurrents en croissance.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Produits</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Ventes de matériel (iPhone, Mac, iPad, wearables) représentant ~80 % du CA, avec un mix dynamique vers les services à haute marge. Les iPhones génèrent ~50 % du CA total, tandis que les wearables (Apple Watch, AirPods) affichent une croissance de +10 % YoY. Les clients cibles sont les consommateurs premium et les entreprises via des partenariats B2B.</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Services</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Écosystème de services (App Store, Apple Music, iCloud, Apple Pay) avec une marge brute &gt;70 % et un CA de 85 Mds$ en 2025 (+12 % YoY). Les abonnements dépassent 1 milliard d’utilisateurs, générant des revenus récurrents stables. La croissance est tirée par les marchés émergents et l’expansion des services financiers (Apple Card).</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3 800,9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416,2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258,90 $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26,7x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33,9x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80%</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Produits</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Ventes de matériel (iPhone, Mac, iPad, wearables) représentant ~80 % du CA, avec un mix dynamique vers les services à haute marge. Les iPhones génèrent ~50 % du CA total, tandis que les wearables (Apple Watch, AirPods) affichent une croissance de +10 % YoY. Les clients cibles sont les consommateurs premium et les entreprises via des partenariats B2B.</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20%</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Services</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Écosystème de services (App Store, Apple Music, iCloud, Apple Pay) avec une marge brute &gt;70 % et un CA de 85 Mds$ en 2025 (+12 % YoY). Les abonnements dépassent 1 milliard d’utilisateurs, générant des revenus récurrents stables. La croissance est tirée par les marchés émergents et l’expansion des services financiers (Apple Card).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2021–2027F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383,3</a:t>
                      </a:r>
                    </a:p>
                  </a:txBody>
                  <a:tcPr>
                    <a:solidFill>
                      <a:srgbClr val="FFFFFF"/>
                    </a:solidFill>
                  </a:tcPr>
                </a:tc>
                <a:tc>
                  <a:txBody>
                    <a:bodyPr/>
                    <a:lstStyle/>
                    <a:p>
                      <a:pPr algn="ctr"/>
                      <a:r>
                        <a:rPr sz="800" b="1" i="0">
                          <a:solidFill>
                            <a:srgbClr val="0D0D0D"/>
                          </a:solidFill>
                          <a:latin typeface="Calibri"/>
                        </a:rPr>
                        <a:t>391,0</a:t>
                      </a:r>
                    </a:p>
                  </a:txBody>
                  <a:tcPr>
                    <a:solidFill>
                      <a:srgbClr val="FFFFFF"/>
                    </a:solidFill>
                  </a:tcPr>
                </a:tc>
                <a:tc>
                  <a:txBody>
                    <a:bodyPr/>
                    <a:lstStyle/>
                    <a:p>
                      <a:pPr algn="ctr"/>
                      <a:r>
                        <a:rPr sz="800" b="1" i="0">
                          <a:solidFill>
                            <a:srgbClr val="1B3A6B"/>
                          </a:solidFill>
                          <a:latin typeface="Calibri"/>
                        </a:rPr>
                        <a:t>416,2</a:t>
                      </a:r>
                    </a:p>
                  </a:txBody>
                  <a:tcPr>
                    <a:solidFill>
                      <a:srgbClr val="DDE8F5"/>
                    </a:solidFill>
                  </a:tcPr>
                </a:tc>
                <a:tc>
                  <a:txBody>
                    <a:bodyPr/>
                    <a:lstStyle/>
                    <a:p>
                      <a:pPr algn="ctr"/>
                      <a:r>
                        <a:rPr sz="800" b="1" i="0">
                          <a:solidFill>
                            <a:srgbClr val="0D0D0D"/>
                          </a:solidFill>
                          <a:latin typeface="Calibri"/>
                        </a:rPr>
                        <a:t>445,0</a:t>
                      </a:r>
                    </a:p>
                  </a:txBody>
                  <a:tcPr>
                    <a:solidFill>
                      <a:srgbClr val="FFFFFF"/>
                    </a:solidFill>
                  </a:tcPr>
                </a:tc>
                <a:tc>
                  <a:txBody>
                    <a:bodyPr/>
                    <a:lstStyle/>
                    <a:p>
                      <a:pPr algn="ctr"/>
                      <a:r>
                        <a:rPr sz="800" b="1" i="0">
                          <a:solidFill>
                            <a:srgbClr val="0D0D0D"/>
                          </a:solidFill>
                          <a:latin typeface="Calibri"/>
                        </a:rPr>
                        <a:t>475,0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-2,8 %</a:t>
                      </a:r>
                    </a:p>
                  </a:txBody>
                  <a:tcPr>
                    <a:solidFill>
                      <a:srgbClr val="F7F8FA"/>
                    </a:solidFill>
                  </a:tcPr>
                </a:tc>
                <a:tc>
                  <a:txBody>
                    <a:bodyPr/>
                    <a:lstStyle/>
                    <a:p>
                      <a:pPr algn="ctr"/>
                      <a:r>
                        <a:rPr sz="750" b="0" i="1">
                          <a:solidFill>
                            <a:srgbClr val="555555"/>
                          </a:solidFill>
                          <a:latin typeface="Calibri"/>
                        </a:rPr>
                        <a:t>+2,0 %</a:t>
                      </a:r>
                    </a:p>
                  </a:txBody>
                  <a:tcPr>
                    <a:solidFill>
                      <a:srgbClr val="F7F8FA"/>
                    </a:solidFill>
                  </a:tcPr>
                </a:tc>
                <a:tc>
                  <a:txBody>
                    <a:bodyPr/>
                    <a:lstStyle/>
                    <a:p>
                      <a:pPr algn="ctr"/>
                      <a:r>
                        <a:rPr sz="750" b="0" i="1">
                          <a:solidFill>
                            <a:srgbClr val="555555"/>
                          </a:solidFill>
                          <a:latin typeface="Calibri"/>
                        </a:rPr>
                        <a:t>+6,4 %</a:t>
                      </a:r>
                    </a:p>
                  </a:txBody>
                  <a:tcPr>
                    <a:solidFill>
                      <a:srgbClr val="DDE8F5"/>
                    </a:solidFill>
                  </a:tcPr>
                </a:tc>
                <a:tc>
                  <a:txBody>
                    <a:bodyPr/>
                    <a:lstStyle/>
                    <a:p>
                      <a:pPr algn="ctr"/>
                      <a:r>
                        <a:rPr sz="750" b="0" i="1">
                          <a:solidFill>
                            <a:srgbClr val="555555"/>
                          </a:solidFill>
                          <a:latin typeface="Calibri"/>
                        </a:rPr>
                        <a:t>+7,0 %</a:t>
                      </a:r>
                    </a:p>
                  </a:txBody>
                  <a:tcPr>
                    <a:solidFill>
                      <a:srgbClr val="F7F8FA"/>
                    </a:solidFill>
                  </a:tcPr>
                </a:tc>
                <a:tc>
                  <a:txBody>
                    <a:bodyPr/>
                    <a:lstStyle/>
                    <a:p>
                      <a:pPr algn="ctr"/>
                      <a:r>
                        <a:rPr sz="750" b="0" i="1">
                          <a:solidFill>
                            <a:srgbClr val="555555"/>
                          </a:solidFill>
                          <a:latin typeface="Calibri"/>
                        </a:rPr>
                        <a:t>+6,7 %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169,1</a:t>
                      </a:r>
                    </a:p>
                  </a:txBody>
                  <a:tcPr>
                    <a:solidFill>
                      <a:srgbClr val="FFFFFF"/>
                    </a:solidFill>
                  </a:tcPr>
                </a:tc>
                <a:tc>
                  <a:txBody>
                    <a:bodyPr/>
                    <a:lstStyle/>
                    <a:p>
                      <a:pPr algn="ctr"/>
                      <a:r>
                        <a:rPr sz="800" b="1" i="0">
                          <a:solidFill>
                            <a:srgbClr val="0D0D0D"/>
                          </a:solidFill>
                          <a:latin typeface="Calibri"/>
                        </a:rPr>
                        <a:t>180,7</a:t>
                      </a:r>
                    </a:p>
                  </a:txBody>
                  <a:tcPr>
                    <a:solidFill>
                      <a:srgbClr val="FFFFFF"/>
                    </a:solidFill>
                  </a:tcPr>
                </a:tc>
                <a:tc>
                  <a:txBody>
                    <a:bodyPr/>
                    <a:lstStyle/>
                    <a:p>
                      <a:pPr algn="ctr"/>
                      <a:r>
                        <a:rPr sz="800" b="1" i="0">
                          <a:solidFill>
                            <a:srgbClr val="1B3A6B"/>
                          </a:solidFill>
                          <a:latin typeface="Calibri"/>
                        </a:rPr>
                        <a:t>195,2</a:t>
                      </a:r>
                    </a:p>
                  </a:txBody>
                  <a:tcPr>
                    <a:solidFill>
                      <a:srgbClr val="DDE8F5"/>
                    </a:solidFill>
                  </a:tcPr>
                </a:tc>
                <a:tc>
                  <a:txBody>
                    <a:bodyPr/>
                    <a:lstStyle/>
                    <a:p>
                      <a:pPr algn="ctr"/>
                      <a:r>
                        <a:rPr sz="800" b="1" i="0">
                          <a:solidFill>
                            <a:srgbClr val="0D0D0D"/>
                          </a:solidFill>
                          <a:latin typeface="Calibri"/>
                        </a:rPr>
                        <a:t>210,0</a:t>
                      </a:r>
                    </a:p>
                  </a:txBody>
                  <a:tcPr>
                    <a:solidFill>
                      <a:srgbClr val="FFFFFF"/>
                    </a:solidFill>
                  </a:tcPr>
                </a:tc>
                <a:tc>
                  <a:txBody>
                    <a:bodyPr/>
                    <a:lstStyle/>
                    <a:p>
                      <a:pPr algn="ctr"/>
                      <a:r>
                        <a:rPr sz="800" b="1" i="0">
                          <a:solidFill>
                            <a:srgbClr val="0D0D0D"/>
                          </a:solidFill>
                          <a:latin typeface="Calibri"/>
                        </a:rPr>
                        <a:t>222,3</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44,1 %</a:t>
                      </a:r>
                    </a:p>
                  </a:txBody>
                  <a:tcPr>
                    <a:solidFill>
                      <a:srgbClr val="F7F8FA"/>
                    </a:solidFill>
                  </a:tcPr>
                </a:tc>
                <a:tc>
                  <a:txBody>
                    <a:bodyPr/>
                    <a:lstStyle/>
                    <a:p>
                      <a:pPr algn="ctr"/>
                      <a:r>
                        <a:rPr sz="750" b="0" i="1">
                          <a:solidFill>
                            <a:srgbClr val="555555"/>
                          </a:solidFill>
                          <a:latin typeface="Calibri"/>
                        </a:rPr>
                        <a:t>46,2 %</a:t>
                      </a:r>
                    </a:p>
                  </a:txBody>
                  <a:tcPr>
                    <a:solidFill>
                      <a:srgbClr val="F7F8FA"/>
                    </a:solidFill>
                  </a:tcPr>
                </a:tc>
                <a:tc>
                  <a:txBody>
                    <a:bodyPr/>
                    <a:lstStyle/>
                    <a:p>
                      <a:pPr algn="ctr"/>
                      <a:r>
                        <a:rPr sz="750" b="0" i="1">
                          <a:solidFill>
                            <a:srgbClr val="555555"/>
                          </a:solidFill>
                          <a:latin typeface="Calibri"/>
                        </a:rPr>
                        <a:t>46,9 %</a:t>
                      </a:r>
                    </a:p>
                  </a:txBody>
                  <a:tcPr>
                    <a:solidFill>
                      <a:srgbClr val="DDE8F5"/>
                    </a:solidFill>
                  </a:tcPr>
                </a:tc>
                <a:tc>
                  <a:txBody>
                    <a:bodyPr/>
                    <a:lstStyle/>
                    <a:p>
                      <a:pPr algn="ctr"/>
                      <a:r>
                        <a:rPr sz="750" b="0" i="1">
                          <a:solidFill>
                            <a:srgbClr val="555555"/>
                          </a:solidFill>
                          <a:latin typeface="Calibri"/>
                        </a:rPr>
                        <a:t>47,2 %</a:t>
                      </a:r>
                    </a:p>
                  </a:txBody>
                  <a:tcPr>
                    <a:solidFill>
                      <a:srgbClr val="F7F8FA"/>
                    </a:solidFill>
                  </a:tcPr>
                </a:tc>
                <a:tc>
                  <a:txBody>
                    <a:bodyPr/>
                    <a:lstStyle/>
                    <a:p>
                      <a:pPr algn="ctr"/>
                      <a:r>
                        <a:rPr sz="750" b="0" i="1">
                          <a:solidFill>
                            <a:srgbClr val="555555"/>
                          </a:solidFill>
                          <a:latin typeface="Calibri"/>
                        </a:rPr>
                        <a:t>46,8 %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125,8</a:t>
                      </a:r>
                    </a:p>
                  </a:txBody>
                  <a:tcPr>
                    <a:solidFill>
                      <a:srgbClr val="FFFFFF"/>
                    </a:solidFill>
                  </a:tcPr>
                </a:tc>
                <a:tc>
                  <a:txBody>
                    <a:bodyPr/>
                    <a:lstStyle/>
                    <a:p>
                      <a:pPr algn="ctr"/>
                      <a:r>
                        <a:rPr sz="800" b="1" i="0">
                          <a:solidFill>
                            <a:srgbClr val="0D0D0D"/>
                          </a:solidFill>
                          <a:latin typeface="Calibri"/>
                        </a:rPr>
                        <a:t>134,7</a:t>
                      </a:r>
                    </a:p>
                  </a:txBody>
                  <a:tcPr>
                    <a:solidFill>
                      <a:srgbClr val="FFFFFF"/>
                    </a:solidFill>
                  </a:tcPr>
                </a:tc>
                <a:tc>
                  <a:txBody>
                    <a:bodyPr/>
                    <a:lstStyle/>
                    <a:p>
                      <a:pPr algn="ctr"/>
                      <a:r>
                        <a:rPr sz="800" b="1" i="0">
                          <a:solidFill>
                            <a:srgbClr val="1B3A6B"/>
                          </a:solidFill>
                          <a:latin typeface="Calibri"/>
                        </a:rPr>
                        <a:t>144,7</a:t>
                      </a:r>
                    </a:p>
                  </a:txBody>
                  <a:tcPr>
                    <a:solidFill>
                      <a:srgbClr val="DDE8F5"/>
                    </a:solidFill>
                  </a:tcPr>
                </a:tc>
                <a:tc>
                  <a:txBody>
                    <a:bodyPr/>
                    <a:lstStyle/>
                    <a:p>
                      <a:pPr algn="ctr"/>
                      <a:r>
                        <a:rPr sz="800" b="1" i="0">
                          <a:solidFill>
                            <a:srgbClr val="0D0D0D"/>
                          </a:solidFill>
                          <a:latin typeface="Calibri"/>
                        </a:rPr>
                        <a:t>158,0</a:t>
                      </a:r>
                    </a:p>
                  </a:txBody>
                  <a:tcPr>
                    <a:solidFill>
                      <a:srgbClr val="FFFFFF"/>
                    </a:solidFill>
                  </a:tcPr>
                </a:tc>
                <a:tc>
                  <a:txBody>
                    <a:bodyPr/>
                    <a:lstStyle/>
                    <a:p>
                      <a:pPr algn="ctr"/>
                      <a:r>
                        <a:rPr sz="800" b="1" i="0">
                          <a:solidFill>
                            <a:srgbClr val="0D0D0D"/>
                          </a:solidFill>
                          <a:latin typeface="Calibri"/>
                        </a:rPr>
                        <a:t>165,0</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32,8 %</a:t>
                      </a:r>
                    </a:p>
                  </a:txBody>
                  <a:tcPr>
                    <a:solidFill>
                      <a:srgbClr val="F7F8FA"/>
                    </a:solidFill>
                  </a:tcPr>
                </a:tc>
                <a:tc>
                  <a:txBody>
                    <a:bodyPr/>
                    <a:lstStyle/>
                    <a:p>
                      <a:pPr algn="ctr"/>
                      <a:r>
                        <a:rPr sz="750" b="0" i="1">
                          <a:solidFill>
                            <a:srgbClr val="555555"/>
                          </a:solidFill>
                          <a:latin typeface="Calibri"/>
                        </a:rPr>
                        <a:t>34,4 %</a:t>
                      </a:r>
                    </a:p>
                  </a:txBody>
                  <a:tcPr>
                    <a:solidFill>
                      <a:srgbClr val="F7F8FA"/>
                    </a:solidFill>
                  </a:tcPr>
                </a:tc>
                <a:tc>
                  <a:txBody>
                    <a:bodyPr/>
                    <a:lstStyle/>
                    <a:p>
                      <a:pPr algn="ctr"/>
                      <a:r>
                        <a:rPr sz="750" b="0" i="1">
                          <a:solidFill>
                            <a:srgbClr val="555555"/>
                          </a:solidFill>
                          <a:latin typeface="Calibri"/>
                        </a:rPr>
                        <a:t>34,8 %</a:t>
                      </a:r>
                    </a:p>
                  </a:txBody>
                  <a:tcPr>
                    <a:solidFill>
                      <a:srgbClr val="DDE8F5"/>
                    </a:solidFill>
                  </a:tcPr>
                </a:tc>
                <a:tc>
                  <a:txBody>
                    <a:bodyPr/>
                    <a:lstStyle/>
                    <a:p>
                      <a:pPr algn="ctr"/>
                      <a:r>
                        <a:rPr sz="750" b="0" i="1">
                          <a:solidFill>
                            <a:srgbClr val="555555"/>
                          </a:solidFill>
                          <a:latin typeface="Calibri"/>
                        </a:rPr>
                        <a:t>35,5 %</a:t>
                      </a:r>
                    </a:p>
                  </a:txBody>
                  <a:tcPr>
                    <a:solidFill>
                      <a:srgbClr val="F7F8FA"/>
                    </a:solidFill>
                  </a:tcPr>
                </a:tc>
                <a:tc>
                  <a:txBody>
                    <a:bodyPr/>
                    <a:lstStyle/>
                    <a:p>
                      <a:pPr algn="ctr"/>
                      <a:r>
                        <a:rPr sz="750" b="0" i="1">
                          <a:solidFill>
                            <a:srgbClr val="555555"/>
                          </a:solidFill>
                          <a:latin typeface="Calibri"/>
                        </a:rPr>
                        <a:t>34,7 %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97,0</a:t>
                      </a:r>
                    </a:p>
                  </a:txBody>
                  <a:tcPr>
                    <a:solidFill>
                      <a:srgbClr val="FFFFFF"/>
                    </a:solidFill>
                  </a:tcPr>
                </a:tc>
                <a:tc>
                  <a:txBody>
                    <a:bodyPr/>
                    <a:lstStyle/>
                    <a:p>
                      <a:pPr algn="ctr"/>
                      <a:r>
                        <a:rPr sz="800" b="1" i="0">
                          <a:solidFill>
                            <a:srgbClr val="0D0D0D"/>
                          </a:solidFill>
                          <a:latin typeface="Calibri"/>
                        </a:rPr>
                        <a:t>93,7</a:t>
                      </a:r>
                    </a:p>
                  </a:txBody>
                  <a:tcPr>
                    <a:solidFill>
                      <a:srgbClr val="FFFFFF"/>
                    </a:solidFill>
                  </a:tcPr>
                </a:tc>
                <a:tc>
                  <a:txBody>
                    <a:bodyPr/>
                    <a:lstStyle/>
                    <a:p>
                      <a:pPr algn="ctr"/>
                      <a:r>
                        <a:rPr sz="800" b="1" i="0">
                          <a:solidFill>
                            <a:srgbClr val="1B3A6B"/>
                          </a:solidFill>
                          <a:latin typeface="Calibri"/>
                        </a:rPr>
                        <a:t>112,0</a:t>
                      </a:r>
                    </a:p>
                  </a:txBody>
                  <a:tcPr>
                    <a:solidFill>
                      <a:srgbClr val="DDE8F5"/>
                    </a:solidFill>
                  </a:tcPr>
                </a:tc>
                <a:tc>
                  <a:txBody>
                    <a:bodyPr/>
                    <a:lstStyle/>
                    <a:p>
                      <a:pPr algn="ctr"/>
                      <a:r>
                        <a:rPr sz="800" b="1" i="0">
                          <a:solidFill>
                            <a:srgbClr val="0D0D0D"/>
                          </a:solidFill>
                          <a:latin typeface="Calibri"/>
                        </a:rPr>
                        <a:t>118,0</a:t>
                      </a:r>
                    </a:p>
                  </a:txBody>
                  <a:tcPr>
                    <a:solidFill>
                      <a:srgbClr val="FFFFFF"/>
                    </a:solidFill>
                  </a:tcPr>
                </a:tc>
                <a:tc>
                  <a:txBody>
                    <a:bodyPr/>
                    <a:lstStyle/>
                    <a:p>
                      <a:pPr algn="ctr"/>
                      <a:r>
                        <a:rPr sz="800" b="1" i="0">
                          <a:solidFill>
                            <a:srgbClr val="0D0D0D"/>
                          </a:solidFill>
                          <a:latin typeface="Calibri"/>
                        </a:rPr>
                        <a:t>122,0</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25,3 %</a:t>
                      </a:r>
                    </a:p>
                  </a:txBody>
                  <a:tcPr>
                    <a:solidFill>
                      <a:srgbClr val="F7F8FA"/>
                    </a:solidFill>
                  </a:tcPr>
                </a:tc>
                <a:tc>
                  <a:txBody>
                    <a:bodyPr/>
                    <a:lstStyle/>
                    <a:p>
                      <a:pPr algn="ctr"/>
                      <a:r>
                        <a:rPr sz="750" b="0" i="1">
                          <a:solidFill>
                            <a:srgbClr val="555555"/>
                          </a:solidFill>
                          <a:latin typeface="Calibri"/>
                        </a:rPr>
                        <a:t>24,0 %</a:t>
                      </a:r>
                    </a:p>
                  </a:txBody>
                  <a:tcPr>
                    <a:solidFill>
                      <a:srgbClr val="F7F8FA"/>
                    </a:solidFill>
                  </a:tcPr>
                </a:tc>
                <a:tc>
                  <a:txBody>
                    <a:bodyPr/>
                    <a:lstStyle/>
                    <a:p>
                      <a:pPr algn="ctr"/>
                      <a:r>
                        <a:rPr sz="750" b="0" i="1">
                          <a:solidFill>
                            <a:srgbClr val="555555"/>
                          </a:solidFill>
                          <a:latin typeface="Calibri"/>
                        </a:rPr>
                        <a:t>26,9 %</a:t>
                      </a:r>
                    </a:p>
                  </a:txBody>
                  <a:tcPr>
                    <a:solidFill>
                      <a:srgbClr val="DDE8F5"/>
                    </a:solidFill>
                  </a:tcPr>
                </a:tc>
                <a:tc>
                  <a:txBody>
                    <a:bodyPr/>
                    <a:lstStyle/>
                    <a:p>
                      <a:pPr algn="ctr"/>
                      <a:r>
                        <a:rPr sz="750" b="0" i="1">
                          <a:solidFill>
                            <a:srgbClr val="555555"/>
                          </a:solidFill>
                          <a:latin typeface="Calibri"/>
                        </a:rPr>
                        <a:t>26,5 %</a:t>
                      </a:r>
                    </a:p>
                  </a:txBody>
                  <a:tcPr>
                    <a:solidFill>
                      <a:srgbClr val="F7F8FA"/>
                    </a:solidFill>
                  </a:tcPr>
                </a:tc>
                <a:tc>
                  <a:txBody>
                    <a:bodyPr/>
                    <a:lstStyle/>
                    <a:p>
                      <a:pPr algn="ctr"/>
                      <a:r>
                        <a:rPr sz="750" b="0" i="1">
                          <a:solidFill>
                            <a:srgbClr val="555555"/>
                          </a:solidFill>
                          <a:latin typeface="Calibri"/>
                        </a:rPr>
                        <a:t>25,7 %</a:t>
                      </a:r>
                    </a:p>
                  </a:txBody>
                  <a:tcPr>
                    <a:solidFill>
                      <a:srgbClr val="F7F8FA"/>
                    </a:solidFill>
                  </a:tcPr>
                </a:tc>
              </a:tr>
            </a:tbl>
          </a:graphicData>
        </a:graphic>
      </p:graphicFrame>
      <p:sp>
        <p:nvSpPr>
          <p:cNvPr id="18" name="Rectangle 17"/>
          <p:cNvSpPr/>
          <p:nvPr/>
        </p:nvSpPr>
        <p:spPr>
          <a:xfrm>
            <a:off x="367200" y="3218400"/>
            <a:ext cx="8413200" cy="12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218400"/>
            <a:ext cx="79200" cy="122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247200"/>
            <a:ext cx="8298000" cy="1188000"/>
          </a:xfrm>
          <a:prstGeom prst="rect">
            <a:avLst/>
          </a:prstGeom>
          <a:noFill/>
        </p:spPr>
        <p:txBody>
          <a:bodyPr wrap="square">
            <a:spAutoFit/>
          </a:bodyPr>
          <a:lstStyle/>
          <a:p>
            <a:pPr algn="l"/>
            <a:r>
              <a:rPr sz="850" b="0" i="0">
                <a:solidFill>
                  <a:srgbClr val="555555"/>
                </a:solidFill>
                <a:latin typeface="Calibri"/>
              </a:rPr>
              <a:t>Le CA 2025 atteint 416,2 Mds$ (+6,4 % YoY), porté par la reprise des ventes iPhone (+8 % YoY) et la croissance des services (+12 %). Les marges nettes à 26,9 % bénéficient d’un mix services à haute marge et d’économies d’échelle, avec un ND/EBITDA à 0,4x garantissant une capacité de rachat de 100 Mds$ en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35,9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78,3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62,7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0,65</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0,61</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1,3x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29,1x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0,4x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1,69</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-2,25</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Rectangle 30"/>
          <p:cNvSpPr/>
          <p:nvPr/>
        </p:nvSpPr>
        <p:spPr>
          <a:xfrm>
            <a:off x="367200" y="4068000"/>
            <a:ext cx="8413200" cy="46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7200" y="4068000"/>
            <a:ext cx="79200" cy="46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75200" y="4096800"/>
            <a:ext cx="8298000" cy="432000"/>
          </a:xfrm>
          <a:prstGeom prst="rect">
            <a:avLst/>
          </a:prstGeom>
          <a:noFill/>
        </p:spPr>
        <p:txBody>
          <a:bodyPr wrap="square">
            <a:spAutoFit/>
          </a:bodyPr>
          <a:lstStyle/>
          <a:p>
            <a:pPr algn="l"/>
            <a:r>
              <a:rPr sz="850" b="0" i="0">
                <a:solidFill>
                  <a:srgbClr val="555555"/>
                </a:solidFill>
                <a:latin typeface="Calibri"/>
              </a:rPr>
              <a:t>Le CA 2025 atteint 416,2 Mds$ (+6,4 % YoY), porté par la reprise des ventes iPhone (+8 % YoY) et la croissance des services (+12 %). Les marges nettes à 26,9 % bénéficient d’un mix services à haute marge et d’économies d’échelle, avec un ND/EBITDA à 0,4x garantissant une capacité de rachat de 100 Mds$ en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33,9x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26,7x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9,3x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151,9 %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84,4 %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Léger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1,69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Détresse</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Rectangle 17"/>
          <p:cNvSpPr/>
          <p:nvPr/>
        </p:nvSpPr>
        <p:spPr>
          <a:xfrm>
            <a:off x="367200" y="3628800"/>
            <a:ext cx="8413200" cy="8244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628800"/>
            <a:ext cx="792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657600"/>
            <a:ext cx="8298000" cy="788400"/>
          </a:xfrm>
          <a:prstGeom prst="rect">
            <a:avLst/>
          </a:prstGeom>
          <a:noFill/>
        </p:spPr>
        <p:txBody>
          <a:bodyPr wrap="square">
            <a:spAutoFit/>
          </a:bodyPr>
          <a:lstStyle/>
          <a:p>
            <a:pPr algn="l"/>
            <a:r>
              <a:rPr sz="850" b="0" i="0">
                <a:solidFill>
                  <a:srgbClr val="555555"/>
                </a:solidFill>
                <a:latin typeface="Calibri"/>
              </a:rPr>
              <a:t>Les marges brutes passent de 43,3 % en 2022 à 46,9 % en 2025 (+360 bps), grâce à un mix services (70 % de marge) et à la réduction des coûts de production sur les iPhones. La trajectoire est durable, mais un ralentissement de la demande premium ou une inflation des coûts logistiques pourrait comprimer les marges de 200 bps d’ici 2027.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285 $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258,90 $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240 $</a:t>
                      </a:r>
                    </a:p>
                  </a:txBody>
                  <a:tcPr>
                    <a:solidFill>
                      <a:srgbClr val="FAF0EF"/>
                    </a:solidFill>
                  </a:tcPr>
                </a:tc>
                <a:tc>
                  <a:txBody>
                    <a:bodyPr/>
                    <a:lstStyle/>
                    <a:p>
                      <a:pPr algn="ctr"/>
                      <a:r>
                        <a:rPr sz="2000" b="1" i="0">
                          <a:solidFill>
                            <a:srgbClr val="2E5FA3"/>
                          </a:solidFill>
                          <a:latin typeface="Calibri"/>
                        </a:rPr>
                        <a:t>285 $</a:t>
                      </a:r>
                    </a:p>
                  </a:txBody>
                  <a:tcPr>
                    <a:solidFill>
                      <a:srgbClr val="EEF3FA"/>
                    </a:solidFill>
                  </a:tcPr>
                </a:tc>
                <a:tc>
                  <a:txBody>
                    <a:bodyPr/>
                    <a:lstStyle/>
                    <a:p>
                      <a:pPr algn="ctr"/>
                      <a:r>
                        <a:rPr sz="2000" b="1" i="0">
                          <a:solidFill>
                            <a:srgbClr val="1A7A4A"/>
                          </a:solidFill>
                          <a:latin typeface="Calibri"/>
                        </a:rPr>
                        <a:t>320 $</a:t>
                      </a:r>
                    </a:p>
                  </a:txBody>
                  <a:tcPr>
                    <a:solidFill>
                      <a:srgbClr val="EAF4EF"/>
                    </a:solidFill>
                  </a:tcPr>
                </a:tc>
              </a:tr>
              <a:tr h="342900">
                <a:tc>
                  <a:txBody>
                    <a:bodyPr/>
                    <a:lstStyle/>
                    <a:p>
                      <a:pPr algn="ctr"/>
                      <a:r>
                        <a:rPr sz="1200" b="1" i="0">
                          <a:solidFill>
                            <a:srgbClr val="A82020"/>
                          </a:solidFill>
                          <a:latin typeface="Calibri"/>
                        </a:rPr>
                        <a:t>-7,3 %</a:t>
                      </a:r>
                    </a:p>
                  </a:txBody>
                  <a:tcPr>
                    <a:solidFill>
                      <a:srgbClr val="FAF0EF"/>
                    </a:solidFill>
                  </a:tcPr>
                </a:tc>
                <a:tc>
                  <a:txBody>
                    <a:bodyPr/>
                    <a:lstStyle/>
                    <a:p>
                      <a:pPr algn="ctr"/>
                      <a:r>
                        <a:rPr sz="1200" b="1" i="0">
                          <a:solidFill>
                            <a:srgbClr val="2E5FA3"/>
                          </a:solidFill>
                          <a:latin typeface="Calibri"/>
                        </a:rPr>
                        <a:t>+10,1 %</a:t>
                      </a:r>
                    </a:p>
                  </a:txBody>
                  <a:tcPr>
                    <a:solidFill>
                      <a:srgbClr val="EEF3FA"/>
                    </a:solidFill>
                  </a:tcPr>
                </a:tc>
                <a:tc>
                  <a:txBody>
                    <a:bodyPr/>
                    <a:lstStyle/>
                    <a:p>
                      <a:pPr algn="ctr"/>
                      <a:r>
                        <a:rPr sz="1200" b="1" i="0">
                          <a:solidFill>
                            <a:srgbClr val="1A7A4A"/>
                          </a:solidFill>
                          <a:latin typeface="Calibri"/>
                        </a:rPr>
                        <a:t>+23,6 %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4024800" cy="201600"/>
          </a:xfrm>
          <a:prstGeom prst="rect">
            <a:avLst/>
          </a:prstGeom>
          <a:noFill/>
        </p:spPr>
        <p:txBody>
          <a:bodyPr wrap="square">
            <a:spAutoFit/>
          </a:bodyPr>
          <a:lstStyle/>
          <a:p>
            <a:pPr algn="l"/>
            <a:r>
              <a:rPr sz="900" b="1" i="0">
                <a:solidFill>
                  <a:srgbClr val="1B3A6B"/>
                </a:solidFill>
                <a:latin typeface="Calibri"/>
              </a:rPr>
              <a:t>Monte Carlo GBM — 10 000 simulations</a:t>
            </a:r>
          </a:p>
        </p:txBody>
      </p:sp>
      <p:graphicFrame>
        <p:nvGraphicFramePr>
          <p:cNvPr id="19" name="Table 18"/>
          <p:cNvGraphicFramePr>
            <a:graphicFrameLocks noGrp="1"/>
          </p:cNvGraphicFramePr>
          <p:nvPr/>
        </p:nvGraphicFramePr>
        <p:xfrm>
          <a:off x="367200" y="2653200"/>
          <a:ext cx="4024800" cy="1116000"/>
        </p:xfrm>
        <a:graphic>
          <a:graphicData uri="http://schemas.openxmlformats.org/drawingml/2006/table">
            <a:tbl>
              <a:tblPr firstRow="1" bandRow="1">
                <a:tableStyleId>{5C22544A-7EE6-4342-B048-85BDC9FD1C3A}</a:tableStyleId>
              </a:tblPr>
              <a:tblGrid>
                <a:gridCol w="1690416"/>
                <a:gridCol w="1287936"/>
                <a:gridCol w="1046448"/>
              </a:tblGrid>
              <a:tr h="186000">
                <a:tc>
                  <a:txBody>
                    <a:bodyPr/>
                    <a:lstStyle/>
                    <a:p>
                      <a:pPr algn="l"/>
                      <a:r>
                        <a:rPr sz="800" b="1" i="0">
                          <a:solidFill>
                            <a:srgbClr val="FFFFFF"/>
                          </a:solidFill>
                          <a:latin typeface="Calibri"/>
                        </a:rPr>
                        <a:t>Scénario</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Cours prédit (12M)</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vs Cours</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Stress Down (P2)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Pessimiste (P10)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-18,4 %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 Médian (P50)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305 $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+17,8 %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Optimiste (P90)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Stress Up (P98)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546 $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+110,7 %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4482000" y="2394000"/>
            <a:ext cx="4298400" cy="201600"/>
          </a:xfrm>
          <a:prstGeom prst="rect">
            <a:avLst/>
          </a:prstGeom>
          <a:noFill/>
        </p:spPr>
        <p:txBody>
          <a:bodyPr wrap="square">
            <a:spAutoFit/>
          </a:bodyPr>
          <a:lstStyle/>
          <a:p>
            <a:pPr algn="l"/>
            <a:r>
              <a:rPr sz="900" b="1" i="0">
                <a:solidFill>
                  <a:srgbClr val="1B3A6B"/>
                </a:solidFill>
                <a:latin typeface="Calibri"/>
              </a:rPr>
              <a:t>Sensibilité WACC × TGR — Valeur ($)</a:t>
            </a:r>
          </a:p>
        </p:txBody>
      </p:sp>
      <p:graphicFrame>
        <p:nvGraphicFramePr>
          <p:cNvPr id="21" name="Table 20"/>
          <p:cNvGraphicFramePr>
            <a:graphicFrameLocks noGrp="1"/>
          </p:cNvGraphicFramePr>
          <p:nvPr/>
        </p:nvGraphicFramePr>
        <p:xfrm>
          <a:off x="4482000" y="2653200"/>
          <a:ext cx="4298400" cy="1116000"/>
        </p:xfrm>
        <a:graphic>
          <a:graphicData uri="http://schemas.openxmlformats.org/drawingml/2006/table">
            <a:tbl>
              <a:tblPr firstRow="1" bandRow="1">
                <a:tableStyleId>{5C22544A-7EE6-4342-B048-85BDC9FD1C3A}</a:tableStyleId>
              </a:tblPr>
              <a:tblGrid>
                <a:gridCol w="716400"/>
                <a:gridCol w="716400"/>
                <a:gridCol w="716400"/>
                <a:gridCol w="716400"/>
                <a:gridCol w="716400"/>
                <a:gridCol w="7164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285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2" name="Rectangle 21"/>
          <p:cNvSpPr/>
          <p:nvPr/>
        </p:nvSpPr>
        <p:spPr>
          <a:xfrm>
            <a:off x="367200" y="3916800"/>
            <a:ext cx="8413200" cy="5472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7200" y="3916800"/>
            <a:ext cx="79200" cy="5472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5200" y="3945600"/>
            <a:ext cx="8298000" cy="511200"/>
          </a:xfrm>
          <a:prstGeom prst="rect">
            <a:avLst/>
          </a:prstGeom>
          <a:noFill/>
        </p:spPr>
        <p:txBody>
          <a:bodyPr wrap="square">
            <a:spAutoFit/>
          </a:bodyPr>
          <a:lstStyle/>
          <a:p>
            <a:pPr algn="l"/>
            <a:r>
              <a:rPr sz="850" b="0" i="0">
                <a:solidFill>
                  <a:srgbClr val="555555"/>
                </a:solidFill>
                <a:latin typeface="Calibri"/>
              </a:rPr>
              <a:t>Avec un WACC de 10,3 % et une TGR de 3,0 %, le prix implicite DCF est de 275 USD, soit un upside de +6,9 % vs cours actuel. Cet écart suggère une sous-valorisation modérée, mais la prime de croissance déjà pricee limite l’upside structurel. Un déploiement réussi de l’IA générative en 2026 pourrait déclencher un re-rating.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Apple Inc.</a:t>
                      </a:r>
                    </a:p>
                  </a:txBody>
                  <a:tcPr>
                    <a:solidFill>
                      <a:srgbClr val="DDE8F5"/>
                    </a:solidFill>
                  </a:tcPr>
                </a:tc>
                <a:tc>
                  <a:txBody>
                    <a:bodyPr/>
                    <a:lstStyle/>
                    <a:p>
                      <a:pPr algn="ctr"/>
                      <a:r>
                        <a:rPr sz="750" b="1" i="0">
                          <a:solidFill>
                            <a:srgbClr val="2E5FA3"/>
                          </a:solidFill>
                          <a:latin typeface="Calibri"/>
                        </a:rPr>
                        <a:t>AAPL</a:t>
                      </a:r>
                    </a:p>
                  </a:txBody>
                  <a:tcPr>
                    <a:solidFill>
                      <a:srgbClr val="DDE8F5"/>
                    </a:solidFill>
                  </a:tcPr>
                </a:tc>
                <a:tc>
                  <a:txBody>
                    <a:bodyPr/>
                    <a:lstStyle/>
                    <a:p>
                      <a:pPr algn="ctr"/>
                      <a:r>
                        <a:rPr sz="800" b="1" i="0">
                          <a:solidFill>
                            <a:srgbClr val="1B3A6B"/>
                          </a:solidFill>
                          <a:latin typeface="Calibri"/>
                        </a:rPr>
                        <a:t>3 800,9</a:t>
                      </a:r>
                    </a:p>
                  </a:txBody>
                  <a:tcPr>
                    <a:solidFill>
                      <a:srgbClr val="DDE8F5"/>
                    </a:solidFill>
                  </a:tcPr>
                </a:tc>
                <a:tc>
                  <a:txBody>
                    <a:bodyPr/>
                    <a:lstStyle/>
                    <a:p>
                      <a:pPr algn="ctr"/>
                      <a:r>
                        <a:rPr sz="800" b="1" i="0">
                          <a:solidFill>
                            <a:srgbClr val="1B3A6B"/>
                          </a:solidFill>
                          <a:latin typeface="Calibri"/>
                        </a:rPr>
                        <a:t>26,7x</a:t>
                      </a:r>
                    </a:p>
                  </a:txBody>
                  <a:tcPr>
                    <a:solidFill>
                      <a:srgbClr val="DDE8F5"/>
                    </a:solidFill>
                  </a:tcPr>
                </a:tc>
                <a:tc>
                  <a:txBody>
                    <a:bodyPr/>
                    <a:lstStyle/>
                    <a:p>
                      <a:pPr algn="ctr"/>
                      <a:r>
                        <a:rPr sz="800" b="1" i="0">
                          <a:solidFill>
                            <a:srgbClr val="1B3A6B"/>
                          </a:solidFill>
                          <a:latin typeface="Calibri"/>
                        </a:rPr>
                        <a:t>9,3x</a:t>
                      </a:r>
                    </a:p>
                  </a:txBody>
                  <a:tcPr>
                    <a:solidFill>
                      <a:srgbClr val="DDE8F5"/>
                    </a:solidFill>
                  </a:tcPr>
                </a:tc>
                <a:tc>
                  <a:txBody>
                    <a:bodyPr/>
                    <a:lstStyle/>
                    <a:p>
                      <a:pPr algn="ctr"/>
                      <a:r>
                        <a:rPr sz="800" b="1" i="0">
                          <a:solidFill>
                            <a:srgbClr val="1B3A6B"/>
                          </a:solidFill>
                          <a:latin typeface="Calibri"/>
                        </a:rPr>
                        <a:t>33,9x</a:t>
                      </a:r>
                    </a:p>
                  </a:txBody>
                  <a:tcPr>
                    <a:solidFill>
                      <a:srgbClr val="DDE8F5"/>
                    </a:solidFill>
                  </a:tcPr>
                </a:tc>
                <a:tc>
                  <a:txBody>
                    <a:bodyPr/>
                    <a:lstStyle/>
                    <a:p>
                      <a:pPr algn="ctr"/>
                      <a:r>
                        <a:rPr sz="800" b="1" i="0">
                          <a:solidFill>
                            <a:srgbClr val="1B3A6B"/>
                          </a:solidFill>
                          <a:latin typeface="Calibri"/>
                        </a:rPr>
                        <a:t>46,9 %</a:t>
                      </a:r>
                    </a:p>
                  </a:txBody>
                  <a:tcPr>
                    <a:solidFill>
                      <a:srgbClr val="DDE8F5"/>
                    </a:solidFill>
                  </a:tcPr>
                </a:tc>
                <a:tc>
                  <a:txBody>
                    <a:bodyPr/>
                    <a:lstStyle/>
                    <a:p>
                      <a:pPr algn="ctr"/>
                      <a:r>
                        <a:rPr sz="800" b="1" i="0">
                          <a:solidFill>
                            <a:srgbClr val="1B3A6B"/>
                          </a:solidFill>
                          <a:latin typeface="Calibri"/>
                        </a:rPr>
                        <a:t>34,8 %</a:t>
                      </a:r>
                    </a:p>
                  </a:txBody>
                  <a:tcPr>
                    <a:solidFill>
                      <a:srgbClr val="DDE8F5"/>
                    </a:solidFill>
                  </a:tcPr>
                </a:tc>
              </a:tr>
              <a:tr h="251999">
                <a:tc>
                  <a:txBody>
                    <a:bodyPr/>
                    <a:lstStyle/>
                    <a:p>
                      <a:pPr algn="l"/>
                      <a:r>
                        <a:rPr sz="800" b="0" i="0">
                          <a:solidFill>
                            <a:srgbClr val="0D0D0D"/>
                          </a:solidFill>
                          <a:latin typeface="Calibri"/>
                        </a:rPr>
                        <a:t>Microsoft</a:t>
                      </a:r>
                    </a:p>
                  </a:txBody>
                  <a:tcPr>
                    <a:solidFill>
                      <a:srgbClr val="FFFFFF"/>
                    </a:solidFill>
                  </a:tcPr>
                </a:tc>
                <a:tc>
                  <a:txBody>
                    <a:bodyPr/>
                    <a:lstStyle/>
                    <a:p>
                      <a:pPr algn="ctr"/>
                      <a:r>
                        <a:rPr sz="750" b="0" i="0">
                          <a:solidFill>
                            <a:srgbClr val="555555"/>
                          </a:solidFill>
                          <a:latin typeface="Calibri"/>
                        </a:rPr>
                        <a:t>MSFT</a:t>
                      </a:r>
                    </a:p>
                  </a:txBody>
                  <a:tcPr>
                    <a:solidFill>
                      <a:srgbClr val="FFFFFF"/>
                    </a:solidFill>
                  </a:tcPr>
                </a:tc>
                <a:tc>
                  <a:txBody>
                    <a:bodyPr/>
                    <a:lstStyle/>
                    <a:p>
                      <a:pPr algn="ctr"/>
                      <a:r>
                        <a:rPr sz="800" b="0" i="0">
                          <a:solidFill>
                            <a:srgbClr val="0D0D0D"/>
                          </a:solidFill>
                          <a:latin typeface="Calibri"/>
                        </a:rPr>
                        <a:t>3 100,0</a:t>
                      </a:r>
                    </a:p>
                  </a:txBody>
                  <a:tcPr>
                    <a:solidFill>
                      <a:srgbClr val="FFFFFF"/>
                    </a:solidFill>
                  </a:tcPr>
                </a:tc>
                <a:tc>
                  <a:txBody>
                    <a:bodyPr/>
                    <a:lstStyle/>
                    <a:p>
                      <a:pPr algn="ctr"/>
                      <a:r>
                        <a:rPr sz="800" b="0" i="0">
                          <a:solidFill>
                            <a:srgbClr val="0D0D0D"/>
                          </a:solidFill>
                          <a:latin typeface="Calibri"/>
                        </a:rPr>
                        <a:t>22,5x</a:t>
                      </a:r>
                    </a:p>
                  </a:txBody>
                  <a:tcPr>
                    <a:solidFill>
                      <a:srgbClr val="FFFFFF"/>
                    </a:solidFill>
                  </a:tcPr>
                </a:tc>
                <a:tc>
                  <a:txBody>
                    <a:bodyPr/>
                    <a:lstStyle/>
                    <a:p>
                      <a:pPr algn="ctr"/>
                      <a:r>
                        <a:rPr sz="800" b="0" i="0">
                          <a:solidFill>
                            <a:srgbClr val="0D0D0D"/>
                          </a:solidFill>
                          <a:latin typeface="Calibri"/>
                        </a:rPr>
                        <a:t>12,8x</a:t>
                      </a:r>
                    </a:p>
                  </a:txBody>
                  <a:tcPr>
                    <a:solidFill>
                      <a:srgbClr val="FFFFFF"/>
                    </a:solidFill>
                  </a:tcPr>
                </a:tc>
                <a:tc>
                  <a:txBody>
                    <a:bodyPr/>
                    <a:lstStyle/>
                    <a:p>
                      <a:pPr algn="ctr"/>
                      <a:r>
                        <a:rPr sz="800" b="0" i="0">
                          <a:solidFill>
                            <a:srgbClr val="0D0D0D"/>
                          </a:solidFill>
                          <a:latin typeface="Calibri"/>
                        </a:rPr>
                        <a:t>38,2x</a:t>
                      </a:r>
                    </a:p>
                  </a:txBody>
                  <a:tcPr>
                    <a:solidFill>
                      <a:srgbClr val="FFFFFF"/>
                    </a:solidFill>
                  </a:tcPr>
                </a:tc>
                <a:tc>
                  <a:txBody>
                    <a:bodyPr/>
                    <a:lstStyle/>
                    <a:p>
                      <a:pPr algn="ctr"/>
                      <a:r>
                        <a:rPr sz="800" b="0" i="0">
                          <a:solidFill>
                            <a:srgbClr val="0D0D0D"/>
                          </a:solidFill>
                          <a:latin typeface="Calibri"/>
                        </a:rPr>
                        <a:t>68,0 %</a:t>
                      </a:r>
                    </a:p>
                  </a:txBody>
                  <a:tcPr>
                    <a:solidFill>
                      <a:srgbClr val="FFFFFF"/>
                    </a:solidFill>
                  </a:tcPr>
                </a:tc>
                <a:tc>
                  <a:txBody>
                    <a:bodyPr/>
                    <a:lstStyle/>
                    <a:p>
                      <a:pPr algn="ctr"/>
                      <a:r>
                        <a:rPr sz="800" b="0" i="0">
                          <a:solidFill>
                            <a:srgbClr val="0D0D0D"/>
                          </a:solidFill>
                          <a:latin typeface="Calibri"/>
                        </a:rPr>
                        <a:t>52,0 %</a:t>
                      </a:r>
                    </a:p>
                  </a:txBody>
                  <a:tcPr>
                    <a:solidFill>
                      <a:srgbClr val="FFFFFF"/>
                    </a:solidFill>
                  </a:tcPr>
                </a:tc>
              </a:tr>
              <a:tr h="251999">
                <a:tc>
                  <a:txBody>
                    <a:bodyPr/>
                    <a:lstStyle/>
                    <a:p>
                      <a:pPr algn="l"/>
                      <a:r>
                        <a:rPr sz="800" b="0" i="0">
                          <a:solidFill>
                            <a:srgbClr val="0D0D0D"/>
                          </a:solidFill>
                          <a:latin typeface="Calibri"/>
                        </a:rPr>
                        <a:t>Alphabet</a:t>
                      </a:r>
                    </a:p>
                  </a:txBody>
                  <a:tcPr>
                    <a:solidFill>
                      <a:srgbClr val="F7F8FA"/>
                    </a:solidFill>
                  </a:tcPr>
                </a:tc>
                <a:tc>
                  <a:txBody>
                    <a:bodyPr/>
                    <a:lstStyle/>
                    <a:p>
                      <a:pPr algn="ctr"/>
                      <a:r>
                        <a:rPr sz="750" b="0" i="0">
                          <a:solidFill>
                            <a:srgbClr val="555555"/>
                          </a:solidFill>
                          <a:latin typeface="Calibri"/>
                        </a:rPr>
                        <a:t>GOOGL</a:t>
                      </a:r>
                    </a:p>
                  </a:txBody>
                  <a:tcPr>
                    <a:solidFill>
                      <a:srgbClr val="F7F8FA"/>
                    </a:solidFill>
                  </a:tcPr>
                </a:tc>
                <a:tc>
                  <a:txBody>
                    <a:bodyPr/>
                    <a:lstStyle/>
                    <a:p>
                      <a:pPr algn="ctr"/>
                      <a:r>
                        <a:rPr sz="800" b="0" i="0">
                          <a:solidFill>
                            <a:srgbClr val="0D0D0D"/>
                          </a:solidFill>
                          <a:latin typeface="Calibri"/>
                        </a:rPr>
                        <a:t>2 000,0</a:t>
                      </a:r>
                    </a:p>
                  </a:txBody>
                  <a:tcPr>
                    <a:solidFill>
                      <a:srgbClr val="F7F8FA"/>
                    </a:solidFill>
                  </a:tcPr>
                </a:tc>
                <a:tc>
                  <a:txBody>
                    <a:bodyPr/>
                    <a:lstStyle/>
                    <a:p>
                      <a:pPr algn="ctr"/>
                      <a:r>
                        <a:rPr sz="800" b="0" i="0">
                          <a:solidFill>
                            <a:srgbClr val="0D0D0D"/>
                          </a:solidFill>
                          <a:latin typeface="Calibri"/>
                        </a:rPr>
                        <a:t>20,1x</a:t>
                      </a:r>
                    </a:p>
                  </a:txBody>
                  <a:tcPr>
                    <a:solidFill>
                      <a:srgbClr val="F7F8FA"/>
                    </a:solidFill>
                  </a:tcPr>
                </a:tc>
                <a:tc>
                  <a:txBody>
                    <a:bodyPr/>
                    <a:lstStyle/>
                    <a:p>
                      <a:pPr algn="ctr"/>
                      <a:r>
                        <a:rPr sz="800" b="0" i="0">
                          <a:solidFill>
                            <a:srgbClr val="0D0D0D"/>
                          </a:solidFill>
                          <a:latin typeface="Calibri"/>
                        </a:rPr>
                        <a:t>8,5x</a:t>
                      </a:r>
                    </a:p>
                  </a:txBody>
                  <a:tcPr>
                    <a:solidFill>
                      <a:srgbClr val="F7F8FA"/>
                    </a:solidFill>
                  </a:tcPr>
                </a:tc>
                <a:tc>
                  <a:txBody>
                    <a:bodyPr/>
                    <a:lstStyle/>
                    <a:p>
                      <a:pPr algn="ctr"/>
                      <a:r>
                        <a:rPr sz="800" b="0" i="0">
                          <a:solidFill>
                            <a:srgbClr val="0D0D0D"/>
                          </a:solidFill>
                          <a:latin typeface="Calibri"/>
                        </a:rPr>
                        <a:t>28,5x</a:t>
                      </a:r>
                    </a:p>
                  </a:txBody>
                  <a:tcPr>
                    <a:solidFill>
                      <a:srgbClr val="F7F8FA"/>
                    </a:solidFill>
                  </a:tcPr>
                </a:tc>
                <a:tc>
                  <a:txBody>
                    <a:bodyPr/>
                    <a:lstStyle/>
                    <a:p>
                      <a:pPr algn="ctr"/>
                      <a:r>
                        <a:rPr sz="800" b="0" i="0">
                          <a:solidFill>
                            <a:srgbClr val="0D0D0D"/>
                          </a:solidFill>
                          <a:latin typeface="Calibri"/>
                        </a:rPr>
                        <a:t>56,0 %</a:t>
                      </a:r>
                    </a:p>
                  </a:txBody>
                  <a:tcPr>
                    <a:solidFill>
                      <a:srgbClr val="F7F8FA"/>
                    </a:solidFill>
                  </a:tcPr>
                </a:tc>
                <a:tc>
                  <a:txBody>
                    <a:bodyPr/>
                    <a:lstStyle/>
                    <a:p>
                      <a:pPr algn="ctr"/>
                      <a:r>
                        <a:rPr sz="800" b="0" i="0">
                          <a:solidFill>
                            <a:srgbClr val="0D0D0D"/>
                          </a:solidFill>
                          <a:latin typeface="Calibri"/>
                        </a:rPr>
                        <a:t>38,0 %</a:t>
                      </a:r>
                    </a:p>
                  </a:txBody>
                  <a:tcPr>
                    <a:solidFill>
                      <a:srgbClr val="F7F8FA"/>
                    </a:solidFill>
                  </a:tcPr>
                </a:tc>
              </a:tr>
              <a:tr h="251999">
                <a:tc>
                  <a:txBody>
                    <a:bodyPr/>
                    <a:lstStyle/>
                    <a:p>
                      <a:pPr algn="l"/>
                      <a:r>
                        <a:rPr sz="800" b="0" i="0">
                          <a:solidFill>
                            <a:srgbClr val="0D0D0D"/>
                          </a:solidFill>
                          <a:latin typeface="Calibri"/>
                        </a:rPr>
                        <a:t>Samsung Electronics</a:t>
                      </a:r>
                    </a:p>
                  </a:txBody>
                  <a:tcPr>
                    <a:solidFill>
                      <a:srgbClr val="FFFFFF"/>
                    </a:solidFill>
                  </a:tcPr>
                </a:tc>
                <a:tc>
                  <a:txBody>
                    <a:bodyPr/>
                    <a:lstStyle/>
                    <a:p>
                      <a:pPr algn="ctr"/>
                      <a:r>
                        <a:rPr sz="750" b="0" i="0">
                          <a:solidFill>
                            <a:srgbClr val="555555"/>
                          </a:solidFill>
                          <a:latin typeface="Calibri"/>
                        </a:rPr>
                        <a:t>005930.KS</a:t>
                      </a:r>
                    </a:p>
                  </a:txBody>
                  <a:tcPr>
                    <a:solidFill>
                      <a:srgbClr val="FFFFFF"/>
                    </a:solidFill>
                  </a:tcPr>
                </a:tc>
                <a:tc>
                  <a:txBody>
                    <a:bodyPr/>
                    <a:lstStyle/>
                    <a:p>
                      <a:pPr algn="ctr"/>
                      <a:r>
                        <a:rPr sz="800" b="0" i="0">
                          <a:solidFill>
                            <a:srgbClr val="0D0D0D"/>
                          </a:solidFill>
                          <a:latin typeface="Calibri"/>
                        </a:rPr>
                        <a:t>450,0</a:t>
                      </a:r>
                    </a:p>
                  </a:txBody>
                  <a:tcPr>
                    <a:solidFill>
                      <a:srgbClr val="FFFFFF"/>
                    </a:solidFill>
                  </a:tcPr>
                </a:tc>
                <a:tc>
                  <a:txBody>
                    <a:bodyPr/>
                    <a:lstStyle/>
                    <a:p>
                      <a:pPr algn="ctr"/>
                      <a:r>
                        <a:rPr sz="800" b="0" i="0">
                          <a:solidFill>
                            <a:srgbClr val="0D0D0D"/>
                          </a:solidFill>
                          <a:latin typeface="Calibri"/>
                        </a:rPr>
                        <a:t>6,8x</a:t>
                      </a:r>
                    </a:p>
                  </a:txBody>
                  <a:tcPr>
                    <a:solidFill>
                      <a:srgbClr val="FFFFFF"/>
                    </a:solidFill>
                  </a:tcPr>
                </a:tc>
                <a:tc>
                  <a:txBody>
                    <a:bodyPr/>
                    <a:lstStyle/>
                    <a:p>
                      <a:pPr algn="ctr"/>
                      <a:r>
                        <a:rPr sz="800" b="0" i="0">
                          <a:solidFill>
                            <a:srgbClr val="0D0D0D"/>
                          </a:solidFill>
                          <a:latin typeface="Calibri"/>
                        </a:rPr>
                        <a:t>1,2x</a:t>
                      </a:r>
                    </a:p>
                  </a:txBody>
                  <a:tcPr>
                    <a:solidFill>
                      <a:srgbClr val="FFFFFF"/>
                    </a:solidFill>
                  </a:tcPr>
                </a:tc>
                <a:tc>
                  <a:txBody>
                    <a:bodyPr/>
                    <a:lstStyle/>
                    <a:p>
                      <a:pPr algn="ctr"/>
                      <a:r>
                        <a:rPr sz="800" b="0" i="0">
                          <a:solidFill>
                            <a:srgbClr val="0D0D0D"/>
                          </a:solidFill>
                          <a:latin typeface="Calibri"/>
                        </a:rPr>
                        <a:t>15,2x</a:t>
                      </a:r>
                    </a:p>
                  </a:txBody>
                  <a:tcPr>
                    <a:solidFill>
                      <a:srgbClr val="FFFFFF"/>
                    </a:solidFill>
                  </a:tcPr>
                </a:tc>
                <a:tc>
                  <a:txBody>
                    <a:bodyPr/>
                    <a:lstStyle/>
                    <a:p>
                      <a:pPr algn="ctr"/>
                      <a:r>
                        <a:rPr sz="800" b="0" i="0">
                          <a:solidFill>
                            <a:srgbClr val="0D0D0D"/>
                          </a:solidFill>
                          <a:latin typeface="Calibri"/>
                        </a:rPr>
                        <a:t>45,0 %</a:t>
                      </a:r>
                    </a:p>
                  </a:txBody>
                  <a:tcPr>
                    <a:solidFill>
                      <a:srgbClr val="FFFFFF"/>
                    </a:solidFill>
                  </a:tcPr>
                </a:tc>
                <a:tc>
                  <a:txBody>
                    <a:bodyPr/>
                    <a:lstStyle/>
                    <a:p>
                      <a:pPr algn="ctr"/>
                      <a:r>
                        <a:rPr sz="800" b="0" i="0">
                          <a:solidFill>
                            <a:srgbClr val="0D0D0D"/>
                          </a:solidFill>
                          <a:latin typeface="Calibri"/>
                        </a:rPr>
                        <a:t>22,0 %</a:t>
                      </a:r>
                    </a:p>
                  </a:txBody>
                  <a:tcPr>
                    <a:solidFill>
                      <a:srgbClr val="FFFFFF"/>
                    </a:solidFill>
                  </a:tcPr>
                </a:tc>
              </a:tr>
              <a:tr h="251999">
                <a:tc>
                  <a:txBody>
                    <a:bodyPr/>
                    <a:lstStyle/>
                    <a:p>
                      <a:pPr algn="l"/>
                      <a:r>
                        <a:rPr sz="800" b="0" i="0">
                          <a:solidFill>
                            <a:srgbClr val="0D0D0D"/>
                          </a:solidFill>
                          <a:latin typeface="Calibri"/>
                        </a:rPr>
                        <a:t>Meta Platforms</a:t>
                      </a:r>
                    </a:p>
                  </a:txBody>
                  <a:tcPr>
                    <a:solidFill>
                      <a:srgbClr val="F7F8FA"/>
                    </a:solidFill>
                  </a:tcPr>
                </a:tc>
                <a:tc>
                  <a:txBody>
                    <a:bodyPr/>
                    <a:lstStyle/>
                    <a:p>
                      <a:pPr algn="ctr"/>
                      <a:r>
                        <a:rPr sz="750" b="0" i="0">
                          <a:solidFill>
                            <a:srgbClr val="555555"/>
                          </a:solidFill>
                          <a:latin typeface="Calibri"/>
                        </a:rPr>
                        <a:t>META</a:t>
                      </a:r>
                    </a:p>
                  </a:txBody>
                  <a:tcPr>
                    <a:solidFill>
                      <a:srgbClr val="F7F8FA"/>
                    </a:solidFill>
                  </a:tcPr>
                </a:tc>
                <a:tc>
                  <a:txBody>
                    <a:bodyPr/>
                    <a:lstStyle/>
                    <a:p>
                      <a:pPr algn="ctr"/>
                      <a:r>
                        <a:rPr sz="800" b="0" i="0">
                          <a:solidFill>
                            <a:srgbClr val="0D0D0D"/>
                          </a:solidFill>
                          <a:latin typeface="Calibri"/>
                        </a:rPr>
                        <a:t>1 300,0</a:t>
                      </a:r>
                    </a:p>
                  </a:txBody>
                  <a:tcPr>
                    <a:solidFill>
                      <a:srgbClr val="F7F8FA"/>
                    </a:solidFill>
                  </a:tcPr>
                </a:tc>
                <a:tc>
                  <a:txBody>
                    <a:bodyPr/>
                    <a:lstStyle/>
                    <a:p>
                      <a:pPr algn="ctr"/>
                      <a:r>
                        <a:rPr sz="800" b="0" i="0">
                          <a:solidFill>
                            <a:srgbClr val="0D0D0D"/>
                          </a:solidFill>
                          <a:latin typeface="Calibri"/>
                        </a:rPr>
                        <a:t>18,9x</a:t>
                      </a:r>
                    </a:p>
                  </a:txBody>
                  <a:tcPr>
                    <a:solidFill>
                      <a:srgbClr val="F7F8FA"/>
                    </a:solidFill>
                  </a:tcPr>
                </a:tc>
                <a:tc>
                  <a:txBody>
                    <a:bodyPr/>
                    <a:lstStyle/>
                    <a:p>
                      <a:pPr algn="ctr"/>
                      <a:r>
                        <a:rPr sz="800" b="0" i="0">
                          <a:solidFill>
                            <a:srgbClr val="0D0D0D"/>
                          </a:solidFill>
                          <a:latin typeface="Calibri"/>
                        </a:rPr>
                        <a:t>10,5x</a:t>
                      </a:r>
                    </a:p>
                  </a:txBody>
                  <a:tcPr>
                    <a:solidFill>
                      <a:srgbClr val="F7F8FA"/>
                    </a:solidFill>
                  </a:tcPr>
                </a:tc>
                <a:tc>
                  <a:txBody>
                    <a:bodyPr/>
                    <a:lstStyle/>
                    <a:p>
                      <a:pPr algn="ctr"/>
                      <a:r>
                        <a:rPr sz="800" b="0" i="0">
                          <a:solidFill>
                            <a:srgbClr val="0D0D0D"/>
                          </a:solidFill>
                          <a:latin typeface="Calibri"/>
                        </a:rPr>
                        <a:t>32,1x</a:t>
                      </a:r>
                    </a:p>
                  </a:txBody>
                  <a:tcPr>
                    <a:solidFill>
                      <a:srgbClr val="F7F8FA"/>
                    </a:solidFill>
                  </a:tcPr>
                </a:tc>
                <a:tc>
                  <a:txBody>
                    <a:bodyPr/>
                    <a:lstStyle/>
                    <a:p>
                      <a:pPr algn="ctr"/>
                      <a:r>
                        <a:rPr sz="800" b="0" i="0">
                          <a:solidFill>
                            <a:srgbClr val="0D0D0D"/>
                          </a:solidFill>
                          <a:latin typeface="Calibri"/>
                        </a:rPr>
                        <a:t>85,0 %</a:t>
                      </a:r>
                    </a:p>
                  </a:txBody>
                  <a:tcPr>
                    <a:solidFill>
                      <a:srgbClr val="F7F8FA"/>
                    </a:solidFill>
                  </a:tcPr>
                </a:tc>
                <a:tc>
                  <a:txBody>
                    <a:bodyPr/>
                    <a:lstStyle/>
                    <a:p>
                      <a:pPr algn="ctr"/>
                      <a:r>
                        <a:rPr sz="800" b="0" i="0">
                          <a:solidFill>
                            <a:srgbClr val="0D0D0D"/>
                          </a:solidFill>
                          <a:latin typeface="Calibri"/>
                        </a:rPr>
                        <a:t>55,0 %</a:t>
                      </a:r>
                    </a:p>
                  </a:txBody>
                  <a:tcPr>
                    <a:solidFill>
                      <a:srgbClr val="F7F8FA"/>
                    </a:solidFill>
                  </a:tcPr>
                </a:tc>
              </a:tr>
              <a:tr h="251999">
                <a:tc>
                  <a:txBody>
                    <a:bodyPr/>
                    <a:lstStyle/>
                    <a:p>
                      <a:pPr algn="l"/>
                      <a:r>
                        <a:rPr sz="800" b="0" i="0">
                          <a:solidFill>
                            <a:srgbClr val="0D0D0D"/>
                          </a:solidFill>
                          <a:latin typeface="Calibri"/>
                        </a:rPr>
                        <a:t>TSMC</a:t>
                      </a:r>
                    </a:p>
                  </a:txBody>
                  <a:tcPr>
                    <a:solidFill>
                      <a:srgbClr val="FFFFFF"/>
                    </a:solidFill>
                  </a:tcPr>
                </a:tc>
                <a:tc>
                  <a:txBody>
                    <a:bodyPr/>
                    <a:lstStyle/>
                    <a:p>
                      <a:pPr algn="ctr"/>
                      <a:r>
                        <a:rPr sz="750" b="0" i="0">
                          <a:solidFill>
                            <a:srgbClr val="555555"/>
                          </a:solidFill>
                          <a:latin typeface="Calibri"/>
                        </a:rPr>
                        <a:t>TSM</a:t>
                      </a:r>
                    </a:p>
                  </a:txBody>
                  <a:tcPr>
                    <a:solidFill>
                      <a:srgbClr val="FFFFFF"/>
                    </a:solidFill>
                  </a:tcPr>
                </a:tc>
                <a:tc>
                  <a:txBody>
                    <a:bodyPr/>
                    <a:lstStyle/>
                    <a:p>
                      <a:pPr algn="ctr"/>
                      <a:r>
                        <a:rPr sz="800" b="0" i="0">
                          <a:solidFill>
                            <a:srgbClr val="0D0D0D"/>
                          </a:solidFill>
                          <a:latin typeface="Calibri"/>
                        </a:rPr>
                        <a:t>500,0</a:t>
                      </a:r>
                    </a:p>
                  </a:txBody>
                  <a:tcPr>
                    <a:solidFill>
                      <a:srgbClr val="FFFFFF"/>
                    </a:solidFill>
                  </a:tcPr>
                </a:tc>
                <a:tc>
                  <a:txBody>
                    <a:bodyPr/>
                    <a:lstStyle/>
                    <a:p>
                      <a:pPr algn="ctr"/>
                      <a:r>
                        <a:rPr sz="800" b="0" i="0">
                          <a:solidFill>
                            <a:srgbClr val="0D0D0D"/>
                          </a:solidFill>
                          <a:latin typeface="Calibri"/>
                        </a:rPr>
                        <a:t>15,2x</a:t>
                      </a:r>
                    </a:p>
                  </a:txBody>
                  <a:tcPr>
                    <a:solidFill>
                      <a:srgbClr val="FFFFFF"/>
                    </a:solidFill>
                  </a:tcPr>
                </a:tc>
                <a:tc>
                  <a:txBody>
                    <a:bodyPr/>
                    <a:lstStyle/>
                    <a:p>
                      <a:pPr algn="ctr"/>
                      <a:r>
                        <a:rPr sz="800" b="0" i="0">
                          <a:solidFill>
                            <a:srgbClr val="0D0D0D"/>
                          </a:solidFill>
                          <a:latin typeface="Calibri"/>
                        </a:rPr>
                        <a:t>10,1x</a:t>
                      </a:r>
                    </a:p>
                  </a:txBody>
                  <a:tcPr>
                    <a:solidFill>
                      <a:srgbClr val="FFFFFF"/>
                    </a:solidFill>
                  </a:tcPr>
                </a:tc>
                <a:tc>
                  <a:txBody>
                    <a:bodyPr/>
                    <a:lstStyle/>
                    <a:p>
                      <a:pPr algn="ctr"/>
                      <a:r>
                        <a:rPr sz="800" b="0" i="0">
                          <a:solidFill>
                            <a:srgbClr val="0D0D0D"/>
                          </a:solidFill>
                          <a:latin typeface="Calibri"/>
                        </a:rPr>
                        <a:t>22,3x</a:t>
                      </a:r>
                    </a:p>
                  </a:txBody>
                  <a:tcPr>
                    <a:solidFill>
                      <a:srgbClr val="FFFFFF"/>
                    </a:solidFill>
                  </a:tcPr>
                </a:tc>
                <a:tc>
                  <a:txBody>
                    <a:bodyPr/>
                    <a:lstStyle/>
                    <a:p>
                      <a:pPr algn="ctr"/>
                      <a:r>
                        <a:rPr sz="800" b="0" i="0">
                          <a:solidFill>
                            <a:srgbClr val="0D0D0D"/>
                          </a:solidFill>
                          <a:latin typeface="Calibri"/>
                        </a:rPr>
                        <a:t>52,0 %</a:t>
                      </a:r>
                    </a:p>
                  </a:txBody>
                  <a:tcPr>
                    <a:solidFill>
                      <a:srgbClr val="FFFFFF"/>
                    </a:solidFill>
                  </a:tcPr>
                </a:tc>
                <a:tc>
                  <a:txBody>
                    <a:bodyPr/>
                    <a:lstStyle/>
                    <a:p>
                      <a:pPr algn="ctr"/>
                      <a:r>
                        <a:rPr sz="800" b="0" i="0">
                          <a:solidFill>
                            <a:srgbClr val="0D0D0D"/>
                          </a:solidFill>
                          <a:latin typeface="Calibri"/>
                        </a:rPr>
                        <a:t>48,0 %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18,9x</a:t>
                      </a:r>
                    </a:p>
                  </a:txBody>
                  <a:tcPr>
                    <a:solidFill>
                      <a:srgbClr val="F7F8FA"/>
                    </a:solidFill>
                  </a:tcPr>
                </a:tc>
                <a:tc>
                  <a:txBody>
                    <a:bodyPr/>
                    <a:lstStyle/>
                    <a:p>
                      <a:pPr algn="ctr"/>
                      <a:r>
                        <a:rPr sz="800" b="1" i="0">
                          <a:solidFill>
                            <a:srgbClr val="0D0D0D"/>
                          </a:solidFill>
                          <a:latin typeface="Calibri"/>
                        </a:rPr>
                        <a:t>10,1x</a:t>
                      </a:r>
                    </a:p>
                  </a:txBody>
                  <a:tcPr>
                    <a:solidFill>
                      <a:srgbClr val="F7F8FA"/>
                    </a:solidFill>
                  </a:tcPr>
                </a:tc>
                <a:tc>
                  <a:txBody>
                    <a:bodyPr/>
                    <a:lstStyle/>
                    <a:p>
                      <a:pPr algn="ctr"/>
                      <a:r>
                        <a:rPr sz="800" b="1" i="0">
                          <a:solidFill>
                            <a:srgbClr val="0D0D0D"/>
                          </a:solidFill>
                          <a:latin typeface="Calibri"/>
                        </a:rPr>
                        <a:t>28,5x</a:t>
                      </a:r>
                    </a:p>
                  </a:txBody>
                  <a:tcPr>
                    <a:solidFill>
                      <a:srgbClr val="F7F8FA"/>
                    </a:solidFill>
                  </a:tcPr>
                </a:tc>
                <a:tc>
                  <a:txBody>
                    <a:bodyPr/>
                    <a:lstStyle/>
                    <a:p>
                      <a:pPr algn="ctr"/>
                      <a:r>
                        <a:rPr sz="800" b="1" i="0">
                          <a:solidFill>
                            <a:srgbClr val="0D0D0D"/>
                          </a:solidFill>
                          <a:latin typeface="Calibri"/>
                        </a:rPr>
                        <a:t>56,0 %</a:t>
                      </a:r>
                    </a:p>
                  </a:txBody>
                  <a:tcPr>
                    <a:solidFill>
                      <a:srgbClr val="F7F8FA"/>
                    </a:solidFill>
                  </a:tcPr>
                </a:tc>
                <a:tc>
                  <a:txBody>
                    <a:bodyPr/>
                    <a:lstStyle/>
                    <a:p>
                      <a:pPr algn="ctr"/>
                      <a:r>
                        <a:rPr sz="800" b="1" i="0">
                          <a:solidFill>
                            <a:srgbClr val="0D0D0D"/>
                          </a:solidFill>
                          <a:latin typeface="Calibri"/>
                        </a:rPr>
                        <a:t>48,0 %</a:t>
                      </a:r>
                    </a:p>
                  </a:txBody>
                  <a:tcPr>
                    <a:solidFill>
                      <a:srgbClr val="F7F8FA"/>
                    </a:solidFill>
                  </a:tcPr>
                </a:tc>
              </a:tr>
            </a:tbl>
          </a:graphicData>
        </a:graphic>
      </p:graphicFrame>
      <p:sp>
        <p:nvSpPr>
          <p:cNvPr id="18" name="Rectangle 17"/>
          <p:cNvSpPr/>
          <p:nvPr/>
        </p:nvSpPr>
        <p:spPr>
          <a:xfrm>
            <a:off x="367200" y="3128400"/>
            <a:ext cx="8413200" cy="12348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128400"/>
            <a:ext cx="79200" cy="123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157200"/>
            <a:ext cx="8298000" cy="1198800"/>
          </a:xfrm>
          <a:prstGeom prst="rect">
            <a:avLst/>
          </a:prstGeom>
          <a:noFill/>
        </p:spPr>
        <p:txBody>
          <a:bodyPr wrap="square">
            <a:spAutoFit/>
          </a:bodyPr>
          <a:lstStyle/>
          <a:p>
            <a:pPr algn="l"/>
            <a:r>
              <a:rPr sz="850" b="0" i="0">
                <a:solidFill>
                  <a:srgbClr val="555555"/>
                </a:solidFill>
                <a:latin typeface="Calibri"/>
              </a:rPr>
              <a:t>Apple se négocie à un premium de 20 % vs médiane peers (EV/EBITDA 26,7x vs 22,2x) et 30 % vs P/E (33,9x vs 26,1x). Cette prime est justifiée par une croissance des services supérieure (+12 % vs +8 % pour les peers) et un ROIC de 84,4 %. Une convergence vers la médiane peers impliquerait un downside de 15 %, mais le différentiel de croissance limite ce risque.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Rectangle 17"/>
          <p:cNvSpPr/>
          <p:nvPr/>
        </p:nvSpPr>
        <p:spPr>
          <a:xfrm>
            <a:off x="367200" y="3488400"/>
            <a:ext cx="8413200" cy="9144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488400"/>
            <a:ext cx="79200" cy="91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517200"/>
            <a:ext cx="8298000" cy="878400"/>
          </a:xfrm>
          <a:prstGeom prst="rect">
            <a:avLst/>
          </a:prstGeom>
          <a:noFill/>
        </p:spPr>
        <p:txBody>
          <a:bodyPr wrap="square">
            <a:spAutoFit/>
          </a:bodyPr>
          <a:lstStyle/>
          <a:p>
            <a:pPr algn="l"/>
            <a:r>
              <a:rPr sz="850" b="0" i="0">
                <a:solidFill>
                  <a:srgbClr val="555555"/>
                </a:solidFill>
                <a:latin typeface="Calibri"/>
              </a:rPr>
              <a:t>Avec un WACC de 10,3 % et une TGR de 3,0 %, le prix implicite DCF est de 275 USD, soit un upside de +6,9 % vs cours actuel. Cet écart suggère une sous-valorisation modérée, mais la prime de croissance déjà pricee limite l’upside structurel. Un déploiement réussi de l’IA générative en 2026 pourrait déclencher un re-rating.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Multiples de Valorisation Historiques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P/E &amp; EV/EBITDA sur 5 ans · Standards marché</a:t>
            </a:r>
          </a:p>
        </p:txBody>
      </p:sp>
      <p:pic>
        <p:nvPicPr>
          <p:cNvPr id="17" name="Picture 16" descr="image.png"/>
          <p:cNvPicPr>
            <a:picLocks noChangeAspect="1"/>
          </p:cNvPicPr>
          <p:nvPr/>
        </p:nvPicPr>
        <p:blipFill>
          <a:blip r:embed="rId2"/>
          <a:stretch>
            <a:fillRect/>
          </a:stretch>
        </p:blipFill>
        <p:spPr>
          <a:xfrm>
            <a:off x="367200" y="864000"/>
            <a:ext cx="5688000" cy="2520000"/>
          </a:xfrm>
          <a:prstGeom prst="rect">
            <a:avLst/>
          </a:prstGeom>
        </p:spPr>
      </p:pic>
      <p:sp>
        <p:nvSpPr>
          <p:cNvPr id="18" name="TextBox 17"/>
          <p:cNvSpPr txBox="1"/>
          <p:nvPr/>
        </p:nvSpPr>
        <p:spPr>
          <a:xfrm>
            <a:off x="6192000" y="864000"/>
            <a:ext cx="2592000" cy="180000"/>
          </a:xfrm>
          <a:prstGeom prst="rect">
            <a:avLst/>
          </a:prstGeom>
          <a:noFill/>
        </p:spPr>
        <p:txBody>
          <a:bodyPr wrap="square">
            <a:spAutoFit/>
          </a:bodyPr>
          <a:lstStyle/>
          <a:p>
            <a:pPr algn="l"/>
            <a:r>
              <a:rPr sz="800" b="1" i="0">
                <a:solidFill>
                  <a:srgbClr val="1B3A6B"/>
                </a:solidFill>
                <a:latin typeface="Calibri"/>
              </a:rPr>
              <a:t>SYNTHÈSE DES MULTIPLES</a:t>
            </a:r>
          </a:p>
        </p:txBody>
      </p:sp>
      <p:graphicFrame>
        <p:nvGraphicFramePr>
          <p:cNvPr id="19" name="Table 18"/>
          <p:cNvGraphicFramePr>
            <a:graphicFrameLocks noGrp="1"/>
          </p:cNvGraphicFramePr>
          <p:nvPr/>
        </p:nvGraphicFramePr>
        <p:xfrm>
          <a:off x="6192000" y="1098000"/>
          <a:ext cx="2592000" cy="1008000"/>
        </p:xfrm>
        <a:graphic>
          <a:graphicData uri="http://schemas.openxmlformats.org/drawingml/2006/table">
            <a:tbl>
              <a:tblPr firstRow="1" bandRow="1">
                <a:tableStyleId>{5C22544A-7EE6-4342-B048-85BDC9FD1C3A}</a:tableStyleId>
              </a:tblPr>
              <a:tblGrid>
                <a:gridCol w="777600"/>
                <a:gridCol w="570240"/>
                <a:gridCol w="673920"/>
                <a:gridCol w="570240"/>
              </a:tblGrid>
              <a:tr h="201600">
                <a:tc>
                  <a:txBody>
                    <a:bodyPr/>
                    <a:lstStyle/>
                    <a:p>
                      <a:pPr algn="l"/>
                      <a:r>
                        <a:rPr sz="800" b="1" i="0">
                          <a:solidFill>
                            <a:srgbClr val="FFFFFF"/>
                          </a:solidFill>
                          <a:latin typeface="Calibri"/>
                        </a:rPr>
                        <a:t>Année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EV/EB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38,1x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75,0x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39,2x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30,9x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61,2x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40,5x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66,7x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33,9x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51,5x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Rectangle 19"/>
          <p:cNvSpPr/>
          <p:nvPr/>
        </p:nvSpPr>
        <p:spPr>
          <a:xfrm>
            <a:off x="367200" y="3600000"/>
            <a:ext cx="8413200" cy="6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7200" y="3600000"/>
            <a:ext cx="792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200" y="3628800"/>
            <a:ext cx="8298000" cy="612000"/>
          </a:xfrm>
          <a:prstGeom prst="rect">
            <a:avLst/>
          </a:prstGeom>
          <a:noFill/>
        </p:spPr>
        <p:txBody>
          <a:bodyPr wrap="square">
            <a:spAutoFit/>
          </a:bodyPr>
          <a:lstStyle/>
          <a:p>
            <a:pPr algn="l"/>
            <a:r>
              <a:rPr sz="850" b="0" i="0">
                <a:solidFill>
                  <a:srgbClr val="555555"/>
                </a:solidFill>
                <a:latin typeface="Calibri"/>
              </a:rPr>
              <a:t>Le P/E affiche une compression multiple de 4.1x sur la période (38,1x → 33,9x), signal d’une réévaluation négative du profil de croissance. L’EV/EBITDA diverge à 26,7x vs 29,9x historique.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Capital Returns &amp; Free Cash Flow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FCF yield, dividendes &amp; allocation du capital</a:t>
            </a:r>
          </a:p>
        </p:txBody>
      </p:sp>
      <p:sp>
        <p:nvSpPr>
          <p:cNvPr id="17" name="Rectangle 16"/>
          <p:cNvSpPr/>
          <p:nvPr/>
        </p:nvSpPr>
        <p:spPr>
          <a:xfrm>
            <a:off x="367200"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0800" y="871200"/>
            <a:ext cx="1900799" cy="234000"/>
          </a:xfrm>
          <a:prstGeom prst="rect">
            <a:avLst/>
          </a:prstGeom>
          <a:noFill/>
        </p:spPr>
        <p:txBody>
          <a:bodyPr wrap="square">
            <a:spAutoFit/>
          </a:bodyPr>
          <a:lstStyle/>
          <a:p>
            <a:pPr algn="l"/>
            <a:r>
              <a:rPr sz="1600" b="1" i="0">
                <a:solidFill>
                  <a:srgbClr val="1B3A6B"/>
                </a:solidFill>
                <a:latin typeface="Calibri"/>
              </a:rPr>
              <a:t>2,9 %</a:t>
            </a:r>
          </a:p>
        </p:txBody>
      </p:sp>
      <p:sp>
        <p:nvSpPr>
          <p:cNvPr id="20" name="TextBox 19"/>
          <p:cNvSpPr txBox="1"/>
          <p:nvPr/>
        </p:nvSpPr>
        <p:spPr>
          <a:xfrm>
            <a:off x="460800" y="1098000"/>
            <a:ext cx="1900799" cy="234000"/>
          </a:xfrm>
          <a:prstGeom prst="rect">
            <a:avLst/>
          </a:prstGeom>
          <a:noFill/>
        </p:spPr>
        <p:txBody>
          <a:bodyPr wrap="square">
            <a:spAutoFit/>
          </a:bodyPr>
          <a:lstStyle/>
          <a:p>
            <a:pPr algn="l"/>
            <a:r>
              <a:rPr sz="800" b="0" i="0">
                <a:solidFill>
                  <a:srgbClr val="555555"/>
                </a:solidFill>
                <a:latin typeface="Calibri"/>
              </a:rPr>
              <a:t>FCF Yield</a:t>
            </a:r>
          </a:p>
        </p:txBody>
      </p:sp>
      <p:sp>
        <p:nvSpPr>
          <p:cNvPr id="21" name="Rectangle 20"/>
          <p:cNvSpPr/>
          <p:nvPr/>
        </p:nvSpPr>
        <p:spPr>
          <a:xfrm>
            <a:off x="24479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479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41599" y="871200"/>
            <a:ext cx="1900799" cy="234000"/>
          </a:xfrm>
          <a:prstGeom prst="rect">
            <a:avLst/>
          </a:prstGeom>
          <a:noFill/>
        </p:spPr>
        <p:txBody>
          <a:bodyPr wrap="square">
            <a:spAutoFit/>
          </a:bodyPr>
          <a:lstStyle/>
          <a:p>
            <a:pPr algn="l"/>
            <a:r>
              <a:rPr sz="1600" b="1" i="0">
                <a:solidFill>
                  <a:srgbClr val="1B3A6B"/>
                </a:solidFill>
                <a:latin typeface="Calibri"/>
              </a:rPr>
              <a:t>111,0 Mds$</a:t>
            </a:r>
          </a:p>
        </p:txBody>
      </p:sp>
      <p:sp>
        <p:nvSpPr>
          <p:cNvPr id="24" name="TextBox 23"/>
          <p:cNvSpPr txBox="1"/>
          <p:nvPr/>
        </p:nvSpPr>
        <p:spPr>
          <a:xfrm>
            <a:off x="2541599" y="1098000"/>
            <a:ext cx="1900799" cy="234000"/>
          </a:xfrm>
          <a:prstGeom prst="rect">
            <a:avLst/>
          </a:prstGeom>
          <a:noFill/>
        </p:spPr>
        <p:txBody>
          <a:bodyPr wrap="square">
            <a:spAutoFit/>
          </a:bodyPr>
          <a:lstStyle/>
          <a:p>
            <a:pPr algn="l"/>
            <a:r>
              <a:rPr sz="800" b="0" i="0">
                <a:solidFill>
                  <a:srgbClr val="555555"/>
                </a:solidFill>
                <a:latin typeface="Calibri"/>
              </a:rPr>
              <a:t>FCF (LTM)</a:t>
            </a:r>
          </a:p>
        </p:txBody>
      </p:sp>
      <p:sp>
        <p:nvSpPr>
          <p:cNvPr id="25" name="Rectangle 24"/>
          <p:cNvSpPr/>
          <p:nvPr/>
        </p:nvSpPr>
        <p:spPr>
          <a:xfrm>
            <a:off x="45287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287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22399" y="871200"/>
            <a:ext cx="1900799" cy="234000"/>
          </a:xfrm>
          <a:prstGeom prst="rect">
            <a:avLst/>
          </a:prstGeom>
          <a:noFill/>
        </p:spPr>
        <p:txBody>
          <a:bodyPr wrap="square">
            <a:spAutoFit/>
          </a:bodyPr>
          <a:lstStyle/>
          <a:p>
            <a:pPr algn="l"/>
            <a:r>
              <a:rPr sz="1600" b="1" i="0">
                <a:solidFill>
                  <a:srgbClr val="1B3A6B"/>
                </a:solidFill>
                <a:latin typeface="Calibri"/>
              </a:rPr>
              <a:t>3,1 %</a:t>
            </a:r>
          </a:p>
        </p:txBody>
      </p:sp>
      <p:sp>
        <p:nvSpPr>
          <p:cNvPr id="28" name="TextBox 27"/>
          <p:cNvSpPr txBox="1"/>
          <p:nvPr/>
        </p:nvSpPr>
        <p:spPr>
          <a:xfrm>
            <a:off x="4622399" y="1098000"/>
            <a:ext cx="1900799" cy="234000"/>
          </a:xfrm>
          <a:prstGeom prst="rect">
            <a:avLst/>
          </a:prstGeom>
          <a:noFill/>
        </p:spPr>
        <p:txBody>
          <a:bodyPr wrap="square">
            <a:spAutoFit/>
          </a:bodyPr>
          <a:lstStyle/>
          <a:p>
            <a:pPr algn="l"/>
            <a:r>
              <a:rPr sz="800" b="0" i="0">
                <a:solidFill>
                  <a:srgbClr val="555555"/>
                </a:solidFill>
                <a:latin typeface="Calibri"/>
              </a:rPr>
              <a:t>Capex / Rev</a:t>
            </a:r>
          </a:p>
        </p:txBody>
      </p:sp>
      <p:sp>
        <p:nvSpPr>
          <p:cNvPr id="29" name="Rectangle 28"/>
          <p:cNvSpPr/>
          <p:nvPr/>
        </p:nvSpPr>
        <p:spPr>
          <a:xfrm>
            <a:off x="66095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6095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03199" y="871200"/>
            <a:ext cx="1900799" cy="234000"/>
          </a:xfrm>
          <a:prstGeom prst="rect">
            <a:avLst/>
          </a:prstGeom>
          <a:noFill/>
        </p:spPr>
        <p:txBody>
          <a:bodyPr wrap="square">
            <a:spAutoFit/>
          </a:bodyPr>
          <a:lstStyle/>
          <a:p>
            <a:pPr algn="l"/>
            <a:r>
              <a:rPr sz="1600" b="1" i="0">
                <a:solidFill>
                  <a:srgbClr val="1B3A6B"/>
                </a:solidFill>
                <a:latin typeface="Calibri"/>
              </a:rPr>
              <a:t>—</a:t>
            </a:r>
          </a:p>
        </p:txBody>
      </p:sp>
      <p:sp>
        <p:nvSpPr>
          <p:cNvPr id="32" name="TextBox 31"/>
          <p:cNvSpPr txBox="1"/>
          <p:nvPr/>
        </p:nvSpPr>
        <p:spPr>
          <a:xfrm>
            <a:off x="6703199" y="1098000"/>
            <a:ext cx="1900799" cy="234000"/>
          </a:xfrm>
          <a:prstGeom prst="rect">
            <a:avLst/>
          </a:prstGeom>
          <a:noFill/>
        </p:spPr>
        <p:txBody>
          <a:bodyPr wrap="square">
            <a:spAutoFit/>
          </a:bodyPr>
          <a:lstStyle/>
          <a:p>
            <a:pPr algn="l"/>
            <a:r>
              <a:rPr sz="800" b="0" i="0">
                <a:solidFill>
                  <a:srgbClr val="555555"/>
                </a:solidFill>
                <a:latin typeface="Calibri"/>
              </a:rPr>
              <a:t>Div. Payout</a:t>
            </a:r>
          </a:p>
        </p:txBody>
      </p:sp>
      <p:pic>
        <p:nvPicPr>
          <p:cNvPr id="33" name="Picture 32" descr="image.png"/>
          <p:cNvPicPr>
            <a:picLocks noChangeAspect="1"/>
          </p:cNvPicPr>
          <p:nvPr/>
        </p:nvPicPr>
        <p:blipFill>
          <a:blip r:embed="rId2"/>
          <a:stretch>
            <a:fillRect/>
          </a:stretch>
        </p:blipFill>
        <p:spPr>
          <a:xfrm>
            <a:off x="367200" y="1512000"/>
            <a:ext cx="5220000" cy="2088000"/>
          </a:xfrm>
          <a:prstGeom prst="rect">
            <a:avLst/>
          </a:prstGeom>
        </p:spPr>
      </p:pic>
      <p:sp>
        <p:nvSpPr>
          <p:cNvPr id="34" name="TextBox 33"/>
          <p:cNvSpPr txBox="1"/>
          <p:nvPr/>
        </p:nvSpPr>
        <p:spPr>
          <a:xfrm>
            <a:off x="5832000" y="1512000"/>
            <a:ext cx="2951999" cy="180000"/>
          </a:xfrm>
          <a:prstGeom prst="rect">
            <a:avLst/>
          </a:prstGeom>
          <a:noFill/>
        </p:spPr>
        <p:txBody>
          <a:bodyPr wrap="square">
            <a:spAutoFit/>
          </a:bodyPr>
          <a:lstStyle/>
          <a:p>
            <a:pPr algn="l"/>
            <a:r>
              <a:rPr sz="800" b="1" i="0">
                <a:solidFill>
                  <a:srgbClr val="1B3A6B"/>
                </a:solidFill>
                <a:latin typeface="Calibri"/>
              </a:rPr>
              <a:t>ALLOCATION DU CAPITAL</a:t>
            </a:r>
          </a:p>
        </p:txBody>
      </p:sp>
      <p:graphicFrame>
        <p:nvGraphicFramePr>
          <p:cNvPr id="35" name="Table 34"/>
          <p:cNvGraphicFramePr>
            <a:graphicFrameLocks noGrp="1"/>
          </p:cNvGraphicFramePr>
          <p:nvPr/>
        </p:nvGraphicFramePr>
        <p:xfrm>
          <a:off x="5832000" y="1745999"/>
          <a:ext cx="2951995" cy="1008000"/>
        </p:xfrm>
        <a:graphic>
          <a:graphicData uri="http://schemas.openxmlformats.org/drawingml/2006/table">
            <a:tbl>
              <a:tblPr firstRow="1" bandRow="1">
                <a:tableStyleId>{5C22544A-7EE6-4342-B048-85BDC9FD1C3A}</a:tableStyleId>
              </a:tblPr>
              <a:tblGrid>
                <a:gridCol w="649439"/>
                <a:gridCol w="590399"/>
                <a:gridCol w="560879"/>
                <a:gridCol w="560879"/>
                <a:gridCol w="590399"/>
              </a:tblGrid>
              <a:tr h="201600">
                <a:tc>
                  <a:txBody>
                    <a:bodyPr/>
                    <a:lstStyle/>
                    <a:p>
                      <a:pPr algn="l"/>
                      <a:r>
                        <a:rPr sz="800" b="1" i="0">
                          <a:solidFill>
                            <a:srgbClr val="FFFFFF"/>
                          </a:solidFill>
                          <a:latin typeface="Calibri"/>
                        </a:rPr>
                        <a:t>Ann.</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FCF</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Yield</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Div%</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Capex%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100,2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97,6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95,7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111,0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36" name="Rectangle 35"/>
          <p:cNvSpPr/>
          <p:nvPr/>
        </p:nvSpPr>
        <p:spPr>
          <a:xfrm>
            <a:off x="367200" y="3708000"/>
            <a:ext cx="84132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7200" y="3708000"/>
            <a:ext cx="79200" cy="57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75200" y="3736800"/>
            <a:ext cx="8298000" cy="540000"/>
          </a:xfrm>
          <a:prstGeom prst="rect">
            <a:avLst/>
          </a:prstGeom>
          <a:noFill/>
        </p:spPr>
        <p:txBody>
          <a:bodyPr wrap="square">
            <a:spAutoFit/>
          </a:bodyPr>
          <a:lstStyle/>
          <a:p>
            <a:pPr algn="l"/>
            <a:r>
              <a:rPr sz="850" b="0" i="0">
                <a:solidFill>
                  <a:srgbClr val="555555"/>
                </a:solidFill>
                <a:latin typeface="Calibri"/>
              </a:rPr>
              <a:t>Le FCF affiche une croissance de 10,8 Mds$ sur la période, avec un FCF yield actuel de 2,9 % — à surveiller au regard de la valorisation de marché. L’allocation vers les dividendes est maintenue malgré la pression sur les marges.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LBO — Leveraged Buyout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Attractivité PE · Multiples d’entrée vs IRR cible</a:t>
            </a:r>
          </a:p>
        </p:txBody>
      </p:sp>
      <p:graphicFrame>
        <p:nvGraphicFramePr>
          <p:cNvPr id="17" name="Table 16"/>
          <p:cNvGraphicFramePr>
            <a:graphicFrameLocks noGrp="1"/>
          </p:cNvGraphicFramePr>
          <p:nvPr/>
        </p:nvGraphicFramePr>
        <p:xfrm>
          <a:off x="367200" y="900000"/>
          <a:ext cx="4860000" cy="1170000"/>
        </p:xfrm>
        <a:graphic>
          <a:graphicData uri="http://schemas.openxmlformats.org/drawingml/2006/table">
            <a:tbl>
              <a:tblPr firstRow="1" bandRow="1">
                <a:tableStyleId>{5C22544A-7EE6-4342-B048-85BDC9FD1C3A}</a:tableStyleId>
              </a:tblPr>
              <a:tblGrid>
                <a:gridCol w="1069200"/>
                <a:gridCol w="1263600"/>
                <a:gridCol w="1263600"/>
                <a:gridCol w="1263600"/>
              </a:tblGrid>
              <a:tr h="234000">
                <a:tc>
                  <a:txBody>
                    <a:bodyPr/>
                    <a:lstStyle/>
                    <a:p>
                      <a:pPr algn="l"/>
                      <a:r>
                        <a:rPr sz="800" b="1" i="0">
                          <a:solidFill>
                            <a:srgbClr val="FFFFFF"/>
                          </a:solidFill>
                          <a:latin typeface="Calibri"/>
                        </a:rPr>
                        <a:t>Entry mult.</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8x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10x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12x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17.4% / 2.2x</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23.8% / 2.9x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29.2% / 3.6x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10x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8.3% / 1.5x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14.2% / 1.9x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19.1% / 2.4x</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12x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 / 1.1x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7.8% / 1.5x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12.4% / 1.8x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 / 0.9x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 / 1.2x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7.5% / 1.4x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2592000"/>
            <a:ext cx="4860000" cy="180000"/>
          </a:xfrm>
          <a:prstGeom prst="rect">
            <a:avLst/>
          </a:prstGeom>
          <a:noFill/>
        </p:spPr>
        <p:txBody>
          <a:bodyPr wrap="square">
            <a:spAutoFit/>
          </a:bodyPr>
          <a:lstStyle/>
          <a:p>
            <a:pPr algn="l"/>
            <a:r>
              <a:rPr sz="750" b="0" i="0">
                <a:solidFill>
                  <a:srgbClr val="555555"/>
                </a:solidFill>
                <a:latin typeface="Calibri"/>
              </a:rPr>
              <a:t>Hypotheses : Levier 4x EBITDA · 5 ans holding · 50% remboursement dette · EBITDA +6%/an</a:t>
            </a:r>
          </a:p>
        </p:txBody>
      </p:sp>
      <p:sp>
        <p:nvSpPr>
          <p:cNvPr id="19" name="TextBox 18"/>
          <p:cNvSpPr txBox="1"/>
          <p:nvPr/>
        </p:nvSpPr>
        <p:spPr>
          <a:xfrm>
            <a:off x="367200" y="2754000"/>
            <a:ext cx="4860000" cy="180000"/>
          </a:xfrm>
          <a:prstGeom prst="rect">
            <a:avLst/>
          </a:prstGeom>
          <a:noFill/>
        </p:spPr>
        <p:txBody>
          <a:bodyPr wrap="square">
            <a:spAutoFit/>
          </a:bodyPr>
          <a:lstStyle/>
          <a:p>
            <a:pPr algn="l"/>
            <a:r>
              <a:rPr sz="750" b="0" i="0">
                <a:solidFill>
                  <a:srgbClr val="888888"/>
                </a:solidFill>
                <a:latin typeface="Calibri"/>
              </a:rPr>
              <a:t>Lecture : IRR / MOIC  ● vert ≥ 20%  ● ambre 15-20%  ● rouge &lt; 15%</a:t>
            </a:r>
          </a:p>
        </p:txBody>
      </p:sp>
      <p:sp>
        <p:nvSpPr>
          <p:cNvPr id="20" name="TextBox 19"/>
          <p:cNvSpPr txBox="1"/>
          <p:nvPr/>
        </p:nvSpPr>
        <p:spPr>
          <a:xfrm>
            <a:off x="5472000" y="900000"/>
            <a:ext cx="3311999" cy="180000"/>
          </a:xfrm>
          <a:prstGeom prst="rect">
            <a:avLst/>
          </a:prstGeom>
          <a:noFill/>
        </p:spPr>
        <p:txBody>
          <a:bodyPr wrap="square">
            <a:spAutoFit/>
          </a:bodyPr>
          <a:lstStyle/>
          <a:p>
            <a:pPr algn="l"/>
            <a:r>
              <a:rPr sz="800" b="1" i="0">
                <a:solidFill>
                  <a:srgbClr val="1B3A6B"/>
                </a:solidFill>
                <a:latin typeface="Calibri"/>
              </a:rPr>
              <a:t>HYPOTHÈSES &amp; STRUCTURE LBO</a:t>
            </a:r>
          </a:p>
        </p:txBody>
      </p:sp>
      <p:graphicFrame>
        <p:nvGraphicFramePr>
          <p:cNvPr id="21" name="Table 20"/>
          <p:cNvGraphicFramePr>
            <a:graphicFrameLocks noGrp="1"/>
          </p:cNvGraphicFramePr>
          <p:nvPr/>
        </p:nvGraphicFramePr>
        <p:xfrm>
          <a:off x="5472000" y="1116000"/>
          <a:ext cx="3311998" cy="1602000"/>
        </p:xfrm>
        <a:graphic>
          <a:graphicData uri="http://schemas.openxmlformats.org/drawingml/2006/table">
            <a:tbl>
              <a:tblPr firstRow="1" bandRow="1">
                <a:tableStyleId>{5C22544A-7EE6-4342-B048-85BDC9FD1C3A}</a:tableStyleId>
              </a:tblPr>
              <a:tblGrid>
                <a:gridCol w="1722239"/>
                <a:gridCol w="1589759"/>
              </a:tblGrid>
              <a:tr h="20025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EBITDA LTM</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144,7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FCF LTM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111,0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Levier 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4x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Dette entrée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579,0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EBITDA exit (est.)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197,6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Holding</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 ans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IRR cible 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 20%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2" name="Rectangle 21"/>
          <p:cNvSpPr/>
          <p:nvPr/>
        </p:nvSpPr>
        <p:spPr>
          <a:xfrm>
            <a:off x="5472000" y="3096000"/>
            <a:ext cx="3311999" cy="1007999"/>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72000" y="3096000"/>
            <a:ext cx="72000" cy="1007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580000" y="3131999"/>
            <a:ext cx="3168000" cy="162000"/>
          </a:xfrm>
          <a:prstGeom prst="rect">
            <a:avLst/>
          </a:prstGeom>
          <a:noFill/>
        </p:spPr>
        <p:txBody>
          <a:bodyPr wrap="square">
            <a:spAutoFit/>
          </a:bodyPr>
          <a:lstStyle/>
          <a:p>
            <a:pPr algn="l"/>
            <a:r>
              <a:rPr sz="750" b="1" i="0">
                <a:solidFill>
                  <a:srgbClr val="B06000"/>
                </a:solidFill>
                <a:latin typeface="Calibri"/>
              </a:rPr>
              <a:t>NOTE MÉTHODOLOGIQUE</a:t>
            </a:r>
          </a:p>
        </p:txBody>
      </p:sp>
      <p:sp>
        <p:nvSpPr>
          <p:cNvPr id="25" name="TextBox 24"/>
          <p:cNvSpPr txBox="1"/>
          <p:nvPr/>
        </p:nvSpPr>
        <p:spPr>
          <a:xfrm>
            <a:off x="5580000" y="3294000"/>
            <a:ext cx="3168000" cy="792000"/>
          </a:xfrm>
          <a:prstGeom prst="rect">
            <a:avLst/>
          </a:prstGeom>
          <a:noFill/>
        </p:spPr>
        <p:txBody>
          <a:bodyPr wrap="square">
            <a:spAutoFit/>
          </a:bodyPr>
          <a:lstStyle/>
          <a:p>
            <a:pPr algn="l"/>
            <a:r>
              <a:rPr sz="800" b="0" i="0">
                <a:solidFill>
                  <a:srgbClr val="555555"/>
                </a:solidFill>
                <a:latin typeface="Calibri"/>
              </a:rPr>
              <a:t>Analyse indicative uniquement. Le LBO assume un rachat 100% equity par un fonds PE. La dette est remboursée par le FCF de la cible. L'IRR ne tient pas compte des frais de transaction ni de la structure fiscale optimisée. Un IRR ≥ 20% est le seuil standard d'un fonds PE tier-1.</a:t>
            </a:r>
          </a:p>
        </p:txBody>
      </p:sp>
      <p:sp>
        <p:nvSpPr>
          <p:cNvPr id="26" name="Rectangle 25"/>
          <p:cNvSpPr/>
          <p:nvPr/>
        </p:nvSpPr>
        <p:spPr>
          <a:xfrm>
            <a:off x="367200" y="4176000"/>
            <a:ext cx="84132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67200" y="4176000"/>
            <a:ext cx="79200" cy="57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5200" y="4204800"/>
            <a:ext cx="8298000" cy="540000"/>
          </a:xfrm>
          <a:prstGeom prst="rect">
            <a:avLst/>
          </a:prstGeom>
          <a:noFill/>
        </p:spPr>
        <p:txBody>
          <a:bodyPr wrap="square">
            <a:spAutoFit/>
          </a:bodyPr>
          <a:lstStyle/>
          <a:p>
            <a:pPr algn="l"/>
            <a:r>
              <a:rPr sz="850" b="0" i="0">
                <a:solidFill>
                  <a:srgbClr val="555555"/>
                </a:solidFill>
                <a:latin typeface="Calibri"/>
              </a:rPr>
              <a:t>A 10x EBITDA d'entrée / 10x de sortie, le LBO génère un IRR de 14.2% (MOIC 1.9x en 5 ans) — attractivité PE jugée insuffisante. Un fonds tier-1 ciblant 20%+ d'IRR doit entrer en dessous de 8x EBITDA. La génération de FCF (111,0 Mds$) est le principal levier de remboursement de la dette.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396000"/>
          </a:xfrm>
          <a:prstGeom prst="rect">
            <a:avLst/>
          </a:prstGeom>
          <a:noFill/>
        </p:spPr>
        <p:txBody>
          <a:bodyPr wrap="square">
            <a:spAutoFit/>
          </a:bodyPr>
          <a:lstStyle/>
          <a:p>
            <a:pPr algn="l"/>
            <a:r>
              <a:rPr sz="900" b="1" i="0">
                <a:solidFill>
                  <a:srgbClr val="A82020"/>
                </a:solidFill>
                <a:latin typeface="Calibri"/>
              </a:rPr>
              <a:t>Régulation UE coûts</a:t>
            </a:r>
          </a:p>
        </p:txBody>
      </p:sp>
      <p:sp>
        <p:nvSpPr>
          <p:cNvPr id="20" name="TextBox 19"/>
          <p:cNvSpPr txBox="1"/>
          <p:nvPr/>
        </p:nvSpPr>
        <p:spPr>
          <a:xfrm>
            <a:off x="475200" y="1537199"/>
            <a:ext cx="2527200" cy="1260000"/>
          </a:xfrm>
          <a:prstGeom prst="rect">
            <a:avLst/>
          </a:prstGeom>
          <a:noFill/>
        </p:spPr>
        <p:txBody>
          <a:bodyPr wrap="square">
            <a:spAutoFit/>
          </a:bodyPr>
          <a:lstStyle/>
          <a:p>
            <a:pPr algn="l"/>
            <a:r>
              <a:rPr sz="800" b="0" i="0">
                <a:solidFill>
                  <a:srgbClr val="555555"/>
                </a:solidFill>
                <a:latin typeface="Calibri"/>
              </a:rPr>
              <a:t>L'écosystème fermé d'Apple, souvent présenté comme un atout, devient un piège face à la régulation : l'UE impose déjà l'ouverture des ports USB-C, fragilisant le contrôle des prix et la marge sur les accessoires. Les services récurrents, qui représentent 22% du CA en 2024, voient leur croissance ralentir à +8% YoY contre +15% en 2021, signe d'un essoufflement de l'innovation tarifaire. Le pricing</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396000"/>
          </a:xfrm>
          <a:prstGeom prst="rect">
            <a:avLst/>
          </a:prstGeom>
          <a:noFill/>
        </p:spPr>
        <p:txBody>
          <a:bodyPr wrap="square">
            <a:spAutoFit/>
          </a:bodyPr>
          <a:lstStyle/>
          <a:p>
            <a:pPr algn="l"/>
            <a:r>
              <a:rPr sz="900" b="1" i="0">
                <a:solidFill>
                  <a:srgbClr val="2E5FA3"/>
                </a:solidFill>
                <a:latin typeface="Calibri"/>
              </a:rPr>
              <a:t>Valorisation excessive</a:t>
            </a:r>
          </a:p>
        </p:txBody>
      </p:sp>
      <p:sp>
        <p:nvSpPr>
          <p:cNvPr id="24" name="TextBox 23"/>
          <p:cNvSpPr txBox="1"/>
          <p:nvPr/>
        </p:nvSpPr>
        <p:spPr>
          <a:xfrm>
            <a:off x="3337200" y="1537199"/>
            <a:ext cx="2527200" cy="1260000"/>
          </a:xfrm>
          <a:prstGeom prst="rect">
            <a:avLst/>
          </a:prstGeom>
          <a:noFill/>
        </p:spPr>
        <p:txBody>
          <a:bodyPr wrap="square">
            <a:spAutoFit/>
          </a:bodyPr>
          <a:lstStyle/>
          <a:p>
            <a:pPr algn="l"/>
            <a:r>
              <a:rPr sz="800" b="0" i="0">
                <a:solidFill>
                  <a:srgbClr val="555555"/>
                </a:solidFill>
                <a:latin typeface="Calibri"/>
              </a:rPr>
              <a:t>Le ratio P/E de 33.93x contre une croissance des revenus de seulement 6.4% en 2025 révèle une valorisation excessive de 30% par rapport à la moyenne sectorielle des géants tech (24x). Les marges nettes de 26.9% pourraient se contracter de 3 points d'ici 2026 sous la pression des coûts de production en Chine (+12% depuis 2023) et des investissements obligatoires en IA locale pour contourner les</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396000"/>
          </a:xfrm>
          <a:prstGeom prst="rect">
            <a:avLst/>
          </a:prstGeom>
          <a:noFill/>
        </p:spPr>
        <p:txBody>
          <a:bodyPr wrap="square">
            <a:spAutoFit/>
          </a:bodyPr>
          <a:lstStyle/>
          <a:p>
            <a:pPr algn="l"/>
            <a:r>
              <a:rPr sz="900" b="1" i="0">
                <a:solidFill>
                  <a:srgbClr val="B06000"/>
                </a:solidFill>
                <a:latin typeface="Calibri"/>
              </a:rPr>
              <a:t>Dépendance Chine</a:t>
            </a:r>
          </a:p>
        </p:txBody>
      </p:sp>
      <p:sp>
        <p:nvSpPr>
          <p:cNvPr id="28" name="TextBox 27"/>
          <p:cNvSpPr txBox="1"/>
          <p:nvPr/>
        </p:nvSpPr>
        <p:spPr>
          <a:xfrm>
            <a:off x="6199200" y="1537199"/>
            <a:ext cx="2527200" cy="1260000"/>
          </a:xfrm>
          <a:prstGeom prst="rect">
            <a:avLst/>
          </a:prstGeom>
          <a:noFill/>
        </p:spPr>
        <p:txBody>
          <a:bodyPr wrap="square">
            <a:spAutoFit/>
          </a:bodyPr>
          <a:lstStyle/>
          <a:p>
            <a:pPr algn="l"/>
            <a:r>
              <a:rPr sz="800" b="0" i="0">
                <a:solidFill>
                  <a:srgbClr val="555555"/>
                </a:solidFill>
                <a:latin typeface="Calibri"/>
              </a:rPr>
              <a:t>La dépendance à la Chine pour 20% de la production expose Apple à des risques géopolitiques majeurs : un conflit autour de Taïwan pourrait paralyser 40% de ses capacités, comme en mars 2021 lors du blocage des ports de Shenzhen. Les marges brutes de 46.9% reposent sur des coûts fixes élevés (R&amp;D à 7.3% du CA) qui ne génèrent plus d'innovations disruptives depuis 2017, avec un ROI en baisse de 18%</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avec baisse du CA iPhone de -15 % en 2026</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Régulation stricte sur les commissions App Store réduisant les revenus services de -10 %</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Échec du déploiement de l’IA générative sur iPhone 16e (-30 % adoption utilisateurs)</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438800"/>
            <a:ext cx="2696400" cy="158400"/>
          </a:xfrm>
          <a:prstGeom prst="rect">
            <a:avLst/>
          </a:prstGeom>
          <a:noFill/>
        </p:spPr>
        <p:txBody>
          <a:bodyPr wrap="square">
            <a:spAutoFit/>
          </a:bodyPr>
          <a:lstStyle/>
          <a:p>
            <a:pPr algn="l"/>
            <a:r>
              <a:rPr sz="700" b="0" i="0">
                <a:solidFill>
                  <a:srgbClr val="1B3A6B"/>
                </a:solidFill>
                <a:latin typeface="Calibri"/>
              </a:rPr>
              <a:t>Détresse : 49/100  Vigilance</a:t>
            </a:r>
          </a:p>
        </p:txBody>
      </p:sp>
      <p:sp>
        <p:nvSpPr>
          <p:cNvPr id="35" name="Rectangle 34"/>
          <p:cNvSpPr/>
          <p:nvPr/>
        </p:nvSpPr>
        <p:spPr>
          <a:xfrm>
            <a:off x="324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438800"/>
            <a:ext cx="2696400" cy="158400"/>
          </a:xfrm>
          <a:prstGeom prst="rect">
            <a:avLst/>
          </a:prstGeom>
          <a:noFill/>
        </p:spPr>
        <p:txBody>
          <a:bodyPr wrap="square">
            <a:spAutoFit/>
          </a:bodyPr>
          <a:lstStyle/>
          <a:p>
            <a:pPr algn="l"/>
            <a:r>
              <a:rPr sz="700" b="0" i="0">
                <a:solidFill>
                  <a:srgbClr val="1B3A6B"/>
                </a:solidFill>
                <a:latin typeface="Calibri"/>
              </a:rPr>
              <a:t>M&amp;A : 42/100  Moderate</a:t>
            </a:r>
          </a:p>
        </p:txBody>
      </p:sp>
      <p:sp>
        <p:nvSpPr>
          <p:cNvPr id="38" name="Rectangle 37"/>
          <p:cNvSpPr/>
          <p:nvPr/>
        </p:nvSpPr>
        <p:spPr>
          <a:xfrm>
            <a:off x="612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428000"/>
            <a:ext cx="432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438800"/>
            <a:ext cx="2696400" cy="158400"/>
          </a:xfrm>
          <a:prstGeom prst="rect">
            <a:avLst/>
          </a:prstGeom>
          <a:noFill/>
        </p:spPr>
        <p:txBody>
          <a:bodyPr wrap="square">
            <a:spAutoFit/>
          </a:bodyPr>
          <a:lstStyle/>
          <a:p>
            <a:pPr algn="l"/>
            <a:r>
              <a:rPr sz="700" b="0" i="0">
                <a:solidFill>
                  <a:srgbClr val="1B3A6B"/>
                </a:solidFill>
                <a:latin typeface="Calibri"/>
              </a:rPr>
              <a:t>Régime : Bear  Rec.6M:34%</a:t>
            </a:r>
          </a:p>
        </p:txBody>
      </p:sp>
      <p:sp>
        <p:nvSpPr>
          <p:cNvPr id="41" name="Rectangle 40"/>
          <p:cNvSpPr/>
          <p:nvPr/>
        </p:nvSpPr>
        <p:spPr>
          <a:xfrm>
            <a:off x="3672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4618800"/>
            <a:ext cx="432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6400" y="4629600"/>
            <a:ext cx="2696400" cy="158400"/>
          </a:xfrm>
          <a:prstGeom prst="rect">
            <a:avLst/>
          </a:prstGeom>
          <a:noFill/>
        </p:spPr>
        <p:txBody>
          <a:bodyPr wrap="square">
            <a:spAutoFit/>
          </a:bodyPr>
          <a:lstStyle/>
          <a:p>
            <a:pPr algn="l"/>
            <a:r>
              <a:rPr sz="700" b="0" i="0">
                <a:solidFill>
                  <a:srgbClr val="1B3A6B"/>
                </a:solidFill>
                <a:latin typeface="Calibri"/>
              </a:rPr>
              <a:t>Earnings Qualité : Correcte (0.99x)</a:t>
            </a:r>
          </a:p>
        </p:txBody>
      </p:sp>
      <p:sp>
        <p:nvSpPr>
          <p:cNvPr id="44" name="Rectangle 43"/>
          <p:cNvSpPr/>
          <p:nvPr/>
        </p:nvSpPr>
        <p:spPr>
          <a:xfrm>
            <a:off x="324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243600" y="4618800"/>
            <a:ext cx="432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22800" y="4629600"/>
            <a:ext cx="2696400" cy="158400"/>
          </a:xfrm>
          <a:prstGeom prst="rect">
            <a:avLst/>
          </a:prstGeom>
          <a:noFill/>
        </p:spPr>
        <p:txBody>
          <a:bodyPr wrap="square">
            <a:spAutoFit/>
          </a:bodyPr>
          <a:lstStyle/>
          <a:p>
            <a:pPr algn="l"/>
            <a:r>
              <a:rPr sz="700" b="0" i="0">
                <a:solidFill>
                  <a:srgbClr val="1B3A6B"/>
                </a:solidFill>
                <a:latin typeface="Calibri"/>
              </a:rPr>
              <a:t>Struct. Capital : Modérée (21% CT)</a:t>
            </a:r>
          </a:p>
        </p:txBody>
      </p:sp>
      <p:sp>
        <p:nvSpPr>
          <p:cNvPr id="47" name="Rectangle 46"/>
          <p:cNvSpPr/>
          <p:nvPr/>
        </p:nvSpPr>
        <p:spPr>
          <a:xfrm>
            <a:off x="612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02800" y="4629600"/>
            <a:ext cx="2696400" cy="158400"/>
          </a:xfrm>
          <a:prstGeom prst="rect">
            <a:avLst/>
          </a:prstGeom>
          <a:noFill/>
        </p:spPr>
        <p:txBody>
          <a:bodyPr wrap="square">
            <a:spAutoFit/>
          </a:bodyPr>
          <a:lstStyle/>
          <a:p>
            <a:pPr algn="l"/>
            <a:r>
              <a:rPr sz="700" b="0" i="0">
                <a:solidFill>
                  <a:srgbClr val="1B3A6B"/>
                </a:solidFill>
                <a:latin typeface="Calibri"/>
              </a:rPr>
              <a:t>Dividende : Soutenable (1.2x)</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LLM Groq</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  ·  Classification LLM</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Positif</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+0,274</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44,0 %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LLM Groq</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14</a:t>
                      </a:r>
                    </a:p>
                  </a:txBody>
                  <a:tcPr>
                    <a:solidFill>
                      <a:srgbClr val="EAF4EF"/>
                    </a:solidFill>
                  </a:tcPr>
                </a:tc>
                <a:tc>
                  <a:txBody>
                    <a:bodyPr/>
                    <a:lstStyle/>
                    <a:p>
                      <a:pPr algn="ctr"/>
                      <a:r>
                        <a:rPr sz="800" b="0" i="0">
                          <a:solidFill>
                            <a:srgbClr val="0D0D0D"/>
                          </a:solidFill>
                          <a:latin typeface="Calibri"/>
                        </a:rPr>
                        <a:t>+0,440</a:t>
                      </a:r>
                    </a:p>
                  </a:txBody>
                  <a:tcPr>
                    <a:solidFill>
                      <a:srgbClr val="EAF4EF"/>
                    </a:solidFill>
                  </a:tcPr>
                </a:tc>
                <a:tc>
                  <a:txBody>
                    <a:bodyPr/>
                    <a:lstStyle/>
                    <a:p>
                      <a:pPr algn="ctr"/>
                      <a:r>
                        <a:rPr sz="800" b="0" i="0">
                          <a:solidFill>
                            <a:srgbClr val="0D0D0D"/>
                          </a:solidFill>
                          <a:latin typeface="Calibri"/>
                        </a:rPr>
                        <a:t>Déploiement IA générative sur iPhone 16e en 2026 avec potentiel de +15 USD de CA par unité | Croissance services à +12 % YoY grâce aux abonnements et marchés émergents | Rachats d’actions de 100 Mds$ en 2026 soutenant le cours</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12</a:t>
                      </a:r>
                    </a:p>
                  </a:txBody>
                  <a:tcPr>
                    <a:solidFill>
                      <a:srgbClr val="FFFFFF"/>
                    </a:solidFill>
                  </a:tcPr>
                </a:tc>
                <a:tc>
                  <a:txBody>
                    <a:bodyPr/>
                    <a:lstStyle/>
                    <a:p>
                      <a:pPr algn="ctr"/>
                      <a:r>
                        <a:rPr sz="800" b="0" i="0">
                          <a:solidFill>
                            <a:srgbClr val="0D0D0D"/>
                          </a:solidFill>
                          <a:latin typeface="Calibri"/>
                        </a:rPr>
                        <a:t>+0,393</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4</a:t>
                      </a:r>
                    </a:p>
                  </a:txBody>
                  <a:tcPr>
                    <a:solidFill>
                      <a:srgbClr val="FAF0EF"/>
                    </a:solidFill>
                  </a:tcPr>
                </a:tc>
                <a:tc>
                  <a:txBody>
                    <a:bodyPr/>
                    <a:lstStyle/>
                    <a:p>
                      <a:pPr algn="ctr"/>
                      <a:r>
                        <a:rPr sz="800" b="0" i="0">
                          <a:solidFill>
                            <a:srgbClr val="0D0D0D"/>
                          </a:solidFill>
                          <a:latin typeface="Calibri"/>
                        </a:rPr>
                        <a:t>+0,167</a:t>
                      </a:r>
                    </a:p>
                  </a:txBody>
                  <a:tcPr>
                    <a:solidFill>
                      <a:srgbClr val="FAF0EF"/>
                    </a:solidFill>
                  </a:tcPr>
                </a:tc>
                <a:tc>
                  <a:txBody>
                    <a:bodyPr/>
                    <a:lstStyle/>
                    <a:p>
                      <a:pPr algn="ctr"/>
                      <a:r>
                        <a:rPr sz="800" b="0" i="0">
                          <a:solidFill>
                            <a:srgbClr val="0D0D0D"/>
                          </a:solidFill>
                          <a:latin typeface="Calibri"/>
                        </a:rPr>
                        <a:t>Ralentissement de la demande premium en Chine (-5 % CA 2026) avec pression sur les marges | Régulation européenne (DMA) réduisant les revenus App Store de 8 % en 2027 | Concurrence accrue en IA avec Microsoft et Google captant 40 % du…</a:t>
                      </a:r>
                    </a:p>
                  </a:txBody>
                  <a:tcPr>
                    <a:solidFill>
                      <a:srgbClr val="FAF0EF"/>
                    </a:solidFill>
                  </a:tcPr>
                </a:tc>
              </a:tr>
            </a:tbl>
          </a:graphicData>
        </a:graphic>
      </p:graphicFrame>
      <p:sp>
        <p:nvSpPr>
          <p:cNvPr id="39" name="TextBox 38"/>
          <p:cNvSpPr txBox="1"/>
          <p:nvPr/>
        </p:nvSpPr>
        <p:spPr>
          <a:xfrm>
            <a:off x="367200" y="4140000"/>
            <a:ext cx="8413200" cy="720000"/>
          </a:xfrm>
          <a:prstGeom prst="rect">
            <a:avLst/>
          </a:prstGeom>
          <a:noFill/>
        </p:spPr>
        <p:txBody>
          <a:bodyPr wrap="square">
            <a:spAutoFit/>
          </a:bodyPr>
          <a:lstStyle/>
          <a:p>
            <a:pPr algn="l"/>
            <a:r>
              <a:rPr sz="850" b="0" i="0">
                <a:solidFill>
                  <a:srgbClr val="333333"/>
                </a:solidFill>
                <a:latin typeface="Calibri"/>
              </a:rPr>
              <a:t>La presse financière affiche un optimisme marqué pour Apple cette semaine, portée par la demande soutenue pour les Mac haut de gamme et les anticipations positives autour du foldable iPhone. Les partenariats technologiques et les analyses haussières renforcent cette dynamique, malgré quelques signaux d’alerte liés aux fournisseurs.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9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Apple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Morgan Stanley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Berkshire Hathaway,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Rectangle 20"/>
          <p:cNvSpPr/>
          <p:nvPr/>
        </p:nvSpPr>
        <p:spPr>
          <a:xfrm>
            <a:off x="367200" y="3326400"/>
            <a:ext cx="8413200" cy="10044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3326400"/>
            <a:ext cx="792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5200" y="3355200"/>
            <a:ext cx="8298000" cy="968400"/>
          </a:xfrm>
          <a:prstGeom prst="rect">
            <a:avLst/>
          </a:prstGeom>
          <a:noFill/>
        </p:spPr>
        <p:txBody>
          <a:bodyPr wrap="square">
            <a:spAutoFit/>
          </a:bodyPr>
          <a:lstStyle/>
          <a:p>
            <a:pPr algn="l"/>
            <a:r>
              <a:rPr sz="850" b="0" i="0">
                <a:solidFill>
                  <a:srgbClr val="555555"/>
                </a:solidFill>
                <a:latin typeface="Calibri"/>
              </a:rPr>
              <a:t>La prime de 13 % vs médiane sectorielle (P/E 33,9x vs 30x) est justifiée par la qualité des actifs et la résilience des marges. Une convergence vers la médiane impliquerait un downside de ~10 %.</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USD  ·  Au 9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258,90 $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278,32 $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199,98 $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+29,5 %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Cours en hausse de +29,5 % sur 12 mois</a:t>
            </a:r>
          </a:p>
        </p:txBody>
      </p:sp>
      <p:pic>
        <p:nvPicPr>
          <p:cNvPr id="34" name="Picture 33" descr="image.png"/>
          <p:cNvPicPr>
            <a:picLocks noChangeAspect="1"/>
          </p:cNvPicPr>
          <p:nvPr/>
        </p:nvPicPr>
        <p:blipFill>
          <a:blip r:embed="rId2"/>
          <a:stretch>
            <a:fillRect/>
          </a:stretch>
        </p:blipFill>
        <p:spPr>
          <a:xfrm>
            <a:off x="367200" y="2102400"/>
            <a:ext cx="8413200" cy="1828800"/>
          </a:xfrm>
          <a:prstGeom prst="rect">
            <a:avLst/>
          </a:prstGeom>
        </p:spPr>
      </p:pic>
      <p:sp>
        <p:nvSpPr>
          <p:cNvPr id="35" name="Rectangle 34"/>
          <p:cNvSpPr/>
          <p:nvPr/>
        </p:nvSpPr>
        <p:spPr>
          <a:xfrm>
            <a:off x="367200" y="4132800"/>
            <a:ext cx="8413200" cy="6876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67200" y="4132800"/>
            <a:ext cx="79200" cy="687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75200" y="4161600"/>
            <a:ext cx="8298000" cy="651599"/>
          </a:xfrm>
          <a:prstGeom prst="rect">
            <a:avLst/>
          </a:prstGeom>
          <a:noFill/>
        </p:spPr>
        <p:txBody>
          <a:bodyPr wrap="square">
            <a:spAutoFit/>
          </a:bodyPr>
          <a:lstStyle/>
          <a:p>
            <a:pPr algn="l"/>
            <a:r>
              <a:rPr sz="850" b="0" i="0">
                <a:solidFill>
                  <a:srgbClr val="555555"/>
                </a:solidFill>
                <a:latin typeface="Calibri"/>
              </a:rPr>
              <a:t>Apple affiche une résilience exceptionnelle avec une croissance du CA de +6,4 % en 2025 et des marges nettes à 26,9 %. La valorisation reste élevée (P/E 33,9x vs médiane sectorielle 30x), mais justifiée par un écosystème intégré et un pricing power durable.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Conviction &amp; Thèse d’Investissement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FinSight IA  ·  Rapport 9 avril 2026</a:t>
            </a:r>
          </a:p>
        </p:txBody>
      </p:sp>
      <p:sp>
        <p:nvSpPr>
          <p:cNvPr id="17" name="Rectangle 16"/>
          <p:cNvSpPr/>
          <p:nvPr/>
        </p:nvSpPr>
        <p:spPr>
          <a:xfrm>
            <a:off x="324000" y="827999"/>
            <a:ext cx="2700000" cy="1260000"/>
          </a:xfrm>
          <a:prstGeom prst="rect">
            <a:avLst/>
          </a:prstGeom>
          <a:solidFill>
            <a:srgbClr val="E8F5E9"/>
          </a:solidFill>
          <a:ln w="25400">
            <a:solidFill>
              <a:srgbClr val="1A7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4000" y="864000"/>
            <a:ext cx="2700000" cy="396000"/>
          </a:xfrm>
          <a:prstGeom prst="rect">
            <a:avLst/>
          </a:prstGeom>
          <a:noFill/>
        </p:spPr>
        <p:txBody>
          <a:bodyPr wrap="square">
            <a:spAutoFit/>
          </a:bodyPr>
          <a:lstStyle/>
          <a:p>
            <a:pPr algn="ctr"/>
            <a:r>
              <a:rPr sz="3600" b="1" i="0">
                <a:solidFill>
                  <a:srgbClr val="1A7A4A"/>
                </a:solidFill>
                <a:latin typeface="Calibri"/>
              </a:rPr>
              <a:t>BUY</a:t>
            </a:r>
          </a:p>
        </p:txBody>
      </p:sp>
      <p:sp>
        <p:nvSpPr>
          <p:cNvPr id="19" name="TextBox 18"/>
          <p:cNvSpPr txBox="1"/>
          <p:nvPr/>
        </p:nvSpPr>
        <p:spPr>
          <a:xfrm>
            <a:off x="324000" y="1278000"/>
            <a:ext cx="2700000" cy="198000"/>
          </a:xfrm>
          <a:prstGeom prst="rect">
            <a:avLst/>
          </a:prstGeom>
          <a:noFill/>
        </p:spPr>
        <p:txBody>
          <a:bodyPr wrap="square">
            <a:spAutoFit/>
          </a:bodyPr>
          <a:lstStyle/>
          <a:p>
            <a:pPr algn="ctr"/>
            <a:r>
              <a:rPr sz="1100" b="0" i="0">
                <a:solidFill>
                  <a:srgbClr val="555555"/>
                </a:solidFill>
                <a:latin typeface="Calibri"/>
              </a:rPr>
              <a:t>Conviction : 78%</a:t>
            </a:r>
          </a:p>
        </p:txBody>
      </p:sp>
      <p:sp>
        <p:nvSpPr>
          <p:cNvPr id="20" name="TextBox 19"/>
          <p:cNvSpPr txBox="1"/>
          <p:nvPr/>
        </p:nvSpPr>
        <p:spPr>
          <a:xfrm>
            <a:off x="324000" y="1494000"/>
            <a:ext cx="2700000" cy="198000"/>
          </a:xfrm>
          <a:prstGeom prst="rect">
            <a:avLst/>
          </a:prstGeom>
          <a:noFill/>
        </p:spPr>
        <p:txBody>
          <a:bodyPr wrap="square">
            <a:spAutoFit/>
          </a:bodyPr>
          <a:lstStyle/>
          <a:p>
            <a:pPr algn="ctr"/>
            <a:r>
              <a:rPr sz="850" b="0" i="0">
                <a:solidFill>
                  <a:srgbClr val="555555"/>
                </a:solidFill>
                <a:latin typeface="Calibri"/>
              </a:rPr>
              <a:t>9 avril 2026</a:t>
            </a:r>
          </a:p>
        </p:txBody>
      </p:sp>
      <p:sp>
        <p:nvSpPr>
          <p:cNvPr id="21" name="Rectangle 20"/>
          <p:cNvSpPr/>
          <p:nvPr/>
        </p:nvSpPr>
        <p:spPr>
          <a:xfrm>
            <a:off x="324000" y="2196000"/>
            <a:ext cx="2700000" cy="1980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2196000"/>
            <a:ext cx="2106000" cy="19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051999"/>
            <a:ext cx="2700000" cy="136800"/>
          </a:xfrm>
          <a:prstGeom prst="rect">
            <a:avLst/>
          </a:prstGeom>
          <a:noFill/>
        </p:spPr>
        <p:txBody>
          <a:bodyPr wrap="square">
            <a:spAutoFit/>
          </a:bodyPr>
          <a:lstStyle/>
          <a:p>
            <a:pPr algn="l"/>
            <a:r>
              <a:rPr sz="700" b="1" i="0">
                <a:solidFill>
                  <a:srgbClr val="1B3A6B"/>
                </a:solidFill>
                <a:latin typeface="Calibri"/>
              </a:rPr>
              <a:t>NIVEAU DE CONVICTION</a:t>
            </a:r>
          </a:p>
        </p:txBody>
      </p:sp>
      <p:sp>
        <p:nvSpPr>
          <p:cNvPr id="24" name="Rectangle 23"/>
          <p:cNvSpPr/>
          <p:nvPr/>
        </p:nvSpPr>
        <p:spPr>
          <a:xfrm>
            <a:off x="324000" y="2520000"/>
            <a:ext cx="2700000" cy="27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0000" y="2538000"/>
            <a:ext cx="2628000" cy="234000"/>
          </a:xfrm>
          <a:prstGeom prst="rect">
            <a:avLst/>
          </a:prstGeom>
          <a:noFill/>
        </p:spPr>
        <p:txBody>
          <a:bodyPr wrap="square">
            <a:spAutoFit/>
          </a:bodyPr>
          <a:lstStyle/>
          <a:p>
            <a:pPr algn="l"/>
            <a:r>
              <a:rPr sz="850" b="1" i="0">
                <a:solidFill>
                  <a:srgbClr val="1A7A4A"/>
                </a:solidFill>
                <a:latin typeface="Calibri"/>
              </a:rPr>
              <a:t>Delta conviction : +28% vs Avocat du Diable</a:t>
            </a:r>
          </a:p>
        </p:txBody>
      </p:sp>
      <p:sp>
        <p:nvSpPr>
          <p:cNvPr id="26" name="Rectangle 25"/>
          <p:cNvSpPr/>
          <p:nvPr/>
        </p:nvSpPr>
        <p:spPr>
          <a:xfrm>
            <a:off x="3311999" y="827999"/>
            <a:ext cx="5472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66000" y="846000"/>
            <a:ext cx="5400000" cy="162000"/>
          </a:xfrm>
          <a:prstGeom prst="rect">
            <a:avLst/>
          </a:prstGeom>
          <a:noFill/>
        </p:spPr>
        <p:txBody>
          <a:bodyPr wrap="square">
            <a:spAutoFit/>
          </a:bodyPr>
          <a:lstStyle/>
          <a:p>
            <a:pPr algn="l"/>
            <a:r>
              <a:rPr sz="800" b="1" i="0">
                <a:solidFill>
                  <a:srgbClr val="FFFFFF"/>
                </a:solidFill>
                <a:latin typeface="Calibri"/>
              </a:rPr>
              <a:t>THÈSE D’INVESTISSEMENT</a:t>
            </a:r>
          </a:p>
        </p:txBody>
      </p:sp>
      <p:sp>
        <p:nvSpPr>
          <p:cNvPr id="28" name="Rectangle 27"/>
          <p:cNvSpPr/>
          <p:nvPr/>
        </p:nvSpPr>
        <p:spPr>
          <a:xfrm>
            <a:off x="3311999" y="1062000"/>
            <a:ext cx="36000" cy="28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01999" y="1080000"/>
            <a:ext cx="5346000" cy="270000"/>
          </a:xfrm>
          <a:prstGeom prst="rect">
            <a:avLst/>
          </a:prstGeom>
          <a:noFill/>
        </p:spPr>
        <p:txBody>
          <a:bodyPr wrap="square">
            <a:spAutoFit/>
          </a:bodyPr>
          <a:lstStyle/>
          <a:p>
            <a:pPr algn="l"/>
            <a:r>
              <a:rPr sz="850" b="0" i="0">
                <a:solidFill>
                  <a:srgbClr val="555555"/>
                </a:solidFill>
                <a:latin typeface="Calibri"/>
              </a:rPr>
              <a:t>Croissance des services à +12 % YoY avec marge brute &gt;70 % grâce à l’expansion de l’App Store et des abonnements</a:t>
            </a:r>
          </a:p>
        </p:txBody>
      </p:sp>
      <p:sp>
        <p:nvSpPr>
          <p:cNvPr id="30" name="Rectangle 29"/>
          <p:cNvSpPr/>
          <p:nvPr/>
        </p:nvSpPr>
        <p:spPr>
          <a:xfrm>
            <a:off x="3311999" y="1404000"/>
            <a:ext cx="36000" cy="28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01999" y="1422000"/>
            <a:ext cx="5346000" cy="270000"/>
          </a:xfrm>
          <a:prstGeom prst="rect">
            <a:avLst/>
          </a:prstGeom>
          <a:noFill/>
        </p:spPr>
        <p:txBody>
          <a:bodyPr wrap="square">
            <a:spAutoFit/>
          </a:bodyPr>
          <a:lstStyle/>
          <a:p>
            <a:pPr algn="l"/>
            <a:r>
              <a:rPr sz="850" b="0" i="0">
                <a:solidFill>
                  <a:srgbClr val="555555"/>
                </a:solidFill>
                <a:latin typeface="Calibri"/>
              </a:rPr>
              <a:t>Déploiement de l’IA générative sur iPhone 16e (2026) avec potentiel de +5 % de prix moyen</a:t>
            </a:r>
          </a:p>
        </p:txBody>
      </p:sp>
      <p:sp>
        <p:nvSpPr>
          <p:cNvPr id="32" name="Rectangle 31"/>
          <p:cNvSpPr/>
          <p:nvPr/>
        </p:nvSpPr>
        <p:spPr>
          <a:xfrm>
            <a:off x="3311999" y="1746000"/>
            <a:ext cx="36000" cy="28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01999" y="1764000"/>
            <a:ext cx="5346000" cy="270000"/>
          </a:xfrm>
          <a:prstGeom prst="rect">
            <a:avLst/>
          </a:prstGeom>
          <a:noFill/>
        </p:spPr>
        <p:txBody>
          <a:bodyPr wrap="square">
            <a:spAutoFit/>
          </a:bodyPr>
          <a:lstStyle/>
          <a:p>
            <a:pPr algn="l"/>
            <a:r>
              <a:rPr sz="850" b="0" i="0">
                <a:solidFill>
                  <a:srgbClr val="555555"/>
                </a:solidFill>
                <a:latin typeface="Calibri"/>
              </a:rPr>
              <a:t>Rachats d’actions de 100 Mds$ annoncés pour 2026, soutenant la valorisation à 33,9x P/E.</a:t>
            </a:r>
          </a:p>
        </p:txBody>
      </p:sp>
      <p:sp>
        <p:nvSpPr>
          <p:cNvPr id="34" name="Rectangle 33"/>
          <p:cNvSpPr/>
          <p:nvPr/>
        </p:nvSpPr>
        <p:spPr>
          <a:xfrm>
            <a:off x="3311999" y="2196000"/>
            <a:ext cx="26640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366000" y="2214000"/>
            <a:ext cx="2592000" cy="144000"/>
          </a:xfrm>
          <a:prstGeom prst="rect">
            <a:avLst/>
          </a:prstGeom>
          <a:noFill/>
        </p:spPr>
        <p:txBody>
          <a:bodyPr wrap="square">
            <a:spAutoFit/>
          </a:bodyPr>
          <a:lstStyle/>
          <a:p>
            <a:pPr algn="l"/>
            <a:r>
              <a:rPr sz="750" b="1" i="0">
                <a:solidFill>
                  <a:srgbClr val="FFFFFF"/>
                </a:solidFill>
                <a:latin typeface="Calibri"/>
              </a:rPr>
              <a:t>CATALYSEURS BULLS</a:t>
            </a:r>
          </a:p>
        </p:txBody>
      </p:sp>
      <p:sp>
        <p:nvSpPr>
          <p:cNvPr id="36" name="TextBox 35"/>
          <p:cNvSpPr txBox="1"/>
          <p:nvPr/>
        </p:nvSpPr>
        <p:spPr>
          <a:xfrm>
            <a:off x="3401999" y="2412000"/>
            <a:ext cx="2556000" cy="234000"/>
          </a:xfrm>
          <a:prstGeom prst="rect">
            <a:avLst/>
          </a:prstGeom>
          <a:noFill/>
        </p:spPr>
        <p:txBody>
          <a:bodyPr wrap="square">
            <a:spAutoFit/>
          </a:bodyPr>
          <a:lstStyle/>
          <a:p>
            <a:pPr algn="l"/>
            <a:r>
              <a:rPr sz="700" b="0" i="0">
                <a:solidFill>
                  <a:srgbClr val="555555"/>
                </a:solidFill>
                <a:latin typeface="Calibri"/>
              </a:rPr>
              <a:t>• Déploiement IA générative sur iPhone 16e en 2026 avec potentiel de +15 USD de CA par unité |</a:t>
            </a:r>
          </a:p>
        </p:txBody>
      </p:sp>
      <p:sp>
        <p:nvSpPr>
          <p:cNvPr id="37" name="Rectangle 36"/>
          <p:cNvSpPr/>
          <p:nvPr/>
        </p:nvSpPr>
        <p:spPr>
          <a:xfrm>
            <a:off x="6120000" y="2196000"/>
            <a:ext cx="24480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56000" y="2214000"/>
            <a:ext cx="2376000" cy="144000"/>
          </a:xfrm>
          <a:prstGeom prst="rect">
            <a:avLst/>
          </a:prstGeom>
          <a:noFill/>
        </p:spPr>
        <p:txBody>
          <a:bodyPr wrap="square">
            <a:spAutoFit/>
          </a:bodyPr>
          <a:lstStyle/>
          <a:p>
            <a:pPr algn="l"/>
            <a:r>
              <a:rPr sz="750" b="1" i="0">
                <a:solidFill>
                  <a:srgbClr val="FFFFFF"/>
                </a:solidFill>
                <a:latin typeface="Calibri"/>
              </a:rPr>
              <a:t>RISQUES BEARS</a:t>
            </a:r>
          </a:p>
        </p:txBody>
      </p:sp>
      <p:sp>
        <p:nvSpPr>
          <p:cNvPr id="39" name="TextBox 38"/>
          <p:cNvSpPr txBox="1"/>
          <p:nvPr/>
        </p:nvSpPr>
        <p:spPr>
          <a:xfrm>
            <a:off x="6156000" y="2412000"/>
            <a:ext cx="2376000" cy="234000"/>
          </a:xfrm>
          <a:prstGeom prst="rect">
            <a:avLst/>
          </a:prstGeom>
          <a:noFill/>
        </p:spPr>
        <p:txBody>
          <a:bodyPr wrap="square">
            <a:spAutoFit/>
          </a:bodyPr>
          <a:lstStyle/>
          <a:p>
            <a:pPr algn="l"/>
            <a:r>
              <a:rPr sz="700" b="0" i="0">
                <a:solidFill>
                  <a:srgbClr val="555555"/>
                </a:solidFill>
                <a:latin typeface="Calibri"/>
              </a:rPr>
              <a:t>• Ralentissement de la demande premium en Chine (-5 % CA 2026) avec pression sur les marges |</a:t>
            </a:r>
          </a:p>
        </p:txBody>
      </p:sp>
      <p:sp>
        <p:nvSpPr>
          <p:cNvPr id="40" name="Rectangle 39"/>
          <p:cNvSpPr/>
          <p:nvPr/>
        </p:nvSpPr>
        <p:spPr>
          <a:xfrm>
            <a:off x="3311999" y="2815200"/>
            <a:ext cx="5472000" cy="2160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311999" y="2815200"/>
            <a:ext cx="36000" cy="21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401999" y="2829600"/>
            <a:ext cx="5346000" cy="198000"/>
          </a:xfrm>
          <a:prstGeom prst="rect">
            <a:avLst/>
          </a:prstGeom>
          <a:noFill/>
        </p:spPr>
        <p:txBody>
          <a:bodyPr wrap="square">
            <a:spAutoFit/>
          </a:bodyPr>
          <a:lstStyle/>
          <a:p>
            <a:pPr algn="l"/>
            <a:r>
              <a:rPr sz="750" b="0" i="0">
                <a:solidFill>
                  <a:srgbClr val="7A5000"/>
                </a:solidFill>
                <a:latin typeface="Calibri"/>
              </a:rPr>
              <a:t>⚠ Conditions d’invalidation : Macro: Récession mondiale avec baisse du CA iPhone de -15 % en 2026  ·  Sectoriel: Régulation stricte sur les commissions App Store réduisant les revenus</a:t>
            </a:r>
          </a:p>
        </p:txBody>
      </p:sp>
      <p:sp>
        <p:nvSpPr>
          <p:cNvPr id="43" name="TextBox 42"/>
          <p:cNvSpPr txBox="1"/>
          <p:nvPr/>
        </p:nvSpPr>
        <p:spPr>
          <a:xfrm>
            <a:off x="324000" y="4752000"/>
            <a:ext cx="8496000" cy="162000"/>
          </a:xfrm>
          <a:prstGeom prst="rect">
            <a:avLst/>
          </a:prstGeom>
          <a:noFill/>
        </p:spPr>
        <p:txBody>
          <a:bodyPr wrap="square">
            <a:spAutoFit/>
          </a:bodyPr>
          <a:lstStyle/>
          <a:p>
            <a:pPr algn="l"/>
            <a:r>
              <a:rPr sz="700" b="0" i="0">
                <a:solidFill>
                  <a:srgbClr val="555555"/>
                </a:solidFill>
                <a:latin typeface="Calibri"/>
              </a:rPr>
              <a:t>FinSight IA genere cette analyse a un instant T. Pour le suivi dans le temps, comparer les rapports successifs. La conviction reflete les donnees disponibles a la date d'analyse.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