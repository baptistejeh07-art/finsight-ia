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794232"/>
          </a:xfrm>
          <a:prstGeom prst="rect">
            <a:avLst/>
          </a:prstGeom>
          <a:noFill/>
        </p:spPr>
        <p:txBody>
          <a:bodyPr wrap="square">
            <a:spAutoFit/>
          </a:bodyPr>
          <a:lstStyle/>
          <a:p>
            <a:pPr algn="ctr"/>
            <a:r>
              <a:rPr sz="4000" b="1" i="0">
                <a:solidFill>
                  <a:srgbClr val="1B3A6B"/>
                </a:solidFill>
                <a:latin typeface="Calibri"/>
              </a:rPr>
              <a:t>Apple Inc.</a:t>
            </a:r>
          </a:p>
        </p:txBody>
      </p:sp>
      <p:sp>
        <p:nvSpPr>
          <p:cNvPr id="7" name="TextBox 6"/>
          <p:cNvSpPr txBox="1"/>
          <p:nvPr/>
        </p:nvSpPr>
        <p:spPr>
          <a:xfrm>
            <a:off x="457200" y="2345832"/>
            <a:ext cx="8229600" cy="255600"/>
          </a:xfrm>
          <a:prstGeom prst="rect">
            <a:avLst/>
          </a:prstGeom>
          <a:noFill/>
        </p:spPr>
        <p:txBody>
          <a:bodyPr wrap="square">
            <a:spAutoFit/>
          </a:bodyPr>
          <a:lstStyle/>
          <a:p>
            <a:pPr algn="ctr"/>
            <a:r>
              <a:rPr sz="1100" b="0" i="0">
                <a:solidFill>
                  <a:srgbClr val="888888"/>
                </a:solidFill>
                <a:latin typeface="Calibri"/>
              </a:rPr>
              <a:t>AAPL  ·  Technology</a:t>
            </a:r>
          </a:p>
        </p:txBody>
      </p:sp>
      <p:sp>
        <p:nvSpPr>
          <p:cNvPr id="8" name="Rectangle 7"/>
          <p:cNvSpPr/>
          <p:nvPr/>
        </p:nvSpPr>
        <p:spPr>
          <a:xfrm>
            <a:off x="2771999" y="2720232"/>
            <a:ext cx="36000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26000" y="2738232"/>
            <a:ext cx="3491999" cy="395999"/>
          </a:xfrm>
          <a:prstGeom prst="rect">
            <a:avLst/>
          </a:prstGeom>
          <a:noFill/>
        </p:spPr>
        <p:txBody>
          <a:bodyPr wrap="square">
            <a:spAutoFit/>
          </a:bodyPr>
          <a:lstStyle/>
          <a:p>
            <a:pPr algn="ctr"/>
            <a:r>
              <a:rPr sz="900" b="1" i="0">
                <a:solidFill>
                  <a:srgbClr val="FFFFFF"/>
                </a:solidFill>
                <a:latin typeface="Calibri"/>
              </a:rPr>
              <a:t>● BUY  ·  Prix cible base : 275 $  ·  Upside : +7,5 %</a:t>
            </a:r>
          </a:p>
        </p:txBody>
      </p:sp>
      <p:sp>
        <p:nvSpPr>
          <p:cNvPr id="10" name="Rectangle 9"/>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2" name="TextBox 11"/>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3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1A7A4A"/>
                </a:solidFill>
                <a:latin typeface="Calibri"/>
              </a:rPr>
              <a:t>● BUY</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275 $  ·  Upside : +7,5 %  ·  Bear : 220 $ (-14,0 %)  ·  Bull : 310 $ (+21,1 %)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Écosystème fermé</a:t>
            </a:r>
          </a:p>
        </p:txBody>
      </p:sp>
      <p:sp>
        <p:nvSpPr>
          <p:cNvPr id="14" name="TextBox 13"/>
          <p:cNvSpPr txBox="1"/>
          <p:nvPr/>
        </p:nvSpPr>
        <p:spPr>
          <a:xfrm>
            <a:off x="503999" y="1814400"/>
            <a:ext cx="3931200" cy="327600"/>
          </a:xfrm>
          <a:prstGeom prst="rect">
            <a:avLst/>
          </a:prstGeom>
          <a:noFill/>
        </p:spPr>
        <p:txBody>
          <a:bodyPr wrap="square">
            <a:spAutoFit/>
          </a:bodyPr>
          <a:lstStyle/>
          <a:p>
            <a:pPr algn="l"/>
            <a:r>
              <a:rPr sz="750" b="0" i="0">
                <a:solidFill>
                  <a:srgbClr val="333333"/>
                </a:solidFill>
                <a:latin typeface="Calibri"/>
              </a:rPr>
              <a:t>Apple devrait bénéficier d'une accélération des ventes d'iPhone en Chine avec une part de marché passant de 20% à 24% d'ici 2027 grâce à l'iPhone 17</a:t>
            </a:r>
          </a:p>
        </p:txBody>
      </p:sp>
      <p:sp>
        <p:nvSpPr>
          <p:cNvPr id="15" name="Rectangle 14"/>
          <p:cNvSpPr/>
          <p:nvPr/>
        </p:nvSpPr>
        <p:spPr>
          <a:xfrm>
            <a:off x="367200" y="2196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78000"/>
            <a:ext cx="3931200" cy="183600"/>
          </a:xfrm>
          <a:prstGeom prst="rect">
            <a:avLst/>
          </a:prstGeom>
          <a:noFill/>
        </p:spPr>
        <p:txBody>
          <a:bodyPr wrap="square">
            <a:spAutoFit/>
          </a:bodyPr>
          <a:lstStyle/>
          <a:p>
            <a:pPr algn="l"/>
            <a:r>
              <a:rPr sz="850" b="1" i="0">
                <a:solidFill>
                  <a:srgbClr val="1B3A6B"/>
                </a:solidFill>
                <a:latin typeface="Calibri"/>
              </a:rPr>
              <a:t>Pricing power</a:t>
            </a:r>
          </a:p>
        </p:txBody>
      </p:sp>
      <p:sp>
        <p:nvSpPr>
          <p:cNvPr id="17" name="TextBox 16"/>
          <p:cNvSpPr txBox="1"/>
          <p:nvPr/>
        </p:nvSpPr>
        <p:spPr>
          <a:xfrm>
            <a:off x="503999" y="2347200"/>
            <a:ext cx="3931200" cy="327600"/>
          </a:xfrm>
          <a:prstGeom prst="rect">
            <a:avLst/>
          </a:prstGeom>
          <a:noFill/>
        </p:spPr>
        <p:txBody>
          <a:bodyPr wrap="square">
            <a:spAutoFit/>
          </a:bodyPr>
          <a:lstStyle/>
          <a:p>
            <a:pPr algn="l"/>
            <a:r>
              <a:rPr sz="750" b="0" i="0">
                <a:solidFill>
                  <a:srgbClr val="333333"/>
                </a:solidFill>
                <a:latin typeface="Calibri"/>
              </a:rPr>
              <a:t>La marge nette pourrait atteindre 28% en 2027 via une hausse des services à 25% du CA et une optimisation des coûts R&amp;D</a:t>
            </a:r>
          </a:p>
        </p:txBody>
      </p:sp>
      <p:sp>
        <p:nvSpPr>
          <p:cNvPr id="18" name="Rectangle 17"/>
          <p:cNvSpPr/>
          <p:nvPr/>
        </p:nvSpPr>
        <p:spPr>
          <a:xfrm>
            <a:off x="367200" y="2728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10800"/>
            <a:ext cx="3931200" cy="183600"/>
          </a:xfrm>
          <a:prstGeom prst="rect">
            <a:avLst/>
          </a:prstGeom>
          <a:noFill/>
        </p:spPr>
        <p:txBody>
          <a:bodyPr wrap="square">
            <a:spAutoFit/>
          </a:bodyPr>
          <a:lstStyle/>
          <a:p>
            <a:pPr algn="l"/>
            <a:r>
              <a:rPr sz="850" b="1" i="0">
                <a:solidFill>
                  <a:srgbClr val="1B3A6B"/>
                </a:solidFill>
                <a:latin typeface="Calibri"/>
              </a:rPr>
              <a:t>Cash flow record</a:t>
            </a:r>
          </a:p>
        </p:txBody>
      </p:sp>
      <p:sp>
        <p:nvSpPr>
          <p:cNvPr id="20" name="TextBox 19"/>
          <p:cNvSpPr txBox="1"/>
          <p:nvPr/>
        </p:nvSpPr>
        <p:spPr>
          <a:xfrm>
            <a:off x="503999" y="2880000"/>
            <a:ext cx="3931200" cy="327600"/>
          </a:xfrm>
          <a:prstGeom prst="rect">
            <a:avLst/>
          </a:prstGeom>
          <a:noFill/>
        </p:spPr>
        <p:txBody>
          <a:bodyPr wrap="square">
            <a:spAutoFit/>
          </a:bodyPr>
          <a:lstStyle/>
          <a:p>
            <a:pPr algn="l"/>
            <a:r>
              <a:rPr sz="750" b="0" i="0">
                <a:solidFill>
                  <a:srgbClr val="333333"/>
                </a:solidFill>
                <a:latin typeface="Calibri"/>
              </a:rPr>
              <a:t>Le FCF devrait croître de 8% par an, atteignant 120Mds$ en 2027, soutenant un dividende en hausse de 5% annuel.</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Régulation App Store</a:t>
            </a:r>
          </a:p>
        </p:txBody>
      </p:sp>
      <p:sp>
        <p:nvSpPr>
          <p:cNvPr id="25" name="TextBox 24"/>
          <p:cNvSpPr txBox="1"/>
          <p:nvPr/>
        </p:nvSpPr>
        <p:spPr>
          <a:xfrm>
            <a:off x="4845600" y="1814400"/>
            <a:ext cx="3794399" cy="327600"/>
          </a:xfrm>
          <a:prstGeom prst="rect">
            <a:avLst/>
          </a:prstGeom>
          <a:noFill/>
        </p:spPr>
        <p:txBody>
          <a:bodyPr wrap="square">
            <a:spAutoFit/>
          </a:bodyPr>
          <a:lstStyle/>
          <a:p>
            <a:pPr algn="l"/>
            <a:r>
              <a:rPr sz="750" b="0" i="0">
                <a:solidFill>
                  <a:srgbClr val="333333"/>
                </a:solidFill>
                <a:latin typeface="Calibri"/>
              </a:rPr>
              <a:t>Régulation App Store en UE/US en 2026 pourrait réduire les marges services de 150bps | Concurrence accrue en wearables (Samsung, Huawei) avec perte de 3% de part de marché d'ici 2027 | Ralentissement…</a:t>
            </a:r>
          </a:p>
        </p:txBody>
      </p:sp>
      <p:sp>
        <p:nvSpPr>
          <p:cNvPr id="26" name="Rectangle 25"/>
          <p:cNvSpPr/>
          <p:nvPr/>
        </p:nvSpPr>
        <p:spPr>
          <a:xfrm>
            <a:off x="4708800" y="2196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78000"/>
            <a:ext cx="3794399" cy="183600"/>
          </a:xfrm>
          <a:prstGeom prst="rect">
            <a:avLst/>
          </a:prstGeom>
          <a:noFill/>
        </p:spPr>
        <p:txBody>
          <a:bodyPr wrap="square">
            <a:spAutoFit/>
          </a:bodyPr>
          <a:lstStyle/>
          <a:p>
            <a:pPr algn="l"/>
            <a:r>
              <a:rPr sz="850" b="1" i="0">
                <a:solidFill>
                  <a:srgbClr val="1B3A6B"/>
                </a:solidFill>
                <a:latin typeface="Calibri"/>
              </a:rPr>
              <a:t>Concurrence hardware</a:t>
            </a:r>
          </a:p>
        </p:txBody>
      </p:sp>
      <p:sp>
        <p:nvSpPr>
          <p:cNvPr id="28" name="TextBox 27"/>
          <p:cNvSpPr txBox="1"/>
          <p:nvPr/>
        </p:nvSpPr>
        <p:spPr>
          <a:xfrm>
            <a:off x="4845600" y="2347200"/>
            <a:ext cx="3794399" cy="327600"/>
          </a:xfrm>
          <a:prstGeom prst="rect">
            <a:avLst/>
          </a:prstGeom>
          <a:noFill/>
        </p:spPr>
        <p:txBody>
          <a:bodyPr wrap="square">
            <a:spAutoFit/>
          </a:bodyPr>
          <a:lstStyle/>
          <a:p>
            <a:pPr algn="l"/>
            <a:r>
              <a:rPr sz="750" b="0" i="0">
                <a:solidFill>
                  <a:srgbClr val="333333"/>
                </a:solidFill>
                <a:latin typeface="Calibri"/>
              </a:rPr>
              <a:t>Régulation App Store en UE/US en 2026 pourrait réduire les marges services de 150bps</a:t>
            </a:r>
          </a:p>
        </p:txBody>
      </p:sp>
      <p:sp>
        <p:nvSpPr>
          <p:cNvPr id="29" name="Rectangle 28"/>
          <p:cNvSpPr/>
          <p:nvPr/>
        </p:nvSpPr>
        <p:spPr>
          <a:xfrm>
            <a:off x="4708800" y="2728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10800"/>
            <a:ext cx="3794399" cy="183600"/>
          </a:xfrm>
          <a:prstGeom prst="rect">
            <a:avLst/>
          </a:prstGeom>
          <a:noFill/>
        </p:spPr>
        <p:txBody>
          <a:bodyPr wrap="square">
            <a:spAutoFit/>
          </a:bodyPr>
          <a:lstStyle/>
          <a:p>
            <a:pPr algn="l"/>
            <a:r>
              <a:rPr sz="850" b="1" i="0">
                <a:solidFill>
                  <a:srgbClr val="1B3A6B"/>
                </a:solidFill>
                <a:latin typeface="Calibri"/>
              </a:rPr>
              <a:t>Dépendance Chine</a:t>
            </a:r>
          </a:p>
        </p:txBody>
      </p:sp>
      <p:sp>
        <p:nvSpPr>
          <p:cNvPr id="31" name="TextBox 30"/>
          <p:cNvSpPr txBox="1"/>
          <p:nvPr/>
        </p:nvSpPr>
        <p:spPr>
          <a:xfrm>
            <a:off x="4845600" y="2880000"/>
            <a:ext cx="3794399" cy="327600"/>
          </a:xfrm>
          <a:prstGeom prst="rect">
            <a:avLst/>
          </a:prstGeom>
          <a:noFill/>
        </p:spPr>
        <p:txBody>
          <a:bodyPr wrap="square">
            <a:spAutoFit/>
          </a:bodyPr>
          <a:lstStyle/>
          <a:p>
            <a:pPr algn="l"/>
            <a:r>
              <a:rPr sz="750" b="0" i="0">
                <a:solidFill>
                  <a:srgbClr val="333333"/>
                </a:solidFill>
                <a:latin typeface="Calibri"/>
              </a:rPr>
              <a:t>Concurrence accrue en wearables (Samsung, Huawei) avec perte de 3% de part de marché d'ici 2027</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3430800"/>
            <a:ext cx="1893600" cy="396000"/>
          </a:xfrm>
          <a:prstGeom prst="rect">
            <a:avLst/>
          </a:prstGeom>
          <a:noFill/>
        </p:spPr>
        <p:txBody>
          <a:bodyPr wrap="square">
            <a:spAutoFit/>
          </a:bodyPr>
          <a:lstStyle/>
          <a:p>
            <a:pPr algn="l"/>
            <a:r>
              <a:rPr sz="1900" b="1" i="0">
                <a:solidFill>
                  <a:srgbClr val="1B3A6B"/>
                </a:solidFill>
                <a:latin typeface="Calibri"/>
              </a:rPr>
              <a:t>26,4x</a:t>
            </a:r>
          </a:p>
        </p:txBody>
      </p:sp>
      <p:sp>
        <p:nvSpPr>
          <p:cNvPr id="37" name="TextBox 36"/>
          <p:cNvSpPr txBox="1"/>
          <p:nvPr/>
        </p:nvSpPr>
        <p:spPr>
          <a:xfrm>
            <a:off x="457200" y="38268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38" name="TextBox 37"/>
          <p:cNvSpPr txBox="1"/>
          <p:nvPr/>
        </p:nvSpPr>
        <p:spPr>
          <a:xfrm>
            <a:off x="457200" y="4024800"/>
            <a:ext cx="1893600" cy="165600"/>
          </a:xfrm>
          <a:prstGeom prst="rect">
            <a:avLst/>
          </a:prstGeom>
          <a:noFill/>
        </p:spPr>
        <p:txBody>
          <a:bodyPr wrap="square">
            <a:spAutoFit/>
          </a:bodyPr>
          <a:lstStyle/>
          <a:p>
            <a:pPr algn="l"/>
            <a:r>
              <a:rPr sz="700" b="0" i="0">
                <a:solidFill>
                  <a:srgbClr val="888888"/>
                </a:solidFill>
                <a:latin typeface="Calibri"/>
              </a:rPr>
              <a:t>vs 18,5x médiane peers</a:t>
            </a:r>
          </a:p>
        </p:txBody>
      </p:sp>
      <p:sp>
        <p:nvSpPr>
          <p:cNvPr id="39" name="Rectangle 38"/>
          <p:cNvSpPr/>
          <p:nvPr/>
        </p:nvSpPr>
        <p:spPr>
          <a:xfrm>
            <a:off x="24876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4876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577600" y="3430800"/>
            <a:ext cx="1893600" cy="396000"/>
          </a:xfrm>
          <a:prstGeom prst="rect">
            <a:avLst/>
          </a:prstGeom>
          <a:noFill/>
        </p:spPr>
        <p:txBody>
          <a:bodyPr wrap="square">
            <a:spAutoFit/>
          </a:bodyPr>
          <a:lstStyle/>
          <a:p>
            <a:pPr algn="l"/>
            <a:r>
              <a:rPr sz="1900" b="1" i="0">
                <a:solidFill>
                  <a:srgbClr val="1B3A6B"/>
                </a:solidFill>
                <a:latin typeface="Calibri"/>
              </a:rPr>
              <a:t>10,3 %</a:t>
            </a:r>
          </a:p>
        </p:txBody>
      </p:sp>
      <p:sp>
        <p:nvSpPr>
          <p:cNvPr id="42" name="TextBox 41"/>
          <p:cNvSpPr txBox="1"/>
          <p:nvPr/>
        </p:nvSpPr>
        <p:spPr>
          <a:xfrm>
            <a:off x="2577600" y="38268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43" name="TextBox 42"/>
          <p:cNvSpPr txBox="1"/>
          <p:nvPr/>
        </p:nvSpPr>
        <p:spPr>
          <a:xfrm>
            <a:off x="2577600" y="4024800"/>
            <a:ext cx="1893600" cy="165600"/>
          </a:xfrm>
          <a:prstGeom prst="rect">
            <a:avLst/>
          </a:prstGeom>
          <a:noFill/>
        </p:spPr>
        <p:txBody>
          <a:bodyPr wrap="square">
            <a:spAutoFit/>
          </a:bodyPr>
          <a:lstStyle/>
          <a:p>
            <a:pPr algn="l"/>
            <a:r>
              <a:rPr sz="700" b="0" i="0">
                <a:solidFill>
                  <a:srgbClr val="888888"/>
                </a:solidFill>
                <a:latin typeface="Calibri"/>
              </a:rPr>
              <a:t>Beta 1,11  ·  RFR 4,3 %</a:t>
            </a:r>
          </a:p>
        </p:txBody>
      </p:sp>
      <p:sp>
        <p:nvSpPr>
          <p:cNvPr id="44" name="Rectangle 43"/>
          <p:cNvSpPr/>
          <p:nvPr/>
        </p:nvSpPr>
        <p:spPr>
          <a:xfrm>
            <a:off x="46080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080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98000" y="3430800"/>
            <a:ext cx="1893600" cy="396000"/>
          </a:xfrm>
          <a:prstGeom prst="rect">
            <a:avLst/>
          </a:prstGeom>
          <a:noFill/>
        </p:spPr>
        <p:txBody>
          <a:bodyPr wrap="square">
            <a:spAutoFit/>
          </a:bodyPr>
          <a:lstStyle/>
          <a:p>
            <a:pPr algn="l"/>
            <a:r>
              <a:rPr sz="1900" b="1" i="0">
                <a:solidFill>
                  <a:srgbClr val="1B3A6B"/>
                </a:solidFill>
                <a:latin typeface="Calibri"/>
              </a:rPr>
              <a:t>275 $</a:t>
            </a:r>
          </a:p>
        </p:txBody>
      </p:sp>
      <p:sp>
        <p:nvSpPr>
          <p:cNvPr id="47" name="TextBox 46"/>
          <p:cNvSpPr txBox="1"/>
          <p:nvPr/>
        </p:nvSpPr>
        <p:spPr>
          <a:xfrm>
            <a:off x="4698000" y="3826800"/>
            <a:ext cx="1893600" cy="205199"/>
          </a:xfrm>
          <a:prstGeom prst="rect">
            <a:avLst/>
          </a:prstGeom>
          <a:noFill/>
        </p:spPr>
        <p:txBody>
          <a:bodyPr wrap="square">
            <a:spAutoFit/>
          </a:bodyPr>
          <a:lstStyle/>
          <a:p>
            <a:pPr algn="l"/>
            <a:r>
              <a:rPr sz="800" b="0" i="0">
                <a:solidFill>
                  <a:srgbClr val="555555"/>
                </a:solidFill>
                <a:latin typeface="Calibri"/>
              </a:rPr>
              <a:t>Valeur intrinsèque DCF</a:t>
            </a:r>
          </a:p>
        </p:txBody>
      </p:sp>
      <p:sp>
        <p:nvSpPr>
          <p:cNvPr id="48" name="TextBox 47"/>
          <p:cNvSpPr txBox="1"/>
          <p:nvPr/>
        </p:nvSpPr>
        <p:spPr>
          <a:xfrm>
            <a:off x="4698000" y="4024800"/>
            <a:ext cx="1893600" cy="165600"/>
          </a:xfrm>
          <a:prstGeom prst="rect">
            <a:avLst/>
          </a:prstGeom>
          <a:noFill/>
        </p:spPr>
        <p:txBody>
          <a:bodyPr wrap="square">
            <a:spAutoFit/>
          </a:bodyPr>
          <a:lstStyle/>
          <a:p>
            <a:pPr algn="l"/>
            <a:r>
              <a:rPr sz="700" b="0" i="0">
                <a:solidFill>
                  <a:srgbClr val="888888"/>
                </a:solidFill>
                <a:latin typeface="Calibri"/>
              </a:rPr>
              <a:t>Upside de +7,5 % vs cours</a:t>
            </a:r>
          </a:p>
        </p:txBody>
      </p:sp>
      <p:sp>
        <p:nvSpPr>
          <p:cNvPr id="49" name="Rectangle 48"/>
          <p:cNvSpPr/>
          <p:nvPr/>
        </p:nvSpPr>
        <p:spPr>
          <a:xfrm>
            <a:off x="67284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7284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18400" y="3430800"/>
            <a:ext cx="1893600" cy="396000"/>
          </a:xfrm>
          <a:prstGeom prst="rect">
            <a:avLst/>
          </a:prstGeom>
          <a:noFill/>
        </p:spPr>
        <p:txBody>
          <a:bodyPr wrap="square">
            <a:spAutoFit/>
          </a:bodyPr>
          <a:lstStyle/>
          <a:p>
            <a:pPr algn="l"/>
            <a:r>
              <a:rPr sz="1900" b="1" i="0">
                <a:solidFill>
                  <a:srgbClr val="1B3A6B"/>
                </a:solidFill>
                <a:latin typeface="Calibri"/>
              </a:rPr>
              <a:t>-0,089</a:t>
            </a:r>
          </a:p>
        </p:txBody>
      </p:sp>
      <p:sp>
        <p:nvSpPr>
          <p:cNvPr id="52" name="TextBox 51"/>
          <p:cNvSpPr txBox="1"/>
          <p:nvPr/>
        </p:nvSpPr>
        <p:spPr>
          <a:xfrm>
            <a:off x="6818400" y="38268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53" name="TextBox 52"/>
          <p:cNvSpPr txBox="1"/>
          <p:nvPr/>
        </p:nvSpPr>
        <p:spPr>
          <a:xfrm>
            <a:off x="6818400" y="4024800"/>
            <a:ext cx="1893600" cy="165600"/>
          </a:xfrm>
          <a:prstGeom prst="rect">
            <a:avLst/>
          </a:prstGeom>
          <a:noFill/>
        </p:spPr>
        <p:txBody>
          <a:bodyPr wrap="square">
            <a:spAutoFit/>
          </a:bodyPr>
          <a:lstStyle/>
          <a:p>
            <a:pPr algn="l"/>
            <a:r>
              <a:rPr sz="700" b="0" i="0">
                <a:solidFill>
                  <a:srgbClr val="888888"/>
                </a:solidFill>
                <a:latin typeface="Calibri"/>
              </a:rPr>
              <a:t>Neutre  ·  30 articles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Apple Inc.  ·  Technology</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3–5</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6–8</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9–11</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Régulation App Store  ·  Concurrence hardware</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12–13</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&amp; historique de cours</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14–15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Apple Inc.  ·  Présentation &amp; Positionnement stratégique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Apple conçoit et commercialise des produits technologiques premium (iPhone, Mac, iPad, services) avec un écosystème intégré et une fidélisation client élevée. Positionné en leader sur le segment premium, l'entreprise bénéficie d'une marge brute supérieure à 45% et d'un pricing power inégalé. Son avantage concurrentiel repose sur l'innovation, la marque forte et une stratégie de services récurrents à haute marge. L'entreprise articule son activité autour de deux segments stratégiques :</a:t>
            </a:r>
          </a:p>
        </p:txBody>
      </p:sp>
      <p:sp>
        <p:nvSpPr>
          <p:cNvPr id="20" name="Rectangle 19"/>
          <p:cNvSpPr/>
          <p:nvPr/>
        </p:nvSpPr>
        <p:spPr>
          <a:xfrm>
            <a:off x="503999" y="2599200"/>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200" y="2556000"/>
            <a:ext cx="4338000" cy="165600"/>
          </a:xfrm>
          <a:prstGeom prst="rect">
            <a:avLst/>
          </a:prstGeom>
          <a:noFill/>
        </p:spPr>
        <p:txBody>
          <a:bodyPr wrap="square">
            <a:spAutoFit/>
          </a:bodyPr>
          <a:lstStyle/>
          <a:p>
            <a:pPr algn="l"/>
            <a:r>
              <a:rPr sz="850" b="1" i="0">
                <a:solidFill>
                  <a:srgbClr val="0D0D0D"/>
                </a:solidFill>
                <a:latin typeface="Calibri"/>
              </a:rPr>
              <a:t>Produits</a:t>
            </a:r>
          </a:p>
        </p:txBody>
      </p:sp>
      <p:sp>
        <p:nvSpPr>
          <p:cNvPr id="22" name="TextBox 21"/>
          <p:cNvSpPr txBox="1"/>
          <p:nvPr/>
        </p:nvSpPr>
        <p:spPr>
          <a:xfrm>
            <a:off x="619200" y="2714400"/>
            <a:ext cx="4338000" cy="503999"/>
          </a:xfrm>
          <a:prstGeom prst="rect">
            <a:avLst/>
          </a:prstGeom>
          <a:noFill/>
        </p:spPr>
        <p:txBody>
          <a:bodyPr wrap="square">
            <a:spAutoFit/>
          </a:bodyPr>
          <a:lstStyle/>
          <a:p>
            <a:pPr algn="l"/>
            <a:r>
              <a:rPr sz="750" b="0" i="1">
                <a:solidFill>
                  <a:srgbClr val="555555"/>
                </a:solidFill>
                <a:latin typeface="Calibri"/>
              </a:rPr>
              <a:t>Ventes de matériel (iPhone, Mac, iPad, wearables) représentant 80% du CA, avec une croissance portée par l'iPhone 15 (50% du CA) et les services associés. Clients premium (revenus &gt;50k$/an) et forte fidélisation via l'écosystème Apple. Marges brutes stables à 35-38% grâce à un mix produit optimisé et une supply chain maîtrisée.</a:t>
            </a:r>
          </a:p>
        </p:txBody>
      </p:sp>
      <p:sp>
        <p:nvSpPr>
          <p:cNvPr id="23" name="Rectangle 22"/>
          <p:cNvSpPr/>
          <p:nvPr/>
        </p:nvSpPr>
        <p:spPr>
          <a:xfrm>
            <a:off x="503999" y="3301199"/>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200" y="3257999"/>
            <a:ext cx="4338000" cy="165600"/>
          </a:xfrm>
          <a:prstGeom prst="rect">
            <a:avLst/>
          </a:prstGeom>
          <a:noFill/>
        </p:spPr>
        <p:txBody>
          <a:bodyPr wrap="square">
            <a:spAutoFit/>
          </a:bodyPr>
          <a:lstStyle/>
          <a:p>
            <a:pPr algn="l"/>
            <a:r>
              <a:rPr sz="850" b="1" i="0">
                <a:solidFill>
                  <a:srgbClr val="0D0D0D"/>
                </a:solidFill>
                <a:latin typeface="Calibri"/>
              </a:rPr>
              <a:t>Services</a:t>
            </a:r>
          </a:p>
        </p:txBody>
      </p:sp>
      <p:sp>
        <p:nvSpPr>
          <p:cNvPr id="25" name="TextBox 24"/>
          <p:cNvSpPr txBox="1"/>
          <p:nvPr/>
        </p:nvSpPr>
        <p:spPr>
          <a:xfrm>
            <a:off x="619200" y="3416399"/>
            <a:ext cx="4338000" cy="503999"/>
          </a:xfrm>
          <a:prstGeom prst="rect">
            <a:avLst/>
          </a:prstGeom>
          <a:noFill/>
        </p:spPr>
        <p:txBody>
          <a:bodyPr wrap="square">
            <a:spAutoFit/>
          </a:bodyPr>
          <a:lstStyle/>
          <a:p>
            <a:pPr algn="l"/>
            <a:r>
              <a:rPr sz="750" b="0" i="1">
                <a:solidFill>
                  <a:srgbClr val="555555"/>
                </a:solidFill>
                <a:latin typeface="Calibri"/>
              </a:rPr>
              <a:t>Abonnements (Apple Music, iCloud, App Store) et services financiers (Apple Card) avec CA de 80Mds$ en 2025. Croissance annuelle de 15% portée par l'augmentation du parc d'appareils actifs (2.2Mds en 2025). Marges brutes &gt;70% grâce à une structure de coûts fixe et un pricing agressif.</a:t>
            </a:r>
          </a:p>
        </p:txBody>
      </p:sp>
      <p:sp>
        <p:nvSpPr>
          <p:cNvPr id="26" name="Rectangle 25"/>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3 757,2 Mds$</a:t>
            </a:r>
          </a:p>
        </p:txBody>
      </p:sp>
      <p:sp>
        <p:nvSpPr>
          <p:cNvPr id="29" name="TextBox 28"/>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boursière</a:t>
            </a:r>
          </a:p>
        </p:txBody>
      </p:sp>
      <p:sp>
        <p:nvSpPr>
          <p:cNvPr id="30" name="Rectangle 29"/>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416,2 Mds$</a:t>
            </a:r>
          </a:p>
        </p:txBody>
      </p:sp>
      <p:sp>
        <p:nvSpPr>
          <p:cNvPr id="33" name="TextBox 32"/>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34" name="Rectangle 33"/>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255,92 $</a:t>
            </a:r>
          </a:p>
        </p:txBody>
      </p:sp>
      <p:sp>
        <p:nvSpPr>
          <p:cNvPr id="37" name="TextBox 36"/>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8" name="Rectangle 37"/>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26,4x</a:t>
            </a:r>
          </a:p>
        </p:txBody>
      </p:sp>
      <p:sp>
        <p:nvSpPr>
          <p:cNvPr id="41" name="TextBox 40"/>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42" name="TextBox 41"/>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33,5x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Économique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opérationnels et moteurs de croissance</a:t>
            </a:r>
          </a:p>
        </p:txBody>
      </p:sp>
      <p:sp>
        <p:nvSpPr>
          <p:cNvPr id="17" name="Rectangle 16"/>
          <p:cNvSpPr/>
          <p:nvPr/>
        </p:nvSpPr>
        <p:spPr>
          <a:xfrm>
            <a:off x="367200" y="961200"/>
            <a:ext cx="4150800"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1508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3970800" cy="640800"/>
          </a:xfrm>
          <a:prstGeom prst="rect">
            <a:avLst/>
          </a:prstGeom>
          <a:noFill/>
        </p:spPr>
        <p:txBody>
          <a:bodyPr wrap="square">
            <a:spAutoFit/>
          </a:bodyPr>
          <a:lstStyle/>
          <a:p>
            <a:pPr algn="l"/>
            <a:r>
              <a:rPr sz="2200" b="1" i="0">
                <a:solidFill>
                  <a:srgbClr val="2E5FA3"/>
                </a:solidFill>
                <a:latin typeface="Calibri"/>
              </a:rPr>
              <a:t>80%</a:t>
            </a:r>
          </a:p>
        </p:txBody>
      </p:sp>
      <p:sp>
        <p:nvSpPr>
          <p:cNvPr id="20" name="TextBox 19"/>
          <p:cNvSpPr txBox="1"/>
          <p:nvPr/>
        </p:nvSpPr>
        <p:spPr>
          <a:xfrm>
            <a:off x="4572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3970800" cy="255600"/>
          </a:xfrm>
          <a:prstGeom prst="rect">
            <a:avLst/>
          </a:prstGeom>
          <a:noFill/>
        </p:spPr>
        <p:txBody>
          <a:bodyPr wrap="square">
            <a:spAutoFit/>
          </a:bodyPr>
          <a:lstStyle/>
          <a:p>
            <a:pPr algn="l"/>
            <a:r>
              <a:rPr sz="1000" b="1" i="0">
                <a:solidFill>
                  <a:srgbClr val="1B3A6B"/>
                </a:solidFill>
                <a:latin typeface="Calibri"/>
              </a:rPr>
              <a:t>Produits</a:t>
            </a:r>
          </a:p>
        </p:txBody>
      </p:sp>
      <p:sp>
        <p:nvSpPr>
          <p:cNvPr id="23" name="TextBox 22"/>
          <p:cNvSpPr txBox="1"/>
          <p:nvPr/>
        </p:nvSpPr>
        <p:spPr>
          <a:xfrm>
            <a:off x="457200" y="2332800"/>
            <a:ext cx="3970800" cy="2041199"/>
          </a:xfrm>
          <a:prstGeom prst="rect">
            <a:avLst/>
          </a:prstGeom>
          <a:noFill/>
        </p:spPr>
        <p:txBody>
          <a:bodyPr wrap="square">
            <a:spAutoFit/>
          </a:bodyPr>
          <a:lstStyle/>
          <a:p>
            <a:pPr algn="l"/>
            <a:r>
              <a:rPr sz="800" b="0" i="0">
                <a:solidFill>
                  <a:srgbClr val="555555"/>
                </a:solidFill>
                <a:latin typeface="Calibri"/>
              </a:rPr>
              <a:t>Ventes de matériel (iPhone, Mac, iPad, wearables) représentant 80% du CA, avec une croissance portée par l'iPhone 15 (50% du CA) et les services associés. Clients premium (revenus &gt;50k$/an) et forte fidélisation via l'écosystème Apple. Marges brutes stables à 35-38% grâce à un mix produit optimisé et une supply chain maîtrisée.</a:t>
            </a:r>
          </a:p>
        </p:txBody>
      </p:sp>
      <p:sp>
        <p:nvSpPr>
          <p:cNvPr id="24" name="Rectangle 23"/>
          <p:cNvSpPr/>
          <p:nvPr/>
        </p:nvSpPr>
        <p:spPr>
          <a:xfrm>
            <a:off x="4626000" y="961200"/>
            <a:ext cx="4150800"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26000" y="961200"/>
            <a:ext cx="4150800"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16000" y="1141200"/>
            <a:ext cx="3970800" cy="640800"/>
          </a:xfrm>
          <a:prstGeom prst="rect">
            <a:avLst/>
          </a:prstGeom>
          <a:noFill/>
        </p:spPr>
        <p:txBody>
          <a:bodyPr wrap="square">
            <a:spAutoFit/>
          </a:bodyPr>
          <a:lstStyle/>
          <a:p>
            <a:pPr algn="l"/>
            <a:r>
              <a:rPr sz="2200" b="1" i="0">
                <a:solidFill>
                  <a:srgbClr val="1A7A4A"/>
                </a:solidFill>
                <a:latin typeface="Calibri"/>
              </a:rPr>
              <a:t>20%</a:t>
            </a:r>
          </a:p>
        </p:txBody>
      </p:sp>
      <p:sp>
        <p:nvSpPr>
          <p:cNvPr id="27" name="TextBox 26"/>
          <p:cNvSpPr txBox="1"/>
          <p:nvPr/>
        </p:nvSpPr>
        <p:spPr>
          <a:xfrm>
            <a:off x="47160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47160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16000" y="2059200"/>
            <a:ext cx="3970800" cy="255600"/>
          </a:xfrm>
          <a:prstGeom prst="rect">
            <a:avLst/>
          </a:prstGeom>
          <a:noFill/>
        </p:spPr>
        <p:txBody>
          <a:bodyPr wrap="square">
            <a:spAutoFit/>
          </a:bodyPr>
          <a:lstStyle/>
          <a:p>
            <a:pPr algn="l"/>
            <a:r>
              <a:rPr sz="1000" b="1" i="0">
                <a:solidFill>
                  <a:srgbClr val="1B3A6B"/>
                </a:solidFill>
                <a:latin typeface="Calibri"/>
              </a:rPr>
              <a:t>Services</a:t>
            </a:r>
          </a:p>
        </p:txBody>
      </p:sp>
      <p:sp>
        <p:nvSpPr>
          <p:cNvPr id="30" name="TextBox 29"/>
          <p:cNvSpPr txBox="1"/>
          <p:nvPr/>
        </p:nvSpPr>
        <p:spPr>
          <a:xfrm>
            <a:off x="4716000" y="2332800"/>
            <a:ext cx="3970800" cy="2041199"/>
          </a:xfrm>
          <a:prstGeom prst="rect">
            <a:avLst/>
          </a:prstGeom>
          <a:noFill/>
        </p:spPr>
        <p:txBody>
          <a:bodyPr wrap="square">
            <a:spAutoFit/>
          </a:bodyPr>
          <a:lstStyle/>
          <a:p>
            <a:pPr algn="l"/>
            <a:r>
              <a:rPr sz="800" b="0" i="0">
                <a:solidFill>
                  <a:srgbClr val="555555"/>
                </a:solidFill>
                <a:latin typeface="Calibri"/>
              </a:rPr>
              <a:t>Abonnements (Apple Music, iCloud, App Store) et services financiers (Apple Card) avec CA de 80Mds$ en 2025. Croissance annuelle de 15% portée par l'augmentation du parc d'appareils actifs (2.2Mds en 2025). Marges brutes &gt;70% grâce à une structure de coûts fixe et un pricing agressif.</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2021–2027F</a:t>
            </a:r>
          </a:p>
        </p:txBody>
      </p:sp>
      <p:graphicFrame>
        <p:nvGraphicFramePr>
          <p:cNvPr id="17" name="Table 16"/>
          <p:cNvGraphicFramePr>
            <a:graphicFrameLocks noGrp="1"/>
          </p:cNvGraphicFramePr>
          <p:nvPr/>
        </p:nvGraphicFramePr>
        <p:xfrm>
          <a:off x="367200" y="914400"/>
          <a:ext cx="8413196" cy="1980000"/>
        </p:xfrm>
        <a:graphic>
          <a:graphicData uri="http://schemas.openxmlformats.org/drawingml/2006/table">
            <a:tbl>
              <a:tblPr firstRow="1" bandRow="1">
                <a:tableStyleId>{5C22544A-7EE6-4342-B048-85BDC9FD1C3A}</a:tableStyleId>
              </a:tblPr>
              <a:tblGrid>
                <a:gridCol w="2355696"/>
                <a:gridCol w="1211500"/>
                <a:gridCol w="1211500"/>
                <a:gridCol w="1211500"/>
                <a:gridCol w="1211500"/>
                <a:gridCol w="1211500"/>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c>
                  <a:txBody>
                    <a:bodyPr/>
                    <a:lstStyle/>
                    <a:p>
                      <a:pPr algn="ctr"/>
                      <a:r>
                        <a:rPr sz="800" b="1" i="0">
                          <a:solidFill>
                            <a:srgbClr val="FFFFFF"/>
                          </a:solidFill>
                          <a:latin typeface="Calibri"/>
                        </a:rPr>
                        <a:t>2026F</a:t>
                      </a:r>
                    </a:p>
                  </a:txBody>
                  <a:tcPr>
                    <a:solidFill>
                      <a:srgbClr val="1B3A6B"/>
                    </a:solidFill>
                  </a:tcPr>
                </a:tc>
                <a:tc>
                  <a:txBody>
                    <a:bodyPr/>
                    <a:lstStyle/>
                    <a:p>
                      <a:pPr algn="ctr"/>
                      <a:r>
                        <a:rPr sz="800" b="1" i="0">
                          <a:solidFill>
                            <a:srgbClr val="FFFFFF"/>
                          </a:solidFill>
                          <a:latin typeface="Calibri"/>
                        </a:rPr>
                        <a:t>2027F</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383,3</a:t>
                      </a:r>
                    </a:p>
                  </a:txBody>
                  <a:tcPr>
                    <a:solidFill>
                      <a:srgbClr val="FFFFFF"/>
                    </a:solidFill>
                  </a:tcPr>
                </a:tc>
                <a:tc>
                  <a:txBody>
                    <a:bodyPr/>
                    <a:lstStyle/>
                    <a:p>
                      <a:pPr algn="ctr"/>
                      <a:r>
                        <a:rPr sz="800" b="1" i="0">
                          <a:solidFill>
                            <a:srgbClr val="0D0D0D"/>
                          </a:solidFill>
                          <a:latin typeface="Calibri"/>
                        </a:rPr>
                        <a:t>391,0</a:t>
                      </a:r>
                    </a:p>
                  </a:txBody>
                  <a:tcPr>
                    <a:solidFill>
                      <a:srgbClr val="FFFFFF"/>
                    </a:solidFill>
                  </a:tcPr>
                </a:tc>
                <a:tc>
                  <a:txBody>
                    <a:bodyPr/>
                    <a:lstStyle/>
                    <a:p>
                      <a:pPr algn="ctr"/>
                      <a:r>
                        <a:rPr sz="800" b="1" i="0">
                          <a:solidFill>
                            <a:srgbClr val="1B3A6B"/>
                          </a:solidFill>
                          <a:latin typeface="Calibri"/>
                        </a:rPr>
                        <a:t>416,2</a:t>
                      </a:r>
                    </a:p>
                  </a:txBody>
                  <a:tcPr>
                    <a:solidFill>
                      <a:srgbClr val="DDE8F5"/>
                    </a:solidFill>
                  </a:tcPr>
                </a:tc>
                <a:tc>
                  <a:txBody>
                    <a:bodyPr/>
                    <a:lstStyle/>
                    <a:p>
                      <a:pPr algn="ctr"/>
                      <a:r>
                        <a:rPr sz="800" b="1" i="0">
                          <a:solidFill>
                            <a:srgbClr val="0D0D0D"/>
                          </a:solidFill>
                          <a:latin typeface="Calibri"/>
                        </a:rPr>
                        <a:t>445,0</a:t>
                      </a:r>
                    </a:p>
                  </a:txBody>
                  <a:tcPr>
                    <a:solidFill>
                      <a:srgbClr val="FFFFFF"/>
                    </a:solidFill>
                  </a:tcPr>
                </a:tc>
                <a:tc>
                  <a:txBody>
                    <a:bodyPr/>
                    <a:lstStyle/>
                    <a:p>
                      <a:pPr algn="ctr"/>
                      <a:r>
                        <a:rPr sz="800" b="1" i="0">
                          <a:solidFill>
                            <a:srgbClr val="0D0D0D"/>
                          </a:solidFill>
                          <a:latin typeface="Calibri"/>
                        </a:rPr>
                        <a:t>475,0</a:t>
                      </a:r>
                    </a:p>
                  </a:txBody>
                  <a:tcPr>
                    <a:solidFill>
                      <a:srgbClr val="FFFFFF"/>
                    </a:solidFill>
                  </a:tcPr>
                </a:tc>
              </a:tr>
              <a:tr h="220000">
                <a:tc>
                  <a:txBody>
                    <a:bodyPr/>
                    <a:lstStyle/>
                    <a:p>
                      <a:pPr algn="l"/>
                      <a:r>
                        <a:rPr sz="750" b="0" i="1">
                          <a:solidFill>
                            <a:srgbClr val="555555"/>
                          </a:solidFill>
                          <a:latin typeface="Calibri"/>
                        </a:rPr>
                        <a:t>Croissance YoY</a:t>
                      </a:r>
                    </a:p>
                  </a:txBody>
                  <a:tcPr>
                    <a:solidFill>
                      <a:srgbClr val="F7F8FA"/>
                    </a:solidFill>
                  </a:tcPr>
                </a:tc>
                <a:tc>
                  <a:txBody>
                    <a:bodyPr/>
                    <a:lstStyle/>
                    <a:p>
                      <a:pPr algn="ctr"/>
                      <a:r>
                        <a:rPr sz="750" b="0" i="1">
                          <a:solidFill>
                            <a:srgbClr val="555555"/>
                          </a:solidFill>
                          <a:latin typeface="Calibri"/>
                        </a:rPr>
                        <a:t>-2,8 %</a:t>
                      </a:r>
                    </a:p>
                  </a:txBody>
                  <a:tcPr>
                    <a:solidFill>
                      <a:srgbClr val="F7F8FA"/>
                    </a:solidFill>
                  </a:tcPr>
                </a:tc>
                <a:tc>
                  <a:txBody>
                    <a:bodyPr/>
                    <a:lstStyle/>
                    <a:p>
                      <a:pPr algn="ctr"/>
                      <a:r>
                        <a:rPr sz="750" b="0" i="1">
                          <a:solidFill>
                            <a:srgbClr val="555555"/>
                          </a:solidFill>
                          <a:latin typeface="Calibri"/>
                        </a:rPr>
                        <a:t>+2,0 %</a:t>
                      </a:r>
                    </a:p>
                  </a:txBody>
                  <a:tcPr>
                    <a:solidFill>
                      <a:srgbClr val="F7F8FA"/>
                    </a:solidFill>
                  </a:tcPr>
                </a:tc>
                <a:tc>
                  <a:txBody>
                    <a:bodyPr/>
                    <a:lstStyle/>
                    <a:p>
                      <a:pPr algn="ctr"/>
                      <a:r>
                        <a:rPr sz="750" b="0" i="1">
                          <a:solidFill>
                            <a:srgbClr val="555555"/>
                          </a:solidFill>
                          <a:latin typeface="Calibri"/>
                        </a:rPr>
                        <a:t>+6,4 %</a:t>
                      </a:r>
                    </a:p>
                  </a:txBody>
                  <a:tcPr>
                    <a:solidFill>
                      <a:srgbClr val="DDE8F5"/>
                    </a:solidFill>
                  </a:tcPr>
                </a:tc>
                <a:tc>
                  <a:txBody>
                    <a:bodyPr/>
                    <a:lstStyle/>
                    <a:p>
                      <a:pPr algn="ctr"/>
                      <a:r>
                        <a:rPr sz="750" b="0" i="1">
                          <a:solidFill>
                            <a:srgbClr val="555555"/>
                          </a:solidFill>
                          <a:latin typeface="Calibri"/>
                        </a:rPr>
                        <a:t>+700,0 %</a:t>
                      </a:r>
                    </a:p>
                  </a:txBody>
                  <a:tcPr>
                    <a:solidFill>
                      <a:srgbClr val="F7F8FA"/>
                    </a:solidFill>
                  </a:tcPr>
                </a:tc>
                <a:tc>
                  <a:txBody>
                    <a:bodyPr/>
                    <a:lstStyle/>
                    <a:p>
                      <a:pPr algn="ctr"/>
                      <a:r>
                        <a:rPr sz="750" b="0" i="1">
                          <a:solidFill>
                            <a:srgbClr val="555555"/>
                          </a:solidFill>
                          <a:latin typeface="Calibri"/>
                        </a:rPr>
                        <a:t>+670,0 %</a:t>
                      </a:r>
                    </a:p>
                  </a:txBody>
                  <a:tcPr>
                    <a:solidFill>
                      <a:srgbClr val="F7F8FA"/>
                    </a:solidFill>
                  </a:tcPr>
                </a:tc>
              </a:tr>
              <a:tr h="220000">
                <a:tc>
                  <a:txBody>
                    <a:bodyPr/>
                    <a:lstStyle/>
                    <a:p>
                      <a:pPr algn="l"/>
                      <a:r>
                        <a:rPr sz="800" b="1" i="0">
                          <a:solidFill>
                            <a:srgbClr val="0D0D0D"/>
                          </a:solidFill>
                          <a:latin typeface="Calibri"/>
                        </a:rPr>
                        <a:t>Résultat brut</a:t>
                      </a:r>
                    </a:p>
                  </a:txBody>
                  <a:tcPr>
                    <a:solidFill>
                      <a:srgbClr val="FFFFFF"/>
                    </a:solidFill>
                  </a:tcPr>
                </a:tc>
                <a:tc>
                  <a:txBody>
                    <a:bodyPr/>
                    <a:lstStyle/>
                    <a:p>
                      <a:pPr algn="ctr"/>
                      <a:r>
                        <a:rPr sz="800" b="1" i="0">
                          <a:solidFill>
                            <a:srgbClr val="0D0D0D"/>
                          </a:solidFill>
                          <a:latin typeface="Calibri"/>
                        </a:rPr>
                        <a:t>169,1</a:t>
                      </a:r>
                    </a:p>
                  </a:txBody>
                  <a:tcPr>
                    <a:solidFill>
                      <a:srgbClr val="FFFFFF"/>
                    </a:solidFill>
                  </a:tcPr>
                </a:tc>
                <a:tc>
                  <a:txBody>
                    <a:bodyPr/>
                    <a:lstStyle/>
                    <a:p>
                      <a:pPr algn="ctr"/>
                      <a:r>
                        <a:rPr sz="800" b="1" i="0">
                          <a:solidFill>
                            <a:srgbClr val="0D0D0D"/>
                          </a:solidFill>
                          <a:latin typeface="Calibri"/>
                        </a:rPr>
                        <a:t>180,7</a:t>
                      </a:r>
                    </a:p>
                  </a:txBody>
                  <a:tcPr>
                    <a:solidFill>
                      <a:srgbClr val="FFFFFF"/>
                    </a:solidFill>
                  </a:tcPr>
                </a:tc>
                <a:tc>
                  <a:txBody>
                    <a:bodyPr/>
                    <a:lstStyle/>
                    <a:p>
                      <a:pPr algn="ctr"/>
                      <a:r>
                        <a:rPr sz="800" b="1" i="0">
                          <a:solidFill>
                            <a:srgbClr val="1B3A6B"/>
                          </a:solidFill>
                          <a:latin typeface="Calibri"/>
                        </a:rPr>
                        <a:t>195,2</a:t>
                      </a:r>
                    </a:p>
                  </a:txBody>
                  <a:tcPr>
                    <a:solidFill>
                      <a:srgbClr val="DDE8F5"/>
                    </a:solidFill>
                  </a:tcPr>
                </a:tc>
                <a:tc>
                  <a:txBody>
                    <a:bodyPr/>
                    <a:lstStyle/>
                    <a:p>
                      <a:pPr algn="ctr"/>
                      <a:r>
                        <a:rPr sz="800" b="1" i="0">
                          <a:solidFill>
                            <a:srgbClr val="0D0D0D"/>
                          </a:solidFill>
                          <a:latin typeface="Calibri"/>
                        </a:rPr>
                        <a:t>21 004,0</a:t>
                      </a:r>
                    </a:p>
                  </a:txBody>
                  <a:tcPr>
                    <a:solidFill>
                      <a:srgbClr val="FFFFFF"/>
                    </a:solidFill>
                  </a:tcPr>
                </a:tc>
                <a:tc>
                  <a:txBody>
                    <a:bodyPr/>
                    <a:lstStyle/>
                    <a:p>
                      <a:pPr algn="ctr"/>
                      <a:r>
                        <a:rPr sz="800" b="1" i="0">
                          <a:solidFill>
                            <a:srgbClr val="0D0D0D"/>
                          </a:solidFill>
                          <a:latin typeface="Calibri"/>
                        </a:rPr>
                        <a:t>22 562,5</a:t>
                      </a:r>
                    </a:p>
                  </a:txBody>
                  <a:tcPr>
                    <a:solidFill>
                      <a:srgbClr val="FFFFFF"/>
                    </a:solidFill>
                  </a:tcPr>
                </a:tc>
              </a:tr>
              <a:tr h="220000">
                <a:tc>
                  <a:txBody>
                    <a:bodyPr/>
                    <a:lstStyle/>
                    <a:p>
                      <a:pPr algn="l"/>
                      <a:r>
                        <a:rPr sz="750" b="0" i="1">
                          <a:solidFill>
                            <a:srgbClr val="555555"/>
                          </a:solidFill>
                          <a:latin typeface="Calibri"/>
                        </a:rPr>
                        <a:t>Marge brute</a:t>
                      </a:r>
                    </a:p>
                  </a:txBody>
                  <a:tcPr>
                    <a:solidFill>
                      <a:srgbClr val="F7F8FA"/>
                    </a:solidFill>
                  </a:tcPr>
                </a:tc>
                <a:tc>
                  <a:txBody>
                    <a:bodyPr/>
                    <a:lstStyle/>
                    <a:p>
                      <a:pPr algn="ctr"/>
                      <a:r>
                        <a:rPr sz="750" b="0" i="1">
                          <a:solidFill>
                            <a:srgbClr val="555555"/>
                          </a:solidFill>
                          <a:latin typeface="Calibri"/>
                        </a:rPr>
                        <a:t>44,1 %</a:t>
                      </a:r>
                    </a:p>
                  </a:txBody>
                  <a:tcPr>
                    <a:solidFill>
                      <a:srgbClr val="F7F8FA"/>
                    </a:solidFill>
                  </a:tcPr>
                </a:tc>
                <a:tc>
                  <a:txBody>
                    <a:bodyPr/>
                    <a:lstStyle/>
                    <a:p>
                      <a:pPr algn="ctr"/>
                      <a:r>
                        <a:rPr sz="750" b="0" i="1">
                          <a:solidFill>
                            <a:srgbClr val="555555"/>
                          </a:solidFill>
                          <a:latin typeface="Calibri"/>
                        </a:rPr>
                        <a:t>46,2 %</a:t>
                      </a:r>
                    </a:p>
                  </a:txBody>
                  <a:tcPr>
                    <a:solidFill>
                      <a:srgbClr val="F7F8FA"/>
                    </a:solidFill>
                  </a:tcPr>
                </a:tc>
                <a:tc>
                  <a:txBody>
                    <a:bodyPr/>
                    <a:lstStyle/>
                    <a:p>
                      <a:pPr algn="ctr"/>
                      <a:r>
                        <a:rPr sz="750" b="0" i="1">
                          <a:solidFill>
                            <a:srgbClr val="555555"/>
                          </a:solidFill>
                          <a:latin typeface="Calibri"/>
                        </a:rPr>
                        <a:t>46,9 %</a:t>
                      </a:r>
                    </a:p>
                  </a:txBody>
                  <a:tcPr>
                    <a:solidFill>
                      <a:srgbClr val="DDE8F5"/>
                    </a:solidFill>
                  </a:tcPr>
                </a:tc>
                <a:tc>
                  <a:txBody>
                    <a:bodyPr/>
                    <a:lstStyle/>
                    <a:p>
                      <a:pPr algn="ctr"/>
                      <a:r>
                        <a:rPr sz="750" b="0" i="1">
                          <a:solidFill>
                            <a:srgbClr val="555555"/>
                          </a:solidFill>
                          <a:latin typeface="Calibri"/>
                        </a:rPr>
                        <a:t>4720,0 %</a:t>
                      </a:r>
                    </a:p>
                  </a:txBody>
                  <a:tcPr>
                    <a:solidFill>
                      <a:srgbClr val="F7F8FA"/>
                    </a:solidFill>
                  </a:tcPr>
                </a:tc>
                <a:tc>
                  <a:txBody>
                    <a:bodyPr/>
                    <a:lstStyle/>
                    <a:p>
                      <a:pPr algn="ctr"/>
                      <a:r>
                        <a:rPr sz="750" b="0" i="1">
                          <a:solidFill>
                            <a:srgbClr val="555555"/>
                          </a:solidFill>
                          <a:latin typeface="Calibri"/>
                        </a:rPr>
                        <a:t>4750,0 %</a:t>
                      </a:r>
                    </a:p>
                  </a:txBody>
                  <a:tcPr>
                    <a:solidFill>
                      <a:srgbClr val="F7F8FA"/>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125,8</a:t>
                      </a:r>
                    </a:p>
                  </a:txBody>
                  <a:tcPr>
                    <a:solidFill>
                      <a:srgbClr val="FFFFFF"/>
                    </a:solidFill>
                  </a:tcPr>
                </a:tc>
                <a:tc>
                  <a:txBody>
                    <a:bodyPr/>
                    <a:lstStyle/>
                    <a:p>
                      <a:pPr algn="ctr"/>
                      <a:r>
                        <a:rPr sz="800" b="1" i="0">
                          <a:solidFill>
                            <a:srgbClr val="0D0D0D"/>
                          </a:solidFill>
                          <a:latin typeface="Calibri"/>
                        </a:rPr>
                        <a:t>134,7</a:t>
                      </a:r>
                    </a:p>
                  </a:txBody>
                  <a:tcPr>
                    <a:solidFill>
                      <a:srgbClr val="FFFFFF"/>
                    </a:solidFill>
                  </a:tcPr>
                </a:tc>
                <a:tc>
                  <a:txBody>
                    <a:bodyPr/>
                    <a:lstStyle/>
                    <a:p>
                      <a:pPr algn="ctr"/>
                      <a:r>
                        <a:rPr sz="800" b="1" i="0">
                          <a:solidFill>
                            <a:srgbClr val="1B3A6B"/>
                          </a:solidFill>
                          <a:latin typeface="Calibri"/>
                        </a:rPr>
                        <a:t>144,7</a:t>
                      </a:r>
                    </a:p>
                  </a:txBody>
                  <a:tcPr>
                    <a:solidFill>
                      <a:srgbClr val="DDE8F5"/>
                    </a:solidFill>
                  </a:tcPr>
                </a:tc>
                <a:tc>
                  <a:txBody>
                    <a:bodyPr/>
                    <a:lstStyle/>
                    <a:p>
                      <a:pPr algn="ctr"/>
                      <a:r>
                        <a:rPr sz="800" b="1" i="0">
                          <a:solidFill>
                            <a:srgbClr val="0D0D0D"/>
                          </a:solidFill>
                          <a:latin typeface="Calibri"/>
                        </a:rPr>
                        <a:t>162,0</a:t>
                      </a:r>
                    </a:p>
                  </a:txBody>
                  <a:tcPr>
                    <a:solidFill>
                      <a:srgbClr val="FFFFFF"/>
                    </a:solidFill>
                  </a:tcPr>
                </a:tc>
                <a:tc>
                  <a:txBody>
                    <a:bodyPr/>
                    <a:lstStyle/>
                    <a:p>
                      <a:pPr algn="ctr"/>
                      <a:r>
                        <a:rPr sz="800" b="1" i="0">
                          <a:solidFill>
                            <a:srgbClr val="0D0D0D"/>
                          </a:solidFill>
                          <a:latin typeface="Calibri"/>
                        </a:rPr>
                        <a:t>175,0</a:t>
                      </a:r>
                    </a:p>
                  </a:txBody>
                  <a:tcPr>
                    <a:solidFill>
                      <a:srgbClr val="FFFFFF"/>
                    </a:solidFill>
                  </a:tcPr>
                </a:tc>
              </a:tr>
              <a:tr h="220000">
                <a:tc>
                  <a:txBody>
                    <a:bodyPr/>
                    <a:lstStyle/>
                    <a:p>
                      <a:pPr algn="l"/>
                      <a:r>
                        <a:rPr sz="750" b="0" i="1">
                          <a:solidFill>
                            <a:srgbClr val="555555"/>
                          </a:solidFill>
                          <a:latin typeface="Calibri"/>
                        </a:rPr>
                        <a:t>Marge EBITDA</a:t>
                      </a:r>
                    </a:p>
                  </a:txBody>
                  <a:tcPr>
                    <a:solidFill>
                      <a:srgbClr val="F7F8FA"/>
                    </a:solidFill>
                  </a:tcPr>
                </a:tc>
                <a:tc>
                  <a:txBody>
                    <a:bodyPr/>
                    <a:lstStyle/>
                    <a:p>
                      <a:pPr algn="ctr"/>
                      <a:r>
                        <a:rPr sz="750" b="0" i="1">
                          <a:solidFill>
                            <a:srgbClr val="555555"/>
                          </a:solidFill>
                          <a:latin typeface="Calibri"/>
                        </a:rPr>
                        <a:t>32,8 %</a:t>
                      </a:r>
                    </a:p>
                  </a:txBody>
                  <a:tcPr>
                    <a:solidFill>
                      <a:srgbClr val="F7F8FA"/>
                    </a:solidFill>
                  </a:tcPr>
                </a:tc>
                <a:tc>
                  <a:txBody>
                    <a:bodyPr/>
                    <a:lstStyle/>
                    <a:p>
                      <a:pPr algn="ctr"/>
                      <a:r>
                        <a:rPr sz="750" b="0" i="1">
                          <a:solidFill>
                            <a:srgbClr val="555555"/>
                          </a:solidFill>
                          <a:latin typeface="Calibri"/>
                        </a:rPr>
                        <a:t>34,4 %</a:t>
                      </a:r>
                    </a:p>
                  </a:txBody>
                  <a:tcPr>
                    <a:solidFill>
                      <a:srgbClr val="F7F8FA"/>
                    </a:solidFill>
                  </a:tcPr>
                </a:tc>
                <a:tc>
                  <a:txBody>
                    <a:bodyPr/>
                    <a:lstStyle/>
                    <a:p>
                      <a:pPr algn="ctr"/>
                      <a:r>
                        <a:rPr sz="750" b="0" i="1">
                          <a:solidFill>
                            <a:srgbClr val="555555"/>
                          </a:solidFill>
                          <a:latin typeface="Calibri"/>
                        </a:rPr>
                        <a:t>34,8 %</a:t>
                      </a:r>
                    </a:p>
                  </a:txBody>
                  <a:tcPr>
                    <a:solidFill>
                      <a:srgbClr val="DDE8F5"/>
                    </a:solidFill>
                  </a:tcPr>
                </a:tc>
                <a:tc>
                  <a:txBody>
                    <a:bodyPr/>
                    <a:lstStyle/>
                    <a:p>
                      <a:pPr algn="ctr"/>
                      <a:r>
                        <a:rPr sz="750" b="0" i="1">
                          <a:solidFill>
                            <a:srgbClr val="555555"/>
                          </a:solidFill>
                          <a:latin typeface="Calibri"/>
                        </a:rPr>
                        <a:t>3640,0 %</a:t>
                      </a:r>
                    </a:p>
                  </a:txBody>
                  <a:tcPr>
                    <a:solidFill>
                      <a:srgbClr val="F7F8FA"/>
                    </a:solidFill>
                  </a:tcPr>
                </a:tc>
                <a:tc>
                  <a:txBody>
                    <a:bodyPr/>
                    <a:lstStyle/>
                    <a:p>
                      <a:pPr algn="ctr"/>
                      <a:r>
                        <a:rPr sz="750" b="0" i="1">
                          <a:solidFill>
                            <a:srgbClr val="555555"/>
                          </a:solidFill>
                          <a:latin typeface="Calibri"/>
                        </a:rPr>
                        <a:t>3680,0 %</a:t>
                      </a:r>
                    </a:p>
                  </a:txBody>
                  <a:tcPr>
                    <a:solidFill>
                      <a:srgbClr val="F7F8FA"/>
                    </a:solidFill>
                  </a:tcPr>
                </a:tc>
              </a:tr>
              <a:tr h="220000">
                <a:tc>
                  <a:txBody>
                    <a:bodyPr/>
                    <a:lstStyle/>
                    <a:p>
                      <a:pPr algn="l"/>
                      <a:r>
                        <a:rPr sz="800" b="1" i="0">
                          <a:solidFill>
                            <a:srgbClr val="0D0D0D"/>
                          </a:solidFill>
                          <a:latin typeface="Calibri"/>
                        </a:rPr>
                        <a:t>Résultat net</a:t>
                      </a:r>
                    </a:p>
                  </a:txBody>
                  <a:tcPr>
                    <a:solidFill>
                      <a:srgbClr val="FFFFFF"/>
                    </a:solidFill>
                  </a:tcPr>
                </a:tc>
                <a:tc>
                  <a:txBody>
                    <a:bodyPr/>
                    <a:lstStyle/>
                    <a:p>
                      <a:pPr algn="ctr"/>
                      <a:r>
                        <a:rPr sz="800" b="1" i="0">
                          <a:solidFill>
                            <a:srgbClr val="0D0D0D"/>
                          </a:solidFill>
                          <a:latin typeface="Calibri"/>
                        </a:rPr>
                        <a:t>97,0</a:t>
                      </a:r>
                    </a:p>
                  </a:txBody>
                  <a:tcPr>
                    <a:solidFill>
                      <a:srgbClr val="FFFFFF"/>
                    </a:solidFill>
                  </a:tcPr>
                </a:tc>
                <a:tc>
                  <a:txBody>
                    <a:bodyPr/>
                    <a:lstStyle/>
                    <a:p>
                      <a:pPr algn="ctr"/>
                      <a:r>
                        <a:rPr sz="800" b="1" i="0">
                          <a:solidFill>
                            <a:srgbClr val="0D0D0D"/>
                          </a:solidFill>
                          <a:latin typeface="Calibri"/>
                        </a:rPr>
                        <a:t>93,7</a:t>
                      </a:r>
                    </a:p>
                  </a:txBody>
                  <a:tcPr>
                    <a:solidFill>
                      <a:srgbClr val="FFFFFF"/>
                    </a:solidFill>
                  </a:tcPr>
                </a:tc>
                <a:tc>
                  <a:txBody>
                    <a:bodyPr/>
                    <a:lstStyle/>
                    <a:p>
                      <a:pPr algn="ctr"/>
                      <a:r>
                        <a:rPr sz="800" b="1" i="0">
                          <a:solidFill>
                            <a:srgbClr val="1B3A6B"/>
                          </a:solidFill>
                          <a:latin typeface="Calibri"/>
                        </a:rPr>
                        <a:t>112,0</a:t>
                      </a:r>
                    </a:p>
                  </a:txBody>
                  <a:tcPr>
                    <a:solidFill>
                      <a:srgbClr val="DDE8F5"/>
                    </a:solidFill>
                  </a:tcPr>
                </a:tc>
                <a:tc>
                  <a:txBody>
                    <a:bodyPr/>
                    <a:lstStyle/>
                    <a:p>
                      <a:pPr algn="ctr"/>
                      <a:r>
                        <a:rPr sz="800" b="1" i="0">
                          <a:solidFill>
                            <a:srgbClr val="0D0D0D"/>
                          </a:solidFill>
                          <a:latin typeface="Calibri"/>
                        </a:rPr>
                        <a:t>120,0</a:t>
                      </a:r>
                    </a:p>
                  </a:txBody>
                  <a:tcPr>
                    <a:solidFill>
                      <a:srgbClr val="FFFFFF"/>
                    </a:solidFill>
                  </a:tcPr>
                </a:tc>
                <a:tc>
                  <a:txBody>
                    <a:bodyPr/>
                    <a:lstStyle/>
                    <a:p>
                      <a:pPr algn="ctr"/>
                      <a:r>
                        <a:rPr sz="800" b="1" i="0">
                          <a:solidFill>
                            <a:srgbClr val="0D0D0D"/>
                          </a:solidFill>
                          <a:latin typeface="Calibri"/>
                        </a:rPr>
                        <a:t>130,0</a:t>
                      </a:r>
                    </a:p>
                  </a:txBody>
                  <a:tcPr>
                    <a:solidFill>
                      <a:srgbClr val="FFFFFF"/>
                    </a:solidFill>
                  </a:tcPr>
                </a:tc>
              </a:tr>
              <a:tr h="220000">
                <a:tc>
                  <a:txBody>
                    <a:bodyPr/>
                    <a:lstStyle/>
                    <a:p>
                      <a:pPr algn="l"/>
                      <a:r>
                        <a:rPr sz="750" b="0" i="1">
                          <a:solidFill>
                            <a:srgbClr val="555555"/>
                          </a:solidFill>
                          <a:latin typeface="Calibri"/>
                        </a:rPr>
                        <a:t>Marge nette</a:t>
                      </a:r>
                    </a:p>
                  </a:txBody>
                  <a:tcPr>
                    <a:solidFill>
                      <a:srgbClr val="F7F8FA"/>
                    </a:solidFill>
                  </a:tcPr>
                </a:tc>
                <a:tc>
                  <a:txBody>
                    <a:bodyPr/>
                    <a:lstStyle/>
                    <a:p>
                      <a:pPr algn="ctr"/>
                      <a:r>
                        <a:rPr sz="750" b="0" i="1">
                          <a:solidFill>
                            <a:srgbClr val="555555"/>
                          </a:solidFill>
                          <a:latin typeface="Calibri"/>
                        </a:rPr>
                        <a:t>25,3 %</a:t>
                      </a:r>
                    </a:p>
                  </a:txBody>
                  <a:tcPr>
                    <a:solidFill>
                      <a:srgbClr val="F7F8FA"/>
                    </a:solidFill>
                  </a:tcPr>
                </a:tc>
                <a:tc>
                  <a:txBody>
                    <a:bodyPr/>
                    <a:lstStyle/>
                    <a:p>
                      <a:pPr algn="ctr"/>
                      <a:r>
                        <a:rPr sz="750" b="0" i="1">
                          <a:solidFill>
                            <a:srgbClr val="555555"/>
                          </a:solidFill>
                          <a:latin typeface="Calibri"/>
                        </a:rPr>
                        <a:t>24,0 %</a:t>
                      </a:r>
                    </a:p>
                  </a:txBody>
                  <a:tcPr>
                    <a:solidFill>
                      <a:srgbClr val="F7F8FA"/>
                    </a:solidFill>
                  </a:tcPr>
                </a:tc>
                <a:tc>
                  <a:txBody>
                    <a:bodyPr/>
                    <a:lstStyle/>
                    <a:p>
                      <a:pPr algn="ctr"/>
                      <a:r>
                        <a:rPr sz="750" b="0" i="1">
                          <a:solidFill>
                            <a:srgbClr val="555555"/>
                          </a:solidFill>
                          <a:latin typeface="Calibri"/>
                        </a:rPr>
                        <a:t>26,9 %</a:t>
                      </a:r>
                    </a:p>
                  </a:txBody>
                  <a:tcPr>
                    <a:solidFill>
                      <a:srgbClr val="DDE8F5"/>
                    </a:solidFill>
                  </a:tcPr>
                </a:tc>
                <a:tc>
                  <a:txBody>
                    <a:bodyPr/>
                    <a:lstStyle/>
                    <a:p>
                      <a:pPr algn="ctr"/>
                      <a:r>
                        <a:rPr sz="750" b="0" i="1">
                          <a:solidFill>
                            <a:srgbClr val="555555"/>
                          </a:solidFill>
                          <a:latin typeface="Calibri"/>
                        </a:rPr>
                        <a:t>2700,0 %</a:t>
                      </a:r>
                    </a:p>
                  </a:txBody>
                  <a:tcPr>
                    <a:solidFill>
                      <a:srgbClr val="F7F8FA"/>
                    </a:solidFill>
                  </a:tcPr>
                </a:tc>
                <a:tc>
                  <a:txBody>
                    <a:bodyPr/>
                    <a:lstStyle/>
                    <a:p>
                      <a:pPr algn="ctr"/>
                      <a:r>
                        <a:rPr sz="750" b="0" i="1">
                          <a:solidFill>
                            <a:srgbClr val="555555"/>
                          </a:solidFill>
                          <a:latin typeface="Calibri"/>
                        </a:rPr>
                        <a:t>2740,0 %</a:t>
                      </a:r>
                    </a:p>
                  </a:txBody>
                  <a:tcPr>
                    <a:solidFill>
                      <a:srgbClr val="F7F8FA"/>
                    </a:solidFill>
                  </a:tcPr>
                </a:tc>
              </a:tr>
            </a:tbl>
          </a:graphicData>
        </a:graphic>
      </p:graphicFrame>
      <p:sp>
        <p:nvSpPr>
          <p:cNvPr id="18" name="TextBox 17"/>
          <p:cNvSpPr txBox="1"/>
          <p:nvPr/>
        </p:nvSpPr>
        <p:spPr>
          <a:xfrm>
            <a:off x="367200" y="3218400"/>
            <a:ext cx="8413200" cy="1224000"/>
          </a:xfrm>
          <a:prstGeom prst="rect">
            <a:avLst/>
          </a:prstGeom>
          <a:noFill/>
        </p:spPr>
        <p:txBody>
          <a:bodyPr wrap="square">
            <a:spAutoFit/>
          </a:bodyPr>
          <a:lstStyle/>
          <a:p>
            <a:pPr algn="l"/>
            <a:r>
              <a:rPr sz="850" b="0" i="0">
                <a:solidFill>
                  <a:srgbClr val="555555"/>
                </a:solidFill>
                <a:latin typeface="Calibri"/>
              </a:rPr>
              <a:t>Croissance du CA de 6.4% en 2025 portée par les services (+12%) et l'iPhone (+5%), avec des marges en expansion grâce à un mix produit favorable et une discipline sur les coûts. La marge brute passe de 43.3% en 2022 à 46.9% en 2025, reflétant un levier opérationnel de 300bps. Cette dynamique génère un FCF de 105Mds$ en 2025, soit 25% du CA, renforçant la solidité bilancielle.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35,9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78,3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62,7 Mds$</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0,65</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0,61</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1,3x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d'intérêts</a:t>
                      </a:r>
                    </a:p>
                  </a:txBody>
                  <a:tcPr>
                    <a:solidFill>
                      <a:srgbClr val="F7F8FA"/>
                    </a:solidFill>
                  </a:tcPr>
                </a:tc>
                <a:tc>
                  <a:txBody>
                    <a:bodyPr/>
                    <a:lstStyle/>
                    <a:p>
                      <a:pPr algn="ctr"/>
                      <a:r>
                        <a:rPr sz="800" b="0" i="0">
                          <a:solidFill>
                            <a:srgbClr val="0D0D0D"/>
                          </a:solidFill>
                          <a:latin typeface="Calibri"/>
                        </a:rPr>
                        <a:t>29,1x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0,4x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1,69</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-2,25</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1" name="TextBox 30"/>
          <p:cNvSpPr txBox="1"/>
          <p:nvPr/>
        </p:nvSpPr>
        <p:spPr>
          <a:xfrm>
            <a:off x="367200" y="4068000"/>
            <a:ext cx="8413200" cy="468000"/>
          </a:xfrm>
          <a:prstGeom prst="rect">
            <a:avLst/>
          </a:prstGeom>
          <a:noFill/>
        </p:spPr>
        <p:txBody>
          <a:bodyPr wrap="square">
            <a:spAutoFit/>
          </a:bodyPr>
          <a:lstStyle/>
          <a:p>
            <a:pPr algn="l"/>
            <a:r>
              <a:rPr sz="850" b="0" i="0">
                <a:solidFill>
                  <a:srgbClr val="555555"/>
                </a:solidFill>
                <a:latin typeface="Calibri"/>
              </a:rPr>
              <a:t>Croissance du CA de 6.4% en 2025 portée par les services (+12%) et l'iPhone (+5%), avec des marges en expansion grâce à un mix produit favorable et une discipline sur les coûts. La marge brute passe de 43.3% en 2022 à 46.9% en 2025, reflétant un levier opérationnel de 300bps. Cette dynamique génère un FCF de 105Mds$ en 2025, soit 25% du CA, renforçant la solidité bilancielle.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33,5x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26,4x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9,2x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46,9 %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Bon</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34,8 %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151,9 %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84,4 %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Léger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1,69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Détresse</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3628800"/>
            <a:ext cx="8413200" cy="824400"/>
          </a:xfrm>
          <a:prstGeom prst="rect">
            <a:avLst/>
          </a:prstGeom>
          <a:noFill/>
        </p:spPr>
        <p:txBody>
          <a:bodyPr wrap="square">
            <a:spAutoFit/>
          </a:bodyPr>
          <a:lstStyle/>
          <a:p>
            <a:pPr algn="l"/>
            <a:r>
              <a:rPr sz="850" b="0" i="0">
                <a:solidFill>
                  <a:srgbClr val="555555"/>
                </a:solidFill>
                <a:latin typeface="Calibri"/>
              </a:rPr>
              <a:t>Les marges brutes progressent de 43.3% (2022) à 46.9% (2025) grâce à un mix produit orienté services et à une optimisation de la supply chain. Les marges EBITDA et nettes suivent la même tendance, avec une hausse de 240bps sur la marge nette, reflétant un levier opérationnel de 200bps par an. Cette durabilité est soutenue par un pricing power inégalé et une faible sensibilité aux cycles économiques.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275 $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255,92 $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220 $</a:t>
                      </a:r>
                    </a:p>
                  </a:txBody>
                  <a:tcPr>
                    <a:solidFill>
                      <a:srgbClr val="FAF0EF"/>
                    </a:solidFill>
                  </a:tcPr>
                </a:tc>
                <a:tc>
                  <a:txBody>
                    <a:bodyPr/>
                    <a:lstStyle/>
                    <a:p>
                      <a:pPr algn="ctr"/>
                      <a:r>
                        <a:rPr sz="2000" b="1" i="0">
                          <a:solidFill>
                            <a:srgbClr val="2E5FA3"/>
                          </a:solidFill>
                          <a:latin typeface="Calibri"/>
                        </a:rPr>
                        <a:t>275 $</a:t>
                      </a:r>
                    </a:p>
                  </a:txBody>
                  <a:tcPr>
                    <a:solidFill>
                      <a:srgbClr val="EEF3FA"/>
                    </a:solidFill>
                  </a:tcPr>
                </a:tc>
                <a:tc>
                  <a:txBody>
                    <a:bodyPr/>
                    <a:lstStyle/>
                    <a:p>
                      <a:pPr algn="ctr"/>
                      <a:r>
                        <a:rPr sz="2000" b="1" i="0">
                          <a:solidFill>
                            <a:srgbClr val="1A7A4A"/>
                          </a:solidFill>
                          <a:latin typeface="Calibri"/>
                        </a:rPr>
                        <a:t>310 $</a:t>
                      </a:r>
                    </a:p>
                  </a:txBody>
                  <a:tcPr>
                    <a:solidFill>
                      <a:srgbClr val="EAF4EF"/>
                    </a:solidFill>
                  </a:tcPr>
                </a:tc>
              </a:tr>
              <a:tr h="342900">
                <a:tc>
                  <a:txBody>
                    <a:bodyPr/>
                    <a:lstStyle/>
                    <a:p>
                      <a:pPr algn="ctr"/>
                      <a:r>
                        <a:rPr sz="1200" b="1" i="0">
                          <a:solidFill>
                            <a:srgbClr val="A82020"/>
                          </a:solidFill>
                          <a:latin typeface="Calibri"/>
                        </a:rPr>
                        <a:t>-14,0 %</a:t>
                      </a:r>
                    </a:p>
                  </a:txBody>
                  <a:tcPr>
                    <a:solidFill>
                      <a:srgbClr val="FAF0EF"/>
                    </a:solidFill>
                  </a:tcPr>
                </a:tc>
                <a:tc>
                  <a:txBody>
                    <a:bodyPr/>
                    <a:lstStyle/>
                    <a:p>
                      <a:pPr algn="ctr"/>
                      <a:r>
                        <a:rPr sz="1200" b="1" i="0">
                          <a:solidFill>
                            <a:srgbClr val="2E5FA3"/>
                          </a:solidFill>
                          <a:latin typeface="Calibri"/>
                        </a:rPr>
                        <a:t>+7,5 %</a:t>
                      </a:r>
                    </a:p>
                  </a:txBody>
                  <a:tcPr>
                    <a:solidFill>
                      <a:srgbClr val="EEF3FA"/>
                    </a:solidFill>
                  </a:tcPr>
                </a:tc>
                <a:tc>
                  <a:txBody>
                    <a:bodyPr/>
                    <a:lstStyle/>
                    <a:p>
                      <a:pPr algn="ctr"/>
                      <a:r>
                        <a:rPr sz="1200" b="1" i="0">
                          <a:solidFill>
                            <a:srgbClr val="1A7A4A"/>
                          </a:solidFill>
                          <a:latin typeface="Calibri"/>
                        </a:rPr>
                        <a:t>+21,1 %</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8413200" cy="201600"/>
          </a:xfrm>
          <a:prstGeom prst="rect">
            <a:avLst/>
          </a:prstGeom>
          <a:noFill/>
        </p:spPr>
        <p:txBody>
          <a:bodyPr wrap="square">
            <a:spAutoFit/>
          </a:bodyPr>
          <a:lstStyle/>
          <a:p>
            <a:pPr algn="l"/>
            <a:r>
              <a:rPr sz="900" b="1" i="0">
                <a:solidFill>
                  <a:srgbClr val="1B3A6B"/>
                </a:solidFill>
                <a:latin typeface="Calibri"/>
              </a:rPr>
              <a:t>Table de sensibilité — Valeur intrinsèque ($)</a:t>
            </a:r>
          </a:p>
        </p:txBody>
      </p:sp>
      <p:graphicFrame>
        <p:nvGraphicFramePr>
          <p:cNvPr id="19" name="Table 18"/>
          <p:cNvGraphicFramePr>
            <a:graphicFrameLocks noGrp="1"/>
          </p:cNvGraphicFramePr>
          <p:nvPr/>
        </p:nvGraphicFramePr>
        <p:xfrm>
          <a:off x="367200" y="2653200"/>
          <a:ext cx="8413200" cy="1116000"/>
        </p:xfrm>
        <a:graphic>
          <a:graphicData uri="http://schemas.openxmlformats.org/drawingml/2006/table">
            <a:tbl>
              <a:tblPr firstRow="1" bandRow="1">
                <a:tableStyleId>{5C22544A-7EE6-4342-B048-85BDC9FD1C3A}</a:tableStyleId>
              </a:tblPr>
              <a:tblGrid>
                <a:gridCol w="1402200"/>
                <a:gridCol w="1402200"/>
                <a:gridCol w="1402200"/>
                <a:gridCol w="1402200"/>
                <a:gridCol w="1402200"/>
                <a:gridCol w="14022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4,0%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8,3%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379</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468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9,3%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319</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379</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10,3%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242</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257</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275</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319</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11,3%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242</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12,3%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195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216</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367200" y="3916800"/>
            <a:ext cx="8413200" cy="547200"/>
          </a:xfrm>
          <a:prstGeom prst="rect">
            <a:avLst/>
          </a:prstGeom>
          <a:noFill/>
        </p:spPr>
        <p:txBody>
          <a:bodyPr wrap="square">
            <a:spAutoFit/>
          </a:bodyPr>
          <a:lstStyle/>
          <a:p>
            <a:pPr algn="l"/>
            <a:r>
              <a:rPr sz="850" b="0" i="0">
                <a:solidFill>
                  <a:srgbClr val="555555"/>
                </a:solidFill>
                <a:latin typeface="Calibri"/>
              </a:rPr>
              <a:t>Avec un WACC de 10.3% et une TGR de 3.0%, le prix implicite DCF est de 280$ (base), soit un upside de 9.4% vs cours actuel. Cet écart suggère une sous-valorisation modérée, justifiée par une croissance organique supérieure à la médiane du secteur et une prime de qualité déjà partiellement pricee.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2015999"/>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51999">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51999">
                <a:tc>
                  <a:txBody>
                    <a:bodyPr/>
                    <a:lstStyle/>
                    <a:p>
                      <a:pPr algn="l"/>
                      <a:r>
                        <a:rPr sz="800" b="1" i="0">
                          <a:solidFill>
                            <a:srgbClr val="1B3A6B"/>
                          </a:solidFill>
                          <a:latin typeface="Calibri"/>
                        </a:rPr>
                        <a:t>Apple Inc.</a:t>
                      </a:r>
                    </a:p>
                  </a:txBody>
                  <a:tcPr>
                    <a:solidFill>
                      <a:srgbClr val="DDE8F5"/>
                    </a:solidFill>
                  </a:tcPr>
                </a:tc>
                <a:tc>
                  <a:txBody>
                    <a:bodyPr/>
                    <a:lstStyle/>
                    <a:p>
                      <a:pPr algn="ctr"/>
                      <a:r>
                        <a:rPr sz="750" b="1" i="0">
                          <a:solidFill>
                            <a:srgbClr val="2E5FA3"/>
                          </a:solidFill>
                          <a:latin typeface="Calibri"/>
                        </a:rPr>
                        <a:t>AAPL</a:t>
                      </a:r>
                    </a:p>
                  </a:txBody>
                  <a:tcPr>
                    <a:solidFill>
                      <a:srgbClr val="DDE8F5"/>
                    </a:solidFill>
                  </a:tcPr>
                </a:tc>
                <a:tc>
                  <a:txBody>
                    <a:bodyPr/>
                    <a:lstStyle/>
                    <a:p>
                      <a:pPr algn="ctr"/>
                      <a:r>
                        <a:rPr sz="800" b="1" i="0">
                          <a:solidFill>
                            <a:srgbClr val="1B3A6B"/>
                          </a:solidFill>
                          <a:latin typeface="Calibri"/>
                        </a:rPr>
                        <a:t>3 757,2</a:t>
                      </a:r>
                    </a:p>
                  </a:txBody>
                  <a:tcPr>
                    <a:solidFill>
                      <a:srgbClr val="DDE8F5"/>
                    </a:solidFill>
                  </a:tcPr>
                </a:tc>
                <a:tc>
                  <a:txBody>
                    <a:bodyPr/>
                    <a:lstStyle/>
                    <a:p>
                      <a:pPr algn="ctr"/>
                      <a:r>
                        <a:rPr sz="800" b="1" i="0">
                          <a:solidFill>
                            <a:srgbClr val="1B3A6B"/>
                          </a:solidFill>
                          <a:latin typeface="Calibri"/>
                        </a:rPr>
                        <a:t>26,4x</a:t>
                      </a:r>
                    </a:p>
                  </a:txBody>
                  <a:tcPr>
                    <a:solidFill>
                      <a:srgbClr val="DDE8F5"/>
                    </a:solidFill>
                  </a:tcPr>
                </a:tc>
                <a:tc>
                  <a:txBody>
                    <a:bodyPr/>
                    <a:lstStyle/>
                    <a:p>
                      <a:pPr algn="ctr"/>
                      <a:r>
                        <a:rPr sz="800" b="1" i="0">
                          <a:solidFill>
                            <a:srgbClr val="1B3A6B"/>
                          </a:solidFill>
                          <a:latin typeface="Calibri"/>
                        </a:rPr>
                        <a:t>9,2x</a:t>
                      </a:r>
                    </a:p>
                  </a:txBody>
                  <a:tcPr>
                    <a:solidFill>
                      <a:srgbClr val="DDE8F5"/>
                    </a:solidFill>
                  </a:tcPr>
                </a:tc>
                <a:tc>
                  <a:txBody>
                    <a:bodyPr/>
                    <a:lstStyle/>
                    <a:p>
                      <a:pPr algn="ctr"/>
                      <a:r>
                        <a:rPr sz="800" b="1" i="0">
                          <a:solidFill>
                            <a:srgbClr val="1B3A6B"/>
                          </a:solidFill>
                          <a:latin typeface="Calibri"/>
                        </a:rPr>
                        <a:t>33,5x</a:t>
                      </a:r>
                    </a:p>
                  </a:txBody>
                  <a:tcPr>
                    <a:solidFill>
                      <a:srgbClr val="DDE8F5"/>
                    </a:solidFill>
                  </a:tcPr>
                </a:tc>
                <a:tc>
                  <a:txBody>
                    <a:bodyPr/>
                    <a:lstStyle/>
                    <a:p>
                      <a:pPr algn="ctr"/>
                      <a:r>
                        <a:rPr sz="800" b="1" i="0">
                          <a:solidFill>
                            <a:srgbClr val="1B3A6B"/>
                          </a:solidFill>
                          <a:latin typeface="Calibri"/>
                        </a:rPr>
                        <a:t>46,9 %</a:t>
                      </a:r>
                    </a:p>
                  </a:txBody>
                  <a:tcPr>
                    <a:solidFill>
                      <a:srgbClr val="DDE8F5"/>
                    </a:solidFill>
                  </a:tcPr>
                </a:tc>
                <a:tc>
                  <a:txBody>
                    <a:bodyPr/>
                    <a:lstStyle/>
                    <a:p>
                      <a:pPr algn="ctr"/>
                      <a:r>
                        <a:rPr sz="800" b="1" i="0">
                          <a:solidFill>
                            <a:srgbClr val="1B3A6B"/>
                          </a:solidFill>
                          <a:latin typeface="Calibri"/>
                        </a:rPr>
                        <a:t>34,8 %</a:t>
                      </a:r>
                    </a:p>
                  </a:txBody>
                  <a:tcPr>
                    <a:solidFill>
                      <a:srgbClr val="DDE8F5"/>
                    </a:solidFill>
                  </a:tcPr>
                </a:tc>
              </a:tr>
              <a:tr h="251999">
                <a:tc>
                  <a:txBody>
                    <a:bodyPr/>
                    <a:lstStyle/>
                    <a:p>
                      <a:pPr algn="l"/>
                      <a:r>
                        <a:rPr sz="800" b="0" i="0">
                          <a:solidFill>
                            <a:srgbClr val="0D0D0D"/>
                          </a:solidFill>
                          <a:latin typeface="Calibri"/>
                        </a:rPr>
                        <a:t>Microsoft</a:t>
                      </a:r>
                    </a:p>
                  </a:txBody>
                  <a:tcPr>
                    <a:solidFill>
                      <a:srgbClr val="FFFFFF"/>
                    </a:solidFill>
                  </a:tcPr>
                </a:tc>
                <a:tc>
                  <a:txBody>
                    <a:bodyPr/>
                    <a:lstStyle/>
                    <a:p>
                      <a:pPr algn="ctr"/>
                      <a:r>
                        <a:rPr sz="750" b="0" i="0">
                          <a:solidFill>
                            <a:srgbClr val="555555"/>
                          </a:solidFill>
                          <a:latin typeface="Calibri"/>
                        </a:rPr>
                        <a:t>MSFT</a:t>
                      </a:r>
                    </a:p>
                  </a:txBody>
                  <a:tcPr>
                    <a:solidFill>
                      <a:srgbClr val="FFFFFF"/>
                    </a:solidFill>
                  </a:tcPr>
                </a:tc>
                <a:tc>
                  <a:txBody>
                    <a:bodyPr/>
                    <a:lstStyle/>
                    <a:p>
                      <a:pPr algn="ctr"/>
                      <a:r>
                        <a:rPr sz="800" b="0" i="0">
                          <a:solidFill>
                            <a:srgbClr val="0D0D0D"/>
                          </a:solidFill>
                          <a:latin typeface="Calibri"/>
                        </a:rPr>
                        <a:t>3 100,0</a:t>
                      </a:r>
                    </a:p>
                  </a:txBody>
                  <a:tcPr>
                    <a:solidFill>
                      <a:srgbClr val="FFFFFF"/>
                    </a:solidFill>
                  </a:tcPr>
                </a:tc>
                <a:tc>
                  <a:txBody>
                    <a:bodyPr/>
                    <a:lstStyle/>
                    <a:p>
                      <a:pPr algn="ctr"/>
                      <a:r>
                        <a:rPr sz="800" b="0" i="0">
                          <a:solidFill>
                            <a:srgbClr val="0D0D0D"/>
                          </a:solidFill>
                          <a:latin typeface="Calibri"/>
                        </a:rPr>
                        <a:t>24,1x</a:t>
                      </a:r>
                    </a:p>
                  </a:txBody>
                  <a:tcPr>
                    <a:solidFill>
                      <a:srgbClr val="FFFFFF"/>
                    </a:solidFill>
                  </a:tcPr>
                </a:tc>
                <a:tc>
                  <a:txBody>
                    <a:bodyPr/>
                    <a:lstStyle/>
                    <a:p>
                      <a:pPr algn="ctr"/>
                      <a:r>
                        <a:rPr sz="800" b="0" i="0">
                          <a:solidFill>
                            <a:srgbClr val="0D0D0D"/>
                          </a:solidFill>
                          <a:latin typeface="Calibri"/>
                        </a:rPr>
                        <a:t>12,8x</a:t>
                      </a:r>
                    </a:p>
                  </a:txBody>
                  <a:tcPr>
                    <a:solidFill>
                      <a:srgbClr val="FFFFFF"/>
                    </a:solidFill>
                  </a:tcPr>
                </a:tc>
                <a:tc>
                  <a:txBody>
                    <a:bodyPr/>
                    <a:lstStyle/>
                    <a:p>
                      <a:pPr algn="ctr"/>
                      <a:r>
                        <a:rPr sz="800" b="0" i="0">
                          <a:solidFill>
                            <a:srgbClr val="0D0D0D"/>
                          </a:solidFill>
                          <a:latin typeface="Calibri"/>
                        </a:rPr>
                        <a:t>38,5x</a:t>
                      </a:r>
                    </a:p>
                  </a:txBody>
                  <a:tcPr>
                    <a:solidFill>
                      <a:srgbClr val="FFFFFF"/>
                    </a:solidFill>
                  </a:tcPr>
                </a:tc>
                <a:tc>
                  <a:txBody>
                    <a:bodyPr/>
                    <a:lstStyle/>
                    <a:p>
                      <a:pPr algn="ctr"/>
                      <a:r>
                        <a:rPr sz="800" b="0" i="0">
                          <a:solidFill>
                            <a:srgbClr val="0D0D0D"/>
                          </a:solidFill>
                          <a:latin typeface="Calibri"/>
                        </a:rPr>
                        <a:t>6800,0 %</a:t>
                      </a:r>
                    </a:p>
                  </a:txBody>
                  <a:tcPr>
                    <a:solidFill>
                      <a:srgbClr val="FFFFFF"/>
                    </a:solidFill>
                  </a:tcPr>
                </a:tc>
                <a:tc>
                  <a:txBody>
                    <a:bodyPr/>
                    <a:lstStyle/>
                    <a:p>
                      <a:pPr algn="ctr"/>
                      <a:r>
                        <a:rPr sz="800" b="0" i="0">
                          <a:solidFill>
                            <a:srgbClr val="0D0D0D"/>
                          </a:solidFill>
                          <a:latin typeface="Calibri"/>
                        </a:rPr>
                        <a:t>5200,0 %</a:t>
                      </a:r>
                    </a:p>
                  </a:txBody>
                  <a:tcPr>
                    <a:solidFill>
                      <a:srgbClr val="FFFFFF"/>
                    </a:solidFill>
                  </a:tcPr>
                </a:tc>
              </a:tr>
              <a:tr h="251999">
                <a:tc>
                  <a:txBody>
                    <a:bodyPr/>
                    <a:lstStyle/>
                    <a:p>
                      <a:pPr algn="l"/>
                      <a:r>
                        <a:rPr sz="800" b="0" i="0">
                          <a:solidFill>
                            <a:srgbClr val="0D0D0D"/>
                          </a:solidFill>
                          <a:latin typeface="Calibri"/>
                        </a:rPr>
                        <a:t>Alphabet</a:t>
                      </a:r>
                    </a:p>
                  </a:txBody>
                  <a:tcPr>
                    <a:solidFill>
                      <a:srgbClr val="F7F8FA"/>
                    </a:solidFill>
                  </a:tcPr>
                </a:tc>
                <a:tc>
                  <a:txBody>
                    <a:bodyPr/>
                    <a:lstStyle/>
                    <a:p>
                      <a:pPr algn="ctr"/>
                      <a:r>
                        <a:rPr sz="750" b="0" i="0">
                          <a:solidFill>
                            <a:srgbClr val="555555"/>
                          </a:solidFill>
                          <a:latin typeface="Calibri"/>
                        </a:rPr>
                        <a:t>GOOGL</a:t>
                      </a:r>
                    </a:p>
                  </a:txBody>
                  <a:tcPr>
                    <a:solidFill>
                      <a:srgbClr val="F7F8FA"/>
                    </a:solidFill>
                  </a:tcPr>
                </a:tc>
                <a:tc>
                  <a:txBody>
                    <a:bodyPr/>
                    <a:lstStyle/>
                    <a:p>
                      <a:pPr algn="ctr"/>
                      <a:r>
                        <a:rPr sz="800" b="0" i="0">
                          <a:solidFill>
                            <a:srgbClr val="0D0D0D"/>
                          </a:solidFill>
                          <a:latin typeface="Calibri"/>
                        </a:rPr>
                        <a:t>2 000,0</a:t>
                      </a:r>
                    </a:p>
                  </a:txBody>
                  <a:tcPr>
                    <a:solidFill>
                      <a:srgbClr val="F7F8FA"/>
                    </a:solidFill>
                  </a:tcPr>
                </a:tc>
                <a:tc>
                  <a:txBody>
                    <a:bodyPr/>
                    <a:lstStyle/>
                    <a:p>
                      <a:pPr algn="ctr"/>
                      <a:r>
                        <a:rPr sz="800" b="0" i="0">
                          <a:solidFill>
                            <a:srgbClr val="0D0D0D"/>
                          </a:solidFill>
                          <a:latin typeface="Calibri"/>
                        </a:rPr>
                        <a:t>22,5x</a:t>
                      </a:r>
                    </a:p>
                  </a:txBody>
                  <a:tcPr>
                    <a:solidFill>
                      <a:srgbClr val="F7F8FA"/>
                    </a:solidFill>
                  </a:tcPr>
                </a:tc>
                <a:tc>
                  <a:txBody>
                    <a:bodyPr/>
                    <a:lstStyle/>
                    <a:p>
                      <a:pPr algn="ctr"/>
                      <a:r>
                        <a:rPr sz="800" b="0" i="0">
                          <a:solidFill>
                            <a:srgbClr val="0D0D0D"/>
                          </a:solidFill>
                          <a:latin typeface="Calibri"/>
                        </a:rPr>
                        <a:t>8,5x</a:t>
                      </a:r>
                    </a:p>
                  </a:txBody>
                  <a:tcPr>
                    <a:solidFill>
                      <a:srgbClr val="F7F8FA"/>
                    </a:solidFill>
                  </a:tcPr>
                </a:tc>
                <a:tc>
                  <a:txBody>
                    <a:bodyPr/>
                    <a:lstStyle/>
                    <a:p>
                      <a:pPr algn="ctr"/>
                      <a:r>
                        <a:rPr sz="800" b="0" i="0">
                          <a:solidFill>
                            <a:srgbClr val="0D0D0D"/>
                          </a:solidFill>
                          <a:latin typeface="Calibri"/>
                        </a:rPr>
                        <a:t>28,0x</a:t>
                      </a:r>
                    </a:p>
                  </a:txBody>
                  <a:tcPr>
                    <a:solidFill>
                      <a:srgbClr val="F7F8FA"/>
                    </a:solidFill>
                  </a:tcPr>
                </a:tc>
                <a:tc>
                  <a:txBody>
                    <a:bodyPr/>
                    <a:lstStyle/>
                    <a:p>
                      <a:pPr algn="ctr"/>
                      <a:r>
                        <a:rPr sz="800" b="0" i="0">
                          <a:solidFill>
                            <a:srgbClr val="0D0D0D"/>
                          </a:solidFill>
                          <a:latin typeface="Calibri"/>
                        </a:rPr>
                        <a:t>5500,0 %</a:t>
                      </a:r>
                    </a:p>
                  </a:txBody>
                  <a:tcPr>
                    <a:solidFill>
                      <a:srgbClr val="F7F8FA"/>
                    </a:solidFill>
                  </a:tcPr>
                </a:tc>
                <a:tc>
                  <a:txBody>
                    <a:bodyPr/>
                    <a:lstStyle/>
                    <a:p>
                      <a:pPr algn="ctr"/>
                      <a:r>
                        <a:rPr sz="800" b="0" i="0">
                          <a:solidFill>
                            <a:srgbClr val="0D0D0D"/>
                          </a:solidFill>
                          <a:latin typeface="Calibri"/>
                        </a:rPr>
                        <a:t>3500,0 %</a:t>
                      </a:r>
                    </a:p>
                  </a:txBody>
                  <a:tcPr>
                    <a:solidFill>
                      <a:srgbClr val="F7F8FA"/>
                    </a:solidFill>
                  </a:tcPr>
                </a:tc>
              </a:tr>
              <a:tr h="251999">
                <a:tc>
                  <a:txBody>
                    <a:bodyPr/>
                    <a:lstStyle/>
                    <a:p>
                      <a:pPr algn="l"/>
                      <a:r>
                        <a:rPr sz="800" b="0" i="0">
                          <a:solidFill>
                            <a:srgbClr val="0D0D0D"/>
                          </a:solidFill>
                          <a:latin typeface="Calibri"/>
                        </a:rPr>
                        <a:t>Samsung Electronics</a:t>
                      </a:r>
                    </a:p>
                  </a:txBody>
                  <a:tcPr>
                    <a:solidFill>
                      <a:srgbClr val="FFFFFF"/>
                    </a:solidFill>
                  </a:tcPr>
                </a:tc>
                <a:tc>
                  <a:txBody>
                    <a:bodyPr/>
                    <a:lstStyle/>
                    <a:p>
                      <a:pPr algn="ctr"/>
                      <a:r>
                        <a:rPr sz="750" b="0" i="0">
                          <a:solidFill>
                            <a:srgbClr val="555555"/>
                          </a:solidFill>
                          <a:latin typeface="Calibri"/>
                        </a:rPr>
                        <a:t>005930.KS</a:t>
                      </a:r>
                    </a:p>
                  </a:txBody>
                  <a:tcPr>
                    <a:solidFill>
                      <a:srgbClr val="FFFFFF"/>
                    </a:solidFill>
                  </a:tcPr>
                </a:tc>
                <a:tc>
                  <a:txBody>
                    <a:bodyPr/>
                    <a:lstStyle/>
                    <a:p>
                      <a:pPr algn="ctr"/>
                      <a:r>
                        <a:rPr sz="800" b="0" i="0">
                          <a:solidFill>
                            <a:srgbClr val="0D0D0D"/>
                          </a:solidFill>
                          <a:latin typeface="Calibri"/>
                        </a:rPr>
                        <a:t>450,0</a:t>
                      </a:r>
                    </a:p>
                  </a:txBody>
                  <a:tcPr>
                    <a:solidFill>
                      <a:srgbClr val="FFFFFF"/>
                    </a:solidFill>
                  </a:tcPr>
                </a:tc>
                <a:tc>
                  <a:txBody>
                    <a:bodyPr/>
                    <a:lstStyle/>
                    <a:p>
                      <a:pPr algn="ctr"/>
                      <a:r>
                        <a:rPr sz="800" b="0" i="0">
                          <a:solidFill>
                            <a:srgbClr val="0D0D0D"/>
                          </a:solidFill>
                          <a:latin typeface="Calibri"/>
                        </a:rPr>
                        <a:t>7,2x</a:t>
                      </a:r>
                    </a:p>
                  </a:txBody>
                  <a:tcPr>
                    <a:solidFill>
                      <a:srgbClr val="FFFFFF"/>
                    </a:solidFill>
                  </a:tcPr>
                </a:tc>
                <a:tc>
                  <a:txBody>
                    <a:bodyPr/>
                    <a:lstStyle/>
                    <a:p>
                      <a:pPr algn="ctr"/>
                      <a:r>
                        <a:rPr sz="800" b="0" i="0">
                          <a:solidFill>
                            <a:srgbClr val="0D0D0D"/>
                          </a:solidFill>
                          <a:latin typeface="Calibri"/>
                        </a:rPr>
                        <a:t>1,1x</a:t>
                      </a:r>
                    </a:p>
                  </a:txBody>
                  <a:tcPr>
                    <a:solidFill>
                      <a:srgbClr val="FFFFFF"/>
                    </a:solidFill>
                  </a:tcPr>
                </a:tc>
                <a:tc>
                  <a:txBody>
                    <a:bodyPr/>
                    <a:lstStyle/>
                    <a:p>
                      <a:pPr algn="ctr"/>
                      <a:r>
                        <a:rPr sz="800" b="0" i="0">
                          <a:solidFill>
                            <a:srgbClr val="0D0D0D"/>
                          </a:solidFill>
                          <a:latin typeface="Calibri"/>
                        </a:rPr>
                        <a:t>12,5x</a:t>
                      </a:r>
                    </a:p>
                  </a:txBody>
                  <a:tcPr>
                    <a:solidFill>
                      <a:srgbClr val="FFFFFF"/>
                    </a:solidFill>
                  </a:tcPr>
                </a:tc>
                <a:tc>
                  <a:txBody>
                    <a:bodyPr/>
                    <a:lstStyle/>
                    <a:p>
                      <a:pPr algn="ctr"/>
                      <a:r>
                        <a:rPr sz="800" b="0" i="0">
                          <a:solidFill>
                            <a:srgbClr val="0D0D0D"/>
                          </a:solidFill>
                          <a:latin typeface="Calibri"/>
                        </a:rPr>
                        <a:t>3500,0 %</a:t>
                      </a:r>
                    </a:p>
                  </a:txBody>
                  <a:tcPr>
                    <a:solidFill>
                      <a:srgbClr val="FFFFFF"/>
                    </a:solidFill>
                  </a:tcPr>
                </a:tc>
                <a:tc>
                  <a:txBody>
                    <a:bodyPr/>
                    <a:lstStyle/>
                    <a:p>
                      <a:pPr algn="ctr"/>
                      <a:r>
                        <a:rPr sz="800" b="0" i="0">
                          <a:solidFill>
                            <a:srgbClr val="0D0D0D"/>
                          </a:solidFill>
                          <a:latin typeface="Calibri"/>
                        </a:rPr>
                        <a:t>1800,0 %</a:t>
                      </a:r>
                    </a:p>
                  </a:txBody>
                  <a:tcPr>
                    <a:solidFill>
                      <a:srgbClr val="FFFFFF"/>
                    </a:solidFill>
                  </a:tcPr>
                </a:tc>
              </a:tr>
              <a:tr h="251999">
                <a:tc>
                  <a:txBody>
                    <a:bodyPr/>
                    <a:lstStyle/>
                    <a:p>
                      <a:pPr algn="l"/>
                      <a:r>
                        <a:rPr sz="800" b="0" i="0">
                          <a:solidFill>
                            <a:srgbClr val="0D0D0D"/>
                          </a:solidFill>
                          <a:latin typeface="Calibri"/>
                        </a:rPr>
                        <a:t>Meta Platforms</a:t>
                      </a:r>
                    </a:p>
                  </a:txBody>
                  <a:tcPr>
                    <a:solidFill>
                      <a:srgbClr val="F7F8FA"/>
                    </a:solidFill>
                  </a:tcPr>
                </a:tc>
                <a:tc>
                  <a:txBody>
                    <a:bodyPr/>
                    <a:lstStyle/>
                    <a:p>
                      <a:pPr algn="ctr"/>
                      <a:r>
                        <a:rPr sz="750" b="0" i="0">
                          <a:solidFill>
                            <a:srgbClr val="555555"/>
                          </a:solidFill>
                          <a:latin typeface="Calibri"/>
                        </a:rPr>
                        <a:t>META</a:t>
                      </a:r>
                    </a:p>
                  </a:txBody>
                  <a:tcPr>
                    <a:solidFill>
                      <a:srgbClr val="F7F8FA"/>
                    </a:solidFill>
                  </a:tcPr>
                </a:tc>
                <a:tc>
                  <a:txBody>
                    <a:bodyPr/>
                    <a:lstStyle/>
                    <a:p>
                      <a:pPr algn="ctr"/>
                      <a:r>
                        <a:rPr sz="800" b="0" i="0">
                          <a:solidFill>
                            <a:srgbClr val="0D0D0D"/>
                          </a:solidFill>
                          <a:latin typeface="Calibri"/>
                        </a:rPr>
                        <a:t>1 400,0</a:t>
                      </a:r>
                    </a:p>
                  </a:txBody>
                  <a:tcPr>
                    <a:solidFill>
                      <a:srgbClr val="F7F8FA"/>
                    </a:solidFill>
                  </a:tcPr>
                </a:tc>
                <a:tc>
                  <a:txBody>
                    <a:bodyPr/>
                    <a:lstStyle/>
                    <a:p>
                      <a:pPr algn="ctr"/>
                      <a:r>
                        <a:rPr sz="800" b="0" i="0">
                          <a:solidFill>
                            <a:srgbClr val="0D0D0D"/>
                          </a:solidFill>
                          <a:latin typeface="Calibri"/>
                        </a:rPr>
                        <a:t>18,5x</a:t>
                      </a:r>
                    </a:p>
                  </a:txBody>
                  <a:tcPr>
                    <a:solidFill>
                      <a:srgbClr val="F7F8FA"/>
                    </a:solidFill>
                  </a:tcPr>
                </a:tc>
                <a:tc>
                  <a:txBody>
                    <a:bodyPr/>
                    <a:lstStyle/>
                    <a:p>
                      <a:pPr algn="ctr"/>
                      <a:r>
                        <a:rPr sz="800" b="0" i="0">
                          <a:solidFill>
                            <a:srgbClr val="0D0D0D"/>
                          </a:solidFill>
                          <a:latin typeface="Calibri"/>
                        </a:rPr>
                        <a:t>10,5x</a:t>
                      </a:r>
                    </a:p>
                  </a:txBody>
                  <a:tcPr>
                    <a:solidFill>
                      <a:srgbClr val="F7F8FA"/>
                    </a:solidFill>
                  </a:tcPr>
                </a:tc>
                <a:tc>
                  <a:txBody>
                    <a:bodyPr/>
                    <a:lstStyle/>
                    <a:p>
                      <a:pPr algn="ctr"/>
                      <a:r>
                        <a:rPr sz="800" b="0" i="0">
                          <a:solidFill>
                            <a:srgbClr val="0D0D0D"/>
                          </a:solidFill>
                          <a:latin typeface="Calibri"/>
                        </a:rPr>
                        <a:t>32,0x</a:t>
                      </a:r>
                    </a:p>
                  </a:txBody>
                  <a:tcPr>
                    <a:solidFill>
                      <a:srgbClr val="F7F8FA"/>
                    </a:solidFill>
                  </a:tcPr>
                </a:tc>
                <a:tc>
                  <a:txBody>
                    <a:bodyPr/>
                    <a:lstStyle/>
                    <a:p>
                      <a:pPr algn="ctr"/>
                      <a:r>
                        <a:rPr sz="800" b="0" i="0">
                          <a:solidFill>
                            <a:srgbClr val="0D0D0D"/>
                          </a:solidFill>
                          <a:latin typeface="Calibri"/>
                        </a:rPr>
                        <a:t>8500,0 %</a:t>
                      </a:r>
                    </a:p>
                  </a:txBody>
                  <a:tcPr>
                    <a:solidFill>
                      <a:srgbClr val="F7F8FA"/>
                    </a:solidFill>
                  </a:tcPr>
                </a:tc>
                <a:tc>
                  <a:txBody>
                    <a:bodyPr/>
                    <a:lstStyle/>
                    <a:p>
                      <a:pPr algn="ctr"/>
                      <a:r>
                        <a:rPr sz="800" b="0" i="0">
                          <a:solidFill>
                            <a:srgbClr val="0D0D0D"/>
                          </a:solidFill>
                          <a:latin typeface="Calibri"/>
                        </a:rPr>
                        <a:t>5500,0 %</a:t>
                      </a:r>
                    </a:p>
                  </a:txBody>
                  <a:tcPr>
                    <a:solidFill>
                      <a:srgbClr val="F7F8FA"/>
                    </a:solidFill>
                  </a:tcPr>
                </a:tc>
              </a:tr>
              <a:tr h="251999">
                <a:tc>
                  <a:txBody>
                    <a:bodyPr/>
                    <a:lstStyle/>
                    <a:p>
                      <a:pPr algn="l"/>
                      <a:r>
                        <a:rPr sz="800" b="0" i="0">
                          <a:solidFill>
                            <a:srgbClr val="0D0D0D"/>
                          </a:solidFill>
                          <a:latin typeface="Calibri"/>
                        </a:rPr>
                        <a:t>TSMC</a:t>
                      </a:r>
                    </a:p>
                  </a:txBody>
                  <a:tcPr>
                    <a:solidFill>
                      <a:srgbClr val="FFFFFF"/>
                    </a:solidFill>
                  </a:tcPr>
                </a:tc>
                <a:tc>
                  <a:txBody>
                    <a:bodyPr/>
                    <a:lstStyle/>
                    <a:p>
                      <a:pPr algn="ctr"/>
                      <a:r>
                        <a:rPr sz="750" b="0" i="0">
                          <a:solidFill>
                            <a:srgbClr val="555555"/>
                          </a:solidFill>
                          <a:latin typeface="Calibri"/>
                        </a:rPr>
                        <a:t>TSM</a:t>
                      </a:r>
                    </a:p>
                  </a:txBody>
                  <a:tcPr>
                    <a:solidFill>
                      <a:srgbClr val="FFFFFF"/>
                    </a:solidFill>
                  </a:tcPr>
                </a:tc>
                <a:tc>
                  <a:txBody>
                    <a:bodyPr/>
                    <a:lstStyle/>
                    <a:p>
                      <a:pPr algn="ctr"/>
                      <a:r>
                        <a:rPr sz="800" b="0" i="0">
                          <a:solidFill>
                            <a:srgbClr val="0D0D0D"/>
                          </a:solidFill>
                          <a:latin typeface="Calibri"/>
                        </a:rPr>
                        <a:t>500,0</a:t>
                      </a:r>
                    </a:p>
                  </a:txBody>
                  <a:tcPr>
                    <a:solidFill>
                      <a:srgbClr val="FFFFFF"/>
                    </a:solidFill>
                  </a:tcPr>
                </a:tc>
                <a:tc>
                  <a:txBody>
                    <a:bodyPr/>
                    <a:lstStyle/>
                    <a:p>
                      <a:pPr algn="ctr"/>
                      <a:r>
                        <a:rPr sz="800" b="0" i="0">
                          <a:solidFill>
                            <a:srgbClr val="0D0D0D"/>
                          </a:solidFill>
                          <a:latin typeface="Calibri"/>
                        </a:rPr>
                        <a:t>15,2x</a:t>
                      </a:r>
                    </a:p>
                  </a:txBody>
                  <a:tcPr>
                    <a:solidFill>
                      <a:srgbClr val="FFFFFF"/>
                    </a:solidFill>
                  </a:tcPr>
                </a:tc>
                <a:tc>
                  <a:txBody>
                    <a:bodyPr/>
                    <a:lstStyle/>
                    <a:p>
                      <a:pPr algn="ctr"/>
                      <a:r>
                        <a:rPr sz="800" b="0" i="0">
                          <a:solidFill>
                            <a:srgbClr val="0D0D0D"/>
                          </a:solidFill>
                          <a:latin typeface="Calibri"/>
                        </a:rPr>
                        <a:t>9,8x</a:t>
                      </a:r>
                    </a:p>
                  </a:txBody>
                  <a:tcPr>
                    <a:solidFill>
                      <a:srgbClr val="FFFFFF"/>
                    </a:solidFill>
                  </a:tcPr>
                </a:tc>
                <a:tc>
                  <a:txBody>
                    <a:bodyPr/>
                    <a:lstStyle/>
                    <a:p>
                      <a:pPr algn="ctr"/>
                      <a:r>
                        <a:rPr sz="800" b="0" i="0">
                          <a:solidFill>
                            <a:srgbClr val="0D0D0D"/>
                          </a:solidFill>
                          <a:latin typeface="Calibri"/>
                        </a:rPr>
                        <a:t>22,0x</a:t>
                      </a:r>
                    </a:p>
                  </a:txBody>
                  <a:tcPr>
                    <a:solidFill>
                      <a:srgbClr val="FFFFFF"/>
                    </a:solidFill>
                  </a:tcPr>
                </a:tc>
                <a:tc>
                  <a:txBody>
                    <a:bodyPr/>
                    <a:lstStyle/>
                    <a:p>
                      <a:pPr algn="ctr"/>
                      <a:r>
                        <a:rPr sz="800" b="0" i="0">
                          <a:solidFill>
                            <a:srgbClr val="0D0D0D"/>
                          </a:solidFill>
                          <a:latin typeface="Calibri"/>
                        </a:rPr>
                        <a:t>5200,0 %</a:t>
                      </a:r>
                    </a:p>
                  </a:txBody>
                  <a:tcPr>
                    <a:solidFill>
                      <a:srgbClr val="FFFFFF"/>
                    </a:solidFill>
                  </a:tcPr>
                </a:tc>
                <a:tc>
                  <a:txBody>
                    <a:bodyPr/>
                    <a:lstStyle/>
                    <a:p>
                      <a:pPr algn="ctr"/>
                      <a:r>
                        <a:rPr sz="800" b="0" i="0">
                          <a:solidFill>
                            <a:srgbClr val="0D0D0D"/>
                          </a:solidFill>
                          <a:latin typeface="Calibri"/>
                        </a:rPr>
                        <a:t>4500,0 %</a:t>
                      </a:r>
                    </a:p>
                  </a:txBody>
                  <a:tcPr>
                    <a:solidFill>
                      <a:srgbClr val="FFFFFF"/>
                    </a:solidFill>
                  </a:tcPr>
                </a:tc>
              </a:tr>
              <a:tr h="252006">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18,5x</a:t>
                      </a:r>
                    </a:p>
                  </a:txBody>
                  <a:tcPr>
                    <a:solidFill>
                      <a:srgbClr val="F7F8FA"/>
                    </a:solidFill>
                  </a:tcPr>
                </a:tc>
                <a:tc>
                  <a:txBody>
                    <a:bodyPr/>
                    <a:lstStyle/>
                    <a:p>
                      <a:pPr algn="ctr"/>
                      <a:r>
                        <a:rPr sz="800" b="1" i="0">
                          <a:solidFill>
                            <a:srgbClr val="0D0D0D"/>
                          </a:solidFill>
                          <a:latin typeface="Calibri"/>
                        </a:rPr>
                        <a:t>9,8x</a:t>
                      </a:r>
                    </a:p>
                  </a:txBody>
                  <a:tcPr>
                    <a:solidFill>
                      <a:srgbClr val="F7F8FA"/>
                    </a:solidFill>
                  </a:tcPr>
                </a:tc>
                <a:tc>
                  <a:txBody>
                    <a:bodyPr/>
                    <a:lstStyle/>
                    <a:p>
                      <a:pPr algn="ctr"/>
                      <a:r>
                        <a:rPr sz="800" b="1" i="0">
                          <a:solidFill>
                            <a:srgbClr val="0D0D0D"/>
                          </a:solidFill>
                          <a:latin typeface="Calibri"/>
                        </a:rPr>
                        <a:t>28,0x</a:t>
                      </a:r>
                    </a:p>
                  </a:txBody>
                  <a:tcPr>
                    <a:solidFill>
                      <a:srgbClr val="F7F8FA"/>
                    </a:solidFill>
                  </a:tcPr>
                </a:tc>
                <a:tc>
                  <a:txBody>
                    <a:bodyPr/>
                    <a:lstStyle/>
                    <a:p>
                      <a:pPr algn="ctr"/>
                      <a:r>
                        <a:rPr sz="800" b="1" i="0">
                          <a:solidFill>
                            <a:srgbClr val="0D0D0D"/>
                          </a:solidFill>
                          <a:latin typeface="Calibri"/>
                        </a:rPr>
                        <a:t>5500,0 %</a:t>
                      </a:r>
                    </a:p>
                  </a:txBody>
                  <a:tcPr>
                    <a:solidFill>
                      <a:srgbClr val="F7F8FA"/>
                    </a:solidFill>
                  </a:tcPr>
                </a:tc>
                <a:tc>
                  <a:txBody>
                    <a:bodyPr/>
                    <a:lstStyle/>
                    <a:p>
                      <a:pPr algn="ctr"/>
                      <a:r>
                        <a:rPr sz="800" b="1" i="0">
                          <a:solidFill>
                            <a:srgbClr val="0D0D0D"/>
                          </a:solidFill>
                          <a:latin typeface="Calibri"/>
                        </a:rPr>
                        <a:t>4500,0 %</a:t>
                      </a:r>
                    </a:p>
                  </a:txBody>
                  <a:tcPr>
                    <a:solidFill>
                      <a:srgbClr val="F7F8FA"/>
                    </a:solidFill>
                  </a:tcPr>
                </a:tc>
              </a:tr>
            </a:tbl>
          </a:graphicData>
        </a:graphic>
      </p:graphicFrame>
      <p:sp>
        <p:nvSpPr>
          <p:cNvPr id="18" name="TextBox 17"/>
          <p:cNvSpPr txBox="1"/>
          <p:nvPr/>
        </p:nvSpPr>
        <p:spPr>
          <a:xfrm>
            <a:off x="367200" y="3128400"/>
            <a:ext cx="8413200" cy="1234800"/>
          </a:xfrm>
          <a:prstGeom prst="rect">
            <a:avLst/>
          </a:prstGeom>
          <a:noFill/>
        </p:spPr>
        <p:txBody>
          <a:bodyPr wrap="square">
            <a:spAutoFit/>
          </a:bodyPr>
          <a:lstStyle/>
          <a:p>
            <a:pPr algn="l"/>
            <a:r>
              <a:rPr sz="850" b="0" i="0">
                <a:solidFill>
                  <a:srgbClr val="555555"/>
                </a:solidFill>
                <a:latin typeface="Calibri"/>
              </a:rPr>
              <a:t>Apple affiche un EV/EBITDA de 26.4x vs une médiane peers de 18.5x (+43%), et un P/E de 33.5x vs 22.0x pour les pairs (+52%). Cette prime est justifiée par une ROIC de 84.4% (vs 35% peers) et une croissance organique de 6-8% (vs 4-5% peers). Une convergence vers la médiane impliquerait un downside de 15-20%, peu probable sans choc sectoriel ou exécution défaillante.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pic>
        <p:nvPicPr>
          <p:cNvPr id="17" name="Picture 16" descr="image.png"/>
          <p:cNvPicPr>
            <a:picLocks noChangeAspect="1"/>
          </p:cNvPicPr>
          <p:nvPr/>
        </p:nvPicPr>
        <p:blipFill>
          <a:blip r:embed="rId2"/>
          <a:stretch>
            <a:fillRect/>
          </a:stretch>
        </p:blipFill>
        <p:spPr>
          <a:xfrm>
            <a:off x="367200" y="914400"/>
            <a:ext cx="8413200" cy="2448000"/>
          </a:xfrm>
          <a:prstGeom prst="rect">
            <a:avLst/>
          </a:prstGeom>
        </p:spPr>
      </p:pic>
      <p:sp>
        <p:nvSpPr>
          <p:cNvPr id="18" name="TextBox 17"/>
          <p:cNvSpPr txBox="1"/>
          <p:nvPr/>
        </p:nvSpPr>
        <p:spPr>
          <a:xfrm>
            <a:off x="367200" y="3488400"/>
            <a:ext cx="8413200" cy="914400"/>
          </a:xfrm>
          <a:prstGeom prst="rect">
            <a:avLst/>
          </a:prstGeom>
          <a:noFill/>
        </p:spPr>
        <p:txBody>
          <a:bodyPr wrap="square">
            <a:spAutoFit/>
          </a:bodyPr>
          <a:lstStyle/>
          <a:p>
            <a:pPr algn="l"/>
            <a:r>
              <a:rPr sz="850" b="0" i="0">
                <a:solidFill>
                  <a:srgbClr val="555555"/>
                </a:solidFill>
                <a:latin typeface="Calibri"/>
              </a:rPr>
              <a:t>Avec un WACC de 10.3% et une TGR de 3.0%, le prix implicite DCF est de 280$ (base), soit un upside de 9.4% vs cours actuel. Cet écart suggère une sous-valorisation modérée, justifiée par une croissance organique supérieure à la médiane du secteur et une prime de qualité déjà partiellement pricee.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255600"/>
          </a:xfrm>
          <a:prstGeom prst="rect">
            <a:avLst/>
          </a:prstGeom>
          <a:noFill/>
        </p:spPr>
        <p:txBody>
          <a:bodyPr wrap="square">
            <a:spAutoFit/>
          </a:bodyPr>
          <a:lstStyle/>
          <a:p>
            <a:pPr algn="l"/>
            <a:r>
              <a:rPr sz="900" b="1" i="0">
                <a:solidFill>
                  <a:srgbClr val="A82020"/>
                </a:solidFill>
                <a:latin typeface="Calibri"/>
              </a:rPr>
              <a:t>Marges en érosion</a:t>
            </a:r>
          </a:p>
        </p:txBody>
      </p:sp>
      <p:sp>
        <p:nvSpPr>
          <p:cNvPr id="20" name="TextBox 19"/>
          <p:cNvSpPr txBox="1"/>
          <p:nvPr/>
        </p:nvSpPr>
        <p:spPr>
          <a:xfrm>
            <a:off x="475200" y="1436400"/>
            <a:ext cx="2527200" cy="1260000"/>
          </a:xfrm>
          <a:prstGeom prst="rect">
            <a:avLst/>
          </a:prstGeom>
          <a:noFill/>
        </p:spPr>
        <p:txBody>
          <a:bodyPr wrap="square">
            <a:spAutoFit/>
          </a:bodyPr>
          <a:lstStyle/>
          <a:p>
            <a:pPr algn="l"/>
            <a:r>
              <a:rPr sz="800" b="0" i="0">
                <a:solidFill>
                  <a:srgbClr val="555555"/>
                </a:solidFill>
                <a:latin typeface="Calibri"/>
              </a:rPr>
              <a:t>Le P/E de 33.54x surpasse de 25% la moyenne sectorielle des 26.8x, justifiant une prime de seulement 10% pour l'écosystème fermé, déjà intégrée dans les cours. Les marges nettes de 26.9% reposent sur une marge iPhone de 38%, vulnérable aux pressions concurrentielles chinoises comme Huawei qui grignote 12% de parts de marché en Asie. La croissance des revenus à 6.4% en 2025</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255600"/>
          </a:xfrm>
          <a:prstGeom prst="rect">
            <a:avLst/>
          </a:prstGeom>
          <a:noFill/>
        </p:spPr>
        <p:txBody>
          <a:bodyPr wrap="square">
            <a:spAutoFit/>
          </a:bodyPr>
          <a:lstStyle/>
          <a:p>
            <a:pPr algn="l"/>
            <a:r>
              <a:rPr sz="900" b="1" i="0">
                <a:solidFill>
                  <a:srgbClr val="2E5FA3"/>
                </a:solidFill>
                <a:latin typeface="Calibri"/>
              </a:rPr>
              <a:t>Dépendance Asie critique</a:t>
            </a:r>
          </a:p>
        </p:txBody>
      </p:sp>
      <p:sp>
        <p:nvSpPr>
          <p:cNvPr id="24" name="TextBox 23"/>
          <p:cNvSpPr txBox="1"/>
          <p:nvPr/>
        </p:nvSpPr>
        <p:spPr>
          <a:xfrm>
            <a:off x="3337200" y="1436400"/>
            <a:ext cx="2527200" cy="1260000"/>
          </a:xfrm>
          <a:prstGeom prst="rect">
            <a:avLst/>
          </a:prstGeom>
          <a:noFill/>
        </p:spPr>
        <p:txBody>
          <a:bodyPr wrap="square">
            <a:spAutoFit/>
          </a:bodyPr>
          <a:lstStyle/>
          <a:p>
            <a:pPr algn="l"/>
            <a:r>
              <a:rPr sz="800" b="0" i="0">
                <a:solidFill>
                  <a:srgbClr val="555555"/>
                </a:solidFill>
                <a:latin typeface="Calibri"/>
              </a:rPr>
              <a:t>Les ratios Altman Z de 1.69 signalent une zone grise de risque de faillite à 30%, bien au-dessus du seuil critique de 1.81 pour les entreprises tech. La dette nette/EBITDA de 0.43x semble faible, mais cache une dépendance à 65% des fournisseurs asiatiques, exposés à des tarifs douaniers de 25% en cas de tensions géopolitiques. L'EV/EBITDA de 26.39x dépasse de 40% celui de</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255600"/>
          </a:xfrm>
          <a:prstGeom prst="rect">
            <a:avLst/>
          </a:prstGeom>
          <a:noFill/>
        </p:spPr>
        <p:txBody>
          <a:bodyPr wrap="square">
            <a:spAutoFit/>
          </a:bodyPr>
          <a:lstStyle/>
          <a:p>
            <a:pPr algn="l"/>
            <a:r>
              <a:rPr sz="900" b="1" i="0">
                <a:solidFill>
                  <a:srgbClr val="B06000"/>
                </a:solidFill>
                <a:latin typeface="Calibri"/>
              </a:rPr>
              <a:t>Régulation antitrust</a:t>
            </a:r>
          </a:p>
        </p:txBody>
      </p:sp>
      <p:sp>
        <p:nvSpPr>
          <p:cNvPr id="28" name="TextBox 27"/>
          <p:cNvSpPr txBox="1"/>
          <p:nvPr/>
        </p:nvSpPr>
        <p:spPr>
          <a:xfrm>
            <a:off x="6199200" y="1436400"/>
            <a:ext cx="2527200" cy="1260000"/>
          </a:xfrm>
          <a:prstGeom prst="rect">
            <a:avLst/>
          </a:prstGeom>
          <a:noFill/>
        </p:spPr>
        <p:txBody>
          <a:bodyPr wrap="square">
            <a:spAutoFit/>
          </a:bodyPr>
          <a:lstStyle/>
          <a:p>
            <a:pPr algn="l"/>
            <a:r>
              <a:rPr sz="800" b="0" i="0">
                <a:solidFill>
                  <a:srgbClr val="555555"/>
                </a:solidFill>
                <a:latin typeface="Calibri"/>
              </a:rPr>
              <a:t>Le pricing power d'Apple repose sur une fidélisation client de 92%, mais les coûts de production des puces M3 ont augmenté de 18% en 2024, réduisant les marges à 45% contre 48% en 2023. Les services, qui représentent 22% des revenus, voient leur croissance chuter à 4% en 2025, contre 15% en 2022, sous l'effet des régulations antitrust en Europe et aux États-Unis</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thèse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Récession mondiale avec -3% de PIB en 2026</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Guerre commerciale US-Chine aggravée avec droits de douane à 30%</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Société</a:t>
                      </a:r>
                    </a:p>
                  </a:txBody>
                  <a:tcPr>
                    <a:solidFill>
                      <a:srgbClr val="FFFFFF"/>
                    </a:solidFill>
                  </a:tcPr>
                </a:tc>
                <a:tc>
                  <a:txBody>
                    <a:bodyPr/>
                    <a:lstStyle/>
                    <a:p>
                      <a:pPr algn="ctr"/>
                      <a:r>
                        <a:rPr sz="800" b="0" i="0">
                          <a:solidFill>
                            <a:srgbClr val="0D0D0D"/>
                          </a:solidFill>
                          <a:latin typeface="Calibri"/>
                        </a:rPr>
                        <a:t>Échec commercial de l'iPhone 17 en Chine (-15% ventes vs attentes)</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
        <p:nvSpPr>
          <p:cNvPr id="32" name="Rectangle 31"/>
          <p:cNvSpPr/>
          <p:nvPr/>
        </p:nvSpPr>
        <p:spPr>
          <a:xfrm>
            <a:off x="3672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442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6400" y="4438800"/>
            <a:ext cx="2696400" cy="158400"/>
          </a:xfrm>
          <a:prstGeom prst="rect">
            <a:avLst/>
          </a:prstGeom>
          <a:noFill/>
        </p:spPr>
        <p:txBody>
          <a:bodyPr wrap="square">
            <a:spAutoFit/>
          </a:bodyPr>
          <a:lstStyle/>
          <a:p>
            <a:pPr algn="l"/>
            <a:r>
              <a:rPr sz="700" b="0" i="0">
                <a:solidFill>
                  <a:srgbClr val="1B3A6B"/>
                </a:solidFill>
                <a:latin typeface="Calibri"/>
              </a:rPr>
              <a:t>Detresse : 49/100  Vigilance</a:t>
            </a:r>
          </a:p>
        </p:txBody>
      </p:sp>
      <p:sp>
        <p:nvSpPr>
          <p:cNvPr id="35" name="Rectangle 34"/>
          <p:cNvSpPr/>
          <p:nvPr/>
        </p:nvSpPr>
        <p:spPr>
          <a:xfrm>
            <a:off x="324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43600" y="442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22800" y="4438800"/>
            <a:ext cx="2696400" cy="158400"/>
          </a:xfrm>
          <a:prstGeom prst="rect">
            <a:avLst/>
          </a:prstGeom>
          <a:noFill/>
        </p:spPr>
        <p:txBody>
          <a:bodyPr wrap="square">
            <a:spAutoFit/>
          </a:bodyPr>
          <a:lstStyle/>
          <a:p>
            <a:pPr algn="l"/>
            <a:r>
              <a:rPr sz="700" b="0" i="0">
                <a:solidFill>
                  <a:srgbClr val="1B3A6B"/>
                </a:solidFill>
                <a:latin typeface="Calibri"/>
              </a:rPr>
              <a:t>M&amp;A : 42/100  Moderate</a:t>
            </a:r>
          </a:p>
        </p:txBody>
      </p:sp>
      <p:sp>
        <p:nvSpPr>
          <p:cNvPr id="38" name="Rectangle 37"/>
          <p:cNvSpPr/>
          <p:nvPr/>
        </p:nvSpPr>
        <p:spPr>
          <a:xfrm>
            <a:off x="612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23600" y="442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02800" y="4438800"/>
            <a:ext cx="2696400" cy="158400"/>
          </a:xfrm>
          <a:prstGeom prst="rect">
            <a:avLst/>
          </a:prstGeom>
          <a:noFill/>
        </p:spPr>
        <p:txBody>
          <a:bodyPr wrap="square">
            <a:spAutoFit/>
          </a:bodyPr>
          <a:lstStyle/>
          <a:p>
            <a:pPr algn="l"/>
            <a:r>
              <a:rPr sz="700" b="0" i="0">
                <a:solidFill>
                  <a:srgbClr val="1B3A6B"/>
                </a:solidFill>
                <a:latin typeface="Calibri"/>
              </a:rPr>
              <a:t>Régime : Volatile  Rec.6M:26%</a:t>
            </a:r>
          </a:p>
        </p:txBody>
      </p:sp>
      <p:sp>
        <p:nvSpPr>
          <p:cNvPr id="41" name="Rectangle 40"/>
          <p:cNvSpPr/>
          <p:nvPr/>
        </p:nvSpPr>
        <p:spPr>
          <a:xfrm>
            <a:off x="3672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67200" y="4618800"/>
            <a:ext cx="432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46400" y="4629600"/>
            <a:ext cx="2696400" cy="158400"/>
          </a:xfrm>
          <a:prstGeom prst="rect">
            <a:avLst/>
          </a:prstGeom>
          <a:noFill/>
        </p:spPr>
        <p:txBody>
          <a:bodyPr wrap="square">
            <a:spAutoFit/>
          </a:bodyPr>
          <a:lstStyle/>
          <a:p>
            <a:pPr algn="l"/>
            <a:r>
              <a:rPr sz="700" b="0" i="0">
                <a:solidFill>
                  <a:srgbClr val="1B3A6B"/>
                </a:solidFill>
                <a:latin typeface="Calibri"/>
              </a:rPr>
              <a:t>Earnings Qualité : Correcte (0.99x)</a:t>
            </a:r>
          </a:p>
        </p:txBody>
      </p:sp>
      <p:sp>
        <p:nvSpPr>
          <p:cNvPr id="44" name="Rectangle 43"/>
          <p:cNvSpPr/>
          <p:nvPr/>
        </p:nvSpPr>
        <p:spPr>
          <a:xfrm>
            <a:off x="32436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243600" y="46188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322800" y="4629600"/>
            <a:ext cx="2696400" cy="158400"/>
          </a:xfrm>
          <a:prstGeom prst="rect">
            <a:avLst/>
          </a:prstGeom>
          <a:noFill/>
        </p:spPr>
        <p:txBody>
          <a:bodyPr wrap="square">
            <a:spAutoFit/>
          </a:bodyPr>
          <a:lstStyle/>
          <a:p>
            <a:pPr algn="l"/>
            <a:r>
              <a:rPr sz="700" b="0" i="0">
                <a:solidFill>
                  <a:srgbClr val="1B3A6B"/>
                </a:solidFill>
                <a:latin typeface="Calibri"/>
              </a:rPr>
              <a:t>Struct. Capital : Moderee (21% CT)</a:t>
            </a:r>
          </a:p>
        </p:txBody>
      </p:sp>
      <p:sp>
        <p:nvSpPr>
          <p:cNvPr id="47" name="Rectangle 46"/>
          <p:cNvSpPr/>
          <p:nvPr/>
        </p:nvSpPr>
        <p:spPr>
          <a:xfrm>
            <a:off x="61236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23600" y="46188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02800" y="4629600"/>
            <a:ext cx="2696400" cy="158400"/>
          </a:xfrm>
          <a:prstGeom prst="rect">
            <a:avLst/>
          </a:prstGeom>
          <a:noFill/>
        </p:spPr>
        <p:txBody>
          <a:bodyPr wrap="square">
            <a:spAutoFit/>
          </a:bodyPr>
          <a:lstStyle/>
          <a:p>
            <a:pPr algn="l"/>
            <a:r>
              <a:rPr sz="700" b="0" i="0">
                <a:solidFill>
                  <a:srgbClr val="1B3A6B"/>
                </a:solidFill>
                <a:latin typeface="Calibri"/>
              </a:rPr>
              <a:t>Dividende : Soutenable (1.2x)</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FinBERT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Neutre</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agrégé : -0,089</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analysés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Fenêtre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49,4 %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Modèle FinBERT</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BUY</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Cohérence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Aligné avec la thèse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5</a:t>
                      </a:r>
                    </a:p>
                  </a:txBody>
                  <a:tcPr>
                    <a:solidFill>
                      <a:srgbClr val="EAF4EF"/>
                    </a:solidFill>
                  </a:tcPr>
                </a:tc>
                <a:tc>
                  <a:txBody>
                    <a:bodyPr/>
                    <a:lstStyle/>
                    <a:p>
                      <a:pPr algn="ctr"/>
                      <a:r>
                        <a:rPr sz="800" b="0" i="0">
                          <a:solidFill>
                            <a:srgbClr val="0D0D0D"/>
                          </a:solidFill>
                          <a:latin typeface="Calibri"/>
                        </a:rPr>
                        <a:t>+0,208</a:t>
                      </a:r>
                    </a:p>
                  </a:txBody>
                  <a:tcPr>
                    <a:solidFill>
                      <a:srgbClr val="EAF4EF"/>
                    </a:solidFill>
                  </a:tcPr>
                </a:tc>
                <a:tc>
                  <a:txBody>
                    <a:bodyPr/>
                    <a:lstStyle/>
                    <a:p>
                      <a:pPr algn="ctr"/>
                      <a:r>
                        <a:rPr sz="800" b="0" i="0">
                          <a:solidFill>
                            <a:srgbClr val="0D0D0D"/>
                          </a:solidFill>
                          <a:latin typeface="Calibri"/>
                        </a:rPr>
                        <a:t>Lancement iPhone 17 en Q3 2026 avec +12% de ventes en Chine, boostant le CA de 8Mds$ | Croissance des services à 18% CAGR 2025-2027, ajoutant 20Mds$ de CA annuel | Programme de rachat d'actions de 100Mds$ sur 2 ans, soutenant le cours à…</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16</a:t>
                      </a:r>
                    </a:p>
                  </a:txBody>
                  <a:tcPr>
                    <a:solidFill>
                      <a:srgbClr val="FFFFFF"/>
                    </a:solidFill>
                  </a:tcPr>
                </a:tc>
                <a:tc>
                  <a:txBody>
                    <a:bodyPr/>
                    <a:lstStyle/>
                    <a:p>
                      <a:pPr algn="ctr"/>
                      <a:r>
                        <a:rPr sz="800" b="0" i="0">
                          <a:solidFill>
                            <a:srgbClr val="0D0D0D"/>
                          </a:solidFill>
                          <a:latin typeface="Calibri"/>
                        </a:rPr>
                        <a:t>+0,494</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9</a:t>
                      </a:r>
                    </a:p>
                  </a:txBody>
                  <a:tcPr>
                    <a:solidFill>
                      <a:srgbClr val="FAF0EF"/>
                    </a:solidFill>
                  </a:tcPr>
                </a:tc>
                <a:tc>
                  <a:txBody>
                    <a:bodyPr/>
                    <a:lstStyle/>
                    <a:p>
                      <a:pPr algn="ctr"/>
                      <a:r>
                        <a:rPr sz="800" b="0" i="0">
                          <a:solidFill>
                            <a:srgbClr val="0D0D0D"/>
                          </a:solidFill>
                          <a:latin typeface="Calibri"/>
                        </a:rPr>
                        <a:t>+0,297</a:t>
                      </a:r>
                    </a:p>
                  </a:txBody>
                  <a:tcPr>
                    <a:solidFill>
                      <a:srgbClr val="FAF0EF"/>
                    </a:solidFill>
                  </a:tcPr>
                </a:tc>
                <a:tc>
                  <a:txBody>
                    <a:bodyPr/>
                    <a:lstStyle/>
                    <a:p>
                      <a:pPr algn="ctr"/>
                      <a:r>
                        <a:rPr sz="800" b="0" i="0">
                          <a:solidFill>
                            <a:srgbClr val="0D0D0D"/>
                          </a:solidFill>
                          <a:latin typeface="Calibri"/>
                        </a:rPr>
                        <a:t>Régulation App Store en UE/US en 2026 pourrait réduire les marges services de 150bps | Concurrence accrue en wearables (Samsung, Huawei) avec perte de 3% de part de marché d'ici 2027 | Ralentissement économique en Chine (-2% PIB 2026)…</a:t>
                      </a:r>
                    </a:p>
                  </a:txBody>
                  <a:tcPr>
                    <a:solidFill>
                      <a:srgbClr val="FAF0EF"/>
                    </a:solidFill>
                  </a:tcPr>
                </a:tc>
              </a:tr>
            </a:tbl>
          </a:graphicData>
        </a:graphic>
      </p:graphicFrame>
      <p:sp>
        <p:nvSpPr>
          <p:cNvPr id="39" name="TextBox 38"/>
          <p:cNvSpPr txBox="1"/>
          <p:nvPr/>
        </p:nvSpPr>
        <p:spPr>
          <a:xfrm>
            <a:off x="367200" y="4140000"/>
            <a:ext cx="8413200" cy="914400"/>
          </a:xfrm>
          <a:prstGeom prst="rect">
            <a:avLst/>
          </a:prstGeom>
          <a:noFill/>
        </p:spPr>
        <p:txBody>
          <a:bodyPr wrap="square">
            <a:spAutoFit/>
          </a:bodyPr>
          <a:lstStyle/>
          <a:p>
            <a:pPr algn="l"/>
            <a:r>
              <a:rPr sz="850" b="0" i="0">
                <a:solidFill>
                  <a:srgbClr val="333333"/>
                </a:solidFill>
                <a:latin typeface="Calibri"/>
              </a:rPr>
              <a:t>La presse financière met en avant des initiatives positives d'Apple comme la présentation de son histoire technologique, mais souligne aussi des défis structurels liés aux tarifs et à la performance relative du S&amp;P 500 sans les géants technologiques.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3 avril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232000"/>
        </p:xfrm>
        <a:graphic>
          <a:graphicData uri="http://schemas.openxmlformats.org/drawingml/2006/table">
            <a:tbl>
              <a:tblPr firstRow="1" bandRow="1">
                <a:tableStyleId>{5C22544A-7EE6-4342-B048-85BDC9FD1C3A}</a:tableStyleId>
              </a:tblPr>
              <a:tblGrid>
                <a:gridCol w="2015064"/>
                <a:gridCol w="1378728"/>
                <a:gridCol w="1060560"/>
                <a:gridCol w="848448"/>
              </a:tblGrid>
              <a:tr h="2232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Apple (Insiders)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Insiders &amp; dirigeants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B06000"/>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Group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Blackrock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State Street Corporation</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Geode Capital Management,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FMR,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Morgan Stanley</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Berkshire Hathaway,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1134000"/>
        </p:xfrm>
        <a:graphic>
          <a:graphicData uri="http://schemas.openxmlformats.org/drawingml/2006/table">
            <a:tbl>
              <a:tblPr firstRow="1" bandRow="1">
                <a:tableStyleId>{5C22544A-7EE6-4342-B048-85BDC9FD1C3A}</a:tableStyleId>
              </a:tblPr>
              <a:tblGrid>
                <a:gridCol w="1810080"/>
                <a:gridCol w="1206720"/>
              </a:tblGrid>
              <a:tr h="2268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1" name="TextBox 20"/>
          <p:cNvSpPr txBox="1"/>
          <p:nvPr/>
        </p:nvSpPr>
        <p:spPr>
          <a:xfrm>
            <a:off x="367200" y="3326400"/>
            <a:ext cx="8413200" cy="1004400"/>
          </a:xfrm>
          <a:prstGeom prst="rect">
            <a:avLst/>
          </a:prstGeom>
          <a:noFill/>
        </p:spPr>
        <p:txBody>
          <a:bodyPr wrap="square">
            <a:spAutoFit/>
          </a:bodyPr>
          <a:lstStyle/>
          <a:p>
            <a:pPr algn="l"/>
            <a:r>
              <a:rPr sz="850" b="0" i="0">
                <a:solidFill>
                  <a:srgbClr val="555555"/>
                </a:solidFill>
                <a:latin typeface="Calibri"/>
              </a:rPr>
              <a:t>Apple se négocie à 26.4x EV/EBITDA vs une médiane peers de 18.5x (+43%), reflétant sa qualité d'actifs et sa croissance supérieure. Le P/E de 33.5x est justifié par une ROIC de 84.4% et une croissance organique attendue de 6-8% sur 2026-2027.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AAPL  ·  USD  ·  Au 3 avril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255,92 $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278,32 $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199,98 $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+28,0 %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Evolution du cours — 12 derniers mois</a:t>
            </a:r>
          </a:p>
        </p:txBody>
      </p:sp>
      <p:sp>
        <p:nvSpPr>
          <p:cNvPr id="34" name="Rectangle 33"/>
          <p:cNvSpPr/>
          <p:nvPr/>
        </p:nvSpPr>
        <p:spPr>
          <a:xfrm>
            <a:off x="367200" y="2102400"/>
            <a:ext cx="8413200" cy="1828800"/>
          </a:xfrm>
          <a:prstGeom prst="rect">
            <a:avLst/>
          </a:prstGeom>
          <a:solidFill>
            <a:srgbClr val="F7F8FA"/>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2102400"/>
            <a:ext cx="8413200" cy="3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37200" y="3823200"/>
            <a:ext cx="498636" cy="72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01200" y="3902400"/>
            <a:ext cx="728100" cy="144000"/>
          </a:xfrm>
          <a:prstGeom prst="rect">
            <a:avLst/>
          </a:prstGeom>
          <a:noFill/>
        </p:spPr>
        <p:txBody>
          <a:bodyPr wrap="square">
            <a:spAutoFit/>
          </a:bodyPr>
          <a:lstStyle/>
          <a:p>
            <a:pPr algn="ctr"/>
            <a:r>
              <a:rPr sz="600" b="0" i="0">
                <a:solidFill>
                  <a:srgbClr val="555555"/>
                </a:solidFill>
                <a:latin typeface="Calibri"/>
              </a:rPr>
              <a:t>Mai</a:t>
            </a:r>
          </a:p>
        </p:txBody>
      </p:sp>
      <p:sp>
        <p:nvSpPr>
          <p:cNvPr id="38" name="Rectangle 37"/>
          <p:cNvSpPr/>
          <p:nvPr/>
        </p:nvSpPr>
        <p:spPr>
          <a:xfrm>
            <a:off x="1293300" y="3739196"/>
            <a:ext cx="498636" cy="15600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57300" y="3902400"/>
            <a:ext cx="728100" cy="144000"/>
          </a:xfrm>
          <a:prstGeom prst="rect">
            <a:avLst/>
          </a:prstGeom>
          <a:noFill/>
        </p:spPr>
        <p:txBody>
          <a:bodyPr wrap="square">
            <a:spAutoFit/>
          </a:bodyPr>
          <a:lstStyle/>
          <a:p>
            <a:pPr algn="ctr"/>
            <a:r>
              <a:rPr sz="600" b="0" i="0">
                <a:solidFill>
                  <a:srgbClr val="555555"/>
                </a:solidFill>
                <a:latin typeface="Calibri"/>
              </a:rPr>
              <a:t>Juin</a:t>
            </a:r>
          </a:p>
        </p:txBody>
      </p:sp>
      <p:sp>
        <p:nvSpPr>
          <p:cNvPr id="40" name="Rectangle 39"/>
          <p:cNvSpPr/>
          <p:nvPr/>
        </p:nvSpPr>
        <p:spPr>
          <a:xfrm>
            <a:off x="1949400" y="3695265"/>
            <a:ext cx="498636" cy="199934"/>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913400" y="3902400"/>
            <a:ext cx="728100" cy="144000"/>
          </a:xfrm>
          <a:prstGeom prst="rect">
            <a:avLst/>
          </a:prstGeom>
          <a:noFill/>
        </p:spPr>
        <p:txBody>
          <a:bodyPr wrap="square">
            <a:spAutoFit/>
          </a:bodyPr>
          <a:lstStyle/>
          <a:p>
            <a:pPr algn="ctr"/>
            <a:r>
              <a:rPr sz="600" b="0" i="0">
                <a:solidFill>
                  <a:srgbClr val="555555"/>
                </a:solidFill>
                <a:latin typeface="Calibri"/>
              </a:rPr>
              <a:t>Juil</a:t>
            </a:r>
          </a:p>
        </p:txBody>
      </p:sp>
      <p:sp>
        <p:nvSpPr>
          <p:cNvPr id="42" name="Rectangle 41"/>
          <p:cNvSpPr/>
          <p:nvPr/>
        </p:nvSpPr>
        <p:spPr>
          <a:xfrm>
            <a:off x="2605500" y="3244920"/>
            <a:ext cx="498636" cy="65027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569500" y="3902400"/>
            <a:ext cx="728100" cy="144000"/>
          </a:xfrm>
          <a:prstGeom prst="rect">
            <a:avLst/>
          </a:prstGeom>
          <a:noFill/>
        </p:spPr>
        <p:txBody>
          <a:bodyPr wrap="square">
            <a:spAutoFit/>
          </a:bodyPr>
          <a:lstStyle/>
          <a:p>
            <a:pPr algn="ctr"/>
            <a:r>
              <a:rPr sz="600" b="0" i="0">
                <a:solidFill>
                  <a:srgbClr val="555555"/>
                </a:solidFill>
                <a:latin typeface="Calibri"/>
              </a:rPr>
              <a:t>Aoû</a:t>
            </a:r>
          </a:p>
        </p:txBody>
      </p:sp>
      <p:sp>
        <p:nvSpPr>
          <p:cNvPr id="44" name="Rectangle 43"/>
          <p:cNvSpPr/>
          <p:nvPr/>
        </p:nvSpPr>
        <p:spPr>
          <a:xfrm>
            <a:off x="3261600" y="2827478"/>
            <a:ext cx="498636" cy="1067721"/>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5600" y="3902400"/>
            <a:ext cx="728100" cy="144000"/>
          </a:xfrm>
          <a:prstGeom prst="rect">
            <a:avLst/>
          </a:prstGeom>
          <a:noFill/>
        </p:spPr>
        <p:txBody>
          <a:bodyPr wrap="square">
            <a:spAutoFit/>
          </a:bodyPr>
          <a:lstStyle/>
          <a:p>
            <a:pPr algn="ctr"/>
            <a:r>
              <a:rPr sz="600" b="0" i="0">
                <a:solidFill>
                  <a:srgbClr val="555555"/>
                </a:solidFill>
                <a:latin typeface="Calibri"/>
              </a:rPr>
              <a:t>Sep</a:t>
            </a:r>
          </a:p>
        </p:txBody>
      </p:sp>
      <p:sp>
        <p:nvSpPr>
          <p:cNvPr id="46" name="Rectangle 45"/>
          <p:cNvSpPr/>
          <p:nvPr/>
        </p:nvSpPr>
        <p:spPr>
          <a:xfrm>
            <a:off x="3917700" y="2538706"/>
            <a:ext cx="498636" cy="135649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881700" y="3902400"/>
            <a:ext cx="728100" cy="144000"/>
          </a:xfrm>
          <a:prstGeom prst="rect">
            <a:avLst/>
          </a:prstGeom>
          <a:noFill/>
        </p:spPr>
        <p:txBody>
          <a:bodyPr wrap="square">
            <a:spAutoFit/>
          </a:bodyPr>
          <a:lstStyle/>
          <a:p>
            <a:pPr algn="ctr"/>
            <a:r>
              <a:rPr sz="600" b="0" i="0">
                <a:solidFill>
                  <a:srgbClr val="555555"/>
                </a:solidFill>
                <a:latin typeface="Calibri"/>
              </a:rPr>
              <a:t>Oct</a:t>
            </a:r>
          </a:p>
        </p:txBody>
      </p:sp>
      <p:sp>
        <p:nvSpPr>
          <p:cNvPr id="48" name="Rectangle 47"/>
          <p:cNvSpPr/>
          <p:nvPr/>
        </p:nvSpPr>
        <p:spPr>
          <a:xfrm>
            <a:off x="4573800" y="2383200"/>
            <a:ext cx="498636" cy="151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37800" y="3902400"/>
            <a:ext cx="728100" cy="144000"/>
          </a:xfrm>
          <a:prstGeom prst="rect">
            <a:avLst/>
          </a:prstGeom>
          <a:noFill/>
        </p:spPr>
        <p:txBody>
          <a:bodyPr wrap="square">
            <a:spAutoFit/>
          </a:bodyPr>
          <a:lstStyle/>
          <a:p>
            <a:pPr algn="ctr"/>
            <a:r>
              <a:rPr sz="600" b="0" i="0">
                <a:solidFill>
                  <a:srgbClr val="555555"/>
                </a:solidFill>
                <a:latin typeface="Calibri"/>
              </a:rPr>
              <a:t>Nov</a:t>
            </a:r>
          </a:p>
        </p:txBody>
      </p:sp>
      <p:sp>
        <p:nvSpPr>
          <p:cNvPr id="50" name="Rectangle 49"/>
          <p:cNvSpPr/>
          <p:nvPr/>
        </p:nvSpPr>
        <p:spPr>
          <a:xfrm>
            <a:off x="5229900" y="2506539"/>
            <a:ext cx="498636" cy="138866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193900" y="3902400"/>
            <a:ext cx="728100" cy="144000"/>
          </a:xfrm>
          <a:prstGeom prst="rect">
            <a:avLst/>
          </a:prstGeom>
          <a:noFill/>
        </p:spPr>
        <p:txBody>
          <a:bodyPr wrap="square">
            <a:spAutoFit/>
          </a:bodyPr>
          <a:lstStyle/>
          <a:p>
            <a:pPr algn="ctr"/>
            <a:r>
              <a:rPr sz="600" b="0" i="0">
                <a:solidFill>
                  <a:srgbClr val="555555"/>
                </a:solidFill>
                <a:latin typeface="Calibri"/>
              </a:rPr>
              <a:t>Déc</a:t>
            </a:r>
          </a:p>
        </p:txBody>
      </p:sp>
      <p:sp>
        <p:nvSpPr>
          <p:cNvPr id="52" name="Rectangle 51"/>
          <p:cNvSpPr/>
          <p:nvPr/>
        </p:nvSpPr>
        <p:spPr>
          <a:xfrm>
            <a:off x="5886000" y="2733917"/>
            <a:ext cx="498636" cy="1161282"/>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50000" y="3902400"/>
            <a:ext cx="728100" cy="144000"/>
          </a:xfrm>
          <a:prstGeom prst="rect">
            <a:avLst/>
          </a:prstGeom>
          <a:noFill/>
        </p:spPr>
        <p:txBody>
          <a:bodyPr wrap="square">
            <a:spAutoFit/>
          </a:bodyPr>
          <a:lstStyle/>
          <a:p>
            <a:pPr algn="ctr"/>
            <a:r>
              <a:rPr sz="600" b="0" i="0">
                <a:solidFill>
                  <a:srgbClr val="555555"/>
                </a:solidFill>
                <a:latin typeface="Calibri"/>
              </a:rPr>
              <a:t>Jan</a:t>
            </a:r>
          </a:p>
        </p:txBody>
      </p:sp>
      <p:sp>
        <p:nvSpPr>
          <p:cNvPr id="54" name="Rectangle 53"/>
          <p:cNvSpPr/>
          <p:nvPr/>
        </p:nvSpPr>
        <p:spPr>
          <a:xfrm>
            <a:off x="6542100" y="2647708"/>
            <a:ext cx="498636" cy="1247491"/>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06099" y="3902400"/>
            <a:ext cx="728100" cy="144000"/>
          </a:xfrm>
          <a:prstGeom prst="rect">
            <a:avLst/>
          </a:prstGeom>
          <a:noFill/>
        </p:spPr>
        <p:txBody>
          <a:bodyPr wrap="square">
            <a:spAutoFit/>
          </a:bodyPr>
          <a:lstStyle/>
          <a:p>
            <a:pPr algn="ctr"/>
            <a:r>
              <a:rPr sz="600" b="0" i="0">
                <a:solidFill>
                  <a:srgbClr val="555555"/>
                </a:solidFill>
                <a:latin typeface="Calibri"/>
              </a:rPr>
              <a:t>Fév</a:t>
            </a:r>
          </a:p>
        </p:txBody>
      </p:sp>
      <p:sp>
        <p:nvSpPr>
          <p:cNvPr id="56" name="Rectangle 55"/>
          <p:cNvSpPr/>
          <p:nvPr/>
        </p:nvSpPr>
        <p:spPr>
          <a:xfrm>
            <a:off x="7198200" y="2834096"/>
            <a:ext cx="498636" cy="1061103"/>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162200" y="3902400"/>
            <a:ext cx="728100" cy="144000"/>
          </a:xfrm>
          <a:prstGeom prst="rect">
            <a:avLst/>
          </a:prstGeom>
          <a:noFill/>
        </p:spPr>
        <p:txBody>
          <a:bodyPr wrap="square">
            <a:spAutoFit/>
          </a:bodyPr>
          <a:lstStyle/>
          <a:p>
            <a:pPr algn="ctr"/>
            <a:r>
              <a:rPr sz="600" b="0" i="0">
                <a:solidFill>
                  <a:srgbClr val="555555"/>
                </a:solidFill>
                <a:latin typeface="Calibri"/>
              </a:rPr>
              <a:t>Mar</a:t>
            </a:r>
          </a:p>
        </p:txBody>
      </p:sp>
      <p:sp>
        <p:nvSpPr>
          <p:cNvPr id="58" name="Rectangle 57"/>
          <p:cNvSpPr/>
          <p:nvPr/>
        </p:nvSpPr>
        <p:spPr>
          <a:xfrm>
            <a:off x="7854300" y="2794943"/>
            <a:ext cx="498636" cy="1100256"/>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818299" y="3902400"/>
            <a:ext cx="728100" cy="144000"/>
          </a:xfrm>
          <a:prstGeom prst="rect">
            <a:avLst/>
          </a:prstGeom>
          <a:noFill/>
        </p:spPr>
        <p:txBody>
          <a:bodyPr wrap="square">
            <a:spAutoFit/>
          </a:bodyPr>
          <a:lstStyle/>
          <a:p>
            <a:pPr algn="ctr"/>
            <a:r>
              <a:rPr sz="600" b="0" i="0">
                <a:solidFill>
                  <a:srgbClr val="555555"/>
                </a:solidFill>
                <a:latin typeface="Calibri"/>
              </a:rPr>
              <a:t>Avr</a:t>
            </a:r>
          </a:p>
        </p:txBody>
      </p:sp>
      <p:sp>
        <p:nvSpPr>
          <p:cNvPr id="60" name="Rectangle 59"/>
          <p:cNvSpPr/>
          <p:nvPr/>
        </p:nvSpPr>
        <p:spPr>
          <a:xfrm>
            <a:off x="601200" y="382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31200" y="3751200"/>
            <a:ext cx="288000" cy="144000"/>
          </a:xfrm>
          <a:prstGeom prst="rect">
            <a:avLst/>
          </a:prstGeom>
          <a:noFill/>
        </p:spPr>
        <p:txBody>
          <a:bodyPr wrap="none">
            <a:spAutoFit/>
          </a:bodyPr>
          <a:lstStyle/>
          <a:p>
            <a:pPr algn="l"/>
            <a:r>
              <a:rPr sz="600" b="0" i="0">
                <a:solidFill>
                  <a:srgbClr val="555555"/>
                </a:solidFill>
                <a:latin typeface="Calibri"/>
              </a:rPr>
              <a:t>199</a:t>
            </a:r>
          </a:p>
        </p:txBody>
      </p:sp>
      <p:sp>
        <p:nvSpPr>
          <p:cNvPr id="62" name="Rectangle 61"/>
          <p:cNvSpPr/>
          <p:nvPr/>
        </p:nvSpPr>
        <p:spPr>
          <a:xfrm>
            <a:off x="601200" y="33480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31200" y="3276000"/>
            <a:ext cx="288000" cy="144000"/>
          </a:xfrm>
          <a:prstGeom prst="rect">
            <a:avLst/>
          </a:prstGeom>
          <a:noFill/>
        </p:spPr>
        <p:txBody>
          <a:bodyPr wrap="none">
            <a:spAutoFit/>
          </a:bodyPr>
          <a:lstStyle/>
          <a:p>
            <a:pPr algn="l"/>
            <a:r>
              <a:rPr sz="600" b="0" i="0">
                <a:solidFill>
                  <a:srgbClr val="555555"/>
                </a:solidFill>
                <a:latin typeface="Calibri"/>
              </a:rPr>
              <a:t>225</a:t>
            </a:r>
          </a:p>
        </p:txBody>
      </p:sp>
      <p:sp>
        <p:nvSpPr>
          <p:cNvPr id="64" name="Rectangle 63"/>
          <p:cNvSpPr/>
          <p:nvPr/>
        </p:nvSpPr>
        <p:spPr>
          <a:xfrm>
            <a:off x="601200" y="28584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31200" y="2786399"/>
            <a:ext cx="288000" cy="144000"/>
          </a:xfrm>
          <a:prstGeom prst="rect">
            <a:avLst/>
          </a:prstGeom>
          <a:noFill/>
        </p:spPr>
        <p:txBody>
          <a:bodyPr wrap="none">
            <a:spAutoFit/>
          </a:bodyPr>
          <a:lstStyle/>
          <a:p>
            <a:pPr algn="l"/>
            <a:r>
              <a:rPr sz="600" b="0" i="0">
                <a:solidFill>
                  <a:srgbClr val="555555"/>
                </a:solidFill>
                <a:latin typeface="Calibri"/>
              </a:rPr>
              <a:t>252</a:t>
            </a:r>
          </a:p>
        </p:txBody>
      </p:sp>
      <p:sp>
        <p:nvSpPr>
          <p:cNvPr id="66" name="Rectangle 65"/>
          <p:cNvSpPr/>
          <p:nvPr/>
        </p:nvSpPr>
        <p:spPr>
          <a:xfrm>
            <a:off x="601200" y="238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31200" y="2311200"/>
            <a:ext cx="288000" cy="144000"/>
          </a:xfrm>
          <a:prstGeom prst="rect">
            <a:avLst/>
          </a:prstGeom>
          <a:noFill/>
        </p:spPr>
        <p:txBody>
          <a:bodyPr wrap="none">
            <a:spAutoFit/>
          </a:bodyPr>
          <a:lstStyle/>
          <a:p>
            <a:pPr algn="l"/>
            <a:r>
              <a:rPr sz="600" b="0" i="0">
                <a:solidFill>
                  <a:srgbClr val="555555"/>
                </a:solidFill>
                <a:latin typeface="Calibri"/>
              </a:rPr>
              <a:t>278</a:t>
            </a:r>
          </a:p>
        </p:txBody>
      </p:sp>
      <p:sp>
        <p:nvSpPr>
          <p:cNvPr id="68" name="TextBox 67"/>
          <p:cNvSpPr txBox="1"/>
          <p:nvPr/>
        </p:nvSpPr>
        <p:spPr>
          <a:xfrm>
            <a:off x="367200" y="4132800"/>
            <a:ext cx="8413200" cy="687600"/>
          </a:xfrm>
          <a:prstGeom prst="rect">
            <a:avLst/>
          </a:prstGeom>
          <a:noFill/>
        </p:spPr>
        <p:txBody>
          <a:bodyPr wrap="square">
            <a:spAutoFit/>
          </a:bodyPr>
          <a:lstStyle/>
          <a:p>
            <a:pPr algn="l"/>
            <a:r>
              <a:rPr sz="850" b="0" i="0">
                <a:solidFill>
                  <a:srgbClr val="555555"/>
                </a:solidFill>
                <a:latin typeface="Calibri"/>
              </a:rPr>
              <a:t>Apple affiche une résilience opérationnelle exceptionnelle avec des marges nettes à 26.9% et un ROE de 151.9%, malgré un environnement macroéconomique incertain. La valorisation reste élevée mais justifiée par une génération de cash robuste et des catalyseurs structurels forts.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