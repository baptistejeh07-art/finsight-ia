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+12,3 %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+12,3 %  ·  Bear : 240 $ (-5,4 %)  ·  Bull : 320 $ (+26,1 %)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 cycle iPhone 16/17 avec +8% de ventes en 2026 grâce à l'IA intégrée et un prix moyen en hausse de 5%</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services élevées</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services pourrait atteindre 72% en 2027 avec 1.8Md d'abonnés, boostant le CA de 12%</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L'IA générative sur iPhone pourrait ajouter 15-20Md$ de revenus annuels d'ici 2028 via partenariats cloud et services premium.</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antitrust US/EU sur App Store : perte de 10-15% revenus services d'ici 2027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 compression marges services de 500pb d'ici 2027 | Horizon 2026-2028</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macro en Chine : -15% ventes iPhone en 2026 | Horizon 6-12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26,2x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+12,3 %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+0,255</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(iPhone, Mac, services) avec un écosystème intégré unique. Positionné en haut de gamme, le groupe domine par sa marque premium et son intégration verticale. Son avantage concurrentiel repose sur la fidélisation client, la marge élevée des services et l'innovation continue.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65% CA 2025) avec mix premium et forte marge brute 47%. Clients B2C et B2B via distributeurs et retail direct. Moteurs : cycles de remplacement iPhone (4-5 ans) et expansion services (Apple Care, accessoires).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générant 20% CA 2025 avec marge brute 70%. Modèle récurrent et peu cyclique. Clients fidélisés via écosystème fermé. Croissance tirée par +15% YoY des abonnés (1.5Md en 2025).</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3 725,9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253,79 $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33,3x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65% CA 2025) avec mix premium et forte marge brute 47%. Clients B2C et B2B via distributeurs et retail direct. Moteurs : cycles de remplacement iPhone (4-5 ans) et expansion services (Apple Care, accessoires).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générant 20% CA 2025 avec marge brute 70%. Modèle récurrent et peu cyclique. Clients fidélisés via écosystème fermé. Croissance tirée par +15% YoY des abonnés (1.5Md en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+7,1 %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210,7</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161,0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36,3 %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128,0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26,6 %</a:t>
                      </a:r>
                    </a:p>
                  </a:txBody>
                  <a:tcPr>
                    <a:solidFill>
                      <a:srgbClr val="F7F8FA"/>
                    </a:solidFill>
                  </a:tcPr>
                </a:tc>
                <a:tc>
                  <a:txBody>
                    <a:bodyPr/>
                    <a:lstStyle/>
                    <a:p>
                      <a:pPr algn="ctr"/>
                      <a:r>
                        <a:rPr sz="750" b="0" i="1">
                          <a:solidFill>
                            <a:srgbClr val="555555"/>
                          </a:solidFill>
                          <a:latin typeface="Calibri"/>
                        </a:rPr>
                        <a:t>27,0 %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6.4% en 2025 portée par services (+12%) et iPhone (+5%). Marges en expansion grâce au mix services et à la discipline des coûts fixes. Génération de cash libre de 110Md$ en 2025, renforçant la solidité bilancielle et la capacité d'investissement R&amp;D.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6.4% en 2025 portée par services (+12%) et iPhone (+5%). Marges en expansion grâce au mix services et à la discipline des coûts fixes. Génération de cash libre de 110Md$ en 2025, renforçant la solidité bilancielle et la capacité d'investissement R&amp;D.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passées de 43.3% (2022) à 46.9% (2025) via mix iPhone premium et services. EBITDA margin stable à 34.8% malgré hausse coûts R&amp;D (8% CA). Net margin à 26.9% reflète le levier opérationnel et pricing power. Ces niveaux sont durables grâce à la fidélisation client et à l'effet volume sur les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253,79 $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-5,4 %</a:t>
                      </a:r>
                    </a:p>
                  </a:txBody>
                  <a:tcPr>
                    <a:solidFill>
                      <a:srgbClr val="FAF0EF"/>
                    </a:solidFill>
                  </a:tcPr>
                </a:tc>
                <a:tc>
                  <a:txBody>
                    <a:bodyPr/>
                    <a:lstStyle/>
                    <a:p>
                      <a:pPr algn="ctr"/>
                      <a:r>
                        <a:rPr sz="1200" b="1" i="0">
                          <a:solidFill>
                            <a:srgbClr val="2E5FA3"/>
                          </a:solidFill>
                          <a:latin typeface="Calibri"/>
                        </a:rPr>
                        <a:t>+12,3 %</a:t>
                      </a:r>
                    </a:p>
                  </a:txBody>
                  <a:tcPr>
                    <a:solidFill>
                      <a:srgbClr val="EEF3FA"/>
                    </a:solidFill>
                  </a:tcPr>
                </a:tc>
                <a:tc>
                  <a:txBody>
                    <a:bodyPr/>
                    <a:lstStyle/>
                    <a:p>
                      <a:pPr algn="ctr"/>
                      <a:r>
                        <a:rPr sz="1200" b="1" i="0">
                          <a:solidFill>
                            <a:srgbClr val="1A7A4A"/>
                          </a:solidFill>
                          <a:latin typeface="Calibri"/>
                        </a:rPr>
                        <a:t>+26,1 %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10.3% et TGR 3.0% impliquent un prix DCF implicite de 275$ (vs 253.79$). La prime de 8% suggère une sous-valorisation structurelle liée à la croissance des services et à l'IA. Catalyseur clé : lancement iPhone 16 avec fonctionnalités IA générative 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3 725,9</a:t>
                      </a:r>
                    </a:p>
                  </a:txBody>
                  <a:tcPr>
                    <a:solidFill>
                      <a:srgbClr val="DDE8F5"/>
                    </a:solidFill>
                  </a:tcPr>
                </a:tc>
                <a:tc>
                  <a:txBody>
                    <a:bodyPr/>
                    <a:lstStyle/>
                    <a:p>
                      <a:pPr algn="ctr"/>
                      <a:r>
                        <a:rPr sz="800" b="1" i="0">
                          <a:solidFill>
                            <a:srgbClr val="1B3A6B"/>
                          </a:solidFill>
                          <a:latin typeface="Calibri"/>
                        </a:rPr>
                        <a:t>26,2x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33,3x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28,7x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3800,0 %</a:t>
                      </a:r>
                    </a:p>
                  </a:txBody>
                  <a:tcPr>
                    <a:solidFill>
                      <a:srgbClr val="F7F8FA"/>
                    </a:solidFill>
                  </a:tcPr>
                </a:tc>
              </a:tr>
              <a:tr h="251999">
                <a:tc>
                  <a:txBody>
                    <a:bodyPr/>
                    <a:lstStyle/>
                    <a:p>
                      <a:pPr algn="l"/>
                      <a:r>
                        <a:rPr sz="800" b="0" i="0">
                          <a:solidFill>
                            <a:srgbClr val="0D0D0D"/>
                          </a:solidFill>
                          <a:latin typeface="Calibri"/>
                        </a:rPr>
                        <a:t>Meta Platforms</a:t>
                      </a:r>
                    </a:p>
                  </a:txBody>
                  <a:tcPr>
                    <a:solidFill>
                      <a:srgbClr val="FFFFFF"/>
                    </a:solidFill>
                  </a:tcPr>
                </a:tc>
                <a:tc>
                  <a:txBody>
                    <a:bodyPr/>
                    <a:lstStyle/>
                    <a:p>
                      <a:pPr algn="ctr"/>
                      <a:r>
                        <a:rPr sz="750" b="0" i="0">
                          <a:solidFill>
                            <a:srgbClr val="555555"/>
                          </a:solidFill>
                          <a:latin typeface="Calibri"/>
                        </a:rPr>
                        <a:t>META</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18,9x</a:t>
                      </a:r>
                    </a:p>
                  </a:txBody>
                  <a:tcPr>
                    <a:solidFill>
                      <a:srgbClr val="FFFFFF"/>
                    </a:solidFill>
                  </a:tcPr>
                </a:tc>
                <a:tc>
                  <a:txBody>
                    <a:bodyPr/>
                    <a:lstStyle/>
                    <a:p>
                      <a:pPr algn="ctr"/>
                      <a:r>
                        <a:rPr sz="800" b="0" i="0">
                          <a:solidFill>
                            <a:srgbClr val="0D0D0D"/>
                          </a:solidFill>
                          <a:latin typeface="Calibri"/>
                        </a:rPr>
                        <a:t>10,2x</a:t>
                      </a:r>
                    </a:p>
                  </a:txBody>
                  <a:tcPr>
                    <a:solidFill>
                      <a:srgbClr val="FFFFFF"/>
                    </a:solidFill>
                  </a:tcPr>
                </a:tc>
                <a:tc>
                  <a:txBody>
                    <a:bodyPr/>
                    <a:lstStyle/>
                    <a:p>
                      <a:pPr algn="ctr"/>
                      <a:r>
                        <a:rPr sz="800" b="0" i="0">
                          <a:solidFill>
                            <a:srgbClr val="0D0D0D"/>
                          </a:solidFill>
                          <a:latin typeface="Calibri"/>
                        </a:rPr>
                        <a:t>25,1x</a:t>
                      </a:r>
                    </a:p>
                  </a:txBody>
                  <a:tcPr>
                    <a:solidFill>
                      <a:srgbClr val="FFFFFF"/>
                    </a:solidFill>
                  </a:tcPr>
                </a:tc>
                <a:tc>
                  <a:txBody>
                    <a:bodyPr/>
                    <a:lstStyle/>
                    <a:p>
                      <a:pPr algn="ctr"/>
                      <a:r>
                        <a:rPr sz="800" b="0" i="0">
                          <a:solidFill>
                            <a:srgbClr val="0D0D0D"/>
                          </a:solidFill>
                          <a:latin typeface="Calibri"/>
                        </a:rPr>
                        <a:t>8500,0 %</a:t>
                      </a:r>
                    </a:p>
                  </a:txBody>
                  <a:tcPr>
                    <a:solidFill>
                      <a:srgbClr val="FFFFFF"/>
                    </a:solidFill>
                  </a:tcPr>
                </a:tc>
                <a:tc>
                  <a:txBody>
                    <a:bodyPr/>
                    <a:lstStyle/>
                    <a:p>
                      <a:pPr algn="ctr"/>
                      <a:r>
                        <a:rPr sz="800" b="0" i="0">
                          <a:solidFill>
                            <a:srgbClr val="0D0D0D"/>
                          </a:solidFill>
                          <a:latin typeface="Calibri"/>
                        </a:rPr>
                        <a:t>5500,0 %</a:t>
                      </a:r>
                    </a:p>
                  </a:txBody>
                  <a:tcPr>
                    <a:solidFill>
                      <a:srgbClr val="FFFFFF"/>
                    </a:solidFill>
                  </a:tcPr>
                </a:tc>
              </a:tr>
              <a:tr h="251999">
                <a:tc>
                  <a:txBody>
                    <a:bodyPr/>
                    <a:lstStyle/>
                    <a:p>
                      <a:pPr algn="l"/>
                      <a:r>
                        <a:rPr sz="800" b="0" i="0">
                          <a:solidFill>
                            <a:srgbClr val="0D0D0D"/>
                          </a:solidFill>
                          <a:latin typeface="Calibri"/>
                        </a:rPr>
                        <a:t>Nvidia</a:t>
                      </a:r>
                    </a:p>
                  </a:txBody>
                  <a:tcPr>
                    <a:solidFill>
                      <a:srgbClr val="F7F8FA"/>
                    </a:solidFill>
                  </a:tcPr>
                </a:tc>
                <a:tc>
                  <a:txBody>
                    <a:bodyPr/>
                    <a:lstStyle/>
                    <a:p>
                      <a:pPr algn="ctr"/>
                      <a:r>
                        <a:rPr sz="750" b="0" i="0">
                          <a:solidFill>
                            <a:srgbClr val="555555"/>
                          </a:solidFill>
                          <a:latin typeface="Calibri"/>
                        </a:rPr>
                        <a:t>NVDA</a:t>
                      </a:r>
                    </a:p>
                  </a:txBody>
                  <a:tcPr>
                    <a:solidFill>
                      <a:srgbClr val="F7F8FA"/>
                    </a:solidFill>
                  </a:tcPr>
                </a:tc>
                <a:tc>
                  <a:txBody>
                    <a:bodyPr/>
                    <a:lstStyle/>
                    <a:p>
                      <a:pPr algn="ctr"/>
                      <a:r>
                        <a:rPr sz="800" b="0" i="0">
                          <a:solidFill>
                            <a:srgbClr val="0D0D0D"/>
                          </a:solidFill>
                          <a:latin typeface="Calibri"/>
                        </a:rPr>
                        <a:t>2 300,0</a:t>
                      </a:r>
                    </a:p>
                  </a:txBody>
                  <a:tcPr>
                    <a:solidFill>
                      <a:srgbClr val="F7F8FA"/>
                    </a:solidFill>
                  </a:tcPr>
                </a:tc>
                <a:tc>
                  <a:txBody>
                    <a:bodyPr/>
                    <a:lstStyle/>
                    <a:p>
                      <a:pPr algn="ctr"/>
                      <a:r>
                        <a:rPr sz="800" b="0" i="0">
                          <a:solidFill>
                            <a:srgbClr val="0D0D0D"/>
                          </a:solidFill>
                          <a:latin typeface="Calibri"/>
                        </a:rPr>
                        <a:t>45,8x</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42,3x</a:t>
                      </a:r>
                    </a:p>
                  </a:txBody>
                  <a:tcPr>
                    <a:solidFill>
                      <a:srgbClr val="F7F8FA"/>
                    </a:solidFill>
                  </a:tcPr>
                </a:tc>
                <a:tc>
                  <a:txBody>
                    <a:bodyPr/>
                    <a:lstStyle/>
                    <a:p>
                      <a:pPr algn="ctr"/>
                      <a:r>
                        <a:rPr sz="800" b="0" i="0">
                          <a:solidFill>
                            <a:srgbClr val="0D0D0D"/>
                          </a:solidFill>
                          <a:latin typeface="Calibri"/>
                        </a:rPr>
                        <a:t>7600,0 %</a:t>
                      </a:r>
                    </a:p>
                  </a:txBody>
                  <a:tcPr>
                    <a:solidFill>
                      <a:srgbClr val="F7F8FA"/>
                    </a:solidFill>
                  </a:tcPr>
                </a:tc>
                <a:tc>
                  <a:txBody>
                    <a:bodyPr/>
                    <a:lstStyle/>
                    <a:p>
                      <a:pPr algn="ctr"/>
                      <a:r>
                        <a:rPr sz="800" b="0" i="0">
                          <a:solidFill>
                            <a:srgbClr val="0D0D0D"/>
                          </a:solidFill>
                          <a:latin typeface="Calibri"/>
                        </a:rPr>
                        <a:t>6500,0 %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15,8x</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22,1x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28,7x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cote 33.3x P/E vs 28.5x pour la médiane peers (Samsung, Microsoft, Alphabet, Meta, Nvidia). La prime de 17% est justifiée par la qualité des marges (GM 47% vs 52% pour Nvidia) et la récurrence des revenus services. Une convergence vers la médiane impliquerait un upside de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10.3% et TGR 3.0% impliquent un prix DCF implicite de 275$ (vs 253.79$). La prime de 8% suggère une sous-valorisation structurelle liée à la croissance des services et à l'IA. Catalyseur clé : lancement iPhone 16 avec fonctionnalités IA générative 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antitrust mortelle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services d'Apple (46.9% en 2025) reposent sur un écosystème captif où 70% des revenus services viennent de 10% des utilisateurs, exposant la firme à une régulation antitrust agressive comme celle de l'UE qui a déjà infligé 1.8 milliard d'euros d'amendes en 2024. Les 26.9% de marge nette pourraient chuter de 4 points si Apple perd 15% de ses abonnés iCloud suite à une décision judiciaire forçant l'ouverture de son écosystème, selon les projections de Bernstein…</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Trésorerie offshore illiquide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record de 166 milliards en 2025 est en réalité un piège : 90% est détenue offshore, soumise à une taxation minimale de 15% post-Inflation Reduction Act, mais bloquée par des contraintes légales coûteuses à rapatrier, réduisant la flexibilité financière réelle à moins de 10 milliards.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Dépendance iPhone critique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151.9% masque une dépendance extrême à l'iPhone qui génère 52% des revenus : une baisse de 8% des ventes d'iPhone en 2025, comme anticipé par IDC, ferait chuter le ROE sous 120%, un seuil historiquement associé à des valorisations P/E inférieures à 20x.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PIB US/UE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US/EU bloquant les services cloud</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iPhone 17 avec -10%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49/100 — Vigilance</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42/100 — Moderate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+0,255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10</a:t>
                      </a:r>
                    </a:p>
                  </a:txBody>
                  <a:tcPr>
                    <a:solidFill>
                      <a:srgbClr val="EAF4EF"/>
                    </a:solidFill>
                  </a:tcPr>
                </a:tc>
                <a:tc>
                  <a:txBody>
                    <a:bodyPr/>
                    <a:lstStyle/>
                    <a:p>
                      <a:pPr algn="ctr"/>
                      <a:r>
                        <a:rPr sz="800" b="0" i="0">
                          <a:solidFill>
                            <a:srgbClr val="0D0D0D"/>
                          </a:solidFill>
                          <a:latin typeface="Calibri"/>
                        </a:rPr>
                        <a:t>+0,378</a:t>
                      </a:r>
                    </a:p>
                  </a:txBody>
                  <a:tcPr>
                    <a:solidFill>
                      <a:srgbClr val="EAF4EF"/>
                    </a:solidFill>
                  </a:tcPr>
                </a:tc>
                <a:tc>
                  <a:txBody>
                    <a:bodyPr/>
                    <a:lstStyle/>
                    <a:p>
                      <a:pPr algn="ctr"/>
                      <a:r>
                        <a:rPr sz="800" b="0" i="0">
                          <a:solidFill>
                            <a:srgbClr val="0D0D0D"/>
                          </a:solidFill>
                          <a:latin typeface="Calibri"/>
                        </a:rPr>
                        <a:t>Lancement iPhone 16 avec IA générative en 2026 : +10% CA et +200pb de marge services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18</a:t>
                      </a:r>
                    </a:p>
                  </a:txBody>
                  <a:tcPr>
                    <a:solidFill>
                      <a:srgbClr val="FFFFFF"/>
                    </a:solidFill>
                  </a:tcPr>
                </a:tc>
                <a:tc>
                  <a:txBody>
                    <a:bodyPr/>
                    <a:lstStyle/>
                    <a:p>
                      <a:pPr algn="ctr"/>
                      <a:r>
                        <a:rPr sz="800" b="0" i="0">
                          <a:solidFill>
                            <a:srgbClr val="0D0D0D"/>
                          </a:solidFill>
                          <a:latin typeface="Calibri"/>
                        </a:rPr>
                        <a:t>+0,498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2</a:t>
                      </a:r>
                    </a:p>
                  </a:txBody>
                  <a:tcPr>
                    <a:solidFill>
                      <a:srgbClr val="FAF0EF"/>
                    </a:solidFill>
                  </a:tcPr>
                </a:tc>
                <a:tc>
                  <a:txBody>
                    <a:bodyPr/>
                    <a:lstStyle/>
                    <a:p>
                      <a:pPr algn="ctr"/>
                      <a:r>
                        <a:rPr sz="800" b="0" i="0">
                          <a:solidFill>
                            <a:srgbClr val="0D0D0D"/>
                          </a:solidFill>
                          <a:latin typeface="Calibri"/>
                        </a:rPr>
                        <a:t>+0,124</a:t>
                      </a:r>
                    </a:p>
                  </a:txBody>
                  <a:tcPr>
                    <a:solidFill>
                      <a:srgbClr val="FAF0EF"/>
                    </a:solidFill>
                  </a:tcPr>
                </a:tc>
                <a:tc>
                  <a:txBody>
                    <a:bodyPr/>
                    <a:lstStyle/>
                    <a:p>
                      <a:pPr algn="ctr"/>
                      <a:r>
                        <a:rPr sz="800" b="0" i="0">
                          <a:solidFill>
                            <a:srgbClr val="0D0D0D"/>
                          </a:solidFill>
                          <a:latin typeface="Calibri"/>
                        </a:rPr>
                        <a:t>Régulation antitrust US/EU sur App Store : perte de 10-15% revenus services d'ici 2027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la résilience et le potentiel de croissance d'Apple à l'approche de son 50e anniversaire. Les analyses mettent en avant son ancrage dans l'innovation et les opportunités liées à l'IA et aux wearables.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26.2x EV/EBITDA vs 22.5x pour la médiane peers tech. La prime de 16% se justifie par la qualité des actifs et la croissance des services.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253,79 $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+19,9 %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34096"/>
            <a:ext cx="498636" cy="1061103"/>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en expansion et une trésorerie abondante. Le titre reste attractif malgré une valorisation premium, soutenue par des catalyseurs structurels concrets.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