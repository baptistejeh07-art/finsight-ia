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5600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  <a:latin typeface="Calibri"/>
              </a:rPr>
              <a:t>FinSight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8000" y="475200"/>
            <a:ext cx="1188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47200"/>
            <a:ext cx="8229600" cy="29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EE"/>
                </a:solidFill>
                <a:latin typeface="Calibri"/>
              </a:rPr>
              <a:t>Pitchbook  —  Analyse d'investissement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1599"/>
            <a:ext cx="8229600" cy="794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B3A6B"/>
                </a:solidFill>
                <a:latin typeface="Calibri"/>
              </a:rPr>
              <a:t>Apple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45832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  <a:latin typeface="Calibri"/>
              </a:rPr>
              <a:t>AAPL  ·  Technology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71999" y="2720232"/>
            <a:ext cx="3600000" cy="432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6000" y="2738232"/>
            <a:ext cx="3491999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● HOLD  ·  Prix cible base : — $  ·  Upside : 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200" y="44640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2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Rapport confidentiel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20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5555"/>
                </a:solidFill>
                <a:latin typeface="Calibri"/>
              </a:rPr>
              <a:t>3 avril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748800"/>
            <a:ext cx="8413200" cy="439200"/>
          </a:xfrm>
          <a:prstGeom prst="rect">
            <a:avLst/>
          </a:prstGeom>
          <a:solidFill>
            <a:srgbClr val="FD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748800"/>
            <a:ext cx="46800" cy="4392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766800"/>
            <a:ext cx="109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6000"/>
                </a:solidFill>
                <a:latin typeface="Calibri"/>
              </a:rPr>
              <a:t>● 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2000" y="766800"/>
            <a:ext cx="694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Prix cible base : — $  ·  Upside : —  ·  Bear : — $ (—)  ·  Bull : — $ (—)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THÈSE D'INVESTISSEMENT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6632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999" y="16452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1814400"/>
            <a:ext cx="3931200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7200" y="21960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21780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2347200"/>
            <a:ext cx="3931200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7288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27108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2880000"/>
            <a:ext cx="3931200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RISQUES PRINCIPAUX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8800" y="16632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5600" y="16452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5600" y="1814400"/>
            <a:ext cx="3794399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Impact potentiel sur la thèse d'investissement — surveillance recommandée sur les 6-12 prochains mois.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8800" y="21960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5600" y="21780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5600" y="2347200"/>
            <a:ext cx="3794399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Impact potentiel sur la thèse d'investissement — surveillance recommandée sur les 6-12 prochains mois.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8800" y="27288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5600" y="27108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5600" y="2880000"/>
            <a:ext cx="3794399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Impact potentiel sur la thèse d'investissement — surveillance recommandée sur les 6-12 prochains mois.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25200" y="1353600"/>
            <a:ext cx="10800" cy="17424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7200" y="33012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72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72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26,4x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vs — médiane peers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876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876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776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10,3 %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776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WACC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776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Beta 1,11  ·  RFR 4,3 %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080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080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980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— $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80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Valeur intrinsèque DCF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80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Upside de — vs cours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284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7284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184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-0,166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84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Sentiment FinBERT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184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Négatif  ·  30 articles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Sommaire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8964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8964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9504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968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Company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202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Apple Inc.  ·  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5200" y="10584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3–5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5912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7200" y="15912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999" y="16452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16632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Analyse Financière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18971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Compte de résultat, bilan &amp; liquidité,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5200" y="17532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6–8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2860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7200" y="22860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23400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000" y="23580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Valorisation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25919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DCF, comparable peers, Football Field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5200" y="24480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9–11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7200" y="29808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7200" y="29808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3999" y="30348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000" y="3052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Risques &amp; Stratégie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000" y="3286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Risques structurels &amp; thèse contraire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5200" y="3142799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12–13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7200" y="36756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200" y="36756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3999" y="37296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000" y="3747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Sentiment &amp; Annexes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000" y="3981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5200" y="38376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14–15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Présentation, modèle économique &amp; données de marché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Apple Inc.  ·  Présentation &amp; Positionnement stratégique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4939200" cy="3520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3520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1022400"/>
            <a:ext cx="4662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D0D0D"/>
                </a:solidFill>
                <a:latin typeface="Calibr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2358000"/>
            <a:ext cx="46620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Positionnement stratégique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58400" y="961200"/>
            <a:ext cx="32004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58400" y="9612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48400" y="10152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3 757,2 Mds$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48400" y="14112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Capitalisation boursière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58400" y="18468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558400" y="1846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48400" y="19008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416,2 Mds$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48400" y="22968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Chiffre d'affaires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58400" y="27324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58400" y="27324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48400" y="27864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255,92 $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48400" y="31824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58400" y="36216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58400" y="36216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48400" y="36756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26,4x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48400" y="40716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 (LTM)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8400" y="4269600"/>
            <a:ext cx="306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P/E : 33,5x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Modèle Économique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Segments opérationnels et moteurs de croissance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731199" cy="3520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2731199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141200"/>
            <a:ext cx="2551199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5FA3"/>
                </a:solidFill>
                <a:latin typeface="Calibr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85600"/>
            <a:ext cx="2551199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65600"/>
            <a:ext cx="2551199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059200"/>
            <a:ext cx="2551199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Core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332800"/>
            <a:ext cx="2551199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6400" y="961200"/>
            <a:ext cx="2731199" cy="3520800"/>
          </a:xfrm>
          <a:prstGeom prst="rect">
            <a:avLst/>
          </a:prstGeom>
          <a:solidFill>
            <a:srgbClr val="EA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6400" y="961200"/>
            <a:ext cx="2731199" cy="54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6400" y="1141200"/>
            <a:ext cx="2551199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7A4A"/>
                </a:solidFill>
                <a:latin typeface="Calibr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6400" y="1785600"/>
            <a:ext cx="2551199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6400" y="1965600"/>
            <a:ext cx="2551199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6400" y="2059200"/>
            <a:ext cx="2551199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Growth Driver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6400" y="2332800"/>
            <a:ext cx="2551199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45600" y="961200"/>
            <a:ext cx="2731199" cy="3520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45600" y="961200"/>
            <a:ext cx="2731199" cy="54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5600" y="1141200"/>
            <a:ext cx="2551199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88888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5600" y="1785600"/>
            <a:ext cx="2551199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35600" y="1965600"/>
            <a:ext cx="2551199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35600" y="2059200"/>
            <a:ext cx="2551199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International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35600" y="2332800"/>
            <a:ext cx="2551199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Analyse Financière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Compte de résultat, bilan, liquidité &amp; ratios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Analyse Financière — Compte de Résultat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USD millions  ·  2021–2025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696"/>
                <a:gridCol w="2019168"/>
                <a:gridCol w="2019168"/>
                <a:gridCol w="2019168"/>
              </a:tblGrid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Chiffre d'affaires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383,3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391,0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416,2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Croissance YoY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-2,8 %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+2,0 %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+6,4 %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Résultat brut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169,1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180,7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195,2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44,1 %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46,2 %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46,9 %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125,8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134,7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144,7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32,8 %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34,4 %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34,8 %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Résultat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97,0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93,7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112,0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nette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25,3 %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24,0 %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26,9 %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Bilan &amp; Liquidité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Structure financière  ·  USD millions  ·  LTM 2025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35,9 Mds$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Cash &amp; equivalents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7200" y="19008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200" y="1900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19548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78,3 Mds$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3508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Dette long terme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7200" y="2844000"/>
            <a:ext cx="26532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200" y="28440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8980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62,7 Mds$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2940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Dette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4000" y="842400"/>
            <a:ext cx="5396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Ratios de solvabilité &amp; liquidité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384000" y="1007999"/>
          <a:ext cx="53964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416"/>
                <a:gridCol w="1133244"/>
                <a:gridCol w="1133244"/>
                <a:gridCol w="755496"/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Référence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liquidité courante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rapide (quick)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0,61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D/E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1,3x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Couverture d'intérêts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29,1x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3,0x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Dette nette /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1,69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-2,25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Ratios Clés vs. Benchmark Sectoriel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Positionnement relatif  ·  LTM 2025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255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300"/>
                <a:gridCol w="2103300"/>
                <a:gridCol w="2103300"/>
                <a:gridCol w="2103300"/>
              </a:tblGrid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Lecture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33,5x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15–25x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Premium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26,4x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8–14x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Très élevé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EV/Revenue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9,2x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1–5x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Premium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46,9 %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40 %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Bon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34,8 %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151,9 %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ROIC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84,4 %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CapEx / Revenue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3,1 %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Léger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1,69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Détresse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7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-2,25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Aucun signal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Valorisation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DCF, comparable peers &amp; Football Field Chart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Valorisation — DCF &amp; Scénarios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7200" y="824400"/>
          <a:ext cx="402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640"/>
                <a:gridCol w="1811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Paramètre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WACC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10,3 %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TGR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3,0 %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Valeur intrinsèque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Cours actuel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255,92 $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Upside implicite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482000" y="824400"/>
          <a:ext cx="4298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800"/>
                <a:gridCol w="1432800"/>
                <a:gridCol w="14328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Bear</a:t>
                      </a:r>
                    </a:p>
                  </a:txBody>
                  <a:tcPr>
                    <a:solidFill>
                      <a:srgbClr val="A820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Bull</a:t>
                      </a:r>
                    </a:p>
                  </a:txBody>
                  <a:tcPr>
                    <a:solidFill>
                      <a:srgbClr val="1A7A4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A8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2E5FA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1A7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A8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5FA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A7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23940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Table de sensibilité — Valeur intrinsèque ($)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67200" y="2653200"/>
          <a:ext cx="8413200" cy="11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200"/>
                <a:gridCol w="1402200"/>
                <a:gridCol w="1402200"/>
                <a:gridCol w="1402200"/>
                <a:gridCol w="1402200"/>
                <a:gridCol w="1402200"/>
              </a:tblGrid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WACC \ TGR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4,0%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8,3%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9,3%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10,3%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2E5FA3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11,3%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12,3%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Comparable Peers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par multiples  ·  LTM  ·  Mkt Cap en Mds USD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87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640"/>
                <a:gridCol w="757188"/>
                <a:gridCol w="1093716"/>
                <a:gridCol w="1009584"/>
                <a:gridCol w="1009584"/>
                <a:gridCol w="757188"/>
                <a:gridCol w="1093716"/>
                <a:gridCol w="1009584"/>
              </a:tblGrid>
              <a:tr h="2904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Mkt Cap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EV/Rev.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Brute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904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Apple Inc.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AAPL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3 757,2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26,4x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9,2x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33,5x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46,9 %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34,8 %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904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Médiane peers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Football Field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Synthèse des méthodes de valorisation  ·  USD par action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61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4620"/>
                <a:gridCol w="1682640"/>
                <a:gridCol w="1682640"/>
                <a:gridCol w="2103300"/>
              </a:tblGrid>
              <a:tr h="3078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Méthode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Fourchette basse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Fourchette haute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Point central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07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Cours actuel (255,92)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255,92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Risques &amp; Stratégie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Avocat du diable &amp; conditions d'invalidation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Risques &amp; Conditions d'Invalidation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des risques structurels  ·  Thèse contraire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743200" cy="1918800"/>
          </a:xfrm>
          <a:prstGeom prst="rect">
            <a:avLst/>
          </a:prstGeom>
          <a:solidFill>
            <a:srgbClr val="FA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2743200" cy="54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200" y="1069200"/>
            <a:ext cx="2527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2020"/>
                </a:solidFill>
                <a:latin typeface="Calibri"/>
              </a:rPr>
              <a:t>Risque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200" y="1436400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Risque macro-économique : remontée des taux ou ralentissement de la demande mondiale.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9200" y="961200"/>
            <a:ext cx="2743200" cy="191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9200" y="961200"/>
            <a:ext cx="2743200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200" y="1069200"/>
            <a:ext cx="2527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Risque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200" y="1436400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Risque sectoriel : intensification de la concurrence ou disruption technologique.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1200" y="961200"/>
            <a:ext cx="2743200" cy="1918800"/>
          </a:xfrm>
          <a:prstGeom prst="rect">
            <a:avLst/>
          </a:prstGeom>
          <a:solidFill>
            <a:srgbClr val="FD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1200" y="961200"/>
            <a:ext cx="2743200" cy="54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9200" y="1069200"/>
            <a:ext cx="2527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06000"/>
                </a:solidFill>
                <a:latin typeface="Calibri"/>
              </a:rPr>
              <a:t>Risque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200" y="1436400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Risque spécifique : détérioration des marges ou exécution stratégique.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7200" y="29988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200" y="3070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Conditions d'invalidation de la thèse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67200" y="3308400"/>
          <a:ext cx="8413200" cy="109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5468580"/>
                <a:gridCol w="1682640"/>
              </a:tblGrid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Axe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Condition d'invalidation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Remontée des taux directeurs &gt; 200bps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6-12 mois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Sectoriel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Rupture technologique remettant en cause le modèle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12-18 mois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Détérioration matérielle des marges opérationnelles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2-3 trim.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672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7200" y="4428000"/>
            <a:ext cx="43200" cy="180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64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Detresse : 49/100  Vigilance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36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43600" y="4428000"/>
            <a:ext cx="43200" cy="180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28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M&amp;A : 42/100  Moderate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36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3600" y="4428000"/>
            <a:ext cx="43200" cy="180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028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Regime : Volatile  Rec.6M:26%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72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7200" y="4618800"/>
            <a:ext cx="43200" cy="18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4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Earnings Qualite : Correcte (0.99x)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436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243600" y="4618800"/>
            <a:ext cx="43200" cy="180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228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Struct. Capital : Moderee (21% CT)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36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23600" y="4618800"/>
            <a:ext cx="432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028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Dividende : Soutenable (1.2x)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Sentiment &amp; Annexes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Sentiment de Marché — FinBERT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sémantique  ·  30 articles  ·  7 derniers jours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5596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4228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Négatif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4228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Orientation globale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9200"/>
            <a:ext cx="24228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Score agrégé : -0,166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0400" y="961200"/>
            <a:ext cx="182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104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1015200"/>
            <a:ext cx="169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1411200"/>
            <a:ext cx="169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Articles analysés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1609200"/>
            <a:ext cx="169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Fenêtre : 7 jours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19200" y="961200"/>
            <a:ext cx="16452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19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09200" y="1015200"/>
            <a:ext cx="1508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39,0 %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200" y="1411200"/>
            <a:ext cx="1508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Confiance 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09200" y="1609200"/>
            <a:ext cx="1508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Modèle FinBERT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8000" y="961200"/>
            <a:ext cx="173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80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38000" y="1015200"/>
            <a:ext cx="160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HOLD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38000" y="1411200"/>
            <a:ext cx="160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Cohérence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38000" y="1609200"/>
            <a:ext cx="160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Aligné avec la thèse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7200" y="20844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Détail par orientation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367200" y="2332800"/>
          <a:ext cx="8413200" cy="11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1261980"/>
                <a:gridCol w="1682640"/>
                <a:gridCol w="4206600"/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Orientation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Articles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Score moyen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Thèmes principaux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Positif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+0,225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Catalyseurs, croissance, résultats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Neutre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+0,385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Actualité sectorielle générale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Négatif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+0,390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Risques macro, concurrence, dette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367200" y="4140000"/>
            <a:ext cx="841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La presse financière cette semaine souligne des signaux mitigés pour Apple, entre opportunités technologiques historiques et pressions macroéconomiques. Les inquiétudes liées aux tarifs douaniers et à la performance relative des valeurs technologiques pèsent sur le sentiment global.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Actionnariat &amp; Structure du Capital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Répartition de l'actionnariat  ·  Au 3 avril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200" y="748800"/>
            <a:ext cx="5029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Top actionnaires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67200" y="968400"/>
          <a:ext cx="53028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064"/>
                <a:gridCol w="1378728"/>
                <a:gridCol w="1060560"/>
                <a:gridCol w="848448"/>
              </a:tblGrid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Détention 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Style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Apple (Insiders)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Insiders &amp; dirigeants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1.6 %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B06000"/>
                          </a:solidFill>
                          <a:latin typeface="Calibri"/>
                        </a:rPr>
                        <a:t>Insider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Vanguard Group Inc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9.7 %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Blackrock Inc.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7.9 %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State Street Corporation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4.1 %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Geode Capital Management, LLC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2.4 %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FMR, LLC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2.1 %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Morgan Stanley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1.6 %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Berkshire Hathaway, Inc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1.6 %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Autres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69.1 %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555555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760000" y="748800"/>
            <a:ext cx="3016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Répartition par type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760000" y="968400"/>
          <a:ext cx="3016800" cy="11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080"/>
                <a:gridCol w="1206720"/>
              </a:tblGrid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 d'actionnaire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Part estimée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 passif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13.8 %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 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15.5 %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Insider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1.6 %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69.1 %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Historique de Cours — 52 Semaines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AAPL  ·  USD  ·  Au 3 avril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255,92 $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228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28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28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278,32 $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28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haut 52 sem.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20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20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199,98 $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bas 52 sem.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600" y="961200"/>
            <a:ext cx="21960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6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7600" y="1015200"/>
            <a:ext cx="205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+28,0 %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7600" y="1411200"/>
            <a:ext cx="20592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Performance 52 sem.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200" y="1846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Evolution du cours — 12 derniers mois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7200" y="2102400"/>
            <a:ext cx="8413200" cy="1828800"/>
          </a:xfrm>
          <a:prstGeom prst="rect">
            <a:avLst/>
          </a:prstGeom>
          <a:solidFill>
            <a:srgbClr val="F7F8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7200" y="2102400"/>
            <a:ext cx="8413200" cy="36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7200" y="3823200"/>
            <a:ext cx="498636" cy="72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12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Mai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93300" y="3739196"/>
            <a:ext cx="498636" cy="156003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73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Juin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9400" y="3695265"/>
            <a:ext cx="498636" cy="19993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134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Juil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05500" y="3244920"/>
            <a:ext cx="498636" cy="650279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5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Aoû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61600" y="2827478"/>
            <a:ext cx="498636" cy="1067721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256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Sep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17700" y="2538706"/>
            <a:ext cx="498636" cy="1356493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817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Oct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3800" y="2383200"/>
            <a:ext cx="498636" cy="1512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378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Nov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29900" y="2506539"/>
            <a:ext cx="498636" cy="138866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939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Déc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86000" y="2733917"/>
            <a:ext cx="498636" cy="1161282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00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Jan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42100" y="2647708"/>
            <a:ext cx="498636" cy="1247491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06099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Fév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98200" y="2834096"/>
            <a:ext cx="498636" cy="1061103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622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Mar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54300" y="2794943"/>
            <a:ext cx="498636" cy="1100256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18299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Avr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1200" y="3823200"/>
            <a:ext cx="8179200" cy="72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1200" y="3751200"/>
            <a:ext cx="288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Calibri"/>
              </a:rPr>
              <a:t>199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1200" y="3348000"/>
            <a:ext cx="8179200" cy="72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1200" y="3276000"/>
            <a:ext cx="288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Calibri"/>
              </a:rPr>
              <a:t>225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200" y="2858400"/>
            <a:ext cx="8179200" cy="72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31200" y="2786399"/>
            <a:ext cx="288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Calibri"/>
              </a:rPr>
              <a:t>252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1200" y="2383200"/>
            <a:ext cx="8179200" cy="72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1200" y="2311200"/>
            <a:ext cx="288000" cy="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Calibri"/>
              </a:rPr>
              <a:t>278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