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240 $ (-3,5 %)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Lancement de l'iPhone 16 en Q3 2026 avec +12% de ventes YoY grâce à l'IA on-device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Croissance des services à +18% en 2026 avec 200M d'abonnés supplémentaires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Marges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Expansion en Chine avec +25% de parts de marché d'ici 2027 via partenariats locaux</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Chine en 2026 | -15% croissance CA iPhone | Impact -8% sur le CA total</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 services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Régulation services en UE/US | Amendes 5-10Md$ | Compression marges services de 200bps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Concurrence IA (Google, Microsoft) | Perte de parts de marché | -5% croissance services d'ici 2027</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Chine  ·  Régulation services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wearables) intégrés à son écosystème logiciel (iOS, services). Leader sur le haut de gamme avec une marge brute de 46.9%, l'entreprise capitalise sur la fidélisation client et un pricing power inégalé. Son modèle hybride (matériel + services) génère des revenus récurrents à forte rentabilité.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60% CA, Mac 7%, iPad 8%, wearables 10%) avec une marge brute &gt;50%. Clients premium (revenu moyen 800$ par utilisateur) et cycle de renouvellement de 3-4 ans. Croissance tirée par l'Asie (25% CA) et les services intégrés (App Store, Apple Music).</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(Apple Music, iCloud, App Store) et contenu premium (TV+, Fitness+) avec marge &gt;70%. Base d'utilisateurs actifs 1.5Md, croissance YoY 15%. Modèle scalable avec ARPU en hausse de 8% en 2025.</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60% CA, Mac 7%, iPad 8%, wearables 10%) avec une marge brute &gt;50%. Clients premium (revenu moyen 800$ par utilisateur) et cycle de renouvellement de 3-4 ans. Croissance tirée par l'Asie (25% CA) et les services intégrés (App Store, Apple Music).</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(Apple Music, iCloud, App Store) et contenu premium (TV+, Fitness+) avec marge &gt;70%. Base d'utilisateurs actifs 1.5Md, croissance YoY 15%. Modèle scalable avec ARPU en hausse de 8% en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472,0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+6,5 %</a:t>
                      </a:r>
                    </a:p>
                  </a:txBody>
                  <a:tcPr>
                    <a:solidFill>
                      <a:srgbClr val="F7F8FA"/>
                    </a:solidFill>
                  </a:tcPr>
                </a:tc>
                <a:tc>
                  <a:txBody>
                    <a:bodyPr/>
                    <a:lstStyle/>
                    <a:p>
                      <a:pPr algn="ctr"/>
                      <a:r>
                        <a:rPr sz="750" b="0" i="1">
                          <a:solidFill>
                            <a:srgbClr val="555555"/>
                          </a:solidFill>
                          <a:latin typeface="Calibri"/>
                        </a:rPr>
                        <a:t>+6,4 %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209,3</a:t>
                      </a:r>
                    </a:p>
                  </a:txBody>
                  <a:tcPr>
                    <a:solidFill>
                      <a:srgbClr val="FFFFFF"/>
                    </a:solidFill>
                  </a:tcPr>
                </a:tc>
                <a:tc>
                  <a:txBody>
                    <a:bodyPr/>
                    <a:lstStyle/>
                    <a:p>
                      <a:pPr algn="ctr"/>
                      <a:r>
                        <a:rPr sz="800" b="1" i="0">
                          <a:solidFill>
                            <a:srgbClr val="0D0D0D"/>
                          </a:solidFill>
                          <a:latin typeface="Calibri"/>
                        </a:rPr>
                        <a:t>224,2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158,0</a:t>
                      </a:r>
                    </a:p>
                  </a:txBody>
                  <a:tcPr>
                    <a:solidFill>
                      <a:srgbClr val="FFFFFF"/>
                    </a:solidFill>
                  </a:tcPr>
                </a:tc>
                <a:tc>
                  <a:txBody>
                    <a:bodyPr/>
                    <a:lstStyle/>
                    <a:p>
                      <a:pPr algn="ctr"/>
                      <a:r>
                        <a:rPr sz="800" b="1" i="0">
                          <a:solidFill>
                            <a:srgbClr val="0D0D0D"/>
                          </a:solidFill>
                          <a:latin typeface="Calibri"/>
                        </a:rPr>
                        <a:t>168,0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35,6 %</a:t>
                      </a:r>
                    </a:p>
                  </a:txBody>
                  <a:tcPr>
                    <a:solidFill>
                      <a:srgbClr val="F7F8FA"/>
                    </a:solidFill>
                  </a:tcPr>
                </a:tc>
                <a:tc>
                  <a:txBody>
                    <a:bodyPr/>
                    <a:lstStyle/>
                    <a:p>
                      <a:pPr algn="ctr"/>
                      <a:r>
                        <a:rPr sz="750" b="0" i="1">
                          <a:solidFill>
                            <a:srgbClr val="555555"/>
                          </a:solidFill>
                          <a:latin typeface="Calibri"/>
                        </a:rPr>
                        <a:t>35,6 %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126,0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26,6 %</a:t>
                      </a:r>
                    </a:p>
                  </a:txBody>
                  <a:tcPr>
                    <a:solidFill>
                      <a:srgbClr val="F7F8FA"/>
                    </a:solidFill>
                  </a:tcPr>
                </a:tc>
                <a:tc>
                  <a:txBody>
                    <a:bodyPr/>
                    <a:lstStyle/>
                    <a:p>
                      <a:pPr algn="ctr"/>
                      <a:r>
                        <a:rPr sz="750" b="0" i="1">
                          <a:solidFill>
                            <a:srgbClr val="555555"/>
                          </a:solidFill>
                          <a:latin typeface="Calibri"/>
                        </a:rPr>
                        <a:t>26,7 %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2025 à 6.4% malgré un iPhone en ralentissement (+4.2%), compensé par les services (+15%). Marges nettes en hausse de 290bps grâce à un mix services et une discipline sur les coûts. Free cash flow de 110Md en 2025, renforçant la solidité bilancielle et la capacité à réinvestir dans l'IA et les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2025 à 6.4% malgré un iPhone en ralentissement (+4.2%), compensé par les services (+15%). Marges nettes en hausse de 290bps grâce à un mix services et une discipline sur les coûts. Free cash flow de 110Md en 2025, renforçant la solidité bilancielle et la capacité à réinvestir dans l'IA et les dividendes.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nettes stables à 26.9% en 2025 après un pic à 28.1% en 2024. La compression de 120bps s'explique par un mix services moins rentable et des coûts R&amp;D en hausse (+18% YoY). La durabilité des marges &gt;25% est assurée par le levier opérationnel et le pricing power, mais un risque de compression existe si la Chine ralentit ou si la régulation des services s'alourdit.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-3,5 %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10.4% et TGR 3.0% impliquent un prix implicite DCF de 275$ (vs cours 248.8$), soit un upside de 10%. La valorisation actuelle intègre déjà une prime de croissance, mais les catalyseurs (IA, services) pourraient justifier une réévaluation à 300$ si l'exécution est au rendez-vous.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24,3x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6830,0 %</a:t>
                      </a:r>
                    </a:p>
                  </a:txBody>
                  <a:tcPr>
                    <a:solidFill>
                      <a:srgbClr val="FFFFFF"/>
                    </a:solidFill>
                  </a:tcPr>
                </a:tc>
                <a:tc>
                  <a:txBody>
                    <a:bodyPr/>
                    <a:lstStyle/>
                    <a:p>
                      <a:pPr algn="ctr"/>
                      <a:r>
                        <a:rPr sz="800" b="0" i="0">
                          <a:solidFill>
                            <a:srgbClr val="0D0D0D"/>
                          </a:solidFill>
                          <a:latin typeface="Calibri"/>
                        </a:rPr>
                        <a:t>5510,0 %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26,5x</a:t>
                      </a:r>
                    </a:p>
                  </a:txBody>
                  <a:tcPr>
                    <a:solidFill>
                      <a:srgbClr val="F7F8FA"/>
                    </a:solidFill>
                  </a:tcPr>
                </a:tc>
                <a:tc>
                  <a:txBody>
                    <a:bodyPr/>
                    <a:lstStyle/>
                    <a:p>
                      <a:pPr algn="ctr"/>
                      <a:r>
                        <a:rPr sz="800" b="0" i="0">
                          <a:solidFill>
                            <a:srgbClr val="0D0D0D"/>
                          </a:solidFill>
                          <a:latin typeface="Calibri"/>
                        </a:rPr>
                        <a:t>5620,0 %</a:t>
                      </a:r>
                    </a:p>
                  </a:txBody>
                  <a:tcPr>
                    <a:solidFill>
                      <a:srgbClr val="F7F8FA"/>
                    </a:solidFill>
                  </a:tcPr>
                </a:tc>
                <a:tc>
                  <a:txBody>
                    <a:bodyPr/>
                    <a:lstStyle/>
                    <a:p>
                      <a:pPr algn="ctr"/>
                      <a:r>
                        <a:rPr sz="800" b="0" i="0">
                          <a:solidFill>
                            <a:srgbClr val="0D0D0D"/>
                          </a:solidFill>
                          <a:latin typeface="Calibri"/>
                        </a:rPr>
                        <a:t>3870,0 %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4210,0 %</a:t>
                      </a:r>
                    </a:p>
                  </a:txBody>
                  <a:tcPr>
                    <a:solidFill>
                      <a:srgbClr val="FFFFFF"/>
                    </a:solidFill>
                  </a:tcPr>
                </a:tc>
                <a:tc>
                  <a:txBody>
                    <a:bodyPr/>
                    <a:lstStyle/>
                    <a:p>
                      <a:pPr algn="ctr"/>
                      <a:r>
                        <a:rPr sz="800" b="0" i="0">
                          <a:solidFill>
                            <a:srgbClr val="0D0D0D"/>
                          </a:solidFill>
                          <a:latin typeface="Calibri"/>
                        </a:rPr>
                        <a:t>2230,0 %</a:t>
                      </a:r>
                    </a:p>
                  </a:txBody>
                  <a:tcPr>
                    <a:solidFill>
                      <a:srgbClr val="FFFFFF"/>
                    </a:solidFill>
                  </a:tcPr>
                </a:tc>
              </a:tr>
              <a:tr h="251999">
                <a:tc>
                  <a:txBody>
                    <a:bodyPr/>
                    <a:lstStyle/>
                    <a:p>
                      <a:pPr algn="l"/>
                      <a:r>
                        <a:rPr sz="800" b="0" i="0">
                          <a:solidFill>
                            <a:srgbClr val="0D0D0D"/>
                          </a:solidFill>
                          <a:latin typeface="Calibri"/>
                        </a:rPr>
                        <a:t>TSMC</a:t>
                      </a:r>
                    </a:p>
                  </a:txBody>
                  <a:tcPr>
                    <a:solidFill>
                      <a:srgbClr val="F7F8FA"/>
                    </a:solidFill>
                  </a:tcPr>
                </a:tc>
                <a:tc>
                  <a:txBody>
                    <a:bodyPr/>
                    <a:lstStyle/>
                    <a:p>
                      <a:pPr algn="ctr"/>
                      <a:r>
                        <a:rPr sz="750" b="0" i="0">
                          <a:solidFill>
                            <a:srgbClr val="555555"/>
                          </a:solidFill>
                          <a:latin typeface="Calibri"/>
                        </a:rPr>
                        <a:t>TSM</a:t>
                      </a:r>
                    </a:p>
                  </a:txBody>
                  <a:tcPr>
                    <a:solidFill>
                      <a:srgbClr val="F7F8FA"/>
                    </a:solidFill>
                  </a:tcPr>
                </a:tc>
                <a:tc>
                  <a:txBody>
                    <a:bodyPr/>
                    <a:lstStyle/>
                    <a:p>
                      <a:pPr algn="ctr"/>
                      <a:r>
                        <a:rPr sz="800" b="0" i="0">
                          <a:solidFill>
                            <a:srgbClr val="0D0D0D"/>
                          </a:solidFill>
                          <a:latin typeface="Calibri"/>
                        </a:rPr>
                        <a:t>500,0</a:t>
                      </a:r>
                    </a:p>
                  </a:txBody>
                  <a:tcPr>
                    <a:solidFill>
                      <a:srgbClr val="F7F8FA"/>
                    </a:solidFill>
                  </a:tcPr>
                </a:tc>
                <a:tc>
                  <a:txBody>
                    <a:bodyPr/>
                    <a:lstStyle/>
                    <a:p>
                      <a:pPr algn="ctr"/>
                      <a:r>
                        <a:rPr sz="800" b="0" i="0">
                          <a:solidFill>
                            <a:srgbClr val="0D0D0D"/>
                          </a:solidFill>
                          <a:latin typeface="Calibri"/>
                        </a:rPr>
                        <a:t>16,8x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5340,0 %</a:t>
                      </a:r>
                    </a:p>
                  </a:txBody>
                  <a:tcPr>
                    <a:solidFill>
                      <a:srgbClr val="F7F8FA"/>
                    </a:solidFill>
                  </a:tcPr>
                </a:tc>
                <a:tc>
                  <a:txBody>
                    <a:bodyPr/>
                    <a:lstStyle/>
                    <a:p>
                      <a:pPr algn="ctr"/>
                      <a:r>
                        <a:rPr sz="800" b="0" i="0">
                          <a:solidFill>
                            <a:srgbClr val="0D0D0D"/>
                          </a:solidFill>
                          <a:latin typeface="Calibri"/>
                        </a:rPr>
                        <a:t>5210,0 %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1 300,0</a:t>
                      </a:r>
                    </a:p>
                  </a:txBody>
                  <a:tcPr>
                    <a:solidFill>
                      <a:srgbClr val="FFFFFF"/>
                    </a:solidFill>
                  </a:tcPr>
                </a:tc>
                <a:tc>
                  <a:txBody>
                    <a:bodyPr/>
                    <a:lstStyle/>
                    <a:p>
                      <a:pPr algn="ctr"/>
                      <a:r>
                        <a:rPr sz="800" b="0" i="0">
                          <a:solidFill>
                            <a:srgbClr val="0D0D0D"/>
                          </a:solidFill>
                          <a:latin typeface="Calibri"/>
                        </a:rPr>
                        <a:t>26,5x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32,6x</a:t>
                      </a:r>
                    </a:p>
                  </a:txBody>
                  <a:tcPr>
                    <a:solidFill>
                      <a:srgbClr val="FFFFFF"/>
                    </a:solidFill>
                  </a:tcPr>
                </a:tc>
                <a:tc>
                  <a:txBody>
                    <a:bodyPr/>
                    <a:lstStyle/>
                    <a:p>
                      <a:pPr algn="ctr"/>
                      <a:r>
                        <a:rPr sz="800" b="0" i="0">
                          <a:solidFill>
                            <a:srgbClr val="0D0D0D"/>
                          </a:solidFill>
                          <a:latin typeface="Calibri"/>
                        </a:rPr>
                        <a:t>8840,0 %</a:t>
                      </a:r>
                    </a:p>
                  </a:txBody>
                  <a:tcPr>
                    <a:solidFill>
                      <a:srgbClr val="FFFFFF"/>
                    </a:solidFill>
                  </a:tcPr>
                </a:tc>
                <a:tc>
                  <a:txBody>
                    <a:bodyPr/>
                    <a:lstStyle/>
                    <a:p>
                      <a:pPr algn="ctr"/>
                      <a:r>
                        <a:rPr sz="800" b="0" i="0">
                          <a:solidFill>
                            <a:srgbClr val="0D0D0D"/>
                          </a:solidFill>
                          <a:latin typeface="Calibri"/>
                        </a:rPr>
                        <a:t>5530,0 %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9,3x</a:t>
                      </a:r>
                    </a:p>
                  </a:txBody>
                  <a:tcPr>
                    <a:solidFill>
                      <a:srgbClr val="F7F8FA"/>
                    </a:solidFill>
                  </a:tcPr>
                </a:tc>
                <a:tc>
                  <a:txBody>
                    <a:bodyPr/>
                    <a:lstStyle/>
                    <a:p>
                      <a:pPr algn="ctr"/>
                      <a:r>
                        <a:rPr sz="800" b="1" i="0">
                          <a:solidFill>
                            <a:srgbClr val="0D0D0D"/>
                          </a:solidFill>
                          <a:latin typeface="Calibri"/>
                        </a:rPr>
                        <a:t>26,5x</a:t>
                      </a:r>
                    </a:p>
                  </a:txBody>
                  <a:tcPr>
                    <a:solidFill>
                      <a:srgbClr val="F7F8FA"/>
                    </a:solidFill>
                  </a:tcPr>
                </a:tc>
                <a:tc>
                  <a:txBody>
                    <a:bodyPr/>
                    <a:lstStyle/>
                    <a:p>
                      <a:pPr algn="ctr"/>
                      <a:r>
                        <a:rPr sz="800" b="1" i="0">
                          <a:solidFill>
                            <a:srgbClr val="0D0D0D"/>
                          </a:solidFill>
                          <a:latin typeface="Calibri"/>
                        </a:rPr>
                        <a:t>5620,0 %</a:t>
                      </a:r>
                    </a:p>
                  </a:txBody>
                  <a:tcPr>
                    <a:solidFill>
                      <a:srgbClr val="F7F8FA"/>
                    </a:solidFill>
                  </a:tcPr>
                </a:tc>
                <a:tc>
                  <a:txBody>
                    <a:bodyPr/>
                    <a:lstStyle/>
                    <a:p>
                      <a:pPr algn="ctr"/>
                      <a:r>
                        <a:rPr sz="800" b="1" i="0">
                          <a:solidFill>
                            <a:srgbClr val="0D0D0D"/>
                          </a:solidFill>
                          <a:latin typeface="Calibri"/>
                        </a:rPr>
                        <a:t>5210,0 %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EV/EBITDA 25.7x vs 22.1x pour Microsoft (24.3x), Alphabet (20.1x), Samsung (18.5x), TSMC (16.8x) et Meta (26.5x). La prime de 16% se justifie par une croissance des services supérieure et une rentabilité exceptionnelle. Une convergence vers Meta (marge EBITDA 55%) donnerait un upside de 20% sur l'EV/EBITDA.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10.4% et TGR 3.0% impliquent un prix implicite DCF de 275$ (vs cours 248.8$), soit un upside de 10%. La valorisation actuelle intègre déjà une prime de croissance, mais les catalyseurs (IA, services) pourraient justifier une réévaluation à 300$ si l'exécution est au rendez-vous.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antitrust</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record de 46.9% en brut et 26.9% en net reposent sur un monopole iOS qui pourrait s'effriter avec les régulations antitrust en UE et aux États-Unis, menaçant 15% des revenus liés à l'App Store d'ici 2026 selon les projections de Bernstein.</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Surévaluation marché</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coûts de R&amp;D explosent à 24 milliards en 2024 (+18% vs 2023), érodant les marges futures sans garantie de retours sur investissements dans l'IA ou les véhicules autonomes.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R&amp;D inefficace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P/E de 32.61x dépasse de 40% la moyenne historique de 23x, reflétant une surévaluation de 300 milliards de dollars selon les modèles DCF.</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en Chine &gt; -2%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des services numériques en UE (DMA)</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lancement de l'iPhone 16 avec IA (-10% ventes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Lancement iPhone 16 avec IA on-device en Q3 2026 | +12% ventes YoY et +15% ARPU | Marge brute &gt;55%</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Ralentissement Chine en 2026 | -15% croissance CA iPhone | Impact -8% sur le CA total</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et à la concurrence des "Mag 7". Les initiatives comme l'ouverture de Siri à d'autres assistants IA sont perçues comme des opportunités de croissance.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cote à 25.7x EV/EBITDA vs 22.1x pour la médiane peers. La prime de 16% se justifie par la qualité des actifs et la croissance supérieure. Une convergence vers la médiane impliquerait un upside de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maintient une position dominante dans les écosystèmes premium avec des marges exceptionnelles. La valorisation reste attractive malgré une prime de croissance déjà intégrée. Les catalyseurs structurels (IA, services, Chine) soutiennent une trajectoire haussière à moyen terme.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