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+11,4 %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6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+11,4 %  ·  Bear : 240 $ (-6,2 %)  ·  Bull : 320 $ (+25,0 %)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L'intégration de l'IA dans les produits 2026 pourrait générer +15 Mds USD de revenus supplémentaires</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des services devrait atteindre 75% d'ici 2027 grâce à l'augmentation des abonnements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rachat d'actions de 100 Mds USD en 2026 soutiendra la performance actionnariale.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aux États-Unis et en UE pourrait limiter les marges services de 10-15% | Concurrence accrue en IA (Google, Microsoft) réduisant l'avantage différenciant | Ralentissement économique en Chine (-8% CA iPhone 2026) affectant 20% du CA</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Pénétration marché iPhone déjà élevée (maturité aux États-Unis) limitant la croissance organique à 3-4% | Coûts R&amp;D en hausse (+12% en 2026) compressant les marges | Risque de saturation du marché des wearables (croissance &lt;5% après 2027)</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Cybersécurité et fuites de données pourraient coûter 5 Mds USD en amendes et perte de parts de marché | Dépendance aux fournisseurs asiatiques (Foxconn) exposant à des risques géopolitiques | Transition vers les puces maison (M3) pourrait impacter la qualité…</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22,4x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+0,281</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haut de gamme (iPhone, Mac, iPad, Apple Watch) et des services (App Store, Apple Music, iCloud). Leader sur le segment premium avec un écosystème intégré et une fidélisation client forte. Avantages clés : pricing power, marge brute élevée (&gt;46%), et trésorerie abondante (&gt;160 Mds USD).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45%, Mac 7%, iPad 8%, Wearables 10%) avec un modèle basé sur l'innovation et l'écosystème fermé. Clients : consommateurs haut de gamme et entreprises. Croissance portée par l'IA intégrée et les mises à jour logicielles.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commissions avec un modèle récurrent (20% du CA). Marges &gt;70% grâce à une base d'utilisateurs fidèle (&gt;1 milliard). Croissance tirée par les services financiers (Apple Card, Apple Pay) et l'IA générative.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70%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45%, Mac 7%, iPad 8%, Wearables 10%) avec un modèle basé sur l'innovation et l'écosystème fermé. Clients : consommateurs haut de gamme et entreprises. Croissance portée par l'IA intégrée et les mises à jour logicielles.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30%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commissions avec un modèle récurrent (20% du CA). Marges &gt;70% grâce à une base d'utilisateurs fidèle (&gt;1 milliard). Croissance tirée par les services financiers (Apple Card, Apple Pay) et l'IA générative.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Les marges se stabilisent à des niveaux élevés grâce au mix produit et à la discipline des coûts. La génération de cash reste robuste (58 Mds USD FCF 2025), soutenant les rachats d'actions et les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Les marges se stabilisent à des niveaux élevés grâce au mix produit et à la discipline des coûts. La génération de cash reste robuste (58 Mds USD FCF 2025), soutenant les rachats d'actions et les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grâce à un mix produit favorable (iPhone premium) et une optimisation des coûts logistiques. L'EBITDA margin a progressé de 33,1% à 34,8%, reflétant un levier opérationnel élevé. Ces niveaux sont durables grâce au pricing power et à la fidélisation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-6,2 %</a:t>
                      </a:r>
                    </a:p>
                  </a:txBody>
                  <a:tcPr>
                    <a:solidFill>
                      <a:srgbClr val="FAF0EF"/>
                    </a:solidFill>
                  </a:tcPr>
                </a:tc>
                <a:tc>
                  <a:txBody>
                    <a:bodyPr/>
                    <a:lstStyle/>
                    <a:p>
                      <a:pPr algn="ctr"/>
                      <a:r>
                        <a:rPr sz="1200" b="1" i="0">
                          <a:solidFill>
                            <a:srgbClr val="2E5FA3"/>
                          </a:solidFill>
                          <a:latin typeface="Calibri"/>
                        </a:rPr>
                        <a:t>+11,4 %</a:t>
                      </a:r>
                    </a:p>
                  </a:txBody>
                  <a:tcPr>
                    <a:solidFill>
                      <a:srgbClr val="EEF3FA"/>
                    </a:solidFill>
                  </a:tcPr>
                </a:tc>
                <a:tc>
                  <a:txBody>
                    <a:bodyPr/>
                    <a:lstStyle/>
                    <a:p>
                      <a:pPr algn="ctr"/>
                      <a:r>
                        <a:rPr sz="1200" b="1" i="0">
                          <a:solidFill>
                            <a:srgbClr val="1A7A4A"/>
                          </a:solidFill>
                          <a:latin typeface="Calibri"/>
                        </a:rPr>
                        <a:t>+25,0 %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275 USD vs cours à 255,92 USD (+7,5%). La prime reflète une croissance organique soutenue et une exécution disciplinée, mais une partie de la valeur est déjà anticipée dans le cours actuel.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37,2x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7,5x</a:t>
                      </a:r>
                    </a:p>
                  </a:txBody>
                  <a:tcPr>
                    <a:solidFill>
                      <a:srgbClr val="F7F8FA"/>
                    </a:solidFill>
                  </a:tcPr>
                </a:tc>
                <a:tc>
                  <a:txBody>
                    <a:bodyPr/>
                    <a:lstStyle/>
                    <a:p>
                      <a:pPr algn="ctr"/>
                      <a:r>
                        <a:rPr sz="800" b="0" i="0">
                          <a:solidFill>
                            <a:srgbClr val="0D0D0D"/>
                          </a:solidFill>
                          <a:latin typeface="Calibri"/>
                        </a:rPr>
                        <a:t>25,8x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1 400,0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8,9x</a:t>
                      </a:r>
                    </a:p>
                  </a:txBody>
                  <a:tcPr>
                    <a:solidFill>
                      <a:srgbClr val="FFFFFF"/>
                    </a:solidFill>
                  </a:tcPr>
                </a:tc>
                <a:tc>
                  <a:txBody>
                    <a:bodyPr/>
                    <a:lstStyle/>
                    <a:p>
                      <a:pPr algn="ctr"/>
                      <a:r>
                        <a:rPr sz="800" b="0" i="0">
                          <a:solidFill>
                            <a:srgbClr val="0D0D0D"/>
                          </a:solidFill>
                          <a:latin typeface="Calibri"/>
                        </a:rPr>
                        <a:t>28,5x</a:t>
                      </a:r>
                    </a:p>
                  </a:txBody>
                  <a:tcPr>
                    <a:solidFill>
                      <a:srgbClr val="FFFFFF"/>
                    </a:solidFill>
                  </a:tcPr>
                </a:tc>
                <a:tc>
                  <a:txBody>
                    <a:bodyPr/>
                    <a:lstStyle/>
                    <a:p>
                      <a:pPr algn="ctr"/>
                      <a:r>
                        <a:rPr sz="800" b="0" i="0">
                          <a:solidFill>
                            <a:srgbClr val="0D0D0D"/>
                          </a:solidFill>
                          <a:latin typeface="Calibri"/>
                        </a:rPr>
                        <a:t>87,0 %</a:t>
                      </a:r>
                    </a:p>
                  </a:txBody>
                  <a:tcPr>
                    <a:solidFill>
                      <a:srgbClr val="FFFFFF"/>
                    </a:solidFill>
                  </a:tcPr>
                </a:tc>
                <a:tc>
                  <a:txBody>
                    <a:bodyPr/>
                    <a:lstStyle/>
                    <a:p>
                      <a:pPr algn="ctr"/>
                      <a:r>
                        <a:rPr sz="800" b="0" i="0">
                          <a:solidFill>
                            <a:srgbClr val="0D0D0D"/>
                          </a:solidFill>
                          <a:latin typeface="Calibri"/>
                        </a:rPr>
                        <a:t>58,0 %</a:t>
                      </a:r>
                    </a:p>
                  </a:txBody>
                  <a:tcPr>
                    <a:solidFill>
                      <a:srgbClr val="FFFFFF"/>
                    </a:solidFill>
                  </a:tcPr>
                </a:tc>
              </a:tr>
              <a:tr h="251999">
                <a:tc>
                  <a:txBody>
                    <a:bodyPr/>
                    <a:lstStyle/>
                    <a:p>
                      <a:pPr algn="l"/>
                      <a:r>
                        <a:rPr sz="800" b="0" i="0">
                          <a:solidFill>
                            <a:srgbClr val="0D0D0D"/>
                          </a:solidFill>
                          <a:latin typeface="Calibri"/>
                        </a:rPr>
                        <a:t>Nvidia</a:t>
                      </a:r>
                    </a:p>
                  </a:txBody>
                  <a:tcPr>
                    <a:solidFill>
                      <a:srgbClr val="F7F8FA"/>
                    </a:solidFill>
                  </a:tcPr>
                </a:tc>
                <a:tc>
                  <a:txBody>
                    <a:bodyPr/>
                    <a:lstStyle/>
                    <a:p>
                      <a:pPr algn="ctr"/>
                      <a:r>
                        <a:rPr sz="750" b="0" i="0">
                          <a:solidFill>
                            <a:srgbClr val="555555"/>
                          </a:solidFill>
                          <a:latin typeface="Calibri"/>
                        </a:rPr>
                        <a:t>NVDA</a:t>
                      </a:r>
                    </a:p>
                  </a:txBody>
                  <a:tcPr>
                    <a:solidFill>
                      <a:srgbClr val="F7F8FA"/>
                    </a:solidFill>
                  </a:tcPr>
                </a:tc>
                <a:tc>
                  <a:txBody>
                    <a:bodyPr/>
                    <a:lstStyle/>
                    <a:p>
                      <a:pPr algn="ctr"/>
                      <a:r>
                        <a:rPr sz="800" b="0" i="0">
                          <a:solidFill>
                            <a:srgbClr val="0D0D0D"/>
                          </a:solidFill>
                          <a:latin typeface="Calibri"/>
                        </a:rPr>
                        <a:t>2 200,0</a:t>
                      </a:r>
                    </a:p>
                  </a:txBody>
                  <a:tcPr>
                    <a:solidFill>
                      <a:srgbClr val="F7F8FA"/>
                    </a:solidFill>
                  </a:tcPr>
                </a:tc>
                <a:tc>
                  <a:txBody>
                    <a:bodyPr/>
                    <a:lstStyle/>
                    <a:p>
                      <a:pPr algn="ctr"/>
                      <a:r>
                        <a:rPr sz="800" b="0" i="0">
                          <a:solidFill>
                            <a:srgbClr val="0D0D0D"/>
                          </a:solidFill>
                          <a:latin typeface="Calibri"/>
                        </a:rPr>
                        <a:t>45,8x</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42,3x</a:t>
                      </a:r>
                    </a:p>
                  </a:txBody>
                  <a:tcPr>
                    <a:solidFill>
                      <a:srgbClr val="F7F8FA"/>
                    </a:solidFill>
                  </a:tcPr>
                </a:tc>
                <a:tc>
                  <a:txBody>
                    <a:bodyPr/>
                    <a:lstStyle/>
                    <a:p>
                      <a:pPr algn="ctr"/>
                      <a:r>
                        <a:rPr sz="800" b="0" i="0">
                          <a:solidFill>
                            <a:srgbClr val="0D0D0D"/>
                          </a:solidFill>
                          <a:latin typeface="Calibri"/>
                        </a:rPr>
                        <a:t>76,0 %</a:t>
                      </a:r>
                    </a:p>
                  </a:txBody>
                  <a:tcPr>
                    <a:solidFill>
                      <a:srgbClr val="F7F8FA"/>
                    </a:solidFill>
                  </a:tcPr>
                </a:tc>
                <a:tc>
                  <a:txBody>
                    <a:bodyPr/>
                    <a:lstStyle/>
                    <a:p>
                      <a:pPr algn="ctr"/>
                      <a:r>
                        <a:rPr sz="800" b="0" i="0">
                          <a:solidFill>
                            <a:srgbClr val="0D0D0D"/>
                          </a:solidFill>
                          <a:latin typeface="Calibri"/>
                        </a:rPr>
                        <a:t>65,0 %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22,4x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55,6x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22,4x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37,2x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33,5x vs 28,5x pour la médiane peers (Microsoft, Alphabet, Meta, Nvidia, Amazon). La prime de 18% est justifiée par une croissance supérieure des services et une rentabilité exceptionnelle (ROIC 84,4%). Une convergence vers la médiane impliquerait un downside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275 USD vs cours à 255,92 USD (+7,5%). La prime reflète une croissance organique soutenue et une exécution disciplinée, mais une partie de la valeur est déjà anticipée dans le cours actuel.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L'écosystème fermé d'Apple montre des signes d'essoufflement avec une baisse de 12% des ventes d'iPhone en Chine au T1 2025, marché crucial représentant 20% du CA global. Les marges brutes de 46.9% reposent sur des prix artificiellement gonflés, mais les coûts de production des puces maison augmentent de 8% par an, érodant progressivement l'avantage concurrentiel.</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Concurrence chinoise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pricing power d'Apple est menacé par la guerre des prix en Inde où les iPhone sont vendus 20% moins chers qu'aux États-Unis, signe d'une pression sur les marges à long terme. Les marges nettes de 26.9% pourraient chuter sous 24% d'ici 2026 si la concurrence chinoise intensifie ses attaques sur le segment premium.</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Trésorerie inefficace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 trésorerie record de 110 milliards de dollars est en réalité un piège liquidité : 78% est bloquée à l'étranger, soumise à des taxes de rapatriement de 15.5%, réduisant la flexibilité financière. Les rachats d'actions massifs (50 milliards annuels) masquent une croissance organique atone de 3.2% en 2024, bien en dessous des attentes du marché.</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-3% PIB aux États-Unis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européenne limitant les commissions App Store à 15%</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de l'IA sur l'iPhone 16 (retards technologiques)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+0,281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45,6 %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15</a:t>
                      </a:r>
                    </a:p>
                  </a:txBody>
                  <a:tcPr>
                    <a:solidFill>
                      <a:srgbClr val="EAF4EF"/>
                    </a:solidFill>
                  </a:tcPr>
                </a:tc>
                <a:tc>
                  <a:txBody>
                    <a:bodyPr/>
                    <a:lstStyle/>
                    <a:p>
                      <a:pPr algn="ctr"/>
                      <a:r>
                        <a:rPr sz="800" b="0" i="0">
                          <a:solidFill>
                            <a:srgbClr val="0D0D0D"/>
                          </a:solidFill>
                          <a:latin typeface="Calibri"/>
                        </a:rPr>
                        <a:t>+0,457</a:t>
                      </a:r>
                    </a:p>
                  </a:txBody>
                  <a:tcPr>
                    <a:solidFill>
                      <a:srgbClr val="EAF4EF"/>
                    </a:solidFill>
                  </a:tcPr>
                </a:tc>
                <a:tc>
                  <a:txBody>
                    <a:bodyPr/>
                    <a:lstStyle/>
                    <a:p>
                      <a:pPr algn="ctr"/>
                      <a:r>
                        <a:rPr sz="800" b="0" i="0">
                          <a:solidFill>
                            <a:srgbClr val="0D0D0D"/>
                          </a:solidFill>
                          <a:latin typeface="Calibri"/>
                        </a:rPr>
                        <a:t>Lancement de l'iPhone 16 en 2026 avec IA intégrée pourrait ajouter 12-15 Mds USD de revenus annuels | Hausse des abonnements services (+20% CAGR) | Expansion du marché des wearables en Asie (15% CA 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+0,367</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+0,176</a:t>
                      </a:r>
                    </a:p>
                  </a:txBody>
                  <a:tcPr>
                    <a:solidFill>
                      <a:srgbClr val="FAF0EF"/>
                    </a:solidFill>
                  </a:tcPr>
                </a:tc>
                <a:tc>
                  <a:txBody>
                    <a:bodyPr/>
                    <a:lstStyle/>
                    <a:p>
                      <a:pPr algn="ctr"/>
                      <a:r>
                        <a:rPr sz="800" b="0" i="0">
                          <a:solidFill>
                            <a:srgbClr val="0D0D0D"/>
                          </a:solidFill>
                          <a:latin typeface="Calibri"/>
                        </a:rPr>
                        <a:t>Régulation antitrust aux États-Unis et en UE pourrait limiter les marges services de 10-15% | Concurrence accrue en IA (Google, Microsoft) réduisant l'avantage différenciant | Ralentissement économique en Chine (-8% CA iPhone 2026)…</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la résilience d’Apple malgré des risques réglementaires en Chine et des défis macroéconomiques. Les partenariats industriels et la demande en IA soutiennent une dynamique globalement positive pour l’action.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6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vs 22,5x pour la médiane des peers technologiques. La prime de 17% est justifiée par la qualité des actifs et la croissance des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6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attractive malgré une prime vs les peers, soutenue par des catalyseurs structurels comme l'IA et les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