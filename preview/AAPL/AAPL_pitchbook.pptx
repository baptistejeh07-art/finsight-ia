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2771999" y="2720232"/>
            <a:ext cx="3600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BUY  ·  Prix cible base : 285 $  ·  Upside : +9,9 %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6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+9,9 %  ·  Bear : 240 $ (-7,4 %)  ·  Bull : 310 $ (+19,6 %)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Lancement de l'iPhone 16 en 2026 avec puce IA dédiée pourrait booster les ventes de 8-10%</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Pricing power</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Expansion du marché des services à 200 milliards USD d'ici 2027 avec marge EBITDA &gt;75%</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Trésorerie record</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Rachat d'actions de 100 milliards USD annoncé en 2025 soutenant le cours</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Régulation antitrust</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Régulation antitrust aux États-Unis/EU avec amende potentielle de 50 milliards USD | Concurrence accrue en IA avec perte de parts de marché de 5-8% | Ralentissement économique en Chine réduisant les ventes iPhone de 10%</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Le pricing power d'Apple est surévalué : les coûts de production des puces M3 augmentent de 18% en 2024 (Bloomberg), érodant les marges nettes déjà sous pression à 26,9%. Les marges de l'iPhone ont chuté de 5 points depuis 2022 (UBS), tandis que les coûts…</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Dépendance Chine</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La trésorerie record de 166 milliards de dollars (2025) est un piège : 94% est bloquée hors des États-Unis, soumise à une imposition minimale de 15,5% en 2026 (Tax Cuts and Jobs Act). Les rachats d'actions (75 milliards prévus en 2025) masquent l'absence de…</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26,7x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21,5x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+9,9 %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+0,099</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Régulation antitrust  ·  Concurrence IA</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fabrique et commercialise des smartphones (iPhone), ordinateurs (Mac), tablettes (iPad) et services (App Store, Apple Music). Leader sur le premium avec un écosystème intégré et une fidélisation client élevée. Avantages clés : pricing power, marge brute à 46.9%, et croissance des services à 15%+ YoY.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Ventes de hardware (iPhone 60% CA, Mac 7%, iPad 8%, Wearables 10%) avec modèle premium et cycle de renouvellement de 2-3 ans. Clients : particuliers et entreprises avec forte récurrence. Croissance tirée par l'innovation (IA intégrée) et l'expansion géographique (Inde, Chine).</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Abonnements (App Store, Apple Music, iCloud) et licences avec modèle récurrent et marge &gt;70%. Clients : 1 milliard d'utilisateurs actifs avec ARPU en hausse. Croissance soutenue par l'augmentation des services premium et la monétisation des données utilisateurs.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3 805,6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259,22 $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26,7x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34,0x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85%</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Ventes de hardware (iPhone 60% CA, Mac 7%, iPad 8%, Wearables 10%) avec modèle premium et cycle de renouvellement de 2-3 ans. Clients : particuliers et entreprises avec forte récurrence. Croissance tirée par l'innovation (IA intégrée) et l'expansion géographique (Inde, Chine).</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15%</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Abonnements (App Store, Apple Music, iCloud) et licences avec modèle récurrent et marge &gt;70%. Clients : 1 milliard d'utilisateurs actifs avec ARPU en hausse. Croissance soutenue par l'augmentation des services premium et la monétisation des données utilisateurs.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445,0</a:t>
                      </a:r>
                    </a:p>
                  </a:txBody>
                  <a:tcPr>
                    <a:solidFill>
                      <a:srgbClr val="FFFFFF"/>
                    </a:solidFill>
                  </a:tcPr>
                </a:tc>
                <a:tc>
                  <a:txBody>
                    <a:bodyPr/>
                    <a:lstStyle/>
                    <a:p>
                      <a:pPr algn="ctr"/>
                      <a:r>
                        <a:rPr sz="800" b="1" i="0">
                          <a:solidFill>
                            <a:srgbClr val="0D0D0D"/>
                          </a:solidFill>
                          <a:latin typeface="Calibri"/>
                        </a:rPr>
                        <a:t>475,0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+7,0 %</a:t>
                      </a:r>
                    </a:p>
                  </a:txBody>
                  <a:tcPr>
                    <a:solidFill>
                      <a:srgbClr val="F7F8FA"/>
                    </a:solidFill>
                  </a:tcPr>
                </a:tc>
                <a:tc>
                  <a:txBody>
                    <a:bodyPr/>
                    <a:lstStyle/>
                    <a:p>
                      <a:pPr algn="ctr"/>
                      <a:r>
                        <a:rPr sz="750" b="0" i="1">
                          <a:solidFill>
                            <a:srgbClr val="555555"/>
                          </a:solidFill>
                          <a:latin typeface="Calibri"/>
                        </a:rPr>
                        <a:t>+6,7 %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211,4</a:t>
                      </a:r>
                    </a:p>
                  </a:txBody>
                  <a:tcPr>
                    <a:solidFill>
                      <a:srgbClr val="FFFFFF"/>
                    </a:solidFill>
                  </a:tcPr>
                </a:tc>
                <a:tc>
                  <a:txBody>
                    <a:bodyPr/>
                    <a:lstStyle/>
                    <a:p>
                      <a:pPr algn="ctr"/>
                      <a:r>
                        <a:rPr sz="800" b="1" i="0">
                          <a:solidFill>
                            <a:srgbClr val="0D0D0D"/>
                          </a:solidFill>
                          <a:latin typeface="Calibri"/>
                        </a:rPr>
                        <a:t>228,0</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47,5 %</a:t>
                      </a:r>
                    </a:p>
                  </a:txBody>
                  <a:tcPr>
                    <a:solidFill>
                      <a:srgbClr val="F7F8FA"/>
                    </a:solidFill>
                  </a:tcPr>
                </a:tc>
                <a:tc>
                  <a:txBody>
                    <a:bodyPr/>
                    <a:lstStyle/>
                    <a:p>
                      <a:pPr algn="ctr"/>
                      <a:r>
                        <a:rPr sz="750" b="0" i="1">
                          <a:solidFill>
                            <a:srgbClr val="555555"/>
                          </a:solidFill>
                          <a:latin typeface="Calibri"/>
                        </a:rPr>
                        <a:t>48,0 %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160,0</a:t>
                      </a:r>
                    </a:p>
                  </a:txBody>
                  <a:tcPr>
                    <a:solidFill>
                      <a:srgbClr val="FFFFFF"/>
                    </a:solidFill>
                  </a:tcPr>
                </a:tc>
                <a:tc>
                  <a:txBody>
                    <a:bodyPr/>
                    <a:lstStyle/>
                    <a:p>
                      <a:pPr algn="ctr"/>
                      <a:r>
                        <a:rPr sz="800" b="1" i="0">
                          <a:solidFill>
                            <a:srgbClr val="0D0D0D"/>
                          </a:solidFill>
                          <a:latin typeface="Calibri"/>
                        </a:rPr>
                        <a:t>175,0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35,9 %</a:t>
                      </a:r>
                    </a:p>
                  </a:txBody>
                  <a:tcPr>
                    <a:solidFill>
                      <a:srgbClr val="F7F8FA"/>
                    </a:solidFill>
                  </a:tcPr>
                </a:tc>
                <a:tc>
                  <a:txBody>
                    <a:bodyPr/>
                    <a:lstStyle/>
                    <a:p>
                      <a:pPr algn="ctr"/>
                      <a:r>
                        <a:rPr sz="750" b="0" i="1">
                          <a:solidFill>
                            <a:srgbClr val="555555"/>
                          </a:solidFill>
                          <a:latin typeface="Calibri"/>
                        </a:rPr>
                        <a:t>36,8 %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120,0</a:t>
                      </a:r>
                    </a:p>
                  </a:txBody>
                  <a:tcPr>
                    <a:solidFill>
                      <a:srgbClr val="FFFFFF"/>
                    </a:solidFill>
                  </a:tcPr>
                </a:tc>
                <a:tc>
                  <a:txBody>
                    <a:bodyPr/>
                    <a:lstStyle/>
                    <a:p>
                      <a:pPr algn="ctr"/>
                      <a:r>
                        <a:rPr sz="800" b="1" i="0">
                          <a:solidFill>
                            <a:srgbClr val="0D0D0D"/>
                          </a:solidFill>
                          <a:latin typeface="Calibri"/>
                        </a:rPr>
                        <a:t>132,0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27,0 %</a:t>
                      </a:r>
                    </a:p>
                  </a:txBody>
                  <a:tcPr>
                    <a:solidFill>
                      <a:srgbClr val="F7F8FA"/>
                    </a:solidFill>
                  </a:tcPr>
                </a:tc>
                <a:tc>
                  <a:txBody>
                    <a:bodyPr/>
                    <a:lstStyle/>
                    <a:p>
                      <a:pPr algn="ctr"/>
                      <a:r>
                        <a:rPr sz="750" b="0" i="1">
                          <a:solidFill>
                            <a:srgbClr val="555555"/>
                          </a:solidFill>
                          <a:latin typeface="Calibri"/>
                        </a:rPr>
                        <a:t>27,8 %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CA de 6.4% en 2025 portée par les services (+15%) et l'iPhone (+5%). Marges nettes en hausse de 2.9pp grâce à la réduction des coûts logistiques et au mix favorable services/hardware. Génération de cash libre de 110 milliards USD en 2025, renforçant la solidité bilancielle et la capacité de rachat.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CA de 6.4% en 2025 portée par les services (+15%) et l'iPhone (+5%). Marges nettes en hausse de 2.9pp grâce à la réduction des coûts logistiques et au mix favorable services/hardware. Génération de cash libre de 110 milliards USD en 2025, renforçant la solidité bilancielle et la capacité de rachat.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Détresse</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Marges nettes en progression de 2.9pp depuis 2023 (24.0% à 26.9%) grâce à une meilleure gestion des coûts fixes et à la hausse des services. La marge brute à 46.9% reste parmi les plus élevées du secteur, reflétant un mix produit premium et un pouvoir de négociation avec les fournisseurs. Cette durabilité suggère un potentiel de rerating si la croissance des services se confirme.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259,22 $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310 $</a:t>
                      </a:r>
                    </a:p>
                  </a:txBody>
                  <a:tcPr>
                    <a:solidFill>
                      <a:srgbClr val="EAF4EF"/>
                    </a:solidFill>
                  </a:tcPr>
                </a:tc>
              </a:tr>
              <a:tr h="342900">
                <a:tc>
                  <a:txBody>
                    <a:bodyPr/>
                    <a:lstStyle/>
                    <a:p>
                      <a:pPr algn="ctr"/>
                      <a:r>
                        <a:rPr sz="1200" b="1" i="0">
                          <a:solidFill>
                            <a:srgbClr val="A82020"/>
                          </a:solidFill>
                          <a:latin typeface="Calibri"/>
                        </a:rPr>
                        <a:t>-7,4 %</a:t>
                      </a:r>
                    </a:p>
                  </a:txBody>
                  <a:tcPr>
                    <a:solidFill>
                      <a:srgbClr val="FAF0EF"/>
                    </a:solidFill>
                  </a:tcPr>
                </a:tc>
                <a:tc>
                  <a:txBody>
                    <a:bodyPr/>
                    <a:lstStyle/>
                    <a:p>
                      <a:pPr algn="ctr"/>
                      <a:r>
                        <a:rPr sz="1200" b="1" i="0">
                          <a:solidFill>
                            <a:srgbClr val="2E5FA3"/>
                          </a:solidFill>
                          <a:latin typeface="Calibri"/>
                        </a:rPr>
                        <a:t>+9,9 %</a:t>
                      </a:r>
                    </a:p>
                  </a:txBody>
                  <a:tcPr>
                    <a:solidFill>
                      <a:srgbClr val="EEF3FA"/>
                    </a:solidFill>
                  </a:tcPr>
                </a:tc>
                <a:tc>
                  <a:txBody>
                    <a:bodyPr/>
                    <a:lstStyle/>
                    <a:p>
                      <a:pPr algn="ctr"/>
                      <a:r>
                        <a:rPr sz="1200" b="1" i="0">
                          <a:solidFill>
                            <a:srgbClr val="1A7A4A"/>
                          </a:solidFill>
                          <a:latin typeface="Calibri"/>
                        </a:rPr>
                        <a:t>+19,6 %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WACC de 10.3% et TGR de 3.0% impliquent un prix implicite DCF de 275 USD, soit un upside de 6.8% vs cours actuel. La prime actuelle reflète une croissance déjà anticipée, mais un catalyseur comme l'adoption massive de l'IA sur iPhone pourrait débloquer la valeur.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3 805,6</a:t>
                      </a:r>
                    </a:p>
                  </a:txBody>
                  <a:tcPr>
                    <a:solidFill>
                      <a:srgbClr val="DDE8F5"/>
                    </a:solidFill>
                  </a:tcPr>
                </a:tc>
                <a:tc>
                  <a:txBody>
                    <a:bodyPr/>
                    <a:lstStyle/>
                    <a:p>
                      <a:pPr algn="ctr"/>
                      <a:r>
                        <a:rPr sz="800" b="1" i="0">
                          <a:solidFill>
                            <a:srgbClr val="1B3A6B"/>
                          </a:solidFill>
                          <a:latin typeface="Calibri"/>
                        </a:rPr>
                        <a:t>26,7x</a:t>
                      </a:r>
                    </a:p>
                  </a:txBody>
                  <a:tcPr>
                    <a:solidFill>
                      <a:srgbClr val="DDE8F5"/>
                    </a:solidFill>
                  </a:tcPr>
                </a:tc>
                <a:tc>
                  <a:txBody>
                    <a:bodyPr/>
                    <a:lstStyle/>
                    <a:p>
                      <a:pPr algn="ctr"/>
                      <a:r>
                        <a:rPr sz="800" b="1" i="0">
                          <a:solidFill>
                            <a:srgbClr val="1B3A6B"/>
                          </a:solidFill>
                          <a:latin typeface="Calibri"/>
                        </a:rPr>
                        <a:t>9,3x</a:t>
                      </a:r>
                    </a:p>
                  </a:txBody>
                  <a:tcPr>
                    <a:solidFill>
                      <a:srgbClr val="DDE8F5"/>
                    </a:solidFill>
                  </a:tcPr>
                </a:tc>
                <a:tc>
                  <a:txBody>
                    <a:bodyPr/>
                    <a:lstStyle/>
                    <a:p>
                      <a:pPr algn="ctr"/>
                      <a:r>
                        <a:rPr sz="800" b="1" i="0">
                          <a:solidFill>
                            <a:srgbClr val="1B3A6B"/>
                          </a:solidFill>
                          <a:latin typeface="Calibri"/>
                        </a:rPr>
                        <a:t>34,0x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3 200,0</a:t>
                      </a:r>
                    </a:p>
                  </a:txBody>
                  <a:tcPr>
                    <a:solidFill>
                      <a:srgbClr val="FFFFFF"/>
                    </a:solidFill>
                  </a:tcPr>
                </a:tc>
                <a:tc>
                  <a:txBody>
                    <a:bodyPr/>
                    <a:lstStyle/>
                    <a:p>
                      <a:pPr algn="ctr"/>
                      <a:r>
                        <a:rPr sz="800" b="0" i="0">
                          <a:solidFill>
                            <a:srgbClr val="0D0D0D"/>
                          </a:solidFill>
                          <a:latin typeface="Calibri"/>
                        </a:rPr>
                        <a:t>25,1x</a:t>
                      </a:r>
                    </a:p>
                  </a:txBody>
                  <a:tcPr>
                    <a:solidFill>
                      <a:srgbClr val="FFFFFF"/>
                    </a:solidFill>
                  </a:tcPr>
                </a:tc>
                <a:tc>
                  <a:txBody>
                    <a:bodyPr/>
                    <a:lstStyle/>
                    <a:p>
                      <a:pPr algn="ctr"/>
                      <a:r>
                        <a:rPr sz="800" b="0" i="0">
                          <a:solidFill>
                            <a:srgbClr val="0D0D0D"/>
                          </a:solidFill>
                          <a:latin typeface="Calibri"/>
                        </a:rPr>
                        <a:t>13,2x</a:t>
                      </a:r>
                    </a:p>
                  </a:txBody>
                  <a:tcPr>
                    <a:solidFill>
                      <a:srgbClr val="FFFFFF"/>
                    </a:solidFill>
                  </a:tcPr>
                </a:tc>
                <a:tc>
                  <a:txBody>
                    <a:bodyPr/>
                    <a:lstStyle/>
                    <a:p>
                      <a:pPr algn="ctr"/>
                      <a:r>
                        <a:rPr sz="800" b="0" i="0">
                          <a:solidFill>
                            <a:srgbClr val="0D0D0D"/>
                          </a:solidFill>
                          <a:latin typeface="Calibri"/>
                        </a:rPr>
                        <a:t>38,5x</a:t>
                      </a:r>
                    </a:p>
                  </a:txBody>
                  <a:tcPr>
                    <a:solidFill>
                      <a:srgbClr val="FFFFFF"/>
                    </a:solidFill>
                  </a:tcPr>
                </a:tc>
                <a:tc>
                  <a:txBody>
                    <a:bodyPr/>
                    <a:lstStyle/>
                    <a:p>
                      <a:pPr algn="ctr"/>
                      <a:r>
                        <a:rPr sz="800" b="0" i="0">
                          <a:solidFill>
                            <a:srgbClr val="0D0D0D"/>
                          </a:solidFill>
                          <a:latin typeface="Calibri"/>
                        </a:rPr>
                        <a:t>68,0 %</a:t>
                      </a:r>
                    </a:p>
                  </a:txBody>
                  <a:tcPr>
                    <a:solidFill>
                      <a:srgbClr val="FFFFFF"/>
                    </a:solidFill>
                  </a:tcPr>
                </a:tc>
                <a:tc>
                  <a:txBody>
                    <a:bodyPr/>
                    <a:lstStyle/>
                    <a:p>
                      <a:pPr algn="ctr"/>
                      <a:r>
                        <a:rPr sz="800" b="0" i="0">
                          <a:solidFill>
                            <a:srgbClr val="0D0D0D"/>
                          </a:solidFill>
                          <a:latin typeface="Calibri"/>
                        </a:rPr>
                        <a:t>52,0 %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2 100,0</a:t>
                      </a:r>
                    </a:p>
                  </a:txBody>
                  <a:tcPr>
                    <a:solidFill>
                      <a:srgbClr val="F7F8FA"/>
                    </a:solidFill>
                  </a:tcPr>
                </a:tc>
                <a:tc>
                  <a:txBody>
                    <a:bodyPr/>
                    <a:lstStyle/>
                    <a:p>
                      <a:pPr algn="ctr"/>
                      <a:r>
                        <a:rPr sz="800" b="0" i="0">
                          <a:solidFill>
                            <a:srgbClr val="0D0D0D"/>
                          </a:solidFill>
                          <a:latin typeface="Calibri"/>
                        </a:rPr>
                        <a:t>21,5x</a:t>
                      </a:r>
                    </a:p>
                  </a:txBody>
                  <a:tcPr>
                    <a:solidFill>
                      <a:srgbClr val="F7F8FA"/>
                    </a:solidFill>
                  </a:tcPr>
                </a:tc>
                <a:tc>
                  <a:txBody>
                    <a:bodyPr/>
                    <a:lstStyle/>
                    <a:p>
                      <a:pPr algn="ctr"/>
                      <a:r>
                        <a:rPr sz="800" b="0" i="0">
                          <a:solidFill>
                            <a:srgbClr val="0D0D0D"/>
                          </a:solidFill>
                          <a:latin typeface="Calibri"/>
                        </a:rPr>
                        <a:t>8,9x</a:t>
                      </a:r>
                    </a:p>
                  </a:txBody>
                  <a:tcPr>
                    <a:solidFill>
                      <a:srgbClr val="F7F8FA"/>
                    </a:solidFill>
                  </a:tcPr>
                </a:tc>
                <a:tc>
                  <a:txBody>
                    <a:bodyPr/>
                    <a:lstStyle/>
                    <a:p>
                      <a:pPr algn="ctr"/>
                      <a:r>
                        <a:rPr sz="800" b="0" i="0">
                          <a:solidFill>
                            <a:srgbClr val="0D0D0D"/>
                          </a:solidFill>
                          <a:latin typeface="Calibri"/>
                        </a:rPr>
                        <a:t>28,7x</a:t>
                      </a:r>
                    </a:p>
                  </a:txBody>
                  <a:tcPr>
                    <a:solidFill>
                      <a:srgbClr val="F7F8FA"/>
                    </a:solidFill>
                  </a:tcPr>
                </a:tc>
                <a:tc>
                  <a:txBody>
                    <a:bodyPr/>
                    <a:lstStyle/>
                    <a:p>
                      <a:pPr algn="ctr"/>
                      <a:r>
                        <a:rPr sz="800" b="0" i="0">
                          <a:solidFill>
                            <a:srgbClr val="0D0D0D"/>
                          </a:solidFill>
                          <a:latin typeface="Calibri"/>
                        </a:rPr>
                        <a:t>57,0 %</a:t>
                      </a:r>
                    </a:p>
                  </a:txBody>
                  <a:tcPr>
                    <a:solidFill>
                      <a:srgbClr val="F7F8FA"/>
                    </a:solidFill>
                  </a:tcPr>
                </a:tc>
                <a:tc>
                  <a:txBody>
                    <a:bodyPr/>
                    <a:lstStyle/>
                    <a:p>
                      <a:pPr algn="ctr"/>
                      <a:r>
                        <a:rPr sz="800" b="0" i="0">
                          <a:solidFill>
                            <a:srgbClr val="0D0D0D"/>
                          </a:solidFill>
                          <a:latin typeface="Calibri"/>
                        </a:rPr>
                        <a:t>35,0 %</a:t>
                      </a:r>
                    </a:p>
                  </a:txBody>
                  <a:tcPr>
                    <a:solidFill>
                      <a:srgbClr val="F7F8FA"/>
                    </a:solidFill>
                  </a:tcPr>
                </a:tc>
              </a:tr>
              <a:tr h="251999">
                <a:tc>
                  <a:txBody>
                    <a:bodyPr/>
                    <a:lstStyle/>
                    <a:p>
                      <a:pPr algn="l"/>
                      <a:r>
                        <a:rPr sz="800" b="0" i="0">
                          <a:solidFill>
                            <a:srgbClr val="0D0D0D"/>
                          </a:solidFill>
                          <a:latin typeface="Calibri"/>
                        </a:rPr>
                        <a:t>Samsung Electronics</a:t>
                      </a:r>
                    </a:p>
                  </a:txBody>
                  <a:tcPr>
                    <a:solidFill>
                      <a:srgbClr val="FFFFFF"/>
                    </a:solidFill>
                  </a:tcPr>
                </a:tc>
                <a:tc>
                  <a:txBody>
                    <a:bodyPr/>
                    <a:lstStyle/>
                    <a:p>
                      <a:pPr algn="ctr"/>
                      <a:r>
                        <a:rPr sz="750" b="0" i="0">
                          <a:solidFill>
                            <a:srgbClr val="555555"/>
                          </a:solidFill>
                          <a:latin typeface="Calibri"/>
                        </a:rPr>
                        <a:t>005930.KS</a:t>
                      </a:r>
                    </a:p>
                  </a:txBody>
                  <a:tcPr>
                    <a:solidFill>
                      <a:srgbClr val="FFFFFF"/>
                    </a:solidFill>
                  </a:tcPr>
                </a:tc>
                <a:tc>
                  <a:txBody>
                    <a:bodyPr/>
                    <a:lstStyle/>
                    <a:p>
                      <a:pPr algn="ctr"/>
                      <a:r>
                        <a:rPr sz="800" b="0" i="0">
                          <a:solidFill>
                            <a:srgbClr val="0D0D0D"/>
                          </a:solidFill>
                          <a:latin typeface="Calibri"/>
                        </a:rPr>
                        <a:t>450,0</a:t>
                      </a:r>
                    </a:p>
                  </a:txBody>
                  <a:tcPr>
                    <a:solidFill>
                      <a:srgbClr val="FFFFFF"/>
                    </a:solidFill>
                  </a:tcPr>
                </a:tc>
                <a:tc>
                  <a:txBody>
                    <a:bodyPr/>
                    <a:lstStyle/>
                    <a:p>
                      <a:pPr algn="ctr"/>
                      <a:r>
                        <a:rPr sz="800" b="0" i="0">
                          <a:solidFill>
                            <a:srgbClr val="0D0D0D"/>
                          </a:solidFill>
                          <a:latin typeface="Calibri"/>
                        </a:rPr>
                        <a:t>6,8x</a:t>
                      </a:r>
                    </a:p>
                  </a:txBody>
                  <a:tcPr>
                    <a:solidFill>
                      <a:srgbClr val="FFFFFF"/>
                    </a:solidFill>
                  </a:tcPr>
                </a:tc>
                <a:tc>
                  <a:txBody>
                    <a:bodyPr/>
                    <a:lstStyle/>
                    <a:p>
                      <a:pPr algn="ctr"/>
                      <a:r>
                        <a:rPr sz="800" b="0" i="0">
                          <a:solidFill>
                            <a:srgbClr val="0D0D0D"/>
                          </a:solidFill>
                          <a:latin typeface="Calibri"/>
                        </a:rPr>
                        <a:t>1,2x</a:t>
                      </a:r>
                    </a:p>
                  </a:txBody>
                  <a:tcPr>
                    <a:solidFill>
                      <a:srgbClr val="FFFFFF"/>
                    </a:solidFill>
                  </a:tcPr>
                </a:tc>
                <a:tc>
                  <a:txBody>
                    <a:bodyPr/>
                    <a:lstStyle/>
                    <a:p>
                      <a:pPr algn="ctr"/>
                      <a:r>
                        <a:rPr sz="800" b="0" i="0">
                          <a:solidFill>
                            <a:srgbClr val="0D0D0D"/>
                          </a:solidFill>
                          <a:latin typeface="Calibri"/>
                        </a:rPr>
                        <a:t>12,5x</a:t>
                      </a:r>
                    </a:p>
                  </a:txBody>
                  <a:tcPr>
                    <a:solidFill>
                      <a:srgbClr val="FFFFFF"/>
                    </a:solidFill>
                  </a:tcPr>
                </a:tc>
                <a:tc>
                  <a:txBody>
                    <a:bodyPr/>
                    <a:lstStyle/>
                    <a:p>
                      <a:pPr algn="ctr"/>
                      <a:r>
                        <a:rPr sz="800" b="0" i="0">
                          <a:solidFill>
                            <a:srgbClr val="0D0D0D"/>
                          </a:solidFill>
                          <a:latin typeface="Calibri"/>
                        </a:rPr>
                        <a:t>35,0 %</a:t>
                      </a:r>
                    </a:p>
                  </a:txBody>
                  <a:tcPr>
                    <a:solidFill>
                      <a:srgbClr val="FFFFFF"/>
                    </a:solidFill>
                  </a:tcPr>
                </a:tc>
                <a:tc>
                  <a:txBody>
                    <a:bodyPr/>
                    <a:lstStyle/>
                    <a:p>
                      <a:pPr algn="ctr"/>
                      <a:r>
                        <a:rPr sz="800" b="0" i="0">
                          <a:solidFill>
                            <a:srgbClr val="0D0D0D"/>
                          </a:solidFill>
                          <a:latin typeface="Calibri"/>
                        </a:rPr>
                        <a:t>20,0 %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1 400,0</a:t>
                      </a:r>
                    </a:p>
                  </a:txBody>
                  <a:tcPr>
                    <a:solidFill>
                      <a:srgbClr val="F7F8FA"/>
                    </a:solidFill>
                  </a:tcPr>
                </a:tc>
                <a:tc>
                  <a:txBody>
                    <a:bodyPr/>
                    <a:lstStyle/>
                    <a:p>
                      <a:pPr algn="ctr"/>
                      <a:r>
                        <a:rPr sz="800" b="0" i="0">
                          <a:solidFill>
                            <a:srgbClr val="0D0D0D"/>
                          </a:solidFill>
                          <a:latin typeface="Calibri"/>
                        </a:rPr>
                        <a:t>18,2x</a:t>
                      </a:r>
                    </a:p>
                  </a:txBody>
                  <a:tcPr>
                    <a:solidFill>
                      <a:srgbClr val="F7F8FA"/>
                    </a:solidFill>
                  </a:tcPr>
                </a:tc>
                <a:tc>
                  <a:txBody>
                    <a:bodyPr/>
                    <a:lstStyle/>
                    <a:p>
                      <a:pPr algn="ctr"/>
                      <a:r>
                        <a:rPr sz="800" b="0" i="0">
                          <a:solidFill>
                            <a:srgbClr val="0D0D0D"/>
                          </a:solidFill>
                          <a:latin typeface="Calibri"/>
                        </a:rPr>
                        <a:t>10,5x</a:t>
                      </a:r>
                    </a:p>
                  </a:txBody>
                  <a:tcPr>
                    <a:solidFill>
                      <a:srgbClr val="F7F8FA"/>
                    </a:solidFill>
                  </a:tcPr>
                </a:tc>
                <a:tc>
                  <a:txBody>
                    <a:bodyPr/>
                    <a:lstStyle/>
                    <a:p>
                      <a:pPr algn="ctr"/>
                      <a:r>
                        <a:rPr sz="800" b="0" i="0">
                          <a:solidFill>
                            <a:srgbClr val="0D0D0D"/>
                          </a:solidFill>
                          <a:latin typeface="Calibri"/>
                        </a:rPr>
                        <a:t>32,0x</a:t>
                      </a:r>
                    </a:p>
                  </a:txBody>
                  <a:tcPr>
                    <a:solidFill>
                      <a:srgbClr val="F7F8FA"/>
                    </a:solidFill>
                  </a:tcPr>
                </a:tc>
                <a:tc>
                  <a:txBody>
                    <a:bodyPr/>
                    <a:lstStyle/>
                    <a:p>
                      <a:pPr algn="ctr"/>
                      <a:r>
                        <a:rPr sz="800" b="0" i="0">
                          <a:solidFill>
                            <a:srgbClr val="0D0D0D"/>
                          </a:solidFill>
                          <a:latin typeface="Calibri"/>
                        </a:rPr>
                        <a:t>85,0 %</a:t>
                      </a:r>
                    </a:p>
                  </a:txBody>
                  <a:tcPr>
                    <a:solidFill>
                      <a:srgbClr val="F7F8FA"/>
                    </a:solidFill>
                  </a:tcPr>
                </a:tc>
                <a:tc>
                  <a:txBody>
                    <a:bodyPr/>
                    <a:lstStyle/>
                    <a:p>
                      <a:pPr algn="ctr"/>
                      <a:r>
                        <a:rPr sz="800" b="0" i="0">
                          <a:solidFill>
                            <a:srgbClr val="0D0D0D"/>
                          </a:solidFill>
                          <a:latin typeface="Calibri"/>
                        </a:rPr>
                        <a:t>55,0 %</a:t>
                      </a:r>
                    </a:p>
                  </a:txBody>
                  <a:tcPr>
                    <a:solidFill>
                      <a:srgbClr val="F7F8FA"/>
                    </a:solidFill>
                  </a:tcPr>
                </a:tc>
              </a:tr>
              <a:tr h="251999">
                <a:tc>
                  <a:txBody>
                    <a:bodyPr/>
                    <a:lstStyle/>
                    <a:p>
                      <a:pPr algn="l"/>
                      <a:r>
                        <a:rPr sz="800" b="0" i="0">
                          <a:solidFill>
                            <a:srgbClr val="0D0D0D"/>
                          </a:solidFill>
                          <a:latin typeface="Calibri"/>
                        </a:rPr>
                        <a:t>NVIDIA</a:t>
                      </a:r>
                    </a:p>
                  </a:txBody>
                  <a:tcPr>
                    <a:solidFill>
                      <a:srgbClr val="FFFFFF"/>
                    </a:solidFill>
                  </a:tcPr>
                </a:tc>
                <a:tc>
                  <a:txBody>
                    <a:bodyPr/>
                    <a:lstStyle/>
                    <a:p>
                      <a:pPr algn="ctr"/>
                      <a:r>
                        <a:rPr sz="750" b="0" i="0">
                          <a:solidFill>
                            <a:srgbClr val="555555"/>
                          </a:solidFill>
                          <a:latin typeface="Calibri"/>
                        </a:rPr>
                        <a:t>NVDA</a:t>
                      </a:r>
                    </a:p>
                  </a:txBody>
                  <a:tcPr>
                    <a:solidFill>
                      <a:srgbClr val="FFFFFF"/>
                    </a:solidFill>
                  </a:tcPr>
                </a:tc>
                <a:tc>
                  <a:txBody>
                    <a:bodyPr/>
                    <a:lstStyle/>
                    <a:p>
                      <a:pPr algn="ctr"/>
                      <a:r>
                        <a:rPr sz="800" b="0" i="0">
                          <a:solidFill>
                            <a:srgbClr val="0D0D0D"/>
                          </a:solidFill>
                          <a:latin typeface="Calibri"/>
                        </a:rPr>
                        <a:t>2 300,0</a:t>
                      </a:r>
                    </a:p>
                  </a:txBody>
                  <a:tcPr>
                    <a:solidFill>
                      <a:srgbClr val="FFFFFF"/>
                    </a:solidFill>
                  </a:tcPr>
                </a:tc>
                <a:tc>
                  <a:txBody>
                    <a:bodyPr/>
                    <a:lstStyle/>
                    <a:p>
                      <a:pPr algn="ctr"/>
                      <a:r>
                        <a:rPr sz="800" b="0" i="0">
                          <a:solidFill>
                            <a:srgbClr val="0D0D0D"/>
                          </a:solidFill>
                          <a:latin typeface="Calibri"/>
                        </a:rPr>
                        <a:t>55,0x</a:t>
                      </a:r>
                    </a:p>
                  </a:txBody>
                  <a:tcPr>
                    <a:solidFill>
                      <a:srgbClr val="FFFFFF"/>
                    </a:solidFill>
                  </a:tcPr>
                </a:tc>
                <a:tc>
                  <a:txBody>
                    <a:bodyPr/>
                    <a:lstStyle/>
                    <a:p>
                      <a:pPr algn="ctr"/>
                      <a:r>
                        <a:rPr sz="800" b="0" i="0">
                          <a:solidFill>
                            <a:srgbClr val="0D0D0D"/>
                          </a:solidFill>
                          <a:latin typeface="Calibri"/>
                        </a:rPr>
                        <a:t>28,0x</a:t>
                      </a:r>
                    </a:p>
                  </a:txBody>
                  <a:tcPr>
                    <a:solidFill>
                      <a:srgbClr val="FFFFFF"/>
                    </a:solidFill>
                  </a:tcPr>
                </a:tc>
                <a:tc>
                  <a:txBody>
                    <a:bodyPr/>
                    <a:lstStyle/>
                    <a:p>
                      <a:pPr algn="ctr"/>
                      <a:r>
                        <a:rPr sz="800" b="0" i="0">
                          <a:solidFill>
                            <a:srgbClr val="0D0D0D"/>
                          </a:solidFill>
                          <a:latin typeface="Calibri"/>
                        </a:rPr>
                        <a:t>42,0x</a:t>
                      </a:r>
                    </a:p>
                  </a:txBody>
                  <a:tcPr>
                    <a:solidFill>
                      <a:srgbClr val="FFFFFF"/>
                    </a:solidFill>
                  </a:tcPr>
                </a:tc>
                <a:tc>
                  <a:txBody>
                    <a:bodyPr/>
                    <a:lstStyle/>
                    <a:p>
                      <a:pPr algn="ctr"/>
                      <a:r>
                        <a:rPr sz="800" b="0" i="0">
                          <a:solidFill>
                            <a:srgbClr val="0D0D0D"/>
                          </a:solidFill>
                          <a:latin typeface="Calibri"/>
                        </a:rPr>
                        <a:t>75,0 %</a:t>
                      </a:r>
                    </a:p>
                  </a:txBody>
                  <a:tcPr>
                    <a:solidFill>
                      <a:srgbClr val="FFFFFF"/>
                    </a:solidFill>
                  </a:tcPr>
                </a:tc>
                <a:tc>
                  <a:txBody>
                    <a:bodyPr/>
                    <a:lstStyle/>
                    <a:p>
                      <a:pPr algn="ctr"/>
                      <a:r>
                        <a:rPr sz="800" b="0" i="0">
                          <a:solidFill>
                            <a:srgbClr val="0D0D0D"/>
                          </a:solidFill>
                          <a:latin typeface="Calibri"/>
                        </a:rPr>
                        <a:t>65,0 %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21,5x</a:t>
                      </a:r>
                    </a:p>
                  </a:txBody>
                  <a:tcPr>
                    <a:solidFill>
                      <a:srgbClr val="F7F8FA"/>
                    </a:solidFill>
                  </a:tcPr>
                </a:tc>
                <a:tc>
                  <a:txBody>
                    <a:bodyPr/>
                    <a:lstStyle/>
                    <a:p>
                      <a:pPr algn="ctr"/>
                      <a:r>
                        <a:rPr sz="800" b="1" i="0">
                          <a:solidFill>
                            <a:srgbClr val="0D0D0D"/>
                          </a:solidFill>
                          <a:latin typeface="Calibri"/>
                        </a:rPr>
                        <a:t>10,5x</a:t>
                      </a:r>
                    </a:p>
                  </a:txBody>
                  <a:tcPr>
                    <a:solidFill>
                      <a:srgbClr val="F7F8FA"/>
                    </a:solidFill>
                  </a:tcPr>
                </a:tc>
                <a:tc>
                  <a:txBody>
                    <a:bodyPr/>
                    <a:lstStyle/>
                    <a:p>
                      <a:pPr algn="ctr"/>
                      <a:r>
                        <a:rPr sz="800" b="1" i="0">
                          <a:solidFill>
                            <a:srgbClr val="0D0D0D"/>
                          </a:solidFill>
                          <a:latin typeface="Calibri"/>
                        </a:rPr>
                        <a:t>32,0x</a:t>
                      </a:r>
                    </a:p>
                  </a:txBody>
                  <a:tcPr>
                    <a:solidFill>
                      <a:srgbClr val="F7F8FA"/>
                    </a:solidFill>
                  </a:tcPr>
                </a:tc>
                <a:tc>
                  <a:txBody>
                    <a:bodyPr/>
                    <a:lstStyle/>
                    <a:p>
                      <a:pPr algn="ctr"/>
                      <a:r>
                        <a:rPr sz="800" b="1" i="0">
                          <a:solidFill>
                            <a:srgbClr val="0D0D0D"/>
                          </a:solidFill>
                          <a:latin typeface="Calibri"/>
                        </a:rPr>
                        <a:t>68,0 %</a:t>
                      </a:r>
                    </a:p>
                  </a:txBody>
                  <a:tcPr>
                    <a:solidFill>
                      <a:srgbClr val="F7F8FA"/>
                    </a:solidFill>
                  </a:tcPr>
                </a:tc>
                <a:tc>
                  <a:txBody>
                    <a:bodyPr/>
                    <a:lstStyle/>
                    <a:p>
                      <a:pPr algn="ctr"/>
                      <a:r>
                        <a:rPr sz="800" b="1" i="0">
                          <a:solidFill>
                            <a:srgbClr val="0D0D0D"/>
                          </a:solidFill>
                          <a:latin typeface="Calibri"/>
                        </a:rPr>
                        <a:t>52,0 %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affiche un P/E de 34.0x vs médiane peers à 28.5x (+19%), justifié par une croissance organique supérieure et une rentabilité exceptionnelle. La décote sur EV/EBITDA (26.7x vs 22.1x médiane) reflète la qualité des actifs mais limite le potentiel de rerating. Une convergence vers la médiane peers offrirait un upside de 15-20%.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WACC de 10.3% et TGR de 3.0% impliquent un prix implicite DCF de 275 USD, soit un upside de 6.8% vs cours actuel. La prime actuelle reflète une croissance déjà anticipée, mais un catalyseur comme l'adoption massive de l'IA sur iPhone pourrait débloquer la valeur.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Marges en érosion</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L'écosystème fermé d'Apple montre des signes d'essoufflement avec une baisse de 12% des ventes d'iPhone en Chine au T1 2025 selon Counterpoint Research, marché clé représentant 20% du CA global. Les marges brutes de 46,9% reposent sur des prix élevés, mais la concurrence des smartphones Android à moins de 500$ en Inde et en Asie mine ce pouvoir de fixation. Les mises à jour logicielles coûteuses</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Dépendance Chine</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Le pricing power d'Apple est surévalué : les coûts de production des puces M3 augmentent de 18% en 2024 (Bloomberg), érodant les marges nettes déjà sous pression à 26,9%. Les marges de l'iPhone ont chuté de 5 points depuis 2022 (UBS), tandis que les coûts logistiques explosent avec les tensions géopolitiques en Asie. Les réductions de prix en Europe (-15% sur certains modèles) trahissent une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Trésorerie inefficace</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La trésorerie record de 166 milliards de dollars (2025) est un piège : 94% est bloquée hors des États-Unis, soumise à une imposition minimale de 15,5% en 2026 (Tax Cuts and Jobs Act). Les rachats d'actions (75 milliards prévus en 2025) masquent l'absence de projets d'investissement productifs, avec un ROE en baisse de 22% depuis 2022 (FactSet). Le ratio NetDebt/EBITDA à 0,43x masque une dette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avec baisse du PIB de -2%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Concurrence accrue en IA avec perte de parts de marché de 10%</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Amende antitrust de 50 milliards USD aux États-Unis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49/100  Vigilance</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42/100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Correcte (0.99x)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Modérée (21%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Soutenable (1.2x)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+0,099</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42,0 %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10</a:t>
                      </a:r>
                    </a:p>
                  </a:txBody>
                  <a:tcPr>
                    <a:solidFill>
                      <a:srgbClr val="EAF4EF"/>
                    </a:solidFill>
                  </a:tcPr>
                </a:tc>
                <a:tc>
                  <a:txBody>
                    <a:bodyPr/>
                    <a:lstStyle/>
                    <a:p>
                      <a:pPr algn="ctr"/>
                      <a:r>
                        <a:rPr sz="800" b="0" i="0">
                          <a:solidFill>
                            <a:srgbClr val="0D0D0D"/>
                          </a:solidFill>
                          <a:latin typeface="Calibri"/>
                        </a:rPr>
                        <a:t>+0,339</a:t>
                      </a:r>
                    </a:p>
                  </a:txBody>
                  <a:tcPr>
                    <a:solidFill>
                      <a:srgbClr val="EAF4EF"/>
                    </a:solidFill>
                  </a:tcPr>
                </a:tc>
                <a:tc>
                  <a:txBody>
                    <a:bodyPr/>
                    <a:lstStyle/>
                    <a:p>
                      <a:pPr algn="ctr"/>
                      <a:r>
                        <a:rPr sz="800" b="0" i="0">
                          <a:solidFill>
                            <a:srgbClr val="0D0D0D"/>
                          </a:solidFill>
                          <a:latin typeface="Calibri"/>
                        </a:rPr>
                        <a:t>Adoption de l'IA sur iPhone en 2026 avec +10% de prix moyen et +8% de volume | Expansion des services à 200 milliards USD d'ici 2027 avec marge EBITDA &gt;75% | Rachat d'actions de 100 milliards USD en 2025 soutenant le cours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14</a:t>
                      </a:r>
                    </a:p>
                  </a:txBody>
                  <a:tcPr>
                    <a:solidFill>
                      <a:srgbClr val="FFFFFF"/>
                    </a:solidFill>
                  </a:tcPr>
                </a:tc>
                <a:tc>
                  <a:txBody>
                    <a:bodyPr/>
                    <a:lstStyle/>
                    <a:p>
                      <a:pPr algn="ctr"/>
                      <a:r>
                        <a:rPr sz="800" b="0" i="0">
                          <a:solidFill>
                            <a:srgbClr val="0D0D0D"/>
                          </a:solidFill>
                          <a:latin typeface="Calibri"/>
                        </a:rPr>
                        <a:t>+0,420</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6</a:t>
                      </a:r>
                    </a:p>
                  </a:txBody>
                  <a:tcPr>
                    <a:solidFill>
                      <a:srgbClr val="FAF0EF"/>
                    </a:solidFill>
                  </a:tcPr>
                </a:tc>
                <a:tc>
                  <a:txBody>
                    <a:bodyPr/>
                    <a:lstStyle/>
                    <a:p>
                      <a:pPr algn="ctr"/>
                      <a:r>
                        <a:rPr sz="800" b="0" i="0">
                          <a:solidFill>
                            <a:srgbClr val="0D0D0D"/>
                          </a:solidFill>
                          <a:latin typeface="Calibri"/>
                        </a:rPr>
                        <a:t>+0,241</a:t>
                      </a:r>
                    </a:p>
                  </a:txBody>
                  <a:tcPr>
                    <a:solidFill>
                      <a:srgbClr val="FAF0EF"/>
                    </a:solidFill>
                  </a:tcPr>
                </a:tc>
                <a:tc>
                  <a:txBody>
                    <a:bodyPr/>
                    <a:lstStyle/>
                    <a:p>
                      <a:pPr algn="ctr"/>
                      <a:r>
                        <a:rPr sz="800" b="0" i="0">
                          <a:solidFill>
                            <a:srgbClr val="0D0D0D"/>
                          </a:solidFill>
                          <a:latin typeface="Calibri"/>
                        </a:rPr>
                        <a:t>Régulation antitrust aux États-Unis/EU avec amende potentielle de 50 milliards USD | Concurrence accrue en IA avec perte de parts de marché de 5-8% | Ralentissement économique en Chine réduisant les ventes iPhone de 10%</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La presse financière souligne les performances exceptionnelles d’Apple avec des résultats records et des perspectives optimistes sur ses nouveaux produits. Cependant, les craintes liées à l’environnement macroéconomique et aux déclarations de Warren Buffett pèsent sur le sentiment général.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6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Prime de 20-25% vs mediane peers sur P/E malgré une croissance supérieure. La décote sur EV/Revenue reflète la qualité des actifs mais limite le potentiel de rerating.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6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259,22 $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+29,6 %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38" name="Rectangle 37"/>
          <p:cNvSpPr/>
          <p:nvPr/>
        </p:nvSpPr>
        <p:spPr>
          <a:xfrm>
            <a:off x="12933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0" name="Rectangle 39"/>
          <p:cNvSpPr/>
          <p:nvPr/>
        </p:nvSpPr>
        <p:spPr>
          <a:xfrm>
            <a:off x="19494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2" name="Rectangle 41"/>
          <p:cNvSpPr/>
          <p:nvPr/>
        </p:nvSpPr>
        <p:spPr>
          <a:xfrm>
            <a:off x="26055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4" name="Rectangle 43"/>
          <p:cNvSpPr/>
          <p:nvPr/>
        </p:nvSpPr>
        <p:spPr>
          <a:xfrm>
            <a:off x="32616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6" name="Rectangle 45"/>
          <p:cNvSpPr/>
          <p:nvPr/>
        </p:nvSpPr>
        <p:spPr>
          <a:xfrm>
            <a:off x="39177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48" name="Rectangle 47"/>
          <p:cNvSpPr/>
          <p:nvPr/>
        </p:nvSpPr>
        <p:spPr>
          <a:xfrm>
            <a:off x="45738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0" name="Rectangle 49"/>
          <p:cNvSpPr/>
          <p:nvPr/>
        </p:nvSpPr>
        <p:spPr>
          <a:xfrm>
            <a:off x="52299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2" name="Rectangle 51"/>
          <p:cNvSpPr/>
          <p:nvPr/>
        </p:nvSpPr>
        <p:spPr>
          <a:xfrm>
            <a:off x="58860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4" name="Rectangle 53"/>
          <p:cNvSpPr/>
          <p:nvPr/>
        </p:nvSpPr>
        <p:spPr>
          <a:xfrm>
            <a:off x="65421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6" name="Rectangle 55"/>
          <p:cNvSpPr/>
          <p:nvPr/>
        </p:nvSpPr>
        <p:spPr>
          <a:xfrm>
            <a:off x="7198200" y="2834096"/>
            <a:ext cx="498636" cy="1061103"/>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58" name="Rectangle 57"/>
          <p:cNvSpPr/>
          <p:nvPr/>
        </p:nvSpPr>
        <p:spPr>
          <a:xfrm>
            <a:off x="7854300" y="2734285"/>
            <a:ext cx="498636" cy="1160914"/>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maintient une résilience opérationnelle exceptionnelle avec des marges nettes à 26.9% et un ROE de 151.9%. La valorisation reste élevée mais justifiée par une croissance organique soutenue et une trésorerie abondante.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