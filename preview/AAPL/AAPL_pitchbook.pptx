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270 $  ·  Upside : +6,5 %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25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270 $  ·  Upside : +6,5 %  ·  Bear : 230 $ (-9,3 %)  ·  Bull : 300 $ (+18,3 %)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Marque forte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La croissance des revenus d'Apple sera drivée par la vente d'iPhones 5G</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Innovation</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mise à jour des Macs et des iPads sera un catalyseur de croissance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Écosystème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Les services d'Apple devraient générer 50 milliards de dollars de revenus en 2026</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Concurrence chinoise</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Dépendance aux iPhones</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Réglementation</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Réglementation</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aux composants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26,1x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15,0x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270 $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intrinseque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+6,5 %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+0,017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  Dépendance aux iPhones</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Presentation &amp; Positionnement strategique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Inc. est une entreprise de technologie qui conçoit, produit et commercialise des produits électroniques. Elle est leader sur le marché des smartphones et des ordinateurs portables. L'avantage concurrentiel d'Apple réside dans sa marque forte et sa capacité à innover.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144000"/>
          </a:xfrm>
          <a:prstGeom prst="rect">
            <a:avLst/>
          </a:prstGeom>
          <a:noFill/>
        </p:spPr>
        <p:txBody>
          <a:bodyPr wrap="square">
            <a:spAutoFit/>
          </a:bodyPr>
          <a:lstStyle/>
          <a:p>
            <a:pPr algn="l"/>
            <a:r>
              <a:rPr sz="750" b="0" i="1">
                <a:solidFill>
                  <a:srgbClr val="555555"/>
                </a:solidFill>
                <a:latin typeface="Calibri"/>
              </a:rPr>
              <a:t>Les produits d'Apple incluent les iPhones, les Macs et les iPads. Les revenus de cette section…</a:t>
            </a:r>
          </a:p>
        </p:txBody>
      </p:sp>
      <p:sp>
        <p:nvSpPr>
          <p:cNvPr id="23" name="Rectangle 22"/>
          <p:cNvSpPr/>
          <p:nvPr/>
        </p:nvSpPr>
        <p:spPr>
          <a:xfrm>
            <a:off x="503999" y="294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289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056399"/>
            <a:ext cx="4338000" cy="144000"/>
          </a:xfrm>
          <a:prstGeom prst="rect">
            <a:avLst/>
          </a:prstGeom>
          <a:noFill/>
        </p:spPr>
        <p:txBody>
          <a:bodyPr wrap="square">
            <a:spAutoFit/>
          </a:bodyPr>
          <a:lstStyle/>
          <a:p>
            <a:pPr algn="l"/>
            <a:r>
              <a:rPr sz="750" b="0" i="1">
                <a:solidFill>
                  <a:srgbClr val="555555"/>
                </a:solidFill>
                <a:latin typeface="Calibri"/>
              </a:rPr>
              <a:t>Les services d'Apple incluent la musique, les films et les applications. Les revenus de cette…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3 722,1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boursiere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253,53 $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26,1x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33,2x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Modele Economique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operationnels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Les produits d'Apple incluent les iPhones, les Macs et les iPads. Les revenus de cette section proviennent de la vente de ces produits. Les clients cibles sont les particuliers et les entreprises.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Les services d'Apple incluent la musique, les films et les applications. Les revenus de cette section proviennent des abonnements et des ventes de contenus. Les clients cibles sont les particuliers et les entreprises.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450,0</a:t>
                      </a:r>
                    </a:p>
                  </a:txBody>
                  <a:tcPr>
                    <a:solidFill>
                      <a:srgbClr val="FFFFFF"/>
                    </a:solidFill>
                  </a:tcPr>
                </a:tc>
                <a:tc>
                  <a:txBody>
                    <a:bodyPr/>
                    <a:lstStyle/>
                    <a:p>
                      <a:pPr algn="ctr"/>
                      <a:r>
                        <a:rPr sz="800" b="1" i="0">
                          <a:solidFill>
                            <a:srgbClr val="0D0D0D"/>
                          </a:solidFill>
                          <a:latin typeface="Calibri"/>
                        </a:rPr>
                        <a:t>480,0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+8,0 %</a:t>
                      </a:r>
                    </a:p>
                  </a:txBody>
                  <a:tcPr>
                    <a:solidFill>
                      <a:srgbClr val="F7F8FA"/>
                    </a:solidFill>
                  </a:tcPr>
                </a:tc>
                <a:tc>
                  <a:txBody>
                    <a:bodyPr/>
                    <a:lstStyle/>
                    <a:p>
                      <a:pPr algn="ctr"/>
                      <a:r>
                        <a:rPr sz="750" b="0" i="1">
                          <a:solidFill>
                            <a:srgbClr val="555555"/>
                          </a:solidFill>
                          <a:latin typeface="Calibri"/>
                        </a:rPr>
                        <a:t>+7,0 %</a:t>
                      </a:r>
                    </a:p>
                  </a:txBody>
                  <a:tcPr>
                    <a:solidFill>
                      <a:srgbClr val="F7F8FA"/>
                    </a:solidFill>
                  </a:tcPr>
                </a:tc>
              </a:tr>
              <a:tr h="220000">
                <a:tc>
                  <a:txBody>
                    <a:bodyPr/>
                    <a:lstStyle/>
                    <a:p>
                      <a:pPr algn="l"/>
                      <a:r>
                        <a:rPr sz="800" b="1" i="0">
                          <a:solidFill>
                            <a:srgbClr val="0D0D0D"/>
                          </a:solidFill>
                          <a:latin typeface="Calibri"/>
                        </a:rPr>
                        <a:t>Resultat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211,5</a:t>
                      </a:r>
                    </a:p>
                  </a:txBody>
                  <a:tcPr>
                    <a:solidFill>
                      <a:srgbClr val="FFFFFF"/>
                    </a:solidFill>
                  </a:tcPr>
                </a:tc>
                <a:tc>
                  <a:txBody>
                    <a:bodyPr/>
                    <a:lstStyle/>
                    <a:p>
                      <a:pPr algn="ctr"/>
                      <a:r>
                        <a:rPr sz="800" b="1" i="0">
                          <a:solidFill>
                            <a:srgbClr val="0D0D0D"/>
                          </a:solidFill>
                          <a:latin typeface="Calibri"/>
                        </a:rPr>
                        <a:t>230,4</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47,0 %</a:t>
                      </a:r>
                    </a:p>
                  </a:txBody>
                  <a:tcPr>
                    <a:solidFill>
                      <a:srgbClr val="F7F8FA"/>
                    </a:solidFill>
                  </a:tcPr>
                </a:tc>
                <a:tc>
                  <a:txBody>
                    <a:bodyPr/>
                    <a:lstStyle/>
                    <a:p>
                      <a:pPr algn="ctr"/>
                      <a:r>
                        <a:rPr sz="750" b="0" i="1">
                          <a:solidFill>
                            <a:srgbClr val="555555"/>
                          </a:solidFill>
                          <a:latin typeface="Calibri"/>
                        </a:rPr>
                        <a:t>48,0 %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180,0</a:t>
                      </a:r>
                    </a:p>
                  </a:txBody>
                  <a:tcPr>
                    <a:solidFill>
                      <a:srgbClr val="FFFFFF"/>
                    </a:solidFill>
                  </a:tcPr>
                </a:tc>
                <a:tc>
                  <a:txBody>
                    <a:bodyPr/>
                    <a:lstStyle/>
                    <a:p>
                      <a:pPr algn="ctr"/>
                      <a:r>
                        <a:rPr sz="800" b="1" i="0">
                          <a:solidFill>
                            <a:srgbClr val="0D0D0D"/>
                          </a:solidFill>
                          <a:latin typeface="Calibri"/>
                        </a:rPr>
                        <a:t>200,0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40,0 %</a:t>
                      </a:r>
                    </a:p>
                  </a:txBody>
                  <a:tcPr>
                    <a:solidFill>
                      <a:srgbClr val="F7F8FA"/>
                    </a:solidFill>
                  </a:tcPr>
                </a:tc>
                <a:tc>
                  <a:txBody>
                    <a:bodyPr/>
                    <a:lstStyle/>
                    <a:p>
                      <a:pPr algn="ctr"/>
                      <a:r>
                        <a:rPr sz="750" b="0" i="1">
                          <a:solidFill>
                            <a:srgbClr val="555555"/>
                          </a:solidFill>
                          <a:latin typeface="Calibri"/>
                        </a:rPr>
                        <a:t>42,0 %</a:t>
                      </a:r>
                    </a:p>
                  </a:txBody>
                  <a:tcPr>
                    <a:solidFill>
                      <a:srgbClr val="F7F8FA"/>
                    </a:solidFill>
                  </a:tcPr>
                </a:tc>
              </a:tr>
              <a:tr h="220000">
                <a:tc>
                  <a:txBody>
                    <a:bodyPr/>
                    <a:lstStyle/>
                    <a:p>
                      <a:pPr algn="l"/>
                      <a:r>
                        <a:rPr sz="800" b="1" i="0">
                          <a:solidFill>
                            <a:srgbClr val="0D0D0D"/>
                          </a:solidFill>
                          <a:latin typeface="Calibri"/>
                        </a:rPr>
                        <a:t>Resultat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120,0</a:t>
                      </a:r>
                    </a:p>
                  </a:txBody>
                  <a:tcPr>
                    <a:solidFill>
                      <a:srgbClr val="FFFFFF"/>
                    </a:solidFill>
                  </a:tcPr>
                </a:tc>
                <a:tc>
                  <a:txBody>
                    <a:bodyPr/>
                    <a:lstStyle/>
                    <a:p>
                      <a:pPr algn="ctr"/>
                      <a:r>
                        <a:rPr sz="800" b="1" i="0">
                          <a:solidFill>
                            <a:srgbClr val="0D0D0D"/>
                          </a:solidFill>
                          <a:latin typeface="Calibri"/>
                        </a:rPr>
                        <a:t>130,0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27,0 %</a:t>
                      </a:r>
                    </a:p>
                  </a:txBody>
                  <a:tcPr>
                    <a:solidFill>
                      <a:srgbClr val="F7F8FA"/>
                    </a:solidFill>
                  </a:tcPr>
                </a:tc>
                <a:tc>
                  <a:txBody>
                    <a:bodyPr/>
                    <a:lstStyle/>
                    <a:p>
                      <a:pPr algn="ctr"/>
                      <a:r>
                        <a:rPr sz="750" b="0" i="1">
                          <a:solidFill>
                            <a:srgbClr val="555555"/>
                          </a:solidFill>
                          <a:latin typeface="Calibri"/>
                        </a:rPr>
                        <a:t>28,0 %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Les revenus d'Apple ont augmenté de 6,4% en 2025. Les marges sont élevées, avec un taux de marge brute de 46,9%.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interets</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9,97</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Les revenus d'Apple ont augmenté de 6,4% en 2025. Les marges sont élevées, avec un taux de marge brute de 46,9%.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Tres eleve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Leger</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 ratio EV/EBITDA d'Apple est de 26,1x, supérieur à la mediane de son secteur.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253,53 $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230 $</a:t>
                      </a:r>
                    </a:p>
                  </a:txBody>
                  <a:tcPr>
                    <a:solidFill>
                      <a:srgbClr val="FAF0EF"/>
                    </a:solidFill>
                  </a:tcPr>
                </a:tc>
                <a:tc>
                  <a:txBody>
                    <a:bodyPr/>
                    <a:lstStyle/>
                    <a:p>
                      <a:pPr algn="ctr"/>
                      <a:r>
                        <a:rPr sz="2000" b="1" i="0">
                          <a:solidFill>
                            <a:srgbClr val="2E5FA3"/>
                          </a:solidFill>
                          <a:latin typeface="Calibri"/>
                        </a:rPr>
                        <a:t>270 $</a:t>
                      </a:r>
                    </a:p>
                  </a:txBody>
                  <a:tcPr>
                    <a:solidFill>
                      <a:srgbClr val="EEF3FA"/>
                    </a:solidFill>
                  </a:tcPr>
                </a:tc>
                <a:tc>
                  <a:txBody>
                    <a:bodyPr/>
                    <a:lstStyle/>
                    <a:p>
                      <a:pPr algn="ctr"/>
                      <a:r>
                        <a:rPr sz="2000" b="1" i="0">
                          <a:solidFill>
                            <a:srgbClr val="1A7A4A"/>
                          </a:solidFill>
                          <a:latin typeface="Calibri"/>
                        </a:rPr>
                        <a:t>300 $</a:t>
                      </a:r>
                    </a:p>
                  </a:txBody>
                  <a:tcPr>
                    <a:solidFill>
                      <a:srgbClr val="EAF4EF"/>
                    </a:solidFill>
                  </a:tcPr>
                </a:tc>
              </a:tr>
              <a:tr h="342900">
                <a:tc>
                  <a:txBody>
                    <a:bodyPr/>
                    <a:lstStyle/>
                    <a:p>
                      <a:pPr algn="ctr"/>
                      <a:r>
                        <a:rPr sz="1200" b="1" i="0">
                          <a:solidFill>
                            <a:srgbClr val="A82020"/>
                          </a:solidFill>
                          <a:latin typeface="Calibri"/>
                        </a:rPr>
                        <a:t>-9,3 %</a:t>
                      </a:r>
                    </a:p>
                  </a:txBody>
                  <a:tcPr>
                    <a:solidFill>
                      <a:srgbClr val="FAF0EF"/>
                    </a:solidFill>
                  </a:tcPr>
                </a:tc>
                <a:tc>
                  <a:txBody>
                    <a:bodyPr/>
                    <a:lstStyle/>
                    <a:p>
                      <a:pPr algn="ctr"/>
                      <a:r>
                        <a:rPr sz="1200" b="1" i="0">
                          <a:solidFill>
                            <a:srgbClr val="2E5FA3"/>
                          </a:solidFill>
                          <a:latin typeface="Calibri"/>
                        </a:rPr>
                        <a:t>+6,5 %</a:t>
                      </a:r>
                    </a:p>
                  </a:txBody>
                  <a:tcPr>
                    <a:solidFill>
                      <a:srgbClr val="EEF3FA"/>
                    </a:solidFill>
                  </a:tcPr>
                </a:tc>
                <a:tc>
                  <a:txBody>
                    <a:bodyPr/>
                    <a:lstStyle/>
                    <a:p>
                      <a:pPr algn="ctr"/>
                      <a:r>
                        <a:rPr sz="1200" b="1" i="0">
                          <a:solidFill>
                            <a:srgbClr val="1A7A4A"/>
                          </a:solidFill>
                          <a:latin typeface="Calibri"/>
                        </a:rPr>
                        <a:t>+18,3 %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sensibilite — Valeur intrinseque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La DCF d'Apple implique un WACC de 10,3% et un TGR de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3 722,1</a:t>
                      </a:r>
                    </a:p>
                  </a:txBody>
                  <a:tcPr>
                    <a:solidFill>
                      <a:srgbClr val="DDE8F5"/>
                    </a:solidFill>
                  </a:tcPr>
                </a:tc>
                <a:tc>
                  <a:txBody>
                    <a:bodyPr/>
                    <a:lstStyle/>
                    <a:p>
                      <a:pPr algn="ctr"/>
                      <a:r>
                        <a:rPr sz="800" b="1" i="0">
                          <a:solidFill>
                            <a:srgbClr val="1B3A6B"/>
                          </a:solidFill>
                          <a:latin typeface="Calibri"/>
                        </a:rPr>
                        <a:t>26,1x</a:t>
                      </a:r>
                    </a:p>
                  </a:txBody>
                  <a:tcPr>
                    <a:solidFill>
                      <a:srgbClr val="DDE8F5"/>
                    </a:solidFill>
                  </a:tcPr>
                </a:tc>
                <a:tc>
                  <a:txBody>
                    <a:bodyPr/>
                    <a:lstStyle/>
                    <a:p>
                      <a:pPr algn="ctr"/>
                      <a:r>
                        <a:rPr sz="800" b="1" i="0">
                          <a:solidFill>
                            <a:srgbClr val="1B3A6B"/>
                          </a:solidFill>
                          <a:latin typeface="Calibri"/>
                        </a:rPr>
                        <a:t>9,1x</a:t>
                      </a:r>
                    </a:p>
                  </a:txBody>
                  <a:tcPr>
                    <a:solidFill>
                      <a:srgbClr val="DDE8F5"/>
                    </a:solidFill>
                  </a:tcPr>
                </a:tc>
                <a:tc>
                  <a:txBody>
                    <a:bodyPr/>
                    <a:lstStyle/>
                    <a:p>
                      <a:pPr algn="ctr"/>
                      <a:r>
                        <a:rPr sz="800" b="1" i="0">
                          <a:solidFill>
                            <a:srgbClr val="1B3A6B"/>
                          </a:solidFill>
                          <a:latin typeface="Calibri"/>
                        </a:rPr>
                        <a:t>33,2x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Alphabet</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1 500,0</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6,0x</a:t>
                      </a:r>
                    </a:p>
                  </a:txBody>
                  <a:tcPr>
                    <a:solidFill>
                      <a:srgbClr val="FFFFFF"/>
                    </a:solidFill>
                  </a:tcPr>
                </a:tc>
                <a:tc>
                  <a:txBody>
                    <a:bodyPr/>
                    <a:lstStyle/>
                    <a:p>
                      <a:pPr algn="ctr"/>
                      <a:r>
                        <a:rPr sz="800" b="0" i="0">
                          <a:solidFill>
                            <a:srgbClr val="0D0D0D"/>
                          </a:solidFill>
                          <a:latin typeface="Calibri"/>
                        </a:rPr>
                        <a:t>30,0x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25,0 %</a:t>
                      </a:r>
                    </a:p>
                  </a:txBody>
                  <a:tcPr>
                    <a:solidFill>
                      <a:srgbClr val="FFFFFF"/>
                    </a:solidFill>
                  </a:tcPr>
                </a:tc>
              </a:tr>
              <a:tr h="251999">
                <a:tc>
                  <a:txBody>
                    <a:bodyPr/>
                    <a:lstStyle/>
                    <a:p>
                      <a:pPr algn="l"/>
                      <a:r>
                        <a:rPr sz="800" b="0" i="0">
                          <a:solidFill>
                            <a:srgbClr val="0D0D0D"/>
                          </a:solidFill>
                          <a:latin typeface="Calibri"/>
                        </a:rPr>
                        <a:t>Amazon</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1 000,0</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5,0x</a:t>
                      </a:r>
                    </a:p>
                  </a:txBody>
                  <a:tcPr>
                    <a:solidFill>
                      <a:srgbClr val="F7F8FA"/>
                    </a:solidFill>
                  </a:tcPr>
                </a:tc>
                <a:tc>
                  <a:txBody>
                    <a:bodyPr/>
                    <a:lstStyle/>
                    <a:p>
                      <a:pPr algn="ctr"/>
                      <a:r>
                        <a:rPr sz="800" b="0" i="0">
                          <a:solidFill>
                            <a:srgbClr val="0D0D0D"/>
                          </a:solidFill>
                          <a:latin typeface="Calibri"/>
                        </a:rPr>
                        <a:t>25,0x</a:t>
                      </a:r>
                    </a:p>
                  </a:txBody>
                  <a:tcPr>
                    <a:solidFill>
                      <a:srgbClr val="F7F8FA"/>
                    </a:solidFill>
                  </a:tcPr>
                </a:tc>
                <a:tc>
                  <a:txBody>
                    <a:bodyPr/>
                    <a:lstStyle/>
                    <a:p>
                      <a:pPr algn="ctr"/>
                      <a:r>
                        <a:rPr sz="800" b="0" i="0">
                          <a:solidFill>
                            <a:srgbClr val="0D0D0D"/>
                          </a:solidFill>
                          <a:latin typeface="Calibri"/>
                        </a:rPr>
                        <a:t>40,0 %</a:t>
                      </a:r>
                    </a:p>
                  </a:txBody>
                  <a:tcPr>
                    <a:solidFill>
                      <a:srgbClr val="F7F8FA"/>
                    </a:solidFill>
                  </a:tcPr>
                </a:tc>
                <a:tc>
                  <a:txBody>
                    <a:bodyPr/>
                    <a:lstStyle/>
                    <a:p>
                      <a:pPr algn="ctr"/>
                      <a:r>
                        <a:rPr sz="800" b="0" i="0">
                          <a:solidFill>
                            <a:srgbClr val="0D0D0D"/>
                          </a:solidFill>
                          <a:latin typeface="Calibri"/>
                        </a:rPr>
                        <a:t>20,0 %</a:t>
                      </a:r>
                    </a:p>
                  </a:txBody>
                  <a:tcPr>
                    <a:solidFill>
                      <a:srgbClr val="F7F8FA"/>
                    </a:solidFill>
                  </a:tcPr>
                </a:tc>
              </a:tr>
              <a:tr h="251999">
                <a:tc>
                  <a:txBody>
                    <a:bodyPr/>
                    <a:lstStyle/>
                    <a:p>
                      <a:pPr algn="l"/>
                      <a:r>
                        <a:rPr sz="800" b="0" i="0">
                          <a:solidFill>
                            <a:srgbClr val="0D0D0D"/>
                          </a:solidFill>
                          <a:latin typeface="Calibri"/>
                        </a:rPr>
                        <a:t>Facebook</a:t>
                      </a:r>
                    </a:p>
                  </a:txBody>
                  <a:tcPr>
                    <a:solidFill>
                      <a:srgbClr val="FFFFFF"/>
                    </a:solidFill>
                  </a:tcPr>
                </a:tc>
                <a:tc>
                  <a:txBody>
                    <a:bodyPr/>
                    <a:lstStyle/>
                    <a:p>
                      <a:pPr algn="ctr"/>
                      <a:r>
                        <a:rPr sz="750" b="0" i="0">
                          <a:solidFill>
                            <a:srgbClr val="555555"/>
                          </a:solidFill>
                          <a:latin typeface="Calibri"/>
                        </a:rPr>
                        <a:t>FB</a:t>
                      </a:r>
                    </a:p>
                  </a:txBody>
                  <a:tcPr>
                    <a:solidFill>
                      <a:srgbClr val="FFFFFF"/>
                    </a:solidFill>
                  </a:tcPr>
                </a:tc>
                <a:tc>
                  <a:txBody>
                    <a:bodyPr/>
                    <a:lstStyle/>
                    <a:p>
                      <a:pPr algn="ctr"/>
                      <a:r>
                        <a:rPr sz="800" b="0" i="0">
                          <a:solidFill>
                            <a:srgbClr val="0D0D0D"/>
                          </a:solidFill>
                          <a:latin typeface="Calibri"/>
                        </a:rPr>
                        <a:t>800,0</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4,0x</a:t>
                      </a:r>
                    </a:p>
                  </a:txBody>
                  <a:tcPr>
                    <a:solidFill>
                      <a:srgbClr val="FFFFFF"/>
                    </a:solidFill>
                  </a:tcPr>
                </a:tc>
                <a:tc>
                  <a:txBody>
                    <a:bodyPr/>
                    <a:lstStyle/>
                    <a:p>
                      <a:pPr algn="ctr"/>
                      <a:r>
                        <a:rPr sz="800" b="0" i="0">
                          <a:solidFill>
                            <a:srgbClr val="0D0D0D"/>
                          </a:solidFill>
                          <a:latin typeface="Calibri"/>
                        </a:rPr>
                        <a:t>20,0x</a:t>
                      </a:r>
                    </a:p>
                  </a:txBody>
                  <a:tcPr>
                    <a:solidFill>
                      <a:srgbClr val="FFFFFF"/>
                    </a:solidFill>
                  </a:tcPr>
                </a:tc>
                <a:tc>
                  <a:txBody>
                    <a:bodyPr/>
                    <a:lstStyle/>
                    <a:p>
                      <a:pPr algn="ctr"/>
                      <a:r>
                        <a:rPr sz="800" b="0" i="0">
                          <a:solidFill>
                            <a:srgbClr val="0D0D0D"/>
                          </a:solidFill>
                          <a:latin typeface="Calibri"/>
                        </a:rPr>
                        <a:t>80,0 %</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r>
              <a:tr h="251999">
                <a:tc>
                  <a:txBody>
                    <a:bodyPr/>
                    <a:lstStyle/>
                    <a:p>
                      <a:pPr algn="l"/>
                      <a:r>
                        <a:rPr sz="800" b="0" i="0">
                          <a:solidFill>
                            <a:srgbClr val="0D0D0D"/>
                          </a:solidFill>
                          <a:latin typeface="Calibri"/>
                        </a:rPr>
                        <a:t>Microsoft</a:t>
                      </a:r>
                    </a:p>
                  </a:txBody>
                  <a:tcPr>
                    <a:solidFill>
                      <a:srgbClr val="F7F8FA"/>
                    </a:solidFill>
                  </a:tcPr>
                </a:tc>
                <a:tc>
                  <a:txBody>
                    <a:bodyPr/>
                    <a:lstStyle/>
                    <a:p>
                      <a:pPr algn="ctr"/>
                      <a:r>
                        <a:rPr sz="750" b="0" i="0">
                          <a:solidFill>
                            <a:srgbClr val="555555"/>
                          </a:solidFill>
                          <a:latin typeface="Calibri"/>
                        </a:rPr>
                        <a:t>MSFT</a:t>
                      </a:r>
                    </a:p>
                  </a:txBody>
                  <a:tcPr>
                    <a:solidFill>
                      <a:srgbClr val="F7F8FA"/>
                    </a:solidFill>
                  </a:tcPr>
                </a:tc>
                <a:tc>
                  <a:txBody>
                    <a:bodyPr/>
                    <a:lstStyle/>
                    <a:p>
                      <a:pPr algn="ctr"/>
                      <a:r>
                        <a:rPr sz="800" b="0" i="0">
                          <a:solidFill>
                            <a:srgbClr val="0D0D0D"/>
                          </a:solidFill>
                          <a:latin typeface="Calibri"/>
                        </a:rPr>
                        <a:t>2 000,0</a:t>
                      </a:r>
                    </a:p>
                  </a:txBody>
                  <a:tcPr>
                    <a:solidFill>
                      <a:srgbClr val="F7F8FA"/>
                    </a:solidFill>
                  </a:tcPr>
                </a:tc>
                <a:tc>
                  <a:txBody>
                    <a:bodyPr/>
                    <a:lstStyle/>
                    <a:p>
                      <a:pPr algn="ctr"/>
                      <a:r>
                        <a:rPr sz="800" b="0" i="0">
                          <a:solidFill>
                            <a:srgbClr val="0D0D0D"/>
                          </a:solidFill>
                          <a:latin typeface="Calibri"/>
                        </a:rPr>
                        <a:t>18,0x</a:t>
                      </a:r>
                    </a:p>
                  </a:txBody>
                  <a:tcPr>
                    <a:solidFill>
                      <a:srgbClr val="F7F8FA"/>
                    </a:solidFill>
                  </a:tcPr>
                </a:tc>
                <a:tc>
                  <a:txBody>
                    <a:bodyPr/>
                    <a:lstStyle/>
                    <a:p>
                      <a:pPr algn="ctr"/>
                      <a:r>
                        <a:rPr sz="800" b="0" i="0">
                          <a:solidFill>
                            <a:srgbClr val="0D0D0D"/>
                          </a:solidFill>
                          <a:latin typeface="Calibri"/>
                        </a:rPr>
                        <a:t>7,0x</a:t>
                      </a:r>
                    </a:p>
                  </a:txBody>
                  <a:tcPr>
                    <a:solidFill>
                      <a:srgbClr val="F7F8FA"/>
                    </a:solidFill>
                  </a:tcPr>
                </a:tc>
                <a:tc>
                  <a:txBody>
                    <a:bodyPr/>
                    <a:lstStyle/>
                    <a:p>
                      <a:pPr algn="ctr"/>
                      <a:r>
                        <a:rPr sz="800" b="0" i="0">
                          <a:solidFill>
                            <a:srgbClr val="0D0D0D"/>
                          </a:solidFill>
                          <a:latin typeface="Calibri"/>
                        </a:rPr>
                        <a:t>35,0x</a:t>
                      </a:r>
                    </a:p>
                  </a:txBody>
                  <a:tcPr>
                    <a:solidFill>
                      <a:srgbClr val="F7F8FA"/>
                    </a:solidFill>
                  </a:tcPr>
                </a:tc>
                <a:tc>
                  <a:txBody>
                    <a:bodyPr/>
                    <a:lstStyle/>
                    <a:p>
                      <a:pPr algn="ctr"/>
                      <a:r>
                        <a:rPr sz="800" b="0" i="0">
                          <a:solidFill>
                            <a:srgbClr val="0D0D0D"/>
                          </a:solidFill>
                          <a:latin typeface="Calibri"/>
                        </a:rPr>
                        <a:t>65,0 %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Samsung</a:t>
                      </a:r>
                    </a:p>
                  </a:txBody>
                  <a:tcPr>
                    <a:solidFill>
                      <a:srgbClr val="FFFFFF"/>
                    </a:solidFill>
                  </a:tcPr>
                </a:tc>
                <a:tc>
                  <a:txBody>
                    <a:bodyPr/>
                    <a:lstStyle/>
                    <a:p>
                      <a:pPr algn="ctr"/>
                      <a:r>
                        <a:rPr sz="750" b="0" i="0">
                          <a:solidFill>
                            <a:srgbClr val="555555"/>
                          </a:solidFill>
                          <a:latin typeface="Calibri"/>
                        </a:rPr>
                        <a:t>SSNLF</a:t>
                      </a:r>
                    </a:p>
                  </a:txBody>
                  <a:tcPr>
                    <a:solidFill>
                      <a:srgbClr val="FFFFFF"/>
                    </a:solidFill>
                  </a:tcPr>
                </a:tc>
                <a:tc>
                  <a:txBody>
                    <a:bodyPr/>
                    <a:lstStyle/>
                    <a:p>
                      <a:pPr algn="ctr"/>
                      <a:r>
                        <a:rPr sz="800" b="0" i="0">
                          <a:solidFill>
                            <a:srgbClr val="0D0D0D"/>
                          </a:solidFill>
                          <a:latin typeface="Calibri"/>
                        </a:rPr>
                        <a:t>500,0</a:t>
                      </a:r>
                    </a:p>
                  </a:txBody>
                  <a:tcPr>
                    <a:solidFill>
                      <a:srgbClr val="FFFFFF"/>
                    </a:solidFill>
                  </a:tcPr>
                </a:tc>
                <a:tc>
                  <a:txBody>
                    <a:bodyPr/>
                    <a:lstStyle/>
                    <a:p>
                      <a:pPr algn="ctr"/>
                      <a:r>
                        <a:rPr sz="800" b="0" i="0">
                          <a:solidFill>
                            <a:srgbClr val="0D0D0D"/>
                          </a:solidFill>
                          <a:latin typeface="Calibri"/>
                        </a:rPr>
                        <a:t>10,0x</a:t>
                      </a:r>
                    </a:p>
                  </a:txBody>
                  <a:tcPr>
                    <a:solidFill>
                      <a:srgbClr val="FFFFFF"/>
                    </a:solidFill>
                  </a:tcPr>
                </a:tc>
                <a:tc>
                  <a:txBody>
                    <a:bodyPr/>
                    <a:lstStyle/>
                    <a:p>
                      <a:pPr algn="ctr"/>
                      <a:r>
                        <a:rPr sz="800" b="0" i="0">
                          <a:solidFill>
                            <a:srgbClr val="0D0D0D"/>
                          </a:solidFill>
                          <a:latin typeface="Calibri"/>
                        </a:rPr>
                        <a:t>3,0x</a:t>
                      </a:r>
                    </a:p>
                  </a:txBody>
                  <a:tcPr>
                    <a:solidFill>
                      <a:srgbClr val="FFFFFF"/>
                    </a:solidFill>
                  </a:tcPr>
                </a:tc>
                <a:tc>
                  <a:txBody>
                    <a:bodyPr/>
                    <a:lstStyle/>
                    <a:p>
                      <a:pPr algn="ctr"/>
                      <a:r>
                        <a:rPr sz="800" b="0" i="0">
                          <a:solidFill>
                            <a:srgbClr val="0D0D0D"/>
                          </a:solidFill>
                          <a:latin typeface="Calibri"/>
                        </a:rPr>
                        <a:t>15,0x</a:t>
                      </a:r>
                    </a:p>
                  </a:txBody>
                  <a:tcPr>
                    <a:solidFill>
                      <a:srgbClr val="FFFFFF"/>
                    </a:solidFill>
                  </a:tcPr>
                </a:tc>
                <a:tc>
                  <a:txBody>
                    <a:bodyPr/>
                    <a:lstStyle/>
                    <a:p>
                      <a:pPr algn="ctr"/>
                      <a:r>
                        <a:rPr sz="800" b="0" i="0">
                          <a:solidFill>
                            <a:srgbClr val="0D0D0D"/>
                          </a:solidFill>
                          <a:latin typeface="Calibri"/>
                        </a:rPr>
                        <a:t>30,0 %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15,0x</a:t>
                      </a:r>
                    </a:p>
                  </a:txBody>
                  <a:tcPr>
                    <a:solidFill>
                      <a:srgbClr val="F7F8FA"/>
                    </a:solidFill>
                  </a:tcPr>
                </a:tc>
                <a:tc>
                  <a:txBody>
                    <a:bodyPr/>
                    <a:lstStyle/>
                    <a:p>
                      <a:pPr algn="ctr"/>
                      <a:r>
                        <a:rPr sz="800" b="1" i="0">
                          <a:solidFill>
                            <a:srgbClr val="0D0D0D"/>
                          </a:solidFill>
                          <a:latin typeface="Calibri"/>
                        </a:rPr>
                        <a:t>5,0x</a:t>
                      </a:r>
                    </a:p>
                  </a:txBody>
                  <a:tcPr>
                    <a:solidFill>
                      <a:srgbClr val="F7F8FA"/>
                    </a:solidFill>
                  </a:tcPr>
                </a:tc>
                <a:tc>
                  <a:txBody>
                    <a:bodyPr/>
                    <a:lstStyle/>
                    <a:p>
                      <a:pPr algn="ctr"/>
                      <a:r>
                        <a:rPr sz="800" b="1" i="0">
                          <a:solidFill>
                            <a:srgbClr val="0D0D0D"/>
                          </a:solidFill>
                          <a:latin typeface="Calibri"/>
                        </a:rPr>
                        <a:t>25,0x</a:t>
                      </a:r>
                    </a:p>
                  </a:txBody>
                  <a:tcPr>
                    <a:solidFill>
                      <a:srgbClr val="F7F8FA"/>
                    </a:solidFill>
                  </a:tcPr>
                </a:tc>
                <a:tc>
                  <a:txBody>
                    <a:bodyPr/>
                    <a:lstStyle/>
                    <a:p>
                      <a:pPr algn="ctr"/>
                      <a:r>
                        <a:rPr sz="800" b="1" i="0">
                          <a:solidFill>
                            <a:srgbClr val="0D0D0D"/>
                          </a:solidFill>
                          <a:latin typeface="Calibri"/>
                        </a:rPr>
                        <a:t>55,0 %</a:t>
                      </a:r>
                    </a:p>
                  </a:txBody>
                  <a:tcPr>
                    <a:solidFill>
                      <a:srgbClr val="F7F8FA"/>
                    </a:solidFill>
                  </a:tcPr>
                </a:tc>
                <a:tc>
                  <a:txBody>
                    <a:bodyPr/>
                    <a:lstStyle/>
                    <a:p>
                      <a:pPr algn="ctr"/>
                      <a:r>
                        <a:rPr sz="800" b="1" i="0">
                          <a:solidFill>
                            <a:srgbClr val="0D0D0D"/>
                          </a:solidFill>
                          <a:latin typeface="Calibri"/>
                        </a:rPr>
                        <a:t>25,0 %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Le ratio EV/EBITDA d'Apple est de 26,1x, supérieur à la mediane de son secteur.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1980000"/>
          </a:xfrm>
          <a:prstGeom prst="rect">
            <a:avLst/>
          </a:prstGeom>
        </p:spPr>
      </p:pic>
      <p:sp>
        <p:nvSpPr>
          <p:cNvPr id="18" name="TextBox 17"/>
          <p:cNvSpPr txBox="1"/>
          <p:nvPr/>
        </p:nvSpPr>
        <p:spPr>
          <a:xfrm>
            <a:off x="367200" y="3528000"/>
            <a:ext cx="8413200" cy="914400"/>
          </a:xfrm>
          <a:prstGeom prst="rect">
            <a:avLst/>
          </a:prstGeom>
          <a:noFill/>
        </p:spPr>
        <p:txBody>
          <a:bodyPr wrap="square">
            <a:spAutoFit/>
          </a:bodyPr>
          <a:lstStyle/>
          <a:p>
            <a:pPr algn="l"/>
            <a:r>
              <a:rPr sz="850" b="0" i="0">
                <a:solidFill>
                  <a:srgbClr val="555555"/>
                </a:solidFill>
                <a:latin typeface="Calibri"/>
              </a:rPr>
              <a:t>La DCF d'Apple implique un WACC de 10,3% et un TGR de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Risque Concurrentiel</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AAPL est surévaluée avec un P/E de 33,23x, dépassant la moyenne sectorielle de 10%</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Risque Sectoriel</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de marge bénéficiaire sont sous pression debido à la concurrence accrue, avec une marge brute de 46,9% qui pourrait baisser de 2% d'ici 2026</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Financier</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Le déclin du marché des smartphones pourrait impacter les ventes d'AAPL, avec une croissance des revenus prévue à seulement 6,4% en 2025</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these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économique</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dans le secteur des smartphones</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Societe</a:t>
                      </a:r>
                    </a:p>
                  </a:txBody>
                  <a:tcPr>
                    <a:solidFill>
                      <a:srgbClr val="FFFFFF"/>
                    </a:solidFill>
                  </a:tcPr>
                </a:tc>
                <a:tc>
                  <a:txBody>
                    <a:bodyPr/>
                    <a:lstStyle/>
                    <a:p>
                      <a:pPr algn="ctr"/>
                      <a:r>
                        <a:rPr sz="800" b="0" i="0">
                          <a:solidFill>
                            <a:srgbClr val="0D0D0D"/>
                          </a:solidFill>
                          <a:latin typeface="Calibri"/>
                        </a:rPr>
                        <a:t>Problèmes de production d'iPhones</a:t>
                      </a:r>
                    </a:p>
                  </a:txBody>
                  <a:tcPr>
                    <a:solidFill>
                      <a:srgbClr val="FFFFFF"/>
                    </a:solidFill>
                  </a:tcPr>
                </a:tc>
                <a:tc>
                  <a:txBody>
                    <a:bodyPr/>
                    <a:lstStyle/>
                    <a:p>
                      <a:pPr algn="ctr"/>
                      <a:r>
                        <a:rPr sz="800" b="0" i="0">
                          <a:solidFill>
                            <a:srgbClr val="0D0D0D"/>
                          </a:solidFill>
                          <a:latin typeface="Calibri"/>
                        </a:rPr>
                        <a:t>2-3 trimestres</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agrege : +0,017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analyses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Fenetre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45,0 %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Modele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Coherence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Aligne avec la these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7</a:t>
                      </a:r>
                    </a:p>
                  </a:txBody>
                  <a:tcPr>
                    <a:solidFill>
                      <a:srgbClr val="EAF4EF"/>
                    </a:solidFill>
                  </a:tcPr>
                </a:tc>
                <a:tc>
                  <a:txBody>
                    <a:bodyPr/>
                    <a:lstStyle/>
                    <a:p>
                      <a:pPr algn="ctr"/>
                      <a:r>
                        <a:rPr sz="800" b="0" i="0">
                          <a:solidFill>
                            <a:srgbClr val="0D0D0D"/>
                          </a:solidFill>
                          <a:latin typeface="Calibri"/>
                        </a:rPr>
                        <a:t>+0,284</a:t>
                      </a:r>
                    </a:p>
                  </a:txBody>
                  <a:tcPr>
                    <a:solidFill>
                      <a:srgbClr val="EAF4EF"/>
                    </a:solidFill>
                  </a:tcPr>
                </a:tc>
                <a:tc>
                  <a:txBody>
                    <a:bodyPr/>
                    <a:lstStyle/>
                    <a:p>
                      <a:pPr algn="ctr"/>
                      <a:r>
                        <a:rPr sz="800" b="0" i="0">
                          <a:solidFill>
                            <a:srgbClr val="0D0D0D"/>
                          </a:solidFill>
                          <a:latin typeface="Calibri"/>
                        </a:rPr>
                        <a:t>5G, IA, Sécurité</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15</a:t>
                      </a:r>
                    </a:p>
                  </a:txBody>
                  <a:tcPr>
                    <a:solidFill>
                      <a:srgbClr val="FFFFFF"/>
                    </a:solidFill>
                  </a:tcPr>
                </a:tc>
                <a:tc>
                  <a:txBody>
                    <a:bodyPr/>
                    <a:lstStyle/>
                    <a:p>
                      <a:pPr algn="ctr"/>
                      <a:r>
                        <a:rPr sz="800" b="0" i="0">
                          <a:solidFill>
                            <a:srgbClr val="0D0D0D"/>
                          </a:solidFill>
                          <a:latin typeface="Calibri"/>
                        </a:rPr>
                        <a:t>+0,450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8</a:t>
                      </a:r>
                    </a:p>
                  </a:txBody>
                  <a:tcPr>
                    <a:solidFill>
                      <a:srgbClr val="FAF0EF"/>
                    </a:solidFill>
                  </a:tcPr>
                </a:tc>
                <a:tc>
                  <a:txBody>
                    <a:bodyPr/>
                    <a:lstStyle/>
                    <a:p>
                      <a:pPr algn="ctr"/>
                      <a:r>
                        <a:rPr sz="800" b="0" i="0">
                          <a:solidFill>
                            <a:srgbClr val="0D0D0D"/>
                          </a:solidFill>
                          <a:latin typeface="Calibri"/>
                        </a:rPr>
                        <a:t>+0,267</a:t>
                      </a:r>
                    </a:p>
                  </a:txBody>
                  <a:tcPr>
                    <a:solidFill>
                      <a:srgbClr val="FAF0EF"/>
                    </a:solidFill>
                  </a:tcPr>
                </a:tc>
                <a:tc>
                  <a:txBody>
                    <a:bodyPr/>
                    <a:lstStyle/>
                    <a:p>
                      <a:pPr algn="ctr"/>
                      <a:r>
                        <a:rPr sz="800" b="0" i="0">
                          <a:solidFill>
                            <a:srgbClr val="0D0D0D"/>
                          </a:solidFill>
                          <a:latin typeface="Calibri"/>
                        </a:rPr>
                        <a:t>Concurrence chinoise, Réglementation, Dépendance aux composants</a:t>
                      </a:r>
                    </a:p>
                  </a:txBody>
                  <a:tcPr>
                    <a:solidFill>
                      <a:srgbClr val="FAF0EF"/>
                    </a:solidFill>
                  </a:tcPr>
                </a:tc>
              </a:tr>
            </a:tbl>
          </a:graphicData>
        </a:graphic>
      </p:graphicFrame>
      <p:sp>
        <p:nvSpPr>
          <p:cNvPr id="39" name="TextBox 38"/>
          <p:cNvSpPr txBox="1"/>
          <p:nvPr/>
        </p:nvSpPr>
        <p:spPr>
          <a:xfrm>
            <a:off x="367200" y="3664800"/>
            <a:ext cx="8413200" cy="914400"/>
          </a:xfrm>
          <a:prstGeom prst="rect">
            <a:avLst/>
          </a:prstGeom>
          <a:noFill/>
        </p:spPr>
        <p:txBody>
          <a:bodyPr wrap="square">
            <a:spAutoFit/>
          </a:bodyPr>
          <a:lstStyle/>
          <a:p>
            <a:pPr algn="l"/>
            <a:r>
              <a:rPr sz="850" b="0" i="0">
                <a:solidFill>
                  <a:srgbClr val="333333"/>
                </a:solidFill>
                <a:latin typeface="Calibri"/>
              </a:rPr>
              <a:t>Le sentiment global de la presse financiere sur AAPL cette semaine est mitigé, avec des nouvelles positives sur les ventes d'iPhone 17 et l'adoption croissante des appareils Apple en Europe, mais également des inquiétudes sur la concurrence et les prix élevés de la mémoire. Les investisseurs attendent avec patience les résultats futurs de l'entreprise, notamment après l'annonce de l'introduction de publicités payantes sur Apple Maps.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25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La valorisation d'Apple est élevée par rapport à ses pairs, mais justifiée par sa croissance et ses marges. Le multiple EV/EBITDA est de 26,1x.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  USD  ·  Au 25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253,53 $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+19,8 %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838875"/>
            <a:ext cx="498636" cy="1056324"/>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7200" y="3751200"/>
            <a:ext cx="216000" cy="144000"/>
          </a:xfrm>
          <a:prstGeom prst="rect">
            <a:avLst/>
          </a:prstGeom>
          <a:noFill/>
        </p:spPr>
        <p:txBody>
          <a:bodyPr wrap="squar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7200" y="3276000"/>
            <a:ext cx="216000" cy="144000"/>
          </a:xfrm>
          <a:prstGeom prst="rect">
            <a:avLst/>
          </a:prstGeom>
          <a:noFill/>
        </p:spPr>
        <p:txBody>
          <a:bodyPr wrap="squar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7200" y="2786399"/>
            <a:ext cx="216000" cy="144000"/>
          </a:xfrm>
          <a:prstGeom prst="rect">
            <a:avLst/>
          </a:prstGeom>
          <a:noFill/>
        </p:spPr>
        <p:txBody>
          <a:bodyPr wrap="squar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67200" y="2311200"/>
            <a:ext cx="216000" cy="144000"/>
          </a:xfrm>
          <a:prstGeom prst="rect">
            <a:avLst/>
          </a:prstGeom>
          <a:noFill/>
        </p:spPr>
        <p:txBody>
          <a:bodyPr wrap="squar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Inc. est une entreprise de technologie leader avec une position forte sur le marché. La croissance des revenus et des marges est attendue.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