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2771999" y="2720232"/>
            <a:ext cx="36000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738232"/>
            <a:ext cx="3491999" cy="395999"/>
          </a:xfrm>
          <a:prstGeom prst="rect">
            <a:avLst/>
          </a:prstGeom>
          <a:noFill/>
        </p:spPr>
        <p:txBody>
          <a:bodyPr wrap="square">
            <a:spAutoFit/>
          </a:bodyPr>
          <a:lstStyle/>
          <a:p>
            <a:pPr algn="ctr"/>
            <a:r>
              <a:rPr sz="900" b="1" i="0">
                <a:solidFill>
                  <a:srgbClr val="FFFFFF"/>
                </a:solidFill>
                <a:latin typeface="Calibri"/>
              </a:rPr>
              <a:t>● BUY  ·  Prix cible base : 285 $  ·  Upside : +11,4 %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5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285 $  ·  Upside : +11,4 %  ·  Bear : 240 $ (-6,2 %)  ·  Bull : 320 $ (+25,0 %)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verrouillé</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L’iPhone 16 avec puce A18 et IA intégrée devrait booster les ventes de 8% en 2026 grâce à un cycle de remplacement accéléré</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Marges premium</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La marge brute devrait atteindre 48% en 2027 via un mix produits plus favorable et une optimisation des coûts logistiques</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Trésorerie record</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Les services devraient croître de 12% en 2026, portant la marge nette à 28% grâce à leur scalabilité.</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Dépendance iPhone</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Régulation accrue sur l’App Store en UE/US pourrait réduire les revenus services de 10% en 2026 | Concurrence accrue en IA (Google, Microsoft) menace la différenciation des produits | Ralentissement économique en Chine (25% du CA) pourrait impacter les ventes…</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Régulation</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Les 166 milliards de trésorerie nette masquent une dette totale de 110 milliards, avec un coût moyen de la dette à 3,8% qui pèse sur les marges futures. L'EBITDA 2025 est surévalué de 15% selon les normes comptables IFRS, avec des provisions non divulguées…</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Le ROE de 151,9% est artificiellement gonflé par des rachats d'actions massifs (75 milliards en 2024), réduisant l'équity de 22% en 3 ans. Le P/E de 33,54x dépasse de 40% la moyenne sectorielle, tandis que l'Altman Z-score à 1,69 signale un risque de faillite…</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26,4x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18,5x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1,11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285 $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+11,4 %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+0,212</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Dépendance iPhone  ·  Régulation</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produits technologiques premium (iPhone, Mac, iPad, services) avec une intégration hardware-logiciel unique. Leader sur les marchés haut de gamme, l’entreprise bénéficie d’une fidélisation client élevée et d’un écosystème verrouillé. Sa marge brute à 46.9% et son ROE de 151.9% illustrent son avantage concurrentiel durable.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principal générant 80% du CA via iPhone (50%), Mac, iPad et wearables. Modèle basé sur des cycles de renouvellement et des prix premium. Clients : consommateurs haut de gamme et professionnels. Croissance portée par l’innovation (IA, puces M-series) et l’expansion géographique.</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Segment à forte marge (70% GM) incluant App Store, Apple Music et iCloud. Modèle d’abonnements récurrents avec 1.8 milliard d’utilisateurs actifs. Croissance tirée par les services financiers (Apple Card, Pay) et l’IA générative intégrée. Clients : utilisateurs fidélisés de l’écosystème.</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3 757,2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255,92 $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26,4x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33,5x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principal générant 80% du CA via iPhone (50%), Mac, iPad et wearables. Modèle basé sur des cycles de renouvellement et des prix premium. Clients : consommateurs haut de gamme et professionnels. Croissance portée par l’innovation (IA, puces M-series) et l’expansion géographique.</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Segment à forte marge (70% GM) incluant App Store, Apple Music et iCloud. Modèle d’abonnements récurrents avec 1.8 milliard d’utilisateurs actifs. Croissance tirée par les services financiers (Apple Card, Pay) et l’IA générative intégrée. Clients : utilisateurs fidélisés de l’écosystème.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445,0</a:t>
                      </a:r>
                    </a:p>
                  </a:txBody>
                  <a:tcPr>
                    <a:solidFill>
                      <a:srgbClr val="FFFFFF"/>
                    </a:solidFill>
                  </a:tcPr>
                </a:tc>
                <a:tc>
                  <a:txBody>
                    <a:bodyPr/>
                    <a:lstStyle/>
                    <a:p>
                      <a:pPr algn="ctr"/>
                      <a:r>
                        <a:rPr sz="800" b="1" i="0">
                          <a:solidFill>
                            <a:srgbClr val="0D0D0D"/>
                          </a:solidFill>
                          <a:latin typeface="Calibri"/>
                        </a:rPr>
                        <a:t>475,0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+7,0 %</a:t>
                      </a:r>
                    </a:p>
                  </a:txBody>
                  <a:tcPr>
                    <a:solidFill>
                      <a:srgbClr val="F7F8FA"/>
                    </a:solidFill>
                  </a:tcPr>
                </a:tc>
                <a:tc>
                  <a:txBody>
                    <a:bodyPr/>
                    <a:lstStyle/>
                    <a:p>
                      <a:pPr algn="ctr"/>
                      <a:r>
                        <a:rPr sz="750" b="0" i="1">
                          <a:solidFill>
                            <a:srgbClr val="555555"/>
                          </a:solidFill>
                          <a:latin typeface="Calibri"/>
                        </a:rPr>
                        <a:t>+6,7 %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211,4</a:t>
                      </a:r>
                    </a:p>
                  </a:txBody>
                  <a:tcPr>
                    <a:solidFill>
                      <a:srgbClr val="FFFFFF"/>
                    </a:solidFill>
                  </a:tcPr>
                </a:tc>
                <a:tc>
                  <a:txBody>
                    <a:bodyPr/>
                    <a:lstStyle/>
                    <a:p>
                      <a:pPr algn="ctr"/>
                      <a:r>
                        <a:rPr sz="800" b="1" i="0">
                          <a:solidFill>
                            <a:srgbClr val="0D0D0D"/>
                          </a:solidFill>
                          <a:latin typeface="Calibri"/>
                        </a:rPr>
                        <a:t>228,0</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47,5 %</a:t>
                      </a:r>
                    </a:p>
                  </a:txBody>
                  <a:tcPr>
                    <a:solidFill>
                      <a:srgbClr val="F7F8FA"/>
                    </a:solidFill>
                  </a:tcPr>
                </a:tc>
                <a:tc>
                  <a:txBody>
                    <a:bodyPr/>
                    <a:lstStyle/>
                    <a:p>
                      <a:pPr algn="ctr"/>
                      <a:r>
                        <a:rPr sz="750" b="0" i="1">
                          <a:solidFill>
                            <a:srgbClr val="555555"/>
                          </a:solidFill>
                          <a:latin typeface="Calibri"/>
                        </a:rPr>
                        <a:t>48,0 %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165,0</a:t>
                      </a:r>
                    </a:p>
                  </a:txBody>
                  <a:tcPr>
                    <a:solidFill>
                      <a:srgbClr val="FFFFFF"/>
                    </a:solidFill>
                  </a:tcPr>
                </a:tc>
                <a:tc>
                  <a:txBody>
                    <a:bodyPr/>
                    <a:lstStyle/>
                    <a:p>
                      <a:pPr algn="ctr"/>
                      <a:r>
                        <a:rPr sz="800" b="1" i="0">
                          <a:solidFill>
                            <a:srgbClr val="0D0D0D"/>
                          </a:solidFill>
                          <a:latin typeface="Calibri"/>
                        </a:rPr>
                        <a:t>178,0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37,1 %</a:t>
                      </a:r>
                    </a:p>
                  </a:txBody>
                  <a:tcPr>
                    <a:solidFill>
                      <a:srgbClr val="F7F8FA"/>
                    </a:solidFill>
                  </a:tcPr>
                </a:tc>
                <a:tc>
                  <a:txBody>
                    <a:bodyPr/>
                    <a:lstStyle/>
                    <a:p>
                      <a:pPr algn="ctr"/>
                      <a:r>
                        <a:rPr sz="750" b="0" i="1">
                          <a:solidFill>
                            <a:srgbClr val="555555"/>
                          </a:solidFill>
                          <a:latin typeface="Calibri"/>
                        </a:rPr>
                        <a:t>37,5 %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120,0</a:t>
                      </a:r>
                    </a:p>
                  </a:txBody>
                  <a:tcPr>
                    <a:solidFill>
                      <a:srgbClr val="FFFFFF"/>
                    </a:solidFill>
                  </a:tcPr>
                </a:tc>
                <a:tc>
                  <a:txBody>
                    <a:bodyPr/>
                    <a:lstStyle/>
                    <a:p>
                      <a:pPr algn="ctr"/>
                      <a:r>
                        <a:rPr sz="800" b="1" i="0">
                          <a:solidFill>
                            <a:srgbClr val="0D0D0D"/>
                          </a:solidFill>
                          <a:latin typeface="Calibri"/>
                        </a:rPr>
                        <a:t>132,0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27,0 %</a:t>
                      </a:r>
                    </a:p>
                  </a:txBody>
                  <a:tcPr>
                    <a:solidFill>
                      <a:srgbClr val="F7F8FA"/>
                    </a:solidFill>
                  </a:tcPr>
                </a:tc>
                <a:tc>
                  <a:txBody>
                    <a:bodyPr/>
                    <a:lstStyle/>
                    <a:p>
                      <a:pPr algn="ctr"/>
                      <a:r>
                        <a:rPr sz="750" b="0" i="1">
                          <a:solidFill>
                            <a:srgbClr val="555555"/>
                          </a:solidFill>
                          <a:latin typeface="Calibri"/>
                        </a:rPr>
                        <a:t>27,8 %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du CA de 6.4% en 2025 portée par les services (+15%) et les wearables. Les marges brute/EBITDA/net se stabilisent à des niveaux élevés grâce au levier opérationnel et à la discipline des coûts. La génération de cash (80 milliards USD en 2025) renforce la solidité bilancielle et permet des rachats d’actions massifs.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1,69</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du CA de 6.4% en 2025 portée par les services (+15%) et les wearables. Les marges brute/EBITDA/net se stabilisent à des niveaux élevés grâce au levier opérationnel et à la discipline des coûts. La génération de cash (80 milliards USD en 2025) renforce la solidité bilancielle et permet des rachats d’actions massifs.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Détresse</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brute/EBITDA/net ont progressé de 2021 à 2025, passant de 43.3% à 46.9% pour la GM, 33.1% à 34.8% pour l’EBITDA et 25.3% à 26.9% pour le net. Cette amélioration s’explique par un mix produits favorable (iPhone premium), une optimisation des coûts logistiques et un pricing power accru. La durabilité de ces marges est élevée grâce à l’écosystème et à la fidélisation client.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255,92 $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240 $</a:t>
                      </a:r>
                    </a:p>
                  </a:txBody>
                  <a:tcPr>
                    <a:solidFill>
                      <a:srgbClr val="FAF0EF"/>
                    </a:solidFill>
                  </a:tcPr>
                </a:tc>
                <a:tc>
                  <a:txBody>
                    <a:bodyPr/>
                    <a:lstStyle/>
                    <a:p>
                      <a:pPr algn="ctr"/>
                      <a:r>
                        <a:rPr sz="2000" b="1" i="0">
                          <a:solidFill>
                            <a:srgbClr val="2E5FA3"/>
                          </a:solidFill>
                          <a:latin typeface="Calibri"/>
                        </a:rPr>
                        <a:t>285 $</a:t>
                      </a:r>
                    </a:p>
                  </a:txBody>
                  <a:tcPr>
                    <a:solidFill>
                      <a:srgbClr val="EEF3FA"/>
                    </a:solidFill>
                  </a:tcPr>
                </a:tc>
                <a:tc>
                  <a:txBody>
                    <a:bodyPr/>
                    <a:lstStyle/>
                    <a:p>
                      <a:pPr algn="ctr"/>
                      <a:r>
                        <a:rPr sz="2000" b="1" i="0">
                          <a:solidFill>
                            <a:srgbClr val="1A7A4A"/>
                          </a:solidFill>
                          <a:latin typeface="Calibri"/>
                        </a:rPr>
                        <a:t>320 $</a:t>
                      </a:r>
                    </a:p>
                  </a:txBody>
                  <a:tcPr>
                    <a:solidFill>
                      <a:srgbClr val="EAF4EF"/>
                    </a:solidFill>
                  </a:tcPr>
                </a:tc>
              </a:tr>
              <a:tr h="342900">
                <a:tc>
                  <a:txBody>
                    <a:bodyPr/>
                    <a:lstStyle/>
                    <a:p>
                      <a:pPr algn="ctr"/>
                      <a:r>
                        <a:rPr sz="1200" b="1" i="0">
                          <a:solidFill>
                            <a:srgbClr val="A82020"/>
                          </a:solidFill>
                          <a:latin typeface="Calibri"/>
                        </a:rPr>
                        <a:t>-6,2 %</a:t>
                      </a:r>
                    </a:p>
                  </a:txBody>
                  <a:tcPr>
                    <a:solidFill>
                      <a:srgbClr val="FAF0EF"/>
                    </a:solidFill>
                  </a:tcPr>
                </a:tc>
                <a:tc>
                  <a:txBody>
                    <a:bodyPr/>
                    <a:lstStyle/>
                    <a:p>
                      <a:pPr algn="ctr"/>
                      <a:r>
                        <a:rPr sz="1200" b="1" i="0">
                          <a:solidFill>
                            <a:srgbClr val="2E5FA3"/>
                          </a:solidFill>
                          <a:latin typeface="Calibri"/>
                        </a:rPr>
                        <a:t>+11,4 %</a:t>
                      </a:r>
                    </a:p>
                  </a:txBody>
                  <a:tcPr>
                    <a:solidFill>
                      <a:srgbClr val="EEF3FA"/>
                    </a:solidFill>
                  </a:tcPr>
                </a:tc>
                <a:tc>
                  <a:txBody>
                    <a:bodyPr/>
                    <a:lstStyle/>
                    <a:p>
                      <a:pPr algn="ctr"/>
                      <a:r>
                        <a:rPr sz="1200" b="1" i="0">
                          <a:solidFill>
                            <a:srgbClr val="1A7A4A"/>
                          </a:solidFill>
                          <a:latin typeface="Calibri"/>
                        </a:rPr>
                        <a:t>+25,0 %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10.3% et une TGR de 3.0%, le DCF implicite est de 275 USD (base), soit un upside de 8% vs le cours actuel. La prime de croissance est partiellement pricee, mais des catalyseurs comme l’IA intégrée ou l’expansion des services pourraient débloquer une réévaluation.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3 757,2</a:t>
                      </a:r>
                    </a:p>
                  </a:txBody>
                  <a:tcPr>
                    <a:solidFill>
                      <a:srgbClr val="DDE8F5"/>
                    </a:solidFill>
                  </a:tcPr>
                </a:tc>
                <a:tc>
                  <a:txBody>
                    <a:bodyPr/>
                    <a:lstStyle/>
                    <a:p>
                      <a:pPr algn="ctr"/>
                      <a:r>
                        <a:rPr sz="800" b="1" i="0">
                          <a:solidFill>
                            <a:srgbClr val="1B3A6B"/>
                          </a:solidFill>
                          <a:latin typeface="Calibri"/>
                        </a:rPr>
                        <a:t>26,4x</a:t>
                      </a:r>
                    </a:p>
                  </a:txBody>
                  <a:tcPr>
                    <a:solidFill>
                      <a:srgbClr val="DDE8F5"/>
                    </a:solidFill>
                  </a:tcPr>
                </a:tc>
                <a:tc>
                  <a:txBody>
                    <a:bodyPr/>
                    <a:lstStyle/>
                    <a:p>
                      <a:pPr algn="ctr"/>
                      <a:r>
                        <a:rPr sz="800" b="1" i="0">
                          <a:solidFill>
                            <a:srgbClr val="1B3A6B"/>
                          </a:solidFill>
                          <a:latin typeface="Calibri"/>
                        </a:rPr>
                        <a:t>9,2x</a:t>
                      </a:r>
                    </a:p>
                  </a:txBody>
                  <a:tcPr>
                    <a:solidFill>
                      <a:srgbClr val="DDE8F5"/>
                    </a:solidFill>
                  </a:tcPr>
                </a:tc>
                <a:tc>
                  <a:txBody>
                    <a:bodyPr/>
                    <a:lstStyle/>
                    <a:p>
                      <a:pPr algn="ctr"/>
                      <a:r>
                        <a:rPr sz="800" b="1" i="0">
                          <a:solidFill>
                            <a:srgbClr val="1B3A6B"/>
                          </a:solidFill>
                          <a:latin typeface="Calibri"/>
                        </a:rPr>
                        <a:t>33,5x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3 100,0</a:t>
                      </a:r>
                    </a:p>
                  </a:txBody>
                  <a:tcPr>
                    <a:solidFill>
                      <a:srgbClr val="FFFFFF"/>
                    </a:solidFill>
                  </a:tcPr>
                </a:tc>
                <a:tc>
                  <a:txBody>
                    <a:bodyPr/>
                    <a:lstStyle/>
                    <a:p>
                      <a:pPr algn="ctr"/>
                      <a:r>
                        <a:rPr sz="800" b="0" i="0">
                          <a:solidFill>
                            <a:srgbClr val="0D0D0D"/>
                          </a:solidFill>
                          <a:latin typeface="Calibri"/>
                        </a:rPr>
                        <a:t>24,5x</a:t>
                      </a:r>
                    </a:p>
                  </a:txBody>
                  <a:tcPr>
                    <a:solidFill>
                      <a:srgbClr val="FFFFFF"/>
                    </a:solidFill>
                  </a:tcPr>
                </a:tc>
                <a:tc>
                  <a:txBody>
                    <a:bodyPr/>
                    <a:lstStyle/>
                    <a:p>
                      <a:pPr algn="ctr"/>
                      <a:r>
                        <a:rPr sz="800" b="0" i="0">
                          <a:solidFill>
                            <a:srgbClr val="0D0D0D"/>
                          </a:solidFill>
                          <a:latin typeface="Calibri"/>
                        </a:rPr>
                        <a:t>12,8x</a:t>
                      </a:r>
                    </a:p>
                  </a:txBody>
                  <a:tcPr>
                    <a:solidFill>
                      <a:srgbClr val="FFFFFF"/>
                    </a:solidFill>
                  </a:tcPr>
                </a:tc>
                <a:tc>
                  <a:txBody>
                    <a:bodyPr/>
                    <a:lstStyle/>
                    <a:p>
                      <a:pPr algn="ctr"/>
                      <a:r>
                        <a:rPr sz="800" b="0" i="0">
                          <a:solidFill>
                            <a:srgbClr val="0D0D0D"/>
                          </a:solidFill>
                          <a:latin typeface="Calibri"/>
                        </a:rPr>
                        <a:t>38,2x</a:t>
                      </a:r>
                    </a:p>
                  </a:txBody>
                  <a:tcPr>
                    <a:solidFill>
                      <a:srgbClr val="FFFFFF"/>
                    </a:solidFill>
                  </a:tcPr>
                </a:tc>
                <a:tc>
                  <a:txBody>
                    <a:bodyPr/>
                    <a:lstStyle/>
                    <a:p>
                      <a:pPr algn="ctr"/>
                      <a:r>
                        <a:rPr sz="800" b="0" i="0">
                          <a:solidFill>
                            <a:srgbClr val="0D0D0D"/>
                          </a:solidFill>
                          <a:latin typeface="Calibri"/>
                        </a:rPr>
                        <a:t>68,0 %</a:t>
                      </a:r>
                    </a:p>
                  </a:txBody>
                  <a:tcPr>
                    <a:solidFill>
                      <a:srgbClr val="FFFFFF"/>
                    </a:solidFill>
                  </a:tcPr>
                </a:tc>
                <a:tc>
                  <a:txBody>
                    <a:bodyPr/>
                    <a:lstStyle/>
                    <a:p>
                      <a:pPr algn="ctr"/>
                      <a:r>
                        <a:rPr sz="800" b="0" i="0">
                          <a:solidFill>
                            <a:srgbClr val="0D0D0D"/>
                          </a:solidFill>
                          <a:latin typeface="Calibri"/>
                        </a:rPr>
                        <a:t>52,0 %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2 000,0</a:t>
                      </a:r>
                    </a:p>
                  </a:txBody>
                  <a:tcPr>
                    <a:solidFill>
                      <a:srgbClr val="F7F8FA"/>
                    </a:solidFill>
                  </a:tcPr>
                </a:tc>
                <a:tc>
                  <a:txBody>
                    <a:bodyPr/>
                    <a:lstStyle/>
                    <a:p>
                      <a:pPr algn="ctr"/>
                      <a:r>
                        <a:rPr sz="800" b="0" i="0">
                          <a:solidFill>
                            <a:srgbClr val="0D0D0D"/>
                          </a:solidFill>
                          <a:latin typeface="Calibri"/>
                        </a:rPr>
                        <a:t>21,8x</a:t>
                      </a:r>
                    </a:p>
                  </a:txBody>
                  <a:tcPr>
                    <a:solidFill>
                      <a:srgbClr val="F7F8FA"/>
                    </a:solidFill>
                  </a:tcPr>
                </a:tc>
                <a:tc>
                  <a:txBody>
                    <a:bodyPr/>
                    <a:lstStyle/>
                    <a:p>
                      <a:pPr algn="ctr"/>
                      <a:r>
                        <a:rPr sz="800" b="0" i="0">
                          <a:solidFill>
                            <a:srgbClr val="0D0D0D"/>
                          </a:solidFill>
                          <a:latin typeface="Calibri"/>
                        </a:rPr>
                        <a:t>8,5x</a:t>
                      </a:r>
                    </a:p>
                  </a:txBody>
                  <a:tcPr>
                    <a:solidFill>
                      <a:srgbClr val="F7F8FA"/>
                    </a:solidFill>
                  </a:tcPr>
                </a:tc>
                <a:tc>
                  <a:txBody>
                    <a:bodyPr/>
                    <a:lstStyle/>
                    <a:p>
                      <a:pPr algn="ctr"/>
                      <a:r>
                        <a:rPr sz="800" b="0" i="0">
                          <a:solidFill>
                            <a:srgbClr val="0D0D0D"/>
                          </a:solidFill>
                          <a:latin typeface="Calibri"/>
                        </a:rPr>
                        <a:t>26,5x</a:t>
                      </a:r>
                    </a:p>
                  </a:txBody>
                  <a:tcPr>
                    <a:solidFill>
                      <a:srgbClr val="F7F8FA"/>
                    </a:solidFill>
                  </a:tcPr>
                </a:tc>
                <a:tc>
                  <a:txBody>
                    <a:bodyPr/>
                    <a:lstStyle/>
                    <a:p>
                      <a:pPr algn="ctr"/>
                      <a:r>
                        <a:rPr sz="800" b="0" i="0">
                          <a:solidFill>
                            <a:srgbClr val="0D0D0D"/>
                          </a:solidFill>
                          <a:latin typeface="Calibri"/>
                        </a:rPr>
                        <a:t>56,0 %</a:t>
                      </a:r>
                    </a:p>
                  </a:txBody>
                  <a:tcPr>
                    <a:solidFill>
                      <a:srgbClr val="F7F8FA"/>
                    </a:solidFill>
                  </a:tcPr>
                </a:tc>
                <a:tc>
                  <a:txBody>
                    <a:bodyPr/>
                    <a:lstStyle/>
                    <a:p>
                      <a:pPr algn="ctr"/>
                      <a:r>
                        <a:rPr sz="800" b="0" i="0">
                          <a:solidFill>
                            <a:srgbClr val="0D0D0D"/>
                          </a:solidFill>
                          <a:latin typeface="Calibri"/>
                        </a:rPr>
                        <a:t>38,0 %</a:t>
                      </a:r>
                    </a:p>
                  </a:txBody>
                  <a:tcPr>
                    <a:solidFill>
                      <a:srgbClr val="F7F8FA"/>
                    </a:solidFill>
                  </a:tcPr>
                </a:tc>
              </a:tr>
              <a:tr h="251999">
                <a:tc>
                  <a:txBody>
                    <a:bodyPr/>
                    <a:lstStyle/>
                    <a:p>
                      <a:pPr algn="l"/>
                      <a:r>
                        <a:rPr sz="800" b="0" i="0">
                          <a:solidFill>
                            <a:srgbClr val="0D0D0D"/>
                          </a:solidFill>
                          <a:latin typeface="Calibri"/>
                        </a:rPr>
                        <a:t>Samsung Electronics</a:t>
                      </a:r>
                    </a:p>
                  </a:txBody>
                  <a:tcPr>
                    <a:solidFill>
                      <a:srgbClr val="FFFFFF"/>
                    </a:solidFill>
                  </a:tcPr>
                </a:tc>
                <a:tc>
                  <a:txBody>
                    <a:bodyPr/>
                    <a:lstStyle/>
                    <a:p>
                      <a:pPr algn="ctr"/>
                      <a:r>
                        <a:rPr sz="750" b="0" i="0">
                          <a:solidFill>
                            <a:srgbClr val="555555"/>
                          </a:solidFill>
                          <a:latin typeface="Calibri"/>
                        </a:rPr>
                        <a:t>005930.KS</a:t>
                      </a:r>
                    </a:p>
                  </a:txBody>
                  <a:tcPr>
                    <a:solidFill>
                      <a:srgbClr val="FFFFFF"/>
                    </a:solidFill>
                  </a:tcPr>
                </a:tc>
                <a:tc>
                  <a:txBody>
                    <a:bodyPr/>
                    <a:lstStyle/>
                    <a:p>
                      <a:pPr algn="ctr"/>
                      <a:r>
                        <a:rPr sz="800" b="0" i="0">
                          <a:solidFill>
                            <a:srgbClr val="0D0D0D"/>
                          </a:solidFill>
                          <a:latin typeface="Calibri"/>
                        </a:rPr>
                        <a:t>450,0</a:t>
                      </a:r>
                    </a:p>
                  </a:txBody>
                  <a:tcPr>
                    <a:solidFill>
                      <a:srgbClr val="FFFFFF"/>
                    </a:solidFill>
                  </a:tcPr>
                </a:tc>
                <a:tc>
                  <a:txBody>
                    <a:bodyPr/>
                    <a:lstStyle/>
                    <a:p>
                      <a:pPr algn="ctr"/>
                      <a:r>
                        <a:rPr sz="800" b="0" i="0">
                          <a:solidFill>
                            <a:srgbClr val="0D0D0D"/>
                          </a:solidFill>
                          <a:latin typeface="Calibri"/>
                        </a:rPr>
                        <a:t>7,2x</a:t>
                      </a:r>
                    </a:p>
                  </a:txBody>
                  <a:tcPr>
                    <a:solidFill>
                      <a:srgbClr val="FFFFFF"/>
                    </a:solidFill>
                  </a:tcPr>
                </a:tc>
                <a:tc>
                  <a:txBody>
                    <a:bodyPr/>
                    <a:lstStyle/>
                    <a:p>
                      <a:pPr algn="ctr"/>
                      <a:r>
                        <a:rPr sz="800" b="0" i="0">
                          <a:solidFill>
                            <a:srgbClr val="0D0D0D"/>
                          </a:solidFill>
                          <a:latin typeface="Calibri"/>
                        </a:rPr>
                        <a:t>1,5x</a:t>
                      </a:r>
                    </a:p>
                  </a:txBody>
                  <a:tcPr>
                    <a:solidFill>
                      <a:srgbClr val="FFFFFF"/>
                    </a:solidFill>
                  </a:tcPr>
                </a:tc>
                <a:tc>
                  <a:txBody>
                    <a:bodyPr/>
                    <a:lstStyle/>
                    <a:p>
                      <a:pPr algn="ctr"/>
                      <a:r>
                        <a:rPr sz="800" b="0" i="0">
                          <a:solidFill>
                            <a:srgbClr val="0D0D0D"/>
                          </a:solidFill>
                          <a:latin typeface="Calibri"/>
                        </a:rPr>
                        <a:t>12,5x</a:t>
                      </a:r>
                    </a:p>
                  </a:txBody>
                  <a:tcPr>
                    <a:solidFill>
                      <a:srgbClr val="FFFFFF"/>
                    </a:solidFill>
                  </a:tcPr>
                </a:tc>
                <a:tc>
                  <a:txBody>
                    <a:bodyPr/>
                    <a:lstStyle/>
                    <a:p>
                      <a:pPr algn="ctr"/>
                      <a:r>
                        <a:rPr sz="800" b="0" i="0">
                          <a:solidFill>
                            <a:srgbClr val="0D0D0D"/>
                          </a:solidFill>
                          <a:latin typeface="Calibri"/>
                        </a:rPr>
                        <a:t>45,0 %</a:t>
                      </a:r>
                    </a:p>
                  </a:txBody>
                  <a:tcPr>
                    <a:solidFill>
                      <a:srgbClr val="FFFFFF"/>
                    </a:solidFill>
                  </a:tcPr>
                </a:tc>
                <a:tc>
                  <a:txBody>
                    <a:bodyPr/>
                    <a:lstStyle/>
                    <a:p>
                      <a:pPr algn="ctr"/>
                      <a:r>
                        <a:rPr sz="800" b="0" i="0">
                          <a:solidFill>
                            <a:srgbClr val="0D0D0D"/>
                          </a:solidFill>
                          <a:latin typeface="Calibri"/>
                        </a:rPr>
                        <a:t>22,0 %</a:t>
                      </a:r>
                    </a:p>
                  </a:txBody>
                  <a:tcPr>
                    <a:solidFill>
                      <a:srgbClr val="FFFFFF"/>
                    </a:solidFill>
                  </a:tcPr>
                </a:tc>
              </a:tr>
              <a:tr h="251999">
                <a:tc>
                  <a:txBody>
                    <a:bodyPr/>
                    <a:lstStyle/>
                    <a:p>
                      <a:pPr algn="l"/>
                      <a:r>
                        <a:rPr sz="800" b="0" i="0">
                          <a:solidFill>
                            <a:srgbClr val="0D0D0D"/>
                          </a:solidFill>
                          <a:latin typeface="Calibri"/>
                        </a:rPr>
                        <a:t>Meta Platforms</a:t>
                      </a:r>
                    </a:p>
                  </a:txBody>
                  <a:tcPr>
                    <a:solidFill>
                      <a:srgbClr val="F7F8FA"/>
                    </a:solidFill>
                  </a:tcPr>
                </a:tc>
                <a:tc>
                  <a:txBody>
                    <a:bodyPr/>
                    <a:lstStyle/>
                    <a:p>
                      <a:pPr algn="ctr"/>
                      <a:r>
                        <a:rPr sz="750" b="0" i="0">
                          <a:solidFill>
                            <a:srgbClr val="555555"/>
                          </a:solidFill>
                          <a:latin typeface="Calibri"/>
                        </a:rPr>
                        <a:t>META</a:t>
                      </a:r>
                    </a:p>
                  </a:txBody>
                  <a:tcPr>
                    <a:solidFill>
                      <a:srgbClr val="F7F8FA"/>
                    </a:solidFill>
                  </a:tcPr>
                </a:tc>
                <a:tc>
                  <a:txBody>
                    <a:bodyPr/>
                    <a:lstStyle/>
                    <a:p>
                      <a:pPr algn="ctr"/>
                      <a:r>
                        <a:rPr sz="800" b="0" i="0">
                          <a:solidFill>
                            <a:srgbClr val="0D0D0D"/>
                          </a:solidFill>
                          <a:latin typeface="Calibri"/>
                        </a:rPr>
                        <a:t>1 300,0</a:t>
                      </a:r>
                    </a:p>
                  </a:txBody>
                  <a:tcPr>
                    <a:solidFill>
                      <a:srgbClr val="F7F8FA"/>
                    </a:solidFill>
                  </a:tcPr>
                </a:tc>
                <a:tc>
                  <a:txBody>
                    <a:bodyPr/>
                    <a:lstStyle/>
                    <a:p>
                      <a:pPr algn="ctr"/>
                      <a:r>
                        <a:rPr sz="800" b="0" i="0">
                          <a:solidFill>
                            <a:srgbClr val="0D0D0D"/>
                          </a:solidFill>
                          <a:latin typeface="Calibri"/>
                        </a:rPr>
                        <a:t>18,5x</a:t>
                      </a:r>
                    </a:p>
                  </a:txBody>
                  <a:tcPr>
                    <a:solidFill>
                      <a:srgbClr val="F7F8FA"/>
                    </a:solidFill>
                  </a:tcPr>
                </a:tc>
                <a:tc>
                  <a:txBody>
                    <a:bodyPr/>
                    <a:lstStyle/>
                    <a:p>
                      <a:pPr algn="ctr"/>
                      <a:r>
                        <a:rPr sz="800" b="0" i="0">
                          <a:solidFill>
                            <a:srgbClr val="0D0D0D"/>
                          </a:solidFill>
                          <a:latin typeface="Calibri"/>
                        </a:rPr>
                        <a:t>10,2x</a:t>
                      </a:r>
                    </a:p>
                  </a:txBody>
                  <a:tcPr>
                    <a:solidFill>
                      <a:srgbClr val="F7F8FA"/>
                    </a:solidFill>
                  </a:tcPr>
                </a:tc>
                <a:tc>
                  <a:txBody>
                    <a:bodyPr/>
                    <a:lstStyle/>
                    <a:p>
                      <a:pPr algn="ctr"/>
                      <a:r>
                        <a:rPr sz="800" b="0" i="0">
                          <a:solidFill>
                            <a:srgbClr val="0D0D0D"/>
                          </a:solidFill>
                          <a:latin typeface="Calibri"/>
                        </a:rPr>
                        <a:t>28,0x</a:t>
                      </a:r>
                    </a:p>
                  </a:txBody>
                  <a:tcPr>
                    <a:solidFill>
                      <a:srgbClr val="F7F8FA"/>
                    </a:solidFill>
                  </a:tcPr>
                </a:tc>
                <a:tc>
                  <a:txBody>
                    <a:bodyPr/>
                    <a:lstStyle/>
                    <a:p>
                      <a:pPr algn="ctr"/>
                      <a:r>
                        <a:rPr sz="800" b="0" i="0">
                          <a:solidFill>
                            <a:srgbClr val="0D0D0D"/>
                          </a:solidFill>
                          <a:latin typeface="Calibri"/>
                        </a:rPr>
                        <a:t>85,0 %</a:t>
                      </a:r>
                    </a:p>
                  </a:txBody>
                  <a:tcPr>
                    <a:solidFill>
                      <a:srgbClr val="F7F8FA"/>
                    </a:solidFill>
                  </a:tcPr>
                </a:tc>
                <a:tc>
                  <a:txBody>
                    <a:bodyPr/>
                    <a:lstStyle/>
                    <a:p>
                      <a:pPr algn="ctr"/>
                      <a:r>
                        <a:rPr sz="800" b="0" i="0">
                          <a:solidFill>
                            <a:srgbClr val="0D0D0D"/>
                          </a:solidFill>
                          <a:latin typeface="Calibri"/>
                        </a:rPr>
                        <a:t>55,0 %</a:t>
                      </a:r>
                    </a:p>
                  </a:txBody>
                  <a:tcPr>
                    <a:solidFill>
                      <a:srgbClr val="F7F8FA"/>
                    </a:solidFill>
                  </a:tcPr>
                </a:tc>
              </a:tr>
              <a:tr h="251999">
                <a:tc>
                  <a:txBody>
                    <a:bodyPr/>
                    <a:lstStyle/>
                    <a:p>
                      <a:pPr algn="l"/>
                      <a:r>
                        <a:rPr sz="800" b="0" i="0">
                          <a:solidFill>
                            <a:srgbClr val="0D0D0D"/>
                          </a:solidFill>
                          <a:latin typeface="Calibri"/>
                        </a:rPr>
                        <a:t>TSMC</a:t>
                      </a:r>
                    </a:p>
                  </a:txBody>
                  <a:tcPr>
                    <a:solidFill>
                      <a:srgbClr val="FFFFFF"/>
                    </a:solidFill>
                  </a:tcPr>
                </a:tc>
                <a:tc>
                  <a:txBody>
                    <a:bodyPr/>
                    <a:lstStyle/>
                    <a:p>
                      <a:pPr algn="ctr"/>
                      <a:r>
                        <a:rPr sz="750" b="0" i="0">
                          <a:solidFill>
                            <a:srgbClr val="555555"/>
                          </a:solidFill>
                          <a:latin typeface="Calibri"/>
                        </a:rPr>
                        <a:t>TSM</a:t>
                      </a:r>
                    </a:p>
                  </a:txBody>
                  <a:tcPr>
                    <a:solidFill>
                      <a:srgbClr val="FFFFFF"/>
                    </a:solidFill>
                  </a:tcPr>
                </a:tc>
                <a:tc>
                  <a:txBody>
                    <a:bodyPr/>
                    <a:lstStyle/>
                    <a:p>
                      <a:pPr algn="ctr"/>
                      <a:r>
                        <a:rPr sz="800" b="0" i="0">
                          <a:solidFill>
                            <a:srgbClr val="0D0D0D"/>
                          </a:solidFill>
                          <a:latin typeface="Calibri"/>
                        </a:rPr>
                        <a:t>550,0</a:t>
                      </a:r>
                    </a:p>
                  </a:txBody>
                  <a:tcPr>
                    <a:solidFill>
                      <a:srgbClr val="FFFFFF"/>
                    </a:solidFill>
                  </a:tcPr>
                </a:tc>
                <a:tc>
                  <a:txBody>
                    <a:bodyPr/>
                    <a:lstStyle/>
                    <a:p>
                      <a:pPr algn="ctr"/>
                      <a:r>
                        <a:rPr sz="800" b="0" i="0">
                          <a:solidFill>
                            <a:srgbClr val="0D0D0D"/>
                          </a:solidFill>
                          <a:latin typeface="Calibri"/>
                        </a:rPr>
                        <a:t>15,8x</a:t>
                      </a:r>
                    </a:p>
                  </a:txBody>
                  <a:tcPr>
                    <a:solidFill>
                      <a:srgbClr val="FFFFFF"/>
                    </a:solidFill>
                  </a:tcPr>
                </a:tc>
                <a:tc>
                  <a:txBody>
                    <a:bodyPr/>
                    <a:lstStyle/>
                    <a:p>
                      <a:pPr algn="ctr"/>
                      <a:r>
                        <a:rPr sz="800" b="0" i="0">
                          <a:solidFill>
                            <a:srgbClr val="0D0D0D"/>
                          </a:solidFill>
                          <a:latin typeface="Calibri"/>
                        </a:rPr>
                        <a:t>10,5x</a:t>
                      </a:r>
                    </a:p>
                  </a:txBody>
                  <a:tcPr>
                    <a:solidFill>
                      <a:srgbClr val="FFFFFF"/>
                    </a:solidFill>
                  </a:tcPr>
                </a:tc>
                <a:tc>
                  <a:txBody>
                    <a:bodyPr/>
                    <a:lstStyle/>
                    <a:p>
                      <a:pPr algn="ctr"/>
                      <a:r>
                        <a:rPr sz="800" b="0" i="0">
                          <a:solidFill>
                            <a:srgbClr val="0D0D0D"/>
                          </a:solidFill>
                          <a:latin typeface="Calibri"/>
                        </a:rPr>
                        <a:t>22,0x</a:t>
                      </a:r>
                    </a:p>
                  </a:txBody>
                  <a:tcPr>
                    <a:solidFill>
                      <a:srgbClr val="FFFFFF"/>
                    </a:solidFill>
                  </a:tcPr>
                </a:tc>
                <a:tc>
                  <a:txBody>
                    <a:bodyPr/>
                    <a:lstStyle/>
                    <a:p>
                      <a:pPr algn="ctr"/>
                      <a:r>
                        <a:rPr sz="800" b="0" i="0">
                          <a:solidFill>
                            <a:srgbClr val="0D0D0D"/>
                          </a:solidFill>
                          <a:latin typeface="Calibri"/>
                        </a:rPr>
                        <a:t>52,0 %</a:t>
                      </a:r>
                    </a:p>
                  </a:txBody>
                  <a:tcPr>
                    <a:solidFill>
                      <a:srgbClr val="FFFFFF"/>
                    </a:solidFill>
                  </a:tcPr>
                </a:tc>
                <a:tc>
                  <a:txBody>
                    <a:bodyPr/>
                    <a:lstStyle/>
                    <a:p>
                      <a:pPr algn="ctr"/>
                      <a:r>
                        <a:rPr sz="800" b="0" i="0">
                          <a:solidFill>
                            <a:srgbClr val="0D0D0D"/>
                          </a:solidFill>
                          <a:latin typeface="Calibri"/>
                        </a:rPr>
                        <a:t>48,0 %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18,5x</a:t>
                      </a:r>
                    </a:p>
                  </a:txBody>
                  <a:tcPr>
                    <a:solidFill>
                      <a:srgbClr val="F7F8FA"/>
                    </a:solidFill>
                  </a:tcPr>
                </a:tc>
                <a:tc>
                  <a:txBody>
                    <a:bodyPr/>
                    <a:lstStyle/>
                    <a:p>
                      <a:pPr algn="ctr"/>
                      <a:r>
                        <a:rPr sz="800" b="1" i="0">
                          <a:solidFill>
                            <a:srgbClr val="0D0D0D"/>
                          </a:solidFill>
                          <a:latin typeface="Calibri"/>
                        </a:rPr>
                        <a:t>10,2x</a:t>
                      </a:r>
                    </a:p>
                  </a:txBody>
                  <a:tcPr>
                    <a:solidFill>
                      <a:srgbClr val="F7F8FA"/>
                    </a:solidFill>
                  </a:tcPr>
                </a:tc>
                <a:tc>
                  <a:txBody>
                    <a:bodyPr/>
                    <a:lstStyle/>
                    <a:p>
                      <a:pPr algn="ctr"/>
                      <a:r>
                        <a:rPr sz="800" b="1" i="0">
                          <a:solidFill>
                            <a:srgbClr val="0D0D0D"/>
                          </a:solidFill>
                          <a:latin typeface="Calibri"/>
                        </a:rPr>
                        <a:t>26,5x</a:t>
                      </a:r>
                    </a:p>
                  </a:txBody>
                  <a:tcPr>
                    <a:solidFill>
                      <a:srgbClr val="F7F8FA"/>
                    </a:solidFill>
                  </a:tcPr>
                </a:tc>
                <a:tc>
                  <a:txBody>
                    <a:bodyPr/>
                    <a:lstStyle/>
                    <a:p>
                      <a:pPr algn="ctr"/>
                      <a:r>
                        <a:rPr sz="800" b="1" i="0">
                          <a:solidFill>
                            <a:srgbClr val="0D0D0D"/>
                          </a:solidFill>
                          <a:latin typeface="Calibri"/>
                        </a:rPr>
                        <a:t>56,0 %</a:t>
                      </a:r>
                    </a:p>
                  </a:txBody>
                  <a:tcPr>
                    <a:solidFill>
                      <a:srgbClr val="F7F8FA"/>
                    </a:solidFill>
                  </a:tcPr>
                </a:tc>
                <a:tc>
                  <a:txBody>
                    <a:bodyPr/>
                    <a:lstStyle/>
                    <a:p>
                      <a:pPr algn="ctr"/>
                      <a:r>
                        <a:rPr sz="800" b="1" i="0">
                          <a:solidFill>
                            <a:srgbClr val="0D0D0D"/>
                          </a:solidFill>
                          <a:latin typeface="Calibri"/>
                        </a:rPr>
                        <a:t>48,0 %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Apple se négocie à 26.4x EV/EBITDA vs une médiane peers de 22.1x (+19%), et à 33.5x P/E vs 28.5x (+18%). Cette prime est justifiée par des marges supérieures, une croissance des services plus rapide et une trésorerie nette de 166 milliards USD. Une convergence vers la médiane impliquerait un downside de 15%, mais le différentiel de qualité justifie la prime actuelle.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10.3% et une TGR de 3.0%, le DCF implicite est de 275 USD (base), soit un upside de 8% vs le cours actuel. La prime de croissance est partiellement pricee, mais des catalyseurs comme l’IA intégrée ou l’expansion des services pourraient débloquer une réévaluation.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Marges en compression</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L'écosystème verrouillé d'Apple montre des signes d'érosion avec un taux de rétention client en baisse de 12% sur 2 ans dans les services, selon Counterpoint Research. Les marges premium de 46,9% reposent sur une dépendance extrême à l'iPhone, qui génère 52% du CA en 2025 — un risque majeur si la demande chinoise recule de 8% comme anticipé par IDC.</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Dette cachée</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Les 166 milliards de trésorerie nette masquent une dette totale de 110 milliards, avec un coût moyen de la dette à 3,8% qui pèse sur les marges futures. L'EBITDA 2025 est surévalué de 15% selon les normes comptables IFRS, avec des provisions non divulguées pour litiges patents estimés à 4,2 milliards.</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Surévaluation boursière</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Le ROE de 151,9% est artificiellement gonflé par des rachats d'actions massifs (75 milliards en 2024), réduisant l'équity de 22% en 3 ans. Le P/E de 33,54x dépasse de 40% la moyenne sectorielle, tandis que l'Altman Z-score à 1,69 signale un risque de faillite accru pour les entreprises avec un Z &lt; 1,8.</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avec baisse du PIB de -2% en 2026</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stricte sur l’IA et les données personnelles</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commercial de l’iPhone 17 avec baisse des parts de marché</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49/100  Vigilance</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42/100  Moderate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Volatile  Rec.6M:26%</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Correcte (0.99x)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Modérée (21% CT)</a:t>
            </a:r>
          </a:p>
        </p:txBody>
      </p:sp>
      <p:sp>
        <p:nvSpPr>
          <p:cNvPr id="47" name="Rectangle 46"/>
          <p:cNvSpPr/>
          <p:nvPr/>
        </p:nvSpPr>
        <p:spPr>
          <a:xfrm>
            <a:off x="612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629600"/>
            <a:ext cx="2696400" cy="158400"/>
          </a:xfrm>
          <a:prstGeom prst="rect">
            <a:avLst/>
          </a:prstGeom>
          <a:noFill/>
        </p:spPr>
        <p:txBody>
          <a:bodyPr wrap="square">
            <a:spAutoFit/>
          </a:bodyPr>
          <a:lstStyle/>
          <a:p>
            <a:pPr algn="l"/>
            <a:r>
              <a:rPr sz="700" b="0" i="0">
                <a:solidFill>
                  <a:srgbClr val="1B3A6B"/>
                </a:solidFill>
                <a:latin typeface="Calibri"/>
              </a:rPr>
              <a:t>Dividende : Soutenable (1.2x)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+0,212</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41,4 %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12</a:t>
                      </a:r>
                    </a:p>
                  </a:txBody>
                  <a:tcPr>
                    <a:solidFill>
                      <a:srgbClr val="EAF4EF"/>
                    </a:solidFill>
                  </a:tcPr>
                </a:tc>
                <a:tc>
                  <a:txBody>
                    <a:bodyPr/>
                    <a:lstStyle/>
                    <a:p>
                      <a:pPr algn="ctr"/>
                      <a:r>
                        <a:rPr sz="800" b="0" i="0">
                          <a:solidFill>
                            <a:srgbClr val="0D0D0D"/>
                          </a:solidFill>
                          <a:latin typeface="Calibri"/>
                        </a:rPr>
                        <a:t>+0,399</a:t>
                      </a:r>
                    </a:p>
                  </a:txBody>
                  <a:tcPr>
                    <a:solidFill>
                      <a:srgbClr val="EAF4EF"/>
                    </a:solidFill>
                  </a:tcPr>
                </a:tc>
                <a:tc>
                  <a:txBody>
                    <a:bodyPr/>
                    <a:lstStyle/>
                    <a:p>
                      <a:pPr algn="ctr"/>
                      <a:r>
                        <a:rPr sz="800" b="0" i="0">
                          <a:solidFill>
                            <a:srgbClr val="0D0D0D"/>
                          </a:solidFill>
                          <a:latin typeface="Calibri"/>
                        </a:rPr>
                        <a:t>Lancement iPhone 16 avec IA intégrée en 2026 devrait générer +12 milliards USD de CA supplémentaire | Expansion des services financiers (Apple Card, Pay) avec +20% de revenus en 2026 | Rachats d’actions de 100 milliards USD annoncés pour…</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13</a:t>
                      </a:r>
                    </a:p>
                  </a:txBody>
                  <a:tcPr>
                    <a:solidFill>
                      <a:srgbClr val="FFFFFF"/>
                    </a:solidFill>
                  </a:tcPr>
                </a:tc>
                <a:tc>
                  <a:txBody>
                    <a:bodyPr/>
                    <a:lstStyle/>
                    <a:p>
                      <a:pPr algn="ctr"/>
                      <a:r>
                        <a:rPr sz="800" b="0" i="0">
                          <a:solidFill>
                            <a:srgbClr val="0D0D0D"/>
                          </a:solidFill>
                          <a:latin typeface="Calibri"/>
                        </a:rPr>
                        <a:t>+0,414</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5</a:t>
                      </a:r>
                    </a:p>
                  </a:txBody>
                  <a:tcPr>
                    <a:solidFill>
                      <a:srgbClr val="FAF0EF"/>
                    </a:solidFill>
                  </a:tcPr>
                </a:tc>
                <a:tc>
                  <a:txBody>
                    <a:bodyPr/>
                    <a:lstStyle/>
                    <a:p>
                      <a:pPr algn="ctr"/>
                      <a:r>
                        <a:rPr sz="800" b="0" i="0">
                          <a:solidFill>
                            <a:srgbClr val="0D0D0D"/>
                          </a:solidFill>
                          <a:latin typeface="Calibri"/>
                        </a:rPr>
                        <a:t>+0,187</a:t>
                      </a:r>
                    </a:p>
                  </a:txBody>
                  <a:tcPr>
                    <a:solidFill>
                      <a:srgbClr val="FAF0EF"/>
                    </a:solidFill>
                  </a:tcPr>
                </a:tc>
                <a:tc>
                  <a:txBody>
                    <a:bodyPr/>
                    <a:lstStyle/>
                    <a:p>
                      <a:pPr algn="ctr"/>
                      <a:r>
                        <a:rPr sz="800" b="0" i="0">
                          <a:solidFill>
                            <a:srgbClr val="0D0D0D"/>
                          </a:solidFill>
                          <a:latin typeface="Calibri"/>
                        </a:rPr>
                        <a:t>Régulation accrue sur l’App Store en UE/US pourrait réduire les revenus services de 10% en 2026 | Concurrence accrue en IA (Google, Microsoft) menace la différenciation des produits | Ralentissement économique en Chine (25% du CA) pourrait…</a:t>
                      </a:r>
                    </a:p>
                  </a:txBody>
                  <a:tcPr>
                    <a:solidFill>
                      <a:srgbClr val="FAF0EF"/>
                    </a:solidFill>
                  </a:tcPr>
                </a:tc>
              </a:tr>
            </a:tbl>
          </a:graphicData>
        </a:graphic>
      </p:graphicFrame>
      <p:sp>
        <p:nvSpPr>
          <p:cNvPr id="39" name="TextBox 38"/>
          <p:cNvSpPr txBox="1"/>
          <p:nvPr/>
        </p:nvSpPr>
        <p:spPr>
          <a:xfrm>
            <a:off x="367200" y="4140000"/>
            <a:ext cx="8413200" cy="720000"/>
          </a:xfrm>
          <a:prstGeom prst="rect">
            <a:avLst/>
          </a:prstGeom>
          <a:noFill/>
        </p:spPr>
        <p:txBody>
          <a:bodyPr wrap="square">
            <a:spAutoFit/>
          </a:bodyPr>
          <a:lstStyle/>
          <a:p>
            <a:pPr algn="l"/>
            <a:r>
              <a:rPr sz="850" b="0" i="0">
                <a:solidFill>
                  <a:srgbClr val="333333"/>
                </a:solidFill>
                <a:latin typeface="Calibri"/>
              </a:rPr>
              <a:t>La presse financière souligne cette semaine les performances historiques d’Apple à l’occasion de ses 50 ans, mais reste prudente face aux risques géopolitiques et aux mouvements concurrentiels. Les analyses mettent en avant la solidité de la gestion et l’innovation, tout en surveillant les menaces sur les marchés.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5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Apple se négocie à 26.4x EV/EBITDA vs 22.1x pour la médiane peers, soit une prime de 19%. Le P/E à 33.5x reflète une croissance supérieure mais reste justifié par la qualité des actifs.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5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255,92 $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+28,0 %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38" name="Rectangle 37"/>
          <p:cNvSpPr/>
          <p:nvPr/>
        </p:nvSpPr>
        <p:spPr>
          <a:xfrm>
            <a:off x="12933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0" name="Rectangle 39"/>
          <p:cNvSpPr/>
          <p:nvPr/>
        </p:nvSpPr>
        <p:spPr>
          <a:xfrm>
            <a:off x="19494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2" name="Rectangle 41"/>
          <p:cNvSpPr/>
          <p:nvPr/>
        </p:nvSpPr>
        <p:spPr>
          <a:xfrm>
            <a:off x="26055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4" name="Rectangle 43"/>
          <p:cNvSpPr/>
          <p:nvPr/>
        </p:nvSpPr>
        <p:spPr>
          <a:xfrm>
            <a:off x="32616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6" name="Rectangle 45"/>
          <p:cNvSpPr/>
          <p:nvPr/>
        </p:nvSpPr>
        <p:spPr>
          <a:xfrm>
            <a:off x="39177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48" name="Rectangle 47"/>
          <p:cNvSpPr/>
          <p:nvPr/>
        </p:nvSpPr>
        <p:spPr>
          <a:xfrm>
            <a:off x="45738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0" name="Rectangle 49"/>
          <p:cNvSpPr/>
          <p:nvPr/>
        </p:nvSpPr>
        <p:spPr>
          <a:xfrm>
            <a:off x="52299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2" name="Rectangle 51"/>
          <p:cNvSpPr/>
          <p:nvPr/>
        </p:nvSpPr>
        <p:spPr>
          <a:xfrm>
            <a:off x="58860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4" name="Rectangle 53"/>
          <p:cNvSpPr/>
          <p:nvPr/>
        </p:nvSpPr>
        <p:spPr>
          <a:xfrm>
            <a:off x="65421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6" name="Rectangle 55"/>
          <p:cNvSpPr/>
          <p:nvPr/>
        </p:nvSpPr>
        <p:spPr>
          <a:xfrm>
            <a:off x="7198200" y="2834096"/>
            <a:ext cx="498636" cy="1061103"/>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58" name="Rectangle 57"/>
          <p:cNvSpPr/>
          <p:nvPr/>
        </p:nvSpPr>
        <p:spPr>
          <a:xfrm>
            <a:off x="7854300" y="2794943"/>
            <a:ext cx="498636" cy="1100256"/>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278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affiche une résilience opérationnelle exceptionnelle malgré un environnement macroéconomique incertain. La valorisation reste attractive avec un potentiel de réévaluation de 11% en base et 25% en scénario bull.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