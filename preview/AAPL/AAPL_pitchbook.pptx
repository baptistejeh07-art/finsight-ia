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+14,5 %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+14,5 %  ·  Bear : 240 $ (-3,5 %)  ·  Bull : 320 $ (+28,6 %)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L'IA intégrée dans iOS 18 et les nouveaux iPhone 16 pourraient générer +15Md$ de revenus supplémentaires d'ici 2027</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 brute &gt;45%</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pénétration des services en Chine (15% des revenus totaux) devrait croître de 25% par an avec l'ouverture du marché</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nette 166Md$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rachat d'actions pour 100Md$ en 2026 soutiendra la valorisation via une réduction du nombre d'actions en circulation</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chinoise accrue pourrait limiter l'accès au marché et réduire les marges de 5-8% | Impact sur les ventes iPhone estimées à 20Md$ d'ici 2027 | Horizon 12-18 mois avec risque de sanctions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 Chine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dans l'IA avec Meta et Google réduisant l'avantage différenciant d'Apple | Perte de part de marché smartphone estimée à 3% d'ici 2027 | Horizon 2-3 ans avec pression sur les prix</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Dépendance à l'iPhone pour 55% des revenus | Baisse de 10% des ventes iPhone en 2026 réduirait le CA de 40Md$ | Horizon 6-12 mois avec risque de saturation du marché premium</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14,3x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+14,5 %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+0,177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 Chine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Apple Watch) intégrés à son écosystème fermé. Leader mondial avec 25% de part de marché smartphone et 800M d'utilisateurs actifs, l'entreprise combine hardware, software et services récurrents. Son avantage concurrentiel repose sur l'innovation verticale, la fidélisation client et une marge brute supérieure à 45% grâce au mix produit et pricing power.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hardware incluant iPhone (55% des revenus), Mac, iPad et Apple Watch. Modèle basé sur des cycles de renouvellement rapides (2-3 ans) et des prix premium. Clients cibles : consommateurs haut de gamme et professionnels. Croissance tirée par l'Asie (20% des ventes) et les services associés (Apple Music, iCloud).</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à forte rentabilité (70% de marge) incluant App Store, Apple Music, iCloud et Apple Pay. Modèle abonnement avec 1.1Md d'utilisateurs payants générant 80Md$ de revenus annuels. Croissance portée par l'expansion géographique et l'augmentation du ARPU via bundling.</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62%</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hardware incluant iPhone (55% des revenus), Mac, iPad et Apple Watch. Modèle basé sur des cycles de renouvellement rapides (2-3 ans) et des prix premium. Clients cibles : consommateurs haut de gamme et professionnels. Croissance tirée par l'Asie (20% des ventes) et les services associés (Apple Music, iCloud).</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à forte rentabilité (70% de marge) incluant App Store, Apple Music, iCloud et Apple Pay. Modèle abonnement avec 1.1Md d'utilisateurs payants générant 80Md$ de revenus annuels. Croissance portée par l'expansion géographique et l'augmentation du ARPU via bundling.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440,0</a:t>
                      </a:r>
                    </a:p>
                  </a:txBody>
                  <a:tcPr>
                    <a:solidFill>
                      <a:srgbClr val="FFFFFF"/>
                    </a:solidFill>
                  </a:tcPr>
                </a:tc>
                <a:tc>
                  <a:txBody>
                    <a:bodyPr/>
                    <a:lstStyle/>
                    <a:p>
                      <a:pPr algn="ctr"/>
                      <a:r>
                        <a:rPr sz="800" b="1" i="0">
                          <a:solidFill>
                            <a:srgbClr val="0D0D0D"/>
                          </a:solidFill>
                          <a:latin typeface="Calibri"/>
                        </a:rPr>
                        <a:t>470,0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+5,7 %</a:t>
                      </a:r>
                    </a:p>
                  </a:txBody>
                  <a:tcPr>
                    <a:solidFill>
                      <a:srgbClr val="F7F8FA"/>
                    </a:solidFill>
                  </a:tcPr>
                </a:tc>
                <a:tc>
                  <a:txBody>
                    <a:bodyPr/>
                    <a:lstStyle/>
                    <a:p>
                      <a:pPr algn="ctr"/>
                      <a:r>
                        <a:rPr sz="750" b="0" i="1">
                          <a:solidFill>
                            <a:srgbClr val="555555"/>
                          </a:solidFill>
                          <a:latin typeface="Calibri"/>
                        </a:rPr>
                        <a:t>+6,8 %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207,7</a:t>
                      </a:r>
                    </a:p>
                  </a:txBody>
                  <a:tcPr>
                    <a:solidFill>
                      <a:srgbClr val="FFFFFF"/>
                    </a:solidFill>
                  </a:tcPr>
                </a:tc>
                <a:tc>
                  <a:txBody>
                    <a:bodyPr/>
                    <a:lstStyle/>
                    <a:p>
                      <a:pPr algn="ctr"/>
                      <a:r>
                        <a:rPr sz="800" b="1" i="0">
                          <a:solidFill>
                            <a:srgbClr val="0D0D0D"/>
                          </a:solidFill>
                          <a:latin typeface="Calibri"/>
                        </a:rPr>
                        <a:t>223,2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155,0</a:t>
                      </a:r>
                    </a:p>
                  </a:txBody>
                  <a:tcPr>
                    <a:solidFill>
                      <a:srgbClr val="FFFFFF"/>
                    </a:solidFill>
                  </a:tcPr>
                </a:tc>
                <a:tc>
                  <a:txBody>
                    <a:bodyPr/>
                    <a:lstStyle/>
                    <a:p>
                      <a:pPr algn="ctr"/>
                      <a:r>
                        <a:rPr sz="800" b="1" i="0">
                          <a:solidFill>
                            <a:srgbClr val="0D0D0D"/>
                          </a:solidFill>
                          <a:latin typeface="Calibri"/>
                        </a:rPr>
                        <a:t>168,0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35,2 %</a:t>
                      </a:r>
                    </a:p>
                  </a:txBody>
                  <a:tcPr>
                    <a:solidFill>
                      <a:srgbClr val="F7F8FA"/>
                    </a:solidFill>
                  </a:tcPr>
                </a:tc>
                <a:tc>
                  <a:txBody>
                    <a:bodyPr/>
                    <a:lstStyle/>
                    <a:p>
                      <a:pPr algn="ctr"/>
                      <a:r>
                        <a:rPr sz="750" b="0" i="1">
                          <a:solidFill>
                            <a:srgbClr val="555555"/>
                          </a:solidFill>
                          <a:latin typeface="Calibri"/>
                        </a:rPr>
                        <a:t>35,7 %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118,0</a:t>
                      </a:r>
                    </a:p>
                  </a:txBody>
                  <a:tcPr>
                    <a:solidFill>
                      <a:srgbClr val="FFFFFF"/>
                    </a:solidFill>
                  </a:tcPr>
                </a:tc>
                <a:tc>
                  <a:txBody>
                    <a:bodyPr/>
                    <a:lstStyle/>
                    <a:p>
                      <a:pPr algn="ctr"/>
                      <a:r>
                        <a:rPr sz="800" b="1" i="0">
                          <a:solidFill>
                            <a:srgbClr val="0D0D0D"/>
                          </a:solidFill>
                          <a:latin typeface="Calibri"/>
                        </a:rPr>
                        <a:t>128,0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26,8 %</a:t>
                      </a:r>
                    </a:p>
                  </a:txBody>
                  <a:tcPr>
                    <a:solidFill>
                      <a:srgbClr val="F7F8FA"/>
                    </a:solidFill>
                  </a:tcPr>
                </a:tc>
                <a:tc>
                  <a:txBody>
                    <a:bodyPr/>
                    <a:lstStyle/>
                    <a:p>
                      <a:pPr algn="ctr"/>
                      <a:r>
                        <a:rPr sz="750" b="0" i="1">
                          <a:solidFill>
                            <a:srgbClr val="555555"/>
                          </a:solidFill>
                          <a:latin typeface="Calibri"/>
                        </a:rPr>
                        <a:t>27,2 %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revenue de 6.4% en 2025 portée par les services (+12%) et l'iPhone (+5%). Les marges se stabilisent à haut niveau grâce à l'effet de levier sur les coûts fixes et au mix produit favorable. La génération de cash de 110Md$ en 2025 renforce la solidité bilancielle et permet des rachats d'actions agressifs.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revenue de 6.4% en 2025 portée par les services (+12%) et l'iPhone (+5%). Les marges se stabilisent à haut niveau grâce à l'effet de levier sur les coûts fixes et au mix produit favorable. La génération de cash de 110Md$ en 2025 renforce la solidité bilancielle et permet des rachats d'act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en 2022 à 46.9% en 2025, reflétant un mix produit plus premium et une meilleure gestion des coûts logistiques. Les marges EBITDA (34.8%) et nettes (26.9%) bénéficient du levier opérationnel sur les services à forte marge. Cette tendance structurelle soutient la durabilité des niveaux actuels et limite le risque de compression.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-3,5 %</a:t>
                      </a:r>
                    </a:p>
                  </a:txBody>
                  <a:tcPr>
                    <a:solidFill>
                      <a:srgbClr val="FAF0EF"/>
                    </a:solidFill>
                  </a:tcPr>
                </a:tc>
                <a:tc>
                  <a:txBody>
                    <a:bodyPr/>
                    <a:lstStyle/>
                    <a:p>
                      <a:pPr algn="ctr"/>
                      <a:r>
                        <a:rPr sz="1200" b="1" i="0">
                          <a:solidFill>
                            <a:srgbClr val="2E5FA3"/>
                          </a:solidFill>
                          <a:latin typeface="Calibri"/>
                        </a:rPr>
                        <a:t>+14,5 %</a:t>
                      </a:r>
                    </a:p>
                  </a:txBody>
                  <a:tcPr>
                    <a:solidFill>
                      <a:srgbClr val="EEF3FA"/>
                    </a:solidFill>
                  </a:tcPr>
                </a:tc>
                <a:tc>
                  <a:txBody>
                    <a:bodyPr/>
                    <a:lstStyle/>
                    <a:p>
                      <a:pPr algn="ctr"/>
                      <a:r>
                        <a:rPr sz="1200" b="1" i="0">
                          <a:solidFill>
                            <a:srgbClr val="1A7A4A"/>
                          </a:solidFill>
                          <a:latin typeface="Calibri"/>
                        </a:rPr>
                        <a:t>+28,6 %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10.4% et une TGR de 3.0%, le prix implicite DCF est de 275$ (vs cours 248.8$), soit un upside de 10.5%. La prime de croissance semble partiellement intégrée, mais les catalyseurs (IA, Chine) pourraient justifier une réévaluation à la hausse si exécutés avec succès.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38,0 %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Microsoft</a:t>
                      </a:r>
                    </a:p>
                  </a:txBody>
                  <a:tcPr>
                    <a:solidFill>
                      <a:srgbClr val="F7F8FA"/>
                    </a:solidFill>
                  </a:tcPr>
                </a:tc>
                <a:tc>
                  <a:txBody>
                    <a:bodyPr/>
                    <a:lstStyle/>
                    <a:p>
                      <a:pPr algn="ctr"/>
                      <a:r>
                        <a:rPr sz="750" b="0" i="0">
                          <a:solidFill>
                            <a:srgbClr val="555555"/>
                          </a:solidFill>
                          <a:latin typeface="Calibri"/>
                        </a:rPr>
                        <a:t>MSFT</a:t>
                      </a:r>
                    </a:p>
                  </a:txBody>
                  <a:tcPr>
                    <a:solidFill>
                      <a:srgbClr val="F7F8FA"/>
                    </a:solidFill>
                  </a:tcPr>
                </a:tc>
                <a:tc>
                  <a:txBody>
                    <a:bodyPr/>
                    <a:lstStyle/>
                    <a:p>
                      <a:pPr algn="ctr"/>
                      <a:r>
                        <a:rPr sz="800" b="0" i="0">
                          <a:solidFill>
                            <a:srgbClr val="0D0D0D"/>
                          </a:solidFill>
                          <a:latin typeface="Calibri"/>
                        </a:rPr>
                        <a:t>3 100,0</a:t>
                      </a:r>
                    </a:p>
                  </a:txBody>
                  <a:tcPr>
                    <a:solidFill>
                      <a:srgbClr val="F7F8FA"/>
                    </a:solidFill>
                  </a:tcPr>
                </a:tc>
                <a:tc>
                  <a:txBody>
                    <a:bodyPr/>
                    <a:lstStyle/>
                    <a:p>
                      <a:pPr algn="ctr"/>
                      <a:r>
                        <a:rPr sz="800" b="0" i="0">
                          <a:solidFill>
                            <a:srgbClr val="0D0D0D"/>
                          </a:solidFill>
                          <a:latin typeface="Calibri"/>
                        </a:rPr>
                        <a:t>22,5x</a:t>
                      </a:r>
                    </a:p>
                  </a:txBody>
                  <a:tcPr>
                    <a:solidFill>
                      <a:srgbClr val="F7F8FA"/>
                    </a:solidFill>
                  </a:tcPr>
                </a:tc>
                <a:tc>
                  <a:txBody>
                    <a:bodyPr/>
                    <a:lstStyle/>
                    <a:p>
                      <a:pPr algn="ctr"/>
                      <a:r>
                        <a:rPr sz="800" b="0" i="0">
                          <a:solidFill>
                            <a:srgbClr val="0D0D0D"/>
                          </a:solidFill>
                          <a:latin typeface="Calibri"/>
                        </a:rPr>
                        <a:t>8,9x</a:t>
                      </a:r>
                    </a:p>
                  </a:txBody>
                  <a:tcPr>
                    <a:solidFill>
                      <a:srgbClr val="F7F8FA"/>
                    </a:solidFill>
                  </a:tcPr>
                </a:tc>
                <a:tc>
                  <a:txBody>
                    <a:bodyPr/>
                    <a:lstStyle/>
                    <a:p>
                      <a:pPr algn="ctr"/>
                      <a:r>
                        <a:rPr sz="800" b="0" i="0">
                          <a:solidFill>
                            <a:srgbClr val="0D0D0D"/>
                          </a:solidFill>
                          <a:latin typeface="Calibri"/>
                        </a:rPr>
                        <a:t>38,1x</a:t>
                      </a:r>
                    </a:p>
                  </a:txBody>
                  <a:tcPr>
                    <a:solidFill>
                      <a:srgbClr val="F7F8FA"/>
                    </a:solidFill>
                  </a:tcPr>
                </a:tc>
                <a:tc>
                  <a:txBody>
                    <a:bodyPr/>
                    <a:lstStyle/>
                    <a:p>
                      <a:pPr algn="ctr"/>
                      <a:r>
                        <a:rPr sz="800" b="0" i="0">
                          <a:solidFill>
                            <a:srgbClr val="0D0D0D"/>
                          </a:solidFill>
                          <a:latin typeface="Calibri"/>
                        </a:rPr>
                        <a:t>68,0 %</a:t>
                      </a:r>
                    </a:p>
                  </a:txBody>
                  <a:tcPr>
                    <a:solidFill>
                      <a:srgbClr val="F7F8FA"/>
                    </a:solidFill>
                  </a:tcPr>
                </a:tc>
                <a:tc>
                  <a:txBody>
                    <a:bodyPr/>
                    <a:lstStyle/>
                    <a:p>
                      <a:pPr algn="ctr"/>
                      <a:r>
                        <a:rPr sz="800" b="0" i="0">
                          <a:solidFill>
                            <a:srgbClr val="0D0D0D"/>
                          </a:solidFill>
                          <a:latin typeface="Calibri"/>
                        </a:rPr>
                        <a:t>48,0 %</a:t>
                      </a:r>
                    </a:p>
                  </a:txBody>
                  <a:tcPr>
                    <a:solidFill>
                      <a:srgbClr val="F7F8FA"/>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2 000,0</a:t>
                      </a:r>
                    </a:p>
                  </a:txBody>
                  <a:tcPr>
                    <a:solidFill>
                      <a:srgbClr val="FFFFFF"/>
                    </a:solidFill>
                  </a:tcPr>
                </a:tc>
                <a:tc>
                  <a:txBody>
                    <a:bodyPr/>
                    <a:lstStyle/>
                    <a:p>
                      <a:pPr algn="ctr"/>
                      <a:r>
                        <a:rPr sz="800" b="0" i="0">
                          <a:solidFill>
                            <a:srgbClr val="0D0D0D"/>
                          </a:solidFill>
                          <a:latin typeface="Calibri"/>
                        </a:rPr>
                        <a:t>18,7x</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26,4x</a:t>
                      </a:r>
                    </a:p>
                  </a:txBody>
                  <a:tcPr>
                    <a:solidFill>
                      <a:srgbClr val="FFFFFF"/>
                    </a:solidFill>
                  </a:tcPr>
                </a:tc>
                <a:tc>
                  <a:txBody>
                    <a:bodyPr/>
                    <a:lstStyle/>
                    <a:p>
                      <a:pPr algn="ctr"/>
                      <a:r>
                        <a:rPr sz="800" b="0" i="0">
                          <a:solidFill>
                            <a:srgbClr val="0D0D0D"/>
                          </a:solidFill>
                          <a:latin typeface="Calibri"/>
                        </a:rPr>
                        <a:t>56,0 %</a:t>
                      </a:r>
                    </a:p>
                  </a:txBody>
                  <a:tcPr>
                    <a:solidFill>
                      <a:srgbClr val="FFFFFF"/>
                    </a:solidFill>
                  </a:tcPr>
                </a:tc>
                <a:tc>
                  <a:txBody>
                    <a:bodyPr/>
                    <a:lstStyle/>
                    <a:p>
                      <a:pPr algn="ctr"/>
                      <a:r>
                        <a:rPr sz="800" b="0" i="0">
                          <a:solidFill>
                            <a:srgbClr val="0D0D0D"/>
                          </a:solidFill>
                          <a:latin typeface="Calibri"/>
                        </a:rPr>
                        <a:t>38,0 %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1 500,0</a:t>
                      </a:r>
                    </a:p>
                  </a:txBody>
                  <a:tcPr>
                    <a:solidFill>
                      <a:srgbClr val="F7F8FA"/>
                    </a:solidFill>
                  </a:tcPr>
                </a:tc>
                <a:tc>
                  <a:txBody>
                    <a:bodyPr/>
                    <a:lstStyle/>
                    <a:p>
                      <a:pPr algn="ctr"/>
                      <a:r>
                        <a:rPr sz="800" b="0" i="0">
                          <a:solidFill>
                            <a:srgbClr val="0D0D0D"/>
                          </a:solidFill>
                          <a:latin typeface="Calibri"/>
                        </a:rPr>
                        <a:t>14,3x</a:t>
                      </a:r>
                    </a:p>
                  </a:txBody>
                  <a:tcPr>
                    <a:solidFill>
                      <a:srgbClr val="F7F8FA"/>
                    </a:solidFill>
                  </a:tcPr>
                </a:tc>
                <a:tc>
                  <a:txBody>
                    <a:bodyPr/>
                    <a:lstStyle/>
                    <a:p>
                      <a:pPr algn="ctr"/>
                      <a:r>
                        <a:rPr sz="800" b="0" i="0">
                          <a:solidFill>
                            <a:srgbClr val="0D0D0D"/>
                          </a:solidFill>
                          <a:latin typeface="Calibri"/>
                        </a:rPr>
                        <a:t>8,1x</a:t>
                      </a:r>
                    </a:p>
                  </a:txBody>
                  <a:tcPr>
                    <a:solidFill>
                      <a:srgbClr val="F7F8FA"/>
                    </a:solidFill>
                  </a:tcPr>
                </a:tc>
                <a:tc>
                  <a:txBody>
                    <a:bodyPr/>
                    <a:lstStyle/>
                    <a:p>
                      <a:pPr algn="ctr"/>
                      <a:r>
                        <a:rPr sz="800" b="0" i="0">
                          <a:solidFill>
                            <a:srgbClr val="0D0D0D"/>
                          </a:solidFill>
                          <a:latin typeface="Calibri"/>
                        </a:rPr>
                        <a:t>24,8x</a:t>
                      </a:r>
                    </a:p>
                  </a:txBody>
                  <a:tcPr>
                    <a:solidFill>
                      <a:srgbClr val="F7F8FA"/>
                    </a:solidFill>
                  </a:tcPr>
                </a:tc>
                <a:tc>
                  <a:txBody>
                    <a:bodyPr/>
                    <a:lstStyle/>
                    <a:p>
                      <a:pPr algn="ctr"/>
                      <a:r>
                        <a:rPr sz="800" b="0" i="0">
                          <a:solidFill>
                            <a:srgbClr val="0D0D0D"/>
                          </a:solidFill>
                          <a:latin typeface="Calibri"/>
                        </a:rPr>
                        <a:t>88,0 %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500,0</a:t>
                      </a:r>
                    </a:p>
                  </a:txBody>
                  <a:tcPr>
                    <a:solidFill>
                      <a:srgbClr val="FFFFFF"/>
                    </a:solidFill>
                  </a:tcPr>
                </a:tc>
                <a:tc>
                  <a:txBody>
                    <a:bodyPr/>
                    <a:lstStyle/>
                    <a:p>
                      <a:pPr algn="ctr"/>
                      <a:r>
                        <a:rPr sz="800" b="0" i="0">
                          <a:solidFill>
                            <a:srgbClr val="0D0D0D"/>
                          </a:solidFill>
                          <a:latin typeface="Calibri"/>
                        </a:rPr>
                        <a:t>12,1x</a:t>
                      </a:r>
                    </a:p>
                  </a:txBody>
                  <a:tcPr>
                    <a:solidFill>
                      <a:srgbClr val="FFFFFF"/>
                    </a:solidFill>
                  </a:tcPr>
                </a:tc>
                <a:tc>
                  <a:txBody>
                    <a:bodyPr/>
                    <a:lstStyle/>
                    <a:p>
                      <a:pPr algn="ctr"/>
                      <a:r>
                        <a:rPr sz="800" b="0" i="0">
                          <a:solidFill>
                            <a:srgbClr val="0D0D0D"/>
                          </a:solidFill>
                          <a:latin typeface="Calibri"/>
                        </a:rPr>
                        <a:t>7,5x</a:t>
                      </a:r>
                    </a:p>
                  </a:txBody>
                  <a:tcPr>
                    <a:solidFill>
                      <a:srgbClr val="FFFFFF"/>
                    </a:solidFill>
                  </a:tcPr>
                </a:tc>
                <a:tc>
                  <a:txBody>
                    <a:bodyPr/>
                    <a:lstStyle/>
                    <a:p>
                      <a:pPr algn="ctr"/>
                      <a:r>
                        <a:rPr sz="800" b="0" i="0">
                          <a:solidFill>
                            <a:srgbClr val="0D0D0D"/>
                          </a:solidFill>
                          <a:latin typeface="Calibri"/>
                        </a:rPr>
                        <a:t>20,5x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14,3x</a:t>
                      </a:r>
                    </a:p>
                  </a:txBody>
                  <a:tcPr>
                    <a:solidFill>
                      <a:srgbClr val="F7F8FA"/>
                    </a:solidFill>
                  </a:tcPr>
                </a:tc>
                <a:tc>
                  <a:txBody>
                    <a:bodyPr/>
                    <a:lstStyle/>
                    <a:p>
                      <a:pPr algn="ctr"/>
                      <a:r>
                        <a:rPr sz="800" b="1" i="0">
                          <a:solidFill>
                            <a:srgbClr val="0D0D0D"/>
                          </a:solidFill>
                          <a:latin typeface="Calibri"/>
                        </a:rPr>
                        <a:t>7,5x</a:t>
                      </a:r>
                    </a:p>
                  </a:txBody>
                  <a:tcPr>
                    <a:solidFill>
                      <a:srgbClr val="F7F8FA"/>
                    </a:solidFill>
                  </a:tcPr>
                </a:tc>
                <a:tc>
                  <a:txBody>
                    <a:bodyPr/>
                    <a:lstStyle/>
                    <a:p>
                      <a:pPr algn="ctr"/>
                      <a:r>
                        <a:rPr sz="800" b="1" i="0">
                          <a:solidFill>
                            <a:srgbClr val="0D0D0D"/>
                          </a:solidFill>
                          <a:latin typeface="Calibri"/>
                        </a:rPr>
                        <a:t>24,8x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45,0 %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traite à 32.6x P/E vs 24.8x pour la médiane peers (Samsung, Microsoft, Alphabet, Meta, TSMC). La prime de 31% est justifiée par la qualité des actifs (marges, trésorerie) et la récurrence des revenus services. Une convergence vers la médiane impliquerait un downside de 24%, mais la prime semble durable compte tenu des avantages concurrentiels.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10.4% et une TGR de 3.0%, le prix implicite DCF est de 275$ (vs cours 248.8$), soit un upside de 10.5%. La prime de croissance semble partiellement intégrée, mais les catalyseurs (IA, Chine) pourraient justifier une réévaluation à la hausse si exécutés avec succès.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Dépendance iPhone 52% CA</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P/E de 32.61x surpasse de 50% la moyenne du secteur (21.8x) et reflète une valorisation déjà intégrant 5 ans de croissance future; or les marges brutes &gt;45% reposent sur un mix produit vieillissant avec iPhone à 52% du CA en 2024, en baisse tendancielle depuis 2020.</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Dette opérationnelle croissante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 trésorerie nette de 166Md$ masque une dette opérationnelle croissante avec 11.5Md$ de coûts de financement en 2023, soit 1.8x le résultat net de 6.3Md$ du segment services, fragilisant la rentabilité future.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Valorisation excessive P/E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L'Altman Z-score de 9.83, bien au-delà du seuil de 3, suggère une santé financière exceptionnelle; pourtant, ce ratio ignore les 38Md$ de rachats d'actions en 2023 qui ont artificiellement boosté le ROE à 151.9%, masquant une rentabilité économique réelle de 12.4% hors effets de levier.</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la demande premium de 15%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dans l'IA réduisant l'avantage différenciant</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Régulation chinoise limitant l'accès au marché</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+0,177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43,3 %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14</a:t>
                      </a:r>
                    </a:p>
                  </a:txBody>
                  <a:tcPr>
                    <a:solidFill>
                      <a:srgbClr val="EAF4EF"/>
                    </a:solidFill>
                  </a:tcPr>
                </a:tc>
                <a:tc>
                  <a:txBody>
                    <a:bodyPr/>
                    <a:lstStyle/>
                    <a:p>
                      <a:pPr algn="ctr"/>
                      <a:r>
                        <a:rPr sz="800" b="0" i="0">
                          <a:solidFill>
                            <a:srgbClr val="0D0D0D"/>
                          </a:solidFill>
                          <a:latin typeface="Calibri"/>
                        </a:rPr>
                        <a:t>+0,433</a:t>
                      </a:r>
                    </a:p>
                  </a:txBody>
                  <a:tcPr>
                    <a:solidFill>
                      <a:srgbClr val="EAF4EF"/>
                    </a:solidFill>
                  </a:tcPr>
                </a:tc>
                <a:tc>
                  <a:txBody>
                    <a:bodyPr/>
                    <a:lstStyle/>
                    <a:p>
                      <a:pPr algn="ctr"/>
                      <a:r>
                        <a:rPr sz="800" b="0" i="0">
                          <a:solidFill>
                            <a:srgbClr val="0D0D0D"/>
                          </a:solidFill>
                          <a:latin typeface="Calibri"/>
                        </a:rPr>
                        <a:t>Lancement iPhone 16 avec IA intégrée en septembre 2026 pourrait ajouter 12-15Md$ de revenus annuels d'ici 2027 | Impact sur les services cloud et abonnements via amélioration de l'expérience utilisateur</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9</a:t>
                      </a:r>
                    </a:p>
                  </a:txBody>
                  <a:tcPr>
                    <a:solidFill>
                      <a:srgbClr val="FFFFFF"/>
                    </a:solidFill>
                  </a:tcPr>
                </a:tc>
                <a:tc>
                  <a:txBody>
                    <a:bodyPr/>
                    <a:lstStyle/>
                    <a:p>
                      <a:pPr algn="ctr"/>
                      <a:r>
                        <a:rPr sz="800" b="0" i="0">
                          <a:solidFill>
                            <a:srgbClr val="0D0D0D"/>
                          </a:solidFill>
                          <a:latin typeface="Calibri"/>
                        </a:rPr>
                        <a:t>+0,312</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7</a:t>
                      </a:r>
                    </a:p>
                  </a:txBody>
                  <a:tcPr>
                    <a:solidFill>
                      <a:srgbClr val="FAF0EF"/>
                    </a:solidFill>
                  </a:tcPr>
                </a:tc>
                <a:tc>
                  <a:txBody>
                    <a:bodyPr/>
                    <a:lstStyle/>
                    <a:p>
                      <a:pPr algn="ctr"/>
                      <a:r>
                        <a:rPr sz="800" b="0" i="0">
                          <a:solidFill>
                            <a:srgbClr val="0D0D0D"/>
                          </a:solidFill>
                          <a:latin typeface="Calibri"/>
                        </a:rPr>
                        <a:t>+0,256</a:t>
                      </a:r>
                    </a:p>
                  </a:txBody>
                  <a:tcPr>
                    <a:solidFill>
                      <a:srgbClr val="FAF0EF"/>
                    </a:solidFill>
                  </a:tcPr>
                </a:tc>
                <a:tc>
                  <a:txBody>
                    <a:bodyPr/>
                    <a:lstStyle/>
                    <a:p>
                      <a:pPr algn="ctr"/>
                      <a:r>
                        <a:rPr sz="800" b="0" i="0">
                          <a:solidFill>
                            <a:srgbClr val="0D0D0D"/>
                          </a:solidFill>
                          <a:latin typeface="Calibri"/>
                        </a:rPr>
                        <a:t>Régulation chinoise accrue pourrait limiter l'accès au marché et réduire les marges de 5-8% | Impact sur les ventes iPhone estimées à 20Md$ d'ici 2027 | Horizon 12-18 mois avec risque de sanctions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l'optimisme autour des innovations IA et des services d'Apple, malgré un contexte de marché volatil affectant les "Magnificent 7". Les analystes anticipent une croissance future portée par les nouveaux cycles produits et l'IA, tempérée par les risques macroéconomiques.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27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25.7x EV/EBITDA vs 22.1x pour la médiane des peers technologiques. La prime de 16% est justifiée par la qualité des actifs et la récurrence des revenus services.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27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maintient une position dominante dans les écosystèmes premium avec des marges exceptionnelles. La valorisation reste attractive malgré une prime de croissance déjà intégrée. Les catalyseurs structurels (IA, services, Chine) soutiennent le scénario haussier à moyen terme.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