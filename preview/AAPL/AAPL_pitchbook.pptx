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457200" y="2720232"/>
            <a:ext cx="8229600" cy="475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B06000"/>
                </a:solidFill>
                <a:latin typeface="Calibri"/>
              </a:rPr>
              <a:t>● HOLD  ·  Prix cible base : — $  ·  Upside :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28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B06000"/>
                </a:solidFill>
                <a:latin typeface="Calibri"/>
              </a:rPr>
              <a:t>● HOLD</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 $  ·  Upside : —  ·  Bear : — $ (—)  ·  Bull : — $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Impact potentiel sur la these d'investissement — surveillance recommandee sur les 6-12 prochains mois.</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Impact potentiel sur la these d'investissement — surveillance recommandee sur les 6-12 prochains mois.</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Impact potentiel sur la these d'investissement — surveillance recommandee sur les 6-12 prochains mois.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25,7x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10,4 %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1,12  ·  RFR 4,4 %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intrinseque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-0,012</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Negatif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Risques structurels &amp; thèse contraire</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Presentation &amp; Positionnement strategique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t>
            </a:r>
          </a:p>
        </p:txBody>
      </p:sp>
      <p:sp>
        <p:nvSpPr>
          <p:cNvPr id="20" name="TextBox 19"/>
          <p:cNvSpPr txBox="1"/>
          <p:nvPr/>
        </p:nvSpPr>
        <p:spPr>
          <a:xfrm>
            <a:off x="503999" y="2358000"/>
            <a:ext cx="4662000" cy="183600"/>
          </a:xfrm>
          <a:prstGeom prst="rect">
            <a:avLst/>
          </a:prstGeom>
          <a:noFill/>
        </p:spPr>
        <p:txBody>
          <a:bodyPr wrap="square">
            <a:spAutoFit/>
          </a:bodyPr>
          <a:lstStyle/>
          <a:p>
            <a:pPr algn="l"/>
            <a:r>
              <a:rPr sz="900" b="1" i="0">
                <a:solidFill>
                  <a:srgbClr val="1B3A6B"/>
                </a:solidFill>
                <a:latin typeface="Calibri"/>
              </a:rPr>
              <a:t>Positionnement stratégique</a:t>
            </a:r>
          </a:p>
        </p:txBody>
      </p:sp>
      <p:sp>
        <p:nvSpPr>
          <p:cNvPr id="21" name="Rectangle 20"/>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3 652,7 Mds$</a:t>
            </a:r>
          </a:p>
        </p:txBody>
      </p:sp>
      <p:sp>
        <p:nvSpPr>
          <p:cNvPr id="24" name="TextBox 23"/>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boursiere</a:t>
            </a:r>
          </a:p>
        </p:txBody>
      </p:sp>
      <p:sp>
        <p:nvSpPr>
          <p:cNvPr id="25" name="Rectangle 24"/>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28" name="TextBox 27"/>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29" name="Rectangle 28"/>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248,80 $</a:t>
            </a:r>
          </a:p>
        </p:txBody>
      </p:sp>
      <p:sp>
        <p:nvSpPr>
          <p:cNvPr id="32" name="TextBox 31"/>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3" name="Rectangle 32"/>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25,7x</a:t>
            </a:r>
          </a:p>
        </p:txBody>
      </p:sp>
      <p:sp>
        <p:nvSpPr>
          <p:cNvPr id="36" name="TextBox 35"/>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37" name="TextBox 36"/>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32,6x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2731199"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31199"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2551199" cy="640800"/>
          </a:xfrm>
          <a:prstGeom prst="rect">
            <a:avLst/>
          </a:prstGeom>
          <a:noFill/>
        </p:spPr>
        <p:txBody>
          <a:bodyPr wrap="square">
            <a:spAutoFit/>
          </a:bodyPr>
          <a:lstStyle/>
          <a:p>
            <a:pPr algn="l"/>
            <a:r>
              <a:rPr sz="2200" b="1" i="0">
                <a:solidFill>
                  <a:srgbClr val="2E5FA3"/>
                </a:solidFill>
                <a:latin typeface="Calibri"/>
              </a:rPr>
              <a:t>—</a:t>
            </a:r>
          </a:p>
        </p:txBody>
      </p:sp>
      <p:sp>
        <p:nvSpPr>
          <p:cNvPr id="20" name="TextBox 19"/>
          <p:cNvSpPr txBox="1"/>
          <p:nvPr/>
        </p:nvSpPr>
        <p:spPr>
          <a:xfrm>
            <a:off x="4572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2551199" cy="255600"/>
          </a:xfrm>
          <a:prstGeom prst="rect">
            <a:avLst/>
          </a:prstGeom>
          <a:noFill/>
        </p:spPr>
        <p:txBody>
          <a:bodyPr wrap="square">
            <a:spAutoFit/>
          </a:bodyPr>
          <a:lstStyle/>
          <a:p>
            <a:pPr algn="l"/>
            <a:r>
              <a:rPr sz="1000" b="1" i="0">
                <a:solidFill>
                  <a:srgbClr val="1B3A6B"/>
                </a:solidFill>
                <a:latin typeface="Calibri"/>
              </a:rPr>
              <a:t>Core Business</a:t>
            </a:r>
          </a:p>
        </p:txBody>
      </p:sp>
      <p:sp>
        <p:nvSpPr>
          <p:cNvPr id="23" name="TextBox 22"/>
          <p:cNvSpPr txBox="1"/>
          <p:nvPr/>
        </p:nvSpPr>
        <p:spPr>
          <a:xfrm>
            <a:off x="457200" y="2332800"/>
            <a:ext cx="2551199" cy="2041199"/>
          </a:xfrm>
          <a:prstGeom prst="rect">
            <a:avLst/>
          </a:prstGeom>
          <a:noFill/>
        </p:spPr>
        <p:txBody>
          <a:bodyPr wrap="square">
            <a:spAutoFit/>
          </a:bodyPr>
          <a:lstStyle/>
          <a:p>
            <a:pPr algn="l"/>
            <a:r>
              <a:rPr sz="800" b="0" i="0">
                <a:solidFill>
                  <a:srgbClr val="555555"/>
                </a:solidFill>
                <a:latin typeface="Calibri"/>
              </a:rPr>
              <a:t>—</a:t>
            </a:r>
          </a:p>
        </p:txBody>
      </p:sp>
      <p:sp>
        <p:nvSpPr>
          <p:cNvPr id="24" name="Rectangle 23"/>
          <p:cNvSpPr/>
          <p:nvPr/>
        </p:nvSpPr>
        <p:spPr>
          <a:xfrm>
            <a:off x="3206400" y="961200"/>
            <a:ext cx="2731199"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206400" y="961200"/>
            <a:ext cx="2731199"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96400" y="1141200"/>
            <a:ext cx="2551199" cy="640800"/>
          </a:xfrm>
          <a:prstGeom prst="rect">
            <a:avLst/>
          </a:prstGeom>
          <a:noFill/>
        </p:spPr>
        <p:txBody>
          <a:bodyPr wrap="square">
            <a:spAutoFit/>
          </a:bodyPr>
          <a:lstStyle/>
          <a:p>
            <a:pPr algn="l"/>
            <a:r>
              <a:rPr sz="2200" b="1" i="0">
                <a:solidFill>
                  <a:srgbClr val="1A7A4A"/>
                </a:solidFill>
                <a:latin typeface="Calibri"/>
              </a:rPr>
              <a:t>—</a:t>
            </a:r>
          </a:p>
        </p:txBody>
      </p:sp>
      <p:sp>
        <p:nvSpPr>
          <p:cNvPr id="27" name="TextBox 26"/>
          <p:cNvSpPr txBox="1"/>
          <p:nvPr/>
        </p:nvSpPr>
        <p:spPr>
          <a:xfrm>
            <a:off x="32964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32964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96400" y="2059200"/>
            <a:ext cx="2551199" cy="255600"/>
          </a:xfrm>
          <a:prstGeom prst="rect">
            <a:avLst/>
          </a:prstGeom>
          <a:noFill/>
        </p:spPr>
        <p:txBody>
          <a:bodyPr wrap="square">
            <a:spAutoFit/>
          </a:bodyPr>
          <a:lstStyle/>
          <a:p>
            <a:pPr algn="l"/>
            <a:r>
              <a:rPr sz="1000" b="1" i="0">
                <a:solidFill>
                  <a:srgbClr val="1B3A6B"/>
                </a:solidFill>
                <a:latin typeface="Calibri"/>
              </a:rPr>
              <a:t>Growth Driver</a:t>
            </a:r>
          </a:p>
        </p:txBody>
      </p:sp>
      <p:sp>
        <p:nvSpPr>
          <p:cNvPr id="30" name="TextBox 29"/>
          <p:cNvSpPr txBox="1"/>
          <p:nvPr/>
        </p:nvSpPr>
        <p:spPr>
          <a:xfrm>
            <a:off x="3296400" y="2332800"/>
            <a:ext cx="2551199" cy="2041199"/>
          </a:xfrm>
          <a:prstGeom prst="rect">
            <a:avLst/>
          </a:prstGeom>
          <a:noFill/>
        </p:spPr>
        <p:txBody>
          <a:bodyPr wrap="square">
            <a:spAutoFit/>
          </a:bodyPr>
          <a:lstStyle/>
          <a:p>
            <a:pPr algn="l"/>
            <a:r>
              <a:rPr sz="800" b="0" i="0">
                <a:solidFill>
                  <a:srgbClr val="555555"/>
                </a:solidFill>
                <a:latin typeface="Calibri"/>
              </a:rPr>
              <a:t>—</a:t>
            </a:r>
          </a:p>
        </p:txBody>
      </p:sp>
      <p:sp>
        <p:nvSpPr>
          <p:cNvPr id="31" name="Rectangle 30"/>
          <p:cNvSpPr/>
          <p:nvPr/>
        </p:nvSpPr>
        <p:spPr>
          <a:xfrm>
            <a:off x="6045600" y="961200"/>
            <a:ext cx="2731199"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45600" y="961200"/>
            <a:ext cx="2731199" cy="54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35600" y="1141200"/>
            <a:ext cx="2551199" cy="640800"/>
          </a:xfrm>
          <a:prstGeom prst="rect">
            <a:avLst/>
          </a:prstGeom>
          <a:noFill/>
        </p:spPr>
        <p:txBody>
          <a:bodyPr wrap="square">
            <a:spAutoFit/>
          </a:bodyPr>
          <a:lstStyle/>
          <a:p>
            <a:pPr algn="l"/>
            <a:r>
              <a:rPr sz="2200" b="1" i="0">
                <a:solidFill>
                  <a:srgbClr val="888888"/>
                </a:solidFill>
                <a:latin typeface="Calibri"/>
              </a:rPr>
              <a:t>—</a:t>
            </a:r>
          </a:p>
        </p:txBody>
      </p:sp>
      <p:sp>
        <p:nvSpPr>
          <p:cNvPr id="34" name="TextBox 33"/>
          <p:cNvSpPr txBox="1"/>
          <p:nvPr/>
        </p:nvSpPr>
        <p:spPr>
          <a:xfrm>
            <a:off x="61356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35" name="Rectangle 34"/>
          <p:cNvSpPr/>
          <p:nvPr/>
        </p:nvSpPr>
        <p:spPr>
          <a:xfrm>
            <a:off x="61356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35600" y="2059200"/>
            <a:ext cx="2551199" cy="255600"/>
          </a:xfrm>
          <a:prstGeom prst="rect">
            <a:avLst/>
          </a:prstGeom>
          <a:noFill/>
        </p:spPr>
        <p:txBody>
          <a:bodyPr wrap="square">
            <a:spAutoFit/>
          </a:bodyPr>
          <a:lstStyle/>
          <a:p>
            <a:pPr algn="l"/>
            <a:r>
              <a:rPr sz="1000" b="1" i="0">
                <a:solidFill>
                  <a:srgbClr val="1B3A6B"/>
                </a:solidFill>
                <a:latin typeface="Calibri"/>
              </a:rPr>
              <a:t>International</a:t>
            </a:r>
          </a:p>
        </p:txBody>
      </p:sp>
      <p:sp>
        <p:nvSpPr>
          <p:cNvPr id="37" name="TextBox 36"/>
          <p:cNvSpPr txBox="1"/>
          <p:nvPr/>
        </p:nvSpPr>
        <p:spPr>
          <a:xfrm>
            <a:off x="6135600" y="2332800"/>
            <a:ext cx="2551199" cy="2041199"/>
          </a:xfrm>
          <a:prstGeom prst="rect">
            <a:avLst/>
          </a:prstGeom>
          <a:noFill/>
        </p:spPr>
        <p:txBody>
          <a:bodyPr wrap="square">
            <a:spAutoFit/>
          </a:bodyPr>
          <a:lstStyle/>
          <a:p>
            <a:pPr algn="l"/>
            <a:r>
              <a:rPr sz="800" b="0" i="0">
                <a:solidFill>
                  <a:srgbClr val="555555"/>
                </a:solidFill>
                <a:latin typeface="Calibri"/>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2021–2025</a:t>
            </a:r>
          </a:p>
        </p:txBody>
      </p:sp>
      <p:graphicFrame>
        <p:nvGraphicFramePr>
          <p:cNvPr id="17" name="Table 16"/>
          <p:cNvGraphicFramePr>
            <a:graphicFrameLocks noGrp="1"/>
          </p:cNvGraphicFramePr>
          <p:nvPr/>
        </p:nvGraphicFramePr>
        <p:xfrm>
          <a:off x="367200" y="914400"/>
          <a:ext cx="8413200" cy="1980000"/>
        </p:xfrm>
        <a:graphic>
          <a:graphicData uri="http://schemas.openxmlformats.org/drawingml/2006/table">
            <a:tbl>
              <a:tblPr firstRow="1" bandRow="1">
                <a:tableStyleId>{5C22544A-7EE6-4342-B048-85BDC9FD1C3A}</a:tableStyleId>
              </a:tblPr>
              <a:tblGrid>
                <a:gridCol w="2355696"/>
                <a:gridCol w="2019168"/>
                <a:gridCol w="2019168"/>
                <a:gridCol w="2019168"/>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r>
              <a:tr h="220000">
                <a:tc>
                  <a:txBody>
                    <a:bodyPr/>
                    <a:lstStyle/>
                    <a:p>
                      <a:pPr algn="l"/>
                      <a:r>
                        <a:rPr sz="800" b="1" i="0">
                          <a:solidFill>
                            <a:srgbClr val="0D0D0D"/>
                          </a:solidFill>
                          <a:latin typeface="Calibri"/>
                        </a:rPr>
                        <a:t>Resultat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r>
              <a:tr h="220000">
                <a:tc>
                  <a:txBody>
                    <a:bodyPr/>
                    <a:lstStyle/>
                    <a:p>
                      <a:pPr algn="l"/>
                      <a:r>
                        <a:rPr sz="800" b="1" i="0">
                          <a:solidFill>
                            <a:srgbClr val="0D0D0D"/>
                          </a:solidFill>
                          <a:latin typeface="Calibri"/>
                        </a:rPr>
                        <a:t>Resultat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interets</a:t>
                      </a:r>
                    </a:p>
                  </a:txBody>
                  <a:tcPr>
                    <a:solidFill>
                      <a:srgbClr val="F7F8FA"/>
                    </a:solidFill>
                  </a:tcPr>
                </a:tc>
                <a:tc>
                  <a:txBody>
                    <a:bodyPr/>
                    <a:lstStyle/>
                    <a:p>
                      <a:pPr algn="ctr"/>
                      <a:r>
                        <a:rPr sz="800" b="0" i="0">
                          <a:solidFill>
                            <a:srgbClr val="0D0D0D"/>
                          </a:solidFill>
                          <a:latin typeface="Calibri"/>
                        </a:rPr>
                        <a:t>29,1x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9,83</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32,6x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25,7x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248,80 $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a:t>
                      </a:r>
                    </a:p>
                  </a:txBody>
                  <a:tcPr>
                    <a:solidFill>
                      <a:srgbClr val="FAF0EF"/>
                    </a:solidFill>
                  </a:tcPr>
                </a:tc>
                <a:tc>
                  <a:txBody>
                    <a:bodyPr/>
                    <a:lstStyle/>
                    <a:p>
                      <a:pPr algn="ctr"/>
                      <a:r>
                        <a:rPr sz="2000" b="1" i="0">
                          <a:solidFill>
                            <a:srgbClr val="2E5FA3"/>
                          </a:solidFill>
                          <a:latin typeface="Calibri"/>
                        </a:rPr>
                        <a:t>—</a:t>
                      </a:r>
                    </a:p>
                  </a:txBody>
                  <a:tcPr>
                    <a:solidFill>
                      <a:srgbClr val="EEF3FA"/>
                    </a:solidFill>
                  </a:tcPr>
                </a:tc>
                <a:tc>
                  <a:txBody>
                    <a:bodyPr/>
                    <a:lstStyle/>
                    <a:p>
                      <a:pPr algn="ctr"/>
                      <a:r>
                        <a:rPr sz="2000" b="1" i="0">
                          <a:solidFill>
                            <a:srgbClr val="1A7A4A"/>
                          </a:solidFill>
                          <a:latin typeface="Calibri"/>
                        </a:rPr>
                        <a:t>—</a:t>
                      </a:r>
                    </a:p>
                  </a:txBody>
                  <a:tcPr>
                    <a:solidFill>
                      <a:srgbClr val="EAF4EF"/>
                    </a:solidFill>
                  </a:tcPr>
                </a:tc>
              </a:tr>
              <a:tr h="342900">
                <a:tc>
                  <a:txBody>
                    <a:bodyPr/>
                    <a:lstStyle/>
                    <a:p>
                      <a:pPr algn="ctr"/>
                      <a:r>
                        <a:rPr sz="1200" b="1" i="0">
                          <a:solidFill>
                            <a:srgbClr val="A82020"/>
                          </a:solidFill>
                          <a:latin typeface="Calibri"/>
                        </a:rPr>
                        <a:t>—</a:t>
                      </a:r>
                    </a:p>
                  </a:txBody>
                  <a:tcPr>
                    <a:solidFill>
                      <a:srgbClr val="FAF0EF"/>
                    </a:solidFill>
                  </a:tcPr>
                </a:tc>
                <a:tc>
                  <a:txBody>
                    <a:bodyPr/>
                    <a:lstStyle/>
                    <a:p>
                      <a:pPr algn="ctr"/>
                      <a:r>
                        <a:rPr sz="1200" b="1" i="0">
                          <a:solidFill>
                            <a:srgbClr val="2E5FA3"/>
                          </a:solidFill>
                          <a:latin typeface="Calibri"/>
                        </a:rPr>
                        <a:t>—</a:t>
                      </a:r>
                    </a:p>
                  </a:txBody>
                  <a:tcPr>
                    <a:solidFill>
                      <a:srgbClr val="EEF3FA"/>
                    </a:solidFill>
                  </a:tcPr>
                </a:tc>
                <a:tc>
                  <a:txBody>
                    <a:bodyPr/>
                    <a:lstStyle/>
                    <a:p>
                      <a:pPr algn="ctr"/>
                      <a:r>
                        <a:rPr sz="1200" b="1" i="0">
                          <a:solidFill>
                            <a:srgbClr val="1A7A4A"/>
                          </a:solidFill>
                          <a:latin typeface="Calibri"/>
                        </a:rPr>
                        <a:t>—</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sensibilite — Valeur intrinseque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871200"/>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90400">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90400">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3 652,7</a:t>
                      </a:r>
                    </a:p>
                  </a:txBody>
                  <a:tcPr>
                    <a:solidFill>
                      <a:srgbClr val="DDE8F5"/>
                    </a:solidFill>
                  </a:tcPr>
                </a:tc>
                <a:tc>
                  <a:txBody>
                    <a:bodyPr/>
                    <a:lstStyle/>
                    <a:p>
                      <a:pPr algn="ctr"/>
                      <a:r>
                        <a:rPr sz="800" b="1" i="0">
                          <a:solidFill>
                            <a:srgbClr val="1B3A6B"/>
                          </a:solidFill>
                          <a:latin typeface="Calibri"/>
                        </a:rPr>
                        <a:t>25,7x</a:t>
                      </a:r>
                    </a:p>
                  </a:txBody>
                  <a:tcPr>
                    <a:solidFill>
                      <a:srgbClr val="DDE8F5"/>
                    </a:solidFill>
                  </a:tcPr>
                </a:tc>
                <a:tc>
                  <a:txBody>
                    <a:bodyPr/>
                    <a:lstStyle/>
                    <a:p>
                      <a:pPr algn="ctr"/>
                      <a:r>
                        <a:rPr sz="800" b="1" i="0">
                          <a:solidFill>
                            <a:srgbClr val="1B3A6B"/>
                          </a:solidFill>
                          <a:latin typeface="Calibri"/>
                        </a:rPr>
                        <a:t>8,9x</a:t>
                      </a:r>
                    </a:p>
                  </a:txBody>
                  <a:tcPr>
                    <a:solidFill>
                      <a:srgbClr val="DDE8F5"/>
                    </a:solidFill>
                  </a:tcPr>
                </a:tc>
                <a:tc>
                  <a:txBody>
                    <a:bodyPr/>
                    <a:lstStyle/>
                    <a:p>
                      <a:pPr algn="ctr"/>
                      <a:r>
                        <a:rPr sz="800" b="1" i="0">
                          <a:solidFill>
                            <a:srgbClr val="1B3A6B"/>
                          </a:solidFill>
                          <a:latin typeface="Calibri"/>
                        </a:rPr>
                        <a:t>32,6x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90400">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graphicFrame>
        <p:nvGraphicFramePr>
          <p:cNvPr id="17" name="Table 16"/>
          <p:cNvGraphicFramePr>
            <a:graphicFrameLocks noGrp="1"/>
          </p:cNvGraphicFramePr>
          <p:nvPr/>
        </p:nvGraphicFramePr>
        <p:xfrm>
          <a:off x="367200" y="914400"/>
          <a:ext cx="8413200" cy="615600"/>
        </p:xfrm>
        <a:graphic>
          <a:graphicData uri="http://schemas.openxmlformats.org/drawingml/2006/table">
            <a:tbl>
              <a:tblPr firstRow="1" bandRow="1">
                <a:tableStyleId>{5C22544A-7EE6-4342-B048-85BDC9FD1C3A}</a:tableStyleId>
              </a:tblPr>
              <a:tblGrid>
                <a:gridCol w="2944620"/>
                <a:gridCol w="1682640"/>
                <a:gridCol w="1682640"/>
                <a:gridCol w="2103300"/>
              </a:tblGrid>
              <a:tr h="307800">
                <a:tc>
                  <a:txBody>
                    <a:bodyPr/>
                    <a:lstStyle/>
                    <a:p>
                      <a:pPr algn="l"/>
                      <a:r>
                        <a:rPr sz="800" b="1" i="0">
                          <a:solidFill>
                            <a:srgbClr val="FFFFFF"/>
                          </a:solidFill>
                          <a:latin typeface="Calibri"/>
                        </a:rPr>
                        <a:t>Methode</a:t>
                      </a:r>
                    </a:p>
                  </a:txBody>
                  <a:tcPr>
                    <a:solidFill>
                      <a:srgbClr val="1B3A6B"/>
                    </a:solidFill>
                  </a:tcPr>
                </a:tc>
                <a:tc>
                  <a:txBody>
                    <a:bodyPr/>
                    <a:lstStyle/>
                    <a:p>
                      <a:pPr algn="ctr"/>
                      <a:r>
                        <a:rPr sz="800" b="1" i="0">
                          <a:solidFill>
                            <a:srgbClr val="FFFFFF"/>
                          </a:solidFill>
                          <a:latin typeface="Calibri"/>
                        </a:rPr>
                        <a:t>Fourchette basse</a:t>
                      </a:r>
                    </a:p>
                  </a:txBody>
                  <a:tcPr>
                    <a:solidFill>
                      <a:srgbClr val="1B3A6B"/>
                    </a:solidFill>
                  </a:tcPr>
                </a:tc>
                <a:tc>
                  <a:txBody>
                    <a:bodyPr/>
                    <a:lstStyle/>
                    <a:p>
                      <a:pPr algn="ctr"/>
                      <a:r>
                        <a:rPr sz="800" b="1" i="0">
                          <a:solidFill>
                            <a:srgbClr val="FFFFFF"/>
                          </a:solidFill>
                          <a:latin typeface="Calibri"/>
                        </a:rPr>
                        <a:t>Fourchette haute</a:t>
                      </a:r>
                    </a:p>
                  </a:txBody>
                  <a:tcPr>
                    <a:solidFill>
                      <a:srgbClr val="1B3A6B"/>
                    </a:solidFill>
                  </a:tcPr>
                </a:tc>
                <a:tc>
                  <a:txBody>
                    <a:bodyPr/>
                    <a:lstStyle/>
                    <a:p>
                      <a:pPr algn="ctr"/>
                      <a:r>
                        <a:rPr sz="800" b="1" i="0">
                          <a:solidFill>
                            <a:srgbClr val="FFFFFF"/>
                          </a:solidFill>
                          <a:latin typeface="Calibri"/>
                        </a:rPr>
                        <a:t>Point central</a:t>
                      </a:r>
                    </a:p>
                  </a:txBody>
                  <a:tcPr>
                    <a:solidFill>
                      <a:srgbClr val="1B3A6B"/>
                    </a:solidFill>
                  </a:tcPr>
                </a:tc>
              </a:tr>
              <a:tr h="307800">
                <a:tc>
                  <a:txBody>
                    <a:bodyPr/>
                    <a:lstStyle/>
                    <a:p>
                      <a:pPr algn="l"/>
                      <a:r>
                        <a:rPr sz="800" b="0" i="0">
                          <a:solidFill>
                            <a:srgbClr val="0D0D0D"/>
                          </a:solidFill>
                          <a:latin typeface="Calibri"/>
                        </a:rPr>
                        <a:t>Cours actuel (248,80)</a:t>
                      </a:r>
                    </a:p>
                  </a:txBody>
                  <a:tcPr>
                    <a:solidFill>
                      <a:srgbClr val="EEF3FA"/>
                    </a:solidFill>
                  </a:tcPr>
                </a:tc>
                <a:tc>
                  <a:txBody>
                    <a:bodyPr/>
                    <a:lstStyle/>
                    <a:p>
                      <a:pPr algn="ctr"/>
                      <a:r>
                        <a:rPr sz="800" b="0" i="0">
                          <a:solidFill>
                            <a:srgbClr val="0D0D0D"/>
                          </a:solidFill>
                          <a:latin typeface="Calibri"/>
                        </a:rPr>
                        <a:t>—</a:t>
                      </a:r>
                    </a:p>
                  </a:txBody>
                  <a:tcPr>
                    <a:solidFill>
                      <a:srgbClr val="EEF3FA"/>
                    </a:solidFill>
                  </a:tcPr>
                </a:tc>
                <a:tc>
                  <a:txBody>
                    <a:bodyPr/>
                    <a:lstStyle/>
                    <a:p>
                      <a:pPr algn="ctr"/>
                      <a:r>
                        <a:rPr sz="800" b="0" i="0">
                          <a:solidFill>
                            <a:srgbClr val="0D0D0D"/>
                          </a:solidFill>
                          <a:latin typeface="Calibri"/>
                        </a:rPr>
                        <a:t>—</a:t>
                      </a:r>
                    </a:p>
                  </a:txBody>
                  <a:tcPr>
                    <a:solidFill>
                      <a:srgbClr val="EEF3FA"/>
                    </a:solidFill>
                  </a:tcPr>
                </a:tc>
                <a:tc>
                  <a:txBody>
                    <a:bodyPr/>
                    <a:lstStyle/>
                    <a:p>
                      <a:pPr algn="ctr"/>
                      <a:r>
                        <a:rPr sz="800" b="0" i="0">
                          <a:solidFill>
                            <a:srgbClr val="0D0D0D"/>
                          </a:solidFill>
                          <a:latin typeface="Calibri"/>
                        </a:rPr>
                        <a:t>248,80</a:t>
                      </a:r>
                    </a:p>
                  </a:txBody>
                  <a:tcPr>
                    <a:solidFill>
                      <a:srgbClr val="EEF3FA"/>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Risque 1</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Risque macro-economique : remontee des taux ou ralentissement de la demande mondiale.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Risque 2</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Risque sectoriel : intensification de la concurrence ou disruption technologique.</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Risque 3</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Risque specifique : deterioration des marges ou execution strategique.</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these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Remontée des taux directeurs &gt; 200bps</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Rupture technologique remettant en cause le modèle</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Détérioration matérielle des marges opérationnelles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Negatif</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agrege : -0,012</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analyses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Fenetre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40,8 %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Modele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HOLD</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Coherence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Aligne avec la these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13</a:t>
                      </a:r>
                    </a:p>
                  </a:txBody>
                  <a:tcPr>
                    <a:solidFill>
                      <a:srgbClr val="EAF4EF"/>
                    </a:solidFill>
                  </a:tcPr>
                </a:tc>
                <a:tc>
                  <a:txBody>
                    <a:bodyPr/>
                    <a:lstStyle/>
                    <a:p>
                      <a:pPr algn="ctr"/>
                      <a:r>
                        <a:rPr sz="800" b="0" i="0">
                          <a:solidFill>
                            <a:srgbClr val="0D0D0D"/>
                          </a:solidFill>
                          <a:latin typeface="Calibri"/>
                        </a:rPr>
                        <a:t>+0,396</a:t>
                      </a:r>
                    </a:p>
                  </a:txBody>
                  <a:tcPr>
                    <a:solidFill>
                      <a:srgbClr val="EAF4EF"/>
                    </a:solidFill>
                  </a:tcPr>
                </a:tc>
                <a:tc>
                  <a:txBody>
                    <a:bodyPr/>
                    <a:lstStyle/>
                    <a:p>
                      <a:pPr algn="ctr"/>
                      <a:r>
                        <a:rPr sz="800" b="0" i="0">
                          <a:solidFill>
                            <a:srgbClr val="0D0D0D"/>
                          </a:solidFill>
                          <a:latin typeface="Calibri"/>
                        </a:rPr>
                        <a:t>Catalyseurs, croissance, résultats</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3</a:t>
                      </a:r>
                    </a:p>
                  </a:txBody>
                  <a:tcPr>
                    <a:solidFill>
                      <a:srgbClr val="FFFFFF"/>
                    </a:solidFill>
                  </a:tcPr>
                </a:tc>
                <a:tc>
                  <a:txBody>
                    <a:bodyPr/>
                    <a:lstStyle/>
                    <a:p>
                      <a:pPr algn="ctr"/>
                      <a:r>
                        <a:rPr sz="800" b="0" i="0">
                          <a:solidFill>
                            <a:srgbClr val="0D0D0D"/>
                          </a:solidFill>
                          <a:latin typeface="Calibri"/>
                        </a:rPr>
                        <a:t>+0,196</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14</a:t>
                      </a:r>
                    </a:p>
                  </a:txBody>
                  <a:tcPr>
                    <a:solidFill>
                      <a:srgbClr val="FAF0EF"/>
                    </a:solidFill>
                  </a:tcPr>
                </a:tc>
                <a:tc>
                  <a:txBody>
                    <a:bodyPr/>
                    <a:lstStyle/>
                    <a:p>
                      <a:pPr algn="ctr"/>
                      <a:r>
                        <a:rPr sz="800" b="0" i="0">
                          <a:solidFill>
                            <a:srgbClr val="0D0D0D"/>
                          </a:solidFill>
                          <a:latin typeface="Calibri"/>
                        </a:rPr>
                        <a:t>+0,408</a:t>
                      </a:r>
                    </a:p>
                  </a:txBody>
                  <a:tcPr>
                    <a:solidFill>
                      <a:srgbClr val="FAF0EF"/>
                    </a:solidFill>
                  </a:tcPr>
                </a:tc>
                <a:tc>
                  <a:txBody>
                    <a:bodyPr/>
                    <a:lstStyle/>
                    <a:p>
                      <a:pPr algn="ctr"/>
                      <a:r>
                        <a:rPr sz="800" b="0" i="0">
                          <a:solidFill>
                            <a:srgbClr val="0D0D0D"/>
                          </a:solidFill>
                          <a:latin typeface="Calibri"/>
                        </a:rPr>
                        <a:t>Risques macro, concurrence, dette</a:t>
                      </a:r>
                    </a:p>
                  </a:txBody>
                  <a:tcPr>
                    <a:solidFill>
                      <a:srgbClr val="FAF0EF"/>
                    </a:solidFill>
                  </a:tcPr>
                </a:tc>
              </a:tr>
            </a:tbl>
          </a:graphicData>
        </a:graphic>
      </p:graphicFrame>
      <p:sp>
        <p:nvSpPr>
          <p:cNvPr id="39" name="TextBox 38"/>
          <p:cNvSpPr txBox="1"/>
          <p:nvPr/>
        </p:nvSpPr>
        <p:spPr>
          <a:xfrm>
            <a:off x="367200" y="4140000"/>
            <a:ext cx="8413200" cy="914400"/>
          </a:xfrm>
          <a:prstGeom prst="rect">
            <a:avLst/>
          </a:prstGeom>
          <a:noFill/>
        </p:spPr>
        <p:txBody>
          <a:bodyPr wrap="square">
            <a:spAutoFit/>
          </a:bodyPr>
          <a:lstStyle/>
          <a:p>
            <a:pPr algn="l"/>
            <a:r>
              <a:rPr sz="850" b="0" i="0">
                <a:solidFill>
                  <a:srgbClr val="333333"/>
                </a:solidFill>
                <a:latin typeface="Calibri"/>
              </a:rPr>
              <a:t>La presse financière souligne une semaine difficile pour Apple, marquée par un recul du secteur tech et une volatilité accrue. Cependant, les initiatives en IA et la croissance des services restent des points positifs majeurs pour l'action.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28 mars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USD  ·  Au 28 mars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248,80 $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+17,6 %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609975"/>
            <a:ext cx="498636" cy="285224"/>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38" name="Rectangle 37"/>
          <p:cNvSpPr/>
          <p:nvPr/>
        </p:nvSpPr>
        <p:spPr>
          <a:xfrm>
            <a:off x="12933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40" name="Rectangle 39"/>
          <p:cNvSpPr/>
          <p:nvPr/>
        </p:nvSpPr>
        <p:spPr>
          <a:xfrm>
            <a:off x="1949400" y="3739196"/>
            <a:ext cx="498636" cy="15600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2" name="Rectangle 41"/>
          <p:cNvSpPr/>
          <p:nvPr/>
        </p:nvSpPr>
        <p:spPr>
          <a:xfrm>
            <a:off x="2605500" y="3695265"/>
            <a:ext cx="498636" cy="19993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4" name="Rectangle 43"/>
          <p:cNvSpPr/>
          <p:nvPr/>
        </p:nvSpPr>
        <p:spPr>
          <a:xfrm>
            <a:off x="3261600" y="3244920"/>
            <a:ext cx="498636" cy="65027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6" name="Rectangle 45"/>
          <p:cNvSpPr/>
          <p:nvPr/>
        </p:nvSpPr>
        <p:spPr>
          <a:xfrm>
            <a:off x="3917700" y="2827478"/>
            <a:ext cx="498636" cy="106772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8" name="Rectangle 47"/>
          <p:cNvSpPr/>
          <p:nvPr/>
        </p:nvSpPr>
        <p:spPr>
          <a:xfrm>
            <a:off x="4573800" y="2538706"/>
            <a:ext cx="498636" cy="135649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50" name="Rectangle 49"/>
          <p:cNvSpPr/>
          <p:nvPr/>
        </p:nvSpPr>
        <p:spPr>
          <a:xfrm>
            <a:off x="52299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2" name="Rectangle 51"/>
          <p:cNvSpPr/>
          <p:nvPr/>
        </p:nvSpPr>
        <p:spPr>
          <a:xfrm>
            <a:off x="5886000" y="2506539"/>
            <a:ext cx="498636" cy="138866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4" name="Rectangle 53"/>
          <p:cNvSpPr/>
          <p:nvPr/>
        </p:nvSpPr>
        <p:spPr>
          <a:xfrm>
            <a:off x="6542100" y="2733917"/>
            <a:ext cx="498636" cy="11612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6" name="Rectangle 55"/>
          <p:cNvSpPr/>
          <p:nvPr/>
        </p:nvSpPr>
        <p:spPr>
          <a:xfrm>
            <a:off x="7198200" y="2647708"/>
            <a:ext cx="498636" cy="124749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8" name="Rectangle 57"/>
          <p:cNvSpPr/>
          <p:nvPr/>
        </p:nvSpPr>
        <p:spPr>
          <a:xfrm>
            <a:off x="7854300" y="2925819"/>
            <a:ext cx="498636" cy="96938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199</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225</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252</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278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