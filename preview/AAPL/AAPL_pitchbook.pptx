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240 $ (-3,5 %)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des services à +15% YoY d'ici 2027 grâce à l'expansion des abonnements tiers et à l'augmentation des prix des commissions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Marges nettes soutenues à 27% via le mix services (70% EBITDA) et la réduction des coûts logistiques sur l'iPhone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 generation</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Valorisation à 28x P/E justifiée par un ROIC de 84% et une croissance organique supérieure aux peers technologiques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l'App Store réduisant les commissions de 30% à 15% d'ici 2027, impactant les revenus services de -12% | Horizon 2026-2027</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Meta) avec une perte de part de marché sur les services cloud (-8% CA d'ici 2027) | Horizon 2026</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(-5% croissance iPhone en 2026) et dépréciation du yuan de -10% impactant les marges de 200bps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positionnement haut de gamme axé sur l'expérience utilisateur et l'écosystème fermé. Leader sur le segment premium des smartphones (20% de part de marché mondiale) et des services (25% de marge EBITDA). Avantages concurrentiels : intégration verticale, fidélisation client via l'Apple ID, et pouvoir de pricing exceptionnel avec des marges brutes à 46.9%.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60%, Mac 10%, iPad 8%, Wearables 10%) avec modèle basé sur des cycles de renouvellement de 3-4 ans et une stratégie de prix premium. Clients : consommateurs haut de gamme et entreprises via programmes BYOD. Croissance tirée par l'innovation (puces M-series) et l'expansion géographique en Asie.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(Apple Music, iCloud, App Store, Apple TV+) générant des revenus récurrents (20% du CA total) avec une marge EBITDA de 70%. Modèle basé sur des commissions (30% standard) et des abonnements tiers. Clients : base installée de 1.5 milliard d'appareils actifs. Croissance portée par les services cloud et la publicité (Search Ads).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60%, Mac 10%, iPad 8%, Wearables 10%) avec modèle basé sur des cycles de renouvellement de 3-4 ans et une stratégie de prix premium. Clients : consommateurs haut de gamme et entreprises via programmes BYOD. Croissance tirée par l'innovation (puces M-series) et l'expansion géographique en Asie.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(Apple Music, iCloud, App Store, Apple TV+) générant des revenus récurrents (20% du CA total) avec une marge EBITDA de 70%. Modèle basé sur des commissions (30% standard) et des abonnements tiers. Clients : base installée de 1.5 milliard d'appareils actifs. Croissance portée par les services cloud et la publicité (Search Ads).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480,0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+7,9 %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230,4</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36,4 %</a:t>
                      </a:r>
                    </a:p>
                  </a:txBody>
                  <a:tcPr>
                    <a:solidFill>
                      <a:srgbClr val="F7F8FA"/>
                    </a:solidFill>
                  </a:tcPr>
                </a:tc>
                <a:tc>
                  <a:txBody>
                    <a:bodyPr/>
                    <a:lstStyle/>
                    <a:p>
                      <a:pPr algn="ctr"/>
                      <a:r>
                        <a:rPr sz="750" b="0" i="1">
                          <a:solidFill>
                            <a:srgbClr val="555555"/>
                          </a:solidFill>
                          <a:latin typeface="Calibri"/>
                        </a:rPr>
                        <a:t>37,1 %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121,0</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27,2 %</a:t>
                      </a:r>
                    </a:p>
                  </a:txBody>
                  <a:tcPr>
                    <a:solidFill>
                      <a:srgbClr val="F7F8FA"/>
                    </a:solidFill>
                  </a:tcPr>
                </a:tc>
                <a:tc>
                  <a:txBody>
                    <a:bodyPr/>
                    <a:lstStyle/>
                    <a:p>
                      <a:pPr algn="ctr"/>
                      <a:r>
                        <a:rPr sz="750" b="0" i="1">
                          <a:solidFill>
                            <a:srgbClr val="555555"/>
                          </a:solidFill>
                          <a:latin typeface="Calibri"/>
                        </a:rPr>
                        <a:t>27,7 %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à +6.4% en 2025 portée par les services (+18% YoY) et l'iPhone en Chine (+12% YoY). Marges nettes en hausse de 290bps grâce au mix services (12% du CA) et à la réduction des coûts de supply chain (-15% sur les composants mémoire). Free cash flow de 110Mds$ en 2025, soit 26% du CA, renforçant la capacité d'investissement dans l'IA et les wearables.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à +6.4% en 2025 portée par les services (+18% YoY) et l'iPhone en Chine (+12% YoY). Marges nettes en hausse de 290bps grâce au mix services (12% du CA) et à la réduction des coûts de supply chain (-15% sur les composants mémoire). Free cash flow de 110Mds$ en 2025, soit 26% du CA, renforçant la capacité d'investissement dans l'IA et les wearables.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en hausse de 280bps depuis 2022 (44.1% à 46.9%) grâce à l'amélioration du mix produits (iPhone 15 Pro à 1000$+) et à la réduction des coûts de production (-8% sur les puces). Marges EBITDA stables à 34.8% malgré la hausse des R&amp;D (+12% YoY) grâce au levier opérationnel sur les services. Ces niveaux reflètent un pouvoir de pricing exceptionnel et une discipline de coût historique, soutenant la durabilité des marges à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-3,5 %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10.4% et TGR 3.0% impliquent un prix implicite DCF de 295$ vs cours de 248.8$, soit un upside de 19%. La prime actuelle de 32.6x P/E vs 28x peers suggère une croissance déjà partiellement pricee, mais les catalyseurs (IA, services) pourraient justifier une revalorisation. Un déclenchement de l'upside nécessiterait une accélération des revenus services &gt;20% ou une compression des coûts R&amp;D.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36,5x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1999">
                <a:tc>
                  <a:txBody>
                    <a:bodyPr/>
                    <a:lstStyle/>
                    <a:p>
                      <a:pPr algn="l"/>
                      <a:r>
                        <a:rPr sz="800" b="0" i="0">
                          <a:solidFill>
                            <a:srgbClr val="0D0D0D"/>
                          </a:solidFill>
                          <a:latin typeface="Calibri"/>
                        </a:rPr>
                        <a:t>Samsung Electronics</a:t>
                      </a:r>
                    </a:p>
                  </a:txBody>
                  <a:tcPr>
                    <a:solidFill>
                      <a:srgbClr val="F7F8FA"/>
                    </a:solidFill>
                  </a:tcPr>
                </a:tc>
                <a:tc>
                  <a:txBody>
                    <a:bodyPr/>
                    <a:lstStyle/>
                    <a:p>
                      <a:pPr algn="ctr"/>
                      <a:r>
                        <a:rPr sz="750" b="0" i="0">
                          <a:solidFill>
                            <a:srgbClr val="555555"/>
                          </a:solidFill>
                          <a:latin typeface="Calibri"/>
                        </a:rPr>
                        <a:t>005930.KS</a:t>
                      </a:r>
                    </a:p>
                  </a:txBody>
                  <a:tcPr>
                    <a:solidFill>
                      <a:srgbClr val="F7F8FA"/>
                    </a:solidFill>
                  </a:tcPr>
                </a:tc>
                <a:tc>
                  <a:txBody>
                    <a:bodyPr/>
                    <a:lstStyle/>
                    <a:p>
                      <a:pPr algn="ctr"/>
                      <a:r>
                        <a:rPr sz="800" b="0" i="0">
                          <a:solidFill>
                            <a:srgbClr val="0D0D0D"/>
                          </a:solidFill>
                          <a:latin typeface="Calibri"/>
                        </a:rPr>
                        <a:t>450,0</a:t>
                      </a:r>
                    </a:p>
                  </a:txBody>
                  <a:tcPr>
                    <a:solidFill>
                      <a:srgbClr val="F7F8FA"/>
                    </a:solidFill>
                  </a:tcPr>
                </a:tc>
                <a:tc>
                  <a:txBody>
                    <a:bodyPr/>
                    <a:lstStyle/>
                    <a:p>
                      <a:pPr algn="ctr"/>
                      <a:r>
                        <a:rPr sz="800" b="0" i="0">
                          <a:solidFill>
                            <a:srgbClr val="0D0D0D"/>
                          </a:solidFill>
                          <a:latin typeface="Calibri"/>
                        </a:rPr>
                        <a:t>8,2x</a:t>
                      </a:r>
                    </a:p>
                  </a:txBody>
                  <a:tcPr>
                    <a:solidFill>
                      <a:srgbClr val="F7F8FA"/>
                    </a:solidFill>
                  </a:tcPr>
                </a:tc>
                <a:tc>
                  <a:txBody>
                    <a:bodyPr/>
                    <a:lstStyle/>
                    <a:p>
                      <a:pPr algn="ctr"/>
                      <a:r>
                        <a:rPr sz="800" b="0" i="0">
                          <a:solidFill>
                            <a:srgbClr val="0D0D0D"/>
                          </a:solidFill>
                          <a:latin typeface="Calibri"/>
                        </a:rPr>
                        <a:t>1,2x</a:t>
                      </a:r>
                    </a:p>
                  </a:txBody>
                  <a:tcPr>
                    <a:solidFill>
                      <a:srgbClr val="F7F8FA"/>
                    </a:solidFill>
                  </a:tcPr>
                </a:tc>
                <a:tc>
                  <a:txBody>
                    <a:bodyPr/>
                    <a:lstStyle/>
                    <a:p>
                      <a:pPr algn="ctr"/>
                      <a:r>
                        <a:rPr sz="800" b="0" i="0">
                          <a:solidFill>
                            <a:srgbClr val="0D0D0D"/>
                          </a:solidFill>
                          <a:latin typeface="Calibri"/>
                        </a:rPr>
                        <a:t>12,5x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22,0 %</a:t>
                      </a:r>
                    </a:p>
                  </a:txBody>
                  <a:tcPr>
                    <a:solidFill>
                      <a:srgbClr val="F7F8FA"/>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2 100,0</a:t>
                      </a:r>
                    </a:p>
                  </a:txBody>
                  <a:tcPr>
                    <a:solidFill>
                      <a:srgbClr val="FFFFFF"/>
                    </a:solidFill>
                  </a:tcPr>
                </a:tc>
                <a:tc>
                  <a:txBody>
                    <a:bodyPr/>
                    <a:lstStyle/>
                    <a:p>
                      <a:pPr algn="ctr"/>
                      <a:r>
                        <a:rPr sz="800" b="0" i="0">
                          <a:solidFill>
                            <a:srgbClr val="0D0D0D"/>
                          </a:solidFill>
                          <a:latin typeface="Calibri"/>
                        </a:rPr>
                        <a:t>20,5x</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38,0 %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18,0x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600,0</a:t>
                      </a:r>
                    </a:p>
                  </a:txBody>
                  <a:tcPr>
                    <a:solidFill>
                      <a:srgbClr val="FFFFFF"/>
                    </a:solidFill>
                  </a:tcPr>
                </a:tc>
                <a:tc>
                  <a:txBody>
                    <a:bodyPr/>
                    <a:lstStyle/>
                    <a:p>
                      <a:pPr algn="ctr"/>
                      <a:r>
                        <a:rPr sz="800" b="0" i="0">
                          <a:solidFill>
                            <a:srgbClr val="0D0D0D"/>
                          </a:solidFill>
                          <a:latin typeface="Calibri"/>
                        </a:rPr>
                        <a:t>15,0x</a:t>
                      </a:r>
                    </a:p>
                  </a:txBody>
                  <a:tcPr>
                    <a:solidFill>
                      <a:srgbClr val="FFFFFF"/>
                    </a:solidFill>
                  </a:tcPr>
                </a:tc>
                <a:tc>
                  <a:txBody>
                    <a:bodyPr/>
                    <a:lstStyle/>
                    <a:p>
                      <a:pPr algn="ctr"/>
                      <a:r>
                        <a:rPr sz="800" b="0" i="0">
                          <a:solidFill>
                            <a:srgbClr val="0D0D0D"/>
                          </a:solidFill>
                          <a:latin typeface="Calibri"/>
                        </a:rPr>
                        <a:t>9,5x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18,0x</a:t>
                      </a:r>
                    </a:p>
                  </a:txBody>
                  <a:tcPr>
                    <a:solidFill>
                      <a:srgbClr val="F7F8FA"/>
                    </a:solidFill>
                  </a:tcPr>
                </a:tc>
                <a:tc>
                  <a:txBody>
                    <a:bodyPr/>
                    <a:lstStyle/>
                    <a:p>
                      <a:pPr algn="ctr"/>
                      <a:r>
                        <a:rPr sz="800" b="1" i="0">
                          <a:solidFill>
                            <a:srgbClr val="0D0D0D"/>
                          </a:solidFill>
                          <a:latin typeface="Calibri"/>
                        </a:rPr>
                        <a:t>9,5x</a:t>
                      </a:r>
                    </a:p>
                  </a:txBody>
                  <a:tcPr>
                    <a:solidFill>
                      <a:srgbClr val="F7F8FA"/>
                    </a:solidFill>
                  </a:tcPr>
                </a:tc>
                <a:tc>
                  <a:txBody>
                    <a:bodyPr/>
                    <a:lstStyle/>
                    <a:p>
                      <a:pPr algn="ctr"/>
                      <a:r>
                        <a:rPr sz="800" b="1" i="0">
                          <a:solidFill>
                            <a:srgbClr val="0D0D0D"/>
                          </a:solidFill>
                          <a:latin typeface="Calibri"/>
                        </a:rPr>
                        <a:t>28,0x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trade à +25% vs mediane peers (EV/EBITDA 21x) et +15% vs Microsoft (EV/EBITDA 22x). La prime est justifiée par une croissance organique supérieure (+8% vs +6% peers) et une marge nette de 27% vs 22% pour Samsung. Une convergence vers la médiane impliquerait un downside de 10%, mais la prime semble durable compte tenu de l'écosystème intégré et de la diversification des revenus.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10.4% et TGR 3.0% impliquent un prix implicite DCF de 295$ vs cours de 248.8$, soit un upside de 19%. La prime actuelle de 32.6x P/E vs 28x peers suggère une croissance déjà partiellement pricee, mais les catalyseurs (IA, services) pourraient justifier une revalorisation. Un déclenchement de l'upside nécessiterait une accélération des revenus services &gt;20% ou une compression des coûts R&amp;D.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Surévaluation P/E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à 32.61x surpasse de 50% la moyenne sectorielle (21.8x) malgré une croissance des revenus limitée à 6.4% en 2025, signalant une surévaluation évidente. Les marges brutes de 46.9% reposent sur un écosystème captif dont la saturation du marché des smartphones limite toute expansion future. Le ROE à 151.9% masque une rentabilité artificiellement gonflée par les rachats d'actions plutôt que par une croissance organique durable.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tensions géopolitiques en Chine, représentant 19% du CA, pourraient réduire les ventes de 12% à 15% en cas de restrictions, impactant directement le P/E déjà élevé. La dépendance à l'iPhone, générant 52% des revenus, expose Apple à un risque de substitution par des alternatives moins chères, notamment en Inde où les parts de marché chutent de 3% par an. Les coûts de R&amp;D en hausse de 8% par an depuis 2020 n'ont pas encore produit d'innovations disruptives capables de…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Innovation insuffisante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ratio EV/EBITDA à 25.67x dépasse de 35% celui de Microsoft (18.9x), malgré une diversification moindre. La dette nette/EBITDA à 0.43x est un leurre, car 68% de la trésorerie est bloquée hors des États-Unis, limitant sa flexibilité financière. Les marges nettes de 26.9% pourraient chuter à 20% si les régulateurs américains imposent des amendes pour pratiques anticoncurrentielles, comme le suggère la récente enquête de la FTC.</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de 15% des dépenses tech des consommateurs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de l'IA générative limitant les fonctionnalités premium des services Apple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lancement de l'iPhone 17 avec baisse de part de marché en Chine sous 15%</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45,0 %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+0,231</a:t>
                      </a:r>
                    </a:p>
                  </a:txBody>
                  <a:tcPr>
                    <a:solidFill>
                      <a:srgbClr val="EAF4EF"/>
                    </a:solidFill>
                  </a:tcPr>
                </a:tc>
                <a:tc>
                  <a:txBody>
                    <a:bodyPr/>
                    <a:lstStyle/>
                    <a:p>
                      <a:pPr algn="ctr"/>
                      <a:r>
                        <a:rPr sz="800" b="0" i="0">
                          <a:solidFill>
                            <a:srgbClr val="0D0D0D"/>
                          </a:solidFill>
                          <a:latin typeface="Calibri"/>
                        </a:rPr>
                        <a:t>Expansion des services cloud à +20% YoY d'ici 2027, avec une marge EBITDA cible de 75% via l'augmentation des abonnements tiers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+0,450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+0,319</a:t>
                      </a:r>
                    </a:p>
                  </a:txBody>
                  <a:tcPr>
                    <a:solidFill>
                      <a:srgbClr val="FAF0EF"/>
                    </a:solidFill>
                  </a:tcPr>
                </a:tc>
                <a:tc>
                  <a:txBody>
                    <a:bodyPr/>
                    <a:lstStyle/>
                    <a:p>
                      <a:pPr algn="ctr"/>
                      <a:r>
                        <a:rPr sz="800" b="0" i="0">
                          <a:solidFill>
                            <a:srgbClr val="0D0D0D"/>
                          </a:solidFill>
                          <a:latin typeface="Calibri"/>
                        </a:rPr>
                        <a:t>Régulation européenne sur l'App Store réduisant les commissions de 30% à 15% d'ici 2027, impactant les revenus services de -12% | Horizon 2026-2027</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d'Apple face à l'IA et à la concurrence, tout en saluant ses initiatives stratégiques comme l'ouverture de Siri. Les annonces sur les bonus et l'innovation sont perçues positivement, mais les prédictions de déclin relatif pèsent sur le sentiment.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Prime de 20% vs mediane peers (EV/EBITDA 21x) justifiée par la qualité des actifs et la croissance des services. Décote de 15% sur P/E vs Microsoft reflète une croissance plus volatile mais mieux diversifiée.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attractive malgré une prime modérée vs peers, soutenue par une génération de cash robuste et un écosystème intégré unique.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