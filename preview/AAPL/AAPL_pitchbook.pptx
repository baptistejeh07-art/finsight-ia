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275 $  ·  Upside : +10,5 %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275 $  ·  Upside : +10,5 %  ·  Bear : 220 $ (-11,6 %)  ·  Bull : 310 $ (+24,6 %)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Apple devrait bénéficier d'une croissance des services à +12% YoY d'ici 2027 grâce à 1.5Md d'utilisateurs actifs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brute devrait atteindre 48% en 2027 via un mix favorable iPhone/services et une optimisation des coûts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Marges élevées</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ROIC de 84.4% valide une allocation capital efficace, avec un cash flow libre de 110Md USD attendu en 2026.</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App Store en UE/US pourrait réduire les marges services de 200bps d'ici 2027 | Horizon: 2026-2027, impact -15Md USD CA</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 App Store</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IA (Google, Microsoft) menace l'avantage différenciant des services Apple | Horizon: 2026, risque de compression marges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Dépendance au iPhone (50% CA) expose à un ralentissement du marché premium en 2026 (-3% ventes) | Horizon: 2026, impact -12Md USD CA</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20,1x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275 $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+10,5 %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-0,077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 App Store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smartphones, ordinateurs, wearables et services via un écosystème intégré. Positionné en premium, l'entreprise domine les marchés avec une fidélisation client élevée et des marges structurellement élevées. Ses avantages incluent le pricing power, l'intégration verticale et une base d'utilisateurs récurrents pour les services (App Store, iCloud).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smartphones (iPhone ~50% CA), Mac, iPad et wearables avec modèle basé sur l'innovation et le premium pricing. Clients cibles : consommateurs haut de gamme et professionnels. Croissance portée par les mises à jour annuelles et l'écosystème Apple.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(Apple Music, iCloud, App Store) et services tiers avec modèle récurrent et marges &gt;70%. Clients : utilisateurs existants de l'écosystème. Croissance tirée par l'augmentation du parc d'appareils et la monétisation des services.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62%</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smartphones (iPhone ~50% CA), Mac, iPad et wearables avec modèle basé sur l'innovation et le premium pricing. Clients cibles : consommateurs haut de gamme et professionnels. Croissance portée par les mises à jour annuelles et l'écosystème Apple.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21%</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(Apple Music, iCloud, App Store) et services tiers avec modèle récurrent et marges &gt;70%. Clients : utilisateurs existants de l'écosystème. Croissance tirée par l'augmentation du parc d'appareils et la monétisation des services.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440,0</a:t>
                      </a:r>
                    </a:p>
                  </a:txBody>
                  <a:tcPr>
                    <a:solidFill>
                      <a:srgbClr val="FFFFFF"/>
                    </a:solidFill>
                  </a:tcPr>
                </a:tc>
                <a:tc>
                  <a:txBody>
                    <a:bodyPr/>
                    <a:lstStyle/>
                    <a:p>
                      <a:pPr algn="ctr"/>
                      <a:r>
                        <a:rPr sz="800" b="1" i="0">
                          <a:solidFill>
                            <a:srgbClr val="0D0D0D"/>
                          </a:solidFill>
                          <a:latin typeface="Calibri"/>
                        </a:rPr>
                        <a:t>470,0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+5,7 %</a:t>
                      </a:r>
                    </a:p>
                  </a:txBody>
                  <a:tcPr>
                    <a:solidFill>
                      <a:srgbClr val="F7F8FA"/>
                    </a:solidFill>
                  </a:tcPr>
                </a:tc>
                <a:tc>
                  <a:txBody>
                    <a:bodyPr/>
                    <a:lstStyle/>
                    <a:p>
                      <a:pPr algn="ctr"/>
                      <a:r>
                        <a:rPr sz="750" b="0" i="1">
                          <a:solidFill>
                            <a:srgbClr val="555555"/>
                          </a:solidFill>
                          <a:latin typeface="Calibri"/>
                        </a:rPr>
                        <a:t>+6,8 %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209,0</a:t>
                      </a:r>
                    </a:p>
                  </a:txBody>
                  <a:tcPr>
                    <a:solidFill>
                      <a:srgbClr val="FFFFFF"/>
                    </a:solidFill>
                  </a:tcPr>
                </a:tc>
                <a:tc>
                  <a:txBody>
                    <a:bodyPr/>
                    <a:lstStyle/>
                    <a:p>
                      <a:pPr algn="ctr"/>
                      <a:r>
                        <a:rPr sz="800" b="1" i="0">
                          <a:solidFill>
                            <a:srgbClr val="0D0D0D"/>
                          </a:solidFill>
                          <a:latin typeface="Calibri"/>
                        </a:rPr>
                        <a:t>225,6</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154,0</a:t>
                      </a:r>
                    </a:p>
                  </a:txBody>
                  <a:tcPr>
                    <a:solidFill>
                      <a:srgbClr val="FFFFFF"/>
                    </a:solidFill>
                  </a:tcPr>
                </a:tc>
                <a:tc>
                  <a:txBody>
                    <a:bodyPr/>
                    <a:lstStyle/>
                    <a:p>
                      <a:pPr algn="ctr"/>
                      <a:r>
                        <a:rPr sz="800" b="1" i="0">
                          <a:solidFill>
                            <a:srgbClr val="0D0D0D"/>
                          </a:solidFill>
                          <a:latin typeface="Calibri"/>
                        </a:rPr>
                        <a:t>169,0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35,0 %</a:t>
                      </a:r>
                    </a:p>
                  </a:txBody>
                  <a:tcPr>
                    <a:solidFill>
                      <a:srgbClr val="F7F8FA"/>
                    </a:solidFill>
                  </a:tcPr>
                </a:tc>
                <a:tc>
                  <a:txBody>
                    <a:bodyPr/>
                    <a:lstStyle/>
                    <a:p>
                      <a:pPr algn="ctr"/>
                      <a:r>
                        <a:rPr sz="750" b="0" i="1">
                          <a:solidFill>
                            <a:srgbClr val="555555"/>
                          </a:solidFill>
                          <a:latin typeface="Calibri"/>
                        </a:rPr>
                        <a:t>36,0 %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118,8</a:t>
                      </a:r>
                    </a:p>
                  </a:txBody>
                  <a:tcPr>
                    <a:solidFill>
                      <a:srgbClr val="FFFFFF"/>
                    </a:solidFill>
                  </a:tcPr>
                </a:tc>
                <a:tc>
                  <a:txBody>
                    <a:bodyPr/>
                    <a:lstStyle/>
                    <a:p>
                      <a:pPr algn="ctr"/>
                      <a:r>
                        <a:rPr sz="800" b="1" i="0">
                          <a:solidFill>
                            <a:srgbClr val="0D0D0D"/>
                          </a:solidFill>
                          <a:latin typeface="Calibri"/>
                        </a:rPr>
                        <a:t>131,6</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27,0 %</a:t>
                      </a:r>
                    </a:p>
                  </a:txBody>
                  <a:tcPr>
                    <a:solidFill>
                      <a:srgbClr val="F7F8FA"/>
                    </a:solidFill>
                  </a:tcPr>
                </a:tc>
                <a:tc>
                  <a:txBody>
                    <a:bodyPr/>
                    <a:lstStyle/>
                    <a:p>
                      <a:pPr algn="ctr"/>
                      <a:r>
                        <a:rPr sz="750" b="0" i="1">
                          <a:solidFill>
                            <a:srgbClr val="555555"/>
                          </a:solidFill>
                          <a:latin typeface="Calibri"/>
                        </a:rPr>
                        <a:t>28,0 %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6.4% en 2025 portée par les services (+15% YoY) et l'iPhone (+5% YoY). Les marges nettes progressent à 26.9% grâce à un mix favorable et une discipline opérationnelle. La génération de cash (110Md USD FCF 2026) renforce la solidité bilancielle et permet des rachats d'actions agressifs.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6.4% en 2025 portée par les services (+15% YoY) et l'iPhone (+5% YoY). Les marges nettes progressent à 26.9% grâce à un mix favorable et une discipline opérationnelle. La génération de cash (110Md USD FCF 2026) renforce la solidité bilancielle et permet des rachats d'actions agressifs.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brutes en hausse de 360bps depuis 2022 (43.3% à 46.9%) grâce à un mix iPhone/services et une optimisation des coûts. Les marges EBITDA (34.8%) et nettes (26.9%) reflètent un levier opérationnel élevé et un pricing power exceptionnel. Ces niveaux sont durables avec une marge nette cible de 28% d'ici 2027, soutenant un re-rating potentiel.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220 $</a:t>
                      </a:r>
                    </a:p>
                  </a:txBody>
                  <a:tcPr>
                    <a:solidFill>
                      <a:srgbClr val="FAF0EF"/>
                    </a:solidFill>
                  </a:tcPr>
                </a:tc>
                <a:tc>
                  <a:txBody>
                    <a:bodyPr/>
                    <a:lstStyle/>
                    <a:p>
                      <a:pPr algn="ctr"/>
                      <a:r>
                        <a:rPr sz="2000" b="1" i="0">
                          <a:solidFill>
                            <a:srgbClr val="2E5FA3"/>
                          </a:solidFill>
                          <a:latin typeface="Calibri"/>
                        </a:rPr>
                        <a:t>275 $</a:t>
                      </a:r>
                    </a:p>
                  </a:txBody>
                  <a:tcPr>
                    <a:solidFill>
                      <a:srgbClr val="EEF3FA"/>
                    </a:solidFill>
                  </a:tcPr>
                </a:tc>
                <a:tc>
                  <a:txBody>
                    <a:bodyPr/>
                    <a:lstStyle/>
                    <a:p>
                      <a:pPr algn="ctr"/>
                      <a:r>
                        <a:rPr sz="2000" b="1" i="0">
                          <a:solidFill>
                            <a:srgbClr val="1A7A4A"/>
                          </a:solidFill>
                          <a:latin typeface="Calibri"/>
                        </a:rPr>
                        <a:t>310 $</a:t>
                      </a:r>
                    </a:p>
                  </a:txBody>
                  <a:tcPr>
                    <a:solidFill>
                      <a:srgbClr val="EAF4EF"/>
                    </a:solidFill>
                  </a:tcPr>
                </a:tc>
              </a:tr>
              <a:tr h="342900">
                <a:tc>
                  <a:txBody>
                    <a:bodyPr/>
                    <a:lstStyle/>
                    <a:p>
                      <a:pPr algn="ctr"/>
                      <a:r>
                        <a:rPr sz="1200" b="1" i="0">
                          <a:solidFill>
                            <a:srgbClr val="A82020"/>
                          </a:solidFill>
                          <a:latin typeface="Calibri"/>
                        </a:rPr>
                        <a:t>-11,6 %</a:t>
                      </a:r>
                    </a:p>
                  </a:txBody>
                  <a:tcPr>
                    <a:solidFill>
                      <a:srgbClr val="FAF0EF"/>
                    </a:solidFill>
                  </a:tcPr>
                </a:tc>
                <a:tc>
                  <a:txBody>
                    <a:bodyPr/>
                    <a:lstStyle/>
                    <a:p>
                      <a:pPr algn="ctr"/>
                      <a:r>
                        <a:rPr sz="1200" b="1" i="0">
                          <a:solidFill>
                            <a:srgbClr val="2E5FA3"/>
                          </a:solidFill>
                          <a:latin typeface="Calibri"/>
                        </a:rPr>
                        <a:t>+10,5 %</a:t>
                      </a:r>
                    </a:p>
                  </a:txBody>
                  <a:tcPr>
                    <a:solidFill>
                      <a:srgbClr val="EEF3FA"/>
                    </a:solidFill>
                  </a:tcPr>
                </a:tc>
                <a:tc>
                  <a:txBody>
                    <a:bodyPr/>
                    <a:lstStyle/>
                    <a:p>
                      <a:pPr algn="ctr"/>
                      <a:r>
                        <a:rPr sz="1200" b="1" i="0">
                          <a:solidFill>
                            <a:srgbClr val="1A7A4A"/>
                          </a:solidFill>
                          <a:latin typeface="Calibri"/>
                        </a:rPr>
                        <a:t>+24,6 %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275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10.4% et une TGR de 3.0%, le DCF implique un prix implicite de 265 USD vs cours à 248.8 USD, soit un upside de 6.5%. L'upside suggère une sous-valorisation structurelle, mais la prime de croissance est partiellement déjà pricee. Un catalyseur clé serait une accélération des services (&gt;15% YoY).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5500,0 %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20,1x</a:t>
                      </a:r>
                    </a:p>
                  </a:txBody>
                  <a:tcPr>
                    <a:solidFill>
                      <a:srgbClr val="F7F8FA"/>
                    </a:solidFill>
                  </a:tcPr>
                </a:tc>
                <a:tc>
                  <a:txBody>
                    <a:bodyPr/>
                    <a:lstStyle/>
                    <a:p>
                      <a:pPr algn="ctr"/>
                      <a:r>
                        <a:rPr sz="800" b="0" i="0">
                          <a:solidFill>
                            <a:srgbClr val="0D0D0D"/>
                          </a:solidFill>
                          <a:latin typeface="Calibri"/>
                        </a:rPr>
                        <a:t>8,9x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5600,0 %</a:t>
                      </a:r>
                    </a:p>
                  </a:txBody>
                  <a:tcPr>
                    <a:solidFill>
                      <a:srgbClr val="F7F8FA"/>
                    </a:solidFill>
                  </a:tcPr>
                </a:tc>
                <a:tc>
                  <a:txBody>
                    <a:bodyPr/>
                    <a:lstStyle/>
                    <a:p>
                      <a:pPr algn="ctr"/>
                      <a:r>
                        <a:rPr sz="800" b="0" i="0">
                          <a:solidFill>
                            <a:srgbClr val="0D0D0D"/>
                          </a:solidFill>
                          <a:latin typeface="Calibri"/>
                        </a:rPr>
                        <a:t>3500,0 %</a:t>
                      </a:r>
                    </a:p>
                  </a:txBody>
                  <a:tcPr>
                    <a:solidFill>
                      <a:srgbClr val="F7F8FA"/>
                    </a:solidFill>
                  </a:tcPr>
                </a:tc>
              </a:tr>
              <a:tr h="251999">
                <a:tc>
                  <a:txBody>
                    <a:bodyPr/>
                    <a:lstStyle/>
                    <a:p>
                      <a:pPr algn="l"/>
                      <a:r>
                        <a:rPr sz="800" b="0" i="0">
                          <a:solidFill>
                            <a:srgbClr val="0D0D0D"/>
                          </a:solidFill>
                          <a:latin typeface="Calibri"/>
                        </a:rPr>
                        <a:t>Amazon</a:t>
                      </a:r>
                    </a:p>
                  </a:txBody>
                  <a:tcPr>
                    <a:solidFill>
                      <a:srgbClr val="FFFFFF"/>
                    </a:solidFill>
                  </a:tcPr>
                </a:tc>
                <a:tc>
                  <a:txBody>
                    <a:bodyPr/>
                    <a:lstStyle/>
                    <a:p>
                      <a:pPr algn="ctr"/>
                      <a:r>
                        <a:rPr sz="750" b="0" i="0">
                          <a:solidFill>
                            <a:srgbClr val="555555"/>
                          </a:solidFill>
                          <a:latin typeface="Calibri"/>
                        </a:rPr>
                        <a:t>AMZN</a:t>
                      </a:r>
                    </a:p>
                  </a:txBody>
                  <a:tcPr>
                    <a:solidFill>
                      <a:srgbClr val="FFFFFF"/>
                    </a:solidFill>
                  </a:tcPr>
                </a:tc>
                <a:tc>
                  <a:txBody>
                    <a:bodyPr/>
                    <a:lstStyle/>
                    <a:p>
                      <a:pPr algn="ctr"/>
                      <a:r>
                        <a:rPr sz="800" b="0" i="0">
                          <a:solidFill>
                            <a:srgbClr val="0D0D0D"/>
                          </a:solidFill>
                          <a:latin typeface="Calibri"/>
                        </a:rPr>
                        <a:t>1 800,0</a:t>
                      </a:r>
                    </a:p>
                  </a:txBody>
                  <a:tcPr>
                    <a:solidFill>
                      <a:srgbClr val="FFFFFF"/>
                    </a:solidFill>
                  </a:tcPr>
                </a:tc>
                <a:tc>
                  <a:txBody>
                    <a:bodyPr/>
                    <a:lstStyle/>
                    <a:p>
                      <a:pPr algn="ctr"/>
                      <a:r>
                        <a:rPr sz="800" b="0" i="0">
                          <a:solidFill>
                            <a:srgbClr val="0D0D0D"/>
                          </a:solidFill>
                          <a:latin typeface="Calibri"/>
                        </a:rPr>
                        <a:t>25,3x</a:t>
                      </a:r>
                    </a:p>
                  </a:txBody>
                  <a:tcPr>
                    <a:solidFill>
                      <a:srgbClr val="FFFFFF"/>
                    </a:solidFill>
                  </a:tcPr>
                </a:tc>
                <a:tc>
                  <a:txBody>
                    <a:bodyPr/>
                    <a:lstStyle/>
                    <a:p>
                      <a:pPr algn="ctr"/>
                      <a:r>
                        <a:rPr sz="800" b="0" i="0">
                          <a:solidFill>
                            <a:srgbClr val="0D0D0D"/>
                          </a:solidFill>
                          <a:latin typeface="Calibri"/>
                        </a:rPr>
                        <a:t>4,2x</a:t>
                      </a:r>
                    </a:p>
                  </a:txBody>
                  <a:tcPr>
                    <a:solidFill>
                      <a:srgbClr val="FFFFFF"/>
                    </a:solidFill>
                  </a:tcPr>
                </a:tc>
                <a:tc>
                  <a:txBody>
                    <a:bodyPr/>
                    <a:lstStyle/>
                    <a:p>
                      <a:pPr algn="ctr"/>
                      <a:r>
                        <a:rPr sz="800" b="0" i="0">
                          <a:solidFill>
                            <a:srgbClr val="0D0D0D"/>
                          </a:solidFill>
                          <a:latin typeface="Calibri"/>
                        </a:rPr>
                        <a:t>52,1x</a:t>
                      </a:r>
                    </a:p>
                  </a:txBody>
                  <a:tcPr>
                    <a:solidFill>
                      <a:srgbClr val="FFFFFF"/>
                    </a:solidFill>
                  </a:tcPr>
                </a:tc>
                <a:tc>
                  <a:txBody>
                    <a:bodyPr/>
                    <a:lstStyle/>
                    <a:p>
                      <a:pPr algn="ctr"/>
                      <a:r>
                        <a:rPr sz="800" b="0" i="0">
                          <a:solidFill>
                            <a:srgbClr val="0D0D0D"/>
                          </a:solidFill>
                          <a:latin typeface="Calibri"/>
                        </a:rPr>
                        <a:t>4400,0 %</a:t>
                      </a:r>
                    </a:p>
                  </a:txBody>
                  <a:tcPr>
                    <a:solidFill>
                      <a:srgbClr val="FFFFFF"/>
                    </a:solidFill>
                  </a:tcPr>
                </a:tc>
                <a:tc>
                  <a:txBody>
                    <a:bodyPr/>
                    <a:lstStyle/>
                    <a:p>
                      <a:pPr algn="ctr"/>
                      <a:r>
                        <a:rPr sz="800" b="0" i="0">
                          <a:solidFill>
                            <a:srgbClr val="0D0D0D"/>
                          </a:solidFill>
                          <a:latin typeface="Calibri"/>
                        </a:rPr>
                        <a:t>1200,0 %</a:t>
                      </a:r>
                    </a:p>
                  </a:txBody>
                  <a:tcPr>
                    <a:solidFill>
                      <a:srgbClr val="FFFFFF"/>
                    </a:solidFill>
                  </a:tcPr>
                </a:tc>
              </a:tr>
              <a:tr h="251999">
                <a:tc>
                  <a:txBody>
                    <a:bodyPr/>
                    <a:lstStyle/>
                    <a:p>
                      <a:pPr algn="l"/>
                      <a:r>
                        <a:rPr sz="800" b="0" i="0">
                          <a:solidFill>
                            <a:srgbClr val="0D0D0D"/>
                          </a:solidFill>
                          <a:latin typeface="Calibri"/>
                        </a:rPr>
                        <a:t>Samsung Electronics</a:t>
                      </a:r>
                    </a:p>
                  </a:txBody>
                  <a:tcPr>
                    <a:solidFill>
                      <a:srgbClr val="F7F8FA"/>
                    </a:solidFill>
                  </a:tcPr>
                </a:tc>
                <a:tc>
                  <a:txBody>
                    <a:bodyPr/>
                    <a:lstStyle/>
                    <a:p>
                      <a:pPr algn="ctr"/>
                      <a:r>
                        <a:rPr sz="750" b="0" i="0">
                          <a:solidFill>
                            <a:srgbClr val="555555"/>
                          </a:solidFill>
                          <a:latin typeface="Calibri"/>
                        </a:rPr>
                        <a:t>005930.KS</a:t>
                      </a:r>
                    </a:p>
                  </a:txBody>
                  <a:tcPr>
                    <a:solidFill>
                      <a:srgbClr val="F7F8FA"/>
                    </a:solidFill>
                  </a:tcPr>
                </a:tc>
                <a:tc>
                  <a:txBody>
                    <a:bodyPr/>
                    <a:lstStyle/>
                    <a:p>
                      <a:pPr algn="ctr"/>
                      <a:r>
                        <a:rPr sz="800" b="0" i="0">
                          <a:solidFill>
                            <a:srgbClr val="0D0D0D"/>
                          </a:solidFill>
                          <a:latin typeface="Calibri"/>
                        </a:rPr>
                        <a:t>450,0</a:t>
                      </a:r>
                    </a:p>
                  </a:txBody>
                  <a:tcPr>
                    <a:solidFill>
                      <a:srgbClr val="F7F8FA"/>
                    </a:solidFill>
                  </a:tcPr>
                </a:tc>
                <a:tc>
                  <a:txBody>
                    <a:bodyPr/>
                    <a:lstStyle/>
                    <a:p>
                      <a:pPr algn="ctr"/>
                      <a:r>
                        <a:rPr sz="800" b="0" i="0">
                          <a:solidFill>
                            <a:srgbClr val="0D0D0D"/>
                          </a:solidFill>
                          <a:latin typeface="Calibri"/>
                        </a:rPr>
                        <a:t>6,8x</a:t>
                      </a:r>
                    </a:p>
                  </a:txBody>
                  <a:tcPr>
                    <a:solidFill>
                      <a:srgbClr val="F7F8FA"/>
                    </a:solidFill>
                  </a:tcPr>
                </a:tc>
                <a:tc>
                  <a:txBody>
                    <a:bodyPr/>
                    <a:lstStyle/>
                    <a:p>
                      <a:pPr algn="ctr"/>
                      <a:r>
                        <a:rPr sz="800" b="0" i="0">
                          <a:solidFill>
                            <a:srgbClr val="0D0D0D"/>
                          </a:solidFill>
                          <a:latin typeface="Calibri"/>
                        </a:rPr>
                        <a:t>1,2x</a:t>
                      </a:r>
                    </a:p>
                  </a:txBody>
                  <a:tcPr>
                    <a:solidFill>
                      <a:srgbClr val="F7F8FA"/>
                    </a:solidFill>
                  </a:tcPr>
                </a:tc>
                <a:tc>
                  <a:txBody>
                    <a:bodyPr/>
                    <a:lstStyle/>
                    <a:p>
                      <a:pPr algn="ctr"/>
                      <a:r>
                        <a:rPr sz="800" b="0" i="0">
                          <a:solidFill>
                            <a:srgbClr val="0D0D0D"/>
                          </a:solidFill>
                          <a:latin typeface="Calibri"/>
                        </a:rPr>
                        <a:t>15,2x</a:t>
                      </a:r>
                    </a:p>
                  </a:txBody>
                  <a:tcPr>
                    <a:solidFill>
                      <a:srgbClr val="F7F8FA"/>
                    </a:solidFill>
                  </a:tcPr>
                </a:tc>
                <a:tc>
                  <a:txBody>
                    <a:bodyPr/>
                    <a:lstStyle/>
                    <a:p>
                      <a:pPr algn="ctr"/>
                      <a:r>
                        <a:rPr sz="800" b="0" i="0">
                          <a:solidFill>
                            <a:srgbClr val="0D0D0D"/>
                          </a:solidFill>
                          <a:latin typeface="Calibri"/>
                        </a:rPr>
                        <a:t>3500,0 %</a:t>
                      </a:r>
                    </a:p>
                  </a:txBody>
                  <a:tcPr>
                    <a:solidFill>
                      <a:srgbClr val="F7F8FA"/>
                    </a:solidFill>
                  </a:tcPr>
                </a:tc>
                <a:tc>
                  <a:txBody>
                    <a:bodyPr/>
                    <a:lstStyle/>
                    <a:p>
                      <a:pPr algn="ctr"/>
                      <a:r>
                        <a:rPr sz="800" b="0" i="0">
                          <a:solidFill>
                            <a:srgbClr val="0D0D0D"/>
                          </a:solidFill>
                          <a:latin typeface="Calibri"/>
                        </a:rPr>
                        <a:t>1800,0 %</a:t>
                      </a:r>
                    </a:p>
                  </a:txBody>
                  <a:tcPr>
                    <a:solidFill>
                      <a:srgbClr val="F7F8FA"/>
                    </a:solidFill>
                  </a:tcPr>
                </a:tc>
              </a:tr>
              <a:tr h="251999">
                <a:tc>
                  <a:txBody>
                    <a:bodyPr/>
                    <a:lstStyle/>
                    <a:p>
                      <a:pPr algn="l"/>
                      <a:r>
                        <a:rPr sz="800" b="0" i="0">
                          <a:solidFill>
                            <a:srgbClr val="0D0D0D"/>
                          </a:solidFill>
                          <a:latin typeface="Calibri"/>
                        </a:rPr>
                        <a:t>Meta Platforms</a:t>
                      </a:r>
                    </a:p>
                  </a:txBody>
                  <a:tcPr>
                    <a:solidFill>
                      <a:srgbClr val="FFFFFF"/>
                    </a:solidFill>
                  </a:tcPr>
                </a:tc>
                <a:tc>
                  <a:txBody>
                    <a:bodyPr/>
                    <a:lstStyle/>
                    <a:p>
                      <a:pPr algn="ctr"/>
                      <a:r>
                        <a:rPr sz="750" b="0" i="0">
                          <a:solidFill>
                            <a:srgbClr val="555555"/>
                          </a:solidFill>
                          <a:latin typeface="Calibri"/>
                        </a:rPr>
                        <a:t>META</a:t>
                      </a:r>
                    </a:p>
                  </a:txBody>
                  <a:tcPr>
                    <a:solidFill>
                      <a:srgbClr val="FFFFFF"/>
                    </a:solidFill>
                  </a:tcPr>
                </a:tc>
                <a:tc>
                  <a:txBody>
                    <a:bodyPr/>
                    <a:lstStyle/>
                    <a:p>
                      <a:pPr algn="ctr"/>
                      <a:r>
                        <a:rPr sz="800" b="0" i="0">
                          <a:solidFill>
                            <a:srgbClr val="0D0D0D"/>
                          </a:solidFill>
                          <a:latin typeface="Calibri"/>
                        </a:rPr>
                        <a:t>1 300,0</a:t>
                      </a:r>
                    </a:p>
                  </a:txBody>
                  <a:tcPr>
                    <a:solidFill>
                      <a:srgbClr val="FFFFFF"/>
                    </a:solidFill>
                  </a:tcPr>
                </a:tc>
                <a:tc>
                  <a:txBody>
                    <a:bodyPr/>
                    <a:lstStyle/>
                    <a:p>
                      <a:pPr algn="ctr"/>
                      <a:r>
                        <a:rPr sz="800" b="0" i="0">
                          <a:solidFill>
                            <a:srgbClr val="0D0D0D"/>
                          </a:solidFill>
                          <a:latin typeface="Calibri"/>
                        </a:rPr>
                        <a:t>18,9x</a:t>
                      </a:r>
                    </a:p>
                  </a:txBody>
                  <a:tcPr>
                    <a:solidFill>
                      <a:srgbClr val="FFFFFF"/>
                    </a:solidFill>
                  </a:tcPr>
                </a:tc>
                <a:tc>
                  <a:txBody>
                    <a:bodyPr/>
                    <a:lstStyle/>
                    <a:p>
                      <a:pPr algn="ctr"/>
                      <a:r>
                        <a:rPr sz="800" b="0" i="0">
                          <a:solidFill>
                            <a:srgbClr val="0D0D0D"/>
                          </a:solidFill>
                          <a:latin typeface="Calibri"/>
                        </a:rPr>
                        <a:t>11,2x</a:t>
                      </a:r>
                    </a:p>
                  </a:txBody>
                  <a:tcPr>
                    <a:solidFill>
                      <a:srgbClr val="FFFFFF"/>
                    </a:solidFill>
                  </a:tcPr>
                </a:tc>
                <a:tc>
                  <a:txBody>
                    <a:bodyPr/>
                    <a:lstStyle/>
                    <a:p>
                      <a:pPr algn="ctr"/>
                      <a:r>
                        <a:rPr sz="800" b="0" i="0">
                          <a:solidFill>
                            <a:srgbClr val="0D0D0D"/>
                          </a:solidFill>
                          <a:latin typeface="Calibri"/>
                        </a:rPr>
                        <a:t>30,1x</a:t>
                      </a:r>
                    </a:p>
                  </a:txBody>
                  <a:tcPr>
                    <a:solidFill>
                      <a:srgbClr val="FFFFFF"/>
                    </a:solidFill>
                  </a:tcPr>
                </a:tc>
                <a:tc>
                  <a:txBody>
                    <a:bodyPr/>
                    <a:lstStyle/>
                    <a:p>
                      <a:pPr algn="ctr"/>
                      <a:r>
                        <a:rPr sz="800" b="0" i="0">
                          <a:solidFill>
                            <a:srgbClr val="0D0D0D"/>
                          </a:solidFill>
                          <a:latin typeface="Calibri"/>
                        </a:rPr>
                        <a:t>8500,0 %</a:t>
                      </a:r>
                    </a:p>
                  </a:txBody>
                  <a:tcPr>
                    <a:solidFill>
                      <a:srgbClr val="FFFFFF"/>
                    </a:solidFill>
                  </a:tcPr>
                </a:tc>
                <a:tc>
                  <a:txBody>
                    <a:bodyPr/>
                    <a:lstStyle/>
                    <a:p>
                      <a:pPr algn="ctr"/>
                      <a:r>
                        <a:rPr sz="800" b="0" i="0">
                          <a:solidFill>
                            <a:srgbClr val="0D0D0D"/>
                          </a:solidFill>
                          <a:latin typeface="Calibri"/>
                        </a:rPr>
                        <a:t>5800,0 %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20,1x</a:t>
                      </a:r>
                    </a:p>
                  </a:txBody>
                  <a:tcPr>
                    <a:solidFill>
                      <a:srgbClr val="F7F8FA"/>
                    </a:solidFill>
                  </a:tcPr>
                </a:tc>
                <a:tc>
                  <a:txBody>
                    <a:bodyPr/>
                    <a:lstStyle/>
                    <a:p>
                      <a:pPr algn="ctr"/>
                      <a:r>
                        <a:rPr sz="800" b="1" i="0">
                          <a:solidFill>
                            <a:srgbClr val="0D0D0D"/>
                          </a:solidFill>
                          <a:latin typeface="Calibri"/>
                        </a:rPr>
                        <a:t>8,9x</a:t>
                      </a:r>
                    </a:p>
                  </a:txBody>
                  <a:tcPr>
                    <a:solidFill>
                      <a:srgbClr val="F7F8FA"/>
                    </a:solidFill>
                  </a:tcPr>
                </a:tc>
                <a:tc>
                  <a:txBody>
                    <a:bodyPr/>
                    <a:lstStyle/>
                    <a:p>
                      <a:pPr algn="ctr"/>
                      <a:r>
                        <a:rPr sz="800" b="1" i="0">
                          <a:solidFill>
                            <a:srgbClr val="0D0D0D"/>
                          </a:solidFill>
                          <a:latin typeface="Calibri"/>
                        </a:rPr>
                        <a:t>30,1x</a:t>
                      </a:r>
                    </a:p>
                  </a:txBody>
                  <a:tcPr>
                    <a:solidFill>
                      <a:srgbClr val="F7F8FA"/>
                    </a:solidFill>
                  </a:tcPr>
                </a:tc>
                <a:tc>
                  <a:txBody>
                    <a:bodyPr/>
                    <a:lstStyle/>
                    <a:p>
                      <a:pPr algn="ctr"/>
                      <a:r>
                        <a:rPr sz="800" b="1" i="0">
                          <a:solidFill>
                            <a:srgbClr val="0D0D0D"/>
                          </a:solidFill>
                          <a:latin typeface="Calibri"/>
                        </a:rPr>
                        <a:t>5600,0 %</a:t>
                      </a:r>
                    </a:p>
                  </a:txBody>
                  <a:tcPr>
                    <a:solidFill>
                      <a:srgbClr val="F7F8FA"/>
                    </a:solidFill>
                  </a:tcPr>
                </a:tc>
                <a:tc>
                  <a:txBody>
                    <a:bodyPr/>
                    <a:lstStyle/>
                    <a:p>
                      <a:pPr algn="ctr"/>
                      <a:r>
                        <a:rPr sz="800" b="1" i="0">
                          <a:solidFill>
                            <a:srgbClr val="0D0D0D"/>
                          </a:solidFill>
                          <a:latin typeface="Calibri"/>
                        </a:rPr>
                        <a:t>3500,0 %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se négocie à 25.7x EV/EBITDA (+16% vs médiane peers à 22.1x) et 32.6x P/E (+25% vs médiane à 26.1x). Cette prime est justifiée par des marges supérieures (GM 46.9% vs 42.5% peers) et une croissance des services plus rapide. Une convergence vers la médiane peers impliquerait un downside de 10-12%, mais le différentiel de qualité justifie la prime actuelle.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10.4% et une TGR de 3.0%, le DCF implique un prix implicite de 265 USD vs cours à 248.8 USD, soit un upside de 6.5%. L'upside suggère une sous-valorisation structurelle, mais la prime de croissance est partiellement déjà pricee. Un catalyseur clé serait une accélération des services (&gt;15% YoY).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Régulation mortelle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Les marges d'Apple à 46.9% brut et 26.9% nette reposent sur un écosystème captif, mais la pression réglementaire en UE et aux États-Unis sur les commissions App Store (30% à 15%) va réduire les revenus de 12 à 15 milliards USD dès 2025, soit -8% sur le segment services déjà en ralentissement à +4.2% de croissance.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Dépendance Chine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151.9% de ROE affichés masquent une dépendance extrême à l'iPhone (52% des revenus), dont les ventes en Chine chutent de 23% en 2024 selon Counterpoint, avec un risque de perte de parts de marché face aux marques locales comme Huawei ou Xiaomi qui captent 45% du marché premium.</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Surévaluation</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ratio P/E de 32.61x et EV/EBITDA de 25.67x supposent une croissance perpétuelle, mais les investissements massifs en IA (10 milliards USD/an) n'ont généré que 1.2% de marge supplémentaire sur les services en 2023, un rendement insuffisant pour justifier ces valorisations.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les ventes iPhone de 10%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sur les commissions App Store en UE/US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du lancement de l'iPhone 16 avec -5% ventes vs attentes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-0,077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44,5 %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+0,239</a:t>
                      </a:r>
                    </a:p>
                  </a:txBody>
                  <a:tcPr>
                    <a:solidFill>
                      <a:srgbClr val="EAF4EF"/>
                    </a:solidFill>
                  </a:tcPr>
                </a:tc>
                <a:tc>
                  <a:txBody>
                    <a:bodyPr/>
                    <a:lstStyle/>
                    <a:p>
                      <a:pPr algn="ctr"/>
                      <a:r>
                        <a:rPr sz="800" b="0" i="0">
                          <a:solidFill>
                            <a:srgbClr val="0D0D0D"/>
                          </a:solidFill>
                          <a:latin typeface="Calibri"/>
                        </a:rPr>
                        <a:t>Croissance services +12% YoY d'ici 2027 avec 1.5Md utilisateurs actifs, générant +25Md USD de CA supplémentaire | Horizon: 2026-2027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+0,445</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+0,316</a:t>
                      </a:r>
                    </a:p>
                  </a:txBody>
                  <a:tcPr>
                    <a:solidFill>
                      <a:srgbClr val="FAF0EF"/>
                    </a:solidFill>
                  </a:tcPr>
                </a:tc>
                <a:tc>
                  <a:txBody>
                    <a:bodyPr/>
                    <a:lstStyle/>
                    <a:p>
                      <a:pPr algn="ctr"/>
                      <a:r>
                        <a:rPr sz="800" b="0" i="0">
                          <a:solidFill>
                            <a:srgbClr val="0D0D0D"/>
                          </a:solidFill>
                          <a:latin typeface="Calibri"/>
                        </a:rPr>
                        <a:t>Régulation App Store en UE/US pourrait réduire les marges services de 200bps d'ici 2027 | Horizon: 2026-2027, impact -15Md USD CA</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à la fois des avancées technologiques positives pour Apple, notamment avec l'ouverture de Siri à des assistants concurrents, mais met en garde contre les défis majeurs posés par l'IA et la concurrence. Les prédictions de surpassement par d'autres acteurs dans la décennie à venir alimentent un sentiment mitigé sur la capacité d'Apple à maintenir sa domination.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cote à 25.7x EV/EBITDA vs 22.1x pour la médiane peers, justifié par une qualité d'actifs supérieure. Le P/E de 32.6x reflète une prime de croissance durable, mais reste sensible aux attentes de services.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La valorisation reste attractive malgré une prime vs peers, soutenue par une génération de cash robuste et une stratégie d'innovation ciblée.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