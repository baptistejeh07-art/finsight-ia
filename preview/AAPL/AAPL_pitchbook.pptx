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+12,1 %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+12,1 %  ·  Bear : 240 $ (-5,6 %)  ·  Bull : 320 $ (+25,9 %)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Croissance services à 15% en 2026 dopée par +10M abonnés premium et hausse des prix</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Marges nettes à 27.5% en 2027 grâce à l'effet de levier sur les services et la réduction des coûts logistiques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Marges élevées</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Trésorerie nette de 170 Mds USD en 2026 soutenant rachats d'actions (25 Mds USD/an) et dividendes (1.5% yield).</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App Store en UE/USA réduisant les commissions de 30% à 15% en 2026, impactant les marges services de 4 pts | Concurrence accrue en Chine (Huawei, Xiaomi) avec perte de parts de marché…</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Pénurie de puces avancées (TSMC) en 2026 limitant la production iPhone et impactant les marges de 2 pts | Hausse des coûts R&amp;D (+15% en 2026) pour l'IA et Vision Pro réduisant le FCF de 10 Mds USD |…</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services</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Sanctions chinoises sur les composants critiques (ex: puces mémoire) en 2027 réduisant les ventes iPhone de 12% et impactant les marges de 3 pts | Échec du Vision Pro (ventes &lt;3M unités en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26,2x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+12,1 %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+0,058</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écosystème intégré et une fidélisation client élevée. Positionné en haut de gamme, le groupe bénéficie d'une marge brute de 46.9% et d'un pricing power inégalé. Son avantage concurrentiel repose sur l'innovation, la marque forte et l'écosystème fermé (App Store, iCloud, Apple Pay).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 de matériel (iPhone 55% CA, Mac 7%, iPad 8%, Wearables 10%) avec une marge brute de 35-40%. Clients premium (revenu moyen 800 USD/device) et cycle de renouvellement de 3-4 ans. Croissance tirée par l'Asie (25% CA) et les services intégrés. Moteur : innovation (puces M-series, Vision Pro) et fidélisation.</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Music, iCloud) et commissions avec une marge brute de 70-75%. 1.8 Md d'utilisateurs payants générant 85 Mds USD de CA en 2025. Croissance annuelle de 12-15% avec une rentabilité supérieure. Moteur : expansion géographique (60% CA hors USA) et hausse des prix (ex: +10% App Store en 2024).</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3 732,7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254,25 $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33,3x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 de matériel (iPhone 55% CA, Mac 7%, iPad 8%, Wearables 10%) avec une marge brute de 35-40%. Clients premium (revenu moyen 800 USD/device) et cycle de renouvellement de 3-4 ans. Croissance tirée par l'Asie (25% CA) et les services intégrés. Moteur : innovation (puces M-series, Vision Pro) et fidélisation.</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et commissions avec une marge brute de 70-75%. 1.8 Md d'utilisateurs payants générant 85 Mds USD de CA en 2025. Croissance annuelle de 12-15% avec une rentabilité supérieure. Moteur : expansion géographique (60% CA hors USA) et hausse des prix (ex: +10% App Store en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447,5</a:t>
                      </a:r>
                    </a:p>
                  </a:txBody>
                  <a:tcPr>
                    <a:solidFill>
                      <a:srgbClr val="FFFFFF"/>
                    </a:solidFill>
                  </a:tcPr>
                </a:tc>
                <a:tc>
                  <a:txBody>
                    <a:bodyPr/>
                    <a:lstStyle/>
                    <a:p>
                      <a:pPr algn="ctr"/>
                      <a:r>
                        <a:rPr sz="800" b="1" i="0">
                          <a:solidFill>
                            <a:srgbClr val="0D0D0D"/>
                          </a:solidFill>
                          <a:latin typeface="Calibri"/>
                        </a:rPr>
                        <a:t>481,3</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+7,5 %</a:t>
                      </a:r>
                    </a:p>
                  </a:txBody>
                  <a:tcPr>
                    <a:solidFill>
                      <a:srgbClr val="F7F8FA"/>
                    </a:solidFill>
                  </a:tcPr>
                </a:tc>
                <a:tc>
                  <a:txBody>
                    <a:bodyPr/>
                    <a:lstStyle/>
                    <a:p>
                      <a:pPr algn="ctr"/>
                      <a:r>
                        <a:rPr sz="750" b="0" i="1">
                          <a:solidFill>
                            <a:srgbClr val="555555"/>
                          </a:solidFill>
                          <a:latin typeface="Calibri"/>
                        </a:rPr>
                        <a:t>+7,5 %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211,2</a:t>
                      </a:r>
                    </a:p>
                  </a:txBody>
                  <a:tcPr>
                    <a:solidFill>
                      <a:srgbClr val="FFFFFF"/>
                    </a:solidFill>
                  </a:tcPr>
                </a:tc>
                <a:tc>
                  <a:txBody>
                    <a:bodyPr/>
                    <a:lstStyle/>
                    <a:p>
                      <a:pPr algn="ctr"/>
                      <a:r>
                        <a:rPr sz="800" b="1" i="0">
                          <a:solidFill>
                            <a:srgbClr val="0D0D0D"/>
                          </a:solidFill>
                          <a:latin typeface="Calibri"/>
                        </a:rPr>
                        <a:t>228,6</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167,4</a:t>
                      </a:r>
                    </a:p>
                  </a:txBody>
                  <a:tcPr>
                    <a:solidFill>
                      <a:srgbClr val="FFFFFF"/>
                    </a:solidFill>
                  </a:tcPr>
                </a:tc>
                <a:tc>
                  <a:txBody>
                    <a:bodyPr/>
                    <a:lstStyle/>
                    <a:p>
                      <a:pPr algn="ctr"/>
                      <a:r>
                        <a:rPr sz="800" b="1" i="0">
                          <a:solidFill>
                            <a:srgbClr val="0D0D0D"/>
                          </a:solidFill>
                          <a:latin typeface="Calibri"/>
                        </a:rPr>
                        <a:t>181,2</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37,4 %</a:t>
                      </a:r>
                    </a:p>
                  </a:txBody>
                  <a:tcPr>
                    <a:solidFill>
                      <a:srgbClr val="F7F8FA"/>
                    </a:solidFill>
                  </a:tcPr>
                </a:tc>
                <a:tc>
                  <a:txBody>
                    <a:bodyPr/>
                    <a:lstStyle/>
                    <a:p>
                      <a:pPr algn="ctr"/>
                      <a:r>
                        <a:rPr sz="750" b="0" i="1">
                          <a:solidFill>
                            <a:srgbClr val="555555"/>
                          </a:solidFill>
                          <a:latin typeface="Calibri"/>
                        </a:rPr>
                        <a:t>37,7 %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123,1</a:t>
                      </a:r>
                    </a:p>
                  </a:txBody>
                  <a:tcPr>
                    <a:solidFill>
                      <a:srgbClr val="FFFFFF"/>
                    </a:solidFill>
                  </a:tcPr>
                </a:tc>
                <a:tc>
                  <a:txBody>
                    <a:bodyPr/>
                    <a:lstStyle/>
                    <a:p>
                      <a:pPr algn="ctr"/>
                      <a:r>
                        <a:rPr sz="800" b="1" i="0">
                          <a:solidFill>
                            <a:srgbClr val="0D0D0D"/>
                          </a:solidFill>
                          <a:latin typeface="Calibri"/>
                        </a:rPr>
                        <a:t>135,0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27,5 %</a:t>
                      </a:r>
                    </a:p>
                  </a:txBody>
                  <a:tcPr>
                    <a:solidFill>
                      <a:srgbClr val="F7F8FA"/>
                    </a:solidFill>
                  </a:tcPr>
                </a:tc>
                <a:tc>
                  <a:txBody>
                    <a:bodyPr/>
                    <a:lstStyle/>
                    <a:p>
                      <a:pPr algn="ctr"/>
                      <a:r>
                        <a:rPr sz="750" b="0" i="1">
                          <a:solidFill>
                            <a:srgbClr val="555555"/>
                          </a:solidFill>
                          <a:latin typeface="Calibri"/>
                        </a:rPr>
                        <a:t>28,1 %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de 6.4% en 2025 avec accélération à 7.5% en 2026 grâce aux services et à l'Asie. Les marges s'améliorent (+2.9 pts net vs 2024) via un mix favorable (services +20% CA) et une discipline sur les coûts (R&amp;D stable à 7% CA). Génération de cash de 120 Mds USD en 2025, renforçant la solidité bilancielle.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de 6.4% en 2025 avec accélération à 7.5% en 2026 grâce aux services et à l'Asie. Les marges s'améliorent (+2.9 pts net vs 2024) via un mix favorable (services +20% CA) et une discipline sur les coûts (R&amp;D stable à 7% CA). Génération de cash de 120 Mds USD en 2025, renforçant la solidité bilancielle.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brutes en hausse de 3.6 pts depuis 2022 (43.3% à 46.9%) grâce à un mix premium (iPhone 15 Pro +15% prix) et des économies d'échelle. Les marges EBITDA (+1.7 pts) reflètent un levier opérationnel sur les services (70% marge). La durabilité est élevée mais dépend de la capacité à maintenir le pricing power face à la concurrence Android.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254,25 $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-5,6 %</a:t>
                      </a:r>
                    </a:p>
                  </a:txBody>
                  <a:tcPr>
                    <a:solidFill>
                      <a:srgbClr val="FAF0EF"/>
                    </a:solidFill>
                  </a:tcPr>
                </a:tc>
                <a:tc>
                  <a:txBody>
                    <a:bodyPr/>
                    <a:lstStyle/>
                    <a:p>
                      <a:pPr algn="ctr"/>
                      <a:r>
                        <a:rPr sz="1200" b="1" i="0">
                          <a:solidFill>
                            <a:srgbClr val="2E5FA3"/>
                          </a:solidFill>
                          <a:latin typeface="Calibri"/>
                        </a:rPr>
                        <a:t>+12,1 %</a:t>
                      </a:r>
                    </a:p>
                  </a:txBody>
                  <a:tcPr>
                    <a:solidFill>
                      <a:srgbClr val="EEF3FA"/>
                    </a:solidFill>
                  </a:tcPr>
                </a:tc>
                <a:tc>
                  <a:txBody>
                    <a:bodyPr/>
                    <a:lstStyle/>
                    <a:p>
                      <a:pPr algn="ctr"/>
                      <a:r>
                        <a:rPr sz="1200" b="1" i="0">
                          <a:solidFill>
                            <a:srgbClr val="1A7A4A"/>
                          </a:solidFill>
                          <a:latin typeface="Calibri"/>
                        </a:rPr>
                        <a:t>+25,9 %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10.3% et TGR 3.0% impliquent un prix implicite DCF de 295 USD (vs 254.25 USD). L'upside de 16% suggère une sous-valorisation modérée, compensée par une prime de croissance déjà intégrée dans les multiples.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3 732,7</a:t>
                      </a:r>
                    </a:p>
                  </a:txBody>
                  <a:tcPr>
                    <a:solidFill>
                      <a:srgbClr val="DDE8F5"/>
                    </a:solidFill>
                  </a:tcPr>
                </a:tc>
                <a:tc>
                  <a:txBody>
                    <a:bodyPr/>
                    <a:lstStyle/>
                    <a:p>
                      <a:pPr algn="ctr"/>
                      <a:r>
                        <a:rPr sz="800" b="1" i="0">
                          <a:solidFill>
                            <a:srgbClr val="1B3A6B"/>
                          </a:solidFill>
                          <a:latin typeface="Calibri"/>
                        </a:rPr>
                        <a:t>26,2x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33,3x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3 150,0</a:t>
                      </a:r>
                    </a:p>
                  </a:txBody>
                  <a:tcPr>
                    <a:solidFill>
                      <a:srgbClr val="FFFFFF"/>
                    </a:solidFill>
                  </a:tcPr>
                </a:tc>
                <a:tc>
                  <a:txBody>
                    <a:bodyPr/>
                    <a:lstStyle/>
                    <a:p>
                      <a:pPr algn="ctr"/>
                      <a:r>
                        <a:rPr sz="800" b="0" i="0">
                          <a:solidFill>
                            <a:srgbClr val="0D0D0D"/>
                          </a:solidFill>
                          <a:latin typeface="Calibri"/>
                        </a:rPr>
                        <a:t>21,5x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2 050,0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25,1x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3800,0 %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1,5x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4500,0 %</a:t>
                      </a:r>
                    </a:p>
                  </a:txBody>
                  <a:tcPr>
                    <a:solidFill>
                      <a:srgbClr val="FFFFFF"/>
                    </a:solidFill>
                  </a:tcPr>
                </a:tc>
                <a:tc>
                  <a:txBody>
                    <a:bodyPr/>
                    <a:lstStyle/>
                    <a:p>
                      <a:pPr algn="ctr"/>
                      <a:r>
                        <a:rPr sz="800" b="0" i="0">
                          <a:solidFill>
                            <a:srgbClr val="0D0D0D"/>
                          </a:solidFill>
                          <a:latin typeface="Calibri"/>
                        </a:rPr>
                        <a:t>2200,0 %</a:t>
                      </a:r>
                    </a:p>
                  </a:txBody>
                  <a:tcPr>
                    <a:solidFill>
                      <a:srgbClr val="FFFFFF"/>
                    </a:solidFill>
                  </a:tcPr>
                </a:tc>
              </a:tr>
              <a:tr h="251999">
                <a:tc>
                  <a:txBody>
                    <a:bodyPr/>
                    <a:lstStyle/>
                    <a:p>
                      <a:pPr algn="l"/>
                      <a:r>
                        <a:rPr sz="800" b="0" i="0">
                          <a:solidFill>
                            <a:srgbClr val="0D0D0D"/>
                          </a:solidFill>
                          <a:latin typeface="Calibri"/>
                        </a:rPr>
                        <a:t>NVIDIA</a:t>
                      </a:r>
                    </a:p>
                  </a:txBody>
                  <a:tcPr>
                    <a:solidFill>
                      <a:srgbClr val="F7F8FA"/>
                    </a:solidFill>
                  </a:tcPr>
                </a:tc>
                <a:tc>
                  <a:txBody>
                    <a:bodyPr/>
                    <a:lstStyle/>
                    <a:p>
                      <a:pPr algn="ctr"/>
                      <a:r>
                        <a:rPr sz="750" b="0" i="0">
                          <a:solidFill>
                            <a:srgbClr val="555555"/>
                          </a:solidFill>
                          <a:latin typeface="Calibri"/>
                        </a:rPr>
                        <a:t>NVDA</a:t>
                      </a:r>
                    </a:p>
                  </a:txBody>
                  <a:tcPr>
                    <a:solidFill>
                      <a:srgbClr val="F7F8FA"/>
                    </a:solidFill>
                  </a:tcPr>
                </a:tc>
                <a:tc>
                  <a:txBody>
                    <a:bodyPr/>
                    <a:lstStyle/>
                    <a:p>
                      <a:pPr algn="ctr"/>
                      <a:r>
                        <a:rPr sz="800" b="0" i="0">
                          <a:solidFill>
                            <a:srgbClr val="0D0D0D"/>
                          </a:solidFill>
                          <a:latin typeface="Calibri"/>
                        </a:rPr>
                        <a:t>2 200,0</a:t>
                      </a:r>
                    </a:p>
                  </a:txBody>
                  <a:tcPr>
                    <a:solidFill>
                      <a:srgbClr val="F7F8FA"/>
                    </a:solidFill>
                  </a:tcPr>
                </a:tc>
                <a:tc>
                  <a:txBody>
                    <a:bodyPr/>
                    <a:lstStyle/>
                    <a:p>
                      <a:pPr algn="ctr"/>
                      <a:r>
                        <a:rPr sz="800" b="0" i="0">
                          <a:solidFill>
                            <a:srgbClr val="0D0D0D"/>
                          </a:solidFill>
                          <a:latin typeface="Calibri"/>
                        </a:rPr>
                        <a:t>45,0x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42,0x</a:t>
                      </a:r>
                    </a:p>
                  </a:txBody>
                  <a:tcPr>
                    <a:solidFill>
                      <a:srgbClr val="F7F8FA"/>
                    </a:solidFill>
                  </a:tcPr>
                </a:tc>
                <a:tc>
                  <a:txBody>
                    <a:bodyPr/>
                    <a:lstStyle/>
                    <a:p>
                      <a:pPr algn="ctr"/>
                      <a:r>
                        <a:rPr sz="800" b="0" i="0">
                          <a:solidFill>
                            <a:srgbClr val="0D0D0D"/>
                          </a:solidFill>
                          <a:latin typeface="Calibri"/>
                        </a:rPr>
                        <a:t>7800,0 %</a:t>
                      </a:r>
                    </a:p>
                  </a:txBody>
                  <a:tcPr>
                    <a:solidFill>
                      <a:srgbClr val="F7F8FA"/>
                    </a:solidFill>
                  </a:tcPr>
                </a:tc>
                <a:tc>
                  <a:txBody>
                    <a:bodyPr/>
                    <a:lstStyle/>
                    <a:p>
                      <a:pPr algn="ctr"/>
                      <a:r>
                        <a:rPr sz="800" b="0" i="0">
                          <a:solidFill>
                            <a:srgbClr val="0D0D0D"/>
                          </a:solidFill>
                          <a:latin typeface="Calibri"/>
                        </a:rPr>
                        <a:t>6500,0 %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420,0</a:t>
                      </a:r>
                    </a:p>
                  </a:txBody>
                  <a:tcPr>
                    <a:solidFill>
                      <a:srgbClr val="FFFFFF"/>
                    </a:solidFill>
                  </a:tcPr>
                </a:tc>
                <a:tc>
                  <a:txBody>
                    <a:bodyPr/>
                    <a:lstStyle/>
                    <a:p>
                      <a:pPr algn="ctr"/>
                      <a:r>
                        <a:rPr sz="800" b="0" i="0">
                          <a:solidFill>
                            <a:srgbClr val="0D0D0D"/>
                          </a:solidFill>
                          <a:latin typeface="Calibri"/>
                        </a:rPr>
                        <a:t>18,0x</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5500,0 %</a:t>
                      </a:r>
                    </a:p>
                  </a:txBody>
                  <a:tcPr>
                    <a:solidFill>
                      <a:srgbClr val="FFFFFF"/>
                    </a:solidFill>
                  </a:tcPr>
                </a:tc>
                <a:tc>
                  <a:txBody>
                    <a:bodyPr/>
                    <a:lstStyle/>
                    <a:p>
                      <a:pPr algn="ctr"/>
                      <a:r>
                        <a:rPr sz="800" b="0" i="0">
                          <a:solidFill>
                            <a:srgbClr val="0D0D0D"/>
                          </a:solidFill>
                          <a:latin typeface="Calibri"/>
                        </a:rPr>
                        <a:t>5000,0 %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20,1x</a:t>
                      </a:r>
                    </a:p>
                  </a:txBody>
                  <a:tcPr>
                    <a:solidFill>
                      <a:srgbClr val="F7F8FA"/>
                    </a:solidFill>
                  </a:tcPr>
                </a:tc>
                <a:tc>
                  <a:txBody>
                    <a:bodyPr/>
                    <a:lstStyle/>
                    <a:p>
                      <a:pPr algn="ctr"/>
                      <a:r>
                        <a:rPr sz="800" b="1" i="0">
                          <a:solidFill>
                            <a:srgbClr val="0D0D0D"/>
                          </a:solidFill>
                          <a:latin typeface="Calibri"/>
                        </a:rPr>
                        <a:t>12,0x</a:t>
                      </a:r>
                    </a:p>
                  </a:txBody>
                  <a:tcPr>
                    <a:solidFill>
                      <a:srgbClr val="F7F8FA"/>
                    </a:solidFill>
                  </a:tcPr>
                </a:tc>
                <a:tc>
                  <a:txBody>
                    <a:bodyPr/>
                    <a:lstStyle/>
                    <a:p>
                      <a:pPr algn="ctr"/>
                      <a:r>
                        <a:rPr sz="800" b="1" i="0">
                          <a:solidFill>
                            <a:srgbClr val="0D0D0D"/>
                          </a:solidFill>
                          <a:latin typeface="Calibri"/>
                        </a:rPr>
                        <a:t>25,1x</a:t>
                      </a:r>
                    </a:p>
                  </a:txBody>
                  <a:tcPr>
                    <a:solidFill>
                      <a:srgbClr val="F7F8FA"/>
                    </a:solidFill>
                  </a:tcPr>
                </a:tc>
                <a:tc>
                  <a:txBody>
                    <a:bodyPr/>
                    <a:lstStyle/>
                    <a:p>
                      <a:pPr algn="ctr"/>
                      <a:r>
                        <a:rPr sz="800" b="1" i="0">
                          <a:solidFill>
                            <a:srgbClr val="0D0D0D"/>
                          </a:solidFill>
                          <a:latin typeface="Calibri"/>
                        </a:rPr>
                        <a:t>5600,0 %</a:t>
                      </a:r>
                    </a:p>
                  </a:txBody>
                  <a:tcPr>
                    <a:solidFill>
                      <a:srgbClr val="F7F8FA"/>
                    </a:solidFill>
                  </a:tcPr>
                </a:tc>
                <a:tc>
                  <a:txBody>
                    <a:bodyPr/>
                    <a:lstStyle/>
                    <a:p>
                      <a:pPr algn="ctr"/>
                      <a:r>
                        <a:rPr sz="800" b="1" i="0">
                          <a:solidFill>
                            <a:srgbClr val="0D0D0D"/>
                          </a:solidFill>
                          <a:latin typeface="Calibri"/>
                        </a:rPr>
                        <a:t>5000,0 %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P/E de 33.3x vs 28.5x pour Microsoft et 25.1x pour Alphabet. La prime de 15% est justifiée par des marges nettes supérieures (26.9% vs 22-24% peers) et une croissance services de 15% vs 10% pour les peers. Une convergence vers la médiane peers (P/E 27x) impliquerait un downside de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WACC 10.3% et TGR 3.0% impliquent un prix implicite DCF de 295 USD (vs 254.25 USD). L'upside de 16% suggère une sous-valorisation modérée, compensée par une prime de croissance déjà intégrée dans les multiples.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antitrust</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d'Apple à 46.9% brut et 26.9% net reposent sur un écosystème captif qui montre des signes d'essoufflement avec une croissance du chiffre d'affaires en baisse à 6.4% en 2025, contre 8.2% en 2023, prouvant une saturation du marché des smartphones malgré des prix élevés.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Saturation marché</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 dépendance aux services (20% des revenus) est vulnérable aux régulations antitrust en Europe et aux États-Unis, menaçant les marges de 70% sur l'App Store, déjà sous pression avec des amendes potentielles de 50 milliards d'euros.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Surévaluation</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ratio P/E de 33.32x et l'EV/EBITDA de 26.22x reflètent une surévaluation évidente, surtout quand le ROE de 151.9% est gonflé par des rachats d'actions massifs (40 milliards en 2024) plutôt que par une croissance organique durable.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avec -5% PIB USA/UE</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l'IA et les données personnelles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du Vision Pro (ventes &lt;3M unités)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46000"/>
            <a:ext cx="2696400" cy="288000"/>
          </a:xfrm>
          <a:prstGeom prst="rect">
            <a:avLst/>
          </a:prstGeom>
          <a:noFill/>
        </p:spPr>
        <p:txBody>
          <a:bodyPr wrap="square">
            <a:spAutoFit/>
          </a:bodyPr>
          <a:lstStyle/>
          <a:p>
            <a:pPr algn="l"/>
            <a:r>
              <a:rPr sz="750" b="0" i="0">
                <a:solidFill>
                  <a:srgbClr val="1B3A6B"/>
                </a:solidFill>
                <a:latin typeface="Calibri"/>
              </a:rPr>
              <a:t>Detresse : 49/100 — Vigilance</a:t>
            </a:r>
          </a:p>
        </p:txBody>
      </p:sp>
      <p:sp>
        <p:nvSpPr>
          <p:cNvPr id="35" name="Rectangle 34"/>
          <p:cNvSpPr/>
          <p:nvPr/>
        </p:nvSpPr>
        <p:spPr>
          <a:xfrm>
            <a:off x="324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46000"/>
            <a:ext cx="2696400" cy="288000"/>
          </a:xfrm>
          <a:prstGeom prst="rect">
            <a:avLst/>
          </a:prstGeom>
          <a:noFill/>
        </p:spPr>
        <p:txBody>
          <a:bodyPr wrap="square">
            <a:spAutoFit/>
          </a:bodyPr>
          <a:lstStyle/>
          <a:p>
            <a:pPr algn="l"/>
            <a:r>
              <a:rPr sz="750" b="0" i="0">
                <a:solidFill>
                  <a:srgbClr val="1B3A6B"/>
                </a:solidFill>
                <a:latin typeface="Calibri"/>
              </a:rPr>
              <a:t>M&amp;A : 42/100 — Moderate</a:t>
            </a:r>
          </a:p>
        </p:txBody>
      </p:sp>
      <p:sp>
        <p:nvSpPr>
          <p:cNvPr id="38" name="Rectangle 37"/>
          <p:cNvSpPr/>
          <p:nvPr/>
        </p:nvSpPr>
        <p:spPr>
          <a:xfrm>
            <a:off x="612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46000"/>
            <a:ext cx="2696400" cy="288000"/>
          </a:xfrm>
          <a:prstGeom prst="rect">
            <a:avLst/>
          </a:prstGeom>
          <a:noFill/>
        </p:spPr>
        <p:txBody>
          <a:bodyPr wrap="square">
            <a:spAutoFit/>
          </a:bodyPr>
          <a:lstStyle/>
          <a:p>
            <a:pPr algn="l"/>
            <a:r>
              <a:rPr sz="750" b="0" i="0">
                <a:solidFill>
                  <a:srgbClr val="1B3A6B"/>
                </a:solidFill>
                <a:latin typeface="Calibri"/>
              </a:rPr>
              <a:t>Regime : Volatile  Rec.6M:26%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+0,058</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55,3 %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4</a:t>
                      </a:r>
                    </a:p>
                  </a:txBody>
                  <a:tcPr>
                    <a:solidFill>
                      <a:srgbClr val="EAF4EF"/>
                    </a:solidFill>
                  </a:tcPr>
                </a:tc>
                <a:tc>
                  <a:txBody>
                    <a:bodyPr/>
                    <a:lstStyle/>
                    <a:p>
                      <a:pPr algn="ctr"/>
                      <a:r>
                        <a:rPr sz="800" b="0" i="0">
                          <a:solidFill>
                            <a:srgbClr val="0D0D0D"/>
                          </a:solidFill>
                          <a:latin typeface="Calibri"/>
                        </a:rPr>
                        <a:t>+0,252</a:t>
                      </a:r>
                    </a:p>
                  </a:txBody>
                  <a:tcPr>
                    <a:solidFill>
                      <a:srgbClr val="EAF4EF"/>
                    </a:solidFill>
                  </a:tcPr>
                </a:tc>
                <a:tc>
                  <a:txBody>
                    <a:bodyPr/>
                    <a:lstStyle/>
                    <a:p>
                      <a:pPr algn="ctr"/>
                      <a:r>
                        <a:rPr sz="800" b="0" i="0">
                          <a:solidFill>
                            <a:srgbClr val="0D0D0D"/>
                          </a:solidFill>
                          <a:latin typeface="Calibri"/>
                        </a:rPr>
                        <a:t>Lancement Vision Pro en 2026 avec 5M unités vendues générant 10 Mds USD CA et +2 pts marges | Croissance services à 15% en 2026 grâce à +10M abonnés premium et hausse des prix | Rachat d'actions de 25 Mds USD/an soutenus par une trésorerie…</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21</a:t>
                      </a:r>
                    </a:p>
                  </a:txBody>
                  <a:tcPr>
                    <a:solidFill>
                      <a:srgbClr val="FFFFFF"/>
                    </a:solidFill>
                  </a:tcPr>
                </a:tc>
                <a:tc>
                  <a:txBody>
                    <a:bodyPr/>
                    <a:lstStyle/>
                    <a:p>
                      <a:pPr algn="ctr"/>
                      <a:r>
                        <a:rPr sz="800" b="0" i="0">
                          <a:solidFill>
                            <a:srgbClr val="0D0D0D"/>
                          </a:solidFill>
                          <a:latin typeface="Calibri"/>
                        </a:rPr>
                        <a:t>+0,553</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+0,195</a:t>
                      </a:r>
                    </a:p>
                  </a:txBody>
                  <a:tcPr>
                    <a:solidFill>
                      <a:srgbClr val="FAF0EF"/>
                    </a:solidFill>
                  </a:tcPr>
                </a:tc>
                <a:tc>
                  <a:txBody>
                    <a:bodyPr/>
                    <a:lstStyle/>
                    <a:p>
                      <a:pPr algn="ctr"/>
                      <a:r>
                        <a:rPr sz="800" b="0" i="0">
                          <a:solidFill>
                            <a:srgbClr val="0D0D0D"/>
                          </a:solidFill>
                          <a:latin typeface="Calibri"/>
                        </a:rPr>
                        <a:t>Régulation App Store en UE/USA réduisant les commissions de 30% à 15% en 2026, impactant les marges services de 4 pts | Concurrence accrue en Chine (Huawei, Xiaomi) avec perte de parts de marché iPhone (-8% en 2026) | Ralentissement…</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concurrentiels d'Apple à l'aube de ses 50 ans, notamment face à l'IA. Les analystes restent optimistes sur son potentiel de croissance à long terme malgré les risques géopolitiques et sectoriels.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26.2x EV/EBITDA vs 22.5x pour les peers technologiques. La prime de 16% est justifiée par des marges supérieures et une croissance services durable.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254,25 $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+20,2 %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825824"/>
            <a:ext cx="498636" cy="1069375"/>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La valorisation reste élevée mais justifiée par une croissance organique soutenue et une trésorerie abondante de 166 Mds USD.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