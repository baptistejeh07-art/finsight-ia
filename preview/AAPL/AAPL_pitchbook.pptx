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275 $  ·  Upside : +10,5 %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275 $  ·  Upside : +10,5 %  ·  Bear : 220 $ (-11,6 %)  ·  Bull : 310 $ (+24,6 %)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L'IA intégrée dans les nouveaux iPhone et Mac stimulera les ventes 2026 avec +12% de CA services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brute devrait atteindre 48% en 2027 grâce à l'optimisation des coûts de production</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nette</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rachat d'actions de 110 milliards USD en 2025 renforce la création de valeur actionnariale.</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européenne (DMA) pourrait réduire les marges App Store de 15-20% d'ici 2026 | Impact : -2pp sur marge nette | Horizon : 6-12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IA (Google, Microsoft) menace le pricing power sur les services premium | Risque : perte de parts de marché de 5% | Horizon : 12-24 mois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pourrait réduire les ventes iPhone de 10% en 2026 | Impact : -3% sur CA global | Horizon : 9-15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20,8x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275 $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+10,5 %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-0,077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innovants comme l'iPhone, Mac et services digitaux. Positionné en haut de gamme, le groupe domine par son écosystème intégré et sa fidélisation client. Ses avantages incluent une marge brute élevée, un pricing power fort et une trésorerie nette de 166 milliards USD.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 de matériel (iPhone, Mac, iPad, wearables) avec modèle premium et cycles de renouvellement réguliers. Clients : consommateurs haut de gamme et entreprises. Croissance tirée par l'innovation (IA intégrée) et l'expansion géographique, notamment en Inde et Chine.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 Store, Apple Music, iCloud) et services financiers (Apple Card). Modèle récurrent avec marge &gt;70%. Clients : base installée de 2 milliards d'appareils actifs. Croissance portée par les services cloud et les partenariats bancaires.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78%</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 de matériel (iPhone, Mac, iPad, wearables) avec modèle premium et cycles de renouvellement réguliers. Clients : consommateurs haut de gamme et entreprises. Croissance tirée par l'innovation (IA intégrée) et l'expansion géographique, notamment en Inde et Chine.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22%</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 Store, Apple Music, iCloud) et services financiers (Apple Card). Modèle récurrent avec marge &gt;70%. Clients : base installée de 2 milliards d'appareils actifs. Croissance portée par les services cloud et les partenariats bancaires.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440,0</a:t>
                      </a:r>
                    </a:p>
                  </a:txBody>
                  <a:tcPr>
                    <a:solidFill>
                      <a:srgbClr val="FFFFFF"/>
                    </a:solidFill>
                  </a:tcPr>
                </a:tc>
                <a:tc>
                  <a:txBody>
                    <a:bodyPr/>
                    <a:lstStyle/>
                    <a:p>
                      <a:pPr algn="ctr"/>
                      <a:r>
                        <a:rPr sz="800" b="1" i="0">
                          <a:solidFill>
                            <a:srgbClr val="0D0D0D"/>
                          </a:solidFill>
                          <a:latin typeface="Calibri"/>
                        </a:rPr>
                        <a:t>470,0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+5,7 %</a:t>
                      </a:r>
                    </a:p>
                  </a:txBody>
                  <a:tcPr>
                    <a:solidFill>
                      <a:srgbClr val="F7F8FA"/>
                    </a:solidFill>
                  </a:tcPr>
                </a:tc>
                <a:tc>
                  <a:txBody>
                    <a:bodyPr/>
                    <a:lstStyle/>
                    <a:p>
                      <a:pPr algn="ctr"/>
                      <a:r>
                        <a:rPr sz="750" b="0" i="1">
                          <a:solidFill>
                            <a:srgbClr val="555555"/>
                          </a:solidFill>
                          <a:latin typeface="Calibri"/>
                        </a:rPr>
                        <a:t>+6,8 %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209,0</a:t>
                      </a:r>
                    </a:p>
                  </a:txBody>
                  <a:tcPr>
                    <a:solidFill>
                      <a:srgbClr val="FFFFFF"/>
                    </a:solidFill>
                  </a:tcPr>
                </a:tc>
                <a:tc>
                  <a:txBody>
                    <a:bodyPr/>
                    <a:lstStyle/>
                    <a:p>
                      <a:pPr algn="ctr"/>
                      <a:r>
                        <a:rPr sz="800" b="1" i="0">
                          <a:solidFill>
                            <a:srgbClr val="0D0D0D"/>
                          </a:solidFill>
                          <a:latin typeface="Calibri"/>
                        </a:rPr>
                        <a:t>225,6</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155,0</a:t>
                      </a:r>
                    </a:p>
                  </a:txBody>
                  <a:tcPr>
                    <a:solidFill>
                      <a:srgbClr val="FFFFFF"/>
                    </a:solidFill>
                  </a:tcPr>
                </a:tc>
                <a:tc>
                  <a:txBody>
                    <a:bodyPr/>
                    <a:lstStyle/>
                    <a:p>
                      <a:pPr algn="ctr"/>
                      <a:r>
                        <a:rPr sz="800" b="1" i="0">
                          <a:solidFill>
                            <a:srgbClr val="0D0D0D"/>
                          </a:solidFill>
                          <a:latin typeface="Calibri"/>
                        </a:rPr>
                        <a:t>168,0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35,2 %</a:t>
                      </a:r>
                    </a:p>
                  </a:txBody>
                  <a:tcPr>
                    <a:solidFill>
                      <a:srgbClr val="F7F8FA"/>
                    </a:solidFill>
                  </a:tcPr>
                </a:tc>
                <a:tc>
                  <a:txBody>
                    <a:bodyPr/>
                    <a:lstStyle/>
                    <a:p>
                      <a:pPr algn="ctr"/>
                      <a:r>
                        <a:rPr sz="750" b="0" i="1">
                          <a:solidFill>
                            <a:srgbClr val="555555"/>
                          </a:solidFill>
                          <a:latin typeface="Calibri"/>
                        </a:rPr>
                        <a:t>35,7 %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118,0</a:t>
                      </a:r>
                    </a:p>
                  </a:txBody>
                  <a:tcPr>
                    <a:solidFill>
                      <a:srgbClr val="FFFFFF"/>
                    </a:solidFill>
                  </a:tcPr>
                </a:tc>
                <a:tc>
                  <a:txBody>
                    <a:bodyPr/>
                    <a:lstStyle/>
                    <a:p>
                      <a:pPr algn="ctr"/>
                      <a:r>
                        <a:rPr sz="800" b="1" i="0">
                          <a:solidFill>
                            <a:srgbClr val="0D0D0D"/>
                          </a:solidFill>
                          <a:latin typeface="Calibri"/>
                        </a:rPr>
                        <a:t>129,0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26,8 %</a:t>
                      </a:r>
                    </a:p>
                  </a:txBody>
                  <a:tcPr>
                    <a:solidFill>
                      <a:srgbClr val="F7F8FA"/>
                    </a:solidFill>
                  </a:tcPr>
                </a:tc>
                <a:tc>
                  <a:txBody>
                    <a:bodyPr/>
                    <a:lstStyle/>
                    <a:p>
                      <a:pPr algn="ctr"/>
                      <a:r>
                        <a:rPr sz="750" b="0" i="1">
                          <a:solidFill>
                            <a:srgbClr val="555555"/>
                          </a:solidFill>
                          <a:latin typeface="Calibri"/>
                        </a:rPr>
                        <a:t>27,4 %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6.4% en 2025 portée par les services (+14%) et l'iPhone (+5%). Les marges se stabilisent à haut niveau (GM 46.9%, Net 26.9%) grâce au mix services et à la discipline opérationnelle. La génération de cash libre de 100 milliards USD renforce la solidité bilancielle.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6.4% en 2025 portée par les services (+14%) et l'iPhone (+5%). Les marges se stabilisent à haut niveau (GM 46.9%, Net 26.9%) grâce au mix services et à la discipline opérationnelle. La génération de cash libre de 100 milliards USD renforce la solidité bilancielle.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brute/EBITDA/nette progressent de 2022 à 2025 (+3.6pp GM, +1.7pp Net) grâce à l'effet de levier opérationnel et au mix services. La compression des coûts (logistique, R&amp;D) et le pricing power sur les services premium expliquent cette durabilité. Implications : re-rating potentiel si croissance services &gt;15% et compression des coûts maintenue.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220 $</a:t>
                      </a:r>
                    </a:p>
                  </a:txBody>
                  <a:tcPr>
                    <a:solidFill>
                      <a:srgbClr val="FAF0EF"/>
                    </a:solidFill>
                  </a:tcPr>
                </a:tc>
                <a:tc>
                  <a:txBody>
                    <a:bodyPr/>
                    <a:lstStyle/>
                    <a:p>
                      <a:pPr algn="ctr"/>
                      <a:r>
                        <a:rPr sz="2000" b="1" i="0">
                          <a:solidFill>
                            <a:srgbClr val="2E5FA3"/>
                          </a:solidFill>
                          <a:latin typeface="Calibri"/>
                        </a:rPr>
                        <a:t>275 $</a:t>
                      </a:r>
                    </a:p>
                  </a:txBody>
                  <a:tcPr>
                    <a:solidFill>
                      <a:srgbClr val="EEF3FA"/>
                    </a:solidFill>
                  </a:tcPr>
                </a:tc>
                <a:tc>
                  <a:txBody>
                    <a:bodyPr/>
                    <a:lstStyle/>
                    <a:p>
                      <a:pPr algn="ctr"/>
                      <a:r>
                        <a:rPr sz="2000" b="1" i="0">
                          <a:solidFill>
                            <a:srgbClr val="1A7A4A"/>
                          </a:solidFill>
                          <a:latin typeface="Calibri"/>
                        </a:rPr>
                        <a:t>310 $</a:t>
                      </a:r>
                    </a:p>
                  </a:txBody>
                  <a:tcPr>
                    <a:solidFill>
                      <a:srgbClr val="EAF4EF"/>
                    </a:solidFill>
                  </a:tcPr>
                </a:tc>
              </a:tr>
              <a:tr h="342900">
                <a:tc>
                  <a:txBody>
                    <a:bodyPr/>
                    <a:lstStyle/>
                    <a:p>
                      <a:pPr algn="ctr"/>
                      <a:r>
                        <a:rPr sz="1200" b="1" i="0">
                          <a:solidFill>
                            <a:srgbClr val="A82020"/>
                          </a:solidFill>
                          <a:latin typeface="Calibri"/>
                        </a:rPr>
                        <a:t>-11,6 %</a:t>
                      </a:r>
                    </a:p>
                  </a:txBody>
                  <a:tcPr>
                    <a:solidFill>
                      <a:srgbClr val="FAF0EF"/>
                    </a:solidFill>
                  </a:tcPr>
                </a:tc>
                <a:tc>
                  <a:txBody>
                    <a:bodyPr/>
                    <a:lstStyle/>
                    <a:p>
                      <a:pPr algn="ctr"/>
                      <a:r>
                        <a:rPr sz="1200" b="1" i="0">
                          <a:solidFill>
                            <a:srgbClr val="2E5FA3"/>
                          </a:solidFill>
                          <a:latin typeface="Calibri"/>
                        </a:rPr>
                        <a:t>+10,5 %</a:t>
                      </a:r>
                    </a:p>
                  </a:txBody>
                  <a:tcPr>
                    <a:solidFill>
                      <a:srgbClr val="EEF3FA"/>
                    </a:solidFill>
                  </a:tcPr>
                </a:tc>
                <a:tc>
                  <a:txBody>
                    <a:bodyPr/>
                    <a:lstStyle/>
                    <a:p>
                      <a:pPr algn="ctr"/>
                      <a:r>
                        <a:rPr sz="1200" b="1" i="0">
                          <a:solidFill>
                            <a:srgbClr val="1A7A4A"/>
                          </a:solidFill>
                          <a:latin typeface="Calibri"/>
                        </a:rPr>
                        <a:t>+24,6 %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275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10.4% et TGR de 3.0%, le prix implicite DCF est de 280 USD vs cours à 248.8 USD (+12.5%). L'upside reflète une sous-valorisation structurelle liée à la qualité des actifs et à la génération de cash. Catalyseur : accélération des services cloud et 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5200,0 %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2 050,0</a:t>
                      </a:r>
                    </a:p>
                  </a:txBody>
                  <a:tcPr>
                    <a:solidFill>
                      <a:srgbClr val="F7F8FA"/>
                    </a:solidFill>
                  </a:tcPr>
                </a:tc>
                <a:tc>
                  <a:txBody>
                    <a:bodyPr/>
                    <a:lstStyle/>
                    <a:p>
                      <a:pPr algn="ctr"/>
                      <a:r>
                        <a:rPr sz="800" b="0" i="0">
                          <a:solidFill>
                            <a:srgbClr val="0D0D0D"/>
                          </a:solidFill>
                          <a:latin typeface="Calibri"/>
                        </a:rPr>
                        <a:t>20,8x</a:t>
                      </a:r>
                    </a:p>
                  </a:txBody>
                  <a:tcPr>
                    <a:solidFill>
                      <a:srgbClr val="F7F8FA"/>
                    </a:solidFill>
                  </a:tcPr>
                </a:tc>
                <a:tc>
                  <a:txBody>
                    <a:bodyPr/>
                    <a:lstStyle/>
                    <a:p>
                      <a:pPr algn="ctr"/>
                      <a:r>
                        <a:rPr sz="800" b="0" i="0">
                          <a:solidFill>
                            <a:srgbClr val="0D0D0D"/>
                          </a:solidFill>
                          <a:latin typeface="Calibri"/>
                        </a:rPr>
                        <a:t>8,9x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5600,0 %</a:t>
                      </a:r>
                    </a:p>
                  </a:txBody>
                  <a:tcPr>
                    <a:solidFill>
                      <a:srgbClr val="F7F8FA"/>
                    </a:solidFill>
                  </a:tcPr>
                </a:tc>
                <a:tc>
                  <a:txBody>
                    <a:bodyPr/>
                    <a:lstStyle/>
                    <a:p>
                      <a:pPr algn="ctr"/>
                      <a:r>
                        <a:rPr sz="800" b="0" i="0">
                          <a:solidFill>
                            <a:srgbClr val="0D0D0D"/>
                          </a:solidFill>
                          <a:latin typeface="Calibri"/>
                        </a:rPr>
                        <a:t>3500,0 %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8,5x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4200,0 %</a:t>
                      </a:r>
                    </a:p>
                  </a:txBody>
                  <a:tcPr>
                    <a:solidFill>
                      <a:srgbClr val="FFFFFF"/>
                    </a:solidFill>
                  </a:tcPr>
                </a:tc>
                <a:tc>
                  <a:txBody>
                    <a:bodyPr/>
                    <a:lstStyle/>
                    <a:p>
                      <a:pPr algn="ctr"/>
                      <a:r>
                        <a:rPr sz="800" b="0" i="0">
                          <a:solidFill>
                            <a:srgbClr val="0D0D0D"/>
                          </a:solidFill>
                          <a:latin typeface="Calibri"/>
                        </a:rPr>
                        <a:t>2500,0 %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1 400,0</a:t>
                      </a:r>
                    </a:p>
                  </a:txBody>
                  <a:tcPr>
                    <a:solidFill>
                      <a:srgbClr val="F7F8FA"/>
                    </a:solidFill>
                  </a:tcPr>
                </a:tc>
                <a:tc>
                  <a:txBody>
                    <a:bodyPr/>
                    <a:lstStyle/>
                    <a:p>
                      <a:pPr algn="ctr"/>
                      <a:r>
                        <a:rPr sz="800" b="0" i="0">
                          <a:solidFill>
                            <a:srgbClr val="0D0D0D"/>
                          </a:solidFill>
                          <a:latin typeface="Calibri"/>
                        </a:rPr>
                        <a:t>18,5x</a:t>
                      </a:r>
                    </a:p>
                  </a:txBody>
                  <a:tcPr>
                    <a:solidFill>
                      <a:srgbClr val="F7F8FA"/>
                    </a:solidFill>
                  </a:tcPr>
                </a:tc>
                <a:tc>
                  <a:txBody>
                    <a:bodyPr/>
                    <a:lstStyle/>
                    <a:p>
                      <a:pPr algn="ctr"/>
                      <a:r>
                        <a:rPr sz="800" b="0" i="0">
                          <a:solidFill>
                            <a:srgbClr val="0D0D0D"/>
                          </a:solidFill>
                          <a:latin typeface="Calibri"/>
                        </a:rPr>
                        <a:t>10,2x</a:t>
                      </a:r>
                    </a:p>
                  </a:txBody>
                  <a:tcPr>
                    <a:solidFill>
                      <a:srgbClr val="F7F8FA"/>
                    </a:solidFill>
                  </a:tcPr>
                </a:tc>
                <a:tc>
                  <a:txBody>
                    <a:bodyPr/>
                    <a:lstStyle/>
                    <a:p>
                      <a:pPr algn="ctr"/>
                      <a:r>
                        <a:rPr sz="800" b="0" i="0">
                          <a:solidFill>
                            <a:srgbClr val="0D0D0D"/>
                          </a:solidFill>
                          <a:latin typeface="Calibri"/>
                        </a:rPr>
                        <a:t>26,3x</a:t>
                      </a:r>
                    </a:p>
                  </a:txBody>
                  <a:tcPr>
                    <a:solidFill>
                      <a:srgbClr val="F7F8FA"/>
                    </a:solidFill>
                  </a:tcPr>
                </a:tc>
                <a:tc>
                  <a:txBody>
                    <a:bodyPr/>
                    <a:lstStyle/>
                    <a:p>
                      <a:pPr algn="ctr"/>
                      <a:r>
                        <a:rPr sz="800" b="0" i="0">
                          <a:solidFill>
                            <a:srgbClr val="0D0D0D"/>
                          </a:solidFill>
                          <a:latin typeface="Calibri"/>
                        </a:rPr>
                        <a:t>8500,0 %</a:t>
                      </a:r>
                    </a:p>
                  </a:txBody>
                  <a:tcPr>
                    <a:solidFill>
                      <a:srgbClr val="F7F8FA"/>
                    </a:solidFill>
                  </a:tcPr>
                </a:tc>
                <a:tc>
                  <a:txBody>
                    <a:bodyPr/>
                    <a:lstStyle/>
                    <a:p>
                      <a:pPr algn="ctr"/>
                      <a:r>
                        <a:rPr sz="800" b="0" i="0">
                          <a:solidFill>
                            <a:srgbClr val="0D0D0D"/>
                          </a:solidFill>
                          <a:latin typeface="Calibri"/>
                        </a:rPr>
                        <a:t>5500,0 %</a:t>
                      </a:r>
                    </a:p>
                  </a:txBody>
                  <a:tcPr>
                    <a:solidFill>
                      <a:srgbClr val="F7F8FA"/>
                    </a:solidFill>
                  </a:tcPr>
                </a:tc>
              </a:tr>
              <a:tr h="251999">
                <a:tc>
                  <a:txBody>
                    <a:bodyPr/>
                    <a:lstStyle/>
                    <a:p>
                      <a:pPr algn="l"/>
                      <a:r>
                        <a:rPr sz="800" b="0" i="0">
                          <a:solidFill>
                            <a:srgbClr val="0D0D0D"/>
                          </a:solidFill>
                          <a:latin typeface="Calibri"/>
                        </a:rPr>
                        <a:t>NVIDIA</a:t>
                      </a:r>
                    </a:p>
                  </a:txBody>
                  <a:tcPr>
                    <a:solidFill>
                      <a:srgbClr val="FFFFFF"/>
                    </a:solidFill>
                  </a:tcPr>
                </a:tc>
                <a:tc>
                  <a:txBody>
                    <a:bodyPr/>
                    <a:lstStyle/>
                    <a:p>
                      <a:pPr algn="ctr"/>
                      <a:r>
                        <a:rPr sz="750" b="0" i="0">
                          <a:solidFill>
                            <a:srgbClr val="555555"/>
                          </a:solidFill>
                          <a:latin typeface="Calibri"/>
                        </a:rPr>
                        <a:t>NVDA</a:t>
                      </a:r>
                    </a:p>
                  </a:txBody>
                  <a:tcPr>
                    <a:solidFill>
                      <a:srgbClr val="FFFFFF"/>
                    </a:solidFill>
                  </a:tcPr>
                </a:tc>
                <a:tc>
                  <a:txBody>
                    <a:bodyPr/>
                    <a:lstStyle/>
                    <a:p>
                      <a:pPr algn="ctr"/>
                      <a:r>
                        <a:rPr sz="800" b="0" i="0">
                          <a:solidFill>
                            <a:srgbClr val="0D0D0D"/>
                          </a:solidFill>
                          <a:latin typeface="Calibri"/>
                        </a:rPr>
                        <a:t>2 300,0</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42,0x</a:t>
                      </a:r>
                    </a:p>
                  </a:txBody>
                  <a:tcPr>
                    <a:solidFill>
                      <a:srgbClr val="FFFFFF"/>
                    </a:solidFill>
                  </a:tcPr>
                </a:tc>
                <a:tc>
                  <a:txBody>
                    <a:bodyPr/>
                    <a:lstStyle/>
                    <a:p>
                      <a:pPr algn="ctr"/>
                      <a:r>
                        <a:rPr sz="800" b="0" i="0">
                          <a:solidFill>
                            <a:srgbClr val="0D0D0D"/>
                          </a:solidFill>
                          <a:latin typeface="Calibri"/>
                        </a:rPr>
                        <a:t>7800,0 %</a:t>
                      </a:r>
                    </a:p>
                  </a:txBody>
                  <a:tcPr>
                    <a:solidFill>
                      <a:srgbClr val="FFFFFF"/>
                    </a:solidFill>
                  </a:tcPr>
                </a:tc>
                <a:tc>
                  <a:txBody>
                    <a:bodyPr/>
                    <a:lstStyle/>
                    <a:p>
                      <a:pPr algn="ctr"/>
                      <a:r>
                        <a:rPr sz="800" b="0" i="0">
                          <a:solidFill>
                            <a:srgbClr val="0D0D0D"/>
                          </a:solidFill>
                          <a:latin typeface="Calibri"/>
                        </a:rPr>
                        <a:t>6500,0 %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20,8x</a:t>
                      </a:r>
                    </a:p>
                  </a:txBody>
                  <a:tcPr>
                    <a:solidFill>
                      <a:srgbClr val="F7F8FA"/>
                    </a:solidFill>
                  </a:tcPr>
                </a:tc>
                <a:tc>
                  <a:txBody>
                    <a:bodyPr/>
                    <a:lstStyle/>
                    <a:p>
                      <a:pPr algn="ctr"/>
                      <a:r>
                        <a:rPr sz="800" b="1" i="0">
                          <a:solidFill>
                            <a:srgbClr val="0D0D0D"/>
                          </a:solidFill>
                          <a:latin typeface="Calibri"/>
                        </a:rPr>
                        <a:t>10,2x</a:t>
                      </a:r>
                    </a:p>
                  </a:txBody>
                  <a:tcPr>
                    <a:solidFill>
                      <a:srgbClr val="F7F8FA"/>
                    </a:solidFill>
                  </a:tcPr>
                </a:tc>
                <a:tc>
                  <a:txBody>
                    <a:bodyPr/>
                    <a:lstStyle/>
                    <a:p>
                      <a:pPr algn="ctr"/>
                      <a:r>
                        <a:rPr sz="800" b="1" i="0">
                          <a:solidFill>
                            <a:srgbClr val="0D0D0D"/>
                          </a:solidFill>
                          <a:latin typeface="Calibri"/>
                        </a:rPr>
                        <a:t>28,5x</a:t>
                      </a:r>
                    </a:p>
                  </a:txBody>
                  <a:tcPr>
                    <a:solidFill>
                      <a:srgbClr val="F7F8FA"/>
                    </a:solidFill>
                  </a:tcPr>
                </a:tc>
                <a:tc>
                  <a:txBody>
                    <a:bodyPr/>
                    <a:lstStyle/>
                    <a:p>
                      <a:pPr algn="ctr"/>
                      <a:r>
                        <a:rPr sz="800" b="1" i="0">
                          <a:solidFill>
                            <a:srgbClr val="0D0D0D"/>
                          </a:solidFill>
                          <a:latin typeface="Calibri"/>
                        </a:rPr>
                        <a:t>6800,0 %</a:t>
                      </a:r>
                    </a:p>
                  </a:txBody>
                  <a:tcPr>
                    <a:solidFill>
                      <a:srgbClr val="F7F8FA"/>
                    </a:solidFill>
                  </a:tcPr>
                </a:tc>
                <a:tc>
                  <a:txBody>
                    <a:bodyPr/>
                    <a:lstStyle/>
                    <a:p>
                      <a:pPr algn="ctr"/>
                      <a:r>
                        <a:rPr sz="800" b="1" i="0">
                          <a:solidFill>
                            <a:srgbClr val="0D0D0D"/>
                          </a:solidFill>
                          <a:latin typeface="Calibri"/>
                        </a:rPr>
                        <a:t>5200,0 %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une prime de 22% sur EV/EBITDA (25.7x vs médiane 21.1x) et 35% sur P/E (32.6x vs 24.1x). Justifiée par la croissance des services (+14% vs 8% peers) et la marge brute supérieure (46.9% vs 42%). Une convergence vers la médiane impliquerait un downside de 15% sur EV/EBITDA.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10.4% et TGR de 3.0%, le prix implicite DCF est de 280 USD vs cours à 248.8 USD (+12.5%). L'upside reflète une sous-valorisation structurelle liée à la qualité des actifs et à la génération de cash. Catalyseur : accélération des services cloud et 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Régulation destructrice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Les marges d'Apple (46.9% GM, 26.9% NM) reposent sur un écosystème captif, mais la pression réglementaire en Europe et aux États-Unis pourrait réduire le pricing power de 15% à 20% d'ici 2026, érodant les profits. Les coûts de conformité liés au DMA européen (Digital Markets Act) pourraient atteindre 1.2 milliard de dollars annuels, impactant directement la rentabilité.</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Trésorerie inefficace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La trésorerie nette de 166 milliards en 2024 est un atout, mais son utilisation est limitée par des rapatriements coûteux (15.5% d'impôt aux États-Unis) et des restrictions chinoises sur les dividendes, réduisant la flexibilité financière.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ROE artificiel</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ROE de 151.9% est artificiellement gonflé par des rachats d'actions massifs (90 milliards en 2023), masquant une rentabilité opérationnelle en déclin de 3 points depuis 2021, selon les données SEC.</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avec -3% de PIB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anti-trust US sur l'App Store réduisant les revenus services de 25%</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du déploiement IA sur iPhone 16 avec -10% de ventes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-0,077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44,5 %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+0,239</a:t>
                      </a:r>
                    </a:p>
                  </a:txBody>
                  <a:tcPr>
                    <a:solidFill>
                      <a:srgbClr val="EAF4EF"/>
                    </a:solidFill>
                  </a:tcPr>
                </a:tc>
                <a:tc>
                  <a:txBody>
                    <a:bodyPr/>
                    <a:lstStyle/>
                    <a:p>
                      <a:pPr algn="ctr"/>
                      <a:r>
                        <a:rPr sz="800" b="0" i="0">
                          <a:solidFill>
                            <a:srgbClr val="0D0D0D"/>
                          </a:solidFill>
                          <a:latin typeface="Calibri"/>
                        </a:rPr>
                        <a:t>Lancement iPhone 16 avec IA intégrée en 2026 devrait booster les ventes de 8-10% avec marge services &gt;70% | Horizon : 12-18 mois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+0,445</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+0,316</a:t>
                      </a:r>
                    </a:p>
                  </a:txBody>
                  <a:tcPr>
                    <a:solidFill>
                      <a:srgbClr val="FAF0EF"/>
                    </a:solidFill>
                  </a:tcPr>
                </a:tc>
                <a:tc>
                  <a:txBody>
                    <a:bodyPr/>
                    <a:lstStyle/>
                    <a:p>
                      <a:pPr algn="ctr"/>
                      <a:r>
                        <a:rPr sz="800" b="0" i="0">
                          <a:solidFill>
                            <a:srgbClr val="0D0D0D"/>
                          </a:solidFill>
                          <a:latin typeface="Calibri"/>
                        </a:rPr>
                        <a:t>Régulation européenne (DMA) pourrait réduire les marges App Store de 15-20% d'ici 2026 | Impact : -2pp sur marge nette | Horizon : 6-12 mois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défis majeurs d'Apple face à l'IA et à la concurrence, tout en saluant ses initiatives technologiques comme l'ouverture de Siri. Les perspectives de croissance à long terme suscitent des débats, avec des prédictions pessimistes sur sa domination future.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La prime de 20% vs médiane peers (EV/EBITDA 25.7x vs 21.5x) est justifiée par la qualité des actifs. Le P/E de 32.6x reflète une croissance supérieure mais reste sensible aux taux.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ROIC de 84.4%. La valorisation reste premium mais justifiée par la qualité des actifs et la génération de cash robuste.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