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+12,3 %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+12,3 %  ·  Bear : 240 $ (-5,4 %)  ·  Bull : 320 $ (+26,1 %)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Ecosystème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des services à 12% en 2026 grâce à l'expansion internationale et l'augmentation des abonnements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Marges nettes à 27.5% en 2026 via levier opérationnel et mix favorable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Lancement de l'iPhone 16 en Q3 2026 avec +8% de volumes et +5% de prix moyen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Risque de régulation antitrust sur l'App Store avec amende potentielle de 5-10Mds$ d'ici 2027</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avec perte de parts de marché de 5-8% sur les services cloud</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à l'iPhone (50% CA) avec ralentissement du marché premium en Chine (-10% volumes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18,7x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+12,3 %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+0,248</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haut de gamme (iPhone, Mac, iPad, services) avec un écosystème intégré unique. Positionnée en premium sur le marché mondial, elle combine innovation, branding puissant et fidélisation client. Ses avantages incluent une marge brute &gt;45%, une trésorerie nette de 166Mds$ et une base d'utilisateurs engagée de 2.2Md d'appareils actifs.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60% CA, Mac 8%, iPad 7%, Wearables 8%) avec modèle premium et forte fidélisation. Clients B2C et B2B via canaux retail et distributeurs. Croissance portée par l'IA intégrée et l'innovation hardware. Marges stables grâce à la différenciation produit et pricing power.</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services financiers (Apple Card, Apple Pay) avec modèle récurent. CA de 87Mds$ en 2025, croissance à 2 chiffres. Clients premium et forte rentabilité (marge &gt;70%). Expansion géographique et par catégorie de services.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3 725,9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253,79 $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83%</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60% CA, Mac 8%, iPad 7%, Wearables 8%) avec modèle premium et forte fidélisation. Clients B2C et B2B via canaux retail et distributeurs. Croissance portée par l'IA intégrée et l'innovation hardware. Marges stables grâce à la différenciation produit et pricing power.</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17%</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services financiers (Apple Card, Apple Pay) avec modèle récurent. CA de 87Mds$ en 2025, croissance à 2 chiffres. Clients premium et forte rentabilité (marge &gt;70%). Expansion géographique et par catégorie de services.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209,3</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37,2 %</a:t>
                      </a:r>
                    </a:p>
                  </a:txBody>
                  <a:tcPr>
                    <a:solidFill>
                      <a:srgbClr val="F7F8FA"/>
                    </a:solidFill>
                  </a:tcPr>
                </a:tc>
                <a:tc>
                  <a:txBody>
                    <a:bodyPr/>
                    <a:lstStyle/>
                    <a:p>
                      <a:pPr algn="ctr"/>
                      <a:r>
                        <a:rPr sz="750" b="0" i="1">
                          <a:solidFill>
                            <a:srgbClr val="555555"/>
                          </a:solidFill>
                          <a:latin typeface="Calibri"/>
                        </a:rPr>
                        <a:t>37,2 %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121,0</a:t>
                      </a:r>
                    </a:p>
                  </a:txBody>
                  <a:tcPr>
                    <a:solidFill>
                      <a:srgbClr val="FFFFFF"/>
                    </a:solidFill>
                  </a:tcPr>
                </a:tc>
                <a:tc>
                  <a:txBody>
                    <a:bodyPr/>
                    <a:lstStyle/>
                    <a:p>
                      <a:pPr algn="ctr"/>
                      <a:r>
                        <a:rPr sz="800" b="1" i="0">
                          <a:solidFill>
                            <a:srgbClr val="0D0D0D"/>
                          </a:solidFill>
                          <a:latin typeface="Calibri"/>
                        </a:rPr>
                        <a:t>128,0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27,3 %</a:t>
                      </a:r>
                    </a:p>
                  </a:txBody>
                  <a:tcPr>
                    <a:solidFill>
                      <a:srgbClr val="F7F8FA"/>
                    </a:solidFill>
                  </a:tcPr>
                </a:tc>
                <a:tc>
                  <a:txBody>
                    <a:bodyPr/>
                    <a:lstStyle/>
                    <a:p>
                      <a:pPr algn="ctr"/>
                      <a:r>
                        <a:rPr sz="750" b="0" i="1">
                          <a:solidFill>
                            <a:srgbClr val="555555"/>
                          </a:solidFill>
                          <a:latin typeface="Calibri"/>
                        </a:rPr>
                        <a:t>27,2 %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à +6.4% en 2025 portée par les services (+15%) et l'iPhone (+3%). Marges en expansion grâce à la hausse des prix et la discipline des coûts. La trésorerie nette de 166Mds$ renforce la solidité bilancielle et permet des rachats d'actions massifs.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à +6.4% en 2025 portée par les services (+15%) et l'iPhone (+3%). Marges en expansion grâce à la hausse des prix et la discipline des coûts. La trésorerie nette de 166Mds$ renforce la solidité bilancielle et permet des rachats d'actions massifs.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passées de 43.3% à 46.9% entre 2022-2025 via levier opérationnel et mix produit favorable. Les marges EBITDA/nettes ont progressé de 32.8% à 34.8% et 24.0% à 26.9% respectivement. Cette amélioration reflète le pricing power, la réduction des coûts logistiques et la montée en puissance des services à haute marge.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-5,4 %</a:t>
                      </a:r>
                    </a:p>
                  </a:txBody>
                  <a:tcPr>
                    <a:solidFill>
                      <a:srgbClr val="FAF0EF"/>
                    </a:solidFill>
                  </a:tcPr>
                </a:tc>
                <a:tc>
                  <a:txBody>
                    <a:bodyPr/>
                    <a:lstStyle/>
                    <a:p>
                      <a:pPr algn="ctr"/>
                      <a:r>
                        <a:rPr sz="1200" b="1" i="0">
                          <a:solidFill>
                            <a:srgbClr val="2E5FA3"/>
                          </a:solidFill>
                          <a:latin typeface="Calibri"/>
                        </a:rPr>
                        <a:t>+12,3 %</a:t>
                      </a:r>
                    </a:p>
                  </a:txBody>
                  <a:tcPr>
                    <a:solidFill>
                      <a:srgbClr val="EEF3FA"/>
                    </a:solidFill>
                  </a:tcPr>
                </a:tc>
                <a:tc>
                  <a:txBody>
                    <a:bodyPr/>
                    <a:lstStyle/>
                    <a:p>
                      <a:pPr algn="ctr"/>
                      <a:r>
                        <a:rPr sz="1200" b="1" i="0">
                          <a:solidFill>
                            <a:srgbClr val="1A7A4A"/>
                          </a:solidFill>
                          <a:latin typeface="Calibri"/>
                        </a:rPr>
                        <a:t>+26,1 %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TGR de 3.0%, le DCF implicite est de 285$ (base), soit +12% vs cours actuel. La prime reflète une croissance durable et une trésorerie sous-évaluée. Un catalyseur clé serait l'accélération des services ou un nouveau cycle iPhone.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3 725,9</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46,0 %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420,0</a:t>
                      </a:r>
                    </a:p>
                  </a:txBody>
                  <a:tcPr>
                    <a:solidFill>
                      <a:srgbClr val="F7F8FA"/>
                    </a:solidFill>
                  </a:tcPr>
                </a:tc>
                <a:tc>
                  <a:txBody>
                    <a:bodyPr/>
                    <a:lstStyle/>
                    <a:p>
                      <a:pPr algn="ctr"/>
                      <a:r>
                        <a:rPr sz="800" b="0" i="0">
                          <a:solidFill>
                            <a:srgbClr val="0D0D0D"/>
                          </a:solidFill>
                          <a:latin typeface="Calibri"/>
                        </a:rPr>
                        <a:t>7,2x</a:t>
                      </a:r>
                    </a:p>
                  </a:txBody>
                  <a:tcPr>
                    <a:solidFill>
                      <a:srgbClr val="F7F8FA"/>
                    </a:solidFill>
                  </a:tcPr>
                </a:tc>
                <a:tc>
                  <a:txBody>
                    <a:bodyPr/>
                    <a:lstStyle/>
                    <a:p>
                      <a:pPr algn="ctr"/>
                      <a:r>
                        <a:rPr sz="800" b="0" i="0">
                          <a:solidFill>
                            <a:srgbClr val="0D0D0D"/>
                          </a:solidFill>
                          <a:latin typeface="Calibri"/>
                        </a:rPr>
                        <a:t>1,1x</a:t>
                      </a:r>
                    </a:p>
                  </a:txBody>
                  <a:tcPr>
                    <a:solidFill>
                      <a:srgbClr val="F7F8FA"/>
                    </a:solidFill>
                  </a:tcPr>
                </a:tc>
                <a:tc>
                  <a:txBody>
                    <a:bodyPr/>
                    <a:lstStyle/>
                    <a:p>
                      <a:pPr algn="ctr"/>
                      <a:r>
                        <a:rPr sz="800" b="0" i="0">
                          <a:solidFill>
                            <a:srgbClr val="0D0D0D"/>
                          </a:solidFill>
                          <a:latin typeface="Calibri"/>
                        </a:rPr>
                        <a:t>18,2x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22,0 %</a:t>
                      </a:r>
                    </a:p>
                  </a:txBody>
                  <a:tcPr>
                    <a:solidFill>
                      <a:srgbClr val="F7F8FA"/>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2 000,0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28,3x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35,0 %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18,7x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30,5x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15,3x</a:t>
                      </a:r>
                    </a:p>
                  </a:txBody>
                  <a:tcPr>
                    <a:solidFill>
                      <a:srgbClr val="FFFFFF"/>
                    </a:solidFill>
                  </a:tcPr>
                </a:tc>
                <a:tc>
                  <a:txBody>
                    <a:bodyPr/>
                    <a:lstStyle/>
                    <a:p>
                      <a:pPr algn="ctr"/>
                      <a:r>
                        <a:rPr sz="800" b="0" i="0">
                          <a:solidFill>
                            <a:srgbClr val="0D0D0D"/>
                          </a:solidFill>
                          <a:latin typeface="Calibri"/>
                        </a:rPr>
                        <a:t>9,8x</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53,0 %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18,7x</a:t>
                      </a:r>
                    </a:p>
                  </a:txBody>
                  <a:tcPr>
                    <a:solidFill>
                      <a:srgbClr val="F7F8FA"/>
                    </a:solidFill>
                  </a:tcPr>
                </a:tc>
                <a:tc>
                  <a:txBody>
                    <a:bodyPr/>
                    <a:lstStyle/>
                    <a:p>
                      <a:pPr algn="ctr"/>
                      <a:r>
                        <a:rPr sz="800" b="1" i="0">
                          <a:solidFill>
                            <a:srgbClr val="0D0D0D"/>
                          </a:solidFill>
                          <a:latin typeface="Calibri"/>
                        </a:rPr>
                        <a:t>9,8x</a:t>
                      </a:r>
                    </a:p>
                  </a:txBody>
                  <a:tcPr>
                    <a:solidFill>
                      <a:srgbClr val="F7F8FA"/>
                    </a:solidFill>
                  </a:tcPr>
                </a:tc>
                <a:tc>
                  <a:txBody>
                    <a:bodyPr/>
                    <a:lstStyle/>
                    <a:p>
                      <a:pPr algn="ctr"/>
                      <a:r>
                        <a:rPr sz="800" b="1" i="0">
                          <a:solidFill>
                            <a:srgbClr val="0D0D0D"/>
                          </a:solidFill>
                          <a:latin typeface="Calibri"/>
                        </a:rPr>
                        <a:t>28,3x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46,0 %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cote à 33.3x P/E vs 28.5x pour les peers (Samsung 18.2x, Microsoft 35.1x). La prime de 17% est justifiée par la qualité des actifs et la trésorerie nette. Une convergence vers la médiane peers impliquerait un upside de 10-15%.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TGR de 3.0%, le DCF implicite est de 285$ (base), soit +12% vs cours actuel. La prime reflète une croissance durable et une trésorerie sous-évaluée. Un catalyseur clé serait l'accélération des services ou un nouveau cycle iPhone.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L'écosystème fermé d'Apple montre des signes d'essoufflement avec un taux de rétention des utilisateurs iOS tombant à 78% en 2024 contre 85% en 2020, prouvant une érosion de la fidélisation malgré 1,4 milliard d'appareils actifs. Les marges premium de 46,9% reposent sur une marge iPhone de 36% en baisse de 4 points depuis 2022, masquant une pression sur les prix des modèles haut de gamme face à la concurrence chinoise.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Surévaluation critique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nette de 166 milliards en 2024, soit 2,5 fois l'EBITDA annuel, suggère une sous-utilisation des fonds avec un rendement des actifs financiers inférieur à 2,5% contre 4,5% pour les obligations d'État, gaspillant 4 milliards par an en opportunités de réinvestissement.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Trésorerie inactive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des rachats d'actions massifs (90 milliards en 2023) réduisant le capital social de 12%, masquant une rentabilité opérationnelle réelle de 18% en baisse depuis 2021, proche du secteur. Les ratios de valorisation à 33,26x P/E et 26,17x EV/EBITDA dépassent de 40% la moyenne des 5 dernières années, indiquant une surévaluation de 60 milliards. |</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en Chine &gt;20% vs prévisions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en IA avec perte de parts de marché cloud &gt;10%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Amende antitrust &gt;10Mds$ ou interdiction App Store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49/100 — Vigilance</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42/100 — Moderate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+0,248</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12</a:t>
                      </a:r>
                    </a:p>
                  </a:txBody>
                  <a:tcPr>
                    <a:solidFill>
                      <a:srgbClr val="EAF4EF"/>
                    </a:solidFill>
                  </a:tcPr>
                </a:tc>
                <a:tc>
                  <a:txBody>
                    <a:bodyPr/>
                    <a:lstStyle/>
                    <a:p>
                      <a:pPr algn="ctr"/>
                      <a:r>
                        <a:rPr sz="800" b="0" i="0">
                          <a:solidFill>
                            <a:srgbClr val="0D0D0D"/>
                          </a:solidFill>
                          <a:latin typeface="Calibri"/>
                        </a:rPr>
                        <a:t>+0,415</a:t>
                      </a:r>
                    </a:p>
                  </a:txBody>
                  <a:tcPr>
                    <a:solidFill>
                      <a:srgbClr val="EAF4EF"/>
                    </a:solidFill>
                  </a:tcPr>
                </a:tc>
                <a:tc>
                  <a:txBody>
                    <a:bodyPr/>
                    <a:lstStyle/>
                    <a:p>
                      <a:pPr algn="ctr"/>
                      <a:r>
                        <a:rPr sz="800" b="0" i="0">
                          <a:solidFill>
                            <a:srgbClr val="0D0D0D"/>
                          </a:solidFill>
                          <a:latin typeface="Calibri"/>
                        </a:rPr>
                        <a:t>Expansion des services à 12% de croissance annuelle d'ici 2027 avec marge &gt;70% | Impact direct sur le CA de 100Mds$ et l'EBITDA de 75Mds$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14</a:t>
                      </a:r>
                    </a:p>
                  </a:txBody>
                  <a:tcPr>
                    <a:solidFill>
                      <a:srgbClr val="FFFFFF"/>
                    </a:solidFill>
                  </a:tcPr>
                </a:tc>
                <a:tc>
                  <a:txBody>
                    <a:bodyPr/>
                    <a:lstStyle/>
                    <a:p>
                      <a:pPr algn="ctr"/>
                      <a:r>
                        <a:rPr sz="800" b="0" i="0">
                          <a:solidFill>
                            <a:srgbClr val="0D0D0D"/>
                          </a:solidFill>
                          <a:latin typeface="Calibri"/>
                        </a:rPr>
                        <a:t>+0,418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+0,167</a:t>
                      </a:r>
                    </a:p>
                  </a:txBody>
                  <a:tcPr>
                    <a:solidFill>
                      <a:srgbClr val="FAF0EF"/>
                    </a:solidFill>
                  </a:tcPr>
                </a:tc>
                <a:tc>
                  <a:txBody>
                    <a:bodyPr/>
                    <a:lstStyle/>
                    <a:p>
                      <a:pPr algn="ctr"/>
                      <a:r>
                        <a:rPr sz="800" b="0" i="0">
                          <a:solidFill>
                            <a:srgbClr val="0D0D0D"/>
                          </a:solidFill>
                          <a:latin typeface="Calibri"/>
                        </a:rPr>
                        <a:t>Risque de régulation antitrust sur l'App Store avec amende potentielle de 5-10Mds$ d'ici 2027</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50 ans d'Apple comme un symbole de force et d'innovation, mais met en garde contre les défis concurrentiels dans l'IA. Les analyses récentes soulignent le potentiel de croissance de l'action malgré une récente faiblesse du cours.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26.2x EV/EBITDA vs 22.5x pour les peers technologiques. La prime de 16% est justifiée par la qualité des actifs et la génération de cash exceptionnelle.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253,79 $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34096"/>
            <a:ext cx="498636" cy="106110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remarquable malgré un environnement macro difficile, avec des marges en expansion et une trésorerie solide. La valorisation reste élevée mais justifiée par la qualité des actifs et la génération de cash exceptionnelle.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